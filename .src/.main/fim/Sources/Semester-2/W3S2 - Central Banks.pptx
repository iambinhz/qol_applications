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xml"/>
  <Override PartName="/ppt/presentation.xml" ContentType="application/vnd.openxmlformats-officedocument.presentationml.presentation.main+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quickStyle2.xml" ContentType="application/vnd.openxmlformats-officedocument.drawingml.diagramStyle+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colors2.xml" ContentType="application/vnd.openxmlformats-officedocument.drawingml.diagramColors+xml"/>
  <Override PartName="/ppt/diagrams/drawing2.xml" ContentType="application/vnd.ms-office.drawingml.diagramDrawing+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6.png" ContentType="image/png"/>
  <Override PartName="/ppt/media/image10.png" ContentType="image/png"/>
  <Override PartName="/ppt/media/image2.jpeg" ContentType="image/jpeg"/>
  <Override PartName="/ppt/media/image4.png" ContentType="image/png"/>
  <Override PartName="/ppt/media/image3.png" ContentType="image/png"/>
  <Override PartName="/ppt/media/image5.png" ContentType="image/png"/>
  <Override PartName="/ppt/media/image7.png" ContentType="image/png"/>
  <Override PartName="/ppt/media/image8.png" ContentType="image/png"/>
  <Override PartName="/ppt/media/image12.png" ContentType="image/png"/>
  <Override PartName="/ppt/media/image9.png" ContentType="image/png"/>
  <Override PartName="/ppt/media/image11.jpeg" ContentType="image/jpe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7.xml.rels" ContentType="application/vnd.openxmlformats-package.relationships+xml"/>
  <Override PartName="/ppt/slides/_rels/slide24.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8.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microsoft.com/office/2020/02/relationships/classificationlabels" Target="docMetadata/LabelInfo.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EE889F-6253-4A2E-A36D-2581D479A69C}"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4977428C-96BF-47DC-9846-1B1431E9A944}">
      <dgm:prSet/>
      <dgm:spPr/>
      <dgm:t>
        <a:bodyPr/>
        <a:lstStyle/>
        <a:p>
          <a:r>
            <a:rPr lang="en-GB"/>
            <a:t>The Bank of England was founded in 1694 to act as the UK government’s banker and debt manager.</a:t>
          </a:r>
          <a:endParaRPr lang="en-US"/>
        </a:p>
      </dgm:t>
    </dgm:pt>
    <dgm:pt modelId="{EDB92744-0238-4979-BAAA-20B37936175A}" type="parTrans" cxnId="{D2EC8D01-B863-4A0A-AE3E-241A9A8BE48F}">
      <dgm:prSet/>
      <dgm:spPr/>
      <dgm:t>
        <a:bodyPr/>
        <a:lstStyle/>
        <a:p>
          <a:endParaRPr lang="en-US"/>
        </a:p>
      </dgm:t>
    </dgm:pt>
    <dgm:pt modelId="{11C41805-A8A0-4CF2-A414-C708A0ED860C}" type="sibTrans" cxnId="{D2EC8D01-B863-4A0A-AE3E-241A9A8BE48F}">
      <dgm:prSet/>
      <dgm:spPr/>
      <dgm:t>
        <a:bodyPr/>
        <a:lstStyle/>
        <a:p>
          <a:endParaRPr lang="en-US"/>
        </a:p>
      </dgm:t>
    </dgm:pt>
    <dgm:pt modelId="{C99F37E2-451B-4017-8D6E-7791FF806343}">
      <dgm:prSet/>
      <dgm:spPr/>
      <dgm:t>
        <a:bodyPr/>
        <a:lstStyle/>
        <a:p>
          <a:r>
            <a:rPr lang="en-GB"/>
            <a:t>As the second-oldest central bank in the world, the BoE model has been the basis of most other central banks of the world.</a:t>
          </a:r>
          <a:endParaRPr lang="en-US"/>
        </a:p>
      </dgm:t>
    </dgm:pt>
    <dgm:pt modelId="{673FF80A-3CA7-4F05-BF09-142BCABD6F34}" type="parTrans" cxnId="{18689AB1-0254-4694-A733-FA7E8BCBFACD}">
      <dgm:prSet/>
      <dgm:spPr/>
      <dgm:t>
        <a:bodyPr/>
        <a:lstStyle/>
        <a:p>
          <a:endParaRPr lang="en-US"/>
        </a:p>
      </dgm:t>
    </dgm:pt>
    <dgm:pt modelId="{D2DB8A98-677B-494D-A882-B7650CEC7A7F}" type="sibTrans" cxnId="{18689AB1-0254-4694-A733-FA7E8BCBFACD}">
      <dgm:prSet/>
      <dgm:spPr/>
      <dgm:t>
        <a:bodyPr/>
        <a:lstStyle/>
        <a:p>
          <a:endParaRPr lang="en-US"/>
        </a:p>
      </dgm:t>
    </dgm:pt>
    <dgm:pt modelId="{F9D8A1D8-E0F9-4A43-92A8-5084938C73A8}">
      <dgm:prSet/>
      <dgm:spPr/>
      <dgm:t>
        <a:bodyPr/>
        <a:lstStyle/>
        <a:p>
          <a:r>
            <a:rPr lang="en-GB"/>
            <a:t>Prior to 1946 – BoE was privately owned but the activities were determined by the Government and legislation.</a:t>
          </a:r>
          <a:endParaRPr lang="en-US"/>
        </a:p>
      </dgm:t>
    </dgm:pt>
    <dgm:pt modelId="{8030C21D-BA48-4912-B548-30CF268F2D74}" type="parTrans" cxnId="{58DB3798-41F0-44CB-9A57-AB0B1BAF6F16}">
      <dgm:prSet/>
      <dgm:spPr/>
      <dgm:t>
        <a:bodyPr/>
        <a:lstStyle/>
        <a:p>
          <a:endParaRPr lang="en-US"/>
        </a:p>
      </dgm:t>
    </dgm:pt>
    <dgm:pt modelId="{EBDDB8F6-CA5F-4116-81D9-47A498937832}" type="sibTrans" cxnId="{58DB3798-41F0-44CB-9A57-AB0B1BAF6F16}">
      <dgm:prSet/>
      <dgm:spPr/>
      <dgm:t>
        <a:bodyPr/>
        <a:lstStyle/>
        <a:p>
          <a:endParaRPr lang="en-US"/>
        </a:p>
      </dgm:t>
    </dgm:pt>
    <dgm:pt modelId="{AA553144-C8EF-4BBA-8769-D55D2C4C9995}">
      <dgm:prSet/>
      <dgm:spPr/>
      <dgm:t>
        <a:bodyPr/>
        <a:lstStyle/>
        <a:p>
          <a:r>
            <a:rPr lang="en-GB"/>
            <a:t>BoE was nationalised in 1946 - wholly-owned by the UK government.</a:t>
          </a:r>
          <a:endParaRPr lang="en-US"/>
        </a:p>
      </dgm:t>
    </dgm:pt>
    <dgm:pt modelId="{053E3E1B-07C8-4EB4-B4EB-2C2AE7387085}" type="parTrans" cxnId="{D9200A57-CBBE-452C-ACBF-31290D1B8FB5}">
      <dgm:prSet/>
      <dgm:spPr/>
      <dgm:t>
        <a:bodyPr/>
        <a:lstStyle/>
        <a:p>
          <a:endParaRPr lang="en-US"/>
        </a:p>
      </dgm:t>
    </dgm:pt>
    <dgm:pt modelId="{09470B16-ABC3-47C6-93A5-EE67340A210D}" type="sibTrans" cxnId="{D9200A57-CBBE-452C-ACBF-31290D1B8FB5}">
      <dgm:prSet/>
      <dgm:spPr/>
      <dgm:t>
        <a:bodyPr/>
        <a:lstStyle/>
        <a:p>
          <a:endParaRPr lang="en-US"/>
        </a:p>
      </dgm:t>
    </dgm:pt>
    <dgm:pt modelId="{4B514F85-774B-4BAD-AAD2-4D95DF9EFDE4}">
      <dgm:prSet/>
      <dgm:spPr/>
      <dgm:t>
        <a:bodyPr/>
        <a:lstStyle/>
        <a:p>
          <a:r>
            <a:rPr lang="en-GB"/>
            <a:t>The BoE is accountable to the U.K. Parliament. </a:t>
          </a:r>
          <a:endParaRPr lang="en-US"/>
        </a:p>
      </dgm:t>
    </dgm:pt>
    <dgm:pt modelId="{7BE844DC-5360-4819-B2C2-6A3E248957A8}" type="parTrans" cxnId="{7601FF72-9BCF-4392-82D3-4E55235CAB2B}">
      <dgm:prSet/>
      <dgm:spPr/>
      <dgm:t>
        <a:bodyPr/>
        <a:lstStyle/>
        <a:p>
          <a:endParaRPr lang="en-US"/>
        </a:p>
      </dgm:t>
    </dgm:pt>
    <dgm:pt modelId="{CC23A4D3-321E-4D13-BC51-7BD23952363F}" type="sibTrans" cxnId="{7601FF72-9BCF-4392-82D3-4E55235CAB2B}">
      <dgm:prSet/>
      <dgm:spPr/>
      <dgm:t>
        <a:bodyPr/>
        <a:lstStyle/>
        <a:p>
          <a:endParaRPr lang="en-US"/>
        </a:p>
      </dgm:t>
    </dgm:pt>
    <dgm:pt modelId="{03279911-9060-42FD-BA63-E067605C3653}">
      <dgm:prSet/>
      <dgm:spPr/>
      <dgm:t>
        <a:bodyPr/>
        <a:lstStyle/>
        <a:p>
          <a:r>
            <a:rPr lang="en-GB"/>
            <a:t>The capital of the Bank is held by the Treasury Solicitor on behalf of HM Treasury.</a:t>
          </a:r>
          <a:endParaRPr lang="en-US"/>
        </a:p>
      </dgm:t>
    </dgm:pt>
    <dgm:pt modelId="{8487E244-7E3A-415E-84F6-DF49E0C9528C}" type="parTrans" cxnId="{8741946D-9D8E-46D6-B28D-F2C7D05A6AFD}">
      <dgm:prSet/>
      <dgm:spPr/>
      <dgm:t>
        <a:bodyPr/>
        <a:lstStyle/>
        <a:p>
          <a:endParaRPr lang="en-US"/>
        </a:p>
      </dgm:t>
    </dgm:pt>
    <dgm:pt modelId="{FE934A1F-886B-4ECE-B2FF-69D49BA5D2AF}" type="sibTrans" cxnId="{8741946D-9D8E-46D6-B28D-F2C7D05A6AFD}">
      <dgm:prSet/>
      <dgm:spPr/>
      <dgm:t>
        <a:bodyPr/>
        <a:lstStyle/>
        <a:p>
          <a:endParaRPr lang="en-US"/>
        </a:p>
      </dgm:t>
    </dgm:pt>
    <dgm:pt modelId="{6B7FB8FB-2E2C-4909-B474-8104816908FB}">
      <dgm:prSet/>
      <dgm:spPr/>
      <dgm:t>
        <a:bodyPr/>
        <a:lstStyle/>
        <a:p>
          <a:r>
            <a:rPr lang="en-GB"/>
            <a:t>The Government has the power to appoint the Bank’s governors and directors, and to issue directions to the Bank. </a:t>
          </a:r>
          <a:endParaRPr lang="en-US"/>
        </a:p>
      </dgm:t>
    </dgm:pt>
    <dgm:pt modelId="{D6685D55-D3ED-46B0-A17F-B82BECB02919}" type="parTrans" cxnId="{AA1EA89F-3DD2-4949-BF66-1C80526E5ADE}">
      <dgm:prSet/>
      <dgm:spPr/>
      <dgm:t>
        <a:bodyPr/>
        <a:lstStyle/>
        <a:p>
          <a:endParaRPr lang="en-US"/>
        </a:p>
      </dgm:t>
    </dgm:pt>
    <dgm:pt modelId="{C9AA5720-4FC1-4AE6-8572-CCED624896AA}" type="sibTrans" cxnId="{AA1EA89F-3DD2-4949-BF66-1C80526E5ADE}">
      <dgm:prSet/>
      <dgm:spPr/>
      <dgm:t>
        <a:bodyPr/>
        <a:lstStyle/>
        <a:p>
          <a:endParaRPr lang="en-US"/>
        </a:p>
      </dgm:t>
    </dgm:pt>
    <dgm:pt modelId="{BE5C66A8-3791-4620-ADC4-A8E126CDB8D3}">
      <dgm:prSet custT="1"/>
      <dgm:spPr/>
      <dgm:t>
        <a:bodyPr/>
        <a:lstStyle/>
        <a:p>
          <a:r>
            <a:rPr lang="en-GB" sz="900" dirty="0"/>
            <a:t>On the 6</a:t>
          </a:r>
          <a:r>
            <a:rPr lang="en-GB" sz="900" baseline="30000" dirty="0"/>
            <a:t>th</a:t>
          </a:r>
          <a:r>
            <a:rPr lang="en-GB" sz="900" dirty="0"/>
            <a:t> of May 1997 BoE was given the independence through the BoE Act. Hence, the Bank was granted operational independence = the right to decide the interest rate. However, the Bank is required to meet the Government's stated inflation target.</a:t>
          </a:r>
          <a:endParaRPr lang="en-US" sz="900" dirty="0"/>
        </a:p>
      </dgm:t>
    </dgm:pt>
    <dgm:pt modelId="{E2F0397F-071E-42C2-9EB9-384533483B2A}" type="parTrans" cxnId="{397C431C-7A60-4AC4-A844-4788D5D38A49}">
      <dgm:prSet/>
      <dgm:spPr/>
      <dgm:t>
        <a:bodyPr/>
        <a:lstStyle/>
        <a:p>
          <a:endParaRPr lang="en-US"/>
        </a:p>
      </dgm:t>
    </dgm:pt>
    <dgm:pt modelId="{CA67291F-8BFC-4C3D-A02D-499B291EF0E7}" type="sibTrans" cxnId="{397C431C-7A60-4AC4-A844-4788D5D38A49}">
      <dgm:prSet/>
      <dgm:spPr/>
      <dgm:t>
        <a:bodyPr/>
        <a:lstStyle/>
        <a:p>
          <a:endParaRPr lang="en-US"/>
        </a:p>
      </dgm:t>
    </dgm:pt>
    <dgm:pt modelId="{6AC5A75D-1C7E-46DD-A80C-9B53A8B9E513}">
      <dgm:prSet/>
      <dgm:spPr/>
      <dgm:t>
        <a:bodyPr/>
        <a:lstStyle/>
        <a:p>
          <a:r>
            <a:rPr lang="en-GB"/>
            <a:t>It makes decisions about the setting of interest rates and the scale of its asset purchase programme without direct political interference. </a:t>
          </a:r>
          <a:endParaRPr lang="en-US"/>
        </a:p>
      </dgm:t>
    </dgm:pt>
    <dgm:pt modelId="{C99216F5-1BF8-4F81-AE98-278D18C88D4D}" type="parTrans" cxnId="{2D4720CF-D302-4478-B28B-4CC529D1237D}">
      <dgm:prSet/>
      <dgm:spPr/>
      <dgm:t>
        <a:bodyPr/>
        <a:lstStyle/>
        <a:p>
          <a:endParaRPr lang="en-US"/>
        </a:p>
      </dgm:t>
    </dgm:pt>
    <dgm:pt modelId="{D1BB6616-A741-40CC-B6E3-B63E5B7FE7F1}" type="sibTrans" cxnId="{2D4720CF-D302-4478-B28B-4CC529D1237D}">
      <dgm:prSet/>
      <dgm:spPr/>
      <dgm:t>
        <a:bodyPr/>
        <a:lstStyle/>
        <a:p>
          <a:endParaRPr lang="en-US"/>
        </a:p>
      </dgm:t>
    </dgm:pt>
    <dgm:pt modelId="{983AC126-4C96-4587-B68D-D7EBF541853D}" type="pres">
      <dgm:prSet presAssocID="{F3EE889F-6253-4A2E-A36D-2581D479A69C}" presName="Name0" presStyleCnt="0">
        <dgm:presLayoutVars>
          <dgm:dir/>
          <dgm:resizeHandles val="exact"/>
        </dgm:presLayoutVars>
      </dgm:prSet>
      <dgm:spPr/>
    </dgm:pt>
    <dgm:pt modelId="{0A751364-1430-4D95-80E0-E67D876A69D9}" type="pres">
      <dgm:prSet presAssocID="{4977428C-96BF-47DC-9846-1B1431E9A944}" presName="node" presStyleLbl="node1" presStyleIdx="0" presStyleCnt="9">
        <dgm:presLayoutVars>
          <dgm:bulletEnabled val="1"/>
        </dgm:presLayoutVars>
      </dgm:prSet>
      <dgm:spPr/>
    </dgm:pt>
    <dgm:pt modelId="{26F7138A-B003-48BF-A072-92BCB6235585}" type="pres">
      <dgm:prSet presAssocID="{11C41805-A8A0-4CF2-A414-C708A0ED860C}" presName="sibTrans" presStyleLbl="sibTrans1D1" presStyleIdx="0" presStyleCnt="8"/>
      <dgm:spPr/>
    </dgm:pt>
    <dgm:pt modelId="{99418764-E085-4DB5-B0C4-46DAA54C4140}" type="pres">
      <dgm:prSet presAssocID="{11C41805-A8A0-4CF2-A414-C708A0ED860C}" presName="connectorText" presStyleLbl="sibTrans1D1" presStyleIdx="0" presStyleCnt="8"/>
      <dgm:spPr/>
    </dgm:pt>
    <dgm:pt modelId="{6F5D459C-A0DD-460C-B961-D4A7FE365B67}" type="pres">
      <dgm:prSet presAssocID="{C99F37E2-451B-4017-8D6E-7791FF806343}" presName="node" presStyleLbl="node1" presStyleIdx="1" presStyleCnt="9">
        <dgm:presLayoutVars>
          <dgm:bulletEnabled val="1"/>
        </dgm:presLayoutVars>
      </dgm:prSet>
      <dgm:spPr/>
    </dgm:pt>
    <dgm:pt modelId="{FBC9B03F-8EFF-410F-A4CB-8B3BCA64882F}" type="pres">
      <dgm:prSet presAssocID="{D2DB8A98-677B-494D-A882-B7650CEC7A7F}" presName="sibTrans" presStyleLbl="sibTrans1D1" presStyleIdx="1" presStyleCnt="8"/>
      <dgm:spPr/>
    </dgm:pt>
    <dgm:pt modelId="{D91D8353-F607-48FD-8947-8FA427D01F9A}" type="pres">
      <dgm:prSet presAssocID="{D2DB8A98-677B-494D-A882-B7650CEC7A7F}" presName="connectorText" presStyleLbl="sibTrans1D1" presStyleIdx="1" presStyleCnt="8"/>
      <dgm:spPr/>
    </dgm:pt>
    <dgm:pt modelId="{B324ECD6-0E7D-4FBE-8C92-A69589C9BEF6}" type="pres">
      <dgm:prSet presAssocID="{F9D8A1D8-E0F9-4A43-92A8-5084938C73A8}" presName="node" presStyleLbl="node1" presStyleIdx="2" presStyleCnt="9">
        <dgm:presLayoutVars>
          <dgm:bulletEnabled val="1"/>
        </dgm:presLayoutVars>
      </dgm:prSet>
      <dgm:spPr/>
    </dgm:pt>
    <dgm:pt modelId="{99FDFCFE-CAE4-4D00-A250-A4E1A64266C1}" type="pres">
      <dgm:prSet presAssocID="{EBDDB8F6-CA5F-4116-81D9-47A498937832}" presName="sibTrans" presStyleLbl="sibTrans1D1" presStyleIdx="2" presStyleCnt="8"/>
      <dgm:spPr/>
    </dgm:pt>
    <dgm:pt modelId="{F3EACD0F-70C1-4DDD-BCD6-032F140A18B1}" type="pres">
      <dgm:prSet presAssocID="{EBDDB8F6-CA5F-4116-81D9-47A498937832}" presName="connectorText" presStyleLbl="sibTrans1D1" presStyleIdx="2" presStyleCnt="8"/>
      <dgm:spPr/>
    </dgm:pt>
    <dgm:pt modelId="{A65DEC37-628C-4280-839B-17B350DD7E00}" type="pres">
      <dgm:prSet presAssocID="{AA553144-C8EF-4BBA-8769-D55D2C4C9995}" presName="node" presStyleLbl="node1" presStyleIdx="3" presStyleCnt="9">
        <dgm:presLayoutVars>
          <dgm:bulletEnabled val="1"/>
        </dgm:presLayoutVars>
      </dgm:prSet>
      <dgm:spPr/>
    </dgm:pt>
    <dgm:pt modelId="{AD378C4C-C4F0-4121-BD72-69C74F29CC4B}" type="pres">
      <dgm:prSet presAssocID="{09470B16-ABC3-47C6-93A5-EE67340A210D}" presName="sibTrans" presStyleLbl="sibTrans1D1" presStyleIdx="3" presStyleCnt="8"/>
      <dgm:spPr/>
    </dgm:pt>
    <dgm:pt modelId="{AF57CB4C-30F1-40CC-A52E-10C485862395}" type="pres">
      <dgm:prSet presAssocID="{09470B16-ABC3-47C6-93A5-EE67340A210D}" presName="connectorText" presStyleLbl="sibTrans1D1" presStyleIdx="3" presStyleCnt="8"/>
      <dgm:spPr/>
    </dgm:pt>
    <dgm:pt modelId="{4E419A9E-FABA-498A-B036-39680181D2D5}" type="pres">
      <dgm:prSet presAssocID="{4B514F85-774B-4BAD-AAD2-4D95DF9EFDE4}" presName="node" presStyleLbl="node1" presStyleIdx="4" presStyleCnt="9">
        <dgm:presLayoutVars>
          <dgm:bulletEnabled val="1"/>
        </dgm:presLayoutVars>
      </dgm:prSet>
      <dgm:spPr/>
    </dgm:pt>
    <dgm:pt modelId="{B4F7A58B-6D30-412D-B031-CD2D8D75FDE9}" type="pres">
      <dgm:prSet presAssocID="{CC23A4D3-321E-4D13-BC51-7BD23952363F}" presName="sibTrans" presStyleLbl="sibTrans1D1" presStyleIdx="4" presStyleCnt="8"/>
      <dgm:spPr/>
    </dgm:pt>
    <dgm:pt modelId="{064F7640-B8D0-4635-9AE1-2577AD1194FD}" type="pres">
      <dgm:prSet presAssocID="{CC23A4D3-321E-4D13-BC51-7BD23952363F}" presName="connectorText" presStyleLbl="sibTrans1D1" presStyleIdx="4" presStyleCnt="8"/>
      <dgm:spPr/>
    </dgm:pt>
    <dgm:pt modelId="{4E32969A-9DE6-4F03-AA7D-D091B84DB508}" type="pres">
      <dgm:prSet presAssocID="{03279911-9060-42FD-BA63-E067605C3653}" presName="node" presStyleLbl="node1" presStyleIdx="5" presStyleCnt="9">
        <dgm:presLayoutVars>
          <dgm:bulletEnabled val="1"/>
        </dgm:presLayoutVars>
      </dgm:prSet>
      <dgm:spPr/>
    </dgm:pt>
    <dgm:pt modelId="{2E8F3C0F-459B-480A-9941-E7C49457A0AF}" type="pres">
      <dgm:prSet presAssocID="{FE934A1F-886B-4ECE-B2FF-69D49BA5D2AF}" presName="sibTrans" presStyleLbl="sibTrans1D1" presStyleIdx="5" presStyleCnt="8"/>
      <dgm:spPr/>
    </dgm:pt>
    <dgm:pt modelId="{7B8C5D84-8963-4A37-94DA-F8A820060277}" type="pres">
      <dgm:prSet presAssocID="{FE934A1F-886B-4ECE-B2FF-69D49BA5D2AF}" presName="connectorText" presStyleLbl="sibTrans1D1" presStyleIdx="5" presStyleCnt="8"/>
      <dgm:spPr/>
    </dgm:pt>
    <dgm:pt modelId="{CC809C89-DF56-4AB9-9867-4746BA8520B9}" type="pres">
      <dgm:prSet presAssocID="{6B7FB8FB-2E2C-4909-B474-8104816908FB}" presName="node" presStyleLbl="node1" presStyleIdx="6" presStyleCnt="9">
        <dgm:presLayoutVars>
          <dgm:bulletEnabled val="1"/>
        </dgm:presLayoutVars>
      </dgm:prSet>
      <dgm:spPr/>
    </dgm:pt>
    <dgm:pt modelId="{03AC04A9-3D1D-4633-B24B-6B46C2843B87}" type="pres">
      <dgm:prSet presAssocID="{C9AA5720-4FC1-4AE6-8572-CCED624896AA}" presName="sibTrans" presStyleLbl="sibTrans1D1" presStyleIdx="6" presStyleCnt="8"/>
      <dgm:spPr/>
    </dgm:pt>
    <dgm:pt modelId="{A840E001-90B0-47A1-BDAA-131C54578E4C}" type="pres">
      <dgm:prSet presAssocID="{C9AA5720-4FC1-4AE6-8572-CCED624896AA}" presName="connectorText" presStyleLbl="sibTrans1D1" presStyleIdx="6" presStyleCnt="8"/>
      <dgm:spPr/>
    </dgm:pt>
    <dgm:pt modelId="{49B00CAA-7DD3-474B-8D09-7F3181B89337}" type="pres">
      <dgm:prSet presAssocID="{BE5C66A8-3791-4620-ADC4-A8E126CDB8D3}" presName="node" presStyleLbl="node1" presStyleIdx="7" presStyleCnt="9">
        <dgm:presLayoutVars>
          <dgm:bulletEnabled val="1"/>
        </dgm:presLayoutVars>
      </dgm:prSet>
      <dgm:spPr/>
    </dgm:pt>
    <dgm:pt modelId="{7AF4ACA2-BF17-4851-8CAE-494B7AC624A5}" type="pres">
      <dgm:prSet presAssocID="{CA67291F-8BFC-4C3D-A02D-499B291EF0E7}" presName="sibTrans" presStyleLbl="sibTrans1D1" presStyleIdx="7" presStyleCnt="8"/>
      <dgm:spPr/>
    </dgm:pt>
    <dgm:pt modelId="{DB2F82B5-6E60-487C-9531-AE12C99666C8}" type="pres">
      <dgm:prSet presAssocID="{CA67291F-8BFC-4C3D-A02D-499B291EF0E7}" presName="connectorText" presStyleLbl="sibTrans1D1" presStyleIdx="7" presStyleCnt="8"/>
      <dgm:spPr/>
    </dgm:pt>
    <dgm:pt modelId="{B341E624-9BEE-4658-AF35-39EB760E586C}" type="pres">
      <dgm:prSet presAssocID="{6AC5A75D-1C7E-46DD-A80C-9B53A8B9E513}" presName="node" presStyleLbl="node1" presStyleIdx="8" presStyleCnt="9">
        <dgm:presLayoutVars>
          <dgm:bulletEnabled val="1"/>
        </dgm:presLayoutVars>
      </dgm:prSet>
      <dgm:spPr/>
    </dgm:pt>
  </dgm:ptLst>
  <dgm:cxnLst>
    <dgm:cxn modelId="{D2EC8D01-B863-4A0A-AE3E-241A9A8BE48F}" srcId="{F3EE889F-6253-4A2E-A36D-2581D479A69C}" destId="{4977428C-96BF-47DC-9846-1B1431E9A944}" srcOrd="0" destOrd="0" parTransId="{EDB92744-0238-4979-BAAA-20B37936175A}" sibTransId="{11C41805-A8A0-4CF2-A414-C708A0ED860C}"/>
    <dgm:cxn modelId="{1C934102-5F3A-4E8E-94A8-013D912D72C1}" type="presOf" srcId="{CA67291F-8BFC-4C3D-A02D-499B291EF0E7}" destId="{7AF4ACA2-BF17-4851-8CAE-494B7AC624A5}" srcOrd="0" destOrd="0" presId="urn:microsoft.com/office/officeart/2016/7/layout/RepeatingBendingProcessNew"/>
    <dgm:cxn modelId="{9B5D0805-E884-4E86-B01F-5A50D8CAA352}" type="presOf" srcId="{CC23A4D3-321E-4D13-BC51-7BD23952363F}" destId="{064F7640-B8D0-4635-9AE1-2577AD1194FD}" srcOrd="1" destOrd="0" presId="urn:microsoft.com/office/officeart/2016/7/layout/RepeatingBendingProcessNew"/>
    <dgm:cxn modelId="{397C431C-7A60-4AC4-A844-4788D5D38A49}" srcId="{F3EE889F-6253-4A2E-A36D-2581D479A69C}" destId="{BE5C66A8-3791-4620-ADC4-A8E126CDB8D3}" srcOrd="7" destOrd="0" parTransId="{E2F0397F-071E-42C2-9EB9-384533483B2A}" sibTransId="{CA67291F-8BFC-4C3D-A02D-499B291EF0E7}"/>
    <dgm:cxn modelId="{E0AAF31D-436F-4FD7-99E3-D3C97485733F}" type="presOf" srcId="{F3EE889F-6253-4A2E-A36D-2581D479A69C}" destId="{983AC126-4C96-4587-B68D-D7EBF541853D}" srcOrd="0" destOrd="0" presId="urn:microsoft.com/office/officeart/2016/7/layout/RepeatingBendingProcessNew"/>
    <dgm:cxn modelId="{87EC5F2F-28DC-4EDA-9D87-F28753D3EBC9}" type="presOf" srcId="{EBDDB8F6-CA5F-4116-81D9-47A498937832}" destId="{F3EACD0F-70C1-4DDD-BCD6-032F140A18B1}" srcOrd="1" destOrd="0" presId="urn:microsoft.com/office/officeart/2016/7/layout/RepeatingBendingProcessNew"/>
    <dgm:cxn modelId="{30FC3030-E7BA-4A8B-A466-1EA1F1BAB98F}" type="presOf" srcId="{11C41805-A8A0-4CF2-A414-C708A0ED860C}" destId="{99418764-E085-4DB5-B0C4-46DAA54C4140}" srcOrd="1" destOrd="0" presId="urn:microsoft.com/office/officeart/2016/7/layout/RepeatingBendingProcessNew"/>
    <dgm:cxn modelId="{61673831-0E97-4C71-B32A-02D7DD7C86F4}" type="presOf" srcId="{4B514F85-774B-4BAD-AAD2-4D95DF9EFDE4}" destId="{4E419A9E-FABA-498A-B036-39680181D2D5}" srcOrd="0" destOrd="0" presId="urn:microsoft.com/office/officeart/2016/7/layout/RepeatingBendingProcessNew"/>
    <dgm:cxn modelId="{3C3B8E3A-C93B-46CA-BCBE-075B6600FC84}" type="presOf" srcId="{11C41805-A8A0-4CF2-A414-C708A0ED860C}" destId="{26F7138A-B003-48BF-A072-92BCB6235585}" srcOrd="0" destOrd="0" presId="urn:microsoft.com/office/officeart/2016/7/layout/RepeatingBendingProcessNew"/>
    <dgm:cxn modelId="{26EABF40-1F6D-4A5A-B0F3-C6CA120A85CB}" type="presOf" srcId="{C9AA5720-4FC1-4AE6-8572-CCED624896AA}" destId="{A840E001-90B0-47A1-BDAA-131C54578E4C}" srcOrd="1" destOrd="0" presId="urn:microsoft.com/office/officeart/2016/7/layout/RepeatingBendingProcessNew"/>
    <dgm:cxn modelId="{111DC862-897F-4715-B0C6-410C1D78770E}" type="presOf" srcId="{CA67291F-8BFC-4C3D-A02D-499B291EF0E7}" destId="{DB2F82B5-6E60-487C-9531-AE12C99666C8}" srcOrd="1" destOrd="0" presId="urn:microsoft.com/office/officeart/2016/7/layout/RepeatingBendingProcessNew"/>
    <dgm:cxn modelId="{A494FD6A-552E-4114-8D19-8D1C12603290}" type="presOf" srcId="{09470B16-ABC3-47C6-93A5-EE67340A210D}" destId="{AF57CB4C-30F1-40CC-A52E-10C485862395}" srcOrd="1" destOrd="0" presId="urn:microsoft.com/office/officeart/2016/7/layout/RepeatingBendingProcessNew"/>
    <dgm:cxn modelId="{8741946D-9D8E-46D6-B28D-F2C7D05A6AFD}" srcId="{F3EE889F-6253-4A2E-A36D-2581D479A69C}" destId="{03279911-9060-42FD-BA63-E067605C3653}" srcOrd="5" destOrd="0" parTransId="{8487E244-7E3A-415E-84F6-DF49E0C9528C}" sibTransId="{FE934A1F-886B-4ECE-B2FF-69D49BA5D2AF}"/>
    <dgm:cxn modelId="{85D9F56D-10D0-4A07-916C-F8E0175E4EBB}" type="presOf" srcId="{03279911-9060-42FD-BA63-E067605C3653}" destId="{4E32969A-9DE6-4F03-AA7D-D091B84DB508}" srcOrd="0" destOrd="0" presId="urn:microsoft.com/office/officeart/2016/7/layout/RepeatingBendingProcessNew"/>
    <dgm:cxn modelId="{7601FF72-9BCF-4392-82D3-4E55235CAB2B}" srcId="{F3EE889F-6253-4A2E-A36D-2581D479A69C}" destId="{4B514F85-774B-4BAD-AAD2-4D95DF9EFDE4}" srcOrd="4" destOrd="0" parTransId="{7BE844DC-5360-4819-B2C2-6A3E248957A8}" sibTransId="{CC23A4D3-321E-4D13-BC51-7BD23952363F}"/>
    <dgm:cxn modelId="{D9200A57-CBBE-452C-ACBF-31290D1B8FB5}" srcId="{F3EE889F-6253-4A2E-A36D-2581D479A69C}" destId="{AA553144-C8EF-4BBA-8769-D55D2C4C9995}" srcOrd="3" destOrd="0" parTransId="{053E3E1B-07C8-4EB4-B4EB-2C2AE7387085}" sibTransId="{09470B16-ABC3-47C6-93A5-EE67340A210D}"/>
    <dgm:cxn modelId="{CB87E877-1930-4EE9-AF1B-D827A51E83FA}" type="presOf" srcId="{F9D8A1D8-E0F9-4A43-92A8-5084938C73A8}" destId="{B324ECD6-0E7D-4FBE-8C92-A69589C9BEF6}" srcOrd="0" destOrd="0" presId="urn:microsoft.com/office/officeart/2016/7/layout/RepeatingBendingProcessNew"/>
    <dgm:cxn modelId="{BFDFE378-4C2E-444D-B40D-5AD33DA6CC17}" type="presOf" srcId="{09470B16-ABC3-47C6-93A5-EE67340A210D}" destId="{AD378C4C-C4F0-4121-BD72-69C74F29CC4B}" srcOrd="0" destOrd="0" presId="urn:microsoft.com/office/officeart/2016/7/layout/RepeatingBendingProcessNew"/>
    <dgm:cxn modelId="{3A63A28F-BE05-4E63-A358-38426AC7176E}" type="presOf" srcId="{AA553144-C8EF-4BBA-8769-D55D2C4C9995}" destId="{A65DEC37-628C-4280-839B-17B350DD7E00}" srcOrd="0" destOrd="0" presId="urn:microsoft.com/office/officeart/2016/7/layout/RepeatingBendingProcessNew"/>
    <dgm:cxn modelId="{FE1A2F92-8B28-4117-80EB-3A2B83C6A074}" type="presOf" srcId="{D2DB8A98-677B-494D-A882-B7650CEC7A7F}" destId="{FBC9B03F-8EFF-410F-A4CB-8B3BCA64882F}" srcOrd="0" destOrd="0" presId="urn:microsoft.com/office/officeart/2016/7/layout/RepeatingBendingProcessNew"/>
    <dgm:cxn modelId="{58DB3798-41F0-44CB-9A57-AB0B1BAF6F16}" srcId="{F3EE889F-6253-4A2E-A36D-2581D479A69C}" destId="{F9D8A1D8-E0F9-4A43-92A8-5084938C73A8}" srcOrd="2" destOrd="0" parTransId="{8030C21D-BA48-4912-B548-30CF268F2D74}" sibTransId="{EBDDB8F6-CA5F-4116-81D9-47A498937832}"/>
    <dgm:cxn modelId="{29D0BB98-19A4-46FB-99B2-FA3883557274}" type="presOf" srcId="{6AC5A75D-1C7E-46DD-A80C-9B53A8B9E513}" destId="{B341E624-9BEE-4658-AF35-39EB760E586C}" srcOrd="0" destOrd="0" presId="urn:microsoft.com/office/officeart/2016/7/layout/RepeatingBendingProcessNew"/>
    <dgm:cxn modelId="{5947819A-E4CB-4DF1-A775-F128401E3ECB}" type="presOf" srcId="{6B7FB8FB-2E2C-4909-B474-8104816908FB}" destId="{CC809C89-DF56-4AB9-9867-4746BA8520B9}" srcOrd="0" destOrd="0" presId="urn:microsoft.com/office/officeart/2016/7/layout/RepeatingBendingProcessNew"/>
    <dgm:cxn modelId="{AA1EA89F-3DD2-4949-BF66-1C80526E5ADE}" srcId="{F3EE889F-6253-4A2E-A36D-2581D479A69C}" destId="{6B7FB8FB-2E2C-4909-B474-8104816908FB}" srcOrd="6" destOrd="0" parTransId="{D6685D55-D3ED-46B0-A17F-B82BECB02919}" sibTransId="{C9AA5720-4FC1-4AE6-8572-CCED624896AA}"/>
    <dgm:cxn modelId="{8F3512A4-0F18-4FEF-86FC-6C99FC6E48D9}" type="presOf" srcId="{D2DB8A98-677B-494D-A882-B7650CEC7A7F}" destId="{D91D8353-F607-48FD-8947-8FA427D01F9A}" srcOrd="1" destOrd="0" presId="urn:microsoft.com/office/officeart/2016/7/layout/RepeatingBendingProcessNew"/>
    <dgm:cxn modelId="{DB9015A7-6898-48B0-AADA-61FDDC4B2DDB}" type="presOf" srcId="{4977428C-96BF-47DC-9846-1B1431E9A944}" destId="{0A751364-1430-4D95-80E0-E67D876A69D9}" srcOrd="0" destOrd="0" presId="urn:microsoft.com/office/officeart/2016/7/layout/RepeatingBendingProcessNew"/>
    <dgm:cxn modelId="{18689AB1-0254-4694-A733-FA7E8BCBFACD}" srcId="{F3EE889F-6253-4A2E-A36D-2581D479A69C}" destId="{C99F37E2-451B-4017-8D6E-7791FF806343}" srcOrd="1" destOrd="0" parTransId="{673FF80A-3CA7-4F05-BF09-142BCABD6F34}" sibTransId="{D2DB8A98-677B-494D-A882-B7650CEC7A7F}"/>
    <dgm:cxn modelId="{9ED39ECA-DCFB-455F-9289-BFE59B5AF9FC}" type="presOf" srcId="{C9AA5720-4FC1-4AE6-8572-CCED624896AA}" destId="{03AC04A9-3D1D-4633-B24B-6B46C2843B87}" srcOrd="0" destOrd="0" presId="urn:microsoft.com/office/officeart/2016/7/layout/RepeatingBendingProcessNew"/>
    <dgm:cxn modelId="{862393CE-9E9D-476B-BB1D-A7BC42FBA77D}" type="presOf" srcId="{BE5C66A8-3791-4620-ADC4-A8E126CDB8D3}" destId="{49B00CAA-7DD3-474B-8D09-7F3181B89337}" srcOrd="0" destOrd="0" presId="urn:microsoft.com/office/officeart/2016/7/layout/RepeatingBendingProcessNew"/>
    <dgm:cxn modelId="{2D4720CF-D302-4478-B28B-4CC529D1237D}" srcId="{F3EE889F-6253-4A2E-A36D-2581D479A69C}" destId="{6AC5A75D-1C7E-46DD-A80C-9B53A8B9E513}" srcOrd="8" destOrd="0" parTransId="{C99216F5-1BF8-4F81-AE98-278D18C88D4D}" sibTransId="{D1BB6616-A741-40CC-B6E3-B63E5B7FE7F1}"/>
    <dgm:cxn modelId="{0AEF00D1-0C18-4EB6-9853-348EB1B292C9}" type="presOf" srcId="{C99F37E2-451B-4017-8D6E-7791FF806343}" destId="{6F5D459C-A0DD-460C-B961-D4A7FE365B67}" srcOrd="0" destOrd="0" presId="urn:microsoft.com/office/officeart/2016/7/layout/RepeatingBendingProcessNew"/>
    <dgm:cxn modelId="{DDDDC6D7-C475-4923-B1E3-9652C5B0E37F}" type="presOf" srcId="{CC23A4D3-321E-4D13-BC51-7BD23952363F}" destId="{B4F7A58B-6D30-412D-B031-CD2D8D75FDE9}" srcOrd="0" destOrd="0" presId="urn:microsoft.com/office/officeart/2016/7/layout/RepeatingBendingProcessNew"/>
    <dgm:cxn modelId="{A0E239F8-52BA-49CA-BABE-EC9AAFF264B4}" type="presOf" srcId="{FE934A1F-886B-4ECE-B2FF-69D49BA5D2AF}" destId="{2E8F3C0F-459B-480A-9941-E7C49457A0AF}" srcOrd="0" destOrd="0" presId="urn:microsoft.com/office/officeart/2016/7/layout/RepeatingBendingProcessNew"/>
    <dgm:cxn modelId="{0FA8ACFC-83A2-4F6E-9B81-5F20CDDA4D23}" type="presOf" srcId="{EBDDB8F6-CA5F-4116-81D9-47A498937832}" destId="{99FDFCFE-CAE4-4D00-A250-A4E1A64266C1}" srcOrd="0" destOrd="0" presId="urn:microsoft.com/office/officeart/2016/7/layout/RepeatingBendingProcessNew"/>
    <dgm:cxn modelId="{004F7AFF-689E-4A7D-A80B-5ACC28476366}" type="presOf" srcId="{FE934A1F-886B-4ECE-B2FF-69D49BA5D2AF}" destId="{7B8C5D84-8963-4A37-94DA-F8A820060277}" srcOrd="1" destOrd="0" presId="urn:microsoft.com/office/officeart/2016/7/layout/RepeatingBendingProcessNew"/>
    <dgm:cxn modelId="{57758160-F050-459D-9E9A-B8099BF67469}" type="presParOf" srcId="{983AC126-4C96-4587-B68D-D7EBF541853D}" destId="{0A751364-1430-4D95-80E0-E67D876A69D9}" srcOrd="0" destOrd="0" presId="urn:microsoft.com/office/officeart/2016/7/layout/RepeatingBendingProcessNew"/>
    <dgm:cxn modelId="{1E8E4DCC-7549-4D05-B232-089CF12B1155}" type="presParOf" srcId="{983AC126-4C96-4587-B68D-D7EBF541853D}" destId="{26F7138A-B003-48BF-A072-92BCB6235585}" srcOrd="1" destOrd="0" presId="urn:microsoft.com/office/officeart/2016/7/layout/RepeatingBendingProcessNew"/>
    <dgm:cxn modelId="{CE91B884-9F04-4B0D-9545-87FF1500165E}" type="presParOf" srcId="{26F7138A-B003-48BF-A072-92BCB6235585}" destId="{99418764-E085-4DB5-B0C4-46DAA54C4140}" srcOrd="0" destOrd="0" presId="urn:microsoft.com/office/officeart/2016/7/layout/RepeatingBendingProcessNew"/>
    <dgm:cxn modelId="{52402085-54C4-4A29-B00F-98C9AF0971E7}" type="presParOf" srcId="{983AC126-4C96-4587-B68D-D7EBF541853D}" destId="{6F5D459C-A0DD-460C-B961-D4A7FE365B67}" srcOrd="2" destOrd="0" presId="urn:microsoft.com/office/officeart/2016/7/layout/RepeatingBendingProcessNew"/>
    <dgm:cxn modelId="{075E0ED1-E62A-46D0-A262-87A225834F80}" type="presParOf" srcId="{983AC126-4C96-4587-B68D-D7EBF541853D}" destId="{FBC9B03F-8EFF-410F-A4CB-8B3BCA64882F}" srcOrd="3" destOrd="0" presId="urn:microsoft.com/office/officeart/2016/7/layout/RepeatingBendingProcessNew"/>
    <dgm:cxn modelId="{2250B518-CA41-469A-BB95-53143A7D68AF}" type="presParOf" srcId="{FBC9B03F-8EFF-410F-A4CB-8B3BCA64882F}" destId="{D91D8353-F607-48FD-8947-8FA427D01F9A}" srcOrd="0" destOrd="0" presId="urn:microsoft.com/office/officeart/2016/7/layout/RepeatingBendingProcessNew"/>
    <dgm:cxn modelId="{2C2A5C4B-0FFA-4A11-BBD3-A198A5FCF2CC}" type="presParOf" srcId="{983AC126-4C96-4587-B68D-D7EBF541853D}" destId="{B324ECD6-0E7D-4FBE-8C92-A69589C9BEF6}" srcOrd="4" destOrd="0" presId="urn:microsoft.com/office/officeart/2016/7/layout/RepeatingBendingProcessNew"/>
    <dgm:cxn modelId="{CFD675F1-9F91-4167-B983-1DB1C1F8E24E}" type="presParOf" srcId="{983AC126-4C96-4587-B68D-D7EBF541853D}" destId="{99FDFCFE-CAE4-4D00-A250-A4E1A64266C1}" srcOrd="5" destOrd="0" presId="urn:microsoft.com/office/officeart/2016/7/layout/RepeatingBendingProcessNew"/>
    <dgm:cxn modelId="{A92B43EE-FFF7-47CC-A5D6-416662B17F99}" type="presParOf" srcId="{99FDFCFE-CAE4-4D00-A250-A4E1A64266C1}" destId="{F3EACD0F-70C1-4DDD-BCD6-032F140A18B1}" srcOrd="0" destOrd="0" presId="urn:microsoft.com/office/officeart/2016/7/layout/RepeatingBendingProcessNew"/>
    <dgm:cxn modelId="{E99EED1A-FFE9-4D56-82DC-D638D39665F9}" type="presParOf" srcId="{983AC126-4C96-4587-B68D-D7EBF541853D}" destId="{A65DEC37-628C-4280-839B-17B350DD7E00}" srcOrd="6" destOrd="0" presId="urn:microsoft.com/office/officeart/2016/7/layout/RepeatingBendingProcessNew"/>
    <dgm:cxn modelId="{31D10A74-5130-497B-A4B2-993FC3B81533}" type="presParOf" srcId="{983AC126-4C96-4587-B68D-D7EBF541853D}" destId="{AD378C4C-C4F0-4121-BD72-69C74F29CC4B}" srcOrd="7" destOrd="0" presId="urn:microsoft.com/office/officeart/2016/7/layout/RepeatingBendingProcessNew"/>
    <dgm:cxn modelId="{89C56C79-9739-488A-8A3A-C716FB2BF617}" type="presParOf" srcId="{AD378C4C-C4F0-4121-BD72-69C74F29CC4B}" destId="{AF57CB4C-30F1-40CC-A52E-10C485862395}" srcOrd="0" destOrd="0" presId="urn:microsoft.com/office/officeart/2016/7/layout/RepeatingBendingProcessNew"/>
    <dgm:cxn modelId="{3B17CDC2-94DF-45B1-83EF-654C1F1D7C02}" type="presParOf" srcId="{983AC126-4C96-4587-B68D-D7EBF541853D}" destId="{4E419A9E-FABA-498A-B036-39680181D2D5}" srcOrd="8" destOrd="0" presId="urn:microsoft.com/office/officeart/2016/7/layout/RepeatingBendingProcessNew"/>
    <dgm:cxn modelId="{387CE04E-8C0C-4392-853A-EB3A1226CBEA}" type="presParOf" srcId="{983AC126-4C96-4587-B68D-D7EBF541853D}" destId="{B4F7A58B-6D30-412D-B031-CD2D8D75FDE9}" srcOrd="9" destOrd="0" presId="urn:microsoft.com/office/officeart/2016/7/layout/RepeatingBendingProcessNew"/>
    <dgm:cxn modelId="{2CAF37A1-6220-48B1-BCC0-8AA213A1A8B3}" type="presParOf" srcId="{B4F7A58B-6D30-412D-B031-CD2D8D75FDE9}" destId="{064F7640-B8D0-4635-9AE1-2577AD1194FD}" srcOrd="0" destOrd="0" presId="urn:microsoft.com/office/officeart/2016/7/layout/RepeatingBendingProcessNew"/>
    <dgm:cxn modelId="{2CDAC686-B77A-4AC7-9AC4-CC01FB21B33A}" type="presParOf" srcId="{983AC126-4C96-4587-B68D-D7EBF541853D}" destId="{4E32969A-9DE6-4F03-AA7D-D091B84DB508}" srcOrd="10" destOrd="0" presId="urn:microsoft.com/office/officeart/2016/7/layout/RepeatingBendingProcessNew"/>
    <dgm:cxn modelId="{590674EB-9897-4743-A33B-4F873BB38D0A}" type="presParOf" srcId="{983AC126-4C96-4587-B68D-D7EBF541853D}" destId="{2E8F3C0F-459B-480A-9941-E7C49457A0AF}" srcOrd="11" destOrd="0" presId="urn:microsoft.com/office/officeart/2016/7/layout/RepeatingBendingProcessNew"/>
    <dgm:cxn modelId="{25A3B8E2-A6A3-435F-8CB8-94D45A0A249B}" type="presParOf" srcId="{2E8F3C0F-459B-480A-9941-E7C49457A0AF}" destId="{7B8C5D84-8963-4A37-94DA-F8A820060277}" srcOrd="0" destOrd="0" presId="urn:microsoft.com/office/officeart/2016/7/layout/RepeatingBendingProcessNew"/>
    <dgm:cxn modelId="{F457EF7B-6511-48BB-8980-AB10881BA572}" type="presParOf" srcId="{983AC126-4C96-4587-B68D-D7EBF541853D}" destId="{CC809C89-DF56-4AB9-9867-4746BA8520B9}" srcOrd="12" destOrd="0" presId="urn:microsoft.com/office/officeart/2016/7/layout/RepeatingBendingProcessNew"/>
    <dgm:cxn modelId="{8EB40F0A-51E0-4A42-942E-7A842ADE4A4E}" type="presParOf" srcId="{983AC126-4C96-4587-B68D-D7EBF541853D}" destId="{03AC04A9-3D1D-4633-B24B-6B46C2843B87}" srcOrd="13" destOrd="0" presId="urn:microsoft.com/office/officeart/2016/7/layout/RepeatingBendingProcessNew"/>
    <dgm:cxn modelId="{8FE5636E-78E6-4551-B7B8-2876C112E3F7}" type="presParOf" srcId="{03AC04A9-3D1D-4633-B24B-6B46C2843B87}" destId="{A840E001-90B0-47A1-BDAA-131C54578E4C}" srcOrd="0" destOrd="0" presId="urn:microsoft.com/office/officeart/2016/7/layout/RepeatingBendingProcessNew"/>
    <dgm:cxn modelId="{F4B49B54-350F-4325-821C-8B0F1ED33F21}" type="presParOf" srcId="{983AC126-4C96-4587-B68D-D7EBF541853D}" destId="{49B00CAA-7DD3-474B-8D09-7F3181B89337}" srcOrd="14" destOrd="0" presId="urn:microsoft.com/office/officeart/2016/7/layout/RepeatingBendingProcessNew"/>
    <dgm:cxn modelId="{C7E06199-A452-4497-8DB9-37420699255F}" type="presParOf" srcId="{983AC126-4C96-4587-B68D-D7EBF541853D}" destId="{7AF4ACA2-BF17-4851-8CAE-494B7AC624A5}" srcOrd="15" destOrd="0" presId="urn:microsoft.com/office/officeart/2016/7/layout/RepeatingBendingProcessNew"/>
    <dgm:cxn modelId="{BF292C5D-D107-4F83-B749-EB9032523220}" type="presParOf" srcId="{7AF4ACA2-BF17-4851-8CAE-494B7AC624A5}" destId="{DB2F82B5-6E60-487C-9531-AE12C99666C8}" srcOrd="0" destOrd="0" presId="urn:microsoft.com/office/officeart/2016/7/layout/RepeatingBendingProcessNew"/>
    <dgm:cxn modelId="{D09D06B9-1F8C-4EE9-A8DE-642B97F32FCB}" type="presParOf" srcId="{983AC126-4C96-4587-B68D-D7EBF541853D}" destId="{B341E624-9BEE-4658-AF35-39EB760E586C}" srcOrd="16" destOrd="0" presId="urn:microsoft.com/office/officeart/2016/7/layout/RepeatingBendingProcessNew"/>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9F8B8E-38D8-445A-8E6F-3E8F21B68086}"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FBFBF5C0-C988-4DBF-87C0-F9ABEB21D3EE}">
      <dgm:prSet/>
      <dgm:spPr/>
      <dgm:t>
        <a:bodyPr/>
        <a:lstStyle/>
        <a:p>
          <a:r>
            <a:rPr lang="en-GB"/>
            <a:t>From a historical context, </a:t>
          </a:r>
          <a:endParaRPr lang="en-US"/>
        </a:p>
      </dgm:t>
    </dgm:pt>
    <dgm:pt modelId="{71AC3C4F-8FB3-4032-BAB4-27ED55C8B2D4}" type="parTrans" cxnId="{AE8C468A-BB77-4F5C-89D1-747075FC53BE}">
      <dgm:prSet/>
      <dgm:spPr/>
      <dgm:t>
        <a:bodyPr/>
        <a:lstStyle/>
        <a:p>
          <a:endParaRPr lang="en-US"/>
        </a:p>
      </dgm:t>
    </dgm:pt>
    <dgm:pt modelId="{2FD53DA8-0EDD-4C77-8538-B15D1B6420D9}" type="sibTrans" cxnId="{AE8C468A-BB77-4F5C-89D1-747075FC53BE}">
      <dgm:prSet/>
      <dgm:spPr/>
      <dgm:t>
        <a:bodyPr/>
        <a:lstStyle/>
        <a:p>
          <a:endParaRPr lang="en-US"/>
        </a:p>
      </dgm:t>
    </dgm:pt>
    <dgm:pt modelId="{E2453CAE-1B56-4DFE-9698-DD536FC2C6CD}">
      <dgm:prSet/>
      <dgm:spPr/>
      <dgm:t>
        <a:bodyPr/>
        <a:lstStyle/>
        <a:p>
          <a:r>
            <a:rPr lang="en-US" b="1"/>
            <a:t>First Central Bank:</a:t>
          </a:r>
          <a:r>
            <a:rPr lang="en-US"/>
            <a:t> Sveriges Riksbank (Sweden, 1668)</a:t>
          </a:r>
        </a:p>
      </dgm:t>
    </dgm:pt>
    <dgm:pt modelId="{D55A7C55-20AA-4246-9FD2-0B4ACC0FF071}" type="parTrans" cxnId="{F6F1DDCD-50D0-47D0-9A58-B769855945F7}">
      <dgm:prSet/>
      <dgm:spPr/>
      <dgm:t>
        <a:bodyPr/>
        <a:lstStyle/>
        <a:p>
          <a:endParaRPr lang="en-US"/>
        </a:p>
      </dgm:t>
    </dgm:pt>
    <dgm:pt modelId="{D36CA82F-F246-4968-A5F5-F79D382F11F0}" type="sibTrans" cxnId="{F6F1DDCD-50D0-47D0-9A58-B769855945F7}">
      <dgm:prSet/>
      <dgm:spPr/>
      <dgm:t>
        <a:bodyPr/>
        <a:lstStyle/>
        <a:p>
          <a:endParaRPr lang="en-US"/>
        </a:p>
      </dgm:t>
    </dgm:pt>
    <dgm:pt modelId="{7556317B-9665-4EDF-9480-9D883BDEA04E}">
      <dgm:prSet/>
      <dgm:spPr/>
      <dgm:t>
        <a:bodyPr/>
        <a:lstStyle/>
        <a:p>
          <a:r>
            <a:rPr lang="en-US" b="1"/>
            <a:t>Bank of England (1694): </a:t>
          </a:r>
          <a:r>
            <a:rPr lang="en-US"/>
            <a:t>First modern Central Bank</a:t>
          </a:r>
        </a:p>
      </dgm:t>
    </dgm:pt>
    <dgm:pt modelId="{0B3DD012-85BF-4F67-8C57-ED5EA69BB7F7}" type="parTrans" cxnId="{FCFC3402-E07D-4B0E-B97F-B468EF88A5F9}">
      <dgm:prSet/>
      <dgm:spPr/>
      <dgm:t>
        <a:bodyPr/>
        <a:lstStyle/>
        <a:p>
          <a:endParaRPr lang="en-US"/>
        </a:p>
      </dgm:t>
    </dgm:pt>
    <dgm:pt modelId="{67CC4B77-8108-4246-A896-7F7BDB1124C9}" type="sibTrans" cxnId="{FCFC3402-E07D-4B0E-B97F-B468EF88A5F9}">
      <dgm:prSet/>
      <dgm:spPr/>
      <dgm:t>
        <a:bodyPr/>
        <a:lstStyle/>
        <a:p>
          <a:endParaRPr lang="en-US"/>
        </a:p>
      </dgm:t>
    </dgm:pt>
    <dgm:pt modelId="{F7E415C8-70FD-480F-8408-ABD24C5F45E9}">
      <dgm:prSet/>
      <dgm:spPr/>
      <dgm:t>
        <a:bodyPr/>
        <a:lstStyle/>
        <a:p>
          <a:r>
            <a:rPr lang="en-US" b="1"/>
            <a:t>The Federal Reserve (USA, 1913): </a:t>
          </a:r>
          <a:r>
            <a:rPr lang="en-US"/>
            <a:t>Created in response to banking crises</a:t>
          </a:r>
        </a:p>
      </dgm:t>
    </dgm:pt>
    <dgm:pt modelId="{70CE0B19-E965-4D77-91FD-694428932B41}" type="parTrans" cxnId="{D0DDB67D-87C0-445D-B6E8-DC37A166F4E2}">
      <dgm:prSet/>
      <dgm:spPr/>
      <dgm:t>
        <a:bodyPr/>
        <a:lstStyle/>
        <a:p>
          <a:endParaRPr lang="en-US"/>
        </a:p>
      </dgm:t>
    </dgm:pt>
    <dgm:pt modelId="{7B2BDDD5-D935-45BA-AFA7-CBB7353FF36E}" type="sibTrans" cxnId="{D0DDB67D-87C0-445D-B6E8-DC37A166F4E2}">
      <dgm:prSet/>
      <dgm:spPr/>
      <dgm:t>
        <a:bodyPr/>
        <a:lstStyle/>
        <a:p>
          <a:endParaRPr lang="en-US"/>
        </a:p>
      </dgm:t>
    </dgm:pt>
    <dgm:pt modelId="{204B9830-047B-428C-9BC7-92EF32D62D9C}">
      <dgm:prSet/>
      <dgm:spPr/>
      <dgm:t>
        <a:bodyPr/>
        <a:lstStyle/>
        <a:p>
          <a:r>
            <a:rPr lang="en-GB"/>
            <a:t>Functions and roles of central banks</a:t>
          </a:r>
          <a:endParaRPr lang="en-US"/>
        </a:p>
      </dgm:t>
    </dgm:pt>
    <dgm:pt modelId="{F40C5B5F-7249-4DAE-86B9-2E7E13751D07}" type="parTrans" cxnId="{BF8A6F69-77D9-48FB-BAC9-FE2DCB376208}">
      <dgm:prSet/>
      <dgm:spPr/>
      <dgm:t>
        <a:bodyPr/>
        <a:lstStyle/>
        <a:p>
          <a:endParaRPr lang="en-US"/>
        </a:p>
      </dgm:t>
    </dgm:pt>
    <dgm:pt modelId="{A2B0C2C0-3218-48F7-9F6E-A41EC5E591B8}" type="sibTrans" cxnId="{BF8A6F69-77D9-48FB-BAC9-FE2DCB376208}">
      <dgm:prSet/>
      <dgm:spPr/>
      <dgm:t>
        <a:bodyPr/>
        <a:lstStyle/>
        <a:p>
          <a:endParaRPr lang="en-US"/>
        </a:p>
      </dgm:t>
    </dgm:pt>
    <dgm:pt modelId="{C919BD9C-1979-46D6-BFA7-01B7E2CC95F5}">
      <dgm:prSet/>
      <dgm:spPr/>
      <dgm:t>
        <a:bodyPr/>
        <a:lstStyle/>
        <a:p>
          <a:r>
            <a:rPr lang="en-GB"/>
            <a:t>Central banks become more independent –strengths and weaknesses.</a:t>
          </a:r>
          <a:endParaRPr lang="en-US"/>
        </a:p>
      </dgm:t>
    </dgm:pt>
    <dgm:pt modelId="{811A8F66-B9D8-450E-B880-3FE2EB22E6D8}" type="parTrans" cxnId="{E0D9F67E-6F5C-4A93-9EF9-C3B7F4B44BA3}">
      <dgm:prSet/>
      <dgm:spPr/>
      <dgm:t>
        <a:bodyPr/>
        <a:lstStyle/>
        <a:p>
          <a:endParaRPr lang="en-US"/>
        </a:p>
      </dgm:t>
    </dgm:pt>
    <dgm:pt modelId="{A85852C5-C3ED-43D2-98BE-A01A561C9597}" type="sibTrans" cxnId="{E0D9F67E-6F5C-4A93-9EF9-C3B7F4B44BA3}">
      <dgm:prSet/>
      <dgm:spPr/>
      <dgm:t>
        <a:bodyPr/>
        <a:lstStyle/>
        <a:p>
          <a:endParaRPr lang="en-US"/>
        </a:p>
      </dgm:t>
    </dgm:pt>
    <dgm:pt modelId="{1FA9F918-1C0E-44D5-9794-33A8CE0CDB75}" type="pres">
      <dgm:prSet presAssocID="{2C9F8B8E-38D8-445A-8E6F-3E8F21B68086}" presName="diagram" presStyleCnt="0">
        <dgm:presLayoutVars>
          <dgm:dir/>
          <dgm:resizeHandles val="exact"/>
        </dgm:presLayoutVars>
      </dgm:prSet>
      <dgm:spPr/>
    </dgm:pt>
    <dgm:pt modelId="{AC198709-A188-4A79-AE90-F9DE78F5D68B}" type="pres">
      <dgm:prSet presAssocID="{FBFBF5C0-C988-4DBF-87C0-F9ABEB21D3EE}" presName="node" presStyleLbl="node1" presStyleIdx="0" presStyleCnt="6">
        <dgm:presLayoutVars>
          <dgm:bulletEnabled val="1"/>
        </dgm:presLayoutVars>
      </dgm:prSet>
      <dgm:spPr/>
    </dgm:pt>
    <dgm:pt modelId="{DDD7ABAC-D4E1-49D4-8EF5-FC5FD452B5F3}" type="pres">
      <dgm:prSet presAssocID="{2FD53DA8-0EDD-4C77-8538-B15D1B6420D9}" presName="sibTrans" presStyleCnt="0"/>
      <dgm:spPr/>
    </dgm:pt>
    <dgm:pt modelId="{4815BC06-D605-4480-97AA-743A05010B70}" type="pres">
      <dgm:prSet presAssocID="{E2453CAE-1B56-4DFE-9698-DD536FC2C6CD}" presName="node" presStyleLbl="node1" presStyleIdx="1" presStyleCnt="6">
        <dgm:presLayoutVars>
          <dgm:bulletEnabled val="1"/>
        </dgm:presLayoutVars>
      </dgm:prSet>
      <dgm:spPr/>
    </dgm:pt>
    <dgm:pt modelId="{EFF3A412-BF1B-4669-BC22-0305442B49AB}" type="pres">
      <dgm:prSet presAssocID="{D36CA82F-F246-4968-A5F5-F79D382F11F0}" presName="sibTrans" presStyleCnt="0"/>
      <dgm:spPr/>
    </dgm:pt>
    <dgm:pt modelId="{CA7F0580-5B4A-4AEB-9B38-7780B19F794A}" type="pres">
      <dgm:prSet presAssocID="{7556317B-9665-4EDF-9480-9D883BDEA04E}" presName="node" presStyleLbl="node1" presStyleIdx="2" presStyleCnt="6">
        <dgm:presLayoutVars>
          <dgm:bulletEnabled val="1"/>
        </dgm:presLayoutVars>
      </dgm:prSet>
      <dgm:spPr/>
    </dgm:pt>
    <dgm:pt modelId="{EE6F64B4-A7C5-434B-90FE-DEE99D39C91B}" type="pres">
      <dgm:prSet presAssocID="{67CC4B77-8108-4246-A896-7F7BDB1124C9}" presName="sibTrans" presStyleCnt="0"/>
      <dgm:spPr/>
    </dgm:pt>
    <dgm:pt modelId="{3B0A029C-B6E9-4AD0-A76D-A9DB1FCD1E0D}" type="pres">
      <dgm:prSet presAssocID="{F7E415C8-70FD-480F-8408-ABD24C5F45E9}" presName="node" presStyleLbl="node1" presStyleIdx="3" presStyleCnt="6">
        <dgm:presLayoutVars>
          <dgm:bulletEnabled val="1"/>
        </dgm:presLayoutVars>
      </dgm:prSet>
      <dgm:spPr/>
    </dgm:pt>
    <dgm:pt modelId="{EEDA3156-F67F-4F7B-B18A-94C6820C92B3}" type="pres">
      <dgm:prSet presAssocID="{7B2BDDD5-D935-45BA-AFA7-CBB7353FF36E}" presName="sibTrans" presStyleCnt="0"/>
      <dgm:spPr/>
    </dgm:pt>
    <dgm:pt modelId="{8C93D9BD-BA69-4366-8507-78CEC237ACAF}" type="pres">
      <dgm:prSet presAssocID="{204B9830-047B-428C-9BC7-92EF32D62D9C}" presName="node" presStyleLbl="node1" presStyleIdx="4" presStyleCnt="6">
        <dgm:presLayoutVars>
          <dgm:bulletEnabled val="1"/>
        </dgm:presLayoutVars>
      </dgm:prSet>
      <dgm:spPr/>
    </dgm:pt>
    <dgm:pt modelId="{0E7695E2-B973-4144-A24F-B61C59148A2E}" type="pres">
      <dgm:prSet presAssocID="{A2B0C2C0-3218-48F7-9F6E-A41EC5E591B8}" presName="sibTrans" presStyleCnt="0"/>
      <dgm:spPr/>
    </dgm:pt>
    <dgm:pt modelId="{CCF91081-86DF-4C8E-887B-7B5A06371072}" type="pres">
      <dgm:prSet presAssocID="{C919BD9C-1979-46D6-BFA7-01B7E2CC95F5}" presName="node" presStyleLbl="node1" presStyleIdx="5" presStyleCnt="6">
        <dgm:presLayoutVars>
          <dgm:bulletEnabled val="1"/>
        </dgm:presLayoutVars>
      </dgm:prSet>
      <dgm:spPr/>
    </dgm:pt>
  </dgm:ptLst>
  <dgm:cxnLst>
    <dgm:cxn modelId="{FCFC3402-E07D-4B0E-B97F-B468EF88A5F9}" srcId="{2C9F8B8E-38D8-445A-8E6F-3E8F21B68086}" destId="{7556317B-9665-4EDF-9480-9D883BDEA04E}" srcOrd="2" destOrd="0" parTransId="{0B3DD012-85BF-4F67-8C57-ED5EA69BB7F7}" sibTransId="{67CC4B77-8108-4246-A896-7F7BDB1124C9}"/>
    <dgm:cxn modelId="{42DE5603-E190-4BF5-8EA0-2E99829D7A47}" type="presOf" srcId="{F7E415C8-70FD-480F-8408-ABD24C5F45E9}" destId="{3B0A029C-B6E9-4AD0-A76D-A9DB1FCD1E0D}" srcOrd="0" destOrd="0" presId="urn:microsoft.com/office/officeart/2005/8/layout/default"/>
    <dgm:cxn modelId="{1BA29B1C-126E-4AA5-A1F2-9CBB2377AA4D}" type="presOf" srcId="{FBFBF5C0-C988-4DBF-87C0-F9ABEB21D3EE}" destId="{AC198709-A188-4A79-AE90-F9DE78F5D68B}" srcOrd="0" destOrd="0" presId="urn:microsoft.com/office/officeart/2005/8/layout/default"/>
    <dgm:cxn modelId="{4C9D2220-2966-40A4-A8C3-4F2B24CE5D46}" type="presOf" srcId="{204B9830-047B-428C-9BC7-92EF32D62D9C}" destId="{8C93D9BD-BA69-4366-8507-78CEC237ACAF}" srcOrd="0" destOrd="0" presId="urn:microsoft.com/office/officeart/2005/8/layout/default"/>
    <dgm:cxn modelId="{076C2A2D-7E82-4417-82DE-DA720E3988EE}" type="presOf" srcId="{2C9F8B8E-38D8-445A-8E6F-3E8F21B68086}" destId="{1FA9F918-1C0E-44D5-9794-33A8CE0CDB75}" srcOrd="0" destOrd="0" presId="urn:microsoft.com/office/officeart/2005/8/layout/default"/>
    <dgm:cxn modelId="{BF8A6F69-77D9-48FB-BAC9-FE2DCB376208}" srcId="{2C9F8B8E-38D8-445A-8E6F-3E8F21B68086}" destId="{204B9830-047B-428C-9BC7-92EF32D62D9C}" srcOrd="4" destOrd="0" parTransId="{F40C5B5F-7249-4DAE-86B9-2E7E13751D07}" sibTransId="{A2B0C2C0-3218-48F7-9F6E-A41EC5E591B8}"/>
    <dgm:cxn modelId="{D0DDB67D-87C0-445D-B6E8-DC37A166F4E2}" srcId="{2C9F8B8E-38D8-445A-8E6F-3E8F21B68086}" destId="{F7E415C8-70FD-480F-8408-ABD24C5F45E9}" srcOrd="3" destOrd="0" parTransId="{70CE0B19-E965-4D77-91FD-694428932B41}" sibTransId="{7B2BDDD5-D935-45BA-AFA7-CBB7353FF36E}"/>
    <dgm:cxn modelId="{E0D9F67E-6F5C-4A93-9EF9-C3B7F4B44BA3}" srcId="{2C9F8B8E-38D8-445A-8E6F-3E8F21B68086}" destId="{C919BD9C-1979-46D6-BFA7-01B7E2CC95F5}" srcOrd="5" destOrd="0" parTransId="{811A8F66-B9D8-450E-B880-3FE2EB22E6D8}" sibTransId="{A85852C5-C3ED-43D2-98BE-A01A561C9597}"/>
    <dgm:cxn modelId="{AE8C468A-BB77-4F5C-89D1-747075FC53BE}" srcId="{2C9F8B8E-38D8-445A-8E6F-3E8F21B68086}" destId="{FBFBF5C0-C988-4DBF-87C0-F9ABEB21D3EE}" srcOrd="0" destOrd="0" parTransId="{71AC3C4F-8FB3-4032-BAB4-27ED55C8B2D4}" sibTransId="{2FD53DA8-0EDD-4C77-8538-B15D1B6420D9}"/>
    <dgm:cxn modelId="{F6F1DDCD-50D0-47D0-9A58-B769855945F7}" srcId="{2C9F8B8E-38D8-445A-8E6F-3E8F21B68086}" destId="{E2453CAE-1B56-4DFE-9698-DD536FC2C6CD}" srcOrd="1" destOrd="0" parTransId="{D55A7C55-20AA-4246-9FD2-0B4ACC0FF071}" sibTransId="{D36CA82F-F246-4968-A5F5-F79D382F11F0}"/>
    <dgm:cxn modelId="{F376DAF1-6DA8-4951-850A-C2D4F04748D7}" type="presOf" srcId="{7556317B-9665-4EDF-9480-9D883BDEA04E}" destId="{CA7F0580-5B4A-4AEB-9B38-7780B19F794A}" srcOrd="0" destOrd="0" presId="urn:microsoft.com/office/officeart/2005/8/layout/default"/>
    <dgm:cxn modelId="{1FD684F2-15FE-40F9-86C0-8F1CE9BEF776}" type="presOf" srcId="{E2453CAE-1B56-4DFE-9698-DD536FC2C6CD}" destId="{4815BC06-D605-4480-97AA-743A05010B70}" srcOrd="0" destOrd="0" presId="urn:microsoft.com/office/officeart/2005/8/layout/default"/>
    <dgm:cxn modelId="{402205FC-BC32-4B85-9D03-8B0367CE417C}" type="presOf" srcId="{C919BD9C-1979-46D6-BFA7-01B7E2CC95F5}" destId="{CCF91081-86DF-4C8E-887B-7B5A06371072}" srcOrd="0" destOrd="0" presId="urn:microsoft.com/office/officeart/2005/8/layout/default"/>
    <dgm:cxn modelId="{2EFE45DF-813A-4040-BC65-14C1B3C7BD7C}" type="presParOf" srcId="{1FA9F918-1C0E-44D5-9794-33A8CE0CDB75}" destId="{AC198709-A188-4A79-AE90-F9DE78F5D68B}" srcOrd="0" destOrd="0" presId="urn:microsoft.com/office/officeart/2005/8/layout/default"/>
    <dgm:cxn modelId="{268FB161-E6FF-4DBE-ABC3-0FDC7139E13B}" type="presParOf" srcId="{1FA9F918-1C0E-44D5-9794-33A8CE0CDB75}" destId="{DDD7ABAC-D4E1-49D4-8EF5-FC5FD452B5F3}" srcOrd="1" destOrd="0" presId="urn:microsoft.com/office/officeart/2005/8/layout/default"/>
    <dgm:cxn modelId="{6EC5D808-8F2C-4A25-8A56-A2F96DB0F427}" type="presParOf" srcId="{1FA9F918-1C0E-44D5-9794-33A8CE0CDB75}" destId="{4815BC06-D605-4480-97AA-743A05010B70}" srcOrd="2" destOrd="0" presId="urn:microsoft.com/office/officeart/2005/8/layout/default"/>
    <dgm:cxn modelId="{C0BD4B5A-5334-4459-AD4F-37665BDB777C}" type="presParOf" srcId="{1FA9F918-1C0E-44D5-9794-33A8CE0CDB75}" destId="{EFF3A412-BF1B-4669-BC22-0305442B49AB}" srcOrd="3" destOrd="0" presId="urn:microsoft.com/office/officeart/2005/8/layout/default"/>
    <dgm:cxn modelId="{DBC24F51-0D92-4E04-A3D5-A19DA104A788}" type="presParOf" srcId="{1FA9F918-1C0E-44D5-9794-33A8CE0CDB75}" destId="{CA7F0580-5B4A-4AEB-9B38-7780B19F794A}" srcOrd="4" destOrd="0" presId="urn:microsoft.com/office/officeart/2005/8/layout/default"/>
    <dgm:cxn modelId="{74AFCCDE-FE52-40FA-9FDC-87D762E6E945}" type="presParOf" srcId="{1FA9F918-1C0E-44D5-9794-33A8CE0CDB75}" destId="{EE6F64B4-A7C5-434B-90FE-DEE99D39C91B}" srcOrd="5" destOrd="0" presId="urn:microsoft.com/office/officeart/2005/8/layout/default"/>
    <dgm:cxn modelId="{237E285C-8D29-49B8-8054-19C1AE299D25}" type="presParOf" srcId="{1FA9F918-1C0E-44D5-9794-33A8CE0CDB75}" destId="{3B0A029C-B6E9-4AD0-A76D-A9DB1FCD1E0D}" srcOrd="6" destOrd="0" presId="urn:microsoft.com/office/officeart/2005/8/layout/default"/>
    <dgm:cxn modelId="{472FC872-1FED-4B6E-B161-98342D00C48B}" type="presParOf" srcId="{1FA9F918-1C0E-44D5-9794-33A8CE0CDB75}" destId="{EEDA3156-F67F-4F7B-B18A-94C6820C92B3}" srcOrd="7" destOrd="0" presId="urn:microsoft.com/office/officeart/2005/8/layout/default"/>
    <dgm:cxn modelId="{631AB0AC-A396-4B50-9F37-106B3C6A0DF5}" type="presParOf" srcId="{1FA9F918-1C0E-44D5-9794-33A8CE0CDB75}" destId="{8C93D9BD-BA69-4366-8507-78CEC237ACAF}" srcOrd="8" destOrd="0" presId="urn:microsoft.com/office/officeart/2005/8/layout/default"/>
    <dgm:cxn modelId="{29FEA512-E8B9-4BFD-B08F-A7924884F3E5}" type="presParOf" srcId="{1FA9F918-1C0E-44D5-9794-33A8CE0CDB75}" destId="{0E7695E2-B973-4144-A24F-B61C59148A2E}" srcOrd="9" destOrd="0" presId="urn:microsoft.com/office/officeart/2005/8/layout/default"/>
    <dgm:cxn modelId="{CEBBBFBE-C903-4F93-8540-BAF8AFEBE222}" type="presParOf" srcId="{1FA9F918-1C0E-44D5-9794-33A8CE0CDB75}" destId="{CCF91081-86DF-4C8E-887B-7B5A06371072}" srcOrd="10" destOrd="0" presId="urn:microsoft.com/office/officeart/2005/8/layout/defaul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F7138A-B003-48BF-A072-92BCB6235585}">
      <dsp:nvSpPr>
        <dsp:cNvPr id="0" name=""/>
        <dsp:cNvSpPr/>
      </dsp:nvSpPr>
      <dsp:spPr>
        <a:xfrm>
          <a:off x="2970638" y="513191"/>
          <a:ext cx="395451" cy="91440"/>
        </a:xfrm>
        <a:custGeom>
          <a:avLst/>
          <a:gdLst/>
          <a:ahLst/>
          <a:cxnLst/>
          <a:rect l="0" t="0" r="0" b="0"/>
          <a:pathLst>
            <a:path>
              <a:moveTo>
                <a:pt x="0" y="45720"/>
              </a:moveTo>
              <a:lnTo>
                <a:pt x="395451"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7713" y="556779"/>
        <a:ext cx="21302" cy="4264"/>
      </dsp:txXfrm>
    </dsp:sp>
    <dsp:sp modelId="{0A751364-1430-4D95-80E0-E67D876A69D9}">
      <dsp:nvSpPr>
        <dsp:cNvPr id="0" name=""/>
        <dsp:cNvSpPr/>
      </dsp:nvSpPr>
      <dsp:spPr>
        <a:xfrm>
          <a:off x="1120039" y="3192"/>
          <a:ext cx="1852398" cy="11114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The Bank of England was founded in 1694 to act as the UK government’s banker and debt manager.</a:t>
          </a:r>
          <a:endParaRPr lang="en-US" sz="1200" kern="1200"/>
        </a:p>
      </dsp:txBody>
      <dsp:txXfrm>
        <a:off x="1120039" y="3192"/>
        <a:ext cx="1852398" cy="1111439"/>
      </dsp:txXfrm>
    </dsp:sp>
    <dsp:sp modelId="{FBC9B03F-8EFF-410F-A4CB-8B3BCA64882F}">
      <dsp:nvSpPr>
        <dsp:cNvPr id="0" name=""/>
        <dsp:cNvSpPr/>
      </dsp:nvSpPr>
      <dsp:spPr>
        <a:xfrm>
          <a:off x="5249088" y="513191"/>
          <a:ext cx="395451" cy="91440"/>
        </a:xfrm>
        <a:custGeom>
          <a:avLst/>
          <a:gdLst/>
          <a:ahLst/>
          <a:cxnLst/>
          <a:rect l="0" t="0" r="0" b="0"/>
          <a:pathLst>
            <a:path>
              <a:moveTo>
                <a:pt x="0" y="45720"/>
              </a:moveTo>
              <a:lnTo>
                <a:pt x="395451" y="45720"/>
              </a:lnTo>
            </a:path>
          </a:pathLst>
        </a:custGeom>
        <a:noFill/>
        <a:ln w="6350" cap="flat" cmpd="sng" algn="ctr">
          <a:solidFill>
            <a:schemeClr val="accent2">
              <a:hueOff val="-207909"/>
              <a:satOff val="-11990"/>
              <a:lumOff val="123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163" y="556779"/>
        <a:ext cx="21302" cy="4264"/>
      </dsp:txXfrm>
    </dsp:sp>
    <dsp:sp modelId="{6F5D459C-A0DD-460C-B961-D4A7FE365B67}">
      <dsp:nvSpPr>
        <dsp:cNvPr id="0" name=""/>
        <dsp:cNvSpPr/>
      </dsp:nvSpPr>
      <dsp:spPr>
        <a:xfrm>
          <a:off x="3398490" y="3192"/>
          <a:ext cx="1852398" cy="1111439"/>
        </a:xfrm>
        <a:prstGeom prst="rect">
          <a:avLst/>
        </a:prstGeom>
        <a:solidFill>
          <a:schemeClr val="accent2">
            <a:hueOff val="-181920"/>
            <a:satOff val="-10491"/>
            <a:lumOff val="1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As the second-oldest central bank in the world, the BoE model has been the basis of most other central banks of the world.</a:t>
          </a:r>
          <a:endParaRPr lang="en-US" sz="1200" kern="1200"/>
        </a:p>
      </dsp:txBody>
      <dsp:txXfrm>
        <a:off x="3398490" y="3192"/>
        <a:ext cx="1852398" cy="1111439"/>
      </dsp:txXfrm>
    </dsp:sp>
    <dsp:sp modelId="{99FDFCFE-CAE4-4D00-A250-A4E1A64266C1}">
      <dsp:nvSpPr>
        <dsp:cNvPr id="0" name=""/>
        <dsp:cNvSpPr/>
      </dsp:nvSpPr>
      <dsp:spPr>
        <a:xfrm>
          <a:off x="7527538" y="513191"/>
          <a:ext cx="395451" cy="91440"/>
        </a:xfrm>
        <a:custGeom>
          <a:avLst/>
          <a:gdLst/>
          <a:ahLst/>
          <a:cxnLst/>
          <a:rect l="0" t="0" r="0" b="0"/>
          <a:pathLst>
            <a:path>
              <a:moveTo>
                <a:pt x="0" y="45720"/>
              </a:moveTo>
              <a:lnTo>
                <a:pt x="395451" y="45720"/>
              </a:lnTo>
            </a:path>
          </a:pathLst>
        </a:custGeom>
        <a:noFill/>
        <a:ln w="6350" cap="flat" cmpd="sng" algn="ctr">
          <a:solidFill>
            <a:schemeClr val="accent2">
              <a:hueOff val="-415818"/>
              <a:satOff val="-23979"/>
              <a:lumOff val="24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14613" y="556779"/>
        <a:ext cx="21302" cy="4264"/>
      </dsp:txXfrm>
    </dsp:sp>
    <dsp:sp modelId="{B324ECD6-0E7D-4FBE-8C92-A69589C9BEF6}">
      <dsp:nvSpPr>
        <dsp:cNvPr id="0" name=""/>
        <dsp:cNvSpPr/>
      </dsp:nvSpPr>
      <dsp:spPr>
        <a:xfrm>
          <a:off x="5676940" y="3192"/>
          <a:ext cx="1852398" cy="1111439"/>
        </a:xfrm>
        <a:prstGeom prst="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Prior to 1946 – BoE was privately owned but the activities were determined by the Government and legislation.</a:t>
          </a:r>
          <a:endParaRPr lang="en-US" sz="1200" kern="1200"/>
        </a:p>
      </dsp:txBody>
      <dsp:txXfrm>
        <a:off x="5676940" y="3192"/>
        <a:ext cx="1852398" cy="1111439"/>
      </dsp:txXfrm>
    </dsp:sp>
    <dsp:sp modelId="{AD378C4C-C4F0-4121-BD72-69C74F29CC4B}">
      <dsp:nvSpPr>
        <dsp:cNvPr id="0" name=""/>
        <dsp:cNvSpPr/>
      </dsp:nvSpPr>
      <dsp:spPr>
        <a:xfrm>
          <a:off x="2046239" y="1112831"/>
          <a:ext cx="6835350" cy="395451"/>
        </a:xfrm>
        <a:custGeom>
          <a:avLst/>
          <a:gdLst/>
          <a:ahLst/>
          <a:cxnLst/>
          <a:rect l="0" t="0" r="0" b="0"/>
          <a:pathLst>
            <a:path>
              <a:moveTo>
                <a:pt x="6835350" y="0"/>
              </a:moveTo>
              <a:lnTo>
                <a:pt x="6835350" y="214825"/>
              </a:lnTo>
              <a:lnTo>
                <a:pt x="0" y="214825"/>
              </a:lnTo>
              <a:lnTo>
                <a:pt x="0" y="395451"/>
              </a:lnTo>
            </a:path>
          </a:pathLst>
        </a:custGeom>
        <a:noFill/>
        <a:ln w="6350" cap="flat" cmpd="sng" algn="ctr">
          <a:solidFill>
            <a:schemeClr val="accent2">
              <a:hueOff val="-623727"/>
              <a:satOff val="-35969"/>
              <a:lumOff val="369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699" y="1308424"/>
        <a:ext cx="342430" cy="4264"/>
      </dsp:txXfrm>
    </dsp:sp>
    <dsp:sp modelId="{A65DEC37-628C-4280-839B-17B350DD7E00}">
      <dsp:nvSpPr>
        <dsp:cNvPr id="0" name=""/>
        <dsp:cNvSpPr/>
      </dsp:nvSpPr>
      <dsp:spPr>
        <a:xfrm>
          <a:off x="7955390" y="3192"/>
          <a:ext cx="1852398" cy="1111439"/>
        </a:xfrm>
        <a:prstGeom prst="rect">
          <a:avLst/>
        </a:prstGeom>
        <a:solidFill>
          <a:schemeClr val="accent2">
            <a:hueOff val="-545761"/>
            <a:satOff val="-31473"/>
            <a:lumOff val="3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BoE was nationalised in 1946 - wholly-owned by the UK government.</a:t>
          </a:r>
          <a:endParaRPr lang="en-US" sz="1200" kern="1200"/>
        </a:p>
      </dsp:txBody>
      <dsp:txXfrm>
        <a:off x="7955390" y="3192"/>
        <a:ext cx="1852398" cy="1111439"/>
      </dsp:txXfrm>
    </dsp:sp>
    <dsp:sp modelId="{B4F7A58B-6D30-412D-B031-CD2D8D75FDE9}">
      <dsp:nvSpPr>
        <dsp:cNvPr id="0" name=""/>
        <dsp:cNvSpPr/>
      </dsp:nvSpPr>
      <dsp:spPr>
        <a:xfrm>
          <a:off x="2970638" y="2050682"/>
          <a:ext cx="395451" cy="91440"/>
        </a:xfrm>
        <a:custGeom>
          <a:avLst/>
          <a:gdLst/>
          <a:ahLst/>
          <a:cxnLst/>
          <a:rect l="0" t="0" r="0" b="0"/>
          <a:pathLst>
            <a:path>
              <a:moveTo>
                <a:pt x="0" y="45720"/>
              </a:moveTo>
              <a:lnTo>
                <a:pt x="395451" y="45720"/>
              </a:lnTo>
            </a:path>
          </a:pathLst>
        </a:custGeom>
        <a:noFill/>
        <a:ln w="6350" cap="flat" cmpd="sng" algn="ctr">
          <a:solidFill>
            <a:schemeClr val="accent2">
              <a:hueOff val="-831636"/>
              <a:satOff val="-47959"/>
              <a:lumOff val="493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7713" y="2094270"/>
        <a:ext cx="21302" cy="4264"/>
      </dsp:txXfrm>
    </dsp:sp>
    <dsp:sp modelId="{4E419A9E-FABA-498A-B036-39680181D2D5}">
      <dsp:nvSpPr>
        <dsp:cNvPr id="0" name=""/>
        <dsp:cNvSpPr/>
      </dsp:nvSpPr>
      <dsp:spPr>
        <a:xfrm>
          <a:off x="1120039" y="1540682"/>
          <a:ext cx="1852398" cy="1111439"/>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The BoE is accountable to the U.K. Parliament. </a:t>
          </a:r>
          <a:endParaRPr lang="en-US" sz="1200" kern="1200"/>
        </a:p>
      </dsp:txBody>
      <dsp:txXfrm>
        <a:off x="1120039" y="1540682"/>
        <a:ext cx="1852398" cy="1111439"/>
      </dsp:txXfrm>
    </dsp:sp>
    <dsp:sp modelId="{2E8F3C0F-459B-480A-9941-E7C49457A0AF}">
      <dsp:nvSpPr>
        <dsp:cNvPr id="0" name=""/>
        <dsp:cNvSpPr/>
      </dsp:nvSpPr>
      <dsp:spPr>
        <a:xfrm>
          <a:off x="5249088" y="2050682"/>
          <a:ext cx="395451" cy="91440"/>
        </a:xfrm>
        <a:custGeom>
          <a:avLst/>
          <a:gdLst/>
          <a:ahLst/>
          <a:cxnLst/>
          <a:rect l="0" t="0" r="0" b="0"/>
          <a:pathLst>
            <a:path>
              <a:moveTo>
                <a:pt x="0" y="45720"/>
              </a:moveTo>
              <a:lnTo>
                <a:pt x="395451" y="45720"/>
              </a:lnTo>
            </a:path>
          </a:pathLst>
        </a:custGeom>
        <a:noFill/>
        <a:ln w="6350" cap="flat" cmpd="sng" algn="ctr">
          <a:solidFill>
            <a:schemeClr val="accent2">
              <a:hueOff val="-1039545"/>
              <a:satOff val="-59949"/>
              <a:lumOff val="616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6163" y="2094270"/>
        <a:ext cx="21302" cy="4264"/>
      </dsp:txXfrm>
    </dsp:sp>
    <dsp:sp modelId="{4E32969A-9DE6-4F03-AA7D-D091B84DB508}">
      <dsp:nvSpPr>
        <dsp:cNvPr id="0" name=""/>
        <dsp:cNvSpPr/>
      </dsp:nvSpPr>
      <dsp:spPr>
        <a:xfrm>
          <a:off x="3398490" y="1540682"/>
          <a:ext cx="1852398" cy="1111439"/>
        </a:xfrm>
        <a:prstGeom prst="rect">
          <a:avLst/>
        </a:prstGeom>
        <a:solidFill>
          <a:schemeClr val="accent2">
            <a:hueOff val="-909602"/>
            <a:satOff val="-52455"/>
            <a:lumOff val="5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The capital of the Bank is held by the Treasury Solicitor on behalf of HM Treasury.</a:t>
          </a:r>
          <a:endParaRPr lang="en-US" sz="1200" kern="1200"/>
        </a:p>
      </dsp:txBody>
      <dsp:txXfrm>
        <a:off x="3398490" y="1540682"/>
        <a:ext cx="1852398" cy="1111439"/>
      </dsp:txXfrm>
    </dsp:sp>
    <dsp:sp modelId="{03AC04A9-3D1D-4633-B24B-6B46C2843B87}">
      <dsp:nvSpPr>
        <dsp:cNvPr id="0" name=""/>
        <dsp:cNvSpPr/>
      </dsp:nvSpPr>
      <dsp:spPr>
        <a:xfrm>
          <a:off x="7527538" y="2050682"/>
          <a:ext cx="395451" cy="91440"/>
        </a:xfrm>
        <a:custGeom>
          <a:avLst/>
          <a:gdLst/>
          <a:ahLst/>
          <a:cxnLst/>
          <a:rect l="0" t="0" r="0" b="0"/>
          <a:pathLst>
            <a:path>
              <a:moveTo>
                <a:pt x="0" y="45720"/>
              </a:moveTo>
              <a:lnTo>
                <a:pt x="395451" y="45720"/>
              </a:lnTo>
            </a:path>
          </a:pathLst>
        </a:custGeom>
        <a:noFill/>
        <a:ln w="6350" cap="flat" cmpd="sng" algn="ctr">
          <a:solidFill>
            <a:schemeClr val="accent2">
              <a:hueOff val="-1247454"/>
              <a:satOff val="-71938"/>
              <a:lumOff val="739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14613" y="2094270"/>
        <a:ext cx="21302" cy="4264"/>
      </dsp:txXfrm>
    </dsp:sp>
    <dsp:sp modelId="{CC809C89-DF56-4AB9-9867-4746BA8520B9}">
      <dsp:nvSpPr>
        <dsp:cNvPr id="0" name=""/>
        <dsp:cNvSpPr/>
      </dsp:nvSpPr>
      <dsp:spPr>
        <a:xfrm>
          <a:off x="5676940" y="1540682"/>
          <a:ext cx="1852398" cy="1111439"/>
        </a:xfrm>
        <a:prstGeom prst="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The Government has the power to appoint the Bank’s governors and directors, and to issue directions to the Bank. </a:t>
          </a:r>
          <a:endParaRPr lang="en-US" sz="1200" kern="1200"/>
        </a:p>
      </dsp:txBody>
      <dsp:txXfrm>
        <a:off x="5676940" y="1540682"/>
        <a:ext cx="1852398" cy="1111439"/>
      </dsp:txXfrm>
    </dsp:sp>
    <dsp:sp modelId="{7AF4ACA2-BF17-4851-8CAE-494B7AC624A5}">
      <dsp:nvSpPr>
        <dsp:cNvPr id="0" name=""/>
        <dsp:cNvSpPr/>
      </dsp:nvSpPr>
      <dsp:spPr>
        <a:xfrm>
          <a:off x="2046239" y="2650322"/>
          <a:ext cx="6835350" cy="395451"/>
        </a:xfrm>
        <a:custGeom>
          <a:avLst/>
          <a:gdLst/>
          <a:ahLst/>
          <a:cxnLst/>
          <a:rect l="0" t="0" r="0" b="0"/>
          <a:pathLst>
            <a:path>
              <a:moveTo>
                <a:pt x="6835350" y="0"/>
              </a:moveTo>
              <a:lnTo>
                <a:pt x="6835350" y="214825"/>
              </a:lnTo>
              <a:lnTo>
                <a:pt x="0" y="214825"/>
              </a:lnTo>
              <a:lnTo>
                <a:pt x="0" y="395451"/>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699" y="2845915"/>
        <a:ext cx="342430" cy="4264"/>
      </dsp:txXfrm>
    </dsp:sp>
    <dsp:sp modelId="{49B00CAA-7DD3-474B-8D09-7F3181B89337}">
      <dsp:nvSpPr>
        <dsp:cNvPr id="0" name=""/>
        <dsp:cNvSpPr/>
      </dsp:nvSpPr>
      <dsp:spPr>
        <a:xfrm>
          <a:off x="7955390" y="1540682"/>
          <a:ext cx="1852398" cy="1111439"/>
        </a:xfrm>
        <a:prstGeom prst="rect">
          <a:avLst/>
        </a:prstGeom>
        <a:solidFill>
          <a:schemeClr val="accent2">
            <a:hueOff val="-1273443"/>
            <a:satOff val="-73437"/>
            <a:lumOff val="7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400050">
            <a:lnSpc>
              <a:spcPct val="90000"/>
            </a:lnSpc>
            <a:spcBef>
              <a:spcPct val="0"/>
            </a:spcBef>
            <a:spcAft>
              <a:spcPct val="35000"/>
            </a:spcAft>
            <a:buNone/>
          </a:pPr>
          <a:r>
            <a:rPr lang="en-GB" sz="900" kern="1200" dirty="0"/>
            <a:t>On the 6</a:t>
          </a:r>
          <a:r>
            <a:rPr lang="en-GB" sz="900" kern="1200" baseline="30000" dirty="0"/>
            <a:t>th</a:t>
          </a:r>
          <a:r>
            <a:rPr lang="en-GB" sz="900" kern="1200" dirty="0"/>
            <a:t> of May 1997 BoE was given the independence through the BoE Act. Hence, the Bank was granted operational independence = the right to decide the interest rate. However, the Bank is required to meet the Government's stated inflation target.</a:t>
          </a:r>
          <a:endParaRPr lang="en-US" sz="900" kern="1200" dirty="0"/>
        </a:p>
      </dsp:txBody>
      <dsp:txXfrm>
        <a:off x="7955390" y="1540682"/>
        <a:ext cx="1852398" cy="1111439"/>
      </dsp:txXfrm>
    </dsp:sp>
    <dsp:sp modelId="{B341E624-9BEE-4658-AF35-39EB760E586C}">
      <dsp:nvSpPr>
        <dsp:cNvPr id="0" name=""/>
        <dsp:cNvSpPr/>
      </dsp:nvSpPr>
      <dsp:spPr>
        <a:xfrm>
          <a:off x="1120039" y="3078173"/>
          <a:ext cx="1852398" cy="1111439"/>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69" tIns="95278" rIns="90769" bIns="95278" numCol="1" spcCol="1270" anchor="ctr" anchorCtr="0">
          <a:noAutofit/>
        </a:bodyPr>
        <a:lstStyle/>
        <a:p>
          <a:pPr marL="0" lvl="0" indent="0" algn="ctr" defTabSz="533400">
            <a:lnSpc>
              <a:spcPct val="90000"/>
            </a:lnSpc>
            <a:spcBef>
              <a:spcPct val="0"/>
            </a:spcBef>
            <a:spcAft>
              <a:spcPct val="35000"/>
            </a:spcAft>
            <a:buNone/>
          </a:pPr>
          <a:r>
            <a:rPr lang="en-GB" sz="1200" kern="1200"/>
            <a:t>It makes decisions about the setting of interest rates and the scale of its asset purchase programme without direct political interference. </a:t>
          </a:r>
          <a:endParaRPr lang="en-US" sz="1200" kern="1200"/>
        </a:p>
      </dsp:txBody>
      <dsp:txXfrm>
        <a:off x="1120039" y="3078173"/>
        <a:ext cx="1852398" cy="11114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98709-A188-4A79-AE90-F9DE78F5D68B}">
      <dsp:nvSpPr>
        <dsp:cNvPr id="0" name=""/>
        <dsp:cNvSpPr/>
      </dsp:nvSpPr>
      <dsp:spPr>
        <a:xfrm>
          <a:off x="307345"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From a historical context, </a:t>
          </a:r>
          <a:endParaRPr lang="en-US" sz="2600" kern="1200"/>
        </a:p>
      </dsp:txBody>
      <dsp:txXfrm>
        <a:off x="307345" y="1546"/>
        <a:ext cx="3222855" cy="1933713"/>
      </dsp:txXfrm>
    </dsp:sp>
    <dsp:sp modelId="{4815BC06-D605-4480-97AA-743A05010B70}">
      <dsp:nvSpPr>
        <dsp:cNvPr id="0" name=""/>
        <dsp:cNvSpPr/>
      </dsp:nvSpPr>
      <dsp:spPr>
        <a:xfrm>
          <a:off x="3852486"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First Central Bank:</a:t>
          </a:r>
          <a:r>
            <a:rPr lang="en-US" sz="2600" kern="1200"/>
            <a:t> Sveriges Riksbank (Sweden, 1668)</a:t>
          </a:r>
        </a:p>
      </dsp:txBody>
      <dsp:txXfrm>
        <a:off x="3852486" y="1546"/>
        <a:ext cx="3222855" cy="1933713"/>
      </dsp:txXfrm>
    </dsp:sp>
    <dsp:sp modelId="{CA7F0580-5B4A-4AEB-9B38-7780B19F794A}">
      <dsp:nvSpPr>
        <dsp:cNvPr id="0" name=""/>
        <dsp:cNvSpPr/>
      </dsp:nvSpPr>
      <dsp:spPr>
        <a:xfrm>
          <a:off x="7397627"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Bank of England (1694): </a:t>
          </a:r>
          <a:r>
            <a:rPr lang="en-US" sz="2600" kern="1200"/>
            <a:t>First modern Central Bank</a:t>
          </a:r>
        </a:p>
      </dsp:txBody>
      <dsp:txXfrm>
        <a:off x="7397627" y="1546"/>
        <a:ext cx="3222855" cy="1933713"/>
      </dsp:txXfrm>
    </dsp:sp>
    <dsp:sp modelId="{3B0A029C-B6E9-4AD0-A76D-A9DB1FCD1E0D}">
      <dsp:nvSpPr>
        <dsp:cNvPr id="0" name=""/>
        <dsp:cNvSpPr/>
      </dsp:nvSpPr>
      <dsp:spPr>
        <a:xfrm>
          <a:off x="307345" y="2257545"/>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The Federal Reserve (USA, 1913): </a:t>
          </a:r>
          <a:r>
            <a:rPr lang="en-US" sz="2600" kern="1200"/>
            <a:t>Created in response to banking crises</a:t>
          </a:r>
        </a:p>
      </dsp:txBody>
      <dsp:txXfrm>
        <a:off x="307345" y="2257545"/>
        <a:ext cx="3222855" cy="1933713"/>
      </dsp:txXfrm>
    </dsp:sp>
    <dsp:sp modelId="{8C93D9BD-BA69-4366-8507-78CEC237ACAF}">
      <dsp:nvSpPr>
        <dsp:cNvPr id="0" name=""/>
        <dsp:cNvSpPr/>
      </dsp:nvSpPr>
      <dsp:spPr>
        <a:xfrm>
          <a:off x="3852486" y="2257545"/>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Functions and roles of central banks</a:t>
          </a:r>
          <a:endParaRPr lang="en-US" sz="2600" kern="1200"/>
        </a:p>
      </dsp:txBody>
      <dsp:txXfrm>
        <a:off x="3852486" y="2257545"/>
        <a:ext cx="3222855" cy="1933713"/>
      </dsp:txXfrm>
    </dsp:sp>
    <dsp:sp modelId="{CCF91081-86DF-4C8E-887B-7B5A06371072}">
      <dsp:nvSpPr>
        <dsp:cNvPr id="0" name=""/>
        <dsp:cNvSpPr/>
      </dsp:nvSpPr>
      <dsp:spPr>
        <a:xfrm>
          <a:off x="7397627" y="2257545"/>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Central banks become more independent –strengths and weaknesses.</a:t>
          </a:r>
          <a:endParaRPr lang="en-US" sz="2600" kern="1200"/>
        </a:p>
      </dsp:txBody>
      <dsp:txXfrm>
        <a:off x="7397627" y="2257545"/>
        <a:ext cx="3222855" cy="1933713"/>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8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3EED640-7E37-4E9C-ACC5-E4A0D1C954F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hyperlink" Target="https://www.ft.com/content/077f0516-dbe2-4953-89cd-fa70025f748d" TargetMode="External"/><Relationship Id="rId2" Type="http://schemas.openxmlformats.org/officeDocument/2006/relationships/slide" Target="../slides/slide31.xml"/><Relationship Id="rId3"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F3DA0C54-0568-45A5-8490-7ED493DF0455}"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A1F2B09A-0A7F-41BB-9506-35359B8A57CD}"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sldImg"/>
          </p:nvPr>
        </p:nvSpPr>
        <p:spPr>
          <a:xfrm>
            <a:off x="685800" y="1143000"/>
            <a:ext cx="5486040" cy="3085920"/>
          </a:xfrm>
          <a:prstGeom prst="rect">
            <a:avLst/>
          </a:prstGeom>
          <a:ln w="0">
            <a:noFill/>
          </a:ln>
        </p:spPr>
      </p:sp>
      <p:sp>
        <p:nvSpPr>
          <p:cNvPr id="2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A1CD216F-08F2-421D-B42D-0228142816D1}"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6040" cy="3085920"/>
          </a:xfrm>
          <a:prstGeom prst="rect">
            <a:avLst/>
          </a:prstGeom>
          <a:ln w="0">
            <a:noFill/>
          </a:ln>
        </p:spPr>
      </p:sp>
      <p:sp>
        <p:nvSpPr>
          <p:cNvPr id="2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69FA1588-A7A8-41DB-9B5A-32901CAACF08}"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6040" cy="3085920"/>
          </a:xfrm>
          <a:prstGeom prst="rect">
            <a:avLst/>
          </a:prstGeom>
          <a:ln w="0">
            <a:noFill/>
          </a:ln>
        </p:spPr>
      </p:sp>
      <p:sp>
        <p:nvSpPr>
          <p:cNvPr id="2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A924EF6C-2FEF-4B71-B50E-3C59BDC2950C}"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6040" cy="3085920"/>
          </a:xfrm>
          <a:prstGeom prst="rect">
            <a:avLst/>
          </a:prstGeom>
          <a:ln w="0">
            <a:noFill/>
          </a:ln>
        </p:spPr>
      </p:sp>
      <p:sp>
        <p:nvSpPr>
          <p:cNvPr id="3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836513CD-DB1D-4376-9D60-61BE93EAC8E4}"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6040" cy="3085920"/>
          </a:xfrm>
          <a:prstGeom prst="rect">
            <a:avLst/>
          </a:prstGeom>
          <a:ln w="0">
            <a:noFill/>
          </a:ln>
        </p:spPr>
      </p:sp>
      <p:sp>
        <p:nvSpPr>
          <p:cNvPr id="3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C052421A-A865-469D-A0C2-6849A3A1C6C2}"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6040" cy="3085920"/>
          </a:xfrm>
          <a:prstGeom prst="rect">
            <a:avLst/>
          </a:prstGeom>
          <a:ln w="0">
            <a:noFill/>
          </a:ln>
        </p:spPr>
      </p:sp>
      <p:sp>
        <p:nvSpPr>
          <p:cNvPr id="3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a:solidFill>
                  <a:srgbClr val="000000"/>
                </a:solidFill>
                <a:latin typeface="Arial"/>
              </a:rPr>
              <a:t>Monetary policy</a:t>
            </a: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Financial stability</a:t>
            </a: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Banker to banks</a:t>
            </a:r>
            <a:endParaRPr b="0" lang="en-US" sz="2000" spc="-1" strike="noStrike">
              <a:solidFill>
                <a:srgbClr val="000000"/>
              </a:solidFill>
              <a:latin typeface="Arial"/>
            </a:endParaRPr>
          </a:p>
          <a:p>
            <a:pPr marL="216000" indent="0">
              <a:lnSpc>
                <a:spcPct val="100000"/>
              </a:lnSpc>
              <a:buNone/>
            </a:pPr>
            <a:r>
              <a:rPr b="0" lang="en-GB" sz="2000" spc="-1" strike="noStrike">
                <a:solidFill>
                  <a:srgbClr val="000000"/>
                </a:solidFill>
                <a:latin typeface="Arial"/>
              </a:rPr>
              <a:t>Issuing currency</a:t>
            </a:r>
            <a:endParaRPr b="0" lang="en-US" sz="2000" spc="-1" strike="noStrike">
              <a:solidFill>
                <a:srgbClr val="000000"/>
              </a:solidFill>
              <a:latin typeface="Arial"/>
            </a:endParaRPr>
          </a:p>
        </p:txBody>
      </p:sp>
      <p:sp>
        <p:nvSpPr>
          <p:cNvPr id="307"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69F48CD9-26C0-49D1-B44B-023F6B277D00}"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defTabSz="900000">
              <a:lnSpc>
                <a:spcPct val="100000"/>
              </a:lnSpc>
              <a:buNone/>
              <a:defRPr b="0" lang="en-GB" sz="1200" spc="-1" strike="noStrike">
                <a:solidFill>
                  <a:schemeClr val="dk1"/>
                </a:solidFill>
                <a:latin typeface="Arial"/>
                <a:ea typeface="MS PGothic"/>
              </a:defRPr>
            </a:lvl1pPr>
          </a:lstStyle>
          <a:p>
            <a:pPr indent="0" algn="r" defTabSz="900000">
              <a:lnSpc>
                <a:spcPct val="100000"/>
              </a:lnSpc>
              <a:buNone/>
            </a:pPr>
            <a:fld id="{A9E201FE-B515-48AA-B80D-9E1ED8B9652A}" type="slidenum">
              <a:rPr b="0" lang="en-GB" sz="1200" spc="-1" strike="noStrike">
                <a:solidFill>
                  <a:schemeClr val="dk1"/>
                </a:solidFill>
                <a:latin typeface="Arial"/>
                <a:ea typeface="MS PGothic"/>
              </a:rPr>
              <a:t>&lt;number&gt;</a:t>
            </a:fld>
            <a:endParaRPr b="0" lang="en-US" sz="1200" spc="-1" strike="noStrike">
              <a:solidFill>
                <a:srgbClr val="000000"/>
              </a:solidFill>
              <a:latin typeface="Times New Roman"/>
            </a:endParaRPr>
          </a:p>
        </p:txBody>
      </p:sp>
      <p:sp>
        <p:nvSpPr>
          <p:cNvPr id="309" name="PlaceHolder 2"/>
          <p:cNvSpPr>
            <a:spLocks noGrp="1"/>
          </p:cNvSpPr>
          <p:nvPr>
            <p:ph type="sldImg"/>
          </p:nvPr>
        </p:nvSpPr>
        <p:spPr>
          <a:xfrm>
            <a:off x="685800" y="1143000"/>
            <a:ext cx="5486040" cy="3085920"/>
          </a:xfrm>
          <a:prstGeom prst="rect">
            <a:avLst/>
          </a:prstGeom>
          <a:ln w="0">
            <a:noFill/>
          </a:ln>
        </p:spPr>
      </p:sp>
      <p:sp>
        <p:nvSpPr>
          <p:cNvPr id="310" name="PlaceHolder 3"/>
          <p:cNvSpPr>
            <a:spLocks noGrp="1"/>
          </p:cNvSpPr>
          <p:nvPr>
            <p:ph type="body"/>
          </p:nvPr>
        </p:nvSpPr>
        <p:spPr>
          <a:xfrm>
            <a:off x="685800" y="4400640"/>
            <a:ext cx="5486040" cy="3600000"/>
          </a:xfrm>
          <a:prstGeom prst="rect">
            <a:avLst/>
          </a:prstGeom>
          <a:noFill/>
          <a:ln w="0">
            <a:noFill/>
          </a:ln>
        </p:spPr>
        <p:txBody>
          <a:bodyPr numCol="1" spcCol="0" lIns="91440" rIns="91440" tIns="45720" bIns="45720" anchor="t">
            <a:noAutofit/>
          </a:bodyPr>
          <a:p>
            <a:pPr marL="216000" indent="-216000">
              <a:buNone/>
            </a:pPr>
            <a:endParaRPr b="0" lang="en-US" sz="18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6040" cy="3085920"/>
          </a:xfrm>
          <a:prstGeom prst="rect">
            <a:avLst/>
          </a:prstGeom>
          <a:ln w="0">
            <a:noFill/>
          </a:ln>
        </p:spPr>
      </p:sp>
      <p:sp>
        <p:nvSpPr>
          <p:cNvPr id="3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AFDE282D-D3A7-4A51-AA6A-EB683C8B44C2}"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6040" cy="308592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00D3571E-863F-4AAF-8217-B5BCB41D07DB}"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3EBB0622-6B38-4597-AFA7-3F6B8B9FFE0A}"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4841D09-A46A-4A12-8E0E-D5EB849F707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9F917851-09F6-46A0-97D8-247EA943DB5C}"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GB" sz="2000" spc="-1" strike="noStrike" u="sng">
                <a:solidFill>
                  <a:srgbClr val="000000"/>
                </a:solidFill>
                <a:uFillTx/>
                <a:latin typeface="Arial"/>
                <a:hlinkClick r:id="rId1"/>
              </a:rPr>
              <a:t>Central bank decisions — as they happened: Powell says no rush to adjust Fed policy stance; Canada cuts rates for sixth consecutive meeting</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328"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GB" sz="1200" spc="-1" strike="noStrike">
                <a:solidFill>
                  <a:srgbClr val="000000"/>
                </a:solidFill>
                <a:latin typeface="Times New Roman"/>
              </a:defRPr>
            </a:lvl1pPr>
          </a:lstStyle>
          <a:p>
            <a:pPr indent="0" algn="r">
              <a:lnSpc>
                <a:spcPct val="100000"/>
              </a:lnSpc>
              <a:buNone/>
            </a:pPr>
            <a:fld id="{67080A17-7D19-4D75-A3C0-C9333FC5ADB6}" type="slidenum">
              <a:rPr b="0" lang="en-GB"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2394D06-64A1-41A0-B54E-D8F5A1AC49DE}"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3041A55-6C0F-4AB6-86F2-B660F607554D}"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5DBD244F-533A-43A0-84B1-4F0E295161D0}"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 presentation title slide">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title and subhead">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8481A11A-CECF-4814-82DC-EDA9D750F86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B2DC515B-42F2-4B8C-ABED-09EA4DC37C81}"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8"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9"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2399EC4-3DF0-4B84-AACF-93D8DD91BAFA}"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294C8FB-9D2D-4CDF-A2E3-E1F24ACF303D}"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DCCAA60-DA92-4210-9079-5B7BA3C8C1AA}"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B5ECFCB-6904-419A-93B5-F8E5D9AC33C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95169C02-ECA1-491D-A179-BF116DA38AFF}"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86E570D4-5DC3-45DF-8DCE-BB1EEA851A6F}"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Click </a:t>
            </a:r>
            <a:r>
              <a:rPr b="0" lang="en-US" sz="6000" spc="-1" strike="noStrike">
                <a:solidFill>
                  <a:schemeClr val="dk1"/>
                </a:solidFill>
                <a:latin typeface="Calibri Light"/>
              </a:rPr>
              <a:t>to </a:t>
            </a:r>
            <a:r>
              <a:rPr b="0" lang="en-US" sz="6000" spc="-1" strike="noStrike">
                <a:solidFill>
                  <a:schemeClr val="dk1"/>
                </a:solidFill>
                <a:latin typeface="Calibri Light"/>
              </a:rPr>
              <a:t>edit </a:t>
            </a:r>
            <a:r>
              <a:rPr b="0" lang="en-US" sz="6000" spc="-1" strike="noStrike">
                <a:solidFill>
                  <a:schemeClr val="dk1"/>
                </a:solidFill>
                <a:latin typeface="Calibri Light"/>
              </a:rPr>
              <a:t>Mas</a:t>
            </a:r>
            <a:r>
              <a:rPr b="0" lang="en-US" sz="6000" spc="-1" strike="noStrike">
                <a:solidFill>
                  <a:schemeClr val="dk1"/>
                </a:solidFill>
                <a:latin typeface="Calibri Light"/>
              </a:rPr>
              <a:t>ter </a:t>
            </a:r>
            <a:r>
              <a:rPr b="0" lang="en-US" sz="6000" spc="-1" strike="noStrike">
                <a:solidFill>
                  <a:schemeClr val="dk1"/>
                </a:solidFill>
                <a:latin typeface="Calibri Light"/>
              </a:rPr>
              <a:t>title </a:t>
            </a:r>
            <a:r>
              <a:rPr b="0" lang="en-US" sz="6000" spc="-1" strike="noStrike">
                <a:solidFill>
                  <a:schemeClr val="dk1"/>
                </a:solidFill>
                <a:latin typeface="Calibri Light"/>
              </a:rPr>
              <a:t>style</a:t>
            </a:r>
            <a:endParaRPr b="0" lang="en-US" sz="6000" spc="-1" strike="noStrike">
              <a:solidFill>
                <a:schemeClr val="dk1"/>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3D8DA3AF-A4C5-42ED-98FA-400CD6974E95}"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a:t>
            </a:r>
            <a:r>
              <a:rPr b="0" lang="en-US" sz="2800" spc="-1" strike="noStrike">
                <a:solidFill>
                  <a:schemeClr val="dk1"/>
                </a:solidFill>
                <a:latin typeface="Calibri"/>
              </a:rPr>
              <a:t>it </a:t>
            </a:r>
            <a:r>
              <a:rPr b="0" lang="en-US" sz="2800" spc="-1" strike="noStrike">
                <a:solidFill>
                  <a:schemeClr val="dk1"/>
                </a:solidFill>
                <a:latin typeface="Calibri"/>
              </a:rPr>
              <a:t>M</a:t>
            </a:r>
            <a:r>
              <a:rPr b="0" lang="en-US" sz="2800" spc="-1" strike="noStrike">
                <a:solidFill>
                  <a:schemeClr val="dk1"/>
                </a:solidFill>
                <a:latin typeface="Calibri"/>
              </a:rPr>
              <a:t>as</a:t>
            </a:r>
            <a:r>
              <a:rPr b="0" lang="en-US" sz="2800" spc="-1" strike="noStrike">
                <a:solidFill>
                  <a:schemeClr val="dk1"/>
                </a:solidFill>
                <a:latin typeface="Calibri"/>
              </a:rPr>
              <a:t>te</a:t>
            </a:r>
            <a:r>
              <a:rPr b="0" lang="en-US" sz="2800" spc="-1" strike="noStrike">
                <a:solidFill>
                  <a:schemeClr val="dk1"/>
                </a:solidFill>
                <a:latin typeface="Calibri"/>
              </a:rPr>
              <a:t>r </a:t>
            </a:r>
            <a:r>
              <a:rPr b="0" lang="en-US" sz="2800" spc="-1" strike="noStrike">
                <a:solidFill>
                  <a:schemeClr val="dk1"/>
                </a:solidFill>
                <a:latin typeface="Calibri"/>
              </a:rPr>
              <a:t>te</a:t>
            </a:r>
            <a:r>
              <a:rPr b="0" lang="en-US" sz="2800" spc="-1" strike="noStrike">
                <a:solidFill>
                  <a:schemeClr val="dk1"/>
                </a:solidFill>
                <a:latin typeface="Calibri"/>
              </a:rPr>
              <a:t>xt </a:t>
            </a:r>
            <a:r>
              <a:rPr b="0" lang="en-US" sz="2800" spc="-1" strike="noStrike">
                <a:solidFill>
                  <a:schemeClr val="dk1"/>
                </a:solidFill>
                <a:latin typeface="Calibri"/>
              </a:rPr>
              <a:t>st</a:t>
            </a:r>
            <a:r>
              <a:rPr b="0" lang="en-US" sz="2800" spc="-1" strike="noStrike">
                <a:solidFill>
                  <a:schemeClr val="dk1"/>
                </a:solidFill>
                <a:latin typeface="Calibri"/>
              </a:rPr>
              <a:t>yl</a:t>
            </a:r>
            <a:r>
              <a:rPr b="0" lang="en-US" sz="2800" spc="-1" strike="noStrike">
                <a:solidFill>
                  <a:schemeClr val="dk1"/>
                </a:solidFill>
                <a:latin typeface="Calibri"/>
              </a:rPr>
              <a:t>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a:t>
            </a:r>
            <a:r>
              <a:rPr b="0" lang="en-US" sz="2400" spc="-1" strike="noStrike">
                <a:solidFill>
                  <a:schemeClr val="dk1"/>
                </a:solidFill>
                <a:latin typeface="Calibri"/>
              </a:rPr>
              <a:t>e</a:t>
            </a:r>
            <a:r>
              <a:rPr b="0" lang="en-US" sz="2400" spc="-1" strike="noStrike">
                <a:solidFill>
                  <a:schemeClr val="dk1"/>
                </a:solidFill>
                <a:latin typeface="Calibri"/>
              </a:rPr>
              <a:t>c</a:t>
            </a:r>
            <a:r>
              <a:rPr b="0" lang="en-US" sz="2400" spc="-1" strike="noStrike">
                <a:solidFill>
                  <a:schemeClr val="dk1"/>
                </a:solidFill>
                <a:latin typeface="Calibri"/>
              </a:rPr>
              <a:t>o</a:t>
            </a:r>
            <a:r>
              <a:rPr b="0" lang="en-US" sz="2400" spc="-1" strike="noStrike">
                <a:solidFill>
                  <a:schemeClr val="dk1"/>
                </a:solidFill>
                <a:latin typeface="Calibri"/>
              </a:rPr>
              <a:t>n</a:t>
            </a:r>
            <a:r>
              <a:rPr b="0" lang="en-US" sz="2400" spc="-1" strike="noStrike">
                <a:solidFill>
                  <a:schemeClr val="dk1"/>
                </a:solidFill>
                <a:latin typeface="Calibri"/>
              </a:rPr>
              <a:t>d</a:t>
            </a:r>
            <a:r>
              <a:rPr b="0" lang="en-US" sz="2400" spc="-1" strike="noStrike">
                <a:solidFill>
                  <a:schemeClr val="dk1"/>
                </a:solidFill>
                <a:latin typeface="Calibri"/>
              </a:rPr>
              <a:t> </a:t>
            </a:r>
            <a:r>
              <a:rPr b="0" lang="en-US" sz="2400" spc="-1" strike="noStrike">
                <a:solidFill>
                  <a:schemeClr val="dk1"/>
                </a:solidFill>
                <a:latin typeface="Calibri"/>
              </a:rPr>
              <a:t>l</a:t>
            </a:r>
            <a:r>
              <a:rPr b="0" lang="en-US" sz="2400" spc="-1" strike="noStrike">
                <a:solidFill>
                  <a:schemeClr val="dk1"/>
                </a:solidFill>
                <a:latin typeface="Calibri"/>
              </a:rPr>
              <a:t>e</a:t>
            </a:r>
            <a:r>
              <a:rPr b="0" lang="en-US" sz="2400" spc="-1" strike="noStrike">
                <a:solidFill>
                  <a:schemeClr val="dk1"/>
                </a:solidFill>
                <a:latin typeface="Calibri"/>
              </a:rPr>
              <a:t>v</a:t>
            </a:r>
            <a:r>
              <a:rPr b="0" lang="en-US" sz="2400" spc="-1" strike="noStrike">
                <a:solidFill>
                  <a:schemeClr val="dk1"/>
                </a:solidFill>
                <a:latin typeface="Calibri"/>
              </a:rPr>
              <a:t>e</a:t>
            </a:r>
            <a:r>
              <a:rPr b="0" lang="en-US" sz="2400" spc="-1" strike="noStrike">
                <a:solidFill>
                  <a:schemeClr val="dk1"/>
                </a:solidFill>
                <a:latin typeface="Calibri"/>
              </a:rPr>
              <a:t>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a:t>
            </a:r>
            <a:r>
              <a:rPr b="0" lang="en-US" sz="2000" spc="-1" strike="noStrike">
                <a:solidFill>
                  <a:schemeClr val="dk1"/>
                </a:solidFill>
                <a:latin typeface="Calibri"/>
              </a:rPr>
              <a:t>h</a:t>
            </a:r>
            <a:r>
              <a:rPr b="0" lang="en-US" sz="2000" spc="-1" strike="noStrike">
                <a:solidFill>
                  <a:schemeClr val="dk1"/>
                </a:solidFill>
                <a:latin typeface="Calibri"/>
              </a:rPr>
              <a:t>i</a:t>
            </a:r>
            <a:r>
              <a:rPr b="0" lang="en-US" sz="2000" spc="-1" strike="noStrike">
                <a:solidFill>
                  <a:schemeClr val="dk1"/>
                </a:solidFill>
                <a:latin typeface="Calibri"/>
              </a:rPr>
              <a:t>r</a:t>
            </a:r>
            <a:r>
              <a:rPr b="0" lang="en-US" sz="2000" spc="-1" strike="noStrike">
                <a:solidFill>
                  <a:schemeClr val="dk1"/>
                </a:solidFill>
                <a:latin typeface="Calibri"/>
              </a:rPr>
              <a:t>d</a:t>
            </a:r>
            <a:r>
              <a:rPr b="0" lang="en-US" sz="2000" spc="-1" strike="noStrike">
                <a:solidFill>
                  <a:schemeClr val="dk1"/>
                </a:solidFill>
                <a:latin typeface="Calibri"/>
              </a:rPr>
              <a:t> </a:t>
            </a:r>
            <a:r>
              <a:rPr b="0" lang="en-US" sz="2000" spc="-1" strike="noStrike">
                <a:solidFill>
                  <a:schemeClr val="dk1"/>
                </a:solidFill>
                <a:latin typeface="Calibri"/>
              </a:rPr>
              <a:t>l</a:t>
            </a:r>
            <a:r>
              <a:rPr b="0" lang="en-US" sz="2000" spc="-1" strike="noStrike">
                <a:solidFill>
                  <a:schemeClr val="dk1"/>
                </a:solidFill>
                <a:latin typeface="Calibri"/>
              </a:rPr>
              <a:t>e</a:t>
            </a:r>
            <a:r>
              <a:rPr b="0" lang="en-US" sz="2000" spc="-1" strike="noStrike">
                <a:solidFill>
                  <a:schemeClr val="dk1"/>
                </a:solidFill>
                <a:latin typeface="Calibri"/>
              </a:rPr>
              <a:t>v</a:t>
            </a:r>
            <a:r>
              <a:rPr b="0" lang="en-US" sz="2000" spc="-1" strike="noStrike">
                <a:solidFill>
                  <a:schemeClr val="dk1"/>
                </a:solidFill>
                <a:latin typeface="Calibri"/>
              </a:rPr>
              <a:t>e</a:t>
            </a:r>
            <a:r>
              <a:rPr b="0" lang="en-US" sz="2000" spc="-1" strike="noStrike">
                <a:solidFill>
                  <a:schemeClr val="dk1"/>
                </a:solidFill>
                <a:latin typeface="Calibri"/>
              </a:rPr>
              <a:t>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a:t>
            </a:r>
            <a:r>
              <a:rPr b="0" lang="en-US" sz="1800" spc="-1" strike="noStrike">
                <a:solidFill>
                  <a:schemeClr val="dk1"/>
                </a:solidFill>
                <a:latin typeface="Calibri"/>
              </a:rPr>
              <a:t>o</a:t>
            </a:r>
            <a:r>
              <a:rPr b="0" lang="en-US" sz="1800" spc="-1" strike="noStrike">
                <a:solidFill>
                  <a:schemeClr val="dk1"/>
                </a:solidFill>
                <a:latin typeface="Calibri"/>
              </a:rPr>
              <a:t>u</a:t>
            </a:r>
            <a:r>
              <a:rPr b="0" lang="en-US" sz="1800" spc="-1" strike="noStrike">
                <a:solidFill>
                  <a:schemeClr val="dk1"/>
                </a:solidFill>
                <a:latin typeface="Calibri"/>
              </a:rPr>
              <a:t>r</a:t>
            </a:r>
            <a:r>
              <a:rPr b="0" lang="en-US" sz="1800" spc="-1" strike="noStrike">
                <a:solidFill>
                  <a:schemeClr val="dk1"/>
                </a:solidFill>
                <a:latin typeface="Calibri"/>
              </a:rPr>
              <a:t>t</a:t>
            </a:r>
            <a:r>
              <a:rPr b="0" lang="en-US" sz="1800" spc="-1" strike="noStrike">
                <a:solidFill>
                  <a:schemeClr val="dk1"/>
                </a:solidFill>
                <a:latin typeface="Calibri"/>
              </a:rPr>
              <a:t>h</a:t>
            </a:r>
            <a:r>
              <a:rPr b="0" lang="en-US" sz="1800" spc="-1" strike="noStrike">
                <a:solidFill>
                  <a:schemeClr val="dk1"/>
                </a:solidFill>
                <a:latin typeface="Calibri"/>
              </a:rPr>
              <a:t> </a:t>
            </a:r>
            <a:r>
              <a:rPr b="0" lang="en-US" sz="1800" spc="-1" strike="noStrike">
                <a:solidFill>
                  <a:schemeClr val="dk1"/>
                </a:solidFill>
                <a:latin typeface="Calibri"/>
              </a:rPr>
              <a:t>l</a:t>
            </a:r>
            <a:r>
              <a:rPr b="0" lang="en-US" sz="1800" spc="-1" strike="noStrike">
                <a:solidFill>
                  <a:schemeClr val="dk1"/>
                </a:solidFill>
                <a:latin typeface="Calibri"/>
              </a:rPr>
              <a:t>e</a:t>
            </a:r>
            <a:r>
              <a:rPr b="0" lang="en-US" sz="1800" spc="-1" strike="noStrike">
                <a:solidFill>
                  <a:schemeClr val="dk1"/>
                </a:solidFill>
                <a:latin typeface="Calibri"/>
              </a:rPr>
              <a:t>v</a:t>
            </a:r>
            <a:r>
              <a:rPr b="0" lang="en-US" sz="1800" spc="-1" strike="noStrike">
                <a:solidFill>
                  <a:schemeClr val="dk1"/>
                </a:solidFill>
                <a:latin typeface="Calibri"/>
              </a:rPr>
              <a:t>e</a:t>
            </a:r>
            <a:r>
              <a:rPr b="0" lang="en-US" sz="1800" spc="-1" strike="noStrike">
                <a:solidFill>
                  <a:schemeClr val="dk1"/>
                </a:solidFill>
                <a:latin typeface="Calibri"/>
              </a:rPr>
              <a:t>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a:t>
            </a:r>
            <a:r>
              <a:rPr b="0" lang="en-US" sz="1800" spc="-1" strike="noStrike">
                <a:solidFill>
                  <a:schemeClr val="dk1"/>
                </a:solidFill>
                <a:latin typeface="Calibri"/>
              </a:rPr>
              <a:t>i</a:t>
            </a:r>
            <a:r>
              <a:rPr b="0" lang="en-US" sz="1800" spc="-1" strike="noStrike">
                <a:solidFill>
                  <a:schemeClr val="dk1"/>
                </a:solidFill>
                <a:latin typeface="Calibri"/>
              </a:rPr>
              <a:t>f</a:t>
            </a:r>
            <a:r>
              <a:rPr b="0" lang="en-US" sz="1800" spc="-1" strike="noStrike">
                <a:solidFill>
                  <a:schemeClr val="dk1"/>
                </a:solidFill>
                <a:latin typeface="Calibri"/>
              </a:rPr>
              <a:t>t</a:t>
            </a:r>
            <a:r>
              <a:rPr b="0" lang="en-US" sz="1800" spc="-1" strike="noStrike">
                <a:solidFill>
                  <a:schemeClr val="dk1"/>
                </a:solidFill>
                <a:latin typeface="Calibri"/>
              </a:rPr>
              <a:t>h</a:t>
            </a:r>
            <a:r>
              <a:rPr b="0" lang="en-US" sz="1800" spc="-1" strike="noStrike">
                <a:solidFill>
                  <a:schemeClr val="dk1"/>
                </a:solidFill>
                <a:latin typeface="Calibri"/>
              </a:rPr>
              <a:t> </a:t>
            </a:r>
            <a:r>
              <a:rPr b="0" lang="en-US" sz="1800" spc="-1" strike="noStrike">
                <a:solidFill>
                  <a:schemeClr val="dk1"/>
                </a:solidFill>
                <a:latin typeface="Calibri"/>
              </a:rPr>
              <a:t>l</a:t>
            </a:r>
            <a:r>
              <a:rPr b="0" lang="en-US" sz="1800" spc="-1" strike="noStrike">
                <a:solidFill>
                  <a:schemeClr val="dk1"/>
                </a:solidFill>
                <a:latin typeface="Calibri"/>
              </a:rPr>
              <a:t>e</a:t>
            </a:r>
            <a:r>
              <a:rPr b="0" lang="en-US" sz="1800" spc="-1" strike="noStrike">
                <a:solidFill>
                  <a:schemeClr val="dk1"/>
                </a:solidFill>
                <a:latin typeface="Calibri"/>
              </a:rPr>
              <a:t>v</a:t>
            </a:r>
            <a:r>
              <a:rPr b="0" lang="en-US" sz="1800" spc="-1" strike="noStrike">
                <a:solidFill>
                  <a:schemeClr val="dk1"/>
                </a:solidFill>
                <a:latin typeface="Calibri"/>
              </a:rPr>
              <a:t>e</a:t>
            </a:r>
            <a:r>
              <a:rPr b="0" lang="en-US" sz="1800" spc="-1" strike="noStrike">
                <a:solidFill>
                  <a:schemeClr val="dk1"/>
                </a:solidFill>
                <a:latin typeface="Calibri"/>
              </a:rPr>
              <a:t>l</a:t>
            </a:r>
            <a:endParaRPr b="0" lang="en-US" sz="1800" spc="-1" strike="noStrike">
              <a:solidFill>
                <a:schemeClr val="dk1"/>
              </a:solidFill>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06F219E0-4B40-45A5-A58C-F468E8276444}"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DB3B4E7C-51E7-478A-BD2B-32BFA6191598}"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c9dac"/>
        </a:solidFill>
      </p:bgPr>
    </p:bg>
    <p:spTree>
      <p:nvGrpSpPr>
        <p:cNvPr id="1" name=""/>
        <p:cNvGrpSpPr/>
        <p:nvPr/>
      </p:nvGrpSpPr>
      <p:grpSpPr>
        <a:xfrm>
          <a:off x="0" y="0"/>
          <a:ext cx="0" cy="0"/>
          <a:chOff x="0" y="0"/>
          <a:chExt cx="0" cy="0"/>
        </a:xfrm>
      </p:grpSpPr>
      <p:pic>
        <p:nvPicPr>
          <p:cNvPr id="17" name="Picture 8" descr=""/>
          <p:cNvPicPr/>
          <p:nvPr/>
        </p:nvPicPr>
        <p:blipFill>
          <a:blip r:embed="rId2"/>
          <a:stretch/>
        </p:blipFill>
        <p:spPr>
          <a:xfrm>
            <a:off x="831960" y="-1440"/>
            <a:ext cx="2889000" cy="1085400"/>
          </a:xfrm>
          <a:prstGeom prst="rect">
            <a:avLst/>
          </a:prstGeom>
          <a:ln w="0">
            <a:noFill/>
          </a:ln>
        </p:spPr>
      </p:pic>
      <p:cxnSp>
        <p:nvCxnSpPr>
          <p:cNvPr id="18" name="Straight Connector 6"/>
          <p:cNvCxnSpPr/>
          <p:nvPr/>
        </p:nvCxnSpPr>
        <p:spPr>
          <a:xfrm>
            <a:off x="2558880" y="1989000"/>
            <a:ext cx="360" cy="3657960"/>
          </a:xfrm>
          <a:prstGeom prst="straightConnector1">
            <a:avLst/>
          </a:prstGeom>
          <a:ln>
            <a:solidFill>
              <a:srgbClr val="ffffff"/>
            </a:solidFill>
          </a:ln>
        </p:spPr>
      </p:cxnSp>
      <p:sp>
        <p:nvSpPr>
          <p:cNvPr id="19" name="PlaceHolder 1"/>
          <p:cNvSpPr>
            <a:spLocks noGrp="1"/>
          </p:cNvSpPr>
          <p:nvPr>
            <p:ph type="body"/>
          </p:nvPr>
        </p:nvSpPr>
        <p:spPr>
          <a:xfrm>
            <a:off x="3100680" y="1886400"/>
            <a:ext cx="8083440" cy="3774600"/>
          </a:xfrm>
          <a:prstGeom prst="rect">
            <a:avLst/>
          </a:prstGeom>
          <a:noFill/>
          <a:ln w="0">
            <a:noFill/>
          </a:ln>
        </p:spPr>
        <p:txBody>
          <a:bodyPr lIns="0" rIns="0" tIns="0" bIns="0" anchor="t">
            <a:noAutofit/>
          </a:bodyPr>
          <a:p>
            <a:pPr indent="0" defTabSz="914400">
              <a:lnSpc>
                <a:spcPts val="4799"/>
              </a:lnSpc>
              <a:buNone/>
              <a:tabLst>
                <a:tab algn="l" pos="0"/>
              </a:tabLst>
            </a:pPr>
            <a:r>
              <a:rPr b="0" lang="en-GB" sz="4400" spc="-1" strike="noStrike">
                <a:solidFill>
                  <a:schemeClr val="lt1"/>
                </a:solidFill>
                <a:latin typeface="Georgia"/>
                <a:ea typeface="Georgia"/>
              </a:rPr>
              <a:t>Click to edit Master text styles</a:t>
            </a:r>
            <a:endParaRPr b="0" lang="en-US" sz="4400" spc="-1" strike="noStrike">
              <a:solidFill>
                <a:schemeClr val="dk1"/>
              </a:solidFill>
              <a:latin typeface="Calibri"/>
            </a:endParaRPr>
          </a:p>
        </p:txBody>
      </p:sp>
      <p:sp>
        <p:nvSpPr>
          <p:cNvPr id="20" name="PlaceHolder 2"/>
          <p:cNvSpPr>
            <a:spLocks noGrp="1"/>
          </p:cNvSpPr>
          <p:nvPr>
            <p:ph type="body"/>
          </p:nvPr>
        </p:nvSpPr>
        <p:spPr>
          <a:xfrm>
            <a:off x="854280" y="1972800"/>
            <a:ext cx="1625040" cy="358560"/>
          </a:xfrm>
          <a:prstGeom prst="rect">
            <a:avLst/>
          </a:prstGeom>
          <a:noFill/>
          <a:ln w="0">
            <a:noFill/>
          </a:ln>
        </p:spPr>
        <p:txBody>
          <a:bodyPr lIns="0" rIns="0" tIns="0" bIns="0" anchor="t">
            <a:noAutofit/>
          </a:bodyPr>
          <a:p>
            <a:pPr indent="0" defTabSz="914400">
              <a:lnSpc>
                <a:spcPts val="1301"/>
              </a:lnSpc>
              <a:buNone/>
              <a:tabLst>
                <a:tab algn="l" pos="0"/>
              </a:tabLst>
            </a:pPr>
            <a:r>
              <a:rPr b="0" lang="en-GB" sz="1100" spc="-1" strike="noStrike">
                <a:solidFill>
                  <a:schemeClr val="lt1"/>
                </a:solidFill>
                <a:latin typeface="Tahoma"/>
                <a:ea typeface="Tahoma"/>
              </a:rPr>
              <a:t>Click to edit Master text styles</a:t>
            </a:r>
            <a:endParaRPr b="0" lang="en-US" sz="1100" spc="-1" strike="noStrike">
              <a:solidFill>
                <a:schemeClr val="dk1"/>
              </a:solidFill>
              <a:latin typeface="Calibri"/>
            </a:endParaRPr>
          </a:p>
        </p:txBody>
      </p:sp>
      <p:sp>
        <p:nvSpPr>
          <p:cNvPr id="21" name="PlaceHolder 3"/>
          <p:cNvSpPr>
            <a:spLocks noGrp="1"/>
          </p:cNvSpPr>
          <p:nvPr>
            <p:ph type="body"/>
          </p:nvPr>
        </p:nvSpPr>
        <p:spPr>
          <a:xfrm>
            <a:off x="854280" y="2332800"/>
            <a:ext cx="1625040" cy="536040"/>
          </a:xfrm>
          <a:prstGeom prst="rect">
            <a:avLst/>
          </a:prstGeom>
          <a:noFill/>
          <a:ln w="0">
            <a:noFill/>
          </a:ln>
        </p:spPr>
        <p:txBody>
          <a:bodyPr lIns="0" rIns="0" tIns="0" bIns="0" anchor="t">
            <a:noAutofit/>
          </a:bodyPr>
          <a:p>
            <a:pPr indent="0" defTabSz="914400">
              <a:lnSpc>
                <a:spcPts val="1301"/>
              </a:lnSpc>
              <a:buNone/>
              <a:tabLst>
                <a:tab algn="l" pos="0"/>
              </a:tabLst>
            </a:pPr>
            <a:r>
              <a:rPr b="1" lang="en-GB" sz="1100" spc="-1" strike="noStrike">
                <a:solidFill>
                  <a:schemeClr val="lt1"/>
                </a:solidFill>
                <a:latin typeface="Tahoma"/>
                <a:ea typeface="Tahoma"/>
              </a:rPr>
              <a:t>Click to edit Master text styles</a:t>
            </a:r>
            <a:endParaRPr b="0" lang="en-US" sz="1100" spc="-1" strike="noStrike">
              <a:solidFill>
                <a:schemeClr val="dk1"/>
              </a:solidFill>
              <a:latin typeface="Calibri"/>
            </a:endParaRPr>
          </a:p>
        </p:txBody>
      </p:sp>
      <p:sp>
        <p:nvSpPr>
          <p:cNvPr id="22" name="PlaceHolder 4"/>
          <p:cNvSpPr>
            <a:spLocks noGrp="1"/>
          </p:cNvSpPr>
          <p:nvPr>
            <p:ph type="body"/>
          </p:nvPr>
        </p:nvSpPr>
        <p:spPr>
          <a:xfrm>
            <a:off x="854280" y="2876400"/>
            <a:ext cx="1625040" cy="694800"/>
          </a:xfrm>
          <a:prstGeom prst="rect">
            <a:avLst/>
          </a:prstGeom>
          <a:noFill/>
          <a:ln w="0">
            <a:noFill/>
          </a:ln>
        </p:spPr>
        <p:txBody>
          <a:bodyPr lIns="0" rIns="0" tIns="0" bIns="0" anchor="t">
            <a:noAutofit/>
          </a:bodyPr>
          <a:p>
            <a:pPr indent="0" defTabSz="914400">
              <a:lnSpc>
                <a:spcPts val="1301"/>
              </a:lnSpc>
              <a:buNone/>
              <a:tabLst>
                <a:tab algn="l" pos="0"/>
              </a:tabLst>
            </a:pPr>
            <a:r>
              <a:rPr b="1" lang="en-GB" sz="1100" spc="-1" strike="noStrike">
                <a:solidFill>
                  <a:schemeClr val="lt1"/>
                </a:solidFill>
                <a:latin typeface="Tahoma"/>
                <a:ea typeface="Tahoma"/>
              </a:rPr>
              <a:t>Click to edit Master text styles</a:t>
            </a:r>
            <a:endParaRPr b="0" lang="en-US" sz="1100" spc="-1" strike="noStrike">
              <a:solidFill>
                <a:schemeClr val="dk1"/>
              </a:solidFill>
              <a:latin typeface="Calibri"/>
            </a:endParaRPr>
          </a:p>
        </p:txBody>
      </p:sp>
      <p:sp>
        <p:nvSpPr>
          <p:cNvPr id="23" name="PlaceHolder 5"/>
          <p:cNvSpPr>
            <a:spLocks noGrp="1"/>
          </p:cNvSpPr>
          <p:nvPr>
            <p:ph type="body"/>
          </p:nvPr>
        </p:nvSpPr>
        <p:spPr>
          <a:xfrm>
            <a:off x="855000" y="5503320"/>
            <a:ext cx="1625040" cy="229320"/>
          </a:xfrm>
          <a:prstGeom prst="rect">
            <a:avLst/>
          </a:prstGeom>
          <a:noFill/>
          <a:ln w="0">
            <a:noFill/>
          </a:ln>
        </p:spPr>
        <p:txBody>
          <a:bodyPr lIns="0" rIns="0" tIns="0" bIns="0" anchor="t">
            <a:noAutofit/>
          </a:bodyPr>
          <a:p>
            <a:pPr indent="0" defTabSz="914400">
              <a:lnSpc>
                <a:spcPts val="1301"/>
              </a:lnSpc>
              <a:buNone/>
              <a:tabLst>
                <a:tab algn="l" pos="0"/>
              </a:tabLst>
            </a:pPr>
            <a:r>
              <a:rPr b="0" lang="en-GB" sz="1100" spc="-1" strike="noStrike">
                <a:solidFill>
                  <a:schemeClr val="lt1"/>
                </a:solidFill>
                <a:latin typeface="Tahoma"/>
                <a:ea typeface="Tahoma"/>
              </a:rPr>
              <a:t>Click to edit Master text styles</a:t>
            </a:r>
            <a:endParaRPr b="0" lang="en-US" sz="1100" spc="-1" strike="noStrike">
              <a:solidFill>
                <a:schemeClr val="dk1"/>
              </a:solidFill>
              <a:latin typeface="Calibri"/>
            </a:endParaRPr>
          </a:p>
        </p:txBody>
      </p:sp>
      <p:sp>
        <p:nvSpPr>
          <p:cNvPr id="24" name="PlaceHolder 6"/>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 name="Picture 2" descr=""/>
          <p:cNvPicPr/>
          <p:nvPr/>
        </p:nvPicPr>
        <p:blipFill>
          <a:blip r:embed="rId2"/>
          <a:stretch/>
        </p:blipFill>
        <p:spPr>
          <a:xfrm>
            <a:off x="9887040" y="0"/>
            <a:ext cx="1441080" cy="539280"/>
          </a:xfrm>
          <a:prstGeom prst="rect">
            <a:avLst/>
          </a:prstGeom>
          <a:ln w="0">
            <a:noFill/>
          </a:ln>
        </p:spPr>
      </p:pic>
      <p:sp>
        <p:nvSpPr>
          <p:cNvPr id="26" name="PlaceHolder 1"/>
          <p:cNvSpPr>
            <a:spLocks noGrp="1"/>
          </p:cNvSpPr>
          <p:nvPr>
            <p:ph type="body"/>
          </p:nvPr>
        </p:nvSpPr>
        <p:spPr>
          <a:xfrm>
            <a:off x="1199520" y="1890720"/>
            <a:ext cx="8687160" cy="1365840"/>
          </a:xfrm>
          <a:prstGeom prst="rect">
            <a:avLst/>
          </a:prstGeom>
          <a:noFill/>
          <a:ln w="0">
            <a:noFill/>
          </a:ln>
        </p:spPr>
        <p:txBody>
          <a:bodyPr lIns="0" rIns="0" tIns="0" bIns="0" anchor="t">
            <a:noAutofit/>
          </a:bodyPr>
          <a:p>
            <a:pPr indent="0" defTabSz="914400">
              <a:lnSpc>
                <a:spcPts val="4799"/>
              </a:lnSpc>
              <a:buNone/>
              <a:tabLst>
                <a:tab algn="l" pos="0"/>
              </a:tabLst>
            </a:pPr>
            <a:r>
              <a:rPr b="0" lang="en-GB" sz="4400" spc="-1" strike="noStrike">
                <a:solidFill>
                  <a:srgbClr val="16818d"/>
                </a:solidFill>
                <a:latin typeface="Georgia"/>
                <a:ea typeface="Georgia"/>
              </a:rPr>
              <a:t>Click to edit Master text styles</a:t>
            </a:r>
            <a:endParaRPr b="0" lang="en-US" sz="4400" spc="-1" strike="noStrike">
              <a:solidFill>
                <a:schemeClr val="dk1"/>
              </a:solidFill>
              <a:latin typeface="Calibri"/>
            </a:endParaRPr>
          </a:p>
        </p:txBody>
      </p:sp>
      <p:sp>
        <p:nvSpPr>
          <p:cNvPr id="27" name="PlaceHolder 2"/>
          <p:cNvSpPr>
            <a:spLocks noGrp="1"/>
          </p:cNvSpPr>
          <p:nvPr>
            <p:ph type="body"/>
          </p:nvPr>
        </p:nvSpPr>
        <p:spPr>
          <a:xfrm>
            <a:off x="1199520" y="4221000"/>
            <a:ext cx="8687160" cy="602640"/>
          </a:xfrm>
          <a:prstGeom prst="rect">
            <a:avLst/>
          </a:prstGeom>
          <a:noFill/>
          <a:ln w="0">
            <a:noFill/>
          </a:ln>
        </p:spPr>
        <p:txBody>
          <a:bodyPr lIns="0" rIns="0" tIns="0" bIns="0" anchor="t">
            <a:noAutofit/>
          </a:bodyPr>
          <a:p>
            <a:pPr indent="0" defTabSz="914400">
              <a:lnSpc>
                <a:spcPct val="100000"/>
              </a:lnSpc>
              <a:spcBef>
                <a:spcPts val="1001"/>
              </a:spcBef>
              <a:buNone/>
              <a:tabLst>
                <a:tab algn="l" pos="0"/>
              </a:tabLst>
            </a:pPr>
            <a:r>
              <a:rPr b="0" lang="en-GB" sz="1600" spc="-1" strike="noStrike">
                <a:solidFill>
                  <a:schemeClr val="dk1"/>
                </a:solidFill>
                <a:latin typeface="Tahoma"/>
                <a:ea typeface="Tahoma"/>
              </a:rPr>
              <a:t>Click to edit Master text styles</a:t>
            </a:r>
            <a:endParaRPr b="0" lang="en-US" sz="1600" spc="-1" strike="noStrike">
              <a:solidFill>
                <a:schemeClr val="dk1"/>
              </a:solidFill>
              <a:latin typeface="Calibri"/>
            </a:endParaRPr>
          </a:p>
        </p:txBody>
      </p:sp>
      <p:sp>
        <p:nvSpPr>
          <p:cNvPr id="28"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30"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76A9F7B1-4F6F-4042-8473-2AAD46FEE491}"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pc="-1" strike="noStrike">
                <a:solidFill>
                  <a:schemeClr val="dk1"/>
                </a:solidFill>
                <a:latin typeface="Calibri Light"/>
              </a:rPr>
              <a:t>Click to edit Master title style</a:t>
            </a:r>
            <a:endParaRPr b="0" lang="en-US" sz="6000" spc="-1" strike="noStrike">
              <a:solidFill>
                <a:schemeClr val="dk1"/>
              </a:solidFill>
              <a:latin typeface="Calibri"/>
            </a:endParaRPr>
          </a:p>
        </p:txBody>
      </p:sp>
      <p:sp>
        <p:nvSpPr>
          <p:cNvPr id="37"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Edit Master text styles</a:t>
            </a:r>
            <a:endParaRPr b="0" lang="en-US" sz="2400" spc="-1" strike="noStrike">
              <a:solidFill>
                <a:schemeClr val="dk1"/>
              </a:solidFill>
              <a:latin typeface="Calibri"/>
            </a:endParaRPr>
          </a:p>
        </p:txBody>
      </p:sp>
      <p:sp>
        <p:nvSpPr>
          <p:cNvPr id="38"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9"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AB3DE204-01F2-49A0-A788-D4FAA8112949}"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42"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43"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44"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5"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EFEF0565-E9D5-4CD9-9068-92A0A2837ED5}"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51"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Edit Master text styles</a:t>
            </a:r>
            <a:endParaRPr b="0" lang="en-US" sz="2400" spc="-1" strike="noStrike">
              <a:solidFill>
                <a:schemeClr val="dk1"/>
              </a:solidFill>
              <a:latin typeface="Calibri"/>
            </a:endParaRPr>
          </a:p>
        </p:txBody>
      </p:sp>
      <p:sp>
        <p:nvSpPr>
          <p:cNvPr id="52"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53"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Edit Master text styles</a:t>
            </a:r>
            <a:endParaRPr b="0" lang="en-US" sz="2400" spc="-1" strike="noStrike">
              <a:solidFill>
                <a:schemeClr val="dk1"/>
              </a:solidFill>
              <a:latin typeface="Calibri"/>
            </a:endParaRPr>
          </a:p>
        </p:txBody>
      </p:sp>
      <p:sp>
        <p:nvSpPr>
          <p:cNvPr id="54"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55"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6"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C5823BF8-441D-4031-9E24-F55D0BDBD411}"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59"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0"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5DC6012D-4DEF-4173-AC38-895B7FFD22F4}"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58CD2DEE-5738-4127-BC48-013A3A481F37}"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6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70"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Edit Master text styles</a:t>
            </a:r>
            <a:endParaRPr b="0" lang="en-US" sz="32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71"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Edit Master text styles</a:t>
            </a:r>
            <a:endParaRPr b="0" lang="en-US" sz="1600" spc="-1" strike="noStrike">
              <a:solidFill>
                <a:schemeClr val="dk1"/>
              </a:solidFill>
              <a:latin typeface="Calibri"/>
            </a:endParaRPr>
          </a:p>
        </p:txBody>
      </p:sp>
      <p:sp>
        <p:nvSpPr>
          <p:cNvPr id="72"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3"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4"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26554571-54BB-4FDE-A1D3-FB7AD0AA52A5}"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76"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77"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Edit Master text styles</a:t>
            </a:r>
            <a:endParaRPr b="0" lang="en-US" sz="1600" spc="-1" strike="noStrike">
              <a:solidFill>
                <a:schemeClr val="dk1"/>
              </a:solidFill>
              <a:latin typeface="Calibri"/>
            </a:endParaRPr>
          </a:p>
        </p:txBody>
      </p:sp>
      <p:sp>
        <p:nvSpPr>
          <p:cNvPr id="78"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chemeClr val="dk1">
                    <a:tint val="75000"/>
                  </a:schemeClr>
                </a:solidFill>
                <a:latin typeface="Calibri"/>
              </a:defRPr>
            </a:lvl1pPr>
          </a:lstStyle>
          <a:p>
            <a:pPr indent="0" defTabSz="914400">
              <a:lnSpc>
                <a:spcPct val="100000"/>
              </a:lnSpc>
              <a:buNone/>
            </a:pPr>
            <a:r>
              <a:rPr b="0" lang="en-GB"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9"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0"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GB" sz="1200" spc="-1" strike="noStrike">
                <a:solidFill>
                  <a:schemeClr val="dk1">
                    <a:tint val="75000"/>
                  </a:schemeClr>
                </a:solidFill>
                <a:latin typeface="Calibri"/>
              </a:defRPr>
            </a:lvl1pPr>
          </a:lstStyle>
          <a:p>
            <a:pPr indent="0" algn="r" defTabSz="914400">
              <a:lnSpc>
                <a:spcPct val="100000"/>
              </a:lnSpc>
              <a:buNone/>
            </a:pPr>
            <a:fld id="{ED8FF909-C1A5-4BE0-AC92-2982AC8B87CC}"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6.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hyperlink" Target="http://www.youtube.com/watch?v=aSHqz5tEUl0" TargetMode="External"/><Relationship Id="rId2"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6.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3100680" y="1886400"/>
            <a:ext cx="8083440" cy="3774600"/>
          </a:xfrm>
          <a:prstGeom prst="rect">
            <a:avLst/>
          </a:prstGeom>
          <a:noFill/>
          <a:ln w="0">
            <a:noFill/>
          </a:ln>
        </p:spPr>
        <p:txBody>
          <a:bodyPr numCol="1" spcCol="0" lIns="0" rIns="0" tIns="0" bIns="0" anchor="t">
            <a:noAutofit/>
          </a:bodyPr>
          <a:p>
            <a:pPr indent="0" defTabSz="914400">
              <a:lnSpc>
                <a:spcPts val="4799"/>
              </a:lnSpc>
              <a:buNone/>
              <a:tabLst>
                <a:tab algn="l" pos="0"/>
              </a:tabLst>
            </a:pPr>
            <a:endParaRPr b="0" lang="en-US" sz="4400" spc="-1" strike="noStrike">
              <a:solidFill>
                <a:schemeClr val="dk1"/>
              </a:solidFill>
              <a:latin typeface="Calibri"/>
            </a:endParaRPr>
          </a:p>
          <a:p>
            <a:pPr indent="0" defTabSz="914400">
              <a:lnSpc>
                <a:spcPts val="4799"/>
              </a:lnSpc>
              <a:buNone/>
              <a:tabLst>
                <a:tab algn="l" pos="0"/>
              </a:tabLst>
            </a:pPr>
            <a:endParaRPr b="0" lang="en-US" sz="4400" spc="-1" strike="noStrike">
              <a:solidFill>
                <a:schemeClr val="dk1"/>
              </a:solidFill>
              <a:latin typeface="Calibri"/>
            </a:endParaRPr>
          </a:p>
          <a:p>
            <a:pPr indent="0" algn="ctr" defTabSz="914400">
              <a:lnSpc>
                <a:spcPts val="4799"/>
              </a:lnSpc>
              <a:buNone/>
              <a:tabLst>
                <a:tab algn="l" pos="0"/>
              </a:tabLst>
            </a:pPr>
            <a:r>
              <a:rPr b="0" lang="en-GB" sz="4400" spc="-1" strike="noStrike">
                <a:solidFill>
                  <a:schemeClr val="lt1"/>
                </a:solidFill>
                <a:latin typeface="Georgia"/>
                <a:ea typeface="ＭＳ Ｐゴシック"/>
              </a:rPr>
              <a:t>Week 3</a:t>
            </a:r>
            <a:endParaRPr b="0" lang="en-US" sz="4400" spc="-1" strike="noStrike">
              <a:solidFill>
                <a:schemeClr val="dk1"/>
              </a:solidFill>
              <a:latin typeface="Calibri"/>
            </a:endParaRPr>
          </a:p>
          <a:p>
            <a:pPr indent="0" algn="ctr" defTabSz="914400">
              <a:lnSpc>
                <a:spcPts val="4799"/>
              </a:lnSpc>
              <a:buNone/>
              <a:tabLst>
                <a:tab algn="l" pos="0"/>
              </a:tabLst>
            </a:pPr>
            <a:r>
              <a:rPr b="0" lang="en-GB" sz="2000" spc="-1" strike="noStrike">
                <a:solidFill>
                  <a:schemeClr val="lt1"/>
                </a:solidFill>
                <a:latin typeface="Georgia"/>
                <a:ea typeface="ＭＳ Ｐゴシック"/>
              </a:rPr>
              <a:t>(UMED8H-30-1)</a:t>
            </a:r>
            <a:endParaRPr b="0" lang="en-US" sz="2000" spc="-1" strike="noStrike">
              <a:solidFill>
                <a:schemeClr val="dk1"/>
              </a:solidFill>
              <a:latin typeface="Calibri"/>
            </a:endParaRPr>
          </a:p>
          <a:p>
            <a:pPr indent="0" algn="ctr" defTabSz="914400">
              <a:lnSpc>
                <a:spcPts val="4799"/>
              </a:lnSpc>
              <a:buNone/>
              <a:tabLst>
                <a:tab algn="l" pos="0"/>
              </a:tabLst>
            </a:pPr>
            <a:r>
              <a:rPr b="0" lang="en-GB" sz="4400" spc="-1" strike="noStrike">
                <a:solidFill>
                  <a:schemeClr val="lt1"/>
                </a:solidFill>
                <a:latin typeface="Georgia"/>
                <a:ea typeface="ＭＳ Ｐゴシック"/>
              </a:rPr>
              <a:t>Central Banks</a:t>
            </a:r>
            <a:endParaRPr b="0" lang="en-US" sz="4400" spc="-1" strike="noStrike">
              <a:solidFill>
                <a:schemeClr val="dk1"/>
              </a:solidFill>
              <a:latin typeface="Calibri"/>
            </a:endParaRPr>
          </a:p>
        </p:txBody>
      </p:sp>
    </p:spTree>
  </p:cSld>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p:nvPr>
        </p:nvSpPr>
        <p:spPr>
          <a:xfrm>
            <a:off x="561960" y="309600"/>
            <a:ext cx="8687160" cy="827280"/>
          </a:xfrm>
          <a:prstGeom prst="rect">
            <a:avLst/>
          </a:prstGeom>
          <a:noFill/>
          <a:ln w="0">
            <a:noFill/>
          </a:ln>
        </p:spPr>
        <p:txBody>
          <a:bodyPr lIns="0" rIns="0" tIns="0" bIns="0" anchor="t">
            <a:noAutofit/>
          </a:bodyPr>
          <a:p>
            <a:pPr indent="0" defTabSz="914400">
              <a:lnSpc>
                <a:spcPts val="4799"/>
              </a:lnSpc>
              <a:buNone/>
              <a:tabLst>
                <a:tab algn="l" pos="0"/>
              </a:tabLst>
            </a:pPr>
            <a:r>
              <a:rPr b="0" lang="en-GB" sz="4400" spc="-1" strike="noStrike">
                <a:solidFill>
                  <a:srgbClr val="16818d"/>
                </a:solidFill>
                <a:latin typeface="Georgia"/>
                <a:ea typeface="Georgia"/>
              </a:rPr>
              <a:t>Structure</a:t>
            </a:r>
            <a:endParaRPr b="0" lang="en-US" sz="4400" spc="-1" strike="noStrike">
              <a:solidFill>
                <a:schemeClr val="dk1"/>
              </a:solidFill>
              <a:latin typeface="Calibri"/>
            </a:endParaRPr>
          </a:p>
        </p:txBody>
      </p:sp>
      <p:sp>
        <p:nvSpPr>
          <p:cNvPr id="89" name="PlaceHolder 2"/>
          <p:cNvSpPr>
            <a:spLocks noGrp="1"/>
          </p:cNvSpPr>
          <p:nvPr>
            <p:ph/>
          </p:nvPr>
        </p:nvSpPr>
        <p:spPr>
          <a:xfrm>
            <a:off x="1199520" y="1215360"/>
            <a:ext cx="9627120" cy="5333040"/>
          </a:xfrm>
          <a:prstGeom prst="rect">
            <a:avLst/>
          </a:prstGeom>
          <a:noFill/>
          <a:ln w="0">
            <a:noFill/>
          </a:ln>
        </p:spPr>
        <p:txBody>
          <a:bodyPr lIns="0" rIns="0" tIns="0" bIns="0" anchor="t">
            <a:normAutofit fontScale="68178" lnSpcReduction="10000"/>
          </a:bodyPr>
          <a:p>
            <a:pPr indent="0" defTabSz="914400">
              <a:lnSpc>
                <a:spcPct val="90000"/>
              </a:lnSpc>
              <a:spcBef>
                <a:spcPts val="1001"/>
              </a:spcBef>
              <a:buNone/>
              <a:tabLst>
                <a:tab algn="l" pos="0"/>
              </a:tabLst>
            </a:pPr>
            <a:r>
              <a:rPr b="0" lang="en-US" sz="3100" spc="-1" strike="noStrike">
                <a:solidFill>
                  <a:schemeClr val="dk1"/>
                </a:solidFill>
                <a:latin typeface="Georgia"/>
                <a:ea typeface="Tahoma"/>
              </a:rPr>
              <a:t>At the end of this session, you should be able to:</a:t>
            </a:r>
            <a:endParaRPr b="0" lang="en-US" sz="3100" spc="-1" strike="noStrike">
              <a:solidFill>
                <a:schemeClr val="dk1"/>
              </a:solidFill>
              <a:latin typeface="Calibri"/>
            </a:endParaRPr>
          </a:p>
          <a:p>
            <a:pPr indent="0" defTabSz="914400">
              <a:lnSpc>
                <a:spcPct val="90000"/>
              </a:lnSpc>
              <a:spcBef>
                <a:spcPts val="1001"/>
              </a:spcBef>
              <a:buNone/>
              <a:tabLst>
                <a:tab algn="l" pos="0"/>
              </a:tabLst>
            </a:pPr>
            <a:endParaRPr b="0" lang="en-US" sz="3100" spc="-1" strike="noStrike">
              <a:solidFill>
                <a:schemeClr val="dk1"/>
              </a:solidFill>
              <a:latin typeface="Calibri"/>
            </a:endParaRPr>
          </a:p>
          <a:p>
            <a:pPr indent="-228600" defTabSz="914400">
              <a:lnSpc>
                <a:spcPct val="90000"/>
              </a:lnSpc>
              <a:spcBef>
                <a:spcPts val="1001"/>
              </a:spcBef>
              <a:buClr>
                <a:srgbClr val="000000"/>
              </a:buClr>
              <a:buFont typeface="Arial"/>
              <a:buChar char="•"/>
              <a:tabLst>
                <a:tab algn="l" pos="0"/>
              </a:tabLst>
            </a:pPr>
            <a:r>
              <a:rPr b="0" lang="en-US" sz="3100" spc="-1" strike="noStrike">
                <a:solidFill>
                  <a:schemeClr val="dk1"/>
                </a:solidFill>
                <a:latin typeface="Georgia"/>
                <a:ea typeface="Tahoma"/>
              </a:rPr>
              <a:t>Define the various functions of a central banks.</a:t>
            </a:r>
            <a:endParaRPr b="0" lang="en-US" sz="3100" spc="-1" strike="noStrike">
              <a:solidFill>
                <a:schemeClr val="dk1"/>
              </a:solidFill>
              <a:latin typeface="Calibri"/>
            </a:endParaRPr>
          </a:p>
          <a:p>
            <a:pPr indent="-228600" defTabSz="914400">
              <a:lnSpc>
                <a:spcPct val="90000"/>
              </a:lnSpc>
              <a:spcBef>
                <a:spcPts val="1001"/>
              </a:spcBef>
              <a:buClr>
                <a:srgbClr val="000000"/>
              </a:buClr>
              <a:buFont typeface="Arial"/>
              <a:buChar char="•"/>
              <a:tabLst>
                <a:tab algn="l" pos="0"/>
              </a:tabLst>
            </a:pPr>
            <a:r>
              <a:rPr b="0" lang="en-US" sz="3100" spc="-1" strike="noStrike">
                <a:solidFill>
                  <a:schemeClr val="dk1"/>
                </a:solidFill>
                <a:latin typeface="Georgia"/>
                <a:ea typeface="Tahoma"/>
              </a:rPr>
              <a:t>Understand the origins and structure of the Bank of England, Federal Reserve System and ECB.</a:t>
            </a:r>
            <a:endParaRPr b="0" lang="en-US" sz="3100" spc="-1" strike="noStrike">
              <a:solidFill>
                <a:schemeClr val="dk1"/>
              </a:solidFill>
              <a:latin typeface="Calibri"/>
            </a:endParaRPr>
          </a:p>
          <a:p>
            <a:pPr indent="-228600" defTabSz="914400">
              <a:lnSpc>
                <a:spcPct val="90000"/>
              </a:lnSpc>
              <a:spcBef>
                <a:spcPts val="1001"/>
              </a:spcBef>
              <a:buClr>
                <a:srgbClr val="000000"/>
              </a:buClr>
              <a:buFont typeface="Arial"/>
              <a:buChar char="•"/>
              <a:tabLst>
                <a:tab algn="l" pos="0"/>
              </a:tabLst>
            </a:pPr>
            <a:r>
              <a:rPr b="0" lang="en-US" sz="3100" spc="-1" strike="noStrike">
                <a:solidFill>
                  <a:schemeClr val="dk1"/>
                </a:solidFill>
                <a:latin typeface="Georgia"/>
                <a:ea typeface="Tahoma"/>
              </a:rPr>
              <a:t>Understand the importance of central bank ownership structure and independence.</a:t>
            </a:r>
            <a:endParaRPr b="0" lang="en-US" sz="3100" spc="-1" strike="noStrike">
              <a:solidFill>
                <a:schemeClr val="dk1"/>
              </a:solidFill>
              <a:latin typeface="Calibri"/>
            </a:endParaRPr>
          </a:p>
          <a:p>
            <a:pPr indent="0" defTabSz="914400">
              <a:lnSpc>
                <a:spcPct val="90000"/>
              </a:lnSpc>
              <a:spcBef>
                <a:spcPts val="1001"/>
              </a:spcBef>
              <a:buNone/>
              <a:tabLst>
                <a:tab algn="l" pos="0"/>
              </a:tabLst>
            </a:pPr>
            <a:endParaRPr b="0" lang="en-US" sz="3100" spc="-1" strike="noStrike">
              <a:solidFill>
                <a:schemeClr val="dk1"/>
              </a:solidFill>
              <a:latin typeface="Calibri"/>
            </a:endParaRPr>
          </a:p>
          <a:p>
            <a:pPr indent="0" defTabSz="914400">
              <a:lnSpc>
                <a:spcPct val="90000"/>
              </a:lnSpc>
              <a:spcBef>
                <a:spcPts val="1001"/>
              </a:spcBef>
              <a:buNone/>
              <a:tabLst>
                <a:tab algn="l" pos="0"/>
              </a:tabLst>
            </a:pPr>
            <a:endParaRPr b="0" lang="en-US" sz="3100" spc="-1" strike="noStrike">
              <a:solidFill>
                <a:schemeClr val="dk1"/>
              </a:solidFill>
              <a:latin typeface="Calibri"/>
            </a:endParaRPr>
          </a:p>
          <a:p>
            <a:pPr indent="0" defTabSz="914400">
              <a:lnSpc>
                <a:spcPct val="100000"/>
              </a:lnSpc>
              <a:spcBef>
                <a:spcPts val="1001"/>
              </a:spcBef>
              <a:buNone/>
              <a:tabLst>
                <a:tab algn="l" pos="0"/>
              </a:tabLst>
            </a:pPr>
            <a:endParaRPr b="0" lang="en-US" sz="3100" spc="-1" strike="noStrike">
              <a:solidFill>
                <a:schemeClr val="dk1"/>
              </a:solidFill>
              <a:latin typeface="Calibri"/>
            </a:endParaRPr>
          </a:p>
          <a:p>
            <a:pPr indent="0" defTabSz="914400">
              <a:lnSpc>
                <a:spcPct val="100000"/>
              </a:lnSpc>
              <a:spcBef>
                <a:spcPts val="1001"/>
              </a:spcBef>
              <a:buNone/>
              <a:tabLst>
                <a:tab algn="l" pos="0"/>
              </a:tabLst>
            </a:pPr>
            <a:r>
              <a:rPr b="0" lang="en-GB" sz="3100" spc="-1" strike="noStrike">
                <a:solidFill>
                  <a:schemeClr val="dk1"/>
                </a:solidFill>
                <a:latin typeface="Georgia"/>
                <a:ea typeface="Tahoma"/>
              </a:rPr>
              <a:t>Reading for this lecture: </a:t>
            </a:r>
            <a:endParaRPr b="0" lang="en-US" sz="3100" spc="-1" strike="noStrike">
              <a:solidFill>
                <a:schemeClr val="dk1"/>
              </a:solidFill>
              <a:latin typeface="Calibri"/>
            </a:endParaRPr>
          </a:p>
          <a:p>
            <a:pPr indent="0" defTabSz="914400">
              <a:lnSpc>
                <a:spcPct val="90000"/>
              </a:lnSpc>
              <a:spcBef>
                <a:spcPts val="1001"/>
              </a:spcBef>
              <a:buNone/>
              <a:tabLst>
                <a:tab algn="l" pos="0"/>
              </a:tabLst>
            </a:pPr>
            <a:r>
              <a:rPr b="0" lang="en-GB" sz="3100" spc="-1" strike="noStrike">
                <a:solidFill>
                  <a:schemeClr val="dk1"/>
                </a:solidFill>
                <a:latin typeface="Georgia"/>
                <a:ea typeface="Tahoma"/>
              </a:rPr>
              <a:t>Mishkin, F.S., 2018. Financial Market and Institutions, Global Edition, Chapter 9, Central Banking and the Conduct of Monetary Policy. (available online at UWE library)</a:t>
            </a:r>
            <a:endParaRPr b="0" lang="en-US" sz="3100" spc="-1" strike="noStrike">
              <a:solidFill>
                <a:schemeClr val="dk1"/>
              </a:solidFill>
              <a:latin typeface="Calibri"/>
            </a:endParaRPr>
          </a:p>
          <a:p>
            <a:pPr indent="0" defTabSz="914400">
              <a:lnSpc>
                <a:spcPct val="90000"/>
              </a:lnSpc>
              <a:spcBef>
                <a:spcPts val="1001"/>
              </a:spcBef>
              <a:buNone/>
              <a:tabLst>
                <a:tab algn="l" pos="0"/>
              </a:tabLst>
            </a:pPr>
            <a:r>
              <a:rPr b="0" lang="en-US" sz="3100" spc="-1" strike="noStrike">
                <a:solidFill>
                  <a:schemeClr val="dk1"/>
                </a:solidFill>
                <a:latin typeface="Georgia"/>
                <a:ea typeface="Tahoma"/>
              </a:rPr>
              <a:t>Readings: Howells and Bain 5th ed, chapter 3</a:t>
            </a:r>
            <a:endParaRPr b="0" lang="en-US" sz="3100" spc="-1" strike="noStrike">
              <a:solidFill>
                <a:schemeClr val="dk1"/>
              </a:solidFill>
              <a:latin typeface="Calibri"/>
            </a:endParaRPr>
          </a:p>
          <a:p>
            <a:pPr indent="0" defTabSz="914400">
              <a:lnSpc>
                <a:spcPct val="100000"/>
              </a:lnSpc>
              <a:spcBef>
                <a:spcPts val="1001"/>
              </a:spcBef>
              <a:buNone/>
              <a:tabLst>
                <a:tab algn="l" pos="0"/>
              </a:tabLst>
            </a:pPr>
            <a:endParaRPr b="0" lang="en-US" sz="2000" spc="-1" strike="noStrike">
              <a:solidFill>
                <a:schemeClr val="dk1"/>
              </a:solidFill>
              <a:latin typeface="Calibri"/>
            </a:endParaRPr>
          </a:p>
        </p:txBody>
      </p:sp>
    </p:spTree>
  </p:cSld>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0"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1"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2"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3"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4"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5"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Origins of Central Banks</a:t>
            </a:r>
            <a:endParaRPr b="0" lang="en-US" sz="4000" spc="-1" strike="noStrike">
              <a:solidFill>
                <a:schemeClr val="dk1"/>
              </a:solidFill>
              <a:latin typeface="Calibri"/>
            </a:endParaRPr>
          </a:p>
        </p:txBody>
      </p:sp>
      <p:sp>
        <p:nvSpPr>
          <p:cNvPr id="96"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indent="0" defTabSz="914400">
              <a:lnSpc>
                <a:spcPct val="90000"/>
              </a:lnSpc>
              <a:spcBef>
                <a:spcPts val="1001"/>
              </a:spcBef>
              <a:buNone/>
              <a:tabLst>
                <a:tab algn="l" pos="0"/>
              </a:tabLst>
            </a:pPr>
            <a:r>
              <a:rPr b="0" lang="en-GB" sz="2000" spc="-1" strike="noStrike">
                <a:solidFill>
                  <a:schemeClr val="dk1"/>
                </a:solidFill>
                <a:latin typeface="Calibri"/>
              </a:rPr>
              <a:t>The History of Banking and The First Central Bank</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7"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8"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9"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0"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1"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2"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Origins of Central Banks</a:t>
            </a:r>
            <a:endParaRPr b="0" lang="en-US" sz="4000" spc="-1" strike="noStrike">
              <a:solidFill>
                <a:schemeClr val="dk1"/>
              </a:solidFill>
              <a:latin typeface="Calibri"/>
            </a:endParaRPr>
          </a:p>
        </p:txBody>
      </p:sp>
      <p:sp>
        <p:nvSpPr>
          <p:cNvPr id="103"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Sveriges Riksbank or the Bank of Sweden (established in 1668) with its main function being lending money to the government of Sweden. </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More central banks emerged across Europe as a result of rising global trade that increased the volume of international payments in the seventeenth century.</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Bank of England (BoE) was establishment in 1694. </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central banking functions evolved in order to safeguard monetary stability.</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central banks are required to answer to their parliaments.</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Federal Reserve System (established in 1913) was designed to distribute power over 12 regional Federal Reserve banks and remained privately owned by its member banks.</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Most emerging market economies established their central banks after WWII. </a:t>
            </a: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The functions of central banks throughout the world expanded to regulating the value of the national currency, financing the government, and acting as a ‘lender of last resort’ to banks suffering from liquidity and/or credit crises.</a:t>
            </a:r>
            <a:endParaRPr b="0" lang="en-US" sz="1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4" name="Rectangle 11">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5" name="Rectangle 13">
            <a:extLst>
              <a:ext uri="{C183D7F6-B498-43B3-948B-1728B52AA6E4}">
                <adec:decorative xmlns:adec="http://schemas.microsoft.com/office/drawing/2017/decorative" val="1"/>
              </a:ext>
            </a:extLst>
          </p:cNvPr>
          <p:cNvSpPr/>
          <p:nvPr/>
        </p:nvSpPr>
        <p:spPr>
          <a:xfrm flipH="1" rot="10800000">
            <a:off x="360" y="360"/>
            <a:ext cx="12191760" cy="1575720"/>
          </a:xfrm>
          <a:prstGeom prst="rect">
            <a:avLst/>
          </a:prstGeom>
          <a:gradFill rotWithShape="0">
            <a:gsLst>
              <a:gs pos="0">
                <a:srgbClr val="000000">
                  <a:alpha val="96000"/>
                </a:srgbClr>
              </a:gs>
              <a:gs pos="100000">
                <a:srgbClr val="2e75b6"/>
              </a:gs>
            </a:gsLst>
            <a:lin ang="156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6" name="Rectangle 15">
            <a:extLst>
              <a:ext uri="{C183D7F6-B498-43B3-948B-1728B52AA6E4}">
                <adec:decorative xmlns:adec="http://schemas.microsoft.com/office/drawing/2017/decorative" val="1"/>
              </a:ext>
            </a:extLst>
          </p:cNvPr>
          <p:cNvSpPr/>
          <p:nvPr/>
        </p:nvSpPr>
        <p:spPr>
          <a:xfrm>
            <a:off x="0" y="0"/>
            <a:ext cx="8128440" cy="1575000"/>
          </a:xfrm>
          <a:prstGeom prst="rect">
            <a:avLst/>
          </a:prstGeom>
          <a:gradFill rotWithShape="0">
            <a:gsLst>
              <a:gs pos="0">
                <a:srgbClr val="5b9bd5">
                  <a:alpha val="41000"/>
                </a:srgbClr>
              </a:gs>
              <a:gs pos="74000">
                <a:srgbClr val="9dc3e6">
                  <a:alpha val="0"/>
                </a:srgbClr>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7" name="Rectangle 17">
            <a:extLst>
              <a:ext uri="{C183D7F6-B498-43B3-948B-1728B52AA6E4}">
                <adec:decorative xmlns:adec="http://schemas.microsoft.com/office/drawing/2017/decorative" val="1"/>
              </a:ext>
            </a:extLst>
          </p:cNvPr>
          <p:cNvSpPr/>
          <p:nvPr/>
        </p:nvSpPr>
        <p:spPr>
          <a:xfrm flipH="1">
            <a:off x="0" y="0"/>
            <a:ext cx="12191760" cy="1573920"/>
          </a:xfrm>
          <a:prstGeom prst="rect">
            <a:avLst/>
          </a:prstGeom>
          <a:gradFill rotWithShape="0">
            <a:gsLst>
              <a:gs pos="0">
                <a:srgbClr val="000000">
                  <a:alpha val="63000"/>
                </a:srgbClr>
              </a:gs>
              <a:gs pos="78000">
                <a:srgbClr val="5b9bd5">
                  <a:alpha val="15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8" name="PlaceHolder 1"/>
          <p:cNvSpPr>
            <a:spLocks noGrp="1"/>
          </p:cNvSpPr>
          <p:nvPr>
            <p:ph type="title"/>
          </p:nvPr>
        </p:nvSpPr>
        <p:spPr>
          <a:xfrm>
            <a:off x="699840" y="248040"/>
            <a:ext cx="7063200" cy="115884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Calibri Light"/>
              </a:rPr>
              <a:t>I-History of Bank of England</a:t>
            </a:r>
            <a:endParaRPr b="0" lang="en-US" sz="4000" spc="-1" strike="noStrike">
              <a:solidFill>
                <a:schemeClr val="dk1"/>
              </a:solidFill>
              <a:latin typeface="Calibri"/>
            </a:endParaRPr>
          </a:p>
        </p:txBody>
      </p:sp>
      <p:pic>
        <p:nvPicPr>
          <p:cNvPr id="109" name="Picture 6" descr=""/>
          <p:cNvPicPr/>
          <p:nvPr/>
        </p:nvPicPr>
        <p:blipFill>
          <a:blip r:embed="rId1"/>
          <a:stretch/>
        </p:blipFill>
        <p:spPr>
          <a:xfrm>
            <a:off x="1688040" y="1966320"/>
            <a:ext cx="8815680" cy="4451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0"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1" name="Rectangle 10">
            <a:extLst>
              <a:ext uri="{C183D7F6-B498-43B3-948B-1728B52AA6E4}">
                <adec:decorative xmlns:adec="http://schemas.microsoft.com/office/drawing/2017/decorative" val="1"/>
              </a:ext>
            </a:extLst>
          </p:cNvPr>
          <p:cNvSpPr/>
          <p:nvPr/>
        </p:nvSpPr>
        <p:spPr>
          <a:xfrm flipH="1">
            <a:off x="0" y="0"/>
            <a:ext cx="12191760" cy="1575720"/>
          </a:xfrm>
          <a:prstGeom prst="rect">
            <a:avLst/>
          </a:prstGeom>
          <a:gradFill rotWithShape="0">
            <a:gsLst>
              <a:gs pos="0">
                <a:srgbClr val="000000">
                  <a:alpha val="96000"/>
                </a:srgbClr>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2" name="Rectangle 12">
            <a:extLst>
              <a:ext uri="{C183D7F6-B498-43B3-948B-1728B52AA6E4}">
                <adec:decorative xmlns:adec="http://schemas.microsoft.com/office/drawing/2017/decorative" val="1"/>
              </a:ext>
            </a:extLst>
          </p:cNvPr>
          <p:cNvSpPr/>
          <p:nvPr/>
        </p:nvSpPr>
        <p:spPr>
          <a:xfrm flipH="1" rot="10800000">
            <a:off x="8129160" y="360"/>
            <a:ext cx="4062960" cy="1576080"/>
          </a:xfrm>
          <a:prstGeom prst="rect">
            <a:avLst/>
          </a:prstGeom>
          <a:gradFill rotWithShape="0">
            <a:gsLst>
              <a:gs pos="19000">
                <a:srgbClr val="1f4e79">
                  <a:alpha val="68000"/>
                </a:srgbClr>
              </a:gs>
              <a:gs pos="100000">
                <a:srgbClr val="5b9bd5">
                  <a:alpha val="79000"/>
                </a:srgbClr>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3" name="Rectangle 14">
            <a:extLst>
              <a:ext uri="{C183D7F6-B498-43B3-948B-1728B52AA6E4}">
                <adec:decorative xmlns:adec="http://schemas.microsoft.com/office/drawing/2017/decorative" val="1"/>
              </a:ext>
            </a:extLst>
          </p:cNvPr>
          <p:cNvSpPr/>
          <p:nvPr/>
        </p:nvSpPr>
        <p:spPr>
          <a:xfrm rot="5400000">
            <a:off x="5308200" y="-5307840"/>
            <a:ext cx="1576080" cy="12191760"/>
          </a:xfrm>
          <a:prstGeom prst="rect">
            <a:avLst/>
          </a:prstGeom>
          <a:gradFill rotWithShape="0">
            <a:gsLst>
              <a:gs pos="23000">
                <a:srgbClr val="5b9bd5">
                  <a:alpha val="0"/>
                </a:srgbClr>
              </a:gs>
              <a:gs pos="99000">
                <a:srgbClr val="000000">
                  <a:alpha val="74000"/>
                </a:srgbClr>
              </a:gs>
            </a:gsLst>
            <a:lin ang="4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4" name="PlaceHolder 1"/>
          <p:cNvSpPr>
            <a:spLocks noGrp="1"/>
          </p:cNvSpPr>
          <p:nvPr>
            <p:ph type="title"/>
          </p:nvPr>
        </p:nvSpPr>
        <p:spPr>
          <a:xfrm>
            <a:off x="1371600" y="348840"/>
            <a:ext cx="10043640" cy="87732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History of Bank of England</a:t>
            </a:r>
            <a:endParaRPr b="0" lang="en-US" sz="4000" spc="-1" strike="noStrike">
              <a:solidFill>
                <a:schemeClr val="dk1"/>
              </a:solidFill>
              <a:latin typeface="Calibri"/>
            </a:endParaRPr>
          </a:p>
        </p:txBody>
      </p:sp>
      <p:graphicFrame>
        <p:nvGraphicFramePr>
          <p:cNvPr id="1" name="Diagram1"/>
          <p:cNvGraphicFramePr/>
          <p:nvPr>
            <p:extLst>
              <p:ext uri="{D42A27DB-BD31-4B8C-83A1-F6EECF244321}">
                <p14:modId xmlns:p14="http://schemas.microsoft.com/office/powerpoint/2010/main" val="3273296160"/>
              </p:ext>
            </p:extLst>
          </p:nvPr>
        </p:nvGraphicFramePr>
        <p:xfrm>
          <a:off x="644040" y="2112480"/>
          <a:ext cx="10927440" cy="41925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buNone/>
            </a:pPr>
            <a:endParaRPr b="0" lang="en-US" sz="4400" spc="-1" strike="noStrike">
              <a:solidFill>
                <a:schemeClr val="dk1"/>
              </a:solidFill>
              <a:latin typeface="Calibri Light"/>
            </a:endParaRPr>
          </a:p>
        </p:txBody>
      </p:sp>
      <p:pic>
        <p:nvPicPr>
          <p:cNvPr id="116" name="Picture 4" descr=""/>
          <p:cNvPicPr/>
          <p:nvPr/>
        </p:nvPicPr>
        <p:blipFill>
          <a:blip r:embed="rId1"/>
          <a:stretch/>
        </p:blipFill>
        <p:spPr>
          <a:xfrm>
            <a:off x="120240" y="200160"/>
            <a:ext cx="11950920" cy="57340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7"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8"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9"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0"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1"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2"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Calibri Light"/>
              </a:rPr>
              <a:t>The Functions of Bank of England</a:t>
            </a:r>
            <a:endParaRPr b="0" lang="en-US" sz="4000" spc="-1" strike="noStrike">
              <a:solidFill>
                <a:schemeClr val="dk1"/>
              </a:solidFill>
              <a:latin typeface="Calibri"/>
            </a:endParaRPr>
          </a:p>
        </p:txBody>
      </p:sp>
      <p:sp>
        <p:nvSpPr>
          <p:cNvPr id="123" name="PlaceHolder 2"/>
          <p:cNvSpPr>
            <a:spLocks noGrp="1"/>
          </p:cNvSpPr>
          <p:nvPr>
            <p:ph type="subTitle"/>
          </p:nvPr>
        </p:nvSpPr>
        <p:spPr>
          <a:xfrm>
            <a:off x="1371600" y="2318040"/>
            <a:ext cx="9723600" cy="3683160"/>
          </a:xfrm>
          <a:prstGeom prst="rect">
            <a:avLst/>
          </a:prstGeom>
          <a:noFill/>
          <a:ln w="0">
            <a:noFill/>
          </a:ln>
        </p:spPr>
        <p:txBody>
          <a:bodyPr lIns="91440" rIns="91440" tIns="45720" bIns="45720" anchor="ctr">
            <a:normAutofit/>
          </a:bodyPr>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1) Implement monetary policy: sets interest rates and manages the supply of money in the economy to achieve its inflation target and support economic growth.</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2) Maintain financial stability:  promote and act to ensure a stable and resilient financial system (including acting as the lender of the last resort)</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3) Issue banknotes: has the exclusive right to issue banknotes in England and Wales and is responsible for ensuring that there is enough money in circulation to meet the needs of the economy.</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4) Regulate and supervise financial sector: regulate and supervise banks, building societies, and other financial institutions to ensure that they are operating in a safe and sound manner.</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5) Supports the government: provides a wide range of services to the government, including managing its debt and providing financial advice.</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6) Banker to the commercial banks – facilitate banks in making payments to each other.</a:t>
            </a:r>
            <a:endParaRPr b="0" lang="en-US" sz="1700" spc="-1" strike="noStrike">
              <a:solidFill>
                <a:srgbClr val="000000"/>
              </a:solidFill>
              <a:latin typeface="Arial"/>
            </a:endParaRPr>
          </a:p>
          <a:p>
            <a:pPr indent="-228600" defTabSz="914400">
              <a:lnSpc>
                <a:spcPct val="90000"/>
              </a:lnSpc>
              <a:spcBef>
                <a:spcPts val="1001"/>
              </a:spcBef>
              <a:buClr>
                <a:srgbClr val="000000"/>
              </a:buClr>
              <a:buFont typeface="Arial"/>
              <a:buChar char="•"/>
            </a:pPr>
            <a:r>
              <a:rPr b="0" lang="en-US" sz="1700" spc="-1" strike="noStrike">
                <a:solidFill>
                  <a:schemeClr val="dk1"/>
                </a:solidFill>
                <a:latin typeface="Calibri"/>
              </a:rPr>
              <a:t>7) Manage the foreign exchange reserves – protect and conserve the gold and foreign exchange reserves.  </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24"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5"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6"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7"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8"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29"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Georgia"/>
              </a:rPr>
              <a:t>The Court of Directors</a:t>
            </a:r>
            <a:endParaRPr b="0" lang="en-US" sz="4000" spc="-1" strike="noStrike">
              <a:solidFill>
                <a:schemeClr val="dk1"/>
              </a:solidFill>
              <a:latin typeface="Calibri"/>
            </a:endParaRPr>
          </a:p>
        </p:txBody>
      </p:sp>
      <p:sp>
        <p:nvSpPr>
          <p:cNvPr id="130"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BoE is governed by the Court of Directors (like the Board of Governors in US) consists of the governor, two deputy governors, and 16 nonexecutive directors.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The Governor and 2 deputy governors each appointed for 5 years.</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Committee of Non-Executive Directors within Court:16 non-executive directors each appointed for 3 years</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The Court of Directors is responsible for the overall management of the Bank’s affairs other than the conduct of monetary policy.</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The Court sets the Bank’s overall objectives and strategy and seeks to ensure that the Bank’s various functions are carried out effectively.</a:t>
            </a:r>
            <a:endParaRPr b="0" lang="en-US" sz="2000" spc="-1" strike="noStrike">
              <a:solidFill>
                <a:schemeClr val="dk1"/>
              </a:solidFill>
              <a:latin typeface="Calibri"/>
            </a:endParaRPr>
          </a:p>
          <a:p>
            <a:pPr indent="0" defTabSz="914400">
              <a:lnSpc>
                <a:spcPct val="90000"/>
              </a:lnSpc>
              <a:spcBef>
                <a:spcPts val="1001"/>
              </a:spcBef>
              <a:buNone/>
            </a:pP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2"/>
          <p:cNvSpPr/>
          <p:nvPr/>
        </p:nvSpPr>
        <p:spPr>
          <a:xfrm>
            <a:off x="1787400" y="0"/>
            <a:ext cx="8607240" cy="1345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GB" sz="2800" spc="-1" strike="noStrike">
                <a:solidFill>
                  <a:srgbClr val="003399"/>
                </a:solidFill>
                <a:latin typeface="Calibri Light"/>
              </a:rPr>
              <a:t>Major decision-making bodies of the Bank of England</a:t>
            </a:r>
            <a:endParaRPr b="0" lang="en-US" sz="2800" spc="-1" strike="noStrike">
              <a:solidFill>
                <a:srgbClr val="000000"/>
              </a:solidFill>
              <a:latin typeface="Arial"/>
            </a:endParaRPr>
          </a:p>
        </p:txBody>
      </p:sp>
      <p:pic>
        <p:nvPicPr>
          <p:cNvPr id="132" name="Picture 5" descr=""/>
          <p:cNvPicPr/>
          <p:nvPr/>
        </p:nvPicPr>
        <p:blipFill>
          <a:blip r:embed="rId1"/>
          <a:stretch/>
        </p:blipFill>
        <p:spPr>
          <a:xfrm>
            <a:off x="914400" y="939960"/>
            <a:ext cx="10464480" cy="56448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33"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4"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5"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6"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7"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38"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Georgia"/>
              </a:rPr>
              <a:t>The Monetary Policy Committee</a:t>
            </a:r>
            <a:endParaRPr b="0" lang="en-US" sz="4000" spc="-1" strike="noStrike">
              <a:solidFill>
                <a:schemeClr val="dk1"/>
              </a:solidFill>
              <a:latin typeface="Calibri"/>
            </a:endParaRPr>
          </a:p>
        </p:txBody>
      </p:sp>
      <p:sp>
        <p:nvSpPr>
          <p:cNvPr id="139"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1100" spc="-1" strike="noStrike">
                <a:solidFill>
                  <a:schemeClr val="dk1"/>
                </a:solidFill>
                <a:latin typeface="Georgia"/>
              </a:rPr>
              <a:t>The Monetary Policy committee compares with the U.S. FOMC, consisting of the governor, two deputy governors, two other central bank officials (non-executive directors) and four outside economic experts (appointed by the government). </a:t>
            </a:r>
            <a:endParaRPr b="0" lang="en-US" sz="1100" spc="-1" strike="noStrike">
              <a:solidFill>
                <a:schemeClr val="dk1"/>
              </a:solidFill>
              <a:latin typeface="Calibri"/>
            </a:endParaRPr>
          </a:p>
          <a:p>
            <a:pPr indent="0" defTabSz="914400">
              <a:lnSpc>
                <a:spcPct val="90000"/>
              </a:lnSpc>
              <a:spcBef>
                <a:spcPts val="1001"/>
              </a:spcBef>
              <a:buNone/>
              <a:tabLst>
                <a:tab algn="l" pos="0"/>
              </a:tabLst>
            </a:pPr>
            <a:endParaRPr b="0" lang="en-US" sz="11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1100" spc="-1" strike="noStrike">
                <a:solidFill>
                  <a:schemeClr val="dk1"/>
                </a:solidFill>
                <a:latin typeface="Georgia"/>
              </a:rPr>
              <a:t>The MPC is responsible for conducting monetary policy so as to meet an inflation target set for it each year by the government.</a:t>
            </a:r>
            <a:endParaRPr b="0" lang="en-US" sz="1100" spc="-1" strike="noStrike">
              <a:solidFill>
                <a:schemeClr val="dk1"/>
              </a:solidFill>
              <a:latin typeface="Calibri"/>
            </a:endParaRPr>
          </a:p>
          <a:p>
            <a:pPr indent="0" defTabSz="914400">
              <a:lnSpc>
                <a:spcPct val="90000"/>
              </a:lnSpc>
              <a:spcBef>
                <a:spcPts val="1001"/>
              </a:spcBef>
              <a:buNone/>
              <a:tabLst>
                <a:tab algn="l" pos="0"/>
              </a:tabLst>
            </a:pPr>
            <a:endParaRPr b="0" lang="en-US" sz="11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100" spc="-1" strike="noStrike">
                <a:solidFill>
                  <a:schemeClr val="dk1"/>
                </a:solidFill>
                <a:latin typeface="Georgia"/>
              </a:rPr>
              <a:t>The MPC’s main tool against inflation is the rate of interest charged by the Bank to its borrowers, the commercial banks.</a:t>
            </a:r>
            <a:endParaRPr b="0" lang="en-US" sz="1100" spc="-1" strike="noStrike">
              <a:solidFill>
                <a:schemeClr val="dk1"/>
              </a:solidFill>
              <a:latin typeface="Calibri"/>
            </a:endParaRPr>
          </a:p>
          <a:p>
            <a:pPr indent="0" defTabSz="914400">
              <a:lnSpc>
                <a:spcPct val="90000"/>
              </a:lnSpc>
              <a:spcBef>
                <a:spcPts val="1001"/>
              </a:spcBef>
              <a:buNone/>
              <a:tabLst>
                <a:tab algn="l" pos="0"/>
              </a:tabLst>
            </a:pPr>
            <a:endParaRPr b="0" lang="en-US" sz="11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100" spc="-1" strike="noStrike">
                <a:solidFill>
                  <a:schemeClr val="dk1"/>
                </a:solidFill>
                <a:latin typeface="Georgia"/>
              </a:rPr>
              <a:t>The MPC meets each month, usually the first Thursday, to set the interest rate.</a:t>
            </a:r>
            <a:endParaRPr b="0" lang="en-US" sz="11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11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100" spc="-1" strike="noStrike">
                <a:solidFill>
                  <a:schemeClr val="dk1"/>
                </a:solidFill>
                <a:latin typeface="Georgia"/>
              </a:rPr>
              <a:t>If the MPC consistently fails to meet the inflation target, the Governor of the Bank of England must write a letter to the Chancellor of the Exchequer explaining what is going on.</a:t>
            </a:r>
            <a:endParaRPr b="0" lang="en-US" sz="11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11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1100" spc="-1" strike="noStrike">
                <a:solidFill>
                  <a:schemeClr val="dk1"/>
                </a:solidFill>
                <a:latin typeface="Georgia"/>
              </a:rPr>
              <a:t>When setting interest rates, the MPC must have regard to the government’s wider macroeconomic objectives such as employment and growth.</a:t>
            </a:r>
            <a:endParaRPr b="0" lang="en-US" sz="1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40" name="Rectangle 10">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1" name="Rectangle 12">
            <a:extLst>
              <a:ext uri="{C183D7F6-B498-43B3-948B-1728B52AA6E4}">
                <adec:decorative xmlns:adec="http://schemas.microsoft.com/office/drawing/2017/decorative" val="1"/>
              </a:ext>
            </a:extLst>
          </p:cNvPr>
          <p:cNvSpPr/>
          <p:nvPr/>
        </p:nvSpPr>
        <p:spPr>
          <a:xfrm flipH="1" rot="10800000">
            <a:off x="360" y="360"/>
            <a:ext cx="12191760" cy="1575720"/>
          </a:xfrm>
          <a:prstGeom prst="rect">
            <a:avLst/>
          </a:prstGeom>
          <a:gradFill rotWithShape="0">
            <a:gsLst>
              <a:gs pos="0">
                <a:srgbClr val="000000">
                  <a:alpha val="96000"/>
                </a:srgbClr>
              </a:gs>
              <a:gs pos="100000">
                <a:srgbClr val="2e75b6"/>
              </a:gs>
            </a:gsLst>
            <a:lin ang="156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 name="Rectangle 14">
            <a:extLst>
              <a:ext uri="{C183D7F6-B498-43B3-948B-1728B52AA6E4}">
                <adec:decorative xmlns:adec="http://schemas.microsoft.com/office/drawing/2017/decorative" val="1"/>
              </a:ext>
            </a:extLst>
          </p:cNvPr>
          <p:cNvSpPr/>
          <p:nvPr/>
        </p:nvSpPr>
        <p:spPr>
          <a:xfrm>
            <a:off x="0" y="0"/>
            <a:ext cx="8128440" cy="1575000"/>
          </a:xfrm>
          <a:prstGeom prst="rect">
            <a:avLst/>
          </a:prstGeom>
          <a:gradFill rotWithShape="0">
            <a:gsLst>
              <a:gs pos="0">
                <a:srgbClr val="5b9bd5">
                  <a:alpha val="41000"/>
                </a:srgbClr>
              </a:gs>
              <a:gs pos="74000">
                <a:srgbClr val="9dc3e6">
                  <a:alpha val="0"/>
                </a:srgbClr>
              </a:gs>
            </a:gsLst>
            <a:lin ang="8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 name="Rectangle 16">
            <a:extLst>
              <a:ext uri="{C183D7F6-B498-43B3-948B-1728B52AA6E4}">
                <adec:decorative xmlns:adec="http://schemas.microsoft.com/office/drawing/2017/decorative" val="1"/>
              </a:ext>
            </a:extLst>
          </p:cNvPr>
          <p:cNvSpPr/>
          <p:nvPr/>
        </p:nvSpPr>
        <p:spPr>
          <a:xfrm flipH="1">
            <a:off x="0" y="0"/>
            <a:ext cx="12191760" cy="1573920"/>
          </a:xfrm>
          <a:prstGeom prst="rect">
            <a:avLst/>
          </a:prstGeom>
          <a:gradFill rotWithShape="0">
            <a:gsLst>
              <a:gs pos="0">
                <a:srgbClr val="000000">
                  <a:alpha val="63000"/>
                </a:srgbClr>
              </a:gs>
              <a:gs pos="78000">
                <a:srgbClr val="5b9bd5">
                  <a:alpha val="15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 name="PlaceHolder 1"/>
          <p:cNvSpPr>
            <a:spLocks noGrp="1"/>
          </p:cNvSpPr>
          <p:nvPr>
            <p:ph type="title"/>
          </p:nvPr>
        </p:nvSpPr>
        <p:spPr>
          <a:xfrm>
            <a:off x="699840" y="248040"/>
            <a:ext cx="7063200" cy="115884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Calibri Light"/>
              </a:rPr>
              <a:t>Bank of England Bank Rate</a:t>
            </a:r>
            <a:endParaRPr b="0" lang="en-US" sz="4000" spc="-1" strike="noStrike">
              <a:solidFill>
                <a:schemeClr val="dk1"/>
              </a:solidFill>
              <a:latin typeface="Calibri"/>
            </a:endParaRPr>
          </a:p>
        </p:txBody>
      </p:sp>
      <p:sp>
        <p:nvSpPr>
          <p:cNvPr id="145" name="TextBox 4"/>
          <p:cNvSpPr/>
          <p:nvPr/>
        </p:nvSpPr>
        <p:spPr>
          <a:xfrm>
            <a:off x="8572320" y="390960"/>
            <a:ext cx="3233160" cy="873360"/>
          </a:xfrm>
          <a:prstGeom prst="rect">
            <a:avLst/>
          </a:prstGeom>
          <a:noFill/>
          <a:ln w="0">
            <a:noFill/>
          </a:ln>
        </p:spPr>
        <p:style>
          <a:lnRef idx="0"/>
          <a:fillRef idx="0"/>
          <a:effectRef idx="0"/>
          <a:fontRef idx="minor"/>
        </p:style>
        <p:txBody>
          <a:bodyPr anchor="ctr">
            <a:normAutofit/>
          </a:bodyPr>
          <a:p>
            <a:pPr defTabSz="914400">
              <a:lnSpc>
                <a:spcPct val="90000"/>
              </a:lnSpc>
              <a:spcBef>
                <a:spcPts val="1001"/>
              </a:spcBef>
            </a:pPr>
            <a:r>
              <a:rPr b="0" lang="en-US" sz="2000" spc="-1" strike="noStrike">
                <a:solidFill>
                  <a:srgbClr val="ffffff"/>
                </a:solidFill>
                <a:latin typeface="Calibri"/>
              </a:rPr>
              <a:t>Source: Bloomberg</a:t>
            </a:r>
            <a:endParaRPr b="0" lang="en-US" sz="2000" spc="-1" strike="noStrike">
              <a:solidFill>
                <a:srgbClr val="000000"/>
              </a:solidFill>
              <a:latin typeface="Arial"/>
            </a:endParaRPr>
          </a:p>
        </p:txBody>
      </p:sp>
      <p:pic>
        <p:nvPicPr>
          <p:cNvPr id="146" name="Picture 5" descr=""/>
          <p:cNvPicPr/>
          <p:nvPr/>
        </p:nvPicPr>
        <p:blipFill>
          <a:blip r:embed="rId1"/>
          <a:stretch/>
        </p:blipFill>
        <p:spPr>
          <a:xfrm>
            <a:off x="1308600" y="1966320"/>
            <a:ext cx="9574200" cy="4451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Num" idx="3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GB" sz="1200" spc="-1" strike="noStrike">
                <a:solidFill>
                  <a:srgbClr val="898989"/>
                </a:solidFill>
                <a:latin typeface="Calibri"/>
              </a:defRPr>
            </a:lvl1pPr>
          </a:lstStyle>
          <a:p>
            <a:pPr indent="0" defTabSz="914400">
              <a:lnSpc>
                <a:spcPct val="100000"/>
              </a:lnSpc>
              <a:buNone/>
            </a:pPr>
            <a:endParaRPr b="0" lang="en-US" sz="1200" spc="-1" strike="noStrike">
              <a:solidFill>
                <a:srgbClr val="000000"/>
              </a:solidFill>
              <a:latin typeface="Times New Roman"/>
            </a:endParaRPr>
          </a:p>
          <a:p>
            <a:pPr indent="0" defTabSz="914400">
              <a:lnSpc>
                <a:spcPct val="100000"/>
              </a:lnSpc>
              <a:buNone/>
            </a:pPr>
            <a:endParaRPr b="0" lang="en-US" sz="1200" spc="-1" strike="noStrike">
              <a:solidFill>
                <a:srgbClr val="000000"/>
              </a:solidFill>
              <a:latin typeface="Times New Roman"/>
            </a:endParaRPr>
          </a:p>
          <a:p>
            <a:pPr indent="0" defTabSz="914400">
              <a:lnSpc>
                <a:spcPct val="100000"/>
              </a:lnSpc>
              <a:buNone/>
            </a:pPr>
            <a:fld id="{29A6E8DB-4A00-4FBA-B06B-EA5C8E78EF75}" type="slidenum">
              <a:rPr b="0" lang="en-GB" sz="1200" spc="-1" strike="noStrike">
                <a:solidFill>
                  <a:srgbClr val="898989"/>
                </a:solidFill>
                <a:latin typeface="Calibri"/>
              </a:rPr>
              <a:t>&lt;number&gt;</a:t>
            </a:fld>
            <a:endParaRPr b="0" lang="en-US" sz="1200" spc="-1" strike="noStrike">
              <a:solidFill>
                <a:srgbClr val="000000"/>
              </a:solidFill>
              <a:latin typeface="Times New Roman"/>
            </a:endParaRPr>
          </a:p>
        </p:txBody>
      </p:sp>
      <p:pic>
        <p:nvPicPr>
          <p:cNvPr id="148" name="Picture 2" descr=""/>
          <p:cNvPicPr/>
          <p:nvPr/>
        </p:nvPicPr>
        <p:blipFill>
          <a:blip r:embed="rId1"/>
          <a:stretch/>
        </p:blipFill>
        <p:spPr>
          <a:xfrm>
            <a:off x="1905120" y="674640"/>
            <a:ext cx="8543520" cy="54669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49" name="Rectangle 20">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0" name="Rectangle 22">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1" name="Rectangle 24">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2" name="Rectangle 26">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3" name="Rectangle 28">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4"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Georgia"/>
              </a:rPr>
              <a:t>The Financial Policy Committee</a:t>
            </a:r>
            <a:endParaRPr b="0" lang="en-US" sz="4000" spc="-1" strike="noStrike">
              <a:solidFill>
                <a:schemeClr val="dk1"/>
              </a:solidFill>
              <a:latin typeface="Calibri"/>
            </a:endParaRPr>
          </a:p>
        </p:txBody>
      </p:sp>
      <p:sp>
        <p:nvSpPr>
          <p:cNvPr id="155" name="PlaceHolder 2"/>
          <p:cNvSpPr>
            <a:spLocks noGrp="1"/>
          </p:cNvSpPr>
          <p:nvPr>
            <p:ph/>
          </p:nvPr>
        </p:nvSpPr>
        <p:spPr>
          <a:xfrm>
            <a:off x="459360" y="1917360"/>
            <a:ext cx="11549520" cy="4940280"/>
          </a:xfrm>
          <a:prstGeom prst="rect">
            <a:avLst/>
          </a:prstGeom>
          <a:noFill/>
          <a:ln w="0">
            <a:noFill/>
          </a:ln>
        </p:spPr>
        <p:txBody>
          <a:bodyPr lIns="91440" rIns="91440" tIns="45720" bIns="45720" anchor="ctr">
            <a:normAutofit fontScale="93550"/>
          </a:bodyPr>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The Financial Policy Committee (FPC) was established in 2013 as part of the new system of regulation brought in to improve financial stability after the financial crisis.</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The FPC normally has thirteen members. </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Six members are Bank of England staff (the Governor, four Deputy Governors and the Executive Director for Financial Stability Strategy and Risk); five external members (selected based on their experience and expertise in financial services); the Chief Executive of the Financial Conduct Authority and one non-voting member from HM Treasury.</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It’s objectives are:</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AutoNum type="arabicParenR"/>
            </a:pPr>
            <a:r>
              <a:rPr b="0" lang="en-GB" sz="1700" spc="-1" strike="noStrike">
                <a:solidFill>
                  <a:schemeClr val="dk1"/>
                </a:solidFill>
                <a:latin typeface="Georgia"/>
              </a:rPr>
              <a:t>to identify and monitors risks that threaten the resilience of the UK financial system as a whole. </a:t>
            </a:r>
            <a:endParaRPr b="0" lang="en-US" sz="1700" spc="-1" strike="noStrike">
              <a:solidFill>
                <a:schemeClr val="dk1"/>
              </a:solidFill>
              <a:latin typeface="Calibri"/>
            </a:endParaRPr>
          </a:p>
          <a:p>
            <a:pPr marL="343080" indent="-343080" defTabSz="914400">
              <a:lnSpc>
                <a:spcPct val="90000"/>
              </a:lnSpc>
              <a:spcBef>
                <a:spcPts val="1001"/>
              </a:spcBef>
              <a:buClr>
                <a:srgbClr val="000000"/>
              </a:buClr>
              <a:buFont typeface="Arial"/>
              <a:buAutoNum type="arabicParenR" startAt="2"/>
            </a:pPr>
            <a:r>
              <a:rPr b="0" lang="en-GB" sz="1700" spc="-1" strike="noStrike">
                <a:solidFill>
                  <a:schemeClr val="dk1"/>
                </a:solidFill>
                <a:latin typeface="Georgia"/>
              </a:rPr>
              <a:t>to  support the economic policy of the Government. </a:t>
            </a:r>
            <a:endParaRPr b="0" lang="en-US" sz="1700" spc="-1" strike="noStrike">
              <a:solidFill>
                <a:schemeClr val="dk1"/>
              </a:solidFill>
              <a:latin typeface="Calibri"/>
            </a:endParaRPr>
          </a:p>
          <a:p>
            <a:pPr indent="0" defTabSz="914400">
              <a:lnSpc>
                <a:spcPct val="90000"/>
              </a:lnSpc>
              <a:spcBef>
                <a:spcPts val="1001"/>
              </a:spcBef>
              <a:buNone/>
            </a:pP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a:t>
            </a:r>
            <a:r>
              <a:rPr b="0" lang="en-GB" sz="1800" spc="-1" strike="noStrike">
                <a:solidFill>
                  <a:schemeClr val="dk1"/>
                </a:solidFill>
                <a:latin typeface="Georgia"/>
              </a:rPr>
              <a:t>Stress testing is used by the Bank to make sure the financial system, including banks and building societies, insurance companies and central counterparties, is strong enough to withstand severe scenarios such as a financial crisis’.</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For example, scenario used for the 2021 solvency stress test was not a forecast. It is a severe path for the economy in 2021–25 on top of the economic shock associated with the Covid pandemic that occurred in 2020.  UK residential property prices fall by 33% in the stress scenario and UK unemployment rises by 5.6 percentage points to peak at 11.9%.</a:t>
            </a: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17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56"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7"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8"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59"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0"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1"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Georgia"/>
              </a:rPr>
              <a:t>The Prudential Regulation Committee</a:t>
            </a:r>
            <a:endParaRPr b="0" lang="en-US" sz="4000" spc="-1" strike="noStrike">
              <a:solidFill>
                <a:schemeClr val="dk1"/>
              </a:solidFill>
              <a:latin typeface="Calibri"/>
            </a:endParaRPr>
          </a:p>
        </p:txBody>
      </p:sp>
      <p:sp>
        <p:nvSpPr>
          <p:cNvPr id="162"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The PRC is responsible for the regulation and supervision of banks, building societies, credit unions, insurers, and major investment firms.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It ensures the stability and resilience of the financial system.</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Members : the Governor of the Bank of England; Deputy Governors for Financial Stability, Markets and Banking, and Prudential Regulation; the Chief Executive of the Financial Conduct Authority; a member appointed by the Governor with the approval of the Chancellor; and six other external members appointed by the Chancellor.</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63"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4"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5"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6"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7"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8"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II-History of Federal Reserve System</a:t>
            </a:r>
            <a:endParaRPr b="0" lang="en-US" sz="4000" spc="-1" strike="noStrike">
              <a:solidFill>
                <a:schemeClr val="dk1"/>
              </a:solidFill>
              <a:latin typeface="Calibri"/>
            </a:endParaRPr>
          </a:p>
        </p:txBody>
      </p:sp>
      <p:sp>
        <p:nvSpPr>
          <p:cNvPr id="169" name="PlaceHolder 2"/>
          <p:cNvSpPr>
            <a:spLocks noGrp="1"/>
          </p:cNvSpPr>
          <p:nvPr>
            <p:ph/>
          </p:nvPr>
        </p:nvSpPr>
        <p:spPr>
          <a:xfrm>
            <a:off x="675000" y="1719360"/>
            <a:ext cx="11179440" cy="473544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The First Bank of the United States was a national bank chartered by the United States Congress in 1791.</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It was the first attempt at central banking in the country and was created to address various financial challenges facing the newly formed United States.</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Fear of centralised power and distrust of moneyed interests led to its dissolution in 1811.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The Second Bank was established in 1816 to address the financial challenges facing the nation after the War of 1812 and to stabilise the currency.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It was dissolved in 1836  due to fear that the bank concentrated too much power in the hands of a few and was detrimental to the interests of ordinary citizens.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Without a lender of last resort, banking panics became regular events in 1907.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Widespread bank failures and depositor losses convinced the U.S. that a central bank was needed.</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Questions arose as to whether such a monetary authority would be private or a government institution.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The Federal Reserve System was created under the Federal Reserve Act of 1913.</a:t>
            </a: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2" descr="Mishkin_c12F02"/>
          <p:cNvPicPr/>
          <p:nvPr/>
        </p:nvPicPr>
        <p:blipFill>
          <a:blip r:embed="rId1"/>
          <a:stretch/>
        </p:blipFill>
        <p:spPr>
          <a:xfrm>
            <a:off x="2286000" y="304920"/>
            <a:ext cx="7543440" cy="5275080"/>
          </a:xfrm>
          <a:prstGeom prst="rect">
            <a:avLst/>
          </a:prstGeom>
          <a:ln w="9525">
            <a:noFill/>
          </a:ln>
        </p:spPr>
      </p:pic>
      <p:sp>
        <p:nvSpPr>
          <p:cNvPr id="171" name="TextBox 2"/>
          <p:cNvSpPr/>
          <p:nvPr/>
        </p:nvSpPr>
        <p:spPr>
          <a:xfrm>
            <a:off x="2057400" y="6172200"/>
            <a:ext cx="7772040" cy="27252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pPr>
            <a:r>
              <a:rPr b="0" i="1" lang="en-GB" sz="1200" spc="-1" strike="noStrike">
                <a:solidFill>
                  <a:schemeClr val="dk1"/>
                </a:solidFill>
                <a:latin typeface="Calibri"/>
              </a:rPr>
              <a:t>Source: Mishkin, The Economics of Money, Banking and Financial Markets, Addison Wesley.</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72"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3"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4"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5"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6"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7"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Structure of Federal Reserve System</a:t>
            </a:r>
            <a:endParaRPr b="0" lang="en-US" sz="4000" spc="-1" strike="noStrike">
              <a:solidFill>
                <a:schemeClr val="dk1"/>
              </a:solidFill>
              <a:latin typeface="Calibri"/>
            </a:endParaRPr>
          </a:p>
        </p:txBody>
      </p:sp>
      <p:sp>
        <p:nvSpPr>
          <p:cNvPr id="178" name="PlaceHolder 2"/>
          <p:cNvSpPr>
            <a:spLocks noGrp="1"/>
          </p:cNvSpPr>
          <p:nvPr>
            <p:ph/>
          </p:nvPr>
        </p:nvSpPr>
        <p:spPr>
          <a:xfrm>
            <a:off x="250200" y="2022480"/>
            <a:ext cx="10845000" cy="4835160"/>
          </a:xfrm>
          <a:prstGeom prst="rect">
            <a:avLst/>
          </a:prstGeom>
          <a:noFill/>
          <a:ln w="0">
            <a:noFill/>
          </a:ln>
        </p:spPr>
        <p:txBody>
          <a:bodyPr lIns="91440" rIns="91440" tIns="45720" bIns="45720" anchor="ctr">
            <a:noAutofit/>
          </a:bodyPr>
          <a:p>
            <a:pPr marL="228600" indent="-228600" defTabSz="914400">
              <a:lnSpc>
                <a:spcPct val="90000"/>
              </a:lnSpc>
              <a:spcBef>
                <a:spcPts val="1001"/>
              </a:spcBef>
              <a:buClr>
                <a:srgbClr val="000000"/>
              </a:buClr>
              <a:buFont typeface="Arial"/>
              <a:buChar char="•"/>
            </a:pPr>
            <a:r>
              <a:rPr b="0" lang="en-GB" sz="1600" spc="-1" strike="noStrike">
                <a:solidFill>
                  <a:schemeClr val="dk1"/>
                </a:solidFill>
                <a:latin typeface="Georgia"/>
              </a:rPr>
              <a:t>The Federal Reserve Banks are quasi-public institutions since they are owned by the  private commercial banks in the district where the Reserve Bank is located.</a:t>
            </a:r>
            <a:endParaRPr b="0" lang="en-US" sz="16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600" spc="-1" strike="noStrike">
                <a:solidFill>
                  <a:schemeClr val="dk1"/>
                </a:solidFill>
                <a:latin typeface="Georgia"/>
              </a:rPr>
              <a:t>Design was intended to diffuse power along the following dimensions: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Regions of the U.S.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Government and private sector interests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Needs of bankers, businesses, and the public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1" lang="en-GB" sz="1600" spc="-1" strike="noStrike">
                <a:solidFill>
                  <a:schemeClr val="dk1"/>
                </a:solidFill>
                <a:latin typeface="Georgia"/>
              </a:rPr>
              <a:t> </a:t>
            </a:r>
            <a:r>
              <a:rPr b="1" lang="en-GB" sz="1600" spc="-1" strike="noStrike">
                <a:solidFill>
                  <a:schemeClr val="dk1"/>
                </a:solidFill>
                <a:latin typeface="Georgia"/>
              </a:rPr>
              <a:t>The Federal Reserve System as it exists now includes: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Twelve Federal Reserve Banks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Board of Governors (BOG) of the Federal Reserve System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Federal Open Market Committee (FOMC)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Federal Advisory Council </a:t>
            </a:r>
            <a:endParaRPr b="0" lang="en-US" sz="1600" spc="-1" strike="noStrike">
              <a:solidFill>
                <a:schemeClr val="dk1"/>
              </a:solidFill>
              <a:latin typeface="Calibri"/>
            </a:endParaRPr>
          </a:p>
          <a:p>
            <a:pPr indent="0" defTabSz="914400">
              <a:lnSpc>
                <a:spcPct val="90000"/>
              </a:lnSpc>
              <a:spcBef>
                <a:spcPts val="1001"/>
              </a:spcBef>
              <a:buNone/>
              <a:tabLst>
                <a:tab algn="l" pos="0"/>
              </a:tabLst>
            </a:pPr>
            <a:r>
              <a:rPr b="0" lang="en-GB" sz="1600" spc="-1" strike="noStrike">
                <a:solidFill>
                  <a:schemeClr val="dk1"/>
                </a:solidFill>
                <a:latin typeface="Georgia"/>
              </a:rPr>
              <a:t>─ </a:t>
            </a:r>
            <a:r>
              <a:rPr b="0" lang="en-GB" sz="1600" spc="-1" strike="noStrike">
                <a:solidFill>
                  <a:schemeClr val="dk1"/>
                </a:solidFill>
                <a:latin typeface="Georgia"/>
              </a:rPr>
              <a:t>Member Banks (around 2,800)</a:t>
            </a:r>
            <a:endParaRPr b="0" lang="en-US" sz="16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1600" spc="-1" strike="noStrike">
                <a:solidFill>
                  <a:schemeClr val="dk1"/>
                </a:solidFill>
                <a:latin typeface="Georgia"/>
              </a:rPr>
              <a:t>The members of the Board of Governors are appointed by the president of the United States and confirmed by the Senate. </a:t>
            </a:r>
            <a:endParaRPr b="0" lang="en-US" sz="16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1600" spc="-1" strike="noStrike">
                <a:solidFill>
                  <a:schemeClr val="dk1"/>
                </a:solidFill>
                <a:latin typeface="Georgia"/>
              </a:rPr>
              <a:t>The FOMC makes decisions regarding the conduct of open market operations.</a:t>
            </a:r>
            <a:endParaRPr b="0" lang="en-US" sz="1600" spc="-1" strike="noStrike">
              <a:solidFill>
                <a:schemeClr val="dk1"/>
              </a:solidFill>
              <a:latin typeface="Calibri"/>
            </a:endParaRPr>
          </a:p>
          <a:p>
            <a:pPr indent="0" defTabSz="914400">
              <a:lnSpc>
                <a:spcPct val="90000"/>
              </a:lnSpc>
              <a:spcBef>
                <a:spcPts val="1001"/>
              </a:spcBef>
              <a:buNone/>
              <a:tabLst>
                <a:tab algn="l" pos="0"/>
              </a:tabLst>
            </a:pPr>
            <a:endParaRPr b="0" lang="en-US" sz="1600" spc="-1" strike="noStrike">
              <a:solidFill>
                <a:schemeClr val="dk1"/>
              </a:solidFill>
              <a:latin typeface="Calibri"/>
            </a:endParaRPr>
          </a:p>
          <a:p>
            <a:pPr indent="0" defTabSz="914400">
              <a:lnSpc>
                <a:spcPct val="90000"/>
              </a:lnSpc>
              <a:spcBef>
                <a:spcPts val="1001"/>
              </a:spcBef>
              <a:buNone/>
              <a:tabLst>
                <a:tab algn="l" pos="0"/>
              </a:tabLst>
            </a:pPr>
            <a:endParaRPr b="0" lang="en-US" sz="16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9" name="Content Placeholder 4" descr="Diagram&#10;&#10;Description automatically generated"/>
          <p:cNvPicPr/>
          <p:nvPr/>
        </p:nvPicPr>
        <p:blipFill>
          <a:blip r:embed="rId1"/>
          <a:stretch/>
        </p:blipFill>
        <p:spPr>
          <a:xfrm>
            <a:off x="1092240" y="752040"/>
            <a:ext cx="10362960" cy="48646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Content Placeholder 4" descr="Diagram&#10;&#10;Description automatically generated"/>
          <p:cNvPicPr/>
          <p:nvPr/>
        </p:nvPicPr>
        <p:blipFill>
          <a:blip r:embed="rId1"/>
          <a:stretch/>
        </p:blipFill>
        <p:spPr>
          <a:xfrm>
            <a:off x="673200" y="643320"/>
            <a:ext cx="10731240" cy="55706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81"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2"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3"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4"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5"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6"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III-The European Central Bank</a:t>
            </a:r>
            <a:endParaRPr b="0" lang="en-US" sz="4000" spc="-1" strike="noStrike">
              <a:solidFill>
                <a:schemeClr val="dk1"/>
              </a:solidFill>
              <a:latin typeface="Calibri"/>
            </a:endParaRPr>
          </a:p>
        </p:txBody>
      </p:sp>
      <p:sp>
        <p:nvSpPr>
          <p:cNvPr id="187" name="PlaceHolder 2"/>
          <p:cNvSpPr>
            <a:spLocks noGrp="1"/>
          </p:cNvSpPr>
          <p:nvPr>
            <p:ph/>
          </p:nvPr>
        </p:nvSpPr>
        <p:spPr>
          <a:xfrm>
            <a:off x="0" y="2003040"/>
            <a:ext cx="11095200" cy="4378320"/>
          </a:xfrm>
          <a:prstGeom prst="rect">
            <a:avLst/>
          </a:prstGeom>
          <a:noFill/>
          <a:ln w="0">
            <a:noFill/>
          </a:ln>
        </p:spPr>
        <p:txBody>
          <a:bodyPr lIns="91440" rIns="91440" tIns="45720" bIns="45720" anchor="ctr">
            <a:noAutofit/>
          </a:bodyPr>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Founded (as it currently exists) in 1999 by a treaty between the European Central Bank (ECB) and the European System of Central Banks (ESCB).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It is the central bank for the 19 European Union (EU) countries that have adopted the euro as their currency.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The ECB is housed in Frankfurt, Germany. </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800" spc="-1" strike="noStrike">
                <a:solidFill>
                  <a:schemeClr val="dk1"/>
                </a:solidFill>
                <a:latin typeface="Georgia"/>
              </a:rPr>
              <a:t>The three main decision-making bodies of the European Central Bank are: </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The Governing Council - consists of governors from the 19 Euro area NCBs and members of the Executive Board</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The Executive Board - consists of the president and the vice-president of the ECB along with 4 other members</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The General Council - consists of the president and the vice-president of the ECB and the governors of the NCBs of the 28 EU member states.</a:t>
            </a:r>
            <a:endParaRPr b="0" lang="en-US" sz="1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1800" spc="-1" strike="noStrike">
                <a:solidFill>
                  <a:schemeClr val="dk1"/>
                </a:solidFill>
                <a:latin typeface="Georgia"/>
              </a:rPr>
              <a:t>The ESCB includes the ECB and the national central banks (NCB) of all the EU member states, including those that have not adopted the Euro.</a:t>
            </a:r>
            <a:endParaRPr b="0" lang="en-US" sz="1800" spc="-1" strike="noStrike">
              <a:solidFill>
                <a:schemeClr val="dk1"/>
              </a:solidFill>
              <a:latin typeface="Calibri"/>
            </a:endParaRPr>
          </a:p>
          <a:p>
            <a:pPr indent="0" defTabSz="914400">
              <a:lnSpc>
                <a:spcPct val="90000"/>
              </a:lnSpc>
              <a:spcBef>
                <a:spcPts val="1001"/>
              </a:spcBef>
              <a:buNone/>
              <a:tabLst>
                <a:tab algn="l" pos="0"/>
              </a:tabLst>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16818d"/>
                </a:solidFill>
                <a:latin typeface="Georgia"/>
              </a:rPr>
              <a:t>ESCB Structure</a:t>
            </a:r>
            <a:endParaRPr b="0" lang="en-US" sz="4000" spc="-1" strike="noStrike">
              <a:solidFill>
                <a:schemeClr val="dk1"/>
              </a:solidFill>
              <a:latin typeface="Calibri"/>
            </a:endParaRPr>
          </a:p>
        </p:txBody>
      </p:sp>
      <p:pic>
        <p:nvPicPr>
          <p:cNvPr id="189" name="Picture 2" descr=""/>
          <p:cNvPicPr/>
          <p:nvPr/>
        </p:nvPicPr>
        <p:blipFill>
          <a:blip r:embed="rId1"/>
          <a:stretch/>
        </p:blipFill>
        <p:spPr>
          <a:xfrm>
            <a:off x="2639520" y="1510200"/>
            <a:ext cx="6912360" cy="472680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90"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1"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2"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3"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4"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5"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Structure of ECB </a:t>
            </a:r>
            <a:endParaRPr b="0" lang="en-US" sz="4000" spc="-1" strike="noStrike">
              <a:solidFill>
                <a:schemeClr val="dk1"/>
              </a:solidFill>
              <a:latin typeface="Calibri"/>
            </a:endParaRPr>
          </a:p>
        </p:txBody>
      </p:sp>
      <p:sp>
        <p:nvSpPr>
          <p:cNvPr id="196" name="PlaceHolder 2"/>
          <p:cNvSpPr>
            <a:spLocks noGrp="1"/>
          </p:cNvSpPr>
          <p:nvPr>
            <p:ph/>
          </p:nvPr>
        </p:nvSpPr>
        <p:spPr>
          <a:xfrm>
            <a:off x="328680" y="2566800"/>
            <a:ext cx="11427480" cy="4109400"/>
          </a:xfrm>
          <a:prstGeom prst="rect">
            <a:avLst/>
          </a:prstGeom>
          <a:noFill/>
          <a:ln w="0">
            <a:noFill/>
          </a:ln>
        </p:spPr>
        <p:txBody>
          <a:bodyPr lIns="91440" rIns="91440" tIns="45720" bIns="45720" anchor="ctr">
            <a:noAutofit/>
          </a:bodyPr>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Governing Council: This is the main decision-making body of the ECB, and is responsible for setting monetary policy, approving the budget, and making key decisions about the operation of the bank. The Governing Council is composed of the President of the ECB, the Vice President, and the heads of the national central banks of the 19 eurozone countries.</a:t>
            </a: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Executive Board: The Executive Board is responsible for the day-to-day management of the ECB and implements the decisions of the Governing Council. The Executive Board is composed of six members, including the President and Vice President of the ECB.</a:t>
            </a: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General Council: The General Council provides advice to the Governing Council on matters related to the implementation of monetary policy and the functioning of the eurozone economy.</a:t>
            </a: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Supervisory Board: The Supervisory Board is responsible for the supervision of eurozone banks. It oversees the work of the Single Supervisory Mechanism, which is the eurozone's system for supervising banks.</a:t>
            </a: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400" spc="-1" strike="noStrike">
                <a:solidFill>
                  <a:schemeClr val="dk1"/>
                </a:solidFill>
                <a:latin typeface="Georgia"/>
              </a:rPr>
              <a:t>National Central Banks: The national central banks of the 19 eurozone countries play an important role in the operations of the ECB, as they are responsible for implementing the ECB's monetary policy in their own countries and for providing support to the ECB in carrying out its operations.</a:t>
            </a: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a:p>
            <a:pPr indent="0" defTabSz="914400">
              <a:lnSpc>
                <a:spcPct val="90000"/>
              </a:lnSpc>
              <a:spcBef>
                <a:spcPts val="1001"/>
              </a:spcBef>
              <a:buNone/>
            </a:pPr>
            <a:endParaRPr b="0" lang="en-US" sz="1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97"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8"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99"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0"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1"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2"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Functions of ECB</a:t>
            </a:r>
            <a:endParaRPr b="0" lang="en-US" sz="4000" spc="-1" strike="noStrike">
              <a:solidFill>
                <a:schemeClr val="dk1"/>
              </a:solidFill>
              <a:latin typeface="Calibri"/>
            </a:endParaRPr>
          </a:p>
        </p:txBody>
      </p:sp>
      <p:sp>
        <p:nvSpPr>
          <p:cNvPr id="203" name="PlaceHolder 2"/>
          <p:cNvSpPr>
            <a:spLocks noGrp="1"/>
          </p:cNvSpPr>
          <p:nvPr>
            <p:ph/>
          </p:nvPr>
        </p:nvSpPr>
        <p:spPr>
          <a:xfrm>
            <a:off x="293760" y="1891800"/>
            <a:ext cx="11081160" cy="4109400"/>
          </a:xfrm>
          <a:prstGeom prst="rect">
            <a:avLst/>
          </a:prstGeom>
          <a:noFill/>
          <a:ln w="0">
            <a:noFill/>
          </a:ln>
        </p:spPr>
        <p:txBody>
          <a:bodyPr lIns="91440" rIns="91440" tIns="45720" bIns="45720" anchor="ctr">
            <a:noAutofit/>
          </a:bodyPr>
          <a:p>
            <a:pPr indent="0" defTabSz="914400">
              <a:lnSpc>
                <a:spcPct val="90000"/>
              </a:lnSpc>
              <a:spcBef>
                <a:spcPts val="1001"/>
              </a:spcBef>
              <a:buNone/>
              <a:tabLst>
                <a:tab algn="l" pos="0"/>
              </a:tabLst>
            </a:pPr>
            <a:r>
              <a:rPr b="0" lang="en-GB" sz="1800" spc="-1" strike="noStrike">
                <a:solidFill>
                  <a:schemeClr val="dk1"/>
                </a:solidFill>
                <a:latin typeface="Georgia"/>
              </a:rPr>
              <a:t>1) Conducting monetary policy - adjusting the money supply and interest rates to influence economic growth and maintain price stability.</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2)  Maintaining price stability:  setting interest rates, managing the money supply, and implementing other monetary policies.</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3) Supervising the banking system: ensuring the stability of the Eurozone financial system and protecting consumers.</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4)  Providing liquidity to the financial system: helps to maintain stability in the eurozone during times of economic stress.</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5) Promoting sustainable economic growth: setting monetary policy and maintaining price stability.</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6) Managing the Euro (currency used by the 19 eurozone countries) – by issuing euro banknotes and coins, managing the eurozone's foreign exchange reserves, and promoting the use of the euro around the world.</a:t>
            </a:r>
            <a:endParaRPr b="0" lang="en-US" sz="1800" spc="-1" strike="noStrike">
              <a:solidFill>
                <a:schemeClr val="dk1"/>
              </a:solidFill>
              <a:latin typeface="Calibri"/>
            </a:endParaRPr>
          </a:p>
          <a:p>
            <a:pPr indent="0" defTabSz="914400">
              <a:lnSpc>
                <a:spcPct val="90000"/>
              </a:lnSpc>
              <a:spcBef>
                <a:spcPts val="1001"/>
              </a:spcBef>
              <a:buNone/>
              <a:tabLst>
                <a:tab algn="l" pos="0"/>
              </a:tabLst>
            </a:pPr>
            <a:r>
              <a:rPr b="0" lang="en-GB" sz="1800" spc="-1" strike="noStrike">
                <a:solidFill>
                  <a:schemeClr val="dk1"/>
                </a:solidFill>
                <a:latin typeface="Georgia"/>
              </a:rPr>
              <a:t>7) Promoting economic and monetary union: supporting the harmonization of economic policies and the integration of financial markets.</a:t>
            </a: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04"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5"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6"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7"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8"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09"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IV- Ownership of Central Banks</a:t>
            </a:r>
            <a:endParaRPr b="0" lang="en-US" sz="4000" spc="-1" strike="noStrike">
              <a:solidFill>
                <a:schemeClr val="dk1"/>
              </a:solidFill>
              <a:latin typeface="Calibri"/>
            </a:endParaRPr>
          </a:p>
        </p:txBody>
      </p:sp>
      <p:sp>
        <p:nvSpPr>
          <p:cNvPr id="210" name="PlaceHolder 2"/>
          <p:cNvSpPr>
            <a:spLocks noGrp="1"/>
          </p:cNvSpPr>
          <p:nvPr>
            <p:ph/>
          </p:nvPr>
        </p:nvSpPr>
        <p:spPr>
          <a:xfrm>
            <a:off x="97920" y="1774440"/>
            <a:ext cx="10997280" cy="4226760"/>
          </a:xfrm>
          <a:prstGeom prst="rect">
            <a:avLst/>
          </a:prstGeom>
          <a:noFill/>
          <a:ln w="0">
            <a:noFill/>
          </a:ln>
        </p:spPr>
        <p:txBody>
          <a:bodyPr lIns="91440" rIns="91440" tIns="45720" bIns="45720" anchor="ctr">
            <a:normAutofit/>
          </a:bodyPr>
          <a:p>
            <a:pPr indent="0" defTabSz="914400">
              <a:lnSpc>
                <a:spcPct val="90000"/>
              </a:lnSpc>
              <a:spcBef>
                <a:spcPts val="1001"/>
              </a:spcBef>
              <a:buNone/>
              <a:tabLst>
                <a:tab algn="l" pos="0"/>
              </a:tabLst>
            </a:pPr>
            <a:r>
              <a:rPr b="0" lang="en-GB" sz="2000" spc="-1" strike="noStrike">
                <a:solidFill>
                  <a:schemeClr val="dk1"/>
                </a:solidFill>
                <a:latin typeface="Georgia"/>
              </a:rPr>
              <a:t>Arguments for public ownership: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Georgia"/>
              </a:rPr>
              <a:t>Central banks act in the ultimate public interest.</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Georgia"/>
              </a:rPr>
              <a:t>Private ownership bias central banks toward self-serving profit-making interests, hence increasing risk-taking and balance sheet troubles.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Georgia"/>
              </a:rPr>
              <a:t>The global financial crisis highlighted concerns that the profit-making target of private shareholders could hamper them from saving the financial sector during financial crises.</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GB" sz="2000" spc="-1" strike="noStrike">
                <a:solidFill>
                  <a:schemeClr val="dk1"/>
                </a:solidFill>
                <a:latin typeface="Georgia"/>
              </a:rPr>
              <a:t>Arguments for private ownership:</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Georgia"/>
              </a:rPr>
              <a:t>guarantees central bank independence (concerned with financing the fiscal deficit)</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GB" sz="2000" spc="-1" strike="noStrike">
                <a:solidFill>
                  <a:schemeClr val="dk1"/>
                </a:solidFill>
                <a:latin typeface="Georgia"/>
              </a:rPr>
              <a:t>private owners are required to recapitalise the central bank in the case of losses which  lifts this burden off the fiscal budget. </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11"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2"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3"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4"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5"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16"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Autofit/>
          </a:bodyPr>
          <a:p>
            <a:pPr indent="0" defTabSz="914400">
              <a:lnSpc>
                <a:spcPct val="90000"/>
              </a:lnSpc>
              <a:buNone/>
            </a:pPr>
            <a:r>
              <a:rPr b="1" lang="en-US" sz="2400" spc="-1" strike="noStrike">
                <a:solidFill>
                  <a:srgbClr val="ffffff"/>
                </a:solidFill>
                <a:latin typeface="Calibri Light"/>
              </a:rPr>
              <a:t> </a:t>
            </a:r>
            <a:br>
              <a:rPr sz="2400"/>
            </a:br>
            <a:br>
              <a:rPr sz="2400"/>
            </a:br>
            <a:r>
              <a:rPr b="1" lang="en-US" sz="2400" spc="-1" strike="noStrike">
                <a:solidFill>
                  <a:srgbClr val="ffffff"/>
                </a:solidFill>
                <a:latin typeface="Georgia"/>
              </a:rPr>
              <a:t>v-Central Bank Independence</a:t>
            </a:r>
            <a:br>
              <a:rPr sz="2400"/>
            </a:br>
            <a:endParaRPr b="0" lang="en-US" sz="2400" spc="-1" strike="noStrike">
              <a:solidFill>
                <a:schemeClr val="dk1"/>
              </a:solidFill>
              <a:latin typeface="Calibri"/>
            </a:endParaRPr>
          </a:p>
        </p:txBody>
      </p:sp>
      <p:sp>
        <p:nvSpPr>
          <p:cNvPr id="217"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indent="0" defTabSz="914400">
              <a:lnSpc>
                <a:spcPct val="90000"/>
              </a:lnSpc>
              <a:spcBef>
                <a:spcPts val="1001"/>
              </a:spcBef>
              <a:buNone/>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1" lang="en-US" sz="2000" spc="-1" strike="noStrike">
                <a:solidFill>
                  <a:schemeClr val="dk1"/>
                </a:solidFill>
                <a:latin typeface="Calibri"/>
              </a:rPr>
              <a:t>https://www.bis.org/review/r230112b.pdf</a:t>
            </a:r>
            <a:endParaRPr b="0" lang="en-US" sz="2000" spc="-1" strike="noStrike">
              <a:solidFill>
                <a:schemeClr val="dk1"/>
              </a:solidFill>
              <a:latin typeface="Calibri"/>
            </a:endParaRPr>
          </a:p>
          <a:p>
            <a:pPr indent="0" defTabSz="914400">
              <a:lnSpc>
                <a:spcPct val="90000"/>
              </a:lnSpc>
              <a:spcBef>
                <a:spcPts val="1001"/>
              </a:spcBef>
              <a:buNone/>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u="sng">
                <a:solidFill>
                  <a:schemeClr val="dk1"/>
                </a:solidFill>
                <a:uFillTx/>
                <a:latin typeface="Calibri"/>
                <a:hlinkClick r:id="rId1"/>
              </a:rPr>
              <a:t>http://www.youtube.com/watch?v=aSHqz5tEUl0</a:t>
            </a:r>
            <a:endParaRPr b="0" lang="en-US" sz="2000" spc="-1" strike="noStrike">
              <a:solidFill>
                <a:schemeClr val="dk1"/>
              </a:solidFill>
              <a:latin typeface="Calibri"/>
            </a:endParaRPr>
          </a:p>
          <a:p>
            <a:pPr marL="228600" indent="-228600" defTabSz="914400">
              <a:lnSpc>
                <a:spcPct val="90000"/>
              </a:lnSpc>
              <a:spcBef>
                <a:spcPts val="1001"/>
              </a:spcBef>
              <a:buNone/>
              <a:tabLst>
                <a:tab algn="l" pos="0"/>
              </a:tabLst>
            </a:pPr>
            <a:r>
              <a:rPr b="0" lang="en-US" sz="2000" spc="-1" strike="noStrike">
                <a:solidFill>
                  <a:schemeClr val="dk1"/>
                </a:solidFill>
                <a:latin typeface="Calibri"/>
              </a:rPr>
              <a:t> </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p:txBody>
      </p:sp>
      <p:sp>
        <p:nvSpPr>
          <p:cNvPr id="218" name="TextBox 4"/>
          <p:cNvSpPr/>
          <p:nvPr/>
        </p:nvSpPr>
        <p:spPr>
          <a:xfrm>
            <a:off x="1273680" y="1732320"/>
            <a:ext cx="954648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1800" spc="-1" strike="noStrike">
                <a:solidFill>
                  <a:schemeClr val="dk1"/>
                </a:solidFill>
                <a:latin typeface="Aptos"/>
                <a:ea typeface="Aptos"/>
              </a:rPr>
              <a:t>THE IDEA that central banks should enjoy some independence is as old as central banking. “I want [it] to be sufficiently in the hands of the government, but not too much,” mused Napoleon Bonaparte in 1806 of the recently created Bank of France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19"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0"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1"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2"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3"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4"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Type of Central Bank Independence</a:t>
            </a:r>
            <a:endParaRPr b="0" lang="en-US" sz="4000" spc="-1" strike="noStrike">
              <a:solidFill>
                <a:schemeClr val="dk1"/>
              </a:solidFill>
              <a:latin typeface="Calibri"/>
            </a:endParaRPr>
          </a:p>
        </p:txBody>
      </p:sp>
      <p:sp>
        <p:nvSpPr>
          <p:cNvPr id="225"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Instrument Independence: the ability of the central bank to choose and implement the monetary policy tools or instruments necessary to achieve its goals (“how to”).  These instruments may include setting interest rates, conducting open market operations, and employing other tools to control the money supply.</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Goal Independence: the ability of the central bank to determine its primary policy objectives or goals (“what to”). These objectives often include maintaining price stability, controlling inflation, and promoting overall economic stability.</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26"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7"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8"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29"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0"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1"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US" sz="4000" spc="-1" strike="noStrike">
                <a:solidFill>
                  <a:srgbClr val="ffffff"/>
                </a:solidFill>
                <a:latin typeface="Georgia"/>
              </a:rPr>
              <a:t>Measures of Central Bank Independence</a:t>
            </a:r>
            <a:endParaRPr b="0" lang="en-US" sz="4000" spc="-1" strike="noStrike">
              <a:solidFill>
                <a:schemeClr val="dk1"/>
              </a:solidFill>
              <a:latin typeface="Calibri"/>
            </a:endParaRPr>
          </a:p>
        </p:txBody>
      </p:sp>
      <p:sp>
        <p:nvSpPr>
          <p:cNvPr id="232"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Goal or instrument independence</a:t>
            </a:r>
            <a:endParaRPr b="0" lang="en-US" sz="20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Georgia"/>
              </a:rPr>
              <a:t>The degree of government involvement in appointing the Bank’s senior officers</a:t>
            </a:r>
            <a:endParaRPr b="0" lang="en-US" sz="20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Georgia"/>
              </a:rPr>
              <a:t>The extent of government representation on the Bank’s board</a:t>
            </a:r>
            <a:endParaRPr b="0" lang="en-US" sz="20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Georgia"/>
              </a:rPr>
              <a:t>The length of term of senior officers compared with government</a:t>
            </a:r>
            <a:endParaRPr b="0" lang="en-US" sz="2000" spc="-1" strike="noStrike">
              <a:solidFill>
                <a:schemeClr val="dk1"/>
              </a:solidFill>
              <a:latin typeface="Calibri"/>
            </a:endParaRPr>
          </a:p>
          <a:p>
            <a:pPr marL="228600" indent="-228600" defTabSz="914400">
              <a:lnSpc>
                <a:spcPct val="90000"/>
              </a:lnSpc>
              <a:spcBef>
                <a:spcPts val="1001"/>
              </a:spcBef>
              <a:buNone/>
              <a:tabLst>
                <a:tab algn="l" pos="0"/>
              </a:tabLst>
            </a:pP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Georgia"/>
              </a:rPr>
              <a:t>The terms of the Bank’s charter</a:t>
            </a:r>
            <a:endParaRPr b="0" lang="en-US" sz="2000" spc="-1" strike="noStrike">
              <a:solidFill>
                <a:schemeClr val="dk1"/>
              </a:solidFill>
              <a:latin typeface="Calibri"/>
            </a:endParaRPr>
          </a:p>
          <a:p>
            <a:pPr indent="0" defTabSz="914400">
              <a:lnSpc>
                <a:spcPct val="90000"/>
              </a:lnSpc>
              <a:spcBef>
                <a:spcPts val="1001"/>
              </a:spcBef>
              <a:buNone/>
              <a:tabLst>
                <a:tab algn="l" pos="0"/>
              </a:tabLst>
            </a:pP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33" name="Rectangle 25">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4" name="PlaceHolder 1"/>
          <p:cNvSpPr>
            <a:spLocks noGrp="1"/>
          </p:cNvSpPr>
          <p:nvPr>
            <p:ph type="title"/>
          </p:nvPr>
        </p:nvSpPr>
        <p:spPr>
          <a:xfrm>
            <a:off x="640080" y="320040"/>
            <a:ext cx="6692400" cy="3892320"/>
          </a:xfrm>
          <a:prstGeom prst="rect">
            <a:avLst/>
          </a:prstGeom>
          <a:noFill/>
          <a:ln w="0">
            <a:noFill/>
          </a:ln>
        </p:spPr>
        <p:txBody>
          <a:bodyPr lIns="91440" rIns="91440" tIns="45720" bIns="45720" anchor="b">
            <a:normAutofit/>
          </a:bodyPr>
          <a:p>
            <a:pPr indent="0" defTabSz="914400">
              <a:lnSpc>
                <a:spcPct val="90000"/>
              </a:lnSpc>
              <a:buNone/>
            </a:pPr>
            <a:r>
              <a:rPr b="0" lang="en-US" sz="6600" spc="-1" strike="noStrike">
                <a:solidFill>
                  <a:schemeClr val="dk1"/>
                </a:solidFill>
                <a:latin typeface="Calibri Light"/>
              </a:rPr>
              <a:t>Central Bank Independence Index</a:t>
            </a:r>
            <a:endParaRPr b="0" lang="en-US" sz="6600" spc="-1" strike="noStrike">
              <a:solidFill>
                <a:schemeClr val="dk1"/>
              </a:solidFill>
              <a:latin typeface="Calibri"/>
            </a:endParaRPr>
          </a:p>
        </p:txBody>
      </p:sp>
      <p:sp>
        <p:nvSpPr>
          <p:cNvPr id="235" name="sketch line">
            <a:extLst>
              <a:ext uri="{C183D7F6-B498-43B3-948B-1728B52AA6E4}">
                <adec:decorative xmlns:adec="http://schemas.microsoft.com/office/drawing/2017/decorative" val="1"/>
              </a:ext>
            </a:extLst>
          </p:cNvPr>
          <p:cNvSpPr/>
          <p:nvPr/>
        </p:nvSpPr>
        <p:spPr>
          <a:xfrm>
            <a:off x="714600" y="4409280"/>
            <a:ext cx="4243320" cy="18000"/>
          </a:xfrm>
          <a:custGeom>
            <a:avLst/>
            <a:gdLst>
              <a:gd name="textAreaLeft" fmla="*/ 0 w 4243320"/>
              <a:gd name="textAreaRight" fmla="*/ 4243680 w 4243320"/>
              <a:gd name="textAreaTop" fmla="*/ 0 h 18000"/>
              <a:gd name="textAreaBottom" fmla="*/ 18360 h 18000"/>
            </a:gdLst>
            <a:ahLst/>
            <a:rect l="textAreaLeft" t="textAreaTop" r="textAreaRight" b="textAreaBottom"/>
            <a:pathLst>
              <a:path fill="none" w="4243589" h="18288">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stroke="0" w="4243589" h="18288">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cap="rnd" w="38100">
            <a:solidFill>
              <a:srgbClr val="ed7d31"/>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gn="ctr" defTabSz="914400">
              <a:lnSpc>
                <a:spcPct val="100000"/>
              </a:lnSpc>
            </a:pPr>
            <a:endParaRPr b="0" lang="en-US" sz="1800" spc="-1" strike="noStrike">
              <a:solidFill>
                <a:schemeClr val="lt1"/>
              </a:solidFill>
              <a:latin typeface="Calibri"/>
            </a:endParaRPr>
          </a:p>
        </p:txBody>
      </p:sp>
      <p:pic>
        <p:nvPicPr>
          <p:cNvPr id="236" name="Picture 2" descr=""/>
          <p:cNvPicPr/>
          <p:nvPr/>
        </p:nvPicPr>
        <p:blipFill>
          <a:blip r:embed="rId1"/>
          <a:stretch/>
        </p:blipFill>
        <p:spPr>
          <a:xfrm>
            <a:off x="6313680" y="320040"/>
            <a:ext cx="5016240" cy="59810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37"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8"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39"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0"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1"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2"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Central Banks Independence</a:t>
            </a:r>
            <a:endParaRPr b="0" lang="en-US" sz="4000" spc="-1" strike="noStrike">
              <a:solidFill>
                <a:schemeClr val="dk1"/>
              </a:solidFill>
              <a:latin typeface="Calibri"/>
            </a:endParaRPr>
          </a:p>
        </p:txBody>
      </p:sp>
      <p:sp>
        <p:nvSpPr>
          <p:cNvPr id="243" name="PlaceHolder 2"/>
          <p:cNvSpPr>
            <a:spLocks noGrp="1"/>
          </p:cNvSpPr>
          <p:nvPr>
            <p:ph/>
          </p:nvPr>
        </p:nvSpPr>
        <p:spPr>
          <a:xfrm>
            <a:off x="718560" y="1622880"/>
            <a:ext cx="10376640" cy="4378320"/>
          </a:xfrm>
          <a:prstGeom prst="rect">
            <a:avLst/>
          </a:prstGeom>
          <a:noFill/>
          <a:ln w="0">
            <a:noFill/>
          </a:ln>
        </p:spPr>
        <p:txBody>
          <a:bodyPr lIns="91440" rIns="91440" tIns="45720" bIns="45720" anchor="ctr">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The theoretical explanation for the correlation between low inflation and central bank independence is that democratically elected governments have an electoral incentive to raise inflation prior to an election in order to win favour with the electorate.</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Governments will instruct their central banks to reduce interest rates so as to inflate the money supply and fuel an economic boom.  (</a:t>
            </a:r>
            <a:r>
              <a:rPr b="0" lang="en-GB" sz="2000" spc="-1" strike="noStrike">
                <a:solidFill>
                  <a:schemeClr val="dk1"/>
                </a:solidFill>
                <a:latin typeface="Georgia"/>
              </a:rPr>
              <a:t>in the short-run, high money growth does lead to lower interest rates but in the long-run can lead to higher inflation).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The result may be that the government succeeds in winning the election, but at the cost of increased inflation.</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Because it does not have to appeal to the electorate, an independent central bank has no incentive to raise inflation.</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An independent central bank can take countervailing action when it suspects that the government is acting in ways that jeopardize price stability.</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Georgia"/>
              </a:rPr>
              <a:t>It will have an incentive to keep inflation low either because it is charged to do so by its charter, or because it must meet an inflation target set by the government.</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44"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5"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6"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7"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8"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49"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Central Banks Independence</a:t>
            </a:r>
            <a:endParaRPr b="0" lang="en-US" sz="4000" spc="-1" strike="noStrike">
              <a:solidFill>
                <a:schemeClr val="dk1"/>
              </a:solidFill>
              <a:latin typeface="Calibri"/>
            </a:endParaRPr>
          </a:p>
        </p:txBody>
      </p:sp>
      <p:sp>
        <p:nvSpPr>
          <p:cNvPr id="250" name="PlaceHolder 2"/>
          <p:cNvSpPr>
            <a:spLocks noGrp="1"/>
          </p:cNvSpPr>
          <p:nvPr>
            <p:ph/>
          </p:nvPr>
        </p:nvSpPr>
        <p:spPr>
          <a:xfrm>
            <a:off x="459360" y="1622880"/>
            <a:ext cx="10635840" cy="437832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US" sz="1700" spc="-1" strike="noStrike">
                <a:solidFill>
                  <a:schemeClr val="dk1"/>
                </a:solidFill>
                <a:latin typeface="Georgia"/>
              </a:rPr>
              <a:t>Critics of central bank independence argue that the link between low inflation and central bank independence may be less clear than the empirical evidence suggests.</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1700" spc="-1" strike="noStrike">
                <a:solidFill>
                  <a:schemeClr val="dk1"/>
                </a:solidFill>
                <a:latin typeface="Georgia"/>
              </a:rPr>
              <a:t>Critics point to the postwar inflation of Germany.</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1700" spc="-1" strike="noStrike">
                <a:solidFill>
                  <a:schemeClr val="dk1"/>
                </a:solidFill>
                <a:latin typeface="Georgia"/>
              </a:rPr>
              <a:t>It is true that Germany had an independent central bank and enjoyed decades of very low inflation.</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US" sz="1700" spc="-1" strike="noStrike">
                <a:solidFill>
                  <a:schemeClr val="dk1"/>
                </a:solidFill>
                <a:latin typeface="Georgia"/>
              </a:rPr>
              <a:t>There was, however, a social/cultural bias towards low inflation in Germany where, in the 1920s and again in the late 1940s, inflation wiped out the savings of millions of German savers and reduced transactions to barter.</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Since then, German consumers, employers and trade unions have been strongly opposed to economic policies that might trigger a rise in inflation. </a:t>
            </a:r>
            <a:endParaRPr b="0" lang="en-US" sz="17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1700" spc="-1" strike="noStrike">
                <a:solidFill>
                  <a:schemeClr val="dk1"/>
                </a:solidFill>
                <a:latin typeface="Georgia"/>
              </a:rPr>
              <a:t>Critics of central bank independence say that ‘the then German central bank (the Bundesbank) would have found it easy to keep inflation low whether or not it had been independent’.</a:t>
            </a:r>
            <a:endParaRPr b="0" lang="en-US" sz="1700" spc="-1" strike="noStrike">
              <a:solidFill>
                <a:schemeClr val="dk1"/>
              </a:solidFill>
              <a:latin typeface="Calibri"/>
            </a:endParaRPr>
          </a:p>
          <a:p>
            <a:pPr indent="0" defTabSz="914400">
              <a:lnSpc>
                <a:spcPct val="90000"/>
              </a:lnSpc>
              <a:spcBef>
                <a:spcPts val="1001"/>
              </a:spcBef>
              <a:buNone/>
            </a:pPr>
            <a:endParaRPr b="0" lang="en-US" sz="17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51"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2"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3"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4"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5"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6"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Case For Independence</a:t>
            </a:r>
            <a:endParaRPr b="0" lang="en-US" sz="4000" spc="-1" strike="noStrike">
              <a:solidFill>
                <a:schemeClr val="dk1"/>
              </a:solidFill>
              <a:latin typeface="Calibri"/>
            </a:endParaRPr>
          </a:p>
        </p:txBody>
      </p:sp>
      <p:sp>
        <p:nvSpPr>
          <p:cNvPr id="257"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The notion of the political business cycle stems from the previous argument.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Expansionary monetary policy leads to lower unemployment and lower interest rates—a good idea just before elections.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Post-election, this policy leads to higher inflation, and therefore, higher interest rates—effects that hopefully disappear (or are forgotten) by the next election.</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58"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59"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0"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1"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2"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3"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Case For Independence</a:t>
            </a:r>
            <a:endParaRPr b="0" lang="en-US" sz="4000" spc="-1" strike="noStrike">
              <a:solidFill>
                <a:schemeClr val="dk1"/>
              </a:solidFill>
              <a:latin typeface="Calibri"/>
            </a:endParaRPr>
          </a:p>
        </p:txBody>
      </p:sp>
      <p:sp>
        <p:nvSpPr>
          <p:cNvPr id="264"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Other arguments include: </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GB" sz="2000" spc="-1" strike="noStrike">
                <a:solidFill>
                  <a:schemeClr val="dk1"/>
                </a:solidFill>
                <a:latin typeface="Georgia"/>
              </a:rPr>
              <a:t>─ </a:t>
            </a:r>
            <a:r>
              <a:rPr b="0" lang="en-GB" sz="2000" spc="-1" strike="noStrike">
                <a:solidFill>
                  <a:schemeClr val="dk1"/>
                </a:solidFill>
                <a:latin typeface="Georgia"/>
              </a:rPr>
              <a:t>The Treasury may seek to finance the government through bonds purchased by the central bank. This may lead to an inflationary bias. </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GB" sz="2000" spc="-1" strike="noStrike">
                <a:solidFill>
                  <a:schemeClr val="dk1"/>
                </a:solidFill>
                <a:latin typeface="Georgia"/>
              </a:rPr>
              <a:t>─ </a:t>
            </a:r>
            <a:r>
              <a:rPr b="0" lang="en-GB" sz="2000" spc="-1" strike="noStrike">
                <a:solidFill>
                  <a:schemeClr val="dk1"/>
                </a:solidFill>
                <a:latin typeface="Georgia"/>
              </a:rPr>
              <a:t>Politicians have repeatedly shown an inability to make hard choices for the good of the economy that may adversely affect their own well-being. </a:t>
            </a:r>
            <a:endParaRPr b="0" lang="en-US" sz="2000" spc="-1" strike="noStrike">
              <a:solidFill>
                <a:schemeClr val="dk1"/>
              </a:solidFill>
              <a:latin typeface="Calibri"/>
            </a:endParaRPr>
          </a:p>
          <a:p>
            <a:pPr indent="0" defTabSz="914400">
              <a:lnSpc>
                <a:spcPct val="90000"/>
              </a:lnSpc>
              <a:spcBef>
                <a:spcPts val="1001"/>
              </a:spcBef>
              <a:buNone/>
              <a:tabLst>
                <a:tab algn="l" pos="0"/>
              </a:tabLst>
            </a:pPr>
            <a:r>
              <a:rPr b="0" lang="en-GB" sz="2000" spc="-1" strike="noStrike">
                <a:solidFill>
                  <a:schemeClr val="dk1"/>
                </a:solidFill>
                <a:latin typeface="Georgia"/>
              </a:rPr>
              <a:t>─ </a:t>
            </a:r>
            <a:r>
              <a:rPr b="0" lang="en-GB" sz="2000" spc="-1" strike="noStrike">
                <a:solidFill>
                  <a:schemeClr val="dk1"/>
                </a:solidFill>
                <a:latin typeface="Georgia"/>
              </a:rPr>
              <a:t>Its independence allows the CBs to pursue policies that are politically unpopular, yet in the best interest of the public.</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65"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6"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7"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8"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69"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0"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Case Against Independence</a:t>
            </a:r>
            <a:endParaRPr b="0" lang="en-US" sz="4000" spc="-1" strike="noStrike">
              <a:solidFill>
                <a:schemeClr val="dk1"/>
              </a:solidFill>
              <a:latin typeface="Calibri"/>
            </a:endParaRPr>
          </a:p>
        </p:txBody>
      </p:sp>
      <p:sp>
        <p:nvSpPr>
          <p:cNvPr id="271" name="PlaceHolder 2"/>
          <p:cNvSpPr>
            <a:spLocks noGrp="1"/>
          </p:cNvSpPr>
          <p:nvPr>
            <p:ph/>
          </p:nvPr>
        </p:nvSpPr>
        <p:spPr>
          <a:xfrm>
            <a:off x="429480" y="1885320"/>
            <a:ext cx="10945440" cy="418392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Fed independence can be viewed by some as “undemocratic”—an elite group controlling an important aspect of the economy but accountable in few ways.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The parliament is accountable for the state of the economy, yet they have little control over one of the most important tools to direct the economy.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CBs have made mistakes in the past during the Great Depression and inflationary periods.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CB can succumb to political pressure regardless of any state of independence. This pressure may be worse with few checks and balances in place.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Empirical work suggests that countries with the most independent central banks do the best job of controlling inflation.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Evidence also shows that this is achieved without negative impacts on the real economy. </a:t>
            </a:r>
            <a:endParaRPr b="0" lang="en-US" sz="2000" spc="-1" strike="noStrike">
              <a:solidFill>
                <a:schemeClr val="dk1"/>
              </a:solidFill>
              <a:latin typeface="Calibri"/>
            </a:endParaRPr>
          </a:p>
          <a:p>
            <a:pPr indent="0" defTabSz="914400">
              <a:lnSpc>
                <a:spcPct val="90000"/>
              </a:lnSpc>
              <a:spcBef>
                <a:spcPts val="1001"/>
              </a:spcBef>
              <a:buNone/>
            </a:pP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72"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3" name="Rectangle 9">
            <a:extLst>
              <a:ext uri="{C183D7F6-B498-43B3-948B-1728B52AA6E4}">
                <adec:decorative xmlns:adec="http://schemas.microsoft.com/office/drawing/2017/decorative" val="1"/>
              </a:ext>
            </a:extLst>
          </p:cNvPr>
          <p:cNvSpPr/>
          <p:nvPr/>
        </p:nvSpPr>
        <p:spPr>
          <a:xfrm flipH="1">
            <a:off x="0" y="0"/>
            <a:ext cx="12191760" cy="1590480"/>
          </a:xfrm>
          <a:prstGeom prst="rect">
            <a:avLst/>
          </a:prstGeom>
          <a:gradFill rotWithShape="0">
            <a:gsLst>
              <a:gs pos="0">
                <a:srgbClr val="000000"/>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4" name="Rectangle 11">
            <a:extLst>
              <a:ext uri="{C183D7F6-B498-43B3-948B-1728B52AA6E4}">
                <adec:decorative xmlns:adec="http://schemas.microsoft.com/office/drawing/2017/decorative" val="1"/>
              </a:ext>
            </a:extLst>
          </p:cNvPr>
          <p:cNvSpPr/>
          <p:nvPr/>
        </p:nvSpPr>
        <p:spPr>
          <a:xfrm flipH="1" rot="10800000">
            <a:off x="360" y="360"/>
            <a:ext cx="8115120" cy="1590480"/>
          </a:xfrm>
          <a:prstGeom prst="rect">
            <a:avLst/>
          </a:prstGeom>
          <a:gradFill rotWithShape="0">
            <a:gsLst>
              <a:gs pos="20000">
                <a:srgbClr val="5b9bd5">
                  <a:alpha val="0"/>
                </a:srgbClr>
              </a:gs>
              <a:gs pos="100000">
                <a:srgbClr val="1f4e79">
                  <a:alpha val="55000"/>
                </a:srgbClr>
              </a:gs>
            </a:gsLst>
            <a:lin ang="7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5" name="Rectangle 13">
            <a:extLst>
              <a:ext uri="{C183D7F6-B498-43B3-948B-1728B52AA6E4}">
                <adec:decorative xmlns:adec="http://schemas.microsoft.com/office/drawing/2017/decorative" val="1"/>
              </a:ext>
            </a:extLst>
          </p:cNvPr>
          <p:cNvSpPr/>
          <p:nvPr/>
        </p:nvSpPr>
        <p:spPr>
          <a:xfrm flipH="1">
            <a:off x="8114400" y="0"/>
            <a:ext cx="4076280" cy="1590480"/>
          </a:xfrm>
          <a:prstGeom prst="rect">
            <a:avLst/>
          </a:prstGeom>
          <a:gradFill rotWithShape="0">
            <a:gsLst>
              <a:gs pos="0">
                <a:srgbClr val="5b9bd5">
                  <a:alpha val="66000"/>
                </a:srgbClr>
              </a:gs>
              <a:gs pos="100000">
                <a:srgbClr val="000000">
                  <a:alpha val="30000"/>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6" name="Rectangle 15">
            <a:extLst>
              <a:ext uri="{C183D7F6-B498-43B3-948B-1728B52AA6E4}">
                <adec:decorative xmlns:adec="http://schemas.microsoft.com/office/drawing/2017/decorative" val="1"/>
              </a:ext>
            </a:extLst>
          </p:cNvPr>
          <p:cNvSpPr/>
          <p:nvPr/>
        </p:nvSpPr>
        <p:spPr>
          <a:xfrm>
            <a:off x="459360" y="0"/>
            <a:ext cx="11732400" cy="1596960"/>
          </a:xfrm>
          <a:prstGeom prst="rect">
            <a:avLst/>
          </a:prstGeom>
          <a:gradFill rotWithShape="0">
            <a:gsLst>
              <a:gs pos="50000">
                <a:srgbClr val="000000">
                  <a:alpha val="0"/>
                </a:srgbClr>
              </a:gs>
              <a:gs pos="99000">
                <a:srgbClr val="1f4e79">
                  <a:alpha val="52000"/>
                </a:srgbClr>
              </a:gs>
            </a:gsLst>
            <a:lin ang="16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7" name="PlaceHolder 1"/>
          <p:cNvSpPr>
            <a:spLocks noGrp="1"/>
          </p:cNvSpPr>
          <p:nvPr>
            <p:ph type="title"/>
          </p:nvPr>
        </p:nvSpPr>
        <p:spPr>
          <a:xfrm>
            <a:off x="1371600" y="294480"/>
            <a:ext cx="9895680" cy="1033200"/>
          </a:xfrm>
          <a:prstGeom prst="rect">
            <a:avLst/>
          </a:prstGeom>
          <a:noFill/>
          <a:ln w="0">
            <a:noFill/>
          </a:ln>
        </p:spPr>
        <p:txBody>
          <a:bodyPr lIns="91440" rIns="91440" tIns="45720" bIns="45720" anchor="ctr">
            <a:normAutofit/>
          </a:bodyPr>
          <a:p>
            <a:pPr indent="0" defTabSz="914400">
              <a:lnSpc>
                <a:spcPct val="90000"/>
              </a:lnSpc>
              <a:buNone/>
            </a:pPr>
            <a:r>
              <a:rPr b="0" lang="en-GB" sz="3400" spc="-1" strike="noStrike">
                <a:solidFill>
                  <a:srgbClr val="ffffff"/>
                </a:solidFill>
                <a:latin typeface="Georgia"/>
              </a:rPr>
              <a:t>New Challenges for Central Bank Independence</a:t>
            </a:r>
            <a:endParaRPr b="0" lang="en-US" sz="3400" spc="-1" strike="noStrike">
              <a:solidFill>
                <a:schemeClr val="dk1"/>
              </a:solidFill>
              <a:latin typeface="Calibri"/>
            </a:endParaRPr>
          </a:p>
        </p:txBody>
      </p:sp>
      <p:sp>
        <p:nvSpPr>
          <p:cNvPr id="278" name="PlaceHolder 2"/>
          <p:cNvSpPr>
            <a:spLocks noGrp="1"/>
          </p:cNvSpPr>
          <p:nvPr>
            <p:ph/>
          </p:nvPr>
        </p:nvSpPr>
        <p:spPr>
          <a:xfrm>
            <a:off x="1371600" y="2318040"/>
            <a:ext cx="9723600" cy="368316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Over much of the past decades, as inflation was low, central bank independence has hardly been at the centre of public policy debates.</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With inflation rates running up to 10% in the euro area, the core mandate of central banks – price stability – is a key policy issue today.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According to a Eurobarometer poll conducted in the fall of 2022, 42% of respondents in Europe mention rising prices and (high) costs of living as the most important issues facing the EU, followed by energy supply (29%) and the international situation (20%).</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Changes in the macroeconomic situation has implications for the perception of central banks. </a:t>
            </a:r>
            <a:endParaRPr b="0" lang="en-US" sz="20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pPr>
            <a:r>
              <a:rPr b="0" lang="en-GB" sz="2000" spc="-1" strike="noStrike">
                <a:solidFill>
                  <a:schemeClr val="dk1"/>
                </a:solidFill>
                <a:latin typeface="Georgia"/>
              </a:rPr>
              <a:t> </a:t>
            </a:r>
            <a:r>
              <a:rPr b="0" lang="en-GB" sz="2000" spc="-1" strike="noStrike">
                <a:solidFill>
                  <a:schemeClr val="dk1"/>
                </a:solidFill>
                <a:latin typeface="Georgia"/>
              </a:rPr>
              <a:t>High levels of debt can lead to conflicts between price and financial stability.</a:t>
            </a:r>
            <a:endParaRPr b="0" lang="en-US" sz="2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279" name="Rectangle 8">
            <a:extLst>
              <a:ext uri="{C183D7F6-B498-43B3-948B-1728B52AA6E4}">
                <adec:decorative xmlns:adec="http://schemas.microsoft.com/office/drawing/2017/decorative" val="1"/>
              </a:ext>
            </a:extLst>
          </p:cNvPr>
          <p:cNvSpPr/>
          <p:nvPr/>
        </p:nvSpPr>
        <p:spPr>
          <a:xfrm>
            <a:off x="0" y="0"/>
            <a:ext cx="12191760" cy="685764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0" name="Rectangle 10">
            <a:extLst>
              <a:ext uri="{C183D7F6-B498-43B3-948B-1728B52AA6E4}">
                <adec:decorative xmlns:adec="http://schemas.microsoft.com/office/drawing/2017/decorative" val="1"/>
              </a:ext>
            </a:extLst>
          </p:cNvPr>
          <p:cNvSpPr/>
          <p:nvPr/>
        </p:nvSpPr>
        <p:spPr>
          <a:xfrm flipH="1">
            <a:off x="0" y="0"/>
            <a:ext cx="12191760" cy="1575720"/>
          </a:xfrm>
          <a:prstGeom prst="rect">
            <a:avLst/>
          </a:prstGeom>
          <a:gradFill rotWithShape="0">
            <a:gsLst>
              <a:gs pos="0">
                <a:srgbClr val="000000">
                  <a:alpha val="96000"/>
                </a:srgbClr>
              </a:gs>
              <a:gs pos="100000">
                <a:srgbClr val="2e75b6"/>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1" name="Rectangle 12">
            <a:extLst>
              <a:ext uri="{C183D7F6-B498-43B3-948B-1728B52AA6E4}">
                <adec:decorative xmlns:adec="http://schemas.microsoft.com/office/drawing/2017/decorative" val="1"/>
              </a:ext>
            </a:extLst>
          </p:cNvPr>
          <p:cNvSpPr/>
          <p:nvPr/>
        </p:nvSpPr>
        <p:spPr>
          <a:xfrm flipH="1" rot="10800000">
            <a:off x="8129160" y="360"/>
            <a:ext cx="4062960" cy="1576080"/>
          </a:xfrm>
          <a:prstGeom prst="rect">
            <a:avLst/>
          </a:prstGeom>
          <a:gradFill rotWithShape="0">
            <a:gsLst>
              <a:gs pos="19000">
                <a:srgbClr val="1f4e79">
                  <a:alpha val="68000"/>
                </a:srgbClr>
              </a:gs>
              <a:gs pos="100000">
                <a:srgbClr val="5b9bd5">
                  <a:alpha val="79000"/>
                </a:srgbClr>
              </a:gs>
            </a:gsLst>
            <a:lin ang="2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2" name="Rectangle 14">
            <a:extLst>
              <a:ext uri="{C183D7F6-B498-43B3-948B-1728B52AA6E4}">
                <adec:decorative xmlns:adec="http://schemas.microsoft.com/office/drawing/2017/decorative" val="1"/>
              </a:ext>
            </a:extLst>
          </p:cNvPr>
          <p:cNvSpPr/>
          <p:nvPr/>
        </p:nvSpPr>
        <p:spPr>
          <a:xfrm rot="5400000">
            <a:off x="5308200" y="-5307840"/>
            <a:ext cx="1576080" cy="12191760"/>
          </a:xfrm>
          <a:prstGeom prst="rect">
            <a:avLst/>
          </a:prstGeom>
          <a:gradFill rotWithShape="0">
            <a:gsLst>
              <a:gs pos="23000">
                <a:srgbClr val="5b9bd5">
                  <a:alpha val="0"/>
                </a:srgbClr>
              </a:gs>
              <a:gs pos="99000">
                <a:srgbClr val="000000">
                  <a:alpha val="74000"/>
                </a:srgbClr>
              </a:gs>
            </a:gsLst>
            <a:lin ang="4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3" name="PlaceHolder 1"/>
          <p:cNvSpPr>
            <a:spLocks noGrp="1"/>
          </p:cNvSpPr>
          <p:nvPr>
            <p:ph type="title"/>
          </p:nvPr>
        </p:nvSpPr>
        <p:spPr>
          <a:xfrm>
            <a:off x="1371600" y="348840"/>
            <a:ext cx="10043640" cy="877320"/>
          </a:xfrm>
          <a:prstGeom prst="rect">
            <a:avLst/>
          </a:prstGeom>
          <a:noFill/>
          <a:ln w="0">
            <a:noFill/>
          </a:ln>
        </p:spPr>
        <p:txBody>
          <a:bodyPr lIns="91440" rIns="91440" tIns="45720" bIns="45720" anchor="ctr">
            <a:normAutofit/>
          </a:bodyPr>
          <a:p>
            <a:pPr indent="0" defTabSz="914400">
              <a:lnSpc>
                <a:spcPct val="90000"/>
              </a:lnSpc>
              <a:buNone/>
            </a:pPr>
            <a:r>
              <a:rPr b="0" lang="en-GB" sz="4000" spc="-1" strike="noStrike">
                <a:solidFill>
                  <a:srgbClr val="ffffff"/>
                </a:solidFill>
                <a:latin typeface="Georgia"/>
              </a:rPr>
              <a:t>Summary</a:t>
            </a:r>
            <a:endParaRPr b="0" lang="en-US" sz="4000" spc="-1" strike="noStrike">
              <a:solidFill>
                <a:schemeClr val="dk1"/>
              </a:solidFill>
              <a:latin typeface="Calibri"/>
            </a:endParaRPr>
          </a:p>
        </p:txBody>
      </p:sp>
      <p:graphicFrame>
        <p:nvGraphicFramePr>
          <p:cNvPr id="2" name="Diagram2"/>
          <p:cNvGraphicFramePr/>
          <p:nvPr>
            <p:extLst>
              <p:ext uri="{D42A27DB-BD31-4B8C-83A1-F6EECF244321}">
                <p14:modId xmlns:p14="http://schemas.microsoft.com/office/powerpoint/2010/main" val="1420561487"/>
              </p:ext>
            </p:extLst>
          </p:nvPr>
        </p:nvGraphicFramePr>
        <p:xfrm>
          <a:off x="644040" y="2112480"/>
          <a:ext cx="10927440" cy="41925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Metadata/LabelInfo.xml><?xml version="1.0" encoding="utf-8"?>
<clbl:labelList xmlns:clbl="http://schemas.microsoft.com/office/2020/mipLabelMetadata">
  <clbl:label id="{fc0de803-e079-4d4f-96bc-6f3b3b6923e3}" enabled="1" method="Privileged" siteId="{07ef1208-413c-4b5e-9cdd-64ef305754f0}" contentBits="0" removed="0"/>
</clbl:labelList>
</file>

<file path=docProps/app.xml><?xml version="1.0" encoding="utf-8"?>
<Properties xmlns="http://schemas.openxmlformats.org/officeDocument/2006/extended-properties" xmlns:vt="http://schemas.openxmlformats.org/officeDocument/2006/docPropsVTypes">
  <Template/>
  <TotalTime>4526</TotalTime>
  <Application>LibreOffice/24.2.7.2$Linux_X86_64 LibreOffice_project/420$Build-2</Application>
  <AppVersion>15.0000</AppVersion>
  <Words>3432</Words>
  <Paragraphs>234</Paragraphs>
  <Company>University of the West of England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2017-08-29T11:20:40Z</dcterms:created>
  <dc:creator>Dalia</dc:creator>
  <dc:description/>
  <dc:language>en-US</dc:language>
  <cp:lastModifiedBy>John Andre</cp:lastModifiedBy>
  <dcterms:modified xsi:type="dcterms:W3CDTF">2026-02-18T12:03:42Z</dcterms:modified>
  <cp:revision>281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Widescreen</vt:lpwstr>
  </property>
  <property fmtid="{D5CDD505-2E9C-101B-9397-08002B2CF9AE}" pid="4" name="Slides">
    <vt:i4>36</vt:i4>
  </property>
</Properties>
</file>