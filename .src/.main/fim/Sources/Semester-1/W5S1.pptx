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tif" ContentType="image/tiff"/>
  <Override PartName="/ppt/media/image5.tif" ContentType="image/tiff"/>
  <Override PartName="/ppt/media/image6.tif" ContentType="image/tiff"/>
  <Override PartName="/ppt/media/image7.tif" ContentType="image/tiff"/>
  <Override PartName="/ppt/media/image8.tif" ContentType="image/tiff"/>
  <Override PartName="/ppt/media/image9.tif" ContentType="image/tiff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20.xml.rels" ContentType="application/vnd.openxmlformats-package.relationships+xml"/>
  <Override PartName="/ppt/slides/_rels/slide2.xml.rels" ContentType="application/vnd.openxmlformats-package.relationships+xml"/>
  <Override PartName="/ppt/slides/_rels/slide19.xml.rels" ContentType="application/vnd.openxmlformats-package.relationships+xml"/>
  <Override PartName="/ppt/slides/_rels/slide21.xml.rels" ContentType="application/vnd.openxmlformats-package.relationships+xml"/>
  <Override PartName="/ppt/slides/_rels/slide3.xml.rels" ContentType="application/vnd.openxmlformats-package.relationships+xml"/>
  <Override PartName="/ppt/slides/_rels/slide22.xml.rels" ContentType="application/vnd.openxmlformats-package.relationships+xml"/>
  <Override PartName="/ppt/slides/_rels/slide23.xml.rels" ContentType="application/vnd.openxmlformats-package.relationships+xml"/>
  <Override PartName="/ppt/slides/_rels/slide14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5.xml.rels" ContentType="application/vnd.openxmlformats-package.relationships+xml"/>
  <Override PartName="/ppt/slides/_rels/slide9.xml.rels" ContentType="application/vnd.openxmlformats-package.relationships+xml"/>
  <Override PartName="/ppt/slides/_rels/slide25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24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Click to edit the notes format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 type="dt" idx="7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 type="ftr" idx="8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87" name="PlaceHolder 6"/>
          <p:cNvSpPr>
            <a:spLocks noGrp="1"/>
          </p:cNvSpPr>
          <p:nvPr>
            <p:ph type="sldNum" idx="9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D8F8BDE4-083C-46B3-A24D-02FD50E21252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sldImg"/>
          </p:nvPr>
        </p:nvSpPr>
        <p:spPr>
          <a:xfrm>
            <a:off x="1371600" y="1143000"/>
            <a:ext cx="4114440" cy="3085920"/>
          </a:xfrm>
          <a:prstGeom prst="rect">
            <a:avLst/>
          </a:prstGeom>
          <a:ln w="0">
            <a:noFill/>
          </a:ln>
        </p:spPr>
      </p:sp>
      <p:sp>
        <p:nvSpPr>
          <p:cNvPr id="1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GB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1983AE8-FE66-49CD-92A8-6210C5CBC5F2}" type="slidenum">
              <a:rPr b="0" lang="en-GB" sz="1200" spc="-1" strike="noStrike">
                <a:latin typeface="Times New Roman"/>
              </a:rPr>
              <a:t>24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sldImg"/>
          </p:nvPr>
        </p:nvSpPr>
        <p:spPr>
          <a:xfrm>
            <a:off x="1371600" y="1143000"/>
            <a:ext cx="4114440" cy="3085920"/>
          </a:xfrm>
          <a:prstGeom prst="rect">
            <a:avLst/>
          </a:prstGeom>
          <a:ln w="0">
            <a:noFill/>
          </a:ln>
        </p:spPr>
      </p:sp>
      <p:sp>
        <p:nvSpPr>
          <p:cNvPr id="1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57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GB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5558125-E2DC-4C70-814E-AD882361DD83}" type="slidenum">
              <a:rPr b="0" lang="en-GB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sldImg"/>
          </p:nvPr>
        </p:nvSpPr>
        <p:spPr>
          <a:xfrm>
            <a:off x="1371600" y="1143000"/>
            <a:ext cx="4114440" cy="3085920"/>
          </a:xfrm>
          <a:prstGeom prst="rect">
            <a:avLst/>
          </a:prstGeom>
          <a:ln w="0">
            <a:noFill/>
          </a:ln>
        </p:spPr>
      </p:sp>
      <p:sp>
        <p:nvSpPr>
          <p:cNvPr id="1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60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GB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7084C33-03D7-4CCF-98B9-9D67F40E7615}" type="slidenum">
              <a:rPr b="0" lang="en-GB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CF5594C-8CDA-45B7-92AD-BBC4ED28449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28560" y="1825560"/>
            <a:ext cx="788652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E79BFCA-1152-46D1-BE12-64EAEC36406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28560" y="1825560"/>
            <a:ext cx="788652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A13F464-D9BF-45B1-871E-F9B054EEF1C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28560" y="1825560"/>
            <a:ext cx="384840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69920" y="1825560"/>
            <a:ext cx="384840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E2C0CC7-3A02-468D-9373-6100DD96840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5F81275-47CC-4348-9CFA-2BC570037BF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28560" y="365040"/>
            <a:ext cx="7886520" cy="614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8520C56-590D-400D-B164-997B5C327B3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28560" y="1825560"/>
            <a:ext cx="38484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69920" y="1825560"/>
            <a:ext cx="384840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28560" y="4098240"/>
            <a:ext cx="38484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9DA06DC-F434-44AD-99A4-407B8AE7487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28560" y="1825560"/>
            <a:ext cx="384840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69920" y="1825560"/>
            <a:ext cx="38484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69920" y="4098240"/>
            <a:ext cx="38484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CCFF375-1E53-430D-9449-AE53EB8B790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28560" y="1825560"/>
            <a:ext cx="38484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69920" y="1825560"/>
            <a:ext cx="38484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28560" y="4098240"/>
            <a:ext cx="788652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10ADE9C-EFBB-41BC-89BD-C5939305942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28560" y="1825560"/>
            <a:ext cx="788652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28560" y="4098240"/>
            <a:ext cx="788652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286A99A-FCB1-45C4-B3D8-AD03202D71B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28560" y="1825560"/>
            <a:ext cx="38484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69920" y="1825560"/>
            <a:ext cx="38484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28560" y="4098240"/>
            <a:ext cx="38484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69920" y="4098240"/>
            <a:ext cx="38484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9036BDA-394A-404E-B987-4C9D01D0F6B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28560" y="1825560"/>
            <a:ext cx="2539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95080" y="1825560"/>
            <a:ext cx="2539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5961240" y="1825560"/>
            <a:ext cx="2539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28560" y="4098240"/>
            <a:ext cx="2539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95080" y="4098240"/>
            <a:ext cx="2539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5961240" y="4098240"/>
            <a:ext cx="2539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71858F9-42F6-4D8B-ACE9-2F404DCE517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8052F80-6243-43B7-A1DE-3FF45523C07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628560" y="1825560"/>
            <a:ext cx="788652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EA7062E-ACFB-48B5-8997-C11744C5E8E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628560" y="1825560"/>
            <a:ext cx="788652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74B6FD7-C07C-4FB0-81B0-82004CEB22E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628560" y="1825560"/>
            <a:ext cx="384840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4669920" y="1825560"/>
            <a:ext cx="384840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4E698A0-DB38-4ED4-88B0-557B7FF27FD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3CBF061-26DF-4CDF-8E6C-97D0801989B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628560" y="365040"/>
            <a:ext cx="7886520" cy="614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8B03CC1-271E-4B6B-A111-2AFEE310917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628560" y="1825560"/>
            <a:ext cx="38484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4669920" y="1825560"/>
            <a:ext cx="384840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628560" y="4098240"/>
            <a:ext cx="38484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71A005A-0EB0-4691-9F1E-B2A917C6EB7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628560" y="1825560"/>
            <a:ext cx="384840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4669920" y="1825560"/>
            <a:ext cx="38484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4669920" y="4098240"/>
            <a:ext cx="38484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5DB897F-0602-4409-8BC9-0B914BEC02B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628560" y="1825560"/>
            <a:ext cx="38484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4669920" y="1825560"/>
            <a:ext cx="38484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628560" y="4098240"/>
            <a:ext cx="788652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C3B2F13-C65C-42F3-A579-8F43B26B4FE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628560" y="1825560"/>
            <a:ext cx="788652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628560" y="4098240"/>
            <a:ext cx="788652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2FC4084-9E1B-4F75-B97A-F241DB9DAD4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628560" y="1825560"/>
            <a:ext cx="38484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4669920" y="1825560"/>
            <a:ext cx="38484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628560" y="4098240"/>
            <a:ext cx="38484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4669920" y="4098240"/>
            <a:ext cx="38484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7F55697-C7E4-4CD7-B37A-E1403280E8B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628560" y="1825560"/>
            <a:ext cx="2539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3295080" y="1825560"/>
            <a:ext cx="2539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5961240" y="1825560"/>
            <a:ext cx="2539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628560" y="4098240"/>
            <a:ext cx="2539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3295080" y="4098240"/>
            <a:ext cx="2539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5961240" y="4098240"/>
            <a:ext cx="2539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77A65E4-18F2-4CFB-A471-89E56EDA1F7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1122480"/>
            <a:ext cx="7772040" cy="2387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rmAutofit/>
          </a:bodyPr>
          <a:p>
            <a:pPr algn="ctr">
              <a:lnSpc>
                <a:spcPct val="90000"/>
              </a:lnSpc>
              <a:buNone/>
            </a:pPr>
            <a:r>
              <a:rPr b="0" lang="en-GB" sz="4400" spc="-1" strike="noStrike">
                <a:solidFill>
                  <a:srgbClr val="0070c0"/>
                </a:solidFill>
                <a:latin typeface="Calibri Light"/>
              </a:rPr>
              <a:t>Click to edit Master title style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628560" y="6356520"/>
            <a:ext cx="20570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GB" sz="1200" spc="-1" strike="noStrike">
                <a:solidFill>
                  <a:srgbClr val="8ba4d2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GB" sz="1200" spc="-1" strike="noStrike">
                <a:solidFill>
                  <a:srgbClr val="8ba4d2"/>
                </a:solidFill>
                <a:latin typeface="Calibri"/>
              </a:rPr>
              <a:t>&lt;date/time&gt;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029040" y="6356520"/>
            <a:ext cx="30859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458040" y="6356520"/>
            <a:ext cx="20570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GB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2C42800-12E7-49DB-8490-FE253E2D0286}" type="slidenum">
              <a:rPr b="0" lang="en-GB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GB" sz="3200" spc="-1" strike="noStrike">
                <a:solidFill>
                  <a:srgbClr val="0070c0"/>
                </a:solidFill>
                <a:latin typeface="Calibri Light"/>
              </a:rPr>
              <a:t>Click to edit Master title style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628560" y="1825560"/>
            <a:ext cx="788652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800" spc="-1" strike="noStrike">
                <a:solidFill>
                  <a:srgbClr val="000000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400" spc="-1" strike="noStrike">
                <a:solidFill>
                  <a:srgbClr val="000000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1430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000" spc="-1" strike="noStrike">
                <a:solidFill>
                  <a:srgbClr val="000000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6002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800" spc="-1" strike="noStrike">
                <a:solidFill>
                  <a:srgbClr val="000000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4" marL="20574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800" spc="-1" strike="noStrike">
                <a:solidFill>
                  <a:srgbClr val="000000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4"/>
          </p:nvPr>
        </p:nvSpPr>
        <p:spPr>
          <a:xfrm>
            <a:off x="628560" y="6356520"/>
            <a:ext cx="20570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GB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GB" sz="1200" spc="-1" strike="noStrike">
                <a:solidFill>
                  <a:srgbClr val="8b8b8b"/>
                </a:solidFill>
                <a:latin typeface="Calibri"/>
              </a:rPr>
              <a:t>&lt;date/time&gt;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 idx="5"/>
          </p:nvPr>
        </p:nvSpPr>
        <p:spPr>
          <a:xfrm>
            <a:off x="3029040" y="6356520"/>
            <a:ext cx="30859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sldNum" idx="6"/>
          </p:nvPr>
        </p:nvSpPr>
        <p:spPr>
          <a:xfrm>
            <a:off x="6458040" y="6356520"/>
            <a:ext cx="20570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GB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5BC8DF5-D4DA-4683-AC62-736E93301854}" type="slidenum">
              <a:rPr b="0" lang="en-GB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hyperlink" Target="http://documents.worldbank.org/curated/en/2014/06/19705376/deposit-insurance-database" TargetMode="External"/><Relationship Id="rId3" Type="http://schemas.openxmlformats.org/officeDocument/2006/relationships/slideLayout" Target="../slideLayouts/slideLayout1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hyperlink" Target="http://www.fdic.gov/bank/statistical/index.html" TargetMode="External"/><Relationship Id="rId2" Type="http://schemas.openxmlformats.org/officeDocument/2006/relationships/slideLayout" Target="../slideLayouts/slideLayout1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4.tif"/><Relationship Id="rId2" Type="http://schemas.openxmlformats.org/officeDocument/2006/relationships/slideLayout" Target="../slideLayouts/slideLayout13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5.tif"/><Relationship Id="rId2" Type="http://schemas.openxmlformats.org/officeDocument/2006/relationships/hyperlink" Target="https://voxeu.org/article/chinese-banking-system" TargetMode="External"/><Relationship Id="rId3" Type="http://schemas.openxmlformats.org/officeDocument/2006/relationships/slideLayout" Target="../slideLayouts/slideLayout13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hyperlink" Target="https://youtu.be/gxcUgDcHnu4" TargetMode="External"/><Relationship Id="rId2" Type="http://schemas.openxmlformats.org/officeDocument/2006/relationships/slideLayout" Target="../slideLayouts/slideLayout13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6.tif"/><Relationship Id="rId2" Type="http://schemas.openxmlformats.org/officeDocument/2006/relationships/slideLayout" Target="../slideLayouts/slideLayout13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7.tif"/><Relationship Id="rId2" Type="http://schemas.openxmlformats.org/officeDocument/2006/relationships/slideLayout" Target="../slideLayouts/slideLayout13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8.tif"/><Relationship Id="rId2" Type="http://schemas.openxmlformats.org/officeDocument/2006/relationships/slideLayout" Target="../slideLayouts/slideLayout1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9.tif"/><Relationship Id="rId2" Type="http://schemas.openxmlformats.org/officeDocument/2006/relationships/slideLayout" Target="../slideLayouts/slideLayout13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685800" y="0"/>
            <a:ext cx="7772040" cy="2387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ctr">
              <a:lnSpc>
                <a:spcPct val="90000"/>
              </a:lnSpc>
              <a:buNone/>
            </a:pPr>
            <a:r>
              <a:rPr b="0" lang="en-GB" sz="2800" spc="-1" strike="noStrike" u="sng">
                <a:solidFill>
                  <a:srgbClr val="0070c0"/>
                </a:solidFill>
                <a:uFillTx/>
                <a:latin typeface="Calibri Light"/>
              </a:rPr>
              <a:t>Week 5</a:t>
            </a:r>
            <a:br>
              <a:rPr sz="2800"/>
            </a:br>
            <a:br>
              <a:rPr sz="2800"/>
            </a:br>
            <a:r>
              <a:rPr b="0" lang="en-GB" sz="2800" spc="-1" strike="noStrike">
                <a:solidFill>
                  <a:srgbClr val="0070c0"/>
                </a:solidFill>
                <a:latin typeface="Calibri Light"/>
              </a:rPr>
              <a:t>Banking systems across the world:</a:t>
            </a:r>
            <a:br>
              <a:rPr sz="2800"/>
            </a:br>
            <a:r>
              <a:rPr b="0" lang="en-GB" sz="2800" spc="-1" strike="noStrike">
                <a:solidFill>
                  <a:srgbClr val="0070c0"/>
                </a:solidFill>
                <a:latin typeface="Calibri Light"/>
              </a:rPr>
              <a:t>USA and China</a:t>
            </a:r>
            <a:br>
              <a:rPr sz="2800"/>
            </a:b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subTitle"/>
          </p:nvPr>
        </p:nvSpPr>
        <p:spPr>
          <a:xfrm>
            <a:off x="180360" y="3107160"/>
            <a:ext cx="8538480" cy="32806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GB" sz="1900" spc="-1" strike="noStrike" u="sng">
                <a:solidFill>
                  <a:srgbClr val="0070c0"/>
                </a:solidFill>
                <a:uFillTx/>
                <a:latin typeface="Calibri"/>
              </a:rPr>
              <a:t>Readings (on the Reading List)</a:t>
            </a:r>
            <a:endParaRPr b="0" lang="en-US" sz="19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GB" sz="1800" spc="-1" strike="noStrike" u="sng">
                <a:solidFill>
                  <a:srgbClr val="000000"/>
                </a:solidFill>
                <a:uFillTx/>
                <a:latin typeface="Calibri"/>
              </a:rPr>
              <a:t>On the USA: 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GB" sz="1800" spc="-1" strike="noStrike">
                <a:solidFill>
                  <a:srgbClr val="000000"/>
                </a:solidFill>
                <a:latin typeface="Calibri"/>
              </a:rPr>
              <a:t>Excerpts from “Chapter 19” of Miskin &amp; Eakins textbook, </a:t>
            </a:r>
            <a:r>
              <a:rPr b="0" i="1" lang="en-GB" sz="1800" spc="-1" strike="noStrike">
                <a:solidFill>
                  <a:srgbClr val="000000"/>
                </a:solidFill>
                <a:latin typeface="Calibri"/>
              </a:rPr>
              <a:t>Financial Markets and Institutions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GB" sz="1800" spc="-1" strike="noStrike" u="sng">
                <a:solidFill>
                  <a:srgbClr val="000000"/>
                </a:solidFill>
                <a:uFillTx/>
                <a:latin typeface="Calibri"/>
              </a:rPr>
              <a:t>On China: 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GB" sz="1800" spc="-1" strike="noStrike">
                <a:solidFill>
                  <a:srgbClr val="000000"/>
                </a:solidFill>
                <a:latin typeface="Calibri"/>
              </a:rPr>
              <a:t>“</a:t>
            </a:r>
            <a:r>
              <a:rPr b="0" lang="en-GB" sz="1800" spc="-1" strike="noStrike">
                <a:solidFill>
                  <a:srgbClr val="000000"/>
                </a:solidFill>
                <a:latin typeface="Calibri"/>
              </a:rPr>
              <a:t>Part II: Key Questions” of the Brookings Institute Report on “</a:t>
            </a:r>
            <a:r>
              <a:rPr b="0" i="1" lang="en-GB" sz="1800" spc="-1" strike="noStrike">
                <a:solidFill>
                  <a:srgbClr val="000000"/>
                </a:solidFill>
                <a:latin typeface="Calibri"/>
              </a:rPr>
              <a:t>The Chinese Financial System: An Introduction and Overview” </a:t>
            </a:r>
            <a:r>
              <a:rPr b="0" lang="en-GB" sz="1800" spc="-1" strike="noStrike">
                <a:solidFill>
                  <a:srgbClr val="000000"/>
                </a:solidFill>
                <a:latin typeface="Calibri"/>
              </a:rPr>
              <a:t>(2013)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GB" sz="1800" spc="-1" strike="noStrike">
                <a:solidFill>
                  <a:srgbClr val="000000"/>
                </a:solidFill>
                <a:latin typeface="Calibri"/>
              </a:rPr>
              <a:t>“</a:t>
            </a:r>
            <a:r>
              <a:rPr b="0" lang="en-GB" sz="1800" spc="-1" strike="noStrike">
                <a:solidFill>
                  <a:srgbClr val="000000"/>
                </a:solidFill>
                <a:latin typeface="Calibri"/>
              </a:rPr>
              <a:t>The Chinese banking system: Much more than a domestic giant” by Cerutti and Zhou, from </a:t>
            </a:r>
            <a:r>
              <a:rPr b="0" i="1" lang="en-GB" sz="1800" spc="-1" strike="noStrike">
                <a:solidFill>
                  <a:srgbClr val="000000"/>
                </a:solidFill>
                <a:latin typeface="Calibri"/>
              </a:rPr>
              <a:t>VOX, CEPR Policy Portal </a:t>
            </a:r>
            <a:r>
              <a:rPr b="0" lang="en-GB" sz="1800" spc="-1" strike="noStrike">
                <a:solidFill>
                  <a:srgbClr val="000000"/>
                </a:solidFill>
                <a:latin typeface="Calibri"/>
              </a:rPr>
              <a:t>(2018).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628560" y="583920"/>
            <a:ext cx="7886520" cy="806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3200" spc="-1" strike="noStrike">
                <a:solidFill>
                  <a:srgbClr val="0070c0"/>
                </a:solidFill>
                <a:latin typeface="Calibri Light"/>
              </a:rPr>
              <a:t>Outline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/>
          </p:nvPr>
        </p:nvSpPr>
        <p:spPr>
          <a:xfrm>
            <a:off x="628560" y="1391040"/>
            <a:ext cx="7886520" cy="47858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ヒラギノ角ゴ Pro W3"/>
              </a:rPr>
              <a:t>Various Banking systems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ヒラギノ角ゴ Pro W3"/>
              </a:rPr>
              <a:t>Historical Development of the US Banking System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ヒラギノ角ゴ Pro W3"/>
              </a:rPr>
              <a:t>Differences between the US vs UK banking systems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ヒラギノ角ゴ Pro W3"/>
              </a:rPr>
              <a:t>Bank Consolidation in the US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ヒラギノ角ゴ Pro W3"/>
              </a:rPr>
              <a:t>Separation of Banking and Other Financial Service Industries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ヒラギノ角ゴ Pro W3"/>
              </a:rPr>
              <a:t>Chinese banking system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3200" spc="-1" strike="noStrike">
                <a:solidFill>
                  <a:srgbClr val="0070c0"/>
                </a:solidFill>
                <a:latin typeface="Calibri Light"/>
              </a:rPr>
              <a:t>Various Banking Systems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628560" y="1825560"/>
            <a:ext cx="788652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3430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AutoNum type="alphaUcPeriod"/>
            </a:pPr>
            <a:r>
              <a:rPr b="0" lang="en-GB" sz="1800" spc="-1" strike="noStrike">
                <a:solidFill>
                  <a:srgbClr val="000000"/>
                </a:solidFill>
                <a:latin typeface="Aptos"/>
                <a:ea typeface="Aptos"/>
              </a:rPr>
              <a:t>Traditional Universal Banking (German Model)</a:t>
            </a:r>
            <a:r>
              <a:rPr b="0" lang="en-GB" sz="2800" spc="-1" strike="noStrike">
                <a:solidFill>
                  <a:srgbClr val="000000"/>
                </a:solidFill>
                <a:latin typeface="Calibri"/>
                <a:ea typeface="Aptos"/>
              </a:rPr>
              <a:t> 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115000"/>
              </a:lnSpc>
              <a:spcBef>
                <a:spcPts val="1001"/>
              </a:spcBef>
              <a:spcAft>
                <a:spcPts val="799"/>
              </a:spcAft>
              <a:buClr>
                <a:srgbClr val="000000"/>
              </a:buClr>
              <a:buFont typeface="Arial"/>
              <a:buChar char="•"/>
            </a:pPr>
            <a:r>
              <a:rPr b="0" lang="en-GB" sz="1800" spc="-1" strike="noStrike">
                <a:solidFill>
                  <a:srgbClr val="000000"/>
                </a:solidFill>
                <a:latin typeface="Aptos"/>
                <a:ea typeface="Aptos"/>
              </a:rPr>
              <a:t>In its Historical Form (Pre-2000s): Complete integration of commercial and investment banking, large equity stakes in industrial companies (e.g. Deutsche Bank held major stakes in Daimler-Benz, Siemens…)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15000"/>
              </a:lnSpc>
              <a:spcBef>
                <a:spcPts val="1001"/>
              </a:spcBef>
              <a:spcAft>
                <a:spcPts val="799"/>
              </a:spcAft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115000"/>
              </a:lnSpc>
              <a:spcBef>
                <a:spcPts val="1001"/>
              </a:spcBef>
              <a:spcAft>
                <a:spcPts val="799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GB" sz="1800" spc="-1" strike="noStrike">
                <a:solidFill>
                  <a:srgbClr val="000000"/>
                </a:solidFill>
                <a:latin typeface="Aptos"/>
                <a:ea typeface="Aptos"/>
              </a:rPr>
              <a:t>Over time, universal banking systems changed: Reduced industrial holdings due to capital requirements, More arms-length relationships with industrial companies</a:t>
            </a:r>
            <a:r>
              <a:rPr b="0" lang="en-GB" sz="1200" spc="-1" strike="noStrike">
                <a:solidFill>
                  <a:srgbClr val="000000"/>
                </a:solidFill>
                <a:latin typeface="Calibri"/>
                <a:ea typeface="Aptos"/>
              </a:rPr>
              <a:t> </a:t>
            </a: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15000"/>
              </a:lnSpc>
              <a:spcBef>
                <a:spcPts val="1001"/>
              </a:spcBef>
              <a:spcAft>
                <a:spcPts val="799"/>
              </a:spcAft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3200" spc="-1" strike="noStrike">
                <a:solidFill>
                  <a:srgbClr val="0070c0"/>
                </a:solidFill>
                <a:latin typeface="Calibri Light"/>
              </a:rPr>
              <a:t>Various Banking Systems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/>
          </p:nvPr>
        </p:nvSpPr>
        <p:spPr>
          <a:xfrm>
            <a:off x="628560" y="1825560"/>
            <a:ext cx="788652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>
              <a:lnSpc>
                <a:spcPct val="115000"/>
              </a:lnSpc>
              <a:spcBef>
                <a:spcPts val="1001"/>
              </a:spcBef>
              <a:spcAft>
                <a:spcPts val="799"/>
              </a:spcAft>
              <a:buNone/>
              <a:tabLst>
                <a:tab algn="l" pos="0"/>
              </a:tabLst>
            </a:pPr>
            <a:r>
              <a:rPr b="0" lang="en-GB" sz="1800" spc="-1" strike="noStrike">
                <a:solidFill>
                  <a:srgbClr val="000000"/>
                </a:solidFill>
                <a:latin typeface="Aptos"/>
                <a:ea typeface="Aptos"/>
              </a:rPr>
              <a:t>B. Market-Based System (US Model)</a:t>
            </a:r>
            <a:r>
              <a:rPr b="0" lang="en-GB" sz="1200" spc="-1" strike="noStrike">
                <a:solidFill>
                  <a:srgbClr val="000000"/>
                </a:solidFill>
                <a:latin typeface="Calibri"/>
                <a:ea typeface="Aptos"/>
              </a:rPr>
              <a:t> </a:t>
            </a: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115000"/>
              </a:lnSpc>
              <a:spcBef>
                <a:spcPts val="1001"/>
              </a:spcBef>
              <a:spcAft>
                <a:spcPts val="799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GB" sz="1800" spc="-1" strike="noStrike">
                <a:solidFill>
                  <a:srgbClr val="000000"/>
                </a:solidFill>
                <a:latin typeface="Aptos"/>
                <a:ea typeface="Aptos"/>
              </a:rPr>
              <a:t>In its historical form (1933-1999): Clear separation between commercial and investment banks (e.g. Citibank  was strictly commercial vs. Morgan Stanley, only an investment bank)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15000"/>
              </a:lnSpc>
              <a:spcBef>
                <a:spcPts val="1001"/>
              </a:spcBef>
              <a:spcAft>
                <a:spcPts val="799"/>
              </a:spcAft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115000"/>
              </a:lnSpc>
              <a:spcBef>
                <a:spcPts val="1001"/>
              </a:spcBef>
              <a:spcAft>
                <a:spcPts val="799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GB" sz="1800" spc="-1" strike="noStrike">
                <a:solidFill>
                  <a:srgbClr val="000000"/>
                </a:solidFill>
                <a:latin typeface="Aptos"/>
                <a:ea typeface="Aptos"/>
              </a:rPr>
              <a:t>Over-time, market-based system changed too: Large financial conglomerates became a mix of commercial and investment banking (e.g. Morgan Stanley expanded into retail banking)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3200" spc="-1" strike="noStrike">
                <a:solidFill>
                  <a:srgbClr val="0070c0"/>
                </a:solidFill>
                <a:latin typeface="Calibri Light"/>
              </a:rPr>
              <a:t>Various Banking Systems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628560" y="1825560"/>
            <a:ext cx="788652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ptos Light"/>
              </a:rPr>
              <a:t>Universal Banking Advantages: - One-stop shopping for financial services, Economies of scope, Stable corporate relationships and more reliable affordable credit for industrial growth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ptos Light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ptos Light"/>
              </a:rPr>
              <a:t>Universal Banking Disadvantages: Complex risk management and Potential conflicts of interest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ptos Light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ptos Light"/>
              </a:rPr>
              <a:t>Market-Based System Advantages: Competitive market for services, Clear separation of risks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ptos Light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ptos Light"/>
              </a:rPr>
              <a:t>Market-Based System Disadvantages: Higher transaction costs, Multiple banking relationships were needed (credit not as convenient for industrial companies)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0" y="365040"/>
            <a:ext cx="8911800" cy="716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 algn="ctr">
              <a:lnSpc>
                <a:spcPct val="90000"/>
              </a:lnSpc>
              <a:buNone/>
            </a:pPr>
            <a:r>
              <a:rPr b="1" lang="en-US" sz="2000" spc="-1" strike="noStrike">
                <a:solidFill>
                  <a:srgbClr val="0070c0"/>
                </a:solidFill>
                <a:latin typeface="Calibri Light"/>
                <a:ea typeface="ヒラギノ角ゴ Pro W3"/>
              </a:rPr>
              <a:t>Timeline of the Early History of Commercial Banking in the United States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99" name="Picture 2" descr="The time line shows various events as follows:&#10;◦ 1782: Bank of North America is chartered.&#10;◦ 1791: Bank of the United States is chartered.&#10;◦ 1811: Bank of the United States’ charter is allowed to lapse.&#10;◦ 1816: Second Bank of the United States is chartered.&#10;◦ 1832: Andrew Jackson vetoes rechartering of Second Bank of the United States; charter lapses in 1836.&#10;◦ 1863: National Bank Act of 1863 establishes national banks and Office of the Comptroller of the Currency.&#10;◦ 1913: Federal Reserve Act of 1913 creates Federal Reserve System.&#10;◦ 1933: Banking Act of 1933 (Glass-Steagall) creates Federal Deposit Insurance Corporation (FDIC) and separates banking and securities industries."/>
          <p:cNvPicPr/>
          <p:nvPr/>
        </p:nvPicPr>
        <p:blipFill>
          <a:blip r:embed="rId1"/>
          <a:stretch/>
        </p:blipFill>
        <p:spPr>
          <a:xfrm>
            <a:off x="0" y="1171800"/>
            <a:ext cx="9040680" cy="5361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9352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>
              <a:lnSpc>
                <a:spcPct val="90000"/>
              </a:lnSpc>
              <a:buNone/>
            </a:pPr>
            <a:r>
              <a:rPr b="0" lang="en-GB" sz="2400" spc="-1" strike="noStrike">
                <a:solidFill>
                  <a:srgbClr val="0070c0"/>
                </a:solidFill>
                <a:latin typeface="Calibri Light"/>
              </a:rPr>
              <a:t>Differences between the UK and the US Banking System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628560" y="1558440"/>
            <a:ext cx="7886520" cy="46180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GB" sz="2000" spc="-1" strike="noStrike" u="sng">
                <a:solidFill>
                  <a:srgbClr val="000000"/>
                </a:solidFill>
                <a:uFillTx/>
                <a:latin typeface="Calibri"/>
              </a:rPr>
              <a:t>1. Reserve requirements: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GB" sz="1800" spc="-1" strike="noStrike">
                <a:solidFill>
                  <a:srgbClr val="000000"/>
                </a:solidFill>
                <a:latin typeface="Calibri"/>
              </a:rPr>
              <a:t>Reserve requirements are used by the central banks to increase or decrease the amount of money in the economy and influence interest rates.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GB" sz="1800" spc="-1" strike="noStrike">
                <a:solidFill>
                  <a:srgbClr val="000000"/>
                </a:solidFill>
                <a:latin typeface="Calibri"/>
              </a:rPr>
              <a:t>US banks are required to hold a fraction of their funds in reserve with the Fed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GB" sz="1800" spc="-1" strike="noStrike">
                <a:solidFill>
                  <a:srgbClr val="000000"/>
                </a:solidFill>
                <a:latin typeface="Calibri"/>
              </a:rPr>
              <a:t>The current “reserve requirement ratio” in the US is 0% (since March 2020) in response to covid-19 crisis.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GB" sz="2000" spc="-1" strike="noStrike">
                <a:solidFill>
                  <a:srgbClr val="000000"/>
                </a:solidFill>
                <a:latin typeface="Calibri"/>
              </a:rPr>
              <a:t>There is no reserve requirement in the UK system.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GB" sz="1800" spc="-1" strike="noStrike">
                <a:solidFill>
                  <a:srgbClr val="000000"/>
                </a:solidFill>
                <a:latin typeface="Calibri"/>
              </a:rPr>
              <a:t>There are minimum capital requirements in line with international standards. 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>
              <a:lnSpc>
                <a:spcPct val="90000"/>
              </a:lnSpc>
              <a:buNone/>
            </a:pPr>
            <a:r>
              <a:rPr b="0" lang="en-US" sz="2800" spc="-1" strike="noStrike">
                <a:solidFill>
                  <a:srgbClr val="0070c0"/>
                </a:solidFill>
                <a:latin typeface="Calibri Light"/>
                <a:ea typeface="ヒラギノ角ゴ Pro W3"/>
              </a:rPr>
              <a:t>2. Difference in Electronic Payment systems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628560" y="1690560"/>
            <a:ext cx="7886520" cy="4485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8000"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ヒラギノ角ゴ Pro W3"/>
              </a:rPr>
              <a:t>The development of computer systems and the internet has made electronic payments a more cost-effective method over paper cheques or money.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ヒラギノ角ゴ Pro W3"/>
              </a:rPr>
              <a:t>The US is still far behind Europe in the use of this technology.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ヒラギノ角ゴ Pro W3"/>
              </a:rPr>
              <a:t>Americans write close to 10 billion cheques every year. 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ヒラギノ角ゴ Pro W3"/>
              </a:rPr>
              <a:t>In Europe, however, two-thirds of noncash transactions are electronic.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2" marL="11430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ヒラギノ角ゴ Pro W3"/>
              </a:rPr>
              <a:t>Europeans have been using </a:t>
            </a:r>
            <a:r>
              <a:rPr b="0" i="1" lang="en-US" sz="1800" spc="-1" strike="noStrike">
                <a:solidFill>
                  <a:srgbClr val="000000"/>
                </a:solidFill>
                <a:latin typeface="Calibri"/>
                <a:ea typeface="ヒラギノ角ゴ Pro W3"/>
              </a:rPr>
              <a:t>giro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ヒラギノ角ゴ Pro W3"/>
              </a:rPr>
              <a:t> payments for decades.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2" marL="11430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i="1" lang="en-US" sz="1800" spc="-1" strike="noStrike">
                <a:solidFill>
                  <a:srgbClr val="000000"/>
                </a:solidFill>
                <a:latin typeface="Calibri"/>
                <a:ea typeface="ヒラギノ角ゴ Pro W3"/>
              </a:rPr>
              <a:t>Giro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ヒラギノ角ゴ Pro W3"/>
              </a:rPr>
              <a:t> payment: bank transfers initiated by the payer (similar to debit car payments)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7" dur="indefinite" restart="never" nodeType="tmRoot">
          <p:childTnLst>
            <p:seq>
              <p:cTn id="28" dur="indefinite" nodeType="mainSeq">
                <p:childTnLst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GB" sz="3200" spc="-1" strike="noStrike">
                <a:solidFill>
                  <a:srgbClr val="0070c0"/>
                </a:solidFill>
                <a:latin typeface="Calibri Light"/>
              </a:rPr>
              <a:t>3. Differences in Deposit Insurance Schemes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628560" y="1596960"/>
            <a:ext cx="7886520" cy="4579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7000"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000" spc="-1" strike="noStrike">
                <a:solidFill>
                  <a:srgbClr val="000000"/>
                </a:solidFill>
                <a:latin typeface="Calibri"/>
              </a:rPr>
              <a:t>Deposit insurance protects bank depositors, in full or in part, from losses caused by a bank's inability to pay its debts.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000" spc="-1" strike="noStrike">
                <a:solidFill>
                  <a:srgbClr val="000000"/>
                </a:solidFill>
                <a:latin typeface="Calibri"/>
              </a:rPr>
              <a:t>The U.S. was the first country to introduce a national deposit insurance system.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800" spc="-1" strike="noStrike">
                <a:solidFill>
                  <a:srgbClr val="000000"/>
                </a:solidFill>
                <a:latin typeface="Calibri"/>
              </a:rPr>
              <a:t>The Federal Deposit Insurance Corporation (FDIC) was founded in 1933 after the bank failures of the Great Depression.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800" spc="-1" strike="noStrike">
                <a:solidFill>
                  <a:srgbClr val="000000"/>
                </a:solidFill>
                <a:latin typeface="Calibri"/>
              </a:rPr>
              <a:t>Its goal was to restore confidence in the liquidity of bank deposits and the banking system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800" spc="-1" strike="noStrike">
                <a:solidFill>
                  <a:srgbClr val="000000"/>
                </a:solidFill>
                <a:latin typeface="Calibri"/>
              </a:rPr>
              <a:t>Currently, deposits up to $250,000 are fully covered.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000" spc="-1" strike="noStrike">
                <a:solidFill>
                  <a:srgbClr val="000000"/>
                </a:solidFill>
                <a:latin typeface="Calibri"/>
              </a:rPr>
              <a:t>In the UK, the system was established after the 1980s.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800" spc="-1" strike="noStrike">
                <a:solidFill>
                  <a:srgbClr val="000000"/>
                </a:solidFill>
                <a:latin typeface="Calibri"/>
              </a:rPr>
              <a:t>Currently deposits up to £85,000 are protected.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3" dur="indefinite" restart="never" nodeType="tmRoot">
          <p:childTnLst>
            <p:seq>
              <p:cTn id="54" dur="indefinite" nodeType="mainSeq">
                <p:childTnLst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Picture 2" descr="Safety Net Index, 2013 "/>
          <p:cNvPicPr/>
          <p:nvPr/>
        </p:nvPicPr>
        <p:blipFill>
          <a:blip r:embed="rId1"/>
          <a:srcRect l="54645" t="0" r="0" b="40583"/>
          <a:stretch/>
        </p:blipFill>
        <p:spPr>
          <a:xfrm rot="5400000">
            <a:off x="154800" y="239760"/>
            <a:ext cx="5663880" cy="5973480"/>
          </a:xfrm>
          <a:prstGeom prst="rect">
            <a:avLst/>
          </a:prstGeom>
          <a:ln w="0">
            <a:noFill/>
          </a:ln>
        </p:spPr>
      </p:pic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628560" y="88200"/>
            <a:ext cx="7886520" cy="6134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90000"/>
              </a:lnSpc>
              <a:buNone/>
            </a:pPr>
            <a:r>
              <a:rPr b="0" lang="en-GB" sz="2400" spc="-1" strike="noStrike">
                <a:solidFill>
                  <a:srgbClr val="0070c0"/>
                </a:solidFill>
                <a:latin typeface="Calibri Light"/>
              </a:rPr>
              <a:t>Safety Net Index around the world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3825000" y="1253160"/>
            <a:ext cx="510732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000"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000" spc="-1" strike="noStrike">
                <a:solidFill>
                  <a:srgbClr val="000000"/>
                </a:solidFill>
                <a:latin typeface="Calibri"/>
              </a:rPr>
              <a:t>Higher values (longer bars) denote more generosity in deposit insurance schemes.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000" spc="-1" strike="noStrike">
                <a:solidFill>
                  <a:srgbClr val="000000"/>
                </a:solidFill>
                <a:latin typeface="Calibri"/>
              </a:rPr>
              <a:t>Potential “</a:t>
            </a:r>
            <a:r>
              <a:rPr b="0" lang="en-GB" sz="2000" spc="-1" strike="noStrike">
                <a:solidFill>
                  <a:srgbClr val="ff0000"/>
                </a:solidFill>
                <a:latin typeface="Calibri"/>
              </a:rPr>
              <a:t>moral hazard</a:t>
            </a:r>
            <a:r>
              <a:rPr b="0" lang="en-GB" sz="2000" spc="-1" strike="noStrike">
                <a:solidFill>
                  <a:srgbClr val="000000"/>
                </a:solidFill>
                <a:latin typeface="Calibri"/>
              </a:rPr>
              <a:t>” issue? 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800" spc="-1" strike="noStrike">
                <a:solidFill>
                  <a:srgbClr val="000000"/>
                </a:solidFill>
                <a:latin typeface="Calibri"/>
              </a:rPr>
              <a:t>Moral hazard arises when people's actions do not reflect the full cost of their actions.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800" spc="-1" strike="noStrike">
                <a:solidFill>
                  <a:srgbClr val="000000"/>
                </a:solidFill>
                <a:latin typeface="Calibri"/>
              </a:rPr>
              <a:t>With deposit insurance, people could put their money into banks that made excessively risky loans without fear of losing their money should the bank fail.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9" name="TextBox 3"/>
          <p:cNvSpPr/>
          <p:nvPr/>
        </p:nvSpPr>
        <p:spPr>
          <a:xfrm>
            <a:off x="0" y="6308280"/>
            <a:ext cx="6902640" cy="63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GB" sz="1200" spc="-1" strike="noStrike">
                <a:solidFill>
                  <a:srgbClr val="000000"/>
                </a:solidFill>
                <a:latin typeface="Calibri"/>
              </a:rPr>
              <a:t>Source: Demirguc-Kunt, Asli, Edward Kane and Luc Laeven, </a:t>
            </a:r>
            <a:r>
              <a:rPr b="0" lang="en-GB" sz="1200" spc="-1" strike="noStrike" u="sng">
                <a:solidFill>
                  <a:srgbClr val="0563c1"/>
                </a:solidFill>
                <a:uFillTx/>
                <a:latin typeface="Calibri"/>
                <a:hlinkClick r:id="rId2"/>
              </a:rPr>
              <a:t>Deposit Insurance Database</a:t>
            </a:r>
            <a:r>
              <a:rPr b="0" lang="en-GB" sz="1200" spc="-1" strike="noStrike">
                <a:solidFill>
                  <a:srgbClr val="000000"/>
                </a:solidFill>
                <a:latin typeface="Calibri"/>
              </a:rPr>
              <a:t>, 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GB" sz="1200" spc="-1" strike="noStrike">
                <a:solidFill>
                  <a:srgbClr val="000000"/>
                </a:solidFill>
                <a:latin typeface="Calibri"/>
              </a:rPr>
              <a:t>World Bank Policy research working Paper, 2014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83" dur="indefinite" restart="never" nodeType="tmRoot">
          <p:childTnLst>
            <p:seq>
              <p:cTn id="84" dur="indefinite" nodeType="mainSeq">
                <p:childTnLst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2400" spc="-1" strike="noStrike">
                <a:solidFill>
                  <a:srgbClr val="0070c0"/>
                </a:solidFill>
                <a:latin typeface="Calibri Light"/>
                <a:ea typeface="ヒラギノ角ゴ Pro W3"/>
              </a:rPr>
              <a:t>Size Distribution of Insured Commercial Banks in the U.S., 2016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graphicFrame>
        <p:nvGraphicFramePr>
          <p:cNvPr id="111" name="Table 3"/>
          <p:cNvGraphicFramePr/>
          <p:nvPr/>
        </p:nvGraphicFramePr>
        <p:xfrm>
          <a:off x="457200" y="2181960"/>
          <a:ext cx="8229240" cy="2224800"/>
        </p:xfrm>
        <a:graphic>
          <a:graphicData uri="http://schemas.openxmlformats.org/drawingml/2006/table">
            <a:tbl>
              <a:tblPr/>
              <a:tblGrid>
                <a:gridCol w="2316960"/>
                <a:gridCol w="1797480"/>
                <a:gridCol w="2117160"/>
                <a:gridCol w="1997640"/>
              </a:tblGrid>
              <a:tr h="88776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Assets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Number of Banks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Share of # of Banks (%)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Share of Assets Held (%)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540360">
                <a:tc>
                  <a:txBody>
                    <a:bodyPr lIns="9360" rIns="9360" tIns="9360" bIns="0" anchor="b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Less than $100 million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1,663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27.2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0.6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540360">
                <a:tc>
                  <a:txBody>
                    <a:bodyPr lIns="9360" rIns="9360" tIns="9360" bIns="0" anchor="b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$100 million–$1 billion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3,734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61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7.2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540360">
                <a:tc>
                  <a:txBody>
                    <a:bodyPr lIns="9360" rIns="9360" tIns="9360" bIns="0" anchor="b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$1 billion–$10 billion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616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10.1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10.6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540360">
                <a:tc>
                  <a:txBody>
                    <a:bodyPr lIns="9360" rIns="9360" tIns="9360" bIns="0" anchor="b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More than $10 billion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 u="sng">
                          <a:solidFill>
                            <a:srgbClr val="ff0000"/>
                          </a:solidFill>
                          <a:uFillTx/>
                          <a:latin typeface="Calibri"/>
                        </a:rPr>
                        <a:t>109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 u="sng">
                          <a:solidFill>
                            <a:srgbClr val="ff0000"/>
                          </a:solidFill>
                          <a:uFillTx/>
                          <a:latin typeface="Calibri"/>
                        </a:rPr>
                        <a:t>1.7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 u="sng">
                          <a:solidFill>
                            <a:srgbClr val="ff0000"/>
                          </a:solidFill>
                          <a:uFillTx/>
                          <a:latin typeface="Calibri"/>
                        </a:rPr>
                        <a:t>81.6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70800">
                <a:tc>
                  <a:txBody>
                    <a:bodyPr lIns="9360" rIns="9360" tIns="9360" bIns="0" anchor="b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Total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6,122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100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100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457200" y="4800600"/>
            <a:ext cx="8229240" cy="4568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FDIC statistics on banking</a:t>
            </a: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1200" spc="-1" strike="noStrike" u="sng">
                <a:solidFill>
                  <a:srgbClr val="0563c1"/>
                </a:solidFill>
                <a:uFillTx/>
                <a:latin typeface="Calibri"/>
                <a:hlinkClick r:id="rId1"/>
              </a:rPr>
              <a:t>http://www.fdic.gov/bank/statistical/index.html</a:t>
            </a: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3" name="TextBox 4"/>
          <p:cNvSpPr/>
          <p:nvPr/>
        </p:nvSpPr>
        <p:spPr>
          <a:xfrm>
            <a:off x="-294120" y="5577840"/>
            <a:ext cx="100580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GB" sz="1800" spc="-1" strike="noStrike">
                <a:solidFill>
                  <a:srgbClr val="000000"/>
                </a:solidFill>
                <a:latin typeface="Calibri"/>
              </a:rPr>
              <a:t>There are many many small banks in the US banking system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GB" sz="1800" spc="-1" strike="noStrike">
                <a:solidFill>
                  <a:srgbClr val="000000"/>
                </a:solidFill>
                <a:latin typeface="Calibri"/>
              </a:rPr>
              <a:t>But, a very large portion of the US banking assets are held by the top 100 or so banks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2400" spc="-1" strike="noStrike">
                <a:solidFill>
                  <a:srgbClr val="0070c0"/>
                </a:solidFill>
                <a:latin typeface="Calibri Light"/>
              </a:rPr>
              <a:t>Ten Largest U.S. Banks, 2016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graphicFrame>
        <p:nvGraphicFramePr>
          <p:cNvPr id="115" name="Table 3"/>
          <p:cNvGraphicFramePr/>
          <p:nvPr/>
        </p:nvGraphicFramePr>
        <p:xfrm>
          <a:off x="419040" y="1600200"/>
          <a:ext cx="8305560" cy="4449600"/>
        </p:xfrm>
        <a:graphic>
          <a:graphicData uri="http://schemas.openxmlformats.org/drawingml/2006/table">
            <a:tbl>
              <a:tblPr/>
              <a:tblGrid>
                <a:gridCol w="3200400"/>
                <a:gridCol w="2336760"/>
                <a:gridCol w="2768400"/>
              </a:tblGrid>
              <a:tr h="531000">
                <a:tc>
                  <a:txBody>
                    <a:bodyPr lIns="45720" rIns="45720" tIns="0" bIns="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Bank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45720" marR="457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5720" rIns="45720" tIns="0" bIns="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Assets ($ millions)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45720" marR="457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5720" rIns="45720" tIns="0" bIns="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Share of All</a:t>
                      </a:r>
                      <a:endParaRPr b="0" lang="en-US" sz="18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Bank Assets (%)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45720" marR="457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70800">
                <a:tc>
                  <a:txBody>
                    <a:bodyPr lIns="45720" rIns="45720" tIns="0" bIns="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1. J.P. Morgan Chase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45720" marR="457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5720" rIns="45720" tIns="0" bIns="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1,915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45720" marR="457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5720" rIns="45720" tIns="0" bIns="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12.2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45720" marR="457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70800">
                <a:tc>
                  <a:txBody>
                    <a:bodyPr lIns="45720" rIns="45720" tIns="0" bIns="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2. Bank of America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45720" marR="457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5720" rIns="45720" tIns="0" bIns="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1,639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45720" marR="457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5720" rIns="45720" tIns="0" bIns="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10.4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45720" marR="457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70800">
                <a:tc>
                  <a:txBody>
                    <a:bodyPr lIns="45720" rIns="45720" tIns="0" bIns="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3. Wells Fargo and Co.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45720" marR="457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5720" rIns="45720" tIns="0" bIns="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1,611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45720" marR="457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5720" rIns="45720" tIns="0" bIns="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10.3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45720" marR="457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70800">
                <a:tc>
                  <a:txBody>
                    <a:bodyPr lIns="45720" rIns="45720" tIns="0" bIns="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4. Citigroup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45720" marR="457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5720" rIns="45720" tIns="0" bIns="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1,300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45720" marR="457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5720" rIns="45720" tIns="0" bIns="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8.3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45720" marR="457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70800">
                <a:tc>
                  <a:txBody>
                    <a:bodyPr lIns="45720" rIns="45720" tIns="0" bIns="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5. U.S. Bank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45720" marR="457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5720" rIns="45720" tIns="0" bIns="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417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45720" marR="457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5720" rIns="45720" tIns="0" bIns="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2.7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45720" marR="457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70800">
                <a:tc>
                  <a:txBody>
                    <a:bodyPr lIns="45720" rIns="45720" tIns="0" bIns="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6. PNC Bank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45720" marR="457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5720" rIns="45720" tIns="0" bIns="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348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45720" marR="457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5720" rIns="45720" tIns="0" bIns="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2.2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45720" marR="457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70800">
                <a:tc>
                  <a:txBody>
                    <a:bodyPr lIns="45720" rIns="45720" tIns="0" bIns="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7. Bank of New York Mellon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45720" marR="457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5720" rIns="45720" tIns="0" bIns="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319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45720" marR="457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5720" rIns="45720" tIns="0" bIns="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45720" marR="457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70800">
                <a:tc>
                  <a:txBody>
                    <a:bodyPr lIns="45720" rIns="45720" tIns="0" bIns="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8. Capital One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45720" marR="457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5720" rIns="45720" tIns="0" bIns="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273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45720" marR="457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5720" rIns="45720" tIns="0" bIns="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1.7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45720" marR="457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70800">
                <a:tc>
                  <a:txBody>
                    <a:bodyPr lIns="45720" rIns="45720" tIns="0" bIns="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9. TD Bank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45720" marR="457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5720" rIns="45720" tIns="0" bIns="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246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45720" marR="457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5720" rIns="45720" tIns="0" bIns="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1.6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45720" marR="457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531000">
                <a:tc>
                  <a:txBody>
                    <a:bodyPr lIns="45720" rIns="45720" tIns="0" bIns="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10. State Street Bank and Co.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45720" marR="457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5720" rIns="45720" tIns="0" bIns="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241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45720" marR="457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5720" rIns="45720" tIns="0" bIns="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1.5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45720" marR="457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70800">
                <a:tc>
                  <a:txBody>
                    <a:bodyPr lIns="45720" rIns="45720" tIns="0" bIns="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Total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45720" marR="457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5720" rIns="45720" tIns="0" bIns="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8,309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45720" marR="457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5720" rIns="45720" tIns="0" bIns="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50.9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45720" marR="457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2400" spc="-1" strike="noStrike">
                <a:solidFill>
                  <a:srgbClr val="0070c0"/>
                </a:solidFill>
                <a:latin typeface="Calibri Light"/>
              </a:rPr>
              <a:t>Number of Insured Commercial Banks in the U.S., 1934–2016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17" name="Picture 2" descr="The vertical axis is labeled as &quot;Number of Banks&quot; and ranges from 0 to 16,000 in increments of 2,000. The horizontal axis lists dates from 1935 to 2015 in 5-year increments. The line shows the number of insured 14,000 in 1935 which with a slight decline falls down to 13,200 by 1945 and remains almost in this range till 1975. The line for number of insured bank increases slightly thereafter and reaches to a value of 14,200 by the year 1985 and remains unchanged till 1995 where it shows a sudden decline and falls down to a value of 12,000 by the year 2000, to 8,500 by 2005, to 7,000 by 2010, and finally to a value of 5,300 by the year 2015.&#10;The value used in the description are approximate."/>
          <p:cNvPicPr/>
          <p:nvPr/>
        </p:nvPicPr>
        <p:blipFill>
          <a:blip r:embed="rId1"/>
          <a:stretch/>
        </p:blipFill>
        <p:spPr>
          <a:xfrm>
            <a:off x="951840" y="1510560"/>
            <a:ext cx="7239600" cy="4337280"/>
          </a:xfrm>
          <a:prstGeom prst="rect">
            <a:avLst/>
          </a:prstGeom>
          <a:ln w="0">
            <a:noFill/>
          </a:ln>
        </p:spPr>
      </p:pic>
      <p:sp>
        <p:nvSpPr>
          <p:cNvPr id="118" name="TextBox 6"/>
          <p:cNvSpPr/>
          <p:nvPr/>
        </p:nvSpPr>
        <p:spPr>
          <a:xfrm>
            <a:off x="-979560" y="6308280"/>
            <a:ext cx="10689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GB" sz="1800" spc="-1" strike="noStrike">
                <a:solidFill>
                  <a:srgbClr val="000000"/>
                </a:solidFill>
                <a:latin typeface="Calibri"/>
              </a:rPr>
              <a:t>Consolidation (Merger and acquisitions) is the main reason behind falling numbers of banks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01" dur="indefinite" restart="never" nodeType="tmRoot">
          <p:childTnLst>
            <p:seq>
              <p:cTn id="102" dur="indefinite" nodeType="mainSeq">
                <p:childTnLst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3200" spc="-1" strike="noStrike">
                <a:solidFill>
                  <a:srgbClr val="0070c0"/>
                </a:solidFill>
                <a:latin typeface="Calibri Light"/>
                <a:ea typeface="ヒラギノ角ゴ Pro W3"/>
              </a:rPr>
              <a:t>Bank Consolidation in the US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/>
          </p:nvPr>
        </p:nvSpPr>
        <p:spPr>
          <a:xfrm>
            <a:off x="744480" y="1490760"/>
            <a:ext cx="7886520" cy="44974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ヒラギノ角ゴ Pro W3"/>
              </a:rPr>
              <a:t>Since 1980s, many mergers and acquisitions (M&amp;A).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ヒラギノ角ゴ Pro W3"/>
              </a:rPr>
              <a:t>Reasons behind M&amp;A?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ヒラギノ角ゴ Pro W3"/>
              </a:rPr>
              <a:t>Economies of scale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1" marL="740520" indent="-40176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ヒラギノ角ゴ Pro W3"/>
              </a:rPr>
              <a:t>Increased with new technologies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1" marL="740520" indent="-40176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ヒラギノ角ゴ Pro W3"/>
              </a:rPr>
              <a:t>Scope economies also present in using data for pricing, new products, etc.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ヒラギノ角ゴ Pro W3"/>
              </a:rPr>
              <a:t>Changes in regulation about interstate banking 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GB" sz="2000" spc="-1" strike="noStrike">
                <a:solidFill>
                  <a:srgbClr val="000000"/>
                </a:solidFill>
                <a:latin typeface="Calibri"/>
                <a:ea typeface="ヒラギノ角ゴ Pro W3"/>
              </a:rPr>
              <a:t>Intestate banking restrictions were leaving banks vulnerable to local economic crises.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ヒラギノ角ゴ Pro W3"/>
              </a:rPr>
              <a:t>Riegle-Neal Act of 1994 allowed full interstate branching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07" dur="indefinite" restart="never" nodeType="tmRoot">
          <p:childTnLst>
            <p:seq>
              <p:cTn id="108" dur="indefinite" nodeType="mainSeq">
                <p:childTnLst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8286480" cy="6260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3000"/>
          </a:bodyPr>
          <a:p>
            <a:pPr>
              <a:lnSpc>
                <a:spcPct val="90000"/>
              </a:lnSpc>
              <a:buNone/>
            </a:pPr>
            <a:r>
              <a:rPr b="1" lang="en-US" sz="2400" spc="-1" strike="noStrike">
                <a:solidFill>
                  <a:srgbClr val="0070c0"/>
                </a:solidFill>
                <a:latin typeface="Calibri Light"/>
                <a:ea typeface="ヒラギノ角ゴ Pro W3"/>
              </a:rPr>
              <a:t>Reversal of the Separation of different types of Banking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2" name="PlaceHolder 2"/>
          <p:cNvSpPr>
            <a:spLocks noGrp="1"/>
          </p:cNvSpPr>
          <p:nvPr>
            <p:ph/>
          </p:nvPr>
        </p:nvSpPr>
        <p:spPr>
          <a:xfrm>
            <a:off x="628560" y="1120320"/>
            <a:ext cx="7886520" cy="5056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1000"/>
          </a:bodyPr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Calibri"/>
              </a:rPr>
              <a:t>Glass-Steagall Act (1933) 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separated investment and commercial banking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marL="4572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similar to ring-fencing happening in the UK and EU today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120000"/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prohibited underwriting / brokerage services, real estate / insurance business for commercial banks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ヒラギノ角ゴ Pro W3"/>
              </a:rPr>
              <a:t>By 1990s, large banks were looking for ways to evade this law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ヒラギノ角ゴ Pro W3"/>
              </a:rPr>
              <a:t>Glass-Steagall Act was repealed in 1999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ヒラギノ角ゴ Pro W3"/>
              </a:rPr>
              <a:t>This further contributed to consolidation. Today many large banks in the US are “Bank Holding Companies”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33" dur="indefinite" restart="never" nodeType="tmRoot">
          <p:childTnLst>
            <p:seq>
              <p:cTn id="134" dur="indefinite" nodeType="mainSeq">
                <p:childTnLst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0" y="179640"/>
            <a:ext cx="9143640" cy="7678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90000"/>
              </a:lnSpc>
              <a:buNone/>
            </a:pPr>
            <a:r>
              <a:rPr b="0" lang="en-GB" sz="2400" spc="-1" strike="noStrike">
                <a:solidFill>
                  <a:srgbClr val="0070c0"/>
                </a:solidFill>
                <a:latin typeface="Calibri Light"/>
              </a:rPr>
              <a:t>10 largest banks in the world in 2020 (by assets)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24" name="Picture 3" descr=""/>
          <p:cNvPicPr/>
          <p:nvPr/>
        </p:nvPicPr>
        <p:blipFill>
          <a:blip r:embed="rId1"/>
          <a:stretch/>
        </p:blipFill>
        <p:spPr>
          <a:xfrm>
            <a:off x="1052280" y="893880"/>
            <a:ext cx="6756120" cy="4838400"/>
          </a:xfrm>
          <a:prstGeom prst="rect">
            <a:avLst/>
          </a:prstGeom>
          <a:ln w="0">
            <a:noFill/>
          </a:ln>
        </p:spPr>
      </p:pic>
      <p:sp>
        <p:nvSpPr>
          <p:cNvPr id="125" name="TextBox 4"/>
          <p:cNvSpPr/>
          <p:nvPr/>
        </p:nvSpPr>
        <p:spPr>
          <a:xfrm>
            <a:off x="2332800" y="6261840"/>
            <a:ext cx="38678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GB" sz="1800" spc="-1" strike="noStrike">
                <a:solidFill>
                  <a:srgbClr val="000000"/>
                </a:solidFill>
                <a:latin typeface="Calibri"/>
              </a:rPr>
              <a:t>Barclays is #18,    Lloyds is #25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26" name="TextBox 5"/>
          <p:cNvSpPr/>
          <p:nvPr/>
        </p:nvSpPr>
        <p:spPr>
          <a:xfrm>
            <a:off x="482760" y="5769360"/>
            <a:ext cx="432036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Calibri"/>
              </a:rPr>
              <a:t>Source: S&amp;P Global Market Intelligence report </a:t>
            </a:r>
            <a:endParaRPr b="0" lang="en-US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47" dur="indefinite" restart="never" nodeType="tmRoot">
          <p:childTnLst>
            <p:seq>
              <p:cTn id="148" dur="indefinite" nodeType="mainSeq">
                <p:childTnLst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3157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58000"/>
          </a:bodyPr>
          <a:p>
            <a:pPr>
              <a:lnSpc>
                <a:spcPct val="90000"/>
              </a:lnSpc>
              <a:buNone/>
            </a:pPr>
            <a:r>
              <a:rPr b="0" lang="en-GB" sz="2800" spc="-1" strike="noStrike">
                <a:solidFill>
                  <a:srgbClr val="0070c0"/>
                </a:solidFill>
                <a:latin typeface="Calibri Light"/>
              </a:rPr>
              <a:t>Chinese Banking System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/>
          </p:nvPr>
        </p:nvSpPr>
        <p:spPr>
          <a:xfrm>
            <a:off x="628560" y="925200"/>
            <a:ext cx="7886520" cy="56710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7000"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300" spc="-1" strike="noStrike">
                <a:solidFill>
                  <a:srgbClr val="000000"/>
                </a:solidFill>
                <a:latin typeface="Calibri"/>
              </a:rPr>
              <a:t>Immediately after the foundation of People's Republic in 1949, banks were nationalized and consolidated. </a:t>
            </a:r>
            <a:endParaRPr b="0" lang="en-US" sz="23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300" spc="-1" strike="noStrike">
                <a:solidFill>
                  <a:srgbClr val="000000"/>
                </a:solidFill>
                <a:latin typeface="Calibri"/>
              </a:rPr>
              <a:t>During 1980s:  banking system expanded and diversified</a:t>
            </a:r>
            <a:endParaRPr b="0" lang="en-US" sz="2300" spc="-1" strike="noStrike">
              <a:solidFill>
                <a:srgbClr val="000000"/>
              </a:solidFill>
              <a:latin typeface="Calibri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100" spc="-1" strike="noStrike">
                <a:solidFill>
                  <a:srgbClr val="000000"/>
                </a:solidFill>
                <a:latin typeface="Calibri"/>
              </a:rPr>
              <a:t>From 1979 to 1985, the volume of deposits and loans nearly tripled </a:t>
            </a: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</a:pPr>
            <a:endParaRPr b="0" lang="en-US" sz="23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300" spc="-1" strike="noStrike">
                <a:solidFill>
                  <a:srgbClr val="000000"/>
                </a:solidFill>
                <a:latin typeface="Calibri"/>
              </a:rPr>
              <a:t>By 1987 the banking system included the </a:t>
            </a:r>
            <a:endParaRPr b="0" lang="en-US" sz="2300" spc="-1" strike="noStrike">
              <a:solidFill>
                <a:srgbClr val="000000"/>
              </a:solidFill>
              <a:latin typeface="Calibri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800" spc="-1" strike="noStrike">
                <a:solidFill>
                  <a:srgbClr val="000000"/>
                </a:solidFill>
                <a:latin typeface="Calibri"/>
              </a:rPr>
              <a:t>People's Bank of China, 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800" spc="-1" strike="noStrike">
                <a:solidFill>
                  <a:srgbClr val="000000"/>
                </a:solidFill>
                <a:latin typeface="Calibri"/>
              </a:rPr>
              <a:t>Agricultural Bank of China, 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800" spc="-1" strike="noStrike">
                <a:solidFill>
                  <a:srgbClr val="000000"/>
                </a:solidFill>
                <a:latin typeface="Calibri"/>
              </a:rPr>
              <a:t>Bank of China, 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800" spc="-1" strike="noStrike">
                <a:solidFill>
                  <a:srgbClr val="000000"/>
                </a:solidFill>
                <a:latin typeface="Calibri"/>
              </a:rPr>
              <a:t>China Investment Bank, 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800" spc="-1" strike="noStrike">
                <a:solidFill>
                  <a:srgbClr val="000000"/>
                </a:solidFill>
                <a:latin typeface="Calibri"/>
              </a:rPr>
              <a:t>China Industrial and Commercial Bank, 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800" spc="-1" strike="noStrike">
                <a:solidFill>
                  <a:srgbClr val="000000"/>
                </a:solidFill>
                <a:latin typeface="Calibri"/>
              </a:rPr>
              <a:t>People's Construction Bank, 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800" spc="-1" strike="noStrike">
                <a:solidFill>
                  <a:srgbClr val="000000"/>
                </a:solidFill>
                <a:latin typeface="Calibri"/>
              </a:rPr>
              <a:t>Communications Bank, 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800" spc="-1" strike="noStrike">
                <a:solidFill>
                  <a:srgbClr val="000000"/>
                </a:solidFill>
                <a:latin typeface="Calibri"/>
              </a:rPr>
              <a:t>People's Insurance Company of China, 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800" spc="-1" strike="noStrike">
                <a:solidFill>
                  <a:srgbClr val="000000"/>
                </a:solidFill>
                <a:latin typeface="Calibri"/>
              </a:rPr>
              <a:t>rural credit cooperatives, and 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800" spc="-1" strike="noStrike">
                <a:solidFill>
                  <a:srgbClr val="000000"/>
                </a:solidFill>
                <a:latin typeface="Calibri"/>
              </a:rPr>
              <a:t>urban credit cooperatives. 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3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GB" sz="2300" spc="-1" strike="noStrike">
                <a:solidFill>
                  <a:srgbClr val="000000"/>
                </a:solidFill>
                <a:latin typeface="Calibri"/>
              </a:rPr>
              <a:t>All banks were state owned. </a:t>
            </a:r>
            <a:endParaRPr b="0" lang="en-US" sz="23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3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GB" sz="2300" spc="-1" strike="noStrike">
                <a:solidFill>
                  <a:srgbClr val="000000"/>
                </a:solidFill>
                <a:latin typeface="Calibri"/>
              </a:rPr>
              <a:t>This helped China’s economic growth a lot. </a:t>
            </a:r>
            <a:endParaRPr b="0" lang="en-US" sz="23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53" dur="indefinite" restart="never" nodeType="tmRoot">
          <p:childTnLst>
            <p:seq>
              <p:cTn id="154" dur="indefinite" nodeType="mainSeq">
                <p:childTnLst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Rectangle 8"/>
          <p:cNvSpPr/>
          <p:nvPr/>
        </p:nvSpPr>
        <p:spPr>
          <a:xfrm>
            <a:off x="0" y="0"/>
            <a:ext cx="9143640" cy="6857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30" name="Freeform: Shape 10"/>
          <p:cNvSpPr/>
          <p:nvPr/>
        </p:nvSpPr>
        <p:spPr>
          <a:xfrm>
            <a:off x="0" y="0"/>
            <a:ext cx="4239720" cy="6857640"/>
          </a:xfrm>
          <a:custGeom>
            <a:avLst/>
            <a:gdLst/>
            <a:ahLst/>
            <a:rect l="l" t="t" r="r" b="b"/>
            <a:pathLst>
              <a:path w="6096000" h="6858000">
                <a:moveTo>
                  <a:pt x="0" y="0"/>
                </a:moveTo>
                <a:lnTo>
                  <a:pt x="5567517" y="0"/>
                </a:lnTo>
                <a:lnTo>
                  <a:pt x="5566938" y="1705"/>
                </a:lnTo>
                <a:cubicBezTo>
                  <a:pt x="5563126" y="8440"/>
                  <a:pt x="5558112" y="13784"/>
                  <a:pt x="5551594" y="17287"/>
                </a:cubicBezTo>
                <a:cubicBezTo>
                  <a:pt x="5562364" y="82036"/>
                  <a:pt x="5510349" y="69804"/>
                  <a:pt x="5545641" y="130336"/>
                </a:cubicBezTo>
                <a:cubicBezTo>
                  <a:pt x="5526953" y="117589"/>
                  <a:pt x="5536978" y="162458"/>
                  <a:pt x="5538289" y="187093"/>
                </a:cubicBezTo>
                <a:cubicBezTo>
                  <a:pt x="5536205" y="226511"/>
                  <a:pt x="5545722" y="205530"/>
                  <a:pt x="5545790" y="265704"/>
                </a:cubicBezTo>
                <a:cubicBezTo>
                  <a:pt x="5542296" y="317533"/>
                  <a:pt x="5543813" y="325288"/>
                  <a:pt x="5542313" y="354566"/>
                </a:cubicBezTo>
                <a:lnTo>
                  <a:pt x="5524126" y="472000"/>
                </a:lnTo>
                <a:lnTo>
                  <a:pt x="5522170" y="473782"/>
                </a:lnTo>
                <a:cubicBezTo>
                  <a:pt x="5517847" y="482008"/>
                  <a:pt x="5518682" y="487340"/>
                  <a:pt x="5521798" y="491380"/>
                </a:cubicBezTo>
                <a:lnTo>
                  <a:pt x="5536419" y="531675"/>
                </a:lnTo>
                <a:lnTo>
                  <a:pt x="5533435" y="536015"/>
                </a:lnTo>
                <a:lnTo>
                  <a:pt x="5538088" y="572092"/>
                </a:lnTo>
                <a:lnTo>
                  <a:pt x="5536061" y="572511"/>
                </a:lnTo>
                <a:cubicBezTo>
                  <a:pt x="5531611" y="574271"/>
                  <a:pt x="5528529" y="577121"/>
                  <a:pt x="5528218" y="582332"/>
                </a:cubicBezTo>
                <a:cubicBezTo>
                  <a:pt x="5498002" y="573171"/>
                  <a:pt x="5516262" y="585107"/>
                  <a:pt x="5518011" y="601285"/>
                </a:cubicBezTo>
                <a:cubicBezTo>
                  <a:pt x="5508838" y="617831"/>
                  <a:pt x="5480684" y="666964"/>
                  <a:pt x="5473174" y="681608"/>
                </a:cubicBezTo>
                <a:cubicBezTo>
                  <a:pt x="5473102" y="684122"/>
                  <a:pt x="5473033" y="686637"/>
                  <a:pt x="5472963" y="689151"/>
                </a:cubicBezTo>
                <a:lnTo>
                  <a:pt x="5472485" y="689289"/>
                </a:lnTo>
                <a:cubicBezTo>
                  <a:pt x="5471434" y="690905"/>
                  <a:pt x="5470986" y="693376"/>
                  <a:pt x="5471326" y="697222"/>
                </a:cubicBezTo>
                <a:cubicBezTo>
                  <a:pt x="5471606" y="703992"/>
                  <a:pt x="5471884" y="710761"/>
                  <a:pt x="5472164" y="717531"/>
                </a:cubicBezTo>
                <a:lnTo>
                  <a:pt x="5468891" y="722494"/>
                </a:lnTo>
                <a:lnTo>
                  <a:pt x="5463081" y="724368"/>
                </a:lnTo>
                <a:lnTo>
                  <a:pt x="5446981" y="752692"/>
                </a:lnTo>
                <a:cubicBezTo>
                  <a:pt x="5454691" y="764380"/>
                  <a:pt x="5422719" y="808083"/>
                  <a:pt x="5417190" y="816346"/>
                </a:cubicBezTo>
                <a:lnTo>
                  <a:pt x="5388958" y="889417"/>
                </a:lnTo>
                <a:cubicBezTo>
                  <a:pt x="5320491" y="969963"/>
                  <a:pt x="5321907" y="1005331"/>
                  <a:pt x="5307044" y="1063288"/>
                </a:cubicBezTo>
                <a:cubicBezTo>
                  <a:pt x="5313332" y="1111028"/>
                  <a:pt x="5317096" y="1110140"/>
                  <a:pt x="5303837" y="1157176"/>
                </a:cubicBezTo>
                <a:cubicBezTo>
                  <a:pt x="5301103" y="1192124"/>
                  <a:pt x="5301884" y="1197232"/>
                  <a:pt x="5286494" y="1210776"/>
                </a:cubicBezTo>
                <a:lnTo>
                  <a:pt x="5282463" y="1301993"/>
                </a:lnTo>
                <a:lnTo>
                  <a:pt x="5252235" y="1360879"/>
                </a:lnTo>
                <a:lnTo>
                  <a:pt x="5244497" y="1404045"/>
                </a:lnTo>
                <a:lnTo>
                  <a:pt x="5223823" y="1429568"/>
                </a:lnTo>
                <a:lnTo>
                  <a:pt x="5224851" y="1430305"/>
                </a:lnTo>
                <a:cubicBezTo>
                  <a:pt x="5226697" y="1432466"/>
                  <a:pt x="5214738" y="1459891"/>
                  <a:pt x="5212394" y="1463304"/>
                </a:cubicBezTo>
                <a:cubicBezTo>
                  <a:pt x="5209912" y="1477394"/>
                  <a:pt x="5213027" y="1501295"/>
                  <a:pt x="5209958" y="1514846"/>
                </a:cubicBezTo>
                <a:lnTo>
                  <a:pt x="5206417" y="1519731"/>
                </a:lnTo>
                <a:lnTo>
                  <a:pt x="5206640" y="1519929"/>
                </a:lnTo>
                <a:cubicBezTo>
                  <a:pt x="5206490" y="1521210"/>
                  <a:pt x="5209710" y="1543635"/>
                  <a:pt x="5207632" y="1546022"/>
                </a:cubicBezTo>
                <a:lnTo>
                  <a:pt x="5212030" y="1578752"/>
                </a:lnTo>
                <a:cubicBezTo>
                  <a:pt x="5206147" y="1605585"/>
                  <a:pt x="5226381" y="1622803"/>
                  <a:pt x="5203533" y="1647555"/>
                </a:cubicBezTo>
                <a:cubicBezTo>
                  <a:pt x="5198128" y="1672675"/>
                  <a:pt x="5203213" y="1694404"/>
                  <a:pt x="5190877" y="1715685"/>
                </a:cubicBezTo>
                <a:cubicBezTo>
                  <a:pt x="5196815" y="1724301"/>
                  <a:pt x="5198098" y="1732435"/>
                  <a:pt x="5184235" y="1740358"/>
                </a:cubicBezTo>
                <a:cubicBezTo>
                  <a:pt x="5182625" y="1763793"/>
                  <a:pt x="5198368" y="1769422"/>
                  <a:pt x="5181475" y="1784314"/>
                </a:cubicBezTo>
                <a:cubicBezTo>
                  <a:pt x="5205987" y="1797417"/>
                  <a:pt x="5195246" y="1798221"/>
                  <a:pt x="5185845" y="1804434"/>
                </a:cubicBezTo>
                <a:lnTo>
                  <a:pt x="5185068" y="1805316"/>
                </a:lnTo>
                <a:lnTo>
                  <a:pt x="5188593" y="1807109"/>
                </a:lnTo>
                <a:lnTo>
                  <a:pt x="5185920" y="1821003"/>
                </a:lnTo>
                <a:lnTo>
                  <a:pt x="5183543" y="1824832"/>
                </a:lnTo>
                <a:cubicBezTo>
                  <a:pt x="5182284" y="1827468"/>
                  <a:pt x="5181937" y="1829219"/>
                  <a:pt x="5182235" y="1830429"/>
                </a:cubicBezTo>
                <a:lnTo>
                  <a:pt x="5182525" y="1830569"/>
                </a:lnTo>
                <a:lnTo>
                  <a:pt x="5180663" y="1835810"/>
                </a:lnTo>
                <a:cubicBezTo>
                  <a:pt x="5176779" y="1844665"/>
                  <a:pt x="5172297" y="1853278"/>
                  <a:pt x="5167452" y="1861483"/>
                </a:cubicBezTo>
                <a:cubicBezTo>
                  <a:pt x="5179827" y="1866643"/>
                  <a:pt x="5166788" y="1884999"/>
                  <a:pt x="5174266" y="1892417"/>
                </a:cubicBezTo>
                <a:lnTo>
                  <a:pt x="5189262" y="1895114"/>
                </a:lnTo>
                <a:lnTo>
                  <a:pt x="5187100" y="1899379"/>
                </a:lnTo>
                <a:lnTo>
                  <a:pt x="5180471" y="1907867"/>
                </a:lnTo>
                <a:cubicBezTo>
                  <a:pt x="5179609" y="1909162"/>
                  <a:pt x="5179647" y="1909994"/>
                  <a:pt x="5181361" y="1910265"/>
                </a:cubicBezTo>
                <a:cubicBezTo>
                  <a:pt x="5180995" y="1914884"/>
                  <a:pt x="5177893" y="1930292"/>
                  <a:pt x="5178268" y="1935584"/>
                </a:cubicBezTo>
                <a:lnTo>
                  <a:pt x="5183619" y="1942021"/>
                </a:lnTo>
                <a:lnTo>
                  <a:pt x="5184480" y="1945112"/>
                </a:lnTo>
                <a:lnTo>
                  <a:pt x="5172776" y="1961162"/>
                </a:lnTo>
                <a:lnTo>
                  <a:pt x="5168513" y="1969445"/>
                </a:lnTo>
                <a:lnTo>
                  <a:pt x="5126597" y="2024270"/>
                </a:lnTo>
                <a:lnTo>
                  <a:pt x="5119528" y="2107942"/>
                </a:lnTo>
                <a:cubicBezTo>
                  <a:pt x="5089290" y="2138038"/>
                  <a:pt x="5110415" y="2159228"/>
                  <a:pt x="5110356" y="2193455"/>
                </a:cubicBezTo>
                <a:cubicBezTo>
                  <a:pt x="5101302" y="2220953"/>
                  <a:pt x="5110381" y="2224200"/>
                  <a:pt x="5104992" y="2260088"/>
                </a:cubicBezTo>
                <a:cubicBezTo>
                  <a:pt x="5096504" y="2291744"/>
                  <a:pt x="5078225" y="2299003"/>
                  <a:pt x="5059439" y="2335735"/>
                </a:cubicBezTo>
                <a:cubicBezTo>
                  <a:pt x="5029465" y="2329020"/>
                  <a:pt x="5058046" y="2407546"/>
                  <a:pt x="5022061" y="2408995"/>
                </a:cubicBezTo>
                <a:cubicBezTo>
                  <a:pt x="5023289" y="2413465"/>
                  <a:pt x="5019654" y="2441580"/>
                  <a:pt x="5022253" y="2445869"/>
                </a:cubicBezTo>
                <a:cubicBezTo>
                  <a:pt x="5022440" y="2449625"/>
                  <a:pt x="5011241" y="2492743"/>
                  <a:pt x="5011426" y="2496499"/>
                </a:cubicBezTo>
                <a:lnTo>
                  <a:pt x="4994224" y="2549900"/>
                </a:lnTo>
                <a:cubicBezTo>
                  <a:pt x="4992353" y="2564757"/>
                  <a:pt x="4998952" y="2582253"/>
                  <a:pt x="4995245" y="2596456"/>
                </a:cubicBezTo>
                <a:lnTo>
                  <a:pt x="4988570" y="2606088"/>
                </a:lnTo>
                <a:cubicBezTo>
                  <a:pt x="4988504" y="2615842"/>
                  <a:pt x="4988436" y="2625597"/>
                  <a:pt x="4988371" y="2635351"/>
                </a:cubicBezTo>
                <a:lnTo>
                  <a:pt x="4983212" y="2665666"/>
                </a:lnTo>
                <a:lnTo>
                  <a:pt x="4968234" y="2715895"/>
                </a:lnTo>
                <a:lnTo>
                  <a:pt x="4975888" y="2725052"/>
                </a:lnTo>
                <a:lnTo>
                  <a:pt x="4980195" y="2726489"/>
                </a:lnTo>
                <a:lnTo>
                  <a:pt x="4976218" y="2740278"/>
                </a:lnTo>
                <a:lnTo>
                  <a:pt x="4980571" y="2751112"/>
                </a:lnTo>
                <a:lnTo>
                  <a:pt x="4973893" y="2760208"/>
                </a:lnTo>
                <a:lnTo>
                  <a:pt x="4979005" y="2790136"/>
                </a:lnTo>
                <a:lnTo>
                  <a:pt x="4986137" y="2804183"/>
                </a:lnTo>
                <a:cubicBezTo>
                  <a:pt x="4986150" y="2811409"/>
                  <a:pt x="4986162" y="2818634"/>
                  <a:pt x="4986175" y="2825860"/>
                </a:cubicBezTo>
                <a:cubicBezTo>
                  <a:pt x="4987474" y="2843788"/>
                  <a:pt x="4992871" y="2886513"/>
                  <a:pt x="4993936" y="2911749"/>
                </a:cubicBezTo>
                <a:cubicBezTo>
                  <a:pt x="4993313" y="2946689"/>
                  <a:pt x="4980300" y="2954448"/>
                  <a:pt x="4992563" y="2977278"/>
                </a:cubicBezTo>
                <a:cubicBezTo>
                  <a:pt x="4985688" y="2983455"/>
                  <a:pt x="4982051" y="2987749"/>
                  <a:pt x="4980516" y="2991092"/>
                </a:cubicBezTo>
                <a:cubicBezTo>
                  <a:pt x="4975910" y="3001119"/>
                  <a:pt x="4990216" y="3002537"/>
                  <a:pt x="4992801" y="3020247"/>
                </a:cubicBezTo>
                <a:cubicBezTo>
                  <a:pt x="4998517" y="3032637"/>
                  <a:pt x="5013148" y="3051512"/>
                  <a:pt x="5014805" y="3065434"/>
                </a:cubicBezTo>
                <a:cubicBezTo>
                  <a:pt x="4998836" y="3057428"/>
                  <a:pt x="5016840" y="3105196"/>
                  <a:pt x="5002733" y="3103777"/>
                </a:cubicBezTo>
                <a:cubicBezTo>
                  <a:pt x="5022381" y="3124610"/>
                  <a:pt x="4997365" y="3128169"/>
                  <a:pt x="5002941" y="3151828"/>
                </a:cubicBezTo>
                <a:cubicBezTo>
                  <a:pt x="5010264" y="3163902"/>
                  <a:pt x="5011356" y="3171780"/>
                  <a:pt x="5002883" y="3180546"/>
                </a:cubicBezTo>
                <a:cubicBezTo>
                  <a:pt x="5038586" y="3236545"/>
                  <a:pt x="5003723" y="3210316"/>
                  <a:pt x="5016711" y="3258677"/>
                </a:cubicBezTo>
                <a:lnTo>
                  <a:pt x="5017918" y="3262610"/>
                </a:lnTo>
                <a:lnTo>
                  <a:pt x="5011672" y="3277179"/>
                </a:lnTo>
                <a:lnTo>
                  <a:pt x="5009344" y="3278130"/>
                </a:lnTo>
                <a:lnTo>
                  <a:pt x="5026770" y="3325671"/>
                </a:lnTo>
                <a:lnTo>
                  <a:pt x="5024571" y="3332072"/>
                </a:lnTo>
                <a:lnTo>
                  <a:pt x="5041705" y="3362948"/>
                </a:lnTo>
                <a:lnTo>
                  <a:pt x="5047477" y="3378959"/>
                </a:lnTo>
                <a:lnTo>
                  <a:pt x="5060758" y="3407057"/>
                </a:lnTo>
                <a:lnTo>
                  <a:pt x="5058968" y="3409825"/>
                </a:lnTo>
                <a:lnTo>
                  <a:pt x="5062667" y="3415218"/>
                </a:lnTo>
                <a:lnTo>
                  <a:pt x="5060928" y="3419880"/>
                </a:lnTo>
                <a:lnTo>
                  <a:pt x="5062923" y="3424545"/>
                </a:lnTo>
                <a:cubicBezTo>
                  <a:pt x="5063537" y="3433967"/>
                  <a:pt x="5063494" y="3466028"/>
                  <a:pt x="5064623" y="3476412"/>
                </a:cubicBezTo>
                <a:lnTo>
                  <a:pt x="5069684" y="3486850"/>
                </a:lnTo>
                <a:lnTo>
                  <a:pt x="5063339" y="3496391"/>
                </a:lnTo>
                <a:lnTo>
                  <a:pt x="5070139" y="3531201"/>
                </a:lnTo>
                <a:lnTo>
                  <a:pt x="5079896" y="3542019"/>
                </a:lnTo>
                <a:lnTo>
                  <a:pt x="5087540" y="3552249"/>
                </a:lnTo>
                <a:lnTo>
                  <a:pt x="5087902" y="3553678"/>
                </a:lnTo>
                <a:lnTo>
                  <a:pt x="5091509" y="3568021"/>
                </a:lnTo>
                <a:lnTo>
                  <a:pt x="5091934" y="3569719"/>
                </a:lnTo>
                <a:lnTo>
                  <a:pt x="5089362" y="3586412"/>
                </a:lnTo>
                <a:lnTo>
                  <a:pt x="5092358" y="3597336"/>
                </a:lnTo>
                <a:lnTo>
                  <a:pt x="5084254" y="3606007"/>
                </a:lnTo>
                <a:cubicBezTo>
                  <a:pt x="5084262" y="3617747"/>
                  <a:pt x="5084273" y="3629488"/>
                  <a:pt x="5084281" y="3641228"/>
                </a:cubicBezTo>
                <a:lnTo>
                  <a:pt x="5091848" y="3653088"/>
                </a:lnTo>
                <a:lnTo>
                  <a:pt x="5097436" y="3664114"/>
                </a:lnTo>
                <a:cubicBezTo>
                  <a:pt x="5097463" y="3664599"/>
                  <a:pt x="5097491" y="3665084"/>
                  <a:pt x="5097518" y="3665569"/>
                </a:cubicBezTo>
                <a:cubicBezTo>
                  <a:pt x="5097915" y="3672776"/>
                  <a:pt x="5096966" y="3688591"/>
                  <a:pt x="5099829" y="3707357"/>
                </a:cubicBezTo>
                <a:cubicBezTo>
                  <a:pt x="5100505" y="3724716"/>
                  <a:pt x="5118078" y="3760234"/>
                  <a:pt x="5114696" y="3778166"/>
                </a:cubicBezTo>
                <a:cubicBezTo>
                  <a:pt x="5141627" y="3845122"/>
                  <a:pt x="5125427" y="3821305"/>
                  <a:pt x="5135379" y="3878222"/>
                </a:cubicBezTo>
                <a:cubicBezTo>
                  <a:pt x="5161519" y="3905047"/>
                  <a:pt x="5125417" y="4015047"/>
                  <a:pt x="5130138" y="4048117"/>
                </a:cubicBezTo>
                <a:cubicBezTo>
                  <a:pt x="5081804" y="4192084"/>
                  <a:pt x="5096262" y="4158987"/>
                  <a:pt x="5090040" y="4219510"/>
                </a:cubicBezTo>
                <a:cubicBezTo>
                  <a:pt x="5104553" y="4280033"/>
                  <a:pt x="5065380" y="4345686"/>
                  <a:pt x="5092812" y="4411258"/>
                </a:cubicBezTo>
                <a:cubicBezTo>
                  <a:pt x="5090630" y="4437329"/>
                  <a:pt x="5083878" y="4473140"/>
                  <a:pt x="5084599" y="4488531"/>
                </a:cubicBezTo>
                <a:cubicBezTo>
                  <a:pt x="5084423" y="4505410"/>
                  <a:pt x="5084248" y="4522289"/>
                  <a:pt x="5084072" y="4539168"/>
                </a:cubicBezTo>
                <a:cubicBezTo>
                  <a:pt x="5072114" y="4567830"/>
                  <a:pt x="5064305" y="4588197"/>
                  <a:pt x="5068936" y="4625153"/>
                </a:cubicBezTo>
                <a:cubicBezTo>
                  <a:pt x="5077433" y="4662889"/>
                  <a:pt x="5065899" y="4679357"/>
                  <a:pt x="5059114" y="4733115"/>
                </a:cubicBezTo>
                <a:cubicBezTo>
                  <a:pt x="5068687" y="4752352"/>
                  <a:pt x="5055370" y="4832308"/>
                  <a:pt x="5037209" y="4844323"/>
                </a:cubicBezTo>
                <a:cubicBezTo>
                  <a:pt x="5033444" y="4857054"/>
                  <a:pt x="5040194" y="4871554"/>
                  <a:pt x="5020638" y="4877992"/>
                </a:cubicBezTo>
                <a:cubicBezTo>
                  <a:pt x="4997151" y="4888353"/>
                  <a:pt x="5034418" y="4931200"/>
                  <a:pt x="5006413" y="4925805"/>
                </a:cubicBezTo>
                <a:cubicBezTo>
                  <a:pt x="5031964" y="4956261"/>
                  <a:pt x="4982840" y="4982633"/>
                  <a:pt x="4971037" y="5009272"/>
                </a:cubicBezTo>
                <a:cubicBezTo>
                  <a:pt x="4973259" y="5034036"/>
                  <a:pt x="4968375" y="5053859"/>
                  <a:pt x="4963105" y="5111369"/>
                </a:cubicBezTo>
                <a:cubicBezTo>
                  <a:pt x="4973224" y="5141336"/>
                  <a:pt x="4937413" y="5161742"/>
                  <a:pt x="4976341" y="5210876"/>
                </a:cubicBezTo>
                <a:cubicBezTo>
                  <a:pt x="4972455" y="5212581"/>
                  <a:pt x="4977054" y="5227501"/>
                  <a:pt x="4980617" y="5269726"/>
                </a:cubicBezTo>
                <a:cubicBezTo>
                  <a:pt x="4984182" y="5311951"/>
                  <a:pt x="4990390" y="5400671"/>
                  <a:pt x="4997733" y="5464225"/>
                </a:cubicBezTo>
                <a:cubicBezTo>
                  <a:pt x="5001765" y="5536542"/>
                  <a:pt x="4990225" y="5517959"/>
                  <a:pt x="5001400" y="5594585"/>
                </a:cubicBezTo>
                <a:cubicBezTo>
                  <a:pt x="4999908" y="5619318"/>
                  <a:pt x="4974042" y="5647975"/>
                  <a:pt x="4983700" y="5667896"/>
                </a:cubicBezTo>
                <a:cubicBezTo>
                  <a:pt x="4976834" y="5696311"/>
                  <a:pt x="4975579" y="5738356"/>
                  <a:pt x="4968506" y="5769225"/>
                </a:cubicBezTo>
                <a:cubicBezTo>
                  <a:pt x="4968926" y="5787258"/>
                  <a:pt x="4969344" y="5805291"/>
                  <a:pt x="4969765" y="5823324"/>
                </a:cubicBezTo>
                <a:cubicBezTo>
                  <a:pt x="4966122" y="5853058"/>
                  <a:pt x="4965608" y="5838948"/>
                  <a:pt x="4966129" y="5862699"/>
                </a:cubicBezTo>
                <a:lnTo>
                  <a:pt x="4970695" y="5906467"/>
                </a:lnTo>
                <a:lnTo>
                  <a:pt x="4991568" y="5939847"/>
                </a:lnTo>
                <a:cubicBezTo>
                  <a:pt x="4998848" y="5955713"/>
                  <a:pt x="4974731" y="5940131"/>
                  <a:pt x="4986815" y="5973994"/>
                </a:cubicBezTo>
                <a:cubicBezTo>
                  <a:pt x="4961187" y="5997051"/>
                  <a:pt x="4983444" y="6032039"/>
                  <a:pt x="4987776" y="6089693"/>
                </a:cubicBezTo>
                <a:lnTo>
                  <a:pt x="4991621" y="6224938"/>
                </a:lnTo>
                <a:cubicBezTo>
                  <a:pt x="4988442" y="6270972"/>
                  <a:pt x="5008962" y="6317522"/>
                  <a:pt x="5017157" y="6370251"/>
                </a:cubicBezTo>
                <a:cubicBezTo>
                  <a:pt x="5025353" y="6422980"/>
                  <a:pt x="5039938" y="6490855"/>
                  <a:pt x="5040797" y="6541313"/>
                </a:cubicBezTo>
                <a:cubicBezTo>
                  <a:pt x="5039898" y="6576319"/>
                  <a:pt x="5031912" y="6591883"/>
                  <a:pt x="5045375" y="6640957"/>
                </a:cubicBezTo>
                <a:cubicBezTo>
                  <a:pt x="5057505" y="6669536"/>
                  <a:pt x="5052276" y="6675394"/>
                  <a:pt x="5058442" y="6705297"/>
                </a:cubicBezTo>
                <a:cubicBezTo>
                  <a:pt x="5057367" y="6727133"/>
                  <a:pt x="5067901" y="6732087"/>
                  <a:pt x="5071125" y="6759582"/>
                </a:cubicBezTo>
                <a:cubicBezTo>
                  <a:pt x="5055614" y="6796071"/>
                  <a:pt x="5051656" y="6769544"/>
                  <a:pt x="5069172" y="6817746"/>
                </a:cubicBezTo>
                <a:cubicBezTo>
                  <a:pt x="5060956" y="6828354"/>
                  <a:pt x="5064525" y="6836369"/>
                  <a:pt x="5072322" y="6843646"/>
                </a:cubicBezTo>
                <a:lnTo>
                  <a:pt x="5091388" y="6857998"/>
                </a:lnTo>
                <a:lnTo>
                  <a:pt x="6096000" y="6857998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31" name="PlaceHolder 1"/>
          <p:cNvSpPr>
            <a:spLocks noGrp="1"/>
          </p:cNvSpPr>
          <p:nvPr>
            <p:ph/>
          </p:nvPr>
        </p:nvSpPr>
        <p:spPr>
          <a:xfrm>
            <a:off x="352080" y="2651400"/>
            <a:ext cx="2850120" cy="20509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700" spc="-1" strike="noStrike">
                <a:solidFill>
                  <a:srgbClr val="000000"/>
                </a:solidFill>
                <a:latin typeface="Calibri"/>
              </a:rPr>
              <a:t>By 2016, the size of Chinese banking assets surpassed e</a:t>
            </a:r>
            <a:r>
              <a:rPr b="0" lang="en-GB" sz="1800" spc="-1" strike="noStrike">
                <a:solidFill>
                  <a:srgbClr val="000000"/>
                </a:solidFill>
                <a:latin typeface="Calibri"/>
              </a:rPr>
              <a:t>ven all euro area banking systems put together.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32" name="Picture 3" descr=""/>
          <p:cNvPicPr/>
          <p:nvPr/>
        </p:nvPicPr>
        <p:blipFill>
          <a:blip r:embed="rId1"/>
          <a:stretch/>
        </p:blipFill>
        <p:spPr>
          <a:xfrm>
            <a:off x="3304800" y="1642320"/>
            <a:ext cx="6096240" cy="3840480"/>
          </a:xfrm>
          <a:prstGeom prst="rect">
            <a:avLst/>
          </a:prstGeom>
          <a:ln w="0">
            <a:noFill/>
          </a:ln>
        </p:spPr>
      </p:pic>
      <p:sp>
        <p:nvSpPr>
          <p:cNvPr id="133" name="TextBox 4"/>
          <p:cNvSpPr/>
          <p:nvPr/>
        </p:nvSpPr>
        <p:spPr>
          <a:xfrm>
            <a:off x="7598520" y="1642320"/>
            <a:ext cx="1802520" cy="36900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4" name="TextBox 7"/>
          <p:cNvSpPr/>
          <p:nvPr/>
        </p:nvSpPr>
        <p:spPr>
          <a:xfrm>
            <a:off x="3356280" y="5673960"/>
            <a:ext cx="4737960" cy="72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Calibri"/>
              </a:rPr>
              <a:t>From the article on the reding list, also available at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GB" sz="1400" spc="-1" strike="noStrike" u="sng">
                <a:solidFill>
                  <a:srgbClr val="0563c1"/>
                </a:solidFill>
                <a:uFillTx/>
                <a:latin typeface="Calibri"/>
                <a:hlinkClick r:id="rId2"/>
              </a:rPr>
              <a:t>https://voxeu.org/article/chinese-banking-system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5745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>
              <a:lnSpc>
                <a:spcPct val="90000"/>
              </a:lnSpc>
              <a:buNone/>
            </a:pPr>
            <a:r>
              <a:rPr b="0" lang="en-GB" sz="2800" spc="-1" strike="noStrike">
                <a:solidFill>
                  <a:srgbClr val="0070c0"/>
                </a:solidFill>
                <a:latin typeface="Calibri Light"/>
              </a:rPr>
              <a:t>Chinese Banking system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/>
          </p:nvPr>
        </p:nvSpPr>
        <p:spPr>
          <a:xfrm>
            <a:off x="628560" y="1197720"/>
            <a:ext cx="7886520" cy="4978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6000"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4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GB" sz="2400" spc="-1" strike="noStrike">
                <a:solidFill>
                  <a:srgbClr val="000000"/>
                </a:solidFill>
                <a:latin typeface="Calibri"/>
              </a:rPr>
              <a:t>4 largest Chinese Banks are state-owned enterprises. 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000" spc="-1" strike="noStrike">
                <a:solidFill>
                  <a:srgbClr val="000000"/>
                </a:solidFill>
                <a:latin typeface="Calibri"/>
              </a:rPr>
              <a:t>Other banks have some state ownership, as well as private ownership through shares sold in stock markets  (in Shanghai, Shenzhen and Hong Kong stock markets). 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400" spc="-1" strike="noStrike">
                <a:solidFill>
                  <a:srgbClr val="000000"/>
                </a:solidFill>
                <a:latin typeface="Calibri"/>
              </a:rPr>
              <a:t>“</a:t>
            </a:r>
            <a:r>
              <a:rPr b="0" lang="en-GB" sz="2400" spc="-1" strike="noStrike">
                <a:solidFill>
                  <a:srgbClr val="000000"/>
                </a:solidFill>
                <a:latin typeface="Calibri"/>
              </a:rPr>
              <a:t>Big Four” have 50% of the market share (relatively concentrated market)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</a:pP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400" spc="-1" strike="noStrike">
                <a:solidFill>
                  <a:srgbClr val="000000"/>
                </a:solidFill>
                <a:latin typeface="Calibri"/>
              </a:rPr>
              <a:t>Banks dominate the Chinese financial system, providing the loans amounting to about 128% of Gross Domestic Product (GDP) in 2012 (compared to 48% for the US).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</a:pP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400" spc="-1" strike="noStrike">
                <a:solidFill>
                  <a:srgbClr val="000000"/>
                </a:solidFill>
                <a:latin typeface="Calibri"/>
              </a:rPr>
              <a:t>The banking sector is more focused on state-owned enterprises, large development and infrastructure projects and politically favoured businesses.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</a:pP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400" spc="-1" strike="noStrike">
                <a:solidFill>
                  <a:srgbClr val="000000"/>
                </a:solidFill>
                <a:latin typeface="Calibri"/>
              </a:rPr>
              <a:t>This focus of banking sector helped  fuel China’s economic development. 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97" dur="indefinite" restart="never" nodeType="tmRoot">
          <p:childTnLst>
            <p:seq>
              <p:cTn id="198" dur="indefinite" nodeType="mainSeq">
                <p:childTnLst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indefinite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8578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>
              <a:lnSpc>
                <a:spcPct val="90000"/>
              </a:lnSpc>
              <a:buNone/>
            </a:pPr>
            <a:r>
              <a:rPr b="0" lang="en-GB" sz="2800" spc="-1" strike="noStrike">
                <a:solidFill>
                  <a:srgbClr val="0070c0"/>
                </a:solidFill>
                <a:latin typeface="Calibri Light"/>
              </a:rPr>
              <a:t>Chinese Banking system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/>
          </p:nvPr>
        </p:nvSpPr>
        <p:spPr>
          <a:xfrm>
            <a:off x="628560" y="1455480"/>
            <a:ext cx="7886520" cy="4721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8000"/>
          </a:bodyPr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GB" sz="2400" spc="-1" strike="noStrike">
                <a:solidFill>
                  <a:srgbClr val="000000"/>
                </a:solidFill>
                <a:latin typeface="Calibri"/>
              </a:rPr>
              <a:t>Downsides to having a state-owned banking system: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GB" sz="2400" spc="-1" strike="noStrike">
                <a:solidFill>
                  <a:srgbClr val="000000"/>
                </a:solidFill>
                <a:latin typeface="Calibri"/>
              </a:rPr>
              <a:t>1) Borrowing is hard for small businesses. 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GB" sz="2000" spc="-1" strike="noStrike">
                <a:solidFill>
                  <a:srgbClr val="000000"/>
                </a:solidFill>
                <a:latin typeface="Calibri"/>
              </a:rPr>
              <a:t>Small businesses end up relying on loan sharks, pawn brokers, informal cooperatives of locals lending to each other…channels outside of formal banking sector (sometimes referred as shadow banking). 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GB" sz="2400" spc="-1" strike="noStrike" u="sng">
                <a:solidFill>
                  <a:srgbClr val="0563c1"/>
                </a:solidFill>
                <a:uFillTx/>
                <a:latin typeface="Calibri"/>
                <a:hlinkClick r:id="rId1"/>
              </a:rPr>
              <a:t>China's leaders are well aware that there's too much infrastructure spending and too little spending by consumers. 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GB" sz="2400" spc="-1" strike="noStrike">
                <a:solidFill>
                  <a:srgbClr val="000000"/>
                </a:solidFill>
                <a:latin typeface="Calibri"/>
              </a:rPr>
              <a:t>2) For large banks, non-performing loans (NPL) was a serious problem in mid-2000s, shaking the confidence in the Chinese banking system.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GB" sz="2000" spc="-1" strike="noStrike">
                <a:solidFill>
                  <a:srgbClr val="000000"/>
                </a:solidFill>
                <a:latin typeface="Calibri"/>
              </a:rPr>
              <a:t>Due to excessive loans to state-owned enterprises before 2000.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GB" sz="2400" spc="-1" strike="noStrike">
                <a:solidFill>
                  <a:srgbClr val="000000"/>
                </a:solidFill>
                <a:latin typeface="Calibri"/>
              </a:rPr>
              <a:t>The Chinese government injected a lot of funds into the banking system to strengthen it. 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21" dur="indefinite" restart="never" nodeType="tmRoot">
          <p:childTnLst>
            <p:seq>
              <p:cTn id="222" dur="indefinite" nodeType="mainSeq">
                <p:childTnLst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>
                      <p:stCondLst>
                        <p:cond delay="indefinite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>
                      <p:stCondLst>
                        <p:cond delay="indefinite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>
                      <p:stCondLst>
                        <p:cond delay="indefinite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>
                      <p:stCondLst>
                        <p:cond delay="indefinite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8102880" cy="8323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6000"/>
          </a:bodyPr>
          <a:p>
            <a:pPr>
              <a:lnSpc>
                <a:spcPct val="90000"/>
              </a:lnSpc>
              <a:buNone/>
            </a:pPr>
            <a:r>
              <a:rPr b="1" lang="en-GB" sz="2800" spc="-1" strike="noStrike">
                <a:solidFill>
                  <a:srgbClr val="0070c0"/>
                </a:solidFill>
                <a:latin typeface="Calibri Light"/>
              </a:rPr>
              <a:t>Increasing role of Chinese banks in the rest of the world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0" name="PlaceHolder 2"/>
          <p:cNvSpPr>
            <a:spLocks noGrp="1"/>
          </p:cNvSpPr>
          <p:nvPr>
            <p:ph/>
          </p:nvPr>
        </p:nvSpPr>
        <p:spPr>
          <a:xfrm>
            <a:off x="628560" y="1352160"/>
            <a:ext cx="7886520" cy="48243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i="1" lang="en-GB" sz="1600" spc="-1" strike="noStrike">
                <a:solidFill>
                  <a:srgbClr val="000000"/>
                </a:solidFill>
                <a:latin typeface="Calibri"/>
              </a:rPr>
              <a:t>Based on the article “The Chinese banking system: Much more than a domestic giant,” in the reading list</a:t>
            </a:r>
            <a:r>
              <a:rPr b="0" lang="en-GB" sz="1600" spc="-1" strike="noStrike">
                <a:solidFill>
                  <a:srgbClr val="000000"/>
                </a:solidFill>
                <a:latin typeface="Calibri"/>
              </a:rPr>
              <a:t>.</a:t>
            </a: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GB" sz="1600" spc="-1" strike="noStrike">
                <a:solidFill>
                  <a:srgbClr val="000000"/>
                </a:solidFill>
                <a:latin typeface="Calibri"/>
              </a:rPr>
              <a:t>Growth in Total assets of banks in China by portfolio type</a:t>
            </a: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41" name="Picture 3" descr=""/>
          <p:cNvPicPr/>
          <p:nvPr/>
        </p:nvPicPr>
        <p:blipFill>
          <a:blip r:embed="rId1"/>
          <a:stretch/>
        </p:blipFill>
        <p:spPr>
          <a:xfrm>
            <a:off x="2087280" y="2916360"/>
            <a:ext cx="5262480" cy="3575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4845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6000"/>
          </a:bodyPr>
          <a:p>
            <a:pPr>
              <a:lnSpc>
                <a:spcPct val="90000"/>
              </a:lnSpc>
              <a:buNone/>
            </a:pPr>
            <a:r>
              <a:rPr b="0" lang="en-GB" sz="2400" spc="-1" strike="noStrike">
                <a:solidFill>
                  <a:srgbClr val="0070c0"/>
                </a:solidFill>
                <a:latin typeface="Calibri Light"/>
              </a:rPr>
              <a:t>Cross-border lending of various countries, by 2017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3" name="PlaceHolder 2"/>
          <p:cNvSpPr>
            <a:spLocks noGrp="1"/>
          </p:cNvSpPr>
          <p:nvPr>
            <p:ph/>
          </p:nvPr>
        </p:nvSpPr>
        <p:spPr>
          <a:xfrm>
            <a:off x="628560" y="4881240"/>
            <a:ext cx="7886520" cy="12956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9000"/>
          </a:bodyPr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GB" sz="2000" spc="-1" strike="noStrike">
                <a:solidFill>
                  <a:srgbClr val="000000"/>
                </a:solidFill>
                <a:latin typeface="Calibri"/>
              </a:rPr>
              <a:t>Why would countries (through their banks) lend money to residents of other countries?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GB" sz="2000" spc="-1" strike="noStrike">
                <a:solidFill>
                  <a:srgbClr val="000000"/>
                </a:solidFill>
                <a:latin typeface="Calibri"/>
              </a:rPr>
              <a:t>To support payments for international trade 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GB" sz="2000" spc="-1" strike="noStrike">
                <a:solidFill>
                  <a:srgbClr val="000000"/>
                </a:solidFill>
                <a:latin typeface="Calibri"/>
              </a:rPr>
              <a:t>To invest in real investment projects 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GB" sz="2000" spc="-1" strike="noStrike">
                <a:solidFill>
                  <a:srgbClr val="000000"/>
                </a:solidFill>
                <a:latin typeface="Calibri"/>
              </a:rPr>
              <a:t>To invest in financial opportunities not available at home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44" name="Picture 3" descr=""/>
          <p:cNvPicPr/>
          <p:nvPr/>
        </p:nvPicPr>
        <p:blipFill>
          <a:blip r:embed="rId1"/>
          <a:stretch/>
        </p:blipFill>
        <p:spPr>
          <a:xfrm>
            <a:off x="0" y="796320"/>
            <a:ext cx="9143640" cy="3951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47" dur="indefinite" restart="never" nodeType="tmRoot">
          <p:childTnLst>
            <p:seq>
              <p:cTn id="248" dur="indefinite" nodeType="mainSeq">
                <p:childTnLst>
                  <p:par>
                    <p:cTn id="249" fill="hold">
                      <p:stCondLst>
                        <p:cond delay="indefinite"/>
                      </p:stCondLst>
                      <p:childTnLst>
                        <p:par>
                          <p:cTn id="250" fill="hold">
                            <p:stCondLst>
                              <p:cond delay="0"/>
                            </p:stCondLst>
                            <p:childTnLst>
                              <p:par>
                                <p:cTn id="25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3" fill="hold">
                      <p:stCondLst>
                        <p:cond delay="indefinite"/>
                      </p:stCondLst>
                      <p:childTnLst>
                        <p:par>
                          <p:cTn id="254" fill="hold">
                            <p:stCondLst>
                              <p:cond delay="0"/>
                            </p:stCondLst>
                            <p:childTnLst>
                              <p:par>
                                <p:cTn id="25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7" fill="hold">
                      <p:stCondLst>
                        <p:cond delay="indefinite"/>
                      </p:stCondLst>
                      <p:childTnLst>
                        <p:par>
                          <p:cTn id="258" fill="hold">
                            <p:stCondLst>
                              <p:cond delay="0"/>
                            </p:stCondLst>
                            <p:childTnLst>
                              <p:par>
                                <p:cTn id="25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1" fill="hold">
                      <p:stCondLst>
                        <p:cond delay="indefinite"/>
                      </p:stCondLst>
                      <p:childTnLst>
                        <p:par>
                          <p:cTn id="262" fill="hold">
                            <p:stCondLst>
                              <p:cond delay="0"/>
                            </p:stCondLst>
                            <p:childTnLst>
                              <p:par>
                                <p:cTn id="26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/>
          </p:nvPr>
        </p:nvSpPr>
        <p:spPr>
          <a:xfrm>
            <a:off x="628560" y="6146280"/>
            <a:ext cx="7886520" cy="6256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7000"/>
          </a:bodyPr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GB" sz="2000" spc="-1" strike="noStrike">
                <a:solidFill>
                  <a:srgbClr val="000000"/>
                </a:solidFill>
                <a:latin typeface="Calibri"/>
              </a:rPr>
              <a:t>No apparent relationship between trade and banking linkages with China. 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47" name="Picture 5" descr=""/>
          <p:cNvPicPr/>
          <p:nvPr/>
        </p:nvPicPr>
        <p:blipFill>
          <a:blip r:embed="rId1"/>
          <a:stretch/>
        </p:blipFill>
        <p:spPr>
          <a:xfrm>
            <a:off x="666720" y="0"/>
            <a:ext cx="7810200" cy="5811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65" dur="indefinite" restart="never" nodeType="tmRoot">
          <p:childTnLst>
            <p:seq>
              <p:cTn id="266" dur="indefinite" nodeType="mainSeq">
                <p:childTnLst>
                  <p:par>
                    <p:cTn id="267" fill="hold">
                      <p:stCondLst>
                        <p:cond delay="indefinite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9" name="PlaceHolder 2"/>
          <p:cNvSpPr>
            <a:spLocks noGrp="1"/>
          </p:cNvSpPr>
          <p:nvPr>
            <p:ph/>
          </p:nvPr>
        </p:nvSpPr>
        <p:spPr>
          <a:xfrm>
            <a:off x="0" y="5971320"/>
            <a:ext cx="8886240" cy="8290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9000"/>
          </a:bodyPr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GB" sz="1600" spc="-1" strike="noStrike">
                <a:solidFill>
                  <a:srgbClr val="000000"/>
                </a:solidFill>
                <a:latin typeface="Calibri"/>
              </a:rPr>
              <a:t>China’s cross-border lending seems to be more correlated with its outward Foreign Direct Investment (FDI). </a:t>
            </a: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GB" sz="1600" spc="-1" strike="noStrike">
                <a:solidFill>
                  <a:srgbClr val="000000"/>
                </a:solidFill>
                <a:latin typeface="Calibri"/>
              </a:rPr>
              <a:t>Lending from Chinese banks has been used to fund the construction of large-scale infrastructure projects overseas</a:t>
            </a: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50" name="Picture 3" descr=""/>
          <p:cNvPicPr/>
          <p:nvPr/>
        </p:nvPicPr>
        <p:blipFill>
          <a:blip r:embed="rId1"/>
          <a:stretch/>
        </p:blipFill>
        <p:spPr>
          <a:xfrm>
            <a:off x="654120" y="57240"/>
            <a:ext cx="7664400" cy="5763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71" dur="indefinite" restart="never" nodeType="tmRoot">
          <p:childTnLst>
            <p:seq>
              <p:cTn id="272" dur="indefinite" nodeType="mainSeq">
                <p:childTnLst>
                  <p:par>
                    <p:cTn id="273" fill="hold">
                      <p:stCondLst>
                        <p:cond delay="indefinite"/>
                      </p:stCondLst>
                      <p:childTnLst>
                        <p:par>
                          <p:cTn id="274" fill="hold">
                            <p:stCondLst>
                              <p:cond delay="0"/>
                            </p:stCondLst>
                            <p:childTnLst>
                              <p:par>
                                <p:cTn id="27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7" fill="hold">
                      <p:stCondLst>
                        <p:cond delay="indefinite"/>
                      </p:stCondLst>
                      <p:childTnLst>
                        <p:par>
                          <p:cTn id="278" fill="hold">
                            <p:stCondLst>
                              <p:cond delay="0"/>
                            </p:stCondLst>
                            <p:childTnLst>
                              <p:par>
                                <p:cTn id="27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628560" y="2489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1" lang="en-US" sz="2800" spc="-1" strike="noStrike">
                <a:solidFill>
                  <a:srgbClr val="000000"/>
                </a:solidFill>
                <a:latin typeface="Calibri"/>
              </a:rPr>
              <a:t>Thank you</a:t>
            </a:r>
            <a:endParaRPr b="1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156</TotalTime>
  <Application>LibreOffice/7.3.7.2$Linux_X86_64 LibreOffice_project/30$Build-2</Application>
  <AppVersion>15.0000</AppVersion>
  <Words>1720</Words>
  <Paragraphs>225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2021-11-13T17:43:09Z</dcterms:created>
  <dc:creator>Armagan Gezici</dc:creator>
  <dc:description/>
  <dc:language>en-US</dc:language>
  <cp:lastModifiedBy>John</cp:lastModifiedBy>
  <dcterms:modified xsi:type="dcterms:W3CDTF">2025-10-22T11:02:25Z</dcterms:modified>
  <cp:revision>5</cp:revision>
  <dc:subject/>
  <dc:title>Banking systems across the World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3</vt:i4>
  </property>
  <property fmtid="{D5CDD505-2E9C-101B-9397-08002B2CF9AE}" pid="3" name="PresentationFormat">
    <vt:lpwstr>On-screen Show (4:3)</vt:lpwstr>
  </property>
  <property fmtid="{D5CDD505-2E9C-101B-9397-08002B2CF9AE}" pid="4" name="Slides">
    <vt:i4>24</vt:i4>
  </property>
</Properties>
</file>