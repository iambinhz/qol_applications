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9.png" ContentType="image/png"/>
  <Override PartName="/ppt/slides/_rels/slide2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_rels/notesSlide14.xml.rels" ContentType="application/vnd.openxmlformats-package.relationships+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1" lang="en-GB" sz="1800" spc="-1" strike="noStrike">
                <a:solidFill>
                  <a:srgbClr val="595959"/>
                </a:solidFill>
                <a:latin typeface="Calibri"/>
              </a:defRPr>
            </a:pPr>
            <a:r>
              <a:rPr b="1" lang="en-GB" sz="1800" spc="-1" strike="noStrike">
                <a:solidFill>
                  <a:srgbClr val="595959"/>
                </a:solidFill>
                <a:latin typeface="Calibri"/>
              </a:rPr>
              <a:t>Employee contributions as a % of total contributions in pension funds
(OECD Statistics 2021)</a:t>
            </a:r>
          </a:p>
        </c:rich>
      </c:tx>
      <c:overlay val="0"/>
      <c:spPr>
        <a:noFill/>
        <a:ln w="0">
          <a:noFill/>
        </a:ln>
      </c:spPr>
    </c:title>
    <c:autoTitleDeleted val="0"/>
    <c:plotArea>
      <c:barChart>
        <c:barDir val="col"/>
        <c:grouping val="clustered"/>
        <c:varyColors val="0"/>
        <c:ser>
          <c:idx val="0"/>
          <c:order val="0"/>
          <c:spPr>
            <a:solidFill>
              <a:srgbClr val="4472c4"/>
            </a:solidFill>
            <a:ln w="0">
              <a:noFill/>
            </a:ln>
          </c:spPr>
          <c:invertIfNegative val="0"/>
          <c:dLbls>
            <c:txPr>
              <a:bodyPr wrap="square"/>
              <a:lstStyle/>
              <a:p>
                <a:pPr>
                  <a:defRPr b="0" sz="1000" spc="-1" strike="noStrike">
                    <a:solidFill>
                      <a:srgbClr val="000000"/>
                    </a:solidFill>
                    <a:latin typeface="Calibri"/>
                  </a:defRPr>
                </a:pPr>
              </a:p>
            </c:txPr>
            <c:dLblPos val="outEnd"/>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24"/>
                <c:pt idx="0">
                  <c:v>Chile</c:v>
                </c:pt>
                <c:pt idx="1">
                  <c:v>Lithuania</c:v>
                </c:pt>
                <c:pt idx="2">
                  <c:v>Latvia</c:v>
                </c:pt>
                <c:pt idx="3">
                  <c:v>Spain</c:v>
                </c:pt>
                <c:pt idx="4">
                  <c:v>Italy</c:v>
                </c:pt>
                <c:pt idx="5">
                  <c:v>Czech Republic</c:v>
                </c:pt>
                <c:pt idx="6">
                  <c:v>Hungary</c:v>
                </c:pt>
                <c:pt idx="7">
                  <c:v>United States</c:v>
                </c:pt>
                <c:pt idx="8">
                  <c:v>Estonia</c:v>
                </c:pt>
                <c:pt idx="9">
                  <c:v>Costa Rica</c:v>
                </c:pt>
                <c:pt idx="10">
                  <c:v>Germany</c:v>
                </c:pt>
                <c:pt idx="11">
                  <c:v>Switzerland</c:v>
                </c:pt>
                <c:pt idx="12">
                  <c:v>Portugal</c:v>
                </c:pt>
                <c:pt idx="13">
                  <c:v>Canada</c:v>
                </c:pt>
                <c:pt idx="14">
                  <c:v>Netherlands</c:v>
                </c:pt>
                <c:pt idx="15">
                  <c:v>Denmark</c:v>
                </c:pt>
                <c:pt idx="16">
                  <c:v>Australia</c:v>
                </c:pt>
                <c:pt idx="17">
                  <c:v>Iceland</c:v>
                </c:pt>
                <c:pt idx="18">
                  <c:v>Mexico</c:v>
                </c:pt>
                <c:pt idx="19">
                  <c:v>United Kingdom</c:v>
                </c:pt>
                <c:pt idx="20">
                  <c:v>Slovak Republic</c:v>
                </c:pt>
                <c:pt idx="21">
                  <c:v>Austria</c:v>
                </c:pt>
                <c:pt idx="22">
                  <c:v>Norway</c:v>
                </c:pt>
                <c:pt idx="23">
                  <c:v>Poland</c:v>
                </c:pt>
              </c:strCache>
            </c:strRef>
          </c:cat>
          <c:val>
            <c:numRef>
              <c:f>0</c:f>
              <c:numCache>
                <c:formatCode>#,##0.0_ ;\-#,##0.0\ </c:formatCode>
                <c:ptCount val="24"/>
                <c:pt idx="0">
                  <c:v>100</c:v>
                </c:pt>
                <c:pt idx="1">
                  <c:v>97.549</c:v>
                </c:pt>
                <c:pt idx="2">
                  <c:v>83.869</c:v>
                </c:pt>
                <c:pt idx="3">
                  <c:v>79.962</c:v>
                </c:pt>
                <c:pt idx="4">
                  <c:v>78.675</c:v>
                </c:pt>
                <c:pt idx="5">
                  <c:v>76.591</c:v>
                </c:pt>
                <c:pt idx="6">
                  <c:v>68.039</c:v>
                </c:pt>
                <c:pt idx="7">
                  <c:v>45.5</c:v>
                </c:pt>
                <c:pt idx="8">
                  <c:v>45.341</c:v>
                </c:pt>
                <c:pt idx="9">
                  <c:v>44.245</c:v>
                </c:pt>
                <c:pt idx="10">
                  <c:v>43.088</c:v>
                </c:pt>
                <c:pt idx="11">
                  <c:v>41.224</c:v>
                </c:pt>
                <c:pt idx="12">
                  <c:v>38.979</c:v>
                </c:pt>
                <c:pt idx="13">
                  <c:v>38.02</c:v>
                </c:pt>
                <c:pt idx="14">
                  <c:v>33.552</c:v>
                </c:pt>
                <c:pt idx="15">
                  <c:v>33.105</c:v>
                </c:pt>
                <c:pt idx="16">
                  <c:v>25.343</c:v>
                </c:pt>
                <c:pt idx="17">
                  <c:v>24.423</c:v>
                </c:pt>
                <c:pt idx="18">
                  <c:v>22.883</c:v>
                </c:pt>
                <c:pt idx="19">
                  <c:v>16.68</c:v>
                </c:pt>
                <c:pt idx="20">
                  <c:v>12.156</c:v>
                </c:pt>
                <c:pt idx="21">
                  <c:v>9.715</c:v>
                </c:pt>
                <c:pt idx="22">
                  <c:v>9.709</c:v>
                </c:pt>
                <c:pt idx="23">
                  <c:v>5.142</c:v>
                </c:pt>
              </c:numCache>
            </c:numRef>
          </c:val>
        </c:ser>
        <c:gapWidth val="219"/>
        <c:overlap val="-27"/>
        <c:axId val="21310001"/>
        <c:axId val="32766732"/>
      </c:barChart>
      <c:catAx>
        <c:axId val="21310001"/>
        <c:scaling>
          <c:orientation val="minMax"/>
        </c:scaling>
        <c:delete val="0"/>
        <c:axPos val="b"/>
        <c:numFmt formatCode="General" sourceLinked="0"/>
        <c:majorTickMark val="none"/>
        <c:minorTickMark val="none"/>
        <c:tickLblPos val="nextTo"/>
        <c:spPr>
          <a:ln w="9360">
            <a:solidFill>
              <a:srgbClr val="d9d9d9"/>
            </a:solidFill>
            <a:round/>
          </a:ln>
        </c:spPr>
        <c:txPr>
          <a:bodyPr/>
          <a:lstStyle/>
          <a:p>
            <a:pPr>
              <a:defRPr b="0" sz="1100" spc="-1" strike="noStrike">
                <a:solidFill>
                  <a:srgbClr val="595959"/>
                </a:solidFill>
                <a:latin typeface="Calibri"/>
              </a:defRPr>
            </a:pPr>
          </a:p>
        </c:txPr>
        <c:crossAx val="32766732"/>
        <c:crosses val="autoZero"/>
        <c:auto val="1"/>
        <c:lblAlgn val="ctr"/>
        <c:lblOffset val="100"/>
        <c:noMultiLvlLbl val="0"/>
      </c:catAx>
      <c:valAx>
        <c:axId val="32766732"/>
        <c:scaling>
          <c:orientation val="minMax"/>
        </c:scaling>
        <c:delete val="0"/>
        <c:axPos val="l"/>
        <c:majorGridlines>
          <c:spPr>
            <a:ln w="9360">
              <a:solidFill>
                <a:srgbClr val="d9d9d9"/>
              </a:solidFill>
              <a:round/>
            </a:ln>
          </c:spPr>
        </c:majorGridlines>
        <c:numFmt formatCode="#,##0.0_ ;\-#,##0.0\ " sourceLinked="0"/>
        <c:majorTickMark val="none"/>
        <c:minorTickMark val="none"/>
        <c:tickLblPos val="nextTo"/>
        <c:spPr>
          <a:ln w="6480">
            <a:noFill/>
          </a:ln>
        </c:spPr>
        <c:txPr>
          <a:bodyPr/>
          <a:lstStyle/>
          <a:p>
            <a:pPr>
              <a:defRPr b="0" sz="900" spc="-1" strike="noStrike">
                <a:solidFill>
                  <a:srgbClr val="595959"/>
                </a:solidFill>
                <a:latin typeface="Calibri"/>
              </a:defRPr>
            </a:pPr>
          </a:p>
        </c:txPr>
        <c:crossAx val="21310001"/>
        <c:crosses val="autoZero"/>
        <c:crossBetween val="between"/>
        <c:majorUnit val="10"/>
      </c:valAx>
      <c:spPr>
        <a:noFill/>
        <a:ln w="0">
          <a:noFill/>
        </a:ln>
      </c:spPr>
    </c:plotArea>
    <c:plotVisOnly val="1"/>
    <c:dispBlanksAs val="gap"/>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lang="en-GB" sz="1400" spc="-1" strike="noStrike">
                <a:solidFill>
                  <a:srgbClr val="595959"/>
                </a:solidFill>
                <a:latin typeface="Calibri"/>
              </a:defRPr>
            </a:pPr>
            <a:r>
              <a:rPr b="0" lang="en-GB" sz="1400" spc="-1" strike="noStrike">
                <a:solidFill>
                  <a:srgbClr val="595959"/>
                </a:solidFill>
                <a:latin typeface="Calibri"/>
              </a:rPr>
              <a:t>Active Members in the United Kingdom
(in millions)</a:t>
            </a:r>
          </a:p>
        </c:rich>
      </c:tx>
      <c:overlay val="0"/>
      <c:spPr>
        <a:noFill/>
        <a:ln w="0">
          <a:noFill/>
        </a:ln>
      </c:spPr>
    </c:title>
    <c:autoTitleDeleted val="0"/>
    <c:plotArea>
      <c:lineChart>
        <c:grouping val="standard"/>
        <c:varyColors val="0"/>
        <c:ser>
          <c:idx val="0"/>
          <c:order val="0"/>
          <c:tx>
            <c:strRef>
              <c:f>label 0</c:f>
              <c:strCache>
                <c:ptCount val="1"/>
                <c:pt idx="0">
                  <c:v>Defined benefit</c:v>
                </c:pt>
              </c:strCache>
            </c:strRef>
          </c:tx>
          <c:spPr>
            <a:solidFill>
              <a:srgbClr val="4472c4"/>
            </a:solidFill>
            <a:ln cap="rnd" w="28440">
              <a:solidFill>
                <a:srgbClr val="4472c4"/>
              </a:solidFill>
              <a:round/>
            </a:ln>
          </c:spPr>
          <c:marker>
            <c:symbol val="none"/>
          </c:marker>
          <c:dLbls>
            <c:txPr>
              <a:bodyPr wrap="square"/>
              <a:lstStyle/>
              <a:p>
                <a:pPr>
                  <a:defRPr b="0" sz="1000" spc="-1" strike="noStrike">
                    <a:solidFill>
                      <a:srgbClr val="000000"/>
                    </a:solidFill>
                    <a:latin typeface="Calibri"/>
                  </a:defRPr>
                </a:pPr>
              </a:p>
            </c:txPr>
            <c:dLblPos val="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16"/>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pt idx="15">
                  <c:v>2019</c:v>
                </c:pt>
              </c:strCache>
            </c:strRef>
          </c:cat>
          <c:val>
            <c:numRef>
              <c:f>0</c:f>
              <c:numCache>
                <c:formatCode>0.0</c:formatCode>
                <c:ptCount val="16"/>
                <c:pt idx="0">
                  <c:v>25.2</c:v>
                </c:pt>
                <c:pt idx="1">
                  <c:v>25</c:v>
                </c:pt>
                <c:pt idx="2">
                  <c:v>24.5</c:v>
                </c:pt>
                <c:pt idx="3">
                  <c:v>24.9</c:v>
                </c:pt>
                <c:pt idx="4">
                  <c:v>25.5</c:v>
                </c:pt>
                <c:pt idx="5">
                  <c:v>25.6</c:v>
                </c:pt>
                <c:pt idx="6">
                  <c:v>24.8</c:v>
                </c:pt>
                <c:pt idx="7">
                  <c:v>25.1</c:v>
                </c:pt>
                <c:pt idx="8">
                  <c:v>25.2</c:v>
                </c:pt>
                <c:pt idx="9">
                  <c:v>25.5</c:v>
                </c:pt>
                <c:pt idx="10">
                  <c:v>25.4</c:v>
                </c:pt>
                <c:pt idx="11">
                  <c:v>27.3</c:v>
                </c:pt>
                <c:pt idx="12">
                  <c:v>28.3</c:v>
                </c:pt>
                <c:pt idx="13">
                  <c:v>27.8</c:v>
                </c:pt>
                <c:pt idx="14">
                  <c:v>28.1</c:v>
                </c:pt>
                <c:pt idx="15">
                  <c:v>28.8</c:v>
                </c:pt>
              </c:numCache>
            </c:numRef>
          </c:val>
          <c:smooth val="0"/>
        </c:ser>
        <c:ser>
          <c:idx val="1"/>
          <c:order val="1"/>
          <c:tx>
            <c:strRef>
              <c:f>label 1</c:f>
              <c:strCache>
                <c:ptCount val="1"/>
                <c:pt idx="0">
                  <c:v>Defined contribution</c:v>
                </c:pt>
              </c:strCache>
            </c:strRef>
          </c:tx>
          <c:spPr>
            <a:solidFill>
              <a:srgbClr val="ed7d31"/>
            </a:solidFill>
            <a:ln cap="rnd" w="28440">
              <a:solidFill>
                <a:srgbClr val="ed7d31"/>
              </a:solidFill>
              <a:round/>
            </a:ln>
          </c:spPr>
          <c:marker>
            <c:symbol val="none"/>
          </c:marker>
          <c:dLbls>
            <c:txPr>
              <a:bodyPr wrap="square"/>
              <a:lstStyle/>
              <a:p>
                <a:pPr>
                  <a:defRPr b="0" sz="1000" spc="-1" strike="noStrike">
                    <a:solidFill>
                      <a:srgbClr val="000000"/>
                    </a:solidFill>
                    <a:latin typeface="Calibri"/>
                  </a:defRPr>
                </a:pPr>
              </a:p>
            </c:txPr>
            <c:dLblPos val="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16"/>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pt idx="15">
                  <c:v>2019</c:v>
                </c:pt>
              </c:strCache>
            </c:strRef>
          </c:cat>
          <c:val>
            <c:numRef>
              <c:f>1</c:f>
              <c:numCache>
                <c:formatCode>0.0</c:formatCode>
                <c:ptCount val="16"/>
                <c:pt idx="0">
                  <c:v>2.4</c:v>
                </c:pt>
                <c:pt idx="1">
                  <c:v>2</c:v>
                </c:pt>
                <c:pt idx="2">
                  <c:v>2.3</c:v>
                </c:pt>
                <c:pt idx="3">
                  <c:v>1.9</c:v>
                </c:pt>
                <c:pt idx="4">
                  <c:v>2.1</c:v>
                </c:pt>
                <c:pt idx="5">
                  <c:v>2.2</c:v>
                </c:pt>
                <c:pt idx="6">
                  <c:v>2.3</c:v>
                </c:pt>
                <c:pt idx="7">
                  <c:v>2.1</c:v>
                </c:pt>
                <c:pt idx="8">
                  <c:v>2.4</c:v>
                </c:pt>
                <c:pt idx="9">
                  <c:v>2.4</c:v>
                </c:pt>
                <c:pt idx="10">
                  <c:v>5</c:v>
                </c:pt>
                <c:pt idx="11">
                  <c:v>6.2</c:v>
                </c:pt>
                <c:pt idx="12">
                  <c:v>10.9</c:v>
                </c:pt>
                <c:pt idx="13">
                  <c:v>13.3</c:v>
                </c:pt>
                <c:pt idx="14">
                  <c:v>17.5</c:v>
                </c:pt>
                <c:pt idx="15">
                  <c:v>21</c:v>
                </c:pt>
              </c:numCache>
            </c:numRef>
          </c:val>
          <c:smooth val="0"/>
        </c:ser>
        <c:hiLowLines>
          <c:spPr>
            <a:ln w="0">
              <a:noFill/>
            </a:ln>
          </c:spPr>
        </c:hiLowLines>
        <c:marker val="0"/>
        <c:axId val="98286237"/>
        <c:axId val="45944229"/>
      </c:lineChart>
      <c:catAx>
        <c:axId val="98286237"/>
        <c:scaling>
          <c:orientation val="minMax"/>
        </c:scaling>
        <c:delete val="0"/>
        <c:axPos val="b"/>
        <c:numFmt formatCode="General" sourceLinked="0"/>
        <c:majorTickMark val="none"/>
        <c:minorTickMark val="none"/>
        <c:tickLblPos val="nextTo"/>
        <c:spPr>
          <a:ln w="9360">
            <a:solidFill>
              <a:srgbClr val="d9d9d9"/>
            </a:solidFill>
            <a:round/>
          </a:ln>
        </c:spPr>
        <c:txPr>
          <a:bodyPr/>
          <a:lstStyle/>
          <a:p>
            <a:pPr>
              <a:defRPr b="0" sz="900" spc="-1" strike="noStrike">
                <a:solidFill>
                  <a:srgbClr val="595959"/>
                </a:solidFill>
                <a:latin typeface="Calibri"/>
              </a:defRPr>
            </a:pPr>
          </a:p>
        </c:txPr>
        <c:crossAx val="45944229"/>
        <c:crosses val="autoZero"/>
        <c:auto val="1"/>
        <c:lblAlgn val="ctr"/>
        <c:lblOffset val="100"/>
        <c:noMultiLvlLbl val="0"/>
      </c:catAx>
      <c:valAx>
        <c:axId val="45944229"/>
        <c:scaling>
          <c:orientation val="minMax"/>
        </c:scaling>
        <c:delete val="0"/>
        <c:axPos val="l"/>
        <c:majorGridlines>
          <c:spPr>
            <a:ln w="9360">
              <a:solidFill>
                <a:srgbClr val="d9d9d9"/>
              </a:solidFill>
              <a:round/>
            </a:ln>
          </c:spPr>
        </c:majorGridlines>
        <c:numFmt formatCode="0.0" sourceLinked="0"/>
        <c:majorTickMark val="none"/>
        <c:minorTickMark val="none"/>
        <c:tickLblPos val="nextTo"/>
        <c:spPr>
          <a:ln w="6480">
            <a:noFill/>
          </a:ln>
        </c:spPr>
        <c:txPr>
          <a:bodyPr/>
          <a:lstStyle/>
          <a:p>
            <a:pPr>
              <a:defRPr b="0" sz="900" spc="-1" strike="noStrike">
                <a:solidFill>
                  <a:srgbClr val="595959"/>
                </a:solidFill>
                <a:latin typeface="Calibri"/>
              </a:defRPr>
            </a:pPr>
          </a:p>
        </c:txPr>
        <c:crossAx val="98286237"/>
        <c:crosses val="autoZero"/>
        <c:crossBetween val="between"/>
      </c:valAx>
      <c:spPr>
        <a:noFill/>
        <a:ln w="0">
          <a:noFill/>
        </a:ln>
      </c:spPr>
    </c:plotArea>
    <c:legend>
      <c:legendPos val="b"/>
      <c:overlay val="0"/>
      <c:spPr>
        <a:noFill/>
        <a:ln w="0">
          <a:noFill/>
        </a:ln>
      </c:spPr>
      <c:txPr>
        <a:bodyPr/>
        <a:lstStyle/>
        <a:p>
          <a:pPr>
            <a:defRPr b="0" sz="900" spc="-1" strike="noStrike">
              <a:solidFill>
                <a:srgbClr val="595959"/>
              </a:solidFill>
              <a:latin typeface="Calibri"/>
            </a:defRPr>
          </a:pPr>
        </a:p>
      </c:txPr>
    </c:legend>
    <c:plotVisOnly val="1"/>
    <c:dispBlanksAs val="gap"/>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1" lang="en-GB" sz="2000" spc="-1" strike="noStrike">
                <a:solidFill>
                  <a:srgbClr val="595959"/>
                </a:solidFill>
                <a:latin typeface="Calibri"/>
              </a:defRPr>
            </a:pPr>
            <a:r>
              <a:rPr b="1" lang="en-GB" sz="2000" spc="-1" strike="noStrike">
                <a:solidFill>
                  <a:srgbClr val="595959"/>
                </a:solidFill>
                <a:latin typeface="Calibri"/>
              </a:rPr>
              <a:t>% Share of Pension assets to GDP 
(2021, OECD Statistics)</a:t>
            </a:r>
          </a:p>
        </c:rich>
      </c:tx>
      <c:overlay val="0"/>
      <c:spPr>
        <a:noFill/>
        <a:ln w="0">
          <a:noFill/>
        </a:ln>
      </c:spPr>
    </c:title>
    <c:autoTitleDeleted val="0"/>
    <c:plotArea>
      <c:barChart>
        <c:barDir val="col"/>
        <c:grouping val="clustered"/>
        <c:varyColors val="0"/>
        <c:ser>
          <c:idx val="0"/>
          <c:order val="0"/>
          <c:spPr>
            <a:solidFill>
              <a:srgbClr val="4472c4"/>
            </a:solidFill>
            <a:ln w="0">
              <a:noFill/>
            </a:ln>
          </c:spPr>
          <c:invertIfNegative val="0"/>
          <c:dLbls>
            <c:txPr>
              <a:bodyPr wrap="square"/>
              <a:lstStyle/>
              <a:p>
                <a:pPr>
                  <a:defRPr b="0" sz="1000" spc="-1" strike="noStrike">
                    <a:solidFill>
                      <a:srgbClr val="000000"/>
                    </a:solidFill>
                    <a:latin typeface="Calibri"/>
                  </a:defRPr>
                </a:pPr>
              </a:p>
            </c:txPr>
            <c:dLblPos val="outEnd"/>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38"/>
                <c:pt idx="0">
                  <c:v>Netherlands</c:v>
                </c:pt>
                <c:pt idx="1">
                  <c:v>Iceland</c:v>
                </c:pt>
                <c:pt idx="2">
                  <c:v>Switzerland</c:v>
                </c:pt>
                <c:pt idx="3">
                  <c:v>Australia</c:v>
                </c:pt>
                <c:pt idx="4">
                  <c:v>United Kingdom</c:v>
                </c:pt>
                <c:pt idx="5">
                  <c:v>Canada</c:v>
                </c:pt>
                <c:pt idx="6">
                  <c:v>United States</c:v>
                </c:pt>
                <c:pt idx="7">
                  <c:v>Chile</c:v>
                </c:pt>
                <c:pt idx="8">
                  <c:v>Israel</c:v>
                </c:pt>
                <c:pt idx="9">
                  <c:v>Denmark</c:v>
                </c:pt>
                <c:pt idx="10">
                  <c:v>Finland</c:v>
                </c:pt>
                <c:pt idx="11">
                  <c:v>Costa Rica</c:v>
                </c:pt>
                <c:pt idx="12">
                  <c:v>New Zealand</c:v>
                </c:pt>
                <c:pt idx="13">
                  <c:v>Ireland</c:v>
                </c:pt>
                <c:pt idx="14">
                  <c:v>Colombia</c:v>
                </c:pt>
                <c:pt idx="15">
                  <c:v>Japan</c:v>
                </c:pt>
                <c:pt idx="16">
                  <c:v>Mexico</c:v>
                </c:pt>
                <c:pt idx="17">
                  <c:v>Estonia</c:v>
                </c:pt>
                <c:pt idx="18">
                  <c:v>Slovak Republic</c:v>
                </c:pt>
                <c:pt idx="19">
                  <c:v>Korea</c:v>
                </c:pt>
                <c:pt idx="20">
                  <c:v>Norway</c:v>
                </c:pt>
                <c:pt idx="21">
                  <c:v>Portugal</c:v>
                </c:pt>
                <c:pt idx="22">
                  <c:v>Spain</c:v>
                </c:pt>
                <c:pt idx="23">
                  <c:v>Italy</c:v>
                </c:pt>
                <c:pt idx="24">
                  <c:v>Belgium</c:v>
                </c:pt>
                <c:pt idx="25">
                  <c:v>Lithuania</c:v>
                </c:pt>
                <c:pt idx="26">
                  <c:v>Czech Republic</c:v>
                </c:pt>
                <c:pt idx="27">
                  <c:v>Germany</c:v>
                </c:pt>
                <c:pt idx="28">
                  <c:v>Austria</c:v>
                </c:pt>
                <c:pt idx="29">
                  <c:v>Slovenia</c:v>
                </c:pt>
                <c:pt idx="30">
                  <c:v>Poland</c:v>
                </c:pt>
                <c:pt idx="31">
                  <c:v>Sweden</c:v>
                </c:pt>
                <c:pt idx="32">
                  <c:v>Hungary</c:v>
                </c:pt>
                <c:pt idx="33">
                  <c:v>Turkey</c:v>
                </c:pt>
                <c:pt idx="34">
                  <c:v>Luxembourg</c:v>
                </c:pt>
                <c:pt idx="35">
                  <c:v>France</c:v>
                </c:pt>
                <c:pt idx="36">
                  <c:v>Latvia</c:v>
                </c:pt>
                <c:pt idx="37">
                  <c:v>Greece</c:v>
                </c:pt>
              </c:strCache>
            </c:strRef>
          </c:cat>
          <c:val>
            <c:numRef>
              <c:f>0</c:f>
              <c:numCache>
                <c:formatCode>#,##0.0_ ;\-#,##0.0\ </c:formatCode>
                <c:ptCount val="38"/>
                <c:pt idx="0">
                  <c:v>212.743</c:v>
                </c:pt>
                <c:pt idx="1">
                  <c:v>194.572</c:v>
                </c:pt>
                <c:pt idx="2">
                  <c:v>151.51</c:v>
                </c:pt>
                <c:pt idx="3">
                  <c:v>131.656</c:v>
                </c:pt>
                <c:pt idx="4">
                  <c:v>126.791</c:v>
                </c:pt>
                <c:pt idx="5">
                  <c:v>100.839</c:v>
                </c:pt>
                <c:pt idx="6">
                  <c:v>96.821</c:v>
                </c:pt>
                <c:pt idx="7">
                  <c:v>75.793</c:v>
                </c:pt>
                <c:pt idx="8">
                  <c:v>66.073</c:v>
                </c:pt>
                <c:pt idx="9">
                  <c:v>58.261</c:v>
                </c:pt>
                <c:pt idx="10">
                  <c:v>56.378</c:v>
                </c:pt>
                <c:pt idx="11">
                  <c:v>36.949</c:v>
                </c:pt>
                <c:pt idx="12">
                  <c:v>34.087</c:v>
                </c:pt>
                <c:pt idx="13">
                  <c:v>33.353</c:v>
                </c:pt>
                <c:pt idx="14">
                  <c:v>31.973</c:v>
                </c:pt>
                <c:pt idx="15">
                  <c:v>21.167</c:v>
                </c:pt>
                <c:pt idx="16">
                  <c:v>20.369</c:v>
                </c:pt>
                <c:pt idx="17">
                  <c:v>19.757</c:v>
                </c:pt>
                <c:pt idx="18">
                  <c:v>14.412</c:v>
                </c:pt>
                <c:pt idx="19">
                  <c:v>13.318</c:v>
                </c:pt>
                <c:pt idx="20">
                  <c:v>12.344</c:v>
                </c:pt>
                <c:pt idx="21">
                  <c:v>11.384</c:v>
                </c:pt>
                <c:pt idx="22">
                  <c:v>10.511</c:v>
                </c:pt>
                <c:pt idx="23">
                  <c:v>9.775</c:v>
                </c:pt>
                <c:pt idx="24">
                  <c:v>9.54</c:v>
                </c:pt>
                <c:pt idx="25">
                  <c:v>9.531</c:v>
                </c:pt>
                <c:pt idx="26">
                  <c:v>9.519</c:v>
                </c:pt>
                <c:pt idx="27">
                  <c:v>8.191</c:v>
                </c:pt>
                <c:pt idx="28">
                  <c:v>6.617</c:v>
                </c:pt>
                <c:pt idx="29">
                  <c:v>6.551</c:v>
                </c:pt>
                <c:pt idx="30">
                  <c:v>6.469</c:v>
                </c:pt>
                <c:pt idx="31">
                  <c:v>4.236</c:v>
                </c:pt>
                <c:pt idx="32">
                  <c:v>3.982</c:v>
                </c:pt>
                <c:pt idx="33">
                  <c:v>3.358</c:v>
                </c:pt>
                <c:pt idx="34">
                  <c:v>2.853</c:v>
                </c:pt>
                <c:pt idx="35">
                  <c:v>2.541</c:v>
                </c:pt>
                <c:pt idx="36">
                  <c:v>2.079</c:v>
                </c:pt>
                <c:pt idx="37">
                  <c:v>0.991</c:v>
                </c:pt>
              </c:numCache>
            </c:numRef>
          </c:val>
        </c:ser>
        <c:gapWidth val="219"/>
        <c:overlap val="-27"/>
        <c:axId val="25707776"/>
        <c:axId val="47644271"/>
      </c:barChart>
      <c:catAx>
        <c:axId val="25707776"/>
        <c:scaling>
          <c:orientation val="minMax"/>
        </c:scaling>
        <c:delete val="0"/>
        <c:axPos val="b"/>
        <c:numFmt formatCode="General" sourceLinked="0"/>
        <c:majorTickMark val="none"/>
        <c:minorTickMark val="none"/>
        <c:tickLblPos val="nextTo"/>
        <c:spPr>
          <a:ln w="9360">
            <a:solidFill>
              <a:srgbClr val="d9d9d9"/>
            </a:solidFill>
            <a:round/>
          </a:ln>
        </c:spPr>
        <c:txPr>
          <a:bodyPr/>
          <a:lstStyle/>
          <a:p>
            <a:pPr>
              <a:defRPr b="0" sz="1200" spc="-1" strike="noStrike">
                <a:solidFill>
                  <a:srgbClr val="595959"/>
                </a:solidFill>
                <a:latin typeface="Calibri"/>
              </a:defRPr>
            </a:pPr>
          </a:p>
        </c:txPr>
        <c:crossAx val="47644271"/>
        <c:crosses val="autoZero"/>
        <c:auto val="1"/>
        <c:lblAlgn val="ctr"/>
        <c:lblOffset val="100"/>
        <c:noMultiLvlLbl val="0"/>
      </c:catAx>
      <c:valAx>
        <c:axId val="47644271"/>
        <c:scaling>
          <c:orientation val="minMax"/>
        </c:scaling>
        <c:delete val="0"/>
        <c:axPos val="l"/>
        <c:majorGridlines>
          <c:spPr>
            <a:ln w="9360">
              <a:solidFill>
                <a:srgbClr val="d9d9d9"/>
              </a:solidFill>
              <a:round/>
            </a:ln>
          </c:spPr>
        </c:majorGridlines>
        <c:numFmt formatCode="#,##0.0_ ;\-#,##0.0\ " sourceLinked="0"/>
        <c:majorTickMark val="none"/>
        <c:minorTickMark val="none"/>
        <c:tickLblPos val="nextTo"/>
        <c:spPr>
          <a:ln w="6480">
            <a:noFill/>
          </a:ln>
        </c:spPr>
        <c:txPr>
          <a:bodyPr/>
          <a:lstStyle/>
          <a:p>
            <a:pPr>
              <a:defRPr b="0" sz="900" spc="-1" strike="noStrike">
                <a:solidFill>
                  <a:srgbClr val="595959"/>
                </a:solidFill>
                <a:latin typeface="Calibri"/>
              </a:defRPr>
            </a:pPr>
          </a:p>
        </c:txPr>
        <c:crossAx val="25707776"/>
        <c:crosses val="autoZero"/>
        <c:crossBetween val="between"/>
        <c:majorUnit val="20"/>
      </c:valAx>
      <c:spPr>
        <a:noFill/>
        <a:ln w="0">
          <a:noFill/>
        </a:ln>
      </c:spPr>
    </c:plotArea>
    <c:plotVisOnly val="1"/>
    <c:dispBlanksAs val="gap"/>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7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1"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2"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3"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5931AD1-99E1-424C-BDE2-32BD4A6C1FF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1371600" y="1143000"/>
            <a:ext cx="4114440" cy="3085920"/>
          </a:xfrm>
          <a:prstGeom prst="rect">
            <a:avLst/>
          </a:prstGeom>
          <a:ln w="0">
            <a:noFill/>
          </a:ln>
        </p:spPr>
      </p:sp>
      <p:sp>
        <p:nvSpPr>
          <p:cNvPr id="187" name="PlaceHolder 2"/>
          <p:cNvSpPr>
            <a:spLocks noGrp="1"/>
          </p:cNvSpPr>
          <p:nvPr>
            <p:ph type="body"/>
          </p:nvPr>
        </p:nvSpPr>
        <p:spPr>
          <a:xfrm>
            <a:off x="685800" y="4400640"/>
            <a:ext cx="5486040" cy="3600000"/>
          </a:xfrm>
          <a:prstGeom prst="rect">
            <a:avLst/>
          </a:prstGeom>
          <a:noFill/>
          <a:ln w="0">
            <a:noFill/>
          </a:ln>
        </p:spPr>
        <p:txBody>
          <a:bodyPr numCol="1" spcCol="0" lIns="91440" rIns="91440" tIns="45720" bIns="45720" anchor="t">
            <a:noAutofit/>
          </a:bodyPr>
          <a:p>
            <a:pPr marL="216000" indent="0">
              <a:lnSpc>
                <a:spcPct val="100000"/>
              </a:lnSpc>
              <a:buNone/>
            </a:pPr>
            <a:r>
              <a:rPr b="0" lang="en-GB" sz="2000" spc="-1" strike="noStrike">
                <a:solidFill>
                  <a:srgbClr val="000000"/>
                </a:solidFill>
                <a:latin typeface="Arial"/>
              </a:rPr>
              <a:t>In Britain for example, the shift away from the more munificent “defined benefit” schemes has seen active membership of such open private sector schemes fall to 0.5m in 2016 from 1.4m ten years earlier. And in the past two years, one-third of the OECD’s members have changed required contribution levels, and three countries have raised their retirement ages. In about half of the club's states, men will work an extra 1.5 years and women an additional 2.1 years by 2060. </a:t>
            </a: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The cost of longer periods of retirement is that they will not be so richly enjoyed.</a:t>
            </a:r>
            <a:endParaRPr b="0" lang="en-US" sz="2000" spc="-1" strike="noStrike">
              <a:solidFill>
                <a:srgbClr val="000000"/>
              </a:solidFill>
              <a:latin typeface="Arial"/>
            </a:endParaRPr>
          </a:p>
        </p:txBody>
      </p:sp>
      <p:sp>
        <p:nvSpPr>
          <p:cNvPr id="188"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chemeClr val="dk1"/>
                </a:solidFill>
                <a:latin typeface="Calibri"/>
              </a:defRPr>
            </a:lvl1pPr>
          </a:lstStyle>
          <a:p>
            <a:pPr indent="0" algn="r">
              <a:lnSpc>
                <a:spcPct val="100000"/>
              </a:lnSpc>
              <a:buNone/>
            </a:pPr>
            <a:fld id="{4AF79308-DBF7-4633-8DA5-6F68CECB9031}" type="slidenum">
              <a:rPr b="0" lang="en-GB" sz="1200" spc="-1" strike="noStrike">
                <a:solidFill>
                  <a:schemeClr val="dk1"/>
                </a:solidFill>
                <a:latin typeface="Calibri"/>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28560" y="365040"/>
            <a:ext cx="788652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6" name="PlaceHolder 2"/>
          <p:cNvSpPr>
            <a:spLocks noGrp="1"/>
          </p:cNvSpPr>
          <p:nvPr>
            <p:ph type="subTitle"/>
          </p:nvPr>
        </p:nvSpPr>
        <p:spPr>
          <a:xfrm>
            <a:off x="628560" y="1825560"/>
            <a:ext cx="7886520" cy="4350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C705101-15E8-4B64-8EE6-C862EE614876}"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561AB822-B6A6-4C97-8320-C24CA520A005}"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3F05F887-BC10-4E3E-9EA5-89B65BF6719A}"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28560" y="365040"/>
            <a:ext cx="788652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3" name="PlaceHolder 2"/>
          <p:cNvSpPr>
            <a:spLocks noGrp="1"/>
          </p:cNvSpPr>
          <p:nvPr>
            <p:ph/>
          </p:nvPr>
        </p:nvSpPr>
        <p:spPr>
          <a:xfrm>
            <a:off x="628560" y="1825560"/>
            <a:ext cx="788652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FA7D418-EDF7-4808-B124-9AF72CB36717}"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B1926A78-6691-42C8-86A9-6CCD86C83227}"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28560" y="365040"/>
            <a:ext cx="788652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6" name="PlaceHolder 2"/>
          <p:cNvSpPr>
            <a:spLocks noGrp="1"/>
          </p:cNvSpPr>
          <p:nvPr>
            <p:ph/>
          </p:nvPr>
        </p:nvSpPr>
        <p:spPr>
          <a:xfrm>
            <a:off x="628560" y="1825560"/>
            <a:ext cx="384840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37" name="PlaceHolder 3"/>
          <p:cNvSpPr>
            <a:spLocks noGrp="1"/>
          </p:cNvSpPr>
          <p:nvPr>
            <p:ph/>
          </p:nvPr>
        </p:nvSpPr>
        <p:spPr>
          <a:xfrm>
            <a:off x="4669920" y="1825560"/>
            <a:ext cx="384840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299899AF-656A-4EEA-859F-C4D7868D732C}"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36461F98-F0B9-41AB-9F92-9E527C4580F5}"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628560" y="365040"/>
            <a:ext cx="788652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8DF527D6-50ED-4E66-99DD-27301B4D4E8E}"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8F6A4FBC-A3D5-4C56-B7AD-0A7538140C06}"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6C436EEC-0CF4-4E11-A88D-0F15FD345610}"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FA344EDF-8AE2-4804-9607-9C3390DB9FE0}"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1122480"/>
            <a:ext cx="7772040" cy="2387160"/>
          </a:xfrm>
          <a:prstGeom prst="rect">
            <a:avLst/>
          </a:prstGeom>
          <a:noFill/>
          <a:ln w="0">
            <a:noFill/>
          </a:ln>
        </p:spPr>
        <p:txBody>
          <a:bodyPr lIns="91440" rIns="91440" tIns="45720" bIns="45720" anchor="b">
            <a:normAutofit/>
          </a:bodyPr>
          <a:p>
            <a:pPr indent="0" algn="ctr" defTabSz="914400">
              <a:lnSpc>
                <a:spcPct val="90000"/>
              </a:lnSpc>
              <a:buNone/>
            </a:pPr>
            <a:r>
              <a:rPr b="0" lang="en-GB" sz="4400" spc="-1" strike="noStrike">
                <a:solidFill>
                  <a:srgbClr val="0070c0"/>
                </a:solidFill>
                <a:latin typeface="Calibri Light"/>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628560" y="6356520"/>
            <a:ext cx="2057040" cy="364680"/>
          </a:xfrm>
          <a:prstGeom prst="rect">
            <a:avLst/>
          </a:prstGeom>
          <a:noFill/>
          <a:ln w="0">
            <a:noFill/>
          </a:ln>
        </p:spPr>
        <p:txBody>
          <a:bodyPr lIns="91440" rIns="91440" tIns="45720" bIns="45720" anchor="ctr">
            <a:noAutofit/>
          </a:bodyPr>
          <a:lstStyle>
            <a:lvl1pPr indent="0" defTabSz="457200">
              <a:lnSpc>
                <a:spcPct val="100000"/>
              </a:lnSpc>
              <a:buNone/>
              <a:defRPr b="0" lang="en-GB" sz="1200" spc="-1" strike="noStrike">
                <a:solidFill>
                  <a:schemeClr val="dk1">
                    <a:tint val="75000"/>
                  </a:schemeClr>
                </a:solidFill>
                <a:latin typeface="Calibri"/>
              </a:defRPr>
            </a:lvl1pPr>
          </a:lstStyle>
          <a:p>
            <a:pPr indent="0" defTabSz="4572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458040" y="6356520"/>
            <a:ext cx="2057040" cy="364680"/>
          </a:xfrm>
          <a:prstGeom prst="rect">
            <a:avLst/>
          </a:prstGeom>
          <a:noFill/>
          <a:ln w="0">
            <a:noFill/>
          </a:ln>
        </p:spPr>
        <p:txBody>
          <a:bodyPr lIns="91440" rIns="91440" tIns="45720" bIns="45720" anchor="ctr">
            <a:noAutofit/>
          </a:bodyPr>
          <a:lstStyle>
            <a:lvl1pPr indent="0" algn="r" defTabSz="457200">
              <a:lnSpc>
                <a:spcPct val="100000"/>
              </a:lnSpc>
              <a:buNone/>
              <a:defRPr b="0" lang="en-GB" sz="1200" spc="-1" strike="noStrike">
                <a:solidFill>
                  <a:schemeClr val="dk1">
                    <a:tint val="75000"/>
                  </a:schemeClr>
                </a:solidFill>
                <a:latin typeface="Calibri"/>
              </a:defRPr>
            </a:lvl1pPr>
          </a:lstStyle>
          <a:p>
            <a:pPr indent="0" algn="r" defTabSz="457200">
              <a:lnSpc>
                <a:spcPct val="100000"/>
              </a:lnSpc>
              <a:buNone/>
            </a:pPr>
            <a:fld id="{A47D77E0-A84E-411A-8909-9D59BD765A2D}"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GB" sz="3200" spc="-1" strike="noStrike">
                <a:solidFill>
                  <a:srgbClr val="0070c0"/>
                </a:solidFill>
                <a:latin typeface="Calibri Light"/>
              </a:rPr>
              <a:t>Click to edit Master title style</a:t>
            </a:r>
            <a:endParaRPr b="0" lang="en-US" sz="3200" spc="-1" strike="noStrike">
              <a:solidFill>
                <a:schemeClr val="dk1"/>
              </a:solidFill>
              <a:latin typeface="Calibri"/>
            </a:endParaRPr>
          </a:p>
        </p:txBody>
      </p:sp>
      <p:sp>
        <p:nvSpPr>
          <p:cNvPr id="8" name="PlaceHolder 2"/>
          <p:cNvSpPr>
            <a:spLocks noGrp="1"/>
          </p:cNvSpPr>
          <p:nvPr>
            <p:ph type="body"/>
          </p:nvPr>
        </p:nvSpPr>
        <p:spPr>
          <a:xfrm>
            <a:off x="628560" y="1825560"/>
            <a:ext cx="788652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Fifth level</a:t>
            </a:r>
            <a:endParaRPr b="0" lang="en-US" sz="1800" spc="-1" strike="noStrike">
              <a:solidFill>
                <a:schemeClr val="dk1"/>
              </a:solidFill>
              <a:latin typeface="Calibri"/>
            </a:endParaRPr>
          </a:p>
        </p:txBody>
      </p:sp>
      <p:sp>
        <p:nvSpPr>
          <p:cNvPr id="9" name="PlaceHolder 3"/>
          <p:cNvSpPr>
            <a:spLocks noGrp="1"/>
          </p:cNvSpPr>
          <p:nvPr>
            <p:ph type="dt" idx="4"/>
          </p:nvPr>
        </p:nvSpPr>
        <p:spPr>
          <a:xfrm>
            <a:off x="628560" y="6356520"/>
            <a:ext cx="2057040" cy="364680"/>
          </a:xfrm>
          <a:prstGeom prst="rect">
            <a:avLst/>
          </a:prstGeom>
          <a:noFill/>
          <a:ln w="0">
            <a:noFill/>
          </a:ln>
        </p:spPr>
        <p:txBody>
          <a:bodyPr lIns="91440" rIns="91440" tIns="45720" bIns="45720" anchor="ctr">
            <a:noAutofit/>
          </a:bodyPr>
          <a:lstStyle>
            <a:lvl1pPr indent="0" defTabSz="457200">
              <a:lnSpc>
                <a:spcPct val="100000"/>
              </a:lnSpc>
              <a:buNone/>
              <a:defRPr b="0" lang="en-GB" sz="1200" spc="-1" strike="noStrike">
                <a:solidFill>
                  <a:schemeClr val="dk1">
                    <a:tint val="75000"/>
                  </a:schemeClr>
                </a:solidFill>
                <a:latin typeface="Calibri"/>
              </a:defRPr>
            </a:lvl1pPr>
          </a:lstStyle>
          <a:p>
            <a:pPr indent="0" defTabSz="4572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0" name="PlaceHolder 4"/>
          <p:cNvSpPr>
            <a:spLocks noGrp="1"/>
          </p:cNvSpPr>
          <p:nvPr>
            <p:ph type="ftr" idx="5"/>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5"/>
          <p:cNvSpPr>
            <a:spLocks noGrp="1"/>
          </p:cNvSpPr>
          <p:nvPr>
            <p:ph type="sldNum" idx="6"/>
          </p:nvPr>
        </p:nvSpPr>
        <p:spPr>
          <a:xfrm>
            <a:off x="6458040" y="6356520"/>
            <a:ext cx="2057040" cy="364680"/>
          </a:xfrm>
          <a:prstGeom prst="rect">
            <a:avLst/>
          </a:prstGeom>
          <a:noFill/>
          <a:ln w="0">
            <a:noFill/>
          </a:ln>
        </p:spPr>
        <p:txBody>
          <a:bodyPr lIns="91440" rIns="91440" tIns="45720" bIns="45720" anchor="ctr">
            <a:noAutofit/>
          </a:bodyPr>
          <a:lstStyle>
            <a:lvl1pPr indent="0" algn="r" defTabSz="457200">
              <a:lnSpc>
                <a:spcPct val="100000"/>
              </a:lnSpc>
              <a:buNone/>
              <a:defRPr b="0" lang="en-GB" sz="1200" spc="-1" strike="noStrike">
                <a:solidFill>
                  <a:schemeClr val="dk1">
                    <a:tint val="75000"/>
                  </a:schemeClr>
                </a:solidFill>
                <a:latin typeface="Calibri"/>
              </a:defRPr>
            </a:lvl1pPr>
          </a:lstStyle>
          <a:p>
            <a:pPr indent="0" algn="r" defTabSz="457200">
              <a:lnSpc>
                <a:spcPct val="100000"/>
              </a:lnSpc>
              <a:buNone/>
            </a:pPr>
            <a:fld id="{7BE43EE3-6078-495E-9E51-1F85510E9862}"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543720" y="365040"/>
            <a:ext cx="1971360" cy="5811480"/>
          </a:xfrm>
          <a:prstGeom prst="rect">
            <a:avLst/>
          </a:prstGeom>
          <a:noFill/>
          <a:ln w="0">
            <a:noFill/>
          </a:ln>
        </p:spPr>
        <p:txBody>
          <a:bodyPr lIns="91440" rIns="91440" tIns="45720" bIns="45720" anchor="ctr" vert="eaVert">
            <a:noAutofit/>
          </a:bodyPr>
          <a:p>
            <a:pPr indent="0" defTabSz="914400">
              <a:lnSpc>
                <a:spcPct val="90000"/>
              </a:lnSpc>
              <a:buNone/>
            </a:pPr>
            <a:r>
              <a:rPr b="0" lang="en-GB" sz="3200" spc="-1" strike="noStrike">
                <a:solidFill>
                  <a:srgbClr val="0070c0"/>
                </a:solidFill>
                <a:latin typeface="Calibri Light"/>
              </a:rPr>
              <a:t>Click to edit Master title style</a:t>
            </a:r>
            <a:endParaRPr b="0" lang="en-US" sz="3200" spc="-1" strike="noStrike">
              <a:solidFill>
                <a:schemeClr val="dk1"/>
              </a:solidFill>
              <a:latin typeface="Calibri"/>
            </a:endParaRPr>
          </a:p>
        </p:txBody>
      </p:sp>
      <p:sp>
        <p:nvSpPr>
          <p:cNvPr id="13" name="PlaceHolder 2"/>
          <p:cNvSpPr>
            <a:spLocks noGrp="1"/>
          </p:cNvSpPr>
          <p:nvPr>
            <p:ph type="body"/>
          </p:nvPr>
        </p:nvSpPr>
        <p:spPr>
          <a:xfrm>
            <a:off x="628560" y="365040"/>
            <a:ext cx="580032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Fifth level</a:t>
            </a:r>
            <a:endParaRPr b="0" lang="en-US" sz="1800" spc="-1" strike="noStrike">
              <a:solidFill>
                <a:schemeClr val="dk1"/>
              </a:solidFill>
              <a:latin typeface="Calibri"/>
            </a:endParaRPr>
          </a:p>
        </p:txBody>
      </p:sp>
      <p:sp>
        <p:nvSpPr>
          <p:cNvPr id="14" name="PlaceHolder 3"/>
          <p:cNvSpPr>
            <a:spLocks noGrp="1"/>
          </p:cNvSpPr>
          <p:nvPr>
            <p:ph type="dt" idx="7"/>
          </p:nvPr>
        </p:nvSpPr>
        <p:spPr>
          <a:xfrm>
            <a:off x="628560" y="6356520"/>
            <a:ext cx="2057040" cy="364680"/>
          </a:xfrm>
          <a:prstGeom prst="rect">
            <a:avLst/>
          </a:prstGeom>
          <a:noFill/>
          <a:ln w="0">
            <a:noFill/>
          </a:ln>
        </p:spPr>
        <p:txBody>
          <a:bodyPr lIns="91440" rIns="91440" tIns="45720" bIns="45720" anchor="ctr">
            <a:noAutofit/>
          </a:bodyPr>
          <a:lstStyle>
            <a:lvl1pPr indent="0" defTabSz="457200">
              <a:lnSpc>
                <a:spcPct val="100000"/>
              </a:lnSpc>
              <a:buNone/>
              <a:defRPr b="0" lang="en-GB" sz="1200" spc="-1" strike="noStrike">
                <a:solidFill>
                  <a:schemeClr val="dk1">
                    <a:tint val="75000"/>
                  </a:schemeClr>
                </a:solidFill>
                <a:latin typeface="Calibri"/>
              </a:defRPr>
            </a:lvl1pPr>
          </a:lstStyle>
          <a:p>
            <a:pPr indent="0" defTabSz="4572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5" name="PlaceHolder 4"/>
          <p:cNvSpPr>
            <a:spLocks noGrp="1"/>
          </p:cNvSpPr>
          <p:nvPr>
            <p:ph type="ftr" idx="8"/>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 name="PlaceHolder 5"/>
          <p:cNvSpPr>
            <a:spLocks noGrp="1"/>
          </p:cNvSpPr>
          <p:nvPr>
            <p:ph type="sldNum" idx="9"/>
          </p:nvPr>
        </p:nvSpPr>
        <p:spPr>
          <a:xfrm>
            <a:off x="6458040" y="6356520"/>
            <a:ext cx="2057040" cy="364680"/>
          </a:xfrm>
          <a:prstGeom prst="rect">
            <a:avLst/>
          </a:prstGeom>
          <a:noFill/>
          <a:ln w="0">
            <a:noFill/>
          </a:ln>
        </p:spPr>
        <p:txBody>
          <a:bodyPr lIns="91440" rIns="91440" tIns="45720" bIns="45720" anchor="ctr">
            <a:noAutofit/>
          </a:bodyPr>
          <a:lstStyle>
            <a:lvl1pPr indent="0" algn="r" defTabSz="457200">
              <a:lnSpc>
                <a:spcPct val="100000"/>
              </a:lnSpc>
              <a:buNone/>
              <a:defRPr b="0" lang="en-GB" sz="1200" spc="-1" strike="noStrike">
                <a:solidFill>
                  <a:schemeClr val="dk1">
                    <a:tint val="75000"/>
                  </a:schemeClr>
                </a:solidFill>
                <a:latin typeface="Calibri"/>
              </a:defRPr>
            </a:lvl1pPr>
          </a:lstStyle>
          <a:p>
            <a:pPr indent="0" algn="r" defTabSz="457200">
              <a:lnSpc>
                <a:spcPct val="100000"/>
              </a:lnSpc>
              <a:buNone/>
            </a:pPr>
            <a:fld id="{585018E5-79DD-4B6F-AAA3-8CE4445123FD}"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rmAutofit/>
          </a:bodyPr>
          <a:p>
            <a:pPr indent="0" defTabSz="914400">
              <a:lnSpc>
                <a:spcPct val="90000"/>
              </a:lnSpc>
              <a:buNone/>
            </a:pPr>
            <a:r>
              <a:rPr b="0" lang="en-GB" sz="3200" spc="-1" strike="noStrike">
                <a:solidFill>
                  <a:srgbClr val="0070c0"/>
                </a:solidFill>
                <a:latin typeface="Calibri Light"/>
              </a:rPr>
              <a:t>Click to edit Master title style</a:t>
            </a:r>
            <a:endParaRPr b="0" lang="en-US" sz="3200" spc="-1" strike="noStrike">
              <a:solidFill>
                <a:schemeClr val="dk1"/>
              </a:solidFill>
              <a:latin typeface="Calibri"/>
            </a:endParaRPr>
          </a:p>
        </p:txBody>
      </p:sp>
      <p:sp>
        <p:nvSpPr>
          <p:cNvPr id="18" name="PlaceHolder 2"/>
          <p:cNvSpPr>
            <a:spLocks noGrp="1"/>
          </p:cNvSpPr>
          <p:nvPr>
            <p:ph type="body"/>
          </p:nvPr>
        </p:nvSpPr>
        <p:spPr>
          <a:xfrm>
            <a:off x="628560" y="1825560"/>
            <a:ext cx="78865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Fifth level</a:t>
            </a:r>
            <a:endParaRPr b="0" lang="en-US" sz="1800" spc="-1" strike="noStrike">
              <a:solidFill>
                <a:schemeClr val="dk1"/>
              </a:solidFill>
              <a:latin typeface="Calibri"/>
            </a:endParaRPr>
          </a:p>
        </p:txBody>
      </p:sp>
      <p:sp>
        <p:nvSpPr>
          <p:cNvPr id="19" name="PlaceHolder 3"/>
          <p:cNvSpPr>
            <a:spLocks noGrp="1"/>
          </p:cNvSpPr>
          <p:nvPr>
            <p:ph type="dt" idx="10"/>
          </p:nvPr>
        </p:nvSpPr>
        <p:spPr>
          <a:xfrm>
            <a:off x="628560" y="6356520"/>
            <a:ext cx="2057040" cy="364680"/>
          </a:xfrm>
          <a:prstGeom prst="rect">
            <a:avLst/>
          </a:prstGeom>
          <a:noFill/>
          <a:ln w="0">
            <a:noFill/>
          </a:ln>
        </p:spPr>
        <p:txBody>
          <a:bodyPr lIns="91440" rIns="91440" tIns="45720" bIns="45720" anchor="ctr">
            <a:noAutofit/>
          </a:bodyPr>
          <a:lstStyle>
            <a:lvl1pPr indent="0" defTabSz="457200">
              <a:lnSpc>
                <a:spcPct val="100000"/>
              </a:lnSpc>
              <a:buNone/>
              <a:defRPr b="0" lang="en-GB" sz="1200" spc="-1" strike="noStrike">
                <a:solidFill>
                  <a:schemeClr val="dk1">
                    <a:tint val="75000"/>
                  </a:schemeClr>
                </a:solidFill>
                <a:latin typeface="Calibri"/>
              </a:defRPr>
            </a:lvl1pPr>
          </a:lstStyle>
          <a:p>
            <a:pPr indent="0" defTabSz="4572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0" name="PlaceHolder 4"/>
          <p:cNvSpPr>
            <a:spLocks noGrp="1"/>
          </p:cNvSpPr>
          <p:nvPr>
            <p:ph type="ftr" idx="11"/>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 name="PlaceHolder 5"/>
          <p:cNvSpPr>
            <a:spLocks noGrp="1"/>
          </p:cNvSpPr>
          <p:nvPr>
            <p:ph type="sldNum" idx="12"/>
          </p:nvPr>
        </p:nvSpPr>
        <p:spPr>
          <a:xfrm>
            <a:off x="6458040" y="6356520"/>
            <a:ext cx="2057040" cy="364680"/>
          </a:xfrm>
          <a:prstGeom prst="rect">
            <a:avLst/>
          </a:prstGeom>
          <a:noFill/>
          <a:ln w="0">
            <a:noFill/>
          </a:ln>
        </p:spPr>
        <p:txBody>
          <a:bodyPr lIns="91440" rIns="91440" tIns="45720" bIns="45720" anchor="ctr">
            <a:noAutofit/>
          </a:bodyPr>
          <a:lstStyle>
            <a:lvl1pPr indent="0" algn="r" defTabSz="457200">
              <a:lnSpc>
                <a:spcPct val="100000"/>
              </a:lnSpc>
              <a:buNone/>
              <a:defRPr b="0" lang="en-GB" sz="1200" spc="-1" strike="noStrike">
                <a:solidFill>
                  <a:schemeClr val="dk1">
                    <a:tint val="75000"/>
                  </a:schemeClr>
                </a:solidFill>
                <a:latin typeface="Calibri"/>
              </a:defRPr>
            </a:lvl1pPr>
          </a:lstStyle>
          <a:p>
            <a:pPr indent="0" algn="r" defTabSz="457200">
              <a:lnSpc>
                <a:spcPct val="100000"/>
              </a:lnSpc>
              <a:buNone/>
            </a:pPr>
            <a:fld id="{DDC0D994-187A-49E8-93C5-9EDEDABA5F73}"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623880" y="1709640"/>
            <a:ext cx="7886520" cy="2852280"/>
          </a:xfrm>
          <a:prstGeom prst="rect">
            <a:avLst/>
          </a:prstGeom>
          <a:noFill/>
          <a:ln w="0">
            <a:noFill/>
          </a:ln>
        </p:spPr>
        <p:txBody>
          <a:bodyPr lIns="91440" rIns="91440" tIns="45720" bIns="45720" anchor="b">
            <a:noAutofit/>
          </a:bodyPr>
          <a:p>
            <a:pPr indent="0" defTabSz="914400">
              <a:lnSpc>
                <a:spcPct val="90000"/>
              </a:lnSpc>
              <a:buNone/>
            </a:pPr>
            <a:r>
              <a:rPr b="0" lang="en-GB" sz="6000" spc="-1" strike="noStrike">
                <a:solidFill>
                  <a:srgbClr val="0070c0"/>
                </a:solidFill>
                <a:latin typeface="Calibri Light"/>
              </a:rPr>
              <a:t>Click to edit Master title style</a:t>
            </a:r>
            <a:endParaRPr b="0" lang="en-US" sz="6000" spc="-1" strike="noStrike">
              <a:solidFill>
                <a:schemeClr val="dk1"/>
              </a:solidFill>
              <a:latin typeface="Calibri"/>
            </a:endParaRPr>
          </a:p>
        </p:txBody>
      </p:sp>
      <p:sp>
        <p:nvSpPr>
          <p:cNvPr id="25" name="PlaceHolder 2"/>
          <p:cNvSpPr>
            <a:spLocks noGrp="1"/>
          </p:cNvSpPr>
          <p:nvPr>
            <p:ph type="body"/>
          </p:nvPr>
        </p:nvSpPr>
        <p:spPr>
          <a:xfrm>
            <a:off x="623880" y="4589640"/>
            <a:ext cx="788652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GB"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26" name="PlaceHolder 3"/>
          <p:cNvSpPr>
            <a:spLocks noGrp="1"/>
          </p:cNvSpPr>
          <p:nvPr>
            <p:ph type="dt" idx="13"/>
          </p:nvPr>
        </p:nvSpPr>
        <p:spPr>
          <a:xfrm>
            <a:off x="628560" y="6356520"/>
            <a:ext cx="2057040" cy="364680"/>
          </a:xfrm>
          <a:prstGeom prst="rect">
            <a:avLst/>
          </a:prstGeom>
          <a:noFill/>
          <a:ln w="0">
            <a:noFill/>
          </a:ln>
        </p:spPr>
        <p:txBody>
          <a:bodyPr lIns="91440" rIns="91440" tIns="45720" bIns="45720" anchor="ctr">
            <a:noAutofit/>
          </a:bodyPr>
          <a:lstStyle>
            <a:lvl1pPr indent="0" defTabSz="457200">
              <a:lnSpc>
                <a:spcPct val="100000"/>
              </a:lnSpc>
              <a:buNone/>
              <a:defRPr b="0" lang="en-GB" sz="1200" spc="-1" strike="noStrike">
                <a:solidFill>
                  <a:schemeClr val="dk1">
                    <a:tint val="75000"/>
                  </a:schemeClr>
                </a:solidFill>
                <a:latin typeface="Calibri"/>
              </a:defRPr>
            </a:lvl1pPr>
          </a:lstStyle>
          <a:p>
            <a:pPr indent="0" defTabSz="4572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7" name="PlaceHolder 4"/>
          <p:cNvSpPr>
            <a:spLocks noGrp="1"/>
          </p:cNvSpPr>
          <p:nvPr>
            <p:ph type="ftr" idx="14"/>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8" name="PlaceHolder 5"/>
          <p:cNvSpPr>
            <a:spLocks noGrp="1"/>
          </p:cNvSpPr>
          <p:nvPr>
            <p:ph type="sldNum" idx="15"/>
          </p:nvPr>
        </p:nvSpPr>
        <p:spPr>
          <a:xfrm>
            <a:off x="6458040" y="6356520"/>
            <a:ext cx="2057040" cy="364680"/>
          </a:xfrm>
          <a:prstGeom prst="rect">
            <a:avLst/>
          </a:prstGeom>
          <a:noFill/>
          <a:ln w="0">
            <a:noFill/>
          </a:ln>
        </p:spPr>
        <p:txBody>
          <a:bodyPr lIns="91440" rIns="91440" tIns="45720" bIns="45720" anchor="ctr">
            <a:noAutofit/>
          </a:bodyPr>
          <a:lstStyle>
            <a:lvl1pPr indent="0" algn="r" defTabSz="457200">
              <a:lnSpc>
                <a:spcPct val="100000"/>
              </a:lnSpc>
              <a:buNone/>
              <a:defRPr b="0" lang="en-GB" sz="1200" spc="-1" strike="noStrike">
                <a:solidFill>
                  <a:schemeClr val="dk1">
                    <a:tint val="75000"/>
                  </a:schemeClr>
                </a:solidFill>
                <a:latin typeface="Calibri"/>
              </a:defRPr>
            </a:lvl1pPr>
          </a:lstStyle>
          <a:p>
            <a:pPr indent="0" algn="r" defTabSz="457200">
              <a:lnSpc>
                <a:spcPct val="100000"/>
              </a:lnSpc>
              <a:buNone/>
            </a:pPr>
            <a:fld id="{0F4C9607-F8DA-408B-985F-0B1FDCDFB8FD}"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GB" sz="3200" spc="-1" strike="noStrike">
                <a:solidFill>
                  <a:srgbClr val="0070c0"/>
                </a:solidFill>
                <a:latin typeface="Calibri Light"/>
              </a:rPr>
              <a:t>Click to edit Master title style</a:t>
            </a:r>
            <a:endParaRPr b="0" lang="en-US" sz="3200" spc="-1" strike="noStrike">
              <a:solidFill>
                <a:schemeClr val="dk1"/>
              </a:solidFill>
              <a:latin typeface="Calibri"/>
            </a:endParaRPr>
          </a:p>
        </p:txBody>
      </p:sp>
      <p:sp>
        <p:nvSpPr>
          <p:cNvPr id="30" name="PlaceHolder 2"/>
          <p:cNvSpPr>
            <a:spLocks noGrp="1"/>
          </p:cNvSpPr>
          <p:nvPr>
            <p:ph type="body"/>
          </p:nvPr>
        </p:nvSpPr>
        <p:spPr>
          <a:xfrm>
            <a:off x="628560" y="1825560"/>
            <a:ext cx="38858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3"/>
          <p:cNvSpPr>
            <a:spLocks noGrp="1"/>
          </p:cNvSpPr>
          <p:nvPr>
            <p:ph type="body"/>
          </p:nvPr>
        </p:nvSpPr>
        <p:spPr>
          <a:xfrm>
            <a:off x="4629240" y="1825560"/>
            <a:ext cx="38858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Fifth level</a:t>
            </a:r>
            <a:endParaRPr b="0" lang="en-US" sz="1800" spc="-1" strike="noStrike">
              <a:solidFill>
                <a:schemeClr val="dk1"/>
              </a:solidFill>
              <a:latin typeface="Calibri"/>
            </a:endParaRPr>
          </a:p>
        </p:txBody>
      </p:sp>
      <p:sp>
        <p:nvSpPr>
          <p:cNvPr id="32" name="PlaceHolder 4"/>
          <p:cNvSpPr>
            <a:spLocks noGrp="1"/>
          </p:cNvSpPr>
          <p:nvPr>
            <p:ph type="dt" idx="16"/>
          </p:nvPr>
        </p:nvSpPr>
        <p:spPr>
          <a:xfrm>
            <a:off x="628560" y="6356520"/>
            <a:ext cx="2057040" cy="364680"/>
          </a:xfrm>
          <a:prstGeom prst="rect">
            <a:avLst/>
          </a:prstGeom>
          <a:noFill/>
          <a:ln w="0">
            <a:noFill/>
          </a:ln>
        </p:spPr>
        <p:txBody>
          <a:bodyPr lIns="91440" rIns="91440" tIns="45720" bIns="45720" anchor="ctr">
            <a:noAutofit/>
          </a:bodyPr>
          <a:lstStyle>
            <a:lvl1pPr indent="0" defTabSz="457200">
              <a:lnSpc>
                <a:spcPct val="100000"/>
              </a:lnSpc>
              <a:buNone/>
              <a:defRPr b="0" lang="en-GB" sz="1200" spc="-1" strike="noStrike">
                <a:solidFill>
                  <a:schemeClr val="dk1">
                    <a:tint val="75000"/>
                  </a:schemeClr>
                </a:solidFill>
                <a:latin typeface="Calibri"/>
              </a:defRPr>
            </a:lvl1pPr>
          </a:lstStyle>
          <a:p>
            <a:pPr indent="0" defTabSz="4572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3" name="PlaceHolder 5"/>
          <p:cNvSpPr>
            <a:spLocks noGrp="1"/>
          </p:cNvSpPr>
          <p:nvPr>
            <p:ph type="ftr" idx="17"/>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4" name="PlaceHolder 6"/>
          <p:cNvSpPr>
            <a:spLocks noGrp="1"/>
          </p:cNvSpPr>
          <p:nvPr>
            <p:ph type="sldNum" idx="18"/>
          </p:nvPr>
        </p:nvSpPr>
        <p:spPr>
          <a:xfrm>
            <a:off x="6458040" y="6356520"/>
            <a:ext cx="2057040" cy="364680"/>
          </a:xfrm>
          <a:prstGeom prst="rect">
            <a:avLst/>
          </a:prstGeom>
          <a:noFill/>
          <a:ln w="0">
            <a:noFill/>
          </a:ln>
        </p:spPr>
        <p:txBody>
          <a:bodyPr lIns="91440" rIns="91440" tIns="45720" bIns="45720" anchor="ctr">
            <a:noAutofit/>
          </a:bodyPr>
          <a:lstStyle>
            <a:lvl1pPr indent="0" algn="r" defTabSz="457200">
              <a:lnSpc>
                <a:spcPct val="100000"/>
              </a:lnSpc>
              <a:buNone/>
              <a:defRPr b="0" lang="en-GB" sz="1200" spc="-1" strike="noStrike">
                <a:solidFill>
                  <a:schemeClr val="dk1">
                    <a:tint val="75000"/>
                  </a:schemeClr>
                </a:solidFill>
                <a:latin typeface="Calibri"/>
              </a:defRPr>
            </a:lvl1pPr>
          </a:lstStyle>
          <a:p>
            <a:pPr indent="0" algn="r" defTabSz="457200">
              <a:lnSpc>
                <a:spcPct val="100000"/>
              </a:lnSpc>
              <a:buNone/>
            </a:pPr>
            <a:fld id="{F2AFDB1F-7329-48AA-97FD-DF3A16A2E9D9}"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3000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GB" sz="3200" spc="-1" strike="noStrike">
                <a:solidFill>
                  <a:srgbClr val="0070c0"/>
                </a:solidFill>
                <a:latin typeface="Calibri Light"/>
              </a:rPr>
              <a:t>Click to edit Master title style</a:t>
            </a:r>
            <a:endParaRPr b="0" lang="en-US" sz="3200" spc="-1" strike="noStrike">
              <a:solidFill>
                <a:schemeClr val="dk1"/>
              </a:solidFill>
              <a:latin typeface="Calibri"/>
            </a:endParaRPr>
          </a:p>
        </p:txBody>
      </p:sp>
      <p:sp>
        <p:nvSpPr>
          <p:cNvPr id="39" name="PlaceHolder 2"/>
          <p:cNvSpPr>
            <a:spLocks noGrp="1"/>
          </p:cNvSpPr>
          <p:nvPr>
            <p:ph type="body"/>
          </p:nvPr>
        </p:nvSpPr>
        <p:spPr>
          <a:xfrm>
            <a:off x="630000" y="1681200"/>
            <a:ext cx="386784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GB"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0" name="PlaceHolder 3"/>
          <p:cNvSpPr>
            <a:spLocks noGrp="1"/>
          </p:cNvSpPr>
          <p:nvPr>
            <p:ph type="body"/>
          </p:nvPr>
        </p:nvSpPr>
        <p:spPr>
          <a:xfrm>
            <a:off x="630000" y="2505240"/>
            <a:ext cx="386784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Fifth level</a:t>
            </a:r>
            <a:endParaRPr b="0" lang="en-US" sz="1800" spc="-1" strike="noStrike">
              <a:solidFill>
                <a:schemeClr val="dk1"/>
              </a:solidFill>
              <a:latin typeface="Calibri"/>
            </a:endParaRPr>
          </a:p>
        </p:txBody>
      </p:sp>
      <p:sp>
        <p:nvSpPr>
          <p:cNvPr id="41" name="PlaceHolder 4"/>
          <p:cNvSpPr>
            <a:spLocks noGrp="1"/>
          </p:cNvSpPr>
          <p:nvPr>
            <p:ph type="body"/>
          </p:nvPr>
        </p:nvSpPr>
        <p:spPr>
          <a:xfrm>
            <a:off x="4629240" y="1681200"/>
            <a:ext cx="3886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GB"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2" name="PlaceHolder 5"/>
          <p:cNvSpPr>
            <a:spLocks noGrp="1"/>
          </p:cNvSpPr>
          <p:nvPr>
            <p:ph type="body"/>
          </p:nvPr>
        </p:nvSpPr>
        <p:spPr>
          <a:xfrm>
            <a:off x="4629240" y="2505240"/>
            <a:ext cx="3886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GB"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GB"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GB" sz="1800" spc="-1" strike="noStrike">
                <a:solidFill>
                  <a:schemeClr val="dk1"/>
                </a:solidFill>
                <a:latin typeface="Calibri"/>
              </a:rPr>
              <a:t>Fifth level</a:t>
            </a:r>
            <a:endParaRPr b="0" lang="en-US" sz="1800" spc="-1" strike="noStrike">
              <a:solidFill>
                <a:schemeClr val="dk1"/>
              </a:solidFill>
              <a:latin typeface="Calibri"/>
            </a:endParaRPr>
          </a:p>
        </p:txBody>
      </p:sp>
      <p:sp>
        <p:nvSpPr>
          <p:cNvPr id="43" name="PlaceHolder 6"/>
          <p:cNvSpPr>
            <a:spLocks noGrp="1"/>
          </p:cNvSpPr>
          <p:nvPr>
            <p:ph type="dt" idx="19"/>
          </p:nvPr>
        </p:nvSpPr>
        <p:spPr>
          <a:xfrm>
            <a:off x="628560" y="6356520"/>
            <a:ext cx="2057040" cy="364680"/>
          </a:xfrm>
          <a:prstGeom prst="rect">
            <a:avLst/>
          </a:prstGeom>
          <a:noFill/>
          <a:ln w="0">
            <a:noFill/>
          </a:ln>
        </p:spPr>
        <p:txBody>
          <a:bodyPr lIns="91440" rIns="91440" tIns="45720" bIns="45720" anchor="ctr">
            <a:noAutofit/>
          </a:bodyPr>
          <a:lstStyle>
            <a:lvl1pPr indent="0" defTabSz="457200">
              <a:lnSpc>
                <a:spcPct val="100000"/>
              </a:lnSpc>
              <a:buNone/>
              <a:defRPr b="0" lang="en-GB" sz="1200" spc="-1" strike="noStrike">
                <a:solidFill>
                  <a:schemeClr val="dk1">
                    <a:tint val="75000"/>
                  </a:schemeClr>
                </a:solidFill>
                <a:latin typeface="Calibri"/>
              </a:defRPr>
            </a:lvl1pPr>
          </a:lstStyle>
          <a:p>
            <a:pPr indent="0" defTabSz="4572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4" name="PlaceHolder 7"/>
          <p:cNvSpPr>
            <a:spLocks noGrp="1"/>
          </p:cNvSpPr>
          <p:nvPr>
            <p:ph type="ftr" idx="20"/>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8"/>
          <p:cNvSpPr>
            <a:spLocks noGrp="1"/>
          </p:cNvSpPr>
          <p:nvPr>
            <p:ph type="sldNum" idx="21"/>
          </p:nvPr>
        </p:nvSpPr>
        <p:spPr>
          <a:xfrm>
            <a:off x="6458040" y="6356520"/>
            <a:ext cx="2057040" cy="364680"/>
          </a:xfrm>
          <a:prstGeom prst="rect">
            <a:avLst/>
          </a:prstGeom>
          <a:noFill/>
          <a:ln w="0">
            <a:noFill/>
          </a:ln>
        </p:spPr>
        <p:txBody>
          <a:bodyPr lIns="91440" rIns="91440" tIns="45720" bIns="45720" anchor="ctr">
            <a:noAutofit/>
          </a:bodyPr>
          <a:lstStyle>
            <a:lvl1pPr indent="0" algn="r" defTabSz="457200">
              <a:lnSpc>
                <a:spcPct val="100000"/>
              </a:lnSpc>
              <a:buNone/>
              <a:defRPr b="0" lang="en-GB" sz="1200" spc="-1" strike="noStrike">
                <a:solidFill>
                  <a:schemeClr val="dk1">
                    <a:tint val="75000"/>
                  </a:schemeClr>
                </a:solidFill>
                <a:latin typeface="Calibri"/>
              </a:defRPr>
            </a:lvl1pPr>
          </a:lstStyle>
          <a:p>
            <a:pPr indent="0" algn="r" defTabSz="457200">
              <a:lnSpc>
                <a:spcPct val="100000"/>
              </a:lnSpc>
              <a:buNone/>
            </a:pPr>
            <a:fld id="{B006A113-9A2E-4CA3-A87D-C0BC3F8FAA4D}"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GB" sz="3200" spc="-1" strike="noStrike">
                <a:solidFill>
                  <a:srgbClr val="0070c0"/>
                </a:solidFill>
                <a:latin typeface="Calibri Light"/>
              </a:rPr>
              <a:t>Click to edit Master title style</a:t>
            </a:r>
            <a:endParaRPr b="0" lang="en-US" sz="3200" spc="-1" strike="noStrike">
              <a:solidFill>
                <a:schemeClr val="dk1"/>
              </a:solidFill>
              <a:latin typeface="Calibri"/>
            </a:endParaRPr>
          </a:p>
        </p:txBody>
      </p:sp>
      <p:sp>
        <p:nvSpPr>
          <p:cNvPr id="47" name="PlaceHolder 2"/>
          <p:cNvSpPr>
            <a:spLocks noGrp="1"/>
          </p:cNvSpPr>
          <p:nvPr>
            <p:ph type="dt" idx="22"/>
          </p:nvPr>
        </p:nvSpPr>
        <p:spPr>
          <a:xfrm>
            <a:off x="628560" y="6356520"/>
            <a:ext cx="2057040" cy="364680"/>
          </a:xfrm>
          <a:prstGeom prst="rect">
            <a:avLst/>
          </a:prstGeom>
          <a:noFill/>
          <a:ln w="0">
            <a:noFill/>
          </a:ln>
        </p:spPr>
        <p:txBody>
          <a:bodyPr lIns="91440" rIns="91440" tIns="45720" bIns="45720" anchor="ctr">
            <a:noAutofit/>
          </a:bodyPr>
          <a:lstStyle>
            <a:lvl1pPr indent="0" defTabSz="457200">
              <a:lnSpc>
                <a:spcPct val="100000"/>
              </a:lnSpc>
              <a:buNone/>
              <a:defRPr b="0" lang="en-GB" sz="1200" spc="-1" strike="noStrike">
                <a:solidFill>
                  <a:schemeClr val="dk1">
                    <a:tint val="75000"/>
                  </a:schemeClr>
                </a:solidFill>
                <a:latin typeface="Calibri"/>
              </a:defRPr>
            </a:lvl1pPr>
          </a:lstStyle>
          <a:p>
            <a:pPr indent="0" defTabSz="4572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8" name="PlaceHolder 3"/>
          <p:cNvSpPr>
            <a:spLocks noGrp="1"/>
          </p:cNvSpPr>
          <p:nvPr>
            <p:ph type="ftr" idx="23"/>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4"/>
          <p:cNvSpPr>
            <a:spLocks noGrp="1"/>
          </p:cNvSpPr>
          <p:nvPr>
            <p:ph type="sldNum" idx="24"/>
          </p:nvPr>
        </p:nvSpPr>
        <p:spPr>
          <a:xfrm>
            <a:off x="6458040" y="6356520"/>
            <a:ext cx="2057040" cy="364680"/>
          </a:xfrm>
          <a:prstGeom prst="rect">
            <a:avLst/>
          </a:prstGeom>
          <a:noFill/>
          <a:ln w="0">
            <a:noFill/>
          </a:ln>
        </p:spPr>
        <p:txBody>
          <a:bodyPr lIns="91440" rIns="91440" tIns="45720" bIns="45720" anchor="ctr">
            <a:noAutofit/>
          </a:bodyPr>
          <a:lstStyle>
            <a:lvl1pPr indent="0" algn="r" defTabSz="457200">
              <a:lnSpc>
                <a:spcPct val="100000"/>
              </a:lnSpc>
              <a:buNone/>
              <a:defRPr b="0" lang="en-GB" sz="1200" spc="-1" strike="noStrike">
                <a:solidFill>
                  <a:schemeClr val="dk1">
                    <a:tint val="75000"/>
                  </a:schemeClr>
                </a:solidFill>
                <a:latin typeface="Calibri"/>
              </a:defRPr>
            </a:lvl1pPr>
          </a:lstStyle>
          <a:p>
            <a:pPr indent="0" algn="r" defTabSz="457200">
              <a:lnSpc>
                <a:spcPct val="100000"/>
              </a:lnSpc>
              <a:buNone/>
            </a:pPr>
            <a:fld id="{B1EFAEA2-EC71-4B20-8521-C7F938EE4C3D}"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628560" y="6356520"/>
            <a:ext cx="2057040" cy="364680"/>
          </a:xfrm>
          <a:prstGeom prst="rect">
            <a:avLst/>
          </a:prstGeom>
          <a:noFill/>
          <a:ln w="0">
            <a:noFill/>
          </a:ln>
        </p:spPr>
        <p:txBody>
          <a:bodyPr lIns="91440" rIns="91440" tIns="45720" bIns="45720" anchor="ctr">
            <a:noAutofit/>
          </a:bodyPr>
          <a:lstStyle>
            <a:lvl1pPr indent="0" defTabSz="457200">
              <a:lnSpc>
                <a:spcPct val="100000"/>
              </a:lnSpc>
              <a:buNone/>
              <a:defRPr b="0" lang="en-GB" sz="1200" spc="-1" strike="noStrike">
                <a:solidFill>
                  <a:schemeClr val="dk1">
                    <a:tint val="75000"/>
                  </a:schemeClr>
                </a:solidFill>
                <a:latin typeface="Calibri"/>
              </a:defRPr>
            </a:lvl1pPr>
          </a:lstStyle>
          <a:p>
            <a:pPr indent="0" defTabSz="4572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2" name="PlaceHolder 2"/>
          <p:cNvSpPr>
            <a:spLocks noGrp="1"/>
          </p:cNvSpPr>
          <p:nvPr>
            <p:ph type="ftr" idx="26"/>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3"/>
          <p:cNvSpPr>
            <a:spLocks noGrp="1"/>
          </p:cNvSpPr>
          <p:nvPr>
            <p:ph type="sldNum" idx="27"/>
          </p:nvPr>
        </p:nvSpPr>
        <p:spPr>
          <a:xfrm>
            <a:off x="6458040" y="6356520"/>
            <a:ext cx="2057040" cy="364680"/>
          </a:xfrm>
          <a:prstGeom prst="rect">
            <a:avLst/>
          </a:prstGeom>
          <a:noFill/>
          <a:ln w="0">
            <a:noFill/>
          </a:ln>
        </p:spPr>
        <p:txBody>
          <a:bodyPr lIns="91440" rIns="91440" tIns="45720" bIns="45720" anchor="ctr">
            <a:noAutofit/>
          </a:bodyPr>
          <a:lstStyle>
            <a:lvl1pPr indent="0" algn="r" defTabSz="457200">
              <a:lnSpc>
                <a:spcPct val="100000"/>
              </a:lnSpc>
              <a:buNone/>
              <a:defRPr b="0" lang="en-GB" sz="1200" spc="-1" strike="noStrike">
                <a:solidFill>
                  <a:schemeClr val="dk1">
                    <a:tint val="75000"/>
                  </a:schemeClr>
                </a:solidFill>
                <a:latin typeface="Calibri"/>
              </a:defRPr>
            </a:lvl1pPr>
          </a:lstStyle>
          <a:p>
            <a:pPr indent="0" algn="r" defTabSz="457200">
              <a:lnSpc>
                <a:spcPct val="100000"/>
              </a:lnSpc>
              <a:buNone/>
            </a:pPr>
            <a:fld id="{DCBA2F4F-AA6A-4BEC-B966-D0E287E80730}"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4"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5"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630000" y="457200"/>
            <a:ext cx="2948760" cy="1599840"/>
          </a:xfrm>
          <a:prstGeom prst="rect">
            <a:avLst/>
          </a:prstGeom>
          <a:noFill/>
          <a:ln w="0">
            <a:noFill/>
          </a:ln>
        </p:spPr>
        <p:txBody>
          <a:bodyPr lIns="91440" rIns="91440" tIns="45720" bIns="45720" anchor="b">
            <a:noAutofit/>
          </a:bodyPr>
          <a:p>
            <a:pPr indent="0" defTabSz="914400">
              <a:lnSpc>
                <a:spcPct val="90000"/>
              </a:lnSpc>
              <a:buNone/>
            </a:pPr>
            <a:r>
              <a:rPr b="0" lang="en-GB" sz="3200" spc="-1" strike="noStrike">
                <a:solidFill>
                  <a:srgbClr val="0070c0"/>
                </a:solidFill>
                <a:latin typeface="Calibri Light"/>
              </a:rPr>
              <a:t>Click to edit Master title style</a:t>
            </a:r>
            <a:endParaRPr b="0" lang="en-US" sz="3200" spc="-1" strike="noStrike">
              <a:solidFill>
                <a:schemeClr val="dk1"/>
              </a:solidFill>
              <a:latin typeface="Calibri"/>
            </a:endParaRPr>
          </a:p>
        </p:txBody>
      </p:sp>
      <p:sp>
        <p:nvSpPr>
          <p:cNvPr id="57" name="PlaceHolder 2"/>
          <p:cNvSpPr>
            <a:spLocks noGrp="1"/>
          </p:cNvSpPr>
          <p:nvPr>
            <p:ph type="body"/>
          </p:nvPr>
        </p:nvSpPr>
        <p:spPr>
          <a:xfrm>
            <a:off x="3887280" y="987480"/>
            <a:ext cx="462888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GB"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GB"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GB"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GB" sz="2000" spc="-1" strike="noStrike">
                <a:solidFill>
                  <a:schemeClr val="dk1"/>
                </a:solidFill>
                <a:latin typeface="Calibri"/>
              </a:rPr>
              <a:t>Fifth level</a:t>
            </a:r>
            <a:endParaRPr b="0" lang="en-US" sz="2000" spc="-1" strike="noStrike">
              <a:solidFill>
                <a:schemeClr val="dk1"/>
              </a:solidFill>
              <a:latin typeface="Calibri"/>
            </a:endParaRPr>
          </a:p>
        </p:txBody>
      </p:sp>
      <p:sp>
        <p:nvSpPr>
          <p:cNvPr id="58" name="PlaceHolder 3"/>
          <p:cNvSpPr>
            <a:spLocks noGrp="1"/>
          </p:cNvSpPr>
          <p:nvPr>
            <p:ph type="body"/>
          </p:nvPr>
        </p:nvSpPr>
        <p:spPr>
          <a:xfrm>
            <a:off x="630000" y="2057400"/>
            <a:ext cx="294876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GB" sz="1600" spc="-1" strike="noStrike">
                <a:solidFill>
                  <a:schemeClr val="dk1"/>
                </a:solidFill>
                <a:latin typeface="Calibri"/>
              </a:rPr>
              <a:t>Click to edit Master text styles</a:t>
            </a:r>
            <a:endParaRPr b="0" lang="en-US" sz="1600" spc="-1" strike="noStrike">
              <a:solidFill>
                <a:schemeClr val="dk1"/>
              </a:solidFill>
              <a:latin typeface="Calibri"/>
            </a:endParaRPr>
          </a:p>
        </p:txBody>
      </p:sp>
      <p:sp>
        <p:nvSpPr>
          <p:cNvPr id="59" name="PlaceHolder 4"/>
          <p:cNvSpPr>
            <a:spLocks noGrp="1"/>
          </p:cNvSpPr>
          <p:nvPr>
            <p:ph type="dt" idx="28"/>
          </p:nvPr>
        </p:nvSpPr>
        <p:spPr>
          <a:xfrm>
            <a:off x="628560" y="6356520"/>
            <a:ext cx="2057040" cy="364680"/>
          </a:xfrm>
          <a:prstGeom prst="rect">
            <a:avLst/>
          </a:prstGeom>
          <a:noFill/>
          <a:ln w="0">
            <a:noFill/>
          </a:ln>
        </p:spPr>
        <p:txBody>
          <a:bodyPr lIns="91440" rIns="91440" tIns="45720" bIns="45720" anchor="ctr">
            <a:noAutofit/>
          </a:bodyPr>
          <a:lstStyle>
            <a:lvl1pPr indent="0" defTabSz="457200">
              <a:lnSpc>
                <a:spcPct val="100000"/>
              </a:lnSpc>
              <a:buNone/>
              <a:defRPr b="0" lang="en-GB" sz="1200" spc="-1" strike="noStrike">
                <a:solidFill>
                  <a:schemeClr val="dk1">
                    <a:tint val="75000"/>
                  </a:schemeClr>
                </a:solidFill>
                <a:latin typeface="Calibri"/>
              </a:defRPr>
            </a:lvl1pPr>
          </a:lstStyle>
          <a:p>
            <a:pPr indent="0" defTabSz="4572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0" name="PlaceHolder 5"/>
          <p:cNvSpPr>
            <a:spLocks noGrp="1"/>
          </p:cNvSpPr>
          <p:nvPr>
            <p:ph type="ftr" idx="29"/>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1" name="PlaceHolder 6"/>
          <p:cNvSpPr>
            <a:spLocks noGrp="1"/>
          </p:cNvSpPr>
          <p:nvPr>
            <p:ph type="sldNum" idx="30"/>
          </p:nvPr>
        </p:nvSpPr>
        <p:spPr>
          <a:xfrm>
            <a:off x="6458040" y="6356520"/>
            <a:ext cx="2057040" cy="364680"/>
          </a:xfrm>
          <a:prstGeom prst="rect">
            <a:avLst/>
          </a:prstGeom>
          <a:noFill/>
          <a:ln w="0">
            <a:noFill/>
          </a:ln>
        </p:spPr>
        <p:txBody>
          <a:bodyPr lIns="91440" rIns="91440" tIns="45720" bIns="45720" anchor="ctr">
            <a:noAutofit/>
          </a:bodyPr>
          <a:lstStyle>
            <a:lvl1pPr indent="0" algn="r" defTabSz="457200">
              <a:lnSpc>
                <a:spcPct val="100000"/>
              </a:lnSpc>
              <a:buNone/>
              <a:defRPr b="0" lang="en-GB" sz="1200" spc="-1" strike="noStrike">
                <a:solidFill>
                  <a:schemeClr val="dk1">
                    <a:tint val="75000"/>
                  </a:schemeClr>
                </a:solidFill>
                <a:latin typeface="Calibri"/>
              </a:defRPr>
            </a:lvl1pPr>
          </a:lstStyle>
          <a:p>
            <a:pPr indent="0" algn="r" defTabSz="457200">
              <a:lnSpc>
                <a:spcPct val="100000"/>
              </a:lnSpc>
              <a:buNone/>
            </a:pPr>
            <a:fld id="{AA39A8D3-D218-4066-9586-75F926FE0D1B}"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630000" y="457200"/>
            <a:ext cx="2948760" cy="1599840"/>
          </a:xfrm>
          <a:prstGeom prst="rect">
            <a:avLst/>
          </a:prstGeom>
          <a:noFill/>
          <a:ln w="0">
            <a:noFill/>
          </a:ln>
        </p:spPr>
        <p:txBody>
          <a:bodyPr lIns="91440" rIns="91440" tIns="45720" bIns="45720" anchor="b">
            <a:noAutofit/>
          </a:bodyPr>
          <a:p>
            <a:pPr indent="0" defTabSz="914400">
              <a:lnSpc>
                <a:spcPct val="90000"/>
              </a:lnSpc>
              <a:buNone/>
            </a:pPr>
            <a:r>
              <a:rPr b="0" lang="en-GB" sz="3200" spc="-1" strike="noStrike">
                <a:solidFill>
                  <a:srgbClr val="0070c0"/>
                </a:solidFill>
                <a:latin typeface="Calibri Light"/>
              </a:rPr>
              <a:t>Click to edit Master title style</a:t>
            </a:r>
            <a:endParaRPr b="0" lang="en-US" sz="3200" spc="-1" strike="noStrike">
              <a:solidFill>
                <a:schemeClr val="dk1"/>
              </a:solidFill>
              <a:latin typeface="Calibri"/>
            </a:endParaRPr>
          </a:p>
        </p:txBody>
      </p:sp>
      <p:sp>
        <p:nvSpPr>
          <p:cNvPr id="63" name="PlaceHolder 2"/>
          <p:cNvSpPr>
            <a:spLocks noGrp="1"/>
          </p:cNvSpPr>
          <p:nvPr>
            <p:ph type="body"/>
          </p:nvPr>
        </p:nvSpPr>
        <p:spPr>
          <a:xfrm>
            <a:off x="3887280" y="987480"/>
            <a:ext cx="4628880" cy="4873320"/>
          </a:xfrm>
          <a:prstGeom prst="rect">
            <a:avLst/>
          </a:prstGeom>
          <a:noFill/>
          <a:ln w="0">
            <a:noFill/>
          </a:ln>
        </p:spPr>
        <p:txBody>
          <a:bodyPr lIns="90000" rIns="90000" tIns="45000" bIns="45000" anchor="t">
            <a:noAutofit/>
          </a:bodyPr>
          <a:p>
            <a:pPr indent="0" defTabSz="457200">
              <a:lnSpc>
                <a:spcPct val="100000"/>
              </a:lnSpc>
              <a:buNone/>
              <a:tabLst>
                <a:tab algn="l" pos="0"/>
              </a:tabLst>
            </a:pPr>
            <a:r>
              <a:rPr b="0" lang="en-GB" sz="3200" spc="-1" strike="noStrike">
                <a:solidFill>
                  <a:schemeClr val="dk1"/>
                </a:solidFill>
                <a:latin typeface="Calibri"/>
              </a:rPr>
              <a:t>Click icon to add picture</a:t>
            </a:r>
            <a:endParaRPr b="0" lang="en-US" sz="3200" spc="-1" strike="noStrike">
              <a:solidFill>
                <a:schemeClr val="dk1"/>
              </a:solidFill>
              <a:latin typeface="Calibri"/>
            </a:endParaRPr>
          </a:p>
        </p:txBody>
      </p:sp>
      <p:sp>
        <p:nvSpPr>
          <p:cNvPr id="64" name="PlaceHolder 3"/>
          <p:cNvSpPr>
            <a:spLocks noGrp="1"/>
          </p:cNvSpPr>
          <p:nvPr>
            <p:ph type="body"/>
          </p:nvPr>
        </p:nvSpPr>
        <p:spPr>
          <a:xfrm>
            <a:off x="630000" y="2057400"/>
            <a:ext cx="294876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GB" sz="1600" spc="-1" strike="noStrike">
                <a:solidFill>
                  <a:schemeClr val="dk1"/>
                </a:solidFill>
                <a:latin typeface="Calibri"/>
              </a:rPr>
              <a:t>Click to edit Master text styles</a:t>
            </a:r>
            <a:endParaRPr b="0" lang="en-US" sz="1600" spc="-1" strike="noStrike">
              <a:solidFill>
                <a:schemeClr val="dk1"/>
              </a:solidFill>
              <a:latin typeface="Calibri"/>
            </a:endParaRPr>
          </a:p>
        </p:txBody>
      </p:sp>
      <p:sp>
        <p:nvSpPr>
          <p:cNvPr id="65" name="PlaceHolder 4"/>
          <p:cNvSpPr>
            <a:spLocks noGrp="1"/>
          </p:cNvSpPr>
          <p:nvPr>
            <p:ph type="dt" idx="31"/>
          </p:nvPr>
        </p:nvSpPr>
        <p:spPr>
          <a:xfrm>
            <a:off x="628560" y="6356520"/>
            <a:ext cx="2057040" cy="364680"/>
          </a:xfrm>
          <a:prstGeom prst="rect">
            <a:avLst/>
          </a:prstGeom>
          <a:noFill/>
          <a:ln w="0">
            <a:noFill/>
          </a:ln>
        </p:spPr>
        <p:txBody>
          <a:bodyPr lIns="91440" rIns="91440" tIns="45720" bIns="45720" anchor="ctr">
            <a:noAutofit/>
          </a:bodyPr>
          <a:lstStyle>
            <a:lvl1pPr indent="0" defTabSz="457200">
              <a:lnSpc>
                <a:spcPct val="100000"/>
              </a:lnSpc>
              <a:buNone/>
              <a:defRPr b="0" lang="en-GB" sz="1200" spc="-1" strike="noStrike">
                <a:solidFill>
                  <a:schemeClr val="dk1">
                    <a:tint val="75000"/>
                  </a:schemeClr>
                </a:solidFill>
                <a:latin typeface="Calibri"/>
              </a:defRPr>
            </a:lvl1pPr>
          </a:lstStyle>
          <a:p>
            <a:pPr indent="0" defTabSz="4572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6" name="PlaceHolder 5"/>
          <p:cNvSpPr>
            <a:spLocks noGrp="1"/>
          </p:cNvSpPr>
          <p:nvPr>
            <p:ph type="ftr" idx="32"/>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7" name="PlaceHolder 6"/>
          <p:cNvSpPr>
            <a:spLocks noGrp="1"/>
          </p:cNvSpPr>
          <p:nvPr>
            <p:ph type="sldNum" idx="33"/>
          </p:nvPr>
        </p:nvSpPr>
        <p:spPr>
          <a:xfrm>
            <a:off x="6458040" y="6356520"/>
            <a:ext cx="2057040" cy="364680"/>
          </a:xfrm>
          <a:prstGeom prst="rect">
            <a:avLst/>
          </a:prstGeom>
          <a:noFill/>
          <a:ln w="0">
            <a:noFill/>
          </a:ln>
        </p:spPr>
        <p:txBody>
          <a:bodyPr lIns="91440" rIns="91440" tIns="45720" bIns="45720" anchor="ctr">
            <a:noAutofit/>
          </a:bodyPr>
          <a:lstStyle>
            <a:lvl1pPr indent="0" algn="r" defTabSz="457200">
              <a:lnSpc>
                <a:spcPct val="100000"/>
              </a:lnSpc>
              <a:buNone/>
              <a:defRPr b="0" lang="en-GB" sz="1200" spc="-1" strike="noStrike">
                <a:solidFill>
                  <a:schemeClr val="dk1">
                    <a:tint val="75000"/>
                  </a:schemeClr>
                </a:solidFill>
                <a:latin typeface="Calibri"/>
              </a:defRPr>
            </a:lvl1pPr>
          </a:lstStyle>
          <a:p>
            <a:pPr indent="0" algn="r" defTabSz="457200">
              <a:lnSpc>
                <a:spcPct val="100000"/>
              </a:lnSpc>
              <a:buNone/>
            </a:pPr>
            <a:fld id="{F856F5BE-5546-44CD-B6D7-7FDB79258697}"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hyperlink" Target="https://www.telegraph.co.uk/money/pensions/best-private-pension-schemes-providers/" TargetMode="External"/><Relationship Id="rId2" Type="http://schemas.openxmlformats.org/officeDocument/2006/relationships/hyperlink" Target="https://www.ii.co.uk/analysis-commentary/ftse-100-companies-best-and-worst-funded-pension-schemes-ii512728" TargetMode="External"/><Relationship Id="rId3" Type="http://schemas.openxmlformats.org/officeDocument/2006/relationships/hyperlink" Target="https://www.kota.io/blog/defined-contribution-pension-uk" TargetMode="External"/><Relationship Id="rId4"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hyperlink" Target="https://www.gov.uk/tax-on-your-private-pension/pension-tax-relief" TargetMode="External"/><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hyperlink" Target="http://www.federalreserve.gov/releases/z1/current/z1.pdf" TargetMode="External"/><Relationship Id="rId2" Type="http://schemas.openxmlformats.org/officeDocument/2006/relationships/image" Target="../media/image7.png"/><Relationship Id="rId3"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hyperlink" Target="https://assets.publishing.service.gov.uk/media/6735d9ebb613efc3f18230e9/pension_fund_investment_and_the_uk_economy.pdf" TargetMode="External"/><Relationship Id="rId3" Type="http://schemas.openxmlformats.org/officeDocument/2006/relationships/slideLayout" Target="../slideLayouts/slideLayout9.xml"/>
</Relationships>
</file>

<file path=ppt/slides/_rels/slide3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hyperlink" Target="https://rpc.cfainstitute.org/-/media/documents/article/industry-research/mercer-global-pension-index-2024.pdf" TargetMode="External"/><Relationship Id="rId3"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685800" y="340200"/>
            <a:ext cx="7772040" cy="2387160"/>
          </a:xfrm>
          <a:prstGeom prst="rect">
            <a:avLst/>
          </a:prstGeom>
          <a:noFill/>
          <a:ln w="0">
            <a:noFill/>
          </a:ln>
        </p:spPr>
        <p:txBody>
          <a:bodyPr lIns="91440" rIns="91440" tIns="45720" bIns="45720" anchor="b">
            <a:normAutofit/>
          </a:bodyPr>
          <a:p>
            <a:pPr indent="0" algn="ctr" defTabSz="914400">
              <a:lnSpc>
                <a:spcPct val="90000"/>
              </a:lnSpc>
              <a:buNone/>
            </a:pPr>
            <a:r>
              <a:rPr b="0" lang="en-GB" sz="3600" spc="-1" strike="noStrike" u="sng">
                <a:solidFill>
                  <a:srgbClr val="0070c0"/>
                </a:solidFill>
                <a:uFillTx/>
                <a:latin typeface="Calibri Light"/>
              </a:rPr>
              <a:t>Week 10</a:t>
            </a:r>
            <a:br>
              <a:rPr sz="3600"/>
            </a:br>
            <a:br>
              <a:rPr sz="3600"/>
            </a:br>
            <a:r>
              <a:rPr b="0" lang="en-GB" sz="3600" spc="-1" strike="noStrike">
                <a:solidFill>
                  <a:srgbClr val="0070c0"/>
                </a:solidFill>
                <a:latin typeface="Calibri Light"/>
              </a:rPr>
              <a:t>Pension funds</a:t>
            </a:r>
            <a:endParaRPr b="0" lang="en-US" sz="3600" spc="-1" strike="noStrike">
              <a:solidFill>
                <a:schemeClr val="dk1"/>
              </a:solidFill>
              <a:latin typeface="Calibri"/>
            </a:endParaRPr>
          </a:p>
        </p:txBody>
      </p:sp>
      <p:sp>
        <p:nvSpPr>
          <p:cNvPr id="75" name="PlaceHolder 2"/>
          <p:cNvSpPr>
            <a:spLocks noGrp="1"/>
          </p:cNvSpPr>
          <p:nvPr>
            <p:ph type="subTitle"/>
          </p:nvPr>
        </p:nvSpPr>
        <p:spPr>
          <a:xfrm>
            <a:off x="1143000" y="3225960"/>
            <a:ext cx="6857640" cy="2239560"/>
          </a:xfrm>
          <a:prstGeom prst="rect">
            <a:avLst/>
          </a:prstGeom>
          <a:noFill/>
          <a:ln w="0">
            <a:noFill/>
          </a:ln>
        </p:spPr>
        <p:txBody>
          <a:bodyPr lIns="91440" rIns="91440" tIns="45720" bIns="45720" anchor="t">
            <a:normAutofit/>
          </a:bodyPr>
          <a:p>
            <a:pPr marL="343080" indent="-343080" defTabSz="914400">
              <a:lnSpc>
                <a:spcPct val="90000"/>
              </a:lnSpc>
              <a:spcBef>
                <a:spcPts val="1001"/>
              </a:spcBef>
              <a:buClr>
                <a:srgbClr val="000000"/>
              </a:buClr>
              <a:buFont typeface="Arial"/>
              <a:buChar char="•"/>
            </a:pPr>
            <a:r>
              <a:rPr b="0" lang="en-GB" sz="2400" spc="-1" strike="noStrike">
                <a:solidFill>
                  <a:schemeClr val="dk1"/>
                </a:solidFill>
                <a:latin typeface="Calibri"/>
              </a:rPr>
              <a:t>What is a pension? </a:t>
            </a:r>
            <a:endParaRPr b="0" lang="en-US" sz="2400" spc="-1" strike="noStrike">
              <a:solidFill>
                <a:srgbClr val="000000"/>
              </a:solidFill>
              <a:latin typeface="Arial"/>
            </a:endParaRPr>
          </a:p>
          <a:p>
            <a:pPr marL="343080" indent="-343080" defTabSz="914400">
              <a:lnSpc>
                <a:spcPct val="90000"/>
              </a:lnSpc>
              <a:spcBef>
                <a:spcPts val="1001"/>
              </a:spcBef>
              <a:buClr>
                <a:srgbClr val="000000"/>
              </a:buClr>
              <a:buFont typeface="Arial"/>
              <a:buChar char="•"/>
            </a:pPr>
            <a:r>
              <a:rPr b="0" lang="en-GB" sz="2400" spc="-1" strike="noStrike">
                <a:solidFill>
                  <a:schemeClr val="dk1"/>
                </a:solidFill>
                <a:latin typeface="Calibri"/>
              </a:rPr>
              <a:t>Types of pensions</a:t>
            </a:r>
            <a:endParaRPr b="0" lang="en-US" sz="2400" spc="-1" strike="noStrike">
              <a:solidFill>
                <a:srgbClr val="000000"/>
              </a:solidFill>
              <a:latin typeface="Arial"/>
            </a:endParaRPr>
          </a:p>
          <a:p>
            <a:pPr marL="343080" indent="-343080" defTabSz="914400">
              <a:lnSpc>
                <a:spcPct val="90000"/>
              </a:lnSpc>
              <a:spcBef>
                <a:spcPts val="1001"/>
              </a:spcBef>
              <a:buClr>
                <a:srgbClr val="000000"/>
              </a:buClr>
              <a:buFont typeface="Arial"/>
              <a:buChar char="•"/>
            </a:pPr>
            <a:r>
              <a:rPr b="0" lang="en-GB" sz="2400" spc="-1" strike="noStrike">
                <a:solidFill>
                  <a:schemeClr val="dk1"/>
                </a:solidFill>
                <a:latin typeface="Calibri"/>
              </a:rPr>
              <a:t>Financing of pensions</a:t>
            </a:r>
            <a:endParaRPr b="0" lang="en-US" sz="2400" spc="-1" strike="noStrike">
              <a:solidFill>
                <a:srgbClr val="000000"/>
              </a:solidFill>
              <a:latin typeface="Arial"/>
            </a:endParaRPr>
          </a:p>
          <a:p>
            <a:pPr marL="343080" indent="-343080" defTabSz="914400">
              <a:lnSpc>
                <a:spcPct val="90000"/>
              </a:lnSpc>
              <a:spcBef>
                <a:spcPts val="1001"/>
              </a:spcBef>
              <a:buClr>
                <a:srgbClr val="000000"/>
              </a:buClr>
              <a:buFont typeface="Arial"/>
              <a:buChar char="•"/>
            </a:pPr>
            <a:r>
              <a:rPr b="0" lang="en-GB" sz="2400" spc="-1" strike="noStrike">
                <a:solidFill>
                  <a:schemeClr val="dk1"/>
                </a:solidFill>
                <a:latin typeface="Calibri"/>
              </a:rPr>
              <a:t>UK pension arrangements</a:t>
            </a:r>
            <a:endParaRPr b="0" lang="en-US" sz="2400" spc="-1" strike="noStrike">
              <a:solidFill>
                <a:srgbClr val="000000"/>
              </a:solidFill>
              <a:latin typeface="Arial"/>
            </a:endParaRPr>
          </a:p>
          <a:p>
            <a:pPr marL="343080" indent="-343080" defTabSz="914400">
              <a:lnSpc>
                <a:spcPct val="90000"/>
              </a:lnSpc>
              <a:spcBef>
                <a:spcPts val="1001"/>
              </a:spcBef>
              <a:buClr>
                <a:srgbClr val="000000"/>
              </a:buClr>
              <a:buFont typeface="Arial"/>
              <a:buChar char="•"/>
            </a:pPr>
            <a:r>
              <a:rPr b="0" lang="en-GB" sz="2400" spc="-1" strike="noStrike">
                <a:solidFill>
                  <a:schemeClr val="dk1"/>
                </a:solidFill>
                <a:latin typeface="Calibri"/>
              </a:rPr>
              <a:t>How are pensions invested?</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rmAutofit/>
          </a:bodyPr>
          <a:p>
            <a:pPr indent="0" defTabSz="914400">
              <a:lnSpc>
                <a:spcPct val="90000"/>
              </a:lnSpc>
              <a:buNone/>
            </a:pPr>
            <a:r>
              <a:rPr b="1" lang="en-GB" sz="2800" spc="-1" strike="noStrike">
                <a:solidFill>
                  <a:srgbClr val="0070c0"/>
                </a:solidFill>
                <a:latin typeface="Calibri"/>
              </a:rPr>
              <a:t>What is meant by Pension?</a:t>
            </a:r>
            <a:endParaRPr b="0" lang="en-US" sz="2800" spc="-1" strike="noStrike">
              <a:solidFill>
                <a:schemeClr val="dk1"/>
              </a:solidFill>
              <a:latin typeface="Calibri"/>
            </a:endParaRPr>
          </a:p>
        </p:txBody>
      </p:sp>
      <p:sp>
        <p:nvSpPr>
          <p:cNvPr id="77" name="PlaceHolder 2"/>
          <p:cNvSpPr>
            <a:spLocks noGrp="1"/>
          </p:cNvSpPr>
          <p:nvPr>
            <p:ph/>
          </p:nvPr>
        </p:nvSpPr>
        <p:spPr>
          <a:xfrm>
            <a:off x="628560" y="1825560"/>
            <a:ext cx="7886520" cy="4350960"/>
          </a:xfrm>
          <a:prstGeom prst="rect">
            <a:avLst/>
          </a:prstGeom>
          <a:noFill/>
          <a:ln w="0">
            <a:noFill/>
          </a:ln>
        </p:spPr>
        <p:txBody>
          <a:bodyPr lIns="91440" rIns="91440" tIns="45720" bIns="45720" anchor="t">
            <a:normAutofit fontScale="90336"/>
          </a:bodyPr>
          <a:p>
            <a:pPr marL="228600" indent="-228600" defTabSz="914400">
              <a:lnSpc>
                <a:spcPct val="90000"/>
              </a:lnSpc>
              <a:spcBef>
                <a:spcPts val="1001"/>
              </a:spcBef>
              <a:buClr>
                <a:srgbClr val="002060"/>
              </a:buClr>
              <a:buFont typeface="Arial"/>
              <a:buChar char="•"/>
            </a:pPr>
            <a:r>
              <a:rPr b="0" lang="en-US" sz="2600" spc="-1" strike="noStrike">
                <a:solidFill>
                  <a:srgbClr val="002060"/>
                </a:solidFill>
                <a:latin typeface="Calibri"/>
              </a:rPr>
              <a:t>A pension is an income paid to retired people, which replaces their earnings from employment.</a:t>
            </a:r>
            <a:endParaRPr b="0" lang="en-US" sz="2600" spc="-1" strike="noStrike">
              <a:solidFill>
                <a:schemeClr val="dk1"/>
              </a:solidFill>
              <a:latin typeface="Calibri"/>
            </a:endParaRPr>
          </a:p>
          <a:p>
            <a:pPr marL="228600" indent="-228600" defTabSz="914400">
              <a:lnSpc>
                <a:spcPct val="90000"/>
              </a:lnSpc>
              <a:spcBef>
                <a:spcPts val="1001"/>
              </a:spcBef>
              <a:buNone/>
              <a:tabLst>
                <a:tab algn="l" pos="0"/>
              </a:tabLst>
            </a:pPr>
            <a:endParaRPr b="0" lang="en-US" sz="2600" spc="-1" strike="noStrike">
              <a:solidFill>
                <a:schemeClr val="dk1"/>
              </a:solidFill>
              <a:latin typeface="Calibri"/>
            </a:endParaRPr>
          </a:p>
          <a:p>
            <a:pPr marL="228600" indent="-228600" defTabSz="914400">
              <a:lnSpc>
                <a:spcPct val="90000"/>
              </a:lnSpc>
              <a:spcBef>
                <a:spcPts val="1001"/>
              </a:spcBef>
              <a:buClr>
                <a:srgbClr val="002060"/>
              </a:buClr>
              <a:buFont typeface="Arial"/>
              <a:buChar char="•"/>
              <a:tabLst>
                <a:tab algn="l" pos="0"/>
              </a:tabLst>
            </a:pPr>
            <a:r>
              <a:rPr b="0" lang="en-US" sz="2600" spc="-1" strike="noStrike">
                <a:solidFill>
                  <a:srgbClr val="002060"/>
                </a:solidFill>
                <a:latin typeface="Calibri"/>
              </a:rPr>
              <a:t>Pensions are needed because peoples’ capacity to earn a living from  employment declines with age.</a:t>
            </a:r>
            <a:endParaRPr b="0" lang="en-US" sz="26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2400" spc="-1" strike="noStrike">
                <a:solidFill>
                  <a:schemeClr val="dk1"/>
                </a:solidFill>
                <a:latin typeface="Calibri"/>
              </a:rPr>
              <a:t>Provide financial security after retirement.</a:t>
            </a:r>
            <a:endParaRPr b="0" lang="en-US" sz="2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2400" spc="-1" strike="noStrike">
                <a:solidFill>
                  <a:schemeClr val="dk1"/>
                </a:solidFill>
                <a:latin typeface="Calibri"/>
              </a:rPr>
              <a:t>Help ensure a comfortable standard of living post-work.</a:t>
            </a:r>
            <a:endParaRPr b="0" lang="en-US" sz="2400" spc="-1" strike="noStrike">
              <a:solidFill>
                <a:schemeClr val="dk1"/>
              </a:solidFill>
              <a:latin typeface="Calibri"/>
            </a:endParaRPr>
          </a:p>
          <a:p>
            <a:pPr marL="228600" indent="-228600" defTabSz="914400">
              <a:lnSpc>
                <a:spcPct val="90000"/>
              </a:lnSpc>
              <a:spcBef>
                <a:spcPts val="1001"/>
              </a:spcBef>
              <a:buNone/>
              <a:tabLst>
                <a:tab algn="l" pos="0"/>
              </a:tabLst>
            </a:pPr>
            <a:endParaRPr b="0" lang="en-US" sz="2600" spc="-1" strike="noStrike">
              <a:solidFill>
                <a:schemeClr val="dk1"/>
              </a:solidFill>
              <a:latin typeface="Calibri"/>
            </a:endParaRPr>
          </a:p>
          <a:p>
            <a:pPr marL="228600" indent="-228600" defTabSz="914400">
              <a:lnSpc>
                <a:spcPct val="90000"/>
              </a:lnSpc>
              <a:spcBef>
                <a:spcPts val="1001"/>
              </a:spcBef>
              <a:buNone/>
              <a:tabLst>
                <a:tab algn="l" pos="0"/>
              </a:tabLst>
            </a:pPr>
            <a:r>
              <a:rPr b="0" lang="en-US" sz="2600" spc="-1" strike="noStrike">
                <a:solidFill>
                  <a:srgbClr val="002060"/>
                </a:solidFill>
                <a:latin typeface="Calibri"/>
                <a:ea typeface="ヒラギノ角ゴ Pro W3"/>
              </a:rPr>
              <a:t>A </a:t>
            </a:r>
            <a:r>
              <a:rPr b="1" lang="en-US" sz="2600" spc="-1" strike="noStrike">
                <a:solidFill>
                  <a:srgbClr val="002060"/>
                </a:solidFill>
                <a:latin typeface="Calibri"/>
                <a:ea typeface="ヒラギノ角ゴ Pro W3"/>
              </a:rPr>
              <a:t>pension plan</a:t>
            </a:r>
            <a:r>
              <a:rPr b="0" lang="en-US" sz="2600" spc="-1" strike="noStrike">
                <a:solidFill>
                  <a:srgbClr val="002060"/>
                </a:solidFill>
                <a:latin typeface="Calibri"/>
                <a:ea typeface="ヒラギノ角ゴ Pro W3"/>
              </a:rPr>
              <a:t> is an asset pool that accumulates over an individual</a:t>
            </a:r>
            <a:r>
              <a:rPr b="0" lang="en-US" sz="2600" spc="-1" strike="noStrike">
                <a:solidFill>
                  <a:srgbClr val="002060"/>
                </a:solidFill>
                <a:latin typeface="Calibri"/>
                <a:ea typeface="ヒラギノ角ゴ Pro W3"/>
              </a:rPr>
              <a:t>’s working years and is paid out during the nonworking years.</a:t>
            </a:r>
            <a:endParaRPr b="0" lang="en-US" sz="2600" spc="-1" strike="noStrike">
              <a:solidFill>
                <a:schemeClr val="dk1"/>
              </a:solidFill>
              <a:latin typeface="Calibri"/>
            </a:endParaRPr>
          </a:p>
          <a:p>
            <a:pPr marL="228600" indent="-228600" defTabSz="914400">
              <a:lnSpc>
                <a:spcPct val="90000"/>
              </a:lnSpc>
              <a:spcBef>
                <a:spcPts val="1001"/>
              </a:spcBef>
              <a:buNone/>
              <a:tabLst>
                <a:tab algn="l" pos="0"/>
              </a:tabLst>
            </a:pPr>
            <a:endParaRPr b="0" lang="en-US" sz="2550" spc="-1" strike="noStrike">
              <a:solidFill>
                <a:schemeClr val="dk1"/>
              </a:solidFill>
              <a:latin typeface="Calibri"/>
            </a:endParaRPr>
          </a:p>
          <a:p>
            <a:pPr marL="228600" indent="-228600" defTabSz="914400">
              <a:lnSpc>
                <a:spcPct val="90000"/>
              </a:lnSpc>
              <a:spcBef>
                <a:spcPts val="1001"/>
              </a:spcBef>
              <a:buNone/>
              <a:tabLst>
                <a:tab algn="l" pos="0"/>
              </a:tabLst>
            </a:pPr>
            <a:endParaRPr b="0" lang="en-US" sz="2800" spc="-1" strike="noStrike">
              <a:solidFill>
                <a:schemeClr val="dk1"/>
              </a:solidFill>
              <a:latin typeface="Calibri"/>
            </a:endParaRPr>
          </a:p>
          <a:p>
            <a:pPr indent="0" defTabSz="914400">
              <a:lnSpc>
                <a:spcPct val="90000"/>
              </a:lnSpc>
              <a:spcBef>
                <a:spcPts val="1001"/>
              </a:spcBef>
              <a:buNone/>
              <a:tabLst>
                <a:tab algn="l" pos="0"/>
              </a:tabLst>
            </a:pPr>
            <a:endParaRPr b="0" lang="en-US" sz="2800" spc="-1" strike="noStrike">
              <a:solidFill>
                <a:schemeClr val="dk1"/>
              </a:solidFill>
              <a:latin typeface="Calibri"/>
            </a:endParaRPr>
          </a:p>
        </p:txBody>
      </p:sp>
      <p:sp>
        <p:nvSpPr>
          <p:cNvPr id="78" name=""/>
          <p:cNvSpPr txBox="1"/>
          <p:nvPr/>
        </p:nvSpPr>
        <p:spPr>
          <a:xfrm>
            <a:off x="7544160" y="6521400"/>
            <a:ext cx="1600200" cy="346320"/>
          </a:xfrm>
          <a:prstGeom prst="rect">
            <a:avLst/>
          </a:prstGeom>
          <a:noFill/>
          <a:ln w="0">
            <a:noFill/>
          </a:ln>
        </p:spPr>
        <p:txBody>
          <a:bodyPr lIns="90000" rIns="90000" tIns="45000" bIns="45000" anchor="t">
            <a:noAutofit/>
          </a:bodyPr>
          <a:p>
            <a:pPr algn="r"/>
            <a:fld id="{A74D37F9-967C-4307-B238-DBD787408EF8}" type="slidenum">
              <a:rPr b="0" lang="en-US" sz="1800" spc="-1" strike="noStrike">
                <a:solidFill>
                  <a:srgbClr val="000000"/>
                </a:solidFill>
                <a:latin typeface="Arial"/>
              </a:rPr>
              <a:t>2</a:t>
            </a:fld>
            <a:r>
              <a:rPr b="0" lang="en-US" sz="1800" spc="-1" strike="noStrike">
                <a:solidFill>
                  <a:srgbClr val="000000"/>
                </a:solidFill>
                <a:latin typeface="Arial"/>
              </a:rPr>
              <a:t> / </a:t>
            </a:r>
            <a:fld id="{28CF98E3-5B9A-44DD-B1B5-43211D86B418}"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rmAutofit/>
          </a:bodyPr>
          <a:p>
            <a:pPr indent="0" defTabSz="914400">
              <a:lnSpc>
                <a:spcPct val="90000"/>
              </a:lnSpc>
              <a:buNone/>
            </a:pPr>
            <a:r>
              <a:rPr b="1" lang="en-US" sz="2800" spc="-1" strike="noStrike">
                <a:solidFill>
                  <a:srgbClr val="0070c0"/>
                </a:solidFill>
                <a:latin typeface="Calibri Light"/>
                <a:ea typeface="ヒラギノ角ゴ Pro W3"/>
              </a:rPr>
              <a:t>Types of Pensions </a:t>
            </a:r>
            <a:endParaRPr b="0" lang="en-US" sz="2800" spc="-1" strike="noStrike">
              <a:solidFill>
                <a:schemeClr val="dk1"/>
              </a:solidFill>
              <a:latin typeface="Calibri"/>
            </a:endParaRPr>
          </a:p>
        </p:txBody>
      </p:sp>
      <p:sp>
        <p:nvSpPr>
          <p:cNvPr id="80" name="PlaceHolder 2"/>
          <p:cNvSpPr>
            <a:spLocks noGrp="1"/>
          </p:cNvSpPr>
          <p:nvPr>
            <p:ph/>
          </p:nvPr>
        </p:nvSpPr>
        <p:spPr>
          <a:xfrm>
            <a:off x="628560" y="1450800"/>
            <a:ext cx="7886520" cy="47257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800" spc="-1" strike="noStrike">
                <a:solidFill>
                  <a:schemeClr val="dk1"/>
                </a:solidFill>
                <a:latin typeface="Calibri"/>
                <a:ea typeface="ヒラギノ角ゴ Pro W3"/>
              </a:rPr>
              <a:t>Pensions can be:</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1800" spc="-1" strike="noStrike">
                <a:solidFill>
                  <a:schemeClr val="dk1"/>
                </a:solidFill>
                <a:latin typeface="Calibri"/>
                <a:ea typeface="ヒラギノ角ゴ Pro W3"/>
              </a:rPr>
              <a:t>Private Pension Plans: any pension plan set up by employers, groups, or individuals - “funded” type</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1800" spc="-1" strike="noStrike">
                <a:solidFill>
                  <a:schemeClr val="dk1"/>
                </a:solidFill>
                <a:latin typeface="Calibri"/>
                <a:ea typeface="ヒラギノ角ゴ Pro W3"/>
              </a:rPr>
              <a:t>Public Pension Plan: any pension plan set up by a government body for the general public – generally PAYG type</a:t>
            </a:r>
            <a:endParaRPr b="0" lang="en-US" sz="1800" spc="-1" strike="noStrike">
              <a:solidFill>
                <a:schemeClr val="dk1"/>
              </a:solidFill>
              <a:latin typeface="Calibri"/>
            </a:endParaRPr>
          </a:p>
          <a:p>
            <a:pPr indent="0" defTabSz="914400">
              <a:lnSpc>
                <a:spcPct val="90000"/>
              </a:lnSpc>
              <a:spcBef>
                <a:spcPts val="1001"/>
              </a:spcBef>
              <a:buNone/>
              <a:tabLst>
                <a:tab algn="l" pos="0"/>
              </a:tabLst>
            </a:pPr>
            <a:endParaRPr b="0" lang="en-US" sz="1800" spc="-1" strike="noStrike">
              <a:solidFill>
                <a:schemeClr val="dk1"/>
              </a:solidFill>
              <a:latin typeface="Calibri"/>
            </a:endParaRPr>
          </a:p>
          <a:p>
            <a:pPr indent="0" defTabSz="914400">
              <a:lnSpc>
                <a:spcPct val="90000"/>
              </a:lnSpc>
              <a:spcBef>
                <a:spcPts val="1001"/>
              </a:spcBef>
              <a:buNone/>
              <a:tabLst>
                <a:tab algn="l" pos="0"/>
              </a:tabLst>
            </a:pPr>
            <a:endParaRPr b="0" lang="en-US" sz="1800" spc="-1" strike="noStrike">
              <a:solidFill>
                <a:schemeClr val="dk1"/>
              </a:solidFill>
              <a:latin typeface="Calibri"/>
            </a:endParaRPr>
          </a:p>
          <a:p>
            <a:pPr indent="0" defTabSz="914400">
              <a:lnSpc>
                <a:spcPct val="90000"/>
              </a:lnSpc>
              <a:spcBef>
                <a:spcPts val="1001"/>
              </a:spcBef>
              <a:buNone/>
              <a:tabLst>
                <a:tab algn="l" pos="0"/>
              </a:tabLst>
            </a:pPr>
            <a:endParaRPr b="0" lang="en-US" sz="1800" spc="-1" strike="noStrike">
              <a:solidFill>
                <a:schemeClr val="dk1"/>
              </a:solidFill>
              <a:latin typeface="Calibri"/>
            </a:endParaRPr>
          </a:p>
        </p:txBody>
      </p:sp>
      <p:sp>
        <p:nvSpPr>
          <p:cNvPr id="81" name=""/>
          <p:cNvSpPr txBox="1"/>
          <p:nvPr/>
        </p:nvSpPr>
        <p:spPr>
          <a:xfrm>
            <a:off x="7544160" y="6521400"/>
            <a:ext cx="1600200" cy="346320"/>
          </a:xfrm>
          <a:prstGeom prst="rect">
            <a:avLst/>
          </a:prstGeom>
          <a:noFill/>
          <a:ln w="0">
            <a:noFill/>
          </a:ln>
        </p:spPr>
        <p:txBody>
          <a:bodyPr lIns="90000" rIns="90000" tIns="45000" bIns="45000" anchor="t">
            <a:noAutofit/>
          </a:bodyPr>
          <a:p>
            <a:pPr algn="r"/>
            <a:fld id="{4D331459-4CF2-4585-8B9E-29C9B0254915}" type="slidenum">
              <a:rPr b="0" lang="en-US" sz="1800" spc="-1" strike="noStrike">
                <a:solidFill>
                  <a:srgbClr val="000000"/>
                </a:solidFill>
                <a:latin typeface="Arial"/>
              </a:rPr>
              <a:t>3</a:t>
            </a:fld>
            <a:r>
              <a:rPr b="0" lang="en-US" sz="1800" spc="-1" strike="noStrike">
                <a:solidFill>
                  <a:srgbClr val="000000"/>
                </a:solidFill>
                <a:latin typeface="Arial"/>
              </a:rPr>
              <a:t> / </a:t>
            </a:r>
            <a:fld id="{139C67FB-73C3-4DD9-A463-72810EB6E316}"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1" lang="en-US" sz="3200" spc="-1" strike="noStrike">
                <a:solidFill>
                  <a:srgbClr val="0070c0"/>
                </a:solidFill>
                <a:latin typeface="Calibri Light"/>
                <a:ea typeface="ヒラギノ角ゴ Pro W3"/>
              </a:rPr>
              <a:t>Types of Pensions </a:t>
            </a:r>
            <a:endParaRPr b="0" lang="en-US" sz="3200" spc="-1" strike="noStrike">
              <a:solidFill>
                <a:schemeClr val="dk1"/>
              </a:solidFill>
              <a:latin typeface="Calibri"/>
            </a:endParaRPr>
          </a:p>
        </p:txBody>
      </p:sp>
      <p:sp>
        <p:nvSpPr>
          <p:cNvPr id="83" name="PlaceHolder 2"/>
          <p:cNvSpPr>
            <a:spLocks noGrp="1"/>
          </p:cNvSpPr>
          <p:nvPr>
            <p:ph/>
          </p:nvPr>
        </p:nvSpPr>
        <p:spPr>
          <a:xfrm>
            <a:off x="628560" y="1825560"/>
            <a:ext cx="7886520" cy="4350960"/>
          </a:xfrm>
          <a:prstGeom prst="rect">
            <a:avLst/>
          </a:prstGeom>
          <a:noFill/>
          <a:ln w="0">
            <a:noFill/>
          </a:ln>
        </p:spPr>
        <p:txBody>
          <a:bodyPr lIns="91440" rIns="91440" tIns="45720" bIns="45720" anchor="t">
            <a:normAutofit fontScale="68556"/>
          </a:bodyPr>
          <a:p>
            <a:pPr indent="0" defTabSz="914400">
              <a:lnSpc>
                <a:spcPct val="90000"/>
              </a:lnSpc>
              <a:spcBef>
                <a:spcPts val="1001"/>
              </a:spcBef>
              <a:buNone/>
              <a:tabLst>
                <a:tab algn="l" pos="0"/>
              </a:tabLst>
            </a:pPr>
            <a:r>
              <a:rPr b="0" lang="en-US" sz="2800" spc="-1" strike="noStrike">
                <a:solidFill>
                  <a:schemeClr val="dk1"/>
                </a:solidFill>
                <a:latin typeface="Calibri"/>
              </a:rPr>
              <a:t>Another way of categorizing, based on benefits:</a:t>
            </a:r>
            <a:endParaRPr b="0" lang="en-US" sz="2800" spc="-1" strike="noStrike">
              <a:solidFill>
                <a:schemeClr val="dk1"/>
              </a:solidFill>
              <a:latin typeface="Calibri"/>
            </a:endParaRPr>
          </a:p>
          <a:p>
            <a:pPr marL="514440" indent="-514440" defTabSz="914400">
              <a:lnSpc>
                <a:spcPct val="90000"/>
              </a:lnSpc>
              <a:spcBef>
                <a:spcPts val="1001"/>
              </a:spcBef>
              <a:buClr>
                <a:srgbClr val="000000"/>
              </a:buClr>
              <a:buFont typeface="Arial"/>
              <a:buAutoNum type="arabicPeriod"/>
              <a:tabLst>
                <a:tab algn="l" pos="0"/>
              </a:tabLst>
            </a:pPr>
            <a:r>
              <a:rPr b="0" lang="en-US" sz="2800" spc="-1" strike="noStrike">
                <a:solidFill>
                  <a:schemeClr val="dk1"/>
                </a:solidFill>
                <a:latin typeface="Calibri"/>
                <a:ea typeface="ヒラギノ角ゴ Pro W3"/>
              </a:rPr>
              <a:t>Defined-Benefit (DB) Pension Plans</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GB" sz="2800" spc="-1" strike="noStrike">
                <a:solidFill>
                  <a:schemeClr val="dk1"/>
                </a:solidFill>
                <a:latin typeface="Calibri"/>
                <a:ea typeface="ヒラギノ角ゴ Pro W3"/>
              </a:rPr>
              <a:t>Provides a fixed monthly benefit in retirement, based on salary and years of service.</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ea typeface="ヒラギノ角ゴ Pro W3"/>
              </a:rPr>
              <a:t>e.g. Annual Retirement Payment </a:t>
            </a:r>
            <a:r>
              <a:rPr b="0" lang="en-US" sz="2800" spc="-1" strike="noStrike">
                <a:solidFill>
                  <a:schemeClr val="dk1"/>
                </a:solidFill>
                <a:latin typeface="Symbol"/>
                <a:ea typeface="ヒラギノ角ゴ Pro W3"/>
              </a:rPr>
              <a:t>= </a:t>
            </a:r>
            <a:r>
              <a:rPr b="0" lang="en-US" sz="2800" spc="-1" strike="noStrike">
                <a:solidFill>
                  <a:schemeClr val="dk1"/>
                </a:solidFill>
                <a:latin typeface="Calibri"/>
                <a:ea typeface="ヒラギノ角ゴ Pro W3"/>
              </a:rPr>
              <a:t>2% </a:t>
            </a:r>
            <a:r>
              <a:rPr b="0" lang="en-US" sz="2800" spc="-1" strike="noStrike">
                <a:solidFill>
                  <a:schemeClr val="dk1"/>
                </a:solidFill>
                <a:latin typeface="Symbol"/>
                <a:ea typeface="ヒラギノ角ゴ Pro W3"/>
              </a:rPr>
              <a:t></a:t>
            </a:r>
            <a:r>
              <a:rPr b="0" lang="en-US" sz="2800" spc="-1" strike="noStrike">
                <a:solidFill>
                  <a:schemeClr val="dk1"/>
                </a:solidFill>
                <a:latin typeface="Calibri"/>
                <a:ea typeface="ヒラギノ角ゴ Pro W3"/>
              </a:rPr>
              <a:t> average of final 3 years</a:t>
            </a:r>
            <a:r>
              <a:rPr b="0" lang="en-US" sz="2800" spc="-1" strike="noStrike">
                <a:solidFill>
                  <a:schemeClr val="dk1"/>
                </a:solidFill>
                <a:latin typeface="Calibri"/>
                <a:ea typeface="ヒラギノ角ゴ Pro W3"/>
              </a:rPr>
              <a:t>’ income </a:t>
            </a:r>
            <a:r>
              <a:rPr b="0" lang="en-US" sz="2800" spc="-1" strike="noStrike">
                <a:solidFill>
                  <a:schemeClr val="dk1"/>
                </a:solidFill>
                <a:latin typeface="Symbol"/>
                <a:ea typeface="ヒラギノ角ゴ Pro W3"/>
              </a:rPr>
              <a:t></a:t>
            </a:r>
            <a:r>
              <a:rPr b="0" lang="en-US" sz="2800" spc="-1" strike="noStrike">
                <a:solidFill>
                  <a:schemeClr val="dk1"/>
                </a:solidFill>
                <a:latin typeface="Calibri"/>
                <a:ea typeface="ヒラギノ角ゴ Pro W3"/>
              </a:rPr>
              <a:t> years of service</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1" lang="en-GB" sz="2800" spc="-1" strike="noStrike">
                <a:solidFill>
                  <a:schemeClr val="dk1"/>
                </a:solidFill>
                <a:latin typeface="Calibri"/>
                <a:ea typeface="ヒラギノ角ゴ Pro W3"/>
              </a:rPr>
              <a:t>Key Features:</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2800" spc="-1" strike="noStrike">
                <a:solidFill>
                  <a:schemeClr val="dk1"/>
                </a:solidFill>
                <a:latin typeface="Calibri"/>
                <a:ea typeface="ヒラギノ角ゴ Pro W3"/>
              </a:rPr>
              <a:t>Predictable income.</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2800" spc="-1" strike="noStrike">
                <a:solidFill>
                  <a:schemeClr val="dk1"/>
                </a:solidFill>
                <a:latin typeface="Calibri"/>
                <a:ea typeface="ヒラギノ角ゴ Pro W3"/>
              </a:rPr>
              <a:t>Employer bears investment risk – need to ensure that the pension fund is sufficiently funded to meet the guaranteed benefits promised to employees, regardless of investment performance.</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2800" spc="-1" strike="noStrike">
                <a:solidFill>
                  <a:schemeClr val="dk1"/>
                </a:solidFill>
                <a:latin typeface="Calibri"/>
                <a:ea typeface="ヒラギノ角ゴ Pro W3"/>
              </a:rPr>
              <a:t>Example: </a:t>
            </a:r>
            <a:r>
              <a:rPr b="1" lang="en-GB" sz="2800" spc="-1" strike="noStrike">
                <a:solidFill>
                  <a:srgbClr val="111111"/>
                </a:solidFill>
                <a:latin typeface="-apple-system"/>
                <a:ea typeface="ヒラギノ角ゴ Pro W3"/>
              </a:rPr>
              <a:t>BT Group, Royal Mail, Unilever and Lloyds Banking Group</a:t>
            </a:r>
            <a:endParaRPr b="0" lang="en-US" sz="2800" spc="-1" strike="noStrike">
              <a:solidFill>
                <a:schemeClr val="dk1"/>
              </a:solidFill>
              <a:latin typeface="Calibri"/>
            </a:endParaRPr>
          </a:p>
        </p:txBody>
      </p:sp>
      <p:sp>
        <p:nvSpPr>
          <p:cNvPr id="84" name=""/>
          <p:cNvSpPr txBox="1"/>
          <p:nvPr/>
        </p:nvSpPr>
        <p:spPr>
          <a:xfrm>
            <a:off x="7544160" y="6521400"/>
            <a:ext cx="1600200" cy="346320"/>
          </a:xfrm>
          <a:prstGeom prst="rect">
            <a:avLst/>
          </a:prstGeom>
          <a:noFill/>
          <a:ln w="0">
            <a:noFill/>
          </a:ln>
        </p:spPr>
        <p:txBody>
          <a:bodyPr lIns="90000" rIns="90000" tIns="45000" bIns="45000" anchor="t">
            <a:noAutofit/>
          </a:bodyPr>
          <a:p>
            <a:pPr algn="r"/>
            <a:fld id="{EFFE71AA-6C01-4223-9900-3E2045D4DEE1}" type="slidenum">
              <a:rPr b="0" lang="en-US" sz="1800" spc="-1" strike="noStrike">
                <a:solidFill>
                  <a:srgbClr val="000000"/>
                </a:solidFill>
                <a:latin typeface="Arial"/>
              </a:rPr>
              <a:t>4</a:t>
            </a:fld>
            <a:r>
              <a:rPr b="0" lang="en-US" sz="1800" spc="-1" strike="noStrike">
                <a:solidFill>
                  <a:srgbClr val="000000"/>
                </a:solidFill>
                <a:latin typeface="Arial"/>
              </a:rPr>
              <a:t> / </a:t>
            </a:r>
            <a:fld id="{EAF20AEE-164B-4DF1-9F58-B6EA2FD5A29B}"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1" lang="en-US" sz="3200" spc="-1" strike="noStrike">
                <a:solidFill>
                  <a:srgbClr val="0070c0"/>
                </a:solidFill>
                <a:latin typeface="Calibri Light"/>
                <a:ea typeface="ヒラギノ角ゴ Pro W3"/>
              </a:rPr>
              <a:t>Types of Pensions </a:t>
            </a:r>
            <a:endParaRPr b="0" lang="en-US" sz="3200" spc="-1" strike="noStrike">
              <a:solidFill>
                <a:schemeClr val="dk1"/>
              </a:solidFill>
              <a:latin typeface="Calibri"/>
            </a:endParaRPr>
          </a:p>
        </p:txBody>
      </p:sp>
      <p:sp>
        <p:nvSpPr>
          <p:cNvPr id="86" name="PlaceHolder 2"/>
          <p:cNvSpPr>
            <a:spLocks noGrp="1"/>
          </p:cNvSpPr>
          <p:nvPr>
            <p:ph/>
          </p:nvPr>
        </p:nvSpPr>
        <p:spPr>
          <a:xfrm>
            <a:off x="628560" y="1825560"/>
            <a:ext cx="7886520" cy="4350960"/>
          </a:xfrm>
          <a:prstGeom prst="rect">
            <a:avLst/>
          </a:prstGeom>
          <a:noFill/>
          <a:ln w="0">
            <a:noFill/>
          </a:ln>
        </p:spPr>
        <p:txBody>
          <a:bodyPr lIns="91440" rIns="91440" tIns="45720" bIns="45720" anchor="t">
            <a:normAutofit fontScale="96763"/>
          </a:bodyPr>
          <a:p>
            <a:pPr indent="0" defTabSz="914400">
              <a:lnSpc>
                <a:spcPct val="90000"/>
              </a:lnSpc>
              <a:spcBef>
                <a:spcPts val="1001"/>
              </a:spcBef>
              <a:buNone/>
              <a:tabLst>
                <a:tab algn="l" pos="0"/>
              </a:tabLst>
            </a:pPr>
            <a:r>
              <a:rPr b="0" lang="en-US" sz="2800" spc="-1" strike="noStrike">
                <a:solidFill>
                  <a:schemeClr val="dk1"/>
                </a:solidFill>
                <a:latin typeface="Calibri"/>
                <a:ea typeface="ヒラギノ角ゴ Pro W3"/>
              </a:rPr>
              <a:t>2. Defined-Contribution (DC) Pension Plan: a plan where a set amount is invested for retirement, but the benefit payout </a:t>
            </a:r>
            <a:r>
              <a:rPr b="0" lang="en-GB" sz="2800" spc="-1" strike="noStrike">
                <a:solidFill>
                  <a:schemeClr val="dk1"/>
                </a:solidFill>
                <a:latin typeface="Calibri"/>
                <a:ea typeface="ヒラギノ角ゴ Pro W3"/>
              </a:rPr>
              <a:t>available at retirement depends on the value of those investments.</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1" lang="en-GB" sz="2800" spc="-1" strike="noStrike">
                <a:solidFill>
                  <a:schemeClr val="dk1"/>
                </a:solidFill>
                <a:latin typeface="Calibri"/>
                <a:ea typeface="ヒラギノ角ゴ Pro W3"/>
              </a:rPr>
              <a:t>Key Features:</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2800" spc="-1" strike="noStrike">
                <a:solidFill>
                  <a:schemeClr val="dk1"/>
                </a:solidFill>
                <a:latin typeface="Calibri"/>
                <a:ea typeface="ヒラギノ角ゴ Pro W3"/>
              </a:rPr>
              <a:t>Contributions are flexible.</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2800" spc="-1" strike="noStrike">
                <a:solidFill>
                  <a:schemeClr val="dk1"/>
                </a:solidFill>
                <a:latin typeface="Calibri"/>
                <a:ea typeface="ヒラギノ角ゴ Pro W3"/>
              </a:rPr>
              <a:t>Employee bears investment risk - the retirement benefit depends on how well the investments grow, and there is no guaranteed payout.</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2800" spc="-1" strike="noStrike">
                <a:solidFill>
                  <a:schemeClr val="dk1"/>
                </a:solidFill>
                <a:latin typeface="Calibri"/>
                <a:ea typeface="ヒラギノ角ゴ Pro W3"/>
              </a:rPr>
              <a:t>Example: Tesco, HSBC, Barclays, Aviva.</a:t>
            </a:r>
            <a:endParaRPr b="0" lang="en-US" sz="2800" spc="-1" strike="noStrike">
              <a:solidFill>
                <a:schemeClr val="dk1"/>
              </a:solidFill>
              <a:latin typeface="Calibri"/>
            </a:endParaRPr>
          </a:p>
        </p:txBody>
      </p:sp>
      <p:sp>
        <p:nvSpPr>
          <p:cNvPr id="87" name="AutoShape 3">
            <a:hlinkClick r:id="rId1"/>
          </p:cNvPr>
          <p:cNvSpPr/>
          <p:nvPr/>
        </p:nvSpPr>
        <p:spPr>
          <a:xfrm>
            <a:off x="122400" y="-403200"/>
            <a:ext cx="304560" cy="304560"/>
          </a:xfrm>
          <a:prstGeom prst="rect">
            <a:avLst/>
          </a:prstGeom>
          <a:noFill/>
          <a:ln w="0">
            <a:noFill/>
          </a:ln>
        </p:spPr>
        <p:style>
          <a:lnRef idx="0"/>
          <a:fillRef idx="0"/>
          <a:effectRef idx="0"/>
          <a:fontRef idx="minor"/>
        </p:style>
        <p:txBody>
          <a:bodyPr numCol="1" spcCol="0" anchor="t">
            <a:noAutofit/>
          </a:bodyPr>
          <a:p>
            <a:pPr defTabSz="457200">
              <a:lnSpc>
                <a:spcPct val="100000"/>
              </a:lnSpc>
            </a:pPr>
            <a:endParaRPr b="0" lang="en-GB" sz="1800" spc="-1" strike="noStrike">
              <a:solidFill>
                <a:schemeClr val="dk1"/>
              </a:solidFill>
              <a:latin typeface="Calibri"/>
            </a:endParaRPr>
          </a:p>
        </p:txBody>
      </p:sp>
      <p:sp>
        <p:nvSpPr>
          <p:cNvPr id="88" name="AutoShape 4">
            <a:hlinkClick r:id="rId2"/>
          </p:cNvPr>
          <p:cNvSpPr/>
          <p:nvPr/>
        </p:nvSpPr>
        <p:spPr>
          <a:xfrm>
            <a:off x="1373040" y="-403200"/>
            <a:ext cx="304560" cy="304560"/>
          </a:xfrm>
          <a:prstGeom prst="rect">
            <a:avLst/>
          </a:prstGeom>
          <a:noFill/>
          <a:ln w="0">
            <a:noFill/>
          </a:ln>
        </p:spPr>
        <p:style>
          <a:lnRef idx="0"/>
          <a:fillRef idx="0"/>
          <a:effectRef idx="0"/>
          <a:fontRef idx="minor"/>
        </p:style>
        <p:txBody>
          <a:bodyPr numCol="1" spcCol="0" anchor="t">
            <a:noAutofit/>
          </a:bodyPr>
          <a:p>
            <a:pPr defTabSz="457200">
              <a:lnSpc>
                <a:spcPct val="100000"/>
              </a:lnSpc>
            </a:pPr>
            <a:endParaRPr b="0" lang="en-GB" sz="1800" spc="-1" strike="noStrike">
              <a:solidFill>
                <a:schemeClr val="dk1"/>
              </a:solidFill>
              <a:latin typeface="Calibri"/>
            </a:endParaRPr>
          </a:p>
        </p:txBody>
      </p:sp>
      <p:sp>
        <p:nvSpPr>
          <p:cNvPr id="89" name="AutoShape 5">
            <a:hlinkClick r:id="rId3"/>
          </p:cNvPr>
          <p:cNvSpPr/>
          <p:nvPr/>
        </p:nvSpPr>
        <p:spPr>
          <a:xfrm>
            <a:off x="2184480" y="-403200"/>
            <a:ext cx="304560" cy="304560"/>
          </a:xfrm>
          <a:prstGeom prst="rect">
            <a:avLst/>
          </a:prstGeom>
          <a:noFill/>
          <a:ln w="0">
            <a:noFill/>
          </a:ln>
        </p:spPr>
        <p:style>
          <a:lnRef idx="0"/>
          <a:fillRef idx="0"/>
          <a:effectRef idx="0"/>
          <a:fontRef idx="minor"/>
        </p:style>
        <p:txBody>
          <a:bodyPr numCol="1" spcCol="0" anchor="t">
            <a:noAutofit/>
          </a:bodyPr>
          <a:p>
            <a:pPr defTabSz="457200">
              <a:lnSpc>
                <a:spcPct val="100000"/>
              </a:lnSpc>
            </a:pPr>
            <a:endParaRPr b="0" lang="en-GB" sz="1800" spc="-1" strike="noStrike">
              <a:solidFill>
                <a:schemeClr val="dk1"/>
              </a:solidFill>
              <a:latin typeface="Calibri"/>
            </a:endParaRPr>
          </a:p>
        </p:txBody>
      </p:sp>
      <p:sp>
        <p:nvSpPr>
          <p:cNvPr id="90" name=""/>
          <p:cNvSpPr txBox="1"/>
          <p:nvPr/>
        </p:nvSpPr>
        <p:spPr>
          <a:xfrm>
            <a:off x="7544160" y="6521400"/>
            <a:ext cx="1600200" cy="346320"/>
          </a:xfrm>
          <a:prstGeom prst="rect">
            <a:avLst/>
          </a:prstGeom>
          <a:noFill/>
          <a:ln w="0">
            <a:noFill/>
          </a:ln>
        </p:spPr>
        <p:txBody>
          <a:bodyPr lIns="90000" rIns="90000" tIns="45000" bIns="45000" anchor="t">
            <a:noAutofit/>
          </a:bodyPr>
          <a:p>
            <a:pPr algn="r"/>
            <a:fld id="{B33A45AB-4CF6-4709-8343-3AD312232671}" type="slidenum">
              <a:rPr b="0" lang="en-US" sz="1800" spc="-1" strike="noStrike">
                <a:solidFill>
                  <a:srgbClr val="000000"/>
                </a:solidFill>
                <a:latin typeface="Arial"/>
              </a:rPr>
              <a:t>5</a:t>
            </a:fld>
            <a:r>
              <a:rPr b="0" lang="en-US" sz="1800" spc="-1" strike="noStrike">
                <a:solidFill>
                  <a:srgbClr val="000000"/>
                </a:solidFill>
                <a:latin typeface="Arial"/>
              </a:rPr>
              <a:t> / </a:t>
            </a:r>
            <a:fld id="{F7C8560F-135C-478F-BBAC-96A57495B545}"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rmAutofit/>
          </a:bodyPr>
          <a:p>
            <a:pPr indent="0" defTabSz="914400">
              <a:lnSpc>
                <a:spcPct val="90000"/>
              </a:lnSpc>
              <a:buNone/>
            </a:pPr>
            <a:r>
              <a:rPr b="1" lang="en-US" sz="2800" spc="-1" strike="noStrike">
                <a:solidFill>
                  <a:srgbClr val="0070c0"/>
                </a:solidFill>
                <a:latin typeface="Calibri"/>
              </a:rPr>
              <a:t>Methods of financing pensions</a:t>
            </a:r>
            <a:br>
              <a:rPr sz="3200"/>
            </a:br>
            <a:endParaRPr b="0" lang="en-US" sz="2800" spc="-1" strike="noStrike">
              <a:solidFill>
                <a:schemeClr val="dk1"/>
              </a:solidFill>
              <a:latin typeface="Calibri"/>
            </a:endParaRPr>
          </a:p>
        </p:txBody>
      </p:sp>
      <p:sp>
        <p:nvSpPr>
          <p:cNvPr id="92" name="PlaceHolder 2"/>
          <p:cNvSpPr>
            <a:spLocks noGrp="1"/>
          </p:cNvSpPr>
          <p:nvPr>
            <p:ph/>
          </p:nvPr>
        </p:nvSpPr>
        <p:spPr>
          <a:xfrm>
            <a:off x="628560" y="1825560"/>
            <a:ext cx="7886520" cy="43509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2060"/>
              </a:buClr>
              <a:buFont typeface="Arial"/>
              <a:buChar char="•"/>
            </a:pPr>
            <a:r>
              <a:rPr b="0" lang="en-US" sz="2500" spc="-1" strike="noStrike">
                <a:solidFill>
                  <a:srgbClr val="002060"/>
                </a:solidFill>
                <a:latin typeface="Calibri"/>
              </a:rPr>
              <a:t>“</a:t>
            </a:r>
            <a:r>
              <a:rPr b="0" lang="en-US" sz="2500" spc="-1" strike="noStrike">
                <a:solidFill>
                  <a:srgbClr val="002060"/>
                </a:solidFill>
                <a:latin typeface="Calibri"/>
              </a:rPr>
              <a:t>Unfunded” schemes– pensions are paid from the earnings of current workers. </a:t>
            </a:r>
            <a:endParaRPr b="0" lang="en-US" sz="2500" spc="-1" strike="noStrike">
              <a:solidFill>
                <a:schemeClr val="dk1"/>
              </a:solidFill>
              <a:latin typeface="Calibri"/>
            </a:endParaRPr>
          </a:p>
          <a:p>
            <a:pPr lvl="1" marL="685800" indent="-228600" defTabSz="914400">
              <a:lnSpc>
                <a:spcPct val="90000"/>
              </a:lnSpc>
              <a:spcBef>
                <a:spcPts val="499"/>
              </a:spcBef>
              <a:buClr>
                <a:srgbClr val="002060"/>
              </a:buClr>
              <a:buFont typeface="Arial"/>
              <a:buChar char="•"/>
            </a:pPr>
            <a:r>
              <a:rPr b="0" lang="en-US" sz="2100" spc="-1" strike="noStrike">
                <a:solidFill>
                  <a:srgbClr val="002060"/>
                </a:solidFill>
                <a:latin typeface="Calibri"/>
              </a:rPr>
              <a:t>They are socially funded (rather than unfunded)</a:t>
            </a:r>
            <a:endParaRPr b="0" lang="en-US" sz="2100" spc="-1" strike="noStrike">
              <a:solidFill>
                <a:schemeClr val="dk1"/>
              </a:solidFill>
              <a:latin typeface="Calibri"/>
            </a:endParaRPr>
          </a:p>
          <a:p>
            <a:pPr lvl="1" marL="685800" indent="-228600" defTabSz="914400">
              <a:lnSpc>
                <a:spcPct val="90000"/>
              </a:lnSpc>
              <a:spcBef>
                <a:spcPts val="499"/>
              </a:spcBef>
              <a:buClr>
                <a:srgbClr val="002060"/>
              </a:buClr>
              <a:buFont typeface="Arial"/>
              <a:buChar char="•"/>
            </a:pPr>
            <a:r>
              <a:rPr b="0" lang="en-US" sz="2100" spc="-1" strike="noStrike">
                <a:solidFill>
                  <a:srgbClr val="002060"/>
                </a:solidFill>
                <a:latin typeface="Calibri"/>
              </a:rPr>
              <a:t>Also known as Pay-as-you-go (PAYG) </a:t>
            </a:r>
            <a:endParaRPr b="0" lang="en-US" sz="2100" spc="-1" strike="noStrike">
              <a:solidFill>
                <a:schemeClr val="dk1"/>
              </a:solidFill>
              <a:latin typeface="Calibri"/>
            </a:endParaRPr>
          </a:p>
          <a:p>
            <a:pPr marL="228600" indent="-228600" defTabSz="914400">
              <a:lnSpc>
                <a:spcPct val="90000"/>
              </a:lnSpc>
              <a:spcBef>
                <a:spcPts val="1001"/>
              </a:spcBef>
              <a:buNone/>
              <a:tabLst>
                <a:tab algn="l" pos="0"/>
              </a:tabLst>
            </a:pPr>
            <a:endParaRPr b="0" lang="en-US" sz="2500" spc="-1" strike="noStrike">
              <a:solidFill>
                <a:schemeClr val="dk1"/>
              </a:solidFill>
              <a:latin typeface="Calibri"/>
            </a:endParaRPr>
          </a:p>
          <a:p>
            <a:pPr marL="228600" indent="-228600" defTabSz="914400">
              <a:lnSpc>
                <a:spcPct val="90000"/>
              </a:lnSpc>
              <a:spcBef>
                <a:spcPts val="1001"/>
              </a:spcBef>
              <a:buClr>
                <a:srgbClr val="002060"/>
              </a:buClr>
              <a:buFont typeface="Arial"/>
              <a:buChar char="•"/>
              <a:tabLst>
                <a:tab algn="l" pos="0"/>
              </a:tabLst>
            </a:pPr>
            <a:r>
              <a:rPr b="0" lang="en-US" sz="2500" spc="-1" strike="noStrike">
                <a:solidFill>
                  <a:srgbClr val="002060"/>
                </a:solidFill>
                <a:latin typeface="Calibri"/>
              </a:rPr>
              <a:t>Funded schemes – workers accumulate a fund during their working </a:t>
            </a:r>
            <a:r>
              <a:rPr b="0" lang="en-US" sz="2500" spc="-1" strike="noStrike">
                <a:solidFill>
                  <a:schemeClr val="dk1"/>
                </a:solidFill>
                <a:latin typeface="Calibri"/>
              </a:rPr>
              <a:t>lives</a:t>
            </a:r>
            <a:r>
              <a:rPr b="0" lang="en-US" sz="2500" spc="-1" strike="noStrike">
                <a:solidFill>
                  <a:srgbClr val="002060"/>
                </a:solidFill>
                <a:latin typeface="Calibri"/>
              </a:rPr>
              <a:t> which is used to provide them with a pension when they retire.</a:t>
            </a:r>
            <a:endParaRPr b="0" lang="en-US" sz="2500" spc="-1" strike="noStrike">
              <a:solidFill>
                <a:schemeClr val="dk1"/>
              </a:solidFill>
              <a:latin typeface="Calibri"/>
            </a:endParaRPr>
          </a:p>
          <a:p>
            <a:pPr indent="0" defTabSz="914400">
              <a:lnSpc>
                <a:spcPct val="90000"/>
              </a:lnSpc>
              <a:spcBef>
                <a:spcPts val="1001"/>
              </a:spcBef>
              <a:buNone/>
              <a:tabLst>
                <a:tab algn="l" pos="0"/>
              </a:tabLst>
            </a:pPr>
            <a:endParaRPr b="0" lang="en-US" sz="2500" spc="-1" strike="noStrike">
              <a:solidFill>
                <a:schemeClr val="dk1"/>
              </a:solidFill>
              <a:latin typeface="Calibri"/>
            </a:endParaRPr>
          </a:p>
          <a:p>
            <a:pPr indent="0" defTabSz="914400">
              <a:lnSpc>
                <a:spcPct val="90000"/>
              </a:lnSpc>
              <a:spcBef>
                <a:spcPts val="1001"/>
              </a:spcBef>
              <a:buNone/>
              <a:tabLst>
                <a:tab algn="l" pos="0"/>
              </a:tabLst>
            </a:pPr>
            <a:endParaRPr b="0" lang="en-US" sz="2800" spc="-1" strike="noStrike">
              <a:solidFill>
                <a:schemeClr val="dk1"/>
              </a:solidFill>
              <a:latin typeface="Calibri"/>
            </a:endParaRPr>
          </a:p>
        </p:txBody>
      </p:sp>
      <p:sp>
        <p:nvSpPr>
          <p:cNvPr id="93" name=""/>
          <p:cNvSpPr txBox="1"/>
          <p:nvPr/>
        </p:nvSpPr>
        <p:spPr>
          <a:xfrm>
            <a:off x="7544160" y="6521400"/>
            <a:ext cx="1600200" cy="346320"/>
          </a:xfrm>
          <a:prstGeom prst="rect">
            <a:avLst/>
          </a:prstGeom>
          <a:noFill/>
          <a:ln w="0">
            <a:noFill/>
          </a:ln>
        </p:spPr>
        <p:txBody>
          <a:bodyPr lIns="90000" rIns="90000" tIns="45000" bIns="45000" anchor="t">
            <a:noAutofit/>
          </a:bodyPr>
          <a:p>
            <a:pPr algn="r"/>
            <a:fld id="{2C78E2E6-3601-4DCD-88CF-BBD3EAB0A569}" type="slidenum">
              <a:rPr b="0" lang="en-US" sz="1800" spc="-1" strike="noStrike">
                <a:solidFill>
                  <a:srgbClr val="000000"/>
                </a:solidFill>
                <a:latin typeface="Arial"/>
              </a:rPr>
              <a:t>6</a:t>
            </a:fld>
            <a:r>
              <a:rPr b="0" lang="en-US" sz="1800" spc="-1" strike="noStrike">
                <a:solidFill>
                  <a:srgbClr val="000000"/>
                </a:solidFill>
                <a:latin typeface="Arial"/>
              </a:rPr>
              <a:t> / </a:t>
            </a:r>
            <a:fld id="{EE643CC2-D73B-4CD3-A3D5-1D19140FF487}"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628560" y="365040"/>
            <a:ext cx="7886520" cy="829440"/>
          </a:xfrm>
          <a:prstGeom prst="rect">
            <a:avLst/>
          </a:prstGeom>
          <a:noFill/>
          <a:ln w="0">
            <a:noFill/>
          </a:ln>
        </p:spPr>
        <p:txBody>
          <a:bodyPr lIns="91440" rIns="91440" tIns="45720" bIns="45720" anchor="ctr">
            <a:normAutofit/>
          </a:bodyPr>
          <a:p>
            <a:pPr indent="0" defTabSz="914400">
              <a:lnSpc>
                <a:spcPct val="90000"/>
              </a:lnSpc>
              <a:buNone/>
            </a:pPr>
            <a:r>
              <a:rPr b="1" lang="en-US" sz="2800" spc="-1" strike="noStrike">
                <a:solidFill>
                  <a:srgbClr val="0070c0"/>
                </a:solidFill>
                <a:latin typeface="Calibri"/>
              </a:rPr>
              <a:t>UK pension arrangements</a:t>
            </a:r>
            <a:endParaRPr b="0" lang="en-US" sz="2800" spc="-1" strike="noStrike">
              <a:solidFill>
                <a:schemeClr val="dk1"/>
              </a:solidFill>
              <a:latin typeface="Calibri"/>
            </a:endParaRPr>
          </a:p>
        </p:txBody>
      </p:sp>
      <p:sp>
        <p:nvSpPr>
          <p:cNvPr id="95" name="PlaceHolder 2"/>
          <p:cNvSpPr>
            <a:spLocks noGrp="1"/>
          </p:cNvSpPr>
          <p:nvPr>
            <p:ph/>
          </p:nvPr>
        </p:nvSpPr>
        <p:spPr>
          <a:xfrm>
            <a:off x="335880" y="1194840"/>
            <a:ext cx="8005320" cy="480564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000" spc="-1" strike="noStrike">
                <a:solidFill>
                  <a:schemeClr val="dk1"/>
                </a:solidFill>
                <a:latin typeface="Calibri"/>
              </a:rPr>
              <a:t>1. The state pension – </a:t>
            </a:r>
            <a:r>
              <a:rPr b="0" lang="en-GB" sz="2000" spc="-1" strike="noStrike">
                <a:solidFill>
                  <a:schemeClr val="dk1"/>
                </a:solidFill>
                <a:latin typeface="Calibri"/>
              </a:rPr>
              <a:t>is a 'contribution-based' benefit </a:t>
            </a:r>
            <a:r>
              <a:rPr b="0" lang="en-US" sz="2000" spc="-1" strike="noStrike">
                <a:solidFill>
                  <a:schemeClr val="dk1"/>
                </a:solidFill>
                <a:latin typeface="Calibri"/>
              </a:rPr>
              <a:t>run by the government and provided on a PAYG basis. </a:t>
            </a:r>
            <a:endParaRPr b="0" lang="en-US" sz="20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000" spc="-1" strike="noStrike">
                <a:solidFill>
                  <a:schemeClr val="dk1"/>
                </a:solidFill>
                <a:latin typeface="Calibri"/>
              </a:rPr>
              <a:t>The basic state pension is a Government-administered scheme, funded by national insurance (NI) contributions, to give people who've reached state retirement age a guaranteed weekly income (DB type pension)</a:t>
            </a:r>
            <a:endParaRPr b="0" lang="en-US" sz="20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000" spc="-1" strike="noStrike">
                <a:solidFill>
                  <a:schemeClr val="dk1"/>
                </a:solidFill>
                <a:latin typeface="Calibri"/>
              </a:rPr>
              <a:t>Current state pension age is 66, but for anyone born after 1978 it will be 68.</a:t>
            </a:r>
            <a:endParaRPr b="0" lang="en-US" sz="20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000" spc="-1" strike="noStrike">
                <a:solidFill>
                  <a:schemeClr val="dk1"/>
                </a:solidFill>
                <a:latin typeface="Calibri"/>
              </a:rPr>
              <a:t>Current state pension benefit is a </a:t>
            </a:r>
            <a:r>
              <a:rPr b="0" lang="en-US" sz="2000" spc="-1" strike="noStrike" u="sng">
                <a:solidFill>
                  <a:schemeClr val="dk1"/>
                </a:solidFill>
                <a:uFillTx/>
                <a:latin typeface="Calibri"/>
              </a:rPr>
              <a:t>maximum of £</a:t>
            </a:r>
            <a:r>
              <a:rPr b="0" lang="en-GB" sz="2000" spc="-1" strike="noStrike" u="sng">
                <a:solidFill>
                  <a:schemeClr val="dk1"/>
                </a:solidFill>
                <a:uFillTx/>
                <a:latin typeface="Calibri"/>
              </a:rPr>
              <a:t>203.85 </a:t>
            </a:r>
            <a:r>
              <a:rPr b="0" lang="en-GB" sz="2000" spc="-1" strike="noStrike">
                <a:solidFill>
                  <a:schemeClr val="dk1"/>
                </a:solidFill>
                <a:latin typeface="Calibri"/>
              </a:rPr>
              <a:t>per week (£10,610  </a:t>
            </a:r>
            <a:r>
              <a:rPr b="0" lang="en-US" sz="2000" spc="-1" strike="noStrike">
                <a:solidFill>
                  <a:schemeClr val="dk1"/>
                </a:solidFill>
                <a:latin typeface="Calibri"/>
              </a:rPr>
              <a:t>a year).</a:t>
            </a:r>
            <a:endParaRPr b="0" lang="en-US" sz="20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tabLst>
                <a:tab algn="l" pos="0"/>
              </a:tabLst>
            </a:pPr>
            <a:r>
              <a:rPr b="0" lang="en-GB" sz="2000" spc="-1" strike="noStrike">
                <a:solidFill>
                  <a:schemeClr val="dk1"/>
                </a:solidFill>
                <a:latin typeface="Calibri"/>
              </a:rPr>
              <a:t>To qualify for a full pension amounts, an individual is required to pay  NI contributions for at least 35 years.</a:t>
            </a:r>
            <a:endParaRPr b="0" lang="en-US" sz="20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000" spc="-1" strike="noStrike">
                <a:solidFill>
                  <a:schemeClr val="dk1"/>
                </a:solidFill>
                <a:latin typeface="Calibri"/>
              </a:rPr>
              <a:t>Is this sufficient to live?</a:t>
            </a:r>
            <a:endParaRPr b="0" lang="en-US" sz="20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000" spc="-1" strike="noStrike">
                <a:solidFill>
                  <a:schemeClr val="dk1"/>
                </a:solidFill>
                <a:latin typeface="Calibri"/>
              </a:rPr>
              <a:t>In the US, this system is known as Social Security. Current maximum social security payment is £2900 a month, (£34,800 a year).</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1800" spc="-1" strike="noStrike">
              <a:solidFill>
                <a:schemeClr val="dk1"/>
              </a:solidFill>
              <a:latin typeface="Calibri"/>
            </a:endParaRPr>
          </a:p>
          <a:p>
            <a:pPr indent="0" defTabSz="914400">
              <a:lnSpc>
                <a:spcPct val="90000"/>
              </a:lnSpc>
              <a:spcBef>
                <a:spcPts val="1001"/>
              </a:spcBef>
              <a:buNone/>
              <a:tabLst>
                <a:tab algn="l" pos="0"/>
              </a:tabLst>
            </a:pPr>
            <a:endParaRPr b="0" lang="en-US" sz="700" spc="-1" strike="noStrike">
              <a:solidFill>
                <a:schemeClr val="dk1"/>
              </a:solidFill>
              <a:latin typeface="Calibri"/>
            </a:endParaRPr>
          </a:p>
        </p:txBody>
      </p:sp>
      <p:sp>
        <p:nvSpPr>
          <p:cNvPr id="96" name=""/>
          <p:cNvSpPr txBox="1"/>
          <p:nvPr/>
        </p:nvSpPr>
        <p:spPr>
          <a:xfrm>
            <a:off x="7544160" y="6521400"/>
            <a:ext cx="1600200" cy="346320"/>
          </a:xfrm>
          <a:prstGeom prst="rect">
            <a:avLst/>
          </a:prstGeom>
          <a:noFill/>
          <a:ln w="0">
            <a:noFill/>
          </a:ln>
        </p:spPr>
        <p:txBody>
          <a:bodyPr lIns="90000" rIns="90000" tIns="45000" bIns="45000" anchor="t">
            <a:noAutofit/>
          </a:bodyPr>
          <a:p>
            <a:pPr algn="r"/>
            <a:fld id="{01751A9C-665E-4723-A00A-67032EA8CE1F}" type="slidenum">
              <a:rPr b="0" lang="en-US" sz="1800" spc="-1" strike="noStrike">
                <a:solidFill>
                  <a:srgbClr val="000000"/>
                </a:solidFill>
                <a:latin typeface="Arial"/>
              </a:rPr>
              <a:t>7</a:t>
            </a:fld>
            <a:r>
              <a:rPr b="0" lang="en-US" sz="1800" spc="-1" strike="noStrike">
                <a:solidFill>
                  <a:srgbClr val="000000"/>
                </a:solidFill>
                <a:latin typeface="Arial"/>
              </a:rPr>
              <a:t> / </a:t>
            </a:r>
            <a:fld id="{9EBE0CDD-7808-4E76-9F6E-33CE1A99C488}"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628560" y="365040"/>
            <a:ext cx="7886520" cy="829440"/>
          </a:xfrm>
          <a:prstGeom prst="rect">
            <a:avLst/>
          </a:prstGeom>
          <a:noFill/>
          <a:ln w="0">
            <a:noFill/>
          </a:ln>
        </p:spPr>
        <p:txBody>
          <a:bodyPr lIns="91440" rIns="91440" tIns="45720" bIns="45720" anchor="ctr">
            <a:normAutofit/>
          </a:bodyPr>
          <a:p>
            <a:pPr indent="0" defTabSz="914400">
              <a:lnSpc>
                <a:spcPct val="90000"/>
              </a:lnSpc>
              <a:buNone/>
            </a:pPr>
            <a:r>
              <a:rPr b="1" lang="en-US" sz="2800" spc="-1" strike="noStrike">
                <a:solidFill>
                  <a:srgbClr val="0070c0"/>
                </a:solidFill>
                <a:latin typeface="Calibri"/>
              </a:rPr>
              <a:t>UK pension arrangements</a:t>
            </a:r>
            <a:endParaRPr b="0" lang="en-US" sz="2800" spc="-1" strike="noStrike">
              <a:solidFill>
                <a:schemeClr val="dk1"/>
              </a:solidFill>
              <a:latin typeface="Calibri"/>
            </a:endParaRPr>
          </a:p>
        </p:txBody>
      </p:sp>
      <p:sp>
        <p:nvSpPr>
          <p:cNvPr id="98" name="PlaceHolder 2"/>
          <p:cNvSpPr>
            <a:spLocks noGrp="1"/>
          </p:cNvSpPr>
          <p:nvPr>
            <p:ph/>
          </p:nvPr>
        </p:nvSpPr>
        <p:spPr>
          <a:xfrm>
            <a:off x="335880" y="1194840"/>
            <a:ext cx="8005320" cy="480564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GB" sz="2000" spc="-1" strike="noStrike">
                <a:solidFill>
                  <a:schemeClr val="dk1"/>
                </a:solidFill>
                <a:latin typeface="Calibri"/>
              </a:rPr>
              <a:t>2. </a:t>
            </a:r>
            <a:r>
              <a:rPr b="0" lang="en-US" sz="2000" spc="-1" strike="noStrike">
                <a:solidFill>
                  <a:schemeClr val="dk1"/>
                </a:solidFill>
                <a:latin typeface="Calibri"/>
              </a:rPr>
              <a:t>Workplace (or Occupational) pension: A percentage of your pay is put into the pension scheme automatically every payday.</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000" spc="-1" strike="noStrike">
                <a:solidFill>
                  <a:schemeClr val="dk1"/>
                </a:solidFill>
                <a:latin typeface="Calibri"/>
              </a:rPr>
              <a:t>In most cases, your employer also adds money into the pension scheme for you, and you get </a:t>
            </a:r>
            <a:r>
              <a:rPr b="0" lang="en-US" sz="2000" spc="-1" strike="noStrike" u="sng">
                <a:solidFill>
                  <a:schemeClr val="dk1"/>
                </a:solidFill>
                <a:uFillTx/>
                <a:latin typeface="Calibri"/>
                <a:hlinkClick r:id="rId1"/>
              </a:rPr>
              <a:t>tax relief</a:t>
            </a:r>
            <a:r>
              <a:rPr b="0" lang="en-US" sz="2000" spc="-1" strike="noStrike">
                <a:solidFill>
                  <a:schemeClr val="dk1"/>
                </a:solidFill>
                <a:latin typeface="Calibri"/>
              </a:rPr>
              <a:t> from the government. </a:t>
            </a:r>
            <a:endParaRPr b="0" lang="en-US" sz="20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tabLst>
                <a:tab algn="l" pos="0"/>
              </a:tabLst>
            </a:pPr>
            <a:r>
              <a:rPr b="0" lang="en-US" sz="1800" spc="-1" strike="noStrike">
                <a:solidFill>
                  <a:schemeClr val="dk1"/>
                </a:solidFill>
                <a:latin typeface="Calibri"/>
              </a:rPr>
              <a:t>e.g. In the </a:t>
            </a:r>
            <a:r>
              <a:rPr b="0" lang="en-US" sz="1800" spc="-1" strike="noStrike">
                <a:solidFill>
                  <a:schemeClr val="dk1"/>
                </a:solidFill>
                <a:latin typeface="Calibri"/>
              </a:rPr>
              <a:t>The Teachers Pension, the govt pays 12.50% and the employee pays 6.25%. </a:t>
            </a:r>
            <a:endParaRPr b="0" lang="en-US" sz="1800" spc="-1" strike="noStrike">
              <a:solidFill>
                <a:schemeClr val="dk1"/>
              </a:solidFill>
              <a:latin typeface="Calibri"/>
            </a:endParaRPr>
          </a:p>
          <a:p>
            <a:pPr indent="0" defTabSz="914400">
              <a:lnSpc>
                <a:spcPct val="90000"/>
              </a:lnSpc>
              <a:spcBef>
                <a:spcPts val="499"/>
              </a:spcBef>
              <a:buNone/>
              <a:tabLst>
                <a:tab algn="l" pos="0"/>
              </a:tabLst>
            </a:pPr>
            <a:endParaRPr b="0" lang="en-US" sz="20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000" spc="-1" strike="noStrike">
                <a:solidFill>
                  <a:schemeClr val="dk1"/>
                </a:solidFill>
                <a:latin typeface="Calibri"/>
              </a:rPr>
              <a:t>The money is used to pay you an income for the rest of your life when you start getting the pension.</a:t>
            </a:r>
            <a:endParaRPr b="0" lang="en-US" sz="2000" spc="-1" strike="noStrike">
              <a:solidFill>
                <a:schemeClr val="dk1"/>
              </a:solidFill>
              <a:latin typeface="Calibri"/>
            </a:endParaRPr>
          </a:p>
          <a:p>
            <a:pPr marL="457200" indent="0" defTabSz="914400">
              <a:lnSpc>
                <a:spcPct val="90000"/>
              </a:lnSpc>
              <a:spcBef>
                <a:spcPts val="499"/>
              </a:spcBef>
              <a:buNone/>
              <a:tabLst>
                <a:tab algn="l" pos="0"/>
              </a:tabLst>
            </a:pPr>
            <a:endParaRPr b="0" lang="en-US" sz="20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2000" spc="-1" strike="noStrike">
                <a:solidFill>
                  <a:schemeClr val="dk1"/>
                </a:solidFill>
                <a:latin typeface="Calibri"/>
              </a:rPr>
              <a:t>You can usually take some of your workplace pension as a tax-free lump sum when you retire. </a:t>
            </a:r>
            <a:endParaRPr b="0" lang="en-US" sz="2000" spc="-1" strike="noStrike">
              <a:solidFill>
                <a:schemeClr val="dk1"/>
              </a:solidFill>
              <a:latin typeface="Calibri"/>
            </a:endParaRPr>
          </a:p>
          <a:p>
            <a:pPr indent="0" defTabSz="914400">
              <a:lnSpc>
                <a:spcPct val="90000"/>
              </a:lnSpc>
              <a:spcBef>
                <a:spcPts val="499"/>
              </a:spcBef>
              <a:buNone/>
              <a:tabLst>
                <a:tab algn="l" pos="0"/>
              </a:tabLst>
            </a:pP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p:txBody>
      </p:sp>
      <p:sp>
        <p:nvSpPr>
          <p:cNvPr id="99" name=""/>
          <p:cNvSpPr txBox="1"/>
          <p:nvPr/>
        </p:nvSpPr>
        <p:spPr>
          <a:xfrm>
            <a:off x="7544160" y="6521400"/>
            <a:ext cx="1600200" cy="346320"/>
          </a:xfrm>
          <a:prstGeom prst="rect">
            <a:avLst/>
          </a:prstGeom>
          <a:noFill/>
          <a:ln w="0">
            <a:noFill/>
          </a:ln>
        </p:spPr>
        <p:txBody>
          <a:bodyPr lIns="90000" rIns="90000" tIns="45000" bIns="45000" anchor="t">
            <a:noAutofit/>
          </a:bodyPr>
          <a:p>
            <a:pPr algn="r"/>
            <a:fld id="{15FC0F01-4B83-4F12-8B9B-6E20921160CC}" type="slidenum">
              <a:rPr b="0" lang="en-US" sz="1800" spc="-1" strike="noStrike">
                <a:solidFill>
                  <a:srgbClr val="000000"/>
                </a:solidFill>
                <a:latin typeface="Arial"/>
              </a:rPr>
              <a:t>8</a:t>
            </a:fld>
            <a:r>
              <a:rPr b="0" lang="en-US" sz="1800" spc="-1" strike="noStrike">
                <a:solidFill>
                  <a:srgbClr val="000000"/>
                </a:solidFill>
                <a:latin typeface="Arial"/>
              </a:rPr>
              <a:t> / </a:t>
            </a:r>
            <a:fld id="{3148ACF8-D783-41AB-AB70-92964F03C264}"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p:nvPr>
        </p:nvSpPr>
        <p:spPr>
          <a:xfrm>
            <a:off x="388080" y="1586880"/>
            <a:ext cx="8367480" cy="478908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2000" spc="-1" strike="noStrike">
                <a:solidFill>
                  <a:schemeClr val="dk1"/>
                </a:solidFill>
                <a:latin typeface="Calibri"/>
              </a:rPr>
              <a:t>3. Individual (private) pensions – funded pensions sold by insurance companies.</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000" spc="-1" strike="noStrike">
                <a:solidFill>
                  <a:schemeClr val="dk1"/>
                </a:solidFill>
                <a:latin typeface="Calibri"/>
              </a:rPr>
              <a:t> </a:t>
            </a:r>
            <a:r>
              <a:rPr b="0" lang="en-US" sz="2000" spc="-1" strike="noStrike">
                <a:solidFill>
                  <a:schemeClr val="dk1"/>
                </a:solidFill>
                <a:latin typeface="Calibri"/>
              </a:rPr>
              <a:t>A personal pension is a type of defined-contribution pension. You choose the provider and make arrangements for your contributions to be paid.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000" spc="-1" strike="noStrike">
                <a:solidFill>
                  <a:schemeClr val="dk1"/>
                </a:solidFill>
                <a:latin typeface="Calibri"/>
              </a:rPr>
              <a:t>If you haven't got a workplace pension, getting a personal pension could be a good way of saving for retirement.</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000" spc="-1" strike="noStrike">
                <a:solidFill>
                  <a:schemeClr val="dk1"/>
                </a:solidFill>
                <a:latin typeface="Calibri"/>
              </a:rPr>
              <a:t>Whilst virtually all UK retirees receive a pension from the state, many also receive an employer’s pension and/or an individual pension. </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000" spc="-1" strike="noStrike">
                <a:solidFill>
                  <a:schemeClr val="dk1"/>
                </a:solidFill>
                <a:latin typeface="Calibri"/>
              </a:rPr>
              <a:t>A person retiring today might, for example, derive 50% of their total pension from the state, 40% from their former employer and 10% from an individual pension. </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p:txBody>
      </p:sp>
      <p:sp>
        <p:nvSpPr>
          <p:cNvPr id="101" name="PlaceHolder 2"/>
          <p:cNvSpPr>
            <a:spLocks noGrp="1"/>
          </p:cNvSpPr>
          <p:nvPr>
            <p:ph type="title"/>
          </p:nvPr>
        </p:nvSpPr>
        <p:spPr>
          <a:xfrm>
            <a:off x="628560" y="365040"/>
            <a:ext cx="7886520" cy="829440"/>
          </a:xfrm>
          <a:prstGeom prst="rect">
            <a:avLst/>
          </a:prstGeom>
          <a:noFill/>
          <a:ln w="0">
            <a:noFill/>
          </a:ln>
        </p:spPr>
        <p:txBody>
          <a:bodyPr lIns="91440" rIns="91440" tIns="45720" bIns="45720" anchor="ctr">
            <a:normAutofit/>
          </a:bodyPr>
          <a:p>
            <a:pPr indent="0" defTabSz="914400">
              <a:lnSpc>
                <a:spcPct val="90000"/>
              </a:lnSpc>
              <a:buNone/>
            </a:pPr>
            <a:r>
              <a:rPr b="1" lang="en-US" sz="2800" spc="-1" strike="noStrike">
                <a:solidFill>
                  <a:srgbClr val="0070c0"/>
                </a:solidFill>
                <a:latin typeface="Calibri"/>
              </a:rPr>
              <a:t>UK pension arrangements</a:t>
            </a:r>
            <a:endParaRPr b="0" lang="en-US" sz="2800" spc="-1" strike="noStrike">
              <a:solidFill>
                <a:schemeClr val="dk1"/>
              </a:solidFill>
              <a:latin typeface="Calibri"/>
            </a:endParaRPr>
          </a:p>
        </p:txBody>
      </p:sp>
      <p:sp>
        <p:nvSpPr>
          <p:cNvPr id="102" name=""/>
          <p:cNvSpPr txBox="1"/>
          <p:nvPr/>
        </p:nvSpPr>
        <p:spPr>
          <a:xfrm>
            <a:off x="7544160" y="6521400"/>
            <a:ext cx="1600200" cy="346320"/>
          </a:xfrm>
          <a:prstGeom prst="rect">
            <a:avLst/>
          </a:prstGeom>
          <a:noFill/>
          <a:ln w="0">
            <a:noFill/>
          </a:ln>
        </p:spPr>
        <p:txBody>
          <a:bodyPr lIns="90000" rIns="90000" tIns="45000" bIns="45000" anchor="t">
            <a:noAutofit/>
          </a:bodyPr>
          <a:p>
            <a:pPr algn="r"/>
            <a:fld id="{6433A52C-7C81-45CD-9E69-9FF7A4B7F328}" type="slidenum">
              <a:rPr b="0" lang="en-US" sz="1800" spc="-1" strike="noStrike">
                <a:solidFill>
                  <a:srgbClr val="000000"/>
                </a:solidFill>
                <a:latin typeface="Arial"/>
              </a:rPr>
              <a:t>9</a:t>
            </a:fld>
            <a:r>
              <a:rPr b="0" lang="en-US" sz="1800" spc="-1" strike="noStrike">
                <a:solidFill>
                  <a:srgbClr val="000000"/>
                </a:solidFill>
                <a:latin typeface="Arial"/>
              </a:rPr>
              <a:t> / </a:t>
            </a:r>
            <a:fld id="{36A092D0-7992-4A8A-A1C9-A6AEEEE1635F}"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16560" y="6480"/>
            <a:ext cx="9356040" cy="798120"/>
          </a:xfrm>
          <a:prstGeom prst="rect">
            <a:avLst/>
          </a:prstGeom>
          <a:noFill/>
          <a:ln w="0">
            <a:noFill/>
          </a:ln>
        </p:spPr>
        <p:txBody>
          <a:bodyPr lIns="91440" rIns="91440" tIns="45720" bIns="45720" anchor="ctr">
            <a:noAutofit/>
          </a:bodyPr>
          <a:p>
            <a:pPr indent="0" defTabSz="914400">
              <a:lnSpc>
                <a:spcPct val="90000"/>
              </a:lnSpc>
              <a:buNone/>
            </a:pPr>
            <a:r>
              <a:rPr b="1" lang="en-GB" sz="3200" spc="-1" strike="noStrike">
                <a:solidFill>
                  <a:srgbClr val="0070c0"/>
                </a:solidFill>
                <a:latin typeface="Calibri Light"/>
              </a:rPr>
              <a:t>Pension Fund for Self-Employed Individuals</a:t>
            </a:r>
            <a:endParaRPr b="0" lang="en-US" sz="3200" spc="-1" strike="noStrike">
              <a:solidFill>
                <a:schemeClr val="dk1"/>
              </a:solidFill>
              <a:latin typeface="Calibri"/>
            </a:endParaRPr>
          </a:p>
        </p:txBody>
      </p:sp>
      <p:sp>
        <p:nvSpPr>
          <p:cNvPr id="104" name="PlaceHolder 2"/>
          <p:cNvSpPr>
            <a:spLocks noGrp="1"/>
          </p:cNvSpPr>
          <p:nvPr>
            <p:ph/>
          </p:nvPr>
        </p:nvSpPr>
        <p:spPr>
          <a:xfrm>
            <a:off x="448560" y="706680"/>
            <a:ext cx="8158680" cy="6159600"/>
          </a:xfrm>
          <a:prstGeom prst="rect">
            <a:avLst/>
          </a:prstGeom>
          <a:noFill/>
          <a:ln w="0">
            <a:noFill/>
          </a:ln>
        </p:spPr>
        <p:txBody>
          <a:bodyPr numCol="1" spcCol="0" lIns="91440" rIns="91440" tIns="45720" bIns="45720" anchor="ctr">
            <a:noAutofit/>
          </a:bodyPr>
          <a:p>
            <a:pPr indent="0" defTabSz="914400">
              <a:lnSpc>
                <a:spcPct val="100000"/>
              </a:lnSpc>
              <a:buNone/>
            </a:pPr>
            <a:r>
              <a:rPr b="1" lang="en-US" sz="2000" spc="-1" strike="noStrike">
                <a:solidFill>
                  <a:schemeClr val="dk1"/>
                </a:solidFill>
                <a:latin typeface="Calibri"/>
                <a:ea typeface="Calibri"/>
              </a:rPr>
              <a:t>Self-employed individuals must actively set up their pensions.  They receive </a:t>
            </a:r>
            <a:endParaRPr b="0" lang="en-US" sz="2000" spc="-1" strike="noStrike">
              <a:solidFill>
                <a:schemeClr val="dk1"/>
              </a:solidFill>
              <a:latin typeface="Calibri"/>
            </a:endParaRPr>
          </a:p>
          <a:p>
            <a:pPr indent="0" defTabSz="914400">
              <a:lnSpc>
                <a:spcPct val="100000"/>
              </a:lnSpc>
              <a:buNone/>
              <a:tabLst>
                <a:tab algn="l" pos="0"/>
              </a:tabLst>
            </a:pPr>
            <a:r>
              <a:rPr b="1" lang="en-US" sz="2000" spc="-1" strike="noStrike">
                <a:solidFill>
                  <a:schemeClr val="dk1"/>
                </a:solidFill>
                <a:latin typeface="Calibri"/>
                <a:ea typeface="Calibri"/>
              </a:rPr>
              <a:t>tax relief on contributions.</a:t>
            </a:r>
            <a:endParaRPr b="0" lang="en-US" sz="2000" spc="-1" strike="noStrike">
              <a:solidFill>
                <a:schemeClr val="dk1"/>
              </a:solidFill>
              <a:latin typeface="Calibri"/>
            </a:endParaRPr>
          </a:p>
          <a:p>
            <a:pPr indent="0" defTabSz="914400">
              <a:lnSpc>
                <a:spcPct val="100000"/>
              </a:lnSpc>
              <a:buNone/>
              <a:tabLst>
                <a:tab algn="l" pos="0"/>
              </a:tabLst>
            </a:pPr>
            <a:endParaRPr b="0" lang="en-US" sz="2000" spc="-1" strike="noStrike">
              <a:solidFill>
                <a:schemeClr val="dk1"/>
              </a:solidFill>
              <a:latin typeface="Calibri"/>
            </a:endParaRPr>
          </a:p>
          <a:p>
            <a:pPr indent="0" defTabSz="914400">
              <a:lnSpc>
                <a:spcPct val="100000"/>
              </a:lnSpc>
              <a:buNone/>
              <a:tabLst>
                <a:tab algn="l" pos="0"/>
              </a:tabLst>
            </a:pPr>
            <a:r>
              <a:rPr b="1" lang="en-US" sz="2000" spc="-1" strike="noStrike">
                <a:solidFill>
                  <a:schemeClr val="dk1"/>
                </a:solidFill>
                <a:latin typeface="Calibri"/>
                <a:ea typeface="Calibri"/>
              </a:rPr>
              <a:t>Self-Invested Personal Pension (SIPP)</a:t>
            </a:r>
            <a:endParaRPr b="0" lang="en-US" sz="2000" spc="-1" strike="noStrike">
              <a:solidFill>
                <a:schemeClr val="dk1"/>
              </a:solidFill>
              <a:latin typeface="Calibri"/>
            </a:endParaRPr>
          </a:p>
          <a:p>
            <a:pPr defTabSz="914400">
              <a:lnSpc>
                <a:spcPct val="100000"/>
              </a:lnSpc>
              <a:buClr>
                <a:srgbClr val="000000"/>
              </a:buClr>
              <a:buFont typeface="Arial"/>
              <a:buChar char="•"/>
              <a:tabLst>
                <a:tab algn="l" pos="0"/>
              </a:tabLst>
            </a:pPr>
            <a:r>
              <a:rPr b="0" lang="en-US" sz="2000" spc="-1" strike="noStrike">
                <a:solidFill>
                  <a:schemeClr val="dk1"/>
                </a:solidFill>
                <a:latin typeface="Calibri"/>
                <a:ea typeface="Calibri"/>
              </a:rPr>
              <a:t>Flexible, allows contributions up to £60,000 per year.</a:t>
            </a:r>
            <a:endParaRPr b="0" lang="en-US" sz="2000" spc="-1" strike="noStrike">
              <a:solidFill>
                <a:schemeClr val="dk1"/>
              </a:solidFill>
              <a:latin typeface="Calibri"/>
            </a:endParaRPr>
          </a:p>
          <a:p>
            <a:pPr defTabSz="914400">
              <a:lnSpc>
                <a:spcPct val="100000"/>
              </a:lnSpc>
              <a:buClr>
                <a:srgbClr val="000000"/>
              </a:buClr>
              <a:buFont typeface="Arial"/>
              <a:buChar char="•"/>
              <a:tabLst>
                <a:tab algn="l" pos="0"/>
              </a:tabLst>
            </a:pPr>
            <a:r>
              <a:rPr b="0" lang="en-US" sz="2000" spc="-1" strike="noStrike">
                <a:solidFill>
                  <a:schemeClr val="dk1"/>
                </a:solidFill>
                <a:latin typeface="Calibri"/>
                <a:ea typeface="Calibri"/>
              </a:rPr>
              <a:t>Wide range of investment options (stocks, bonds, funds).</a:t>
            </a:r>
            <a:endParaRPr b="0" lang="en-US" sz="2000" spc="-1" strike="noStrike">
              <a:solidFill>
                <a:schemeClr val="dk1"/>
              </a:solidFill>
              <a:latin typeface="Calibri"/>
            </a:endParaRPr>
          </a:p>
          <a:p>
            <a:pPr defTabSz="914400">
              <a:lnSpc>
                <a:spcPct val="100000"/>
              </a:lnSpc>
              <a:buClr>
                <a:srgbClr val="000000"/>
              </a:buClr>
              <a:buFont typeface="Arial"/>
              <a:buChar char="•"/>
              <a:tabLst>
                <a:tab algn="l" pos="0"/>
              </a:tabLst>
            </a:pPr>
            <a:r>
              <a:rPr b="0" lang="en-US" sz="2000" spc="-1" strike="noStrike">
                <a:solidFill>
                  <a:schemeClr val="dk1"/>
                </a:solidFill>
                <a:latin typeface="Calibri"/>
                <a:ea typeface="Calibri"/>
              </a:rPr>
              <a:t>Access from age 55 (rising to 57 in 2028).</a:t>
            </a:r>
            <a:endParaRPr b="0" lang="en-US" sz="2000" spc="-1" strike="noStrike">
              <a:solidFill>
                <a:schemeClr val="dk1"/>
              </a:solidFill>
              <a:latin typeface="Calibri"/>
            </a:endParaRPr>
          </a:p>
          <a:p>
            <a:pPr indent="0" defTabSz="914400">
              <a:lnSpc>
                <a:spcPct val="100000"/>
              </a:lnSpc>
              <a:buNone/>
              <a:tabLst>
                <a:tab algn="l" pos="0"/>
              </a:tabLst>
            </a:pPr>
            <a:endParaRPr b="0" lang="en-US" sz="2000" spc="-1" strike="noStrike">
              <a:solidFill>
                <a:schemeClr val="dk1"/>
              </a:solidFill>
              <a:latin typeface="Calibri"/>
            </a:endParaRPr>
          </a:p>
          <a:p>
            <a:pPr indent="0" defTabSz="914400">
              <a:lnSpc>
                <a:spcPct val="100000"/>
              </a:lnSpc>
              <a:buNone/>
              <a:tabLst>
                <a:tab algn="l" pos="0"/>
              </a:tabLst>
            </a:pPr>
            <a:r>
              <a:rPr b="1" lang="en-US" sz="2000" spc="-1" strike="noStrike">
                <a:solidFill>
                  <a:schemeClr val="dk1"/>
                </a:solidFill>
                <a:latin typeface="Calibri"/>
                <a:ea typeface="Calibri"/>
              </a:rPr>
              <a:t>Stakeholder Pension</a:t>
            </a:r>
            <a:endParaRPr b="0" lang="en-US" sz="2000" spc="-1" strike="noStrike">
              <a:solidFill>
                <a:schemeClr val="dk1"/>
              </a:solidFill>
              <a:latin typeface="Calibri"/>
            </a:endParaRPr>
          </a:p>
          <a:p>
            <a:pPr defTabSz="914400">
              <a:lnSpc>
                <a:spcPct val="100000"/>
              </a:lnSpc>
              <a:buClr>
                <a:srgbClr val="000000"/>
              </a:buClr>
              <a:buFont typeface="Arial"/>
              <a:buChar char="•"/>
              <a:tabLst>
                <a:tab algn="l" pos="0"/>
              </a:tabLst>
            </a:pPr>
            <a:r>
              <a:rPr b="0" lang="en-US" sz="2000" spc="-1" strike="noStrike">
                <a:solidFill>
                  <a:schemeClr val="dk1"/>
                </a:solidFill>
                <a:latin typeface="Calibri"/>
                <a:ea typeface="Calibri"/>
              </a:rPr>
              <a:t>Low-cost, simple pension plan.</a:t>
            </a:r>
            <a:endParaRPr b="0" lang="en-US" sz="2000" spc="-1" strike="noStrike">
              <a:solidFill>
                <a:schemeClr val="dk1"/>
              </a:solidFill>
              <a:latin typeface="Calibri"/>
            </a:endParaRPr>
          </a:p>
          <a:p>
            <a:pPr defTabSz="914400">
              <a:lnSpc>
                <a:spcPct val="100000"/>
              </a:lnSpc>
              <a:buClr>
                <a:srgbClr val="000000"/>
              </a:buClr>
              <a:buFont typeface="Arial"/>
              <a:buChar char="•"/>
              <a:tabLst>
                <a:tab algn="l" pos="0"/>
              </a:tabLst>
            </a:pPr>
            <a:r>
              <a:rPr b="0" lang="en-US" sz="2000" spc="-1" strike="noStrike">
                <a:solidFill>
                  <a:schemeClr val="dk1"/>
                </a:solidFill>
                <a:latin typeface="Calibri"/>
                <a:ea typeface="Calibri"/>
              </a:rPr>
              <a:t>Minimum contributions as low as £20/month.</a:t>
            </a:r>
            <a:endParaRPr b="0" lang="en-US" sz="2000" spc="-1" strike="noStrike">
              <a:solidFill>
                <a:schemeClr val="dk1"/>
              </a:solidFill>
              <a:latin typeface="Calibri"/>
            </a:endParaRPr>
          </a:p>
          <a:p>
            <a:pPr defTabSz="914400">
              <a:lnSpc>
                <a:spcPct val="100000"/>
              </a:lnSpc>
              <a:buClr>
                <a:srgbClr val="000000"/>
              </a:buClr>
              <a:buFont typeface="Arial"/>
              <a:buChar char="•"/>
              <a:tabLst>
                <a:tab algn="l" pos="0"/>
              </a:tabLst>
            </a:pPr>
            <a:r>
              <a:rPr b="0" lang="en-GB" sz="2000" spc="-1" strike="noStrike">
                <a:solidFill>
                  <a:schemeClr val="dk1"/>
                </a:solidFill>
                <a:latin typeface="Calibri"/>
                <a:ea typeface="Calibri"/>
              </a:rPr>
              <a:t>The investment choices are predefined, and you cannot select individual assets. Most stakeholders invest in a mix of funds chosen by the provider.</a:t>
            </a:r>
            <a:endParaRPr b="0" lang="en-US" sz="2000" spc="-1" strike="noStrike">
              <a:solidFill>
                <a:schemeClr val="dk1"/>
              </a:solidFill>
              <a:latin typeface="Calibri"/>
            </a:endParaRPr>
          </a:p>
          <a:p>
            <a:pPr indent="0" defTabSz="914400">
              <a:lnSpc>
                <a:spcPct val="100000"/>
              </a:lnSpc>
              <a:buNone/>
              <a:tabLst>
                <a:tab algn="l" pos="0"/>
              </a:tabLst>
            </a:pPr>
            <a:endParaRPr b="0" lang="en-US" sz="2000" spc="-1" strike="noStrike">
              <a:solidFill>
                <a:schemeClr val="dk1"/>
              </a:solidFill>
              <a:latin typeface="Calibri"/>
            </a:endParaRPr>
          </a:p>
          <a:p>
            <a:pPr indent="0" defTabSz="914400">
              <a:lnSpc>
                <a:spcPct val="100000"/>
              </a:lnSpc>
              <a:buNone/>
              <a:tabLst>
                <a:tab algn="l" pos="0"/>
              </a:tabLst>
            </a:pPr>
            <a:r>
              <a:rPr b="1" lang="en-US" sz="2000" spc="-1" strike="noStrike">
                <a:solidFill>
                  <a:schemeClr val="dk1"/>
                </a:solidFill>
                <a:latin typeface="Calibri"/>
                <a:ea typeface="Calibri"/>
              </a:rPr>
              <a:t>Small Self-Administered Scheme (SSAS)</a:t>
            </a:r>
            <a:endParaRPr b="0" lang="en-US" sz="2000" spc="-1" strike="noStrike">
              <a:solidFill>
                <a:schemeClr val="dk1"/>
              </a:solidFill>
              <a:latin typeface="Calibri"/>
            </a:endParaRPr>
          </a:p>
          <a:p>
            <a:pPr defTabSz="914400">
              <a:lnSpc>
                <a:spcPct val="100000"/>
              </a:lnSpc>
              <a:buClr>
                <a:srgbClr val="000000"/>
              </a:buClr>
              <a:buFont typeface="Arial"/>
              <a:buChar char="•"/>
              <a:tabLst>
                <a:tab algn="l" pos="0"/>
              </a:tabLst>
            </a:pPr>
            <a:r>
              <a:rPr b="0" lang="en-US" sz="2000" spc="-1" strike="noStrike">
                <a:solidFill>
                  <a:schemeClr val="dk1"/>
                </a:solidFill>
                <a:latin typeface="Calibri"/>
                <a:ea typeface="Calibri"/>
              </a:rPr>
              <a:t>Suitable for small business owners.</a:t>
            </a:r>
            <a:endParaRPr b="0" lang="en-US" sz="2000" spc="-1" strike="noStrike">
              <a:solidFill>
                <a:schemeClr val="dk1"/>
              </a:solidFill>
              <a:latin typeface="Calibri"/>
            </a:endParaRPr>
          </a:p>
          <a:p>
            <a:pPr defTabSz="914400">
              <a:lnSpc>
                <a:spcPct val="100000"/>
              </a:lnSpc>
              <a:buClr>
                <a:srgbClr val="000000"/>
              </a:buClr>
              <a:buFont typeface="Arial"/>
              <a:buChar char="•"/>
              <a:tabLst>
                <a:tab algn="l" pos="0"/>
              </a:tabLst>
            </a:pPr>
            <a:r>
              <a:rPr b="0" lang="en-US" sz="2000" spc="-1" strike="noStrike">
                <a:solidFill>
                  <a:schemeClr val="dk1"/>
                </a:solidFill>
                <a:latin typeface="Calibri"/>
                <a:ea typeface="Calibri"/>
              </a:rPr>
              <a:t>Offers control over investments, including company shares and commercial property.</a:t>
            </a:r>
            <a:endParaRPr b="0" lang="en-US" sz="2000" spc="-1" strike="noStrike">
              <a:solidFill>
                <a:schemeClr val="dk1"/>
              </a:solidFill>
              <a:latin typeface="Calibri"/>
            </a:endParaRPr>
          </a:p>
          <a:p>
            <a:pPr defTabSz="914400">
              <a:lnSpc>
                <a:spcPct val="100000"/>
              </a:lnSpc>
              <a:buClr>
                <a:srgbClr val="000000"/>
              </a:buClr>
              <a:buFont typeface="Arial"/>
              <a:buChar char="•"/>
              <a:tabLst>
                <a:tab algn="l" pos="0"/>
              </a:tabLst>
            </a:pPr>
            <a:r>
              <a:rPr b="0" lang="en-US" sz="2000" spc="-1" strike="noStrike">
                <a:solidFill>
                  <a:schemeClr val="dk1"/>
                </a:solidFill>
                <a:latin typeface="Calibri"/>
                <a:ea typeface="Calibri"/>
              </a:rPr>
              <a:t>Contributions made by the business.</a:t>
            </a:r>
            <a:endParaRPr b="0" lang="en-US" sz="2000" spc="-1" strike="noStrike">
              <a:solidFill>
                <a:schemeClr val="dk1"/>
              </a:solidFill>
              <a:latin typeface="Calibri"/>
            </a:endParaRPr>
          </a:p>
          <a:p>
            <a:pPr indent="0" defTabSz="914400">
              <a:lnSpc>
                <a:spcPct val="100000"/>
              </a:lnSpc>
              <a:buNone/>
              <a:tabLst>
                <a:tab algn="l" pos="0"/>
              </a:tabLst>
            </a:pPr>
            <a:endParaRPr b="0" lang="en-US" sz="1800" spc="-1" strike="noStrike">
              <a:solidFill>
                <a:schemeClr val="dk1"/>
              </a:solidFill>
              <a:latin typeface="Calibri"/>
            </a:endParaRPr>
          </a:p>
        </p:txBody>
      </p:sp>
      <p:sp>
        <p:nvSpPr>
          <p:cNvPr id="105" name=""/>
          <p:cNvSpPr txBox="1"/>
          <p:nvPr/>
        </p:nvSpPr>
        <p:spPr>
          <a:xfrm>
            <a:off x="7544160" y="6521400"/>
            <a:ext cx="1600200" cy="346320"/>
          </a:xfrm>
          <a:prstGeom prst="rect">
            <a:avLst/>
          </a:prstGeom>
          <a:noFill/>
          <a:ln w="0">
            <a:noFill/>
          </a:ln>
        </p:spPr>
        <p:txBody>
          <a:bodyPr lIns="90000" rIns="90000" tIns="45000" bIns="45000" anchor="t">
            <a:noAutofit/>
          </a:bodyPr>
          <a:p>
            <a:pPr algn="r"/>
            <a:fld id="{67DA369B-6C82-42E6-B9B1-A7A48C7EBD8E}" type="slidenum">
              <a:rPr b="0" lang="en-US" sz="1800" spc="-1" strike="noStrike">
                <a:solidFill>
                  <a:srgbClr val="000000"/>
                </a:solidFill>
                <a:latin typeface="Arial"/>
              </a:rPr>
              <a:t>9</a:t>
            </a:fld>
            <a:r>
              <a:rPr b="0" lang="en-US" sz="1800" spc="-1" strike="noStrike">
                <a:solidFill>
                  <a:srgbClr val="000000"/>
                </a:solidFill>
                <a:latin typeface="Arial"/>
              </a:rPr>
              <a:t> / </a:t>
            </a:r>
            <a:fld id="{68D23BA4-1422-4BCC-A6F1-EBFF119321C8}"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253440" y="451080"/>
            <a:ext cx="7801920" cy="1373760"/>
          </a:xfrm>
          <a:prstGeom prst="rect">
            <a:avLst/>
          </a:prstGeom>
          <a:noFill/>
          <a:ln w="0">
            <a:noFill/>
          </a:ln>
        </p:spPr>
        <p:txBody>
          <a:bodyPr lIns="91440" rIns="91440" tIns="45720" bIns="45720" anchor="ctr">
            <a:normAutofit/>
          </a:bodyPr>
          <a:p>
            <a:pPr indent="0" defTabSz="914400">
              <a:lnSpc>
                <a:spcPct val="90000"/>
              </a:lnSpc>
              <a:buNone/>
            </a:pPr>
            <a:r>
              <a:rPr b="1" lang="en-US" sz="2800" spc="-1" strike="noStrike">
                <a:solidFill>
                  <a:srgbClr val="0070c0"/>
                </a:solidFill>
                <a:latin typeface="Calibri"/>
              </a:rPr>
              <a:t>Structure and operational aspects of pension funds</a:t>
            </a:r>
            <a:endParaRPr b="0" lang="en-US" sz="2800" spc="-1" strike="noStrike">
              <a:solidFill>
                <a:schemeClr val="dk1"/>
              </a:solidFill>
              <a:latin typeface="Calibri"/>
            </a:endParaRPr>
          </a:p>
        </p:txBody>
      </p:sp>
      <p:sp>
        <p:nvSpPr>
          <p:cNvPr id="107" name="PlaceHolder 2"/>
          <p:cNvSpPr>
            <a:spLocks noGrp="1"/>
          </p:cNvSpPr>
          <p:nvPr>
            <p:ph/>
          </p:nvPr>
        </p:nvSpPr>
        <p:spPr>
          <a:xfrm>
            <a:off x="628560" y="1825200"/>
            <a:ext cx="7886520" cy="46767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Pension fund companies are non-deposit taking institutions which exist to provide pensions to retired people.</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000" spc="-1" strike="noStrike">
                <a:solidFill>
                  <a:schemeClr val="dk1"/>
                </a:solidFill>
                <a:latin typeface="Calibri"/>
              </a:rPr>
              <a:t>In the UK pension funds are usually set up as trusts with a board of trustees whose job it is to see that a fund is run in the best interest of its members.</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000" spc="-1" strike="noStrike">
                <a:solidFill>
                  <a:schemeClr val="dk1"/>
                </a:solidFill>
                <a:latin typeface="Calibri"/>
              </a:rPr>
              <a:t>Trustees appoint a manager, often a specialist company, to collect and invest member’s contributions and organize their pension payments.</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000" spc="-1" strike="noStrike">
                <a:solidFill>
                  <a:schemeClr val="dk1"/>
                </a:solidFill>
                <a:latin typeface="Calibri"/>
              </a:rPr>
              <a:t>There is a government-set limit (called charge cap) on fund management fees that can be charged within DC schemes, currently set at 0.75% of funds under management. </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1870" spc="-1" strike="noStrike">
              <a:solidFill>
                <a:schemeClr val="dk1"/>
              </a:solidFill>
              <a:latin typeface="Calibri"/>
            </a:endParaRPr>
          </a:p>
          <a:p>
            <a:pPr indent="0" defTabSz="914400">
              <a:lnSpc>
                <a:spcPct val="90000"/>
              </a:lnSpc>
              <a:spcBef>
                <a:spcPts val="1001"/>
              </a:spcBef>
              <a:buNone/>
              <a:tabLst>
                <a:tab algn="l" pos="0"/>
              </a:tabLst>
            </a:pPr>
            <a:endParaRPr b="0" lang="en-US" sz="2800" spc="-1" strike="noStrike">
              <a:solidFill>
                <a:schemeClr val="dk1"/>
              </a:solidFill>
              <a:latin typeface="Calibri"/>
            </a:endParaRPr>
          </a:p>
        </p:txBody>
      </p:sp>
      <p:sp>
        <p:nvSpPr>
          <p:cNvPr id="108" name=""/>
          <p:cNvSpPr txBox="1"/>
          <p:nvPr/>
        </p:nvSpPr>
        <p:spPr>
          <a:xfrm>
            <a:off x="7544160" y="6521400"/>
            <a:ext cx="1600200" cy="346320"/>
          </a:xfrm>
          <a:prstGeom prst="rect">
            <a:avLst/>
          </a:prstGeom>
          <a:noFill/>
          <a:ln w="0">
            <a:noFill/>
          </a:ln>
        </p:spPr>
        <p:txBody>
          <a:bodyPr lIns="90000" rIns="90000" tIns="45000" bIns="45000" anchor="t">
            <a:noAutofit/>
          </a:bodyPr>
          <a:p>
            <a:pPr algn="r"/>
            <a:fld id="{4B5C3255-51F4-4732-A489-BDAD1E2923BD}" type="slidenum">
              <a:rPr b="0" lang="en-US" sz="1800" spc="-1" strike="noStrike">
                <a:solidFill>
                  <a:srgbClr val="000000"/>
                </a:solidFill>
                <a:latin typeface="Arial"/>
              </a:rPr>
              <a:t>11</a:t>
            </a:fld>
            <a:r>
              <a:rPr b="0" lang="en-US" sz="1800" spc="-1" strike="noStrike">
                <a:solidFill>
                  <a:srgbClr val="000000"/>
                </a:solidFill>
                <a:latin typeface="Arial"/>
              </a:rPr>
              <a:t> / </a:t>
            </a:r>
            <a:fld id="{0F015A99-3B32-495F-BD68-93485E65F224}"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628560" y="681120"/>
            <a:ext cx="7886520" cy="993960"/>
          </a:xfrm>
          <a:prstGeom prst="rect">
            <a:avLst/>
          </a:prstGeom>
          <a:noFill/>
          <a:ln w="0">
            <a:noFill/>
          </a:ln>
        </p:spPr>
        <p:txBody>
          <a:bodyPr lIns="91440" rIns="91440" tIns="45720" bIns="45720" anchor="ctr">
            <a:normAutofit/>
          </a:bodyPr>
          <a:p>
            <a:pPr indent="0" defTabSz="914400">
              <a:lnSpc>
                <a:spcPct val="90000"/>
              </a:lnSpc>
              <a:buNone/>
            </a:pPr>
            <a:r>
              <a:rPr b="1" lang="en-GB" sz="2800" spc="-1" strike="noStrike">
                <a:solidFill>
                  <a:srgbClr val="0070c0"/>
                </a:solidFill>
                <a:latin typeface="Calibri Light"/>
              </a:rPr>
              <a:t>Money flows through pension funds</a:t>
            </a:r>
            <a:endParaRPr b="0" lang="en-US" sz="2800" spc="-1" strike="noStrike">
              <a:solidFill>
                <a:schemeClr val="dk1"/>
              </a:solidFill>
              <a:latin typeface="Calibri"/>
            </a:endParaRPr>
          </a:p>
        </p:txBody>
      </p:sp>
      <p:sp>
        <p:nvSpPr>
          <p:cNvPr id="110" name="PlaceHolder 2"/>
          <p:cNvSpPr>
            <a:spLocks noGrp="1"/>
          </p:cNvSpPr>
          <p:nvPr>
            <p:ph/>
          </p:nvPr>
        </p:nvSpPr>
        <p:spPr>
          <a:xfrm>
            <a:off x="628560" y="1825560"/>
            <a:ext cx="7886520" cy="4350960"/>
          </a:xfrm>
          <a:prstGeom prst="rect">
            <a:avLst/>
          </a:prstGeom>
          <a:noFill/>
          <a:ln w="0">
            <a:noFill/>
          </a:ln>
        </p:spPr>
        <p:txBody>
          <a:bodyPr lIns="91440" rIns="91440" tIns="45720" bIns="45720" anchor="t">
            <a:normAutofit fontScale="90336"/>
          </a:bodyPr>
          <a:p>
            <a:pPr indent="0" defTabSz="914400">
              <a:lnSpc>
                <a:spcPct val="90000"/>
              </a:lnSpc>
              <a:spcBef>
                <a:spcPts val="1001"/>
              </a:spcBef>
              <a:buNone/>
              <a:tabLst>
                <a:tab algn="l" pos="0"/>
              </a:tabLst>
            </a:pPr>
            <a:r>
              <a:rPr b="0" lang="en-US" sz="2000" spc="-1" strike="noStrike">
                <a:solidFill>
                  <a:schemeClr val="dk1"/>
                </a:solidFill>
                <a:latin typeface="Calibri"/>
              </a:rPr>
              <a:t>There are four ways in which money flows through a pension fund</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indent="0" defTabSz="914400">
              <a:lnSpc>
                <a:spcPct val="90000"/>
              </a:lnSpc>
              <a:spcBef>
                <a:spcPts val="1001"/>
              </a:spcBef>
              <a:buNone/>
              <a:tabLst>
                <a:tab algn="l" pos="0"/>
              </a:tabLst>
            </a:pPr>
            <a:r>
              <a:rPr b="0" lang="en-US" sz="2000" spc="-1" strike="noStrike" u="sng">
                <a:solidFill>
                  <a:schemeClr val="dk1"/>
                </a:solidFill>
                <a:uFillTx/>
                <a:latin typeface="Calibri"/>
              </a:rPr>
              <a:t>Inflows</a:t>
            </a:r>
            <a:endParaRPr b="0" lang="en-US" sz="2000" spc="-1" strike="noStrike">
              <a:solidFill>
                <a:schemeClr val="dk1"/>
              </a:solidFill>
              <a:latin typeface="Calibri"/>
            </a:endParaRPr>
          </a:p>
          <a:p>
            <a:pPr indent="0" defTabSz="914400">
              <a:lnSpc>
                <a:spcPct val="90000"/>
              </a:lnSpc>
              <a:spcBef>
                <a:spcPts val="1001"/>
              </a:spcBef>
              <a:buNone/>
              <a:tabLst>
                <a:tab algn="l" pos="0"/>
              </a:tabLst>
            </a:pPr>
            <a:r>
              <a:rPr b="0" lang="en-US" sz="2000" spc="-1" strike="noStrike">
                <a:solidFill>
                  <a:schemeClr val="dk1"/>
                </a:solidFill>
                <a:latin typeface="Calibri"/>
              </a:rPr>
              <a:t>1. Contributions – payments made by or on behalf of workers to their pension funds.</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indent="0" defTabSz="914400">
              <a:lnSpc>
                <a:spcPct val="90000"/>
              </a:lnSpc>
              <a:spcBef>
                <a:spcPts val="1001"/>
              </a:spcBef>
              <a:buNone/>
              <a:tabLst>
                <a:tab algn="l" pos="0"/>
              </a:tabLst>
            </a:pPr>
            <a:r>
              <a:rPr b="0" lang="en-US" sz="2000" spc="-1" strike="noStrike">
                <a:solidFill>
                  <a:schemeClr val="dk1"/>
                </a:solidFill>
                <a:latin typeface="Calibri"/>
              </a:rPr>
              <a:t>2. Investment earnings</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indent="0" defTabSz="914400">
              <a:lnSpc>
                <a:spcPct val="90000"/>
              </a:lnSpc>
              <a:spcBef>
                <a:spcPts val="1001"/>
              </a:spcBef>
              <a:buNone/>
              <a:tabLst>
                <a:tab algn="l" pos="0"/>
              </a:tabLst>
            </a:pPr>
            <a:r>
              <a:rPr b="0" lang="en-US" sz="2000" spc="-1" strike="noStrike" u="sng">
                <a:solidFill>
                  <a:schemeClr val="dk1"/>
                </a:solidFill>
                <a:uFillTx/>
                <a:latin typeface="Calibri"/>
              </a:rPr>
              <a:t>Outflows</a:t>
            </a:r>
            <a:endParaRPr b="0" lang="en-US" sz="2000" spc="-1" strike="noStrike">
              <a:solidFill>
                <a:schemeClr val="dk1"/>
              </a:solidFill>
              <a:latin typeface="Calibri"/>
            </a:endParaRPr>
          </a:p>
          <a:p>
            <a:pPr indent="0" defTabSz="914400">
              <a:lnSpc>
                <a:spcPct val="90000"/>
              </a:lnSpc>
              <a:spcBef>
                <a:spcPts val="1001"/>
              </a:spcBef>
              <a:buNone/>
              <a:tabLst>
                <a:tab algn="l" pos="0"/>
              </a:tabLst>
            </a:pPr>
            <a:r>
              <a:rPr b="0" lang="en-US" sz="2000" spc="-1" strike="noStrike">
                <a:solidFill>
                  <a:schemeClr val="dk1"/>
                </a:solidFill>
                <a:latin typeface="Calibri"/>
              </a:rPr>
              <a:t>3. Pension payments</a:t>
            </a:r>
            <a:endParaRPr b="0" lang="en-US" sz="2000" spc="-1" strike="noStrike">
              <a:solidFill>
                <a:schemeClr val="dk1"/>
              </a:solidFill>
              <a:latin typeface="Calibri"/>
            </a:endParaRPr>
          </a:p>
          <a:p>
            <a:pPr indent="0" defTabSz="914400">
              <a:lnSpc>
                <a:spcPct val="90000"/>
              </a:lnSpc>
              <a:spcBef>
                <a:spcPts val="1001"/>
              </a:spcBef>
              <a:buNone/>
              <a:tabLst>
                <a:tab algn="l" pos="0"/>
              </a:tabLst>
            </a:pPr>
            <a:r>
              <a:rPr b="0" lang="en-US" sz="2000" spc="-1" strike="noStrike">
                <a:solidFill>
                  <a:schemeClr val="dk1"/>
                </a:solidFill>
                <a:latin typeface="Calibri"/>
              </a:rPr>
              <a:t> </a:t>
            </a:r>
            <a:endParaRPr b="0" lang="en-US" sz="2000" spc="-1" strike="noStrike">
              <a:solidFill>
                <a:schemeClr val="dk1"/>
              </a:solidFill>
              <a:latin typeface="Calibri"/>
            </a:endParaRPr>
          </a:p>
          <a:p>
            <a:pPr indent="0" defTabSz="914400">
              <a:lnSpc>
                <a:spcPct val="90000"/>
              </a:lnSpc>
              <a:spcBef>
                <a:spcPts val="1001"/>
              </a:spcBef>
              <a:buNone/>
              <a:tabLst>
                <a:tab algn="l" pos="0"/>
              </a:tabLst>
            </a:pPr>
            <a:r>
              <a:rPr b="0" lang="en-US" sz="2000" spc="-1" strike="noStrike">
                <a:solidFill>
                  <a:schemeClr val="dk1"/>
                </a:solidFill>
                <a:latin typeface="Calibri"/>
              </a:rPr>
              <a:t>4 Charges and taxes</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1870" spc="-1" strike="noStrike">
              <a:solidFill>
                <a:schemeClr val="dk1"/>
              </a:solidFill>
              <a:latin typeface="Calibri"/>
            </a:endParaRPr>
          </a:p>
          <a:p>
            <a:pPr indent="0" defTabSz="914400">
              <a:lnSpc>
                <a:spcPct val="90000"/>
              </a:lnSpc>
              <a:spcBef>
                <a:spcPts val="1001"/>
              </a:spcBef>
              <a:buNone/>
              <a:tabLst>
                <a:tab algn="l" pos="0"/>
              </a:tabLst>
            </a:pPr>
            <a:endParaRPr b="0" lang="en-US" sz="2800" spc="-1" strike="noStrike">
              <a:solidFill>
                <a:schemeClr val="dk1"/>
              </a:solidFill>
              <a:latin typeface="Calibri"/>
            </a:endParaRPr>
          </a:p>
        </p:txBody>
      </p:sp>
      <p:sp>
        <p:nvSpPr>
          <p:cNvPr id="111" name=""/>
          <p:cNvSpPr txBox="1"/>
          <p:nvPr/>
        </p:nvSpPr>
        <p:spPr>
          <a:xfrm>
            <a:off x="7544160" y="6521400"/>
            <a:ext cx="1600200" cy="346320"/>
          </a:xfrm>
          <a:prstGeom prst="rect">
            <a:avLst/>
          </a:prstGeom>
          <a:noFill/>
          <a:ln w="0">
            <a:noFill/>
          </a:ln>
        </p:spPr>
        <p:txBody>
          <a:bodyPr lIns="90000" rIns="90000" tIns="45000" bIns="45000" anchor="t">
            <a:noAutofit/>
          </a:bodyPr>
          <a:p>
            <a:pPr algn="r"/>
            <a:fld id="{0F4763F7-1566-4F7E-85DF-8F82B37DC7E5}" type="slidenum">
              <a:rPr b="0" lang="en-US" sz="1800" spc="-1" strike="noStrike">
                <a:solidFill>
                  <a:srgbClr val="000000"/>
                </a:solidFill>
                <a:latin typeface="Arial"/>
              </a:rPr>
              <a:t>12</a:t>
            </a:fld>
            <a:r>
              <a:rPr b="0" lang="en-US" sz="1800" spc="-1" strike="noStrike">
                <a:solidFill>
                  <a:srgbClr val="000000"/>
                </a:solidFill>
                <a:latin typeface="Arial"/>
              </a:rPr>
              <a:t> / </a:t>
            </a:r>
            <a:fld id="{8F07C42C-0D05-41FE-8C58-D5B0EB13C5C7}"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628560" y="-21600"/>
            <a:ext cx="7886520" cy="775800"/>
          </a:xfrm>
          <a:prstGeom prst="rect">
            <a:avLst/>
          </a:prstGeom>
          <a:noFill/>
          <a:ln w="0">
            <a:noFill/>
          </a:ln>
        </p:spPr>
        <p:txBody>
          <a:bodyPr lIns="91440" rIns="91440" tIns="45720" bIns="45720" anchor="ctr">
            <a:noAutofit/>
          </a:bodyPr>
          <a:p>
            <a:pPr indent="0" defTabSz="914400">
              <a:lnSpc>
                <a:spcPct val="90000"/>
              </a:lnSpc>
              <a:buNone/>
            </a:pPr>
            <a:r>
              <a:rPr b="1" lang="en-GB" sz="1800" spc="-1" strike="noStrike">
                <a:solidFill>
                  <a:srgbClr val="0070c0"/>
                </a:solidFill>
                <a:latin typeface="Arial-BoldMT"/>
              </a:rPr>
              <a:t>The normal retirement age is rising in many OECD countries</a:t>
            </a:r>
            <a:endParaRPr b="0" lang="en-US" sz="1800" spc="-1" strike="noStrike">
              <a:solidFill>
                <a:schemeClr val="dk1"/>
              </a:solidFill>
              <a:latin typeface="Calibri"/>
            </a:endParaRPr>
          </a:p>
        </p:txBody>
      </p:sp>
      <p:pic>
        <p:nvPicPr>
          <p:cNvPr id="113" name="Content Placeholder 8" descr="Chart, bar chart&#10;&#10;Description automatically generated"/>
          <p:cNvPicPr/>
          <p:nvPr/>
        </p:nvPicPr>
        <p:blipFill>
          <a:blip r:embed="rId1"/>
          <a:stretch/>
        </p:blipFill>
        <p:spPr>
          <a:xfrm>
            <a:off x="0" y="1118880"/>
            <a:ext cx="8915400" cy="5373360"/>
          </a:xfrm>
          <a:prstGeom prst="rect">
            <a:avLst/>
          </a:prstGeom>
          <a:ln w="0">
            <a:noFill/>
          </a:ln>
        </p:spPr>
      </p:pic>
      <p:sp>
        <p:nvSpPr>
          <p:cNvPr id="114" name=""/>
          <p:cNvSpPr txBox="1"/>
          <p:nvPr/>
        </p:nvSpPr>
        <p:spPr>
          <a:xfrm>
            <a:off x="7544160" y="6521400"/>
            <a:ext cx="1600200" cy="346320"/>
          </a:xfrm>
          <a:prstGeom prst="rect">
            <a:avLst/>
          </a:prstGeom>
          <a:noFill/>
          <a:ln w="0">
            <a:noFill/>
          </a:ln>
        </p:spPr>
        <p:txBody>
          <a:bodyPr lIns="90000" rIns="90000" tIns="45000" bIns="45000" anchor="t">
            <a:noAutofit/>
          </a:bodyPr>
          <a:p>
            <a:pPr algn="r"/>
            <a:fld id="{EA7AD9AB-05F5-45E1-9D3A-8BF870F6F984}" type="slidenum">
              <a:rPr b="0" lang="en-US" sz="1800" spc="-1" strike="noStrike">
                <a:solidFill>
                  <a:srgbClr val="000000"/>
                </a:solidFill>
                <a:latin typeface="Arial"/>
              </a:rPr>
              <a:t>12</a:t>
            </a:fld>
            <a:r>
              <a:rPr b="0" lang="en-US" sz="1800" spc="-1" strike="noStrike">
                <a:solidFill>
                  <a:srgbClr val="000000"/>
                </a:solidFill>
                <a:latin typeface="Arial"/>
              </a:rPr>
              <a:t> / </a:t>
            </a:r>
            <a:fld id="{14871E81-155D-42A4-B405-4232BD5D935F}"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628560" y="365040"/>
            <a:ext cx="7886520" cy="804960"/>
          </a:xfrm>
          <a:prstGeom prst="rect">
            <a:avLst/>
          </a:prstGeom>
          <a:noFill/>
          <a:ln w="0">
            <a:noFill/>
          </a:ln>
        </p:spPr>
        <p:txBody>
          <a:bodyPr lIns="91440" rIns="91440" tIns="45720" bIns="45720" anchor="ctr">
            <a:normAutofit/>
          </a:bodyPr>
          <a:p>
            <a:pPr indent="0" defTabSz="914400">
              <a:lnSpc>
                <a:spcPct val="90000"/>
              </a:lnSpc>
              <a:buNone/>
            </a:pPr>
            <a:r>
              <a:rPr b="1" lang="en-GB" sz="2800" spc="-1" strike="noStrike">
                <a:solidFill>
                  <a:srgbClr val="0070c0"/>
                </a:solidFill>
                <a:latin typeface="Calibri Light"/>
              </a:rPr>
              <a:t>The Pensions Struggle</a:t>
            </a:r>
            <a:endParaRPr b="0" lang="en-US" sz="2800" spc="-1" strike="noStrike">
              <a:solidFill>
                <a:schemeClr val="dk1"/>
              </a:solidFill>
              <a:latin typeface="Calibri"/>
            </a:endParaRPr>
          </a:p>
        </p:txBody>
      </p:sp>
      <p:pic>
        <p:nvPicPr>
          <p:cNvPr id="116" name="Content Placeholder 4" descr=""/>
          <p:cNvPicPr/>
          <p:nvPr/>
        </p:nvPicPr>
        <p:blipFill>
          <a:blip r:embed="rId1"/>
          <a:stretch/>
        </p:blipFill>
        <p:spPr>
          <a:xfrm>
            <a:off x="628560" y="1170360"/>
            <a:ext cx="7866000" cy="5322240"/>
          </a:xfrm>
          <a:prstGeom prst="rect">
            <a:avLst/>
          </a:prstGeom>
          <a:ln w="0">
            <a:noFill/>
          </a:ln>
        </p:spPr>
      </p:pic>
      <p:sp>
        <p:nvSpPr>
          <p:cNvPr id="117" name="TextBox 2"/>
          <p:cNvSpPr/>
          <p:nvPr/>
        </p:nvSpPr>
        <p:spPr>
          <a:xfrm>
            <a:off x="653400" y="6488640"/>
            <a:ext cx="4001760" cy="2725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GB" sz="1200" spc="-1" strike="noStrike">
                <a:solidFill>
                  <a:schemeClr val="dk1"/>
                </a:solidFill>
                <a:latin typeface="Calibri"/>
              </a:rPr>
              <a:t>Source: The Economist article, “The Pensions Struggle” (2018)</a:t>
            </a:r>
            <a:endParaRPr b="0" lang="en-US" sz="1200" spc="-1" strike="noStrike">
              <a:solidFill>
                <a:srgbClr val="000000"/>
              </a:solidFill>
              <a:latin typeface="Arial"/>
            </a:endParaRPr>
          </a:p>
        </p:txBody>
      </p:sp>
      <p:sp>
        <p:nvSpPr>
          <p:cNvPr id="118" name=""/>
          <p:cNvSpPr txBox="1"/>
          <p:nvPr/>
        </p:nvSpPr>
        <p:spPr>
          <a:xfrm>
            <a:off x="7544160" y="6521400"/>
            <a:ext cx="1600200" cy="346320"/>
          </a:xfrm>
          <a:prstGeom prst="rect">
            <a:avLst/>
          </a:prstGeom>
          <a:noFill/>
          <a:ln w="0">
            <a:noFill/>
          </a:ln>
        </p:spPr>
        <p:txBody>
          <a:bodyPr lIns="90000" rIns="90000" tIns="45000" bIns="45000" anchor="t">
            <a:noAutofit/>
          </a:bodyPr>
          <a:p>
            <a:pPr algn="r"/>
            <a:fld id="{FD950108-1E26-45B5-A5D2-99B11D63B9D9}" type="slidenum">
              <a:rPr b="0" lang="en-US" sz="1800" spc="-1" strike="noStrike">
                <a:solidFill>
                  <a:srgbClr val="000000"/>
                </a:solidFill>
                <a:latin typeface="Arial"/>
              </a:rPr>
              <a:t>14</a:t>
            </a:fld>
            <a:r>
              <a:rPr b="0" lang="en-US" sz="1800" spc="-1" strike="noStrike">
                <a:solidFill>
                  <a:srgbClr val="000000"/>
                </a:solidFill>
                <a:latin typeface="Arial"/>
              </a:rPr>
              <a:t> / </a:t>
            </a:r>
            <a:fld id="{0B0F9612-5928-419A-A4D1-06285D46ECE6}"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1" lang="en-GB" sz="1800" spc="-1" strike="noStrike">
                <a:solidFill>
                  <a:srgbClr val="0070c0"/>
                </a:solidFill>
                <a:latin typeface="Arial-BoldMT"/>
              </a:rPr>
              <a:t>Current normal retirement age by gender</a:t>
            </a:r>
            <a:endParaRPr b="0" lang="en-US" sz="1800" spc="-1" strike="noStrike">
              <a:solidFill>
                <a:schemeClr val="dk1"/>
              </a:solidFill>
              <a:latin typeface="Calibri"/>
            </a:endParaRPr>
          </a:p>
        </p:txBody>
      </p:sp>
      <p:pic>
        <p:nvPicPr>
          <p:cNvPr id="120" name="Content Placeholder 4" descr="A picture containing chart&#10;&#10;Description automatically generated"/>
          <p:cNvPicPr/>
          <p:nvPr/>
        </p:nvPicPr>
        <p:blipFill>
          <a:blip r:embed="rId1"/>
          <a:stretch/>
        </p:blipFill>
        <p:spPr>
          <a:xfrm>
            <a:off x="166320" y="1219320"/>
            <a:ext cx="8894160" cy="4724280"/>
          </a:xfrm>
          <a:prstGeom prst="rect">
            <a:avLst/>
          </a:prstGeom>
          <a:ln w="0">
            <a:noFill/>
          </a:ln>
        </p:spPr>
      </p:pic>
      <p:sp>
        <p:nvSpPr>
          <p:cNvPr id="121" name="TextBox 5"/>
          <p:cNvSpPr/>
          <p:nvPr/>
        </p:nvSpPr>
        <p:spPr>
          <a:xfrm>
            <a:off x="725040" y="6415200"/>
            <a:ext cx="416160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GB" sz="1800" spc="-1" strike="noStrike">
                <a:solidFill>
                  <a:schemeClr val="dk1"/>
                </a:solidFill>
                <a:latin typeface="Calibri"/>
              </a:rPr>
              <a:t>Source: OECD Pension Report 2020</a:t>
            </a:r>
            <a:endParaRPr b="0" lang="en-US" sz="1800" spc="-1" strike="noStrike">
              <a:solidFill>
                <a:srgbClr val="000000"/>
              </a:solidFill>
              <a:latin typeface="Arial"/>
            </a:endParaRPr>
          </a:p>
        </p:txBody>
      </p:sp>
      <p:sp>
        <p:nvSpPr>
          <p:cNvPr id="122" name=""/>
          <p:cNvSpPr txBox="1"/>
          <p:nvPr/>
        </p:nvSpPr>
        <p:spPr>
          <a:xfrm>
            <a:off x="7544160" y="6521400"/>
            <a:ext cx="1600200" cy="346320"/>
          </a:xfrm>
          <a:prstGeom prst="rect">
            <a:avLst/>
          </a:prstGeom>
          <a:noFill/>
          <a:ln w="0">
            <a:noFill/>
          </a:ln>
        </p:spPr>
        <p:txBody>
          <a:bodyPr lIns="90000" rIns="90000" tIns="45000" bIns="45000" anchor="t">
            <a:noAutofit/>
          </a:bodyPr>
          <a:p>
            <a:pPr algn="r"/>
            <a:fld id="{BB6BBF54-10BB-4E4F-B54E-962CFE124025}" type="slidenum">
              <a:rPr b="0" lang="en-US" sz="1800" spc="-1" strike="noStrike">
                <a:solidFill>
                  <a:srgbClr val="000000"/>
                </a:solidFill>
                <a:latin typeface="Arial"/>
              </a:rPr>
              <a:t>14</a:t>
            </a:fld>
            <a:r>
              <a:rPr b="0" lang="en-US" sz="1800" spc="-1" strike="noStrike">
                <a:solidFill>
                  <a:srgbClr val="000000"/>
                </a:solidFill>
                <a:latin typeface="Arial"/>
              </a:rPr>
              <a:t> / </a:t>
            </a:r>
            <a:fld id="{42D5B1BC-EB8B-44D4-9131-64DD49CA319F}"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aphicFrame>
        <p:nvGraphicFramePr>
          <p:cNvPr id="123" name="Chart 3"/>
          <p:cNvGraphicFramePr/>
          <p:nvPr/>
        </p:nvGraphicFramePr>
        <p:xfrm>
          <a:off x="482760" y="329040"/>
          <a:ext cx="8478000" cy="6168960"/>
        </p:xfrm>
        <a:graphic>
          <a:graphicData uri="http://schemas.openxmlformats.org/drawingml/2006/chart">
            <c:chart xmlns:c="http://schemas.openxmlformats.org/drawingml/2006/chart" xmlns:r="http://schemas.openxmlformats.org/officeDocument/2006/relationships" r:id="rId1"/>
          </a:graphicData>
        </a:graphic>
      </p:graphicFrame>
      <p:sp>
        <p:nvSpPr>
          <p:cNvPr id="124" name=""/>
          <p:cNvSpPr txBox="1"/>
          <p:nvPr/>
        </p:nvSpPr>
        <p:spPr>
          <a:xfrm>
            <a:off x="7544160" y="6521400"/>
            <a:ext cx="1600200" cy="346320"/>
          </a:xfrm>
          <a:prstGeom prst="rect">
            <a:avLst/>
          </a:prstGeom>
          <a:noFill/>
          <a:ln w="0">
            <a:noFill/>
          </a:ln>
        </p:spPr>
        <p:txBody>
          <a:bodyPr lIns="90000" rIns="90000" tIns="45000" bIns="45000" anchor="t">
            <a:noAutofit/>
          </a:bodyPr>
          <a:p>
            <a:pPr algn="r"/>
            <a:fld id="{62648F1D-FFEB-41BB-B537-6B8A79FA7B29}" type="slidenum">
              <a:rPr b="0" lang="en-US" sz="1800" spc="-1" strike="noStrike">
                <a:solidFill>
                  <a:srgbClr val="000000"/>
                </a:solidFill>
                <a:latin typeface="Arial"/>
              </a:rPr>
              <a:t>14</a:t>
            </a:fld>
            <a:r>
              <a:rPr b="0" lang="en-US" sz="1800" spc="-1" strike="noStrike">
                <a:solidFill>
                  <a:srgbClr val="000000"/>
                </a:solidFill>
                <a:latin typeface="Arial"/>
              </a:rPr>
              <a:t> / </a:t>
            </a:r>
            <a:fld id="{AD7E7224-417A-40EC-BE0C-A70106CD3577}"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rmAutofit/>
          </a:bodyPr>
          <a:p>
            <a:pPr indent="0" defTabSz="914400">
              <a:lnSpc>
                <a:spcPct val="90000"/>
              </a:lnSpc>
              <a:buNone/>
            </a:pPr>
            <a:r>
              <a:rPr b="1" lang="en-US" sz="2400" spc="-1" strike="noStrike">
                <a:solidFill>
                  <a:srgbClr val="0070c0"/>
                </a:solidFill>
                <a:latin typeface="Calibri"/>
              </a:rPr>
              <a:t>Solvency of DB Pension Funds</a:t>
            </a:r>
            <a:endParaRPr b="0" lang="en-US" sz="2400" spc="-1" strike="noStrike">
              <a:solidFill>
                <a:schemeClr val="dk1"/>
              </a:solidFill>
              <a:latin typeface="Calibri"/>
            </a:endParaRPr>
          </a:p>
        </p:txBody>
      </p:sp>
      <p:sp>
        <p:nvSpPr>
          <p:cNvPr id="126" name="PlaceHolder 2"/>
          <p:cNvSpPr>
            <a:spLocks noGrp="1"/>
          </p:cNvSpPr>
          <p:nvPr>
            <p:ph/>
          </p:nvPr>
        </p:nvSpPr>
        <p:spPr>
          <a:xfrm>
            <a:off x="163080" y="1600200"/>
            <a:ext cx="8719200" cy="4800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For a DB pension fund to be solvent, there must be enough money available to pay all the pensions to which members are entitled.</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DB funds are subject to periodic actuarial valuations to determine their solvency. This means that they are checked up on.</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Recently, many UK and US DB funds have been found to be insolvent.</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Calibri"/>
              </a:rPr>
              <a:t>Carillion's 2018 collapse left 27,000 members of its 13 UK defined benefit pension schemes with a £2.6 billion deficit, covered by the Pension Protection Fund.</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Calibri"/>
              </a:rPr>
              <a:t>McClatchy Co., the second-largest newspaper publisher in the U.S., faced a liquidity crisis in late 2019 and was unable to make a required $124 million payment to its pension fund due in 2020.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Increases in life expectancy and lower interest rates left these schemes with significant financial deficits.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It is the responsibility of employers to make good any deficits in their DB funds.</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900" spc="-1" strike="noStrike">
              <a:solidFill>
                <a:schemeClr val="dk1"/>
              </a:solidFill>
              <a:latin typeface="Calibri"/>
            </a:endParaRPr>
          </a:p>
        </p:txBody>
      </p:sp>
      <p:sp>
        <p:nvSpPr>
          <p:cNvPr id="127" name=""/>
          <p:cNvSpPr txBox="1"/>
          <p:nvPr/>
        </p:nvSpPr>
        <p:spPr>
          <a:xfrm>
            <a:off x="7544160" y="6521400"/>
            <a:ext cx="1600200" cy="346320"/>
          </a:xfrm>
          <a:prstGeom prst="rect">
            <a:avLst/>
          </a:prstGeom>
          <a:noFill/>
          <a:ln w="0">
            <a:noFill/>
          </a:ln>
        </p:spPr>
        <p:txBody>
          <a:bodyPr lIns="90000" rIns="90000" tIns="45000" bIns="45000" anchor="t">
            <a:noAutofit/>
          </a:bodyPr>
          <a:p>
            <a:pPr algn="r"/>
            <a:fld id="{A177C191-B599-401A-8E0C-41CB0A01A3D8}" type="slidenum">
              <a:rPr b="0" lang="en-US" sz="1800" spc="-1" strike="noStrike">
                <a:solidFill>
                  <a:srgbClr val="000000"/>
                </a:solidFill>
                <a:latin typeface="Arial"/>
              </a:rPr>
              <a:t>17</a:t>
            </a:fld>
            <a:r>
              <a:rPr b="0" lang="en-US" sz="1800" spc="-1" strike="noStrike">
                <a:solidFill>
                  <a:srgbClr val="000000"/>
                </a:solidFill>
                <a:latin typeface="Arial"/>
              </a:rPr>
              <a:t> / </a:t>
            </a:r>
            <a:fld id="{0F5F704B-C199-4858-B84F-395DEE0EA20B}"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628560" y="365040"/>
            <a:ext cx="7886520" cy="312120"/>
          </a:xfrm>
          <a:prstGeom prst="rect">
            <a:avLst/>
          </a:prstGeom>
          <a:noFill/>
          <a:ln w="0">
            <a:noFill/>
          </a:ln>
        </p:spPr>
        <p:txBody>
          <a:bodyPr lIns="91440" rIns="91440" tIns="45720" bIns="45720" anchor="ctr">
            <a:noAutofit/>
          </a:bodyPr>
          <a:p>
            <a:pPr indent="0" algn="ctr" defTabSz="914400">
              <a:lnSpc>
                <a:spcPct val="90000"/>
              </a:lnSpc>
              <a:buNone/>
            </a:pPr>
            <a:r>
              <a:rPr b="0" lang="en-GB" sz="2000" spc="-1" strike="noStrike">
                <a:solidFill>
                  <a:srgbClr val="0070c0"/>
                </a:solidFill>
                <a:latin typeface="Calibri Light"/>
              </a:rPr>
              <a:t>Transition of the UK pensions from Defined Benefit (DB) to Defined Contribution (DC)</a:t>
            </a:r>
            <a:endParaRPr b="0" lang="en-US" sz="2000" spc="-1" strike="noStrike">
              <a:solidFill>
                <a:schemeClr val="dk1"/>
              </a:solidFill>
              <a:latin typeface="Calibri"/>
            </a:endParaRPr>
          </a:p>
        </p:txBody>
      </p:sp>
      <p:sp>
        <p:nvSpPr>
          <p:cNvPr id="129" name="PlaceHolder 2"/>
          <p:cNvSpPr>
            <a:spLocks noGrp="1"/>
          </p:cNvSpPr>
          <p:nvPr>
            <p:ph/>
          </p:nvPr>
        </p:nvSpPr>
        <p:spPr>
          <a:xfrm>
            <a:off x="0" y="6180120"/>
            <a:ext cx="7886520" cy="312120"/>
          </a:xfrm>
          <a:prstGeom prst="rect">
            <a:avLst/>
          </a:prstGeom>
          <a:noFill/>
          <a:ln w="0">
            <a:noFill/>
          </a:ln>
        </p:spPr>
        <p:txBody>
          <a:bodyPr lIns="91440" rIns="91440" tIns="45720" bIns="45720" anchor="t">
            <a:normAutofit fontScale="49988"/>
          </a:bodyPr>
          <a:p>
            <a:pPr indent="0" defTabSz="914400">
              <a:lnSpc>
                <a:spcPct val="90000"/>
              </a:lnSpc>
              <a:spcBef>
                <a:spcPts val="1001"/>
              </a:spcBef>
              <a:buNone/>
              <a:tabLst>
                <a:tab algn="l" pos="0"/>
              </a:tabLst>
            </a:pPr>
            <a:r>
              <a:rPr b="0" lang="en-GB" sz="2800" spc="-1" strike="noStrike">
                <a:solidFill>
                  <a:schemeClr val="dk1"/>
                </a:solidFill>
                <a:latin typeface="Calibri"/>
              </a:rPr>
              <a:t>Source: Martin Wolf in Financial Times (2021), “</a:t>
            </a:r>
            <a:r>
              <a:rPr b="1" lang="en-GB" sz="2800" spc="-1" strike="noStrike">
                <a:solidFill>
                  <a:schemeClr val="dk1"/>
                </a:solidFill>
                <a:latin typeface="Calibri"/>
              </a:rPr>
              <a:t>Radical reform of British pension provision is urgent</a:t>
            </a:r>
            <a:endParaRPr b="0" lang="en-US" sz="2800" spc="-1" strike="noStrike">
              <a:solidFill>
                <a:schemeClr val="dk1"/>
              </a:solidFill>
              <a:latin typeface="Calibri"/>
            </a:endParaRPr>
          </a:p>
        </p:txBody>
      </p:sp>
      <p:pic>
        <p:nvPicPr>
          <p:cNvPr id="130" name="Picture 4" descr=""/>
          <p:cNvPicPr/>
          <p:nvPr/>
        </p:nvPicPr>
        <p:blipFill>
          <a:blip r:embed="rId1"/>
          <a:srcRect l="0" t="0" r="16050" b="0"/>
          <a:stretch/>
        </p:blipFill>
        <p:spPr>
          <a:xfrm>
            <a:off x="0" y="1414800"/>
            <a:ext cx="4881600" cy="4028040"/>
          </a:xfrm>
          <a:prstGeom prst="rect">
            <a:avLst/>
          </a:prstGeom>
          <a:ln w="0">
            <a:noFill/>
          </a:ln>
        </p:spPr>
      </p:pic>
      <p:sp>
        <p:nvSpPr>
          <p:cNvPr id="131" name="Content Placeholder 2"/>
          <p:cNvSpPr/>
          <p:nvPr/>
        </p:nvSpPr>
        <p:spPr>
          <a:xfrm>
            <a:off x="5717880" y="1172880"/>
            <a:ext cx="2960280" cy="4771440"/>
          </a:xfrm>
          <a:prstGeom prst="rect">
            <a:avLst/>
          </a:prstGeom>
          <a:noFill/>
          <a:ln w="0">
            <a:noFill/>
          </a:ln>
        </p:spPr>
        <p:style>
          <a:lnRef idx="0"/>
          <a:fillRef idx="0"/>
          <a:effectRef idx="0"/>
          <a:fontRef idx="minor"/>
        </p:style>
        <p:txBody>
          <a:bodyPr anchor="t">
            <a:noAutofit/>
          </a:bodyPr>
          <a:p>
            <a:pPr marL="228600" indent="-228600" defTabSz="914400">
              <a:lnSpc>
                <a:spcPct val="90000"/>
              </a:lnSpc>
              <a:spcBef>
                <a:spcPts val="1001"/>
              </a:spcBef>
              <a:buClr>
                <a:srgbClr val="000000"/>
              </a:buClr>
              <a:buFont typeface="Arial"/>
              <a:buChar char="•"/>
            </a:pPr>
            <a:r>
              <a:rPr b="0" lang="en-US" sz="1600" spc="-1" strike="noStrike">
                <a:solidFill>
                  <a:schemeClr val="dk1"/>
                </a:solidFill>
                <a:latin typeface="Calibri"/>
              </a:rPr>
              <a:t>For this reason, many employers are closing their DB funds and offering DC pensions instead. </a:t>
            </a:r>
            <a:endParaRPr b="0" lang="en-US" sz="1600" spc="-1" strike="noStrike">
              <a:solidFill>
                <a:srgbClr val="000000"/>
              </a:solidFill>
              <a:latin typeface="Arial"/>
            </a:endParaRPr>
          </a:p>
          <a:p>
            <a:pPr defTabSz="914400">
              <a:lnSpc>
                <a:spcPct val="90000"/>
              </a:lnSpc>
              <a:spcBef>
                <a:spcPts val="1001"/>
              </a:spcBef>
              <a:tabLst>
                <a:tab algn="l" pos="0"/>
              </a:tabLst>
            </a:pPr>
            <a:endParaRPr b="0" lang="en-US" sz="16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1600" spc="-1" strike="noStrike">
                <a:solidFill>
                  <a:schemeClr val="dk1"/>
                </a:solidFill>
                <a:latin typeface="Calibri"/>
              </a:rPr>
              <a:t>Because DC pensions do not promise a fixed amount of retirement income, DC funds cannot fall into financial deficit.</a:t>
            </a:r>
            <a:endParaRPr b="0" lang="en-US" sz="1600" spc="-1" strike="noStrike">
              <a:solidFill>
                <a:srgbClr val="000000"/>
              </a:solidFill>
              <a:latin typeface="Arial"/>
            </a:endParaRPr>
          </a:p>
          <a:p>
            <a:pPr defTabSz="914400">
              <a:lnSpc>
                <a:spcPct val="90000"/>
              </a:lnSpc>
              <a:spcBef>
                <a:spcPts val="1001"/>
              </a:spcBef>
              <a:tabLst>
                <a:tab algn="l" pos="0"/>
              </a:tabLst>
            </a:pPr>
            <a:endParaRPr b="0" lang="en-US" sz="16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1600" spc="-1" strike="noStrike">
                <a:solidFill>
                  <a:schemeClr val="dk1"/>
                </a:solidFill>
                <a:latin typeface="Calibri"/>
              </a:rPr>
              <a:t>Thus, moving employees to DC plans has an obvious benefit for employers.</a:t>
            </a:r>
            <a:endParaRPr b="0" lang="en-US" sz="1600" spc="-1" strike="noStrike">
              <a:solidFill>
                <a:srgbClr val="000000"/>
              </a:solidFill>
              <a:latin typeface="Arial"/>
            </a:endParaRPr>
          </a:p>
          <a:p>
            <a:pPr defTabSz="914400">
              <a:lnSpc>
                <a:spcPct val="90000"/>
              </a:lnSpc>
              <a:spcBef>
                <a:spcPts val="1001"/>
              </a:spcBef>
              <a:tabLst>
                <a:tab algn="l" pos="0"/>
              </a:tabLst>
            </a:pPr>
            <a:endParaRPr b="0" lang="en-US" sz="16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1600" spc="-1" strike="noStrike">
                <a:solidFill>
                  <a:schemeClr val="dk1"/>
                </a:solidFill>
                <a:latin typeface="Calibri"/>
              </a:rPr>
              <a:t>However, DC pensions are potentially problematic for employees.</a:t>
            </a:r>
            <a:endParaRPr b="0" lang="en-US" sz="1600" spc="-1" strike="noStrike">
              <a:solidFill>
                <a:srgbClr val="000000"/>
              </a:solidFill>
              <a:latin typeface="Arial"/>
            </a:endParaRPr>
          </a:p>
          <a:p>
            <a:pPr defTabSz="914400">
              <a:lnSpc>
                <a:spcPct val="90000"/>
              </a:lnSpc>
              <a:spcBef>
                <a:spcPts val="1001"/>
              </a:spcBef>
              <a:tabLst>
                <a:tab algn="l" pos="0"/>
              </a:tabLst>
            </a:pPr>
            <a:r>
              <a:rPr b="0" lang="en-US" sz="1600" spc="-1" strike="noStrike">
                <a:solidFill>
                  <a:schemeClr val="dk1"/>
                </a:solidFill>
                <a:latin typeface="Calibri"/>
              </a:rPr>
              <a:t> </a:t>
            </a:r>
            <a:endParaRPr b="0" lang="en-US" sz="1600" spc="-1" strike="noStrike">
              <a:solidFill>
                <a:srgbClr val="000000"/>
              </a:solidFill>
              <a:latin typeface="Arial"/>
            </a:endParaRPr>
          </a:p>
          <a:p>
            <a:pPr defTabSz="914400">
              <a:lnSpc>
                <a:spcPct val="90000"/>
              </a:lnSpc>
              <a:spcBef>
                <a:spcPts val="1001"/>
              </a:spcBef>
              <a:tabLst>
                <a:tab algn="l" pos="0"/>
              </a:tabLst>
            </a:pPr>
            <a:endParaRPr b="0" lang="en-US" sz="1600" spc="-1" strike="noStrike">
              <a:solidFill>
                <a:srgbClr val="000000"/>
              </a:solidFill>
              <a:latin typeface="Arial"/>
            </a:endParaRPr>
          </a:p>
        </p:txBody>
      </p:sp>
      <p:sp>
        <p:nvSpPr>
          <p:cNvPr id="132" name=""/>
          <p:cNvSpPr txBox="1"/>
          <p:nvPr/>
        </p:nvSpPr>
        <p:spPr>
          <a:xfrm>
            <a:off x="7544160" y="6521400"/>
            <a:ext cx="1600200" cy="346320"/>
          </a:xfrm>
          <a:prstGeom prst="rect">
            <a:avLst/>
          </a:prstGeom>
          <a:noFill/>
          <a:ln w="0">
            <a:noFill/>
          </a:ln>
        </p:spPr>
        <p:txBody>
          <a:bodyPr lIns="90000" rIns="90000" tIns="45000" bIns="45000" anchor="t">
            <a:noAutofit/>
          </a:bodyPr>
          <a:p>
            <a:pPr algn="r"/>
            <a:fld id="{20F872C8-5A83-41C3-AC18-AC8BC0E4DF0A}" type="slidenum">
              <a:rPr b="0" lang="en-US" sz="1800" spc="-1" strike="noStrike">
                <a:solidFill>
                  <a:srgbClr val="000000"/>
                </a:solidFill>
                <a:latin typeface="Arial"/>
              </a:rPr>
              <a:t>18</a:t>
            </a:fld>
            <a:r>
              <a:rPr b="0" lang="en-US" sz="1800" spc="-1" strike="noStrike">
                <a:solidFill>
                  <a:srgbClr val="000000"/>
                </a:solidFill>
                <a:latin typeface="Arial"/>
              </a:rPr>
              <a:t> / </a:t>
            </a:r>
            <a:fld id="{E7910E42-D2D6-4ED3-B0DF-D83EF4DA731E}"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33" name="Rectangle 14">
            <a:extLst>
              <a:ext uri="{C183D7F6-B498-43B3-948B-1728B52AA6E4}">
                <adec:decorative xmlns:adec="http://schemas.microsoft.com/office/drawing/2017/decorative" val="1"/>
              </a:ext>
            </a:extLst>
          </p:cNvPr>
          <p:cNvSpPr/>
          <p:nvPr/>
        </p:nvSpPr>
        <p:spPr>
          <a:xfrm>
            <a:off x="0" y="0"/>
            <a:ext cx="9143640" cy="685692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grpSp>
        <p:nvGrpSpPr>
          <p:cNvPr id="134" name="Group 16">
            <a:extLst>
              <a:ext uri="{C183D7F6-B498-43B3-948B-1728B52AA6E4}">
                <adec:decorative xmlns:adec="http://schemas.microsoft.com/office/drawing/2017/decorative" val="1"/>
              </a:ext>
            </a:extLst>
          </p:cNvPr>
          <p:cNvGrpSpPr/>
          <p:nvPr/>
        </p:nvGrpSpPr>
        <p:grpSpPr>
          <a:xfrm>
            <a:off x="0" y="1062720"/>
            <a:ext cx="548280" cy="673200"/>
            <a:chOff x="0" y="1062720"/>
            <a:chExt cx="548280" cy="673200"/>
          </a:xfrm>
        </p:grpSpPr>
        <p:sp>
          <p:nvSpPr>
            <p:cNvPr id="135" name="Rectangle 17">
              <a:extLst>
                <a:ext uri="{C183D7F6-B498-43B3-948B-1728B52AA6E4}">
                  <adec:decorative xmlns:adec="http://schemas.microsoft.com/office/drawing/2017/decorative" val="1"/>
                </a:ext>
              </a:extLst>
            </p:cNvPr>
            <p:cNvSpPr/>
            <p:nvPr/>
          </p:nvSpPr>
          <p:spPr>
            <a:xfrm>
              <a:off x="0" y="1062720"/>
              <a:ext cx="146520" cy="67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6" name="Rectangle 18">
              <a:extLst>
                <a:ext uri="{C183D7F6-B498-43B3-948B-1728B52AA6E4}">
                  <adec:decorative xmlns:adec="http://schemas.microsoft.com/office/drawing/2017/decorative" val="1"/>
                </a:ext>
              </a:extLst>
            </p:cNvPr>
            <p:cNvSpPr/>
            <p:nvPr/>
          </p:nvSpPr>
          <p:spPr>
            <a:xfrm>
              <a:off x="200880" y="1062720"/>
              <a:ext cx="146520" cy="67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7" name="Rectangle 19">
              <a:extLst>
                <a:ext uri="{C183D7F6-B498-43B3-948B-1728B52AA6E4}">
                  <adec:decorative xmlns:adec="http://schemas.microsoft.com/office/drawing/2017/decorative" val="1"/>
                </a:ext>
              </a:extLst>
            </p:cNvPr>
            <p:cNvSpPr/>
            <p:nvPr/>
          </p:nvSpPr>
          <p:spPr>
            <a:xfrm>
              <a:off x="401760" y="1062720"/>
              <a:ext cx="146520" cy="67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grpSp>
      <p:sp>
        <p:nvSpPr>
          <p:cNvPr id="138" name="TextBox 5"/>
          <p:cNvSpPr/>
          <p:nvPr/>
        </p:nvSpPr>
        <p:spPr>
          <a:xfrm>
            <a:off x="783720" y="6231600"/>
            <a:ext cx="3743280" cy="257760"/>
          </a:xfrm>
          <a:prstGeom prst="rect">
            <a:avLst/>
          </a:prstGeom>
          <a:noFill/>
          <a:ln w="0">
            <a:noFill/>
          </a:ln>
        </p:spPr>
        <p:style>
          <a:lnRef idx="0"/>
          <a:fillRef idx="0"/>
          <a:effectRef idx="0"/>
          <a:fontRef idx="minor"/>
        </p:style>
        <p:txBody>
          <a:bodyPr anchor="ctr">
            <a:normAutofit fontScale="81111"/>
          </a:bodyPr>
          <a:p>
            <a:pPr indent="-228600" defTabSz="914400">
              <a:lnSpc>
                <a:spcPct val="90000"/>
              </a:lnSpc>
              <a:spcAft>
                <a:spcPts val="601"/>
              </a:spcAft>
              <a:buClr>
                <a:srgbClr val="000000"/>
              </a:buClr>
              <a:buFont typeface="Arial"/>
              <a:buChar char="•"/>
            </a:pPr>
            <a:r>
              <a:rPr b="0" lang="en-US" sz="1600" spc="-1" strike="noStrike">
                <a:solidFill>
                  <a:schemeClr val="dk1"/>
                </a:solidFill>
                <a:latin typeface="Calibri"/>
              </a:rPr>
              <a:t>Data source: Office for National Statistics</a:t>
            </a:r>
            <a:endParaRPr b="0" lang="en-US" sz="1600" spc="-1" strike="noStrike">
              <a:solidFill>
                <a:srgbClr val="000000"/>
              </a:solidFill>
              <a:latin typeface="Arial"/>
            </a:endParaRPr>
          </a:p>
        </p:txBody>
      </p:sp>
      <p:sp>
        <p:nvSpPr>
          <p:cNvPr id="139" name="Rectangle 23">
            <a:extLst>
              <a:ext uri="{C183D7F6-B498-43B3-948B-1728B52AA6E4}">
                <adec:decorative xmlns:adec="http://schemas.microsoft.com/office/drawing/2017/decorative" val="1"/>
              </a:ext>
            </a:extLst>
          </p:cNvPr>
          <p:cNvSpPr/>
          <p:nvPr/>
        </p:nvSpPr>
        <p:spPr>
          <a:xfrm>
            <a:off x="2409120" y="284400"/>
            <a:ext cx="4220280" cy="5887800"/>
          </a:xfrm>
          <a:prstGeom prst="rect">
            <a:avLst/>
          </a:prstGeom>
          <a:solidFill>
            <a:schemeClr val="bg1"/>
          </a:solidFill>
          <a:ln>
            <a:noFill/>
          </a:ln>
          <a:effectLst>
            <a:outerShdw algn="t" blurRad="139680" dir="5400000" dist="127080" rotWithShape="0">
              <a:srgbClr val="000000">
                <a:alpha val="15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cxnSp>
        <p:nvCxnSpPr>
          <p:cNvPr id="140" name="Straight Connector 25">
            <a:extLst>
              <a:ext uri="{C183D7F6-B498-43B3-948B-1728B52AA6E4}">
                <adec:decorative xmlns:adec="http://schemas.microsoft.com/office/drawing/2017/decorative" val="1"/>
              </a:ext>
            </a:extLst>
          </p:cNvPr>
          <p:cNvCxnSpPr/>
          <p:nvPr/>
        </p:nvCxnSpPr>
        <p:spPr>
          <a:xfrm flipH="1">
            <a:off x="628560" y="6492240"/>
            <a:ext cx="7886880" cy="360"/>
          </a:xfrm>
          <a:prstGeom prst="straightConnector1">
            <a:avLst/>
          </a:prstGeom>
          <a:ln w="57150">
            <a:solidFill>
              <a:srgbClr val="ffc000"/>
            </a:solidFill>
          </a:ln>
        </p:spPr>
      </p:cxnSp>
      <p:graphicFrame>
        <p:nvGraphicFramePr>
          <p:cNvPr id="141" name="Content Placeholder 9"/>
          <p:cNvGraphicFramePr/>
          <p:nvPr/>
        </p:nvGraphicFramePr>
        <p:xfrm>
          <a:off x="2570040" y="97200"/>
          <a:ext cx="3760560" cy="6075000"/>
        </p:xfrm>
        <a:graphic>
          <a:graphicData uri="http://schemas.openxmlformats.org/drawingml/2006/chart">
            <c:chart xmlns:c="http://schemas.openxmlformats.org/drawingml/2006/chart" xmlns:r="http://schemas.openxmlformats.org/officeDocument/2006/relationships" r:id="rId1"/>
          </a:graphicData>
        </a:graphic>
      </p:graphicFrame>
      <p:sp>
        <p:nvSpPr>
          <p:cNvPr id="142" name=""/>
          <p:cNvSpPr txBox="1"/>
          <p:nvPr/>
        </p:nvSpPr>
        <p:spPr>
          <a:xfrm>
            <a:off x="7544160" y="6521400"/>
            <a:ext cx="1600200" cy="346320"/>
          </a:xfrm>
          <a:prstGeom prst="rect">
            <a:avLst/>
          </a:prstGeom>
          <a:noFill/>
          <a:ln w="0">
            <a:noFill/>
          </a:ln>
        </p:spPr>
        <p:txBody>
          <a:bodyPr lIns="90000" rIns="90000" tIns="45000" bIns="45000" anchor="t">
            <a:noAutofit/>
          </a:bodyPr>
          <a:p>
            <a:pPr algn="r"/>
            <a:fld id="{DED8BB5A-C9C4-42E4-9FC9-1517FC42C225}" type="slidenum">
              <a:rPr b="0" lang="en-US" sz="1800" spc="-1" strike="noStrike">
                <a:solidFill>
                  <a:srgbClr val="000000"/>
                </a:solidFill>
                <a:latin typeface="Arial"/>
              </a:rPr>
              <a:t>19</a:t>
            </a:fld>
            <a:r>
              <a:rPr b="0" lang="en-US" sz="1800" spc="-1" strike="noStrike">
                <a:solidFill>
                  <a:srgbClr val="000000"/>
                </a:solidFill>
                <a:latin typeface="Arial"/>
              </a:rPr>
              <a:t> / </a:t>
            </a:r>
            <a:fld id="{76A4CE3D-36E1-4B4C-B455-5B2F27A933D5}"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628560" y="365040"/>
            <a:ext cx="7886520" cy="1036440"/>
          </a:xfrm>
          <a:prstGeom prst="rect">
            <a:avLst/>
          </a:prstGeom>
          <a:noFill/>
          <a:ln w="0">
            <a:noFill/>
          </a:ln>
        </p:spPr>
        <p:txBody>
          <a:bodyPr lIns="91440" rIns="91440" tIns="45720" bIns="45720" anchor="ctr">
            <a:normAutofit/>
          </a:bodyPr>
          <a:p>
            <a:pPr indent="0" defTabSz="914400">
              <a:lnSpc>
                <a:spcPct val="90000"/>
              </a:lnSpc>
              <a:buNone/>
            </a:pPr>
            <a:r>
              <a:rPr b="1" lang="en-US" sz="2800" spc="-1" strike="noStrike">
                <a:solidFill>
                  <a:srgbClr val="0070c0"/>
                </a:solidFill>
                <a:latin typeface="Calibri"/>
              </a:rPr>
              <a:t>What determines pension income</a:t>
            </a:r>
            <a:endParaRPr b="0" lang="en-US" sz="2800" spc="-1" strike="noStrike">
              <a:solidFill>
                <a:schemeClr val="dk1"/>
              </a:solidFill>
              <a:latin typeface="Calibri"/>
            </a:endParaRPr>
          </a:p>
        </p:txBody>
      </p:sp>
      <p:sp>
        <p:nvSpPr>
          <p:cNvPr id="144" name="PlaceHolder 2"/>
          <p:cNvSpPr>
            <a:spLocks noGrp="1"/>
          </p:cNvSpPr>
          <p:nvPr>
            <p:ph/>
          </p:nvPr>
        </p:nvSpPr>
        <p:spPr>
          <a:xfrm>
            <a:off x="628560" y="1402200"/>
            <a:ext cx="7886520" cy="477468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2250" spc="-1" strike="noStrike">
                <a:solidFill>
                  <a:schemeClr val="dk1"/>
                </a:solidFill>
                <a:latin typeface="Calibri"/>
              </a:rPr>
              <a:t>The amount of pension income depends upon:</a:t>
            </a:r>
            <a:endParaRPr b="0" lang="en-US" sz="2250" spc="-1" strike="noStrike">
              <a:solidFill>
                <a:schemeClr val="dk1"/>
              </a:solidFill>
              <a:latin typeface="Calibri"/>
            </a:endParaRPr>
          </a:p>
          <a:p>
            <a:pPr marL="228600" indent="-228600" defTabSz="914400">
              <a:lnSpc>
                <a:spcPct val="90000"/>
              </a:lnSpc>
              <a:spcBef>
                <a:spcPts val="1001"/>
              </a:spcBef>
              <a:buNone/>
              <a:tabLst>
                <a:tab algn="l" pos="0"/>
              </a:tabLst>
            </a:pPr>
            <a:endParaRPr b="0" lang="en-US" sz="225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250" spc="-1" strike="noStrike">
                <a:solidFill>
                  <a:schemeClr val="dk1"/>
                </a:solidFill>
                <a:latin typeface="Calibri"/>
              </a:rPr>
              <a:t>how much is contributed</a:t>
            </a:r>
            <a:endParaRPr b="0" lang="en-US" sz="225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1850" spc="-1" strike="noStrike">
                <a:solidFill>
                  <a:schemeClr val="dk1"/>
                </a:solidFill>
                <a:latin typeface="Calibri"/>
              </a:rPr>
              <a:t>contributions to DC funds are typically lower than to DB funds</a:t>
            </a:r>
            <a:endParaRPr b="0" lang="en-US" sz="1850" spc="-1" strike="noStrike">
              <a:solidFill>
                <a:schemeClr val="dk1"/>
              </a:solidFill>
              <a:latin typeface="Calibri"/>
            </a:endParaRPr>
          </a:p>
          <a:p>
            <a:pPr marL="228600" indent="-228600" defTabSz="914400">
              <a:lnSpc>
                <a:spcPct val="90000"/>
              </a:lnSpc>
              <a:spcBef>
                <a:spcPts val="1001"/>
              </a:spcBef>
              <a:buNone/>
              <a:tabLst>
                <a:tab algn="l" pos="0"/>
              </a:tabLst>
            </a:pPr>
            <a:endParaRPr b="0" lang="en-US" sz="225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250" spc="-1" strike="noStrike">
                <a:solidFill>
                  <a:schemeClr val="dk1"/>
                </a:solidFill>
                <a:latin typeface="Calibri"/>
              </a:rPr>
              <a:t> </a:t>
            </a:r>
            <a:r>
              <a:rPr b="0" lang="en-US" sz="2250" spc="-1" strike="noStrike">
                <a:solidFill>
                  <a:schemeClr val="dk1"/>
                </a:solidFill>
                <a:latin typeface="Calibri"/>
              </a:rPr>
              <a:t>the investment income earned</a:t>
            </a:r>
            <a:endParaRPr b="0" lang="en-US" sz="225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tabLst>
                <a:tab algn="l" pos="0"/>
              </a:tabLst>
            </a:pPr>
            <a:r>
              <a:rPr b="0" lang="en-US" sz="1850" spc="-1" strike="noStrike">
                <a:solidFill>
                  <a:schemeClr val="dk1"/>
                </a:solidFill>
                <a:latin typeface="Calibri"/>
              </a:rPr>
              <a:t>Pensions funds tend to be invested in low-risk low-return assets.</a:t>
            </a:r>
            <a:endParaRPr b="0" lang="en-US" sz="1850" spc="-1" strike="noStrike">
              <a:solidFill>
                <a:schemeClr val="dk1"/>
              </a:solidFill>
              <a:latin typeface="Calibri"/>
            </a:endParaRPr>
          </a:p>
          <a:p>
            <a:pPr indent="0" defTabSz="914400">
              <a:lnSpc>
                <a:spcPct val="90000"/>
              </a:lnSpc>
              <a:spcBef>
                <a:spcPts val="499"/>
              </a:spcBef>
              <a:buNone/>
              <a:tabLst>
                <a:tab algn="l" pos="0"/>
              </a:tabLst>
            </a:pPr>
            <a:endParaRPr b="0" lang="en-US" sz="1850" spc="-1" strike="noStrike">
              <a:solidFill>
                <a:schemeClr val="dk1"/>
              </a:solidFill>
              <a:latin typeface="Calibri"/>
            </a:endParaRPr>
          </a:p>
        </p:txBody>
      </p:sp>
      <p:sp>
        <p:nvSpPr>
          <p:cNvPr id="145" name=""/>
          <p:cNvSpPr txBox="1"/>
          <p:nvPr/>
        </p:nvSpPr>
        <p:spPr>
          <a:xfrm>
            <a:off x="7544160" y="6521400"/>
            <a:ext cx="1600200" cy="346320"/>
          </a:xfrm>
          <a:prstGeom prst="rect">
            <a:avLst/>
          </a:prstGeom>
          <a:noFill/>
          <a:ln w="0">
            <a:noFill/>
          </a:ln>
        </p:spPr>
        <p:txBody>
          <a:bodyPr lIns="90000" rIns="90000" tIns="45000" bIns="45000" anchor="t">
            <a:noAutofit/>
          </a:bodyPr>
          <a:p>
            <a:pPr algn="r"/>
            <a:fld id="{9C6F139C-999A-4115-9C9C-94781325BF49}" type="slidenum">
              <a:rPr b="0" lang="en-US" sz="1800" spc="-1" strike="noStrike">
                <a:solidFill>
                  <a:srgbClr val="000000"/>
                </a:solidFill>
                <a:latin typeface="Arial"/>
              </a:rPr>
              <a:t>20</a:t>
            </a:fld>
            <a:r>
              <a:rPr b="0" lang="en-US" sz="1800" spc="-1" strike="noStrike">
                <a:solidFill>
                  <a:srgbClr val="000000"/>
                </a:solidFill>
                <a:latin typeface="Arial"/>
              </a:rPr>
              <a:t> / </a:t>
            </a:r>
            <a:fld id="{52159554-737C-40BF-BF75-2575369CCFF7}"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aphicFrame>
        <p:nvGraphicFramePr>
          <p:cNvPr id="146" name="Chart 3"/>
          <p:cNvGraphicFramePr/>
          <p:nvPr/>
        </p:nvGraphicFramePr>
        <p:xfrm>
          <a:off x="304920" y="268200"/>
          <a:ext cx="8356320" cy="6205320"/>
        </p:xfrm>
        <a:graphic>
          <a:graphicData uri="http://schemas.openxmlformats.org/drawingml/2006/chart">
            <c:chart xmlns:c="http://schemas.openxmlformats.org/drawingml/2006/chart" xmlns:r="http://schemas.openxmlformats.org/officeDocument/2006/relationships" r:id="rId1"/>
          </a:graphicData>
        </a:graphic>
      </p:graphicFrame>
      <p:sp>
        <p:nvSpPr>
          <p:cNvPr id="147" name=""/>
          <p:cNvSpPr txBox="1"/>
          <p:nvPr/>
        </p:nvSpPr>
        <p:spPr>
          <a:xfrm>
            <a:off x="7544160" y="6521400"/>
            <a:ext cx="1600200" cy="346320"/>
          </a:xfrm>
          <a:prstGeom prst="rect">
            <a:avLst/>
          </a:prstGeom>
          <a:noFill/>
          <a:ln w="0">
            <a:noFill/>
          </a:ln>
        </p:spPr>
        <p:txBody>
          <a:bodyPr lIns="90000" rIns="90000" tIns="45000" bIns="45000" anchor="t">
            <a:noAutofit/>
          </a:bodyPr>
          <a:p>
            <a:pPr algn="r"/>
            <a:fld id="{C0886557-ABAB-4F97-9D7C-EF0722CDE287}" type="slidenum">
              <a:rPr b="0" lang="en-US" sz="1800" spc="-1" strike="noStrike">
                <a:solidFill>
                  <a:srgbClr val="000000"/>
                </a:solidFill>
                <a:latin typeface="Arial"/>
              </a:rPr>
              <a:t>20</a:t>
            </a:fld>
            <a:r>
              <a:rPr b="0" lang="en-US" sz="1800" spc="-1" strike="noStrike">
                <a:solidFill>
                  <a:srgbClr val="000000"/>
                </a:solidFill>
                <a:latin typeface="Arial"/>
              </a:rPr>
              <a:t> / </a:t>
            </a:r>
            <a:fld id="{6C0387B2-CCC1-44B0-80AC-F63B781B5CB8}"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8" name="Picture 2" descr="Figure 1_ Private pension wealth has been increasing in real terms for the last three survey periods"/>
          <p:cNvPicPr/>
          <p:nvPr/>
        </p:nvPicPr>
        <p:blipFill>
          <a:blip r:embed="rId1"/>
          <a:stretch/>
        </p:blipFill>
        <p:spPr>
          <a:xfrm>
            <a:off x="228600" y="22320"/>
            <a:ext cx="8001000" cy="6275160"/>
          </a:xfrm>
          <a:prstGeom prst="rect">
            <a:avLst/>
          </a:prstGeom>
          <a:ln w="0">
            <a:noFill/>
          </a:ln>
        </p:spPr>
      </p:pic>
      <p:sp>
        <p:nvSpPr>
          <p:cNvPr id="149" name="TextBox 1"/>
          <p:cNvSpPr/>
          <p:nvPr/>
        </p:nvSpPr>
        <p:spPr>
          <a:xfrm>
            <a:off x="249480" y="6193080"/>
            <a:ext cx="798804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GB" sz="1800" spc="-1" strike="noStrike">
                <a:solidFill>
                  <a:schemeClr val="dk1"/>
                </a:solidFill>
                <a:latin typeface="Calibri"/>
              </a:rPr>
              <a:t>Total wealth includes property, financial, physical and private pension wealth</a:t>
            </a:r>
            <a:endParaRPr b="0" lang="en-US" sz="1800" spc="-1" strike="noStrike">
              <a:solidFill>
                <a:srgbClr val="000000"/>
              </a:solidFill>
              <a:latin typeface="Arial"/>
            </a:endParaRPr>
          </a:p>
        </p:txBody>
      </p:sp>
      <p:sp>
        <p:nvSpPr>
          <p:cNvPr id="150" name=""/>
          <p:cNvSpPr txBox="1"/>
          <p:nvPr/>
        </p:nvSpPr>
        <p:spPr>
          <a:xfrm>
            <a:off x="7544160" y="6521400"/>
            <a:ext cx="1600200" cy="346320"/>
          </a:xfrm>
          <a:prstGeom prst="rect">
            <a:avLst/>
          </a:prstGeom>
          <a:noFill/>
          <a:ln w="0">
            <a:noFill/>
          </a:ln>
        </p:spPr>
        <p:txBody>
          <a:bodyPr lIns="90000" rIns="90000" tIns="45000" bIns="45000" anchor="t">
            <a:noAutofit/>
          </a:bodyPr>
          <a:p>
            <a:pPr algn="r"/>
            <a:fld id="{9B9E187F-E34E-4FCF-8416-DD7E909FA7FA}" type="slidenum">
              <a:rPr b="0" lang="en-US" sz="1800" spc="-1" strike="noStrike">
                <a:solidFill>
                  <a:srgbClr val="000000"/>
                </a:solidFill>
                <a:latin typeface="Arial"/>
              </a:rPr>
              <a:t>20</a:t>
            </a:fld>
            <a:r>
              <a:rPr b="0" lang="en-US" sz="1800" spc="-1" strike="noStrike">
                <a:solidFill>
                  <a:srgbClr val="000000"/>
                </a:solidFill>
                <a:latin typeface="Arial"/>
              </a:rPr>
              <a:t> / </a:t>
            </a:r>
            <a:fld id="{695F1734-576B-4F41-8EFF-12EDF34390A0}"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628560" y="149040"/>
            <a:ext cx="7886520" cy="1325160"/>
          </a:xfrm>
          <a:prstGeom prst="rect">
            <a:avLst/>
          </a:prstGeom>
          <a:noFill/>
          <a:ln w="0">
            <a:noFill/>
          </a:ln>
        </p:spPr>
        <p:txBody>
          <a:bodyPr lIns="91440" rIns="91440" tIns="45720" bIns="45720" anchor="ctr">
            <a:noAutofit/>
          </a:bodyPr>
          <a:p>
            <a:pPr indent="0" defTabSz="914400">
              <a:lnSpc>
                <a:spcPct val="90000"/>
              </a:lnSpc>
              <a:buNone/>
            </a:pPr>
            <a:r>
              <a:rPr b="1" lang="en-GB" sz="1800" spc="-1" strike="noStrike">
                <a:solidFill>
                  <a:srgbClr val="0070c0"/>
                </a:solidFill>
                <a:latin typeface="Arial-BoldMT"/>
              </a:rPr>
              <a:t>Allocation of assets in retirement savings plans in selected asset classes and investment vehicles, 2020 </a:t>
            </a:r>
            <a:br>
              <a:rPr sz="1800"/>
            </a:br>
            <a:r>
              <a:rPr b="1" lang="en-GB" sz="1800" spc="-1" strike="noStrike">
                <a:solidFill>
                  <a:srgbClr val="0070c0"/>
                </a:solidFill>
                <a:latin typeface="Arial-BoldMT"/>
              </a:rPr>
              <a:t>(as a percentage of total investment)</a:t>
            </a:r>
            <a:endParaRPr b="0" lang="en-US" sz="1800" spc="-1" strike="noStrike">
              <a:solidFill>
                <a:schemeClr val="dk1"/>
              </a:solidFill>
              <a:latin typeface="Calibri"/>
            </a:endParaRPr>
          </a:p>
        </p:txBody>
      </p:sp>
      <p:pic>
        <p:nvPicPr>
          <p:cNvPr id="152" name="Content Placeholder 4" descr="A computer screen capture&#10;&#10;Description automatically generated with low confidence"/>
          <p:cNvPicPr/>
          <p:nvPr/>
        </p:nvPicPr>
        <p:blipFill>
          <a:blip r:embed="rId1"/>
          <a:stretch/>
        </p:blipFill>
        <p:spPr>
          <a:xfrm>
            <a:off x="0" y="1371600"/>
            <a:ext cx="9144000" cy="5158440"/>
          </a:xfrm>
          <a:prstGeom prst="rect">
            <a:avLst/>
          </a:prstGeom>
          <a:ln w="0">
            <a:noFill/>
          </a:ln>
        </p:spPr>
      </p:pic>
      <p:sp>
        <p:nvSpPr>
          <p:cNvPr id="153" name=""/>
          <p:cNvSpPr txBox="1"/>
          <p:nvPr/>
        </p:nvSpPr>
        <p:spPr>
          <a:xfrm>
            <a:off x="7544160" y="6521400"/>
            <a:ext cx="1600200" cy="346320"/>
          </a:xfrm>
          <a:prstGeom prst="rect">
            <a:avLst/>
          </a:prstGeom>
          <a:noFill/>
          <a:ln w="0">
            <a:noFill/>
          </a:ln>
        </p:spPr>
        <p:txBody>
          <a:bodyPr lIns="90000" rIns="90000" tIns="45000" bIns="45000" anchor="t">
            <a:noAutofit/>
          </a:bodyPr>
          <a:p>
            <a:pPr algn="r"/>
            <a:fld id="{E5932E6C-60F2-4EE2-8F4C-658163029653}" type="slidenum">
              <a:rPr b="0" lang="en-US" sz="1800" spc="-1" strike="noStrike">
                <a:solidFill>
                  <a:srgbClr val="000000"/>
                </a:solidFill>
                <a:latin typeface="Arial"/>
              </a:rPr>
              <a:t>20</a:t>
            </a:fld>
            <a:r>
              <a:rPr b="0" lang="en-US" sz="1800" spc="-1" strike="noStrike">
                <a:solidFill>
                  <a:srgbClr val="000000"/>
                </a:solidFill>
                <a:latin typeface="Arial"/>
              </a:rPr>
              <a:t> / </a:t>
            </a:r>
            <a:fld id="{8C200F91-0D6D-4D16-93D8-F807B9E10125}"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1" lang="en-GB" sz="3200" spc="-1" strike="noStrike">
                <a:solidFill>
                  <a:srgbClr val="0070c0"/>
                </a:solidFill>
                <a:latin typeface="Calibri Light"/>
              </a:rPr>
              <a:t>How Pensions are Invested</a:t>
            </a:r>
            <a:endParaRPr b="0" lang="en-US" sz="3200" spc="-1" strike="noStrike">
              <a:solidFill>
                <a:schemeClr val="dk1"/>
              </a:solidFill>
              <a:latin typeface="Calibri"/>
            </a:endParaRPr>
          </a:p>
        </p:txBody>
      </p:sp>
      <p:sp>
        <p:nvSpPr>
          <p:cNvPr id="155" name="PlaceHolder 2"/>
          <p:cNvSpPr>
            <a:spLocks noGrp="1"/>
          </p:cNvSpPr>
          <p:nvPr>
            <p:ph/>
          </p:nvPr>
        </p:nvSpPr>
        <p:spPr>
          <a:xfrm>
            <a:off x="628560" y="1825560"/>
            <a:ext cx="7886520" cy="4350960"/>
          </a:xfrm>
          <a:prstGeom prst="rect">
            <a:avLst/>
          </a:prstGeom>
          <a:noFill/>
          <a:ln w="0">
            <a:noFill/>
          </a:ln>
        </p:spPr>
        <p:txBody>
          <a:bodyPr lIns="91440" rIns="91440" tIns="45720" bIns="45720" anchor="t">
            <a:normAutofit fontScale="87480"/>
          </a:bodyPr>
          <a:p>
            <a:pPr indent="0" defTabSz="914400">
              <a:lnSpc>
                <a:spcPct val="90000"/>
              </a:lnSpc>
              <a:spcBef>
                <a:spcPts val="1001"/>
              </a:spcBef>
              <a:buNone/>
              <a:tabLst>
                <a:tab algn="l" pos="0"/>
              </a:tabLst>
            </a:pPr>
            <a:r>
              <a:rPr b="1" lang="en-GB" sz="2800" spc="-1" strike="noStrike">
                <a:solidFill>
                  <a:schemeClr val="dk1"/>
                </a:solidFill>
                <a:latin typeface="Calibri"/>
              </a:rPr>
              <a:t>Investment Strategies</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1" lang="en-GB" sz="2800" spc="-1" strike="noStrike">
                <a:solidFill>
                  <a:schemeClr val="dk1"/>
                </a:solidFill>
                <a:latin typeface="Calibri"/>
              </a:rPr>
              <a:t>Asset Allocation: </a:t>
            </a:r>
            <a:r>
              <a:rPr b="0" lang="en-GB" sz="2800" spc="-1" strike="noStrike">
                <a:solidFill>
                  <a:schemeClr val="dk1"/>
                </a:solidFill>
                <a:latin typeface="Calibri"/>
              </a:rPr>
              <a:t>How pension funds are invested in different asset classes (equities, bonds, real estate, etc.).</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1" lang="en-GB" sz="2800" spc="-1" strike="noStrike">
                <a:solidFill>
                  <a:schemeClr val="dk1"/>
                </a:solidFill>
                <a:latin typeface="Calibri"/>
              </a:rPr>
              <a:t>Risk and Return: </a:t>
            </a:r>
            <a:r>
              <a:rPr b="0" lang="en-GB" sz="2800" spc="-1" strike="noStrike">
                <a:solidFill>
                  <a:schemeClr val="dk1"/>
                </a:solidFill>
                <a:latin typeface="Calibri"/>
              </a:rPr>
              <a:t>Higher-risk investments (e.g., equities) generally offer higher potential returns but with greater volatility.</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1" lang="en-GB" sz="2800" spc="-1" strike="noStrike">
                <a:solidFill>
                  <a:schemeClr val="dk1"/>
                </a:solidFill>
                <a:latin typeface="Calibri"/>
              </a:rPr>
              <a:t>Diversification: </a:t>
            </a:r>
            <a:r>
              <a:rPr b="0" lang="en-GB" sz="2800" spc="-1" strike="noStrike">
                <a:solidFill>
                  <a:schemeClr val="dk1"/>
                </a:solidFill>
                <a:latin typeface="Calibri"/>
              </a:rPr>
              <a:t>Spreading investments across various asset classes to reduce risk.</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1" lang="en-GB" sz="2800" spc="-1" strike="noStrike">
                <a:solidFill>
                  <a:schemeClr val="dk1"/>
                </a:solidFill>
                <a:latin typeface="Calibri"/>
              </a:rPr>
              <a:t>Fund Managers: </a:t>
            </a:r>
            <a:r>
              <a:rPr b="0" lang="en-GB" sz="2800" spc="-1" strike="noStrike">
                <a:solidFill>
                  <a:schemeClr val="dk1"/>
                </a:solidFill>
                <a:latin typeface="Calibri"/>
              </a:rPr>
              <a:t>Pension funds may be managed by professional fund managers who decide on investment strategies.</a:t>
            </a:r>
            <a:endParaRPr b="0" lang="en-US" sz="2800" spc="-1" strike="noStrike">
              <a:solidFill>
                <a:schemeClr val="dk1"/>
              </a:solidFill>
              <a:latin typeface="Calibri"/>
            </a:endParaRPr>
          </a:p>
        </p:txBody>
      </p:sp>
      <p:sp>
        <p:nvSpPr>
          <p:cNvPr id="156" name=""/>
          <p:cNvSpPr txBox="1"/>
          <p:nvPr/>
        </p:nvSpPr>
        <p:spPr>
          <a:xfrm>
            <a:off x="7544160" y="6521400"/>
            <a:ext cx="1600200" cy="346320"/>
          </a:xfrm>
          <a:prstGeom prst="rect">
            <a:avLst/>
          </a:prstGeom>
          <a:noFill/>
          <a:ln w="0">
            <a:noFill/>
          </a:ln>
        </p:spPr>
        <p:txBody>
          <a:bodyPr lIns="90000" rIns="90000" tIns="45000" bIns="45000" anchor="t">
            <a:noAutofit/>
          </a:bodyPr>
          <a:p>
            <a:pPr algn="r"/>
            <a:fld id="{D53D54B8-57FA-4726-8E65-633145848BC6}" type="slidenum">
              <a:rPr b="0" lang="en-US" sz="1800" spc="-1" strike="noStrike">
                <a:solidFill>
                  <a:srgbClr val="000000"/>
                </a:solidFill>
                <a:latin typeface="Arial"/>
              </a:rPr>
              <a:t>24</a:t>
            </a:fld>
            <a:r>
              <a:rPr b="0" lang="en-US" sz="1800" spc="-1" strike="noStrike">
                <a:solidFill>
                  <a:srgbClr val="000000"/>
                </a:solidFill>
                <a:latin typeface="Arial"/>
              </a:rPr>
              <a:t> / </a:t>
            </a:r>
            <a:fld id="{E8B6968F-75D8-4DED-93B3-5CF1339A7324}"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1" lang="en-GB" sz="3200" spc="-1" strike="noStrike">
                <a:solidFill>
                  <a:srgbClr val="0070c0"/>
                </a:solidFill>
                <a:latin typeface="Calibri Light"/>
              </a:rPr>
              <a:t>Types of Investment Assets</a:t>
            </a:r>
            <a:endParaRPr b="0" lang="en-US" sz="3200" spc="-1" strike="noStrike">
              <a:solidFill>
                <a:schemeClr val="dk1"/>
              </a:solidFill>
              <a:latin typeface="Calibri"/>
            </a:endParaRPr>
          </a:p>
        </p:txBody>
      </p:sp>
      <p:sp>
        <p:nvSpPr>
          <p:cNvPr id="158" name="PlaceHolder 2"/>
          <p:cNvSpPr>
            <a:spLocks noGrp="1"/>
          </p:cNvSpPr>
          <p:nvPr>
            <p:ph/>
          </p:nvPr>
        </p:nvSpPr>
        <p:spPr>
          <a:xfrm>
            <a:off x="628560" y="1825560"/>
            <a:ext cx="78865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1" lang="en-GB" sz="2800" spc="-1" strike="noStrike">
                <a:solidFill>
                  <a:schemeClr val="dk1"/>
                </a:solidFill>
                <a:latin typeface="Calibri"/>
              </a:rPr>
              <a:t>Equities (Stocks): </a:t>
            </a:r>
            <a:r>
              <a:rPr b="0" lang="en-GB" sz="2800" spc="-1" strike="noStrike">
                <a:solidFill>
                  <a:schemeClr val="dk1"/>
                </a:solidFill>
                <a:latin typeface="Calibri"/>
              </a:rPr>
              <a:t>High risk, potentially high returns, long-term growth.</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1" lang="en-GB" sz="2800" spc="-1" strike="noStrike">
                <a:solidFill>
                  <a:schemeClr val="dk1"/>
                </a:solidFill>
                <a:latin typeface="Calibri"/>
              </a:rPr>
              <a:t>Bonds: </a:t>
            </a:r>
            <a:r>
              <a:rPr b="0" lang="en-GB" sz="2800" spc="-1" strike="noStrike">
                <a:solidFill>
                  <a:schemeClr val="dk1"/>
                </a:solidFill>
                <a:latin typeface="Calibri"/>
              </a:rPr>
              <a:t>Lower risk, fixed returns, stable income.</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1" lang="en-GB" sz="2800" spc="-1" strike="noStrike">
                <a:solidFill>
                  <a:schemeClr val="dk1"/>
                </a:solidFill>
                <a:latin typeface="Calibri"/>
              </a:rPr>
              <a:t>Real Estate: </a:t>
            </a:r>
            <a:r>
              <a:rPr b="0" lang="en-GB" sz="2800" spc="-1" strike="noStrike">
                <a:solidFill>
                  <a:schemeClr val="dk1"/>
                </a:solidFill>
                <a:latin typeface="Calibri"/>
              </a:rPr>
              <a:t>Moderate risk, income through rental properties or capital gains.</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1" lang="en-GB" sz="2800" spc="-1" strike="noStrike">
                <a:solidFill>
                  <a:schemeClr val="dk1"/>
                </a:solidFill>
                <a:latin typeface="Calibri"/>
              </a:rPr>
              <a:t>Cash/Short-Term Investments: </a:t>
            </a:r>
            <a:r>
              <a:rPr b="0" lang="en-GB" sz="2800" spc="-1" strike="noStrike">
                <a:solidFill>
                  <a:schemeClr val="dk1"/>
                </a:solidFill>
                <a:latin typeface="Calibri"/>
              </a:rPr>
              <a:t>Low risk, low return, liquidity.</a:t>
            </a:r>
            <a:endParaRPr b="0" lang="en-US" sz="2800" spc="-1" strike="noStrike">
              <a:solidFill>
                <a:schemeClr val="dk1"/>
              </a:solidFill>
              <a:latin typeface="Calibri"/>
            </a:endParaRPr>
          </a:p>
        </p:txBody>
      </p:sp>
      <p:sp>
        <p:nvSpPr>
          <p:cNvPr id="159" name=""/>
          <p:cNvSpPr txBox="1"/>
          <p:nvPr/>
        </p:nvSpPr>
        <p:spPr>
          <a:xfrm>
            <a:off x="7544160" y="6521400"/>
            <a:ext cx="1600200" cy="346320"/>
          </a:xfrm>
          <a:prstGeom prst="rect">
            <a:avLst/>
          </a:prstGeom>
          <a:noFill/>
          <a:ln w="0">
            <a:noFill/>
          </a:ln>
        </p:spPr>
        <p:txBody>
          <a:bodyPr lIns="90000" rIns="90000" tIns="45000" bIns="45000" anchor="t">
            <a:noAutofit/>
          </a:bodyPr>
          <a:p>
            <a:pPr algn="r"/>
            <a:fld id="{EE655C38-E639-42F3-B201-2D8853D8CBF8}" type="slidenum">
              <a:rPr b="0" lang="en-US" sz="1800" spc="-1" strike="noStrike">
                <a:solidFill>
                  <a:srgbClr val="000000"/>
                </a:solidFill>
                <a:latin typeface="Arial"/>
              </a:rPr>
              <a:t>24</a:t>
            </a:fld>
            <a:r>
              <a:rPr b="0" lang="en-US" sz="1800" spc="-1" strike="noStrike">
                <a:solidFill>
                  <a:srgbClr val="000000"/>
                </a:solidFill>
                <a:latin typeface="Arial"/>
              </a:rPr>
              <a:t> / </a:t>
            </a:r>
            <a:fld id="{352011D9-62B4-495E-AE21-41810DA3EA14}"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609480" y="881280"/>
            <a:ext cx="7886520" cy="634320"/>
          </a:xfrm>
          <a:prstGeom prst="rect">
            <a:avLst/>
          </a:prstGeom>
          <a:noFill/>
          <a:ln w="0">
            <a:noFill/>
          </a:ln>
        </p:spPr>
        <p:txBody>
          <a:bodyPr lIns="91440" rIns="91440" tIns="45720" bIns="45720" anchor="ctr">
            <a:normAutofit/>
          </a:bodyPr>
          <a:p>
            <a:pPr indent="0" defTabSz="914400">
              <a:lnSpc>
                <a:spcPct val="90000"/>
              </a:lnSpc>
              <a:buNone/>
            </a:pPr>
            <a:r>
              <a:rPr b="1" lang="en-US" sz="1800" spc="-1" strike="noStrike">
                <a:solidFill>
                  <a:schemeClr val="dk1"/>
                </a:solidFill>
                <a:latin typeface="Calibri Light"/>
                <a:ea typeface="ヒラギノ角ゴ Pro W3"/>
              </a:rPr>
              <a:t>Investment of American Pension Funds in the US (in 2015)</a:t>
            </a:r>
            <a:endParaRPr b="0" lang="en-US" sz="1800" spc="-1" strike="noStrike">
              <a:solidFill>
                <a:schemeClr val="dk1"/>
              </a:solidFill>
              <a:latin typeface="Calibri"/>
            </a:endParaRPr>
          </a:p>
        </p:txBody>
      </p:sp>
      <p:sp>
        <p:nvSpPr>
          <p:cNvPr id="161" name="PlaceHolder 2"/>
          <p:cNvSpPr>
            <a:spLocks noGrp="1"/>
          </p:cNvSpPr>
          <p:nvPr>
            <p:ph/>
          </p:nvPr>
        </p:nvSpPr>
        <p:spPr>
          <a:xfrm>
            <a:off x="1105200" y="6222240"/>
            <a:ext cx="6246000" cy="58104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i="1" lang="en-IN" sz="1400" spc="-1" strike="noStrike">
                <a:solidFill>
                  <a:schemeClr val="dk1"/>
                </a:solidFill>
                <a:latin typeface="Calibri"/>
              </a:rPr>
              <a:t>Source</a:t>
            </a:r>
            <a:r>
              <a:rPr b="0" lang="en-IN" sz="1400" spc="-1" strike="noStrike">
                <a:solidFill>
                  <a:schemeClr val="dk1"/>
                </a:solidFill>
                <a:latin typeface="Calibri"/>
              </a:rPr>
              <a:t>: </a:t>
            </a:r>
            <a:r>
              <a:rPr b="0" lang="en-IN" sz="1400" spc="-1" strike="noStrike" u="sng">
                <a:solidFill>
                  <a:schemeClr val="dk1"/>
                </a:solidFill>
                <a:uFillTx/>
                <a:latin typeface="Calibri"/>
                <a:hlinkClick r:id="rId1"/>
              </a:rPr>
              <a:t>http://www.federalreserve.gov/releases/z1/current/z1.pdf</a:t>
            </a:r>
            <a:r>
              <a:rPr b="0" lang="en-IN" sz="1400" spc="-1" strike="noStrike">
                <a:solidFill>
                  <a:schemeClr val="dk1"/>
                </a:solidFill>
                <a:latin typeface="Calibri"/>
              </a:rPr>
              <a:t>, Table L116.</a:t>
            </a:r>
            <a:endParaRPr b="0" lang="en-US" sz="1400" spc="-1" strike="noStrike">
              <a:solidFill>
                <a:schemeClr val="dk1"/>
              </a:solidFill>
              <a:latin typeface="Calibri"/>
            </a:endParaRPr>
          </a:p>
        </p:txBody>
      </p:sp>
      <p:pic>
        <p:nvPicPr>
          <p:cNvPr id="162" name="Picture 2" descr="The data shown in the chart is as follows:&#10;◦ Stock: 64.00 percent&#10;◦ Corporate and Foreign Bonds: 8.35&#10;◦ Government Securities: 5.75&#10;◦ Open Market Paper: 0.56&#10;◦ Time Deposits: 0.43&#10;◦ Cash: 1.88&#10;◦ Miscellaneous: 19.03"/>
          <p:cNvPicPr/>
          <p:nvPr/>
        </p:nvPicPr>
        <p:blipFill>
          <a:blip r:embed="rId2"/>
          <a:stretch/>
        </p:blipFill>
        <p:spPr>
          <a:xfrm>
            <a:off x="228600" y="1642320"/>
            <a:ext cx="8286480" cy="4478760"/>
          </a:xfrm>
          <a:prstGeom prst="rect">
            <a:avLst/>
          </a:prstGeom>
          <a:ln w="9525">
            <a:noFill/>
          </a:ln>
        </p:spPr>
      </p:pic>
      <p:sp>
        <p:nvSpPr>
          <p:cNvPr id="163" name="Title 1"/>
          <p:cNvSpPr/>
          <p:nvPr/>
        </p:nvSpPr>
        <p:spPr>
          <a:xfrm>
            <a:off x="628560" y="217080"/>
            <a:ext cx="7886520" cy="463680"/>
          </a:xfrm>
          <a:prstGeom prst="rect">
            <a:avLst/>
          </a:prstGeom>
          <a:noFill/>
          <a:ln w="0">
            <a:noFill/>
          </a:ln>
        </p:spPr>
        <p:style>
          <a:lnRef idx="0"/>
          <a:fillRef idx="0"/>
          <a:effectRef idx="0"/>
          <a:fontRef idx="minor"/>
        </p:style>
        <p:txBody>
          <a:bodyPr anchor="ctr">
            <a:noAutofit/>
          </a:bodyPr>
          <a:p>
            <a:pPr defTabSz="914400">
              <a:lnSpc>
                <a:spcPct val="90000"/>
              </a:lnSpc>
            </a:pPr>
            <a:r>
              <a:rPr b="0" lang="en-GB" sz="2800" spc="-1" strike="noStrike">
                <a:solidFill>
                  <a:srgbClr val="0070c0"/>
                </a:solidFill>
                <a:latin typeface="Calibri Light"/>
              </a:rPr>
              <a:t>Where are pension funds invested?</a:t>
            </a:r>
            <a:endParaRPr b="0" lang="en-US" sz="2800" spc="-1" strike="noStrike">
              <a:solidFill>
                <a:srgbClr val="000000"/>
              </a:solidFill>
              <a:latin typeface="Arial"/>
            </a:endParaRPr>
          </a:p>
        </p:txBody>
      </p:sp>
      <p:sp>
        <p:nvSpPr>
          <p:cNvPr id="164" name=""/>
          <p:cNvSpPr txBox="1"/>
          <p:nvPr/>
        </p:nvSpPr>
        <p:spPr>
          <a:xfrm>
            <a:off x="7544160" y="6521400"/>
            <a:ext cx="1600200" cy="346320"/>
          </a:xfrm>
          <a:prstGeom prst="rect">
            <a:avLst/>
          </a:prstGeom>
          <a:noFill/>
          <a:ln w="0">
            <a:noFill/>
          </a:ln>
        </p:spPr>
        <p:txBody>
          <a:bodyPr lIns="90000" rIns="90000" tIns="45000" bIns="45000" anchor="t">
            <a:noAutofit/>
          </a:bodyPr>
          <a:p>
            <a:pPr algn="r"/>
            <a:fld id="{E7E60954-9E0F-4C6A-91D5-6219868A80F7}" type="slidenum">
              <a:rPr b="0" lang="en-US" sz="1800" spc="-1" strike="noStrike">
                <a:solidFill>
                  <a:srgbClr val="000000"/>
                </a:solidFill>
                <a:latin typeface="Arial"/>
              </a:rPr>
              <a:t>26</a:t>
            </a:fld>
            <a:r>
              <a:rPr b="0" lang="en-US" sz="1800" spc="-1" strike="noStrike">
                <a:solidFill>
                  <a:srgbClr val="000000"/>
                </a:solidFill>
                <a:latin typeface="Arial"/>
              </a:rPr>
              <a:t> / </a:t>
            </a:r>
            <a:fld id="{84C87090-313E-4761-A2CE-077C3599069B}"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628560" y="217080"/>
            <a:ext cx="7886520" cy="463680"/>
          </a:xfrm>
          <a:prstGeom prst="rect">
            <a:avLst/>
          </a:prstGeom>
          <a:noFill/>
          <a:ln w="0">
            <a:noFill/>
          </a:ln>
        </p:spPr>
        <p:txBody>
          <a:bodyPr lIns="91440" rIns="91440" tIns="45720" bIns="45720" anchor="ctr">
            <a:noAutofit/>
          </a:bodyPr>
          <a:p>
            <a:pPr indent="0" defTabSz="914400">
              <a:lnSpc>
                <a:spcPct val="90000"/>
              </a:lnSpc>
              <a:buNone/>
            </a:pPr>
            <a:r>
              <a:rPr b="0" lang="en-GB" sz="2800" spc="-1" strike="noStrike">
                <a:solidFill>
                  <a:srgbClr val="0070c0"/>
                </a:solidFill>
                <a:latin typeface="Calibri Light"/>
              </a:rPr>
              <a:t>Where are pension funds invested?</a:t>
            </a:r>
            <a:endParaRPr b="0" lang="en-US" sz="2800" spc="-1" strike="noStrike">
              <a:solidFill>
                <a:schemeClr val="dk1"/>
              </a:solidFill>
              <a:latin typeface="Calibri"/>
            </a:endParaRPr>
          </a:p>
        </p:txBody>
      </p:sp>
      <p:sp>
        <p:nvSpPr>
          <p:cNvPr id="166" name="PlaceHolder 2"/>
          <p:cNvSpPr>
            <a:spLocks noGrp="1"/>
          </p:cNvSpPr>
          <p:nvPr>
            <p:ph/>
          </p:nvPr>
        </p:nvSpPr>
        <p:spPr>
          <a:xfrm>
            <a:off x="628560" y="1825560"/>
            <a:ext cx="7886520" cy="435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2800" spc="-1" strike="noStrike">
              <a:solidFill>
                <a:schemeClr val="dk1"/>
              </a:solidFill>
              <a:latin typeface="Calibri"/>
            </a:endParaRPr>
          </a:p>
        </p:txBody>
      </p:sp>
      <p:pic>
        <p:nvPicPr>
          <p:cNvPr id="167" name="Picture 3" descr=""/>
          <p:cNvPicPr/>
          <p:nvPr/>
        </p:nvPicPr>
        <p:blipFill>
          <a:blip r:embed="rId1"/>
          <a:srcRect l="0" t="0" r="0" b="10931"/>
          <a:stretch/>
        </p:blipFill>
        <p:spPr>
          <a:xfrm>
            <a:off x="195120" y="919080"/>
            <a:ext cx="8515080" cy="5168160"/>
          </a:xfrm>
          <a:prstGeom prst="rect">
            <a:avLst/>
          </a:prstGeom>
          <a:ln w="0">
            <a:noFill/>
          </a:ln>
        </p:spPr>
      </p:pic>
      <p:sp>
        <p:nvSpPr>
          <p:cNvPr id="168" name="Content Placeholder 2"/>
          <p:cNvSpPr/>
          <p:nvPr/>
        </p:nvSpPr>
        <p:spPr>
          <a:xfrm>
            <a:off x="0" y="6430320"/>
            <a:ext cx="7886520" cy="312120"/>
          </a:xfrm>
          <a:prstGeom prst="rect">
            <a:avLst/>
          </a:prstGeom>
          <a:noFill/>
          <a:ln w="0">
            <a:noFill/>
          </a:ln>
        </p:spPr>
        <p:style>
          <a:lnRef idx="0"/>
          <a:fillRef idx="0"/>
          <a:effectRef idx="0"/>
          <a:fontRef idx="minor"/>
        </p:style>
        <p:txBody>
          <a:bodyPr anchor="t">
            <a:normAutofit fontScale="49988"/>
          </a:bodyPr>
          <a:p>
            <a:pPr defTabSz="914400">
              <a:lnSpc>
                <a:spcPct val="90000"/>
              </a:lnSpc>
              <a:spcBef>
                <a:spcPts val="1001"/>
              </a:spcBef>
              <a:tabLst>
                <a:tab algn="l" pos="0"/>
              </a:tabLst>
            </a:pPr>
            <a:r>
              <a:rPr b="0" lang="en-GB" sz="2800" spc="-1" strike="noStrike">
                <a:solidFill>
                  <a:schemeClr val="dk1"/>
                </a:solidFill>
                <a:latin typeface="Calibri"/>
              </a:rPr>
              <a:t>Source: Martin Wolf in Financial Times (2021), “</a:t>
            </a:r>
            <a:r>
              <a:rPr b="1" lang="en-GB" sz="2800" spc="-1" strike="noStrike">
                <a:solidFill>
                  <a:schemeClr val="dk1"/>
                </a:solidFill>
                <a:latin typeface="Calibri"/>
              </a:rPr>
              <a:t>Radical reform of British pension provision is urgent</a:t>
            </a:r>
            <a:endParaRPr b="0" lang="en-US" sz="2800" spc="-1" strike="noStrike">
              <a:solidFill>
                <a:srgbClr val="000000"/>
              </a:solidFill>
              <a:latin typeface="Arial"/>
            </a:endParaRPr>
          </a:p>
        </p:txBody>
      </p:sp>
      <p:sp>
        <p:nvSpPr>
          <p:cNvPr id="169" name=""/>
          <p:cNvSpPr txBox="1"/>
          <p:nvPr/>
        </p:nvSpPr>
        <p:spPr>
          <a:xfrm>
            <a:off x="7544160" y="6521400"/>
            <a:ext cx="1600200" cy="346320"/>
          </a:xfrm>
          <a:prstGeom prst="rect">
            <a:avLst/>
          </a:prstGeom>
          <a:noFill/>
          <a:ln w="0">
            <a:noFill/>
          </a:ln>
        </p:spPr>
        <p:txBody>
          <a:bodyPr lIns="90000" rIns="90000" tIns="45000" bIns="45000" anchor="t">
            <a:noAutofit/>
          </a:bodyPr>
          <a:p>
            <a:pPr algn="r"/>
            <a:fld id="{B2CF43D1-3AF4-4FCA-BEBD-F1444D1CC023}" type="slidenum">
              <a:rPr b="0" lang="en-US" sz="1800" spc="-1" strike="noStrike">
                <a:solidFill>
                  <a:srgbClr val="000000"/>
                </a:solidFill>
                <a:latin typeface="Arial"/>
              </a:rPr>
              <a:t>&lt;number&gt;</a:t>
            </a:fld>
            <a:r>
              <a:rPr b="0" lang="en-US" sz="1800" spc="-1" strike="noStrike">
                <a:solidFill>
                  <a:srgbClr val="000000"/>
                </a:solidFill>
                <a:latin typeface="Arial"/>
              </a:rPr>
              <a:t> / </a:t>
            </a:r>
            <a:fld id="{EE381B6F-F10A-4308-8054-6E02C40499AD}"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628560" y="217080"/>
            <a:ext cx="7886520" cy="463680"/>
          </a:xfrm>
          <a:prstGeom prst="rect">
            <a:avLst/>
          </a:prstGeom>
          <a:noFill/>
          <a:ln w="0">
            <a:noFill/>
          </a:ln>
        </p:spPr>
        <p:txBody>
          <a:bodyPr lIns="91440" rIns="91440" tIns="45720" bIns="45720" anchor="ctr">
            <a:noAutofit/>
          </a:bodyPr>
          <a:p>
            <a:pPr indent="0" defTabSz="914400">
              <a:lnSpc>
                <a:spcPct val="90000"/>
              </a:lnSpc>
              <a:buNone/>
            </a:pPr>
            <a:r>
              <a:rPr b="0" lang="en-GB" sz="2800" spc="-1" strike="noStrike">
                <a:solidFill>
                  <a:srgbClr val="0070c0"/>
                </a:solidFill>
                <a:latin typeface="Calibri Light"/>
              </a:rPr>
              <a:t>Where are pension funds invested?</a:t>
            </a:r>
            <a:endParaRPr b="0" lang="en-US" sz="2800" spc="-1" strike="noStrike">
              <a:solidFill>
                <a:schemeClr val="dk1"/>
              </a:solidFill>
              <a:latin typeface="Calibri"/>
            </a:endParaRPr>
          </a:p>
        </p:txBody>
      </p:sp>
      <p:sp>
        <p:nvSpPr>
          <p:cNvPr id="171" name="PlaceHolder 2"/>
          <p:cNvSpPr>
            <a:spLocks noGrp="1"/>
          </p:cNvSpPr>
          <p:nvPr>
            <p:ph/>
          </p:nvPr>
        </p:nvSpPr>
        <p:spPr>
          <a:xfrm>
            <a:off x="628560" y="1825560"/>
            <a:ext cx="7886520" cy="4350960"/>
          </a:xfrm>
          <a:prstGeom prst="rect">
            <a:avLst/>
          </a:prstGeom>
          <a:noFill/>
          <a:ln w="0">
            <a:noFill/>
          </a:ln>
        </p:spPr>
        <p:txBody>
          <a:bodyPr lIns="91440" rIns="91440" tIns="45720" bIns="45720" anchor="t">
            <a:noAutofit/>
          </a:bodyPr>
          <a:p>
            <a:pPr indent="0">
              <a:lnSpc>
                <a:spcPct val="90000"/>
              </a:lnSpc>
              <a:spcBef>
                <a:spcPts val="1417"/>
              </a:spcBef>
              <a:buNone/>
            </a:pPr>
            <a:endParaRPr b="0" lang="en-US" sz="2800" spc="-1" strike="noStrike">
              <a:solidFill>
                <a:schemeClr val="dk1"/>
              </a:solidFill>
              <a:latin typeface="Calibri"/>
            </a:endParaRPr>
          </a:p>
        </p:txBody>
      </p:sp>
      <p:sp>
        <p:nvSpPr>
          <p:cNvPr id="172" name="Content Placeholder 2"/>
          <p:cNvSpPr/>
          <p:nvPr/>
        </p:nvSpPr>
        <p:spPr>
          <a:xfrm>
            <a:off x="0" y="6430320"/>
            <a:ext cx="7886520" cy="312120"/>
          </a:xfrm>
          <a:prstGeom prst="rect">
            <a:avLst/>
          </a:prstGeom>
          <a:noFill/>
          <a:ln w="0">
            <a:noFill/>
          </a:ln>
        </p:spPr>
        <p:style>
          <a:lnRef idx="0"/>
          <a:fillRef idx="0"/>
          <a:effectRef idx="0"/>
          <a:fontRef idx="minor"/>
        </p:style>
        <p:txBody>
          <a:bodyPr anchor="t">
            <a:normAutofit fontScale="49988"/>
          </a:bodyPr>
          <a:p>
            <a:pPr defTabSz="914400">
              <a:lnSpc>
                <a:spcPct val="90000"/>
              </a:lnSpc>
              <a:spcBef>
                <a:spcPts val="1001"/>
              </a:spcBef>
              <a:tabLst>
                <a:tab algn="l" pos="0"/>
              </a:tabLst>
            </a:pPr>
            <a:r>
              <a:rPr b="0" lang="en-GB" sz="2800" spc="-1" strike="noStrike">
                <a:solidFill>
                  <a:schemeClr val="dk1"/>
                </a:solidFill>
                <a:latin typeface="Calibri"/>
              </a:rPr>
              <a:t>Source: Martin Wolf in Financial Times (2021), “</a:t>
            </a:r>
            <a:r>
              <a:rPr b="1" lang="en-GB" sz="2800" spc="-1" strike="noStrike">
                <a:solidFill>
                  <a:schemeClr val="dk1"/>
                </a:solidFill>
                <a:latin typeface="Calibri"/>
              </a:rPr>
              <a:t>Radical reform of British pension provision is urgent</a:t>
            </a:r>
            <a:endParaRPr b="0" lang="en-US" sz="2800" spc="-1" strike="noStrike">
              <a:solidFill>
                <a:srgbClr val="000000"/>
              </a:solidFill>
              <a:latin typeface="Arial"/>
            </a:endParaRPr>
          </a:p>
        </p:txBody>
      </p:sp>
      <p:pic>
        <p:nvPicPr>
          <p:cNvPr id="173" name="Picture 6" descr=""/>
          <p:cNvPicPr/>
          <p:nvPr/>
        </p:nvPicPr>
        <p:blipFill>
          <a:blip r:embed="rId1"/>
          <a:srcRect l="0" t="0" r="0" b="13241"/>
          <a:stretch/>
        </p:blipFill>
        <p:spPr>
          <a:xfrm>
            <a:off x="0" y="681120"/>
            <a:ext cx="9143640" cy="5574960"/>
          </a:xfrm>
          <a:prstGeom prst="rect">
            <a:avLst/>
          </a:prstGeom>
          <a:ln w="0">
            <a:noFill/>
          </a:ln>
        </p:spPr>
      </p:pic>
      <p:sp>
        <p:nvSpPr>
          <p:cNvPr id="174" name=""/>
          <p:cNvSpPr txBox="1"/>
          <p:nvPr/>
        </p:nvSpPr>
        <p:spPr>
          <a:xfrm>
            <a:off x="7544160" y="6521400"/>
            <a:ext cx="1600200" cy="346320"/>
          </a:xfrm>
          <a:prstGeom prst="rect">
            <a:avLst/>
          </a:prstGeom>
          <a:noFill/>
          <a:ln w="0">
            <a:noFill/>
          </a:ln>
        </p:spPr>
        <p:txBody>
          <a:bodyPr lIns="90000" rIns="90000" tIns="45000" bIns="45000" anchor="t">
            <a:noAutofit/>
          </a:bodyPr>
          <a:p>
            <a:pPr algn="r"/>
            <a:fld id="{42F63A99-0D08-44AA-B3FD-0906BA96AE28}" type="slidenum">
              <a:rPr b="0" lang="en-US" sz="1800" spc="-1" strike="noStrike">
                <a:solidFill>
                  <a:srgbClr val="000000"/>
                </a:solidFill>
                <a:latin typeface="Arial"/>
              </a:rPr>
              <a:t>&lt;number&gt;</a:t>
            </a:fld>
            <a:r>
              <a:rPr b="0" lang="en-US" sz="1800" spc="-1" strike="noStrike">
                <a:solidFill>
                  <a:srgbClr val="000000"/>
                </a:solidFill>
                <a:latin typeface="Arial"/>
              </a:rPr>
              <a:t> / </a:t>
            </a:r>
            <a:fld id="{42D4ED4A-E868-4C9E-A02F-9380C8EAB61A}"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5" name="Picture 4" descr="A graph of different colored lines&#10;&#10;Description automatically generated"/>
          <p:cNvPicPr/>
          <p:nvPr/>
        </p:nvPicPr>
        <p:blipFill>
          <a:blip r:embed="rId1"/>
          <a:stretch/>
        </p:blipFill>
        <p:spPr>
          <a:xfrm>
            <a:off x="93960" y="755280"/>
            <a:ext cx="8724240" cy="5732640"/>
          </a:xfrm>
          <a:prstGeom prst="rect">
            <a:avLst/>
          </a:prstGeom>
          <a:ln w="0">
            <a:noFill/>
          </a:ln>
        </p:spPr>
      </p:pic>
      <p:sp>
        <p:nvSpPr>
          <p:cNvPr id="176" name="TextBox 5"/>
          <p:cNvSpPr/>
          <p:nvPr/>
        </p:nvSpPr>
        <p:spPr>
          <a:xfrm>
            <a:off x="1101960" y="451440"/>
            <a:ext cx="6628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GB" sz="1800" spc="-1" strike="noStrike">
                <a:solidFill>
                  <a:schemeClr val="dk1"/>
                </a:solidFill>
                <a:latin typeface="Calibri"/>
              </a:rPr>
              <a:t> </a:t>
            </a:r>
            <a:r>
              <a:rPr b="0" lang="en-GB" sz="1800" spc="-1" strike="noStrike">
                <a:solidFill>
                  <a:schemeClr val="dk1"/>
                </a:solidFill>
                <a:latin typeface="Calibri"/>
              </a:rPr>
              <a:t>The Private Sector Defined Contribution Assets Allocation in the UK</a:t>
            </a:r>
            <a:endParaRPr b="0" lang="en-US" sz="1800" spc="-1" strike="noStrike">
              <a:solidFill>
                <a:srgbClr val="000000"/>
              </a:solidFill>
              <a:latin typeface="Arial"/>
            </a:endParaRPr>
          </a:p>
        </p:txBody>
      </p:sp>
      <p:sp>
        <p:nvSpPr>
          <p:cNvPr id="177" name="TextBox 6"/>
          <p:cNvSpPr/>
          <p:nvPr/>
        </p:nvSpPr>
        <p:spPr>
          <a:xfrm>
            <a:off x="1508040" y="6357240"/>
            <a:ext cx="5414760" cy="368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GB" sz="1800" spc="-1" strike="noStrike" u="sng">
                <a:solidFill>
                  <a:schemeClr val="dk1"/>
                </a:solidFill>
                <a:uFillTx/>
                <a:latin typeface="Calibri"/>
                <a:hlinkClick r:id="rId2"/>
              </a:rPr>
              <a:t>Source: Pension fund investment and the UK economy</a:t>
            </a:r>
            <a:endParaRPr b="0" lang="en-US" sz="1800" spc="-1" strike="noStrike">
              <a:solidFill>
                <a:srgbClr val="000000"/>
              </a:solidFill>
              <a:latin typeface="Arial"/>
            </a:endParaRPr>
          </a:p>
        </p:txBody>
      </p:sp>
      <p:sp>
        <p:nvSpPr>
          <p:cNvPr id="178" name=""/>
          <p:cNvSpPr txBox="1"/>
          <p:nvPr/>
        </p:nvSpPr>
        <p:spPr>
          <a:xfrm>
            <a:off x="7544160" y="6521400"/>
            <a:ext cx="1600200" cy="346320"/>
          </a:xfrm>
          <a:prstGeom prst="rect">
            <a:avLst/>
          </a:prstGeom>
          <a:noFill/>
          <a:ln w="0">
            <a:noFill/>
          </a:ln>
        </p:spPr>
        <p:txBody>
          <a:bodyPr lIns="90000" rIns="90000" tIns="45000" bIns="45000" anchor="t">
            <a:noAutofit/>
          </a:bodyPr>
          <a:p>
            <a:pPr algn="r"/>
            <a:fld id="{EB4144AC-1738-4509-B0B5-27EF60405AA5}" type="slidenum">
              <a:rPr b="0" lang="en-US" sz="1800" spc="-1" strike="noStrike">
                <a:solidFill>
                  <a:srgbClr val="000000"/>
                </a:solidFill>
                <a:latin typeface="Arial"/>
              </a:rPr>
              <a:t>&lt;number&gt;</a:t>
            </a:fld>
            <a:r>
              <a:rPr b="0" lang="en-US" sz="1800" spc="-1" strike="noStrike">
                <a:solidFill>
                  <a:srgbClr val="000000"/>
                </a:solidFill>
                <a:latin typeface="Arial"/>
              </a:rPr>
              <a:t> / </a:t>
            </a:r>
            <a:fld id="{D66AB388-70A9-47FD-B869-3BCAC136D26B}"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9" name="Rectangle 13">
            <a:extLst>
              <a:ext uri="{C183D7F6-B498-43B3-948B-1728B52AA6E4}">
                <adec:decorative xmlns:adec="http://schemas.microsoft.com/office/drawing/2017/decorative" val="1"/>
              </a:ext>
            </a:extLst>
          </p:cNvPr>
          <p:cNvSpPr/>
          <p:nvPr/>
        </p:nvSpPr>
        <p:spPr>
          <a:xfrm>
            <a:off x="0" y="147600"/>
            <a:ext cx="9143640" cy="736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0" name="PlaceHolder 1"/>
          <p:cNvSpPr>
            <a:spLocks noGrp="1"/>
          </p:cNvSpPr>
          <p:nvPr>
            <p:ph type="title"/>
          </p:nvPr>
        </p:nvSpPr>
        <p:spPr>
          <a:xfrm>
            <a:off x="417240" y="139320"/>
            <a:ext cx="8407800" cy="744480"/>
          </a:xfrm>
          <a:prstGeom prst="rect">
            <a:avLst/>
          </a:prstGeom>
          <a:noFill/>
          <a:ln w="0">
            <a:noFill/>
          </a:ln>
        </p:spPr>
        <p:txBody>
          <a:bodyPr lIns="91440" rIns="91440" tIns="45720" bIns="45720" anchor="ctr">
            <a:normAutofit/>
          </a:bodyPr>
          <a:p>
            <a:pPr indent="0" algn="ctr" defTabSz="914400">
              <a:lnSpc>
                <a:spcPct val="90000"/>
              </a:lnSpc>
              <a:buNone/>
            </a:pPr>
            <a:r>
              <a:rPr b="1" lang="en-US" sz="2800" spc="-1" strike="noStrike">
                <a:solidFill>
                  <a:schemeClr val="lt1"/>
                </a:solidFill>
                <a:latin typeface="Calibri Light"/>
              </a:rPr>
              <a:t>Summary of Selected Pension System</a:t>
            </a:r>
            <a:endParaRPr b="0" lang="en-US" sz="2800" spc="-1" strike="noStrike">
              <a:solidFill>
                <a:schemeClr val="dk1"/>
              </a:solidFill>
              <a:latin typeface="Calibri"/>
            </a:endParaRPr>
          </a:p>
        </p:txBody>
      </p:sp>
      <p:pic>
        <p:nvPicPr>
          <p:cNvPr id="181" name="Content Placeholder 8" descr="A screenshot of a computer&#10;&#10;Description automatically generated"/>
          <p:cNvPicPr/>
          <p:nvPr/>
        </p:nvPicPr>
        <p:blipFill>
          <a:blip r:embed="rId1"/>
          <a:stretch/>
        </p:blipFill>
        <p:spPr>
          <a:xfrm>
            <a:off x="0" y="1007280"/>
            <a:ext cx="9165240" cy="5536080"/>
          </a:xfrm>
          <a:prstGeom prst="rect">
            <a:avLst/>
          </a:prstGeom>
          <a:ln w="0">
            <a:noFill/>
          </a:ln>
        </p:spPr>
      </p:pic>
      <p:sp>
        <p:nvSpPr>
          <p:cNvPr id="182" name="TextBox 9"/>
          <p:cNvSpPr/>
          <p:nvPr/>
        </p:nvSpPr>
        <p:spPr>
          <a:xfrm>
            <a:off x="1009440" y="6507720"/>
            <a:ext cx="7219800" cy="368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GB" sz="1800" spc="-1" strike="noStrike">
                <a:solidFill>
                  <a:schemeClr val="dk1"/>
                </a:solidFill>
                <a:latin typeface="Calibri"/>
              </a:rPr>
              <a:t>Source: </a:t>
            </a:r>
            <a:r>
              <a:rPr b="0" lang="en-GB" sz="1800" spc="-1" strike="noStrike" u="sng">
                <a:solidFill>
                  <a:schemeClr val="dk1"/>
                </a:solidFill>
                <a:uFillTx/>
                <a:latin typeface="Calibri"/>
                <a:hlinkClick r:id="rId2"/>
              </a:rPr>
              <a:t>mercer-global-pension-index-2024.pdf</a:t>
            </a:r>
            <a:endParaRPr b="0" lang="en-US" sz="1800" spc="-1" strike="noStrike">
              <a:solidFill>
                <a:srgbClr val="000000"/>
              </a:solidFill>
              <a:latin typeface="Arial"/>
            </a:endParaRPr>
          </a:p>
        </p:txBody>
      </p:sp>
      <p:sp>
        <p:nvSpPr>
          <p:cNvPr id="183" name=""/>
          <p:cNvSpPr txBox="1"/>
          <p:nvPr/>
        </p:nvSpPr>
        <p:spPr>
          <a:xfrm>
            <a:off x="7544160" y="6521400"/>
            <a:ext cx="1600200" cy="346320"/>
          </a:xfrm>
          <a:prstGeom prst="rect">
            <a:avLst/>
          </a:prstGeom>
          <a:noFill/>
          <a:ln w="0">
            <a:noFill/>
          </a:ln>
        </p:spPr>
        <p:txBody>
          <a:bodyPr lIns="90000" rIns="90000" tIns="45000" bIns="45000" anchor="t">
            <a:noAutofit/>
          </a:bodyPr>
          <a:p>
            <a:pPr algn="r"/>
            <a:fld id="{0B46E266-260B-4A7C-9743-73EDA3F05203}" type="slidenum">
              <a:rPr b="0" lang="en-US" sz="1800" spc="-1" strike="noStrike">
                <a:solidFill>
                  <a:srgbClr val="000000"/>
                </a:solidFill>
                <a:latin typeface="Arial"/>
              </a:rPr>
              <a:t>&lt;number&gt;</a:t>
            </a:fld>
            <a:r>
              <a:rPr b="0" lang="en-US" sz="1800" spc="-1" strike="noStrike">
                <a:solidFill>
                  <a:srgbClr val="000000"/>
                </a:solidFill>
                <a:latin typeface="Arial"/>
              </a:rPr>
              <a:t> / </a:t>
            </a:r>
            <a:fld id="{1DAFFBC8-6A95-442C-AA43-4563C78D5F43}"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628560" y="2669040"/>
            <a:ext cx="7886520" cy="13251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a:rPr>
              <a:t>Thank you</a:t>
            </a:r>
            <a:endParaRPr b="0" lang="en-US" sz="4400" spc="-1" strike="noStrike">
              <a:solidFill>
                <a:schemeClr val="dk1"/>
              </a:solidFill>
              <a:latin typeface="Calibri"/>
            </a:endParaRPr>
          </a:p>
        </p:txBody>
      </p:sp>
      <p:sp>
        <p:nvSpPr>
          <p:cNvPr id="185" name=""/>
          <p:cNvSpPr txBox="1"/>
          <p:nvPr/>
        </p:nvSpPr>
        <p:spPr>
          <a:xfrm>
            <a:off x="7543800" y="6521400"/>
            <a:ext cx="1600200" cy="346320"/>
          </a:xfrm>
          <a:prstGeom prst="rect">
            <a:avLst/>
          </a:prstGeom>
          <a:noFill/>
          <a:ln w="0">
            <a:noFill/>
          </a:ln>
        </p:spPr>
        <p:txBody>
          <a:bodyPr lIns="90000" rIns="90000" tIns="45000" bIns="45000" anchor="t">
            <a:noAutofit/>
          </a:bodyPr>
          <a:p>
            <a:pPr algn="r"/>
            <a:fld id="{A3F19FB6-667A-43C4-BB92-01603DC24AB3}" type="slidenum">
              <a:rPr b="0" lang="en-US" sz="1800" spc="-1" strike="noStrike">
                <a:solidFill>
                  <a:srgbClr val="000000"/>
                </a:solidFill>
                <a:latin typeface="Arial"/>
              </a:rPr>
              <a:t>&lt;number&gt;</a:t>
            </a:fld>
            <a:r>
              <a:rPr b="0" lang="en-US" sz="1800" spc="-1" strike="noStrike">
                <a:solidFill>
                  <a:srgbClr val="000000"/>
                </a:solidFill>
                <a:latin typeface="Arial"/>
              </a:rPr>
              <a:t> / </a:t>
            </a:r>
            <a:fld id="{5D557B64-FEF8-4DBF-BF4F-C851C036B30A}" type="slidecount">
              <a:rPr b="0" lang="en-US" sz="1800" spc="-1" strike="noStrike">
                <a:solidFill>
                  <a:srgbClr val="000000"/>
                </a:solidFill>
                <a:latin typeface="Arial"/>
              </a:rPr>
              <a:t>31</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1614</TotalTime>
  <Application>LibreOffice/24.2.7.2$Linux_X86_64 LibreOffice_project/420$Build-2</Application>
  <AppVersion>15.0000</AppVersion>
  <Words>1876</Words>
  <Paragraphs>173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2021-11-17T22:02:46Z</dcterms:created>
  <dc:creator>Armagan Gezici</dc:creator>
  <dc:description/>
  <dc:language>en-US</dc:language>
  <cp:lastModifiedBy>John Andre</cp:lastModifiedBy>
  <cp:lastPrinted>2025-11-28T14:42:55Z</cp:lastPrinted>
  <dcterms:modified xsi:type="dcterms:W3CDTF">2025-11-28T14:43:12Z</dcterms:modified>
  <cp:revision>31</cp:revision>
  <dc:subject/>
  <dc:title>Pension funds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On-screen Show (4:3)</vt:lpwstr>
  </property>
  <property fmtid="{D5CDD505-2E9C-101B-9397-08002B2CF9AE}" pid="4" name="Slides">
    <vt:i4>30</vt:i4>
  </property>
</Properties>
</file>