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7"/>
  </p:notesMasterIdLst>
  <p:sldIdLst>
    <p:sldId id="256" r:id="rId2"/>
    <p:sldId id="438" r:id="rId3"/>
    <p:sldId id="397" r:id="rId4"/>
    <p:sldId id="404" r:id="rId5"/>
    <p:sldId id="420" r:id="rId6"/>
    <p:sldId id="405" r:id="rId7"/>
    <p:sldId id="398" r:id="rId8"/>
    <p:sldId id="270" r:id="rId9"/>
    <p:sldId id="407" r:id="rId10"/>
    <p:sldId id="410" r:id="rId11"/>
    <p:sldId id="409" r:id="rId12"/>
    <p:sldId id="431" r:id="rId13"/>
    <p:sldId id="432" r:id="rId14"/>
    <p:sldId id="345" r:id="rId15"/>
    <p:sldId id="421" r:id="rId16"/>
    <p:sldId id="422" r:id="rId17"/>
    <p:sldId id="363" r:id="rId18"/>
    <p:sldId id="406" r:id="rId19"/>
    <p:sldId id="424" r:id="rId20"/>
    <p:sldId id="425" r:id="rId21"/>
    <p:sldId id="426" r:id="rId22"/>
    <p:sldId id="434" r:id="rId23"/>
    <p:sldId id="436" r:id="rId24"/>
    <p:sldId id="435" r:id="rId25"/>
    <p:sldId id="437" r:id="rId26"/>
    <p:sldId id="429" r:id="rId27"/>
    <p:sldId id="414" r:id="rId28"/>
    <p:sldId id="423" r:id="rId29"/>
    <p:sldId id="415" r:id="rId30"/>
    <p:sldId id="416" r:id="rId31"/>
    <p:sldId id="417" r:id="rId32"/>
    <p:sldId id="430" r:id="rId33"/>
    <p:sldId id="411" r:id="rId34"/>
    <p:sldId id="402" r:id="rId35"/>
    <p:sldId id="403" r:id="rId3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2744"/>
  </p:normalViewPr>
  <p:slideViewPr>
    <p:cSldViewPr snapToGrid="0" snapToObjects="1">
      <p:cViewPr varScale="1">
        <p:scale>
          <a:sx n="42" d="100"/>
          <a:sy n="42" d="100"/>
        </p:scale>
        <p:origin x="1450"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FB-SAHULHAMID\AppData\Local\Temp\Temp1_22-fb-data-ch1.zip\Section%201\1.2.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b="1" dirty="0"/>
              <a:t>Total Net Assets of Worldwide Regulated Open-End Funds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'1.2'!$B$5</c:f>
              <c:strCache>
                <c:ptCount val="1"/>
                <c:pt idx="0">
                  <c:v>Equity</c:v>
                </c:pt>
              </c:strCache>
            </c:strRef>
          </c:tx>
          <c:spPr>
            <a:ln w="28575" cap="rnd">
              <a:solidFill>
                <a:schemeClr val="accent1"/>
              </a:solidFill>
              <a:round/>
            </a:ln>
            <a:effectLst/>
          </c:spPr>
          <c:marker>
            <c:symbol val="none"/>
          </c:marker>
          <c:cat>
            <c:numRef>
              <c:f>'1.2'!$A$6:$A$15</c:f>
              <c:numCache>
                <c:formatCode>General</c:formatCode>
                <c:ptCount val="10"/>
                <c:pt idx="0">
                  <c:v>2012</c:v>
                </c:pt>
                <c:pt idx="1">
                  <c:v>2013</c:v>
                </c:pt>
                <c:pt idx="2">
                  <c:v>2014</c:v>
                </c:pt>
                <c:pt idx="3">
                  <c:v>2015</c:v>
                </c:pt>
                <c:pt idx="4">
                  <c:v>2016</c:v>
                </c:pt>
                <c:pt idx="5">
                  <c:v>2017</c:v>
                </c:pt>
                <c:pt idx="6">
                  <c:v>2018</c:v>
                </c:pt>
                <c:pt idx="7">
                  <c:v>2019</c:v>
                </c:pt>
                <c:pt idx="8">
                  <c:v>2020</c:v>
                </c:pt>
                <c:pt idx="9">
                  <c:v>2021</c:v>
                </c:pt>
              </c:numCache>
            </c:numRef>
          </c:cat>
          <c:val>
            <c:numRef>
              <c:f>'1.2'!$B$6:$B$15</c:f>
              <c:numCache>
                <c:formatCode>#,##0.0</c:formatCode>
                <c:ptCount val="10"/>
                <c:pt idx="0">
                  <c:v>12.4</c:v>
                </c:pt>
                <c:pt idx="1">
                  <c:v>15.5</c:v>
                </c:pt>
                <c:pt idx="2">
                  <c:v>16.5</c:v>
                </c:pt>
                <c:pt idx="3">
                  <c:v>16.3</c:v>
                </c:pt>
                <c:pt idx="4">
                  <c:v>17.399999999999999</c:v>
                </c:pt>
                <c:pt idx="5">
                  <c:v>21.8</c:v>
                </c:pt>
                <c:pt idx="6">
                  <c:v>19.899999999999999</c:v>
                </c:pt>
                <c:pt idx="7">
                  <c:v>24.5</c:v>
                </c:pt>
                <c:pt idx="8">
                  <c:v>28.3</c:v>
                </c:pt>
                <c:pt idx="9">
                  <c:v>33.6</c:v>
                </c:pt>
              </c:numCache>
            </c:numRef>
          </c:val>
          <c:smooth val="0"/>
          <c:extLst>
            <c:ext xmlns:c16="http://schemas.microsoft.com/office/drawing/2014/chart" uri="{C3380CC4-5D6E-409C-BE32-E72D297353CC}">
              <c16:uniqueId val="{00000000-4540-470C-9611-8E03E95036E6}"/>
            </c:ext>
          </c:extLst>
        </c:ser>
        <c:ser>
          <c:idx val="1"/>
          <c:order val="1"/>
          <c:tx>
            <c:strRef>
              <c:f>'1.2'!$C$5</c:f>
              <c:strCache>
                <c:ptCount val="1"/>
                <c:pt idx="0">
                  <c:v>Mixed/Other*</c:v>
                </c:pt>
              </c:strCache>
            </c:strRef>
          </c:tx>
          <c:spPr>
            <a:ln w="28575" cap="rnd">
              <a:solidFill>
                <a:schemeClr val="accent2"/>
              </a:solidFill>
              <a:round/>
            </a:ln>
            <a:effectLst/>
          </c:spPr>
          <c:marker>
            <c:symbol val="none"/>
          </c:marker>
          <c:cat>
            <c:numRef>
              <c:f>'1.2'!$A$6:$A$15</c:f>
              <c:numCache>
                <c:formatCode>General</c:formatCode>
                <c:ptCount val="10"/>
                <c:pt idx="0">
                  <c:v>2012</c:v>
                </c:pt>
                <c:pt idx="1">
                  <c:v>2013</c:v>
                </c:pt>
                <c:pt idx="2">
                  <c:v>2014</c:v>
                </c:pt>
                <c:pt idx="3">
                  <c:v>2015</c:v>
                </c:pt>
                <c:pt idx="4">
                  <c:v>2016</c:v>
                </c:pt>
                <c:pt idx="5">
                  <c:v>2017</c:v>
                </c:pt>
                <c:pt idx="6">
                  <c:v>2018</c:v>
                </c:pt>
                <c:pt idx="7">
                  <c:v>2019</c:v>
                </c:pt>
                <c:pt idx="8">
                  <c:v>2020</c:v>
                </c:pt>
                <c:pt idx="9">
                  <c:v>2021</c:v>
                </c:pt>
              </c:numCache>
            </c:numRef>
          </c:cat>
          <c:val>
            <c:numRef>
              <c:f>'1.2'!$C$6:$C$15</c:f>
              <c:numCache>
                <c:formatCode>#,##0.0</c:formatCode>
                <c:ptCount val="10"/>
                <c:pt idx="0">
                  <c:v>7.2</c:v>
                </c:pt>
                <c:pt idx="1">
                  <c:v>8</c:v>
                </c:pt>
                <c:pt idx="2">
                  <c:v>8.5</c:v>
                </c:pt>
                <c:pt idx="3">
                  <c:v>8.6999999999999993</c:v>
                </c:pt>
                <c:pt idx="4">
                  <c:v>9.3000000000000007</c:v>
                </c:pt>
                <c:pt idx="5">
                  <c:v>11.2</c:v>
                </c:pt>
                <c:pt idx="6">
                  <c:v>10.6</c:v>
                </c:pt>
                <c:pt idx="7">
                  <c:v>11.6</c:v>
                </c:pt>
                <c:pt idx="8">
                  <c:v>13.4</c:v>
                </c:pt>
                <c:pt idx="9">
                  <c:v>14.9</c:v>
                </c:pt>
              </c:numCache>
            </c:numRef>
          </c:val>
          <c:smooth val="0"/>
          <c:extLst>
            <c:ext xmlns:c16="http://schemas.microsoft.com/office/drawing/2014/chart" uri="{C3380CC4-5D6E-409C-BE32-E72D297353CC}">
              <c16:uniqueId val="{00000001-4540-470C-9611-8E03E95036E6}"/>
            </c:ext>
          </c:extLst>
        </c:ser>
        <c:ser>
          <c:idx val="2"/>
          <c:order val="2"/>
          <c:tx>
            <c:strRef>
              <c:f>'1.2'!$D$5</c:f>
              <c:strCache>
                <c:ptCount val="1"/>
                <c:pt idx="0">
                  <c:v>Bond</c:v>
                </c:pt>
              </c:strCache>
            </c:strRef>
          </c:tx>
          <c:spPr>
            <a:ln w="28575" cap="rnd">
              <a:solidFill>
                <a:schemeClr val="accent3"/>
              </a:solidFill>
              <a:round/>
            </a:ln>
            <a:effectLst/>
          </c:spPr>
          <c:marker>
            <c:symbol val="none"/>
          </c:marker>
          <c:cat>
            <c:numRef>
              <c:f>'1.2'!$A$6:$A$15</c:f>
              <c:numCache>
                <c:formatCode>General</c:formatCode>
                <c:ptCount val="10"/>
                <c:pt idx="0">
                  <c:v>2012</c:v>
                </c:pt>
                <c:pt idx="1">
                  <c:v>2013</c:v>
                </c:pt>
                <c:pt idx="2">
                  <c:v>2014</c:v>
                </c:pt>
                <c:pt idx="3">
                  <c:v>2015</c:v>
                </c:pt>
                <c:pt idx="4">
                  <c:v>2016</c:v>
                </c:pt>
                <c:pt idx="5">
                  <c:v>2017</c:v>
                </c:pt>
                <c:pt idx="6">
                  <c:v>2018</c:v>
                </c:pt>
                <c:pt idx="7">
                  <c:v>2019</c:v>
                </c:pt>
                <c:pt idx="8">
                  <c:v>2020</c:v>
                </c:pt>
                <c:pt idx="9">
                  <c:v>2021</c:v>
                </c:pt>
              </c:numCache>
            </c:numRef>
          </c:cat>
          <c:val>
            <c:numRef>
              <c:f>'1.2'!$D$6:$D$15</c:f>
              <c:numCache>
                <c:formatCode>#,##0.0</c:formatCode>
                <c:ptCount val="10"/>
                <c:pt idx="0">
                  <c:v>7.9</c:v>
                </c:pt>
                <c:pt idx="1">
                  <c:v>8</c:v>
                </c:pt>
                <c:pt idx="2">
                  <c:v>8.4</c:v>
                </c:pt>
                <c:pt idx="3">
                  <c:v>8</c:v>
                </c:pt>
                <c:pt idx="4">
                  <c:v>8.8000000000000007</c:v>
                </c:pt>
                <c:pt idx="5">
                  <c:v>10.4</c:v>
                </c:pt>
                <c:pt idx="6">
                  <c:v>10.1</c:v>
                </c:pt>
                <c:pt idx="7">
                  <c:v>11.8</c:v>
                </c:pt>
                <c:pt idx="8">
                  <c:v>13.1</c:v>
                </c:pt>
                <c:pt idx="9">
                  <c:v>13.7</c:v>
                </c:pt>
              </c:numCache>
            </c:numRef>
          </c:val>
          <c:smooth val="0"/>
          <c:extLst>
            <c:ext xmlns:c16="http://schemas.microsoft.com/office/drawing/2014/chart" uri="{C3380CC4-5D6E-409C-BE32-E72D297353CC}">
              <c16:uniqueId val="{00000002-4540-470C-9611-8E03E95036E6}"/>
            </c:ext>
          </c:extLst>
        </c:ser>
        <c:ser>
          <c:idx val="3"/>
          <c:order val="3"/>
          <c:tx>
            <c:strRef>
              <c:f>'1.2'!$E$5</c:f>
              <c:strCache>
                <c:ptCount val="1"/>
                <c:pt idx="0">
                  <c:v>Money market</c:v>
                </c:pt>
              </c:strCache>
            </c:strRef>
          </c:tx>
          <c:spPr>
            <a:ln w="28575" cap="rnd">
              <a:solidFill>
                <a:schemeClr val="accent4"/>
              </a:solidFill>
              <a:round/>
            </a:ln>
            <a:effectLst/>
          </c:spPr>
          <c:marker>
            <c:symbol val="none"/>
          </c:marker>
          <c:cat>
            <c:numRef>
              <c:f>'1.2'!$A$6:$A$15</c:f>
              <c:numCache>
                <c:formatCode>General</c:formatCode>
                <c:ptCount val="10"/>
                <c:pt idx="0">
                  <c:v>2012</c:v>
                </c:pt>
                <c:pt idx="1">
                  <c:v>2013</c:v>
                </c:pt>
                <c:pt idx="2">
                  <c:v>2014</c:v>
                </c:pt>
                <c:pt idx="3">
                  <c:v>2015</c:v>
                </c:pt>
                <c:pt idx="4">
                  <c:v>2016</c:v>
                </c:pt>
                <c:pt idx="5">
                  <c:v>2017</c:v>
                </c:pt>
                <c:pt idx="6">
                  <c:v>2018</c:v>
                </c:pt>
                <c:pt idx="7">
                  <c:v>2019</c:v>
                </c:pt>
                <c:pt idx="8">
                  <c:v>2020</c:v>
                </c:pt>
                <c:pt idx="9">
                  <c:v>2021</c:v>
                </c:pt>
              </c:numCache>
            </c:numRef>
          </c:cat>
          <c:val>
            <c:numRef>
              <c:f>'1.2'!$E$6:$E$15</c:f>
              <c:numCache>
                <c:formatCode>#,##0.0</c:formatCode>
                <c:ptCount val="10"/>
                <c:pt idx="0">
                  <c:v>4.9000000000000004</c:v>
                </c:pt>
                <c:pt idx="1">
                  <c:v>4.9000000000000004</c:v>
                </c:pt>
                <c:pt idx="2">
                  <c:v>4.7</c:v>
                </c:pt>
                <c:pt idx="3">
                  <c:v>5.2</c:v>
                </c:pt>
                <c:pt idx="4">
                  <c:v>5.0999999999999996</c:v>
                </c:pt>
                <c:pt idx="5">
                  <c:v>5.9</c:v>
                </c:pt>
                <c:pt idx="6">
                  <c:v>6.1</c:v>
                </c:pt>
                <c:pt idx="7">
                  <c:v>6.9</c:v>
                </c:pt>
                <c:pt idx="8">
                  <c:v>8.3000000000000007</c:v>
                </c:pt>
                <c:pt idx="9">
                  <c:v>8.8000000000000007</c:v>
                </c:pt>
              </c:numCache>
            </c:numRef>
          </c:val>
          <c:smooth val="0"/>
          <c:extLst>
            <c:ext xmlns:c16="http://schemas.microsoft.com/office/drawing/2014/chart" uri="{C3380CC4-5D6E-409C-BE32-E72D297353CC}">
              <c16:uniqueId val="{00000003-4540-470C-9611-8E03E95036E6}"/>
            </c:ext>
          </c:extLst>
        </c:ser>
        <c:dLbls>
          <c:showLegendKey val="0"/>
          <c:showVal val="0"/>
          <c:showCatName val="0"/>
          <c:showSerName val="0"/>
          <c:showPercent val="0"/>
          <c:showBubbleSize val="0"/>
        </c:dLbls>
        <c:smooth val="0"/>
        <c:axId val="1011912159"/>
        <c:axId val="1011910911"/>
      </c:lineChart>
      <c:catAx>
        <c:axId val="10119121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11910911"/>
        <c:crosses val="autoZero"/>
        <c:auto val="1"/>
        <c:lblAlgn val="ctr"/>
        <c:lblOffset val="100"/>
        <c:noMultiLvlLbl val="0"/>
      </c:catAx>
      <c:valAx>
        <c:axId val="1011910911"/>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1191215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430831-6735-3F42-A109-3209C7F325F4}" type="datetimeFigureOut">
              <a:rPr lang="en-GB" smtClean="0"/>
              <a:t>10/12/2025</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1F9858-BDF8-D145-83BB-3907369F53F4}" type="slidenum">
              <a:rPr lang="en-GB" smtClean="0"/>
              <a:t>‹#›</a:t>
            </a:fld>
            <a:endParaRPr lang="en-GB"/>
          </a:p>
        </p:txBody>
      </p:sp>
    </p:spTree>
    <p:extLst>
      <p:ext uri="{BB962C8B-B14F-4D97-AF65-F5344CB8AC3E}">
        <p14:creationId xmlns:p14="http://schemas.microsoft.com/office/powerpoint/2010/main" val="9089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2C700779-34F7-694E-B220-0A723DA3082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E6E30002-DB21-4A4C-9614-375687A09BA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p>
        </p:txBody>
      </p:sp>
      <p:sp>
        <p:nvSpPr>
          <p:cNvPr id="4" name="Slide Number Placeholder 3">
            <a:extLst>
              <a:ext uri="{FF2B5EF4-FFF2-40B4-BE49-F238E27FC236}">
                <a16:creationId xmlns:a16="http://schemas.microsoft.com/office/drawing/2014/main" id="{66B8D322-951F-4B42-9960-36F4E6D088AE}"/>
              </a:ext>
            </a:extLst>
          </p:cNvPr>
          <p:cNvSpPr>
            <a:spLocks noGrp="1"/>
          </p:cNvSpPr>
          <p:nvPr>
            <p:ph type="sldNum" sz="quarter" idx="5"/>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76C1FC76-8AE7-D846-B08D-91520BF93F73}" type="slidenum">
              <a:rPr lang="en-GB" altLang="en-US"/>
              <a:pPr/>
              <a:t>8</a:t>
            </a:fld>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81F9858-BDF8-D145-83BB-3907369F53F4}" type="slidenum">
              <a:rPr lang="en-GB" smtClean="0"/>
              <a:t>32</a:t>
            </a:fld>
            <a:endParaRPr lang="en-GB"/>
          </a:p>
        </p:txBody>
      </p:sp>
    </p:spTree>
    <p:extLst>
      <p:ext uri="{BB962C8B-B14F-4D97-AF65-F5344CB8AC3E}">
        <p14:creationId xmlns:p14="http://schemas.microsoft.com/office/powerpoint/2010/main" val="19072182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normAutofit/>
          </a:bodyPr>
          <a:lstStyle>
            <a:lvl1pPr algn="ctr">
              <a:defRPr sz="4400" b="1">
                <a:solidFill>
                  <a:srgbClr val="0070C0"/>
                </a:solidFill>
              </a:defRPr>
            </a:lvl1pPr>
          </a:lstStyle>
          <a:p>
            <a:r>
              <a:rPr lang="en-GB" dirty="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82B5215C-13AF-2C42-93A1-6FD44F6C0739}" type="datetimeFigureOut">
              <a:rPr lang="en-GB" smtClean="0"/>
              <a:t>10/12/2025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83082F-1912-7B48-8A92-4FCBA4C6660B}" type="slidenum">
              <a:rPr lang="en-GB" smtClean="0"/>
              <a:t>‹#›</a:t>
            </a:fld>
            <a:endParaRPr lang="en-GB"/>
          </a:p>
        </p:txBody>
      </p:sp>
    </p:spTree>
    <p:extLst>
      <p:ext uri="{BB962C8B-B14F-4D97-AF65-F5344CB8AC3E}">
        <p14:creationId xmlns:p14="http://schemas.microsoft.com/office/powerpoint/2010/main" val="3402806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2B5215C-13AF-2C42-93A1-6FD44F6C0739}" type="datetimeFigureOut">
              <a:rPr lang="en-GB" smtClean="0"/>
              <a:t>10/12/2025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83082F-1912-7B48-8A92-4FCBA4C6660B}" type="slidenum">
              <a:rPr lang="en-GB" smtClean="0"/>
              <a:t>‹#›</a:t>
            </a:fld>
            <a:endParaRPr lang="en-GB"/>
          </a:p>
        </p:txBody>
      </p:sp>
    </p:spTree>
    <p:extLst>
      <p:ext uri="{BB962C8B-B14F-4D97-AF65-F5344CB8AC3E}">
        <p14:creationId xmlns:p14="http://schemas.microsoft.com/office/powerpoint/2010/main" val="3334518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2B5215C-13AF-2C42-93A1-6FD44F6C0739}" type="datetimeFigureOut">
              <a:rPr lang="en-GB" smtClean="0"/>
              <a:t>10/12/2025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83082F-1912-7B48-8A92-4FCBA4C6660B}" type="slidenum">
              <a:rPr lang="en-GB" smtClean="0"/>
              <a:t>‹#›</a:t>
            </a:fld>
            <a:endParaRPr lang="en-GB"/>
          </a:p>
        </p:txBody>
      </p:sp>
    </p:spTree>
    <p:extLst>
      <p:ext uri="{BB962C8B-B14F-4D97-AF65-F5344CB8AC3E}">
        <p14:creationId xmlns:p14="http://schemas.microsoft.com/office/powerpoint/2010/main" val="686479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82B5215C-13AF-2C42-93A1-6FD44F6C0739}" type="datetimeFigureOut">
              <a:rPr lang="en-GB" smtClean="0"/>
              <a:t>10/12/2025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83082F-1912-7B48-8A92-4FCBA4C6660B}" type="slidenum">
              <a:rPr lang="en-GB" smtClean="0"/>
              <a:t>‹#›</a:t>
            </a:fld>
            <a:endParaRPr lang="en-GB"/>
          </a:p>
        </p:txBody>
      </p:sp>
    </p:spTree>
    <p:extLst>
      <p:ext uri="{BB962C8B-B14F-4D97-AF65-F5344CB8AC3E}">
        <p14:creationId xmlns:p14="http://schemas.microsoft.com/office/powerpoint/2010/main" val="954405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82B5215C-13AF-2C42-93A1-6FD44F6C0739}" type="datetimeFigureOut">
              <a:rPr lang="en-GB" smtClean="0"/>
              <a:t>10/12/2025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983082F-1912-7B48-8A92-4FCBA4C6660B}" type="slidenum">
              <a:rPr lang="en-GB" smtClean="0"/>
              <a:t>‹#›</a:t>
            </a:fld>
            <a:endParaRPr lang="en-GB"/>
          </a:p>
        </p:txBody>
      </p:sp>
    </p:spTree>
    <p:extLst>
      <p:ext uri="{BB962C8B-B14F-4D97-AF65-F5344CB8AC3E}">
        <p14:creationId xmlns:p14="http://schemas.microsoft.com/office/powerpoint/2010/main" val="1254977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82B5215C-13AF-2C42-93A1-6FD44F6C0739}" type="datetimeFigureOut">
              <a:rPr lang="en-GB" smtClean="0"/>
              <a:t>10/12/2025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983082F-1912-7B48-8A92-4FCBA4C6660B}" type="slidenum">
              <a:rPr lang="en-GB" smtClean="0"/>
              <a:t>‹#›</a:t>
            </a:fld>
            <a:endParaRPr lang="en-GB"/>
          </a:p>
        </p:txBody>
      </p:sp>
    </p:spTree>
    <p:extLst>
      <p:ext uri="{BB962C8B-B14F-4D97-AF65-F5344CB8AC3E}">
        <p14:creationId xmlns:p14="http://schemas.microsoft.com/office/powerpoint/2010/main" val="459528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B5215C-13AF-2C42-93A1-6FD44F6C0739}" type="datetimeFigureOut">
              <a:rPr lang="en-GB" smtClean="0"/>
              <a:t>10/12/2025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983082F-1912-7B48-8A92-4FCBA4C6660B}" type="slidenum">
              <a:rPr lang="en-GB" smtClean="0"/>
              <a:t>‹#›</a:t>
            </a:fld>
            <a:endParaRPr lang="en-GB"/>
          </a:p>
        </p:txBody>
      </p:sp>
    </p:spTree>
    <p:extLst>
      <p:ext uri="{BB962C8B-B14F-4D97-AF65-F5344CB8AC3E}">
        <p14:creationId xmlns:p14="http://schemas.microsoft.com/office/powerpoint/2010/main" val="2487708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2B5215C-13AF-2C42-93A1-6FD44F6C0739}" type="datetimeFigureOut">
              <a:rPr lang="en-GB" smtClean="0"/>
              <a:t>10/12/2025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83082F-1912-7B48-8A92-4FCBA4C6660B}" type="slidenum">
              <a:rPr lang="en-GB" smtClean="0"/>
              <a:t>‹#›</a:t>
            </a:fld>
            <a:endParaRPr lang="en-GB"/>
          </a:p>
        </p:txBody>
      </p:sp>
    </p:spTree>
    <p:extLst>
      <p:ext uri="{BB962C8B-B14F-4D97-AF65-F5344CB8AC3E}">
        <p14:creationId xmlns:p14="http://schemas.microsoft.com/office/powerpoint/2010/main" val="18873945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2B5215C-13AF-2C42-93A1-6FD44F6C0739}" type="datetimeFigureOut">
              <a:rPr lang="en-GB" smtClean="0"/>
              <a:t>10/12/2025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83082F-1912-7B48-8A92-4FCBA4C6660B}" type="slidenum">
              <a:rPr lang="en-GB" smtClean="0"/>
              <a:t>‹#›</a:t>
            </a:fld>
            <a:endParaRPr lang="en-GB"/>
          </a:p>
        </p:txBody>
      </p:sp>
    </p:spTree>
    <p:extLst>
      <p:ext uri="{BB962C8B-B14F-4D97-AF65-F5344CB8AC3E}">
        <p14:creationId xmlns:p14="http://schemas.microsoft.com/office/powerpoint/2010/main" val="38614798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2B5215C-13AF-2C42-93A1-6FD44F6C0739}" type="datetimeFigureOut">
              <a:rPr lang="en-GB" smtClean="0"/>
              <a:t>10/12/2025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83082F-1912-7B48-8A92-4FCBA4C6660B}" type="slidenum">
              <a:rPr lang="en-GB" smtClean="0"/>
              <a:t>‹#›</a:t>
            </a:fld>
            <a:endParaRPr lang="en-GB"/>
          </a:p>
        </p:txBody>
      </p:sp>
    </p:spTree>
    <p:extLst>
      <p:ext uri="{BB962C8B-B14F-4D97-AF65-F5344CB8AC3E}">
        <p14:creationId xmlns:p14="http://schemas.microsoft.com/office/powerpoint/2010/main" val="3012509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2B5215C-13AF-2C42-93A1-6FD44F6C0739}" type="datetimeFigureOut">
              <a:rPr lang="en-GB" smtClean="0"/>
              <a:t>10/12/2025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83082F-1912-7B48-8A92-4FCBA4C6660B}" type="slidenum">
              <a:rPr lang="en-GB" smtClean="0"/>
              <a:t>‹#›</a:t>
            </a:fld>
            <a:endParaRPr lang="en-GB"/>
          </a:p>
        </p:txBody>
      </p:sp>
    </p:spTree>
    <p:extLst>
      <p:ext uri="{BB962C8B-B14F-4D97-AF65-F5344CB8AC3E}">
        <p14:creationId xmlns:p14="http://schemas.microsoft.com/office/powerpoint/2010/main" val="41917477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B5215C-13AF-2C42-93A1-6FD44F6C0739}" type="datetimeFigureOut">
              <a:rPr lang="en-GB" smtClean="0"/>
              <a:t>10/12/2025</a:t>
            </a:fld>
            <a:endParaRPr lang="en-GB"/>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83082F-1912-7B48-8A92-4FCBA4C6660B}" type="slidenum">
              <a:rPr lang="en-GB" smtClean="0"/>
              <a:t>‹#›</a:t>
            </a:fld>
            <a:endParaRPr lang="en-GB"/>
          </a:p>
        </p:txBody>
      </p:sp>
      <p:sp>
        <p:nvSpPr>
          <p:cNvPr id="8" name="TextBox 7">
            <a:extLst>
              <a:ext uri="{FF2B5EF4-FFF2-40B4-BE49-F238E27FC236}">
                <a16:creationId xmlns:a16="http://schemas.microsoft.com/office/drawing/2014/main" id="{9C30A434-E821-70F6-097B-EB4CF908272F}"/>
              </a:ext>
            </a:extLst>
          </p:cNvPr>
          <p:cNvSpPr txBox="1"/>
          <p:nvPr userDrawn="1">
            <p:extLst>
              <p:ext uri="{1162E1C5-73C7-4A58-AE30-91384D911F3F}">
                <p184:classification xmlns:p184="http://schemas.microsoft.com/office/powerpoint/2018/4/main" val="ftr"/>
              </p:ext>
            </p:extLst>
          </p:nvPr>
        </p:nvSpPr>
        <p:spPr>
          <a:xfrm>
            <a:off x="63500" y="6657340"/>
            <a:ext cx="2173288" cy="137160"/>
          </a:xfrm>
          <a:prstGeom prst="rect">
            <a:avLst/>
          </a:prstGeom>
        </p:spPr>
        <p:txBody>
          <a:bodyPr horzOverflow="overflow" lIns="0" tIns="0" rIns="0" bIns="0">
            <a:spAutoFit/>
          </a:bodyPr>
          <a:lstStyle/>
          <a:p>
            <a:pPr algn="l"/>
            <a:r>
              <a:rPr lang="en-GB" sz="900">
                <a:solidFill>
                  <a:srgbClr val="000000">
                    <a:alpha val="50000"/>
                  </a:srgbClr>
                </a:solidFill>
                <a:latin typeface="Aptos" panose="020B0004020202020204" pitchFamily="34" charset="0"/>
              </a:rPr>
              <a:t>Sensitivity label: Students, Staff and Guests</a:t>
            </a:r>
          </a:p>
        </p:txBody>
      </p:sp>
    </p:spTree>
    <p:extLst>
      <p:ext uri="{BB962C8B-B14F-4D97-AF65-F5344CB8AC3E}">
        <p14:creationId xmlns:p14="http://schemas.microsoft.com/office/powerpoint/2010/main" val="23250500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1" kern="1200">
          <a:solidFill>
            <a:srgbClr val="0070C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ici.org/statistical-report/ww_q2_24#:~:text=Percentage%20of%20Worldwide%20Regulated%20Open%2DEnd%20Fund%20Assets&amp;text=At%20the%20end%20of%20the%20second%20quarter%20of%202024%2C%2048,mixed%20funds%20was%2010%20percent." TargetMode="External"/><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www.theia.org/industry-data/fund-statistics/monthly-company-rankings/2023/total/6" TargetMode="External"/><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C5BD9-5BC0-E547-A04F-DA3536347B25}"/>
              </a:ext>
            </a:extLst>
          </p:cNvPr>
          <p:cNvSpPr>
            <a:spLocks noGrp="1"/>
          </p:cNvSpPr>
          <p:nvPr>
            <p:ph type="ctrTitle"/>
          </p:nvPr>
        </p:nvSpPr>
        <p:spPr/>
        <p:txBody>
          <a:bodyPr/>
          <a:lstStyle/>
          <a:p>
            <a:r>
              <a:rPr lang="en-GB" dirty="0"/>
              <a:t>Week 12</a:t>
            </a:r>
            <a:br>
              <a:rPr lang="en-GB" dirty="0"/>
            </a:br>
            <a:br>
              <a:rPr lang="en-GB" dirty="0"/>
            </a:br>
            <a:r>
              <a:rPr lang="en-GB" dirty="0"/>
              <a:t>Investment funds</a:t>
            </a:r>
          </a:p>
        </p:txBody>
      </p:sp>
    </p:spTree>
    <p:extLst>
      <p:ext uri="{BB962C8B-B14F-4D97-AF65-F5344CB8AC3E}">
        <p14:creationId xmlns:p14="http://schemas.microsoft.com/office/powerpoint/2010/main" val="27327517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3FDB2-7ECB-220D-724A-02D5CEA04A87}"/>
              </a:ext>
            </a:extLst>
          </p:cNvPr>
          <p:cNvSpPr>
            <a:spLocks noGrp="1"/>
          </p:cNvSpPr>
          <p:nvPr>
            <p:ph type="title"/>
          </p:nvPr>
        </p:nvSpPr>
        <p:spPr/>
        <p:txBody>
          <a:bodyPr/>
          <a:lstStyle/>
          <a:p>
            <a:r>
              <a:rPr lang="en-GB" dirty="0"/>
              <a:t>Learning Objectives</a:t>
            </a:r>
          </a:p>
        </p:txBody>
      </p:sp>
      <p:sp>
        <p:nvSpPr>
          <p:cNvPr id="3" name="Content Placeholder 2">
            <a:extLst>
              <a:ext uri="{FF2B5EF4-FFF2-40B4-BE49-F238E27FC236}">
                <a16:creationId xmlns:a16="http://schemas.microsoft.com/office/drawing/2014/main" id="{01925314-58BA-ED15-8122-3B8B73ADEE0B}"/>
              </a:ext>
            </a:extLst>
          </p:cNvPr>
          <p:cNvSpPr>
            <a:spLocks noGrp="1"/>
          </p:cNvSpPr>
          <p:nvPr>
            <p:ph idx="1"/>
          </p:nvPr>
        </p:nvSpPr>
        <p:spPr/>
        <p:txBody>
          <a:bodyPr/>
          <a:lstStyle/>
          <a:p>
            <a:pPr marL="0" indent="0">
              <a:buNone/>
            </a:pPr>
            <a:r>
              <a:rPr lang="en-GB" dirty="0"/>
              <a:t>By the end of this lecture, you will be able to:</a:t>
            </a:r>
          </a:p>
          <a:p>
            <a:r>
              <a:rPr lang="en-GB" b="1" dirty="0"/>
              <a:t>Identify</a:t>
            </a:r>
            <a:r>
              <a:rPr lang="en-GB" dirty="0"/>
              <a:t> the rationale for investing in investment funds.</a:t>
            </a:r>
          </a:p>
          <a:p>
            <a:r>
              <a:rPr lang="en-GB" dirty="0"/>
              <a:t>Distinguish between the different types of investment funds.</a:t>
            </a:r>
          </a:p>
          <a:p>
            <a:r>
              <a:rPr lang="en-GB" dirty="0"/>
              <a:t>Examine current developments and trends in the investment fund industry.</a:t>
            </a:r>
          </a:p>
        </p:txBody>
      </p:sp>
    </p:spTree>
    <p:extLst>
      <p:ext uri="{BB962C8B-B14F-4D97-AF65-F5344CB8AC3E}">
        <p14:creationId xmlns:p14="http://schemas.microsoft.com/office/powerpoint/2010/main" val="28607250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45F21E3F-09B9-4939-AABB-F29A50AEE568}"/>
              </a:ext>
            </a:extLst>
          </p:cNvPr>
          <p:cNvSpPr>
            <a:spLocks noGrp="1" noChangeArrowheads="1"/>
          </p:cNvSpPr>
          <p:nvPr>
            <p:ph type="title"/>
          </p:nvPr>
        </p:nvSpPr>
        <p:spPr>
          <a:xfrm>
            <a:off x="628650" y="365127"/>
            <a:ext cx="7886700" cy="768730"/>
          </a:xfrm>
        </p:spPr>
        <p:txBody>
          <a:bodyPr/>
          <a:lstStyle/>
          <a:p>
            <a:pPr>
              <a:defRPr/>
            </a:pPr>
            <a:r>
              <a:rPr lang="en-US" altLang="en-US" sz="2700" dirty="0">
                <a:latin typeface="Calibri" panose="020F0502020204030204" pitchFamily="34" charset="0"/>
                <a:cs typeface="Calibri" panose="020F0502020204030204" pitchFamily="34" charset="0"/>
              </a:rPr>
              <a:t>Investment Funds</a:t>
            </a:r>
            <a:endParaRPr lang="en-GB" altLang="en-US" sz="2700" dirty="0">
              <a:latin typeface="Calibri" panose="020F0502020204030204" pitchFamily="34" charset="0"/>
              <a:cs typeface="Calibri" panose="020F0502020204030204" pitchFamily="34" charset="0"/>
            </a:endParaRPr>
          </a:p>
        </p:txBody>
      </p:sp>
      <p:sp>
        <p:nvSpPr>
          <p:cNvPr id="32771" name="Content Placeholder 2">
            <a:extLst>
              <a:ext uri="{FF2B5EF4-FFF2-40B4-BE49-F238E27FC236}">
                <a16:creationId xmlns:a16="http://schemas.microsoft.com/office/drawing/2014/main" id="{6162B2AF-8C94-424E-811D-4C860D4097CC}"/>
              </a:ext>
            </a:extLst>
          </p:cNvPr>
          <p:cNvSpPr>
            <a:spLocks noGrp="1" noChangeArrowheads="1"/>
          </p:cNvSpPr>
          <p:nvPr>
            <p:ph idx="1"/>
          </p:nvPr>
        </p:nvSpPr>
        <p:spPr>
          <a:xfrm>
            <a:off x="628650" y="1133856"/>
            <a:ext cx="7886700" cy="5043107"/>
          </a:xfrm>
        </p:spPr>
        <p:txBody>
          <a:bodyPr>
            <a:normAutofit/>
          </a:bodyPr>
          <a:lstStyle/>
          <a:p>
            <a:pPr marL="0" indent="0">
              <a:buNone/>
              <a:defRPr/>
            </a:pPr>
            <a:endParaRPr lang="en-US" altLang="en-US" sz="2000" dirty="0">
              <a:latin typeface="Calibri" panose="020F0502020204030204" pitchFamily="34" charset="0"/>
              <a:ea typeface="+mj-ea"/>
              <a:cs typeface="Calibri" panose="020F0502020204030204" pitchFamily="34" charset="0"/>
            </a:endParaRPr>
          </a:p>
          <a:p>
            <a:pPr marL="0" indent="0">
              <a:buNone/>
              <a:defRPr/>
            </a:pPr>
            <a:r>
              <a:rPr lang="en-US" altLang="en-US" sz="2000" dirty="0">
                <a:ea typeface="+mj-ea"/>
                <a:cs typeface="Calibri" panose="020F0502020204030204" pitchFamily="34" charset="0"/>
              </a:rPr>
              <a:t>When investors decide to invest, there are two ways to do:</a:t>
            </a:r>
          </a:p>
          <a:p>
            <a:pPr marL="0" indent="0">
              <a:buNone/>
              <a:defRPr/>
            </a:pPr>
            <a:r>
              <a:rPr lang="en-GB" altLang="en-US" sz="2000" dirty="0">
                <a:ea typeface="+mj-ea"/>
                <a:cs typeface="Calibri" panose="020F0502020204030204" pitchFamily="34" charset="0"/>
              </a:rPr>
              <a:t>Direct investment in assets</a:t>
            </a:r>
            <a:r>
              <a:rPr lang="en-US" altLang="en-US" sz="2000" dirty="0">
                <a:cs typeface="Calibri" panose="020F0502020204030204" pitchFamily="34" charset="0"/>
              </a:rPr>
              <a:t> (shares of a company, government securities, corporate bonds…</a:t>
            </a:r>
            <a:r>
              <a:rPr lang="en-US" altLang="en-US" sz="2000" dirty="0" err="1">
                <a:cs typeface="Calibri" panose="020F0502020204030204" pitchFamily="34" charset="0"/>
              </a:rPr>
              <a:t>etc</a:t>
            </a:r>
            <a:r>
              <a:rPr lang="en-US" altLang="en-US" sz="2000" dirty="0">
                <a:cs typeface="Calibri" panose="020F0502020204030204" pitchFamily="34" charset="0"/>
              </a:rPr>
              <a:t>) - </a:t>
            </a:r>
            <a:r>
              <a:rPr lang="en-GB" altLang="en-US" sz="2000" dirty="0">
                <a:ea typeface="+mj-ea"/>
                <a:cs typeface="Calibri" panose="020F0502020204030204" pitchFamily="34" charset="0"/>
              </a:rPr>
              <a:t>individual personally buys the assets.  Example: buy Tesco Plc shares </a:t>
            </a:r>
          </a:p>
          <a:p>
            <a:pPr marL="0" indent="0">
              <a:buNone/>
              <a:defRPr/>
            </a:pPr>
            <a:r>
              <a:rPr lang="en-GB" altLang="en-US" sz="2000" dirty="0">
                <a:ea typeface="+mj-ea"/>
                <a:cs typeface="Calibri" panose="020F0502020204030204" pitchFamily="34" charset="0"/>
              </a:rPr>
              <a:t>Indirect investment in assets </a:t>
            </a:r>
            <a:r>
              <a:rPr lang="en-US" altLang="en-US" sz="2000" dirty="0">
                <a:cs typeface="Calibri" panose="020F0502020204030204" pitchFamily="34" charset="0"/>
              </a:rPr>
              <a:t>(shares of a company, government securities, corporate bonds…</a:t>
            </a:r>
            <a:r>
              <a:rPr lang="en-US" altLang="en-US" sz="2000" dirty="0" err="1">
                <a:cs typeface="Calibri" panose="020F0502020204030204" pitchFamily="34" charset="0"/>
              </a:rPr>
              <a:t>etc</a:t>
            </a:r>
            <a:r>
              <a:rPr lang="en-US" altLang="en-US" sz="2000" dirty="0">
                <a:cs typeface="Calibri" panose="020F0502020204030204" pitchFamily="34" charset="0"/>
              </a:rPr>
              <a:t>)  - </a:t>
            </a:r>
            <a:r>
              <a:rPr lang="en-GB" altLang="en-US" sz="2000" dirty="0">
                <a:ea typeface="+mj-ea"/>
                <a:cs typeface="Calibri" panose="020F0502020204030204" pitchFamily="34" charset="0"/>
              </a:rPr>
              <a:t> individual buys a stake in an investment fund, such as a mutual fund</a:t>
            </a:r>
          </a:p>
          <a:p>
            <a:pPr marL="0" indent="0">
              <a:buNone/>
              <a:defRPr/>
            </a:pPr>
            <a:r>
              <a:rPr lang="en-GB" altLang="en-US" sz="2000" dirty="0">
                <a:ea typeface="+mj-ea"/>
                <a:cs typeface="Calibri" panose="020F0502020204030204" pitchFamily="34" charset="0"/>
              </a:rPr>
              <a:t>Achieving an adequate spread of investments through holding direct investments requires a large amount of money.</a:t>
            </a:r>
          </a:p>
          <a:p>
            <a:pPr marL="0" indent="0">
              <a:buNone/>
              <a:defRPr/>
            </a:pPr>
            <a:r>
              <a:rPr lang="en-GB" altLang="en-US" sz="2000" dirty="0">
                <a:ea typeface="+mj-ea"/>
                <a:cs typeface="Calibri" panose="020F0502020204030204" pitchFamily="34" charset="0"/>
              </a:rPr>
              <a:t>Investment funds </a:t>
            </a:r>
            <a:r>
              <a:rPr lang="en-GB" sz="2000" dirty="0"/>
              <a:t>pool the resources of many investors to provide access to a range of investments.</a:t>
            </a:r>
          </a:p>
          <a:p>
            <a:pPr marL="0" indent="0">
              <a:buNone/>
              <a:defRPr/>
            </a:pPr>
            <a:r>
              <a:rPr lang="en-GB" altLang="en-US" sz="2000" dirty="0">
                <a:ea typeface="+mj-ea"/>
                <a:cs typeface="Calibri" panose="020F0502020204030204" pitchFamily="34" charset="0"/>
              </a:rPr>
              <a:t>Their aim to </a:t>
            </a:r>
            <a:r>
              <a:rPr lang="en-US" altLang="en-US" sz="2000" dirty="0">
                <a:ea typeface="+mj-ea"/>
                <a:cs typeface="Calibri" panose="020F0502020204030204" pitchFamily="34" charset="0"/>
              </a:rPr>
              <a:t>pursue a common investment objective. </a:t>
            </a:r>
          </a:p>
          <a:p>
            <a:pPr>
              <a:buFontTx/>
              <a:buNone/>
              <a:defRPr/>
            </a:pPr>
            <a:endParaRPr lang="en-GB" altLang="en-US" sz="3200" dirty="0"/>
          </a:p>
          <a:p>
            <a:pPr>
              <a:defRPr/>
            </a:pPr>
            <a:endParaRPr lang="en-GB" altLang="en-US" sz="3200"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77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77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277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77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77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9365E-B336-C940-B90B-85DEC70DF6B4}"/>
              </a:ext>
            </a:extLst>
          </p:cNvPr>
          <p:cNvSpPr>
            <a:spLocks noGrp="1"/>
          </p:cNvSpPr>
          <p:nvPr>
            <p:ph type="title"/>
          </p:nvPr>
        </p:nvSpPr>
        <p:spPr/>
        <p:txBody>
          <a:bodyPr>
            <a:normAutofit/>
          </a:bodyPr>
          <a:lstStyle/>
          <a:p>
            <a:r>
              <a:rPr lang="en-GB" sz="2800" dirty="0"/>
              <a:t>Benefits of Investment Funds</a:t>
            </a:r>
          </a:p>
        </p:txBody>
      </p:sp>
      <p:sp>
        <p:nvSpPr>
          <p:cNvPr id="3" name="Content Placeholder 2">
            <a:extLst>
              <a:ext uri="{FF2B5EF4-FFF2-40B4-BE49-F238E27FC236}">
                <a16:creationId xmlns:a16="http://schemas.microsoft.com/office/drawing/2014/main" id="{454C95C4-7350-5C43-AD52-C7B1695F4541}"/>
              </a:ext>
            </a:extLst>
          </p:cNvPr>
          <p:cNvSpPr>
            <a:spLocks noGrp="1"/>
          </p:cNvSpPr>
          <p:nvPr>
            <p:ph idx="1"/>
          </p:nvPr>
        </p:nvSpPr>
        <p:spPr/>
        <p:txBody>
          <a:bodyPr>
            <a:normAutofit/>
          </a:bodyPr>
          <a:lstStyle/>
          <a:p>
            <a:r>
              <a:rPr lang="en-GB" sz="2000" dirty="0"/>
              <a:t>economies of scale</a:t>
            </a:r>
          </a:p>
          <a:p>
            <a:r>
              <a:rPr lang="en-GB" sz="2000" dirty="0"/>
              <a:t>diversification;</a:t>
            </a:r>
          </a:p>
          <a:p>
            <a:r>
              <a:rPr lang="en-GB" sz="2000" dirty="0"/>
              <a:t>access to professional investment management;</a:t>
            </a:r>
          </a:p>
          <a:p>
            <a:r>
              <a:rPr lang="en-GB" sz="2000" dirty="0"/>
              <a:t>access to geographical markets, asset classes or investment strategies which might otherwise be inaccessible to the individual investor;</a:t>
            </a:r>
          </a:p>
          <a:p>
            <a:r>
              <a:rPr lang="en-GB" sz="2000" dirty="0"/>
              <a:t>in some cases, the benefit of regulatory oversight.</a:t>
            </a:r>
          </a:p>
          <a:p>
            <a:r>
              <a:rPr lang="en-GB" sz="2000" dirty="0"/>
              <a:t>in some cases, tax deferral.</a:t>
            </a:r>
          </a:p>
          <a:p>
            <a:endParaRPr lang="en-GB" sz="2000" dirty="0"/>
          </a:p>
        </p:txBody>
      </p:sp>
    </p:spTree>
    <p:extLst>
      <p:ext uri="{BB962C8B-B14F-4D97-AF65-F5344CB8AC3E}">
        <p14:creationId xmlns:p14="http://schemas.microsoft.com/office/powerpoint/2010/main" val="3827133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9365E-B336-C940-B90B-85DEC70DF6B4}"/>
              </a:ext>
            </a:extLst>
          </p:cNvPr>
          <p:cNvSpPr>
            <a:spLocks noGrp="1"/>
          </p:cNvSpPr>
          <p:nvPr>
            <p:ph type="title"/>
          </p:nvPr>
        </p:nvSpPr>
        <p:spPr/>
        <p:txBody>
          <a:bodyPr>
            <a:normAutofit/>
          </a:bodyPr>
          <a:lstStyle/>
          <a:p>
            <a:r>
              <a:rPr lang="en-GB" sz="2800" dirty="0"/>
              <a:t>Benefits of Investment Funds</a:t>
            </a:r>
          </a:p>
        </p:txBody>
      </p:sp>
      <p:sp>
        <p:nvSpPr>
          <p:cNvPr id="3" name="Content Placeholder 2">
            <a:extLst>
              <a:ext uri="{FF2B5EF4-FFF2-40B4-BE49-F238E27FC236}">
                <a16:creationId xmlns:a16="http://schemas.microsoft.com/office/drawing/2014/main" id="{454C95C4-7350-5C43-AD52-C7B1695F4541}"/>
              </a:ext>
            </a:extLst>
          </p:cNvPr>
          <p:cNvSpPr>
            <a:spLocks noGrp="1"/>
          </p:cNvSpPr>
          <p:nvPr>
            <p:ph idx="1"/>
          </p:nvPr>
        </p:nvSpPr>
        <p:spPr/>
        <p:txBody>
          <a:bodyPr>
            <a:normAutofit/>
          </a:bodyPr>
          <a:lstStyle/>
          <a:p>
            <a:r>
              <a:rPr lang="en-GB" sz="2000" dirty="0"/>
              <a:t>Example: an investor has only £3,000 to invest</a:t>
            </a:r>
          </a:p>
          <a:p>
            <a:r>
              <a:rPr lang="en-GB" sz="2000" dirty="0"/>
              <a:t>Share price of ABC Plc is £10 – can only buy 300 shares</a:t>
            </a:r>
          </a:p>
          <a:p>
            <a:r>
              <a:rPr lang="en-GB" sz="2000" dirty="0"/>
              <a:t>If he or she wants to buy shares of 30 different companies – can only buy £100 worth of each shares</a:t>
            </a:r>
          </a:p>
          <a:p>
            <a:r>
              <a:rPr lang="en-GB" sz="2000" dirty="0"/>
              <a:t>Large amount of money will be spent on commission (</a:t>
            </a:r>
            <a:r>
              <a:rPr lang="en-GB" sz="2000" dirty="0" err="1"/>
              <a:t>eg</a:t>
            </a:r>
            <a:r>
              <a:rPr lang="en-GB" sz="2000" dirty="0"/>
              <a:t>: £10 x 30)</a:t>
            </a:r>
          </a:p>
          <a:p>
            <a:r>
              <a:rPr lang="en-GB" sz="2000" dirty="0"/>
              <a:t>Alternatively, £3,000 can be used to buy an investment fund that invest in 80 companies.</a:t>
            </a:r>
          </a:p>
          <a:p>
            <a:r>
              <a:rPr lang="en-GB" sz="2000" dirty="0"/>
              <a:t>Since the investment of many investors are pooled together, the commission as a proportion of the fund is very small.</a:t>
            </a:r>
          </a:p>
          <a:p>
            <a:r>
              <a:rPr lang="en-GB" sz="2000" dirty="0"/>
              <a:t>Investment can be made in different asset types, sectors and countries.</a:t>
            </a:r>
          </a:p>
        </p:txBody>
      </p:sp>
    </p:spTree>
    <p:extLst>
      <p:ext uri="{BB962C8B-B14F-4D97-AF65-F5344CB8AC3E}">
        <p14:creationId xmlns:p14="http://schemas.microsoft.com/office/powerpoint/2010/main" val="550997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CCEC0-3D52-9C4C-BA6A-B352626DF2B6}"/>
              </a:ext>
            </a:extLst>
          </p:cNvPr>
          <p:cNvSpPr>
            <a:spLocks noGrp="1"/>
          </p:cNvSpPr>
          <p:nvPr>
            <p:ph type="title"/>
          </p:nvPr>
        </p:nvSpPr>
        <p:spPr/>
        <p:txBody>
          <a:bodyPr/>
          <a:lstStyle/>
          <a:p>
            <a:r>
              <a:rPr lang="en-GB" dirty="0"/>
              <a:t>Investment styles</a:t>
            </a:r>
          </a:p>
        </p:txBody>
      </p:sp>
      <p:sp>
        <p:nvSpPr>
          <p:cNvPr id="3" name="Content Placeholder 2">
            <a:extLst>
              <a:ext uri="{FF2B5EF4-FFF2-40B4-BE49-F238E27FC236}">
                <a16:creationId xmlns:a16="http://schemas.microsoft.com/office/drawing/2014/main" id="{7E7BE962-02CD-9A41-B47C-EB98D25228FB}"/>
              </a:ext>
            </a:extLst>
          </p:cNvPr>
          <p:cNvSpPr>
            <a:spLocks noGrp="1"/>
          </p:cNvSpPr>
          <p:nvPr>
            <p:ph idx="1"/>
          </p:nvPr>
        </p:nvSpPr>
        <p:spPr/>
        <p:txBody>
          <a:bodyPr/>
          <a:lstStyle/>
          <a:p>
            <a:pPr marL="0" indent="0">
              <a:buNone/>
              <a:defRPr/>
            </a:pPr>
            <a:r>
              <a:rPr lang="en-US" altLang="en-US" dirty="0">
                <a:latin typeface="Calibri" panose="020F0502020204030204" pitchFamily="34" charset="0"/>
                <a:cs typeface="Calibri" panose="020F0502020204030204" pitchFamily="34" charset="0"/>
              </a:rPr>
              <a:t>1. Active management</a:t>
            </a:r>
            <a:endParaRPr lang="en-GB" altLang="en-US" dirty="0">
              <a:latin typeface="Calibri" panose="020F0502020204030204" pitchFamily="34" charset="0"/>
              <a:cs typeface="Calibri" panose="020F0502020204030204" pitchFamily="34" charset="0"/>
            </a:endParaRPr>
          </a:p>
          <a:p>
            <a:pPr>
              <a:buFontTx/>
              <a:buNone/>
              <a:defRPr/>
            </a:pPr>
            <a:r>
              <a:rPr lang="en-US" altLang="en-US" dirty="0">
                <a:latin typeface="Calibri" panose="020F0502020204030204" pitchFamily="34" charset="0"/>
                <a:cs typeface="Calibri" panose="020F0502020204030204" pitchFamily="34" charset="0"/>
              </a:rPr>
              <a:t> </a:t>
            </a:r>
            <a:endParaRPr lang="en-GB" altLang="en-US" dirty="0">
              <a:latin typeface="Calibri" panose="020F0502020204030204" pitchFamily="34" charset="0"/>
              <a:cs typeface="Calibri" panose="020F0502020204030204" pitchFamily="34" charset="0"/>
            </a:endParaRPr>
          </a:p>
          <a:p>
            <a:pPr marL="0" indent="0">
              <a:buNone/>
            </a:pPr>
            <a:r>
              <a:rPr lang="en-GB" dirty="0"/>
              <a:t>2. Passive management</a:t>
            </a:r>
          </a:p>
        </p:txBody>
      </p:sp>
    </p:spTree>
    <p:extLst>
      <p:ext uri="{BB962C8B-B14F-4D97-AF65-F5344CB8AC3E}">
        <p14:creationId xmlns:p14="http://schemas.microsoft.com/office/powerpoint/2010/main" val="41819440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643C997F-4C05-43E2-993D-7B24C8B6B24D}"/>
              </a:ext>
            </a:extLst>
          </p:cNvPr>
          <p:cNvSpPr>
            <a:spLocks noGrp="1" noChangeArrowheads="1"/>
          </p:cNvSpPr>
          <p:nvPr>
            <p:ph type="title"/>
          </p:nvPr>
        </p:nvSpPr>
        <p:spPr/>
        <p:txBody>
          <a:bodyPr/>
          <a:lstStyle/>
          <a:p>
            <a:pPr>
              <a:defRPr/>
            </a:pPr>
            <a:r>
              <a:rPr lang="en-US" altLang="en-US" sz="2700" b="0" dirty="0">
                <a:latin typeface="Calibri" panose="020F0502020204030204" pitchFamily="34" charset="0"/>
                <a:cs typeface="Calibri" panose="020F0502020204030204" pitchFamily="34" charset="0"/>
              </a:rPr>
              <a:t>Active management</a:t>
            </a:r>
            <a:endParaRPr lang="en-GB" altLang="en-US" sz="2700" b="0"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8E1973E7-D3C0-4E14-BD52-A6F16B6F6941}"/>
              </a:ext>
            </a:extLst>
          </p:cNvPr>
          <p:cNvSpPr>
            <a:spLocks noGrp="1"/>
          </p:cNvSpPr>
          <p:nvPr>
            <p:ph idx="1"/>
          </p:nvPr>
        </p:nvSpPr>
        <p:spPr/>
        <p:txBody>
          <a:bodyPr>
            <a:normAutofit fontScale="77500" lnSpcReduction="20000"/>
          </a:bodyPr>
          <a:lstStyle/>
          <a:p>
            <a:pPr>
              <a:defRPr/>
            </a:pPr>
            <a:r>
              <a:rPr lang="en-US" dirty="0">
                <a:latin typeface="Calibri" panose="020F0502020204030204" pitchFamily="34" charset="0"/>
                <a:ea typeface="+mj-ea"/>
                <a:cs typeface="Calibri" panose="020F0502020204030204" pitchFamily="34" charset="0"/>
              </a:rPr>
              <a:t>Where professional investment managers aim to make capital gains for the fund’s members by buying and selling equities on a daily basis.</a:t>
            </a:r>
            <a:endParaRPr lang="en-GB" dirty="0">
              <a:latin typeface="Calibri" panose="020F0502020204030204" pitchFamily="34" charset="0"/>
              <a:ea typeface="+mj-ea"/>
              <a:cs typeface="Calibri" panose="020F0502020204030204" pitchFamily="34" charset="0"/>
            </a:endParaRPr>
          </a:p>
          <a:p>
            <a:pPr>
              <a:buFontTx/>
              <a:buNone/>
              <a:defRPr/>
            </a:pPr>
            <a:endParaRPr lang="en-GB" dirty="0">
              <a:latin typeface="Calibri" panose="020F0502020204030204" pitchFamily="34" charset="0"/>
              <a:ea typeface="+mj-ea"/>
              <a:cs typeface="Calibri" panose="020F0502020204030204" pitchFamily="34" charset="0"/>
            </a:endParaRPr>
          </a:p>
          <a:p>
            <a:pPr>
              <a:defRPr/>
            </a:pPr>
            <a:r>
              <a:rPr lang="en-US" dirty="0">
                <a:latin typeface="Calibri" panose="020F0502020204030204" pitchFamily="34" charset="0"/>
                <a:ea typeface="+mj-ea"/>
                <a:cs typeface="Calibri" panose="020F0502020204030204" pitchFamily="34" charset="0"/>
              </a:rPr>
              <a:t>Investment managers buy shares they believe will rise in value and sell those they suspect will fall in value.</a:t>
            </a:r>
            <a:endParaRPr lang="en-GB" dirty="0">
              <a:latin typeface="Calibri" panose="020F0502020204030204" pitchFamily="34" charset="0"/>
              <a:ea typeface="+mj-ea"/>
              <a:cs typeface="Calibri" panose="020F0502020204030204" pitchFamily="34" charset="0"/>
            </a:endParaRPr>
          </a:p>
          <a:p>
            <a:pPr>
              <a:buFontTx/>
              <a:buNone/>
              <a:defRPr/>
            </a:pPr>
            <a:endParaRPr lang="en-GB" dirty="0">
              <a:latin typeface="Calibri" panose="020F0502020204030204" pitchFamily="34" charset="0"/>
              <a:ea typeface="+mj-ea"/>
              <a:cs typeface="Calibri" panose="020F0502020204030204" pitchFamily="34" charset="0"/>
            </a:endParaRPr>
          </a:p>
          <a:p>
            <a:pPr>
              <a:defRPr/>
            </a:pPr>
            <a:r>
              <a:rPr lang="en-US" dirty="0">
                <a:latin typeface="Calibri" panose="020F0502020204030204" pitchFamily="34" charset="0"/>
                <a:ea typeface="+mj-ea"/>
                <a:cs typeface="Calibri" panose="020F0502020204030204" pitchFamily="34" charset="0"/>
              </a:rPr>
              <a:t>Actively managed funds are more expensive to run, because part of the capital gains earned must go to paying the fees of the investment managers.</a:t>
            </a:r>
            <a:endParaRPr lang="en-GB" dirty="0">
              <a:latin typeface="Calibri" panose="020F0502020204030204" pitchFamily="34" charset="0"/>
              <a:ea typeface="+mj-ea"/>
              <a:cs typeface="Calibri" panose="020F0502020204030204" pitchFamily="34" charset="0"/>
            </a:endParaRPr>
          </a:p>
          <a:p>
            <a:pPr>
              <a:buFontTx/>
              <a:buNone/>
              <a:defRPr/>
            </a:pPr>
            <a:endParaRPr lang="en-GB" dirty="0">
              <a:latin typeface="Calibri" panose="020F0502020204030204" pitchFamily="34" charset="0"/>
              <a:ea typeface="+mj-ea"/>
              <a:cs typeface="Calibri" panose="020F0502020204030204" pitchFamily="34" charset="0"/>
            </a:endParaRPr>
          </a:p>
          <a:p>
            <a:pPr>
              <a:defRPr/>
            </a:pPr>
            <a:r>
              <a:rPr lang="en-US" dirty="0">
                <a:latin typeface="Calibri" panose="020F0502020204030204" pitchFamily="34" charset="0"/>
                <a:ea typeface="+mj-ea"/>
                <a:cs typeface="Calibri" panose="020F0502020204030204" pitchFamily="34" charset="0"/>
              </a:rPr>
              <a:t>The investment managers will usually receive a regular fee for their professional services and often an annual bonus based on the amount of money they have earned for the fund.</a:t>
            </a:r>
            <a:endParaRPr lang="en-GB" dirty="0">
              <a:latin typeface="Calibri" panose="020F0502020204030204" pitchFamily="34" charset="0"/>
              <a:ea typeface="+mj-ea"/>
              <a:cs typeface="Calibri" panose="020F0502020204030204" pitchFamily="34" charset="0"/>
            </a:endParaRPr>
          </a:p>
          <a:p>
            <a:pPr>
              <a:defRPr/>
            </a:pPr>
            <a:endParaRPr lang="en-GB"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8512F-DFE5-4903-8E77-E4C88BBC6DBF}"/>
              </a:ext>
            </a:extLst>
          </p:cNvPr>
          <p:cNvSpPr>
            <a:spLocks noGrp="1"/>
          </p:cNvSpPr>
          <p:nvPr>
            <p:ph type="title"/>
          </p:nvPr>
        </p:nvSpPr>
        <p:spPr>
          <a:xfrm>
            <a:off x="628650" y="365127"/>
            <a:ext cx="7886700" cy="867326"/>
          </a:xfrm>
        </p:spPr>
        <p:txBody>
          <a:bodyPr>
            <a:normAutofit/>
          </a:bodyPr>
          <a:lstStyle/>
          <a:p>
            <a:pPr>
              <a:defRPr/>
            </a:pPr>
            <a:r>
              <a:rPr lang="en-US" sz="2400" b="0" dirty="0">
                <a:latin typeface="Calibri" panose="020F0502020204030204" pitchFamily="34" charset="0"/>
                <a:cs typeface="Calibri" panose="020F0502020204030204" pitchFamily="34" charset="0"/>
              </a:rPr>
              <a:t>Passive management</a:t>
            </a:r>
            <a:endParaRPr lang="en-GB" sz="2800" b="0"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FBA17C2B-2CC1-429B-9C4E-B6150A030637}"/>
              </a:ext>
            </a:extLst>
          </p:cNvPr>
          <p:cNvSpPr>
            <a:spLocks noGrp="1"/>
          </p:cNvSpPr>
          <p:nvPr>
            <p:ph idx="1"/>
          </p:nvPr>
        </p:nvSpPr>
        <p:spPr>
          <a:xfrm>
            <a:off x="628650" y="1431235"/>
            <a:ext cx="7886700" cy="4452730"/>
          </a:xfrm>
        </p:spPr>
        <p:txBody>
          <a:bodyPr>
            <a:noAutofit/>
          </a:bodyPr>
          <a:lstStyle/>
          <a:p>
            <a:pPr>
              <a:defRPr/>
            </a:pPr>
            <a:r>
              <a:rPr lang="en-US" sz="1800" dirty="0">
                <a:latin typeface="Calibri" panose="020F0502020204030204" pitchFamily="34" charset="0"/>
                <a:ea typeface="+mj-ea"/>
                <a:cs typeface="Calibri" panose="020F0502020204030204" pitchFamily="34" charset="0"/>
              </a:rPr>
              <a:t>Sometimes known as  “index tracker” funds</a:t>
            </a:r>
          </a:p>
          <a:p>
            <a:pPr>
              <a:defRPr/>
            </a:pPr>
            <a:r>
              <a:rPr lang="en-US" sz="1800" dirty="0">
                <a:latin typeface="Calibri" panose="020F0502020204030204" pitchFamily="34" charset="0"/>
                <a:ea typeface="+mj-ea"/>
                <a:cs typeface="Calibri" panose="020F0502020204030204" pitchFamily="34" charset="0"/>
              </a:rPr>
              <a:t>They aim to profit from a rise in some index of shares such as the FTSE-100.</a:t>
            </a:r>
            <a:endParaRPr lang="en-GB" sz="1800" dirty="0">
              <a:latin typeface="Calibri" panose="020F0502020204030204" pitchFamily="34" charset="0"/>
              <a:ea typeface="+mj-ea"/>
              <a:cs typeface="Calibri" panose="020F0502020204030204" pitchFamily="34" charset="0"/>
            </a:endParaRPr>
          </a:p>
          <a:p>
            <a:pPr>
              <a:defRPr/>
            </a:pPr>
            <a:r>
              <a:rPr lang="en-US" sz="1800" dirty="0">
                <a:latin typeface="Calibri" panose="020F0502020204030204" pitchFamily="34" charset="0"/>
                <a:ea typeface="+mj-ea"/>
                <a:cs typeface="Calibri" panose="020F0502020204030204" pitchFamily="34" charset="0"/>
              </a:rPr>
              <a:t>The managers of index tracker funds buy and hold a portfolio of shares which mirrors the composition of the index they are tracking.</a:t>
            </a:r>
            <a:endParaRPr lang="en-GB" sz="1800" dirty="0">
              <a:latin typeface="Calibri" panose="020F0502020204030204" pitchFamily="34" charset="0"/>
              <a:ea typeface="+mj-ea"/>
              <a:cs typeface="Calibri" panose="020F0502020204030204" pitchFamily="34" charset="0"/>
            </a:endParaRPr>
          </a:p>
          <a:p>
            <a:pPr lvl="1">
              <a:defRPr/>
            </a:pPr>
            <a:r>
              <a:rPr lang="en-US" sz="1400" dirty="0">
                <a:latin typeface="Calibri" panose="020F0502020204030204" pitchFamily="34" charset="0"/>
                <a:ea typeface="+mj-ea"/>
                <a:cs typeface="Calibri" panose="020F0502020204030204" pitchFamily="34" charset="0"/>
              </a:rPr>
              <a:t>e.g. if Vodafone shares represent 5 per cent of the index, and Tesco shares represent 8 per cent, then 5 per cent of the tracker fund will be invested in Vodafone shares and 8 per cent in Tesco shares.</a:t>
            </a:r>
            <a:endParaRPr lang="en-GB" sz="1400" dirty="0">
              <a:latin typeface="Calibri" panose="020F0502020204030204" pitchFamily="34" charset="0"/>
              <a:ea typeface="+mj-ea"/>
              <a:cs typeface="Calibri" panose="020F0502020204030204" pitchFamily="34" charset="0"/>
            </a:endParaRPr>
          </a:p>
          <a:p>
            <a:pPr>
              <a:defRPr/>
            </a:pPr>
            <a:r>
              <a:rPr lang="en-US" sz="1800" dirty="0">
                <a:latin typeface="Calibri" panose="020F0502020204030204" pitchFamily="34" charset="0"/>
                <a:ea typeface="+mj-ea"/>
                <a:cs typeface="Calibri" panose="020F0502020204030204" pitchFamily="34" charset="0"/>
              </a:rPr>
              <a:t>Because tracker fund portfolios mirror the index being tracked, any change in the underlying index will be reflected in an equivalent change in the prices of the shares in the tracker fund’s portfolio.</a:t>
            </a:r>
            <a:endParaRPr lang="en-GB" sz="1800" dirty="0">
              <a:latin typeface="Calibri" panose="020F0502020204030204" pitchFamily="34" charset="0"/>
              <a:ea typeface="+mj-ea"/>
              <a:cs typeface="Calibri" panose="020F0502020204030204" pitchFamily="34" charset="0"/>
            </a:endParaRPr>
          </a:p>
          <a:p>
            <a:pPr lvl="1">
              <a:defRPr/>
            </a:pPr>
            <a:r>
              <a:rPr lang="en-US" sz="1400" dirty="0">
                <a:latin typeface="Calibri" panose="020F0502020204030204" pitchFamily="34" charset="0"/>
                <a:ea typeface="+mj-ea"/>
                <a:cs typeface="Calibri" panose="020F0502020204030204" pitchFamily="34" charset="0"/>
              </a:rPr>
              <a:t>A 10 per cent rise in the index implies a 10 per cent rise in the value of the tracker fund’s share portfolio.</a:t>
            </a:r>
            <a:endParaRPr lang="en-GB" sz="1400" dirty="0">
              <a:latin typeface="Calibri" panose="020F0502020204030204" pitchFamily="34" charset="0"/>
              <a:ea typeface="+mj-ea"/>
              <a:cs typeface="Calibri" panose="020F0502020204030204" pitchFamily="34" charset="0"/>
            </a:endParaRPr>
          </a:p>
          <a:p>
            <a:pPr>
              <a:defRPr/>
            </a:pPr>
            <a:r>
              <a:rPr lang="en-US" sz="1800" dirty="0">
                <a:latin typeface="Calibri" panose="020F0502020204030204" pitchFamily="34" charset="0"/>
                <a:ea typeface="+mj-ea"/>
                <a:cs typeface="Calibri" panose="020F0502020204030204" pitchFamily="34" charset="0"/>
              </a:rPr>
              <a:t>Because tracker funds buy and hold shares, rather than trade them, they are less expensive to manage.</a:t>
            </a:r>
            <a:endParaRPr lang="en-GB" sz="1800"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53A984-1EFD-1940-8C9F-D89998B50BA9}"/>
              </a:ext>
            </a:extLst>
          </p:cNvPr>
          <p:cNvPicPr>
            <a:picLocks noChangeAspect="1"/>
          </p:cNvPicPr>
          <p:nvPr/>
        </p:nvPicPr>
        <p:blipFill>
          <a:blip r:embed="rId2"/>
          <a:stretch>
            <a:fillRect/>
          </a:stretch>
        </p:blipFill>
        <p:spPr>
          <a:xfrm>
            <a:off x="228427" y="707136"/>
            <a:ext cx="8813611" cy="5522976"/>
          </a:xfrm>
          <a:prstGeom prst="rect">
            <a:avLst/>
          </a:prstGeom>
        </p:spPr>
      </p:pic>
    </p:spTree>
    <p:extLst>
      <p:ext uri="{BB962C8B-B14F-4D97-AF65-F5344CB8AC3E}">
        <p14:creationId xmlns:p14="http://schemas.microsoft.com/office/powerpoint/2010/main" val="3397998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Types of Investment Funds</a:t>
            </a:r>
            <a:endParaRPr lang="en-US" dirty="0"/>
          </a:p>
        </p:txBody>
      </p:sp>
      <p:sp>
        <p:nvSpPr>
          <p:cNvPr id="3" name="Content Placeholder 2"/>
          <p:cNvSpPr>
            <a:spLocks noGrp="1"/>
          </p:cNvSpPr>
          <p:nvPr>
            <p:ph idx="1"/>
          </p:nvPr>
        </p:nvSpPr>
        <p:spPr>
          <a:xfrm>
            <a:off x="628650" y="1404730"/>
            <a:ext cx="7886700" cy="4772233"/>
          </a:xfrm>
        </p:spPr>
        <p:txBody>
          <a:bodyPr>
            <a:normAutofit/>
          </a:bodyPr>
          <a:lstStyle/>
          <a:p>
            <a:pPr marL="0" indent="0">
              <a:buNone/>
            </a:pPr>
            <a:r>
              <a:rPr lang="en-US" altLang="en-US" sz="2000" dirty="0">
                <a:ea typeface="ヒラギノ角ゴ Pro W3" pitchFamily="-84" charset="-128"/>
              </a:rPr>
              <a:t>An investor is likely to come across a range of different types of investment funds, as many are now established in one country and then marketed internationally. </a:t>
            </a:r>
          </a:p>
          <a:p>
            <a:pPr marL="0" indent="0">
              <a:buNone/>
            </a:pPr>
            <a:endParaRPr lang="en-US" altLang="en-US" sz="2000" dirty="0">
              <a:ea typeface="ヒラギノ角ゴ Pro W3" pitchFamily="-84" charset="-128"/>
            </a:endParaRPr>
          </a:p>
          <a:p>
            <a:pPr marL="0" indent="0">
              <a:buNone/>
            </a:pPr>
            <a:r>
              <a:rPr lang="en-US" altLang="en-US" sz="2000" dirty="0">
                <a:ea typeface="ヒラギノ角ゴ Pro W3" pitchFamily="-84" charset="-128"/>
              </a:rPr>
              <a:t>Funds of European origin are often labelled as “undertakings for collective investment in transferable securities” (UCITS) funds. </a:t>
            </a:r>
          </a:p>
          <a:p>
            <a:pPr marL="0" indent="0">
              <a:buNone/>
            </a:pPr>
            <a:endParaRPr lang="en-US" altLang="en-US" sz="2000" dirty="0">
              <a:ea typeface="ヒラギノ角ゴ Pro W3" pitchFamily="-84" charset="-128"/>
            </a:endParaRPr>
          </a:p>
          <a:p>
            <a:pPr marL="0" indent="0">
              <a:buNone/>
            </a:pPr>
            <a:r>
              <a:rPr lang="en-US" altLang="en-US" sz="2000" dirty="0">
                <a:ea typeface="ヒラギノ角ゴ Pro W3" pitchFamily="-84" charset="-128"/>
              </a:rPr>
              <a:t>The main European center for establishing funds is Luxembourg. </a:t>
            </a:r>
          </a:p>
          <a:p>
            <a:pPr marL="0" indent="0">
              <a:buNone/>
            </a:pPr>
            <a:endParaRPr lang="en-US" altLang="en-US" sz="2000" dirty="0">
              <a:ea typeface="ヒラギノ角ゴ Pro W3" pitchFamily="-84" charset="-128"/>
            </a:endParaRPr>
          </a:p>
          <a:p>
            <a:pPr marL="0" indent="0">
              <a:buNone/>
            </a:pPr>
            <a:r>
              <a:rPr lang="en-US" altLang="en-US" sz="2000" dirty="0">
                <a:ea typeface="ヒラギノ角ゴ Pro W3" pitchFamily="-84" charset="-128"/>
              </a:rPr>
              <a:t>In the UK, funds are generally structured as </a:t>
            </a:r>
            <a:r>
              <a:rPr lang="en-US" altLang="en-US" sz="2000" u="sng" dirty="0">
                <a:ea typeface="ヒラギノ角ゴ Pro W3" pitchFamily="-84" charset="-128"/>
              </a:rPr>
              <a:t>“unit trusts” </a:t>
            </a:r>
            <a:r>
              <a:rPr lang="en-US" altLang="en-US" sz="2000" dirty="0">
                <a:ea typeface="ヒラギノ角ゴ Pro W3" pitchFamily="-84" charset="-128"/>
              </a:rPr>
              <a:t>or </a:t>
            </a:r>
            <a:r>
              <a:rPr lang="en-US" altLang="en-US" sz="2000" u="sng" dirty="0">
                <a:ea typeface="ヒラギノ角ゴ Pro W3" pitchFamily="-84" charset="-128"/>
              </a:rPr>
              <a:t>“investment trusts”</a:t>
            </a:r>
          </a:p>
          <a:p>
            <a:pPr marL="0" indent="0">
              <a:buNone/>
            </a:pPr>
            <a:endParaRPr lang="en-US" altLang="en-US" sz="2000" dirty="0">
              <a:ea typeface="ヒラギノ角ゴ Pro W3" pitchFamily="-84" charset="-128"/>
            </a:endParaRPr>
          </a:p>
          <a:p>
            <a:pPr marL="0" indent="0">
              <a:buNone/>
            </a:pPr>
            <a:r>
              <a:rPr lang="en-US" altLang="en-US" sz="2000" dirty="0">
                <a:ea typeface="ヒラギノ角ゴ Pro W3" pitchFamily="-84" charset="-128"/>
              </a:rPr>
              <a:t>Funds originating  in the US are called </a:t>
            </a:r>
            <a:r>
              <a:rPr lang="en-US" altLang="en-US" sz="2000" u="sng" dirty="0">
                <a:ea typeface="ヒラギノ角ゴ Pro W3" pitchFamily="-84" charset="-128"/>
              </a:rPr>
              <a:t>“mutual funds”</a:t>
            </a:r>
            <a:endParaRPr lang="en-US" altLang="en-US" sz="1800" dirty="0">
              <a:ea typeface="ヒラギノ角ゴ Pro W3" pitchFamily="-84" charset="-128"/>
            </a:endParaRPr>
          </a:p>
          <a:p>
            <a:endParaRPr lang="en-US" altLang="en-US" sz="1800" dirty="0">
              <a:ea typeface="ヒラギノ角ゴ Pro W3" pitchFamily="-84" charset="-128"/>
            </a:endParaRPr>
          </a:p>
          <a:p>
            <a:endParaRPr lang="en-US" sz="2000" dirty="0"/>
          </a:p>
        </p:txBody>
      </p:sp>
    </p:spTree>
    <p:extLst>
      <p:ext uri="{BB962C8B-B14F-4D97-AF65-F5344CB8AC3E}">
        <p14:creationId xmlns:p14="http://schemas.microsoft.com/office/powerpoint/2010/main" val="715958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02F3E-C66E-304A-BA94-2381445ABE8B}"/>
              </a:ext>
            </a:extLst>
          </p:cNvPr>
          <p:cNvSpPr>
            <a:spLocks noGrp="1"/>
          </p:cNvSpPr>
          <p:nvPr>
            <p:ph type="title"/>
          </p:nvPr>
        </p:nvSpPr>
        <p:spPr/>
        <p:txBody>
          <a:bodyPr/>
          <a:lstStyle/>
          <a:p>
            <a:r>
              <a:rPr lang="en-GB" dirty="0"/>
              <a:t>Close-Ended Funds</a:t>
            </a:r>
          </a:p>
        </p:txBody>
      </p:sp>
      <p:sp>
        <p:nvSpPr>
          <p:cNvPr id="3" name="Content Placeholder 2">
            <a:extLst>
              <a:ext uri="{FF2B5EF4-FFF2-40B4-BE49-F238E27FC236}">
                <a16:creationId xmlns:a16="http://schemas.microsoft.com/office/drawing/2014/main" id="{6957666E-7BE0-254F-B8F3-9A677FE2515E}"/>
              </a:ext>
            </a:extLst>
          </p:cNvPr>
          <p:cNvSpPr>
            <a:spLocks noGrp="1"/>
          </p:cNvSpPr>
          <p:nvPr>
            <p:ph idx="1"/>
          </p:nvPr>
        </p:nvSpPr>
        <p:spPr/>
        <p:txBody>
          <a:bodyPr>
            <a:normAutofit/>
          </a:bodyPr>
          <a:lstStyle/>
          <a:p>
            <a:pPr marL="0" indent="0">
              <a:buNone/>
            </a:pPr>
            <a:r>
              <a:rPr lang="en-GB" sz="2000" b="1" dirty="0"/>
              <a:t>Definition - </a:t>
            </a:r>
            <a:r>
              <a:rPr lang="en-GB" sz="2000" dirty="0"/>
              <a:t>A type of mutual fund with a </a:t>
            </a:r>
            <a:r>
              <a:rPr lang="en-GB" sz="2000" b="1" dirty="0"/>
              <a:t>fixed number of shares</a:t>
            </a:r>
            <a:r>
              <a:rPr lang="en-GB" sz="2000" dirty="0"/>
              <a:t> that are </a:t>
            </a:r>
            <a:r>
              <a:rPr lang="en-GB" sz="2000" b="1" dirty="0"/>
              <a:t>traded on stock exchanges</a:t>
            </a:r>
            <a:r>
              <a:rPr lang="en-GB" sz="2000" dirty="0"/>
              <a:t> like stocks, rather than being bought or sold directly with the fund manager.  </a:t>
            </a:r>
            <a:r>
              <a:rPr lang="en-US" altLang="en-US" sz="1900" dirty="0">
                <a:solidFill>
                  <a:prstClr val="black"/>
                </a:solidFill>
                <a:ea typeface="ヒラギノ角ゴ Pro W3" pitchFamily="-84" charset="-128"/>
              </a:rPr>
              <a:t>The capital of the fund is therefore fixed, and does not expand or contract.</a:t>
            </a:r>
          </a:p>
          <a:p>
            <a:pPr marL="0" indent="0">
              <a:buNone/>
            </a:pPr>
            <a:r>
              <a:rPr lang="en-GB" sz="2000" b="1" dirty="0"/>
              <a:t>Key Features:</a:t>
            </a:r>
            <a:endParaRPr lang="en-GB" sz="2000" dirty="0"/>
          </a:p>
          <a:p>
            <a:r>
              <a:rPr lang="en-GB" sz="2000" b="1" dirty="0"/>
              <a:t>Fixed Share Capital:</a:t>
            </a:r>
            <a:r>
              <a:rPr lang="en-GB" sz="2000" dirty="0"/>
              <a:t> The number of shares is set at the time of the Initial Public Offering (IPO) and does not change.</a:t>
            </a:r>
          </a:p>
          <a:p>
            <a:r>
              <a:rPr lang="en-GB" sz="2000" b="1" dirty="0"/>
              <a:t>Exchange-Traded:</a:t>
            </a:r>
            <a:r>
              <a:rPr lang="en-GB" sz="2000" dirty="0"/>
              <a:t> Shares are bought and sold on the stock market, and the price is determined by supply and demand.</a:t>
            </a:r>
          </a:p>
          <a:p>
            <a:r>
              <a:rPr lang="en-GB" sz="2000" b="1" dirty="0"/>
              <a:t>Market Price vs NAV:</a:t>
            </a:r>
            <a:r>
              <a:rPr lang="en-GB" sz="2000" dirty="0"/>
              <a:t> Shares may trade at a premium or discount to the fund's Net Asset Value (NAV).</a:t>
            </a:r>
          </a:p>
          <a:p>
            <a:r>
              <a:rPr lang="en-GB" sz="2000" b="1" dirty="0"/>
              <a:t>No Redemption:</a:t>
            </a:r>
            <a:r>
              <a:rPr lang="en-GB" sz="2000" dirty="0"/>
              <a:t> Investors cannot redeem shares directly with the fund; they must sell them in the open market.</a:t>
            </a:r>
          </a:p>
          <a:p>
            <a:pPr marL="0" indent="0">
              <a:buNone/>
            </a:pPr>
            <a:endParaRPr lang="en-US" sz="2000" dirty="0">
              <a:ea typeface="ヒラギノ角ゴ Pro W3" pitchFamily="-84" charset="-128"/>
            </a:endParaRPr>
          </a:p>
          <a:p>
            <a:pPr marL="0" indent="0">
              <a:buNone/>
            </a:pPr>
            <a:endParaRPr lang="en-US" sz="2000" dirty="0"/>
          </a:p>
          <a:p>
            <a:pPr marL="0" indent="0">
              <a:buNone/>
            </a:pPr>
            <a:endParaRPr lang="en-GB" sz="2000" dirty="0"/>
          </a:p>
        </p:txBody>
      </p:sp>
    </p:spTree>
    <p:extLst>
      <p:ext uri="{BB962C8B-B14F-4D97-AF65-F5344CB8AC3E}">
        <p14:creationId xmlns:p14="http://schemas.microsoft.com/office/powerpoint/2010/main" val="2347566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BE41C2-FDF2-7CFE-F899-F2D2598CD5B9}"/>
              </a:ext>
            </a:extLst>
          </p:cNvPr>
          <p:cNvSpPr>
            <a:spLocks noGrp="1"/>
          </p:cNvSpPr>
          <p:nvPr>
            <p:ph idx="1"/>
          </p:nvPr>
        </p:nvSpPr>
        <p:spPr/>
        <p:txBody>
          <a:bodyPr>
            <a:normAutofit fontScale="25000" lnSpcReduction="20000"/>
          </a:bodyPr>
          <a:lstStyle/>
          <a:p>
            <a:pPr marL="0" indent="0" eaLnBrk="0" fontAlgn="base" hangingPunct="0">
              <a:lnSpc>
                <a:spcPct val="100000"/>
              </a:lnSpc>
              <a:spcBef>
                <a:spcPct val="0"/>
              </a:spcBef>
              <a:spcAft>
                <a:spcPct val="0"/>
              </a:spcAft>
              <a:buNone/>
            </a:pPr>
            <a:r>
              <a:rPr kumimoji="0" lang="en-US" altLang="en-US" sz="6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Definition </a:t>
            </a:r>
            <a:r>
              <a:rPr kumimoji="0" lang="en-US" altLang="en-US" sz="6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 type of investment fund that issues and redeems shares at the Net Asset Value (NAV) on a continuous basis. </a:t>
            </a:r>
            <a:r>
              <a:rPr lang="en-US" altLang="en-US" sz="6400" dirty="0">
                <a:latin typeface="Arial" panose="020B0604020202020204" pitchFamily="34" charset="0"/>
                <a:ea typeface="ヒラギノ角ゴ Pro W3" pitchFamily="-84" charset="-128"/>
                <a:cs typeface="Arial" panose="020B0604020202020204" pitchFamily="34" charset="0"/>
              </a:rPr>
              <a:t>Each investor has a proportional share of the underlying portfolio and so will share in any growth of the fund. The value of each share is in proportion to the total value of the underlying investment portfolio.</a:t>
            </a:r>
          </a:p>
          <a:p>
            <a:pPr marL="0" indent="0" eaLnBrk="0" fontAlgn="base" hangingPunct="0">
              <a:lnSpc>
                <a:spcPct val="100000"/>
              </a:lnSpc>
              <a:spcBef>
                <a:spcPct val="0"/>
              </a:spcBef>
              <a:spcAft>
                <a:spcPct val="0"/>
              </a:spcAft>
              <a:buNone/>
            </a:pPr>
            <a:endParaRPr kumimoji="0" lang="en-US" altLang="en-US" sz="6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64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Key Features: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6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6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Flexible Share Issuance:</a:t>
            </a:r>
            <a:r>
              <a:rPr kumimoji="0" lang="en-US" altLang="en-US" sz="6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Investors can buy or sell shares directly with the fund manager.</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6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6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NAV-based Pricing:</a:t>
            </a:r>
            <a:r>
              <a:rPr kumimoji="0" lang="en-US" altLang="en-US" sz="6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Shares are bought or sold based on the NAV, which is calculated at the end of each trading day.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6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6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Liquidity:</a:t>
            </a:r>
            <a:r>
              <a:rPr kumimoji="0" lang="en-US" altLang="en-US" sz="6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Investors can redeem their shares at any time, ensuring liquidity.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6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6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Diversification:</a:t>
            </a:r>
            <a:r>
              <a:rPr kumimoji="0" lang="en-US" altLang="en-US" sz="6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Typically invests in a wide range of assets (stocks, bonds, etc.), offering diversification to reduce risk.</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6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6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No Fixed Share Capital:</a:t>
            </a:r>
            <a:r>
              <a:rPr kumimoji="0" lang="en-US" altLang="en-US" sz="6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The number of shares fluctuates based on investor demand, increasing or decreasing as new shares are issued or redeemed.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64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endParaRPr lang="en-GB" dirty="0"/>
          </a:p>
        </p:txBody>
      </p:sp>
      <p:sp>
        <p:nvSpPr>
          <p:cNvPr id="15" name="Title 14">
            <a:extLst>
              <a:ext uri="{FF2B5EF4-FFF2-40B4-BE49-F238E27FC236}">
                <a16:creationId xmlns:a16="http://schemas.microsoft.com/office/drawing/2014/main" id="{78B7E680-621B-6718-0D4D-20207BEE0BE1}"/>
              </a:ext>
            </a:extLst>
          </p:cNvPr>
          <p:cNvSpPr>
            <a:spLocks noGrp="1"/>
          </p:cNvSpPr>
          <p:nvPr>
            <p:ph type="title"/>
          </p:nvPr>
        </p:nvSpPr>
        <p:spPr/>
        <p:txBody>
          <a:bodyPr/>
          <a:lstStyle/>
          <a:p>
            <a:r>
              <a:rPr lang="en-GB" dirty="0"/>
              <a:t>Open-ended Mutual Funds</a:t>
            </a:r>
          </a:p>
        </p:txBody>
      </p:sp>
    </p:spTree>
    <p:extLst>
      <p:ext uri="{BB962C8B-B14F-4D97-AF65-F5344CB8AC3E}">
        <p14:creationId xmlns:p14="http://schemas.microsoft.com/office/powerpoint/2010/main" val="3254053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6276ED2-E244-A124-3CD3-840E6428FAEF}"/>
              </a:ext>
            </a:extLst>
          </p:cNvPr>
          <p:cNvGraphicFramePr>
            <a:graphicFrameLocks noGrp="1"/>
          </p:cNvGraphicFramePr>
          <p:nvPr>
            <p:ph idx="1"/>
            <p:extLst>
              <p:ext uri="{D42A27DB-BD31-4B8C-83A1-F6EECF244321}">
                <p14:modId xmlns:p14="http://schemas.microsoft.com/office/powerpoint/2010/main" val="3305729932"/>
              </p:ext>
            </p:extLst>
          </p:nvPr>
        </p:nvGraphicFramePr>
        <p:xfrm>
          <a:off x="628650" y="627018"/>
          <a:ext cx="7886700" cy="5710821"/>
        </p:xfrm>
        <a:graphic>
          <a:graphicData uri="http://schemas.openxmlformats.org/drawingml/2006/table">
            <a:tbl>
              <a:tblPr/>
              <a:tblGrid>
                <a:gridCol w="2628900">
                  <a:extLst>
                    <a:ext uri="{9D8B030D-6E8A-4147-A177-3AD203B41FA5}">
                      <a16:colId xmlns:a16="http://schemas.microsoft.com/office/drawing/2014/main" val="994610674"/>
                    </a:ext>
                  </a:extLst>
                </a:gridCol>
                <a:gridCol w="2628900">
                  <a:extLst>
                    <a:ext uri="{9D8B030D-6E8A-4147-A177-3AD203B41FA5}">
                      <a16:colId xmlns:a16="http://schemas.microsoft.com/office/drawing/2014/main" val="1311677300"/>
                    </a:ext>
                  </a:extLst>
                </a:gridCol>
                <a:gridCol w="2628900">
                  <a:extLst>
                    <a:ext uri="{9D8B030D-6E8A-4147-A177-3AD203B41FA5}">
                      <a16:colId xmlns:a16="http://schemas.microsoft.com/office/drawing/2014/main" val="4252239944"/>
                    </a:ext>
                  </a:extLst>
                </a:gridCol>
              </a:tblGrid>
              <a:tr h="607246">
                <a:tc>
                  <a:txBody>
                    <a:bodyPr/>
                    <a:lstStyle/>
                    <a:p>
                      <a:pPr>
                        <a:buNone/>
                      </a:pPr>
                      <a:r>
                        <a:rPr lang="en-GB" sz="2000" dirty="0"/>
                        <a:t>Feature</a:t>
                      </a:r>
                    </a:p>
                  </a:txBody>
                  <a:tcPr anchor="ctr">
                    <a:lnL>
                      <a:noFill/>
                    </a:lnL>
                    <a:lnR>
                      <a:noFill/>
                    </a:lnR>
                    <a:lnT>
                      <a:noFill/>
                    </a:lnT>
                    <a:lnB>
                      <a:noFill/>
                    </a:lnB>
                    <a:noFill/>
                  </a:tcPr>
                </a:tc>
                <a:tc>
                  <a:txBody>
                    <a:bodyPr/>
                    <a:lstStyle/>
                    <a:p>
                      <a:pPr>
                        <a:buNone/>
                      </a:pPr>
                      <a:r>
                        <a:rPr lang="en-GB" sz="2000" b="1"/>
                        <a:t>Open-Ended Fund</a:t>
                      </a:r>
                      <a:endParaRPr lang="en-GB" sz="2000"/>
                    </a:p>
                  </a:txBody>
                  <a:tcPr anchor="ctr">
                    <a:lnL>
                      <a:noFill/>
                    </a:lnL>
                    <a:lnR>
                      <a:noFill/>
                    </a:lnR>
                    <a:lnT>
                      <a:noFill/>
                    </a:lnT>
                    <a:lnB>
                      <a:noFill/>
                    </a:lnB>
                    <a:noFill/>
                  </a:tcPr>
                </a:tc>
                <a:tc>
                  <a:txBody>
                    <a:bodyPr/>
                    <a:lstStyle/>
                    <a:p>
                      <a:pPr>
                        <a:buNone/>
                      </a:pPr>
                      <a:r>
                        <a:rPr lang="en-GB" sz="2000" b="1"/>
                        <a:t>Closed-Ended Fund</a:t>
                      </a:r>
                      <a:endParaRPr lang="en-GB" sz="2000"/>
                    </a:p>
                  </a:txBody>
                  <a:tcPr anchor="ctr">
                    <a:lnL>
                      <a:noFill/>
                    </a:lnL>
                    <a:lnR>
                      <a:noFill/>
                    </a:lnR>
                    <a:lnT>
                      <a:noFill/>
                    </a:lnT>
                    <a:lnB>
                      <a:noFill/>
                    </a:lnB>
                    <a:noFill/>
                  </a:tcPr>
                </a:tc>
                <a:extLst>
                  <a:ext uri="{0D108BD9-81ED-4DB2-BD59-A6C34878D82A}">
                    <a16:rowId xmlns:a16="http://schemas.microsoft.com/office/drawing/2014/main" val="3878377243"/>
                  </a:ext>
                </a:extLst>
              </a:tr>
              <a:tr h="607246">
                <a:tc>
                  <a:txBody>
                    <a:bodyPr/>
                    <a:lstStyle/>
                    <a:p>
                      <a:pPr>
                        <a:buNone/>
                      </a:pPr>
                      <a:r>
                        <a:rPr lang="en-GB" sz="2000" dirty="0"/>
                        <a:t>Number of units/shares</a:t>
                      </a:r>
                    </a:p>
                  </a:txBody>
                  <a:tcPr anchor="ctr">
                    <a:lnL>
                      <a:noFill/>
                    </a:lnL>
                    <a:lnR>
                      <a:noFill/>
                    </a:lnR>
                    <a:lnT>
                      <a:noFill/>
                    </a:lnT>
                    <a:lnB>
                      <a:noFill/>
                    </a:lnB>
                    <a:noFill/>
                  </a:tcPr>
                </a:tc>
                <a:tc>
                  <a:txBody>
                    <a:bodyPr/>
                    <a:lstStyle/>
                    <a:p>
                      <a:pPr>
                        <a:buNone/>
                      </a:pPr>
                      <a:r>
                        <a:rPr lang="en-GB" sz="2000"/>
                        <a:t>Variable</a:t>
                      </a:r>
                    </a:p>
                  </a:txBody>
                  <a:tcPr anchor="ctr">
                    <a:lnL>
                      <a:noFill/>
                    </a:lnL>
                    <a:lnR>
                      <a:noFill/>
                    </a:lnR>
                    <a:lnT>
                      <a:noFill/>
                    </a:lnT>
                    <a:lnB>
                      <a:noFill/>
                    </a:lnB>
                    <a:noFill/>
                  </a:tcPr>
                </a:tc>
                <a:tc>
                  <a:txBody>
                    <a:bodyPr/>
                    <a:lstStyle/>
                    <a:p>
                      <a:pPr>
                        <a:buNone/>
                      </a:pPr>
                      <a:r>
                        <a:rPr lang="en-GB" sz="2000"/>
                        <a:t>Fixed</a:t>
                      </a:r>
                    </a:p>
                  </a:txBody>
                  <a:tcPr anchor="ctr">
                    <a:lnL>
                      <a:noFill/>
                    </a:lnL>
                    <a:lnR>
                      <a:noFill/>
                    </a:lnR>
                    <a:lnT>
                      <a:noFill/>
                    </a:lnT>
                    <a:lnB>
                      <a:noFill/>
                    </a:lnB>
                    <a:noFill/>
                  </a:tcPr>
                </a:tc>
                <a:extLst>
                  <a:ext uri="{0D108BD9-81ED-4DB2-BD59-A6C34878D82A}">
                    <a16:rowId xmlns:a16="http://schemas.microsoft.com/office/drawing/2014/main" val="1368686996"/>
                  </a:ext>
                </a:extLst>
              </a:tr>
              <a:tr h="607246">
                <a:tc>
                  <a:txBody>
                    <a:bodyPr/>
                    <a:lstStyle/>
                    <a:p>
                      <a:pPr>
                        <a:buNone/>
                      </a:pPr>
                      <a:r>
                        <a:rPr lang="en-GB" sz="2000" dirty="0"/>
                        <a:t>How investors buy/sell</a:t>
                      </a:r>
                    </a:p>
                  </a:txBody>
                  <a:tcPr anchor="ctr">
                    <a:lnL>
                      <a:noFill/>
                    </a:lnL>
                    <a:lnR>
                      <a:noFill/>
                    </a:lnR>
                    <a:lnT>
                      <a:noFill/>
                    </a:lnT>
                    <a:lnB>
                      <a:noFill/>
                    </a:lnB>
                    <a:noFill/>
                  </a:tcPr>
                </a:tc>
                <a:tc>
                  <a:txBody>
                    <a:bodyPr/>
                    <a:lstStyle/>
                    <a:p>
                      <a:pPr>
                        <a:buNone/>
                      </a:pPr>
                      <a:r>
                        <a:rPr lang="en-GB" sz="2000" dirty="0"/>
                        <a:t>Directly with fund</a:t>
                      </a:r>
                    </a:p>
                  </a:txBody>
                  <a:tcPr anchor="ctr">
                    <a:lnL>
                      <a:noFill/>
                    </a:lnL>
                    <a:lnR>
                      <a:noFill/>
                    </a:lnR>
                    <a:lnT>
                      <a:noFill/>
                    </a:lnT>
                    <a:lnB>
                      <a:noFill/>
                    </a:lnB>
                    <a:noFill/>
                  </a:tcPr>
                </a:tc>
                <a:tc>
                  <a:txBody>
                    <a:bodyPr/>
                    <a:lstStyle/>
                    <a:p>
                      <a:pPr>
                        <a:buNone/>
                      </a:pPr>
                      <a:r>
                        <a:rPr lang="en-GB" sz="2000"/>
                        <a:t>On stock exchange</a:t>
                      </a:r>
                    </a:p>
                  </a:txBody>
                  <a:tcPr anchor="ctr">
                    <a:lnL>
                      <a:noFill/>
                    </a:lnL>
                    <a:lnR>
                      <a:noFill/>
                    </a:lnR>
                    <a:lnT>
                      <a:noFill/>
                    </a:lnT>
                    <a:lnB>
                      <a:noFill/>
                    </a:lnB>
                    <a:noFill/>
                  </a:tcPr>
                </a:tc>
                <a:extLst>
                  <a:ext uri="{0D108BD9-81ED-4DB2-BD59-A6C34878D82A}">
                    <a16:rowId xmlns:a16="http://schemas.microsoft.com/office/drawing/2014/main" val="2593387262"/>
                  </a:ext>
                </a:extLst>
              </a:tr>
              <a:tr h="1062681">
                <a:tc>
                  <a:txBody>
                    <a:bodyPr/>
                    <a:lstStyle/>
                    <a:p>
                      <a:pPr>
                        <a:buNone/>
                      </a:pPr>
                      <a:r>
                        <a:rPr lang="en-GB" sz="2000"/>
                        <a:t>Pricing</a:t>
                      </a:r>
                    </a:p>
                  </a:txBody>
                  <a:tcPr anchor="ctr">
                    <a:lnL>
                      <a:noFill/>
                    </a:lnL>
                    <a:lnR>
                      <a:noFill/>
                    </a:lnR>
                    <a:lnT>
                      <a:noFill/>
                    </a:lnT>
                    <a:lnB>
                      <a:noFill/>
                    </a:lnB>
                    <a:noFill/>
                  </a:tcPr>
                </a:tc>
                <a:tc>
                  <a:txBody>
                    <a:bodyPr/>
                    <a:lstStyle/>
                    <a:p>
                      <a:pPr>
                        <a:buNone/>
                      </a:pPr>
                      <a:r>
                        <a:rPr lang="en-GB" sz="2000" dirty="0"/>
                        <a:t>NAV</a:t>
                      </a:r>
                    </a:p>
                  </a:txBody>
                  <a:tcPr anchor="ctr">
                    <a:lnL>
                      <a:noFill/>
                    </a:lnL>
                    <a:lnR>
                      <a:noFill/>
                    </a:lnR>
                    <a:lnT>
                      <a:noFill/>
                    </a:lnT>
                    <a:lnB>
                      <a:noFill/>
                    </a:lnB>
                    <a:noFill/>
                  </a:tcPr>
                </a:tc>
                <a:tc>
                  <a:txBody>
                    <a:bodyPr/>
                    <a:lstStyle/>
                    <a:p>
                      <a:pPr>
                        <a:buNone/>
                      </a:pPr>
                      <a:r>
                        <a:rPr lang="en-GB" sz="2000" dirty="0"/>
                        <a:t>Market price (may differ from NAV)</a:t>
                      </a:r>
                    </a:p>
                  </a:txBody>
                  <a:tcPr anchor="ctr">
                    <a:lnL>
                      <a:noFill/>
                    </a:lnL>
                    <a:lnR>
                      <a:noFill/>
                    </a:lnR>
                    <a:lnT>
                      <a:noFill/>
                    </a:lnT>
                    <a:lnB>
                      <a:noFill/>
                    </a:lnB>
                    <a:noFill/>
                  </a:tcPr>
                </a:tc>
                <a:extLst>
                  <a:ext uri="{0D108BD9-81ED-4DB2-BD59-A6C34878D82A}">
                    <a16:rowId xmlns:a16="http://schemas.microsoft.com/office/drawing/2014/main" val="3024849338"/>
                  </a:ext>
                </a:extLst>
              </a:tr>
              <a:tr h="1062681">
                <a:tc>
                  <a:txBody>
                    <a:bodyPr/>
                    <a:lstStyle/>
                    <a:p>
                      <a:pPr>
                        <a:buNone/>
                      </a:pPr>
                      <a:r>
                        <a:rPr lang="en-GB" sz="2000"/>
                        <a:t>Liquidity</a:t>
                      </a:r>
                    </a:p>
                  </a:txBody>
                  <a:tcPr anchor="ctr">
                    <a:lnL>
                      <a:noFill/>
                    </a:lnL>
                    <a:lnR>
                      <a:noFill/>
                    </a:lnR>
                    <a:lnT>
                      <a:noFill/>
                    </a:lnT>
                    <a:lnB>
                      <a:noFill/>
                    </a:lnB>
                    <a:noFill/>
                  </a:tcPr>
                </a:tc>
                <a:tc>
                  <a:txBody>
                    <a:bodyPr/>
                    <a:lstStyle/>
                    <a:p>
                      <a:pPr>
                        <a:buNone/>
                      </a:pPr>
                      <a:r>
                        <a:rPr lang="en-GB" sz="2000"/>
                        <a:t>High (fund provides)</a:t>
                      </a:r>
                    </a:p>
                  </a:txBody>
                  <a:tcPr anchor="ctr">
                    <a:lnL>
                      <a:noFill/>
                    </a:lnL>
                    <a:lnR>
                      <a:noFill/>
                    </a:lnR>
                    <a:lnT>
                      <a:noFill/>
                    </a:lnT>
                    <a:lnB>
                      <a:noFill/>
                    </a:lnB>
                    <a:noFill/>
                  </a:tcPr>
                </a:tc>
                <a:tc>
                  <a:txBody>
                    <a:bodyPr/>
                    <a:lstStyle/>
                    <a:p>
                      <a:pPr>
                        <a:buNone/>
                      </a:pPr>
                      <a:r>
                        <a:rPr lang="en-GB" sz="2000" dirty="0"/>
                        <a:t>Depends on market trading</a:t>
                      </a:r>
                    </a:p>
                  </a:txBody>
                  <a:tcPr anchor="ctr">
                    <a:lnL>
                      <a:noFill/>
                    </a:lnL>
                    <a:lnR>
                      <a:noFill/>
                    </a:lnR>
                    <a:lnT>
                      <a:noFill/>
                    </a:lnT>
                    <a:lnB>
                      <a:noFill/>
                    </a:lnB>
                    <a:noFill/>
                  </a:tcPr>
                </a:tc>
                <a:extLst>
                  <a:ext uri="{0D108BD9-81ED-4DB2-BD59-A6C34878D82A}">
                    <a16:rowId xmlns:a16="http://schemas.microsoft.com/office/drawing/2014/main" val="3433508152"/>
                  </a:ext>
                </a:extLst>
              </a:tr>
              <a:tr h="607246">
                <a:tc>
                  <a:txBody>
                    <a:bodyPr/>
                    <a:lstStyle/>
                    <a:p>
                      <a:pPr>
                        <a:buNone/>
                      </a:pPr>
                      <a:r>
                        <a:rPr lang="en-GB" sz="2000"/>
                        <a:t>Premium/discount</a:t>
                      </a:r>
                    </a:p>
                  </a:txBody>
                  <a:tcPr anchor="ctr">
                    <a:lnL>
                      <a:noFill/>
                    </a:lnL>
                    <a:lnR>
                      <a:noFill/>
                    </a:lnR>
                    <a:lnT>
                      <a:noFill/>
                    </a:lnT>
                    <a:lnB>
                      <a:noFill/>
                    </a:lnB>
                    <a:noFill/>
                  </a:tcPr>
                </a:tc>
                <a:tc>
                  <a:txBody>
                    <a:bodyPr/>
                    <a:lstStyle/>
                    <a:p>
                      <a:pPr>
                        <a:buNone/>
                      </a:pPr>
                      <a:r>
                        <a:rPr lang="en-GB" sz="2000"/>
                        <a:t>No</a:t>
                      </a:r>
                    </a:p>
                  </a:txBody>
                  <a:tcPr anchor="ctr">
                    <a:lnL>
                      <a:noFill/>
                    </a:lnL>
                    <a:lnR>
                      <a:noFill/>
                    </a:lnR>
                    <a:lnT>
                      <a:noFill/>
                    </a:lnT>
                    <a:lnB>
                      <a:noFill/>
                    </a:lnB>
                    <a:noFill/>
                  </a:tcPr>
                </a:tc>
                <a:tc>
                  <a:txBody>
                    <a:bodyPr/>
                    <a:lstStyle/>
                    <a:p>
                      <a:pPr>
                        <a:buNone/>
                      </a:pPr>
                      <a:r>
                        <a:rPr lang="en-GB" sz="2000" dirty="0"/>
                        <a:t>Yes</a:t>
                      </a:r>
                    </a:p>
                  </a:txBody>
                  <a:tcPr anchor="ctr">
                    <a:lnL>
                      <a:noFill/>
                    </a:lnL>
                    <a:lnR>
                      <a:noFill/>
                    </a:lnR>
                    <a:lnT>
                      <a:noFill/>
                    </a:lnT>
                    <a:lnB>
                      <a:noFill/>
                    </a:lnB>
                    <a:noFill/>
                  </a:tcPr>
                </a:tc>
                <a:extLst>
                  <a:ext uri="{0D108BD9-81ED-4DB2-BD59-A6C34878D82A}">
                    <a16:rowId xmlns:a16="http://schemas.microsoft.com/office/drawing/2014/main" val="1492932867"/>
                  </a:ext>
                </a:extLst>
              </a:tr>
              <a:tr h="1062681">
                <a:tc>
                  <a:txBody>
                    <a:bodyPr/>
                    <a:lstStyle/>
                    <a:p>
                      <a:pPr>
                        <a:buNone/>
                      </a:pPr>
                      <a:r>
                        <a:rPr lang="en-GB" sz="2000"/>
                        <a:t>Best suited for</a:t>
                      </a:r>
                    </a:p>
                  </a:txBody>
                  <a:tcPr anchor="ctr">
                    <a:lnL>
                      <a:noFill/>
                    </a:lnL>
                    <a:lnR>
                      <a:noFill/>
                    </a:lnR>
                    <a:lnT>
                      <a:noFill/>
                    </a:lnT>
                    <a:lnB>
                      <a:noFill/>
                    </a:lnB>
                    <a:noFill/>
                  </a:tcPr>
                </a:tc>
                <a:tc>
                  <a:txBody>
                    <a:bodyPr/>
                    <a:lstStyle/>
                    <a:p>
                      <a:pPr>
                        <a:buNone/>
                      </a:pPr>
                      <a:r>
                        <a:rPr lang="en-GB" sz="2000"/>
                        <a:t>Flexible, liquid investments</a:t>
                      </a:r>
                    </a:p>
                  </a:txBody>
                  <a:tcPr anchor="ctr">
                    <a:lnL>
                      <a:noFill/>
                    </a:lnL>
                    <a:lnR>
                      <a:noFill/>
                    </a:lnR>
                    <a:lnT>
                      <a:noFill/>
                    </a:lnT>
                    <a:lnB>
                      <a:noFill/>
                    </a:lnB>
                    <a:noFill/>
                  </a:tcPr>
                </a:tc>
                <a:tc>
                  <a:txBody>
                    <a:bodyPr/>
                    <a:lstStyle/>
                    <a:p>
                      <a:pPr>
                        <a:buNone/>
                      </a:pPr>
                      <a:r>
                        <a:rPr lang="en-GB" sz="2000" dirty="0"/>
                        <a:t>Long-term, illiquid assets</a:t>
                      </a:r>
                    </a:p>
                  </a:txBody>
                  <a:tcPr anchor="ctr">
                    <a:lnL>
                      <a:noFill/>
                    </a:lnL>
                    <a:lnR>
                      <a:noFill/>
                    </a:lnR>
                    <a:lnT>
                      <a:noFill/>
                    </a:lnT>
                    <a:lnB>
                      <a:noFill/>
                    </a:lnB>
                    <a:noFill/>
                  </a:tcPr>
                </a:tc>
                <a:extLst>
                  <a:ext uri="{0D108BD9-81ED-4DB2-BD59-A6C34878D82A}">
                    <a16:rowId xmlns:a16="http://schemas.microsoft.com/office/drawing/2014/main" val="3110651508"/>
                  </a:ext>
                </a:extLst>
              </a:tr>
            </a:tbl>
          </a:graphicData>
        </a:graphic>
      </p:graphicFrame>
    </p:spTree>
    <p:extLst>
      <p:ext uri="{BB962C8B-B14F-4D97-AF65-F5344CB8AC3E}">
        <p14:creationId xmlns:p14="http://schemas.microsoft.com/office/powerpoint/2010/main" val="4779054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Types of Investment funds</a:t>
            </a:r>
            <a:endParaRPr lang="en-US" dirty="0"/>
          </a:p>
        </p:txBody>
      </p:sp>
      <p:sp>
        <p:nvSpPr>
          <p:cNvPr id="3" name="Content Placeholder 2"/>
          <p:cNvSpPr>
            <a:spLocks noGrp="1"/>
          </p:cNvSpPr>
          <p:nvPr>
            <p:ph idx="1"/>
          </p:nvPr>
        </p:nvSpPr>
        <p:spPr/>
        <p:txBody>
          <a:bodyPr>
            <a:normAutofit/>
          </a:bodyPr>
          <a:lstStyle/>
          <a:p>
            <a:pPr marL="0" indent="0">
              <a:buNone/>
            </a:pPr>
            <a:r>
              <a:rPr lang="en-US" altLang="en-US" sz="2000" dirty="0">
                <a:solidFill>
                  <a:srgbClr val="0070C0"/>
                </a:solidFill>
                <a:ea typeface="ヒラギノ角ゴ Pro W3" pitchFamily="-84" charset="-128"/>
              </a:rPr>
              <a:t>Mutual Funds: </a:t>
            </a:r>
            <a:r>
              <a:rPr lang="en-US" altLang="en-US" sz="2000" dirty="0">
                <a:ea typeface="ヒラギノ角ゴ Pro W3" pitchFamily="-84" charset="-128"/>
              </a:rPr>
              <a:t>The US version investment funds, could be close-ended, or open-ended. </a:t>
            </a:r>
          </a:p>
          <a:p>
            <a:pPr marL="0" indent="0">
              <a:buNone/>
            </a:pPr>
            <a:endParaRPr lang="en-US" altLang="en-US" sz="2000" dirty="0">
              <a:ea typeface="ヒラギノ角ゴ Pro W3" pitchFamily="-84" charset="-128"/>
            </a:endParaRPr>
          </a:p>
          <a:p>
            <a:r>
              <a:rPr lang="en-US" altLang="en-US" sz="2000" dirty="0">
                <a:ea typeface="ヒラギノ角ゴ Pro W3" pitchFamily="-84" charset="-128"/>
              </a:rPr>
              <a:t>Open-ended mutual funds are called </a:t>
            </a:r>
            <a:r>
              <a:rPr lang="en-US" altLang="en-US" sz="2000" b="1" dirty="0">
                <a:solidFill>
                  <a:srgbClr val="0070C0"/>
                </a:solidFill>
                <a:ea typeface="ヒラギノ角ゴ Pro W3" pitchFamily="-84" charset="-128"/>
              </a:rPr>
              <a:t>unit trusts </a:t>
            </a:r>
            <a:r>
              <a:rPr lang="en-US" altLang="en-US" sz="2000" dirty="0">
                <a:ea typeface="ヒラギノ角ゴ Pro W3" pitchFamily="-84" charset="-128"/>
              </a:rPr>
              <a:t>in the UK.</a:t>
            </a:r>
          </a:p>
          <a:p>
            <a:r>
              <a:rPr lang="en-US" altLang="en-US" sz="2000" dirty="0">
                <a:ea typeface="ヒラギノ角ゴ Pro W3" pitchFamily="-84" charset="-128"/>
              </a:rPr>
              <a:t>Closed-ended mutual funds are called </a:t>
            </a:r>
            <a:r>
              <a:rPr lang="en-US" altLang="en-US" sz="2000" b="1" dirty="0">
                <a:solidFill>
                  <a:srgbClr val="0070C0"/>
                </a:solidFill>
                <a:ea typeface="ヒラギノ角ゴ Pro W3" pitchFamily="-84" charset="-128"/>
              </a:rPr>
              <a:t>investment trusts </a:t>
            </a:r>
            <a:r>
              <a:rPr lang="en-US" altLang="en-US" sz="2000" dirty="0">
                <a:ea typeface="ヒラギノ角ゴ Pro W3" pitchFamily="-84" charset="-128"/>
              </a:rPr>
              <a:t>in the UK.</a:t>
            </a:r>
          </a:p>
          <a:p>
            <a:pPr marL="0" indent="0">
              <a:buNone/>
            </a:pPr>
            <a:endParaRPr lang="en-US" altLang="en-US" sz="2000" dirty="0">
              <a:ea typeface="ヒラギノ角ゴ Pro W3" pitchFamily="-84" charset="-128"/>
            </a:endParaRPr>
          </a:p>
          <a:p>
            <a:pPr marL="0" indent="0">
              <a:buNone/>
            </a:pPr>
            <a:endParaRPr lang="en-US" altLang="en-US" sz="2000" dirty="0">
              <a:ea typeface="ヒラギノ角ゴ Pro W3" pitchFamily="-84" charset="-128"/>
            </a:endParaRPr>
          </a:p>
          <a:p>
            <a:pPr marL="0" indent="0">
              <a:buNone/>
            </a:pPr>
            <a:endParaRPr lang="en-US" altLang="en-US" sz="2000" dirty="0">
              <a:ea typeface="ヒラギノ角ゴ Pro W3" pitchFamily="-84" charset="-128"/>
            </a:endParaRPr>
          </a:p>
        </p:txBody>
      </p:sp>
    </p:spTree>
    <p:extLst>
      <p:ext uri="{BB962C8B-B14F-4D97-AF65-F5344CB8AC3E}">
        <p14:creationId xmlns:p14="http://schemas.microsoft.com/office/powerpoint/2010/main" val="1853029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8B8E5-389F-5ADA-F620-4795A280299B}"/>
              </a:ext>
            </a:extLst>
          </p:cNvPr>
          <p:cNvSpPr>
            <a:spLocks noGrp="1"/>
          </p:cNvSpPr>
          <p:nvPr>
            <p:ph type="title"/>
          </p:nvPr>
        </p:nvSpPr>
        <p:spPr/>
        <p:txBody>
          <a:bodyPr/>
          <a:lstStyle/>
          <a:p>
            <a:r>
              <a:rPr lang="en-GB" dirty="0"/>
              <a:t>Classes of Mutual Funds</a:t>
            </a:r>
          </a:p>
        </p:txBody>
      </p:sp>
      <p:sp>
        <p:nvSpPr>
          <p:cNvPr id="3" name="Content Placeholder 2">
            <a:extLst>
              <a:ext uri="{FF2B5EF4-FFF2-40B4-BE49-F238E27FC236}">
                <a16:creationId xmlns:a16="http://schemas.microsoft.com/office/drawing/2014/main" id="{4720DC37-55E0-BF6D-3E27-36EBE39C090D}"/>
              </a:ext>
            </a:extLst>
          </p:cNvPr>
          <p:cNvSpPr>
            <a:spLocks noGrp="1"/>
          </p:cNvSpPr>
          <p:nvPr>
            <p:ph idx="1"/>
          </p:nvPr>
        </p:nvSpPr>
        <p:spPr/>
        <p:txBody>
          <a:bodyPr>
            <a:normAutofit lnSpcReduction="10000"/>
          </a:bodyPr>
          <a:lstStyle/>
          <a:p>
            <a:pPr marL="514350" indent="-514350">
              <a:buAutoNum type="arabicParenR"/>
            </a:pPr>
            <a:r>
              <a:rPr lang="en-GB" b="1" dirty="0"/>
              <a:t>Equity Funds</a:t>
            </a:r>
          </a:p>
          <a:p>
            <a:pPr marL="0" indent="0">
              <a:buNone/>
            </a:pPr>
            <a:r>
              <a:rPr lang="en-GB" dirty="0">
                <a:solidFill>
                  <a:srgbClr val="FF0000"/>
                </a:solidFill>
              </a:rPr>
              <a:t>Capital appreciation funds</a:t>
            </a:r>
            <a:r>
              <a:rPr lang="en-GB" dirty="0"/>
              <a:t>: seek rapid increase in share prices (not concerned in dividends); risky</a:t>
            </a:r>
          </a:p>
          <a:p>
            <a:pPr marL="0" indent="0">
              <a:buNone/>
            </a:pPr>
            <a:r>
              <a:rPr lang="en-GB" dirty="0">
                <a:solidFill>
                  <a:srgbClr val="FF0000"/>
                </a:solidFill>
              </a:rPr>
              <a:t>Total return funds</a:t>
            </a:r>
            <a:r>
              <a:rPr lang="en-GB" dirty="0"/>
              <a:t>: seek combination of current income and price appreciation; less risky</a:t>
            </a:r>
          </a:p>
          <a:p>
            <a:pPr marL="0" indent="0">
              <a:buNone/>
            </a:pPr>
            <a:r>
              <a:rPr lang="en-GB" dirty="0">
                <a:solidFill>
                  <a:srgbClr val="FF0000"/>
                </a:solidFill>
              </a:rPr>
              <a:t>World equity funds</a:t>
            </a:r>
            <a:r>
              <a:rPr lang="en-GB" dirty="0"/>
              <a:t>: invest primarily in foreign stocks; diversification</a:t>
            </a:r>
          </a:p>
          <a:p>
            <a:pPr marL="0" indent="0">
              <a:buNone/>
            </a:pPr>
            <a:r>
              <a:rPr lang="en-GB" dirty="0"/>
              <a:t>2) </a:t>
            </a:r>
            <a:r>
              <a:rPr lang="en-GB" b="1" dirty="0"/>
              <a:t>Bond funds </a:t>
            </a:r>
            <a:r>
              <a:rPr lang="en-GB" dirty="0"/>
              <a:t>– provide current income; government bonds (risk free); municipal bond (tax free)</a:t>
            </a:r>
          </a:p>
          <a:p>
            <a:pPr marL="0" indent="0">
              <a:buNone/>
            </a:pPr>
            <a:endParaRPr lang="en-GB" dirty="0"/>
          </a:p>
          <a:p>
            <a:endParaRPr lang="en-GB" dirty="0"/>
          </a:p>
        </p:txBody>
      </p:sp>
    </p:spTree>
    <p:extLst>
      <p:ext uri="{BB962C8B-B14F-4D97-AF65-F5344CB8AC3E}">
        <p14:creationId xmlns:p14="http://schemas.microsoft.com/office/powerpoint/2010/main" val="34131257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547BD-D20C-98B9-1C6D-0D43DB12A6BE}"/>
              </a:ext>
            </a:extLst>
          </p:cNvPr>
          <p:cNvSpPr>
            <a:spLocks noGrp="1"/>
          </p:cNvSpPr>
          <p:nvPr>
            <p:ph type="title"/>
          </p:nvPr>
        </p:nvSpPr>
        <p:spPr/>
        <p:txBody>
          <a:bodyPr/>
          <a:lstStyle/>
          <a:p>
            <a:r>
              <a:rPr lang="en-GB" dirty="0"/>
              <a:t>Classes of Mutual Funds</a:t>
            </a:r>
          </a:p>
        </p:txBody>
      </p:sp>
      <p:sp>
        <p:nvSpPr>
          <p:cNvPr id="3" name="Content Placeholder 2">
            <a:extLst>
              <a:ext uri="{FF2B5EF4-FFF2-40B4-BE49-F238E27FC236}">
                <a16:creationId xmlns:a16="http://schemas.microsoft.com/office/drawing/2014/main" id="{F59AFE1A-DFE3-601A-D737-3DC16F3452AC}"/>
              </a:ext>
            </a:extLst>
          </p:cNvPr>
          <p:cNvSpPr>
            <a:spLocks noGrp="1"/>
          </p:cNvSpPr>
          <p:nvPr>
            <p:ph idx="1"/>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2600" b="0" i="0" u="none" strike="noStrike" kern="1200" cap="none" spc="0" normalizeH="0" baseline="0" noProof="0" dirty="0">
                <a:ln>
                  <a:noFill/>
                </a:ln>
                <a:solidFill>
                  <a:prstClr val="black"/>
                </a:solidFill>
                <a:effectLst/>
                <a:uLnTx/>
                <a:uFillTx/>
                <a:latin typeface="Calibri" panose="020F0502020204030204"/>
                <a:ea typeface="+mn-ea"/>
                <a:cs typeface="+mn-cs"/>
              </a:rPr>
              <a:t>3) </a:t>
            </a:r>
            <a:r>
              <a:rPr kumimoji="0" lang="en-GB" sz="2600" b="1" i="0" u="none" strike="noStrike" kern="1200" cap="none" spc="0" normalizeH="0" baseline="0" noProof="0" dirty="0">
                <a:ln>
                  <a:noFill/>
                </a:ln>
                <a:solidFill>
                  <a:prstClr val="black"/>
                </a:solidFill>
                <a:effectLst/>
                <a:uLnTx/>
                <a:uFillTx/>
                <a:latin typeface="Calibri" panose="020F0502020204030204"/>
                <a:ea typeface="+mn-ea"/>
                <a:cs typeface="+mn-cs"/>
              </a:rPr>
              <a:t>Hybrid funds </a:t>
            </a:r>
            <a:r>
              <a:rPr kumimoji="0" lang="en-GB" sz="2600" b="0" i="0" u="none" strike="noStrike" kern="1200" cap="none" spc="0" normalizeH="0" baseline="0" noProof="0" dirty="0">
                <a:ln>
                  <a:noFill/>
                </a:ln>
                <a:solidFill>
                  <a:prstClr val="black"/>
                </a:solidFill>
                <a:effectLst/>
                <a:uLnTx/>
                <a:uFillTx/>
                <a:latin typeface="Calibri" panose="020F0502020204030204"/>
                <a:ea typeface="+mn-ea"/>
                <a:cs typeface="+mn-cs"/>
              </a:rPr>
              <a:t>– combine 1 &amp; 2</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2600" b="0" i="0" u="none" strike="noStrike" kern="1200" cap="none" spc="0" normalizeH="0" baseline="0" noProof="0" dirty="0">
                <a:ln>
                  <a:noFill/>
                </a:ln>
                <a:solidFill>
                  <a:prstClr val="black"/>
                </a:solidFill>
                <a:effectLst/>
                <a:uLnTx/>
                <a:uFillTx/>
                <a:latin typeface="Calibri" panose="020F0502020204030204"/>
                <a:ea typeface="+mn-ea"/>
                <a:cs typeface="+mn-cs"/>
              </a:rPr>
              <a:t>4) </a:t>
            </a:r>
            <a:r>
              <a:rPr kumimoji="0" lang="en-GB" sz="2600" b="1" i="0" u="none" strike="noStrike" kern="1200" cap="none" spc="0" normalizeH="0" baseline="0" noProof="0" dirty="0">
                <a:ln>
                  <a:noFill/>
                </a:ln>
                <a:solidFill>
                  <a:prstClr val="black"/>
                </a:solidFill>
                <a:effectLst/>
                <a:uLnTx/>
                <a:uFillTx/>
                <a:latin typeface="Calibri" panose="020F0502020204030204"/>
                <a:ea typeface="+mn-ea"/>
                <a:cs typeface="+mn-cs"/>
              </a:rPr>
              <a:t>Money market funds - </a:t>
            </a:r>
            <a:r>
              <a:rPr lang="en-GB" sz="1600" dirty="0"/>
              <a:t>invests in short-term, low-risk instruments such as Treasury bills, certificates of deposit, and commercial paper, aiming to provide liquidity and preserve capital with modest returns.</a:t>
            </a:r>
            <a:endParaRPr kumimoji="0" lang="en-GB" sz="26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sz="2600" dirty="0">
                <a:solidFill>
                  <a:prstClr val="black"/>
                </a:solidFill>
                <a:latin typeface="Calibri" panose="020F0502020204030204"/>
              </a:rPr>
              <a:t>5) </a:t>
            </a:r>
            <a:r>
              <a:rPr lang="en-US" altLang="en-US" sz="2600" b="1" dirty="0">
                <a:ea typeface="ヒラギノ角ゴ Pro W3" pitchFamily="-84" charset="-128"/>
              </a:rPr>
              <a:t>Index Funds</a:t>
            </a:r>
          </a:p>
          <a:p>
            <a:pPr lvl="1"/>
            <a:r>
              <a:rPr lang="en-US" altLang="en-US" sz="2000" dirty="0">
                <a:ea typeface="ヒラギノ角ゴ Pro W3" pitchFamily="-84" charset="-128"/>
              </a:rPr>
              <a:t>Mutual funds with passive management</a:t>
            </a:r>
          </a:p>
          <a:p>
            <a:pPr lvl="1"/>
            <a:r>
              <a:rPr lang="en-US" altLang="en-US" sz="2000" dirty="0">
                <a:ea typeface="ヒラギノ角ゴ Pro W3" pitchFamily="-84" charset="-128"/>
              </a:rPr>
              <a:t>Contains the stock of the index it is mimicking.</a:t>
            </a:r>
          </a:p>
          <a:p>
            <a:pPr lvl="1"/>
            <a:r>
              <a:rPr lang="en-US" altLang="en-US" sz="2000" dirty="0">
                <a:ea typeface="ヒラギノ角ゴ Pro W3" pitchFamily="-84" charset="-128"/>
              </a:rPr>
              <a:t>Offers benefits of traditional mutual funds without the fees of the professional money manager.</a:t>
            </a:r>
            <a:endParaRPr lang="en-GB" dirty="0"/>
          </a:p>
        </p:txBody>
      </p:sp>
    </p:spTree>
    <p:extLst>
      <p:ext uri="{BB962C8B-B14F-4D97-AF65-F5344CB8AC3E}">
        <p14:creationId xmlns:p14="http://schemas.microsoft.com/office/powerpoint/2010/main" val="10404991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Fee Structure of Mutual Funds</a:t>
            </a:r>
            <a:endParaRPr lang="en-US" dirty="0"/>
          </a:p>
        </p:txBody>
      </p:sp>
      <p:sp>
        <p:nvSpPr>
          <p:cNvPr id="3" name="Content Placeholder 2"/>
          <p:cNvSpPr>
            <a:spLocks noGrp="1"/>
          </p:cNvSpPr>
          <p:nvPr>
            <p:ph idx="1"/>
          </p:nvPr>
        </p:nvSpPr>
        <p:spPr/>
        <p:txBody>
          <a:bodyPr>
            <a:normAutofit/>
          </a:bodyPr>
          <a:lstStyle/>
          <a:p>
            <a:r>
              <a:rPr lang="en-US" altLang="en-US" sz="2400" dirty="0">
                <a:ea typeface="ヒラギノ角ゴ Pro W3" pitchFamily="-84" charset="-128"/>
              </a:rPr>
              <a:t>Front Load funds charge an upfront fee for buying the shares. Example: fund sold by brokers involves commission.</a:t>
            </a:r>
          </a:p>
          <a:p>
            <a:r>
              <a:rPr lang="en-US" altLang="en-US" sz="2400" dirty="0">
                <a:ea typeface="ヒラギノ角ゴ Pro W3" pitchFamily="-84" charset="-128"/>
              </a:rPr>
              <a:t>Deferred load funds charge a fee when the shares are redeemed. </a:t>
            </a:r>
            <a:r>
              <a:rPr lang="en-GB" altLang="en-US" sz="2400" dirty="0">
                <a:ea typeface="ヒラギノ角ゴ Pro W3" pitchFamily="-84" charset="-128"/>
              </a:rPr>
              <a:t>Usually, declining fee over five years to discourage  early withdrawals. </a:t>
            </a:r>
          </a:p>
          <a:p>
            <a:r>
              <a:rPr lang="en-GB" altLang="en-US" sz="2400" dirty="0">
                <a:ea typeface="ヒラギノ角ゴ Pro W3" pitchFamily="-84" charset="-128"/>
              </a:rPr>
              <a:t>No-load funds - do not charge fee. Purchased directly by investors without agent.</a:t>
            </a:r>
          </a:p>
          <a:p>
            <a:r>
              <a:rPr lang="en-US" altLang="en-US" sz="2400" dirty="0">
                <a:ea typeface="ヒラギノ角ゴ Pro W3" pitchFamily="-84" charset="-128"/>
              </a:rPr>
              <a:t>Other fees charged by mutual funds include expenses for marketing, advertising, and commissions.</a:t>
            </a:r>
            <a:endParaRPr lang="en-US" sz="2400" dirty="0"/>
          </a:p>
          <a:p>
            <a:endParaRPr lang="en-US" sz="2400" dirty="0"/>
          </a:p>
        </p:txBody>
      </p:sp>
    </p:spTree>
    <p:extLst>
      <p:ext uri="{BB962C8B-B14F-4D97-AF65-F5344CB8AC3E}">
        <p14:creationId xmlns:p14="http://schemas.microsoft.com/office/powerpoint/2010/main" val="3687949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C4A3E-24F6-024F-BAF6-40C904DC5E8D}"/>
              </a:ext>
            </a:extLst>
          </p:cNvPr>
          <p:cNvSpPr>
            <a:spLocks noGrp="1"/>
          </p:cNvSpPr>
          <p:nvPr>
            <p:ph type="title"/>
          </p:nvPr>
        </p:nvSpPr>
        <p:spPr/>
        <p:txBody>
          <a:bodyPr/>
          <a:lstStyle/>
          <a:p>
            <a:r>
              <a:rPr lang="en-GB" dirty="0"/>
              <a:t>Exchange Traded Funds (ETFs)</a:t>
            </a:r>
          </a:p>
        </p:txBody>
      </p:sp>
      <p:sp>
        <p:nvSpPr>
          <p:cNvPr id="3" name="Content Placeholder 2">
            <a:extLst>
              <a:ext uri="{FF2B5EF4-FFF2-40B4-BE49-F238E27FC236}">
                <a16:creationId xmlns:a16="http://schemas.microsoft.com/office/drawing/2014/main" id="{8BE1EC85-C625-8D44-8546-15A97C9CBCF8}"/>
              </a:ext>
            </a:extLst>
          </p:cNvPr>
          <p:cNvSpPr>
            <a:spLocks noGrp="1"/>
          </p:cNvSpPr>
          <p:nvPr>
            <p:ph idx="1"/>
          </p:nvPr>
        </p:nvSpPr>
        <p:spPr/>
        <p:txBody>
          <a:bodyPr>
            <a:normAutofit fontScale="85000" lnSpcReduction="20000"/>
          </a:bodyPr>
          <a:lstStyle/>
          <a:p>
            <a:r>
              <a:rPr lang="en-GB" sz="2000" dirty="0"/>
              <a:t>An investment fund designed to track a particular index, such as FTSE 100.</a:t>
            </a:r>
          </a:p>
          <a:p>
            <a:endParaRPr lang="en-GB" sz="2000" dirty="0"/>
          </a:p>
          <a:p>
            <a:r>
              <a:rPr lang="en-GB" sz="2000" dirty="0"/>
              <a:t>The investor buys shares in the ETF which are quoted on the stock exchange, like investment trusts. </a:t>
            </a:r>
          </a:p>
          <a:p>
            <a:endParaRPr lang="en-GB" sz="2000" dirty="0"/>
          </a:p>
          <a:p>
            <a:r>
              <a:rPr lang="en-GB" sz="2000" dirty="0"/>
              <a:t>However, unlike investment trusts, ETFs are open-ended funds. </a:t>
            </a:r>
          </a:p>
          <a:p>
            <a:endParaRPr lang="en-GB" sz="2000" dirty="0"/>
          </a:p>
          <a:p>
            <a:r>
              <a:rPr lang="en-GB" sz="2000" dirty="0"/>
              <a:t>This means that the fund gets bigger as more people invest and gets smaller as people withdraw their money.</a:t>
            </a:r>
          </a:p>
          <a:p>
            <a:pPr marL="0" indent="0">
              <a:buNone/>
            </a:pPr>
            <a:endParaRPr lang="en-GB" sz="2000" dirty="0"/>
          </a:p>
          <a:p>
            <a:r>
              <a:rPr lang="en-GB" sz="2000" dirty="0"/>
              <a:t>The main difference between ETF and an index fund:</a:t>
            </a:r>
          </a:p>
          <a:p>
            <a:pPr marL="0" indent="0">
              <a:buNone/>
            </a:pPr>
            <a:r>
              <a:rPr lang="en-GB" sz="2000" dirty="0"/>
              <a:t>  ETFs are traded on stock exchanges throughout the day like individual stocks, with their price fluctuating in real time based on supply and demand. </a:t>
            </a:r>
          </a:p>
          <a:p>
            <a:pPr marL="0" indent="0">
              <a:buNone/>
            </a:pPr>
            <a:r>
              <a:rPr lang="en-GB" sz="2000" dirty="0"/>
              <a:t>  Index fund are mutual funds that track a specific market index and are bought or sold only at the end of the trading day at the net asset value (NAV)</a:t>
            </a:r>
          </a:p>
        </p:txBody>
      </p:sp>
    </p:spTree>
    <p:extLst>
      <p:ext uri="{BB962C8B-B14F-4D97-AF65-F5344CB8AC3E}">
        <p14:creationId xmlns:p14="http://schemas.microsoft.com/office/powerpoint/2010/main" val="3137952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94B6955-BC42-FA39-03D9-889E80E234AC}"/>
              </a:ext>
            </a:extLst>
          </p:cNvPr>
          <p:cNvSpPr txBox="1"/>
          <p:nvPr/>
        </p:nvSpPr>
        <p:spPr>
          <a:xfrm>
            <a:off x="688157" y="6033155"/>
            <a:ext cx="3619892" cy="369332"/>
          </a:xfrm>
          <a:prstGeom prst="rect">
            <a:avLst/>
          </a:prstGeom>
          <a:noFill/>
        </p:spPr>
        <p:txBody>
          <a:bodyPr wrap="square" rtlCol="0">
            <a:spAutoFit/>
          </a:bodyPr>
          <a:lstStyle/>
          <a:p>
            <a:r>
              <a:rPr lang="en-GB" dirty="0"/>
              <a:t>Source: The Investment Association</a:t>
            </a:r>
          </a:p>
        </p:txBody>
      </p:sp>
      <p:pic>
        <p:nvPicPr>
          <p:cNvPr id="7" name="Content Placeholder 6">
            <a:extLst>
              <a:ext uri="{FF2B5EF4-FFF2-40B4-BE49-F238E27FC236}">
                <a16:creationId xmlns:a16="http://schemas.microsoft.com/office/drawing/2014/main" id="{30D1637A-9205-C71E-9516-55FA6E515C69}"/>
              </a:ext>
            </a:extLst>
          </p:cNvPr>
          <p:cNvPicPr>
            <a:picLocks noGrp="1" noChangeAspect="1"/>
          </p:cNvPicPr>
          <p:nvPr>
            <p:ph idx="1"/>
          </p:nvPr>
        </p:nvPicPr>
        <p:blipFill>
          <a:blip r:embed="rId2"/>
          <a:stretch>
            <a:fillRect/>
          </a:stretch>
        </p:blipFill>
        <p:spPr>
          <a:xfrm>
            <a:off x="862150" y="862149"/>
            <a:ext cx="7485016" cy="5147612"/>
          </a:xfrm>
        </p:spPr>
      </p:pic>
    </p:spTree>
    <p:extLst>
      <p:ext uri="{BB962C8B-B14F-4D97-AF65-F5344CB8AC3E}">
        <p14:creationId xmlns:p14="http://schemas.microsoft.com/office/powerpoint/2010/main" val="8081247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CC1421D-1563-26B2-AD61-96759245EF1D}"/>
              </a:ext>
            </a:extLst>
          </p:cNvPr>
          <p:cNvSpPr txBox="1"/>
          <p:nvPr/>
        </p:nvSpPr>
        <p:spPr>
          <a:xfrm>
            <a:off x="688157" y="6033155"/>
            <a:ext cx="3619892" cy="369332"/>
          </a:xfrm>
          <a:prstGeom prst="rect">
            <a:avLst/>
          </a:prstGeom>
          <a:noFill/>
        </p:spPr>
        <p:txBody>
          <a:bodyPr wrap="square" rtlCol="0">
            <a:spAutoFit/>
          </a:bodyPr>
          <a:lstStyle/>
          <a:p>
            <a:r>
              <a:rPr lang="en-GB" dirty="0"/>
              <a:t>Source: The Investment Association</a:t>
            </a:r>
          </a:p>
        </p:txBody>
      </p:sp>
      <p:pic>
        <p:nvPicPr>
          <p:cNvPr id="7" name="Content Placeholder 6">
            <a:extLst>
              <a:ext uri="{FF2B5EF4-FFF2-40B4-BE49-F238E27FC236}">
                <a16:creationId xmlns:a16="http://schemas.microsoft.com/office/drawing/2014/main" id="{96A96461-1CAF-A5B2-08B9-7B0F1B2CBDE1}"/>
              </a:ext>
            </a:extLst>
          </p:cNvPr>
          <p:cNvPicPr>
            <a:picLocks noGrp="1" noChangeAspect="1"/>
          </p:cNvPicPr>
          <p:nvPr>
            <p:ph idx="1"/>
          </p:nvPr>
        </p:nvPicPr>
        <p:blipFill>
          <a:blip r:embed="rId2"/>
          <a:stretch>
            <a:fillRect/>
          </a:stretch>
        </p:blipFill>
        <p:spPr>
          <a:xfrm>
            <a:off x="1306200" y="862149"/>
            <a:ext cx="6531599" cy="5240143"/>
          </a:xfrm>
        </p:spPr>
      </p:pic>
    </p:spTree>
    <p:extLst>
      <p:ext uri="{BB962C8B-B14F-4D97-AF65-F5344CB8AC3E}">
        <p14:creationId xmlns:p14="http://schemas.microsoft.com/office/powerpoint/2010/main" val="28609284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23F3A29-FC2B-4171-C4C2-AD4237E73637}"/>
              </a:ext>
            </a:extLst>
          </p:cNvPr>
          <p:cNvSpPr txBox="1"/>
          <p:nvPr/>
        </p:nvSpPr>
        <p:spPr>
          <a:xfrm>
            <a:off x="688157" y="6033155"/>
            <a:ext cx="3619892" cy="369332"/>
          </a:xfrm>
          <a:prstGeom prst="rect">
            <a:avLst/>
          </a:prstGeom>
          <a:noFill/>
        </p:spPr>
        <p:txBody>
          <a:bodyPr wrap="square" rtlCol="0">
            <a:spAutoFit/>
          </a:bodyPr>
          <a:lstStyle/>
          <a:p>
            <a:r>
              <a:rPr lang="en-GB" dirty="0"/>
              <a:t>Source: The Investment Association</a:t>
            </a:r>
          </a:p>
        </p:txBody>
      </p:sp>
      <p:pic>
        <p:nvPicPr>
          <p:cNvPr id="7" name="Content Placeholder 6">
            <a:extLst>
              <a:ext uri="{FF2B5EF4-FFF2-40B4-BE49-F238E27FC236}">
                <a16:creationId xmlns:a16="http://schemas.microsoft.com/office/drawing/2014/main" id="{B6E69F28-5D7A-C34C-D50A-B42FEAE3E3B8}"/>
              </a:ext>
            </a:extLst>
          </p:cNvPr>
          <p:cNvPicPr>
            <a:picLocks noGrp="1" noChangeAspect="1"/>
          </p:cNvPicPr>
          <p:nvPr>
            <p:ph idx="1"/>
          </p:nvPr>
        </p:nvPicPr>
        <p:blipFill>
          <a:blip r:embed="rId2"/>
          <a:stretch>
            <a:fillRect/>
          </a:stretch>
        </p:blipFill>
        <p:spPr>
          <a:xfrm>
            <a:off x="1136469" y="875210"/>
            <a:ext cx="6831874" cy="4911635"/>
          </a:xfrm>
        </p:spPr>
      </p:pic>
    </p:spTree>
    <p:extLst>
      <p:ext uri="{BB962C8B-B14F-4D97-AF65-F5344CB8AC3E}">
        <p14:creationId xmlns:p14="http://schemas.microsoft.com/office/powerpoint/2010/main" val="33548098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graph of a number of blue and black bars&#10;&#10;AI-generated content may be incorrect.">
            <a:extLst>
              <a:ext uri="{FF2B5EF4-FFF2-40B4-BE49-F238E27FC236}">
                <a16:creationId xmlns:a16="http://schemas.microsoft.com/office/drawing/2014/main" id="{04A6E13D-775D-AE3B-A900-5A25AFFFB76D}"/>
              </a:ext>
            </a:extLst>
          </p:cNvPr>
          <p:cNvPicPr>
            <a:picLocks noGrp="1" noChangeAspect="1"/>
          </p:cNvPicPr>
          <p:nvPr>
            <p:ph idx="1"/>
          </p:nvPr>
        </p:nvPicPr>
        <p:blipFill>
          <a:blip r:embed="rId2"/>
          <a:stretch>
            <a:fillRect/>
          </a:stretch>
        </p:blipFill>
        <p:spPr>
          <a:xfrm>
            <a:off x="628650" y="509451"/>
            <a:ext cx="7886700" cy="5983423"/>
          </a:xfrm>
        </p:spPr>
      </p:pic>
    </p:spTree>
    <p:extLst>
      <p:ext uri="{BB962C8B-B14F-4D97-AF65-F5344CB8AC3E}">
        <p14:creationId xmlns:p14="http://schemas.microsoft.com/office/powerpoint/2010/main" val="20991963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blue circle with white text and numbers&#10;&#10;AI-generated content may be incorrect.">
            <a:extLst>
              <a:ext uri="{FF2B5EF4-FFF2-40B4-BE49-F238E27FC236}">
                <a16:creationId xmlns:a16="http://schemas.microsoft.com/office/drawing/2014/main" id="{014F0433-BB6D-1C6F-21BA-2328BE46FC1D}"/>
              </a:ext>
            </a:extLst>
          </p:cNvPr>
          <p:cNvPicPr>
            <a:picLocks noGrp="1" noChangeAspect="1"/>
          </p:cNvPicPr>
          <p:nvPr>
            <p:ph idx="1"/>
          </p:nvPr>
        </p:nvPicPr>
        <p:blipFill>
          <a:blip r:embed="rId2"/>
          <a:stretch>
            <a:fillRect/>
          </a:stretch>
        </p:blipFill>
        <p:spPr>
          <a:xfrm>
            <a:off x="1267096" y="643466"/>
            <a:ext cx="6570617" cy="5571067"/>
          </a:xfrm>
          <a:prstGeom prst="rect">
            <a:avLst/>
          </a:prstGeom>
        </p:spPr>
      </p:pic>
    </p:spTree>
    <p:extLst>
      <p:ext uri="{BB962C8B-B14F-4D97-AF65-F5344CB8AC3E}">
        <p14:creationId xmlns:p14="http://schemas.microsoft.com/office/powerpoint/2010/main" val="37424361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graph of various colored bars&#10;&#10;AI-generated content may be incorrect.">
            <a:extLst>
              <a:ext uri="{FF2B5EF4-FFF2-40B4-BE49-F238E27FC236}">
                <a16:creationId xmlns:a16="http://schemas.microsoft.com/office/drawing/2014/main" id="{FAC1A013-E755-9A58-2C1B-49AE1B9ECA0B}"/>
              </a:ext>
            </a:extLst>
          </p:cNvPr>
          <p:cNvPicPr>
            <a:picLocks noGrp="1" noChangeAspect="1"/>
          </p:cNvPicPr>
          <p:nvPr>
            <p:ph idx="1"/>
          </p:nvPr>
        </p:nvPicPr>
        <p:blipFill>
          <a:blip r:embed="rId2"/>
          <a:stretch>
            <a:fillRect/>
          </a:stretch>
        </p:blipFill>
        <p:spPr>
          <a:xfrm>
            <a:off x="849086" y="643466"/>
            <a:ext cx="7367451" cy="5796523"/>
          </a:xfrm>
          <a:prstGeom prst="rect">
            <a:avLst/>
          </a:prstGeom>
        </p:spPr>
      </p:pic>
    </p:spTree>
    <p:extLst>
      <p:ext uri="{BB962C8B-B14F-4D97-AF65-F5344CB8AC3E}">
        <p14:creationId xmlns:p14="http://schemas.microsoft.com/office/powerpoint/2010/main" val="30525945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map of europe with blue circles and white text&#10;&#10;AI-generated content may be incorrect.">
            <a:extLst>
              <a:ext uri="{FF2B5EF4-FFF2-40B4-BE49-F238E27FC236}">
                <a16:creationId xmlns:a16="http://schemas.microsoft.com/office/drawing/2014/main" id="{CBD39AA6-C5C6-D9CB-3A60-02EAF4254C3C}"/>
              </a:ext>
            </a:extLst>
          </p:cNvPr>
          <p:cNvPicPr>
            <a:picLocks noGrp="1" noChangeAspect="1"/>
          </p:cNvPicPr>
          <p:nvPr>
            <p:ph idx="1"/>
          </p:nvPr>
        </p:nvPicPr>
        <p:blipFill>
          <a:blip r:embed="rId2"/>
          <a:stretch>
            <a:fillRect/>
          </a:stretch>
        </p:blipFill>
        <p:spPr>
          <a:xfrm>
            <a:off x="640080" y="600891"/>
            <a:ext cx="7824651" cy="5613642"/>
          </a:xfrm>
          <a:prstGeom prst="rect">
            <a:avLst/>
          </a:prstGeom>
        </p:spPr>
      </p:pic>
    </p:spTree>
    <p:extLst>
      <p:ext uri="{BB962C8B-B14F-4D97-AF65-F5344CB8AC3E}">
        <p14:creationId xmlns:p14="http://schemas.microsoft.com/office/powerpoint/2010/main" val="30025123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screenshot of a graph&#10;&#10;Description automatically generated">
            <a:extLst>
              <a:ext uri="{FF2B5EF4-FFF2-40B4-BE49-F238E27FC236}">
                <a16:creationId xmlns:a16="http://schemas.microsoft.com/office/drawing/2014/main" id="{6002CA05-8A00-7092-1645-DEBA81B84C01}"/>
              </a:ext>
            </a:extLst>
          </p:cNvPr>
          <p:cNvPicPr>
            <a:picLocks noGrp="1" noChangeAspect="1"/>
          </p:cNvPicPr>
          <p:nvPr>
            <p:ph idx="1"/>
          </p:nvPr>
        </p:nvPicPr>
        <p:blipFill>
          <a:blip r:embed="rId2"/>
          <a:stretch>
            <a:fillRect/>
          </a:stretch>
        </p:blipFill>
        <p:spPr>
          <a:xfrm>
            <a:off x="628650" y="522514"/>
            <a:ext cx="7886700" cy="5264241"/>
          </a:xfrm>
        </p:spPr>
      </p:pic>
      <p:sp>
        <p:nvSpPr>
          <p:cNvPr id="4" name="TextBox 3">
            <a:extLst>
              <a:ext uri="{FF2B5EF4-FFF2-40B4-BE49-F238E27FC236}">
                <a16:creationId xmlns:a16="http://schemas.microsoft.com/office/drawing/2014/main" id="{2522B17B-0B7B-AD1C-B7D6-08FC1A628CBD}"/>
              </a:ext>
            </a:extLst>
          </p:cNvPr>
          <p:cNvSpPr txBox="1"/>
          <p:nvPr/>
        </p:nvSpPr>
        <p:spPr>
          <a:xfrm>
            <a:off x="796835" y="6176963"/>
            <a:ext cx="7236822" cy="646331"/>
          </a:xfrm>
          <a:prstGeom prst="rect">
            <a:avLst/>
          </a:prstGeom>
          <a:noFill/>
        </p:spPr>
        <p:txBody>
          <a:bodyPr wrap="square" rtlCol="0">
            <a:spAutoFit/>
          </a:bodyPr>
          <a:lstStyle/>
          <a:p>
            <a:r>
              <a:rPr lang="en-GB" dirty="0">
                <a:hlinkClick r:id="rId3"/>
              </a:rPr>
              <a:t>Source: Worldwide Regulated Open-End Fund Assets and Flows, Second Quarter 2024 | Investment Company Institute</a:t>
            </a:r>
            <a:endParaRPr lang="en-GB" dirty="0"/>
          </a:p>
        </p:txBody>
      </p:sp>
    </p:spTree>
    <p:extLst>
      <p:ext uri="{BB962C8B-B14F-4D97-AF65-F5344CB8AC3E}">
        <p14:creationId xmlns:p14="http://schemas.microsoft.com/office/powerpoint/2010/main" val="1778060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785FC617-F777-1245-64D2-2EAA5717AC5E}"/>
              </a:ext>
            </a:extLst>
          </p:cNvPr>
          <p:cNvGraphicFramePr>
            <a:graphicFrameLocks noGrp="1"/>
          </p:cNvGraphicFramePr>
          <p:nvPr>
            <p:ph idx="1"/>
            <p:extLst>
              <p:ext uri="{D42A27DB-BD31-4B8C-83A1-F6EECF244321}">
                <p14:modId xmlns:p14="http://schemas.microsoft.com/office/powerpoint/2010/main" val="2393219290"/>
              </p:ext>
            </p:extLst>
          </p:nvPr>
        </p:nvGraphicFramePr>
        <p:xfrm>
          <a:off x="628650" y="1825625"/>
          <a:ext cx="7886700"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E94BFA7D-6C3A-CE9E-CB63-59A11556D9BD}"/>
              </a:ext>
            </a:extLst>
          </p:cNvPr>
          <p:cNvSpPr txBox="1"/>
          <p:nvPr/>
        </p:nvSpPr>
        <p:spPr>
          <a:xfrm>
            <a:off x="6624918" y="6338047"/>
            <a:ext cx="1890432" cy="369332"/>
          </a:xfrm>
          <a:prstGeom prst="rect">
            <a:avLst/>
          </a:prstGeom>
          <a:noFill/>
        </p:spPr>
        <p:txBody>
          <a:bodyPr wrap="square" rtlCol="0">
            <a:spAutoFit/>
          </a:bodyPr>
          <a:lstStyle/>
          <a:p>
            <a:r>
              <a:rPr lang="en-GB" dirty="0"/>
              <a:t>In trillions of USD</a:t>
            </a:r>
          </a:p>
        </p:txBody>
      </p:sp>
    </p:spTree>
    <p:extLst>
      <p:ext uri="{BB962C8B-B14F-4D97-AF65-F5344CB8AC3E}">
        <p14:creationId xmlns:p14="http://schemas.microsoft.com/office/powerpoint/2010/main" val="28891374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6E0646E2-3576-CF00-3479-FE53B3C9F339}"/>
              </a:ext>
            </a:extLst>
          </p:cNvPr>
          <p:cNvPicPr>
            <a:picLocks noChangeAspect="1"/>
          </p:cNvPicPr>
          <p:nvPr/>
        </p:nvPicPr>
        <p:blipFill rotWithShape="1">
          <a:blip r:embed="rId2"/>
          <a:srcRect l="45474" r="21245"/>
          <a:stretch/>
        </p:blipFill>
        <p:spPr>
          <a:xfrm>
            <a:off x="20" y="-2"/>
            <a:ext cx="4057627" cy="6858002"/>
          </a:xfrm>
          <a:prstGeom prst="rect">
            <a:avLst/>
          </a:prstGeom>
        </p:spPr>
      </p:pic>
      <p:sp useBgFill="1">
        <p:nvSpPr>
          <p:cNvPr id="15" name="Rectangle 14">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7647" y="-1"/>
            <a:ext cx="508635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A4AA1F-35C7-3EE0-C968-7283977DAD8B}"/>
              </a:ext>
            </a:extLst>
          </p:cNvPr>
          <p:cNvSpPr>
            <a:spLocks noGrp="1"/>
          </p:cNvSpPr>
          <p:nvPr>
            <p:ph type="title"/>
          </p:nvPr>
        </p:nvSpPr>
        <p:spPr>
          <a:xfrm>
            <a:off x="4586487" y="405685"/>
            <a:ext cx="4098726" cy="1559301"/>
          </a:xfrm>
        </p:spPr>
        <p:txBody>
          <a:bodyPr>
            <a:normAutofit/>
          </a:bodyPr>
          <a:lstStyle/>
          <a:p>
            <a:r>
              <a:rPr lang="en-GB" sz="3500"/>
              <a:t>Fund Management Companies in the UK</a:t>
            </a:r>
          </a:p>
        </p:txBody>
      </p:sp>
      <p:sp>
        <p:nvSpPr>
          <p:cNvPr id="3" name="Content Placeholder 2">
            <a:extLst>
              <a:ext uri="{FF2B5EF4-FFF2-40B4-BE49-F238E27FC236}">
                <a16:creationId xmlns:a16="http://schemas.microsoft.com/office/drawing/2014/main" id="{5437323D-2A44-902B-CDA2-2744D38BA9D6}"/>
              </a:ext>
            </a:extLst>
          </p:cNvPr>
          <p:cNvSpPr>
            <a:spLocks noGrp="1"/>
          </p:cNvSpPr>
          <p:nvPr>
            <p:ph idx="1"/>
          </p:nvPr>
        </p:nvSpPr>
        <p:spPr>
          <a:xfrm>
            <a:off x="4586487" y="2743200"/>
            <a:ext cx="3935505" cy="3496878"/>
          </a:xfrm>
        </p:spPr>
        <p:txBody>
          <a:bodyPr anchor="ctr">
            <a:normAutofit/>
          </a:bodyPr>
          <a:lstStyle/>
          <a:p>
            <a:r>
              <a:rPr lang="en-GB" sz="1700">
                <a:hlinkClick r:id="rId3"/>
              </a:rPr>
              <a:t>Monthly company rankings | The Investment Association (theia.org)</a:t>
            </a:r>
            <a:endParaRPr lang="en-GB" sz="1700"/>
          </a:p>
        </p:txBody>
      </p:sp>
    </p:spTree>
    <p:extLst>
      <p:ext uri="{BB962C8B-B14F-4D97-AF65-F5344CB8AC3E}">
        <p14:creationId xmlns:p14="http://schemas.microsoft.com/office/powerpoint/2010/main" val="15021074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455F768-46F1-266A-982D-93E67E1FB92E}"/>
              </a:ext>
            </a:extLst>
          </p:cNvPr>
          <p:cNvPicPr>
            <a:picLocks noGrp="1" noChangeAspect="1"/>
          </p:cNvPicPr>
          <p:nvPr>
            <p:ph idx="1"/>
          </p:nvPr>
        </p:nvPicPr>
        <p:blipFill>
          <a:blip r:embed="rId2"/>
          <a:stretch>
            <a:fillRect/>
          </a:stretch>
        </p:blipFill>
        <p:spPr>
          <a:xfrm>
            <a:off x="779929" y="555251"/>
            <a:ext cx="7745505" cy="5558398"/>
          </a:xfrm>
          <a:prstGeom prst="rect">
            <a:avLst/>
          </a:prstGeom>
        </p:spPr>
      </p:pic>
      <p:sp>
        <p:nvSpPr>
          <p:cNvPr id="5" name="TextBox 4">
            <a:extLst>
              <a:ext uri="{FF2B5EF4-FFF2-40B4-BE49-F238E27FC236}">
                <a16:creationId xmlns:a16="http://schemas.microsoft.com/office/drawing/2014/main" id="{0CCACF63-D12A-DD96-D6C1-790BA46910FD}"/>
              </a:ext>
            </a:extLst>
          </p:cNvPr>
          <p:cNvSpPr txBox="1"/>
          <p:nvPr/>
        </p:nvSpPr>
        <p:spPr>
          <a:xfrm>
            <a:off x="5683625" y="485282"/>
            <a:ext cx="977768" cy="276999"/>
          </a:xfrm>
          <a:prstGeom prst="rect">
            <a:avLst/>
          </a:prstGeom>
          <a:noFill/>
        </p:spPr>
        <p:txBody>
          <a:bodyPr wrap="none" rtlCol="0">
            <a:spAutoFit/>
          </a:bodyPr>
          <a:lstStyle/>
          <a:p>
            <a:r>
              <a:rPr lang="en-GB" sz="1200" dirty="0"/>
              <a:t>(percentage)</a:t>
            </a:r>
          </a:p>
        </p:txBody>
      </p:sp>
    </p:spTree>
    <p:extLst>
      <p:ext uri="{BB962C8B-B14F-4D97-AF65-F5344CB8AC3E}">
        <p14:creationId xmlns:p14="http://schemas.microsoft.com/office/powerpoint/2010/main" val="21458255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E5AC26D-6881-9CA2-AE42-3D3CC26B28F7}"/>
              </a:ext>
            </a:extLst>
          </p:cNvPr>
          <p:cNvPicPr>
            <a:picLocks noGrp="1" noChangeAspect="1"/>
          </p:cNvPicPr>
          <p:nvPr>
            <p:ph idx="1"/>
          </p:nvPr>
        </p:nvPicPr>
        <p:blipFill>
          <a:blip r:embed="rId2"/>
          <a:stretch>
            <a:fillRect/>
          </a:stretch>
        </p:blipFill>
        <p:spPr>
          <a:xfrm>
            <a:off x="170329" y="188259"/>
            <a:ext cx="8830236" cy="6553200"/>
          </a:xfrm>
          <a:prstGeom prst="rect">
            <a:avLst/>
          </a:prstGeom>
        </p:spPr>
      </p:pic>
    </p:spTree>
    <p:extLst>
      <p:ext uri="{BB962C8B-B14F-4D97-AF65-F5344CB8AC3E}">
        <p14:creationId xmlns:p14="http://schemas.microsoft.com/office/powerpoint/2010/main" val="1373882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F2A92C6-5A4B-2A1D-9689-DBFE616C5107}"/>
              </a:ext>
            </a:extLst>
          </p:cNvPr>
          <p:cNvPicPr>
            <a:picLocks noGrp="1" noChangeAspect="1"/>
          </p:cNvPicPr>
          <p:nvPr>
            <p:ph idx="1"/>
          </p:nvPr>
        </p:nvPicPr>
        <p:blipFill>
          <a:blip r:embed="rId2"/>
          <a:stretch>
            <a:fillRect/>
          </a:stretch>
        </p:blipFill>
        <p:spPr>
          <a:xfrm>
            <a:off x="482600" y="1048872"/>
            <a:ext cx="8178799" cy="4625788"/>
          </a:xfrm>
          <a:prstGeom prst="rect">
            <a:avLst/>
          </a:prstGeom>
        </p:spPr>
      </p:pic>
    </p:spTree>
    <p:extLst>
      <p:ext uri="{BB962C8B-B14F-4D97-AF65-F5344CB8AC3E}">
        <p14:creationId xmlns:p14="http://schemas.microsoft.com/office/powerpoint/2010/main" val="16882171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graph with purple and pink lines&#10;&#10;Description automatically generated">
            <a:extLst>
              <a:ext uri="{FF2B5EF4-FFF2-40B4-BE49-F238E27FC236}">
                <a16:creationId xmlns:a16="http://schemas.microsoft.com/office/drawing/2014/main" id="{54F7664A-2CFE-C96D-F56C-097C16AB3DC3}"/>
              </a:ext>
            </a:extLst>
          </p:cNvPr>
          <p:cNvPicPr>
            <a:picLocks noGrp="1" noChangeAspect="1"/>
          </p:cNvPicPr>
          <p:nvPr>
            <p:ph idx="1"/>
          </p:nvPr>
        </p:nvPicPr>
        <p:blipFill>
          <a:blip r:embed="rId3"/>
          <a:stretch>
            <a:fillRect/>
          </a:stretch>
        </p:blipFill>
        <p:spPr>
          <a:xfrm>
            <a:off x="1046008" y="643466"/>
            <a:ext cx="7051983" cy="5571067"/>
          </a:xfrm>
          <a:prstGeom prst="rect">
            <a:avLst/>
          </a:prstGeom>
        </p:spPr>
      </p:pic>
    </p:spTree>
    <p:extLst>
      <p:ext uri="{BB962C8B-B14F-4D97-AF65-F5344CB8AC3E}">
        <p14:creationId xmlns:p14="http://schemas.microsoft.com/office/powerpoint/2010/main" val="21968469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B0214-B1B1-3A4A-969E-D77413ED7D17}"/>
              </a:ext>
            </a:extLst>
          </p:cNvPr>
          <p:cNvSpPr>
            <a:spLocks noGrp="1"/>
          </p:cNvSpPr>
          <p:nvPr>
            <p:ph type="title"/>
          </p:nvPr>
        </p:nvSpPr>
        <p:spPr>
          <a:xfrm>
            <a:off x="628649" y="365126"/>
            <a:ext cx="8316567" cy="779462"/>
          </a:xfrm>
        </p:spPr>
        <p:txBody>
          <a:bodyPr>
            <a:noAutofit/>
          </a:bodyPr>
          <a:lstStyle/>
          <a:p>
            <a:r>
              <a:rPr lang="en-GB" sz="2400" dirty="0"/>
              <a:t>Ownership of the US equities </a:t>
            </a:r>
            <a:br>
              <a:rPr lang="en-GB" sz="2400" dirty="0"/>
            </a:br>
            <a:r>
              <a:rPr lang="en-GB" sz="2400" dirty="0"/>
              <a:t>(i.e. US companies’ stocks)</a:t>
            </a:r>
          </a:p>
        </p:txBody>
      </p:sp>
      <p:sp>
        <p:nvSpPr>
          <p:cNvPr id="3" name="Content Placeholder 2">
            <a:extLst>
              <a:ext uri="{FF2B5EF4-FFF2-40B4-BE49-F238E27FC236}">
                <a16:creationId xmlns:a16="http://schemas.microsoft.com/office/drawing/2014/main" id="{138891FB-C386-1F4C-9A90-4A50EE99FF58}"/>
              </a:ext>
            </a:extLst>
          </p:cNvPr>
          <p:cNvSpPr>
            <a:spLocks noGrp="1"/>
          </p:cNvSpPr>
          <p:nvPr>
            <p:ph idx="1"/>
          </p:nvPr>
        </p:nvSpPr>
        <p:spPr/>
        <p:txBody>
          <a:bodyPr/>
          <a:lstStyle/>
          <a:p>
            <a:endParaRPr lang="en-GB"/>
          </a:p>
        </p:txBody>
      </p:sp>
      <p:pic>
        <p:nvPicPr>
          <p:cNvPr id="1026" name="Picture 2">
            <a:extLst>
              <a:ext uri="{FF2B5EF4-FFF2-40B4-BE49-F238E27FC236}">
                <a16:creationId xmlns:a16="http://schemas.microsoft.com/office/drawing/2014/main" id="{459B9B59-034E-B343-BBF5-DD5D51DB8F9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7584"/>
          <a:stretch/>
        </p:blipFill>
        <p:spPr bwMode="auto">
          <a:xfrm>
            <a:off x="355600" y="1205948"/>
            <a:ext cx="8431213" cy="5652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72719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6" name="Rectangle 75">
            <a:extLst>
              <a:ext uri="{FF2B5EF4-FFF2-40B4-BE49-F238E27FC236}">
                <a16:creationId xmlns:a16="http://schemas.microsoft.com/office/drawing/2014/main" id="{8761DDFE-071F-4200-B0AA-394476C2D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B44888-1767-4FFC-B533-D872E2178FE1}"/>
              </a:ext>
            </a:extLst>
          </p:cNvPr>
          <p:cNvSpPr>
            <a:spLocks noGrp="1"/>
          </p:cNvSpPr>
          <p:nvPr>
            <p:ph type="title"/>
          </p:nvPr>
        </p:nvSpPr>
        <p:spPr>
          <a:xfrm>
            <a:off x="628648" y="547815"/>
            <a:ext cx="8015480" cy="735395"/>
          </a:xfrm>
        </p:spPr>
        <p:txBody>
          <a:bodyPr vert="horz" lIns="91440" tIns="45720" rIns="91440" bIns="45720" rtlCol="0" anchor="ctr">
            <a:normAutofit/>
          </a:bodyPr>
          <a:lstStyle/>
          <a:p>
            <a:pPr>
              <a:defRPr/>
            </a:pPr>
            <a:r>
              <a:rPr lang="en-US" sz="2400" b="0" dirty="0"/>
              <a:t>Ownership of UK equities</a:t>
            </a:r>
          </a:p>
        </p:txBody>
      </p:sp>
      <p:pic>
        <p:nvPicPr>
          <p:cNvPr id="11" name="Picture 10">
            <a:extLst>
              <a:ext uri="{FF2B5EF4-FFF2-40B4-BE49-F238E27FC236}">
                <a16:creationId xmlns:a16="http://schemas.microsoft.com/office/drawing/2014/main" id="{065BD5ED-0E0A-C944-95C9-A48EF0E32F7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6630" y="1254044"/>
            <a:ext cx="8348451" cy="4905555"/>
          </a:xfrm>
          <a:prstGeom prst="rect">
            <a:avLst/>
          </a:prstGeom>
          <a:noFill/>
          <a:ln>
            <a:noFill/>
          </a:ln>
        </p:spPr>
      </p:pic>
      <p:sp>
        <p:nvSpPr>
          <p:cNvPr id="5" name="TextBox 4">
            <a:extLst>
              <a:ext uri="{FF2B5EF4-FFF2-40B4-BE49-F238E27FC236}">
                <a16:creationId xmlns:a16="http://schemas.microsoft.com/office/drawing/2014/main" id="{09FA0B96-54B9-5B4A-9FE2-3A61861D9C50}"/>
              </a:ext>
            </a:extLst>
          </p:cNvPr>
          <p:cNvSpPr txBox="1"/>
          <p:nvPr/>
        </p:nvSpPr>
        <p:spPr>
          <a:xfrm>
            <a:off x="808382" y="6310185"/>
            <a:ext cx="1886029" cy="307777"/>
          </a:xfrm>
          <a:prstGeom prst="rect">
            <a:avLst/>
          </a:prstGeom>
          <a:noFill/>
        </p:spPr>
        <p:txBody>
          <a:bodyPr wrap="none" rtlCol="0">
            <a:spAutoFit/>
          </a:bodyPr>
          <a:lstStyle/>
          <a:p>
            <a:r>
              <a:rPr lang="en-GB" sz="1400" dirty="0"/>
              <a:t>Source: Financial Times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hart showing value of global assets under management">
            <a:extLst>
              <a:ext uri="{FF2B5EF4-FFF2-40B4-BE49-F238E27FC236}">
                <a16:creationId xmlns:a16="http://schemas.microsoft.com/office/drawing/2014/main" id="{3E64CFCE-D8CF-CE4A-AABB-F71351C562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254000"/>
            <a:ext cx="8890000" cy="635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191457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0c7fd77c-bf1b-4511-8a0d-ca095442aa9f}" enabled="1" method="Privileged" siteId="{07ef1208-413c-4b5e-9cdd-64ef305754f0}" contentBits="2" removed="0"/>
</clbl:labelList>
</file>

<file path=docProps/app.xml><?xml version="1.0" encoding="utf-8"?>
<Properties xmlns="http://schemas.openxmlformats.org/officeDocument/2006/extended-properties" xmlns:vt="http://schemas.openxmlformats.org/officeDocument/2006/docPropsVTypes">
  <Template>Office Theme</Template>
  <TotalTime>1354</TotalTime>
  <Words>1613</Words>
  <Application>Microsoft Office PowerPoint</Application>
  <PresentationFormat>On-screen Show (4:3)</PresentationFormat>
  <Paragraphs>153</Paragraphs>
  <Slides>35</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Aptos</vt:lpstr>
      <vt:lpstr>Arial</vt:lpstr>
      <vt:lpstr>Calibri</vt:lpstr>
      <vt:lpstr>Calibri Light</vt:lpstr>
      <vt:lpstr>ヒラギノ角ゴ Pro W3</vt:lpstr>
      <vt:lpstr>Office Theme</vt:lpstr>
      <vt:lpstr>Week 12  Investment funds</vt:lpstr>
      <vt:lpstr>Learning Objectives</vt:lpstr>
      <vt:lpstr>Investment Funds</vt:lpstr>
      <vt:lpstr>Benefits of Investment Funds</vt:lpstr>
      <vt:lpstr>Benefits of Investment Funds</vt:lpstr>
      <vt:lpstr>Investment styles</vt:lpstr>
      <vt:lpstr>Active management</vt:lpstr>
      <vt:lpstr>Passive management</vt:lpstr>
      <vt:lpstr>PowerPoint Presentation</vt:lpstr>
      <vt:lpstr>Types of Investment Funds</vt:lpstr>
      <vt:lpstr>Close-Ended Funds</vt:lpstr>
      <vt:lpstr>Open-ended Mutual Funds</vt:lpstr>
      <vt:lpstr>PowerPoint Presentation</vt:lpstr>
      <vt:lpstr>Types of Investment funds</vt:lpstr>
      <vt:lpstr>Classes of Mutual Funds</vt:lpstr>
      <vt:lpstr>Classes of Mutual Funds</vt:lpstr>
      <vt:lpstr>Fee Structure of Mutual Funds</vt:lpstr>
      <vt:lpstr>Exchange Traded Funds (ETFs)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Fund Management Companies in the UK</vt:lpstr>
      <vt:lpstr>PowerPoint Presentation</vt:lpstr>
      <vt:lpstr>PowerPoint Presentation</vt:lpstr>
      <vt:lpstr>PowerPoint Presentation</vt:lpstr>
      <vt:lpstr>PowerPoint Presentation</vt:lpstr>
      <vt:lpstr>Ownership of the US equities  (i.e. US companies’ stocks)</vt:lpstr>
      <vt:lpstr>Ownership of UK equities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9  Mutual funds and Hedge Funds</dc:title>
  <dc:creator>Armagan Gezici</dc:creator>
  <cp:lastModifiedBy>Fazelina Sahul Hamid</cp:lastModifiedBy>
  <cp:revision>26</cp:revision>
  <dcterms:created xsi:type="dcterms:W3CDTF">2021-11-30T22:14:59Z</dcterms:created>
  <dcterms:modified xsi:type="dcterms:W3CDTF">2025-12-10T14:15:39Z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Sensitivity label: Students, Staff and Guests</vt:lpwstr>
  </property>
</Properties>
</file>