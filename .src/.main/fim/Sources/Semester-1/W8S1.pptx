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
  </p:notesMasterIdLst>
  <p:sldIdLst>
    <p:sldId id="256" r:id="rId2"/>
    <p:sldId id="584" r:id="rId3"/>
    <p:sldId id="257" r:id="rId4"/>
    <p:sldId id="264" r:id="rId5"/>
    <p:sldId id="585" r:id="rId6"/>
    <p:sldId id="559" r:id="rId7"/>
    <p:sldId id="581" r:id="rId8"/>
    <p:sldId id="527" r:id="rId9"/>
    <p:sldId id="582" r:id="rId10"/>
    <p:sldId id="583" r:id="rId11"/>
    <p:sldId id="567" r:id="rId12"/>
    <p:sldId id="569" r:id="rId13"/>
    <p:sldId id="568" r:id="rId14"/>
    <p:sldId id="570" r:id="rId15"/>
    <p:sldId id="562" r:id="rId16"/>
    <p:sldId id="572" r:id="rId17"/>
    <p:sldId id="573" r:id="rId18"/>
    <p:sldId id="265" r:id="rId19"/>
    <p:sldId id="576" r:id="rId20"/>
    <p:sldId id="574" r:id="rId21"/>
    <p:sldId id="566" r:id="rId22"/>
    <p:sldId id="267" r:id="rId23"/>
    <p:sldId id="571" r:id="rId24"/>
    <p:sldId id="577" r:id="rId25"/>
    <p:sldId id="579"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C81F0D-FE57-A341-80CB-4F484DD4F441}" v="858" dt="2023-10-30T11:10:10.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7"/>
  </p:normalViewPr>
  <p:slideViewPr>
    <p:cSldViewPr snapToGrid="0" snapToObjects="1">
      <p:cViewPr varScale="1">
        <p:scale>
          <a:sx n="99" d="100"/>
          <a:sy n="99" d="100"/>
        </p:scale>
        <p:origin x="19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191D3-CAA4-0040-92EF-933A995166B2}" type="datetimeFigureOut">
              <a:rPr lang="en-GB" smtClean="0"/>
              <a:t>09/11/2024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5C54A4-A4E7-EB42-A239-7F0A8B3DEB17}" type="slidenum">
              <a:rPr lang="en-GB" smtClean="0"/>
              <a:t>‹#›</a:t>
            </a:fld>
            <a:endParaRPr lang="en-GB"/>
          </a:p>
        </p:txBody>
      </p:sp>
    </p:spTree>
    <p:extLst>
      <p:ext uri="{BB962C8B-B14F-4D97-AF65-F5344CB8AC3E}">
        <p14:creationId xmlns:p14="http://schemas.microsoft.com/office/powerpoint/2010/main" val="101699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7095CBC-A688-6C44-89E0-BDD8271BC4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27B2670-5F2A-8B4E-A415-922E775784D4}"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27D2A6AA-0F29-6B46-A62B-AC0DB37ABD6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C6C82238-648B-A748-A70D-C2D3F68509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B855113-EBF5-5D4F-A556-315750DD76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A268B9-1397-854F-9D3F-27646FC95EE9}"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AB802EEB-DD65-6E40-919E-5042B947DE20}"/>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8E211FDB-073C-2044-B642-55A5EFAE0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0070C0"/>
                </a:solidFill>
              </a:defRPr>
            </a:lvl1pPr>
          </a:lstStyle>
          <a:p>
            <a:r>
              <a:rPr lang="en-GB"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6C84559-9CE0-DB48-8F4F-51A6711C3247}" type="datetimeFigureOut">
              <a:rPr lang="en-GB" smtClean="0"/>
              <a:t>09/11/2024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1816770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solidFill>
                  <a:srgbClr val="0070C0"/>
                </a:solidFill>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6C84559-9CE0-DB48-8F4F-51A6711C3247}" type="datetimeFigureOut">
              <a:rPr lang="en-GB" smtClean="0"/>
              <a:t>09/11/2024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183436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6C84559-9CE0-DB48-8F4F-51A6711C3247}" type="datetimeFigureOut">
              <a:rPr lang="en-GB" smtClean="0"/>
              <a:t>09/11/2024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700178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6C84559-9CE0-DB48-8F4F-51A6711C3247}" type="datetimeFigureOut">
              <a:rPr lang="en-GB" smtClean="0"/>
              <a:t>09/11/2024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795193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6C84559-9CE0-DB48-8F4F-51A6711C3247}" type="datetimeFigureOut">
              <a:rPr lang="en-GB" smtClean="0"/>
              <a:t>09/11/2024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059894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solidFill>
                  <a:srgbClr val="0070C0"/>
                </a:solidFill>
              </a:defRPr>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fld id="{D6C84559-9CE0-DB48-8F4F-51A6711C3247}" type="datetimeFigureOut">
              <a:rPr lang="en-GB" smtClean="0"/>
              <a:t>09/11/2024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731134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84559-9CE0-DB48-8F4F-51A6711C3247}" type="datetimeFigureOut">
              <a:rPr lang="en-GB" smtClean="0"/>
              <a:t>09/11/2024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366467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6C84559-9CE0-DB48-8F4F-51A6711C3247}" type="datetimeFigureOut">
              <a:rPr lang="en-GB" smtClean="0"/>
              <a:t>09/11/2024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585268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6C84559-9CE0-DB48-8F4F-51A6711C3247}" type="datetimeFigureOut">
              <a:rPr lang="en-GB" smtClean="0"/>
              <a:t>09/11/2024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679269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6C84559-9CE0-DB48-8F4F-51A6711C3247}" type="datetimeFigureOut">
              <a:rPr lang="en-GB" smtClean="0"/>
              <a:t>09/11/2024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1686842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6C84559-9CE0-DB48-8F4F-51A6711C3247}" type="datetimeFigureOut">
              <a:rPr lang="en-GB" smtClean="0"/>
              <a:t>09/11/2024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41039F-6B4A-4341-BCE8-C5926336FA35}" type="slidenum">
              <a:rPr lang="en-GB" smtClean="0"/>
              <a:t>‹#›</a:t>
            </a:fld>
            <a:endParaRPr lang="en-GB"/>
          </a:p>
        </p:txBody>
      </p:sp>
    </p:spTree>
    <p:extLst>
      <p:ext uri="{BB962C8B-B14F-4D97-AF65-F5344CB8AC3E}">
        <p14:creationId xmlns:p14="http://schemas.microsoft.com/office/powerpoint/2010/main" val="294829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C84559-9CE0-DB48-8F4F-51A6711C3247}" type="datetimeFigureOut">
              <a:rPr lang="en-GB" smtClean="0"/>
              <a:t>09/11/2024</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1039F-6B4A-4341-BCE8-C5926336FA35}" type="slidenum">
              <a:rPr lang="en-GB" smtClean="0"/>
              <a:t>‹#›</a:t>
            </a:fld>
            <a:endParaRPr lang="en-GB"/>
          </a:p>
        </p:txBody>
      </p:sp>
    </p:spTree>
    <p:extLst>
      <p:ext uri="{BB962C8B-B14F-4D97-AF65-F5344CB8AC3E}">
        <p14:creationId xmlns:p14="http://schemas.microsoft.com/office/powerpoint/2010/main" val="5768967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Fazelina.SahulHamid@uwe.ac.uk" TargetMode="External"/><Relationship Id="rId2" Type="http://schemas.openxmlformats.org/officeDocument/2006/relationships/hyperlink" Target="https://www.cisi.org/cisiweb2/cisi-website/study-with-u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sec.gov/News/PressRelease/Detail/PressRelease/1370540492377" TargetMode="External"/><Relationship Id="rId2" Type="http://schemas.openxmlformats.org/officeDocument/2006/relationships/hyperlink" Target="http://www.sec.gov/news/press/2011/2011-214.htm" TargetMode="External"/><Relationship Id="rId1" Type="http://schemas.openxmlformats.org/officeDocument/2006/relationships/slideLayout" Target="../slideLayouts/slideLayout2.xml"/><Relationship Id="rId4" Type="http://schemas.openxmlformats.org/officeDocument/2006/relationships/hyperlink" Target="http://www.sec.gov/news/press/2011/2011-131.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F3DCA-F82D-F440-ACF7-0580C24092CC}"/>
              </a:ext>
            </a:extLst>
          </p:cNvPr>
          <p:cNvSpPr>
            <a:spLocks noGrp="1"/>
          </p:cNvSpPr>
          <p:nvPr>
            <p:ph type="ctrTitle"/>
          </p:nvPr>
        </p:nvSpPr>
        <p:spPr/>
        <p:txBody>
          <a:bodyPr>
            <a:normAutofit/>
          </a:bodyPr>
          <a:lstStyle/>
          <a:p>
            <a:r>
              <a:rPr lang="en-GB" sz="4000" u="sng" dirty="0"/>
              <a:t>Week 8</a:t>
            </a:r>
            <a:br>
              <a:rPr lang="en-GB" sz="4000" dirty="0"/>
            </a:br>
            <a:r>
              <a:rPr lang="en-GB" sz="4000" dirty="0"/>
              <a:t>Financial Crises – Part 1</a:t>
            </a:r>
          </a:p>
        </p:txBody>
      </p:sp>
      <p:sp>
        <p:nvSpPr>
          <p:cNvPr id="3" name="Subtitle 2">
            <a:extLst>
              <a:ext uri="{FF2B5EF4-FFF2-40B4-BE49-F238E27FC236}">
                <a16:creationId xmlns:a16="http://schemas.microsoft.com/office/drawing/2014/main" id="{B9CD89D6-6FC1-5F4B-9B1D-2D7927AEBD1C}"/>
              </a:ext>
            </a:extLst>
          </p:cNvPr>
          <p:cNvSpPr>
            <a:spLocks noGrp="1"/>
          </p:cNvSpPr>
          <p:nvPr>
            <p:ph type="subTitle" idx="1"/>
          </p:nvPr>
        </p:nvSpPr>
        <p:spPr/>
        <p:txBody>
          <a:bodyPr/>
          <a:lstStyle/>
          <a:p>
            <a:endParaRPr lang="en-GB" dirty="0"/>
          </a:p>
          <a:p>
            <a:r>
              <a:rPr lang="en-GB" dirty="0"/>
              <a:t>Check out the reading list for 4 sources of readings</a:t>
            </a:r>
          </a:p>
        </p:txBody>
      </p:sp>
    </p:spTree>
    <p:extLst>
      <p:ext uri="{BB962C8B-B14F-4D97-AF65-F5344CB8AC3E}">
        <p14:creationId xmlns:p14="http://schemas.microsoft.com/office/powerpoint/2010/main" val="2202909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7BD1D-B382-30E4-C32B-833F07596451}"/>
              </a:ext>
            </a:extLst>
          </p:cNvPr>
          <p:cNvSpPr>
            <a:spLocks noGrp="1"/>
          </p:cNvSpPr>
          <p:nvPr>
            <p:ph type="title"/>
          </p:nvPr>
        </p:nvSpPr>
        <p:spPr/>
        <p:txBody>
          <a:bodyPr/>
          <a:lstStyle/>
          <a:p>
            <a:r>
              <a:rPr lang="en-GB" b="1" dirty="0"/>
              <a:t>For more information on CISI Qualifications</a:t>
            </a:r>
          </a:p>
        </p:txBody>
      </p:sp>
      <p:sp>
        <p:nvSpPr>
          <p:cNvPr id="3" name="Content Placeholder 2">
            <a:extLst>
              <a:ext uri="{FF2B5EF4-FFF2-40B4-BE49-F238E27FC236}">
                <a16:creationId xmlns:a16="http://schemas.microsoft.com/office/drawing/2014/main" id="{AFCF7727-B99F-697F-EA4D-08EC589586F6}"/>
              </a:ext>
            </a:extLst>
          </p:cNvPr>
          <p:cNvSpPr>
            <a:spLocks noGrp="1"/>
          </p:cNvSpPr>
          <p:nvPr>
            <p:ph idx="1"/>
          </p:nvPr>
        </p:nvSpPr>
        <p:spPr/>
        <p:txBody>
          <a:bodyPr/>
          <a:lstStyle/>
          <a:p>
            <a:pPr marL="0" indent="0">
              <a:buNone/>
            </a:pPr>
            <a:r>
              <a:rPr lang="en-GB" dirty="0"/>
              <a:t>Check out their website:</a:t>
            </a:r>
          </a:p>
          <a:p>
            <a:pPr marL="0" indent="0">
              <a:buNone/>
            </a:pPr>
            <a:r>
              <a:rPr lang="en-GB" dirty="0">
                <a:hlinkClick r:id="rId2"/>
              </a:rPr>
              <a:t>Chartered Institute for Securities &amp; Investment </a:t>
            </a:r>
            <a:endParaRPr lang="en-GB" dirty="0"/>
          </a:p>
          <a:p>
            <a:pPr marL="0" indent="0">
              <a:buNone/>
            </a:pPr>
            <a:endParaRPr lang="en-GB" dirty="0"/>
          </a:p>
          <a:p>
            <a:pPr marL="0" indent="0">
              <a:buNone/>
            </a:pPr>
            <a:r>
              <a:rPr lang="en-GB" dirty="0"/>
              <a:t>Contact Programme Leader </a:t>
            </a:r>
            <a:r>
              <a:rPr lang="en-GB" dirty="0" err="1"/>
              <a:t>Fazelina</a:t>
            </a:r>
            <a:r>
              <a:rPr lang="en-GB" dirty="0"/>
              <a:t> Sahul-Hamid</a:t>
            </a:r>
          </a:p>
          <a:p>
            <a:pPr marL="0" indent="0">
              <a:buNone/>
            </a:pPr>
            <a:r>
              <a:rPr lang="en-GB" dirty="0"/>
              <a:t>at </a:t>
            </a:r>
            <a:r>
              <a:rPr lang="en-GB" dirty="0">
                <a:hlinkClick r:id="rId3"/>
              </a:rPr>
              <a:t>Fazelina.SahulHamid@uwe.ac.uk</a:t>
            </a:r>
            <a:endParaRPr lang="en-GB" dirty="0"/>
          </a:p>
          <a:p>
            <a:pPr marL="0" indent="0">
              <a:buNone/>
            </a:pPr>
            <a:endParaRPr lang="en-GB" dirty="0"/>
          </a:p>
        </p:txBody>
      </p:sp>
    </p:spTree>
    <p:extLst>
      <p:ext uri="{BB962C8B-B14F-4D97-AF65-F5344CB8AC3E}">
        <p14:creationId xmlns:p14="http://schemas.microsoft.com/office/powerpoint/2010/main" val="2816306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8DDA9-74D0-064E-88E3-4F4862F51EDF}"/>
              </a:ext>
            </a:extLst>
          </p:cNvPr>
          <p:cNvSpPr>
            <a:spLocks noGrp="1"/>
          </p:cNvSpPr>
          <p:nvPr>
            <p:ph type="title"/>
          </p:nvPr>
        </p:nvSpPr>
        <p:spPr>
          <a:xfrm>
            <a:off x="132203" y="365126"/>
            <a:ext cx="8868578" cy="1325563"/>
          </a:xfrm>
        </p:spPr>
        <p:txBody>
          <a:bodyPr>
            <a:normAutofit/>
          </a:bodyPr>
          <a:lstStyle/>
          <a:p>
            <a:r>
              <a:rPr lang="en-GB" sz="2800" dirty="0"/>
              <a:t>Outline</a:t>
            </a:r>
          </a:p>
        </p:txBody>
      </p:sp>
      <p:sp>
        <p:nvSpPr>
          <p:cNvPr id="3" name="Content Placeholder 2">
            <a:extLst>
              <a:ext uri="{FF2B5EF4-FFF2-40B4-BE49-F238E27FC236}">
                <a16:creationId xmlns:a16="http://schemas.microsoft.com/office/drawing/2014/main" id="{D0259D45-228F-9646-9B29-4ABD75BE90F5}"/>
              </a:ext>
            </a:extLst>
          </p:cNvPr>
          <p:cNvSpPr>
            <a:spLocks noGrp="1"/>
          </p:cNvSpPr>
          <p:nvPr>
            <p:ph idx="1"/>
          </p:nvPr>
        </p:nvSpPr>
        <p:spPr/>
        <p:txBody>
          <a:bodyPr>
            <a:normAutofit/>
          </a:bodyPr>
          <a:lstStyle/>
          <a:p>
            <a:r>
              <a:rPr lang="en-GB" sz="2400" dirty="0"/>
              <a:t>What is Securitization?</a:t>
            </a:r>
          </a:p>
          <a:p>
            <a:r>
              <a:rPr lang="en-GB" sz="2400" dirty="0"/>
              <a:t>Benefits of securitization</a:t>
            </a:r>
          </a:p>
          <a:p>
            <a:endParaRPr lang="en-GB" sz="2400" dirty="0"/>
          </a:p>
          <a:p>
            <a:r>
              <a:rPr lang="en-GB" sz="2400" dirty="0"/>
              <a:t>Securitization during the 2008 financial crisis</a:t>
            </a:r>
          </a:p>
          <a:p>
            <a:endParaRPr lang="en-GB" sz="2400" dirty="0"/>
          </a:p>
          <a:p>
            <a:r>
              <a:rPr lang="en-GB" sz="2400" dirty="0"/>
              <a:t>Role of Investment Banks and credit rating agencies in the 2008 crisis</a:t>
            </a:r>
          </a:p>
          <a:p>
            <a:pPr marL="0" indent="0">
              <a:buNone/>
            </a:pPr>
            <a:endParaRPr lang="en-GB" sz="2400" dirty="0"/>
          </a:p>
          <a:p>
            <a:pPr marL="0" indent="0">
              <a:buNone/>
            </a:pPr>
            <a:endParaRPr lang="en-GB" sz="2400" dirty="0"/>
          </a:p>
          <a:p>
            <a:pPr marL="0" indent="0">
              <a:buNone/>
            </a:pPr>
            <a:endParaRPr lang="en-GB" sz="2400" dirty="0"/>
          </a:p>
        </p:txBody>
      </p:sp>
    </p:spTree>
    <p:extLst>
      <p:ext uri="{BB962C8B-B14F-4D97-AF65-F5344CB8AC3E}">
        <p14:creationId xmlns:p14="http://schemas.microsoft.com/office/powerpoint/2010/main" val="404854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0" y="365126"/>
            <a:ext cx="7807779" cy="888205"/>
          </a:xfrm>
        </p:spPr>
        <p:txBody>
          <a:bodyPr>
            <a:normAutofit fontScale="90000"/>
          </a:bodyPr>
          <a:lstStyle/>
          <a:p>
            <a:br>
              <a:rPr lang="en-GB" dirty="0"/>
            </a:br>
            <a:r>
              <a:rPr lang="en-GB" dirty="0"/>
              <a:t>Banking Without </a:t>
            </a:r>
            <a:r>
              <a:rPr lang="en-GB" b="1" dirty="0"/>
              <a:t>Securitization</a:t>
            </a:r>
            <a:br>
              <a:rPr lang="en-GB" dirty="0"/>
            </a:br>
            <a:endParaRPr lang="en-GB" dirty="0"/>
          </a:p>
        </p:txBody>
      </p:sp>
      <p:sp>
        <p:nvSpPr>
          <p:cNvPr id="3" name="Content Placeholder 2"/>
          <p:cNvSpPr>
            <a:spLocks noGrp="1"/>
          </p:cNvSpPr>
          <p:nvPr>
            <p:ph idx="1"/>
          </p:nvPr>
        </p:nvSpPr>
        <p:spPr>
          <a:xfrm>
            <a:off x="628650" y="1253331"/>
            <a:ext cx="7886700" cy="4351338"/>
          </a:xfrm>
        </p:spPr>
        <p:txBody>
          <a:bodyPr>
            <a:normAutofit/>
          </a:bodyPr>
          <a:lstStyle/>
          <a:p>
            <a:pPr>
              <a:buNone/>
            </a:pPr>
            <a:r>
              <a:rPr lang="en-GB" sz="1800" dirty="0"/>
              <a:t>In traditional banking, banks used to “Originate and hold” loans on their balance sheet until maturity </a:t>
            </a:r>
          </a:p>
          <a:p>
            <a:pPr>
              <a:buNone/>
            </a:pPr>
            <a:endParaRPr lang="en-GB" sz="1800" dirty="0"/>
          </a:p>
          <a:p>
            <a:pPr lvl="1">
              <a:buNone/>
            </a:pPr>
            <a:r>
              <a:rPr lang="en-GB" sz="1800" dirty="0"/>
              <a:t>Loans are illiquid assets </a:t>
            </a:r>
          </a:p>
          <a:p>
            <a:pPr lvl="1"/>
            <a:r>
              <a:rPr lang="en-GB" sz="1800" dirty="0"/>
              <a:t>e.g. mortgages are typically for 25 years</a:t>
            </a:r>
          </a:p>
          <a:p>
            <a:pPr lvl="1">
              <a:buNone/>
            </a:pPr>
            <a:r>
              <a:rPr lang="en-GB" sz="1800" dirty="0"/>
              <a:t>Deposits are liquid liabilities </a:t>
            </a:r>
          </a:p>
          <a:p>
            <a:pPr lvl="1"/>
            <a:r>
              <a:rPr lang="en-GB" sz="1800" dirty="0"/>
              <a:t>e.g. even savings accounts are typically for 12 months</a:t>
            </a:r>
          </a:p>
          <a:p>
            <a:pPr>
              <a:buNone/>
            </a:pPr>
            <a:endParaRPr lang="en-GB" sz="1800" dirty="0"/>
          </a:p>
          <a:p>
            <a:pPr>
              <a:buNone/>
            </a:pPr>
            <a:endParaRPr lang="en-GB" sz="1800" dirty="0"/>
          </a:p>
          <a:p>
            <a:pPr>
              <a:buNone/>
            </a:pPr>
            <a:r>
              <a:rPr lang="en-GB" sz="1800" dirty="0"/>
              <a:t>A “maturity mismatch” arises in bank balance sheet</a:t>
            </a:r>
          </a:p>
          <a:p>
            <a:pPr marL="457200" lvl="1" indent="0">
              <a:buNone/>
            </a:pPr>
            <a:r>
              <a:rPr lang="en-GB" sz="1800" dirty="0"/>
              <a:t>Liabilities are short-term and liquid, assets are long-term and illiquid</a:t>
            </a:r>
          </a:p>
          <a:p>
            <a:pPr marL="0" indent="0">
              <a:buNone/>
            </a:pPr>
            <a:endParaRPr lang="en-GB" sz="1800" dirty="0"/>
          </a:p>
        </p:txBody>
      </p:sp>
    </p:spTree>
    <p:extLst>
      <p:ext uri="{BB962C8B-B14F-4D97-AF65-F5344CB8AC3E}">
        <p14:creationId xmlns:p14="http://schemas.microsoft.com/office/powerpoint/2010/main" val="147597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0" y="365126"/>
            <a:ext cx="7807779" cy="888205"/>
          </a:xfrm>
        </p:spPr>
        <p:txBody>
          <a:bodyPr>
            <a:normAutofit fontScale="90000"/>
          </a:bodyPr>
          <a:lstStyle/>
          <a:p>
            <a:br>
              <a:rPr lang="en-GB" dirty="0"/>
            </a:br>
            <a:r>
              <a:rPr lang="en-GB" dirty="0"/>
              <a:t>Banking Without </a:t>
            </a:r>
            <a:r>
              <a:rPr lang="en-GB" b="1" dirty="0"/>
              <a:t>Securitization</a:t>
            </a:r>
            <a:br>
              <a:rPr lang="en-GB" dirty="0"/>
            </a:br>
            <a:endParaRPr lang="en-GB" dirty="0"/>
          </a:p>
        </p:txBody>
      </p:sp>
      <p:sp>
        <p:nvSpPr>
          <p:cNvPr id="3" name="Content Placeholder 2"/>
          <p:cNvSpPr>
            <a:spLocks noGrp="1"/>
          </p:cNvSpPr>
          <p:nvPr>
            <p:ph idx="1"/>
          </p:nvPr>
        </p:nvSpPr>
        <p:spPr>
          <a:xfrm>
            <a:off x="628650" y="1253330"/>
            <a:ext cx="7886700" cy="5239543"/>
          </a:xfrm>
        </p:spPr>
        <p:txBody>
          <a:bodyPr>
            <a:normAutofit/>
          </a:bodyPr>
          <a:lstStyle/>
          <a:p>
            <a:pPr marL="0" indent="0">
              <a:buNone/>
            </a:pPr>
            <a:r>
              <a:rPr lang="en-GB" sz="1800" dirty="0"/>
              <a:t>In traditional banking:</a:t>
            </a:r>
          </a:p>
          <a:p>
            <a:pPr marL="0" indent="0">
              <a:buNone/>
            </a:pPr>
            <a:endParaRPr lang="en-GB" sz="1800" dirty="0"/>
          </a:p>
          <a:p>
            <a:pPr marL="0" indent="0">
              <a:buNone/>
            </a:pPr>
            <a:r>
              <a:rPr lang="en-GB" sz="1800" dirty="0"/>
              <a:t>When the bank needs financing to meet the mismatch, it could borrow money </a:t>
            </a:r>
          </a:p>
          <a:p>
            <a:pPr marL="0" indent="0">
              <a:buNone/>
            </a:pPr>
            <a:r>
              <a:rPr lang="en-GB" sz="1800" dirty="0"/>
              <a:t>	i.e. issue debt</a:t>
            </a:r>
          </a:p>
          <a:p>
            <a:pPr marL="0" indent="0">
              <a:buNone/>
            </a:pPr>
            <a:endParaRPr lang="en-GB" sz="1800" dirty="0"/>
          </a:p>
          <a:p>
            <a:pPr marL="0" indent="0">
              <a:buNone/>
            </a:pPr>
            <a:endParaRPr lang="en-GB" sz="1800" dirty="0"/>
          </a:p>
          <a:p>
            <a:pPr marL="0" indent="0">
              <a:buNone/>
            </a:pPr>
            <a:endParaRPr lang="en-GB" sz="1800" dirty="0"/>
          </a:p>
          <a:p>
            <a:pPr marL="0" indent="0">
              <a:buNone/>
            </a:pPr>
            <a:endParaRPr lang="en-GB" sz="1800" dirty="0"/>
          </a:p>
          <a:p>
            <a:pPr marL="0" indent="0">
              <a:buNone/>
            </a:pPr>
            <a:endParaRPr lang="en-GB" sz="1800" dirty="0"/>
          </a:p>
          <a:p>
            <a:pPr marL="0" indent="0">
              <a:buNone/>
            </a:pPr>
            <a:endParaRPr lang="en-GB" sz="1800" dirty="0"/>
          </a:p>
          <a:p>
            <a:pPr marL="0" indent="0">
              <a:buNone/>
            </a:pPr>
            <a:r>
              <a:rPr lang="en-GB" sz="1800" dirty="0"/>
              <a:t>The banks has to pay an interest on that debt</a:t>
            </a:r>
          </a:p>
          <a:p>
            <a:pPr marL="0" indent="0">
              <a:buNone/>
            </a:pPr>
            <a:endParaRPr lang="en-GB" sz="1800" dirty="0"/>
          </a:p>
          <a:p>
            <a:pPr marL="0" indent="0">
              <a:buNone/>
            </a:pPr>
            <a:r>
              <a:rPr lang="en-GB" sz="1800" dirty="0"/>
              <a:t>The interest paid to investors depends on the overall bank riskiness.</a:t>
            </a:r>
          </a:p>
        </p:txBody>
      </p:sp>
      <p:pic>
        <p:nvPicPr>
          <p:cNvPr id="4" name="Picture 3">
            <a:extLst>
              <a:ext uri="{FF2B5EF4-FFF2-40B4-BE49-F238E27FC236}">
                <a16:creationId xmlns:a16="http://schemas.microsoft.com/office/drawing/2014/main" id="{861BEFC7-9D2D-774C-9D91-BBC12BD0586C}"/>
              </a:ext>
            </a:extLst>
          </p:cNvPr>
          <p:cNvPicPr>
            <a:picLocks noChangeAspect="1"/>
          </p:cNvPicPr>
          <p:nvPr/>
        </p:nvPicPr>
        <p:blipFill rotWithShape="1">
          <a:blip r:embed="rId2"/>
          <a:srcRect t="32012"/>
          <a:stretch/>
        </p:blipFill>
        <p:spPr>
          <a:xfrm>
            <a:off x="1093161" y="2764275"/>
            <a:ext cx="5770348" cy="1998950"/>
          </a:xfrm>
          <a:prstGeom prst="rect">
            <a:avLst/>
          </a:prstGeom>
        </p:spPr>
      </p:pic>
    </p:spTree>
    <p:extLst>
      <p:ext uri="{BB962C8B-B14F-4D97-AF65-F5344CB8AC3E}">
        <p14:creationId xmlns:p14="http://schemas.microsoft.com/office/powerpoint/2010/main" val="282670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71246"/>
          </a:xfrm>
        </p:spPr>
        <p:txBody>
          <a:bodyPr>
            <a:normAutofit fontScale="90000"/>
          </a:bodyPr>
          <a:lstStyle/>
          <a:p>
            <a:br>
              <a:rPr lang="en-GB" dirty="0"/>
            </a:br>
            <a:r>
              <a:rPr lang="en-GB" dirty="0"/>
              <a:t>Banking with </a:t>
            </a:r>
            <a:r>
              <a:rPr lang="en-GB" b="1" dirty="0"/>
              <a:t>Securitization</a:t>
            </a:r>
            <a:endParaRPr lang="en-GB" dirty="0"/>
          </a:p>
        </p:txBody>
      </p:sp>
      <p:sp>
        <p:nvSpPr>
          <p:cNvPr id="3" name="Content Placeholder 2"/>
          <p:cNvSpPr>
            <a:spLocks noGrp="1"/>
          </p:cNvSpPr>
          <p:nvPr>
            <p:ph idx="1"/>
          </p:nvPr>
        </p:nvSpPr>
        <p:spPr>
          <a:xfrm>
            <a:off x="628650" y="1387744"/>
            <a:ext cx="7886700" cy="4716842"/>
          </a:xfrm>
        </p:spPr>
        <p:txBody>
          <a:bodyPr>
            <a:normAutofit/>
          </a:bodyPr>
          <a:lstStyle/>
          <a:p>
            <a:endParaRPr lang="en-GB" sz="1800" dirty="0"/>
          </a:p>
          <a:p>
            <a:r>
              <a:rPr lang="en-GB" sz="1800" dirty="0"/>
              <a:t>Banking with Securitization is also called </a:t>
            </a:r>
            <a:r>
              <a:rPr lang="en-GB" sz="1800" b="1" dirty="0"/>
              <a:t>– “Originate-to-distribute model”</a:t>
            </a:r>
            <a:br>
              <a:rPr lang="en-GB" sz="1800" dirty="0"/>
            </a:br>
            <a:endParaRPr lang="en-GB" sz="1800" dirty="0"/>
          </a:p>
          <a:p>
            <a:r>
              <a:rPr lang="en-GB" sz="1800" u="sng" dirty="0"/>
              <a:t>Securitization</a:t>
            </a:r>
            <a:r>
              <a:rPr lang="en-GB" sz="1800" dirty="0"/>
              <a:t> refers to converting illiquid loans like mortgages into liquid, marketable securities that can be sold to other institutions.</a:t>
            </a:r>
          </a:p>
          <a:p>
            <a:endParaRPr lang="en-GB" sz="1800" dirty="0"/>
          </a:p>
          <a:p>
            <a:r>
              <a:rPr lang="en-GB" sz="1800" dirty="0"/>
              <a:t>Instead of “holding” loans and their risk on their own books, securitization allows banks to pass them onto others and “distribute” them. </a:t>
            </a:r>
          </a:p>
        </p:txBody>
      </p:sp>
    </p:spTree>
    <p:extLst>
      <p:ext uri="{BB962C8B-B14F-4D97-AF65-F5344CB8AC3E}">
        <p14:creationId xmlns:p14="http://schemas.microsoft.com/office/powerpoint/2010/main" val="363642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28B3E-0FC7-8444-928F-D02196DB12AD}"/>
              </a:ext>
            </a:extLst>
          </p:cNvPr>
          <p:cNvSpPr>
            <a:spLocks noGrp="1"/>
          </p:cNvSpPr>
          <p:nvPr>
            <p:ph type="title"/>
          </p:nvPr>
        </p:nvSpPr>
        <p:spPr/>
        <p:txBody>
          <a:bodyPr/>
          <a:lstStyle/>
          <a:p>
            <a:r>
              <a:rPr lang="en-GB" b="1" dirty="0"/>
              <a:t>Securitization – step by step step</a:t>
            </a:r>
          </a:p>
        </p:txBody>
      </p:sp>
      <p:sp>
        <p:nvSpPr>
          <p:cNvPr id="6" name="TextBox 5">
            <a:extLst>
              <a:ext uri="{FF2B5EF4-FFF2-40B4-BE49-F238E27FC236}">
                <a16:creationId xmlns:a16="http://schemas.microsoft.com/office/drawing/2014/main" id="{306CD787-B1A6-9343-9300-91EE89FF2CF2}"/>
              </a:ext>
            </a:extLst>
          </p:cNvPr>
          <p:cNvSpPr txBox="1"/>
          <p:nvPr/>
        </p:nvSpPr>
        <p:spPr>
          <a:xfrm>
            <a:off x="522929" y="1225444"/>
            <a:ext cx="8098141" cy="5016758"/>
          </a:xfrm>
          <a:prstGeom prst="rect">
            <a:avLst/>
          </a:prstGeom>
          <a:noFill/>
        </p:spPr>
        <p:txBody>
          <a:bodyPr wrap="square" rtlCol="0">
            <a:spAutoFit/>
          </a:bodyPr>
          <a:lstStyle/>
          <a:p>
            <a:endParaRPr lang="en-GB" sz="2000" dirty="0"/>
          </a:p>
          <a:p>
            <a:pPr marL="457200" indent="-457200">
              <a:buFont typeface="+mj-lt"/>
              <a:buAutoNum type="arabicPeriod"/>
            </a:pPr>
            <a:r>
              <a:rPr lang="en-GB" sz="2000" dirty="0"/>
              <a:t>Initial lender of the loan: the originator bank</a:t>
            </a:r>
          </a:p>
          <a:p>
            <a:pPr marL="457200" indent="-457200">
              <a:buFont typeface="+mj-lt"/>
              <a:buAutoNum type="arabicPeriod"/>
            </a:pPr>
            <a:endParaRPr lang="en-GB" sz="2000" dirty="0"/>
          </a:p>
          <a:p>
            <a:pPr marL="457200" indent="-457200">
              <a:buFont typeface="+mj-lt"/>
              <a:buAutoNum type="arabicPeriod"/>
            </a:pPr>
            <a:r>
              <a:rPr lang="en-GB" sz="2000" dirty="0"/>
              <a:t>Loans are passed on to a special-purpose entity (SPE) or a special-purpose vehicle (SPV) - separate from the originator bank </a:t>
            </a:r>
          </a:p>
          <a:p>
            <a:pPr marL="457200" indent="-457200">
              <a:buFont typeface="+mj-lt"/>
              <a:buAutoNum type="arabicPeriod"/>
            </a:pPr>
            <a:endParaRPr lang="en-GB" sz="2000" dirty="0"/>
          </a:p>
          <a:p>
            <a:pPr marL="457200" indent="-457200">
              <a:buFont typeface="+mj-lt"/>
              <a:buAutoNum type="arabicPeriod"/>
            </a:pPr>
            <a:r>
              <a:rPr lang="en-GB" sz="2000" dirty="0"/>
              <a:t>The SPV issues new securities, using the pledged loans to securitize the offering.</a:t>
            </a:r>
          </a:p>
          <a:p>
            <a:pPr marL="457200" indent="-457200">
              <a:buFont typeface="+mj-lt"/>
              <a:buAutoNum type="arabicPeriod"/>
            </a:pPr>
            <a:endParaRPr lang="en-GB" sz="2000" dirty="0"/>
          </a:p>
          <a:p>
            <a:pPr marL="457200" indent="-457200">
              <a:buFont typeface="+mj-lt"/>
              <a:buAutoNum type="arabicPeriod"/>
            </a:pPr>
            <a:r>
              <a:rPr lang="en-GB" sz="2000" dirty="0"/>
              <a:t>A credit rating agency rates new securities so that investors have a better idea what the new financial securities are worth</a:t>
            </a:r>
          </a:p>
          <a:p>
            <a:pPr marL="457200" indent="-457200">
              <a:buFont typeface="+mj-lt"/>
              <a:buAutoNum type="arabicPeriod"/>
            </a:pPr>
            <a:endParaRPr lang="en-GB" sz="2000" dirty="0"/>
          </a:p>
          <a:p>
            <a:pPr marL="457200" indent="-457200">
              <a:buFont typeface="+mj-lt"/>
              <a:buAutoNum type="arabicPeriod"/>
            </a:pPr>
            <a:r>
              <a:rPr lang="en-GB" sz="2000" dirty="0"/>
              <a:t>An investment bank underwrites these securities</a:t>
            </a:r>
          </a:p>
          <a:p>
            <a:pPr marL="457200" indent="-457200">
              <a:buFont typeface="+mj-lt"/>
              <a:buAutoNum type="arabicPeriod"/>
            </a:pPr>
            <a:endParaRPr lang="en-GB" sz="2000" dirty="0"/>
          </a:p>
          <a:p>
            <a:pPr marL="457200" indent="-457200">
              <a:buFont typeface="+mj-lt"/>
              <a:buAutoNum type="arabicPeriod"/>
            </a:pPr>
            <a:r>
              <a:rPr lang="en-GB" sz="2000" dirty="0"/>
              <a:t>New securities are then sold in the money and capital markets with the help of an underwriter</a:t>
            </a:r>
          </a:p>
        </p:txBody>
      </p:sp>
    </p:spTree>
    <p:extLst>
      <p:ext uri="{BB962C8B-B14F-4D97-AF65-F5344CB8AC3E}">
        <p14:creationId xmlns:p14="http://schemas.microsoft.com/office/powerpoint/2010/main" val="2634733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AA02F9C-C823-094F-8EE3-D9C84A17F5C4}"/>
              </a:ext>
            </a:extLst>
          </p:cNvPr>
          <p:cNvSpPr>
            <a:spLocks noGrp="1" noChangeArrowheads="1"/>
          </p:cNvSpPr>
          <p:nvPr>
            <p:ph type="title"/>
          </p:nvPr>
        </p:nvSpPr>
        <p:spPr>
          <a:xfrm>
            <a:off x="476250" y="326287"/>
            <a:ext cx="8229600" cy="654214"/>
          </a:xfrm>
        </p:spPr>
        <p:txBody>
          <a:bodyPr>
            <a:normAutofit fontScale="90000"/>
          </a:bodyPr>
          <a:lstStyle/>
          <a:p>
            <a:pPr algn="ctr" eaLnBrk="1" hangingPunct="1"/>
            <a:r>
              <a:rPr lang="en-US" altLang="en-US" sz="2400" dirty="0">
                <a:latin typeface="Calibri" panose="020F0502020204030204" pitchFamily="34" charset="0"/>
                <a:cs typeface="Calibri" panose="020F0502020204030204" pitchFamily="34" charset="0"/>
              </a:rPr>
              <a:t>Securitization Process with Incomes generated in the process</a:t>
            </a:r>
            <a:br>
              <a:rPr lang="en-US" altLang="en-US" sz="2000" dirty="0">
                <a:latin typeface="Calibri" panose="020F0502020204030204" pitchFamily="34" charset="0"/>
                <a:cs typeface="Calibri" panose="020F0502020204030204" pitchFamily="34" charset="0"/>
              </a:rPr>
            </a:br>
            <a:endParaRPr lang="en-US" altLang="en-US" sz="2000" dirty="0">
              <a:latin typeface="Calibri" panose="020F0502020204030204" pitchFamily="34" charset="0"/>
              <a:cs typeface="Calibri" panose="020F0502020204030204" pitchFamily="34" charset="0"/>
            </a:endParaRPr>
          </a:p>
        </p:txBody>
      </p:sp>
      <p:pic>
        <p:nvPicPr>
          <p:cNvPr id="19461" name="Picture 6">
            <a:extLst>
              <a:ext uri="{FF2B5EF4-FFF2-40B4-BE49-F238E27FC236}">
                <a16:creationId xmlns:a16="http://schemas.microsoft.com/office/drawing/2014/main" id="{3BFB89B7-46CF-ED4E-81F3-B11B7161F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74586" y="1508997"/>
            <a:ext cx="8994827" cy="5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A819-B497-9A62-ECFD-B1915AA04599}"/>
              </a:ext>
            </a:extLst>
          </p:cNvPr>
          <p:cNvSpPr>
            <a:spLocks noGrp="1"/>
          </p:cNvSpPr>
          <p:nvPr>
            <p:ph type="title"/>
          </p:nvPr>
        </p:nvSpPr>
        <p:spPr/>
        <p:txBody>
          <a:bodyPr>
            <a:normAutofit fontScale="90000"/>
          </a:bodyPr>
          <a:lstStyle/>
          <a:p>
            <a:r>
              <a:rPr lang="en-US" dirty="0">
                <a:solidFill>
                  <a:srgbClr val="FF0000"/>
                </a:solidFill>
                <a:latin typeface="Calibri" panose="020F0502020204030204" pitchFamily="34" charset="0"/>
                <a:ea typeface="Times New Roman" panose="02020603050405020304" pitchFamily="18" charset="0"/>
                <a:cs typeface="Palatino Linotype" panose="02040502050505030304" pitchFamily="18" charset="0"/>
              </a:rPr>
              <a:t>Question: Loan creation process in traditional banking is known as</a:t>
            </a:r>
            <a:br>
              <a:rPr lang="en-GB" dirty="0">
                <a:solidFill>
                  <a:srgbClr val="FF0000"/>
                </a:solidFill>
                <a:latin typeface="Palatino Linotype" panose="02040502050505030304" pitchFamily="18" charset="0"/>
                <a:ea typeface="Times New Roman" panose="02020603050405020304" pitchFamily="18" charset="0"/>
                <a:cs typeface="Palatino Linotype" panose="02040502050505030304" pitchFamily="18" charset="0"/>
              </a:rPr>
            </a:br>
            <a:endParaRPr lang="en-GB" dirty="0">
              <a:solidFill>
                <a:srgbClr val="FF0000"/>
              </a:solidFill>
            </a:endParaRPr>
          </a:p>
        </p:txBody>
      </p:sp>
      <p:sp>
        <p:nvSpPr>
          <p:cNvPr id="3" name="Content Placeholder 2">
            <a:extLst>
              <a:ext uri="{FF2B5EF4-FFF2-40B4-BE49-F238E27FC236}">
                <a16:creationId xmlns:a16="http://schemas.microsoft.com/office/drawing/2014/main" id="{6275A688-44FC-4A85-81B6-B20ED33C5A95}"/>
              </a:ext>
            </a:extLst>
          </p:cNvPr>
          <p:cNvSpPr>
            <a:spLocks noGrp="1"/>
          </p:cNvSpPr>
          <p:nvPr>
            <p:ph idx="1"/>
          </p:nvPr>
        </p:nvSpPr>
        <p:spPr/>
        <p:txBody>
          <a:bodyPr/>
          <a:lstStyle/>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Originate-and-distribute</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Originate-and-hold</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Securitization</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Collateralization</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endParaRPr lang="en-GB" dirty="0"/>
          </a:p>
        </p:txBody>
      </p:sp>
    </p:spTree>
    <p:extLst>
      <p:ext uri="{BB962C8B-B14F-4D97-AF65-F5344CB8AC3E}">
        <p14:creationId xmlns:p14="http://schemas.microsoft.com/office/powerpoint/2010/main" val="113429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7B4F-17BC-482A-CF7A-07B7F2C2076F}"/>
              </a:ext>
            </a:extLst>
          </p:cNvPr>
          <p:cNvSpPr>
            <a:spLocks noGrp="1"/>
          </p:cNvSpPr>
          <p:nvPr>
            <p:ph type="title"/>
          </p:nvPr>
        </p:nvSpPr>
        <p:spPr>
          <a:xfrm>
            <a:off x="628650" y="365126"/>
            <a:ext cx="7886700" cy="1981467"/>
          </a:xfrm>
        </p:spPr>
        <p:txBody>
          <a:bodyPr>
            <a:normAutofit fontScale="90000"/>
          </a:bodyPr>
          <a:lstStyle/>
          <a:p>
            <a:r>
              <a:rPr lang="en-US" sz="2700" dirty="0">
                <a:solidFill>
                  <a:srgbClr val="FF0000"/>
                </a:solidFill>
                <a:latin typeface="Calibri" panose="020F0502020204030204" pitchFamily="34" charset="0"/>
                <a:ea typeface="Times New Roman" panose="02020603050405020304" pitchFamily="18" charset="0"/>
                <a:cs typeface="Palatino Linotype" panose="02040502050505030304" pitchFamily="18" charset="0"/>
              </a:rPr>
              <a:t>Question:</a:t>
            </a:r>
            <a:br>
              <a:rPr lang="en-US" sz="2700" dirty="0">
                <a:solidFill>
                  <a:srgbClr val="FF0000"/>
                </a:solidFill>
                <a:latin typeface="Calibri" panose="020F0502020204030204" pitchFamily="34" charset="0"/>
                <a:ea typeface="Times New Roman" panose="02020603050405020304" pitchFamily="18" charset="0"/>
                <a:cs typeface="Palatino Linotype" panose="02040502050505030304" pitchFamily="18" charset="0"/>
              </a:rPr>
            </a:br>
            <a:br>
              <a:rPr lang="en-US" sz="2700" dirty="0">
                <a:solidFill>
                  <a:srgbClr val="FF0000"/>
                </a:solidFill>
                <a:latin typeface="Calibri" panose="020F0502020204030204" pitchFamily="34" charset="0"/>
                <a:ea typeface="Times New Roman" panose="02020603050405020304" pitchFamily="18" charset="0"/>
                <a:cs typeface="Palatino Linotype" panose="02040502050505030304" pitchFamily="18" charset="0"/>
              </a:rPr>
            </a:br>
            <a:r>
              <a:rPr lang="en-US" sz="2700" dirty="0">
                <a:solidFill>
                  <a:srgbClr val="FF0000"/>
                </a:solidFill>
                <a:latin typeface="Calibri" panose="020F0502020204030204" pitchFamily="34" charset="0"/>
                <a:ea typeface="Times New Roman" panose="02020603050405020304" pitchFamily="18" charset="0"/>
                <a:cs typeface="Palatino Linotype" panose="02040502050505030304" pitchFamily="18" charset="0"/>
              </a:rPr>
              <a:t>The traditional financial intermediation role of banking has been to make ________-term loans and to fund them with ________-term deposits.</a:t>
            </a:r>
            <a:br>
              <a:rPr lang="en-GB" dirty="0">
                <a:solidFill>
                  <a:srgbClr val="000000"/>
                </a:solidFill>
                <a:latin typeface="Palatino Linotype" panose="02040502050505030304" pitchFamily="18" charset="0"/>
                <a:ea typeface="Times New Roman" panose="02020603050405020304" pitchFamily="18" charset="0"/>
                <a:cs typeface="Palatino Linotype" panose="02040502050505030304" pitchFamily="18" charset="0"/>
              </a:rPr>
            </a:br>
            <a:endParaRPr lang="en-GB" dirty="0"/>
          </a:p>
        </p:txBody>
      </p:sp>
      <p:sp>
        <p:nvSpPr>
          <p:cNvPr id="3" name="Content Placeholder 2">
            <a:extLst>
              <a:ext uri="{FF2B5EF4-FFF2-40B4-BE49-F238E27FC236}">
                <a16:creationId xmlns:a16="http://schemas.microsoft.com/office/drawing/2014/main" id="{F30F6E73-A0D4-152F-F0FC-3EF10121047A}"/>
              </a:ext>
            </a:extLst>
          </p:cNvPr>
          <p:cNvSpPr>
            <a:spLocks noGrp="1"/>
          </p:cNvSpPr>
          <p:nvPr>
            <p:ph idx="1"/>
          </p:nvPr>
        </p:nvSpPr>
        <p:spPr>
          <a:xfrm>
            <a:off x="628650" y="2688115"/>
            <a:ext cx="7886700" cy="3488847"/>
          </a:xfrm>
        </p:spPr>
        <p:txBody>
          <a:bodyPr/>
          <a:lstStyle/>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short; long</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long; short</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short; short</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pPr marL="342900" lvl="0" indent="-342900">
              <a:buFont typeface="+mj-lt"/>
              <a:buAutoNum type="alphaLcParenR"/>
            </a:pPr>
            <a:r>
              <a:rPr lang="en-US" dirty="0">
                <a:solidFill>
                  <a:srgbClr val="000000"/>
                </a:solidFill>
                <a:effectLst/>
                <a:latin typeface="Calibri" panose="020F0502020204030204" pitchFamily="34" charset="0"/>
                <a:ea typeface="Times New Roman" panose="02020603050405020304" pitchFamily="18" charset="0"/>
                <a:cs typeface="Palatino Linotype" panose="02040502050505030304" pitchFamily="18" charset="0"/>
              </a:rPr>
              <a:t>long; long</a:t>
            </a:r>
            <a:endParaRPr lang="en-GB" dirty="0">
              <a:solidFill>
                <a:srgbClr val="000000"/>
              </a:solidFill>
              <a:effectLst/>
              <a:latin typeface="Palatino Linotype" panose="02040502050505030304" pitchFamily="18" charset="0"/>
              <a:ea typeface="Times New Roman" panose="02020603050405020304" pitchFamily="18" charset="0"/>
              <a:cs typeface="Palatino Linotype" panose="02040502050505030304" pitchFamily="18" charset="0"/>
            </a:endParaRPr>
          </a:p>
          <a:p>
            <a:endParaRPr lang="en-GB" dirty="0"/>
          </a:p>
        </p:txBody>
      </p:sp>
    </p:spTree>
    <p:extLst>
      <p:ext uri="{BB962C8B-B14F-4D97-AF65-F5344CB8AC3E}">
        <p14:creationId xmlns:p14="http://schemas.microsoft.com/office/powerpoint/2010/main" val="2287101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59C87-D6A0-034E-BD16-034EEAD65776}"/>
              </a:ext>
            </a:extLst>
          </p:cNvPr>
          <p:cNvSpPr>
            <a:spLocks noGrp="1"/>
          </p:cNvSpPr>
          <p:nvPr>
            <p:ph type="title"/>
          </p:nvPr>
        </p:nvSpPr>
        <p:spPr/>
        <p:txBody>
          <a:bodyPr/>
          <a:lstStyle/>
          <a:p>
            <a:r>
              <a:rPr lang="en-GB" dirty="0"/>
              <a:t>More terms !</a:t>
            </a:r>
          </a:p>
        </p:txBody>
      </p:sp>
      <p:sp>
        <p:nvSpPr>
          <p:cNvPr id="3" name="Content Placeholder 2">
            <a:extLst>
              <a:ext uri="{FF2B5EF4-FFF2-40B4-BE49-F238E27FC236}">
                <a16:creationId xmlns:a16="http://schemas.microsoft.com/office/drawing/2014/main" id="{F20A7473-5797-C54D-A4AA-BF180E495B7F}"/>
              </a:ext>
            </a:extLst>
          </p:cNvPr>
          <p:cNvSpPr>
            <a:spLocks noGrp="1"/>
          </p:cNvSpPr>
          <p:nvPr>
            <p:ph idx="1"/>
          </p:nvPr>
        </p:nvSpPr>
        <p:spPr>
          <a:xfrm>
            <a:off x="628650" y="1506828"/>
            <a:ext cx="7886700" cy="4670135"/>
          </a:xfrm>
        </p:spPr>
        <p:txBody>
          <a:bodyPr>
            <a:normAutofit/>
          </a:bodyPr>
          <a:lstStyle/>
          <a:p>
            <a:pPr marL="0" indent="0">
              <a:buNone/>
            </a:pPr>
            <a:r>
              <a:rPr lang="en-GB" sz="2000" dirty="0">
                <a:solidFill>
                  <a:srgbClr val="FF0000"/>
                </a:solidFill>
              </a:rPr>
              <a:t>Mortgage-backed securities (MBS): </a:t>
            </a:r>
            <a:r>
              <a:rPr lang="en-GB" sz="2000" dirty="0"/>
              <a:t>original loans are mortgages</a:t>
            </a:r>
          </a:p>
          <a:p>
            <a:pPr marL="0" indent="0">
              <a:buNone/>
            </a:pPr>
            <a:endParaRPr lang="en-GB" sz="2000" dirty="0"/>
          </a:p>
          <a:p>
            <a:pPr marL="0" indent="0">
              <a:buNone/>
            </a:pPr>
            <a:r>
              <a:rPr lang="en-GB" sz="2000" dirty="0">
                <a:solidFill>
                  <a:srgbClr val="FF0000"/>
                </a:solidFill>
              </a:rPr>
              <a:t>Asset-backed securities (ABS): </a:t>
            </a:r>
            <a:r>
              <a:rPr lang="en-GB" sz="2000" dirty="0"/>
              <a:t>all other types of loans</a:t>
            </a:r>
          </a:p>
          <a:p>
            <a:pPr marL="0" indent="0">
              <a:buNone/>
            </a:pPr>
            <a:endParaRPr lang="en-GB" sz="2000" dirty="0"/>
          </a:p>
          <a:p>
            <a:pPr marL="0" indent="0">
              <a:buNone/>
            </a:pPr>
            <a:r>
              <a:rPr lang="en-GB" sz="2000" dirty="0">
                <a:solidFill>
                  <a:srgbClr val="FF0000"/>
                </a:solidFill>
              </a:rPr>
              <a:t>‘</a:t>
            </a:r>
            <a:r>
              <a:rPr lang="en-GB" sz="2000" dirty="0" err="1">
                <a:solidFill>
                  <a:srgbClr val="FF0000"/>
                </a:solidFill>
              </a:rPr>
              <a:t>Tranching</a:t>
            </a:r>
            <a:r>
              <a:rPr lang="en-GB" sz="2000" dirty="0">
                <a:solidFill>
                  <a:srgbClr val="FF0000"/>
                </a:solidFill>
              </a:rPr>
              <a:t>’ </a:t>
            </a:r>
            <a:r>
              <a:rPr lang="en-GB" sz="2000" dirty="0"/>
              <a:t>of the securities created by the SPV:  Pool of mortgages or loans are sliced into tranches with with varying risk and maturity features. </a:t>
            </a:r>
          </a:p>
          <a:p>
            <a:pPr marL="0" indent="0">
              <a:buNone/>
            </a:pPr>
            <a:endParaRPr lang="en-GB" sz="2000" dirty="0"/>
          </a:p>
        </p:txBody>
      </p:sp>
    </p:spTree>
    <p:extLst>
      <p:ext uri="{BB962C8B-B14F-4D97-AF65-F5344CB8AC3E}">
        <p14:creationId xmlns:p14="http://schemas.microsoft.com/office/powerpoint/2010/main" val="331332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B0EF5-847C-934D-8A4D-11865F937B56}"/>
              </a:ext>
            </a:extLst>
          </p:cNvPr>
          <p:cNvSpPr>
            <a:spLocks noGrp="1"/>
          </p:cNvSpPr>
          <p:nvPr>
            <p:ph type="title"/>
          </p:nvPr>
        </p:nvSpPr>
        <p:spPr>
          <a:xfrm>
            <a:off x="628650" y="177840"/>
            <a:ext cx="7886700" cy="665184"/>
          </a:xfrm>
        </p:spPr>
        <p:txBody>
          <a:bodyPr/>
          <a:lstStyle/>
          <a:p>
            <a:r>
              <a:rPr lang="en-GB" dirty="0"/>
              <a:t>Securitization example: creation of an MBS</a:t>
            </a:r>
          </a:p>
        </p:txBody>
      </p:sp>
      <p:sp>
        <p:nvSpPr>
          <p:cNvPr id="3" name="Content Placeholder 2">
            <a:extLst>
              <a:ext uri="{FF2B5EF4-FFF2-40B4-BE49-F238E27FC236}">
                <a16:creationId xmlns:a16="http://schemas.microsoft.com/office/drawing/2014/main" id="{367E0489-3CD4-BA41-B70A-0A677FC5ABFF}"/>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735D3DA0-7740-4B47-A471-59D3204F6FC4}"/>
              </a:ext>
            </a:extLst>
          </p:cNvPr>
          <p:cNvPicPr>
            <a:picLocks noChangeAspect="1"/>
          </p:cNvPicPr>
          <p:nvPr/>
        </p:nvPicPr>
        <p:blipFill rotWithShape="1">
          <a:blip r:embed="rId2"/>
          <a:srcRect l="10589" r="13873"/>
          <a:stretch/>
        </p:blipFill>
        <p:spPr>
          <a:xfrm>
            <a:off x="88135" y="693007"/>
            <a:ext cx="8337063" cy="6244152"/>
          </a:xfrm>
          <a:prstGeom prst="rect">
            <a:avLst/>
          </a:prstGeom>
        </p:spPr>
      </p:pic>
    </p:spTree>
    <p:extLst>
      <p:ext uri="{BB962C8B-B14F-4D97-AF65-F5344CB8AC3E}">
        <p14:creationId xmlns:p14="http://schemas.microsoft.com/office/powerpoint/2010/main" val="527263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ED71-6CCB-3E4A-A7B1-5477863EDF42}"/>
              </a:ext>
            </a:extLst>
          </p:cNvPr>
          <p:cNvSpPr>
            <a:spLocks noGrp="1"/>
          </p:cNvSpPr>
          <p:nvPr>
            <p:ph type="title"/>
          </p:nvPr>
        </p:nvSpPr>
        <p:spPr/>
        <p:txBody>
          <a:bodyPr/>
          <a:lstStyle/>
          <a:p>
            <a:r>
              <a:rPr lang="en-GB" b="1" dirty="0"/>
              <a:t>Securitization of securities!</a:t>
            </a:r>
          </a:p>
        </p:txBody>
      </p:sp>
      <p:sp>
        <p:nvSpPr>
          <p:cNvPr id="3" name="Content Placeholder 2">
            <a:extLst>
              <a:ext uri="{FF2B5EF4-FFF2-40B4-BE49-F238E27FC236}">
                <a16:creationId xmlns:a16="http://schemas.microsoft.com/office/drawing/2014/main" id="{C704394C-5B55-9C47-BD6C-6ADE9F430B0E}"/>
              </a:ext>
            </a:extLst>
          </p:cNvPr>
          <p:cNvSpPr>
            <a:spLocks noGrp="1"/>
          </p:cNvSpPr>
          <p:nvPr>
            <p:ph idx="1"/>
          </p:nvPr>
        </p:nvSpPr>
        <p:spPr>
          <a:xfrm>
            <a:off x="628650" y="1690689"/>
            <a:ext cx="7886700" cy="4486274"/>
          </a:xfrm>
        </p:spPr>
        <p:txBody>
          <a:bodyPr>
            <a:normAutofit/>
          </a:bodyPr>
          <a:lstStyle/>
          <a:p>
            <a:pPr marL="0" indent="0">
              <a:buNone/>
            </a:pPr>
            <a:r>
              <a:rPr lang="en-GB" sz="2000" dirty="0"/>
              <a:t>Began around 1999</a:t>
            </a:r>
          </a:p>
          <a:p>
            <a:r>
              <a:rPr lang="en-GB" sz="2000" dirty="0"/>
              <a:t>Investors who bought different tranches of MBS, and other ABSs pooled them again and created new securities called CDOs (collateralized debt obligations) </a:t>
            </a:r>
          </a:p>
          <a:p>
            <a:endParaRPr lang="en-GB" sz="2000" dirty="0"/>
          </a:p>
          <a:p>
            <a:r>
              <a:rPr lang="en-GB" sz="2000" dirty="0"/>
              <a:t>CDOs were </a:t>
            </a:r>
            <a:r>
              <a:rPr lang="en-GB" sz="2000" dirty="0" err="1"/>
              <a:t>tranched</a:t>
            </a:r>
            <a:r>
              <a:rPr lang="en-GB" sz="2000" dirty="0"/>
              <a:t> similarly:</a:t>
            </a:r>
          </a:p>
          <a:p>
            <a:pPr lvl="1"/>
            <a:r>
              <a:rPr lang="en-GB" sz="1800" dirty="0"/>
              <a:t>‘senior’ CDOs: backed by highly rated MBS and other ABS, </a:t>
            </a:r>
          </a:p>
          <a:p>
            <a:pPr lvl="1"/>
            <a:r>
              <a:rPr lang="en-GB" sz="1800" dirty="0"/>
              <a:t>‘mezzanine’ tranches pooled together a higher proportion of junior tranches. </a:t>
            </a:r>
          </a:p>
          <a:p>
            <a:pPr marL="0" indent="0">
              <a:buNone/>
            </a:pPr>
            <a:endParaRPr lang="en-GB" sz="2000" dirty="0"/>
          </a:p>
          <a:p>
            <a:r>
              <a:rPr lang="en-GB" sz="2000" dirty="0"/>
              <a:t>Rating agencies were also actively engaged in rating of CDOs</a:t>
            </a:r>
          </a:p>
          <a:p>
            <a:endParaRPr lang="en-GB" sz="2000" dirty="0"/>
          </a:p>
          <a:p>
            <a:endParaRPr lang="en-GB" sz="2000" dirty="0"/>
          </a:p>
          <a:p>
            <a:endParaRPr lang="en-GB" sz="2000" dirty="0"/>
          </a:p>
        </p:txBody>
      </p:sp>
    </p:spTree>
    <p:extLst>
      <p:ext uri="{BB962C8B-B14F-4D97-AF65-F5344CB8AC3E}">
        <p14:creationId xmlns:p14="http://schemas.microsoft.com/office/powerpoint/2010/main" val="252587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18E20-B312-3845-B110-A35970E1DA64}"/>
              </a:ext>
            </a:extLst>
          </p:cNvPr>
          <p:cNvSpPr>
            <a:spLocks noGrp="1"/>
          </p:cNvSpPr>
          <p:nvPr>
            <p:ph type="title"/>
          </p:nvPr>
        </p:nvSpPr>
        <p:spPr/>
        <p:txBody>
          <a:bodyPr>
            <a:normAutofit/>
          </a:bodyPr>
          <a:lstStyle/>
          <a:p>
            <a:r>
              <a:rPr lang="en-GB" sz="2800" dirty="0"/>
              <a:t>One last thing: Credit Default Swaps (CDS)</a:t>
            </a:r>
          </a:p>
        </p:txBody>
      </p:sp>
      <p:pic>
        <p:nvPicPr>
          <p:cNvPr id="1026" name="Picture 2" descr=" ">
            <a:extLst>
              <a:ext uri="{FF2B5EF4-FFF2-40B4-BE49-F238E27FC236}">
                <a16:creationId xmlns:a16="http://schemas.microsoft.com/office/drawing/2014/main" id="{4183F7C8-C6A1-2449-9BF7-F59F4F77D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19" y="2282703"/>
            <a:ext cx="5172478" cy="37110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5866465-5576-C044-AF0F-05A7DA56C46F}"/>
              </a:ext>
            </a:extLst>
          </p:cNvPr>
          <p:cNvSpPr txBox="1"/>
          <p:nvPr/>
        </p:nvSpPr>
        <p:spPr>
          <a:xfrm>
            <a:off x="5122531" y="3399563"/>
            <a:ext cx="3629583" cy="1477328"/>
          </a:xfrm>
          <a:prstGeom prst="rect">
            <a:avLst/>
          </a:prstGeom>
          <a:noFill/>
        </p:spPr>
        <p:txBody>
          <a:bodyPr wrap="none" rtlCol="0">
            <a:spAutoFit/>
          </a:bodyPr>
          <a:lstStyle/>
          <a:p>
            <a:r>
              <a:rPr lang="en-GB" dirty="0"/>
              <a:t>During sub-prime mortgage boom,</a:t>
            </a:r>
          </a:p>
          <a:p>
            <a:r>
              <a:rPr lang="en-GB" dirty="0"/>
              <a:t>Investors of MBS and CDOs, also </a:t>
            </a:r>
          </a:p>
          <a:p>
            <a:r>
              <a:rPr lang="en-GB" dirty="0"/>
              <a:t>bought CDS to protect themselves</a:t>
            </a:r>
          </a:p>
          <a:p>
            <a:r>
              <a:rPr lang="en-GB" dirty="0"/>
              <a:t>against the failure of these securities</a:t>
            </a:r>
          </a:p>
          <a:p>
            <a:endParaRPr lang="en-GB" dirty="0"/>
          </a:p>
        </p:txBody>
      </p:sp>
    </p:spTree>
    <p:extLst>
      <p:ext uri="{BB962C8B-B14F-4D97-AF65-F5344CB8AC3E}">
        <p14:creationId xmlns:p14="http://schemas.microsoft.com/office/powerpoint/2010/main" val="869387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E76E81F-5FB4-A048-ABA9-854EBE3C8E8D}"/>
              </a:ext>
            </a:extLst>
          </p:cNvPr>
          <p:cNvSpPr>
            <a:spLocks noGrp="1" noChangeArrowheads="1"/>
          </p:cNvSpPr>
          <p:nvPr>
            <p:ph type="title"/>
          </p:nvPr>
        </p:nvSpPr>
        <p:spPr>
          <a:xfrm>
            <a:off x="457200" y="647700"/>
            <a:ext cx="8229600" cy="1066800"/>
          </a:xfrm>
        </p:spPr>
        <p:txBody>
          <a:bodyPr/>
          <a:lstStyle/>
          <a:p>
            <a:pPr eaLnBrk="1" hangingPunct="1"/>
            <a:r>
              <a:rPr lang="en-US" altLang="en-US" sz="3200" dirty="0">
                <a:latin typeface="Calibri" panose="020F0502020204030204" pitchFamily="34" charset="0"/>
                <a:cs typeface="Calibri" panose="020F0502020204030204" pitchFamily="34" charset="0"/>
              </a:rPr>
              <a:t>Benefits of Securitization</a:t>
            </a:r>
          </a:p>
        </p:txBody>
      </p:sp>
      <p:sp>
        <p:nvSpPr>
          <p:cNvPr id="6147" name="Rectangle 3">
            <a:extLst>
              <a:ext uri="{FF2B5EF4-FFF2-40B4-BE49-F238E27FC236}">
                <a16:creationId xmlns:a16="http://schemas.microsoft.com/office/drawing/2014/main" id="{7343FD92-8B73-5E47-9770-D87CD04CB133}"/>
              </a:ext>
            </a:extLst>
          </p:cNvPr>
          <p:cNvSpPr>
            <a:spLocks noGrp="1" noChangeArrowheads="1"/>
          </p:cNvSpPr>
          <p:nvPr>
            <p:ph idx="1"/>
          </p:nvPr>
        </p:nvSpPr>
        <p:spPr>
          <a:xfrm>
            <a:off x="457200" y="1733550"/>
            <a:ext cx="8229600" cy="4819650"/>
          </a:xfrm>
        </p:spPr>
        <p:txBody>
          <a:bodyPr>
            <a:normAutofit/>
          </a:bodyPr>
          <a:lstStyle/>
          <a:p>
            <a:pPr marL="411480" indent="-457200">
              <a:defRPr/>
            </a:pPr>
            <a:r>
              <a:rPr lang="en-US" sz="2700" dirty="0">
                <a:solidFill>
                  <a:schemeClr val="tx1">
                    <a:lumMod val="75000"/>
                    <a:lumOff val="25000"/>
                  </a:schemeClr>
                </a:solidFill>
                <a:latin typeface="Calibri" panose="020F0502020204030204" pitchFamily="34" charset="0"/>
                <a:cs typeface="Calibri" panose="020F0502020204030204" pitchFamily="34" charset="0"/>
              </a:rPr>
              <a:t>Diversifies a bank’s credit risk exposure</a:t>
            </a:r>
          </a:p>
          <a:p>
            <a:pPr marL="411480" indent="-457200">
              <a:defRPr/>
            </a:pPr>
            <a:endParaRPr lang="en-US" sz="2700" dirty="0">
              <a:solidFill>
                <a:schemeClr val="tx1">
                  <a:lumMod val="75000"/>
                  <a:lumOff val="25000"/>
                </a:schemeClr>
              </a:solidFill>
              <a:latin typeface="Calibri" panose="020F0502020204030204" pitchFamily="34" charset="0"/>
              <a:cs typeface="Calibri" panose="020F0502020204030204" pitchFamily="34" charset="0"/>
            </a:endParaRPr>
          </a:p>
          <a:p>
            <a:pPr marL="411480" indent="-457200">
              <a:defRPr/>
            </a:pPr>
            <a:r>
              <a:rPr lang="en-US" sz="2700" dirty="0">
                <a:solidFill>
                  <a:schemeClr val="tx1">
                    <a:lumMod val="75000"/>
                    <a:lumOff val="25000"/>
                  </a:schemeClr>
                </a:solidFill>
                <a:latin typeface="Calibri" panose="020F0502020204030204" pitchFamily="34" charset="0"/>
                <a:cs typeface="Calibri" panose="020F0502020204030204" pitchFamily="34" charset="0"/>
              </a:rPr>
              <a:t>Creates liquid assets out of illiquid assets</a:t>
            </a:r>
          </a:p>
          <a:p>
            <a:pPr marL="411480" indent="-457200">
              <a:defRPr/>
            </a:pPr>
            <a:endParaRPr lang="en-US" sz="2700" dirty="0">
              <a:solidFill>
                <a:schemeClr val="tx1">
                  <a:lumMod val="75000"/>
                  <a:lumOff val="25000"/>
                </a:schemeClr>
              </a:solidFill>
              <a:latin typeface="Calibri" panose="020F0502020204030204" pitchFamily="34" charset="0"/>
              <a:cs typeface="Calibri" panose="020F0502020204030204" pitchFamily="34" charset="0"/>
            </a:endParaRPr>
          </a:p>
          <a:p>
            <a:pPr marL="411480" indent="-457200">
              <a:defRPr/>
            </a:pPr>
            <a:r>
              <a:rPr lang="en-US" sz="2700" dirty="0">
                <a:solidFill>
                  <a:schemeClr val="tx1">
                    <a:lumMod val="75000"/>
                    <a:lumOff val="25000"/>
                  </a:schemeClr>
                </a:solidFill>
                <a:latin typeface="Calibri" panose="020F0502020204030204" pitchFamily="34" charset="0"/>
                <a:cs typeface="Calibri" panose="020F0502020204030204" pitchFamily="34" charset="0"/>
              </a:rPr>
              <a:t>Transforms these assets into new sources of capital</a:t>
            </a:r>
          </a:p>
          <a:p>
            <a:pPr marL="0" indent="0">
              <a:buNone/>
              <a:defRPr/>
            </a:pPr>
            <a:endParaRPr lang="en-US" sz="2700" dirty="0">
              <a:solidFill>
                <a:schemeClr val="tx1">
                  <a:lumMod val="75000"/>
                  <a:lumOff val="25000"/>
                </a:schemeClr>
              </a:solidFill>
              <a:latin typeface="Calibri" panose="020F0502020204030204" pitchFamily="34" charset="0"/>
              <a:cs typeface="Calibri" panose="020F0502020204030204" pitchFamily="34" charset="0"/>
            </a:endParaRPr>
          </a:p>
          <a:p>
            <a:pPr marL="411480" indent="-457200">
              <a:defRPr/>
            </a:pPr>
            <a:r>
              <a:rPr lang="en-US" sz="2700" dirty="0">
                <a:solidFill>
                  <a:schemeClr val="tx1">
                    <a:lumMod val="75000"/>
                    <a:lumOff val="25000"/>
                  </a:schemeClr>
                </a:solidFill>
                <a:latin typeface="Calibri" panose="020F0502020204030204" pitchFamily="34" charset="0"/>
                <a:cs typeface="Calibri" panose="020F0502020204030204" pitchFamily="34" charset="0"/>
              </a:rPr>
              <a:t>Allows the bank to better manage interest rate risk</a:t>
            </a:r>
          </a:p>
          <a:p>
            <a:pPr marL="411480" indent="-457200">
              <a:defRPr/>
            </a:pPr>
            <a:endParaRPr lang="en-US" sz="2700" dirty="0">
              <a:solidFill>
                <a:schemeClr val="tx1">
                  <a:lumMod val="75000"/>
                  <a:lumOff val="25000"/>
                </a:schemeClr>
              </a:solidFill>
              <a:latin typeface="Calibri" panose="020F0502020204030204" pitchFamily="34" charset="0"/>
              <a:cs typeface="Calibri" panose="020F0502020204030204" pitchFamily="34" charset="0"/>
            </a:endParaRPr>
          </a:p>
          <a:p>
            <a:pPr marL="411480" indent="-457200">
              <a:defRPr/>
            </a:pPr>
            <a:r>
              <a:rPr lang="en-US" sz="2700" dirty="0">
                <a:solidFill>
                  <a:schemeClr val="tx1">
                    <a:lumMod val="75000"/>
                    <a:lumOff val="25000"/>
                  </a:schemeClr>
                </a:solidFill>
                <a:latin typeface="Calibri" panose="020F0502020204030204" pitchFamily="34" charset="0"/>
                <a:cs typeface="Calibri" panose="020F0502020204030204" pitchFamily="34" charset="0"/>
              </a:rPr>
              <a:t>Allows the bank to generate fee income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85BB7-CA65-4380-98E2-15BC2AB30D42}"/>
              </a:ext>
            </a:extLst>
          </p:cNvPr>
          <p:cNvSpPr>
            <a:spLocks noGrp="1"/>
          </p:cNvSpPr>
          <p:nvPr>
            <p:ph type="ctrTitle"/>
          </p:nvPr>
        </p:nvSpPr>
        <p:spPr>
          <a:xfrm>
            <a:off x="685800" y="2080306"/>
            <a:ext cx="7772400" cy="2970666"/>
          </a:xfrm>
        </p:spPr>
        <p:txBody>
          <a:bodyPr>
            <a:noAutofit/>
          </a:bodyPr>
          <a:lstStyle/>
          <a:p>
            <a:pPr algn="l"/>
            <a:br>
              <a:rPr lang="en-GB" sz="3200" dirty="0"/>
            </a:br>
            <a:br>
              <a:rPr lang="en-GB" sz="3200" b="1" dirty="0"/>
            </a:br>
            <a:r>
              <a:rPr lang="en-GB" sz="2400" b="1" dirty="0"/>
              <a:t>Securitization during the financial crisis of 2008</a:t>
            </a:r>
            <a:br>
              <a:rPr lang="en-GB" sz="2400" b="1" dirty="0"/>
            </a:br>
            <a:br>
              <a:rPr lang="en-GB" sz="2400" b="1" dirty="0"/>
            </a:br>
            <a:r>
              <a:rPr lang="en-GB" sz="2400" b="1" dirty="0"/>
              <a:t>The role of investment banks and credit rating agencies in the process of securitization</a:t>
            </a:r>
            <a:br>
              <a:rPr lang="en-GB" sz="3200" b="1" dirty="0"/>
            </a:br>
            <a:r>
              <a:rPr lang="en-GB" sz="3200" b="1" dirty="0"/>
              <a:t> </a:t>
            </a:r>
          </a:p>
        </p:txBody>
      </p:sp>
    </p:spTree>
    <p:extLst>
      <p:ext uri="{BB962C8B-B14F-4D97-AF65-F5344CB8AC3E}">
        <p14:creationId xmlns:p14="http://schemas.microsoft.com/office/powerpoint/2010/main" val="877969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ECB2-F2EF-4E41-B21F-276A5C9A3D44}"/>
              </a:ext>
            </a:extLst>
          </p:cNvPr>
          <p:cNvSpPr>
            <a:spLocks noGrp="1"/>
          </p:cNvSpPr>
          <p:nvPr>
            <p:ph type="title"/>
          </p:nvPr>
        </p:nvSpPr>
        <p:spPr/>
        <p:txBody>
          <a:bodyPr/>
          <a:lstStyle/>
          <a:p>
            <a:r>
              <a:rPr lang="en-GB" dirty="0"/>
              <a:t>Securitization in the 2008 crisis</a:t>
            </a:r>
          </a:p>
        </p:txBody>
      </p:sp>
      <p:sp>
        <p:nvSpPr>
          <p:cNvPr id="3" name="Content Placeholder 2">
            <a:extLst>
              <a:ext uri="{FF2B5EF4-FFF2-40B4-BE49-F238E27FC236}">
                <a16:creationId xmlns:a16="http://schemas.microsoft.com/office/drawing/2014/main" id="{3DCFD3E0-761A-4F7E-AE21-5DA86EE139B0}"/>
              </a:ext>
            </a:extLst>
          </p:cNvPr>
          <p:cNvSpPr>
            <a:spLocks noGrp="1"/>
          </p:cNvSpPr>
          <p:nvPr>
            <p:ph idx="1"/>
          </p:nvPr>
        </p:nvSpPr>
        <p:spPr/>
        <p:txBody>
          <a:bodyPr/>
          <a:lstStyle/>
          <a:p>
            <a:r>
              <a:rPr lang="en-GB" b="0" i="0" dirty="0">
                <a:solidFill>
                  <a:srgbClr val="111111"/>
                </a:solidFill>
                <a:effectLst/>
                <a:latin typeface="SourceSansPro"/>
              </a:rPr>
              <a:t>Securitization, especially in the form of MBS and CDOs, was a key driver of the 2008 global financial crisis. </a:t>
            </a:r>
          </a:p>
          <a:p>
            <a:endParaRPr lang="en-GB" dirty="0">
              <a:solidFill>
                <a:srgbClr val="111111"/>
              </a:solidFill>
              <a:latin typeface="SourceSansPro"/>
            </a:endParaRPr>
          </a:p>
          <a:p>
            <a:r>
              <a:rPr lang="en-GB" b="0" i="0" dirty="0">
                <a:solidFill>
                  <a:srgbClr val="111111"/>
                </a:solidFill>
                <a:effectLst/>
                <a:latin typeface="SourceSansPro"/>
              </a:rPr>
              <a:t>Caused excessive risk-taking </a:t>
            </a:r>
          </a:p>
          <a:p>
            <a:endParaRPr lang="en-GB" dirty="0">
              <a:solidFill>
                <a:srgbClr val="111111"/>
              </a:solidFill>
              <a:latin typeface="SourceSansPro"/>
            </a:endParaRPr>
          </a:p>
          <a:p>
            <a:r>
              <a:rPr lang="en-GB" dirty="0">
                <a:solidFill>
                  <a:srgbClr val="111111"/>
                </a:solidFill>
                <a:latin typeface="SourceSansPro"/>
              </a:rPr>
              <a:t>B</a:t>
            </a:r>
            <a:r>
              <a:rPr lang="en-GB" b="0" i="0" dirty="0">
                <a:solidFill>
                  <a:srgbClr val="111111"/>
                </a:solidFill>
                <a:effectLst/>
                <a:latin typeface="SourceSansPro"/>
              </a:rPr>
              <a:t>rought many major financial around the world to bankruptcy when the U.S. real estate bubble burst.</a:t>
            </a:r>
            <a:endParaRPr lang="en-GB" dirty="0"/>
          </a:p>
        </p:txBody>
      </p:sp>
    </p:spTree>
    <p:extLst>
      <p:ext uri="{BB962C8B-B14F-4D97-AF65-F5344CB8AC3E}">
        <p14:creationId xmlns:p14="http://schemas.microsoft.com/office/powerpoint/2010/main" val="331246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81094"/>
          </a:xfrm>
        </p:spPr>
        <p:txBody>
          <a:bodyPr>
            <a:normAutofit/>
          </a:bodyPr>
          <a:lstStyle/>
          <a:p>
            <a:r>
              <a:rPr lang="en-GB" sz="2800" b="1" dirty="0"/>
              <a:t>Housing bubble in the US</a:t>
            </a:r>
            <a:endParaRPr lang="en-GB" sz="2800" dirty="0"/>
          </a:p>
        </p:txBody>
      </p:sp>
      <p:sp>
        <p:nvSpPr>
          <p:cNvPr id="3" name="Content Placeholder 2"/>
          <p:cNvSpPr>
            <a:spLocks noGrp="1"/>
          </p:cNvSpPr>
          <p:nvPr>
            <p:ph idx="1"/>
          </p:nvPr>
        </p:nvSpPr>
        <p:spPr>
          <a:xfrm>
            <a:off x="457200" y="1146221"/>
            <a:ext cx="8229600" cy="5494065"/>
          </a:xfrm>
        </p:spPr>
        <p:txBody>
          <a:bodyPr>
            <a:normAutofit fontScale="92500" lnSpcReduction="10000"/>
          </a:bodyPr>
          <a:lstStyle/>
          <a:p>
            <a:pPr>
              <a:buNone/>
            </a:pPr>
            <a:r>
              <a:rPr lang="en-GB" sz="1200" dirty="0"/>
              <a:t> </a:t>
            </a:r>
            <a:r>
              <a:rPr lang="en-GB" sz="2000" dirty="0"/>
              <a:t>House prices started increasing fast after 2000.</a:t>
            </a:r>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r>
              <a:rPr lang="en-GB" sz="2000" dirty="0"/>
              <a:t>One reason was low interest rates</a:t>
            </a:r>
          </a:p>
          <a:p>
            <a:pPr>
              <a:buNone/>
            </a:pPr>
            <a:r>
              <a:rPr lang="en-GB" sz="2000" dirty="0"/>
              <a:t>Another reason was lax lending practices of mortgage lenders</a:t>
            </a:r>
          </a:p>
        </p:txBody>
      </p:sp>
      <p:pic>
        <p:nvPicPr>
          <p:cNvPr id="3074" name="Picture 2">
            <a:extLst>
              <a:ext uri="{FF2B5EF4-FFF2-40B4-BE49-F238E27FC236}">
                <a16:creationId xmlns:a16="http://schemas.microsoft.com/office/drawing/2014/main" id="{A86E0E09-8A6B-4F8B-B8AE-4CA52426A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585912"/>
            <a:ext cx="6447064" cy="4137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74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81094"/>
          </a:xfrm>
        </p:spPr>
        <p:txBody>
          <a:bodyPr>
            <a:normAutofit/>
          </a:bodyPr>
          <a:lstStyle/>
          <a:p>
            <a:r>
              <a:rPr lang="en-GB" sz="2800" b="1" dirty="0"/>
              <a:t>Housing bubble in the US</a:t>
            </a:r>
            <a:endParaRPr lang="en-GB" sz="2800" dirty="0"/>
          </a:p>
        </p:txBody>
      </p:sp>
      <p:sp>
        <p:nvSpPr>
          <p:cNvPr id="3" name="Content Placeholder 2"/>
          <p:cNvSpPr>
            <a:spLocks noGrp="1"/>
          </p:cNvSpPr>
          <p:nvPr>
            <p:ph idx="1"/>
          </p:nvPr>
        </p:nvSpPr>
        <p:spPr>
          <a:xfrm>
            <a:off x="457200" y="1146221"/>
            <a:ext cx="8229600" cy="4525963"/>
          </a:xfrm>
        </p:spPr>
        <p:txBody>
          <a:bodyPr>
            <a:normAutofit/>
          </a:bodyPr>
          <a:lstStyle/>
          <a:p>
            <a:pPr>
              <a:buNone/>
            </a:pPr>
            <a:r>
              <a:rPr lang="en-GB" sz="1600" dirty="0"/>
              <a:t>A growing number of American banks began selling mortgages to so-called sub-prime borrowers.</a:t>
            </a:r>
          </a:p>
          <a:p>
            <a:pPr marL="0" indent="0">
              <a:buNone/>
            </a:pPr>
            <a:r>
              <a:rPr lang="en-GB" sz="1600" dirty="0"/>
              <a:t>These were the individuals to whom banks would normally refuse loans – people with very low and insecure incomes who represented a very bad risk.</a:t>
            </a:r>
          </a:p>
          <a:p>
            <a:pPr marL="0" indent="0">
              <a:buNone/>
            </a:pPr>
            <a:r>
              <a:rPr lang="en-US" altLang="en-US" sz="1600" dirty="0">
                <a:ea typeface="ヒラギノ角ゴ Pro W3" charset="-128"/>
              </a:rPr>
              <a:t>The average credit score was 624 for subprime borrowers. Prime mortgage borrowers 742.</a:t>
            </a:r>
            <a:endParaRPr lang="en-US" sz="1600" dirty="0"/>
          </a:p>
          <a:p>
            <a:pPr marL="0" indent="0">
              <a:buNone/>
            </a:pPr>
            <a:endParaRPr lang="en-GB" sz="1600" dirty="0"/>
          </a:p>
          <a:p>
            <a:pPr>
              <a:buNone/>
            </a:pPr>
            <a:endParaRPr lang="en-GB" sz="1600" dirty="0"/>
          </a:p>
        </p:txBody>
      </p:sp>
      <p:pic>
        <p:nvPicPr>
          <p:cNvPr id="4098" name="Picture 2">
            <a:extLst>
              <a:ext uri="{FF2B5EF4-FFF2-40B4-BE49-F238E27FC236}">
                <a16:creationId xmlns:a16="http://schemas.microsoft.com/office/drawing/2014/main" id="{CEA642D7-F576-4A94-86E6-4000A8AD23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058"/>
          <a:stretch/>
        </p:blipFill>
        <p:spPr bwMode="auto">
          <a:xfrm>
            <a:off x="1262743" y="2607585"/>
            <a:ext cx="6170681" cy="4250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27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4594-A7EF-4A49-8A00-7CF2513E67A6}"/>
              </a:ext>
            </a:extLst>
          </p:cNvPr>
          <p:cNvSpPr>
            <a:spLocks noGrp="1"/>
          </p:cNvSpPr>
          <p:nvPr>
            <p:ph type="title"/>
          </p:nvPr>
        </p:nvSpPr>
        <p:spPr/>
        <p:txBody>
          <a:bodyPr/>
          <a:lstStyle/>
          <a:p>
            <a:endParaRPr lang="en-GB"/>
          </a:p>
        </p:txBody>
      </p:sp>
      <p:pic>
        <p:nvPicPr>
          <p:cNvPr id="1026" name="Picture 2">
            <a:extLst>
              <a:ext uri="{FF2B5EF4-FFF2-40B4-BE49-F238E27FC236}">
                <a16:creationId xmlns:a16="http://schemas.microsoft.com/office/drawing/2014/main" id="{45E003D2-C18C-4CC0-9897-0031263B2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49" y="365126"/>
            <a:ext cx="8014608" cy="6467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90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90789"/>
          </a:xfrm>
        </p:spPr>
        <p:txBody>
          <a:bodyPr>
            <a:normAutofit/>
          </a:bodyPr>
          <a:lstStyle/>
          <a:p>
            <a:r>
              <a:rPr lang="en-GB" sz="2800" b="1" dirty="0"/>
              <a:t>Securitizing Sub-Prime Mortgages</a:t>
            </a:r>
            <a:endParaRPr lang="en-GB" sz="2800" dirty="0"/>
          </a:p>
        </p:txBody>
      </p:sp>
      <p:sp>
        <p:nvSpPr>
          <p:cNvPr id="3" name="Content Placeholder 2"/>
          <p:cNvSpPr>
            <a:spLocks noGrp="1"/>
          </p:cNvSpPr>
          <p:nvPr>
            <p:ph idx="1"/>
          </p:nvPr>
        </p:nvSpPr>
        <p:spPr>
          <a:xfrm>
            <a:off x="296214" y="1055915"/>
            <a:ext cx="8229600" cy="5253396"/>
          </a:xfrm>
        </p:spPr>
        <p:txBody>
          <a:bodyPr>
            <a:normAutofit/>
          </a:bodyPr>
          <a:lstStyle/>
          <a:p>
            <a:pPr>
              <a:buNone/>
            </a:pPr>
            <a:r>
              <a:rPr lang="en-GB" sz="1800" dirty="0"/>
              <a:t> Why would profit maximising banks willingly lend to people they knew would almost certainly fail to repay their loans?</a:t>
            </a:r>
          </a:p>
          <a:p>
            <a:pPr>
              <a:buNone/>
            </a:pPr>
            <a:endParaRPr lang="en-GB" sz="1800" dirty="0"/>
          </a:p>
          <a:p>
            <a:pPr lvl="1"/>
            <a:r>
              <a:rPr lang="en-GB" sz="1800" dirty="0"/>
              <a:t>Mortgages are loans secured against the houses they are used to purchase. In the event of a default, banks could recover their money by selling the mortgaged property.</a:t>
            </a:r>
          </a:p>
          <a:p>
            <a:pPr lvl="1"/>
            <a:r>
              <a:rPr lang="en-GB" sz="1800" dirty="0"/>
              <a:t>Banks could charge sub-prime borrowers higher fixed interest rates – typically 2% more</a:t>
            </a:r>
          </a:p>
          <a:p>
            <a:pPr lvl="2"/>
            <a:r>
              <a:rPr lang="en-GB" sz="1400" dirty="0"/>
              <a:t>Sub-prime borrowers were also offered very low variable interest rates known as teaser rates- for the first year or two of their loans. </a:t>
            </a:r>
          </a:p>
          <a:p>
            <a:pPr marL="457200" lvl="1" indent="0">
              <a:buNone/>
            </a:pPr>
            <a:endParaRPr lang="en-GB" sz="1800" dirty="0"/>
          </a:p>
          <a:p>
            <a:pPr marL="457200" lvl="1" indent="0">
              <a:buNone/>
            </a:pPr>
            <a:endParaRPr lang="en-GB" sz="1800" dirty="0"/>
          </a:p>
          <a:p>
            <a:pPr marL="457200" lvl="1" indent="0">
              <a:buNone/>
            </a:pPr>
            <a:r>
              <a:rPr lang="en-GB" sz="1800" dirty="0"/>
              <a:t>Banks used securitization techniques to finance all of this. </a:t>
            </a:r>
          </a:p>
          <a:p>
            <a:pPr marL="457200" lvl="1" indent="0">
              <a:buNone/>
            </a:pPr>
            <a:endParaRPr lang="en-GB" sz="1800" dirty="0"/>
          </a:p>
          <a:p>
            <a:pPr marL="457200" lvl="1" indent="0">
              <a:buNone/>
            </a:pPr>
            <a:r>
              <a:rPr lang="en-GB" sz="1800" dirty="0"/>
              <a:t>Securitization became a major profit source for financial intermediaries</a:t>
            </a:r>
          </a:p>
          <a:p>
            <a:pPr marL="0" indent="0">
              <a:buNone/>
            </a:pPr>
            <a:endParaRPr lang="en-GB" sz="1800" dirty="0"/>
          </a:p>
          <a:p>
            <a:pPr marL="0" indent="0">
              <a:buNone/>
            </a:pPr>
            <a:endParaRPr lang="en-GB" sz="1800" dirty="0"/>
          </a:p>
          <a:p>
            <a:pPr marL="0" indent="0">
              <a:buNone/>
            </a:pPr>
            <a:endParaRPr lang="en-GB" sz="1600" dirty="0"/>
          </a:p>
          <a:p>
            <a:pPr marL="0" indent="0">
              <a:buNone/>
            </a:pPr>
            <a:endParaRPr lang="en-GB" sz="1600" dirty="0"/>
          </a:p>
        </p:txBody>
      </p:sp>
    </p:spTree>
    <p:extLst>
      <p:ext uri="{BB962C8B-B14F-4D97-AF65-F5344CB8AC3E}">
        <p14:creationId xmlns:p14="http://schemas.microsoft.com/office/powerpoint/2010/main" val="11789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6988"/>
          </a:xfrm>
        </p:spPr>
        <p:txBody>
          <a:bodyPr/>
          <a:lstStyle/>
          <a:p>
            <a:r>
              <a:rPr lang="en-GB" b="1" dirty="0"/>
              <a:t>Crunch Time</a:t>
            </a:r>
            <a:endParaRPr lang="en-GB" dirty="0"/>
          </a:p>
        </p:txBody>
      </p:sp>
      <p:sp>
        <p:nvSpPr>
          <p:cNvPr id="3" name="Content Placeholder 2"/>
          <p:cNvSpPr>
            <a:spLocks noGrp="1"/>
          </p:cNvSpPr>
          <p:nvPr>
            <p:ph idx="1"/>
          </p:nvPr>
        </p:nvSpPr>
        <p:spPr>
          <a:xfrm>
            <a:off x="628650" y="965286"/>
            <a:ext cx="7886700" cy="5148943"/>
          </a:xfrm>
        </p:spPr>
        <p:txBody>
          <a:bodyPr>
            <a:noAutofit/>
          </a:bodyPr>
          <a:lstStyle/>
          <a:p>
            <a:r>
              <a:rPr lang="en-GB" sz="2000" dirty="0"/>
              <a:t>In the mid 2000s, the US interest rates started to rise, just as many sub-prime borrowers were coming off their teaser rates.</a:t>
            </a:r>
          </a:p>
          <a:p>
            <a:pPr>
              <a:buNone/>
            </a:pPr>
            <a:endParaRPr lang="en-GB" sz="2000" dirty="0"/>
          </a:p>
          <a:p>
            <a:r>
              <a:rPr lang="en-GB" sz="2000" dirty="0"/>
              <a:t>Thousands of sub-prime borrowers began defaulting on their mortgages.</a:t>
            </a:r>
          </a:p>
          <a:p>
            <a:endParaRPr lang="en-GB" sz="2000" dirty="0"/>
          </a:p>
          <a:p>
            <a:r>
              <a:rPr lang="en-GB" sz="2000" dirty="0"/>
              <a:t>Many houses were repossessed by the banks and put up for sale, causing house prices to fall sharply to levels below the value of the original mortgage loans. </a:t>
            </a:r>
          </a:p>
          <a:p>
            <a:pPr>
              <a:buNone/>
            </a:pPr>
            <a:endParaRPr lang="en-GB" sz="2000" dirty="0"/>
          </a:p>
          <a:p>
            <a:r>
              <a:rPr lang="en-GB" sz="2000" dirty="0"/>
              <a:t>Since the value of the and MBS and CDOs depended on the value of the houses that underpinned them, banks and other financial institutions realised that they were holding almost worthless CDOs.</a:t>
            </a:r>
          </a:p>
          <a:p>
            <a:endParaRPr lang="en-GB" sz="2000" dirty="0"/>
          </a:p>
          <a:p>
            <a:r>
              <a:rPr lang="en-GB" sz="2000" dirty="0"/>
              <a:t>That’s when banks stopped lending to each other in the interbank market, causing a </a:t>
            </a:r>
            <a:r>
              <a:rPr lang="en-GB" sz="2000" u="sng" dirty="0"/>
              <a:t>systemic LIQUIDITY problem </a:t>
            </a:r>
            <a:r>
              <a:rPr lang="en-GB" sz="2000" dirty="0"/>
              <a:t>that is known as the </a:t>
            </a:r>
            <a:r>
              <a:rPr lang="en-GB" sz="2000" dirty="0">
                <a:solidFill>
                  <a:srgbClr val="FF0000"/>
                </a:solidFill>
              </a:rPr>
              <a:t>credit crunch.</a:t>
            </a:r>
          </a:p>
          <a:p>
            <a:pPr>
              <a:buNone/>
            </a:pPr>
            <a:endParaRPr lang="en-GB" sz="2000" dirty="0"/>
          </a:p>
          <a:p>
            <a:endParaRPr lang="en-GB" sz="1600" dirty="0"/>
          </a:p>
          <a:p>
            <a:endParaRPr lang="en-GB" sz="1600" dirty="0"/>
          </a:p>
        </p:txBody>
      </p:sp>
    </p:spTree>
    <p:extLst>
      <p:ext uri="{BB962C8B-B14F-4D97-AF65-F5344CB8AC3E}">
        <p14:creationId xmlns:p14="http://schemas.microsoft.com/office/powerpoint/2010/main" val="222096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F71D9-F275-6244-B94D-A9CE80FB2C9C}"/>
              </a:ext>
            </a:extLst>
          </p:cNvPr>
          <p:cNvSpPr>
            <a:spLocks noGrp="1"/>
          </p:cNvSpPr>
          <p:nvPr>
            <p:ph type="title"/>
          </p:nvPr>
        </p:nvSpPr>
        <p:spPr>
          <a:xfrm>
            <a:off x="628650" y="365127"/>
            <a:ext cx="7886700" cy="592816"/>
          </a:xfrm>
        </p:spPr>
        <p:txBody>
          <a:bodyPr>
            <a:normAutofit/>
          </a:bodyPr>
          <a:lstStyle/>
          <a:p>
            <a:r>
              <a:rPr lang="en-GB" sz="2800" dirty="0"/>
              <a:t>The role of credit rating agencies (CRA) in the process</a:t>
            </a:r>
          </a:p>
        </p:txBody>
      </p:sp>
      <p:sp>
        <p:nvSpPr>
          <p:cNvPr id="3" name="Content Placeholder 2">
            <a:extLst>
              <a:ext uri="{FF2B5EF4-FFF2-40B4-BE49-F238E27FC236}">
                <a16:creationId xmlns:a16="http://schemas.microsoft.com/office/drawing/2014/main" id="{76B6C6EC-C666-4647-804D-6E4FE341D983}"/>
              </a:ext>
            </a:extLst>
          </p:cNvPr>
          <p:cNvSpPr>
            <a:spLocks noGrp="1"/>
          </p:cNvSpPr>
          <p:nvPr>
            <p:ph idx="1"/>
          </p:nvPr>
        </p:nvSpPr>
        <p:spPr>
          <a:xfrm>
            <a:off x="628650" y="1219199"/>
            <a:ext cx="7886700" cy="4935992"/>
          </a:xfrm>
        </p:spPr>
        <p:txBody>
          <a:bodyPr>
            <a:normAutofit/>
          </a:bodyPr>
          <a:lstStyle/>
          <a:p>
            <a:r>
              <a:rPr lang="en-GB" sz="1800" dirty="0"/>
              <a:t>"Big Three" CRAs—Moody's, Standard &amp; Poor's, and Fitch Ratings </a:t>
            </a:r>
          </a:p>
          <a:p>
            <a:r>
              <a:rPr lang="en-GB" sz="1800" dirty="0"/>
              <a:t>Many investors such as pension funds are restricted by law to invest only in the safest securities. i.e. "triple-A". </a:t>
            </a:r>
          </a:p>
          <a:p>
            <a:r>
              <a:rPr lang="en-GB" sz="1800" dirty="0"/>
              <a:t>CRAs became “arbiters of risk,” as everyone, even regulators, came to rely on their risk assessment.</a:t>
            </a:r>
          </a:p>
          <a:p>
            <a:endParaRPr lang="en-GB" sz="1800" dirty="0"/>
          </a:p>
          <a:p>
            <a:r>
              <a:rPr lang="en-GB" sz="1800" dirty="0"/>
              <a:t>However, CRAs faced </a:t>
            </a:r>
            <a:r>
              <a:rPr lang="en-GB" sz="1800" dirty="0">
                <a:solidFill>
                  <a:srgbClr val="FF0000"/>
                </a:solidFill>
              </a:rPr>
              <a:t>a conflict of interest </a:t>
            </a:r>
            <a:r>
              <a:rPr lang="en-GB" sz="1800" dirty="0"/>
              <a:t>in their fee structure.</a:t>
            </a:r>
          </a:p>
          <a:p>
            <a:pPr lvl="1"/>
            <a:r>
              <a:rPr lang="en-GB" sz="1600" dirty="0"/>
              <a:t>They get paid by issuers of securities for whom higher ratings mean higher earnings.</a:t>
            </a:r>
          </a:p>
          <a:p>
            <a:pPr lvl="1"/>
            <a:r>
              <a:rPr lang="en-GB" sz="1600" dirty="0"/>
              <a:t>They are publicly traded firms with pressures to grow and increase profits.</a:t>
            </a:r>
          </a:p>
          <a:p>
            <a:endParaRPr lang="en-GB" sz="1800" dirty="0"/>
          </a:p>
          <a:p>
            <a:r>
              <a:rPr lang="en-GB" sz="1800" dirty="0"/>
              <a:t>The triple A security pool had more than 3 trillion dollars of sub-prime loans in it by 2007. These were all downgraded to "junk" status after the crisis in 2010.</a:t>
            </a:r>
          </a:p>
          <a:p>
            <a:endParaRPr lang="en-GB" sz="1800" dirty="0"/>
          </a:p>
        </p:txBody>
      </p:sp>
    </p:spTree>
    <p:extLst>
      <p:ext uri="{BB962C8B-B14F-4D97-AF65-F5344CB8AC3E}">
        <p14:creationId xmlns:p14="http://schemas.microsoft.com/office/powerpoint/2010/main" val="409892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22B4-230F-4328-89DC-D4D2C5CE7227}"/>
              </a:ext>
            </a:extLst>
          </p:cNvPr>
          <p:cNvSpPr>
            <a:spLocks noGrp="1"/>
          </p:cNvSpPr>
          <p:nvPr>
            <p:ph type="title"/>
          </p:nvPr>
        </p:nvSpPr>
        <p:spPr>
          <a:xfrm>
            <a:off x="628650" y="365126"/>
            <a:ext cx="7886700" cy="745217"/>
          </a:xfrm>
        </p:spPr>
        <p:txBody>
          <a:bodyPr/>
          <a:lstStyle/>
          <a:p>
            <a:r>
              <a:rPr lang="en-GB" dirty="0"/>
              <a:t>The role of investment banks in the process</a:t>
            </a:r>
          </a:p>
        </p:txBody>
      </p:sp>
      <p:sp>
        <p:nvSpPr>
          <p:cNvPr id="3" name="Content Placeholder 2">
            <a:extLst>
              <a:ext uri="{FF2B5EF4-FFF2-40B4-BE49-F238E27FC236}">
                <a16:creationId xmlns:a16="http://schemas.microsoft.com/office/drawing/2014/main" id="{4E3B9934-8B4F-42B4-BF7F-E11651F79D1D}"/>
              </a:ext>
            </a:extLst>
          </p:cNvPr>
          <p:cNvSpPr>
            <a:spLocks noGrp="1"/>
          </p:cNvSpPr>
          <p:nvPr>
            <p:ph idx="1"/>
          </p:nvPr>
        </p:nvSpPr>
        <p:spPr>
          <a:xfrm>
            <a:off x="628650" y="1295400"/>
            <a:ext cx="7886700" cy="4881563"/>
          </a:xfrm>
        </p:spPr>
        <p:txBody>
          <a:bodyPr>
            <a:normAutofit/>
          </a:bodyPr>
          <a:lstStyle/>
          <a:p>
            <a:r>
              <a:rPr lang="en-GB" sz="2000" dirty="0"/>
              <a:t>Investment banks are the underwriters of the securitization process.</a:t>
            </a:r>
          </a:p>
          <a:p>
            <a:pPr lvl="1"/>
            <a:r>
              <a:rPr lang="en-GB" sz="1600" b="0" i="0" dirty="0">
                <a:solidFill>
                  <a:srgbClr val="282829"/>
                </a:solidFill>
                <a:effectLst/>
              </a:rPr>
              <a:t>They purchased, repackaged and sold all types of ABS, MBS, CDOs…etc and earned commission income from the sales.</a:t>
            </a:r>
          </a:p>
          <a:p>
            <a:r>
              <a:rPr lang="en-GB" sz="2000" dirty="0"/>
              <a:t>The collapse Lehman Brothers triggered the crisis. Many were bailed out by the governments.</a:t>
            </a:r>
          </a:p>
          <a:p>
            <a:endParaRPr lang="en-GB" sz="2000" dirty="0"/>
          </a:p>
          <a:p>
            <a:r>
              <a:rPr lang="en-GB" sz="2000" dirty="0">
                <a:solidFill>
                  <a:srgbClr val="FF0000"/>
                </a:solidFill>
              </a:rPr>
              <a:t>Conflict of interest </a:t>
            </a:r>
            <a:r>
              <a:rPr lang="en-GB" sz="2000"/>
              <a:t>was again the </a:t>
            </a:r>
            <a:r>
              <a:rPr lang="en-GB" sz="2000" dirty="0"/>
              <a:t>problem </a:t>
            </a:r>
          </a:p>
          <a:p>
            <a:pPr lvl="1"/>
            <a:r>
              <a:rPr lang="en-GB" sz="2000" dirty="0"/>
              <a:t>e.g. Goldman Sachs </a:t>
            </a:r>
            <a:r>
              <a:rPr lang="en-GB" sz="2000" b="0" i="0" dirty="0">
                <a:solidFill>
                  <a:srgbClr val="2B2C30"/>
                </a:solidFill>
                <a:effectLst/>
              </a:rPr>
              <a:t>was marketing risky CDOs to its clients, whilst also placing large bets against the losses </a:t>
            </a:r>
            <a:r>
              <a:rPr lang="en-GB" sz="2000" dirty="0">
                <a:solidFill>
                  <a:srgbClr val="2B2C30"/>
                </a:solidFill>
              </a:rPr>
              <a:t>in </a:t>
            </a:r>
            <a:r>
              <a:rPr lang="en-GB" sz="2000" b="0" i="0" dirty="0">
                <a:solidFill>
                  <a:srgbClr val="2B2C30"/>
                </a:solidFill>
                <a:effectLst/>
              </a:rPr>
              <a:t>those CDOs (remember credit default swaps).</a:t>
            </a:r>
          </a:p>
          <a:p>
            <a:pPr lvl="1"/>
            <a:r>
              <a:rPr lang="en-GB" sz="2000" dirty="0">
                <a:solidFill>
                  <a:srgbClr val="2B2C30"/>
                </a:solidFill>
              </a:rPr>
              <a:t>When the markets collapsed Goldman made millions in profits from the CDSs.</a:t>
            </a:r>
          </a:p>
          <a:p>
            <a:pPr lvl="1"/>
            <a:r>
              <a:rPr lang="en-GB" sz="2000" dirty="0">
                <a:solidFill>
                  <a:srgbClr val="2B2C30"/>
                </a:solidFill>
              </a:rPr>
              <a:t>They made money by betting against their own products and clients. </a:t>
            </a:r>
          </a:p>
          <a:p>
            <a:pPr lvl="1"/>
            <a:endParaRPr lang="en-GB" sz="2000" b="0" i="0" dirty="0">
              <a:solidFill>
                <a:srgbClr val="2B2C30"/>
              </a:solidFill>
              <a:effectLst/>
            </a:endParaRPr>
          </a:p>
          <a:p>
            <a:endParaRPr lang="en-GB" sz="2400" dirty="0"/>
          </a:p>
        </p:txBody>
      </p:sp>
    </p:spTree>
    <p:extLst>
      <p:ext uri="{BB962C8B-B14F-4D97-AF65-F5344CB8AC3E}">
        <p14:creationId xmlns:p14="http://schemas.microsoft.com/office/powerpoint/2010/main" val="146129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a:t>Other  investment banks during the financial crisis</a:t>
            </a:r>
          </a:p>
        </p:txBody>
      </p:sp>
      <p:sp>
        <p:nvSpPr>
          <p:cNvPr id="3" name="Content Placeholder 2"/>
          <p:cNvSpPr>
            <a:spLocks noGrp="1"/>
          </p:cNvSpPr>
          <p:nvPr>
            <p:ph idx="1"/>
          </p:nvPr>
        </p:nvSpPr>
        <p:spPr/>
        <p:txBody>
          <a:bodyPr>
            <a:normAutofit/>
          </a:bodyPr>
          <a:lstStyle/>
          <a:p>
            <a:r>
              <a:rPr lang="en-US" sz="1800" dirty="0">
                <a:hlinkClick r:id="rId2"/>
              </a:rPr>
              <a:t>Citigroup</a:t>
            </a:r>
            <a:r>
              <a:rPr lang="en-US" sz="1800" dirty="0"/>
              <a:t> -its principal U.S. broker-dealer subsidiary  was charged with misleading investors about a $1 billion CDO tied to the housing market in which Citigroup bet against investors as the housing market showed signs of distress. The court approved a settlement of $285 million which will be returned to harmed investors. (10/19/11)</a:t>
            </a:r>
          </a:p>
          <a:p>
            <a:r>
              <a:rPr lang="en-US" sz="1800" dirty="0">
                <a:hlinkClick r:id="rId3"/>
              </a:rPr>
              <a:t>Merrill Lynch</a:t>
            </a:r>
            <a:r>
              <a:rPr lang="en-US" sz="1800" dirty="0"/>
              <a:t> -  charged with making faulty disclosures about  CDOs that it structured and marketed to investors, and maintaining inaccurate books and records for a third CDO. Merrill Lynch agreed to pay $131.8 million to settle the charges. (12/12/13)</a:t>
            </a:r>
          </a:p>
          <a:p>
            <a:r>
              <a:rPr lang="en-US" sz="1800" dirty="0">
                <a:hlinkClick r:id="rId4"/>
              </a:rPr>
              <a:t>J.P. Morgan Securities</a:t>
            </a:r>
            <a:r>
              <a:rPr lang="en-US" sz="1800" dirty="0"/>
              <a:t> -  charged with misleading investors in a complex mortgage </a:t>
            </a:r>
            <a:r>
              <a:rPr lang="en-US" sz="1800"/>
              <a:t>securities transaction. </a:t>
            </a:r>
            <a:r>
              <a:rPr lang="en-US" sz="1800" dirty="0"/>
              <a:t>J.P. Morgan agreed to pay $153.6 million in a settlement that enables harmed investors to receive all of their money back. (6/21/11)</a:t>
            </a:r>
            <a:endParaRPr lang="en-GB" sz="1800" dirty="0"/>
          </a:p>
        </p:txBody>
      </p:sp>
    </p:spTree>
    <p:extLst>
      <p:ext uri="{BB962C8B-B14F-4D97-AF65-F5344CB8AC3E}">
        <p14:creationId xmlns:p14="http://schemas.microsoft.com/office/powerpoint/2010/main" val="42343437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601</TotalTime>
  <Words>1471</Words>
  <Application>Microsoft Macintosh PowerPoint</Application>
  <PresentationFormat>On-screen Show (4:3)</PresentationFormat>
  <Paragraphs>180</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Palatino Linotype</vt:lpstr>
      <vt:lpstr>SourceSansPro</vt:lpstr>
      <vt:lpstr>Times New Roman</vt:lpstr>
      <vt:lpstr>ヒラギノ角ゴ Pro W3</vt:lpstr>
      <vt:lpstr>Office Theme</vt:lpstr>
      <vt:lpstr>Week 8 Financial Crises – Part 1</vt:lpstr>
      <vt:lpstr>For more information on CISI Qualifications</vt:lpstr>
      <vt:lpstr>Outline</vt:lpstr>
      <vt:lpstr> Banking Without Securitization </vt:lpstr>
      <vt:lpstr> Banking Without Securitization </vt:lpstr>
      <vt:lpstr> Banking with Securitization</vt:lpstr>
      <vt:lpstr>Securitization – step by step step</vt:lpstr>
      <vt:lpstr>Securitization Process with Incomes generated in the process </vt:lpstr>
      <vt:lpstr>Question: Loan creation process in traditional banking is known as </vt:lpstr>
      <vt:lpstr>Question:  The traditional financial intermediation role of banking has been to make ________-term loans and to fund them with ________-term deposits. </vt:lpstr>
      <vt:lpstr>More terms !</vt:lpstr>
      <vt:lpstr>Securitization example: creation of an MBS</vt:lpstr>
      <vt:lpstr>Securitization of securities!</vt:lpstr>
      <vt:lpstr>One last thing: Credit Default Swaps (CDS)</vt:lpstr>
      <vt:lpstr>Benefits of Securitization</vt:lpstr>
      <vt:lpstr>  Securitization during the financial crisis of 2008  The role of investment banks and credit rating agencies in the process of securitization  </vt:lpstr>
      <vt:lpstr>Securitization in the 2008 crisis</vt:lpstr>
      <vt:lpstr>Housing bubble in the US</vt:lpstr>
      <vt:lpstr>Housing bubble in the US</vt:lpstr>
      <vt:lpstr>PowerPoint Presentation</vt:lpstr>
      <vt:lpstr>Securitizing Sub-Prime Mortgages</vt:lpstr>
      <vt:lpstr>Crunch Time</vt:lpstr>
      <vt:lpstr>The role of credit rating agencies (CRA) in the process</vt:lpstr>
      <vt:lpstr>The role of investment banks in the process</vt:lpstr>
      <vt:lpstr>Other  investment banks during the financial crisis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dc:title>
  <dc:creator>Armagan Gezici</dc:creator>
  <cp:lastModifiedBy>Armagan Gezici</cp:lastModifiedBy>
  <cp:revision>4</cp:revision>
  <dcterms:created xsi:type="dcterms:W3CDTF">2021-11-07T16:00:05Z</dcterms:created>
  <dcterms:modified xsi:type="dcterms:W3CDTF">2024-11-09T10:38:29Z</dcterms:modified>
</cp:coreProperties>
</file>