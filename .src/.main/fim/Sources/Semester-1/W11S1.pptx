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6" r:id="rId2"/>
    <p:sldId id="409" r:id="rId3"/>
    <p:sldId id="414" r:id="rId4"/>
    <p:sldId id="418" r:id="rId5"/>
    <p:sldId id="285" r:id="rId6"/>
    <p:sldId id="318" r:id="rId7"/>
    <p:sldId id="319" r:id="rId8"/>
    <p:sldId id="340" r:id="rId9"/>
    <p:sldId id="407" r:id="rId10"/>
    <p:sldId id="366" r:id="rId11"/>
    <p:sldId id="413" r:id="rId12"/>
    <p:sldId id="419" r:id="rId13"/>
    <p:sldId id="350" r:id="rId14"/>
    <p:sldId id="408" r:id="rId15"/>
    <p:sldId id="417" r:id="rId16"/>
    <p:sldId id="359" r:id="rId17"/>
    <p:sldId id="416" r:id="rId18"/>
    <p:sldId id="421" r:id="rId19"/>
    <p:sldId id="356" r:id="rId20"/>
    <p:sldId id="422" r:id="rId21"/>
    <p:sldId id="411" r:id="rId22"/>
    <p:sldId id="410" r:id="rId23"/>
    <p:sldId id="284" r:id="rId24"/>
    <p:sldId id="412" r:id="rId25"/>
    <p:sldId id="367" r:id="rId26"/>
    <p:sldId id="368" r:id="rId27"/>
    <p:sldId id="420"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5741"/>
  </p:normalViewPr>
  <p:slideViewPr>
    <p:cSldViewPr snapToGrid="0" snapToObjects="1">
      <p:cViewPr varScale="1">
        <p:scale>
          <a:sx n="42" d="100"/>
          <a:sy n="42" d="100"/>
        </p:scale>
        <p:origin x="145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5E9357-4695-144E-94A4-BEC4E95DD3F8}" type="datetimeFigureOut">
              <a:rPr lang="en-GB" smtClean="0"/>
              <a:t>11/12/2024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356BF-B1FF-4D47-91D8-3E0E2B6FA3A2}" type="slidenum">
              <a:rPr lang="en-GB" smtClean="0"/>
              <a:t>‹#›</a:t>
            </a:fld>
            <a:endParaRPr lang="en-GB"/>
          </a:p>
        </p:txBody>
      </p:sp>
    </p:spTree>
    <p:extLst>
      <p:ext uri="{BB962C8B-B14F-4D97-AF65-F5344CB8AC3E}">
        <p14:creationId xmlns:p14="http://schemas.microsoft.com/office/powerpoint/2010/main" val="3184048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BE356BF-B1FF-4D47-91D8-3E0E2B6FA3A2}" type="slidenum">
              <a:rPr lang="en-GB" smtClean="0"/>
              <a:t>12</a:t>
            </a:fld>
            <a:endParaRPr lang="en-GB"/>
          </a:p>
        </p:txBody>
      </p:sp>
    </p:spTree>
    <p:extLst>
      <p:ext uri="{BB962C8B-B14F-4D97-AF65-F5344CB8AC3E}">
        <p14:creationId xmlns:p14="http://schemas.microsoft.com/office/powerpoint/2010/main" val="754833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BE356BF-B1FF-4D47-91D8-3E0E2B6FA3A2}" type="slidenum">
              <a:rPr lang="en-GB" smtClean="0"/>
              <a:t>23</a:t>
            </a:fld>
            <a:endParaRPr lang="en-GB"/>
          </a:p>
        </p:txBody>
      </p:sp>
    </p:spTree>
    <p:extLst>
      <p:ext uri="{BB962C8B-B14F-4D97-AF65-F5344CB8AC3E}">
        <p14:creationId xmlns:p14="http://schemas.microsoft.com/office/powerpoint/2010/main" val="3932186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b="1">
                <a:solidFill>
                  <a:srgbClr val="0070C0"/>
                </a:solidFill>
              </a:defRPr>
            </a:lvl1pPr>
          </a:lstStyle>
          <a:p>
            <a:r>
              <a:rPr lang="en-GB" dirty="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B13184E-4322-C74F-A51D-EBA54F6CC3B7}"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731512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B13184E-4322-C74F-A51D-EBA54F6CC3B7}"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1554195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B13184E-4322-C74F-A51D-EBA54F6CC3B7}"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155960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B13184E-4322-C74F-A51D-EBA54F6CC3B7}" type="datetimeFigureOut">
              <a:rPr lang="en-GB" smtClean="0"/>
              <a:t>11/12/2024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1946095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B13184E-4322-C74F-A51D-EBA54F6CC3B7}" type="datetimeFigureOut">
              <a:rPr lang="en-GB" smtClean="0"/>
              <a:t>11/12/2024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2871064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B13184E-4322-C74F-A51D-EBA54F6CC3B7}" type="datetimeFigureOut">
              <a:rPr lang="en-GB" smtClean="0"/>
              <a:t>11/12/2024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2127598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13184E-4322-C74F-A51D-EBA54F6CC3B7}" type="datetimeFigureOut">
              <a:rPr lang="en-GB" smtClean="0"/>
              <a:t>11/12/2024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211222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6B13184E-4322-C74F-A51D-EBA54F6CC3B7}" type="datetimeFigureOut">
              <a:rPr lang="en-GB" smtClean="0"/>
              <a:t>11/12/2024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1377145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6B13184E-4322-C74F-A51D-EBA54F6CC3B7}" type="datetimeFigureOut">
              <a:rPr lang="en-GB" smtClean="0"/>
              <a:t>11/12/2024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2058631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B13184E-4322-C74F-A51D-EBA54F6CC3B7}"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3599760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B13184E-4322-C74F-A51D-EBA54F6CC3B7}" type="datetimeFigureOut">
              <a:rPr lang="en-GB" smtClean="0"/>
              <a:t>11/12/2024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9631206-CC45-9D40-834A-E7F0E3E529F8}" type="slidenum">
              <a:rPr lang="en-GB" smtClean="0"/>
              <a:t>‹#›</a:t>
            </a:fld>
            <a:endParaRPr lang="en-GB"/>
          </a:p>
        </p:txBody>
      </p:sp>
    </p:spTree>
    <p:extLst>
      <p:ext uri="{BB962C8B-B14F-4D97-AF65-F5344CB8AC3E}">
        <p14:creationId xmlns:p14="http://schemas.microsoft.com/office/powerpoint/2010/main" val="1630743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13184E-4322-C74F-A51D-EBA54F6CC3B7}" type="datetimeFigureOut">
              <a:rPr lang="en-GB" smtClean="0"/>
              <a:t>11/12/2024</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631206-CC45-9D40-834A-E7F0E3E529F8}" type="slidenum">
              <a:rPr lang="en-GB" smtClean="0"/>
              <a:t>‹#›</a:t>
            </a:fld>
            <a:endParaRPr lang="en-GB"/>
          </a:p>
        </p:txBody>
      </p:sp>
    </p:spTree>
    <p:extLst>
      <p:ext uri="{BB962C8B-B14F-4D97-AF65-F5344CB8AC3E}">
        <p14:creationId xmlns:p14="http://schemas.microsoft.com/office/powerpoint/2010/main" val="26070509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1"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youtu.be/Kll-yYQwmu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uSjPULBdzZ0"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ontent.naic.org/sites/default/files/capital-markets-special-reports-asset-mix-ye2023.pdf"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acli.com/Tools/Industry%20Facts/Life%20Insurers%20Fact%20Book/Pages/RP12" TargetMode="External"/><Relationship Id="rId1" Type="http://schemas.openxmlformats.org/officeDocument/2006/relationships/slideLayout" Target="../slideLayouts/slideLayout2.xml"/><Relationship Id="rId5" Type="http://schemas.openxmlformats.org/officeDocument/2006/relationships/hyperlink" Target="http://www.federalreserve.gov/releases/z1/Current/z1.pdf" TargetMode="Externa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content.naic.org/sites/default/files/capital-markets-special-reports-asset-mix-ye2023.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abi.org.u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7C904-3D95-3241-AED2-D8CBC61EC16F}"/>
              </a:ext>
            </a:extLst>
          </p:cNvPr>
          <p:cNvSpPr>
            <a:spLocks noGrp="1"/>
          </p:cNvSpPr>
          <p:nvPr>
            <p:ph type="ctrTitle"/>
          </p:nvPr>
        </p:nvSpPr>
        <p:spPr/>
        <p:txBody>
          <a:bodyPr/>
          <a:lstStyle/>
          <a:p>
            <a:r>
              <a:rPr lang="en-GB" dirty="0"/>
              <a:t>Week 8</a:t>
            </a:r>
            <a:br>
              <a:rPr lang="en-GB" dirty="0"/>
            </a:br>
            <a:br>
              <a:rPr lang="en-GB" dirty="0"/>
            </a:br>
            <a:r>
              <a:rPr lang="en-GB" dirty="0"/>
              <a:t>Insurance companies</a:t>
            </a:r>
          </a:p>
        </p:txBody>
      </p:sp>
    </p:spTree>
    <p:extLst>
      <p:ext uri="{BB962C8B-B14F-4D97-AF65-F5344CB8AC3E}">
        <p14:creationId xmlns:p14="http://schemas.microsoft.com/office/powerpoint/2010/main" val="1807424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imeline">
            <a:extLst>
              <a:ext uri="{FF2B5EF4-FFF2-40B4-BE49-F238E27FC236}">
                <a16:creationId xmlns:a16="http://schemas.microsoft.com/office/drawing/2014/main" id="{42674B58-9654-2B07-57EB-43A173DA9B97}"/>
              </a:ext>
            </a:extLst>
          </p:cNvPr>
          <p:cNvPicPr>
            <a:picLocks noGrp="1" noChangeAspect="1"/>
          </p:cNvPicPr>
          <p:nvPr>
            <p:ph idx="1"/>
          </p:nvPr>
        </p:nvPicPr>
        <p:blipFill rotWithShape="1">
          <a:blip r:embed="rId2"/>
          <a:srcRect l="1915" r="4070" b="2"/>
          <a:stretch/>
        </p:blipFill>
        <p:spPr>
          <a:xfrm>
            <a:off x="608889" y="457200"/>
            <a:ext cx="7926222" cy="5943600"/>
          </a:xfrm>
          <a:prstGeom prst="rect">
            <a:avLst/>
          </a:prstGeom>
        </p:spPr>
      </p:pic>
    </p:spTree>
    <p:extLst>
      <p:ext uri="{BB962C8B-B14F-4D97-AF65-F5344CB8AC3E}">
        <p14:creationId xmlns:p14="http://schemas.microsoft.com/office/powerpoint/2010/main" val="2663558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C390-96ED-9529-7429-3EEAA01C0949}"/>
              </a:ext>
            </a:extLst>
          </p:cNvPr>
          <p:cNvSpPr>
            <a:spLocks noGrp="1"/>
          </p:cNvSpPr>
          <p:nvPr>
            <p:ph type="title"/>
          </p:nvPr>
        </p:nvSpPr>
        <p:spPr/>
        <p:txBody>
          <a:bodyPr/>
          <a:lstStyle/>
          <a:p>
            <a:r>
              <a:rPr lang="en-GB" dirty="0"/>
              <a:t>Learning Objectives</a:t>
            </a:r>
          </a:p>
        </p:txBody>
      </p:sp>
      <p:sp>
        <p:nvSpPr>
          <p:cNvPr id="3" name="Content Placeholder 2">
            <a:extLst>
              <a:ext uri="{FF2B5EF4-FFF2-40B4-BE49-F238E27FC236}">
                <a16:creationId xmlns:a16="http://schemas.microsoft.com/office/drawing/2014/main" id="{F521B3E9-F2EB-C938-82FC-5025F4FEB87F}"/>
              </a:ext>
            </a:extLst>
          </p:cNvPr>
          <p:cNvSpPr>
            <a:spLocks noGrp="1"/>
          </p:cNvSpPr>
          <p:nvPr>
            <p:ph idx="1"/>
          </p:nvPr>
        </p:nvSpPr>
        <p:spPr/>
        <p:txBody>
          <a:bodyPr/>
          <a:lstStyle/>
          <a:p>
            <a:pPr marL="0" indent="0">
              <a:buNone/>
            </a:pPr>
            <a:r>
              <a:rPr lang="en-GB" dirty="0"/>
              <a:t>At the end of this lesson, you will be able to:</a:t>
            </a:r>
          </a:p>
          <a:p>
            <a:r>
              <a:rPr lang="en-GB" dirty="0"/>
              <a:t>define what is an insurance company </a:t>
            </a:r>
          </a:p>
          <a:p>
            <a:r>
              <a:rPr lang="en-GB" dirty="0"/>
              <a:t>describe the fundamentals of insurance</a:t>
            </a:r>
          </a:p>
          <a:p>
            <a:r>
              <a:rPr lang="en-GB" dirty="0"/>
              <a:t>explain how insurance company manages the effect  of information asymmetry</a:t>
            </a:r>
          </a:p>
          <a:p>
            <a:r>
              <a:rPr lang="en-GB" dirty="0"/>
              <a:t>discuss types of insurance</a:t>
            </a:r>
          </a:p>
          <a:p>
            <a:r>
              <a:rPr lang="en-GB" dirty="0"/>
              <a:t>describe challenges faced by insurance companies during GFC and COVID.</a:t>
            </a:r>
          </a:p>
        </p:txBody>
      </p:sp>
    </p:spTree>
    <p:extLst>
      <p:ext uri="{BB962C8B-B14F-4D97-AF65-F5344CB8AC3E}">
        <p14:creationId xmlns:p14="http://schemas.microsoft.com/office/powerpoint/2010/main" val="1669140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ED699-78F8-2C7D-1B63-F80C2EA6CE2F}"/>
              </a:ext>
            </a:extLst>
          </p:cNvPr>
          <p:cNvSpPr>
            <a:spLocks noGrp="1"/>
          </p:cNvSpPr>
          <p:nvPr>
            <p:ph type="title"/>
          </p:nvPr>
        </p:nvSpPr>
        <p:spPr/>
        <p:txBody>
          <a:bodyPr/>
          <a:lstStyle/>
          <a:p>
            <a:r>
              <a:rPr lang="en-GB" dirty="0"/>
              <a:t>Insurance </a:t>
            </a:r>
          </a:p>
        </p:txBody>
      </p:sp>
      <p:sp>
        <p:nvSpPr>
          <p:cNvPr id="3" name="Content Placeholder 2">
            <a:extLst>
              <a:ext uri="{FF2B5EF4-FFF2-40B4-BE49-F238E27FC236}">
                <a16:creationId xmlns:a16="http://schemas.microsoft.com/office/drawing/2014/main" id="{BD99BDDA-064D-E275-C0C3-6B8B9BA380BC}"/>
              </a:ext>
            </a:extLst>
          </p:cNvPr>
          <p:cNvSpPr>
            <a:spLocks noGrp="1"/>
          </p:cNvSpPr>
          <p:nvPr>
            <p:ph idx="1"/>
          </p:nvPr>
        </p:nvSpPr>
        <p:spPr>
          <a:xfrm>
            <a:off x="628650" y="1541417"/>
            <a:ext cx="7886700" cy="4635546"/>
          </a:xfrm>
        </p:spPr>
        <p:txBody>
          <a:bodyPr>
            <a:normAutofit fontScale="85000" lnSpcReduction="20000"/>
          </a:bodyPr>
          <a:lstStyle/>
          <a:p>
            <a:pPr marL="0" indent="0">
              <a:buNone/>
            </a:pPr>
            <a:r>
              <a:rPr lang="en-GB" dirty="0"/>
              <a:t>The primary purpose of insurance is to provide financial protection against loss, not to allow the insured to </a:t>
            </a:r>
            <a:r>
              <a:rPr lang="en-GB" b="1" dirty="0"/>
              <a:t>profit</a:t>
            </a:r>
            <a:r>
              <a:rPr lang="en-GB" dirty="0"/>
              <a:t> or </a:t>
            </a:r>
            <a:r>
              <a:rPr lang="en-GB" b="1" dirty="0"/>
              <a:t>gain financially</a:t>
            </a:r>
            <a:r>
              <a:rPr lang="en-GB" dirty="0"/>
              <a:t> from the event occurring.</a:t>
            </a:r>
          </a:p>
          <a:p>
            <a:endParaRPr lang="en-GB" dirty="0"/>
          </a:p>
          <a:p>
            <a:r>
              <a:rPr lang="en-GB" dirty="0"/>
              <a:t>How It Works:</a:t>
            </a:r>
          </a:p>
          <a:p>
            <a:pPr marL="0" indent="0">
              <a:buNone/>
            </a:pPr>
            <a:r>
              <a:rPr lang="en-GB" dirty="0"/>
              <a:t>- Policyholder buys an insurance policy.</a:t>
            </a:r>
          </a:p>
          <a:p>
            <a:pPr marL="0" indent="0">
              <a:buNone/>
            </a:pPr>
            <a:r>
              <a:rPr lang="en-GB" dirty="0"/>
              <a:t>- Regular premiums are paid to the insurance company.</a:t>
            </a:r>
          </a:p>
          <a:p>
            <a:pPr marL="0" indent="0">
              <a:buNone/>
            </a:pPr>
            <a:r>
              <a:rPr lang="en-GB" dirty="0"/>
              <a:t>- Insurance company provides compensation for covered losses.</a:t>
            </a:r>
          </a:p>
          <a:p>
            <a:r>
              <a:rPr lang="en-GB" dirty="0"/>
              <a:t>Key Components:</a:t>
            </a:r>
          </a:p>
          <a:p>
            <a:pPr marL="0" indent="0">
              <a:buNone/>
            </a:pPr>
            <a:r>
              <a:rPr lang="en-GB" dirty="0"/>
              <a:t>- Risk Pooling: Premiums from many create a fund.</a:t>
            </a:r>
          </a:p>
          <a:p>
            <a:pPr marL="0" indent="0">
              <a:buNone/>
            </a:pPr>
            <a:r>
              <a:rPr lang="en-GB" dirty="0"/>
              <a:t>- Claims: Filed for covered events.</a:t>
            </a:r>
          </a:p>
          <a:p>
            <a:pPr marL="0" indent="0">
              <a:buNone/>
            </a:pPr>
            <a:r>
              <a:rPr lang="en-GB" dirty="0"/>
              <a:t>- Payout: Compensation provided after evaluation.</a:t>
            </a:r>
          </a:p>
          <a:p>
            <a:pPr marL="0" indent="0">
              <a:buNone/>
            </a:pPr>
            <a:endParaRPr lang="en-GB" dirty="0"/>
          </a:p>
          <a:p>
            <a:endParaRPr lang="en-GB" dirty="0"/>
          </a:p>
        </p:txBody>
      </p:sp>
    </p:spTree>
    <p:extLst>
      <p:ext uri="{BB962C8B-B14F-4D97-AF65-F5344CB8AC3E}">
        <p14:creationId xmlns:p14="http://schemas.microsoft.com/office/powerpoint/2010/main" val="968412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Insurance Companies</a:t>
            </a:r>
            <a:endParaRPr lang="en-US" dirty="0"/>
          </a:p>
        </p:txBody>
      </p:sp>
      <p:sp>
        <p:nvSpPr>
          <p:cNvPr id="3" name="Content Placeholder 2"/>
          <p:cNvSpPr>
            <a:spLocks noGrp="1"/>
          </p:cNvSpPr>
          <p:nvPr>
            <p:ph idx="1"/>
          </p:nvPr>
        </p:nvSpPr>
        <p:spPr>
          <a:xfrm>
            <a:off x="628650" y="1436914"/>
            <a:ext cx="7886700" cy="4740049"/>
          </a:xfrm>
        </p:spPr>
        <p:txBody>
          <a:bodyPr>
            <a:noAutofit/>
          </a:bodyPr>
          <a:lstStyle/>
          <a:p>
            <a:r>
              <a:rPr lang="en-US" altLang="en-US" sz="1800" dirty="0">
                <a:ea typeface="ヒラギノ角ゴ Pro W3" pitchFamily="-84" charset="-128"/>
              </a:rPr>
              <a:t>Insurance companies are non-depository financial institutions.</a:t>
            </a:r>
          </a:p>
          <a:p>
            <a:r>
              <a:rPr lang="en-US" altLang="en-US" sz="1800" dirty="0">
                <a:ea typeface="ヒラギノ角ゴ Pro W3" pitchFamily="-84" charset="-128"/>
              </a:rPr>
              <a:t>Like pension funds, they are contractual saving institutions. </a:t>
            </a:r>
          </a:p>
          <a:p>
            <a:r>
              <a:rPr lang="en-GB" altLang="en-US" sz="1800" dirty="0">
                <a:ea typeface="ヒラギノ角ゴ Pro W3" pitchFamily="-84" charset="-128"/>
              </a:rPr>
              <a:t>Insurance is the transfer of a pure risk to an entity that pools the risk of loss and provides payment if a loss occurs. </a:t>
            </a:r>
            <a:endParaRPr lang="en-US" altLang="en-US" sz="1800" dirty="0">
              <a:ea typeface="ヒラギノ角ゴ Pro W3" pitchFamily="-84" charset="-128"/>
            </a:endParaRPr>
          </a:p>
          <a:p>
            <a:r>
              <a:rPr lang="en-US" altLang="en-US" sz="1800" dirty="0">
                <a:ea typeface="ヒラギノ角ゴ Pro W3" pitchFamily="-84" charset="-128"/>
              </a:rPr>
              <a:t>Insurance companies assume the risk of their clients in return for a fee, called the premium.</a:t>
            </a:r>
          </a:p>
          <a:p>
            <a:r>
              <a:rPr lang="en-GB" altLang="en-US" sz="1800" dirty="0">
                <a:ea typeface="ヒラギノ角ゴ Pro W3" pitchFamily="-84" charset="-128"/>
              </a:rPr>
              <a:t>Pooling means that losses suffered by a small number of insureds are spread over the entire group of insureds so insurance purchasers substitute the average loss (a small amount) in place of the uncertainty that they might suffer a large loss.</a:t>
            </a:r>
            <a:endParaRPr lang="en-US" altLang="en-US" sz="1800" dirty="0">
              <a:ea typeface="ヒラギノ角ゴ Pro W3" pitchFamily="-84" charset="-128"/>
            </a:endParaRPr>
          </a:p>
          <a:p>
            <a:r>
              <a:rPr lang="en-US" altLang="en-US" sz="1800" dirty="0">
                <a:ea typeface="ヒラギノ角ゴ Pro W3" pitchFamily="-84" charset="-128"/>
              </a:rPr>
              <a:t>Most people purchase insurance because they are risk-averse - they would rather pay a certainty equivalent (the premium) than accept a gamble.</a:t>
            </a:r>
          </a:p>
          <a:p>
            <a:r>
              <a:rPr lang="en-US" altLang="en-US" sz="1800" dirty="0">
                <a:ea typeface="ヒラギノ角ゴ Pro W3" pitchFamily="-84" charset="-128"/>
              </a:rPr>
              <a:t>People might be tempted to use insurance companies to gamble or speculate on future events. </a:t>
            </a:r>
          </a:p>
          <a:p>
            <a:r>
              <a:rPr lang="en-US" altLang="en-US" sz="1800" dirty="0">
                <a:ea typeface="ヒラギノ角ゴ Pro W3" pitchFamily="-84" charset="-128"/>
              </a:rPr>
              <a:t>Taken to an extreme, this behavior could undermine the ability of insurance companies to protect persons in real need. </a:t>
            </a:r>
          </a:p>
        </p:txBody>
      </p:sp>
    </p:spTree>
    <p:extLst>
      <p:ext uri="{BB962C8B-B14F-4D97-AF65-F5344CB8AC3E}">
        <p14:creationId xmlns:p14="http://schemas.microsoft.com/office/powerpoint/2010/main" val="58846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315911"/>
          </a:xfrm>
        </p:spPr>
        <p:txBody>
          <a:bodyPr>
            <a:normAutofit fontScale="90000"/>
          </a:bodyPr>
          <a:lstStyle/>
          <a:p>
            <a:r>
              <a:rPr lang="en-US" altLang="en-US" dirty="0">
                <a:ea typeface="ヒラギノ角ゴ Pro W3" pitchFamily="-84" charset="-128"/>
              </a:rPr>
              <a:t>Fundamentals of Insurance</a:t>
            </a:r>
            <a:endParaRPr lang="en-US" dirty="0"/>
          </a:p>
        </p:txBody>
      </p:sp>
      <p:sp>
        <p:nvSpPr>
          <p:cNvPr id="3" name="Content Placeholder 2"/>
          <p:cNvSpPr>
            <a:spLocks noGrp="1"/>
          </p:cNvSpPr>
          <p:nvPr>
            <p:ph idx="1"/>
          </p:nvPr>
        </p:nvSpPr>
        <p:spPr>
          <a:xfrm>
            <a:off x="628650" y="1414272"/>
            <a:ext cx="7886700" cy="4762691"/>
          </a:xfrm>
        </p:spPr>
        <p:txBody>
          <a:bodyPr/>
          <a:lstStyle/>
          <a:p>
            <a:pPr marL="0" indent="0">
              <a:buNone/>
            </a:pPr>
            <a:r>
              <a:rPr lang="en-GB" altLang="en-US" sz="1800" dirty="0">
                <a:ea typeface="ヒラギノ角ゴ Pro W3" pitchFamily="-84" charset="-128"/>
              </a:rPr>
              <a:t>In order to maintain the integrity of insurance process, all types of insurance are subject to certain basic principles:</a:t>
            </a:r>
          </a:p>
          <a:p>
            <a:pPr marL="342900" indent="-342900">
              <a:buFont typeface="+mj-lt"/>
              <a:buAutoNum type="arabicPeriod"/>
            </a:pPr>
            <a:endParaRPr lang="en-US" altLang="en-US" sz="1800" dirty="0">
              <a:ea typeface="ヒラギノ角ゴ Pro W3" pitchFamily="-84" charset="-128"/>
            </a:endParaRPr>
          </a:p>
          <a:p>
            <a:pPr marL="342900" indent="-342900">
              <a:buFont typeface="+mj-lt"/>
              <a:buAutoNum type="arabicPeriod"/>
            </a:pPr>
            <a:r>
              <a:rPr lang="en-US" altLang="en-US" sz="1800" dirty="0">
                <a:ea typeface="ヒラギノ角ゴ Pro W3" pitchFamily="-84" charset="-128"/>
              </a:rPr>
              <a:t>There must be a relationship between the insured (the party covered by insurance) and the beneficiary (the party who receives the payment should a loss occur). (avoid people form buying insurance as a form of gambling)</a:t>
            </a:r>
          </a:p>
          <a:p>
            <a:pPr marL="342900" indent="-342900">
              <a:buFont typeface="+mj-lt"/>
              <a:buAutoNum type="arabicPeriod"/>
            </a:pPr>
            <a:endParaRPr lang="en-US" altLang="en-US" sz="1800" dirty="0">
              <a:ea typeface="ヒラギノ角ゴ Pro W3" pitchFamily="-84" charset="-128"/>
            </a:endParaRPr>
          </a:p>
          <a:p>
            <a:pPr marL="342900" indent="-342900">
              <a:buFont typeface="+mj-lt"/>
              <a:buAutoNum type="arabicPeriod"/>
            </a:pPr>
            <a:r>
              <a:rPr lang="en-US" altLang="en-US" sz="1800" dirty="0">
                <a:ea typeface="ヒラギノ角ゴ Pro W3" pitchFamily="-84" charset="-128"/>
              </a:rPr>
              <a:t>The insured must provide full and accurate information to the insurance company.</a:t>
            </a:r>
          </a:p>
          <a:p>
            <a:pPr marL="342900" indent="-342900">
              <a:buFont typeface="+mj-lt"/>
              <a:buAutoNum type="arabicPeriod"/>
            </a:pPr>
            <a:endParaRPr lang="en-US" altLang="en-US" sz="1800" dirty="0">
              <a:ea typeface="ヒラギノ角ゴ Pro W3" pitchFamily="-84" charset="-128"/>
            </a:endParaRPr>
          </a:p>
          <a:p>
            <a:pPr marL="342900" indent="-342900">
              <a:buFont typeface="+mj-lt"/>
              <a:buAutoNum type="arabicPeriod"/>
            </a:pPr>
            <a:r>
              <a:rPr lang="en-US" altLang="en-US" sz="1800" dirty="0">
                <a:ea typeface="ヒラギノ角ゴ Pro W3" pitchFamily="-84" charset="-128"/>
              </a:rPr>
              <a:t>The insured is not to profit as a result of insurance coverage.</a:t>
            </a:r>
          </a:p>
          <a:p>
            <a:pPr marL="342900" indent="-342900">
              <a:buFont typeface="+mj-lt"/>
              <a:buAutoNum type="arabicPeriod"/>
            </a:pPr>
            <a:endParaRPr lang="en-US" altLang="en-US" sz="1800" dirty="0">
              <a:ea typeface="ヒラギノ角ゴ Pro W3" pitchFamily="-84" charset="-128"/>
            </a:endParaRPr>
          </a:p>
          <a:p>
            <a:pPr marL="342900" indent="-342900">
              <a:buFont typeface="+mj-lt"/>
              <a:buAutoNum type="arabicPeriod"/>
            </a:pPr>
            <a:r>
              <a:rPr lang="en-US" altLang="en-US" sz="1800" dirty="0">
                <a:ea typeface="ヒラギノ角ゴ Pro W3" pitchFamily="-84" charset="-128"/>
              </a:rPr>
              <a:t>If a third party compensates the insured for the loss, the insurance company</a:t>
            </a:r>
            <a:r>
              <a:rPr lang="ja-JP" altLang="en-US" sz="1800" dirty="0"/>
              <a:t>’</a:t>
            </a:r>
            <a:r>
              <a:rPr lang="en-US" altLang="ja-JP" sz="1800" dirty="0">
                <a:ea typeface="ヒラギノ角ゴ Pro W3" pitchFamily="-84" charset="-128"/>
              </a:rPr>
              <a:t>s obligation is reduced by the amount of the compensation.</a:t>
            </a:r>
            <a:endParaRPr lang="en-US" sz="1800" dirty="0"/>
          </a:p>
        </p:txBody>
      </p:sp>
    </p:spTree>
    <p:extLst>
      <p:ext uri="{BB962C8B-B14F-4D97-AF65-F5344CB8AC3E}">
        <p14:creationId xmlns:p14="http://schemas.microsoft.com/office/powerpoint/2010/main" val="984270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Fundamentals of Insurance</a:t>
            </a:r>
            <a:endParaRPr lang="en-US" dirty="0"/>
          </a:p>
        </p:txBody>
      </p:sp>
      <p:sp>
        <p:nvSpPr>
          <p:cNvPr id="3" name="Content Placeholder 2"/>
          <p:cNvSpPr>
            <a:spLocks noGrp="1"/>
          </p:cNvSpPr>
          <p:nvPr>
            <p:ph idx="1"/>
          </p:nvPr>
        </p:nvSpPr>
        <p:spPr/>
        <p:txBody>
          <a:bodyPr/>
          <a:lstStyle/>
          <a:p>
            <a:pPr marL="301752" indent="-301752">
              <a:buFontTx/>
              <a:buAutoNum type="arabicPeriod" startAt="5"/>
            </a:pPr>
            <a:r>
              <a:rPr lang="en-US" altLang="en-US" sz="1800" dirty="0">
                <a:ea typeface="ヒラギノ角ゴ Pro W3" pitchFamily="-84" charset="-128"/>
              </a:rPr>
              <a:t>The insurance company must have a large number of insured so that the risk can be spread out among many different policies.</a:t>
            </a:r>
          </a:p>
          <a:p>
            <a:pPr marL="301752" indent="-301752">
              <a:buFontTx/>
              <a:buAutoNum type="arabicPeriod" startAt="5"/>
            </a:pPr>
            <a:endParaRPr lang="en-US" altLang="en-US" sz="1800" dirty="0">
              <a:ea typeface="ヒラギノ角ゴ Pro W3" pitchFamily="-84" charset="-128"/>
            </a:endParaRPr>
          </a:p>
          <a:p>
            <a:pPr marL="301752" indent="-301752">
              <a:buFontTx/>
              <a:buAutoNum type="arabicPeriod" startAt="5"/>
            </a:pPr>
            <a:endParaRPr lang="en-US" altLang="en-US" sz="1800" dirty="0">
              <a:ea typeface="ヒラギノ角ゴ Pro W3" pitchFamily="-84" charset="-128"/>
            </a:endParaRPr>
          </a:p>
          <a:p>
            <a:pPr marL="301752" indent="-301752">
              <a:buFontTx/>
              <a:buAutoNum type="arabicPeriod" startAt="5"/>
            </a:pPr>
            <a:r>
              <a:rPr lang="en-US" altLang="en-US" sz="1800" dirty="0">
                <a:ea typeface="ヒラギノ角ゴ Pro W3" pitchFamily="-84" charset="-128"/>
              </a:rPr>
              <a:t>The loss must be quantifiable. For example, </a:t>
            </a:r>
            <a:r>
              <a:rPr lang="en-US" altLang="en-US" sz="1800" dirty="0" err="1">
                <a:ea typeface="ヒラギノ角ゴ Pro W3" pitchFamily="-84" charset="-128"/>
              </a:rPr>
              <a:t>i</a:t>
            </a:r>
            <a:r>
              <a:rPr lang="en-GB" sz="1800" dirty="0"/>
              <a:t>n health insurance, the loss is quantified based on medical expenses incurred due to illness or injury. </a:t>
            </a:r>
            <a:endParaRPr lang="en-US" altLang="en-US" sz="1800" dirty="0">
              <a:ea typeface="ヒラギノ角ゴ Pro W3" pitchFamily="-84" charset="-128"/>
            </a:endParaRPr>
          </a:p>
          <a:p>
            <a:pPr marL="301752" indent="-301752">
              <a:buFontTx/>
              <a:buAutoNum type="arabicPeriod" startAt="5"/>
            </a:pPr>
            <a:endParaRPr lang="en-US" altLang="en-US" sz="1800" dirty="0">
              <a:ea typeface="ヒラギノ角ゴ Pro W3" pitchFamily="-84" charset="-128"/>
            </a:endParaRPr>
          </a:p>
          <a:p>
            <a:pPr marL="301752" indent="-301752">
              <a:buFontTx/>
              <a:buAutoNum type="arabicPeriod" startAt="5"/>
            </a:pPr>
            <a:endParaRPr lang="en-US" altLang="en-US" sz="1800" dirty="0">
              <a:ea typeface="ヒラギノ角ゴ Pro W3" pitchFamily="-84" charset="-128"/>
            </a:endParaRPr>
          </a:p>
          <a:p>
            <a:pPr marL="301752" indent="-301752">
              <a:buFontTx/>
              <a:buAutoNum type="arabicPeriod" startAt="5"/>
            </a:pPr>
            <a:r>
              <a:rPr lang="en-US" altLang="en-US" sz="1800" dirty="0">
                <a:ea typeface="ヒラギノ角ゴ Pro W3" pitchFamily="-84" charset="-128"/>
              </a:rPr>
              <a:t>The insurance company must be able to compute the probability of the loss</a:t>
            </a:r>
            <a:r>
              <a:rPr lang="ja-JP" altLang="en-US" sz="1800" dirty="0"/>
              <a:t>’</a:t>
            </a:r>
            <a:r>
              <a:rPr lang="en-US" altLang="ja-JP" sz="1800" dirty="0">
                <a:ea typeface="ヒラギノ角ゴ Pro W3" pitchFamily="-84" charset="-128"/>
              </a:rPr>
              <a:t>s occurring.</a:t>
            </a:r>
            <a:endParaRPr lang="en-US" sz="1800" dirty="0"/>
          </a:p>
        </p:txBody>
      </p:sp>
    </p:spTree>
    <p:extLst>
      <p:ext uri="{BB962C8B-B14F-4D97-AF65-F5344CB8AC3E}">
        <p14:creationId xmlns:p14="http://schemas.microsoft.com/office/powerpoint/2010/main" val="126130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226" y="18255"/>
            <a:ext cx="7886700" cy="1325563"/>
          </a:xfrm>
        </p:spPr>
        <p:txBody>
          <a:bodyPr>
            <a:normAutofit/>
          </a:bodyPr>
          <a:lstStyle/>
          <a:p>
            <a:r>
              <a:rPr lang="en-US" altLang="en-US" sz="2800" dirty="0">
                <a:ea typeface="ヒラギノ角ゴ Pro W3" pitchFamily="-84" charset="-128"/>
              </a:rPr>
              <a:t>Information Asymmetry problems in insurance</a:t>
            </a:r>
            <a:endParaRPr lang="en-US" sz="2800" dirty="0"/>
          </a:p>
        </p:txBody>
      </p:sp>
      <p:sp>
        <p:nvSpPr>
          <p:cNvPr id="3" name="Content Placeholder 2"/>
          <p:cNvSpPr>
            <a:spLocks noGrp="1"/>
          </p:cNvSpPr>
          <p:nvPr>
            <p:ph idx="1"/>
          </p:nvPr>
        </p:nvSpPr>
        <p:spPr>
          <a:xfrm>
            <a:off x="628650" y="1146048"/>
            <a:ext cx="7886700" cy="5030915"/>
          </a:xfrm>
        </p:spPr>
        <p:txBody>
          <a:bodyPr>
            <a:normAutofit fontScale="85000" lnSpcReduction="10000"/>
          </a:bodyPr>
          <a:lstStyle/>
          <a:p>
            <a:pPr marL="0" indent="0">
              <a:buNone/>
            </a:pPr>
            <a:r>
              <a:rPr lang="en-US" sz="1800" dirty="0">
                <a:ea typeface="ヒラギノ角ゴ Pro W3" pitchFamily="-84" charset="-128"/>
              </a:rPr>
              <a:t>Despite these principles, insurance business is prone to “information asymmetry” problems. </a:t>
            </a:r>
          </a:p>
          <a:p>
            <a:pPr marL="0" indent="0">
              <a:buNone/>
            </a:pPr>
            <a:r>
              <a:rPr lang="en-US" altLang="en-US" sz="1800" dirty="0"/>
              <a:t>	i.e. situations where one party knows more than the other</a:t>
            </a:r>
          </a:p>
          <a:p>
            <a:pPr marL="0" indent="0">
              <a:buNone/>
              <a:defRPr/>
            </a:pPr>
            <a:r>
              <a:rPr lang="en-US" sz="1800" dirty="0">
                <a:ea typeface="ヒラギノ角ゴ Pro W3" pitchFamily="-84" charset="-128"/>
              </a:rPr>
              <a:t>In general, t</a:t>
            </a:r>
            <a:r>
              <a:rPr lang="en-US" sz="1800" dirty="0"/>
              <a:t>here are two types of these problems:</a:t>
            </a:r>
          </a:p>
          <a:p>
            <a:pPr marL="0" indent="0">
              <a:buNone/>
              <a:defRPr/>
            </a:pPr>
            <a:endParaRPr lang="en-US" sz="1800" dirty="0"/>
          </a:p>
          <a:p>
            <a:pPr marL="0" indent="0">
              <a:buNone/>
              <a:defRPr/>
            </a:pPr>
            <a:r>
              <a:rPr lang="en-US" sz="1800" dirty="0"/>
              <a:t>1</a:t>
            </a:r>
            <a:r>
              <a:rPr lang="en-US" sz="1800" baseline="30000" dirty="0"/>
              <a:t>st</a:t>
            </a:r>
            <a:r>
              <a:rPr lang="en-US" sz="1800" dirty="0"/>
              <a:t> type- </a:t>
            </a:r>
            <a:r>
              <a:rPr lang="en-US" sz="1800" b="1" dirty="0"/>
              <a:t>Adverse selection</a:t>
            </a:r>
            <a:r>
              <a:rPr lang="en-US" sz="1800" dirty="0"/>
              <a:t>: </a:t>
            </a:r>
            <a:r>
              <a:rPr lang="en-US" altLang="en-US" sz="1800" dirty="0"/>
              <a:t>unobservable characteristics of a person (or a product)</a:t>
            </a:r>
          </a:p>
          <a:p>
            <a:pPr marL="0" indent="0">
              <a:buNone/>
              <a:defRPr/>
            </a:pPr>
            <a:endParaRPr lang="en-US" altLang="en-US" sz="1800" dirty="0"/>
          </a:p>
          <a:p>
            <a:pPr marL="0" indent="0">
              <a:buNone/>
              <a:defRPr/>
            </a:pPr>
            <a:r>
              <a:rPr lang="en-US" altLang="en-US" sz="1800" dirty="0"/>
              <a:t>Examples:</a:t>
            </a:r>
          </a:p>
          <a:p>
            <a:pPr>
              <a:defRPr/>
            </a:pPr>
            <a:r>
              <a:rPr lang="en-US" altLang="en-US" sz="1800" dirty="0"/>
              <a:t>In the used car market, the owner has more accurate information about the quality of a car than the buyer  </a:t>
            </a:r>
          </a:p>
          <a:p>
            <a:pPr>
              <a:defRPr/>
            </a:pPr>
            <a:r>
              <a:rPr lang="en-US" altLang="en-US" sz="1800" dirty="0"/>
              <a:t>In the credit market, a borrower has more accurate information on their own risk of default than the lender. </a:t>
            </a:r>
          </a:p>
          <a:p>
            <a:pPr>
              <a:defRPr/>
            </a:pPr>
            <a:r>
              <a:rPr lang="en-US" altLang="en-US" sz="1800" dirty="0"/>
              <a:t>In the insurance market, those</a:t>
            </a:r>
            <a:r>
              <a:rPr lang="en-US" sz="1800" dirty="0"/>
              <a:t> most likely to suffer loss are most likely to apply for insurance</a:t>
            </a:r>
          </a:p>
          <a:p>
            <a:pPr lvl="1">
              <a:defRPr/>
            </a:pPr>
            <a:r>
              <a:rPr lang="en-US" altLang="en-US" sz="1600" dirty="0"/>
              <a:t>In the extreme, insurance companies should turn anyone who applies for an insurance policy.</a:t>
            </a:r>
          </a:p>
          <a:p>
            <a:pPr marL="0" indent="0">
              <a:buNone/>
              <a:defRPr/>
            </a:pPr>
            <a:endParaRPr lang="en-US" sz="1800" dirty="0"/>
          </a:p>
          <a:p>
            <a:pPr marL="0" indent="0">
              <a:buNone/>
              <a:defRPr/>
            </a:pPr>
            <a:r>
              <a:rPr lang="en-US" sz="1800" dirty="0"/>
              <a:t>However, insurance companies have found reasonable solutions to deal with this problem:</a:t>
            </a:r>
          </a:p>
          <a:p>
            <a:pPr>
              <a:buFont typeface="Arial"/>
              <a:buChar char="•"/>
              <a:defRPr/>
            </a:pPr>
            <a:r>
              <a:rPr lang="en-US" sz="1800" dirty="0"/>
              <a:t>Health insurance policies require a physical exam and preexisting conditions may be excluded from the policy.</a:t>
            </a:r>
          </a:p>
          <a:p>
            <a:pPr marL="0" indent="0">
              <a:buNone/>
              <a:defRPr/>
            </a:pPr>
            <a:endParaRPr lang="en-US" sz="1800" dirty="0"/>
          </a:p>
          <a:p>
            <a:pPr marL="0" indent="0">
              <a:buNone/>
              <a:defRPr/>
            </a:pPr>
            <a:endParaRPr lang="en-US" sz="1800" dirty="0"/>
          </a:p>
          <a:p>
            <a:endParaRPr lang="en-US" sz="1800" dirty="0"/>
          </a:p>
        </p:txBody>
      </p:sp>
    </p:spTree>
    <p:extLst>
      <p:ext uri="{BB962C8B-B14F-4D97-AF65-F5344CB8AC3E}">
        <p14:creationId xmlns:p14="http://schemas.microsoft.com/office/powerpoint/2010/main" val="135609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226" y="18255"/>
            <a:ext cx="7886700" cy="1325563"/>
          </a:xfrm>
        </p:spPr>
        <p:txBody>
          <a:bodyPr>
            <a:normAutofit/>
          </a:bodyPr>
          <a:lstStyle/>
          <a:p>
            <a:r>
              <a:rPr lang="en-US" altLang="en-US" sz="2800" dirty="0">
                <a:ea typeface="ヒラギノ角ゴ Pro W3" pitchFamily="-84" charset="-128"/>
              </a:rPr>
              <a:t>Adverse Selection and Moral Hazard in Insurance</a:t>
            </a:r>
            <a:endParaRPr lang="en-US" sz="2800" dirty="0"/>
          </a:p>
        </p:txBody>
      </p:sp>
      <p:sp>
        <p:nvSpPr>
          <p:cNvPr id="3" name="Content Placeholder 2"/>
          <p:cNvSpPr>
            <a:spLocks noGrp="1"/>
          </p:cNvSpPr>
          <p:nvPr>
            <p:ph idx="1"/>
          </p:nvPr>
        </p:nvSpPr>
        <p:spPr>
          <a:xfrm>
            <a:off x="628650" y="1146048"/>
            <a:ext cx="7886700" cy="5030915"/>
          </a:xfrm>
        </p:spPr>
        <p:txBody>
          <a:bodyPr>
            <a:normAutofit/>
          </a:bodyPr>
          <a:lstStyle/>
          <a:p>
            <a:pPr marL="0" indent="0">
              <a:buNone/>
              <a:defRPr/>
            </a:pPr>
            <a:endParaRPr lang="en-US" sz="1800" dirty="0"/>
          </a:p>
          <a:p>
            <a:pPr marL="0" indent="0">
              <a:buNone/>
              <a:defRPr/>
            </a:pPr>
            <a:r>
              <a:rPr lang="en-US" sz="1800" dirty="0"/>
              <a:t>2</a:t>
            </a:r>
            <a:r>
              <a:rPr lang="en-US" sz="1800" baseline="30000" dirty="0"/>
              <a:t>nd</a:t>
            </a:r>
            <a:r>
              <a:rPr lang="en-US" sz="1800" dirty="0"/>
              <a:t> type of information asymmetry problem:</a:t>
            </a:r>
          </a:p>
          <a:p>
            <a:pPr marL="0" indent="0">
              <a:buNone/>
              <a:defRPr/>
            </a:pPr>
            <a:r>
              <a:rPr lang="en-US" sz="1800" b="1" dirty="0"/>
              <a:t>Moral hazard</a:t>
            </a:r>
            <a:r>
              <a:rPr lang="en-US" sz="1800" dirty="0"/>
              <a:t>: </a:t>
            </a:r>
            <a:r>
              <a:rPr lang="en-US" altLang="en-US" sz="1800" dirty="0"/>
              <a:t>unobservable/unexpected  actions of a person</a:t>
            </a:r>
            <a:endParaRPr lang="en-US" sz="1800" dirty="0"/>
          </a:p>
          <a:p>
            <a:pPr>
              <a:buFont typeface="Arial"/>
              <a:buChar char="•"/>
              <a:defRPr/>
            </a:pPr>
            <a:endParaRPr lang="en-US" sz="1800" dirty="0"/>
          </a:p>
          <a:p>
            <a:pPr marL="0" indent="0">
              <a:buNone/>
              <a:defRPr/>
            </a:pPr>
            <a:r>
              <a:rPr lang="en-US" sz="1800" dirty="0"/>
              <a:t>Moral hazard occurs in the insurance industry when the insured fails to take proper precautions (or takes on more risk) to avoid losses because losses are covered by the insurance policy.</a:t>
            </a:r>
          </a:p>
          <a:p>
            <a:pPr>
              <a:buFont typeface="Arial"/>
              <a:buChar char="•"/>
              <a:defRPr/>
            </a:pPr>
            <a:r>
              <a:rPr lang="en-US" sz="1800" dirty="0"/>
              <a:t>Insurance companies use deductibles and co-insurance to help control this problem.</a:t>
            </a:r>
          </a:p>
          <a:p>
            <a:pPr>
              <a:buFont typeface="Arial"/>
              <a:buChar char="•"/>
              <a:defRPr/>
            </a:pPr>
            <a:endParaRPr lang="en-US" sz="1800" dirty="0"/>
          </a:p>
          <a:p>
            <a:endParaRPr lang="en-US" sz="1800" dirty="0"/>
          </a:p>
        </p:txBody>
      </p:sp>
    </p:spTree>
    <p:extLst>
      <p:ext uri="{BB962C8B-B14F-4D97-AF65-F5344CB8AC3E}">
        <p14:creationId xmlns:p14="http://schemas.microsoft.com/office/powerpoint/2010/main" val="423372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800" dirty="0">
                <a:ea typeface="ヒラギノ角ゴ Pro W3" pitchFamily="-84" charset="-128"/>
              </a:rPr>
              <a:t>How do insurance companies manage the potential problem of information asymmetries</a:t>
            </a:r>
            <a:endParaRPr lang="en-US" sz="2800" dirty="0"/>
          </a:p>
        </p:txBody>
      </p:sp>
      <p:sp>
        <p:nvSpPr>
          <p:cNvPr id="3" name="Content Placeholder 2"/>
          <p:cNvSpPr>
            <a:spLocks noGrp="1"/>
          </p:cNvSpPr>
          <p:nvPr>
            <p:ph idx="1"/>
          </p:nvPr>
        </p:nvSpPr>
        <p:spPr/>
        <p:txBody>
          <a:bodyPr>
            <a:normAutofit fontScale="92500" lnSpcReduction="10000"/>
          </a:bodyPr>
          <a:lstStyle/>
          <a:p>
            <a:pPr marL="0" indent="0">
              <a:buNone/>
            </a:pPr>
            <a:r>
              <a:rPr lang="en-GB" sz="1800" dirty="0"/>
              <a:t>Many management practices specific to the insurance industry are designed to tackle information asymmetry problems. </a:t>
            </a:r>
          </a:p>
          <a:p>
            <a:pPr marL="0" indent="0">
              <a:buNone/>
            </a:pPr>
            <a:endParaRPr lang="en-US" altLang="en-US" sz="1800" dirty="0">
              <a:ea typeface="ヒラギノ角ゴ Pro W3" pitchFamily="-84" charset="-128"/>
            </a:endParaRPr>
          </a:p>
          <a:p>
            <a:r>
              <a:rPr lang="en-US" altLang="en-US" sz="1800" dirty="0">
                <a:ea typeface="ヒラギノ角ゴ Pro W3" pitchFamily="-84" charset="-128"/>
              </a:rPr>
              <a:t>Screening - t</a:t>
            </a:r>
            <a:r>
              <a:rPr lang="en-GB" sz="1800" dirty="0"/>
              <a:t>o reduce adverse selection, insurance companies try to screen out poor insurance risks from good ones (</a:t>
            </a:r>
            <a:r>
              <a:rPr lang="en-GB" sz="1800" dirty="0" err="1"/>
              <a:t>eg</a:t>
            </a:r>
            <a:r>
              <a:rPr lang="en-GB" sz="1800" dirty="0"/>
              <a:t>: medical screening required before buying health insurance)</a:t>
            </a:r>
            <a:endParaRPr lang="en-US" altLang="en-US" sz="1800" dirty="0">
              <a:ea typeface="ヒラギノ角ゴ Pro W3" pitchFamily="-84" charset="-128"/>
            </a:endParaRPr>
          </a:p>
          <a:p>
            <a:r>
              <a:rPr lang="en-US" altLang="en-US" sz="1800" dirty="0">
                <a:ea typeface="ヒラギノ角ゴ Pro W3" pitchFamily="-84" charset="-128"/>
              </a:rPr>
              <a:t>Risk-Based Premium – to reduce adverse selection; c</a:t>
            </a:r>
            <a:r>
              <a:rPr lang="en-GB" sz="1800" dirty="0" err="1"/>
              <a:t>harge</a:t>
            </a:r>
            <a:r>
              <a:rPr lang="en-GB" sz="1800" dirty="0"/>
              <a:t> insurance premiums based on how much risk a policyholder poses for the insurance company (</a:t>
            </a:r>
            <a:r>
              <a:rPr lang="en-GB" sz="1800" dirty="0" err="1"/>
              <a:t>eg</a:t>
            </a:r>
            <a:r>
              <a:rPr lang="en-GB" sz="1800" dirty="0"/>
              <a:t>: younger drivers pay higher premium)</a:t>
            </a:r>
            <a:endParaRPr lang="en-US" altLang="en-US" sz="1800" dirty="0">
              <a:ea typeface="ヒラギノ角ゴ Pro W3" pitchFamily="-84" charset="-128"/>
            </a:endParaRPr>
          </a:p>
          <a:p>
            <a:r>
              <a:rPr lang="en-US" altLang="en-US" sz="1800" dirty="0">
                <a:ea typeface="ヒラギノ角ゴ Pro W3" pitchFamily="-84" charset="-128"/>
              </a:rPr>
              <a:t>Restrictive Provisions – to reduce moral hazard; </a:t>
            </a:r>
            <a:r>
              <a:rPr lang="en-GB" sz="1800" dirty="0"/>
              <a:t>provisions discourage policyholders from engaging in risky activities that make an insurance claim more likely (</a:t>
            </a:r>
            <a:r>
              <a:rPr lang="en-GB" sz="1800" dirty="0" err="1"/>
              <a:t>eg</a:t>
            </a:r>
            <a:r>
              <a:rPr lang="en-GB" sz="1800" dirty="0"/>
              <a:t>: life insurance does not cover for suicide)</a:t>
            </a:r>
            <a:endParaRPr lang="en-US" altLang="en-US" sz="1800" dirty="0">
              <a:ea typeface="ヒラギノ角ゴ Pro W3" pitchFamily="-84" charset="-128"/>
            </a:endParaRPr>
          </a:p>
          <a:p>
            <a:r>
              <a:rPr lang="en-US" altLang="en-US" sz="1800" dirty="0">
                <a:ea typeface="ヒラギノ角ゴ Pro W3" pitchFamily="-84" charset="-128"/>
              </a:rPr>
              <a:t>Prevention of Fraud – to reduce moral hazard; </a:t>
            </a:r>
            <a:r>
              <a:rPr lang="en-GB" sz="1800" dirty="0"/>
              <a:t>conducting investigations to prevent fraud so that only policyholders with valid claims receive compensation (</a:t>
            </a:r>
            <a:r>
              <a:rPr lang="en-GB" sz="1800" dirty="0" err="1"/>
              <a:t>eg</a:t>
            </a:r>
            <a:r>
              <a:rPr lang="en-GB" sz="1800" dirty="0"/>
              <a:t>: a person who has not complied with the restrictive provisions of an insurance contract may still submit claim – driving under the influence of alcohol)</a:t>
            </a:r>
            <a:endParaRPr lang="en-US" altLang="en-US" sz="1800" dirty="0">
              <a:ea typeface="ヒラギノ角ゴ Pro W3" pitchFamily="-84" charset="-128"/>
            </a:endParaRPr>
          </a:p>
        </p:txBody>
      </p:sp>
    </p:spTree>
    <p:extLst>
      <p:ext uri="{BB962C8B-B14F-4D97-AF65-F5344CB8AC3E}">
        <p14:creationId xmlns:p14="http://schemas.microsoft.com/office/powerpoint/2010/main" val="154435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800" dirty="0">
                <a:ea typeface="ヒラギノ角ゴ Pro W3" pitchFamily="-84" charset="-128"/>
              </a:rPr>
              <a:t>How do insurance companies manage the potential problem of information asymmetries</a:t>
            </a:r>
            <a:endParaRPr lang="en-US" sz="2800" dirty="0"/>
          </a:p>
        </p:txBody>
      </p:sp>
      <p:sp>
        <p:nvSpPr>
          <p:cNvPr id="3" name="Content Placeholder 2"/>
          <p:cNvSpPr>
            <a:spLocks noGrp="1"/>
          </p:cNvSpPr>
          <p:nvPr>
            <p:ph idx="1"/>
          </p:nvPr>
        </p:nvSpPr>
        <p:spPr/>
        <p:txBody>
          <a:bodyPr>
            <a:normAutofit fontScale="92500" lnSpcReduction="10000"/>
          </a:bodyPr>
          <a:lstStyle/>
          <a:p>
            <a:pPr marL="0" indent="0">
              <a:buNone/>
            </a:pPr>
            <a:r>
              <a:rPr lang="en-GB" sz="1800" dirty="0"/>
              <a:t>Many management practices specific to the insurance industry are designed to tackle information asymmetry problems. </a:t>
            </a:r>
          </a:p>
          <a:p>
            <a:pPr marL="0" indent="0">
              <a:buNone/>
            </a:pPr>
            <a:endParaRPr lang="en-US" altLang="en-US" sz="1800" dirty="0">
              <a:ea typeface="ヒラギノ角ゴ Pro W3" pitchFamily="-84" charset="-128"/>
            </a:endParaRPr>
          </a:p>
          <a:p>
            <a:r>
              <a:rPr lang="en-US" altLang="en-US" sz="1800" dirty="0">
                <a:ea typeface="ヒラギノ角ゴ Pro W3" pitchFamily="-84" charset="-128"/>
              </a:rPr>
              <a:t>Cancellations of Insurance – to reduce </a:t>
            </a:r>
            <a:r>
              <a:rPr lang="en-GB" sz="1800" dirty="0"/>
              <a:t>moral hazard; threaten to cancel a policy when the insured person engages in risky activities (</a:t>
            </a:r>
            <a:r>
              <a:rPr lang="en-GB" sz="1800" dirty="0" err="1"/>
              <a:t>eg</a:t>
            </a:r>
            <a:r>
              <a:rPr lang="en-GB" sz="1800" dirty="0"/>
              <a:t>: auto insurance company may cancel coverage if a driver gets too many speeding tickets)</a:t>
            </a:r>
          </a:p>
          <a:p>
            <a:r>
              <a:rPr lang="en-US" altLang="en-US" sz="1800" dirty="0">
                <a:ea typeface="ヒラギノ角ゴ Pro W3" pitchFamily="-84" charset="-128"/>
              </a:rPr>
              <a:t>Deductibles – to reduce moral hazard; </a:t>
            </a:r>
            <a:r>
              <a:rPr lang="en-GB" sz="1800" dirty="0"/>
              <a:t>deductible is the fixed amount by which the insured’s loss is reduced when a claim is paid off (</a:t>
            </a:r>
            <a:r>
              <a:rPr lang="en-GB" sz="1800" dirty="0" err="1"/>
              <a:t>eg</a:t>
            </a:r>
            <a:r>
              <a:rPr lang="en-GB" sz="1800" dirty="0"/>
              <a:t>: a £250 deductibles on an auto policy means that when the claim is £1000, the insurance company will pay you only £750)</a:t>
            </a:r>
            <a:endParaRPr lang="en-US" altLang="en-US" sz="1800" dirty="0">
              <a:ea typeface="ヒラギノ角ゴ Pro W3" pitchFamily="-84" charset="-128"/>
            </a:endParaRPr>
          </a:p>
          <a:p>
            <a:r>
              <a:rPr lang="en-US" altLang="en-US" sz="1800" dirty="0">
                <a:ea typeface="ヒラギノ角ゴ Pro W3" pitchFamily="-84" charset="-128"/>
              </a:rPr>
              <a:t>Coinsurance – to reduce moral hazard; </a:t>
            </a:r>
            <a:r>
              <a:rPr lang="en-GB" sz="1800" dirty="0"/>
              <a:t>a policyholder shares a percentage of the losses along with the insurance company (</a:t>
            </a:r>
            <a:r>
              <a:rPr lang="en-GB" sz="1800" dirty="0" err="1"/>
              <a:t>eg</a:t>
            </a:r>
            <a:r>
              <a:rPr lang="en-GB" sz="1800" dirty="0"/>
              <a:t>: medical insurance plans provide coverage for 80% of medical bills, and the insured person pays 20%)</a:t>
            </a:r>
            <a:endParaRPr lang="en-US" altLang="en-US" sz="1800" dirty="0">
              <a:ea typeface="ヒラギノ角ゴ Pro W3" pitchFamily="-84" charset="-128"/>
            </a:endParaRPr>
          </a:p>
          <a:p>
            <a:r>
              <a:rPr lang="en-US" altLang="en-US" sz="1800" dirty="0">
                <a:ea typeface="ヒラギノ角ゴ Pro W3" pitchFamily="-84" charset="-128"/>
              </a:rPr>
              <a:t>Limits on the Amount of Insurance – to reduce moral hazard; t</a:t>
            </a:r>
            <a:r>
              <a:rPr lang="en-GB" sz="1800" dirty="0"/>
              <a:t>he higher the insurance coverage, the more the insured person can gain from risky activities that make an insurance claim more likely (</a:t>
            </a:r>
            <a:r>
              <a:rPr lang="en-GB" sz="1800" dirty="0" err="1"/>
              <a:t>eg</a:t>
            </a:r>
            <a:r>
              <a:rPr lang="en-GB" sz="1800" dirty="0"/>
              <a:t>: if a car is insured for more than its true value, the owner will not take proper precautions to prevent its theft).</a:t>
            </a:r>
            <a:endParaRPr lang="en-US" sz="1800" dirty="0"/>
          </a:p>
        </p:txBody>
      </p:sp>
    </p:spTree>
    <p:extLst>
      <p:ext uri="{BB962C8B-B14F-4D97-AF65-F5344CB8AC3E}">
        <p14:creationId xmlns:p14="http://schemas.microsoft.com/office/powerpoint/2010/main" val="378788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Insurance in the UK</a:t>
            </a:r>
          </a:p>
        </p:txBody>
      </p:sp>
      <p:sp>
        <p:nvSpPr>
          <p:cNvPr id="3" name="Content Placeholder 2"/>
          <p:cNvSpPr>
            <a:spLocks noGrp="1"/>
          </p:cNvSpPr>
          <p:nvPr>
            <p:ph idx="1"/>
          </p:nvPr>
        </p:nvSpPr>
        <p:spPr>
          <a:xfrm>
            <a:off x="628650" y="1739762"/>
            <a:ext cx="7886700" cy="4753112"/>
          </a:xfrm>
        </p:spPr>
        <p:txBody>
          <a:bodyPr>
            <a:normAutofit fontScale="55000" lnSpcReduction="20000"/>
          </a:bodyPr>
          <a:lstStyle/>
          <a:p>
            <a:pPr marL="0" indent="0">
              <a:buNone/>
            </a:pPr>
            <a:r>
              <a:rPr dirty="0"/>
              <a:t>1. </a:t>
            </a:r>
            <a:r>
              <a:rPr lang="en-GB" b="1" dirty="0"/>
              <a:t>Hea</a:t>
            </a:r>
            <a:r>
              <a:rPr b="1" dirty="0"/>
              <a:t>lth Insurance</a:t>
            </a:r>
            <a:r>
              <a:rPr lang="en-GB" b="1" dirty="0"/>
              <a:t> </a:t>
            </a:r>
            <a:r>
              <a:rPr dirty="0"/>
              <a:t>- Covers medical expenses, private healthcare, and specialized treatments.</a:t>
            </a:r>
          </a:p>
          <a:p>
            <a:pPr marL="0" indent="0">
              <a:buNone/>
            </a:pPr>
            <a:r>
              <a:rPr dirty="0"/>
              <a:t>2. </a:t>
            </a:r>
            <a:r>
              <a:rPr lang="en-GB" b="1" dirty="0"/>
              <a:t>Critical Illness Insurance </a:t>
            </a:r>
            <a:r>
              <a:rPr lang="en-GB" dirty="0"/>
              <a:t>-  Pays a lump sum if diagnosed with a serious illness like cancer or heart disease.</a:t>
            </a:r>
          </a:p>
          <a:p>
            <a:pPr marL="0" indent="0">
              <a:buNone/>
            </a:pPr>
            <a:r>
              <a:rPr lang="en-GB" dirty="0"/>
              <a:t>3</a:t>
            </a:r>
            <a:r>
              <a:rPr lang="en-GB" b="1" dirty="0"/>
              <a:t>.  Life Insurance </a:t>
            </a:r>
            <a:r>
              <a:rPr lang="en-GB" dirty="0"/>
              <a:t>- Provides financial support to dependents in the event of the policyholder’s death. </a:t>
            </a:r>
          </a:p>
          <a:p>
            <a:pPr marL="0" indent="0">
              <a:buNone/>
            </a:pPr>
            <a:r>
              <a:rPr lang="en-GB" dirty="0"/>
              <a:t>4.  </a:t>
            </a:r>
            <a:r>
              <a:rPr b="1" dirty="0"/>
              <a:t>Car Insurance</a:t>
            </a:r>
            <a:r>
              <a:rPr lang="en-GB" b="1" dirty="0"/>
              <a:t> </a:t>
            </a:r>
            <a:r>
              <a:rPr dirty="0"/>
              <a:t>- Mandatory by law; includes third-party, third-party fire and theft, or comprehensive cover.</a:t>
            </a:r>
          </a:p>
          <a:p>
            <a:pPr marL="0" indent="0">
              <a:buNone/>
            </a:pPr>
            <a:r>
              <a:rPr lang="en-GB" dirty="0"/>
              <a:t>5</a:t>
            </a:r>
            <a:r>
              <a:rPr lang="en-GB" b="1" dirty="0"/>
              <a:t>.  </a:t>
            </a:r>
            <a:r>
              <a:rPr b="1" dirty="0"/>
              <a:t>Home Insurance</a:t>
            </a:r>
            <a:r>
              <a:rPr lang="en-GB" b="1" dirty="0"/>
              <a:t> / </a:t>
            </a:r>
            <a:r>
              <a:rPr b="1" dirty="0"/>
              <a:t>Buildings Insurance</a:t>
            </a:r>
            <a:r>
              <a:rPr lang="en-GB" b="1" dirty="0"/>
              <a:t> </a:t>
            </a:r>
            <a:r>
              <a:rPr lang="en-GB" dirty="0"/>
              <a:t>- </a:t>
            </a:r>
            <a:r>
              <a:rPr dirty="0"/>
              <a:t> Covers structural damage</a:t>
            </a:r>
            <a:r>
              <a:rPr lang="en-GB" dirty="0"/>
              <a:t> &amp; </a:t>
            </a:r>
            <a:r>
              <a:rPr b="1" dirty="0"/>
              <a:t>Contents Insurance</a:t>
            </a:r>
            <a:r>
              <a:rPr lang="en-GB" b="1" dirty="0"/>
              <a:t> </a:t>
            </a:r>
            <a:r>
              <a:rPr lang="en-GB" dirty="0"/>
              <a:t>- </a:t>
            </a:r>
            <a:r>
              <a:rPr dirty="0"/>
              <a:t>Covers belongings inside the home.</a:t>
            </a:r>
          </a:p>
          <a:p>
            <a:pPr marL="0" indent="0">
              <a:buNone/>
            </a:pPr>
            <a:r>
              <a:rPr lang="en-GB" dirty="0"/>
              <a:t>6.  </a:t>
            </a:r>
            <a:r>
              <a:rPr lang="en-GB" b="1" dirty="0"/>
              <a:t>Business Insurance </a:t>
            </a:r>
            <a:r>
              <a:rPr lang="en-GB" dirty="0"/>
              <a:t>-  Protects businesses from risks such as liability, property damage, and employee-related issues.</a:t>
            </a:r>
          </a:p>
          <a:p>
            <a:pPr marL="0" indent="0">
              <a:buNone/>
            </a:pPr>
            <a:r>
              <a:rPr lang="en-GB" dirty="0"/>
              <a:t>7.  </a:t>
            </a:r>
            <a:r>
              <a:rPr b="1" dirty="0"/>
              <a:t>Travel Insurance</a:t>
            </a:r>
            <a:r>
              <a:rPr lang="en-GB" b="1" dirty="0"/>
              <a:t>  </a:t>
            </a:r>
            <a:r>
              <a:rPr dirty="0"/>
              <a:t>- Covers trip cancellations, medical emergencies, and lost luggage.</a:t>
            </a:r>
          </a:p>
          <a:p>
            <a:pPr marL="0" indent="0">
              <a:buNone/>
            </a:pPr>
            <a:r>
              <a:rPr lang="en-GB" dirty="0"/>
              <a:t>8.  </a:t>
            </a:r>
            <a:r>
              <a:rPr lang="en-GB" b="1" dirty="0"/>
              <a:t>Income Protection Insurance </a:t>
            </a:r>
            <a:r>
              <a:rPr lang="en-GB" dirty="0"/>
              <a:t>- Provides a percentage of income if unable to work due to illness or injury. </a:t>
            </a:r>
          </a:p>
          <a:p>
            <a:pPr marL="0" indent="0">
              <a:buNone/>
            </a:pPr>
            <a:r>
              <a:rPr lang="en-GB" dirty="0"/>
              <a:t>9.  </a:t>
            </a:r>
            <a:r>
              <a:rPr b="1" dirty="0"/>
              <a:t>Pet Insurance</a:t>
            </a:r>
            <a:r>
              <a:rPr lang="en-GB" b="1" dirty="0"/>
              <a:t>  </a:t>
            </a:r>
            <a:r>
              <a:rPr lang="en-GB" dirty="0"/>
              <a:t>- </a:t>
            </a:r>
            <a:r>
              <a:rPr dirty="0"/>
              <a:t>Covers veterinary expenses for pets.</a:t>
            </a:r>
          </a:p>
          <a:p>
            <a:pPr marL="0" indent="0">
              <a:buNone/>
            </a:pPr>
            <a:r>
              <a:rPr lang="en-GB" dirty="0"/>
              <a:t>10.  </a:t>
            </a:r>
            <a:r>
              <a:rPr lang="en-US" altLang="en-US" sz="2800" b="1" dirty="0">
                <a:ea typeface="ヒラギノ角ゴ Pro W3" pitchFamily="-84" charset="-128"/>
              </a:rPr>
              <a:t>Reinsurance - </a:t>
            </a:r>
            <a:r>
              <a:rPr lang="en-US" altLang="en-US" sz="2800" dirty="0">
                <a:ea typeface="ヒラギノ角ゴ Pro W3" pitchFamily="-84" charset="-128"/>
              </a:rPr>
              <a:t> allocates a portion of the risk to another company in exchange for a portion of the premium.</a:t>
            </a:r>
            <a:endParaRPr lang="en-US" sz="2800" dirty="0"/>
          </a:p>
          <a:p>
            <a:pPr marL="0" indent="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63930"/>
          </a:xfrm>
        </p:spPr>
        <p:txBody>
          <a:bodyPr>
            <a:noAutofit/>
          </a:bodyPr>
          <a:lstStyle/>
          <a:p>
            <a:r>
              <a:rPr lang="en-US" altLang="en-US" sz="2800" dirty="0">
                <a:ea typeface="ヒラギノ角ゴ Pro W3" pitchFamily="-84" charset="-128"/>
              </a:rPr>
              <a:t>Life Insurance</a:t>
            </a:r>
            <a:endParaRPr lang="en-US" sz="2800" dirty="0"/>
          </a:p>
        </p:txBody>
      </p:sp>
      <p:sp>
        <p:nvSpPr>
          <p:cNvPr id="3" name="Content Placeholder 2"/>
          <p:cNvSpPr>
            <a:spLocks noGrp="1"/>
          </p:cNvSpPr>
          <p:nvPr>
            <p:ph idx="1"/>
          </p:nvPr>
        </p:nvSpPr>
        <p:spPr>
          <a:xfrm>
            <a:off x="628650" y="963168"/>
            <a:ext cx="7886700" cy="5213795"/>
          </a:xfrm>
        </p:spPr>
        <p:txBody>
          <a:bodyPr>
            <a:normAutofit/>
          </a:bodyPr>
          <a:lstStyle/>
          <a:p>
            <a:pPr marL="0" indent="0">
              <a:buNone/>
            </a:pPr>
            <a:r>
              <a:rPr lang="en-GB" sz="1800" dirty="0"/>
              <a:t>You could die too young and not have time to provide for your loved ones, or you could live too long and run out of retirement assets. </a:t>
            </a:r>
          </a:p>
          <a:p>
            <a:pPr marL="0" indent="0">
              <a:buNone/>
            </a:pPr>
            <a:r>
              <a:rPr lang="en-GB" sz="1800" dirty="0"/>
              <a:t>Getting life insurance relieves some of the concern associated with either case.</a:t>
            </a:r>
          </a:p>
          <a:p>
            <a:pPr marL="0" indent="0">
              <a:buNone/>
            </a:pPr>
            <a:endParaRPr lang="en-US" altLang="en-US" sz="1200" dirty="0">
              <a:ea typeface="ヒラギノ角ゴ Pro W3" pitchFamily="-84" charset="-128"/>
            </a:endParaRPr>
          </a:p>
          <a:p>
            <a:r>
              <a:rPr lang="en-GB" sz="1800" dirty="0"/>
              <a:t>Life insurance pays off if you die, protecting those who depend on your continued earnings.</a:t>
            </a:r>
          </a:p>
          <a:p>
            <a:r>
              <a:rPr lang="en-GB" sz="1800" dirty="0"/>
              <a:t>Disability insurance replaces part of your income should you become unable to continue working due to illness or an accident</a:t>
            </a:r>
          </a:p>
          <a:p>
            <a:endParaRPr lang="en-GB" sz="1800" b="1" dirty="0">
              <a:solidFill>
                <a:srgbClr val="FF0000"/>
              </a:solidFill>
            </a:endParaRPr>
          </a:p>
          <a:p>
            <a:r>
              <a:rPr lang="en-GB" sz="1800" b="1" dirty="0">
                <a:solidFill>
                  <a:srgbClr val="FF0000"/>
                </a:solidFill>
              </a:rPr>
              <a:t>An annuity </a:t>
            </a:r>
            <a:r>
              <a:rPr lang="en-GB" sz="1800" dirty="0"/>
              <a:t>is an insurance product that will help if you live longer than you expect. </a:t>
            </a:r>
          </a:p>
          <a:p>
            <a:pPr lvl="1"/>
            <a:r>
              <a:rPr lang="en-GB" sz="1600" dirty="0"/>
              <a:t>For an initial fixed sum or stream of payments, the insurance company agrees to pay you a fixed amount for as long as you live. If you live a short life, the insurance company pays out less than expected. If you live unusually long, the insurance company may pay out much more than expected.</a:t>
            </a:r>
          </a:p>
          <a:p>
            <a:pPr lvl="1"/>
            <a:r>
              <a:rPr lang="en-GB" sz="1600" dirty="0"/>
              <a:t>Insurance companies insure so many millions of people, the law of large numbers tends to make the company’s predictions quite accurate and allows companies to price the policies so that they can earn a profit.</a:t>
            </a:r>
          </a:p>
          <a:p>
            <a:pPr marL="457200" lvl="1" indent="0">
              <a:buNone/>
            </a:pPr>
            <a:endParaRPr lang="en-GB" sz="1600" dirty="0"/>
          </a:p>
          <a:p>
            <a:endParaRPr lang="en-GB" sz="1800" dirty="0"/>
          </a:p>
          <a:p>
            <a:endParaRPr lang="en-GB" sz="1800" dirty="0"/>
          </a:p>
          <a:p>
            <a:pPr marL="0" indent="0">
              <a:buNone/>
            </a:pPr>
            <a:endParaRPr lang="en-US" sz="1200" dirty="0"/>
          </a:p>
        </p:txBody>
      </p:sp>
    </p:spTree>
    <p:extLst>
      <p:ext uri="{BB962C8B-B14F-4D97-AF65-F5344CB8AC3E}">
        <p14:creationId xmlns:p14="http://schemas.microsoft.com/office/powerpoint/2010/main" val="290050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63930"/>
          </a:xfrm>
        </p:spPr>
        <p:txBody>
          <a:bodyPr>
            <a:noAutofit/>
          </a:bodyPr>
          <a:lstStyle/>
          <a:p>
            <a:r>
              <a:rPr lang="en-US" altLang="en-US" sz="2800" dirty="0">
                <a:ea typeface="ヒラギノ角ゴ Pro W3" pitchFamily="-84" charset="-128"/>
              </a:rPr>
              <a:t>Life Insurance</a:t>
            </a:r>
            <a:endParaRPr lang="en-US" sz="2800" dirty="0"/>
          </a:p>
        </p:txBody>
      </p:sp>
      <p:sp>
        <p:nvSpPr>
          <p:cNvPr id="3" name="Content Placeholder 2"/>
          <p:cNvSpPr>
            <a:spLocks noGrp="1"/>
          </p:cNvSpPr>
          <p:nvPr>
            <p:ph idx="1"/>
          </p:nvPr>
        </p:nvSpPr>
        <p:spPr>
          <a:xfrm>
            <a:off x="628650" y="1389888"/>
            <a:ext cx="7886700" cy="4787075"/>
          </a:xfrm>
        </p:spPr>
        <p:txBody>
          <a:bodyPr>
            <a:normAutofit/>
          </a:bodyPr>
          <a:lstStyle/>
          <a:p>
            <a:pPr marL="0" indent="0">
              <a:buNone/>
            </a:pPr>
            <a:r>
              <a:rPr lang="en-US" sz="2000" dirty="0"/>
              <a:t>Broad categories of life insurance:</a:t>
            </a:r>
          </a:p>
          <a:p>
            <a:pPr marL="0" indent="0">
              <a:buNone/>
            </a:pPr>
            <a:endParaRPr lang="en-US" altLang="en-US" sz="1400" dirty="0">
              <a:ea typeface="ヒラギノ角ゴ Pro W3" pitchFamily="-84" charset="-128"/>
            </a:endParaRPr>
          </a:p>
          <a:p>
            <a:r>
              <a:rPr lang="en-US" altLang="en-US" sz="1800" dirty="0">
                <a:ea typeface="ヒラギノ角ゴ Pro W3" pitchFamily="-84" charset="-128"/>
              </a:rPr>
              <a:t>Term Life: Insurance against death. The insured is covered while the policy is in effect, usually 10–20 years (not very popular). Does not accrue cash.</a:t>
            </a:r>
          </a:p>
          <a:p>
            <a:endParaRPr lang="en-US" altLang="en-US" sz="1800" dirty="0">
              <a:ea typeface="ヒラギノ角ゴ Pro W3" pitchFamily="-84" charset="-128"/>
            </a:endParaRPr>
          </a:p>
          <a:p>
            <a:r>
              <a:rPr lang="en-US" altLang="en-US" sz="1800" dirty="0">
                <a:ea typeface="ヒラギノ角ゴ Pro W3" pitchFamily="-84" charset="-128"/>
              </a:rPr>
              <a:t>Whole Life: similar to term life but allows the policyholder to borrow against the policy’s cash value account - </a:t>
            </a:r>
            <a:r>
              <a:rPr lang="en-GB" altLang="en-US" sz="1800" dirty="0">
                <a:ea typeface="ヒラギノ角ゴ Pro W3" pitchFamily="-84" charset="-128"/>
              </a:rPr>
              <a:t>a type of savings account that grows tax free over time and that you can withdraw from or borrow against while you are alive.  </a:t>
            </a:r>
            <a:r>
              <a:rPr lang="en-US" altLang="en-US" sz="1800" dirty="0">
                <a:ea typeface="ヒラギノ角ゴ Pro W3" pitchFamily="-84" charset="-128"/>
              </a:rPr>
              <a:t>When the term of policy expires, the insured can get the cash value of the policy. </a:t>
            </a:r>
          </a:p>
          <a:p>
            <a:r>
              <a:rPr lang="en-US" sz="1800" dirty="0"/>
              <a:t>Annuity: Insurance against life</a:t>
            </a:r>
          </a:p>
          <a:p>
            <a:endParaRPr lang="en-US" sz="1800" dirty="0"/>
          </a:p>
        </p:txBody>
      </p:sp>
    </p:spTree>
    <p:extLst>
      <p:ext uri="{BB962C8B-B14F-4D97-AF65-F5344CB8AC3E}">
        <p14:creationId xmlns:p14="http://schemas.microsoft.com/office/powerpoint/2010/main" val="2360903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10FB4-3F5B-7855-E3F9-A7E0245BE862}"/>
              </a:ext>
            </a:extLst>
          </p:cNvPr>
          <p:cNvSpPr>
            <a:spLocks noGrp="1"/>
          </p:cNvSpPr>
          <p:nvPr>
            <p:ph type="title"/>
          </p:nvPr>
        </p:nvSpPr>
        <p:spPr/>
        <p:txBody>
          <a:bodyPr/>
          <a:lstStyle/>
          <a:p>
            <a:r>
              <a:rPr lang="en-GB" dirty="0"/>
              <a:t>Health Insurance</a:t>
            </a:r>
          </a:p>
        </p:txBody>
      </p:sp>
      <p:sp>
        <p:nvSpPr>
          <p:cNvPr id="3" name="Content Placeholder 2">
            <a:extLst>
              <a:ext uri="{FF2B5EF4-FFF2-40B4-BE49-F238E27FC236}">
                <a16:creationId xmlns:a16="http://schemas.microsoft.com/office/drawing/2014/main" id="{24161FFD-72EE-4874-FB2A-C0AF3541B03F}"/>
              </a:ext>
            </a:extLst>
          </p:cNvPr>
          <p:cNvSpPr>
            <a:spLocks noGrp="1"/>
          </p:cNvSpPr>
          <p:nvPr>
            <p:ph idx="1"/>
          </p:nvPr>
        </p:nvSpPr>
        <p:spPr/>
        <p:txBody>
          <a:bodyPr>
            <a:normAutofit fontScale="40000" lnSpcReduction="20000"/>
          </a:bodyPr>
          <a:lstStyle/>
          <a:p>
            <a:r>
              <a:rPr lang="en-GB" sz="4000" dirty="0"/>
              <a:t>Healthcare for most UK residents is available for free on the NHS but the number of people choosing to turn to private insurance for health problems has risen sharply: 44% more people used insurer-provided healthcare services in 2021 than in pre-pandemic 2019, according to the Association of British Insurers (ABI).</a:t>
            </a:r>
          </a:p>
          <a:p>
            <a:endParaRPr lang="en-GB" sz="4000" dirty="0"/>
          </a:p>
          <a:p>
            <a:r>
              <a:rPr lang="en-GB" sz="4000" dirty="0"/>
              <a:t>Some of that will be to do with NHS waiting lists hitting a record high. The number of people waiting longer than 18 months for NHS treatment in England was growing.</a:t>
            </a:r>
          </a:p>
          <a:p>
            <a:r>
              <a:rPr lang="en-GB" sz="4000" dirty="0"/>
              <a:t>Health insurance policies will often cover drugs or treatments that people cannot access through the NHS because they are too new to have been approved or are too expensive.</a:t>
            </a:r>
          </a:p>
          <a:p>
            <a:endParaRPr lang="en-GB" sz="4000" dirty="0"/>
          </a:p>
          <a:p>
            <a:r>
              <a:rPr lang="en-GB" sz="4000" dirty="0"/>
              <a:t>One area becoming increasingly popular is the use of virtual GPs. The ABI says access to online GP appointments through health insurance rose by 440% between 2019 and 2021.</a:t>
            </a:r>
          </a:p>
          <a:p>
            <a:r>
              <a:rPr lang="en-GB" sz="4000" dirty="0"/>
              <a:t>Health insurance policies are vulnerable to the adverse selection problem - those with health problems are more likely to seek coverage.</a:t>
            </a:r>
          </a:p>
          <a:p>
            <a:r>
              <a:rPr lang="en-GB" sz="4000" dirty="0"/>
              <a:t>Individual policies must be priced assuming adverse selection.</a:t>
            </a:r>
            <a:endParaRPr lang="en-GB" dirty="0"/>
          </a:p>
        </p:txBody>
      </p:sp>
    </p:spTree>
    <p:extLst>
      <p:ext uri="{BB962C8B-B14F-4D97-AF65-F5344CB8AC3E}">
        <p14:creationId xmlns:p14="http://schemas.microsoft.com/office/powerpoint/2010/main" val="1192694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Health Insurance</a:t>
            </a:r>
            <a:endParaRPr lang="en-US" dirty="0"/>
          </a:p>
        </p:txBody>
      </p:sp>
      <p:sp>
        <p:nvSpPr>
          <p:cNvPr id="3" name="Content Placeholder 2"/>
          <p:cNvSpPr>
            <a:spLocks noGrp="1"/>
          </p:cNvSpPr>
          <p:nvPr>
            <p:ph idx="1"/>
          </p:nvPr>
        </p:nvSpPr>
        <p:spPr>
          <a:xfrm>
            <a:off x="628650" y="1584960"/>
            <a:ext cx="7886700" cy="4592003"/>
          </a:xfrm>
        </p:spPr>
        <p:txBody>
          <a:bodyPr/>
          <a:lstStyle/>
          <a:p>
            <a:pPr marL="0" indent="0">
              <a:buNone/>
            </a:pPr>
            <a:endParaRPr lang="en-US" sz="1800" dirty="0">
              <a:ea typeface="ヒラギノ角ゴ Pro W3" pitchFamily="-84" charset="-128"/>
            </a:endParaRPr>
          </a:p>
          <a:p>
            <a:pPr marL="0" indent="0">
              <a:buNone/>
              <a:defRPr/>
            </a:pPr>
            <a:r>
              <a:rPr lang="en-US" sz="1800" dirty="0"/>
              <a:t>Health insurance is a politically charged topic in the US, focusing on increased costs and availability of coverage.</a:t>
            </a:r>
          </a:p>
          <a:p>
            <a:pPr>
              <a:defRPr/>
            </a:pPr>
            <a:r>
              <a:rPr lang="en-US" altLang="en-US" sz="1800" dirty="0">
                <a:ea typeface="ヒラギノ角ゴ Pro W3" pitchFamily="-84" charset="-128"/>
              </a:rPr>
              <a:t>Most health insurance in the US is offered through employer-provided group policies.</a:t>
            </a:r>
          </a:p>
          <a:p>
            <a:pPr>
              <a:defRPr/>
            </a:pPr>
            <a:r>
              <a:rPr lang="en-US" sz="1800" dirty="0">
                <a:ea typeface="ヒラギノ角ゴ Pro W3" pitchFamily="-84" charset="-128"/>
              </a:rPr>
              <a:t>I</a:t>
            </a:r>
            <a:r>
              <a:rPr lang="en-US" sz="1800" dirty="0"/>
              <a:t>nsurance companies are attempting to shift costs to the employers.</a:t>
            </a:r>
          </a:p>
          <a:p>
            <a:pPr>
              <a:defRPr/>
            </a:pPr>
            <a:endParaRPr lang="en-US" sz="1800" dirty="0"/>
          </a:p>
          <a:p>
            <a:pPr>
              <a:defRPr/>
            </a:pPr>
            <a:endParaRPr lang="en-US" sz="1800" dirty="0"/>
          </a:p>
          <a:p>
            <a:r>
              <a:rPr lang="en-US" sz="1800" dirty="0">
                <a:hlinkClick r:id="rId2"/>
              </a:rPr>
              <a:t>Cost of the Healthcare in the US</a:t>
            </a:r>
            <a:endParaRPr lang="en-US" sz="1800" dirty="0"/>
          </a:p>
        </p:txBody>
      </p:sp>
    </p:spTree>
    <p:extLst>
      <p:ext uri="{BB962C8B-B14F-4D97-AF65-F5344CB8AC3E}">
        <p14:creationId xmlns:p14="http://schemas.microsoft.com/office/powerpoint/2010/main" val="9133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EC6C9-2152-632E-C0B0-B0CD8FE2BA81}"/>
              </a:ext>
            </a:extLst>
          </p:cNvPr>
          <p:cNvSpPr>
            <a:spLocks noGrp="1"/>
          </p:cNvSpPr>
          <p:nvPr>
            <p:ph type="title"/>
          </p:nvPr>
        </p:nvSpPr>
        <p:spPr/>
        <p:txBody>
          <a:bodyPr/>
          <a:lstStyle/>
          <a:p>
            <a:r>
              <a:rPr lang="en-GB" dirty="0"/>
              <a:t>Insurance</a:t>
            </a:r>
          </a:p>
        </p:txBody>
      </p:sp>
      <p:sp>
        <p:nvSpPr>
          <p:cNvPr id="3" name="Content Placeholder 2">
            <a:extLst>
              <a:ext uri="{FF2B5EF4-FFF2-40B4-BE49-F238E27FC236}">
                <a16:creationId xmlns:a16="http://schemas.microsoft.com/office/drawing/2014/main" id="{7632691A-83D2-EDC4-A7A5-5AFC6066399C}"/>
              </a:ext>
            </a:extLst>
          </p:cNvPr>
          <p:cNvSpPr>
            <a:spLocks noGrp="1"/>
          </p:cNvSpPr>
          <p:nvPr>
            <p:ph idx="1"/>
          </p:nvPr>
        </p:nvSpPr>
        <p:spPr/>
        <p:txBody>
          <a:bodyPr/>
          <a:lstStyle/>
          <a:p>
            <a:r>
              <a:rPr lang="en-GB" dirty="0"/>
              <a:t>What are the Weirdest Things You can Insure?</a:t>
            </a:r>
          </a:p>
          <a:p>
            <a:pPr marL="0" indent="0">
              <a:buNone/>
            </a:pPr>
            <a:r>
              <a:rPr lang="en-GB" dirty="0">
                <a:hlinkClick r:id="rId2"/>
              </a:rPr>
              <a:t>https://www.youtube.com/watch?v=uSjPULBdzZ0</a:t>
            </a:r>
            <a:endParaRPr lang="en-GB" dirty="0"/>
          </a:p>
          <a:p>
            <a:pPr marL="0" indent="0">
              <a:buNone/>
            </a:pPr>
            <a:endParaRPr lang="en-GB" dirty="0"/>
          </a:p>
        </p:txBody>
      </p:sp>
    </p:spTree>
    <p:extLst>
      <p:ext uri="{BB962C8B-B14F-4D97-AF65-F5344CB8AC3E}">
        <p14:creationId xmlns:p14="http://schemas.microsoft.com/office/powerpoint/2010/main" val="435150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descr="A graph showing the amount of cash and invest&#10;&#10;Description automatically generated">
            <a:extLst>
              <a:ext uri="{FF2B5EF4-FFF2-40B4-BE49-F238E27FC236}">
                <a16:creationId xmlns:a16="http://schemas.microsoft.com/office/drawing/2014/main" id="{B1B91534-B956-656A-611A-61E9FC2F6E57}"/>
              </a:ext>
            </a:extLst>
          </p:cNvPr>
          <p:cNvPicPr>
            <a:picLocks noGrp="1" noChangeAspect="1"/>
          </p:cNvPicPr>
          <p:nvPr>
            <p:ph idx="1"/>
          </p:nvPr>
        </p:nvPicPr>
        <p:blipFill>
          <a:blip r:embed="rId2"/>
          <a:stretch>
            <a:fillRect/>
          </a:stretch>
        </p:blipFill>
        <p:spPr>
          <a:xfrm>
            <a:off x="482600" y="1282065"/>
            <a:ext cx="8178799" cy="4293869"/>
          </a:xfrm>
          <a:prstGeom prst="rect">
            <a:avLst/>
          </a:prstGeom>
        </p:spPr>
      </p:pic>
      <p:sp>
        <p:nvSpPr>
          <p:cNvPr id="4" name="TextBox 3">
            <a:extLst>
              <a:ext uri="{FF2B5EF4-FFF2-40B4-BE49-F238E27FC236}">
                <a16:creationId xmlns:a16="http://schemas.microsoft.com/office/drawing/2014/main" id="{2789B2A7-39C7-563F-9165-86F5D52B097F}"/>
              </a:ext>
            </a:extLst>
          </p:cNvPr>
          <p:cNvSpPr txBox="1"/>
          <p:nvPr/>
        </p:nvSpPr>
        <p:spPr>
          <a:xfrm>
            <a:off x="875211" y="6270171"/>
            <a:ext cx="4271555" cy="369332"/>
          </a:xfrm>
          <a:prstGeom prst="rect">
            <a:avLst/>
          </a:prstGeom>
          <a:noFill/>
        </p:spPr>
        <p:txBody>
          <a:bodyPr wrap="square" rtlCol="0">
            <a:spAutoFit/>
          </a:bodyPr>
          <a:lstStyle/>
          <a:p>
            <a:pPr>
              <a:spcAft>
                <a:spcPts val="600"/>
              </a:spcAft>
            </a:pPr>
            <a:r>
              <a:rPr lang="en-GB" dirty="0">
                <a:hlinkClick r:id="rId3"/>
              </a:rPr>
              <a:t>Source: Asset Mix YE 2023</a:t>
            </a:r>
            <a:endParaRPr lang="en-GB"/>
          </a:p>
        </p:txBody>
      </p:sp>
    </p:spTree>
    <p:extLst>
      <p:ext uri="{BB962C8B-B14F-4D97-AF65-F5344CB8AC3E}">
        <p14:creationId xmlns:p14="http://schemas.microsoft.com/office/powerpoint/2010/main" val="1871435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828" y="2767141"/>
            <a:ext cx="5329732" cy="352475"/>
          </a:xfrm>
        </p:spPr>
        <p:txBody>
          <a:bodyPr>
            <a:normAutofit/>
          </a:bodyPr>
          <a:lstStyle/>
          <a:p>
            <a:r>
              <a:rPr lang="en-US" altLang="en-US" sz="1400" dirty="0">
                <a:ea typeface="ヒラギノ角ゴ Pro W3" pitchFamily="-84" charset="-128"/>
              </a:rPr>
              <a:t>Distribution of Life Insurance Company Assets (2015) in the US</a:t>
            </a:r>
            <a:endParaRPr lang="en-US" sz="1400" dirty="0"/>
          </a:p>
        </p:txBody>
      </p:sp>
      <p:sp>
        <p:nvSpPr>
          <p:cNvPr id="3" name="Content Placeholder 2"/>
          <p:cNvSpPr>
            <a:spLocks noGrp="1"/>
          </p:cNvSpPr>
          <p:nvPr>
            <p:ph idx="1"/>
          </p:nvPr>
        </p:nvSpPr>
        <p:spPr>
          <a:xfrm>
            <a:off x="4667708" y="6377145"/>
            <a:ext cx="6172200" cy="317992"/>
          </a:xfrm>
        </p:spPr>
        <p:txBody>
          <a:bodyPr>
            <a:normAutofit lnSpcReduction="10000"/>
          </a:bodyPr>
          <a:lstStyle/>
          <a:p>
            <a:pPr marL="0" indent="0">
              <a:buNone/>
            </a:pPr>
            <a:r>
              <a:rPr lang="en-IN" sz="900" i="1" dirty="0"/>
              <a:t>Source</a:t>
            </a:r>
            <a:r>
              <a:rPr lang="en-IN" sz="900" dirty="0"/>
              <a:t>: Life Insurance Company Fact Book, 2015, Table 2.1 (American Council of Life Insurers), </a:t>
            </a:r>
            <a:r>
              <a:rPr lang="en-IN" sz="900" dirty="0">
                <a:hlinkClick r:id="rId2"/>
              </a:rPr>
              <a:t>https://www.acli.com/Tools/Industry%20Facts/Life%20Insurers%20Fact%20Book/Pages/RP12</a:t>
            </a:r>
            <a:r>
              <a:rPr lang="en-IN" sz="900" dirty="0"/>
              <a:t>.</a:t>
            </a:r>
            <a:endParaRPr lang="en-US" sz="900" dirty="0"/>
          </a:p>
        </p:txBody>
      </p:sp>
      <p:pic>
        <p:nvPicPr>
          <p:cNvPr id="4" name="Picture 2" descr="The data shown in the pie chart is as follows:&#10;◦ Bonds: 48.5&#10;◦ Stocks: 32.3&#10;◦ Loans and Mortgages: 8.8&#10;◦ Miscellaneous: 10.4"/>
          <p:cNvPicPr>
            <a:picLocks noChangeAspect="1" noChangeArrowheads="1"/>
          </p:cNvPicPr>
          <p:nvPr/>
        </p:nvPicPr>
        <p:blipFill>
          <a:blip r:embed="rId3" cstate="print"/>
          <a:srcRect/>
          <a:stretch>
            <a:fillRect/>
          </a:stretch>
        </p:blipFill>
        <p:spPr bwMode="auto">
          <a:xfrm>
            <a:off x="4928604" y="3282159"/>
            <a:ext cx="4215396" cy="3063873"/>
          </a:xfrm>
          <a:prstGeom prst="rect">
            <a:avLst/>
          </a:prstGeom>
          <a:noFill/>
          <a:ln w="9525">
            <a:noFill/>
            <a:miter lim="800000"/>
            <a:headEnd/>
            <a:tailEnd/>
          </a:ln>
        </p:spPr>
      </p:pic>
      <p:sp>
        <p:nvSpPr>
          <p:cNvPr id="6" name="Title 1">
            <a:extLst>
              <a:ext uri="{FF2B5EF4-FFF2-40B4-BE49-F238E27FC236}">
                <a16:creationId xmlns:a16="http://schemas.microsoft.com/office/drawing/2014/main" id="{9B80AD4C-755B-5648-9393-2825CB92C0EC}"/>
              </a:ext>
            </a:extLst>
          </p:cNvPr>
          <p:cNvSpPr txBox="1">
            <a:spLocks/>
          </p:cNvSpPr>
          <p:nvPr/>
        </p:nvSpPr>
        <p:spPr>
          <a:xfrm>
            <a:off x="628650" y="365127"/>
            <a:ext cx="7886700" cy="40297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3200" b="1" kern="1200">
                <a:solidFill>
                  <a:srgbClr val="0070C0"/>
                </a:solidFill>
                <a:latin typeface="+mj-lt"/>
                <a:ea typeface="+mj-ea"/>
                <a:cs typeface="+mj-cs"/>
              </a:defRPr>
            </a:lvl1pPr>
          </a:lstStyle>
          <a:p>
            <a:r>
              <a:rPr lang="en-US" altLang="en-US" dirty="0">
                <a:ea typeface="ヒラギノ角ゴ Pro W3" pitchFamily="-84" charset="-128"/>
              </a:rPr>
              <a:t>Life Insurance: Company Assets and Investments</a:t>
            </a:r>
            <a:endParaRPr lang="en-US" dirty="0"/>
          </a:p>
        </p:txBody>
      </p:sp>
      <p:sp>
        <p:nvSpPr>
          <p:cNvPr id="7" name="TextBox 6">
            <a:extLst>
              <a:ext uri="{FF2B5EF4-FFF2-40B4-BE49-F238E27FC236}">
                <a16:creationId xmlns:a16="http://schemas.microsoft.com/office/drawing/2014/main" id="{1D9784D2-10C5-0F4B-9B66-D65AD57B0061}"/>
              </a:ext>
            </a:extLst>
          </p:cNvPr>
          <p:cNvSpPr txBox="1"/>
          <p:nvPr/>
        </p:nvSpPr>
        <p:spPr>
          <a:xfrm>
            <a:off x="0" y="908783"/>
            <a:ext cx="9144000" cy="1323439"/>
          </a:xfrm>
          <a:prstGeom prst="rect">
            <a:avLst/>
          </a:prstGeom>
          <a:noFill/>
        </p:spPr>
        <p:txBody>
          <a:bodyPr wrap="square" rtlCol="0">
            <a:spAutoFit/>
          </a:bodyPr>
          <a:lstStyle/>
          <a:p>
            <a:r>
              <a:rPr lang="en-US" sz="1600" dirty="0"/>
              <a:t>Compared to other types of insurance, life insurers are less susceptible to large and unexpected claims </a:t>
            </a:r>
          </a:p>
          <a:p>
            <a:endParaRPr lang="en-US" sz="1600" dirty="0"/>
          </a:p>
          <a:p>
            <a:r>
              <a:rPr lang="en-US" sz="1600" dirty="0"/>
              <a:t>They can invest proportionately more of their assets in less liquid assets such as mortgages.</a:t>
            </a:r>
          </a:p>
          <a:p>
            <a:endParaRPr lang="en-GB" sz="1600" dirty="0"/>
          </a:p>
          <a:p>
            <a:r>
              <a:rPr lang="en-GB" sz="1600" dirty="0"/>
              <a:t>Today, they put more of their assets into stocks and bonds (more liquid assets).</a:t>
            </a:r>
          </a:p>
        </p:txBody>
      </p:sp>
      <p:pic>
        <p:nvPicPr>
          <p:cNvPr id="8" name="Picture 7" descr="The vertical axis is labeled &quot;Percent&quot; and ranges from 0 to 45 in increments of 5. The horizontal axis lists dates from 1920 to 2015. The line shows percentage as 34 percent in 1920 which with a sudden growth increases to 42 percent by the year 1925. With a steep decline the percentage falls down to a value of 14 percent by the year 1945 but recovers back to a value of 37 percent by 1965. The line thereafter shows a consistently declining trend and falls down to a value of 26 percent 1980, to 17.5 percent by 1990, and to a value of 10 percent by the year 2001. The value remains almost in this range thereafter.">
            <a:extLst>
              <a:ext uri="{FF2B5EF4-FFF2-40B4-BE49-F238E27FC236}">
                <a16:creationId xmlns:a16="http://schemas.microsoft.com/office/drawing/2014/main" id="{D5FC7C91-2FEB-0F4E-A038-D801C38F5C69}"/>
              </a:ext>
            </a:extLst>
          </p:cNvPr>
          <p:cNvPicPr>
            <a:picLocks noChangeAspect="1" noChangeArrowheads="1"/>
          </p:cNvPicPr>
          <p:nvPr/>
        </p:nvPicPr>
        <p:blipFill>
          <a:blip r:embed="rId4" cstate="print"/>
          <a:srcRect/>
          <a:stretch>
            <a:fillRect/>
          </a:stretch>
        </p:blipFill>
        <p:spPr bwMode="auto">
          <a:xfrm>
            <a:off x="0" y="3180302"/>
            <a:ext cx="4725162" cy="2890954"/>
          </a:xfrm>
          <a:prstGeom prst="rect">
            <a:avLst/>
          </a:prstGeom>
          <a:noFill/>
          <a:ln w="9525">
            <a:noFill/>
            <a:miter lim="800000"/>
            <a:headEnd/>
            <a:tailEnd/>
          </a:ln>
        </p:spPr>
      </p:pic>
      <p:sp>
        <p:nvSpPr>
          <p:cNvPr id="9" name="Title 1">
            <a:extLst>
              <a:ext uri="{FF2B5EF4-FFF2-40B4-BE49-F238E27FC236}">
                <a16:creationId xmlns:a16="http://schemas.microsoft.com/office/drawing/2014/main" id="{F0246E06-40A1-F94D-A060-49FFC01F09B4}"/>
              </a:ext>
            </a:extLst>
          </p:cNvPr>
          <p:cNvSpPr txBox="1">
            <a:spLocks/>
          </p:cNvSpPr>
          <p:nvPr/>
        </p:nvSpPr>
        <p:spPr>
          <a:xfrm>
            <a:off x="-68122" y="2595789"/>
            <a:ext cx="4283519" cy="8332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0070C0"/>
                </a:solidFill>
                <a:latin typeface="+mj-lt"/>
                <a:ea typeface="+mj-ea"/>
                <a:cs typeface="+mj-cs"/>
              </a:defRPr>
            </a:lvl1pPr>
          </a:lstStyle>
          <a:p>
            <a:r>
              <a:rPr lang="en-US" altLang="en-US" sz="1400" dirty="0">
                <a:ea typeface="ヒラギノ角ゴ Pro W3" pitchFamily="-84" charset="-128"/>
              </a:rPr>
              <a:t>Share of Life Insurance Company Assets in Mortgages </a:t>
            </a:r>
          </a:p>
          <a:p>
            <a:r>
              <a:rPr lang="en-US" altLang="en-US" sz="1400" dirty="0">
                <a:ea typeface="ヒラギノ角ゴ Pro W3" pitchFamily="-84" charset="-128"/>
              </a:rPr>
              <a:t>in the US, 1920–2015</a:t>
            </a:r>
            <a:endParaRPr lang="en-US" sz="1400" dirty="0"/>
          </a:p>
        </p:txBody>
      </p:sp>
      <p:sp>
        <p:nvSpPr>
          <p:cNvPr id="10" name="Content Placeholder 2">
            <a:extLst>
              <a:ext uri="{FF2B5EF4-FFF2-40B4-BE49-F238E27FC236}">
                <a16:creationId xmlns:a16="http://schemas.microsoft.com/office/drawing/2014/main" id="{EFFB19E6-DB3F-1840-AB52-CA8B565BAEDB}"/>
              </a:ext>
            </a:extLst>
          </p:cNvPr>
          <p:cNvSpPr txBox="1">
            <a:spLocks/>
          </p:cNvSpPr>
          <p:nvPr/>
        </p:nvSpPr>
        <p:spPr>
          <a:xfrm>
            <a:off x="0" y="6439104"/>
            <a:ext cx="4667708" cy="287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700" i="1"/>
              <a:t>Source</a:t>
            </a:r>
            <a:r>
              <a:rPr lang="en-IN" sz="700"/>
              <a:t>: Federal Reserve Flow of Funds Accounts, Table L117, </a:t>
            </a:r>
            <a:r>
              <a:rPr lang="en-IN" sz="700">
                <a:hlinkClick r:id="rId5"/>
              </a:rPr>
              <a:t>http://www.federalreserve.gov/releases/z1/Current/z1.pdf</a:t>
            </a:r>
            <a:r>
              <a:rPr lang="en-IN" sz="700"/>
              <a:t>.</a:t>
            </a:r>
            <a:endParaRPr lang="en-US" sz="700" dirty="0"/>
          </a:p>
        </p:txBody>
      </p:sp>
    </p:spTree>
    <p:extLst>
      <p:ext uri="{BB962C8B-B14F-4D97-AF65-F5344CB8AC3E}">
        <p14:creationId xmlns:p14="http://schemas.microsoft.com/office/powerpoint/2010/main" val="370053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BFAFBC-48D4-99A4-571F-42FF6A4C01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2024CB-B961-97F0-7F71-3F9C90C4F918}"/>
              </a:ext>
            </a:extLst>
          </p:cNvPr>
          <p:cNvSpPr txBox="1"/>
          <p:nvPr/>
        </p:nvSpPr>
        <p:spPr>
          <a:xfrm>
            <a:off x="875211" y="6270171"/>
            <a:ext cx="4271555" cy="369332"/>
          </a:xfrm>
          <a:prstGeom prst="rect">
            <a:avLst/>
          </a:prstGeom>
          <a:noFill/>
        </p:spPr>
        <p:txBody>
          <a:bodyPr wrap="square" rtlCol="0">
            <a:spAutoFit/>
          </a:bodyPr>
          <a:lstStyle/>
          <a:p>
            <a:pPr>
              <a:spcAft>
                <a:spcPts val="600"/>
              </a:spcAft>
            </a:pPr>
            <a:r>
              <a:rPr lang="en-GB" dirty="0">
                <a:hlinkClick r:id="rId2"/>
              </a:rPr>
              <a:t>Source: Asset Mix YE 2023</a:t>
            </a:r>
            <a:endParaRPr lang="en-GB"/>
          </a:p>
        </p:txBody>
      </p:sp>
      <p:pic>
        <p:nvPicPr>
          <p:cNvPr id="7" name="Content Placeholder 6" descr="A screenshot of a spreadsheet&#10;&#10;Description automatically generated">
            <a:extLst>
              <a:ext uri="{FF2B5EF4-FFF2-40B4-BE49-F238E27FC236}">
                <a16:creationId xmlns:a16="http://schemas.microsoft.com/office/drawing/2014/main" id="{639112A7-CA87-1533-A3FF-65C31DF1D986}"/>
              </a:ext>
            </a:extLst>
          </p:cNvPr>
          <p:cNvPicPr>
            <a:picLocks noGrp="1" noChangeAspect="1"/>
          </p:cNvPicPr>
          <p:nvPr>
            <p:ph idx="1"/>
          </p:nvPr>
        </p:nvPicPr>
        <p:blipFill>
          <a:blip r:embed="rId3"/>
          <a:stretch>
            <a:fillRect/>
          </a:stretch>
        </p:blipFill>
        <p:spPr>
          <a:xfrm>
            <a:off x="963291" y="705394"/>
            <a:ext cx="7217417" cy="5086647"/>
          </a:xfrm>
        </p:spPr>
      </p:pic>
    </p:spTree>
    <p:extLst>
      <p:ext uri="{BB962C8B-B14F-4D97-AF65-F5344CB8AC3E}">
        <p14:creationId xmlns:p14="http://schemas.microsoft.com/office/powerpoint/2010/main" val="2329105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5F2B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computer&#10;&#10;Description automatically generated with medium confidence">
            <a:extLst>
              <a:ext uri="{FF2B5EF4-FFF2-40B4-BE49-F238E27FC236}">
                <a16:creationId xmlns:a16="http://schemas.microsoft.com/office/drawing/2014/main" id="{93C9794E-D230-D1EC-CBD3-0E94ED848DA0}"/>
              </a:ext>
            </a:extLst>
          </p:cNvPr>
          <p:cNvPicPr>
            <a:picLocks noGrp="1" noChangeAspect="1"/>
          </p:cNvPicPr>
          <p:nvPr>
            <p:ph idx="1"/>
          </p:nvPr>
        </p:nvPicPr>
        <p:blipFill>
          <a:blip r:embed="rId2"/>
          <a:stretch>
            <a:fillRect/>
          </a:stretch>
        </p:blipFill>
        <p:spPr>
          <a:xfrm>
            <a:off x="546755" y="643467"/>
            <a:ext cx="8088198" cy="5571066"/>
          </a:xfrm>
          <a:prstGeom prst="rect">
            <a:avLst/>
          </a:prstGeom>
        </p:spPr>
      </p:pic>
    </p:spTree>
    <p:extLst>
      <p:ext uri="{BB962C8B-B14F-4D97-AF65-F5344CB8AC3E}">
        <p14:creationId xmlns:p14="http://schemas.microsoft.com/office/powerpoint/2010/main" val="1911230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5038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 application, Word&#10;&#10;Description automatically generated">
            <a:extLst>
              <a:ext uri="{FF2B5EF4-FFF2-40B4-BE49-F238E27FC236}">
                <a16:creationId xmlns:a16="http://schemas.microsoft.com/office/drawing/2014/main" id="{34560FAD-85A5-7C89-1580-812913E2713F}"/>
              </a:ext>
            </a:extLst>
          </p:cNvPr>
          <p:cNvPicPr>
            <a:picLocks noGrp="1" noChangeAspect="1"/>
          </p:cNvPicPr>
          <p:nvPr>
            <p:ph idx="1"/>
          </p:nvPr>
        </p:nvPicPr>
        <p:blipFill rotWithShape="1">
          <a:blip r:embed="rId2"/>
          <a:srcRect r="6316" b="-1"/>
          <a:stretch/>
        </p:blipFill>
        <p:spPr>
          <a:xfrm>
            <a:off x="857305" y="643467"/>
            <a:ext cx="7429389" cy="5571066"/>
          </a:xfrm>
          <a:prstGeom prst="rect">
            <a:avLst/>
          </a:prstGeom>
        </p:spPr>
      </p:pic>
    </p:spTree>
    <p:extLst>
      <p:ext uri="{BB962C8B-B14F-4D97-AF65-F5344CB8AC3E}">
        <p14:creationId xmlns:p14="http://schemas.microsoft.com/office/powerpoint/2010/main" val="375764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7002" y="405354"/>
            <a:ext cx="7886700" cy="1008604"/>
          </a:xfrm>
        </p:spPr>
        <p:txBody>
          <a:bodyPr>
            <a:normAutofit/>
          </a:bodyPr>
          <a:lstStyle/>
          <a:p>
            <a:pPr marL="457200" lvl="1" indent="0">
              <a:buNone/>
            </a:pPr>
            <a:r>
              <a:rPr lang="en-US" sz="3200" dirty="0">
                <a:solidFill>
                  <a:srgbClr val="0070C0"/>
                </a:solidFill>
              </a:rPr>
              <a:t>UK Insurance industry</a:t>
            </a:r>
          </a:p>
        </p:txBody>
      </p:sp>
      <p:sp>
        <p:nvSpPr>
          <p:cNvPr id="6" name="TextBox 5">
            <a:extLst>
              <a:ext uri="{FF2B5EF4-FFF2-40B4-BE49-F238E27FC236}">
                <a16:creationId xmlns:a16="http://schemas.microsoft.com/office/drawing/2014/main" id="{F4E628A1-C7FF-5845-BF10-84FC23BB7282}"/>
              </a:ext>
            </a:extLst>
          </p:cNvPr>
          <p:cNvSpPr txBox="1"/>
          <p:nvPr/>
        </p:nvSpPr>
        <p:spPr>
          <a:xfrm>
            <a:off x="670560" y="5766816"/>
            <a:ext cx="5209568"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(from the Association of British Insurers </a:t>
            </a:r>
            <a:r>
              <a:rPr lang="en-US" sz="1400" dirty="0">
                <a:latin typeface="Andalus" panose="02020603050405020304" pitchFamily="18" charset="-78"/>
                <a:cs typeface="Andalus" panose="02020603050405020304" pitchFamily="18" charset="-78"/>
                <a:hlinkClick r:id="rId3"/>
              </a:rPr>
              <a:t>https://www.abi.org.uk/</a:t>
            </a:r>
            <a:r>
              <a:rPr lang="en-US" sz="1400" dirty="0">
                <a:latin typeface="Arial" panose="020B0604020202020204" pitchFamily="34" charset="0"/>
                <a:cs typeface="Arial" panose="020B0604020202020204" pitchFamily="34" charset="0"/>
              </a:rPr>
              <a:t>)</a:t>
            </a:r>
            <a:endParaRPr lang="en-GB" sz="1400" dirty="0"/>
          </a:p>
        </p:txBody>
      </p:sp>
      <p:pic>
        <p:nvPicPr>
          <p:cNvPr id="8" name="Picture 7" descr="A close-up of several different colored text&#10;&#10;Description automatically generated with medium confidence">
            <a:extLst>
              <a:ext uri="{FF2B5EF4-FFF2-40B4-BE49-F238E27FC236}">
                <a16:creationId xmlns:a16="http://schemas.microsoft.com/office/drawing/2014/main" id="{15DFF564-4964-A984-3191-C720D39623FF}"/>
              </a:ext>
            </a:extLst>
          </p:cNvPr>
          <p:cNvPicPr>
            <a:picLocks noChangeAspect="1"/>
          </p:cNvPicPr>
          <p:nvPr/>
        </p:nvPicPr>
        <p:blipFill>
          <a:blip r:embed="rId4"/>
          <a:stretch>
            <a:fillRect/>
          </a:stretch>
        </p:blipFill>
        <p:spPr>
          <a:xfrm>
            <a:off x="999241" y="1480008"/>
            <a:ext cx="7284461" cy="4185501"/>
          </a:xfrm>
          <a:prstGeom prst="rect">
            <a:avLst/>
          </a:prstGeom>
        </p:spPr>
      </p:pic>
    </p:spTree>
    <p:extLst>
      <p:ext uri="{BB962C8B-B14F-4D97-AF65-F5344CB8AC3E}">
        <p14:creationId xmlns:p14="http://schemas.microsoft.com/office/powerpoint/2010/main" val="4232038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Chart, pie chart">
            <a:extLst>
              <a:ext uri="{FF2B5EF4-FFF2-40B4-BE49-F238E27FC236}">
                <a16:creationId xmlns:a16="http://schemas.microsoft.com/office/drawing/2014/main" id="{D2D6E34A-E383-CF4D-2443-1B7B21F00EF7}"/>
              </a:ext>
            </a:extLst>
          </p:cNvPr>
          <p:cNvPicPr>
            <a:picLocks noGrp="1" noChangeAspect="1"/>
          </p:cNvPicPr>
          <p:nvPr>
            <p:ph idx="1"/>
          </p:nvPr>
        </p:nvPicPr>
        <p:blipFill>
          <a:blip r:embed="rId2"/>
          <a:stretch>
            <a:fillRect/>
          </a:stretch>
        </p:blipFill>
        <p:spPr>
          <a:xfrm>
            <a:off x="482600" y="750443"/>
            <a:ext cx="8178799" cy="5357113"/>
          </a:xfrm>
          <a:prstGeom prst="rect">
            <a:avLst/>
          </a:prstGeom>
        </p:spPr>
      </p:pic>
    </p:spTree>
    <p:extLst>
      <p:ext uri="{BB962C8B-B14F-4D97-AF65-F5344CB8AC3E}">
        <p14:creationId xmlns:p14="http://schemas.microsoft.com/office/powerpoint/2010/main" val="1521030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pitchFamily="-84" charset="-128"/>
              </a:rPr>
              <a:t>Insurance companies in 2008 crisis</a:t>
            </a:r>
            <a:endParaRPr lang="en-US" dirty="0"/>
          </a:p>
        </p:txBody>
      </p:sp>
      <p:sp>
        <p:nvSpPr>
          <p:cNvPr id="3" name="Content Placeholder 2"/>
          <p:cNvSpPr>
            <a:spLocks noGrp="1"/>
          </p:cNvSpPr>
          <p:nvPr>
            <p:ph idx="1"/>
          </p:nvPr>
        </p:nvSpPr>
        <p:spPr/>
        <p:txBody>
          <a:bodyPr>
            <a:noAutofit/>
          </a:bodyPr>
          <a:lstStyle/>
          <a:p>
            <a:r>
              <a:rPr lang="en-US" altLang="en-US" sz="1600" dirty="0">
                <a:ea typeface="ヒラギノ角ゴ Pro W3" pitchFamily="-84" charset="-128"/>
              </a:rPr>
              <a:t>A Credit Default Swap (CDS) is a type of insurance against default on a financial instrument, usually some kind of securitized bond.</a:t>
            </a:r>
          </a:p>
          <a:p>
            <a:r>
              <a:rPr lang="en-GB" sz="1600" dirty="0"/>
              <a:t>When the probability of default is low, the cost of the CDS is similarly low. </a:t>
            </a:r>
          </a:p>
          <a:p>
            <a:r>
              <a:rPr lang="en-GB" sz="1600" dirty="0"/>
              <a:t>By lowering the risk of these insured bonds with default insurance, the market price of the bonds would increase.</a:t>
            </a:r>
            <a:endParaRPr lang="en-US" altLang="en-US" sz="1600" dirty="0">
              <a:ea typeface="ヒラギノ角ゴ Pro W3" pitchFamily="-84" charset="-128"/>
            </a:endParaRPr>
          </a:p>
          <a:p>
            <a:r>
              <a:rPr lang="en-US" altLang="en-US" sz="1600" dirty="0">
                <a:ea typeface="ヒラギノ角ゴ Pro W3" pitchFamily="-84" charset="-128"/>
              </a:rPr>
              <a:t>Market essentially was non-existent before 1995, when JP Morgan “invented” CDS.</a:t>
            </a:r>
          </a:p>
          <a:p>
            <a:r>
              <a:rPr lang="en-US" altLang="en-US" sz="1600" dirty="0">
                <a:ea typeface="ヒラギノ角ゴ Pro W3" pitchFamily="-84" charset="-128"/>
              </a:rPr>
              <a:t>By 2008, there were about $62 trillion of CDS outstanding!</a:t>
            </a:r>
          </a:p>
          <a:p>
            <a:r>
              <a:rPr lang="en-US" altLang="en-US" sz="1600" dirty="0">
                <a:ea typeface="ヒラギノ角ゴ Pro W3" pitchFamily="-84" charset="-128"/>
              </a:rPr>
              <a:t>Who sold CDS? Hedge funds, banks, investment banks, and some (not most) insurance companies.</a:t>
            </a:r>
          </a:p>
          <a:p>
            <a:r>
              <a:rPr lang="en-GB" sz="1600" dirty="0"/>
              <a:t>CDSs market allowed speculators to buy  insurance against a firm failure if they saw a firm that looked unhealthy, even though they may not hold any interest in the firm.</a:t>
            </a:r>
          </a:p>
          <a:p>
            <a:r>
              <a:rPr lang="en-US" altLang="en-US" sz="1600" dirty="0">
                <a:ea typeface="ヒラギノ角ゴ Pro W3" pitchFamily="-84" charset="-128"/>
              </a:rPr>
              <a:t>The CDS market allowed speculators to bet on the health of a company, a usual no-no in insurance.</a:t>
            </a:r>
            <a:endParaRPr lang="en-US" sz="1600" dirty="0"/>
          </a:p>
        </p:txBody>
      </p:sp>
    </p:spTree>
    <p:extLst>
      <p:ext uri="{BB962C8B-B14F-4D97-AF65-F5344CB8AC3E}">
        <p14:creationId xmlns:p14="http://schemas.microsoft.com/office/powerpoint/2010/main" val="3487833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Credit Default Swaps: The AIG Blowup</a:t>
            </a:r>
            <a:endParaRPr lang="en-US" dirty="0"/>
          </a:p>
        </p:txBody>
      </p:sp>
      <p:sp>
        <p:nvSpPr>
          <p:cNvPr id="3" name="Content Placeholder 2"/>
          <p:cNvSpPr>
            <a:spLocks noGrp="1"/>
          </p:cNvSpPr>
          <p:nvPr>
            <p:ph idx="1"/>
          </p:nvPr>
        </p:nvSpPr>
        <p:spPr>
          <a:xfrm>
            <a:off x="628650" y="1536192"/>
            <a:ext cx="7886700" cy="4640771"/>
          </a:xfrm>
        </p:spPr>
        <p:txBody>
          <a:bodyPr>
            <a:normAutofit fontScale="85000" lnSpcReduction="10000"/>
          </a:bodyPr>
          <a:lstStyle/>
          <a:p>
            <a:r>
              <a:rPr lang="en-US" altLang="en-US" sz="1800" dirty="0">
                <a:ea typeface="ヒラギノ角ゴ Pro W3" pitchFamily="-84" charset="-128"/>
              </a:rPr>
              <a:t>AIG</a:t>
            </a:r>
            <a:r>
              <a:rPr lang="ja-JP" altLang="en-US" sz="1800" dirty="0"/>
              <a:t>’</a:t>
            </a:r>
            <a:r>
              <a:rPr lang="en-US" altLang="ja-JP" sz="1800" dirty="0">
                <a:ea typeface="ヒラギノ角ゴ Pro W3" pitchFamily="-84" charset="-128"/>
              </a:rPr>
              <a:t>s Financial Products division (based in London) insured over $400 billion of CDS securities, of which $57 billion were debt securities backed by subprime mortgages.</a:t>
            </a:r>
          </a:p>
          <a:p>
            <a:endParaRPr lang="en-US" altLang="ja-JP" sz="1800" dirty="0">
              <a:ea typeface="ヒラギノ角ゴ Pro W3" pitchFamily="-84" charset="-128"/>
            </a:endParaRPr>
          </a:p>
          <a:p>
            <a:r>
              <a:rPr lang="en-US" altLang="en-US" sz="1800" dirty="0">
                <a:ea typeface="ヒラギノ角ゴ Pro W3" pitchFamily="-84" charset="-128"/>
              </a:rPr>
              <a:t>Once the MBS market collapsed, customers who bought these CDS starting asking for money from those who sold them.</a:t>
            </a:r>
          </a:p>
          <a:p>
            <a:endParaRPr lang="en-US" altLang="en-US" sz="1800" dirty="0">
              <a:ea typeface="ヒラギノ角ゴ Pro W3" pitchFamily="-84" charset="-128"/>
            </a:endParaRPr>
          </a:p>
          <a:p>
            <a:r>
              <a:rPr lang="en-US" altLang="en-US" sz="1800" dirty="0">
                <a:ea typeface="ヒラギノ角ゴ Pro W3" pitchFamily="-84" charset="-128"/>
              </a:rPr>
              <a:t>Most banks and hedge funds who sold CDS were not terribly affected, because they were simultaneously on both sides of the CDS trade. They would buy CDS protection on the one hand and then sell CDS protection to someone else at the same time. So they netted out.</a:t>
            </a:r>
          </a:p>
          <a:p>
            <a:endParaRPr lang="en-US" altLang="en-US" sz="1800" dirty="0">
              <a:ea typeface="ヒラギノ角ゴ Pro W3" pitchFamily="-84" charset="-128"/>
            </a:endParaRPr>
          </a:p>
          <a:p>
            <a:r>
              <a:rPr lang="en-US" altLang="en-US" sz="1800" dirty="0">
                <a:ea typeface="ヒラギノ角ゴ Pro W3" pitchFamily="-84" charset="-128"/>
              </a:rPr>
              <a:t>Except for AIG. AIG was on one side of these trades only: They sold CDS. They never bought. Once bonds started defaulting, they had to pay out and nobody was paying them. AIG seems to have thought CDS were just an extension of the insurance business. But they’re not. </a:t>
            </a:r>
          </a:p>
          <a:p>
            <a:endParaRPr lang="en-US" altLang="en-US" sz="1800" dirty="0">
              <a:ea typeface="ヒラギノ角ゴ Pro W3" pitchFamily="-84" charset="-128"/>
            </a:endParaRPr>
          </a:p>
          <a:p>
            <a:r>
              <a:rPr lang="en-US" altLang="en-US" sz="1800" dirty="0">
                <a:ea typeface="ヒラギノ角ゴ Pro W3" pitchFamily="-84" charset="-128"/>
              </a:rPr>
              <a:t>Creditors quickly realized the losses may bankrupt AIG – AIG could not raise any capital</a:t>
            </a:r>
          </a:p>
          <a:p>
            <a:pPr marL="0" indent="0">
              <a:buNone/>
            </a:pPr>
            <a:endParaRPr lang="en-US" altLang="en-US" sz="1800" dirty="0">
              <a:ea typeface="ヒラギノ角ゴ Pro W3" pitchFamily="-84" charset="-128"/>
            </a:endParaRPr>
          </a:p>
          <a:p>
            <a:r>
              <a:rPr lang="en-US" altLang="en-US" sz="1800" dirty="0">
                <a:ea typeface="ヒラギノ角ゴ Pro W3" pitchFamily="-84" charset="-128"/>
              </a:rPr>
              <a:t>The Fed organized a bailout but took a big stake in AIG as payment. </a:t>
            </a:r>
            <a:endParaRPr lang="en-US" sz="1800" dirty="0"/>
          </a:p>
        </p:txBody>
      </p:sp>
    </p:spTree>
    <p:extLst>
      <p:ext uri="{BB962C8B-B14F-4D97-AF65-F5344CB8AC3E}">
        <p14:creationId xmlns:p14="http://schemas.microsoft.com/office/powerpoint/2010/main" val="274952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Insurance Companies During COVID-19</a:t>
            </a:r>
          </a:p>
        </p:txBody>
      </p:sp>
      <p:sp>
        <p:nvSpPr>
          <p:cNvPr id="3" name="Content Placeholder 2"/>
          <p:cNvSpPr>
            <a:spLocks noGrp="1"/>
          </p:cNvSpPr>
          <p:nvPr>
            <p:ph idx="1"/>
          </p:nvPr>
        </p:nvSpPr>
        <p:spPr>
          <a:xfrm>
            <a:off x="628650" y="1476103"/>
            <a:ext cx="7886700" cy="4700860"/>
          </a:xfrm>
        </p:spPr>
        <p:txBody>
          <a:bodyPr>
            <a:normAutofit/>
          </a:bodyPr>
          <a:lstStyle/>
          <a:p>
            <a:r>
              <a:rPr sz="1600" dirty="0"/>
              <a:t>Impact </a:t>
            </a:r>
            <a:r>
              <a:rPr lang="en-GB" sz="1600" dirty="0"/>
              <a:t> of COVID on </a:t>
            </a:r>
            <a:r>
              <a:rPr sz="1600" dirty="0"/>
              <a:t>Health Insurance</a:t>
            </a:r>
            <a:r>
              <a:rPr lang="en-GB" sz="1600" dirty="0"/>
              <a:t>  - Increased claims for COVID-19 treatments and hospitalizations &amp; </a:t>
            </a:r>
            <a:r>
              <a:rPr sz="1600" dirty="0"/>
              <a:t> </a:t>
            </a:r>
            <a:r>
              <a:rPr lang="en-GB" sz="1600" dirty="0"/>
              <a:t>r</a:t>
            </a:r>
            <a:r>
              <a:rPr sz="1600" dirty="0" err="1"/>
              <a:t>ise</a:t>
            </a:r>
            <a:r>
              <a:rPr sz="1600" dirty="0"/>
              <a:t> in demand for private health insurance policies.</a:t>
            </a:r>
          </a:p>
          <a:p>
            <a:r>
              <a:rPr sz="1600" dirty="0"/>
              <a:t>Life Insurance Adjustments</a:t>
            </a:r>
            <a:r>
              <a:rPr lang="en-GB" sz="1600" dirty="0"/>
              <a:t> -  </a:t>
            </a:r>
            <a:r>
              <a:rPr sz="1600" dirty="0"/>
              <a:t>Higher payouts due to increased mortality rates</a:t>
            </a:r>
            <a:r>
              <a:rPr lang="en-GB" sz="1600" dirty="0"/>
              <a:t>  &amp; </a:t>
            </a:r>
            <a:r>
              <a:rPr sz="1600" dirty="0"/>
              <a:t> stricter underwriting policies for new applicants.</a:t>
            </a:r>
          </a:p>
          <a:p>
            <a:endParaRPr sz="1600" dirty="0"/>
          </a:p>
          <a:p>
            <a:r>
              <a:rPr sz="1600" dirty="0"/>
              <a:t>Travel Insurance Challenges</a:t>
            </a:r>
            <a:r>
              <a:rPr lang="en-GB" sz="1600" dirty="0"/>
              <a:t> - </a:t>
            </a:r>
            <a:r>
              <a:rPr sz="1600" dirty="0"/>
              <a:t> Surge in claims for trip cancellations and medical emergencies abroad</a:t>
            </a:r>
            <a:r>
              <a:rPr lang="en-GB" sz="1600" dirty="0"/>
              <a:t> &amp; </a:t>
            </a:r>
            <a:r>
              <a:rPr sz="1600" dirty="0"/>
              <a:t> </a:t>
            </a:r>
            <a:r>
              <a:rPr lang="en-GB" sz="1600" dirty="0"/>
              <a:t>p</a:t>
            </a:r>
            <a:r>
              <a:rPr sz="1600" dirty="0" err="1"/>
              <a:t>olicy</a:t>
            </a:r>
            <a:r>
              <a:rPr sz="1600" dirty="0"/>
              <a:t> exclusions for pandemics created confusion and disputes.</a:t>
            </a:r>
          </a:p>
          <a:p>
            <a:endParaRPr sz="1600" dirty="0"/>
          </a:p>
          <a:p>
            <a:r>
              <a:rPr sz="1600" dirty="0"/>
              <a:t>Business Insurance</a:t>
            </a:r>
            <a:r>
              <a:rPr lang="en-GB" sz="1600" dirty="0"/>
              <a:t> </a:t>
            </a:r>
            <a:r>
              <a:rPr sz="1600" dirty="0"/>
              <a:t>- Claims for business interruptions surged, but many were denied due to lack of pandemic coverage</a:t>
            </a:r>
            <a:r>
              <a:rPr lang="en-GB" sz="1600" dirty="0"/>
              <a:t>.</a:t>
            </a:r>
            <a:endParaRPr sz="1600" dirty="0"/>
          </a:p>
          <a:p>
            <a:endParaRPr sz="1600" dirty="0"/>
          </a:p>
          <a:p>
            <a:r>
              <a:rPr sz="1600" dirty="0"/>
              <a:t>Adaptations by Insurance Companies</a:t>
            </a:r>
            <a:r>
              <a:rPr lang="en-GB" sz="1600" dirty="0"/>
              <a:t> - </a:t>
            </a:r>
            <a:r>
              <a:rPr sz="1600" dirty="0"/>
              <a:t> Flexible payment options for policyholders facing financial difficulties</a:t>
            </a:r>
            <a:r>
              <a:rPr lang="en-GB" sz="1600" dirty="0"/>
              <a:t>; </a:t>
            </a:r>
            <a:r>
              <a:rPr lang="en-GB" sz="1600" dirty="0" err="1"/>
              <a:t>i</a:t>
            </a:r>
            <a:r>
              <a:rPr sz="1600" dirty="0" err="1"/>
              <a:t>ntroduction</a:t>
            </a:r>
            <a:r>
              <a:rPr sz="1600" dirty="0"/>
              <a:t> of pandemic-specific products.</a:t>
            </a:r>
          </a:p>
          <a:p>
            <a:r>
              <a:rPr sz="1600" dirty="0"/>
              <a:t>Future Implications</a:t>
            </a:r>
            <a:r>
              <a:rPr lang="en-GB" sz="1600" dirty="0"/>
              <a:t> - </a:t>
            </a:r>
            <a:r>
              <a:rPr sz="1600" dirty="0"/>
              <a:t>Increased focus on pandemic risk model</a:t>
            </a:r>
            <a:r>
              <a:rPr lang="en-GB" sz="1600" dirty="0"/>
              <a:t>l</a:t>
            </a:r>
            <a:r>
              <a:rPr sz="1600" dirty="0" err="1"/>
              <a:t>ing</a:t>
            </a:r>
            <a:r>
              <a:rPr lang="en-GB" sz="1600" dirty="0"/>
              <a:t>; h</a:t>
            </a:r>
            <a:r>
              <a:rPr sz="1600" dirty="0" err="1"/>
              <a:t>igher</a:t>
            </a:r>
            <a:r>
              <a:rPr sz="1600" dirty="0"/>
              <a:t> premiums to offset losses during COVID-19</a:t>
            </a:r>
            <a:r>
              <a:rPr lang="en-GB" sz="1600" dirty="0"/>
              <a:t> and </a:t>
            </a:r>
            <a:r>
              <a:rPr sz="1600" dirty="0"/>
              <a:t>Greater consumer awareness of policy terms and exclusions.</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1950</TotalTime>
  <Words>2607</Words>
  <Application>Microsoft Office PowerPoint</Application>
  <PresentationFormat>On-screen Show (4:3)</PresentationFormat>
  <Paragraphs>181</Paragraphs>
  <Slides>27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Andalus</vt:lpstr>
      <vt:lpstr>Arial</vt:lpstr>
      <vt:lpstr>Calibri</vt:lpstr>
      <vt:lpstr>Calibri Light</vt:lpstr>
      <vt:lpstr>ヒラギノ角ゴ Pro W3</vt:lpstr>
      <vt:lpstr>Office Theme</vt:lpstr>
      <vt:lpstr>Week 8  Insurance companies</vt:lpstr>
      <vt:lpstr>PowerPoint Presentation</vt:lpstr>
      <vt:lpstr>Learning Objectives</vt:lpstr>
      <vt:lpstr>Insurance </vt:lpstr>
      <vt:lpstr>Insurance Companies</vt:lpstr>
      <vt:lpstr>Fundamentals of Insurance</vt:lpstr>
      <vt:lpstr>Fundamentals of Insurance</vt:lpstr>
      <vt:lpstr>Information Asymmetry problems in insurance</vt:lpstr>
      <vt:lpstr>Adverse Selection and Moral Hazard in Insurance</vt:lpstr>
      <vt:lpstr>How do insurance companies manage the potential problem of information asymmetries</vt:lpstr>
      <vt:lpstr>How do insurance companies manage the potential problem of information asymmetries</vt:lpstr>
      <vt:lpstr>Types of Insurance in the UK</vt:lpstr>
      <vt:lpstr>Life Insurance</vt:lpstr>
      <vt:lpstr>Life Insurance</vt:lpstr>
      <vt:lpstr>Health Insurance</vt:lpstr>
      <vt:lpstr>Health Insurance</vt:lpstr>
      <vt:lpstr>Insurance</vt:lpstr>
      <vt:lpstr>PowerPoint Presentation</vt:lpstr>
      <vt:lpstr>Distribution of Life Insurance Company Assets (2015) in the US</vt:lpstr>
      <vt:lpstr>PowerPoint Presentation</vt:lpstr>
      <vt:lpstr>PowerPoint Presentation</vt:lpstr>
      <vt:lpstr>PowerPoint Presentation</vt:lpstr>
      <vt:lpstr>PowerPoint Presentation</vt:lpstr>
      <vt:lpstr>PowerPoint Presentation</vt:lpstr>
      <vt:lpstr>Insurance companies in 2008 crisis</vt:lpstr>
      <vt:lpstr>Credit Default Swaps: The AIG Blowup</vt:lpstr>
      <vt:lpstr>Insurance Companies During COVID-19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Armagan Gezici</dc:creator>
  <cp:lastModifiedBy>Fazelina Sahul Hamid</cp:lastModifiedBy>
  <cp:revision>32</cp:revision>
  <dcterms:created xsi:type="dcterms:W3CDTF">2021-11-26T18:26:55Z</dcterms:created>
  <dcterms:modified xsi:type="dcterms:W3CDTF">2024-12-11T14:53:13Z</dcterms:modified>
</cp:coreProperties>
</file>