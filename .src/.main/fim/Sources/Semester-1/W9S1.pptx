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_rels/presentation.xml.rels" ContentType="application/vnd.openxmlformats-package.relationships+xml"/>
  <Override PartName="/ppt/media/image1.png" ContentType="image/png"/>
  <Override PartName="/ppt/media/image2.jpeg" ContentType="image/jpeg"/>
  <Override PartName="/ppt/media/image4.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9A1693A-67E4-4B6E-92EE-34BA5669019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395F672-3A08-4714-9650-2E5E998F0288}"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03E78720-0806-4D84-8205-A77BE7CC6B1E}"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pto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A62AE8D-F080-487C-9949-1EC5C2AFA2E1}"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6CFD37F1-1082-40EE-A6F9-905ADDB13996}"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ptos"/>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ptos"/>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3FBF898-856A-4A2C-909E-BA744B99C7EA}"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0BF0E4C-ABB3-4EF3-A6E5-B64CCB900743}"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11416FBA-448D-4ADD-9189-BE02C75BBAFC}"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B95BBC87-0C2C-4E0F-853F-EE943285CE8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568797A-3775-4259-AB6A-9EA789299BDA}"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AD06E384-79D9-4B3B-8018-C6B4C6DEE502}"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GB" sz="6000" spc="-1" strike="noStrike">
                <a:solidFill>
                  <a:srgbClr val="0070c0"/>
                </a:solidFill>
                <a:latin typeface="Aptos Display"/>
              </a:rPr>
              <a:t>Click to edit Master title style</a:t>
            </a:r>
            <a:endParaRPr b="0" lang="en-US" sz="6000" spc="-1" strike="noStrike">
              <a:solidFill>
                <a:schemeClr val="dk1"/>
              </a:solidFill>
              <a:latin typeface="Aptos"/>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 </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12157B4A-374A-4388-B6DC-08028B06AC24}" type="slidenum">
              <a:rPr b="0" lang="en-GB" sz="1200" spc="-1" strike="noStrike">
                <a:solidFill>
                  <a:schemeClr val="dk1">
                    <a:tint val="82000"/>
                  </a:schemeClr>
                </a:solidFill>
                <a:latin typeface="Aptos"/>
              </a:rPr>
              <a:t>19</a:t>
            </a:fld>
            <a:endParaRPr b="0" lang="en-US" sz="12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Aptos"/>
              </a:rPr>
              <a:t>Click to edit the outline text format</a:t>
            </a:r>
            <a:endParaRPr b="0" lang="en-US" sz="28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Aptos"/>
              </a:rPr>
              <a:t>Second Outline Level</a:t>
            </a:r>
            <a:endParaRPr b="0" lang="en-US" sz="20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ptos"/>
              </a:rPr>
              <a:t>Third Outline Level</a:t>
            </a:r>
            <a:endParaRPr b="0" lang="en-US" sz="180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ptos"/>
              </a:rPr>
              <a:t>Fourth Outline Level</a:t>
            </a:r>
            <a:endParaRPr b="0" lang="en-US" sz="180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19423210-EAEC-4AB1-8372-8EE2022CDBE6}"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4F34CD2F-9B5F-417C-8934-DA799C7412E9}"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284BB2DA-578C-4853-A0FF-CBDBBD90AFB5}"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GB" sz="6000" spc="-1" strike="noStrike">
                <a:solidFill>
                  <a:srgbClr val="0070c0"/>
                </a:solidFill>
                <a:latin typeface="Aptos Display"/>
              </a:rPr>
              <a:t>Click to edit Master title style</a:t>
            </a:r>
            <a:endParaRPr b="0" lang="en-US" sz="6000" spc="-1" strike="noStrike">
              <a:solidFill>
                <a:schemeClr val="dk1"/>
              </a:solidFill>
              <a:latin typeface="Aptos"/>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2400" spc="-1" strike="noStrike">
                <a:solidFill>
                  <a:schemeClr val="dk1">
                    <a:tint val="82000"/>
                  </a:schemeClr>
                </a:solidFill>
                <a:latin typeface="Aptos"/>
              </a:rPr>
              <a:t>Click to edit Master text styles</a:t>
            </a:r>
            <a:endParaRPr b="0" lang="en-US" sz="2400" spc="-1" strike="noStrike">
              <a:solidFill>
                <a:schemeClr val="dk1"/>
              </a:solidFill>
              <a:latin typeface="Aptos"/>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F4B49CAF-12C2-421C-9B05-B5F8FD81892C}"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722F5F21-B7BE-41E1-8C85-38F1449EBF19}"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GB" sz="2400" spc="-1" strike="noStrike">
                <a:solidFill>
                  <a:schemeClr val="dk1"/>
                </a:solidFill>
                <a:latin typeface="Aptos"/>
              </a:rPr>
              <a:t>Click to edit Master text styles</a:t>
            </a:r>
            <a:endParaRPr b="0" lang="en-US" sz="2400" spc="-1" strike="noStrike">
              <a:solidFill>
                <a:schemeClr val="dk1"/>
              </a:solidFill>
              <a:latin typeface="Aptos"/>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GB" sz="2400" spc="-1" strike="noStrike">
                <a:solidFill>
                  <a:schemeClr val="dk1"/>
                </a:solidFill>
                <a:latin typeface="Aptos"/>
              </a:rPr>
              <a:t>Click to edit Master text styles</a:t>
            </a:r>
            <a:endParaRPr b="0" lang="en-US" sz="2400" spc="-1" strike="noStrike">
              <a:solidFill>
                <a:schemeClr val="dk1"/>
              </a:solidFill>
              <a:latin typeface="Aptos"/>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Click to edit Master text styles</a:t>
            </a:r>
            <a:endParaRPr b="0" lang="en-US" sz="2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Second level</a:t>
            </a:r>
            <a:endParaRPr b="0" lang="en-US" sz="24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Third level</a:t>
            </a:r>
            <a:endParaRPr b="0" lang="en-US" sz="20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Fourth level</a:t>
            </a:r>
            <a:endParaRPr b="0" lang="en-US" sz="18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Aptos"/>
              </a:rPr>
              <a:t>Fifth level</a:t>
            </a:r>
            <a:endParaRPr b="0" lang="en-US" sz="1800" spc="-1" strike="noStrike">
              <a:solidFill>
                <a:schemeClr val="dk1"/>
              </a:solidFill>
              <a:latin typeface="Aptos"/>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4A0AFB87-AAC6-44B3-B6F9-3BAD64415029}"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Click to edit Master title style</a:t>
            </a:r>
            <a:endParaRPr b="0" lang="en-US" sz="3600" spc="-1" strike="noStrike">
              <a:solidFill>
                <a:schemeClr val="dk1"/>
              </a:solidFill>
              <a:latin typeface="Aptos"/>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207B4B85-97E4-413F-B2BB-ABFDC4CC8689}"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EB2C3D6D-947C-4F94-83DD-0E26D9DD745D}"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GB" sz="3200" spc="-1" strike="noStrike">
                <a:solidFill>
                  <a:srgbClr val="0070c0"/>
                </a:solidFill>
                <a:latin typeface="Aptos Display"/>
              </a:rPr>
              <a:t>Click to edit Master title style</a:t>
            </a:r>
            <a:endParaRPr b="0" lang="en-US" sz="3200" spc="-1" strike="noStrike">
              <a:solidFill>
                <a:schemeClr val="dk1"/>
              </a:solidFill>
              <a:latin typeface="Aptos"/>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3200" spc="-1" strike="noStrike">
                <a:solidFill>
                  <a:schemeClr val="dk1"/>
                </a:solidFill>
                <a:latin typeface="Aptos"/>
              </a:rPr>
              <a:t>Click to edit Master text styles</a:t>
            </a:r>
            <a:endParaRPr b="0" lang="en-US" sz="32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GB" sz="2800" spc="-1" strike="noStrike">
                <a:solidFill>
                  <a:schemeClr val="dk1"/>
                </a:solidFill>
                <a:latin typeface="Aptos"/>
              </a:rPr>
              <a:t>Second level</a:t>
            </a:r>
            <a:endParaRPr b="0" lang="en-US" sz="2800" spc="-1" strike="noStrike">
              <a:solidFill>
                <a:schemeClr val="dk1"/>
              </a:solidFill>
              <a:latin typeface="Aptos"/>
            </a:endParaRPr>
          </a:p>
          <a:p>
            <a:pPr lvl="2" marL="1143000" indent="-228600" defTabSz="914400">
              <a:lnSpc>
                <a:spcPct val="90000"/>
              </a:lnSpc>
              <a:spcBef>
                <a:spcPts val="499"/>
              </a:spcBef>
              <a:buClr>
                <a:srgbClr val="000000"/>
              </a:buClr>
              <a:buFont typeface="Arial"/>
              <a:buChar char="•"/>
            </a:pPr>
            <a:r>
              <a:rPr b="0" lang="en-GB" sz="2400" spc="-1" strike="noStrike">
                <a:solidFill>
                  <a:schemeClr val="dk1"/>
                </a:solidFill>
                <a:latin typeface="Aptos"/>
              </a:rPr>
              <a:t>Third level</a:t>
            </a:r>
            <a:endParaRPr b="0" lang="en-US" sz="2400" spc="-1" strike="noStrike">
              <a:solidFill>
                <a:schemeClr val="dk1"/>
              </a:solidFill>
              <a:latin typeface="Aptos"/>
            </a:endParaRPr>
          </a:p>
          <a:p>
            <a:pPr lvl="3" marL="16002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Fourth level</a:t>
            </a:r>
            <a:endParaRPr b="0" lang="en-US" sz="2000" spc="-1" strike="noStrike">
              <a:solidFill>
                <a:schemeClr val="dk1"/>
              </a:solidFill>
              <a:latin typeface="Aptos"/>
            </a:endParaRPr>
          </a:p>
          <a:p>
            <a:pPr lvl="4" marL="2057400" indent="-228600" defTabSz="914400">
              <a:lnSpc>
                <a:spcPct val="90000"/>
              </a:lnSpc>
              <a:spcBef>
                <a:spcPts val="499"/>
              </a:spcBef>
              <a:buClr>
                <a:srgbClr val="000000"/>
              </a:buClr>
              <a:buFont typeface="Arial"/>
              <a:buChar char="•"/>
            </a:pPr>
            <a:r>
              <a:rPr b="0" lang="en-GB" sz="2000" spc="-1" strike="noStrike">
                <a:solidFill>
                  <a:schemeClr val="dk1"/>
                </a:solidFill>
                <a:latin typeface="Aptos"/>
              </a:rPr>
              <a:t>Fifth level</a:t>
            </a:r>
            <a:endParaRPr b="0" lang="en-US" sz="2000" spc="-1" strike="noStrike">
              <a:solidFill>
                <a:schemeClr val="dk1"/>
              </a:solidFill>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1600" spc="-1" strike="noStrike">
                <a:solidFill>
                  <a:schemeClr val="dk1"/>
                </a:solidFill>
                <a:latin typeface="Aptos"/>
              </a:rPr>
              <a:t>Click to edit Master text styles</a:t>
            </a:r>
            <a:endParaRPr b="0" lang="en-US" sz="1600" spc="-1" strike="noStrike">
              <a:solidFill>
                <a:schemeClr val="dk1"/>
              </a:solidFill>
              <a:latin typeface="Aptos"/>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14DE018E-E8B7-4C72-BF0E-CE4FA1D5F549}"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GB" sz="3200" spc="-1" strike="noStrike">
                <a:solidFill>
                  <a:srgbClr val="0070c0"/>
                </a:solidFill>
                <a:latin typeface="Aptos Display"/>
              </a:rPr>
              <a:t>Click to edit Master title style</a:t>
            </a:r>
            <a:endParaRPr b="0" lang="en-US" sz="3200" spc="-1" strike="noStrike">
              <a:solidFill>
                <a:schemeClr val="dk1"/>
              </a:solidFill>
              <a:latin typeface="Aptos"/>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3200" spc="-1" strike="noStrike">
                <a:solidFill>
                  <a:schemeClr val="dk1"/>
                </a:solidFill>
                <a:latin typeface="Aptos"/>
              </a:rPr>
              <a:t>Second Outline Level</a:t>
            </a:r>
            <a:endParaRPr b="0" lang="en-US" sz="32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3200" spc="-1" strike="noStrike">
                <a:solidFill>
                  <a:schemeClr val="dk1"/>
                </a:solidFill>
                <a:latin typeface="Aptos"/>
              </a:rPr>
              <a:t>Third Outline Level</a:t>
            </a:r>
            <a:endParaRPr b="0" lang="en-US" sz="320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3200" spc="-1" strike="noStrike">
                <a:solidFill>
                  <a:schemeClr val="dk1"/>
                </a:solidFill>
                <a:latin typeface="Aptos"/>
              </a:rPr>
              <a:t>Fourth Outline Level</a:t>
            </a:r>
            <a:endParaRPr b="0" lang="en-US" sz="320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Aptos"/>
              </a:rPr>
              <a:t>Fifth Outline Level</a:t>
            </a:r>
            <a:endParaRPr b="0" lang="en-US" sz="32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Aptos"/>
              </a:rPr>
              <a:t>Sixth Outline Level</a:t>
            </a:r>
            <a:endParaRPr b="0" lang="en-US" sz="32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Aptos"/>
              </a:rPr>
              <a:t>Seventh Outline Level</a:t>
            </a:r>
            <a:endParaRPr b="0" lang="en-US" sz="3200" spc="-1" strike="noStrike">
              <a:solidFill>
                <a:schemeClr val="dk1"/>
              </a:solidFill>
              <a:latin typeface="Aptos"/>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1600" spc="-1" strike="noStrike">
                <a:solidFill>
                  <a:schemeClr val="dk1"/>
                </a:solidFill>
                <a:latin typeface="Aptos"/>
              </a:rPr>
              <a:t>Click to edit Master text styles</a:t>
            </a:r>
            <a:endParaRPr b="0" lang="en-US" sz="1600" spc="-1" strike="noStrike">
              <a:solidFill>
                <a:schemeClr val="dk1"/>
              </a:solidFill>
              <a:latin typeface="Aptos"/>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82000"/>
                  </a:schemeClr>
                </a:solidFill>
                <a:latin typeface="Aptos"/>
              </a:defRPr>
            </a:lvl1pPr>
          </a:lstStyle>
          <a:p>
            <a:pPr indent="0" defTabSz="914400">
              <a:lnSpc>
                <a:spcPct val="100000"/>
              </a:lnSpc>
              <a:buNone/>
            </a:pPr>
            <a:r>
              <a:rPr b="0" lang="en-GB" sz="1200" spc="-1" strike="noStrike">
                <a:solidFill>
                  <a:schemeClr val="dk1">
                    <a:tint val="82000"/>
                  </a:schemeClr>
                </a:solidFill>
                <a:latin typeface="Aptos"/>
              </a:rPr>
              <a:t>&lt;date/time&gt;</a:t>
            </a:r>
            <a:endParaRPr b="0" lang="en-US" sz="1200" spc="-1" strike="noStrike">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82000"/>
                  </a:schemeClr>
                </a:solidFill>
                <a:latin typeface="Aptos"/>
              </a:defRPr>
            </a:lvl1pPr>
          </a:lstStyle>
          <a:p>
            <a:pPr indent="0" algn="r" defTabSz="914400">
              <a:lnSpc>
                <a:spcPct val="100000"/>
              </a:lnSpc>
              <a:buNone/>
            </a:pPr>
            <a:fld id="{C341DA7B-E0A6-46CF-A5C4-2B74337386B0}" type="slidenum">
              <a:rPr b="0" lang="en-GB"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hyperlink" Target="https://fred.stlouisfed.org/series/M1109BUSM293NNBR" TargetMode="External"/><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s://fred.stlouisfed.org/series/M1109BUSM293NNBR" TargetMode="External"/><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hyperlink" Target="https://fred.stlouisfed.org/series/M13036USM193NNBR" TargetMode="External"/><Relationship Id="rId3" Type="http://schemas.openxmlformats.org/officeDocument/2006/relationships/hyperlink" Target="https://fred.stlouisfed.org/series/LTGOVTBD" TargetMode="External"/><Relationship Id="rId4"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rmAutofit fontScale="70155"/>
          </a:bodyPr>
          <a:p>
            <a:pPr indent="0" algn="ctr" defTabSz="914400">
              <a:lnSpc>
                <a:spcPct val="90000"/>
              </a:lnSpc>
              <a:buNone/>
            </a:pPr>
            <a:r>
              <a:rPr b="0" lang="en-GB" sz="6000" spc="-1" strike="noStrike">
                <a:solidFill>
                  <a:srgbClr val="0070c0"/>
                </a:solidFill>
                <a:latin typeface="Aptos Display"/>
              </a:rPr>
              <a:t>Week 9 </a:t>
            </a:r>
            <a:br>
              <a:rPr sz="6000"/>
            </a:br>
            <a:br>
              <a:rPr sz="6000"/>
            </a:br>
            <a:br>
              <a:rPr sz="6000"/>
            </a:br>
            <a:r>
              <a:rPr b="0" lang="en-GB" sz="6000" spc="-1" strike="noStrike">
                <a:solidFill>
                  <a:srgbClr val="0070c0"/>
                </a:solidFill>
                <a:latin typeface="Aptos Display"/>
              </a:rPr>
              <a:t>Financial Crises - Part 2</a:t>
            </a:r>
            <a:endParaRPr b="0" lang="en-US" sz="6000" spc="-1" strike="noStrike">
              <a:solidFill>
                <a:schemeClr val="dk1"/>
              </a:solidFill>
              <a:latin typeface="Aptos"/>
            </a:endParaRPr>
          </a:p>
        </p:txBody>
      </p:sp>
      <p:sp>
        <p:nvSpPr>
          <p:cNvPr id="67"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a:buNone/>
            </a:pP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GB" sz="3600" spc="-1" strike="noStrike">
                <a:solidFill>
                  <a:srgbClr val="0070c0"/>
                </a:solidFill>
                <a:latin typeface="Aptos Display"/>
              </a:rPr>
              <a:t>Outline</a:t>
            </a:r>
            <a:endParaRPr b="0" lang="en-US" sz="3600" spc="-1" strike="noStrike">
              <a:solidFill>
                <a:schemeClr val="dk1"/>
              </a:solidFill>
              <a:latin typeface="Aptos"/>
            </a:endParaRPr>
          </a:p>
        </p:txBody>
      </p:sp>
      <p:sp>
        <p:nvSpPr>
          <p:cNvPr id="6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Information Perspective  on financial crisis</a:t>
            </a:r>
            <a:endParaRPr b="0" lang="en-US" sz="28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Stages of a Financial Crises</a:t>
            </a:r>
            <a:endParaRPr b="0" lang="en-US" sz="28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Great Depression: a case study of financial crisis</a:t>
            </a:r>
            <a:endParaRPr b="0" lang="en-US" sz="2800" spc="-1" strike="noStrike">
              <a:solidFill>
                <a:schemeClr val="dk1"/>
              </a:solidFill>
              <a:latin typeface="Aptos"/>
            </a:endParaRPr>
          </a:p>
          <a:p>
            <a:pPr indent="0" defTabSz="914400">
              <a:lnSpc>
                <a:spcPct val="90000"/>
              </a:lnSpc>
              <a:spcBef>
                <a:spcPts val="1001"/>
              </a:spcBef>
              <a:buNone/>
            </a:pPr>
            <a:endParaRPr b="0" lang="en-US" sz="2800" spc="-1" strike="noStrike">
              <a:solidFill>
                <a:schemeClr val="dk1"/>
              </a:solidFill>
              <a:latin typeface="Aptos"/>
            </a:endParaRPr>
          </a:p>
          <a:p>
            <a:pPr indent="0" defTabSz="914400">
              <a:lnSpc>
                <a:spcPct val="90000"/>
              </a:lnSpc>
              <a:spcBef>
                <a:spcPts val="1001"/>
              </a:spcBef>
              <a:buNone/>
            </a:pPr>
            <a:endParaRPr b="0" lang="en-US" sz="28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rPr>
              <a:t>Reading: </a:t>
            </a:r>
            <a:endParaRPr b="0" lang="en-US" sz="20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rPr>
              <a:t>Read “Chapter 8: Why Do Financial Crises Occur?” in Mishkin and Eakins (on the reading list)</a:t>
            </a:r>
            <a:endParaRPr b="0" lang="en-US" sz="20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fontScale="90555"/>
          </a:bodyPr>
          <a:p>
            <a:pPr indent="0" algn="ctr" defTabSz="914400">
              <a:lnSpc>
                <a:spcPct val="90000"/>
              </a:lnSpc>
              <a:buNone/>
            </a:pPr>
            <a:r>
              <a:rPr b="0" lang="en-US" sz="3600" spc="-1" strike="noStrike">
                <a:solidFill>
                  <a:srgbClr val="0070c0"/>
                </a:solidFill>
                <a:latin typeface="Aptos Display"/>
                <a:ea typeface="ヒラギノ角ゴ Pro W3"/>
              </a:rPr>
              <a:t>What Is a Financial Crisis?</a:t>
            </a:r>
            <a:br>
              <a:rPr sz="3600"/>
            </a:br>
            <a:br>
              <a:rPr sz="3600"/>
            </a:br>
            <a:r>
              <a:rPr b="0" lang="en-US" sz="2800" spc="-1" strike="noStrike">
                <a:solidFill>
                  <a:srgbClr val="0070c0"/>
                </a:solidFill>
                <a:latin typeface="Aptos Display"/>
                <a:ea typeface="ヒラギノ角ゴ Pro W3"/>
              </a:rPr>
              <a:t>An Information Perspective </a:t>
            </a:r>
            <a:endParaRPr b="0" lang="en-US" sz="2800" spc="-1" strike="noStrike">
              <a:solidFill>
                <a:schemeClr val="dk1"/>
              </a:solidFill>
              <a:latin typeface="Aptos"/>
            </a:endParaRPr>
          </a:p>
        </p:txBody>
      </p:sp>
      <p:sp>
        <p:nvSpPr>
          <p:cNvPr id="7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We learned about moral hazard and adverse selection problems in week 2 </a:t>
            </a:r>
            <a:endParaRPr b="0" lang="en-US" sz="2400" spc="-1" strike="noStrike">
              <a:solidFill>
                <a:schemeClr val="dk1"/>
              </a:solidFill>
              <a:latin typeface="Aptos"/>
            </a:endParaRPr>
          </a:p>
          <a:p>
            <a:pPr indent="0" defTabSz="914400">
              <a:lnSpc>
                <a:spcPct val="90000"/>
              </a:lnSpc>
              <a:spcBef>
                <a:spcPts val="1001"/>
              </a:spcBef>
              <a:buNone/>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Asymmetric information creates barriers between savers and firms with productive investment opportunities.</a:t>
            </a:r>
            <a:endParaRPr b="0" lang="en-US" sz="2400" spc="-1" strike="noStrike">
              <a:solidFill>
                <a:schemeClr val="dk1"/>
              </a:solidFill>
              <a:latin typeface="Aptos"/>
            </a:endParaRPr>
          </a:p>
          <a:p>
            <a:pPr indent="0" defTabSz="914400">
              <a:lnSpc>
                <a:spcPct val="90000"/>
              </a:lnSpc>
              <a:spcBef>
                <a:spcPts val="1001"/>
              </a:spcBef>
              <a:buNone/>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A financial crisis occurs when information flows in financial markets experience a particularly large disruption.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Aptos"/>
                <a:ea typeface="ヒラギノ角ゴ Pro W3"/>
              </a:rPr>
              <a:t>Financial markets may stop functioning completely.</a:t>
            </a:r>
            <a:endParaRPr b="0" lang="en-US" sz="2000" spc="-1" strike="noStrike">
              <a:solidFill>
                <a:schemeClr val="dk1"/>
              </a:solidFill>
              <a:latin typeface="Aptos"/>
            </a:endParaRPr>
          </a:p>
          <a:p>
            <a:pPr indent="0" defTabSz="914400">
              <a:lnSpc>
                <a:spcPct val="90000"/>
              </a:lnSpc>
              <a:spcBef>
                <a:spcPts val="1001"/>
              </a:spcBef>
              <a:buNone/>
            </a:pP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7296120" y="2865240"/>
            <a:ext cx="3904920" cy="563400"/>
          </a:xfrm>
          <a:prstGeom prst="rect">
            <a:avLst/>
          </a:prstGeom>
          <a:noFill/>
          <a:ln w="0">
            <a:noFill/>
          </a:ln>
        </p:spPr>
        <p:txBody>
          <a:bodyPr lIns="91440" rIns="91440" tIns="45720" bIns="45720" anchor="ctr">
            <a:normAutofit fontScale="71666"/>
          </a:bodyPr>
          <a:p>
            <a:pPr indent="0" defTabSz="914400">
              <a:lnSpc>
                <a:spcPct val="90000"/>
              </a:lnSpc>
              <a:buNone/>
            </a:pPr>
            <a:r>
              <a:rPr b="0" lang="en-US" sz="2400" spc="-1" strike="noStrike">
                <a:solidFill>
                  <a:srgbClr val="0070c0"/>
                </a:solidFill>
                <a:latin typeface="Aptos Display"/>
                <a:ea typeface="ヒラギノ角ゴ Pro W3"/>
              </a:rPr>
              <a:t>Stages of Financial Crises in Advanced Economies</a:t>
            </a:r>
            <a:endParaRPr b="0" lang="en-US" sz="2400" spc="-1" strike="noStrike">
              <a:solidFill>
                <a:schemeClr val="dk1"/>
              </a:solidFill>
              <a:latin typeface="Aptos"/>
            </a:endParaRPr>
          </a:p>
        </p:txBody>
      </p:sp>
      <p:pic>
        <p:nvPicPr>
          <p:cNvPr id="73" name="Picture 2" descr="It shows events three stages. Each stage shows factors causing financial crises and consequences of changes in factors as follows:&#10;Stage 1: Initial Phase&#10;Factors: Deterioration in financial institutions’ balance sheets, asset-price decline, and increase in uncertainty&#10;Consequence: Adverse selection and moral hazard problems worsen and lending contracts&#10;Stage 2: Banking Crisis&#10;Consequence from stage 1: Economic activity declines&#10;Factor: Banking crisis&#10;Consequences:&#10;◦ Adverse selection and moral hazard Problems Worsen and Lending contracts&#10;◦ Economic activity declines&#10;Stage 3: Debt deflation&#10;Factor: Unanticipated decline in price level&#10;Consequences:&#10;◦ Adverse selection and moral hazard problems worsen and lending contracts&#10;◦ Economic activity declines"/>
          <p:cNvPicPr/>
          <p:nvPr/>
        </p:nvPicPr>
        <p:blipFill>
          <a:blip r:embed="rId1"/>
          <a:stretch/>
        </p:blipFill>
        <p:spPr>
          <a:xfrm>
            <a:off x="457200" y="0"/>
            <a:ext cx="6206400" cy="6827040"/>
          </a:xfrm>
          <a:prstGeom prst="rect">
            <a:avLst/>
          </a:prstGeom>
          <a:ln w="9525">
            <a:noFill/>
          </a:ln>
        </p:spPr>
      </p:pic>
      <p:sp>
        <p:nvSpPr>
          <p:cNvPr id="74" name="TextBox 2"/>
          <p:cNvSpPr/>
          <p:nvPr/>
        </p:nvSpPr>
        <p:spPr>
          <a:xfrm>
            <a:off x="7078320" y="4120200"/>
            <a:ext cx="4070520" cy="912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Aptos"/>
              </a:rPr>
              <a:t>Factors causing financial crises </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Aptos"/>
              </a:rPr>
              <a:t>-----lead to information problems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Aptos"/>
              </a:rPr>
              <a:t>-----which lead to further disruptions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One: Initial Phase</a:t>
            </a:r>
            <a:endParaRPr b="0" lang="en-US" sz="3600" spc="-1" strike="noStrike">
              <a:solidFill>
                <a:schemeClr val="dk1"/>
              </a:solidFill>
              <a:latin typeface="Aptos"/>
            </a:endParaRPr>
          </a:p>
        </p:txBody>
      </p:sp>
      <p:sp>
        <p:nvSpPr>
          <p:cNvPr id="7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400" spc="-1" strike="noStrike">
                <a:solidFill>
                  <a:schemeClr val="dk1"/>
                </a:solidFill>
                <a:latin typeface="Aptos"/>
              </a:rPr>
              <a:t>Financial crises can be caused by:</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1" lang="en-US" sz="2400" spc="-1" strike="noStrike">
                <a:solidFill>
                  <a:schemeClr val="dk1"/>
                </a:solidFill>
                <a:latin typeface="Aptos"/>
              </a:rPr>
              <a:t>Credit Boom and Bust</a:t>
            </a:r>
            <a:endParaRPr b="0" lang="en-US" sz="2400" spc="-1" strike="noStrike">
              <a:solidFill>
                <a:schemeClr val="dk1"/>
              </a:solidFill>
              <a:latin typeface="Aptos"/>
            </a:endParaRPr>
          </a:p>
          <a:p>
            <a:pPr marL="457200" indent="0" defTabSz="914400">
              <a:lnSpc>
                <a:spcPct val="90000"/>
              </a:lnSpc>
              <a:spcBef>
                <a:spcPts val="499"/>
              </a:spcBef>
              <a:buNone/>
              <a:tabLst>
                <a:tab algn="l" pos="0"/>
              </a:tabLst>
            </a:pPr>
            <a:r>
              <a:rPr b="0" lang="en-GB" sz="2000" spc="-1" strike="noStrike">
                <a:solidFill>
                  <a:schemeClr val="dk1"/>
                </a:solidFill>
                <a:latin typeface="Aptos"/>
              </a:rPr>
              <a:t>Financial institutions rapidly expand lending, risk management standards decline. </a:t>
            </a:r>
            <a:endParaRPr b="0" lang="en-US" sz="2000" spc="-1" strike="noStrike">
              <a:solidFill>
                <a:schemeClr val="dk1"/>
              </a:solidFill>
              <a:latin typeface="Aptos"/>
            </a:endParaRPr>
          </a:p>
          <a:p>
            <a:pPr marL="457200" indent="0" defTabSz="914400">
              <a:lnSpc>
                <a:spcPct val="90000"/>
              </a:lnSpc>
              <a:spcBef>
                <a:spcPts val="499"/>
              </a:spcBef>
              <a:buNone/>
              <a:tabLst>
                <a:tab algn="l" pos="0"/>
              </a:tabLst>
            </a:pPr>
            <a:r>
              <a:rPr b="0" lang="en-GB" sz="2000" spc="-1" strike="noStrike">
                <a:solidFill>
                  <a:schemeClr val="dk1"/>
                </a:solidFill>
                <a:latin typeface="Aptos"/>
              </a:rPr>
              <a:t>Banks compete aggressively and extend credit to increasingly risky borrowers, supported by inflated collateral values.</a:t>
            </a:r>
            <a:endParaRPr b="0" lang="en-US" sz="2000" spc="-1" strike="noStrike">
              <a:solidFill>
                <a:schemeClr val="dk1"/>
              </a:solidFill>
              <a:latin typeface="Aptos"/>
            </a:endParaRPr>
          </a:p>
          <a:p>
            <a:pPr marL="457200" indent="0" defTabSz="914400">
              <a:lnSpc>
                <a:spcPct val="90000"/>
              </a:lnSpc>
              <a:spcBef>
                <a:spcPts val="499"/>
              </a:spcBef>
              <a:buNone/>
              <a:tabLst>
                <a:tab algn="l" pos="0"/>
              </a:tabLst>
            </a:pPr>
            <a:r>
              <a:rPr b="0" lang="en-GB" sz="2000" spc="-1" strike="noStrike">
                <a:solidFill>
                  <a:schemeClr val="dk1"/>
                </a:solidFill>
                <a:latin typeface="Aptos"/>
              </a:rPr>
              <a:t>Eventually, loan losses accumulate, borrowers default and asset values fall, forcing banks to cut back on lending (deleveraging). </a:t>
            </a:r>
            <a:endParaRPr b="0" lang="en-US" sz="20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One: Initial Phase</a:t>
            </a:r>
            <a:endParaRPr b="0" lang="en-US" sz="3600" spc="-1" strike="noStrike">
              <a:solidFill>
                <a:schemeClr val="dk1"/>
              </a:solidFill>
              <a:latin typeface="Aptos"/>
            </a:endParaRPr>
          </a:p>
        </p:txBody>
      </p:sp>
      <p:sp>
        <p:nvSpPr>
          <p:cNvPr id="78"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400" spc="-1" strike="noStrike">
                <a:solidFill>
                  <a:schemeClr val="dk1"/>
                </a:solidFill>
                <a:latin typeface="Aptos"/>
              </a:rPr>
              <a:t>Why Do Credit Booms happen in the first place?</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Aptos"/>
                <a:ea typeface="ヒラギノ角ゴ Pro W3"/>
              </a:rPr>
              <a:t>elimination of restrictions,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Aptos"/>
                <a:ea typeface="ヒラギノ角ゴ Pro W3"/>
              </a:rPr>
              <a:t>lack of regulation</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Aptos"/>
                <a:ea typeface="ヒラギノ角ゴ Pro W3"/>
              </a:rPr>
              <a:t>introduction of new types of loans or other financial products i.e. “innovation”</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400" spc="-1" strike="noStrike">
                <a:solidFill>
                  <a:schemeClr val="dk1"/>
                </a:solidFill>
                <a:latin typeface="Aptos"/>
                <a:ea typeface="ヒラギノ角ゴ Pro W3"/>
              </a:rPr>
              <a:t>low interest rates –encourages excessive lending and borrowing</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One: Initial Phase</a:t>
            </a:r>
            <a:endParaRPr b="0" lang="en-US" sz="3600" spc="-1" strike="noStrike">
              <a:solidFill>
                <a:schemeClr val="dk1"/>
              </a:solidFill>
              <a:latin typeface="Aptos"/>
            </a:endParaRPr>
          </a:p>
        </p:txBody>
      </p:sp>
      <p:sp>
        <p:nvSpPr>
          <p:cNvPr id="80" name="PlaceHolder 2"/>
          <p:cNvSpPr>
            <a:spLocks noGrp="1"/>
          </p:cNvSpPr>
          <p:nvPr>
            <p:ph/>
          </p:nvPr>
        </p:nvSpPr>
        <p:spPr>
          <a:xfrm>
            <a:off x="838080" y="1513440"/>
            <a:ext cx="10515240" cy="4663080"/>
          </a:xfrm>
          <a:prstGeom prst="rect">
            <a:avLst/>
          </a:prstGeom>
          <a:noFill/>
          <a:ln w="0">
            <a:noFill/>
          </a:ln>
        </p:spPr>
        <p:txBody>
          <a:bodyPr lIns="91440" rIns="91440" tIns="45720" bIns="45720" anchor="t">
            <a:normAutofit fontScale="81053"/>
          </a:bodyPr>
          <a:p>
            <a:pPr indent="0" defTabSz="914400">
              <a:lnSpc>
                <a:spcPct val="90000"/>
              </a:lnSpc>
              <a:spcBef>
                <a:spcPts val="1001"/>
              </a:spcBef>
              <a:buNone/>
              <a:tabLst>
                <a:tab algn="l" pos="0"/>
              </a:tabLst>
            </a:pPr>
            <a:r>
              <a:rPr b="0" lang="en-GB" sz="2400" spc="-1" strike="noStrike">
                <a:solidFill>
                  <a:schemeClr val="dk1"/>
                </a:solidFill>
                <a:latin typeface="Aptos"/>
              </a:rPr>
              <a:t>What’s does this have to do information problems?</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rPr>
              <a:t>Banks don't just lend money - they're experts at figuring out which businesses are trustworthy borrowers and monitoring how they use loans. </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rPr>
              <a:t>During a credit bust, when banks stop lending, this crucial evaluation system breaks down.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000" spc="-1" strike="noStrike">
                <a:solidFill>
                  <a:schemeClr val="dk1"/>
                </a:solidFill>
                <a:latin typeface="Aptos"/>
              </a:rPr>
              <a:t>Banks can't tell good borrowers from bad ones anymore (Adverse Selection) </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000" spc="-1" strike="noStrike">
                <a:solidFill>
                  <a:schemeClr val="dk1"/>
                </a:solidFill>
                <a:latin typeface="Aptos"/>
              </a:rPr>
              <a:t>No one's watching to make sure borrowers use money responsibly (Moral Hazard)</a:t>
            </a:r>
            <a:endParaRPr b="0" lang="en-US" sz="20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rPr>
              <a:t>Even healthy businesses can't get loans because there's no one left to properly evaluate them. </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rPr>
              <a:t>This makes the economic downturn worse as good businesses can't get the funding they need to operate and grow.</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One: Initial Phase</a:t>
            </a:r>
            <a:endParaRPr b="0" lang="en-US" sz="3600" spc="-1" strike="noStrike">
              <a:solidFill>
                <a:schemeClr val="dk1"/>
              </a:solidFill>
              <a:latin typeface="Aptos"/>
            </a:endParaRPr>
          </a:p>
        </p:txBody>
      </p:sp>
      <p:sp>
        <p:nvSpPr>
          <p:cNvPr id="82"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solidFill>
                <a:latin typeface="Aptos"/>
              </a:rPr>
              <a:t>Financial crises can also be caused by:</a:t>
            </a:r>
            <a:endParaRPr b="0" lang="en-US" sz="2400" spc="-1" strike="noStrike">
              <a:solidFill>
                <a:schemeClr val="dk1"/>
              </a:solidFill>
              <a:latin typeface="Aptos"/>
            </a:endParaRPr>
          </a:p>
          <a:p>
            <a:pPr indent="0" defTabSz="914400">
              <a:lnSpc>
                <a:spcPct val="90000"/>
              </a:lnSpc>
              <a:spcBef>
                <a:spcPts val="1001"/>
              </a:spcBef>
              <a:buNone/>
              <a:tabLst>
                <a:tab algn="l" pos="0"/>
              </a:tabLst>
            </a:pPr>
            <a:r>
              <a:rPr b="1" lang="en-US" sz="2400" spc="-1" strike="noStrike">
                <a:solidFill>
                  <a:schemeClr val="dk1"/>
                </a:solidFill>
                <a:latin typeface="Aptos"/>
                <a:ea typeface="ヒラギノ角ゴ Pro W3"/>
              </a:rPr>
              <a:t>Asset- price boom and bust</a:t>
            </a:r>
            <a:r>
              <a:rPr b="0" lang="en-US" sz="2400" spc="-1" strike="noStrike">
                <a:solidFill>
                  <a:schemeClr val="dk1"/>
                </a:solidFill>
                <a:latin typeface="Aptos"/>
                <a:ea typeface="ヒラギノ角ゴ Pro W3"/>
              </a:rPr>
              <a:t>:</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ea typeface="ヒラギノ角ゴ Pro W3"/>
              </a:rPr>
              <a:t>During booms, asset prices (like stocks or real estate) rise above their real value, creating a bubble. </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ea typeface="ヒラギノ角ゴ Pro W3"/>
              </a:rPr>
              <a:t>When this bubble pops, it triggers a dangerous chain reaction:</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ptos Display"/>
              <a:buAutoNum type="arabicPeriod"/>
              <a:tabLst>
                <a:tab algn="l" pos="0"/>
              </a:tabLst>
            </a:pPr>
            <a:r>
              <a:rPr b="0" lang="en-GB" sz="1800" spc="-1" strike="noStrike">
                <a:solidFill>
                  <a:schemeClr val="dk1"/>
                </a:solidFill>
                <a:latin typeface="Aptos"/>
                <a:ea typeface="ヒラギノ角ゴ Pro W3"/>
              </a:rPr>
              <a:t>Falling asset prices reduce the value of businesses and their collateral, making them more likely to take risks since they have less to lose (the moral hazard problem)</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ptos Display"/>
              <a:buAutoNum type="arabicPeriod"/>
              <a:tabLst>
                <a:tab algn="l" pos="0"/>
              </a:tabLst>
            </a:pPr>
            <a:r>
              <a:rPr b="0" lang="en-GB" sz="1800" spc="-1" strike="noStrike">
                <a:solidFill>
                  <a:schemeClr val="dk1"/>
                </a:solidFill>
                <a:latin typeface="Aptos"/>
                <a:ea typeface="ヒラギノ角ゴ Pro W3"/>
              </a:rPr>
              <a:t>Financial institutions suffer losses on these same assets, forcing them to reduce lending and sell more assets. This selling pushes prices down further, creating a negative spiral</a:t>
            </a:r>
            <a:endParaRPr b="0" lang="en-US" sz="18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Aptos"/>
                <a:ea typeface="ヒラギノ角ゴ Pro W3"/>
              </a:rPr>
              <a:t>Bursting of asset bubbles hits both borrowers and lenders at the same time</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Companies become riskier borrowers just as banks become less able to absorb losses, leading to a credit crunch and potential financial crisis.</a:t>
            </a:r>
            <a:endParaRPr b="0" lang="en-US" sz="18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One: Initial Phase</a:t>
            </a:r>
            <a:endParaRPr b="0" lang="en-US" sz="3600" spc="-1" strike="noStrike">
              <a:solidFill>
                <a:schemeClr val="dk1"/>
              </a:solidFill>
              <a:latin typeface="Aptos"/>
            </a:endParaRPr>
          </a:p>
        </p:txBody>
      </p:sp>
      <p:sp>
        <p:nvSpPr>
          <p:cNvPr id="84" name="PlaceHolder 2"/>
          <p:cNvSpPr>
            <a:spLocks noGrp="1"/>
          </p:cNvSpPr>
          <p:nvPr>
            <p:ph/>
          </p:nvPr>
        </p:nvSpPr>
        <p:spPr>
          <a:xfrm>
            <a:off x="838080" y="1541880"/>
            <a:ext cx="10515240" cy="48585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400" spc="-1" strike="noStrike">
                <a:solidFill>
                  <a:schemeClr val="dk1"/>
                </a:solidFill>
                <a:latin typeface="Aptos"/>
                <a:ea typeface="ヒラギノ角ゴ Pro W3"/>
              </a:rPr>
              <a:t>Increase in uncertainty triggers the crisis</a:t>
            </a:r>
            <a:endParaRPr b="0" lang="en-US" sz="24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ea typeface="ヒラギノ角ゴ Pro W3"/>
              </a:rPr>
              <a:t>Credit booms and asset-price booms create fragility through high debt and inflated asset prices. </a:t>
            </a:r>
            <a:endParaRPr b="0" lang="en-US" sz="20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ea typeface="ヒラギノ角ゴ Pro W3"/>
              </a:rPr>
              <a:t>When uncertainty hits, it triggers a vicious cycle:</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No one knows who's safe to lend to</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Asset prices fall as confidence drops</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Falling prices create more uncertainty</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Banks stop lending</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ea typeface="ヒラギノ角ゴ Pro W3"/>
              </a:rPr>
              <a:t>This causes more asset sales and price drops</a:t>
            </a:r>
            <a:endParaRPr b="0" lang="en-US" sz="1800" spc="-1" strike="noStrike">
              <a:solidFill>
                <a:schemeClr val="dk1"/>
              </a:solidFill>
              <a:latin typeface="Aptos"/>
            </a:endParaRPr>
          </a:p>
          <a:p>
            <a:pPr indent="0" defTabSz="914400">
              <a:lnSpc>
                <a:spcPct val="90000"/>
              </a:lnSpc>
              <a:spcBef>
                <a:spcPts val="1001"/>
              </a:spcBef>
              <a:buNone/>
              <a:tabLst>
                <a:tab algn="l" pos="0"/>
              </a:tabLst>
            </a:pPr>
            <a:endParaRPr b="0" lang="en-US" sz="20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ea typeface="ヒラギノ角ゴ Pro W3"/>
              </a:rPr>
              <a:t>Booms set up the dominoes, and uncertainty (often from a big firm's failure) knocks them down. </a:t>
            </a:r>
            <a:endParaRPr b="0" lang="en-US" sz="20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ea typeface="ヒラギノ角ゴ Pro W3"/>
              </a:rPr>
              <a:t>Each falling domino (asset prices, lending, confidence) knocks down the next, deepening the crisis.</a:t>
            </a:r>
            <a:endParaRPr b="0" lang="en-US" sz="20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Two: Banking Crisis</a:t>
            </a:r>
            <a:endParaRPr b="0" lang="en-US" sz="3600" spc="-1" strike="noStrike">
              <a:solidFill>
                <a:schemeClr val="dk1"/>
              </a:solidFill>
              <a:latin typeface="Aptos"/>
            </a:endParaRPr>
          </a:p>
        </p:txBody>
      </p:sp>
      <p:sp>
        <p:nvSpPr>
          <p:cNvPr id="8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1765"/>
          </a:bodyPr>
          <a:p>
            <a:pPr indent="0" defTabSz="914400">
              <a:lnSpc>
                <a:spcPct val="90000"/>
              </a:lnSpc>
              <a:spcBef>
                <a:spcPts val="1001"/>
              </a:spcBef>
              <a:buNone/>
              <a:tabLst>
                <a:tab algn="l" pos="0"/>
              </a:tabLst>
            </a:pPr>
            <a:r>
              <a:rPr b="0" lang="en-GB" sz="2000" spc="-1" strike="noStrike">
                <a:solidFill>
                  <a:schemeClr val="dk1"/>
                </a:solidFill>
                <a:latin typeface="Aptos"/>
              </a:rPr>
              <a:t>When banks' financial health declines (bad loans, falling asset values)</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rPr>
              <a:t>Depositors get scared, people rush to withdraw money from all banks ("bank run")</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rPr>
              <a:t>Banks must sell assets quickly at fire-sale prices to get cash</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rPr>
              <a:t>These rushed sales make banks' finances even worse</a:t>
            </a:r>
            <a:endParaRPr b="0" lang="en-US" sz="1800" spc="-1" strike="noStrike">
              <a:solidFill>
                <a:schemeClr val="dk1"/>
              </a:solidFill>
              <a:latin typeface="Aptos"/>
            </a:endParaRPr>
          </a:p>
          <a:p>
            <a:pPr indent="0" defTabSz="914400">
              <a:lnSpc>
                <a:spcPct val="90000"/>
              </a:lnSpc>
              <a:spcBef>
                <a:spcPts val="1001"/>
              </a:spcBef>
              <a:buNone/>
              <a:tabLst>
                <a:tab algn="l" pos="0"/>
              </a:tabLst>
            </a:pPr>
            <a:endParaRPr b="0" lang="en-US" sz="2000" spc="-1" strike="noStrike">
              <a:solidFill>
                <a:schemeClr val="dk1"/>
              </a:solidFill>
              <a:latin typeface="Aptos"/>
            </a:endParaRPr>
          </a:p>
          <a:p>
            <a:pPr indent="0" defTabSz="914400">
              <a:lnSpc>
                <a:spcPct val="90000"/>
              </a:lnSpc>
              <a:spcBef>
                <a:spcPts val="1001"/>
              </a:spcBef>
              <a:buNone/>
              <a:tabLst>
                <a:tab algn="l" pos="0"/>
              </a:tabLst>
            </a:pPr>
            <a:r>
              <a:rPr b="0" lang="en-GB" sz="2000" spc="-1" strike="noStrike">
                <a:solidFill>
                  <a:schemeClr val="dk1"/>
                </a:solidFill>
                <a:latin typeface="Aptos"/>
              </a:rPr>
              <a:t>The Damage:</a:t>
            </a:r>
            <a:endParaRPr b="0" lang="en-US" sz="20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Aptos"/>
              </a:rPr>
              <a:t>Banks stop lending as they fight for survival</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rPr>
              <a:t>Good borrowers can't get loans (adverse selection)</a:t>
            </a:r>
            <a:endParaRPr b="0" lang="en-US" sz="18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1800" spc="-1" strike="noStrike">
                <a:solidFill>
                  <a:schemeClr val="dk1"/>
                </a:solidFill>
                <a:latin typeface="Aptos"/>
              </a:rPr>
              <a:t>Desperate firms take bigger risks (moral hazard)</a:t>
            </a:r>
            <a:endParaRPr b="0" lang="en-US" sz="18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Aptos"/>
              </a:rPr>
              <a:t>Economy suffers as credit freezes - recovery takes years as trust must be rebuilt</a:t>
            </a:r>
            <a:endParaRPr b="0" lang="en-US" sz="2000" spc="-1" strike="noStrike">
              <a:solidFill>
                <a:schemeClr val="dk1"/>
              </a:solidFill>
              <a:latin typeface="Aptos"/>
            </a:endParaRPr>
          </a:p>
          <a:p>
            <a:pPr indent="0" defTabSz="914400">
              <a:lnSpc>
                <a:spcPct val="90000"/>
              </a:lnSpc>
              <a:spcBef>
                <a:spcPts val="1001"/>
              </a:spcBef>
              <a:buNone/>
              <a:tabLst>
                <a:tab algn="l" pos="0"/>
              </a:tabLst>
            </a:pPr>
            <a:endParaRPr b="0" lang="en-US" sz="20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Aptos"/>
              </a:rPr>
              <a:t>When people suspect some banks are sick but don't know which ones, they run from all banks - creating a self-fulfilling crisis that hurts even healthy banks.</a:t>
            </a:r>
            <a:endParaRPr b="0" lang="en-US" sz="20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Stage Three: Debt Deflation</a:t>
            </a:r>
            <a:endParaRPr b="0" lang="en-US" sz="3600" spc="-1" strike="noStrike">
              <a:solidFill>
                <a:schemeClr val="dk1"/>
              </a:solidFill>
              <a:latin typeface="Aptos"/>
            </a:endParaRPr>
          </a:p>
        </p:txBody>
      </p:sp>
      <p:sp>
        <p:nvSpPr>
          <p:cNvPr id="88" name="PlaceHolder 2"/>
          <p:cNvSpPr>
            <a:spLocks noGrp="1"/>
          </p:cNvSpPr>
          <p:nvPr>
            <p:ph/>
          </p:nvPr>
        </p:nvSpPr>
        <p:spPr>
          <a:xfrm>
            <a:off x="838080" y="1690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ptos"/>
              </a:rPr>
              <a:t>When prices fall sharply but debt amounts stay fixed: </a:t>
            </a:r>
            <a:endParaRPr b="0" lang="en-US" sz="28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Asset values drop but loan amounts remain the same</a:t>
            </a:r>
            <a:endParaRPr b="0" lang="en-US" sz="24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Real debt burden increases for borrowers</a:t>
            </a:r>
            <a:endParaRPr b="0" lang="en-US" sz="2400" spc="-1" strike="noStrike">
              <a:solidFill>
                <a:schemeClr val="dk1"/>
              </a:solidFill>
              <a:latin typeface="Aptos"/>
            </a:endParaRPr>
          </a:p>
          <a:p>
            <a:pPr lvl="2" marL="1200240" indent="-285840" defTabSz="914400">
              <a:lnSpc>
                <a:spcPct val="90000"/>
              </a:lnSpc>
              <a:spcBef>
                <a:spcPts val="499"/>
              </a:spcBef>
              <a:buClr>
                <a:srgbClr val="000000"/>
              </a:buClr>
              <a:buFont typeface="Arial"/>
              <a:buChar char="•"/>
            </a:pPr>
            <a:r>
              <a:rPr b="0" lang="en-GB" sz="1800" spc="-1" strike="noStrike">
                <a:solidFill>
                  <a:schemeClr val="dk1"/>
                </a:solidFill>
                <a:latin typeface="Aptos"/>
              </a:rPr>
              <a:t>E.g. House worth £200K → £150K, but £180K mortgage remains</a:t>
            </a:r>
            <a:endParaRPr b="0" lang="en-US" sz="1800" spc="-1" strike="noStrike">
              <a:solidFill>
                <a:schemeClr val="dk1"/>
              </a:solidFill>
              <a:latin typeface="Aptos"/>
            </a:endParaRPr>
          </a:p>
          <a:p>
            <a:pPr indent="0" defTabSz="914400">
              <a:lnSpc>
                <a:spcPct val="90000"/>
              </a:lnSpc>
              <a:spcBef>
                <a:spcPts val="1001"/>
              </a:spcBef>
              <a:buNone/>
            </a:pPr>
            <a:endParaRPr b="0" lang="en-US" sz="2800" spc="-1" strike="noStrike">
              <a:solidFill>
                <a:schemeClr val="dk1"/>
              </a:solidFill>
              <a:latin typeface="Aptos"/>
            </a:endParaRPr>
          </a:p>
          <a:p>
            <a:pPr marL="285840" indent="-285840" defTabSz="914400">
              <a:lnSpc>
                <a:spcPct val="90000"/>
              </a:lnSpc>
              <a:spcBef>
                <a:spcPts val="1001"/>
              </a:spcBef>
              <a:buClr>
                <a:srgbClr val="000000"/>
              </a:buClr>
              <a:buFont typeface="Arial"/>
              <a:buChar char="•"/>
            </a:pPr>
            <a:r>
              <a:rPr b="0" lang="en-GB" sz="2800" spc="-1" strike="noStrike">
                <a:solidFill>
                  <a:schemeClr val="dk1"/>
                </a:solidFill>
                <a:latin typeface="Aptos"/>
              </a:rPr>
              <a:t>This Creates a Dangerous Cycle: </a:t>
            </a:r>
            <a:endParaRPr b="0" lang="en-US" sz="28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Borrowers struggle with higher real debt loads</a:t>
            </a:r>
            <a:endParaRPr b="0" lang="en-US" sz="24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More likely to default or take risks (moral hazard)</a:t>
            </a:r>
            <a:endParaRPr b="0" lang="en-US" sz="24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Banks reduce lending further</a:t>
            </a:r>
            <a:endParaRPr b="0" lang="en-US" sz="2400" spc="-1" strike="noStrike">
              <a:solidFill>
                <a:schemeClr val="dk1"/>
              </a:solidFill>
              <a:latin typeface="Aptos"/>
            </a:endParaRPr>
          </a:p>
          <a:p>
            <a:pPr lvl="1" marL="743040" indent="-285840" defTabSz="914400">
              <a:lnSpc>
                <a:spcPct val="90000"/>
              </a:lnSpc>
              <a:spcBef>
                <a:spcPts val="499"/>
              </a:spcBef>
              <a:buClr>
                <a:srgbClr val="000000"/>
              </a:buClr>
              <a:buFont typeface="Arial"/>
              <a:buChar char="•"/>
            </a:pPr>
            <a:r>
              <a:rPr b="0" lang="en-GB" sz="2400" spc="-1" strike="noStrike">
                <a:solidFill>
                  <a:schemeClr val="dk1"/>
                </a:solidFill>
                <a:latin typeface="Aptos"/>
              </a:rPr>
              <a:t>Economic activity remains depressed for a long time</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Great Depression – a case</a:t>
            </a:r>
            <a:endParaRPr b="0" lang="en-US" sz="3600" spc="-1" strike="noStrike">
              <a:solidFill>
                <a:schemeClr val="dk1"/>
              </a:solidFill>
              <a:latin typeface="Aptos"/>
            </a:endParaRPr>
          </a:p>
        </p:txBody>
      </p:sp>
      <p:sp>
        <p:nvSpPr>
          <p:cNvPr id="90" name="PlaceHolder 2"/>
          <p:cNvSpPr>
            <a:spLocks noGrp="1"/>
          </p:cNvSpPr>
          <p:nvPr>
            <p:ph/>
          </p:nvPr>
        </p:nvSpPr>
        <p:spPr>
          <a:xfrm>
            <a:off x="838080" y="1825560"/>
            <a:ext cx="459828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solidFill>
                <a:latin typeface="Aptos"/>
              </a:rPr>
              <a:t>How it started and the impact it had:</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Aptos"/>
              </a:rPr>
              <a:t>Focusing on the US</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Aptos"/>
              </a:rPr>
              <a:t>See the reading for more detail on this, as well as a case of Eurozone crisis</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p:txBody>
      </p:sp>
      <p:pic>
        <p:nvPicPr>
          <p:cNvPr id="91" name="Picture 2" descr="1929 Stock Market Crash — Parisology"/>
          <p:cNvPicPr/>
          <p:nvPr/>
        </p:nvPicPr>
        <p:blipFill>
          <a:blip r:embed="rId1"/>
          <a:stretch/>
        </p:blipFill>
        <p:spPr>
          <a:xfrm>
            <a:off x="6378120" y="840240"/>
            <a:ext cx="4707720" cy="47077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Case: The Great Depression</a:t>
            </a:r>
            <a:endParaRPr b="0" lang="en-US" sz="3600" spc="-1" strike="noStrike">
              <a:solidFill>
                <a:schemeClr val="dk1"/>
              </a:solidFill>
              <a:latin typeface="Aptos"/>
            </a:endParaRPr>
          </a:p>
        </p:txBody>
      </p:sp>
      <p:sp>
        <p:nvSpPr>
          <p:cNvPr id="9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3550"/>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In 1928 and 1929, stock prices doubled in the U.S. </a:t>
            </a:r>
            <a:endParaRPr b="0" lang="en-US" sz="2400" spc="-1" strike="noStrike">
              <a:solidFill>
                <a:schemeClr val="dk1"/>
              </a:solidFill>
              <a:latin typeface="Aptos"/>
            </a:endParaRPr>
          </a:p>
          <a:p>
            <a:pPr indent="0" defTabSz="914400">
              <a:lnSpc>
                <a:spcPct val="90000"/>
              </a:lnSpc>
              <a:spcBef>
                <a:spcPts val="1001"/>
              </a:spcBef>
              <a:buNone/>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u="sng">
                <a:solidFill>
                  <a:schemeClr val="dk1"/>
                </a:solidFill>
                <a:uFillTx/>
                <a:latin typeface="Aptos"/>
                <a:ea typeface="ヒラギノ角ゴ Pro W3"/>
                <a:hlinkClick r:id="rId1"/>
              </a:rPr>
              <a:t>Check out the Dow Jones Industrial Stock Price Index data  at this link</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Aptos"/>
                <a:ea typeface="ヒラギノ角ゴ Pro W3"/>
              </a:rPr>
              <a:t>The Fed tried to curb this period of excessive speculation with a tight monetary policy.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400" spc="-1" strike="noStrike">
                <a:solidFill>
                  <a:schemeClr val="dk1"/>
                </a:solidFill>
                <a:latin typeface="Aptos"/>
                <a:ea typeface="ヒラギノ角ゴ Pro W3"/>
              </a:rPr>
              <a:t>Higher rates made borrowing more expensive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400" spc="-1" strike="noStrike">
                <a:solidFill>
                  <a:schemeClr val="dk1"/>
                </a:solidFill>
                <a:latin typeface="Aptos"/>
                <a:ea typeface="ヒラギノ角ゴ Pro W3"/>
              </a:rPr>
              <a:t>Investors forced to sell stocks to repay loans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400" spc="-1" strike="noStrike">
                <a:solidFill>
                  <a:schemeClr val="dk1"/>
                </a:solidFill>
                <a:latin typeface="Aptos"/>
                <a:ea typeface="ヒラギノ角ゴ Pro W3"/>
              </a:rPr>
              <a:t>Once selling started, prices fell sharply </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tabLst>
                <a:tab algn="l" pos="0"/>
              </a:tabLst>
            </a:pPr>
            <a:r>
              <a:rPr b="0" lang="en-GB" sz="2400" spc="-1" strike="noStrike">
                <a:solidFill>
                  <a:schemeClr val="dk1"/>
                </a:solidFill>
                <a:latin typeface="Aptos"/>
                <a:ea typeface="ヒラギノ角ゴ Pro W3"/>
              </a:rPr>
              <a:t>A downward spiral: selling → price drops → more selling</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Aptos"/>
                <a:ea typeface="ヒラギノ角ゴ Pro W3"/>
              </a:rPr>
              <a:t>A stock market collapse - Bubble burst!</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2400" spc="-1" strike="noStrike">
                <a:solidFill>
                  <a:srgbClr val="0070c0"/>
                </a:solidFill>
                <a:latin typeface="Aptos Display"/>
                <a:ea typeface="ヒラギノ角ゴ Pro W3"/>
              </a:rPr>
              <a:t>Stock Price Data During the Great Depression Period</a:t>
            </a:r>
            <a:endParaRPr b="0" lang="en-US" sz="2400" spc="-1" strike="noStrike">
              <a:solidFill>
                <a:schemeClr val="dk1"/>
              </a:solidFill>
              <a:latin typeface="Aptos"/>
            </a:endParaRPr>
          </a:p>
        </p:txBody>
      </p:sp>
      <p:pic>
        <p:nvPicPr>
          <p:cNvPr id="95" name="Picture 2" descr="The vertical axis is labeled &quot;Stock Prices (Dow-Jones Industrial Average, September 1929 equals 100)&quot; and ranges from 0 to 100 in increments of 10. The horizontal axis lists dates from 1929 to 1940 in 1-year increments. The stock price for 1929 is shown as 80 which increases to a peak value of 100 during the end of this year. With a fluctuating trend the stock price falls down steeply to a minimum value of 10 during year 1932 but recovers back to 50 during year 1937. The value falls down once again and becomes 40 percent for the year 1940. The peak value is labeled &quot;Stock market peak&quot; while the minimum value is labeled &quot;Stock market trough in December 1932 at 10 percent of September 1929 peak value.&quot; The values used in the description are approximate."/>
          <p:cNvPicPr/>
          <p:nvPr/>
        </p:nvPicPr>
        <p:blipFill>
          <a:blip r:embed="rId1"/>
          <a:srcRect l="0" t="0" r="0" b="4456"/>
          <a:stretch/>
        </p:blipFill>
        <p:spPr>
          <a:xfrm>
            <a:off x="1045800" y="1168920"/>
            <a:ext cx="8320680" cy="3580920"/>
          </a:xfrm>
          <a:prstGeom prst="rect">
            <a:avLst/>
          </a:prstGeom>
          <a:ln w="9525">
            <a:noFill/>
          </a:ln>
        </p:spPr>
      </p:pic>
      <p:sp>
        <p:nvSpPr>
          <p:cNvPr id="96" name="PlaceHolder 2"/>
          <p:cNvSpPr>
            <a:spLocks noGrp="1"/>
          </p:cNvSpPr>
          <p:nvPr>
            <p:ph/>
          </p:nvPr>
        </p:nvSpPr>
        <p:spPr>
          <a:xfrm>
            <a:off x="1045800" y="4884840"/>
            <a:ext cx="8229240" cy="2584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200" spc="-1" strike="noStrike">
                <a:solidFill>
                  <a:schemeClr val="dk1"/>
                </a:solidFill>
                <a:latin typeface="Aptos"/>
              </a:rPr>
              <a:t>Source: Federal Reserve Bank of St. Louis, FRED database: </a:t>
            </a:r>
            <a:r>
              <a:rPr b="0" lang="en-US" sz="1200" spc="-1" strike="noStrike" u="sng">
                <a:solidFill>
                  <a:schemeClr val="dk1"/>
                </a:solidFill>
                <a:uFillTx/>
                <a:latin typeface="Aptos"/>
                <a:hlinkClick r:id="rId2"/>
              </a:rPr>
              <a:t>https://fred.stlouisfed.org/series/M1109BUSM293NNBR</a:t>
            </a:r>
            <a:endParaRPr b="0" lang="en-US" sz="1200" spc="-1" strike="noStrike">
              <a:solidFill>
                <a:schemeClr val="dk1"/>
              </a:solidFill>
              <a:latin typeface="Aptos"/>
            </a:endParaRPr>
          </a:p>
          <a:p>
            <a:pPr indent="0" defTabSz="914400">
              <a:lnSpc>
                <a:spcPct val="90000"/>
              </a:lnSpc>
              <a:spcBef>
                <a:spcPts val="1001"/>
              </a:spcBef>
              <a:buNone/>
              <a:tabLst>
                <a:tab algn="l" pos="0"/>
              </a:tabLst>
            </a:pPr>
            <a:endParaRPr b="0" lang="en-US" sz="1200" spc="-1" strike="noStrike">
              <a:solidFill>
                <a:schemeClr val="dk1"/>
              </a:solidFill>
              <a:latin typeface="Aptos"/>
            </a:endParaRPr>
          </a:p>
        </p:txBody>
      </p:sp>
      <p:sp>
        <p:nvSpPr>
          <p:cNvPr id="97" name="TextBox 5"/>
          <p:cNvSpPr/>
          <p:nvPr/>
        </p:nvSpPr>
        <p:spPr>
          <a:xfrm>
            <a:off x="1949400" y="5504760"/>
            <a:ext cx="609768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a:solidFill>
                  <a:schemeClr val="dk1"/>
                </a:solidFill>
                <a:latin typeface="Aptos"/>
                <a:ea typeface="ヒラギノ角ゴ Pro W3"/>
              </a:rPr>
              <a:t>The decline continued for several years.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Case: The Great Depression</a:t>
            </a:r>
            <a:endParaRPr b="0" lang="en-US" sz="3600" spc="-1" strike="noStrike">
              <a:solidFill>
                <a:schemeClr val="dk1"/>
              </a:solidFill>
              <a:latin typeface="Aptos"/>
            </a:endParaRPr>
          </a:p>
        </p:txBody>
      </p:sp>
      <p:sp>
        <p:nvSpPr>
          <p:cNvPr id="9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Recession turned into something far worse, when severe droughts in 1930 led to a sharp decline in agricultural production.</a:t>
            </a:r>
            <a:endParaRPr b="0" lang="en-US" sz="24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Aptos"/>
                <a:ea typeface="ヒラギノ角ゴ Pro W3"/>
              </a:rPr>
              <a:t>Reduced agricultural incomes, declining land values, loan defaults by farmers put banks in financial difficulty</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Aptos"/>
                <a:ea typeface="ヒラギノ角ゴ Pro W3"/>
              </a:rPr>
              <a:t>Caused loss of confidence among depositors </a:t>
            </a:r>
            <a:endParaRPr b="0" lang="en-US" sz="2000" spc="-1" strike="noStrike">
              <a:solidFill>
                <a:schemeClr val="dk1"/>
              </a:solidFill>
              <a:latin typeface="Aptos"/>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Aptos"/>
                <a:ea typeface="ヒラギノ角ゴ Pro W3"/>
              </a:rPr>
              <a:t>Caused bank runs</a:t>
            </a:r>
            <a:endParaRPr b="0" lang="en-US" sz="20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Between 1930 and 1933, </a:t>
            </a:r>
            <a:r>
              <a:rPr b="0" lang="en-US" sz="2400" spc="-1" strike="noStrike">
                <a:solidFill>
                  <a:srgbClr val="ff0000"/>
                </a:solidFill>
                <a:latin typeface="Aptos"/>
                <a:ea typeface="ヒラギノ角ゴ Pro W3"/>
              </a:rPr>
              <a:t>one-third of U.S. banks </a:t>
            </a:r>
            <a:r>
              <a:rPr b="0" lang="en-US" sz="2400" spc="-1" strike="noStrike">
                <a:solidFill>
                  <a:schemeClr val="dk1"/>
                </a:solidFill>
                <a:latin typeface="Aptos"/>
                <a:ea typeface="ヒラギノ角ゴ Pro W3"/>
              </a:rPr>
              <a:t>went out of business</a:t>
            </a:r>
            <a:endParaRPr b="0" lang="en-US" sz="2400" spc="-1" strike="noStrike">
              <a:solidFill>
                <a:schemeClr val="dk1"/>
              </a:solidFill>
              <a:latin typeface="Aptos"/>
            </a:endParaRPr>
          </a:p>
          <a:p>
            <a:pPr indent="0" defTabSz="914400">
              <a:lnSpc>
                <a:spcPct val="90000"/>
              </a:lnSpc>
              <a:spcBef>
                <a:spcPts val="1001"/>
              </a:spcBef>
              <a:buNone/>
            </a:pP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For more than two years, the Fed sat idly, doing nothing to help banks or the economy</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Case: The Great Depression</a:t>
            </a:r>
            <a:endParaRPr b="0" lang="en-US" sz="3600" spc="-1" strike="noStrike">
              <a:solidFill>
                <a:schemeClr val="dk1"/>
              </a:solidFill>
              <a:latin typeface="Aptos"/>
            </a:endParaRPr>
          </a:p>
        </p:txBody>
      </p:sp>
      <p:sp>
        <p:nvSpPr>
          <p:cNvPr id="10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solidFill>
                <a:latin typeface="Aptos"/>
                <a:ea typeface="ヒラギノ角ゴ Pro W3"/>
              </a:rPr>
              <a:t>Adverse selection and moral hazard in credit markets became severe. </a:t>
            </a:r>
            <a:endParaRPr b="0" lang="en-US" sz="2400" spc="-1" strike="noStrike">
              <a:solidFill>
                <a:schemeClr val="dk1"/>
              </a:solidFill>
              <a:latin typeface="Aptos"/>
            </a:endParaRPr>
          </a:p>
          <a:p>
            <a:pPr indent="0" defTabSz="914400">
              <a:lnSpc>
                <a:spcPct val="90000"/>
              </a:lnSpc>
              <a:spcBef>
                <a:spcPts val="1001"/>
              </a:spcBef>
              <a:buNone/>
              <a:tabLst>
                <a:tab algn="l" pos="0"/>
              </a:tabLst>
            </a:pPr>
            <a:r>
              <a:rPr b="0" lang="en-US" sz="2400" spc="-1" strike="noStrike">
                <a:solidFill>
                  <a:schemeClr val="dk1"/>
                </a:solidFill>
                <a:latin typeface="Aptos"/>
                <a:ea typeface="ヒラギノ角ゴ Pro W3"/>
              </a:rPr>
              <a:t>Firms with productive uses of funds were unable to get financing. </a:t>
            </a:r>
            <a:endParaRPr b="0" lang="en-US" sz="24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a:p>
            <a:pPr indent="0" defTabSz="914400">
              <a:lnSpc>
                <a:spcPct val="90000"/>
              </a:lnSpc>
              <a:spcBef>
                <a:spcPts val="1001"/>
              </a:spcBef>
              <a:buNone/>
              <a:tabLst>
                <a:tab algn="l" pos="0"/>
              </a:tabLst>
            </a:pPr>
            <a:r>
              <a:rPr b="0" lang="en-US" sz="2400" spc="-1" strike="noStrike">
                <a:solidFill>
                  <a:schemeClr val="dk1"/>
                </a:solidFill>
                <a:latin typeface="Aptos"/>
                <a:ea typeface="ヒラギノ角ゴ Pro W3"/>
              </a:rPr>
              <a:t>As seen in the next slide, credit spreads increased from 2% to nearly 8% during the height of the Depression in 1932.</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Aptos"/>
                <a:ea typeface="ヒラギノ角ゴ Pro W3"/>
              </a:rPr>
              <a:t>A credit spread is the extra interest that borrowers must pay compared to a government, showing how nervous lenders are about getting their money back.</a:t>
            </a:r>
            <a:endParaRPr b="0" lang="en-US" sz="2000" spc="-1" strike="noStrike">
              <a:solidFill>
                <a:schemeClr val="dk1"/>
              </a:solidFill>
              <a:latin typeface="Aptos"/>
            </a:endParaRPr>
          </a:p>
          <a:p>
            <a:pPr indent="0" defTabSz="914400">
              <a:lnSpc>
                <a:spcPct val="90000"/>
              </a:lnSpc>
              <a:spcBef>
                <a:spcPts val="1001"/>
              </a:spcBef>
              <a:buNone/>
              <a:tabLst>
                <a:tab algn="l" pos="0"/>
              </a:tabLst>
            </a:pP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2032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2400" spc="-1" strike="noStrike">
                <a:solidFill>
                  <a:srgbClr val="0070c0"/>
                </a:solidFill>
                <a:latin typeface="Aptos Display"/>
                <a:ea typeface="ヒラギノ角ゴ Pro W3"/>
              </a:rPr>
              <a:t>Credit Spreads During the Great Depression</a:t>
            </a:r>
            <a:endParaRPr b="0" lang="en-US" sz="2400" spc="-1" strike="noStrike">
              <a:solidFill>
                <a:schemeClr val="dk1"/>
              </a:solidFill>
              <a:latin typeface="Aptos"/>
            </a:endParaRPr>
          </a:p>
        </p:txBody>
      </p:sp>
      <p:pic>
        <p:nvPicPr>
          <p:cNvPr id="103" name="Picture 2" descr="The vertical axis is labeled &quot;Baa-U.S. Treasury Spread (percent)&quot; and ranges from 0 to 10 in increments of 2. The horizontal axis lists dates from 1929 to 1939 in 1-year increments. The treasure spread for 1929 is shown as 2 percent which increases to a peak value of 7.5 in 1932. With a fluctuating trend the stock price falls down steeply to 2 percent during year 1936 and 3 percent in 1939. The values used in the description are approximate."/>
          <p:cNvPicPr/>
          <p:nvPr/>
        </p:nvPicPr>
        <p:blipFill>
          <a:blip r:embed="rId1"/>
          <a:stretch/>
        </p:blipFill>
        <p:spPr>
          <a:xfrm>
            <a:off x="1866960" y="1551600"/>
            <a:ext cx="8457840" cy="3754440"/>
          </a:xfrm>
          <a:prstGeom prst="rect">
            <a:avLst/>
          </a:prstGeom>
          <a:ln w="9525">
            <a:noFill/>
          </a:ln>
        </p:spPr>
      </p:pic>
      <p:sp>
        <p:nvSpPr>
          <p:cNvPr id="104" name="PlaceHolder 2"/>
          <p:cNvSpPr>
            <a:spLocks noGrp="1"/>
          </p:cNvSpPr>
          <p:nvPr>
            <p:ph/>
          </p:nvPr>
        </p:nvSpPr>
        <p:spPr>
          <a:xfrm>
            <a:off x="1981080" y="5518800"/>
            <a:ext cx="8229240" cy="348120"/>
          </a:xfrm>
          <a:prstGeom prst="rect">
            <a:avLst/>
          </a:prstGeom>
          <a:noFill/>
          <a:ln w="0">
            <a:noFill/>
          </a:ln>
        </p:spPr>
        <p:txBody>
          <a:bodyPr lIns="91440" rIns="91440" tIns="45720" bIns="45720" anchor="t">
            <a:normAutofit fontScale="74983" lnSpcReduction="10000"/>
          </a:bodyPr>
          <a:p>
            <a:pPr indent="0" defTabSz="914400">
              <a:lnSpc>
                <a:spcPct val="90000"/>
              </a:lnSpc>
              <a:spcBef>
                <a:spcPts val="1001"/>
              </a:spcBef>
              <a:buNone/>
              <a:tabLst>
                <a:tab algn="l" pos="0"/>
              </a:tabLst>
            </a:pPr>
            <a:r>
              <a:rPr b="0" lang="en-US" sz="1200" spc="-1" strike="noStrike">
                <a:solidFill>
                  <a:schemeClr val="dk1"/>
                </a:solidFill>
                <a:latin typeface="Aptos"/>
              </a:rPr>
              <a:t>Source: Federal Reserve Bank of St. Louis, FRED database: </a:t>
            </a:r>
            <a:r>
              <a:rPr b="0" lang="en-US" sz="1200" spc="-1" strike="noStrike" u="sng">
                <a:solidFill>
                  <a:schemeClr val="dk1"/>
                </a:solidFill>
                <a:uFillTx/>
                <a:latin typeface="Aptos"/>
                <a:hlinkClick r:id="rId2"/>
              </a:rPr>
              <a:t>https://fred.stlouisfed.org/series/M13036USM193NNBR</a:t>
            </a:r>
            <a:r>
              <a:rPr b="0" lang="en-US" sz="1200" spc="-1" strike="noStrike">
                <a:solidFill>
                  <a:schemeClr val="dk1"/>
                </a:solidFill>
                <a:latin typeface="Aptos"/>
              </a:rPr>
              <a:t>, </a:t>
            </a:r>
            <a:r>
              <a:rPr b="0" lang="en-US" sz="1200" spc="-1" strike="noStrike" u="sng">
                <a:solidFill>
                  <a:schemeClr val="dk1"/>
                </a:solidFill>
                <a:uFillTx/>
                <a:latin typeface="Aptos"/>
                <a:hlinkClick r:id="rId3"/>
              </a:rPr>
              <a:t>https://fred.stlouisfed.org/series/LTGOVTBD</a:t>
            </a:r>
            <a:r>
              <a:rPr b="0" lang="en-US" sz="1200" spc="-1" strike="noStrike">
                <a:solidFill>
                  <a:schemeClr val="dk1"/>
                </a:solidFill>
                <a:latin typeface="Aptos"/>
              </a:rPr>
              <a:t>.</a:t>
            </a:r>
            <a:endParaRPr b="0" lang="en-US" sz="1200" spc="-1" strike="noStrike">
              <a:solidFill>
                <a:schemeClr val="dk1"/>
              </a:solidFill>
              <a:latin typeface="Aptos"/>
            </a:endParaRPr>
          </a:p>
        </p:txBody>
      </p:sp>
      <p:sp>
        <p:nvSpPr>
          <p:cNvPr id="105" name="TextBox 5"/>
          <p:cNvSpPr/>
          <p:nvPr/>
        </p:nvSpPr>
        <p:spPr>
          <a:xfrm>
            <a:off x="5814720" y="431640"/>
            <a:ext cx="637668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GB" sz="1800" spc="-1" strike="noStrike">
                <a:solidFill>
                  <a:schemeClr val="dk1"/>
                </a:solidFill>
                <a:latin typeface="Aptos"/>
              </a:rPr>
              <a:t>A credit spread is the difference in return between a risky bond (typically corporate) and a risk-free bond (typically government) of the same maturity, </a:t>
            </a:r>
            <a:endParaRPr b="0" lang="en-US" sz="1800" spc="-1" strike="noStrike">
              <a:solidFill>
                <a:srgbClr val="000000"/>
              </a:solidFill>
              <a:latin typeface="Arial"/>
            </a:endParaRPr>
          </a:p>
          <a:p>
            <a:pPr defTabSz="914400">
              <a:lnSpc>
                <a:spcPct val="100000"/>
              </a:lnSpc>
              <a:tabLst>
                <a:tab algn="l" pos="0"/>
              </a:tabLst>
            </a:pPr>
            <a:r>
              <a:rPr b="0" lang="en-GB" sz="1800" spc="-1" strike="noStrike">
                <a:solidFill>
                  <a:schemeClr val="dk1"/>
                </a:solidFill>
                <a:latin typeface="Aptos"/>
              </a:rPr>
              <a:t>It  serves as an indicator of credit market stress.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Case: The Great Depression</a:t>
            </a:r>
            <a:endParaRPr b="0" lang="en-US" sz="3600" spc="-1" strike="noStrike">
              <a:solidFill>
                <a:schemeClr val="dk1"/>
              </a:solidFill>
              <a:latin typeface="Aptos"/>
            </a:endParaRPr>
          </a:p>
        </p:txBody>
      </p:sp>
      <p:sp>
        <p:nvSpPr>
          <p:cNvPr id="10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The deflation during this period:  to a 25% decline in price levels.</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The prolonged economic contraction brought an unemployment rate around 25%.</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The Depression was the worst financial crisis ever in the U.S. </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3600" spc="-1" strike="noStrike">
                <a:solidFill>
                  <a:srgbClr val="0070c0"/>
                </a:solidFill>
                <a:latin typeface="Aptos Display"/>
                <a:ea typeface="ヒラギノ角ゴ Pro W3"/>
              </a:rPr>
              <a:t>Case: The Great Depression</a:t>
            </a:r>
            <a:endParaRPr b="0" lang="en-US" sz="3600" spc="-1" strike="noStrike">
              <a:solidFill>
                <a:schemeClr val="dk1"/>
              </a:solidFill>
              <a:latin typeface="Aptos"/>
            </a:endParaRPr>
          </a:p>
        </p:txBody>
      </p:sp>
      <p:sp>
        <p:nvSpPr>
          <p:cNvPr id="10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Bank panics in the U.S. spread to the rest of the world, and the contraction of the U.S. economy decreased demand for foreign goods.</a:t>
            </a:r>
            <a:endParaRPr b="0" lang="en-US" sz="2400" spc="-1" strike="noStrike">
              <a:solidFill>
                <a:schemeClr val="dk1"/>
              </a:solidFill>
              <a:latin typeface="Aptos"/>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Aptos"/>
                <a:ea typeface="ヒラギノ角ゴ Pro W3"/>
              </a:rPr>
              <a:t>The worldwide depression caused great hardship, and the resulting discontent which led to the rise of fascism and WWII.</a:t>
            </a:r>
            <a:endParaRPr b="0" lang="en-US" sz="2400" spc="-1" strike="noStrike">
              <a:solidFill>
                <a:schemeClr val="dk1"/>
              </a:solidFill>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526</TotalTime>
  <Application>LibreOffice/24.2.7.2$Linux_X86_64 LibreOffice_project/420$Build-2</Application>
  <AppVersion>15.0000</AppVersion>
  <Words>1377</Words>
  <Paragraphs>141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2024-11-09T10:51:59Z</dcterms:created>
  <dc:creator>Armagan Gezici</dc:creator>
  <dc:description/>
  <dc:language>en-US</dc:language>
  <cp:lastModifiedBy>John Andre</cp:lastModifiedBy>
  <dcterms:modified xsi:type="dcterms:W3CDTF">2025-11-22T07:12:46Z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20</vt:i4>
  </property>
</Properties>
</file>