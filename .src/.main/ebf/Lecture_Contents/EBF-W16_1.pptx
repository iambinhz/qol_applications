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5"/>
  </p:notesMasterIdLst>
  <p:handoutMasterIdLst>
    <p:handoutMasterId r:id="rId56"/>
  </p:handoutMasterIdLst>
  <p:sldIdLst>
    <p:sldId id="304" r:id="rId5"/>
    <p:sldId id="257" r:id="rId6"/>
    <p:sldId id="258" r:id="rId7"/>
    <p:sldId id="259" r:id="rId8"/>
    <p:sldId id="260" r:id="rId9"/>
    <p:sldId id="261" r:id="rId10"/>
    <p:sldId id="312" r:id="rId11"/>
    <p:sldId id="263" r:id="rId12"/>
    <p:sldId id="264" r:id="rId13"/>
    <p:sldId id="265" r:id="rId14"/>
    <p:sldId id="266" r:id="rId15"/>
    <p:sldId id="313" r:id="rId16"/>
    <p:sldId id="314" r:id="rId17"/>
    <p:sldId id="315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316" r:id="rId26"/>
    <p:sldId id="275" r:id="rId27"/>
    <p:sldId id="276" r:id="rId28"/>
    <p:sldId id="317" r:id="rId29"/>
    <p:sldId id="278" r:id="rId30"/>
    <p:sldId id="279" r:id="rId31"/>
    <p:sldId id="280" r:id="rId32"/>
    <p:sldId id="318" r:id="rId33"/>
    <p:sldId id="282" r:id="rId34"/>
    <p:sldId id="283" r:id="rId35"/>
    <p:sldId id="319" r:id="rId36"/>
    <p:sldId id="320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329" r:id="rId53"/>
    <p:sldId id="330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1" userDrawn="1">
          <p15:clr>
            <a:srgbClr val="A4A3A4"/>
          </p15:clr>
        </p15:guide>
        <p15:guide id="6" pos="271" userDrawn="1">
          <p15:clr>
            <a:srgbClr val="A4A3A4"/>
          </p15:clr>
        </p15:guide>
        <p15:guide id="7" pos="2880" userDrawn="1">
          <p15:clr>
            <a:srgbClr val="A4A3A4"/>
          </p15:clr>
        </p15:guide>
        <p15:guide id="8" orient="horz" pos="3929" userDrawn="1">
          <p15:clr>
            <a:srgbClr val="A4A3A4"/>
          </p15:clr>
        </p15:guide>
        <p15:guide id="9" orient="horz" pos="1842" userDrawn="1">
          <p15:clr>
            <a:srgbClr val="A4A3A4"/>
          </p15:clr>
        </p15:guide>
        <p15:guide id="10" pos="5511" userDrawn="1">
          <p15:clr>
            <a:srgbClr val="A4A3A4"/>
          </p15:clr>
        </p15:guide>
        <p15:guide id="11" orient="horz" pos="12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resh, Anandan" initials="SA" lastIdx="6" clrIdx="0">
    <p:extLst>
      <p:ext uri="{19B8F6BF-5375-455C-9EA6-DF929625EA0E}">
        <p15:presenceInfo xmlns:p15="http://schemas.microsoft.com/office/powerpoint/2012/main" userId="S-1-5-21-2752970185-40930380-1894245210-2183" providerId="AD"/>
      </p:ext>
    </p:extLst>
  </p:cmAuthor>
  <p:cmAuthor id="2" name="Shukla, Preety" initials="SP" lastIdx="4" clrIdx="1">
    <p:extLst>
      <p:ext uri="{19B8F6BF-5375-455C-9EA6-DF929625EA0E}">
        <p15:presenceInfo xmlns:p15="http://schemas.microsoft.com/office/powerpoint/2012/main" userId="S::preety.shukla@pearson.com::a180e6dc-b464-4223-9030-d1701501bd4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80A3"/>
    <a:srgbClr val="007BA4"/>
    <a:srgbClr val="00A4B7"/>
    <a:srgbClr val="EA5633"/>
    <a:srgbClr val="182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33946C-EFCF-CE4B-B653-5F44CE04B140}" v="1" dt="2026-02-26T09:36:46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44" autoAdjust="0"/>
    <p:restoredTop sz="94694"/>
  </p:normalViewPr>
  <p:slideViewPr>
    <p:cSldViewPr>
      <p:cViewPr varScale="1">
        <p:scale>
          <a:sx n="121" d="100"/>
          <a:sy n="121" d="100"/>
        </p:scale>
        <p:origin x="1280" y="176"/>
      </p:cViewPr>
      <p:guideLst>
        <p:guide orient="horz" pos="461"/>
        <p:guide pos="271"/>
        <p:guide pos="2880"/>
        <p:guide orient="horz" pos="3929"/>
        <p:guide orient="horz" pos="1842"/>
        <p:guide pos="5511"/>
        <p:guide orient="horz" pos="12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commentAuthors" Target="comment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BE231-3047-46CC-8EB7-0A9C6A23B5E3}" type="datetimeFigureOut">
              <a:rPr lang="en-GB" smtClean="0"/>
              <a:pPr/>
              <a:t>26/02/2026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0D405B-D0BD-49FD-B9CE-587CD7BE639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238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29C7B-D5A1-4F4F-81D6-26274366EFEE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C9930-0A10-4D51-BF8B-58A66CF9DE8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6D3EE1-26EB-4098-B0C0-27B5598D974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092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7180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774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8420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563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983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665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24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888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3001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891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6307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93663" y="6165850"/>
            <a:ext cx="8596312" cy="234950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7"/>
          </p:nvPr>
        </p:nvSpPr>
        <p:spPr>
          <a:xfrm>
            <a:off x="6335713" y="112713"/>
            <a:ext cx="2133600" cy="182562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9A969A0D-5DF0-455E-920E-DB858AE69123}" type="datetimeFigureOut">
              <a:rPr lang="en-US"/>
              <a:pPr>
                <a:defRPr/>
              </a:pPr>
              <a:t>2/26/26</a:t>
            </a:fld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8"/>
          </p:nvPr>
        </p:nvSpPr>
        <p:spPr>
          <a:xfrm>
            <a:off x="8469313" y="112713"/>
            <a:ext cx="552450" cy="1825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>
                <a:solidFill>
                  <a:srgbClr val="000000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6D6BF8C-5CE4-4E11-B28F-568A4285EE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3395078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185738" y="6416675"/>
            <a:ext cx="8642350" cy="188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© 2022 Pearson Education Limited. All Rights Reserved.</a:t>
            </a:r>
            <a:endParaRPr lang="en-GB" sz="1200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9" name="Picture 8" descr="Pearson Logo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76988"/>
            <a:ext cx="9175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565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3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 txBox="1">
            <a:spLocks/>
          </p:cNvSpPr>
          <p:nvPr/>
        </p:nvSpPr>
        <p:spPr bwMode="auto">
          <a:xfrm>
            <a:off x="4859412" y="3502025"/>
            <a:ext cx="388930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Chapter 23</a:t>
            </a:r>
          </a:p>
          <a:p>
            <a:pPr marL="0" lvl="0" indent="0">
              <a:spcBef>
                <a:spcPts val="1200"/>
              </a:spcBef>
              <a:buNone/>
              <a:defRPr/>
            </a:pPr>
            <a:r>
              <a:rPr lang="en-US" sz="2200" kern="0" dirty="0">
                <a:solidFill>
                  <a:srgbClr val="000000"/>
                </a:solidFill>
              </a:rPr>
              <a:t>Finance, saving and investment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07988" y="238125"/>
            <a:ext cx="8051800" cy="15319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lvl="0" algn="l">
              <a:spcBef>
                <a:spcPts val="600"/>
              </a:spcBef>
              <a:defRPr/>
            </a:pPr>
            <a:r>
              <a:rPr lang="en-US" kern="0" dirty="0"/>
              <a:t>Economics</a:t>
            </a:r>
          </a:p>
          <a:p>
            <a:pPr lvl="0" algn="l">
              <a:spcBef>
                <a:spcPts val="600"/>
              </a:spcBef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FA3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Eleventh European Edition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1312948"/>
            <a:ext cx="3600401" cy="4922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 Placeholder 4"/>
          <p:cNvSpPr txBox="1">
            <a:spLocks/>
          </p:cNvSpPr>
          <p:nvPr/>
        </p:nvSpPr>
        <p:spPr bwMode="auto">
          <a:xfrm>
            <a:off x="4859412" y="1962150"/>
            <a:ext cx="3889301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 </a:t>
            </a:r>
            <a:r>
              <a:rPr lang="en-US" sz="3000" kern="0" noProof="0" dirty="0">
                <a:solidFill>
                  <a:srgbClr val="000000"/>
                </a:solidFill>
                <a:latin typeface="Arial"/>
              </a:rPr>
              <a:t>7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lvl="0" indent="0">
              <a:spcBef>
                <a:spcPts val="1200"/>
              </a:spcBef>
              <a:buNone/>
              <a:defRPr/>
            </a:pPr>
            <a:r>
              <a:rPr lang="en-US" sz="2200" kern="0" dirty="0">
                <a:solidFill>
                  <a:srgbClr val="000000"/>
                </a:solidFill>
              </a:rPr>
              <a:t>Macroeconomic trends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15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51150" y="4665675"/>
            <a:ext cx="40887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9A82"/>
                </a:solidFill>
                <a:latin typeface="Arial"/>
                <a:cs typeface="Arial"/>
              </a:rPr>
              <a:t>FINANCE,</a:t>
            </a:r>
            <a:r>
              <a:rPr sz="3600" b="1" spc="-10" dirty="0">
                <a:solidFill>
                  <a:srgbClr val="009A82"/>
                </a:solidFill>
                <a:latin typeface="Arial"/>
                <a:cs typeface="Arial"/>
              </a:rPr>
              <a:t> SAVING </a:t>
            </a:r>
            <a:r>
              <a:rPr sz="3600" b="1" dirty="0">
                <a:solidFill>
                  <a:srgbClr val="009A82"/>
                </a:solidFill>
                <a:latin typeface="Arial"/>
                <a:cs typeface="Arial"/>
              </a:rPr>
              <a:t>AND</a:t>
            </a:r>
            <a:r>
              <a:rPr sz="3600" b="1" spc="-90" dirty="0">
                <a:solidFill>
                  <a:srgbClr val="009A82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009A82"/>
                </a:solidFill>
                <a:latin typeface="Arial"/>
                <a:cs typeface="Arial"/>
              </a:rPr>
              <a:t>INVESTMENT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" y="5728708"/>
            <a:ext cx="8622779" cy="4692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3983" y="4256684"/>
            <a:ext cx="157099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0" spc="-630" dirty="0">
                <a:solidFill>
                  <a:srgbClr val="9B2490"/>
                </a:solidFill>
                <a:latin typeface="Arial"/>
                <a:cs typeface="Arial"/>
              </a:rPr>
              <a:t>24</a:t>
            </a:r>
            <a:endParaRPr sz="1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2311" y="0"/>
            <a:ext cx="7188708" cy="4503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592" y="-90850"/>
            <a:ext cx="7787208" cy="1005018"/>
          </a:xfrm>
          <a:prstGeom prst="rect">
            <a:avLst/>
          </a:prstGeom>
        </p:spPr>
        <p:txBody>
          <a:bodyPr vert="horz" wrap="square" lIns="0" tIns="6142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EF4A21"/>
                </a:solidFill>
              </a:rPr>
              <a:t>After</a:t>
            </a:r>
            <a:r>
              <a:rPr sz="2500" spc="-45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studying</a:t>
            </a:r>
            <a:r>
              <a:rPr sz="2500" spc="-3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this</a:t>
            </a:r>
            <a:r>
              <a:rPr sz="2500" spc="-6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chapter,</a:t>
            </a:r>
            <a:r>
              <a:rPr sz="2500" spc="-55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you</a:t>
            </a:r>
            <a:r>
              <a:rPr sz="2500" spc="-4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will</a:t>
            </a:r>
            <a:r>
              <a:rPr sz="2500" spc="-7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be</a:t>
            </a:r>
            <a:r>
              <a:rPr sz="2500" spc="-7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able</a:t>
            </a:r>
            <a:r>
              <a:rPr sz="2500" spc="-75" dirty="0">
                <a:solidFill>
                  <a:srgbClr val="EF4A21"/>
                </a:solidFill>
              </a:rPr>
              <a:t> </a:t>
            </a:r>
            <a:r>
              <a:rPr sz="2500" spc="-25" dirty="0">
                <a:solidFill>
                  <a:srgbClr val="EF4A21"/>
                </a:solidFill>
              </a:rPr>
              <a:t>to:</a:t>
            </a:r>
            <a:endParaRPr sz="25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23528" y="914168"/>
            <a:ext cx="8229600" cy="4525963"/>
          </a:xfrm>
          <a:prstGeom prst="rect">
            <a:avLst/>
          </a:prstGeom>
        </p:spPr>
        <p:txBody>
          <a:bodyPr vert="horz" wrap="square" lIns="0" tIns="181879" rIns="0" bIns="0" rtlCol="0">
            <a:spAutoFit/>
          </a:bodyPr>
          <a:lstStyle/>
          <a:p>
            <a:pPr marL="570230" indent="-342265">
              <a:lnSpc>
                <a:spcPct val="100000"/>
              </a:lnSpc>
              <a:spcBef>
                <a:spcPts val="100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570230" algn="l"/>
              </a:tabLst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Describe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flow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funds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financial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markets</a:t>
            </a:r>
          </a:p>
          <a:p>
            <a:pPr marL="570865" marR="109220" indent="-342900">
              <a:lnSpc>
                <a:spcPct val="100000"/>
              </a:lnSpc>
              <a:spcBef>
                <a:spcPts val="1989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570865" algn="l"/>
              </a:tabLst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Explain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how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financial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decisions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made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risks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arise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these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decisions</a:t>
            </a:r>
          </a:p>
          <a:p>
            <a:pPr marL="570865" marR="5080" indent="-342900">
              <a:lnSpc>
                <a:spcPct val="100000"/>
              </a:lnSpc>
              <a:spcBef>
                <a:spcPts val="2005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570865" algn="l"/>
              </a:tabLst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Explain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how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lending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1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borrowing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decisions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interact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in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financial</a:t>
            </a:r>
            <a:r>
              <a:rPr b="0" spc="-1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markets</a:t>
            </a:r>
          </a:p>
          <a:p>
            <a:pPr marL="570230" indent="-342265">
              <a:lnSpc>
                <a:spcPct val="100000"/>
              </a:lnSpc>
              <a:spcBef>
                <a:spcPts val="2010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570230" algn="l"/>
              </a:tabLst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Explain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how</a:t>
            </a:r>
            <a:r>
              <a:rPr b="0" spc="-1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governments</a:t>
            </a:r>
            <a:r>
              <a:rPr b="0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r>
              <a:rPr b="0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financial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7924165" cy="481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study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economics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institutions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markets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distinguish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between</a:t>
            </a:r>
            <a:endParaRPr sz="2400">
              <a:latin typeface="Arial"/>
              <a:cs typeface="Arial"/>
            </a:endParaRPr>
          </a:p>
          <a:p>
            <a:pPr marL="262255" indent="-249554">
              <a:lnSpc>
                <a:spcPct val="100000"/>
              </a:lnSpc>
              <a:spcBef>
                <a:spcPts val="1200"/>
              </a:spcBef>
              <a:buClr>
                <a:srgbClr val="1A70B7"/>
              </a:buClr>
              <a:buSzPct val="118750"/>
              <a:buFont typeface="Wingdings"/>
              <a:buChar char=""/>
              <a:tabLst>
                <a:tab pos="262255" algn="l"/>
              </a:tabLst>
            </a:pPr>
            <a:r>
              <a:rPr sz="2400" dirty="0">
                <a:latin typeface="Arial"/>
                <a:cs typeface="Arial"/>
              </a:rPr>
              <a:t>Finance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money</a:t>
            </a:r>
            <a:endParaRPr sz="2400">
              <a:latin typeface="Arial"/>
              <a:cs typeface="Arial"/>
            </a:endParaRPr>
          </a:p>
          <a:p>
            <a:pPr marL="262255" indent="-249554">
              <a:lnSpc>
                <a:spcPct val="100000"/>
              </a:lnSpc>
              <a:spcBef>
                <a:spcPts val="1200"/>
              </a:spcBef>
              <a:buClr>
                <a:srgbClr val="1A70B7"/>
              </a:buClr>
              <a:buSzPct val="118750"/>
              <a:buFont typeface="Wingdings"/>
              <a:buChar char=""/>
              <a:tabLst>
                <a:tab pos="262255" algn="l"/>
              </a:tabLst>
            </a:pPr>
            <a:r>
              <a:rPr sz="2400" dirty="0">
                <a:latin typeface="Arial"/>
                <a:cs typeface="Arial"/>
              </a:rPr>
              <a:t>Physical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capital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capital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Finance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and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Money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study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looks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households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firms </a:t>
            </a:r>
            <a:r>
              <a:rPr sz="2400" dirty="0">
                <a:latin typeface="Arial"/>
                <a:cs typeface="Arial"/>
              </a:rPr>
              <a:t>obtain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resources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cope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with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risks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arise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activity.</a:t>
            </a:r>
            <a:endParaRPr sz="2400">
              <a:latin typeface="Arial"/>
              <a:cs typeface="Arial"/>
            </a:endParaRPr>
          </a:p>
          <a:p>
            <a:pPr marL="12700" marR="32893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study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money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looks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households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firms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much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hold,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banks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manage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influences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economy.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3568" y="196041"/>
            <a:ext cx="799288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Financial</a:t>
            </a:r>
            <a:r>
              <a:rPr spc="-85" dirty="0"/>
              <a:t> </a:t>
            </a:r>
            <a:r>
              <a:rPr dirty="0"/>
              <a:t>Markets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dirty="0"/>
              <a:t>Financial</a:t>
            </a:r>
            <a:r>
              <a:rPr spc="-105" dirty="0"/>
              <a:t> </a:t>
            </a:r>
            <a:r>
              <a:rPr spc="-10" dirty="0"/>
              <a:t>Institutions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1467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>
                <a:solidFill>
                  <a:srgbClr val="C00000"/>
                </a:solidFill>
              </a:rPr>
              <a:t>Capital</a:t>
            </a:r>
            <a:r>
              <a:rPr spc="-3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and</a:t>
            </a:r>
            <a:r>
              <a:rPr spc="-4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Financial</a:t>
            </a:r>
            <a:r>
              <a:rPr spc="-50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Capital</a:t>
            </a:r>
          </a:p>
          <a:p>
            <a:pPr marL="12700" marR="170180">
              <a:lnSpc>
                <a:spcPct val="100000"/>
              </a:lnSpc>
              <a:spcBef>
                <a:spcPts val="1200"/>
              </a:spcBef>
            </a:pPr>
            <a:r>
              <a:rPr b="0" i="1" dirty="0">
                <a:solidFill>
                  <a:srgbClr val="C00000"/>
                </a:solidFill>
                <a:latin typeface="Arial"/>
                <a:cs typeface="Arial"/>
              </a:rPr>
              <a:t>Capital</a:t>
            </a:r>
            <a:r>
              <a:rPr b="0" i="1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(or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physical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capital)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tools,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instruments,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machines,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buildings,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other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items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have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been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produced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past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used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today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produce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goods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services.</a:t>
            </a: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funds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firms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use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buy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physical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capital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called</a:t>
            </a:r>
            <a:r>
              <a:rPr lang="en-US" b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</a:rPr>
              <a:t>financial</a:t>
            </a:r>
            <a:r>
              <a:rPr spc="-20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capital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82" y="282996"/>
            <a:ext cx="58613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Financial</a:t>
            </a:r>
            <a:r>
              <a:rPr spc="-85" dirty="0"/>
              <a:t> </a:t>
            </a:r>
            <a:r>
              <a:rPr dirty="0"/>
              <a:t>Markets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dirty="0"/>
              <a:t>Financial</a:t>
            </a:r>
            <a:r>
              <a:rPr spc="-105" dirty="0"/>
              <a:t> </a:t>
            </a:r>
            <a:r>
              <a:rPr spc="-10" dirty="0"/>
              <a:t>Institutions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323528" y="1391867"/>
            <a:ext cx="8640960" cy="509177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800" dirty="0">
                <a:solidFill>
                  <a:srgbClr val="C00000"/>
                </a:solidFill>
              </a:rPr>
              <a:t>Capital</a:t>
            </a:r>
            <a:r>
              <a:rPr sz="2800" spc="-30" dirty="0">
                <a:solidFill>
                  <a:srgbClr val="C00000"/>
                </a:solidFill>
              </a:rPr>
              <a:t> </a:t>
            </a:r>
            <a:r>
              <a:rPr sz="2800" dirty="0">
                <a:solidFill>
                  <a:srgbClr val="C00000"/>
                </a:solidFill>
              </a:rPr>
              <a:t>and</a:t>
            </a:r>
            <a:r>
              <a:rPr sz="2800" spc="-45" dirty="0">
                <a:solidFill>
                  <a:srgbClr val="C00000"/>
                </a:solidFill>
              </a:rPr>
              <a:t> </a:t>
            </a:r>
            <a:r>
              <a:rPr sz="2800" spc="-10" dirty="0">
                <a:solidFill>
                  <a:srgbClr val="C00000"/>
                </a:solidFill>
              </a:rPr>
              <a:t>Investment</a:t>
            </a: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800" dirty="0">
                <a:solidFill>
                  <a:srgbClr val="0070C0"/>
                </a:solidFill>
              </a:rPr>
              <a:t>Gross</a:t>
            </a:r>
            <a:r>
              <a:rPr sz="2800" spc="-75" dirty="0">
                <a:solidFill>
                  <a:srgbClr val="0070C0"/>
                </a:solidFill>
              </a:rPr>
              <a:t> </a:t>
            </a:r>
            <a:r>
              <a:rPr sz="2800" dirty="0">
                <a:solidFill>
                  <a:srgbClr val="0070C0"/>
                </a:solidFill>
              </a:rPr>
              <a:t>investment</a:t>
            </a:r>
            <a:r>
              <a:rPr sz="2800" spc="-55" dirty="0">
                <a:solidFill>
                  <a:srgbClr val="0070C0"/>
                </a:solidFill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total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amount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spent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purchases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new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capital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8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sz="28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replacing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depreciated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capital.</a:t>
            </a:r>
          </a:p>
          <a:p>
            <a:pPr marL="12700" marR="21590">
              <a:lnSpc>
                <a:spcPct val="100000"/>
              </a:lnSpc>
              <a:spcBef>
                <a:spcPts val="1205"/>
              </a:spcBef>
            </a:pPr>
            <a:r>
              <a:rPr sz="2800" dirty="0">
                <a:solidFill>
                  <a:srgbClr val="0070C0"/>
                </a:solidFill>
              </a:rPr>
              <a:t>Depreciation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decrease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quantity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capital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0" dirty="0">
                <a:solidFill>
                  <a:srgbClr val="000000"/>
                </a:solidFill>
                <a:latin typeface="Arial"/>
                <a:cs typeface="Arial"/>
              </a:rPr>
              <a:t>that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results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wear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tear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obsolescence.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dirty="0">
                <a:solidFill>
                  <a:srgbClr val="0070C0"/>
                </a:solidFill>
              </a:rPr>
              <a:t>Net</a:t>
            </a:r>
            <a:r>
              <a:rPr sz="2800" spc="-35" dirty="0">
                <a:solidFill>
                  <a:srgbClr val="0070C0"/>
                </a:solidFill>
              </a:rPr>
              <a:t> </a:t>
            </a:r>
            <a:r>
              <a:rPr sz="2800" dirty="0">
                <a:solidFill>
                  <a:srgbClr val="0070C0"/>
                </a:solidFill>
              </a:rPr>
              <a:t>investment</a:t>
            </a:r>
            <a:r>
              <a:rPr sz="2800" spc="-30" dirty="0">
                <a:solidFill>
                  <a:srgbClr val="0070C0"/>
                </a:solidFill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change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quantity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capital.</a:t>
            </a:r>
          </a:p>
          <a:p>
            <a:pPr marL="539750">
              <a:lnSpc>
                <a:spcPct val="100000"/>
              </a:lnSpc>
              <a:spcBef>
                <a:spcPts val="1200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Net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investment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Gross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investment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−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Depreciation.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82" y="282996"/>
            <a:ext cx="600541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Financial</a:t>
            </a:r>
            <a:r>
              <a:rPr spc="-85" dirty="0"/>
              <a:t> </a:t>
            </a:r>
            <a:r>
              <a:rPr dirty="0"/>
              <a:t>Markets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dirty="0"/>
              <a:t>Financial</a:t>
            </a:r>
            <a:r>
              <a:rPr spc="-105" dirty="0"/>
              <a:t> </a:t>
            </a:r>
            <a:r>
              <a:rPr spc="-10" dirty="0"/>
              <a:t>Institutions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23.1 </a:t>
            </a:r>
            <a:br>
              <a:rPr lang="en-US" sz="3200" dirty="0"/>
            </a:br>
            <a:r>
              <a:rPr lang="en-US" sz="3200" dirty="0"/>
              <a:t>Capital and investment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538811"/>
            <a:ext cx="8312727" cy="4050429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642C8BCD-CF0D-72B1-2134-36EB02929C84}"/>
              </a:ext>
            </a:extLst>
          </p:cNvPr>
          <p:cNvSpPr txBox="1"/>
          <p:nvPr/>
        </p:nvSpPr>
        <p:spPr>
          <a:xfrm>
            <a:off x="547522" y="1609801"/>
            <a:ext cx="346456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lang="en-US" sz="2400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.1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illustrates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relationships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among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capital,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gross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investment, </a:t>
            </a:r>
            <a:r>
              <a:rPr sz="2400" dirty="0">
                <a:latin typeface="Arial"/>
                <a:cs typeface="Arial"/>
              </a:rPr>
              <a:t>depreciation,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net </a:t>
            </a:r>
            <a:r>
              <a:rPr sz="2400" spc="-10" dirty="0">
                <a:latin typeface="Arial"/>
                <a:cs typeface="Arial"/>
              </a:rPr>
              <a:t>investment.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2231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251520" y="1166018"/>
            <a:ext cx="8712968" cy="4660891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800" b="1" dirty="0">
                <a:solidFill>
                  <a:srgbClr val="0070C0"/>
                </a:solidFill>
              </a:rPr>
              <a:t>Wealth</a:t>
            </a:r>
            <a:r>
              <a:rPr sz="2800" b="1" spc="-40" dirty="0">
                <a:solidFill>
                  <a:srgbClr val="0070C0"/>
                </a:solidFill>
              </a:rPr>
              <a:t> </a:t>
            </a:r>
            <a:r>
              <a:rPr sz="2800" b="1" dirty="0">
                <a:solidFill>
                  <a:srgbClr val="0070C0"/>
                </a:solidFill>
              </a:rPr>
              <a:t>and</a:t>
            </a:r>
            <a:r>
              <a:rPr sz="2800" b="1" spc="-15" dirty="0">
                <a:solidFill>
                  <a:srgbClr val="0070C0"/>
                </a:solidFill>
              </a:rPr>
              <a:t> </a:t>
            </a:r>
            <a:r>
              <a:rPr sz="2800" b="1" spc="-10" dirty="0">
                <a:solidFill>
                  <a:srgbClr val="0070C0"/>
                </a:solidFill>
              </a:rPr>
              <a:t>Saving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b="1" dirty="0">
                <a:solidFill>
                  <a:srgbClr val="0070C0"/>
                </a:solidFill>
              </a:rPr>
              <a:t>Wealth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value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all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things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people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0" dirty="0">
                <a:solidFill>
                  <a:srgbClr val="000000"/>
                </a:solidFill>
                <a:latin typeface="Arial"/>
                <a:cs typeface="Arial"/>
              </a:rPr>
              <a:t>own.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b="1" dirty="0">
                <a:solidFill>
                  <a:srgbClr val="0070C0"/>
                </a:solidFill>
              </a:rPr>
              <a:t>Saving</a:t>
            </a:r>
            <a:r>
              <a:rPr sz="2800" spc="-55" dirty="0">
                <a:solidFill>
                  <a:srgbClr val="000000"/>
                </a:solidFill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amount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income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not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paid</a:t>
            </a:r>
            <a:r>
              <a:rPr sz="2800"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taxes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or</a:t>
            </a:r>
            <a:r>
              <a:rPr lang="en-US" sz="2800"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spent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consumption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goods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services.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Saving</a:t>
            </a:r>
            <a:r>
              <a:rPr sz="2800" b="0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increases</a:t>
            </a:r>
            <a:r>
              <a:rPr sz="2800" b="0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wealth.</a:t>
            </a:r>
          </a:p>
          <a:p>
            <a:pPr marL="12700" marR="442595">
              <a:lnSpc>
                <a:spcPct val="100000"/>
              </a:lnSpc>
              <a:spcBef>
                <a:spcPts val="1200"/>
              </a:spcBef>
            </a:pPr>
            <a:r>
              <a:rPr sz="2800" b="0" dirty="0">
                <a:solidFill>
                  <a:srgbClr val="C00000"/>
                </a:solidFill>
                <a:latin typeface="Arial"/>
                <a:cs typeface="Arial"/>
              </a:rPr>
              <a:t>Wealth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also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increases</a:t>
            </a:r>
            <a:r>
              <a:rPr sz="28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when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market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value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assets </a:t>
            </a:r>
            <a:r>
              <a:rPr sz="2800" b="0" spc="-20" dirty="0">
                <a:solidFill>
                  <a:srgbClr val="000000"/>
                </a:solidFill>
                <a:latin typeface="Arial"/>
                <a:cs typeface="Arial"/>
              </a:rPr>
              <a:t>rises—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called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C00000"/>
                </a:solidFill>
                <a:latin typeface="Arial"/>
                <a:cs typeface="Arial"/>
              </a:rPr>
              <a:t>capital</a:t>
            </a:r>
            <a:r>
              <a:rPr sz="2800" b="0" i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0" i="1" spc="-20" dirty="0">
                <a:solidFill>
                  <a:srgbClr val="C00000"/>
                </a:solidFill>
                <a:latin typeface="Arial"/>
                <a:cs typeface="Arial"/>
              </a:rPr>
              <a:t>gains</a:t>
            </a:r>
            <a:r>
              <a:rPr sz="2800" b="0" i="1" spc="-20" dirty="0">
                <a:solidFill>
                  <a:srgbClr val="000000"/>
                </a:solidFill>
                <a:latin typeface="Arial"/>
                <a:cs typeface="Arial"/>
              </a:rPr>
              <a:t>—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decreases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when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market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value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assets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falls—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called</a:t>
            </a:r>
            <a:r>
              <a:rPr sz="2800"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C00000"/>
                </a:solidFill>
                <a:latin typeface="Arial"/>
                <a:cs typeface="Arial"/>
              </a:rPr>
              <a:t>capital</a:t>
            </a:r>
            <a:r>
              <a:rPr sz="2800" b="0" i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0" i="1" spc="-10" dirty="0">
                <a:solidFill>
                  <a:srgbClr val="C00000"/>
                </a:solidFill>
                <a:latin typeface="Arial"/>
                <a:cs typeface="Arial"/>
              </a:rPr>
              <a:t>losses</a:t>
            </a:r>
            <a:r>
              <a:rPr sz="2800" b="0" spc="-10" dirty="0">
                <a:solidFill>
                  <a:srgbClr val="C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2868" y="65025"/>
            <a:ext cx="679750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Financial</a:t>
            </a:r>
            <a:r>
              <a:rPr spc="-85" dirty="0"/>
              <a:t> </a:t>
            </a:r>
            <a:r>
              <a:rPr dirty="0"/>
              <a:t>Markets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dirty="0"/>
              <a:t>Financial</a:t>
            </a:r>
            <a:r>
              <a:rPr spc="-105" dirty="0"/>
              <a:t> </a:t>
            </a:r>
            <a:r>
              <a:rPr spc="-10" dirty="0"/>
              <a:t>Institutions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823200" cy="351409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Financial</a:t>
            </a:r>
            <a:r>
              <a:rPr sz="2400" b="1" spc="-6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Capital</a:t>
            </a:r>
            <a:r>
              <a:rPr sz="2400" b="1" spc="-4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Markets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41700"/>
              </a:lnSpc>
            </a:pPr>
            <a:r>
              <a:rPr sz="2400" dirty="0">
                <a:latin typeface="Arial"/>
                <a:cs typeface="Arial"/>
              </a:rPr>
              <a:t>Saving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source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investment.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supplied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demanded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three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markets:</a:t>
            </a:r>
            <a:endParaRPr sz="2400">
              <a:latin typeface="Arial"/>
              <a:cs typeface="Arial"/>
            </a:endParaRPr>
          </a:p>
          <a:p>
            <a:pPr marL="262255" indent="-249554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262255" algn="l"/>
              </a:tabLst>
            </a:pPr>
            <a:r>
              <a:rPr sz="2400" dirty="0">
                <a:latin typeface="Arial"/>
                <a:cs typeface="Arial"/>
              </a:rPr>
              <a:t>Loan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markets</a:t>
            </a:r>
            <a:endParaRPr sz="2400">
              <a:latin typeface="Arial"/>
              <a:cs typeface="Arial"/>
            </a:endParaRPr>
          </a:p>
          <a:p>
            <a:pPr marL="262255" indent="-249554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262255" algn="l"/>
              </a:tabLst>
            </a:pPr>
            <a:r>
              <a:rPr sz="2400" dirty="0">
                <a:latin typeface="Arial"/>
                <a:cs typeface="Arial"/>
              </a:rPr>
              <a:t>Bond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markets</a:t>
            </a:r>
            <a:endParaRPr sz="2400">
              <a:latin typeface="Arial"/>
              <a:cs typeface="Arial"/>
            </a:endParaRPr>
          </a:p>
          <a:p>
            <a:pPr marL="262255" indent="-249554">
              <a:lnSpc>
                <a:spcPct val="100000"/>
              </a:lnSpc>
              <a:spcBef>
                <a:spcPts val="1205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262255" algn="l"/>
              </a:tabLst>
            </a:pPr>
            <a:r>
              <a:rPr sz="2400" dirty="0">
                <a:latin typeface="Arial"/>
                <a:cs typeface="Arial"/>
              </a:rPr>
              <a:t>Stock</a:t>
            </a:r>
            <a:r>
              <a:rPr sz="2400" spc="-10" dirty="0">
                <a:latin typeface="Arial"/>
                <a:cs typeface="Arial"/>
              </a:rPr>
              <a:t> markets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82" y="282996"/>
            <a:ext cx="63654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Financial</a:t>
            </a:r>
            <a:r>
              <a:rPr spc="-85" dirty="0"/>
              <a:t> </a:t>
            </a:r>
            <a:r>
              <a:rPr dirty="0"/>
              <a:t>Markets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dirty="0"/>
              <a:t>Financial</a:t>
            </a:r>
            <a:r>
              <a:rPr spc="-105" dirty="0"/>
              <a:t> </a:t>
            </a:r>
            <a:r>
              <a:rPr spc="-10" dirty="0"/>
              <a:t>Institutions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277734" cy="50692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Financial</a:t>
            </a:r>
            <a:r>
              <a:rPr sz="2400" b="1" spc="-5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Institutions</a:t>
            </a:r>
            <a:endParaRPr sz="2400">
              <a:latin typeface="Arial"/>
              <a:cs typeface="Arial"/>
            </a:endParaRPr>
          </a:p>
          <a:p>
            <a:pPr marL="12700" marR="64769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financial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institution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operates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20" dirty="0">
                <a:latin typeface="Arial"/>
                <a:cs typeface="Arial"/>
              </a:rPr>
              <a:t> both </a:t>
            </a:r>
            <a:r>
              <a:rPr sz="2400" dirty="0">
                <a:latin typeface="Arial"/>
                <a:cs typeface="Arial"/>
              </a:rPr>
              <a:t>sides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markets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capital.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41700"/>
              </a:lnSpc>
            </a:pPr>
            <a:r>
              <a:rPr sz="2400" dirty="0">
                <a:latin typeface="Arial"/>
                <a:cs typeface="Arial"/>
              </a:rPr>
              <a:t>It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borrower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market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lender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another. </a:t>
            </a:r>
            <a:r>
              <a:rPr sz="2400" dirty="0">
                <a:latin typeface="Arial"/>
                <a:cs typeface="Arial"/>
              </a:rPr>
              <a:t>Key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institutions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are</a:t>
            </a:r>
            <a:endParaRPr sz="2400">
              <a:latin typeface="Arial"/>
              <a:cs typeface="Arial"/>
            </a:endParaRPr>
          </a:p>
          <a:p>
            <a:pPr marL="262255" indent="-249554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262255" algn="l"/>
              </a:tabLst>
            </a:pPr>
            <a:r>
              <a:rPr sz="2400" dirty="0">
                <a:latin typeface="Arial"/>
                <a:cs typeface="Arial"/>
              </a:rPr>
              <a:t>Commercial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banks</a:t>
            </a:r>
            <a:endParaRPr sz="2400">
              <a:latin typeface="Arial"/>
              <a:cs typeface="Arial"/>
            </a:endParaRPr>
          </a:p>
          <a:p>
            <a:pPr marL="262255" indent="-249554">
              <a:lnSpc>
                <a:spcPct val="100000"/>
              </a:lnSpc>
              <a:spcBef>
                <a:spcPts val="1205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262255" algn="l"/>
              </a:tabLst>
            </a:pPr>
            <a:r>
              <a:rPr sz="2400" spc="-20" dirty="0">
                <a:latin typeface="Arial"/>
                <a:cs typeface="Arial"/>
              </a:rPr>
              <a:t>Government-</a:t>
            </a:r>
            <a:r>
              <a:rPr sz="2400" dirty="0">
                <a:latin typeface="Arial"/>
                <a:cs typeface="Arial"/>
              </a:rPr>
              <a:t>sponsored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mortgage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lenders</a:t>
            </a:r>
            <a:endParaRPr sz="2400">
              <a:latin typeface="Arial"/>
              <a:cs typeface="Arial"/>
            </a:endParaRPr>
          </a:p>
          <a:p>
            <a:pPr marL="262255" indent="-249554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262255" algn="l"/>
              </a:tabLst>
            </a:pPr>
            <a:r>
              <a:rPr sz="2400" dirty="0">
                <a:latin typeface="Arial"/>
                <a:cs typeface="Arial"/>
              </a:rPr>
              <a:t>Mutual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Pension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funds</a:t>
            </a:r>
            <a:endParaRPr sz="2400">
              <a:latin typeface="Arial"/>
              <a:cs typeface="Arial"/>
            </a:endParaRPr>
          </a:p>
          <a:p>
            <a:pPr marL="262255" indent="-249554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262255" algn="l"/>
              </a:tabLst>
            </a:pPr>
            <a:r>
              <a:rPr sz="2400" dirty="0">
                <a:latin typeface="Arial"/>
                <a:cs typeface="Arial"/>
              </a:rPr>
              <a:t>Insurance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companies</a:t>
            </a:r>
            <a:endParaRPr sz="2400">
              <a:latin typeface="Arial"/>
              <a:cs typeface="Arial"/>
            </a:endParaRPr>
          </a:p>
          <a:p>
            <a:pPr marL="178435" indent="-177800">
              <a:lnSpc>
                <a:spcPct val="100000"/>
              </a:lnSpc>
              <a:spcBef>
                <a:spcPts val="75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17843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Federal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Reserve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83" y="280594"/>
            <a:ext cx="6509469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Financial</a:t>
            </a:r>
            <a:r>
              <a:rPr spc="-105" dirty="0"/>
              <a:t> </a:t>
            </a:r>
            <a:r>
              <a:rPr dirty="0"/>
              <a:t>Markets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dirty="0"/>
              <a:t>Financial</a:t>
            </a:r>
            <a:r>
              <a:rPr spc="-75" dirty="0"/>
              <a:t> </a:t>
            </a:r>
            <a:r>
              <a:rPr spc="-10" dirty="0"/>
              <a:t>Institutions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700645" cy="350202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Funds</a:t>
            </a:r>
            <a:r>
              <a:rPr sz="2400" b="1" spc="-4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that</a:t>
            </a:r>
            <a:r>
              <a:rPr sz="2400" b="1" spc="-4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Finance</a:t>
            </a:r>
            <a:r>
              <a:rPr sz="2400" b="1" spc="-4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Investment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Funds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three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sources:</a:t>
            </a:r>
            <a:endParaRPr sz="2400">
              <a:latin typeface="Arial"/>
              <a:cs typeface="Arial"/>
            </a:endParaRPr>
          </a:p>
          <a:p>
            <a:pPr marL="349885" indent="-33718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49885" algn="l"/>
              </a:tabLst>
            </a:pPr>
            <a:r>
              <a:rPr sz="2400" dirty="0">
                <a:latin typeface="Arial"/>
                <a:cs typeface="Arial"/>
              </a:rPr>
              <a:t>Household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saving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i="1" spc="-5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Government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budget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surplus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T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G</a:t>
            </a:r>
            <a:r>
              <a:rPr sz="2400" spc="-25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Borrowing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world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X</a:t>
            </a:r>
            <a:r>
              <a:rPr sz="2400" spc="-25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24.2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next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slide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illustrates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flows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funds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investment.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82" y="282996"/>
            <a:ext cx="593340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Financial</a:t>
            </a:r>
            <a:r>
              <a:rPr spc="-85" dirty="0"/>
              <a:t> </a:t>
            </a:r>
            <a:r>
              <a:rPr dirty="0"/>
              <a:t>Markets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dirty="0"/>
              <a:t>Financial</a:t>
            </a:r>
            <a:r>
              <a:rPr spc="-105" dirty="0"/>
              <a:t> </a:t>
            </a:r>
            <a:r>
              <a:rPr spc="-10" dirty="0"/>
              <a:t>Institutions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1 </a:t>
            </a:r>
            <a:br>
              <a:rPr lang="en-US" sz="3200" dirty="0"/>
            </a:br>
            <a:r>
              <a:rPr lang="en-US" sz="3200" dirty="0"/>
              <a:t>Mortgage debt to income ratio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209" y="1481199"/>
            <a:ext cx="5185581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511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 </a:t>
            </a:r>
            <a:br>
              <a:rPr lang="en-US" sz="3200" dirty="0"/>
            </a:br>
            <a:r>
              <a:rPr lang="en-US" sz="3200" dirty="0"/>
              <a:t>UK average house price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055" y="1422785"/>
            <a:ext cx="5415890" cy="487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26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540336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23.2 </a:t>
            </a:r>
            <a:br>
              <a:rPr lang="en-US" sz="3200" dirty="0"/>
            </a:br>
            <a:r>
              <a:rPr lang="en-US" sz="3200" dirty="0"/>
              <a:t>Financial flows and the circular flow of expenditure and income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555" y="1880612"/>
            <a:ext cx="5568888" cy="445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222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546" y="1609801"/>
            <a:ext cx="8020050" cy="429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" marR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markets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institutions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enable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make </a:t>
            </a:r>
            <a:r>
              <a:rPr sz="2400" dirty="0">
                <a:latin typeface="Arial"/>
                <a:cs typeface="Arial"/>
              </a:rPr>
              <a:t>decisions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about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scarce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resources,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risks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arise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decisions.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2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Time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Value</a:t>
            </a:r>
            <a:r>
              <a:rPr sz="2400" b="1" spc="-1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of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 Money</a:t>
            </a:r>
            <a:endParaRPr sz="2400">
              <a:latin typeface="Arial"/>
              <a:cs typeface="Arial"/>
            </a:endParaRPr>
          </a:p>
          <a:p>
            <a:pPr marL="38100" marR="36639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compare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current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future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dollars,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convert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future </a:t>
            </a:r>
            <a:r>
              <a:rPr sz="2400" dirty="0">
                <a:latin typeface="Arial"/>
                <a:cs typeface="Arial"/>
              </a:rPr>
              <a:t>dollars,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called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“future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value,”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current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dollars,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called </a:t>
            </a:r>
            <a:r>
              <a:rPr sz="2400" dirty="0">
                <a:latin typeface="Arial"/>
                <a:cs typeface="Arial"/>
              </a:rPr>
              <a:t>“present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value.”</a:t>
            </a:r>
            <a:endParaRPr sz="2400">
              <a:latin typeface="Arial"/>
              <a:cs typeface="Arial"/>
            </a:endParaRPr>
          </a:p>
          <a:p>
            <a:pPr marL="38100" marR="304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Present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Future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amount,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future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when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equals</a:t>
            </a:r>
            <a:endParaRPr sz="2400">
              <a:latin typeface="Arial"/>
              <a:cs typeface="Arial"/>
            </a:endParaRPr>
          </a:p>
          <a:p>
            <a:pPr marL="179514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Future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amount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divided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(1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r</a:t>
            </a:r>
            <a:r>
              <a:rPr sz="2400" spc="-25" dirty="0">
                <a:latin typeface="Arial"/>
                <a:cs typeface="Arial"/>
              </a:rPr>
              <a:t>)</a:t>
            </a:r>
            <a:r>
              <a:rPr sz="2400" i="1" spc="-37" baseline="24305" dirty="0">
                <a:latin typeface="Arial"/>
                <a:cs typeface="Arial"/>
              </a:rPr>
              <a:t>n</a:t>
            </a:r>
            <a:endParaRPr sz="2400" baseline="24305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Financial</a:t>
            </a:r>
            <a:r>
              <a:rPr spc="-90" dirty="0"/>
              <a:t> </a:t>
            </a:r>
            <a:r>
              <a:rPr dirty="0"/>
              <a:t>Decisions</a:t>
            </a:r>
            <a:r>
              <a:rPr spc="-9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20" dirty="0"/>
              <a:t>Risk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546" y="1457055"/>
            <a:ext cx="7907655" cy="496506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Net</a:t>
            </a:r>
            <a:r>
              <a:rPr sz="2400" b="1" spc="-7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Present</a:t>
            </a:r>
            <a:r>
              <a:rPr sz="2400" b="1" spc="-6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Value</a:t>
            </a:r>
            <a:endParaRPr sz="2400">
              <a:latin typeface="Arial"/>
              <a:cs typeface="Arial"/>
            </a:endParaRPr>
          </a:p>
          <a:p>
            <a:pPr marL="38100" marR="235585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latin typeface="Arial"/>
                <a:cs typeface="Arial"/>
              </a:rPr>
              <a:t>Net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present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value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present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future </a:t>
            </a:r>
            <a:r>
              <a:rPr sz="2400" dirty="0">
                <a:latin typeface="Arial"/>
                <a:cs typeface="Arial"/>
              </a:rPr>
              <a:t>flows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money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arise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decision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minus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decision.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Jack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make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game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$500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after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two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years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$2,420.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10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year.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present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$2,420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future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$2,420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divided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(1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0.1)</a:t>
            </a:r>
            <a:r>
              <a:rPr sz="2400" baseline="24305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which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$2,000.</a:t>
            </a:r>
            <a:endParaRPr sz="2400">
              <a:latin typeface="Arial"/>
              <a:cs typeface="Arial"/>
            </a:endParaRPr>
          </a:p>
          <a:p>
            <a:pPr marL="38100" marR="304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present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Jack’s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equals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$2,000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$500,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$1,500.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Financial</a:t>
            </a:r>
            <a:r>
              <a:rPr spc="-90" dirty="0"/>
              <a:t> </a:t>
            </a:r>
            <a:r>
              <a:rPr dirty="0"/>
              <a:t>Decisions</a:t>
            </a:r>
            <a:r>
              <a:rPr spc="-9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20" dirty="0"/>
              <a:t>Risk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946" y="1457055"/>
            <a:ext cx="7486650" cy="40811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Decision</a:t>
            </a:r>
            <a:r>
              <a:rPr sz="2400" b="1" spc="-5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Rule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decision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rule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present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positive,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it!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present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negative,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don’t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it!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Following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decision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rule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maximizes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wealth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future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money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flows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risky.</a:t>
            </a:r>
            <a:endParaRPr sz="2400">
              <a:latin typeface="Arial"/>
              <a:cs typeface="Arial"/>
            </a:endParaRPr>
          </a:p>
          <a:p>
            <a:pPr marL="12700" marR="762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Where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future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uncertain,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rule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modified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to: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present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enough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make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loss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sufficiently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unlikely.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Financial</a:t>
            </a:r>
            <a:r>
              <a:rPr spc="-90" dirty="0"/>
              <a:t> </a:t>
            </a:r>
            <a:r>
              <a:rPr dirty="0"/>
              <a:t>Decisions</a:t>
            </a:r>
            <a:r>
              <a:rPr spc="-9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20" dirty="0"/>
              <a:t>Risk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783195" cy="356298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Financial</a:t>
            </a:r>
            <a:r>
              <a:rPr sz="2400" b="1" spc="-6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Risk: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Insolvency</a:t>
            </a:r>
            <a:r>
              <a:rPr sz="2400" b="1" spc="-6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and</a:t>
            </a:r>
            <a:r>
              <a:rPr sz="2400" b="1" spc="-4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Illiquidity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institution’s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net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worth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total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market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value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what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lent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minus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market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what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has </a:t>
            </a:r>
            <a:r>
              <a:rPr sz="2400" spc="-10" dirty="0">
                <a:latin typeface="Arial"/>
                <a:cs typeface="Arial"/>
              </a:rPr>
              <a:t>borrowed.</a:t>
            </a:r>
            <a:endParaRPr sz="2400">
              <a:latin typeface="Arial"/>
              <a:cs typeface="Arial"/>
            </a:endParaRPr>
          </a:p>
          <a:p>
            <a:pPr marL="12700" marR="34099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positive,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institution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solvent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can </a:t>
            </a:r>
            <a:r>
              <a:rPr sz="2400" dirty="0">
                <a:latin typeface="Arial"/>
                <a:cs typeface="Arial"/>
              </a:rPr>
              <a:t>remain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business.</a:t>
            </a:r>
            <a:endParaRPr sz="2400">
              <a:latin typeface="Arial"/>
              <a:cs typeface="Arial"/>
            </a:endParaRPr>
          </a:p>
          <a:p>
            <a:pPr marL="12700" marR="3556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But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worth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negative,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institution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insolvent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business.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Financial</a:t>
            </a:r>
            <a:r>
              <a:rPr spc="-90" dirty="0"/>
              <a:t> </a:t>
            </a:r>
            <a:r>
              <a:rPr dirty="0"/>
              <a:t>Decisions</a:t>
            </a:r>
            <a:r>
              <a:rPr spc="-9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20" dirty="0"/>
              <a:t>Risk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43127" y="1268760"/>
            <a:ext cx="8856984" cy="4784002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600" b="1" dirty="0">
                <a:solidFill>
                  <a:srgbClr val="C00000"/>
                </a:solidFill>
              </a:rPr>
              <a:t>Market</a:t>
            </a:r>
            <a:r>
              <a:rPr sz="2600" b="1" spc="-60" dirty="0">
                <a:solidFill>
                  <a:srgbClr val="C00000"/>
                </a:solidFill>
              </a:rPr>
              <a:t> </a:t>
            </a:r>
            <a:r>
              <a:rPr sz="2600" b="1" dirty="0">
                <a:solidFill>
                  <a:srgbClr val="C00000"/>
                </a:solidFill>
              </a:rPr>
              <a:t>Risk:</a:t>
            </a:r>
            <a:r>
              <a:rPr sz="2600" b="1" spc="-45" dirty="0">
                <a:solidFill>
                  <a:srgbClr val="C00000"/>
                </a:solidFill>
              </a:rPr>
              <a:t> </a:t>
            </a:r>
            <a:r>
              <a:rPr sz="2600" b="1" dirty="0">
                <a:solidFill>
                  <a:srgbClr val="C00000"/>
                </a:solidFill>
              </a:rPr>
              <a:t>Interest</a:t>
            </a:r>
            <a:r>
              <a:rPr sz="2600" b="1" spc="-70" dirty="0">
                <a:solidFill>
                  <a:srgbClr val="C00000"/>
                </a:solidFill>
              </a:rPr>
              <a:t> </a:t>
            </a:r>
            <a:r>
              <a:rPr sz="2600" b="1" dirty="0">
                <a:solidFill>
                  <a:srgbClr val="C00000"/>
                </a:solidFill>
              </a:rPr>
              <a:t>Rates</a:t>
            </a:r>
            <a:r>
              <a:rPr sz="2600" b="1" spc="-45" dirty="0">
                <a:solidFill>
                  <a:srgbClr val="C00000"/>
                </a:solidFill>
              </a:rPr>
              <a:t> </a:t>
            </a:r>
            <a:r>
              <a:rPr sz="2600" b="1" dirty="0">
                <a:solidFill>
                  <a:srgbClr val="C00000"/>
                </a:solidFill>
              </a:rPr>
              <a:t>and</a:t>
            </a:r>
            <a:r>
              <a:rPr sz="2600" b="1" spc="-70" dirty="0">
                <a:solidFill>
                  <a:srgbClr val="C00000"/>
                </a:solidFill>
              </a:rPr>
              <a:t> </a:t>
            </a:r>
            <a:r>
              <a:rPr sz="2600" b="1" dirty="0">
                <a:solidFill>
                  <a:srgbClr val="C00000"/>
                </a:solidFill>
              </a:rPr>
              <a:t>Asset</a:t>
            </a:r>
            <a:r>
              <a:rPr sz="2600" b="1" spc="-45" dirty="0">
                <a:solidFill>
                  <a:srgbClr val="C00000"/>
                </a:solidFill>
              </a:rPr>
              <a:t> </a:t>
            </a:r>
            <a:r>
              <a:rPr sz="2600" b="1" spc="-10" dirty="0">
                <a:solidFill>
                  <a:srgbClr val="C00000"/>
                </a:solidFill>
              </a:rPr>
              <a:t>Prices</a:t>
            </a:r>
          </a:p>
          <a:p>
            <a:pPr marL="12700" marR="251460">
              <a:lnSpc>
                <a:spcPct val="100000"/>
              </a:lnSpc>
              <a:spcBef>
                <a:spcPts val="1200"/>
              </a:spcBef>
            </a:pP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interest</a:t>
            </a:r>
            <a:r>
              <a:rPr sz="26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sz="26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sz="26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6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financial</a:t>
            </a:r>
            <a:r>
              <a:rPr sz="26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asset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equals</a:t>
            </a:r>
            <a:r>
              <a:rPr sz="26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Arial"/>
                <a:cs typeface="Arial"/>
              </a:rPr>
              <a:t>interest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received</a:t>
            </a:r>
            <a:r>
              <a:rPr sz="26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expressed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as</a:t>
            </a:r>
            <a:r>
              <a:rPr sz="26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percentage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price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6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2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sz="2600" b="0" spc="-10" dirty="0">
                <a:solidFill>
                  <a:srgbClr val="000000"/>
                </a:solidFill>
                <a:latin typeface="Arial"/>
                <a:cs typeface="Arial"/>
              </a:rPr>
              <a:t>asset.</a:t>
            </a:r>
          </a:p>
          <a:p>
            <a:pPr marL="12700" marR="813435">
              <a:lnSpc>
                <a:spcPct val="100000"/>
              </a:lnSpc>
              <a:spcBef>
                <a:spcPts val="1205"/>
              </a:spcBef>
            </a:pP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example,</a:t>
            </a:r>
            <a:r>
              <a:rPr sz="2600"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price</a:t>
            </a:r>
            <a:r>
              <a:rPr sz="26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asset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$50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6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2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interest</a:t>
            </a:r>
            <a:r>
              <a:rPr sz="26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6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$5,</a:t>
            </a:r>
            <a:r>
              <a:rPr sz="26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then</a:t>
            </a:r>
            <a:r>
              <a:rPr sz="26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interest</a:t>
            </a:r>
            <a:r>
              <a:rPr sz="26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sz="26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6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10</a:t>
            </a:r>
            <a:r>
              <a:rPr lang="en-US" sz="2600" spc="-25" dirty="0">
                <a:solidFill>
                  <a:srgbClr val="000000"/>
                </a:solidFill>
                <a:latin typeface="Arial"/>
                <a:cs typeface="Arial"/>
              </a:rPr>
              <a:t> percent</a:t>
            </a:r>
            <a:endParaRPr sz="2600" b="0" spc="-1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2700" marR="254635">
              <a:lnSpc>
                <a:spcPct val="100000"/>
              </a:lnSpc>
              <a:spcBef>
                <a:spcPts val="1200"/>
              </a:spcBef>
            </a:pP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sz="26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asset</a:t>
            </a:r>
            <a:r>
              <a:rPr sz="26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price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rises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(say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$200),</a:t>
            </a:r>
            <a:r>
              <a:rPr sz="26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other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Arial"/>
                <a:cs typeface="Arial"/>
              </a:rPr>
              <a:t>things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remaining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same,</a:t>
            </a:r>
            <a:r>
              <a:rPr sz="26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interest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falls</a:t>
            </a:r>
            <a:r>
              <a:rPr sz="26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(2.5</a:t>
            </a:r>
            <a:r>
              <a:rPr sz="26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Arial"/>
                <a:cs typeface="Arial"/>
              </a:rPr>
              <a:t>percent).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asset</a:t>
            </a:r>
            <a:r>
              <a:rPr sz="26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price</a:t>
            </a:r>
            <a:r>
              <a:rPr sz="2600"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falls</a:t>
            </a:r>
            <a:r>
              <a:rPr sz="26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(say</a:t>
            </a:r>
            <a:r>
              <a:rPr sz="26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$20),</a:t>
            </a:r>
            <a:r>
              <a:rPr sz="26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other</a:t>
            </a:r>
            <a:r>
              <a:rPr sz="26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things</a:t>
            </a:r>
            <a:r>
              <a:rPr sz="2600"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Arial"/>
                <a:cs typeface="Arial"/>
              </a:rPr>
              <a:t>remaining</a:t>
            </a:r>
            <a:r>
              <a:rPr lang="en-US" sz="2600" b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same,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interest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rises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(to</a:t>
            </a:r>
            <a:r>
              <a:rPr sz="26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Arial"/>
                <a:cs typeface="Arial"/>
              </a:rPr>
              <a:t>percent).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6819" y="0"/>
            <a:ext cx="8229600" cy="1143000"/>
          </a:xfrm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Financial</a:t>
            </a:r>
            <a:r>
              <a:rPr spc="-90" dirty="0"/>
              <a:t> </a:t>
            </a:r>
            <a:r>
              <a:rPr dirty="0"/>
              <a:t>Decisions</a:t>
            </a:r>
            <a:r>
              <a:rPr spc="-9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20" dirty="0"/>
              <a:t>Risk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733665" cy="45993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Getting</a:t>
            </a:r>
            <a:r>
              <a:rPr sz="2400" b="1" spc="-4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Real</a:t>
            </a:r>
            <a:endParaRPr sz="2400">
              <a:latin typeface="Arial"/>
              <a:cs typeface="Arial"/>
            </a:endParaRPr>
          </a:p>
          <a:p>
            <a:pPr marL="12700" marR="866140">
              <a:lnSpc>
                <a:spcPct val="141700"/>
              </a:lnSpc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rates: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nominal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rate.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nominal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interest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dollars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borrower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pays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lender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receives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year </a:t>
            </a:r>
            <a:r>
              <a:rPr sz="2400" dirty="0">
                <a:latin typeface="Arial"/>
                <a:cs typeface="Arial"/>
              </a:rPr>
              <a:t>expressed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percentage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dollars </a:t>
            </a:r>
            <a:r>
              <a:rPr sz="2400" dirty="0">
                <a:latin typeface="Arial"/>
                <a:cs typeface="Arial"/>
              </a:rPr>
              <a:t>borrowed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lent.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For</a:t>
            </a:r>
            <a:r>
              <a:rPr sz="2400" spc="-10" dirty="0">
                <a:latin typeface="Arial"/>
                <a:cs typeface="Arial"/>
              </a:rPr>
              <a:t> example: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annual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paid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$500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$25,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nominal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year.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Financial</a:t>
            </a:r>
            <a:r>
              <a:rPr spc="-90" dirty="0"/>
              <a:t> </a:t>
            </a:r>
            <a:r>
              <a:rPr dirty="0"/>
              <a:t>Decisions</a:t>
            </a:r>
            <a:r>
              <a:rPr spc="-9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20" dirty="0"/>
              <a:t>Risk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7954009" cy="429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70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real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interest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nominal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adjusted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remove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effects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buying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power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spc="-10" dirty="0">
                <a:latin typeface="Arial"/>
                <a:cs typeface="Arial"/>
              </a:rPr>
              <a:t>money.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approximately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nominal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minus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rate.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For</a:t>
            </a:r>
            <a:r>
              <a:rPr sz="2400" spc="-10" dirty="0">
                <a:latin typeface="Arial"/>
                <a:cs typeface="Arial"/>
              </a:rPr>
              <a:t> example:</a:t>
            </a:r>
            <a:endParaRPr sz="2400">
              <a:latin typeface="Arial"/>
              <a:cs typeface="Arial"/>
            </a:endParaRPr>
          </a:p>
          <a:p>
            <a:pPr marL="12700" marR="49784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nominal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3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year.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opportunity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coast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borrowing.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Financial</a:t>
            </a:r>
            <a:r>
              <a:rPr spc="-90" dirty="0"/>
              <a:t> </a:t>
            </a:r>
            <a:r>
              <a:rPr dirty="0"/>
              <a:t>Decisions</a:t>
            </a:r>
            <a:r>
              <a:rPr spc="-9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20" dirty="0"/>
              <a:t>Risk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1 </a:t>
            </a:r>
            <a:br>
              <a:rPr lang="en-US" sz="3200" dirty="0"/>
            </a:br>
            <a:r>
              <a:rPr lang="en-US" sz="3200" dirty="0"/>
              <a:t>Nominal and real interest rate history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948" y="1447491"/>
            <a:ext cx="5114102" cy="45918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8633" y="6092990"/>
            <a:ext cx="16754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 of data: Bank of England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32653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7868284" cy="459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market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loanable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funds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aggregate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individual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markets.</a:t>
            </a:r>
            <a:endParaRPr sz="2400">
              <a:latin typeface="Arial"/>
              <a:cs typeface="Arial"/>
            </a:endParaRPr>
          </a:p>
          <a:p>
            <a:pPr marL="12700" marR="1714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market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determines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interest </a:t>
            </a:r>
            <a:r>
              <a:rPr sz="2400" dirty="0">
                <a:latin typeface="Arial"/>
                <a:cs typeface="Arial"/>
              </a:rPr>
              <a:t>rate,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loaned,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saving,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investment.</a:t>
            </a:r>
            <a:endParaRPr sz="2400">
              <a:latin typeface="Arial"/>
              <a:cs typeface="Arial"/>
            </a:endParaRPr>
          </a:p>
          <a:p>
            <a:pPr marL="12700" marR="18796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We’ll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start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ignoring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government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0" dirty="0">
                <a:latin typeface="Arial"/>
                <a:cs typeface="Arial"/>
              </a:rPr>
              <a:t>world.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6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Demand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for</a:t>
            </a:r>
            <a:r>
              <a:rPr sz="2400" b="1" spc="-4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Loanable</a:t>
            </a:r>
            <a:r>
              <a:rPr sz="2400" b="1" spc="-5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Funds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quantity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of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loanable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funds</a:t>
            </a:r>
            <a:r>
              <a:rPr sz="2400" i="1" spc="-9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demanded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depends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on</a:t>
            </a:r>
            <a:endParaRPr sz="2400">
              <a:latin typeface="Arial"/>
              <a:cs typeface="Arial"/>
            </a:endParaRPr>
          </a:p>
          <a:p>
            <a:pPr marL="349885" indent="-33718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4988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Expected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profit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Loanable</a:t>
            </a:r>
            <a:r>
              <a:rPr spc="-65" dirty="0"/>
              <a:t> </a:t>
            </a:r>
            <a:r>
              <a:rPr dirty="0"/>
              <a:t>Funds</a:t>
            </a:r>
            <a:r>
              <a:rPr spc="-70" dirty="0"/>
              <a:t> </a:t>
            </a:r>
            <a:r>
              <a:rPr spc="-10" dirty="0"/>
              <a:t>Market</a:t>
            </a:r>
          </a:p>
        </p:txBody>
      </p:sp>
    </p:spTree>
    <p:extLst>
      <p:ext uri="{BB962C8B-B14F-4D97-AF65-F5344CB8AC3E}">
        <p14:creationId xmlns:p14="http://schemas.microsoft.com/office/powerpoint/2010/main" val="3202679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b="1" dirty="0">
                <a:solidFill>
                  <a:srgbClr val="6F2F9F"/>
                </a:solidFill>
              </a:rPr>
              <a:t>Demand</a:t>
            </a:r>
            <a:r>
              <a:rPr b="1" spc="-30" dirty="0">
                <a:solidFill>
                  <a:srgbClr val="6F2F9F"/>
                </a:solidFill>
              </a:rPr>
              <a:t> </a:t>
            </a:r>
            <a:r>
              <a:rPr b="1" dirty="0">
                <a:solidFill>
                  <a:srgbClr val="6F2F9F"/>
                </a:solidFill>
              </a:rPr>
              <a:t>for</a:t>
            </a:r>
            <a:r>
              <a:rPr b="1" spc="-40" dirty="0">
                <a:solidFill>
                  <a:srgbClr val="6F2F9F"/>
                </a:solidFill>
              </a:rPr>
              <a:t> </a:t>
            </a:r>
            <a:r>
              <a:rPr b="1" dirty="0">
                <a:solidFill>
                  <a:srgbClr val="6F2F9F"/>
                </a:solidFill>
              </a:rPr>
              <a:t>Loanable</a:t>
            </a:r>
            <a:r>
              <a:rPr b="1" spc="-50" dirty="0">
                <a:solidFill>
                  <a:srgbClr val="6F2F9F"/>
                </a:solidFill>
              </a:rPr>
              <a:t> </a:t>
            </a:r>
            <a:r>
              <a:rPr b="1" dirty="0">
                <a:solidFill>
                  <a:srgbClr val="6F2F9F"/>
                </a:solidFill>
              </a:rPr>
              <a:t>Funds</a:t>
            </a:r>
            <a:r>
              <a:rPr b="1" spc="-50" dirty="0">
                <a:solidFill>
                  <a:srgbClr val="6F2F9F"/>
                </a:solidFill>
              </a:rPr>
              <a:t> </a:t>
            </a:r>
            <a:r>
              <a:rPr b="1" spc="-10" dirty="0">
                <a:solidFill>
                  <a:srgbClr val="6F2F9F"/>
                </a:solidFill>
              </a:rPr>
              <a:t>Curve</a:t>
            </a: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</a:rPr>
              <a:t>demand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loanable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funds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relationship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between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quantity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loanable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funds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demanded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interest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when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all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other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influences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borrowing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plans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remain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same.</a:t>
            </a:r>
          </a:p>
          <a:p>
            <a:pPr marL="12700" marR="332740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Business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investment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main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item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makes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up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demand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loanable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funds.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Loanable</a:t>
            </a:r>
            <a:r>
              <a:rPr spc="-65" dirty="0"/>
              <a:t> </a:t>
            </a:r>
            <a:r>
              <a:rPr dirty="0"/>
              <a:t>Funds</a:t>
            </a:r>
            <a:r>
              <a:rPr spc="-70" dirty="0"/>
              <a:t> </a:t>
            </a:r>
            <a:r>
              <a:rPr spc="-10" dirty="0"/>
              <a:t>Market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23.3 </a:t>
            </a:r>
            <a:br>
              <a:rPr lang="en-US" sz="3200" dirty="0"/>
            </a:br>
            <a:r>
              <a:rPr lang="en-US" sz="3200" dirty="0"/>
              <a:t>Demand for loanable funds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484784"/>
            <a:ext cx="4191906" cy="4758262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F52DDE6B-771E-D183-23BF-ABF32320919F}"/>
              </a:ext>
            </a:extLst>
          </p:cNvPr>
          <p:cNvSpPr txBox="1"/>
          <p:nvPr/>
        </p:nvSpPr>
        <p:spPr>
          <a:xfrm>
            <a:off x="547522" y="1609800"/>
            <a:ext cx="3808455" cy="43832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01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lang="en-US" sz="2400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.3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demand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funds curve.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rise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 </a:t>
            </a:r>
            <a:r>
              <a:rPr sz="2400" dirty="0">
                <a:latin typeface="Arial"/>
                <a:cs typeface="Arial"/>
              </a:rPr>
              <a:t>decreases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demanded.</a:t>
            </a:r>
            <a:endParaRPr sz="2400" dirty="0">
              <a:latin typeface="Arial"/>
              <a:cs typeface="Arial"/>
            </a:endParaRPr>
          </a:p>
          <a:p>
            <a:pPr marL="12700" marR="10604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fall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 </a:t>
            </a: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demanded.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9045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435280" cy="3922228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>
                <a:solidFill>
                  <a:srgbClr val="6F2F9F"/>
                </a:solidFill>
              </a:rPr>
              <a:t>Changes</a:t>
            </a:r>
            <a:r>
              <a:rPr spc="-2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in</a:t>
            </a:r>
            <a:r>
              <a:rPr spc="-5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the</a:t>
            </a:r>
            <a:r>
              <a:rPr spc="-3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Demand</a:t>
            </a:r>
            <a:r>
              <a:rPr spc="-3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for</a:t>
            </a:r>
            <a:r>
              <a:rPr spc="-3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Loanable</a:t>
            </a:r>
            <a:r>
              <a:rPr spc="-40" dirty="0">
                <a:solidFill>
                  <a:srgbClr val="6F2F9F"/>
                </a:solidFill>
              </a:rPr>
              <a:t> </a:t>
            </a:r>
            <a:r>
              <a:rPr spc="-10" dirty="0">
                <a:solidFill>
                  <a:srgbClr val="6F2F9F"/>
                </a:solidFill>
              </a:rPr>
              <a:t>Funds</a:t>
            </a:r>
          </a:p>
          <a:p>
            <a:pPr marL="12700" marR="107442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When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expected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profit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changes,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demand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loanable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funds</a:t>
            </a:r>
            <a:r>
              <a:rPr lang="en-US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changes.</a:t>
            </a: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Other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things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remaining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same,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greater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expected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profit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new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capital,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greater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amount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of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investment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greater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demand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loanable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funds.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Loanable</a:t>
            </a:r>
            <a:r>
              <a:rPr spc="-65" dirty="0"/>
              <a:t> </a:t>
            </a:r>
            <a:r>
              <a:rPr dirty="0"/>
              <a:t>Funds</a:t>
            </a:r>
            <a:r>
              <a:rPr spc="-70" dirty="0"/>
              <a:t> </a:t>
            </a:r>
            <a:r>
              <a:rPr spc="-10" dirty="0"/>
              <a:t>Market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014209" cy="365442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4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Supply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of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Loanable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Funds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quantity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of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loanable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funds</a:t>
            </a:r>
            <a:r>
              <a:rPr sz="2400" i="1" spc="-9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supplied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depends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on</a:t>
            </a:r>
            <a:endParaRPr sz="2400">
              <a:latin typeface="Arial"/>
              <a:cs typeface="Arial"/>
            </a:endParaRPr>
          </a:p>
          <a:p>
            <a:pPr marL="349885" indent="-33718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4988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Disposable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income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Expected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future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income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0520" algn="l"/>
              </a:tabLst>
            </a:pPr>
            <a:r>
              <a:rPr sz="2400" spc="-10" dirty="0">
                <a:latin typeface="Arial"/>
                <a:cs typeface="Arial"/>
              </a:rPr>
              <a:t>Wealth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Default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risk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Loanable</a:t>
            </a:r>
            <a:r>
              <a:rPr spc="-65" dirty="0"/>
              <a:t> </a:t>
            </a:r>
            <a:r>
              <a:rPr dirty="0"/>
              <a:t>Funds</a:t>
            </a:r>
            <a:r>
              <a:rPr spc="-70" dirty="0"/>
              <a:t> </a:t>
            </a:r>
            <a:r>
              <a:rPr spc="-10" dirty="0"/>
              <a:t>Market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914005" cy="304482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Supply</a:t>
            </a:r>
            <a:r>
              <a:rPr sz="24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24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Loanable</a:t>
            </a:r>
            <a:r>
              <a:rPr sz="2400" b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Funds</a:t>
            </a:r>
            <a:r>
              <a:rPr sz="2400" b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Curve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supply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loanable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funds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relationship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between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supplied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real</a:t>
            </a:r>
            <a:r>
              <a:rPr sz="2400" dirty="0">
                <a:latin typeface="Arial"/>
                <a:cs typeface="Arial"/>
              </a:rPr>
              <a:t> interest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influences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lending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plans </a:t>
            </a:r>
            <a:r>
              <a:rPr sz="2400" dirty="0">
                <a:latin typeface="Arial"/>
                <a:cs typeface="Arial"/>
              </a:rPr>
              <a:t>remain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same.</a:t>
            </a:r>
            <a:endParaRPr sz="2400">
              <a:latin typeface="Arial"/>
              <a:cs typeface="Arial"/>
            </a:endParaRPr>
          </a:p>
          <a:p>
            <a:pPr marL="12700" marR="92964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Saving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item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makes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supply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funds.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Loanable</a:t>
            </a:r>
            <a:r>
              <a:rPr spc="-65" dirty="0"/>
              <a:t> </a:t>
            </a:r>
            <a:r>
              <a:rPr dirty="0"/>
              <a:t>Funds</a:t>
            </a:r>
            <a:r>
              <a:rPr spc="-70" dirty="0"/>
              <a:t> </a:t>
            </a:r>
            <a:r>
              <a:rPr spc="-10" dirty="0"/>
              <a:t>Market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23.4 </a:t>
            </a:r>
            <a:br>
              <a:rPr lang="en-US" sz="3200" dirty="0"/>
            </a:br>
            <a:r>
              <a:rPr lang="en-US" sz="3200" dirty="0"/>
              <a:t>Supply of loanable funds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598135"/>
            <a:ext cx="4221877" cy="475826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68E99F4E-02E6-03EC-4E35-A65FFA7D380D}"/>
              </a:ext>
            </a:extLst>
          </p:cNvPr>
          <p:cNvSpPr txBox="1"/>
          <p:nvPr/>
        </p:nvSpPr>
        <p:spPr>
          <a:xfrm>
            <a:off x="547522" y="1609801"/>
            <a:ext cx="3922395" cy="3623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150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lang="en-US" sz="2400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.4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supply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funds curve.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rise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 </a:t>
            </a: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supplied.</a:t>
            </a:r>
            <a:endParaRPr sz="2400" dirty="0">
              <a:latin typeface="Arial"/>
              <a:cs typeface="Arial"/>
            </a:endParaRPr>
          </a:p>
          <a:p>
            <a:pPr marL="12700" marR="10604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fall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 </a:t>
            </a:r>
            <a:r>
              <a:rPr sz="2400" dirty="0">
                <a:latin typeface="Arial"/>
                <a:cs typeface="Arial"/>
              </a:rPr>
              <a:t>decreases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supplied.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3432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395536" y="1412776"/>
            <a:ext cx="8640960" cy="441467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>
                <a:solidFill>
                  <a:srgbClr val="6F2F9F"/>
                </a:solidFill>
              </a:rPr>
              <a:t>Changes</a:t>
            </a:r>
            <a:r>
              <a:rPr spc="-15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in</a:t>
            </a:r>
            <a:r>
              <a:rPr spc="-4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the</a:t>
            </a:r>
            <a:r>
              <a:rPr spc="-25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Supply</a:t>
            </a:r>
            <a:r>
              <a:rPr spc="-45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of</a:t>
            </a:r>
            <a:r>
              <a:rPr spc="-25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Loanable</a:t>
            </a:r>
            <a:r>
              <a:rPr spc="-35" dirty="0">
                <a:solidFill>
                  <a:srgbClr val="6F2F9F"/>
                </a:solidFill>
              </a:rPr>
              <a:t> </a:t>
            </a:r>
            <a:r>
              <a:rPr spc="-10" dirty="0">
                <a:solidFill>
                  <a:srgbClr val="6F2F9F"/>
                </a:solidFill>
              </a:rPr>
              <a:t>Funds</a:t>
            </a:r>
          </a:p>
          <a:p>
            <a:pPr marL="12700" marR="225425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change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disposable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income,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expected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future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income,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wealth,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or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default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risk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changes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supply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loanable funds.</a:t>
            </a: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increase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disposable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income,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decrease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expected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future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income,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decrease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wealth,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or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fall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default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risk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increases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saving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increases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supply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loanable funds.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536" y="160337"/>
            <a:ext cx="8229600" cy="1143000"/>
          </a:xfrm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Loanable</a:t>
            </a:r>
            <a:r>
              <a:rPr spc="-65" dirty="0"/>
              <a:t> </a:t>
            </a:r>
            <a:r>
              <a:rPr dirty="0"/>
              <a:t>Funds</a:t>
            </a:r>
            <a:r>
              <a:rPr spc="-70" dirty="0"/>
              <a:t> </a:t>
            </a:r>
            <a:r>
              <a:rPr spc="-10" dirty="0"/>
              <a:t>Market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2783454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>
                <a:solidFill>
                  <a:srgbClr val="C00000"/>
                </a:solidFill>
              </a:rPr>
              <a:t>Equilibrium</a:t>
            </a:r>
            <a:r>
              <a:rPr spc="-70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in</a:t>
            </a:r>
            <a:r>
              <a:rPr spc="-4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the</a:t>
            </a:r>
            <a:r>
              <a:rPr spc="-2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Loanable</a:t>
            </a:r>
            <a:r>
              <a:rPr spc="-3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Funds</a:t>
            </a:r>
            <a:r>
              <a:rPr spc="-40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Market</a:t>
            </a: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loanable</a:t>
            </a:r>
            <a:r>
              <a:rPr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funds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market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equilibrium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at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real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interest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at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which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quantity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loanable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funds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demanded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equals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quantity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1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loanable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funds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supplied.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Loanable</a:t>
            </a:r>
            <a:r>
              <a:rPr spc="-65" dirty="0"/>
              <a:t> </a:t>
            </a:r>
            <a:r>
              <a:rPr dirty="0"/>
              <a:t>Funds</a:t>
            </a:r>
            <a:r>
              <a:rPr spc="-70" dirty="0"/>
              <a:t> </a:t>
            </a:r>
            <a:r>
              <a:rPr spc="-10" dirty="0"/>
              <a:t>Market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1 </a:t>
            </a:r>
            <a:br>
              <a:rPr lang="en-US" sz="3200" dirty="0"/>
            </a:br>
            <a:r>
              <a:rPr lang="en-US" sz="3200" dirty="0"/>
              <a:t>UK financial assets and debts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587" y="1420947"/>
            <a:ext cx="4526827" cy="4637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8328" y="6086107"/>
            <a:ext cx="2182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 of data: Office for National Statistics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15904645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23.5 </a:t>
            </a:r>
            <a:br>
              <a:rPr lang="en-US" sz="3200" dirty="0"/>
            </a:br>
            <a:r>
              <a:rPr lang="en-US" sz="3200" dirty="0"/>
              <a:t>Loanable funds market equilibrium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43" y="2348880"/>
            <a:ext cx="8312727" cy="3900685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94FAAA1B-1A0D-9019-DFBF-CCE3537FFFF9}"/>
              </a:ext>
            </a:extLst>
          </p:cNvPr>
          <p:cNvSpPr txBox="1"/>
          <p:nvPr/>
        </p:nvSpPr>
        <p:spPr>
          <a:xfrm>
            <a:off x="344388" y="2348880"/>
            <a:ext cx="4495736" cy="28443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Figure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2</a:t>
            </a:r>
            <a:r>
              <a:rPr lang="en-US" dirty="0">
                <a:latin typeface="Arial"/>
                <a:cs typeface="Arial"/>
              </a:rPr>
              <a:t>3</a:t>
            </a:r>
            <a:r>
              <a:rPr dirty="0">
                <a:latin typeface="Arial"/>
                <a:cs typeface="Arial"/>
              </a:rPr>
              <a:t>.5</a:t>
            </a:r>
            <a:r>
              <a:rPr spc="-5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illustrates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the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loanable</a:t>
            </a:r>
            <a:r>
              <a:rPr spc="-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funds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market.</a:t>
            </a:r>
            <a:endParaRPr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dirty="0">
                <a:latin typeface="Arial"/>
                <a:cs typeface="Arial"/>
              </a:rPr>
              <a:t>At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7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percent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year,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there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is </a:t>
            </a:r>
            <a:r>
              <a:rPr dirty="0">
                <a:latin typeface="Arial"/>
                <a:cs typeface="Arial"/>
              </a:rPr>
              <a:t>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surplus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funds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dirty="0">
                <a:latin typeface="Arial"/>
                <a:cs typeface="Arial"/>
              </a:rPr>
              <a:t>real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interest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rate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falls.</a:t>
            </a:r>
            <a:endParaRPr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</a:pPr>
            <a:r>
              <a:rPr dirty="0">
                <a:latin typeface="Arial"/>
                <a:cs typeface="Arial"/>
              </a:rPr>
              <a:t>At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5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percent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year,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there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is </a:t>
            </a:r>
            <a:r>
              <a:rPr dirty="0">
                <a:latin typeface="Arial"/>
                <a:cs typeface="Arial"/>
              </a:rPr>
              <a:t>a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shortage</a:t>
            </a:r>
            <a:r>
              <a:rPr spc="-60" dirty="0">
                <a:latin typeface="Arial"/>
                <a:cs typeface="Arial"/>
              </a:rPr>
              <a:t> </a:t>
            </a:r>
            <a:endParaRPr lang="en-US" spc="-6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</a:pPr>
            <a:r>
              <a:rPr dirty="0">
                <a:latin typeface="Arial"/>
                <a:cs typeface="Arial"/>
              </a:rPr>
              <a:t>of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funds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dirty="0">
                <a:latin typeface="Arial"/>
                <a:cs typeface="Arial"/>
              </a:rPr>
              <a:t>real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interest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rate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rises.</a:t>
            </a:r>
            <a:endParaRPr dirty="0">
              <a:latin typeface="Arial"/>
              <a:cs typeface="Arial"/>
            </a:endParaRPr>
          </a:p>
          <a:p>
            <a:pPr marL="12700" marR="68580">
              <a:lnSpc>
                <a:spcPct val="100000"/>
              </a:lnSpc>
              <a:spcBef>
                <a:spcPts val="1205"/>
              </a:spcBef>
            </a:pPr>
            <a:r>
              <a:rPr dirty="0">
                <a:latin typeface="Arial"/>
                <a:cs typeface="Arial"/>
              </a:rPr>
              <a:t>Equilibrium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occurs</a:t>
            </a:r>
            <a:r>
              <a:rPr spc="-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at</a:t>
            </a:r>
            <a:r>
              <a:rPr spc="-5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real </a:t>
            </a:r>
            <a:r>
              <a:rPr dirty="0">
                <a:latin typeface="Arial"/>
                <a:cs typeface="Arial"/>
              </a:rPr>
              <a:t>interest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rate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6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percent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a </a:t>
            </a:r>
            <a:r>
              <a:rPr spc="-10" dirty="0">
                <a:latin typeface="Arial"/>
                <a:cs typeface="Arial"/>
              </a:rPr>
              <a:t>year.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3449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79512" y="1600200"/>
            <a:ext cx="8507288" cy="509177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800" b="1" dirty="0">
                <a:solidFill>
                  <a:srgbClr val="C00000"/>
                </a:solidFill>
              </a:rPr>
              <a:t>Changes</a:t>
            </a:r>
            <a:r>
              <a:rPr sz="2800" b="1" spc="-20" dirty="0">
                <a:solidFill>
                  <a:srgbClr val="C00000"/>
                </a:solidFill>
              </a:rPr>
              <a:t> </a:t>
            </a:r>
            <a:r>
              <a:rPr sz="2800" b="1" dirty="0">
                <a:solidFill>
                  <a:srgbClr val="C00000"/>
                </a:solidFill>
              </a:rPr>
              <a:t>in</a:t>
            </a:r>
            <a:r>
              <a:rPr sz="2800" b="1" spc="-50" dirty="0">
                <a:solidFill>
                  <a:srgbClr val="C00000"/>
                </a:solidFill>
              </a:rPr>
              <a:t> </a:t>
            </a:r>
            <a:r>
              <a:rPr sz="2800" b="1" dirty="0">
                <a:solidFill>
                  <a:srgbClr val="C00000"/>
                </a:solidFill>
              </a:rPr>
              <a:t>Demand</a:t>
            </a:r>
            <a:r>
              <a:rPr sz="2800" b="1" spc="-20" dirty="0">
                <a:solidFill>
                  <a:srgbClr val="C00000"/>
                </a:solidFill>
              </a:rPr>
              <a:t> </a:t>
            </a:r>
            <a:r>
              <a:rPr sz="2800" b="1" dirty="0">
                <a:solidFill>
                  <a:srgbClr val="C00000"/>
                </a:solidFill>
              </a:rPr>
              <a:t>and</a:t>
            </a:r>
            <a:r>
              <a:rPr sz="2800" b="1" spc="-25" dirty="0">
                <a:solidFill>
                  <a:srgbClr val="C00000"/>
                </a:solidFill>
              </a:rPr>
              <a:t> </a:t>
            </a:r>
            <a:r>
              <a:rPr sz="2800" b="1" spc="-10" dirty="0">
                <a:solidFill>
                  <a:srgbClr val="C00000"/>
                </a:solidFill>
              </a:rPr>
              <a:t>Supply</a:t>
            </a:r>
          </a:p>
          <a:p>
            <a:pPr marL="12700" marR="290195">
              <a:lnSpc>
                <a:spcPct val="100000"/>
              </a:lnSpc>
              <a:spcBef>
                <a:spcPts val="1200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Financial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markets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highly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volatile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short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run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but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remarkably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stable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long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0" dirty="0">
                <a:solidFill>
                  <a:srgbClr val="000000"/>
                </a:solidFill>
                <a:latin typeface="Arial"/>
                <a:cs typeface="Arial"/>
              </a:rPr>
              <a:t>run.</a:t>
            </a: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Volatility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comes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  <a:r>
              <a:rPr sz="28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fluctuations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8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either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demand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loanable</a:t>
            </a:r>
            <a:r>
              <a:rPr sz="28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funds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or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supply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loanable</a:t>
            </a:r>
            <a:r>
              <a:rPr sz="28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funds.</a:t>
            </a:r>
          </a:p>
          <a:p>
            <a:pPr marL="12700" marR="379095">
              <a:lnSpc>
                <a:spcPct val="100000"/>
              </a:lnSpc>
              <a:spcBef>
                <a:spcPts val="1200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These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fluctuations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bring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fluctuations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interest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equilibrium</a:t>
            </a:r>
            <a:r>
              <a:rPr sz="2800"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quantity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funds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lent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and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borrowed.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They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also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bring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fluctuations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asset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prices.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Loanable</a:t>
            </a:r>
            <a:r>
              <a:rPr spc="-65" dirty="0"/>
              <a:t> </a:t>
            </a:r>
            <a:r>
              <a:rPr dirty="0"/>
              <a:t>Funds</a:t>
            </a:r>
            <a:r>
              <a:rPr spc="-70" dirty="0"/>
              <a:t> </a:t>
            </a:r>
            <a:r>
              <a:rPr spc="-10" dirty="0"/>
              <a:t>Market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939540" cy="377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637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24.6(a)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illustrates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demand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funds.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expected </a:t>
            </a:r>
            <a:r>
              <a:rPr sz="2400" dirty="0">
                <a:latin typeface="Arial"/>
                <a:cs typeface="Arial"/>
              </a:rPr>
              <a:t>profits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demand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today.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rises.</a:t>
            </a:r>
            <a:endParaRPr sz="2400" dirty="0">
              <a:latin typeface="Arial"/>
              <a:cs typeface="Arial"/>
            </a:endParaRPr>
          </a:p>
          <a:p>
            <a:pPr marL="12700" marR="7239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Saving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funds </a:t>
            </a:r>
            <a:r>
              <a:rPr sz="2400" dirty="0">
                <a:latin typeface="Arial"/>
                <a:cs typeface="Arial"/>
              </a:rPr>
              <a:t>supplied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increases.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Loanable</a:t>
            </a:r>
            <a:r>
              <a:rPr spc="-65" dirty="0"/>
              <a:t> </a:t>
            </a:r>
            <a:r>
              <a:rPr dirty="0"/>
              <a:t>Funds</a:t>
            </a:r>
            <a:r>
              <a:rPr spc="-70" dirty="0"/>
              <a:t> </a:t>
            </a:r>
            <a:r>
              <a:rPr spc="-10" dirty="0"/>
              <a:t>Market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0371" y="1655063"/>
            <a:ext cx="4259579" cy="43906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853815" cy="377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065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24.6(b)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illustrates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supply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funds.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influences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on </a:t>
            </a:r>
            <a:r>
              <a:rPr sz="2400" dirty="0">
                <a:latin typeface="Arial"/>
                <a:cs typeface="Arial"/>
              </a:rPr>
              <a:t>saving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plans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changes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saving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increases,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supply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10" dirty="0">
                <a:latin typeface="Arial"/>
                <a:cs typeface="Arial"/>
              </a:rPr>
              <a:t> increases.</a:t>
            </a:r>
            <a:endParaRPr sz="2400">
              <a:latin typeface="Arial"/>
              <a:cs typeface="Arial"/>
            </a:endParaRPr>
          </a:p>
          <a:p>
            <a:pPr marL="12700" marR="310515">
              <a:lnSpc>
                <a:spcPct val="141700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falls. </a:t>
            </a:r>
            <a:r>
              <a:rPr sz="2400" dirty="0">
                <a:latin typeface="Arial"/>
                <a:cs typeface="Arial"/>
              </a:rPr>
              <a:t>Investment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increases.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205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Loanable</a:t>
            </a:r>
            <a:r>
              <a:rPr spc="-65" dirty="0"/>
              <a:t> </a:t>
            </a:r>
            <a:r>
              <a:rPr dirty="0"/>
              <a:t>Funds</a:t>
            </a:r>
            <a:r>
              <a:rPr spc="-70" dirty="0"/>
              <a:t> </a:t>
            </a:r>
            <a:r>
              <a:rPr spc="-10" dirty="0"/>
              <a:t>Market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0371" y="1655063"/>
            <a:ext cx="4259579" cy="43906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946" y="1609801"/>
            <a:ext cx="7856855" cy="2526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Government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enters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loanable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market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has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budget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surplus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deficit.</a:t>
            </a:r>
            <a:endParaRPr sz="2400">
              <a:latin typeface="Arial"/>
              <a:cs typeface="Arial"/>
            </a:endParaRPr>
          </a:p>
          <a:p>
            <a:pPr marL="480059" marR="179070" indent="-360045">
              <a:lnSpc>
                <a:spcPct val="100000"/>
              </a:lnSpc>
              <a:spcBef>
                <a:spcPts val="1200"/>
              </a:spcBef>
              <a:buSzPct val="118750"/>
              <a:buFont typeface="Wingdings"/>
              <a:buChar char=""/>
              <a:tabLst>
                <a:tab pos="480059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government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budget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surplus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supply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spc="-10" dirty="0">
                <a:latin typeface="Arial"/>
                <a:cs typeface="Arial"/>
              </a:rPr>
              <a:t>funds.</a:t>
            </a:r>
            <a:endParaRPr sz="2400">
              <a:latin typeface="Arial"/>
              <a:cs typeface="Arial"/>
            </a:endParaRPr>
          </a:p>
          <a:p>
            <a:pPr marL="480059" marR="44450" indent="-360045">
              <a:lnSpc>
                <a:spcPct val="100000"/>
              </a:lnSpc>
              <a:spcBef>
                <a:spcPts val="1200"/>
              </a:spcBef>
              <a:buSzPct val="118750"/>
              <a:buFont typeface="Wingdings"/>
              <a:buChar char=""/>
              <a:tabLst>
                <a:tab pos="480059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government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budget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deficit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demand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for </a:t>
            </a:r>
            <a:r>
              <a:rPr sz="2400" spc="-10" dirty="0">
                <a:latin typeface="Arial"/>
                <a:cs typeface="Arial"/>
              </a:rPr>
              <a:t>funds.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435280" cy="1143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0059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Government</a:t>
            </a:r>
            <a:r>
              <a:rPr spc="-5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Loanable</a:t>
            </a:r>
            <a:r>
              <a:rPr spc="-50" dirty="0"/>
              <a:t> </a:t>
            </a:r>
            <a:r>
              <a:rPr spc="-20" dirty="0"/>
              <a:t>Funds </a:t>
            </a:r>
            <a:r>
              <a:rPr spc="-10" dirty="0"/>
              <a:t>Market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548379" cy="3928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350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24.7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illustrates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effect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 government </a:t>
            </a:r>
            <a:r>
              <a:rPr sz="2400" dirty="0">
                <a:latin typeface="Arial"/>
                <a:cs typeface="Arial"/>
              </a:rPr>
              <a:t>budget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surplus.</a:t>
            </a:r>
            <a:endParaRPr sz="2400">
              <a:latin typeface="Arial"/>
              <a:cs typeface="Arial"/>
            </a:endParaRPr>
          </a:p>
          <a:p>
            <a:pPr marL="12700" marR="611505" algn="just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government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budget </a:t>
            </a:r>
            <a:r>
              <a:rPr sz="2400" dirty="0">
                <a:latin typeface="Arial"/>
                <a:cs typeface="Arial"/>
              </a:rPr>
              <a:t>surplus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supply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funds.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41700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falls. </a:t>
            </a:r>
            <a:r>
              <a:rPr sz="2400" dirty="0">
                <a:latin typeface="Arial"/>
                <a:cs typeface="Arial"/>
              </a:rPr>
              <a:t>Private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saving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decreases. </a:t>
            </a:r>
            <a:r>
              <a:rPr sz="2400" dirty="0">
                <a:latin typeface="Arial"/>
                <a:cs typeface="Arial"/>
              </a:rPr>
              <a:t>Investment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increases.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0059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Government</a:t>
            </a:r>
            <a:r>
              <a:rPr spc="-5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Loanable</a:t>
            </a:r>
            <a:r>
              <a:rPr spc="-50" dirty="0"/>
              <a:t> </a:t>
            </a:r>
            <a:r>
              <a:rPr spc="-20" dirty="0"/>
              <a:t>Funds </a:t>
            </a:r>
            <a:r>
              <a:rPr spc="-10" dirty="0"/>
              <a:t>Market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0371" y="1655064"/>
            <a:ext cx="4197096" cy="409346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649345" cy="429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44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24.8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illustrates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effect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 government </a:t>
            </a:r>
            <a:r>
              <a:rPr sz="2400" dirty="0">
                <a:latin typeface="Arial"/>
                <a:cs typeface="Arial"/>
              </a:rPr>
              <a:t>budget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deficit.</a:t>
            </a:r>
            <a:endParaRPr sz="2400">
              <a:latin typeface="Arial"/>
              <a:cs typeface="Arial"/>
            </a:endParaRPr>
          </a:p>
          <a:p>
            <a:pPr marL="12700" marR="71310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government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budget </a:t>
            </a:r>
            <a:r>
              <a:rPr sz="2400" dirty="0">
                <a:latin typeface="Arial"/>
                <a:cs typeface="Arial"/>
              </a:rPr>
              <a:t>deficit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demand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funds.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41700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rises. </a:t>
            </a:r>
            <a:r>
              <a:rPr sz="2400" dirty="0">
                <a:latin typeface="Arial"/>
                <a:cs typeface="Arial"/>
              </a:rPr>
              <a:t>Private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saving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increases.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Investment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decreases—is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crowded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out.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0059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Government</a:t>
            </a:r>
            <a:r>
              <a:rPr spc="-5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Loanable</a:t>
            </a:r>
            <a:r>
              <a:rPr spc="-50" dirty="0"/>
              <a:t> </a:t>
            </a:r>
            <a:r>
              <a:rPr spc="-20" dirty="0"/>
              <a:t>Funds </a:t>
            </a:r>
            <a:r>
              <a:rPr spc="-10" dirty="0"/>
              <a:t>Market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0371" y="1655063"/>
            <a:ext cx="4221479" cy="41239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787775" cy="429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24.9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illustrates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5" dirty="0">
                <a:latin typeface="Arial"/>
                <a:cs typeface="Arial"/>
              </a:rPr>
              <a:t>Ricardo-</a:t>
            </a:r>
            <a:r>
              <a:rPr sz="2400" dirty="0">
                <a:latin typeface="Arial"/>
                <a:cs typeface="Arial"/>
              </a:rPr>
              <a:t>Barro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effect.</a:t>
            </a:r>
            <a:endParaRPr sz="2400">
              <a:latin typeface="Arial"/>
              <a:cs typeface="Arial"/>
            </a:endParaRPr>
          </a:p>
          <a:p>
            <a:pPr marL="12700" marR="27876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budget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deficit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increases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demand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funds.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Rational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taxpayers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increase </a:t>
            </a:r>
            <a:r>
              <a:rPr sz="2400" dirty="0">
                <a:latin typeface="Arial"/>
                <a:cs typeface="Arial"/>
              </a:rPr>
              <a:t>saving,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which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supply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funds.</a:t>
            </a:r>
            <a:endParaRPr sz="2400">
              <a:latin typeface="Arial"/>
              <a:cs typeface="Arial"/>
            </a:endParaRPr>
          </a:p>
          <a:p>
            <a:pPr marL="12700" marR="463550" algn="just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Increased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private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saving </a:t>
            </a:r>
            <a:r>
              <a:rPr sz="2400" dirty="0">
                <a:latin typeface="Arial"/>
                <a:cs typeface="Arial"/>
              </a:rPr>
              <a:t>finances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deficit.</a:t>
            </a:r>
            <a:endParaRPr sz="24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spc="-25" dirty="0">
                <a:latin typeface="Arial"/>
                <a:cs typeface="Arial"/>
              </a:rPr>
              <a:t>Crowding-</a:t>
            </a:r>
            <a:r>
              <a:rPr sz="2400" dirty="0">
                <a:latin typeface="Arial"/>
                <a:cs typeface="Arial"/>
              </a:rPr>
              <a:t>out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avoided.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0059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Government</a:t>
            </a:r>
            <a:r>
              <a:rPr spc="-5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Loanable</a:t>
            </a:r>
            <a:r>
              <a:rPr spc="-50" dirty="0"/>
              <a:t> </a:t>
            </a:r>
            <a:r>
              <a:rPr spc="-20" dirty="0"/>
              <a:t>Funds </a:t>
            </a:r>
            <a:r>
              <a:rPr spc="-10" dirty="0"/>
              <a:t>Market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7220" y="1655064"/>
            <a:ext cx="4253483" cy="41071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1 </a:t>
            </a:r>
            <a:br>
              <a:rPr lang="en-US" sz="3200" dirty="0"/>
            </a:br>
            <a:r>
              <a:rPr lang="en-US" sz="3200" dirty="0"/>
              <a:t>Real interest rate and real mortgage level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07" y="1490556"/>
            <a:ext cx="7399586" cy="474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677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 </a:t>
            </a:r>
            <a:br>
              <a:rPr lang="en-US" sz="3200" dirty="0"/>
            </a:br>
            <a:r>
              <a:rPr lang="en-US" sz="3200" dirty="0"/>
              <a:t>Responding to </a:t>
            </a:r>
            <a:r>
              <a:rPr lang="en-US" sz="3200" dirty="0" err="1"/>
              <a:t>Brexit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791" y="1468308"/>
            <a:ext cx="5464419" cy="48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2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3 </a:t>
            </a:r>
            <a:br>
              <a:rPr lang="en-US" sz="3200" dirty="0"/>
            </a:br>
            <a:r>
              <a:rPr lang="en-US" sz="3200" dirty="0"/>
              <a:t>Responding to covid-19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363" y="1440928"/>
            <a:ext cx="5579273" cy="490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611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23.6 </a:t>
            </a:r>
            <a:br>
              <a:rPr lang="en-US" sz="3200" dirty="0"/>
            </a:br>
            <a:r>
              <a:rPr lang="en-US" sz="3200" dirty="0"/>
              <a:t>Changes in demand and supply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40" y="1437263"/>
            <a:ext cx="7708921" cy="482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274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23.7 </a:t>
            </a:r>
            <a:br>
              <a:rPr lang="en-US" sz="3200" dirty="0"/>
            </a:br>
            <a:r>
              <a:rPr lang="en-US" sz="3200" dirty="0"/>
              <a:t>Government budget surplus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595511"/>
            <a:ext cx="8312727" cy="384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881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23.8 </a:t>
            </a:r>
            <a:br>
              <a:rPr lang="en-US" sz="3200" dirty="0"/>
            </a:br>
            <a:r>
              <a:rPr lang="en-US" sz="3200" dirty="0"/>
              <a:t>Government budget deficit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578956"/>
            <a:ext cx="8312727" cy="393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5054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23.9 </a:t>
            </a:r>
            <a:br>
              <a:rPr lang="en-US" sz="3200" dirty="0"/>
            </a:br>
            <a:r>
              <a:rPr lang="en-US" sz="3200" dirty="0"/>
              <a:t>The Ricardo–</a:t>
            </a:r>
            <a:r>
              <a:rPr lang="en-US" sz="3200" dirty="0" err="1"/>
              <a:t>Barro</a:t>
            </a:r>
            <a:r>
              <a:rPr lang="en-US" sz="3200" dirty="0"/>
              <a:t> effect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541950"/>
            <a:ext cx="8312727" cy="397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073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1 </a:t>
            </a:r>
            <a:br>
              <a:rPr lang="en-US" sz="3200" dirty="0"/>
            </a:br>
            <a:r>
              <a:rPr lang="en-US" sz="3200" dirty="0"/>
              <a:t>Government 10-year bond rate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194" y="1463286"/>
            <a:ext cx="6285612" cy="479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61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 </a:t>
            </a:r>
            <a:br>
              <a:rPr lang="en-US" sz="3200" dirty="0"/>
            </a:br>
            <a:r>
              <a:rPr lang="en-US" sz="3200" dirty="0"/>
              <a:t>Bank of England bond purchases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79" y="1438927"/>
            <a:ext cx="7122840" cy="486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486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3 </a:t>
            </a:r>
            <a:br>
              <a:rPr lang="en-US" sz="3200" dirty="0"/>
            </a:br>
            <a:r>
              <a:rPr lang="en-US" sz="3200" dirty="0"/>
              <a:t>The UK loanable funds market in 2020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637" y="1450127"/>
            <a:ext cx="5326726" cy="48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382453"/>
      </p:ext>
    </p:extLst>
  </p:cSld>
  <p:clrMapOvr>
    <a:masterClrMapping/>
  </p:clrMapOvr>
</p:sld>
</file>

<file path=ppt/theme/theme1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ideocompleted_x003f_ xmlns="c888f911-6bfd-442d-9fe5-f42f2f7a2c59">false</Videocompleted_x003f_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8981DF6FD949479277F2472D00FEA7" ma:contentTypeVersion="17" ma:contentTypeDescription="Create a new document." ma:contentTypeScope="" ma:versionID="c9a32762dcbd6c5e0f6b51de6863c537">
  <xsd:schema xmlns:xsd="http://www.w3.org/2001/XMLSchema" xmlns:xs="http://www.w3.org/2001/XMLSchema" xmlns:p="http://schemas.microsoft.com/office/2006/metadata/properties" xmlns:ns2="c888f911-6bfd-442d-9fe5-f42f2f7a2c59" xmlns:ns3="c86649ca-290d-4237-b5ca-38108a4ea666" targetNamespace="http://schemas.microsoft.com/office/2006/metadata/properties" ma:root="true" ma:fieldsID="ef88fcde43fbf2b7859e96eae522f514" ns2:_="" ns3:_="">
    <xsd:import namespace="c888f911-6bfd-442d-9fe5-f42f2f7a2c59"/>
    <xsd:import namespace="c86649ca-290d-4237-b5ca-38108a4ea6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Videocompleted_x003f_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88f911-6bfd-442d-9fe5-f42f2f7a2c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Videocompleted_x003f_" ma:index="20" nillable="true" ma:displayName="Video completed?" ma:default="0" ma:format="Dropdown" ma:internalName="Videocompleted_x003f_">
      <xsd:simpleType>
        <xsd:restriction base="dms:Boolean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6649ca-290d-4237-b5ca-38108a4ea66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162C22-5EC1-4514-873A-C7AF6F8F3814}">
  <ds:schemaRefs>
    <ds:schemaRef ds:uri="c888f911-6bfd-442d-9fe5-f42f2f7a2c59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c86649ca-290d-4237-b5ca-38108a4ea66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5F9DA32-FB23-4F36-9CE2-02F2F96E04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88f911-6bfd-442d-9fe5-f42f2f7a2c59"/>
    <ds:schemaRef ds:uri="c86649ca-290d-4237-b5ca-38108a4ea6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9A3F61-13A4-47A6-BDA2-C2D344883AF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5503</TotalTime>
  <Words>2351</Words>
  <Application>Microsoft Macintosh PowerPoint</Application>
  <PresentationFormat>On-screen Show (4:3)</PresentationFormat>
  <Paragraphs>242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Times</vt:lpstr>
      <vt:lpstr>Arial</vt:lpstr>
      <vt:lpstr>Calibri</vt:lpstr>
      <vt:lpstr>Times New Roman</vt:lpstr>
      <vt:lpstr>Wingdings</vt:lpstr>
      <vt:lpstr>3_Default Design</vt:lpstr>
      <vt:lpstr>PowerPoint Presentation</vt:lpstr>
      <vt:lpstr>PowerPoint Presentation</vt:lpstr>
      <vt:lpstr>After studying this chapter, you will be able to:</vt:lpstr>
      <vt:lpstr>Financial Markets and Financial Institutions</vt:lpstr>
      <vt:lpstr>Financial Markets and Financial Institutions</vt:lpstr>
      <vt:lpstr>Financial Markets and Financial Institutions</vt:lpstr>
      <vt:lpstr>Figure 23.1  Capital and investment</vt:lpstr>
      <vt:lpstr>Financial Markets and Financial Institutions</vt:lpstr>
      <vt:lpstr>Financial Markets and Financial Institutions</vt:lpstr>
      <vt:lpstr>Financial Markets and Financial Institutions</vt:lpstr>
      <vt:lpstr>Financial Markets and Financial Institutions</vt:lpstr>
      <vt:lpstr>Figure 1  Mortgage debt to income ratio</vt:lpstr>
      <vt:lpstr>Figure 2  UK average house price</vt:lpstr>
      <vt:lpstr>Figure 23.2  Financial flows and the circular flow of expenditure and income</vt:lpstr>
      <vt:lpstr>Financial Decisions and Risk</vt:lpstr>
      <vt:lpstr>Financial Decisions and Risk</vt:lpstr>
      <vt:lpstr>Financial Decisions and Risk</vt:lpstr>
      <vt:lpstr>Financial Decisions and Risk</vt:lpstr>
      <vt:lpstr>Financial Decisions and Risk</vt:lpstr>
      <vt:lpstr>Financial Decisions and Risk</vt:lpstr>
      <vt:lpstr>Financial Decisions and Risk</vt:lpstr>
      <vt:lpstr>Figure 1  Nominal and real interest rate history</vt:lpstr>
      <vt:lpstr>The Loanable Funds Market</vt:lpstr>
      <vt:lpstr>The Loanable Funds Market</vt:lpstr>
      <vt:lpstr>Figure 23.3  Demand for loanable funds</vt:lpstr>
      <vt:lpstr>The Loanable Funds Market</vt:lpstr>
      <vt:lpstr>The Loanable Funds Market</vt:lpstr>
      <vt:lpstr>The Loanable Funds Market</vt:lpstr>
      <vt:lpstr>Figure 23.4  Supply of loanable funds</vt:lpstr>
      <vt:lpstr>The Loanable Funds Market</vt:lpstr>
      <vt:lpstr>The Loanable Funds Market</vt:lpstr>
      <vt:lpstr>Figure 1  UK financial assets and debts</vt:lpstr>
      <vt:lpstr>Figure 23.5  Loanable funds market equilibrium</vt:lpstr>
      <vt:lpstr>The Loanable Funds Market</vt:lpstr>
      <vt:lpstr>The Loanable Funds Market</vt:lpstr>
      <vt:lpstr>The Loanable Funds Market</vt:lpstr>
      <vt:lpstr>Government in the Loanable Funds Market</vt:lpstr>
      <vt:lpstr>Government in the Loanable Funds Market</vt:lpstr>
      <vt:lpstr>Government in the Loanable Funds Market</vt:lpstr>
      <vt:lpstr>Government in the Loanable Funds Market</vt:lpstr>
      <vt:lpstr>Figure 1  Real interest rate and real mortgage level</vt:lpstr>
      <vt:lpstr>Figure 2  Responding to Brexit</vt:lpstr>
      <vt:lpstr>Figure 3  Responding to covid-19</vt:lpstr>
      <vt:lpstr>Figure 23.6  Changes in demand and supply</vt:lpstr>
      <vt:lpstr>Figure 23.7  Government budget surplus</vt:lpstr>
      <vt:lpstr>Figure 23.8  Government budget deficit</vt:lpstr>
      <vt:lpstr>Figure 23.9  The Ricardo–Barro effect</vt:lpstr>
      <vt:lpstr>Figure 1  Government 10-year bond rate</vt:lpstr>
      <vt:lpstr>Figure 2  Bank of England bond purchases</vt:lpstr>
      <vt:lpstr>Figure 3  The UK loanable funds market in 2020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Powerpoint Slides</dc:title>
  <dc:subject>Digital Marketing</dc:subject>
  <dc:creator>Kirsty Farrelly</dc:creator>
  <cp:keywords>Digital Marketing</cp:keywords>
  <cp:lastModifiedBy>Le Mai. Huong</cp:lastModifiedBy>
  <cp:revision>260</cp:revision>
  <dcterms:created xsi:type="dcterms:W3CDTF">2019-02-27T10:38:23Z</dcterms:created>
  <dcterms:modified xsi:type="dcterms:W3CDTF">2026-02-26T10:31:34Z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0x010100138981DF6FD949479277F2472D00FEA7</vt:lpwstr>
  </property>
</Properties>
</file>