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 type="screen4x3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57687"/>
  </p:normalViewPr>
  <p:slideViewPr>
    <p:cSldViewPr snapToGrid="0">
      <p:cViewPr varScale="1">
        <p:scale>
          <a:sx n="71" d="100"/>
          <a:sy n="71" d="100"/>
        </p:scale>
        <p:origin x="3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8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9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0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5919A2B-79A6-42CC-BD12-097D3061F26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720" cy="342828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4D3ACF-47D5-4FB8-9904-DA4EA50B2FA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Num" idx="8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65F020-B401-4939-AA4E-53FFCAE0EEA1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Rectangle 2"/>
          <p:cNvSpPr/>
          <p:nvPr/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61B727BB-4BB8-4FAE-8120-2A81CE479032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Num" idx="9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9623CE-C0F5-423D-A21C-07BE938067DA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914400" y="4267080"/>
            <a:ext cx="4876200" cy="548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Num" idx="10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BB23AB-49D1-4883-ADD3-9488A33E6523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Num" idx="11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F7E611-6AA9-41D7-927A-6FC964886EE8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34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Num" idx="12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DA66B5-9A93-498C-BCDF-6B5E4EB33F24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Num" idx="13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EC232A-7ACA-4682-847B-446EF8010C5A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Num" idx="14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A735FF-872D-41CB-8C91-739420C0EA85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Num" idx="15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3EC6A5-206D-4A1D-BCD7-3E9E2267EFB6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20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Num" idx="16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F3A580-3786-4A8C-BB34-CE5006A5AF5C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Num" idx="17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27AB81-4815-4147-B0C0-45A41435595F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Num" idx="18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DADED86-F5AF-432F-AF13-7B0B6F99DE28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Num" idx="19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DC3340-C187-4FF8-BB0A-35E475A6BB1B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Num" idx="20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FDCC7A6-0B18-4619-9C33-C85E70E53DC9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Num" idx="21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7BD8193-922E-45B1-A469-970F50689EC7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Num" idx="22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85F7A7-4152-4109-9C70-1E9C85F1C141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Num" idx="23"/>
          </p:nvPr>
        </p:nvSpPr>
        <p:spPr>
          <a:xfrm>
            <a:off x="3886200" y="8728200"/>
            <a:ext cx="2971080" cy="41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1C63322-DC75-4224-925B-D1968562752B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Num" idx="24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20B3D7A-FE65-460C-B7CE-7286CAD51FC0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Num" idx="25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ACCA54-36FE-4410-9A22-15A0BFE88895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Num" idx="26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9DAC87B-9551-4900-A358-E0E175B0463A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Num" idx="27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7B3DEF-36E7-4F76-B7A6-B4B6E78B7994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Num" idx="28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C88B79-10FA-4E40-B0A4-18348206C1FD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Num" idx="29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C89982-6744-4164-BFCC-53355DE967F2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Num" idx="30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6D478A-6130-423F-BAED-519E14C1AB97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914400" y="434196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Num" idx="31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ABCFBF-EFCC-4FE4-B517-D94955931872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Num" idx="32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614372-B777-4B50-8CAA-0B48915D12A6}" type="slidenum">
              <a:rPr lang="en-CA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Num" idx="33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788833-2A11-4C95-9D4C-08F5D0958160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Rectangle 128"/>
          <p:cNvSpPr/>
          <p:nvPr/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7A34320-07B9-4396-9A5E-C26795CE7496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Num" idx="34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C622CE-CE08-4160-B1A8-0C346EA45F32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Rectangle 135"/>
          <p:cNvSpPr/>
          <p:nvPr/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CEAC56C7-125F-42E1-A40D-E9D3F94F65C6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hapter Open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15280"/>
            <a:ext cx="8228880" cy="62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816480"/>
            <a:ext cx="8228880" cy="47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029200" y="1600200"/>
            <a:ext cx="365688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5029200" y="3200400"/>
            <a:ext cx="3656880" cy="292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"/>
          </p:nvPr>
        </p:nvSpPr>
        <p:spPr>
          <a:xfrm>
            <a:off x="93600" y="6165720"/>
            <a:ext cx="8595720" cy="23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2"/>
          </p:nvPr>
        </p:nvSpPr>
        <p:spPr>
          <a:xfrm>
            <a:off x="6335640" y="112680"/>
            <a:ext cx="2133000" cy="18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&lt;date/time&gt;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sldNum" idx="3"/>
          </p:nvPr>
        </p:nvSpPr>
        <p:spPr>
          <a:xfrm>
            <a:off x="8469360" y="112680"/>
            <a:ext cx="551880" cy="18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16DF7A2C-6C8D-41FE-B5BD-7A5DD7AC032A}" type="slidenum"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13"/>
          <p:cNvSpPr/>
          <p:nvPr/>
        </p:nvSpPr>
        <p:spPr>
          <a:xfrm>
            <a:off x="185760" y="6416640"/>
            <a:ext cx="864180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6920" cy="2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7FA3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7FA3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"/>
          <p:cNvSpPr/>
          <p:nvPr/>
        </p:nvSpPr>
        <p:spPr>
          <a:xfrm>
            <a:off x="4610160" y="1892160"/>
            <a:ext cx="4114080" cy="464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CA" sz="2800" b="1" u="none" strike="noStrike">
              <a:solidFill>
                <a:srgbClr val="00468F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58" name="Text Box 3"/>
          <p:cNvSpPr/>
          <p:nvPr/>
        </p:nvSpPr>
        <p:spPr>
          <a:xfrm>
            <a:off x="4022640" y="6643800"/>
            <a:ext cx="16916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© 2018 Pearson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800" b="1" u="none" strike="noStrike">
                <a:solidFill>
                  <a:srgbClr val="00468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5"/>
          <p:cNvSpPr/>
          <p:nvPr/>
        </p:nvSpPr>
        <p:spPr>
          <a:xfrm>
            <a:off x="4610160" y="1892160"/>
            <a:ext cx="4114080" cy="464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CA" sz="2800" b="1" u="none" strike="noStrike">
              <a:solidFill>
                <a:srgbClr val="00468F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2" name="Text Box 3"/>
          <p:cNvSpPr/>
          <p:nvPr/>
        </p:nvSpPr>
        <p:spPr>
          <a:xfrm>
            <a:off x="4022640" y="6643800"/>
            <a:ext cx="16916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© 2018 Pearson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Click to edit Master title style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Placeholder 4"/>
          <p:cNvSpPr/>
          <p:nvPr/>
        </p:nvSpPr>
        <p:spPr>
          <a:xfrm>
            <a:off x="4859280" y="3502080"/>
            <a:ext cx="3023640" cy="10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1</a:t>
            </a:r>
          </a:p>
          <a:p>
            <a:pPr marL="343080"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economics?</a:t>
            </a:r>
          </a:p>
        </p:txBody>
      </p:sp>
      <p:sp>
        <p:nvSpPr>
          <p:cNvPr id="72" name="Title 1"/>
          <p:cNvSpPr/>
          <p:nvPr/>
        </p:nvSpPr>
        <p:spPr>
          <a:xfrm>
            <a:off x="407880" y="237960"/>
            <a:ext cx="8051040" cy="153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en-US" sz="36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Economics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en-US" sz="2400" b="0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Eleventh European Edition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6"/>
          <p:cNvPicPr/>
          <p:nvPr/>
        </p:nvPicPr>
        <p:blipFill>
          <a:blip r:embed="rId3"/>
          <a:stretch/>
        </p:blipFill>
        <p:spPr>
          <a:xfrm>
            <a:off x="539640" y="1312920"/>
            <a:ext cx="3599640" cy="4921920"/>
          </a:xfrm>
          <a:prstGeom prst="rect">
            <a:avLst/>
          </a:prstGeom>
          <a:noFill/>
          <a:ln w="0"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4" name="Text Placeholder 4"/>
          <p:cNvSpPr/>
          <p:nvPr/>
        </p:nvSpPr>
        <p:spPr>
          <a:xfrm>
            <a:off x="4859280" y="1962000"/>
            <a:ext cx="3528360" cy="10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1</a:t>
            </a:r>
          </a:p>
          <a:p>
            <a:pPr marL="343080"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scope of economics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"/>
          <p:cNvPicPr/>
          <p:nvPr/>
        </p:nvPicPr>
        <p:blipFill>
          <a:blip r:embed="rId3"/>
          <a:stretch/>
        </p:blipFill>
        <p:spPr>
          <a:xfrm>
            <a:off x="228600" y="380880"/>
            <a:ext cx="8682840" cy="220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Box 3"/>
          <p:cNvSpPr/>
          <p:nvPr/>
        </p:nvSpPr>
        <p:spPr>
          <a:xfrm>
            <a:off x="225360" y="1371600"/>
            <a:ext cx="4071240" cy="48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9000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A" sz="32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Getting Started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Box 4"/>
          <p:cNvSpPr/>
          <p:nvPr/>
        </p:nvSpPr>
        <p:spPr>
          <a:xfrm>
            <a:off x="6172200" y="700920"/>
            <a:ext cx="11566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3600"/>
              </a:spcBef>
            </a:pPr>
            <a:r>
              <a:rPr lang="en-U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225360" y="2362320"/>
            <a:ext cx="617472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A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When you have completed your </a:t>
            </a:r>
            <a:br>
              <a:rPr sz="2400"/>
            </a:br>
            <a:r>
              <a:rPr lang="en-CA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study of this chapter, you will be able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225360" y="3489480"/>
            <a:ext cx="868608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285840">
              <a:lnSpc>
                <a:spcPct val="100000"/>
              </a:lnSpc>
            </a:pPr>
            <a:r>
              <a:rPr lang="en-CA" sz="2400" b="1" u="none" strike="noStrike">
                <a:solidFill>
                  <a:srgbClr val="E50030"/>
                </a:solidFill>
                <a:effectLst/>
                <a:uFillTx/>
                <a:latin typeface="Times New Roman"/>
                <a:ea typeface="ＭＳ Ｐゴシック"/>
              </a:rPr>
              <a:t>1	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Define economics and explain the questions that economists 	try to answer.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28584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285840">
              <a:lnSpc>
                <a:spcPct val="100000"/>
              </a:lnSpc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2	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Explain the ideas that define the economic way of thinking</a:t>
            </a: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28584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285840">
              <a:lnSpc>
                <a:spcPct val="100000"/>
              </a:lnSpc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3	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Explain how economists go about their work as social 	scientists and 	policy advisers.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5843520" y="2192400"/>
            <a:ext cx="29710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A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CHAPTER CHECKLIST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10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10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10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DEFINITION AND QUESTIONS</a:t>
            </a: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905120"/>
            <a:ext cx="777168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All economic questions and problems arise because human wants exceed the resources available to satisfy them</a:t>
            </a:r>
            <a:r>
              <a:rPr lang="en-US" sz="2400" b="0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SzPct val="110000"/>
              <a:buFont typeface="Webdings" charset="2"/>
              <a:buChar char=""/>
              <a:tabLst>
                <a:tab pos="0" algn="l"/>
              </a:tabLst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Scarcity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Scarcity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is 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he condition that arises because wants exceeds the ability of resources to satisfy them.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Faced with scarcity, we must make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choices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—we must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choose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among the available alternatives.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choices we make depend on the incentives</a:t>
            </a: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we face.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DEFINITION AND QUESTIONS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380880" y="2133720"/>
            <a:ext cx="8228880" cy="335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Economics Defined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spcAft>
                <a:spcPts val="1400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	</a:t>
            </a: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Economics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is the social science that studies the choices that individuals, businesses, governments, and entire societies make as they cope with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scarcity,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the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incentives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that influence those choices, and the arrangements that coordinate them.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DEFINITION AND QUESTIONS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461880" indent="-468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Economics divides into two parts: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Microeconomics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: The study of the choices that individuals and businesses make and the way these choices interact and are influenced by governments.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Macroeconomics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: The study of the aggregate (or total) effects on the national economy and the global economy of the choices that individuals, businesses, and governments make.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DEFINITION AND QUESTIONS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80880" y="1676520"/>
            <a:ext cx="8228880" cy="48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457200" indent="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Two big economic questions: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79"/>
              </a:spcBef>
              <a:spcAft>
                <a:spcPts val="1199"/>
              </a:spcAft>
              <a:buClr>
                <a:srgbClr val="00468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How do choices determine what, how, and for whom goods and services get produced?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79"/>
              </a:spcBef>
              <a:spcAft>
                <a:spcPts val="1199"/>
              </a:spcAft>
              <a:buClr>
                <a:srgbClr val="00468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When do choices made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self-interest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also promote the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social interest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DEFINITION AND QUESTIONS</a:t>
            </a: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What, How, and For Whom?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Goods and services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are the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objects (goods) and actions (services) that people value and produce to satisfy human wants.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What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goods and services get produced and in what quantities?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How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are goods and services produced?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For Whom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are the various goods and services produced?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29040" y="297000"/>
            <a:ext cx="8228880" cy="103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Figure 1.1 </a:t>
            </a:r>
            <a:br>
              <a:rPr sz="3200"/>
            </a:br>
            <a:r>
              <a:rPr lang="en-US" sz="32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What we produce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339480" y="6092640"/>
            <a:ext cx="209628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Source of data: CIA World Factbook 2020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4"/>
          <p:cNvPicPr/>
          <p:nvPr/>
        </p:nvPicPr>
        <p:blipFill>
          <a:blip r:embed="rId2"/>
          <a:stretch/>
        </p:blipFill>
        <p:spPr>
          <a:xfrm>
            <a:off x="2228400" y="1450800"/>
            <a:ext cx="4686120" cy="4545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29040" y="297000"/>
            <a:ext cx="8228880" cy="103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Figure 1.2 </a:t>
            </a:r>
            <a:br>
              <a:rPr sz="3200"/>
            </a:br>
            <a:r>
              <a:rPr lang="en-US" sz="32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A measure of human capital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339480" y="6092640"/>
            <a:ext cx="307584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Source of data: OECD, Education at a Glance 2020 Table A1.2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5"/>
          <p:cNvPicPr/>
          <p:nvPr/>
        </p:nvPicPr>
        <p:blipFill>
          <a:blip r:embed="rId2"/>
          <a:stretch/>
        </p:blipFill>
        <p:spPr>
          <a:xfrm>
            <a:off x="415800" y="1628640"/>
            <a:ext cx="8312040" cy="3856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DEFINITION AND QUESTIONS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  <a:tabLst>
                <a:tab pos="465120" algn="l"/>
              </a:tabLst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Can the Pursuit of Self-Interest Be in the 	Social Interest?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choices that are best for the individual who makes them are choices made in the pursuit of 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self-interest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choices that are best for society as a whole are choices made in the 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social interest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DEFINITION AND QUESTIONS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593640" indent="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Can choices made in self-interest also serve the social interest?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93640" indent="0">
              <a:lnSpc>
                <a:spcPct val="105000"/>
              </a:lnSpc>
              <a:spcBef>
                <a:spcPts val="519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Let’s illustrate with four topics: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93640" indent="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1	Globalization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6400" indent="-1076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AU" sz="2800" b="0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 	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Globalization—the expansion of international trade and the production of components and services by firms in other countries—has been going on for centuries.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DEFINITION AND QUESTIONS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380880" y="1905120"/>
            <a:ext cx="8228880" cy="4494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42880" indent="0">
              <a:lnSpc>
                <a:spcPct val="100000"/>
              </a:lnSpc>
              <a:spcBef>
                <a:spcPts val="1199"/>
              </a:spcBef>
              <a:spcAft>
                <a:spcPts val="300"/>
              </a:spcAft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But in recent years, its pace accelerated.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2880" indent="0">
              <a:lnSpc>
                <a:spcPct val="100000"/>
              </a:lnSpc>
              <a:spcBef>
                <a:spcPts val="1199"/>
              </a:spcBef>
              <a:spcAft>
                <a:spcPts val="300"/>
              </a:spcAft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Microchips, satellites, and fiber-optic cables have lowered the cost of communication.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2880" indent="0">
              <a:lnSpc>
                <a:spcPct val="100000"/>
              </a:lnSpc>
              <a:spcBef>
                <a:spcPts val="1199"/>
              </a:spcBef>
              <a:spcAft>
                <a:spcPts val="300"/>
              </a:spcAft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This explosion of communication has globalized production decisions.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2880" indent="0">
              <a:lnSpc>
                <a:spcPct val="100000"/>
              </a:lnSpc>
              <a:spcBef>
                <a:spcPts val="1199"/>
              </a:spcBef>
              <a:spcAft>
                <a:spcPts val="300"/>
              </a:spcAft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For example, Nike produces shoes in Malaysia; Toyota produces cars in the United States.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2880" indent="0">
              <a:lnSpc>
                <a:spcPct val="100000"/>
              </a:lnSpc>
              <a:spcBef>
                <a:spcPts val="1199"/>
              </a:spcBef>
              <a:spcAft>
                <a:spcPts val="300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Globalization is in the interest of the owners of multinational firms that profit, but is it in the social interest?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DEFINITION AND QUESTIONS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80880" y="1905120"/>
            <a:ext cx="8228880" cy="441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1000080" indent="-45720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2 	The Information Revolution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840" indent="468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Makers of computer chips and programs developed products in their self-interest, but did they develop their products in the social interest?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0080" indent="-45720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3	Climate Change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840" indent="468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choices we make concerning how to produce and use energy are made in our self-interest, but do they serve the social interest?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DEFINITION AND QUESTIONS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80880" y="1905120"/>
            <a:ext cx="8305200" cy="441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000080" indent="-45720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4	Government Budget Deficit and Debt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640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Every year since 2000, the U.S. government has run a budget deficit. On average, it has spent $2.3 billion a day more than it has received in revenue.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640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government’s debt has increased each day by that amount.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640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Over the 15 year period from 2000 to 2018, government debt increased by $12.5 trillion.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640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Your personal share of this debt is $56,000.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640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This large deficit and debt is just the beginning of an even bigger problem.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1.1  DEFINITION AND QUESTIONS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80880" y="1752480"/>
            <a:ext cx="83052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From about 2020 onwards, the retirement and health-care benefits to which older Americans are entitled are going to cost increasingly more than taxes can cover.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With no changes in tax or benefit rates, the budget deficit will increase and the debt will swell ever higher.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Debts must be repaid. Who will repay them?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When we make our voter choices, we pursue our self-interest. Do our choices serve the social interest?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Do the choices made by politicians promote the social interest, or do they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serve their self-interests?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1.2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THE ECONOMIC WAY OF THINKING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80880" y="1905120"/>
            <a:ext cx="8228880" cy="4494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Economic Ideas: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Six ideas define the economic way of thinking: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Choice is a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tradeoff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Cost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what you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must give up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 get something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Benefit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is what you gain from something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People make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rational choices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by comparing benefits and costs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Most choices are “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how much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” choices made at the margin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Choices respond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incentives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Effect">
                      <p:stCondLst>
                        <p:cond delay="indefinite"/>
                      </p:stCondLst>
                      <p:childTnLst>
                        <p:par>
                          <p:cTn id="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" dur="500"/>
                                        <p:tgtEl>
                                          <p:spTgt spid="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1.2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THE ECONOMIC WAY OF THINKING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A Choice Is a Tradeoff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Because we face scarcity we must make choices.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 make a choice we select from alternatives.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Whatever choice you make, you could have chosen something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else.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You can think about your choices as tradeoffs.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</a:t>
            </a:r>
            <a:r>
              <a:rPr lang="en-AU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tradeoff</a:t>
            </a:r>
            <a:r>
              <a:rPr lang="en-AU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an exchange—giving up one thing to get something else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1.2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THE ECONOMIC WAY OF THINKING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04640" indent="-40464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Cost: What You </a:t>
            </a:r>
            <a:r>
              <a:rPr lang="en-US" sz="2800" b="1" i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Must </a:t>
            </a: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Give 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9120" indent="-40464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rgbClr val="1566B0"/>
                </a:solidFill>
                <a:effectLst/>
                <a:uFillTx/>
                <a:latin typeface="Arial"/>
                <a:ea typeface="ＭＳ Ｐゴシック"/>
              </a:rPr>
              <a:t>	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Opportunity cost</a:t>
            </a:r>
            <a:r>
              <a:rPr lang="en-US" sz="2600" b="0" u="none" strike="noStrike">
                <a:solidFill>
                  <a:srgbClr val="E50030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the best thing that you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must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give up to get something—the highest-valued alternative forgone.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4640" indent="-40464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  <a:tabLst>
                <a:tab pos="0" algn="l"/>
              </a:tabLst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Benefit: What You Gain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6360" indent="61920">
              <a:lnSpc>
                <a:spcPct val="105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Benefit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the gain or pleasure that something brings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6360" indent="61920">
              <a:lnSpc>
                <a:spcPct val="10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Benefit is measured by what you are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willing to give up.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3760" indent="-936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1.2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THE ECONOMIC WAY OF THINKING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Rational Choice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0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rational choice</a:t>
            </a:r>
            <a:r>
              <a:rPr lang="en-US" sz="2400" b="0" u="none" strike="noStrike">
                <a:solidFill>
                  <a:srgbClr val="E50030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a choice that uses the available resources to best achieve the objective of the person making the choice.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80">
              <a:lnSpc>
                <a:spcPct val="9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We make rational choices by comparing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costs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and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benefits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1.2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THE ECONOMIC WAY OF THINKING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04640" indent="-40464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How Much? Choosing at the Margin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6360" indent="6192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choice made at the 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margin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is a choice made by comparing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all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the relevant alternatives systematically and incrementally.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1.2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THE ECONOMIC WAY OF THINKING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380880" y="1752480"/>
            <a:ext cx="8533800" cy="4571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	Marginal Cost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512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Marginal cost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is the opportunity cost of a one-unit increase in an activity.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512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marginal cost of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something is what you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must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give up to get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one additional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unit of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512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	Marginal Benefit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512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Marginal benefit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is the what you gain when you get one more unit of something.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512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marginal benefit of something is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measured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by what you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are willing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 give up to get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one additional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unit of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1.2  THE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ECONOMIC WAY OF THINKING</a:t>
            </a: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	Making a Rational Choice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464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You make a rational choice when you take those actions for which marginal benefit exceeds or equals marginal cost.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464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464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Font typeface="Webdings" charset="2"/>
              <a:buChar char=""/>
              <a:tabLst>
                <a:tab pos="465120" algn="l"/>
              </a:tabLst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Choices Respond to Incentives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4640" indent="0">
              <a:lnSpc>
                <a:spcPct val="10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An 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incentive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is a reward or a penalty—a “carrot” or a “stick”—that encourages or discourages an action.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80880" y="990720"/>
            <a:ext cx="8228880" cy="761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1.3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ECONOMICS AS SOCIAL SCIENCE AND    	POLICY TOOL</a:t>
            </a: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Economics as a Social Science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Economists try to understand and predict the effects of economic forces by using the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scientific method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first developed by physicists.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scientific method is a common sense way of systematically checking what works and what doesn’t work.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An economist begins with a question or a puzzle about cause and effect arising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from some observed facts.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44784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Economic Models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An economist’s second step is to build a model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that provides a possible answer to the question of interest.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An </a:t>
            </a:r>
            <a:r>
              <a:rPr lang="en-AU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economic model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is a description of some feature of the economic world that includes only those features assumed necessary to explain the observed facts.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Check Models Against Facts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An economist’s third step is to check the proposed model against the facts.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99"/>
          <p:cNvSpPr/>
          <p:nvPr/>
        </p:nvSpPr>
        <p:spPr>
          <a:xfrm>
            <a:off x="380880" y="990720"/>
            <a:ext cx="8228880" cy="76140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1.3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ECONOMICS AS SOCIAL SCIENCE AND    	POLICY TOOL</a:t>
            </a: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45720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 check an economic model against the facts, economists use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3760" lvl="2" indent="-936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 Natural experiments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3760" lvl="2" indent="-936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 Statistical investigations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3760" lvl="2" indent="-936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 Economic experiments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104"/>
          <p:cNvSpPr/>
          <p:nvPr/>
        </p:nvSpPr>
        <p:spPr>
          <a:xfrm>
            <a:off x="380880" y="4267080"/>
            <a:ext cx="8457480" cy="124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>
              <a:lnSpc>
                <a:spcPct val="105000"/>
              </a:lnSpc>
              <a:spcBef>
                <a:spcPts val="479"/>
              </a:spcBef>
              <a:spcAft>
                <a:spcPts val="1199"/>
              </a:spcAf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Natural experiments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:</a:t>
            </a:r>
            <a:r>
              <a:rPr lang="en-US" sz="24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situation that arises in the ordinary course of economic life in which the one factor of interest is different and other things are equal.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105"/>
          <p:cNvSpPr/>
          <p:nvPr/>
        </p:nvSpPr>
        <p:spPr>
          <a:xfrm>
            <a:off x="380880" y="990720"/>
            <a:ext cx="8228880" cy="76140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1.3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ECONOMICS AS SOCIAL SCIENCE AND    	POLICY TOOL</a:t>
            </a: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380880" y="1905120"/>
            <a:ext cx="8152560" cy="428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96720" indent="-468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statistical investigation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looks for a correlation.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6720" indent="-4680">
              <a:lnSpc>
                <a:spcPct val="100000"/>
              </a:lnSpc>
              <a:spcBef>
                <a:spcPts val="519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Correlation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the tendency for the values of two variables to move together in a predictable and related way.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6720" indent="-46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An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economic experiment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puts people in a decision-making situation and varies the influence of one factor at a time to discover how they respond.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6720" indent="-468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10"/>
          <p:cNvSpPr/>
          <p:nvPr/>
        </p:nvSpPr>
        <p:spPr>
          <a:xfrm>
            <a:off x="380880" y="990720"/>
            <a:ext cx="8228880" cy="76140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1.3 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ECONOMICS AS SOCIAL SCIENCE AND    	POLICY TOOL</a:t>
            </a: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1.2  THE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ECONOMIC WAY OF THINKING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380880" y="1905120"/>
            <a:ext cx="8228880" cy="403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Economics as Policy Tool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5760" indent="-936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Economics provides a way of approaching problems in all aspects of our lives: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89120" lvl="2" indent="-34308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Personal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89120" lvl="2" indent="-34308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Business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89120" lvl="2" indent="-34308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Government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604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Should you take out a student loan?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604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Clayton Kershaw worth $30 million?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6040"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How can the government balance its budget?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Effect">
                      <p:stCondLst>
                        <p:cond delay="indefinite"/>
                      </p:stCondLst>
                      <p:childTnLst>
                        <p:par>
                          <p:cTn id="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" dur="500"/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Effect">
                      <p:stCondLst>
                        <p:cond delay="indefinite"/>
                      </p:stCondLst>
                      <p:childTnLst>
                        <p:par>
                          <p:cTn id="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7" dur="500"/>
                                        <p:tgtEl>
                                          <p:spTgt spid="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1.2  THE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ECONOMIC WAY OF THINKING</a:t>
            </a: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228600" y="1905120"/>
            <a:ext cx="8533800" cy="449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404640" indent="-40464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SzPct val="120000"/>
              <a:buFont typeface="Webdings" charset="2"/>
              <a:buChar char=""/>
            </a:pPr>
            <a:r>
              <a:rPr lang="en-US" sz="2800" b="1" u="none" strike="noStrik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Disagreement: Normative versus Positive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84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Economists sometimes disagree about assumptions and models and also about what policy to use.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84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Some disagreements can be settled by appealing to further facts, but others cannot.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84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Disagreements that can’t be settled by facts are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normative statements—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statements about what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ought to be.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7840" indent="0">
              <a:lnSpc>
                <a:spcPct val="10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Disagreements that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can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be settled by facts are </a:t>
            </a:r>
            <a:r>
              <a:rPr lang="en-AU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positive statements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—statements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about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what is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24"/>
          <p:cNvSpPr/>
          <p:nvPr/>
        </p:nvSpPr>
        <p:spPr>
          <a:xfrm>
            <a:off x="304920" y="1514520"/>
            <a:ext cx="8533800" cy="465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108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Does school provide a </a:t>
            </a: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big enough benefit to justify its cost?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</a:pP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</a:t>
            </a:r>
            <a:r>
              <a:rPr lang="en-A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benefits</a:t>
            </a: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of being in school include the present enjoyment of student life and a higher future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income.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</a:pP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</a:t>
            </a:r>
            <a:r>
              <a:rPr lang="en-A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costs</a:t>
            </a: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of being in school for a full-time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student include tuition, books, other study costs, and forgone earnings.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</a:pP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Is school always best?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</a:pP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costs are incurred now, but the benefits accrue over a working lifetime.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</a:pP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For most people, the net benefit is big!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125"/>
          <p:cNvSpPr/>
          <p:nvPr/>
        </p:nvSpPr>
        <p:spPr>
          <a:xfrm>
            <a:off x="5486400" y="0"/>
            <a:ext cx="2113920" cy="2278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  <a:ea typeface="ＭＳ Ｐゴシック"/>
            </a:endParaRPr>
          </a:p>
        </p:txBody>
      </p:sp>
      <p:pic>
        <p:nvPicPr>
          <p:cNvPr id="141" name="Picture 8"/>
          <p:cNvPicPr/>
          <p:nvPr/>
        </p:nvPicPr>
        <p:blipFill>
          <a:blip r:embed="rId3"/>
          <a:stretch/>
        </p:blipFill>
        <p:spPr>
          <a:xfrm>
            <a:off x="0" y="0"/>
            <a:ext cx="888624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Rectangle 126"/>
          <p:cNvSpPr/>
          <p:nvPr/>
        </p:nvSpPr>
        <p:spPr>
          <a:xfrm>
            <a:off x="6858000" y="0"/>
            <a:ext cx="2028240" cy="2422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Effect">
                      <p:stCondLst>
                        <p:cond delay="indefinite"/>
                      </p:stCondLst>
                      <p:childTnLst>
                        <p:par>
                          <p:cTn id="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" dur="500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31"/>
          <p:cNvSpPr/>
          <p:nvPr/>
        </p:nvSpPr>
        <p:spPr>
          <a:xfrm>
            <a:off x="304920" y="1514520"/>
            <a:ext cx="8533800" cy="465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108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</a:pPr>
            <a:r>
              <a:rPr lang="en-AU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school always best?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</a:pPr>
            <a:r>
              <a:rPr lang="en-AU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Bill Gates quit Harvard; Mick Jagger quit the London School of Economics; Clayton Kershaw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turned down a scholarship at Texas A &amp; M</a:t>
            </a:r>
            <a:r>
              <a:rPr lang="en-AU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!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</a:pPr>
            <a:r>
              <a:rPr lang="en-AU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All three expected the benefit from school to be less than the opportunity cost of being in school.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132"/>
          <p:cNvSpPr/>
          <p:nvPr/>
        </p:nvSpPr>
        <p:spPr>
          <a:xfrm>
            <a:off x="5486400" y="0"/>
            <a:ext cx="2113920" cy="2278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  <a:ea typeface="ＭＳ Ｐゴシック"/>
            </a:endParaRPr>
          </a:p>
        </p:txBody>
      </p:sp>
      <p:pic>
        <p:nvPicPr>
          <p:cNvPr id="145" name="Picture 1"/>
          <p:cNvPicPr/>
          <p:nvPr/>
        </p:nvPicPr>
        <p:blipFill>
          <a:blip r:embed="rId3"/>
          <a:stretch/>
        </p:blipFill>
        <p:spPr>
          <a:xfrm>
            <a:off x="0" y="0"/>
            <a:ext cx="888624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Rectangle 133"/>
          <p:cNvSpPr/>
          <p:nvPr/>
        </p:nvSpPr>
        <p:spPr>
          <a:xfrm>
            <a:off x="6858000" y="0"/>
            <a:ext cx="2028240" cy="2422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29040" y="297000"/>
            <a:ext cx="8228880" cy="103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Figure 1 </a:t>
            </a:r>
            <a:br>
              <a:rPr sz="3200"/>
            </a:br>
            <a:r>
              <a:rPr lang="en-US" sz="3200" b="1" u="none" strike="noStrike">
                <a:solidFill>
                  <a:srgbClr val="007FA3"/>
                </a:solidFill>
                <a:effectLst/>
                <a:uFillTx/>
                <a:latin typeface="Arial"/>
              </a:rPr>
              <a:t>Internet access by region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3"/>
          <p:cNvPicPr/>
          <p:nvPr/>
        </p:nvPicPr>
        <p:blipFill>
          <a:blip r:embed="rId2"/>
          <a:stretch/>
        </p:blipFill>
        <p:spPr>
          <a:xfrm>
            <a:off x="1400400" y="1437840"/>
            <a:ext cx="6342480" cy="4825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newdesign">
  <a:themeElements>
    <a:clrScheme name="2_new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new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5452</TotalTime>
  <Words>1819</Words>
  <Application>Microsoft Macintosh PowerPoint</Application>
  <PresentationFormat>On-screen Show (4:3)</PresentationFormat>
  <Paragraphs>195</Paragraphs>
  <Slides>31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OpenSymbol</vt:lpstr>
      <vt:lpstr>Arial</vt:lpstr>
      <vt:lpstr>Symbol</vt:lpstr>
      <vt:lpstr>Tahoma</vt:lpstr>
      <vt:lpstr>Times New Roman</vt:lpstr>
      <vt:lpstr>Webdings</vt:lpstr>
      <vt:lpstr>Wingdings</vt:lpstr>
      <vt:lpstr>3_Default Design</vt:lpstr>
      <vt:lpstr>2_newdesign</vt:lpstr>
      <vt:lpstr>PowerPoint Presentation</vt:lpstr>
      <vt:lpstr>PowerPoint Presentation</vt:lpstr>
      <vt:lpstr>1.1  DEFINITION AND QUESTIONS </vt:lpstr>
      <vt:lpstr>1.1  DEFINITION AND QUESTIONS</vt:lpstr>
      <vt:lpstr>1.1  DEFINITION AND QUESTIONS</vt:lpstr>
      <vt:lpstr>1.1  DEFINITION AND QUESTIONS</vt:lpstr>
      <vt:lpstr>1.1  DEFINITION AND QUESTIONS </vt:lpstr>
      <vt:lpstr>Figure 1.1  What we produce</vt:lpstr>
      <vt:lpstr>Figure 1.2  A measure of human capital</vt:lpstr>
      <vt:lpstr>1.1  DEFINITION AND QUESTIONS</vt:lpstr>
      <vt:lpstr>1.1  DEFINITION AND QUESTIONS</vt:lpstr>
      <vt:lpstr>1.1  DEFINITION AND QUESTIONS</vt:lpstr>
      <vt:lpstr>1.1  DEFINITION AND QUESTIONS</vt:lpstr>
      <vt:lpstr>1.1  DEFINITION AND QUESTIONS</vt:lpstr>
      <vt:lpstr>1.1  DEFINITION AND QUESTIONS</vt:lpstr>
      <vt:lpstr>1.2  THE ECONOMIC WAY OF THINKING</vt:lpstr>
      <vt:lpstr>1.2  THE ECONOMIC WAY OF THINKING</vt:lpstr>
      <vt:lpstr>1.2  THE ECONOMIC WAY OF THINKING</vt:lpstr>
      <vt:lpstr>1.2  THE ECONOMIC WAY OF THINKING</vt:lpstr>
      <vt:lpstr>1.2  THE ECONOMIC WAY OF THINKING</vt:lpstr>
      <vt:lpstr>1.2  THE ECONOMIC WAY OF THINKING</vt:lpstr>
      <vt:lpstr>1.2  THE ECONOMIC WAY OF THINKING </vt:lpstr>
      <vt:lpstr>1.3  ECONOMICS AS SOCIAL SCIENCE AND     POLICY TOOL </vt:lpstr>
      <vt:lpstr>PowerPoint Presentation</vt:lpstr>
      <vt:lpstr>PowerPoint Presentation</vt:lpstr>
      <vt:lpstr>PowerPoint Presentation</vt:lpstr>
      <vt:lpstr>1.2  THE ECONOMIC WAY OF THINKING</vt:lpstr>
      <vt:lpstr>1.2  THE ECONOMIC WAY OF THINKING </vt:lpstr>
      <vt:lpstr>PowerPoint Presentation</vt:lpstr>
      <vt:lpstr>PowerPoint Presentation</vt:lpstr>
      <vt:lpstr>Figure 1  Internet access by region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Powerpoint Slides</dc:title>
  <dc:subject>Digital Marketing</dc:subject>
  <dc:creator>Kirsty Farrelly</dc:creator>
  <cp:keywords>Digital Marketing</cp:keywords>
  <dc:description/>
  <cp:lastModifiedBy>Le Mai. Huong</cp:lastModifiedBy>
  <cp:revision>210</cp:revision>
  <dcterms:created xsi:type="dcterms:W3CDTF">2019-02-27T10:38:23Z</dcterms:created>
  <dcterms:modified xsi:type="dcterms:W3CDTF">2025-09-28T13:54:54Z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0x010100138981DF6FD949479277F2472D00FEA7</vt:lpwstr>
  </property>
  <property fmtid="{D5CDD505-2E9C-101B-9397-08002B2CF9AE}" pid="3" name="Notes">
    <vt:i4>1</vt:i4>
  </property>
  <property fmtid="{D5CDD505-2E9C-101B-9397-08002B2CF9AE}" pid="4" name="PresentationFormat">
    <vt:lpwstr>On-screen Show (4:3)</vt:lpwstr>
  </property>
  <property fmtid="{D5CDD505-2E9C-101B-9397-08002B2CF9AE}" pid="5" name="Slides">
    <vt:i4>20</vt:i4>
  </property>
</Properties>
</file>