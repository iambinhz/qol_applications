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2"/>
  </p:notesMasterIdLst>
  <p:handoutMasterIdLst>
    <p:handoutMasterId r:id="rId103"/>
  </p:handoutMasterIdLst>
  <p:sldIdLst>
    <p:sldId id="304" r:id="rId5"/>
    <p:sldId id="600" r:id="rId6"/>
    <p:sldId id="602" r:id="rId7"/>
    <p:sldId id="650" r:id="rId8"/>
    <p:sldId id="649" r:id="rId9"/>
    <p:sldId id="554" r:id="rId10"/>
    <p:sldId id="555" r:id="rId11"/>
    <p:sldId id="651" r:id="rId12"/>
    <p:sldId id="556" r:id="rId13"/>
    <p:sldId id="557" r:id="rId14"/>
    <p:sldId id="558" r:id="rId15"/>
    <p:sldId id="559" r:id="rId16"/>
    <p:sldId id="560" r:id="rId17"/>
    <p:sldId id="561" r:id="rId18"/>
    <p:sldId id="680" r:id="rId19"/>
    <p:sldId id="562" r:id="rId20"/>
    <p:sldId id="652" r:id="rId21"/>
    <p:sldId id="605" r:id="rId22"/>
    <p:sldId id="653" r:id="rId23"/>
    <p:sldId id="564" r:id="rId24"/>
    <p:sldId id="565" r:id="rId25"/>
    <p:sldId id="567" r:id="rId26"/>
    <p:sldId id="568" r:id="rId27"/>
    <p:sldId id="569" r:id="rId28"/>
    <p:sldId id="606" r:id="rId29"/>
    <p:sldId id="570" r:id="rId30"/>
    <p:sldId id="571" r:id="rId31"/>
    <p:sldId id="572" r:id="rId32"/>
    <p:sldId id="575" r:id="rId33"/>
    <p:sldId id="576" r:id="rId34"/>
    <p:sldId id="609" r:id="rId35"/>
    <p:sldId id="607" r:id="rId36"/>
    <p:sldId id="608" r:id="rId37"/>
    <p:sldId id="580" r:id="rId38"/>
    <p:sldId id="655" r:id="rId39"/>
    <p:sldId id="657" r:id="rId40"/>
    <p:sldId id="658" r:id="rId41"/>
    <p:sldId id="659" r:id="rId42"/>
    <p:sldId id="701" r:id="rId43"/>
    <p:sldId id="702" r:id="rId44"/>
    <p:sldId id="610" r:id="rId45"/>
    <p:sldId id="585" r:id="rId46"/>
    <p:sldId id="703" r:id="rId47"/>
    <p:sldId id="704" r:id="rId48"/>
    <p:sldId id="705" r:id="rId49"/>
    <p:sldId id="706" r:id="rId50"/>
    <p:sldId id="707" r:id="rId51"/>
    <p:sldId id="708" r:id="rId52"/>
    <p:sldId id="709" r:id="rId53"/>
    <p:sldId id="685" r:id="rId54"/>
    <p:sldId id="312" r:id="rId55"/>
    <p:sldId id="313" r:id="rId56"/>
    <p:sldId id="314" r:id="rId57"/>
    <p:sldId id="315" r:id="rId58"/>
    <p:sldId id="316" r:id="rId59"/>
    <p:sldId id="317" r:id="rId60"/>
    <p:sldId id="318" r:id="rId61"/>
    <p:sldId id="328" r:id="rId62"/>
    <p:sldId id="319" r:id="rId63"/>
    <p:sldId id="320" r:id="rId64"/>
    <p:sldId id="321" r:id="rId65"/>
    <p:sldId id="588" r:id="rId66"/>
    <p:sldId id="589" r:id="rId67"/>
    <p:sldId id="635" r:id="rId68"/>
    <p:sldId id="590" r:id="rId69"/>
    <p:sldId id="592" r:id="rId70"/>
    <p:sldId id="593" r:id="rId71"/>
    <p:sldId id="594" r:id="rId72"/>
    <p:sldId id="596" r:id="rId73"/>
    <p:sldId id="597" r:id="rId74"/>
    <p:sldId id="598" r:id="rId75"/>
    <p:sldId id="599" r:id="rId76"/>
    <p:sldId id="711" r:id="rId77"/>
    <p:sldId id="712" r:id="rId78"/>
    <p:sldId id="322" r:id="rId79"/>
    <p:sldId id="713" r:id="rId80"/>
    <p:sldId id="714" r:id="rId81"/>
    <p:sldId id="716" r:id="rId82"/>
    <p:sldId id="612" r:id="rId83"/>
    <p:sldId id="613" r:id="rId84"/>
    <p:sldId id="614" r:id="rId85"/>
    <p:sldId id="615" r:id="rId86"/>
    <p:sldId id="616" r:id="rId87"/>
    <p:sldId id="618" r:id="rId88"/>
    <p:sldId id="619" r:id="rId89"/>
    <p:sldId id="637" r:id="rId90"/>
    <p:sldId id="621" r:id="rId91"/>
    <p:sldId id="624" r:id="rId92"/>
    <p:sldId id="721" r:id="rId93"/>
    <p:sldId id="725" r:id="rId94"/>
    <p:sldId id="729" r:id="rId95"/>
    <p:sldId id="730" r:id="rId96"/>
    <p:sldId id="323" r:id="rId97"/>
    <p:sldId id="324" r:id="rId98"/>
    <p:sldId id="325" r:id="rId99"/>
    <p:sldId id="326" r:id="rId100"/>
    <p:sldId id="327"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1" userDrawn="1">
          <p15:clr>
            <a:srgbClr val="A4A3A4"/>
          </p15:clr>
        </p15:guide>
        <p15:guide id="6" pos="271" userDrawn="1">
          <p15:clr>
            <a:srgbClr val="A4A3A4"/>
          </p15:clr>
        </p15:guide>
        <p15:guide id="7" pos="2880" userDrawn="1">
          <p15:clr>
            <a:srgbClr val="A4A3A4"/>
          </p15:clr>
        </p15:guide>
        <p15:guide id="8" orient="horz" pos="3929" userDrawn="1">
          <p15:clr>
            <a:srgbClr val="A4A3A4"/>
          </p15:clr>
        </p15:guide>
        <p15:guide id="9" orient="horz" pos="1842" userDrawn="1">
          <p15:clr>
            <a:srgbClr val="A4A3A4"/>
          </p15:clr>
        </p15:guide>
        <p15:guide id="10" pos="5511" userDrawn="1">
          <p15:clr>
            <a:srgbClr val="A4A3A4"/>
          </p15:clr>
        </p15:guide>
        <p15:guide id="11" orient="horz" pos="129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resh, Anandan" initials="SA" lastIdx="6" clrIdx="0">
    <p:extLst>
      <p:ext uri="{19B8F6BF-5375-455C-9EA6-DF929625EA0E}">
        <p15:presenceInfo xmlns:p15="http://schemas.microsoft.com/office/powerpoint/2012/main" userId="S-1-5-21-2752970185-40930380-1894245210-2183" providerId="AD"/>
      </p:ext>
    </p:extLst>
  </p:cmAuthor>
  <p:cmAuthor id="2" name="Shukla, Preety" initials="SP" lastIdx="3" clrIdx="1">
    <p:extLst>
      <p:ext uri="{19B8F6BF-5375-455C-9EA6-DF929625EA0E}">
        <p15:presenceInfo xmlns:p15="http://schemas.microsoft.com/office/powerpoint/2012/main" userId="S::preety.shukla@pearson.com::a180e6dc-b464-4223-9030-d1701501bd4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0A3"/>
    <a:srgbClr val="007BA4"/>
    <a:srgbClr val="00A4B7"/>
    <a:srgbClr val="EA5633"/>
    <a:srgbClr val="1829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4124DC-35E4-BA48-B107-B37C7792B007}" v="6" dt="2026-02-25T15:55:34.3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19" autoAdjust="0"/>
    <p:restoredTop sz="85850"/>
  </p:normalViewPr>
  <p:slideViewPr>
    <p:cSldViewPr>
      <p:cViewPr varScale="1">
        <p:scale>
          <a:sx n="109" d="100"/>
          <a:sy n="109" d="100"/>
        </p:scale>
        <p:origin x="1408" y="184"/>
      </p:cViewPr>
      <p:guideLst>
        <p:guide orient="horz" pos="461"/>
        <p:guide pos="271"/>
        <p:guide pos="2880"/>
        <p:guide orient="horz" pos="3929"/>
        <p:guide orient="horz" pos="1842"/>
        <p:guide pos="5511"/>
        <p:guide orient="horz" pos="129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53" d="100"/>
          <a:sy n="53" d="100"/>
        </p:scale>
        <p:origin x="-28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handoutMaster" Target="handoutMasters/handoutMaster1.xml"/><Relationship Id="rId108" Type="http://schemas.openxmlformats.org/officeDocument/2006/relationships/tableStyles" Target="tableStyle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microsoft.com/office/2015/10/relationships/revisionInfo" Target="revisionInfo.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9BE231-3047-46CC-8EB7-0A9C6A23B5E3}" type="datetimeFigureOut">
              <a:rPr lang="en-GB" smtClean="0"/>
              <a:pPr/>
              <a:t>25/02/2026</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0D405B-D0BD-49FD-B9CE-587CD7BE6392}" type="slidenum">
              <a:rPr lang="en-GB" smtClean="0"/>
              <a:pPr/>
              <a:t>‹#›</a:t>
            </a:fld>
            <a:endParaRPr lang="en-GB"/>
          </a:p>
        </p:txBody>
      </p:sp>
    </p:spTree>
    <p:extLst>
      <p:ext uri="{BB962C8B-B14F-4D97-AF65-F5344CB8AC3E}">
        <p14:creationId xmlns:p14="http://schemas.microsoft.com/office/powerpoint/2010/main" val="19302386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D29C7B-D5A1-4F4F-81D6-26274366EFEE}" type="datetimeFigureOut">
              <a:rPr lang="en-GB" smtClean="0"/>
              <a:t>25/02/2026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0C9930-0A10-4D51-BF8B-58A66CF9DE84}"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43000" y="685800"/>
            <a:ext cx="4573588" cy="34290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anose="02020603050405020304" pitchFamily="18" charset="0"/>
            </a:endParaRPr>
          </a:p>
        </p:txBody>
      </p:sp>
      <p:sp>
        <p:nvSpPr>
          <p:cNvPr id="6148" name="Slide Number Placeholder 3"/>
          <p:cNvSpPr>
            <a:spLocks noGrp="1"/>
          </p:cNvSpPr>
          <p:nvPr>
            <p:ph type="sldNum" sz="quarter" idx="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6D3EE1-26EB-4098-B0C0-27B5598D974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62009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836CF6B-D696-EB43-5B35-15145A1C0E6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F80E165-34B9-C448-AF29-C00C7AF38DF5}" type="slidenum">
              <a:rPr lang="en-CA" altLang="en-TW" sz="1200">
                <a:latin typeface="Tahoma" panose="020B0604030504040204" pitchFamily="34" charset="0"/>
              </a:rPr>
              <a:pPr eaLnBrk="1" hangingPunct="1"/>
              <a:t>2</a:t>
            </a:fld>
            <a:endParaRPr lang="en-CA" altLang="en-TW" sz="1200">
              <a:latin typeface="Tahoma" panose="020B0604030504040204" pitchFamily="34" charset="0"/>
            </a:endParaRPr>
          </a:p>
        </p:txBody>
      </p:sp>
      <p:sp>
        <p:nvSpPr>
          <p:cNvPr id="908290" name="Rectangle 2">
            <a:extLst>
              <a:ext uri="{FF2B5EF4-FFF2-40B4-BE49-F238E27FC236}">
                <a16:creationId xmlns:a16="http://schemas.microsoft.com/office/drawing/2014/main" id="{7FB8EA8B-AD34-0D0A-B0DD-25170B8CF82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08291" name="Rectangle 3">
            <a:extLst>
              <a:ext uri="{FF2B5EF4-FFF2-40B4-BE49-F238E27FC236}">
                <a16:creationId xmlns:a16="http://schemas.microsoft.com/office/drawing/2014/main" id="{113E44D4-F1EF-6124-F07B-9A06F33D9829}"/>
              </a:ext>
            </a:extLst>
          </p:cNvPr>
          <p:cNvSpPr>
            <a:spLocks noGrp="1" noChangeArrowheads="1"/>
          </p:cNvSpPr>
          <p:nvPr>
            <p:ph type="body" idx="1"/>
          </p:nvPr>
        </p:nvSpPr>
        <p:spPr/>
        <p:txBody>
          <a:bodyPr/>
          <a:lstStyle/>
          <a:p>
            <a:pPr eaLnBrk="1" hangingPunct="1"/>
            <a:r>
              <a:rPr lang="en-CA" altLang="en-TW" sz="2000" dirty="0">
                <a:latin typeface="Times New Roman" panose="02020603050405020304" pitchFamily="18" charset="0"/>
                <a:ea typeface="ＭＳ Ｐゴシック" panose="020B0600070205080204" pitchFamily="34" charset="-128"/>
              </a:rPr>
              <a:t>Notes and teaching tips: </a:t>
            </a:r>
            <a:r>
              <a:rPr lang="en-GB" altLang="en-TW" sz="2000" dirty="0">
                <a:latin typeface="Times New Roman" panose="02020603050405020304" pitchFamily="18" charset="0"/>
                <a:ea typeface="ＭＳ Ｐゴシック" panose="020B0600070205080204" pitchFamily="34" charset="-128"/>
              </a:rPr>
              <a:t>32</a:t>
            </a:r>
            <a:r>
              <a:rPr lang="en-GB" altLang="en-TW" sz="2000" dirty="0">
                <a:latin typeface="Times New Roman" panose="02020603050405020304" pitchFamily="18" charset="0"/>
                <a:ea typeface="ＭＳ Ｐゴシック" panose="020B0600070205080204" pitchFamily="34" charset="-128"/>
                <a:sym typeface="Symbol" pitchFamily="2" charset="2"/>
              </a:rPr>
              <a:t>33</a:t>
            </a:r>
            <a:r>
              <a:rPr lang="en-GB" altLang="en-TW" sz="2000" dirty="0">
                <a:latin typeface="Times New Roman" panose="02020603050405020304" pitchFamily="18" charset="0"/>
                <a:ea typeface="ＭＳ Ｐゴシック" panose="020B0600070205080204" pitchFamily="34" charset="-128"/>
              </a:rPr>
              <a:t> and 55. </a:t>
            </a:r>
            <a:endParaRPr lang="en-CA" altLang="en-TW" sz="2000" dirty="0">
              <a:latin typeface="Times New Roman" panose="02020603050405020304" pitchFamily="18" charset="0"/>
              <a:ea typeface="ＭＳ Ｐゴシック" panose="020B0600070205080204" pitchFamily="34" charset="-128"/>
            </a:endParaRPr>
          </a:p>
          <a:p>
            <a:pPr eaLnBrk="1" hangingPunct="1"/>
            <a:r>
              <a:rPr lang="en-CA" altLang="en-TW" sz="2000" dirty="0">
                <a:latin typeface="Times New Roman" panose="02020603050405020304" pitchFamily="18" charset="0"/>
                <a:ea typeface="ＭＳ Ｐゴシック" panose="020B0600070205080204" pitchFamily="34" charset="-128"/>
              </a:rPr>
              <a:t>To view a full-screen figure during a class, click the red </a:t>
            </a:r>
            <a:r>
              <a:rPr lang="ja-JP" altLang="en-CA" sz="2000">
                <a:latin typeface="Arial" panose="020B0604020202020204" pitchFamily="34" charset="0"/>
                <a:ea typeface="ＭＳ Ｐゴシック" panose="020B0600070205080204" pitchFamily="34" charset="-128"/>
              </a:rPr>
              <a:t>“</a:t>
            </a:r>
            <a:r>
              <a:rPr lang="en-CA" altLang="ja-JP" sz="2000" dirty="0">
                <a:latin typeface="Times New Roman" panose="02020603050405020304" pitchFamily="18" charset="0"/>
                <a:ea typeface="ＭＳ Ｐゴシック" panose="020B0600070205080204" pitchFamily="34" charset="-128"/>
              </a:rPr>
              <a:t>expand</a:t>
            </a:r>
            <a:r>
              <a:rPr lang="ja-JP" altLang="en-CA" sz="2000">
                <a:latin typeface="Arial" panose="020B0604020202020204" pitchFamily="34" charset="0"/>
                <a:ea typeface="ＭＳ Ｐゴシック" panose="020B0600070205080204" pitchFamily="34" charset="-128"/>
              </a:rPr>
              <a:t>”</a:t>
            </a:r>
            <a:r>
              <a:rPr lang="en-CA" altLang="ja-JP" sz="2000" dirty="0">
                <a:latin typeface="Times New Roman" panose="02020603050405020304" pitchFamily="18" charset="0"/>
                <a:ea typeface="ＭＳ Ｐゴシック" panose="020B0600070205080204" pitchFamily="34" charset="-128"/>
              </a:rPr>
              <a:t> button.</a:t>
            </a:r>
          </a:p>
          <a:p>
            <a:pPr eaLnBrk="1" hangingPunct="1"/>
            <a:r>
              <a:rPr lang="en-CA" altLang="en-TW" sz="2000" dirty="0">
                <a:latin typeface="Times New Roman" panose="02020603050405020304" pitchFamily="18" charset="0"/>
                <a:ea typeface="ＭＳ Ｐゴシック" panose="020B0600070205080204" pitchFamily="34" charset="-128"/>
              </a:rPr>
              <a:t>To return to the previous slide, click the red </a:t>
            </a:r>
            <a:r>
              <a:rPr lang="ja-JP" altLang="en-CA" sz="2000">
                <a:latin typeface="Arial" panose="020B0604020202020204" pitchFamily="34" charset="0"/>
                <a:ea typeface="ＭＳ Ｐゴシック" panose="020B0600070205080204" pitchFamily="34" charset="-128"/>
              </a:rPr>
              <a:t>“</a:t>
            </a:r>
            <a:r>
              <a:rPr lang="en-CA" altLang="ja-JP" sz="2000" dirty="0">
                <a:latin typeface="Times New Roman" panose="02020603050405020304" pitchFamily="18" charset="0"/>
                <a:ea typeface="ＭＳ Ｐゴシック" panose="020B0600070205080204" pitchFamily="34" charset="-128"/>
              </a:rPr>
              <a:t>shrink</a:t>
            </a:r>
            <a:r>
              <a:rPr lang="ja-JP" altLang="en-CA" sz="2000">
                <a:latin typeface="Arial" panose="020B0604020202020204" pitchFamily="34" charset="0"/>
                <a:ea typeface="ＭＳ Ｐゴシック" panose="020B0600070205080204" pitchFamily="34" charset="-128"/>
              </a:rPr>
              <a:t>”</a:t>
            </a:r>
            <a:r>
              <a:rPr lang="en-CA" altLang="ja-JP" sz="2000" dirty="0">
                <a:latin typeface="Times New Roman" panose="02020603050405020304" pitchFamily="18" charset="0"/>
                <a:ea typeface="ＭＳ Ｐゴシック" panose="020B0600070205080204" pitchFamily="34" charset="-128"/>
              </a:rPr>
              <a:t> button.</a:t>
            </a:r>
          </a:p>
          <a:p>
            <a:pPr eaLnBrk="1" hangingPunct="1"/>
            <a:r>
              <a:rPr lang="en-CA" altLang="en-TW" sz="2000" dirty="0">
                <a:latin typeface="Times New Roman" panose="02020603050405020304" pitchFamily="18" charset="0"/>
                <a:ea typeface="ＭＳ Ｐゴシック" panose="020B0600070205080204" pitchFamily="34" charset="-128"/>
              </a:rPr>
              <a:t>To advance to the next slide, click anywhere on the full screen figure.</a:t>
            </a:r>
          </a:p>
          <a:p>
            <a:pPr eaLnBrk="1" hangingPunct="1"/>
            <a:r>
              <a:rPr lang="en-CA" altLang="en-TW" sz="2000" dirty="0">
                <a:latin typeface="Times New Roman" panose="02020603050405020304" pitchFamily="18" charset="0"/>
                <a:ea typeface="ＭＳ Ｐゴシック" panose="020B0600070205080204" pitchFamily="34" charset="-128"/>
              </a:rPr>
              <a:t>To enhance your lecture, check out the Lecture Launchers, Land Mines, and Class Activities in the Instructor</a:t>
            </a:r>
            <a:r>
              <a:rPr lang="ja-JP" altLang="en-CA" sz="2000">
                <a:latin typeface="Arial" panose="020B0604020202020204" pitchFamily="34" charset="0"/>
                <a:ea typeface="ＭＳ Ｐゴシック" panose="020B0600070205080204" pitchFamily="34" charset="-128"/>
              </a:rPr>
              <a:t>’</a:t>
            </a:r>
            <a:r>
              <a:rPr lang="en-CA" altLang="ja-JP" sz="2000" dirty="0">
                <a:latin typeface="Times New Roman" panose="02020603050405020304" pitchFamily="18" charset="0"/>
                <a:ea typeface="ＭＳ Ｐゴシック" panose="020B0600070205080204" pitchFamily="34" charset="-128"/>
              </a:rPr>
              <a:t>s Manual.</a:t>
            </a:r>
          </a:p>
          <a:p>
            <a:pPr eaLnBrk="1" hangingPunct="1"/>
            <a:endParaRPr lang="en-US" altLang="en-TW" sz="2000" dirty="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97018A-41C3-7BC7-505F-5528D2C0B44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7101B5A-E0D4-DE44-ADC4-9ABA1669852B}" type="slidenum">
              <a:rPr lang="en-CA" altLang="en-TW" sz="1200">
                <a:latin typeface="Tahoma" panose="020B0604030504040204" pitchFamily="34" charset="0"/>
              </a:rPr>
              <a:pPr eaLnBrk="1" hangingPunct="1"/>
              <a:t>3</a:t>
            </a:fld>
            <a:endParaRPr lang="en-CA" altLang="en-TW" sz="1200">
              <a:latin typeface="Tahoma" panose="020B0604030504040204" pitchFamily="34" charset="0"/>
            </a:endParaRPr>
          </a:p>
        </p:txBody>
      </p:sp>
      <p:sp>
        <p:nvSpPr>
          <p:cNvPr id="983042" name="Rectangle 2">
            <a:extLst>
              <a:ext uri="{FF2B5EF4-FFF2-40B4-BE49-F238E27FC236}">
                <a16:creationId xmlns:a16="http://schemas.microsoft.com/office/drawing/2014/main" id="{E4E5C03B-038C-619D-5477-45C281AF3D8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3043" name="Rectangle 3">
            <a:extLst>
              <a:ext uri="{FF2B5EF4-FFF2-40B4-BE49-F238E27FC236}">
                <a16:creationId xmlns:a16="http://schemas.microsoft.com/office/drawing/2014/main" id="{BD16800B-FF06-39DE-77F8-31F432A6FD10}"/>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2EBA2A4-437B-4A70-88FA-0BDCFCD8CF7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E279749-E387-9648-9F50-11250463EC42}" type="slidenum">
              <a:rPr lang="en-CA" altLang="en-TW" sz="1200">
                <a:latin typeface="Tahoma" panose="020B0604030504040204" pitchFamily="34" charset="0"/>
              </a:rPr>
              <a:pPr eaLnBrk="1" hangingPunct="1"/>
              <a:t>4</a:t>
            </a:fld>
            <a:endParaRPr lang="en-CA" altLang="en-TW" sz="1200">
              <a:latin typeface="Tahoma" panose="020B0604030504040204" pitchFamily="34" charset="0"/>
            </a:endParaRPr>
          </a:p>
        </p:txBody>
      </p:sp>
      <p:sp>
        <p:nvSpPr>
          <p:cNvPr id="984066" name="Rectangle 2">
            <a:extLst>
              <a:ext uri="{FF2B5EF4-FFF2-40B4-BE49-F238E27FC236}">
                <a16:creationId xmlns:a16="http://schemas.microsoft.com/office/drawing/2014/main" id="{F9560118-35D9-758B-FFC9-4250060BBC9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4067" name="Rectangle 3">
            <a:extLst>
              <a:ext uri="{FF2B5EF4-FFF2-40B4-BE49-F238E27FC236}">
                <a16:creationId xmlns:a16="http://schemas.microsoft.com/office/drawing/2014/main" id="{FAD1F867-0E20-3AC8-3D4C-02330A2DE4D1}"/>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267D1F-A000-842F-23C6-00FF11D8857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D4A7F20-B16A-5542-9C67-A069B34F4AD6}" type="slidenum">
              <a:rPr lang="en-CA" altLang="en-TW" sz="1200">
                <a:latin typeface="Tahoma" panose="020B0604030504040204" pitchFamily="34" charset="0"/>
              </a:rPr>
              <a:pPr eaLnBrk="1" hangingPunct="1"/>
              <a:t>5</a:t>
            </a:fld>
            <a:endParaRPr lang="en-CA" altLang="en-TW" sz="1200">
              <a:latin typeface="Tahoma" panose="020B0604030504040204" pitchFamily="34" charset="0"/>
            </a:endParaRPr>
          </a:p>
        </p:txBody>
      </p:sp>
      <p:sp>
        <p:nvSpPr>
          <p:cNvPr id="985090" name="Rectangle 2">
            <a:extLst>
              <a:ext uri="{FF2B5EF4-FFF2-40B4-BE49-F238E27FC236}">
                <a16:creationId xmlns:a16="http://schemas.microsoft.com/office/drawing/2014/main" id="{9D79C1DC-AE2A-37B9-2C65-94A05AF0647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5091" name="Rectangle 3">
            <a:extLst>
              <a:ext uri="{FF2B5EF4-FFF2-40B4-BE49-F238E27FC236}">
                <a16:creationId xmlns:a16="http://schemas.microsoft.com/office/drawing/2014/main" id="{5FB91BD2-0E0A-F037-1C3E-376F8EEF068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5E6FF2-3E13-7B7D-F87B-AB749EF954C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A5A51D8-5620-2042-8AC8-4F4433A01023}" type="slidenum">
              <a:rPr lang="en-CA" altLang="en-TW" sz="1200">
                <a:latin typeface="Tahoma" panose="020B0604030504040204" pitchFamily="34" charset="0"/>
              </a:rPr>
              <a:pPr eaLnBrk="1" hangingPunct="1"/>
              <a:t>6</a:t>
            </a:fld>
            <a:endParaRPr lang="en-CA" altLang="en-TW" sz="1200">
              <a:latin typeface="Tahoma" panose="020B0604030504040204" pitchFamily="34" charset="0"/>
            </a:endParaRPr>
          </a:p>
        </p:txBody>
      </p:sp>
      <p:sp>
        <p:nvSpPr>
          <p:cNvPr id="986114" name="Rectangle 2">
            <a:extLst>
              <a:ext uri="{FF2B5EF4-FFF2-40B4-BE49-F238E27FC236}">
                <a16:creationId xmlns:a16="http://schemas.microsoft.com/office/drawing/2014/main" id="{757FF782-B59E-5DA6-D419-B461259E2EE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6115" name="Rectangle 3">
            <a:extLst>
              <a:ext uri="{FF2B5EF4-FFF2-40B4-BE49-F238E27FC236}">
                <a16:creationId xmlns:a16="http://schemas.microsoft.com/office/drawing/2014/main" id="{075BC456-15B4-A331-2F86-8989A74F99F3}"/>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190BBFF-13EC-4B69-7457-6A4D5E2C991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81B0B3D-A4EA-EC4A-A0F0-57BDD52C0637}" type="slidenum">
              <a:rPr lang="en-CA" altLang="en-TW" sz="1200">
                <a:latin typeface="Tahoma" panose="020B0604030504040204" pitchFamily="34" charset="0"/>
              </a:rPr>
              <a:pPr eaLnBrk="1" hangingPunct="1"/>
              <a:t>7</a:t>
            </a:fld>
            <a:endParaRPr lang="en-CA" altLang="en-TW" sz="1200">
              <a:latin typeface="Tahoma" panose="020B0604030504040204" pitchFamily="34" charset="0"/>
            </a:endParaRPr>
          </a:p>
        </p:txBody>
      </p:sp>
      <p:sp>
        <p:nvSpPr>
          <p:cNvPr id="987138" name="Rectangle 2">
            <a:extLst>
              <a:ext uri="{FF2B5EF4-FFF2-40B4-BE49-F238E27FC236}">
                <a16:creationId xmlns:a16="http://schemas.microsoft.com/office/drawing/2014/main" id="{24EB6A60-87C2-862A-9EA3-3A21A223E51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7139" name="Rectangle 3">
            <a:extLst>
              <a:ext uri="{FF2B5EF4-FFF2-40B4-BE49-F238E27FC236}">
                <a16:creationId xmlns:a16="http://schemas.microsoft.com/office/drawing/2014/main" id="{184342F3-E7D7-E407-B3D7-81923194B261}"/>
              </a:ext>
            </a:extLst>
          </p:cNvPr>
          <p:cNvSpPr>
            <a:spLocks noGrp="1" noChangeArrowheads="1"/>
          </p:cNvSpPr>
          <p:nvPr>
            <p:ph type="body" idx="1"/>
          </p:nvPr>
        </p:nvSpPr>
        <p:spPr/>
        <p:txBody>
          <a:bodyPr/>
          <a:lstStyle/>
          <a:p>
            <a:pPr eaLnBrk="1" hangingPunct="1">
              <a:lnSpc>
                <a:spcPct val="80000"/>
              </a:lnSpc>
            </a:pPr>
            <a:r>
              <a:rPr lang="en-AU" altLang="en-TW" sz="1400">
                <a:latin typeface="Times New Roman" panose="02020603050405020304" pitchFamily="18" charset="0"/>
                <a:ea typeface="ＭＳ Ｐゴシック" panose="020B0600070205080204" pitchFamily="34" charset="-128"/>
              </a:rPr>
              <a:t>It</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s difficult to start using the </a:t>
            </a:r>
            <a:r>
              <a:rPr lang="en-AU" altLang="en-TW" sz="1400" i="1">
                <a:latin typeface="Times New Roman" panose="02020603050405020304" pitchFamily="18" charset="0"/>
                <a:ea typeface="ＭＳ Ｐゴシック" panose="020B0600070205080204" pitchFamily="34" charset="-128"/>
              </a:rPr>
              <a:t>AS-AD </a:t>
            </a:r>
            <a:r>
              <a:rPr lang="en-AU" altLang="en-TW" sz="1400">
                <a:latin typeface="Times New Roman" panose="02020603050405020304" pitchFamily="18" charset="0"/>
                <a:ea typeface="ＭＳ Ｐゴシック" panose="020B0600070205080204" pitchFamily="34" charset="-128"/>
              </a:rPr>
              <a:t>model until you are convinced that students have bought into the notion that the aggregate supply curve is upward sloping and the reasons behind it. The </a:t>
            </a:r>
            <a:r>
              <a:rPr lang="en-AU" altLang="en-TW" sz="1400" i="1">
                <a:latin typeface="Times New Roman" panose="02020603050405020304" pitchFamily="18" charset="0"/>
                <a:ea typeface="ＭＳ Ｐゴシック" panose="020B0600070205080204" pitchFamily="34" charset="-128"/>
              </a:rPr>
              <a:t>AS </a:t>
            </a:r>
            <a:r>
              <a:rPr lang="en-AU" altLang="en-TW" sz="1400">
                <a:latin typeface="Times New Roman" panose="02020603050405020304" pitchFamily="18" charset="0"/>
                <a:ea typeface="ＭＳ Ｐゴシック" panose="020B0600070205080204" pitchFamily="34" charset="-128"/>
              </a:rPr>
              <a:t>curve that is used in this chapter is a short-run aggregate supply curve because it assumes that product prices and resources prices do not move in lock step with one another. That is to say that wages, materials prices, energy prices and the like move with a lag behind product prices. To launch your lecture, walk through this thought experiment with your students. Ask your class if firms are likely to be motivated to step up production in the face of rising product prices. They will have no trouble responding in the affirmative. Now tell your students that the higher price is actually the result of an increase in the general price level. Ask them how quickly workers are likely to respond by asking for wage increases. The answer is that it will take time for workers to see that the general price level has risen and that their real wages are now lower. Eventually they will demand higher wages. Firms will grant the wage increase in the face of higher profits. But until workers realize that their real wage has fallen, firms are in the position of receiving higher prices with no change in money wages so they increase their production. And with this result, you have demonstrated the upward-sloping aggregate supply curve!</a:t>
            </a:r>
            <a:r>
              <a:rPr lang="en-GB" altLang="en-TW" sz="1400">
                <a:latin typeface="Times New Roman" panose="02020603050405020304" pitchFamily="18" charset="0"/>
                <a:ea typeface="ＭＳ Ｐゴシック" panose="020B0600070205080204" pitchFamily="34" charset="-128"/>
              </a:rP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177EF7F-C10F-94CC-8B5E-05CBCFFB8BD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E1F48FB-225C-7845-B2A3-C8B5FD9008BD}" type="slidenum">
              <a:rPr lang="en-CA" altLang="en-TW" sz="1200">
                <a:latin typeface="Tahoma" panose="020B0604030504040204" pitchFamily="34" charset="0"/>
              </a:rPr>
              <a:pPr eaLnBrk="1" hangingPunct="1"/>
              <a:t>8</a:t>
            </a:fld>
            <a:endParaRPr lang="en-CA" altLang="en-TW" sz="1200">
              <a:latin typeface="Tahoma" panose="020B0604030504040204" pitchFamily="34" charset="0"/>
            </a:endParaRPr>
          </a:p>
        </p:txBody>
      </p:sp>
      <p:sp>
        <p:nvSpPr>
          <p:cNvPr id="988162" name="Rectangle 2">
            <a:extLst>
              <a:ext uri="{FF2B5EF4-FFF2-40B4-BE49-F238E27FC236}">
                <a16:creationId xmlns:a16="http://schemas.microsoft.com/office/drawing/2014/main" id="{60D975F4-68BC-F9F4-4BDF-65E1DF160BE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8163" name="Rectangle 3">
            <a:extLst>
              <a:ext uri="{FF2B5EF4-FFF2-40B4-BE49-F238E27FC236}">
                <a16:creationId xmlns:a16="http://schemas.microsoft.com/office/drawing/2014/main" id="{FF0CA103-0C7B-C39C-0CEF-1E3BD68EEC96}"/>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5390581-760E-A83A-5170-A80ADB5587E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3FB02D0-FE36-D64B-88F3-7683BFADF94A}" type="slidenum">
              <a:rPr lang="en-CA" altLang="en-TW" sz="1200">
                <a:latin typeface="Tahoma" panose="020B0604030504040204" pitchFamily="34" charset="0"/>
              </a:rPr>
              <a:pPr eaLnBrk="1" hangingPunct="1"/>
              <a:t>9</a:t>
            </a:fld>
            <a:endParaRPr lang="en-CA" altLang="en-TW" sz="1200">
              <a:latin typeface="Tahoma" panose="020B0604030504040204" pitchFamily="34" charset="0"/>
            </a:endParaRPr>
          </a:p>
        </p:txBody>
      </p:sp>
      <p:sp>
        <p:nvSpPr>
          <p:cNvPr id="990210" name="Rectangle 2">
            <a:extLst>
              <a:ext uri="{FF2B5EF4-FFF2-40B4-BE49-F238E27FC236}">
                <a16:creationId xmlns:a16="http://schemas.microsoft.com/office/drawing/2014/main" id="{A010BD8D-1341-645F-9C61-8BBACFA24CA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0211" name="Rectangle 3">
            <a:extLst>
              <a:ext uri="{FF2B5EF4-FFF2-40B4-BE49-F238E27FC236}">
                <a16:creationId xmlns:a16="http://schemas.microsoft.com/office/drawing/2014/main" id="{F90F1D30-BD30-FF3C-84F0-7FD64E46360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87C44C-7204-E52B-108B-F7E09740C66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C94F6A1-9DB1-0A49-9598-9CCE4B23A2F9}" type="slidenum">
              <a:rPr lang="en-CA" altLang="en-TW" sz="1200">
                <a:latin typeface="Tahoma" panose="020B0604030504040204" pitchFamily="34" charset="0"/>
              </a:rPr>
              <a:pPr eaLnBrk="1" hangingPunct="1"/>
              <a:t>10</a:t>
            </a:fld>
            <a:endParaRPr lang="en-CA" altLang="en-TW" sz="1200">
              <a:latin typeface="Tahoma" panose="020B0604030504040204" pitchFamily="34" charset="0"/>
            </a:endParaRPr>
          </a:p>
        </p:txBody>
      </p:sp>
      <p:sp>
        <p:nvSpPr>
          <p:cNvPr id="991234" name="Rectangle 2">
            <a:extLst>
              <a:ext uri="{FF2B5EF4-FFF2-40B4-BE49-F238E27FC236}">
                <a16:creationId xmlns:a16="http://schemas.microsoft.com/office/drawing/2014/main" id="{EE5B8303-07F3-6EE3-1269-8F9D86A1D50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1235" name="Rectangle 3">
            <a:extLst>
              <a:ext uri="{FF2B5EF4-FFF2-40B4-BE49-F238E27FC236}">
                <a16:creationId xmlns:a16="http://schemas.microsoft.com/office/drawing/2014/main" id="{6A5576A8-098F-3500-38C9-E893F163B8D6}"/>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2D45CDD-A82A-2551-FF00-5B79B4187E4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132CF51-EC94-C741-8A12-D25A5EB0210D}" type="slidenum">
              <a:rPr lang="en-CA" altLang="en-TW" sz="1200">
                <a:latin typeface="Tahoma" panose="020B0604030504040204" pitchFamily="34" charset="0"/>
              </a:rPr>
              <a:pPr eaLnBrk="1" hangingPunct="1"/>
              <a:t>11</a:t>
            </a:fld>
            <a:endParaRPr lang="en-CA" altLang="en-TW" sz="1200">
              <a:latin typeface="Tahoma" panose="020B0604030504040204" pitchFamily="34" charset="0"/>
            </a:endParaRPr>
          </a:p>
        </p:txBody>
      </p:sp>
      <p:sp>
        <p:nvSpPr>
          <p:cNvPr id="992258" name="Rectangle 2">
            <a:extLst>
              <a:ext uri="{FF2B5EF4-FFF2-40B4-BE49-F238E27FC236}">
                <a16:creationId xmlns:a16="http://schemas.microsoft.com/office/drawing/2014/main" id="{71DF9946-E343-42DE-A126-F97BA632D243}"/>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2259" name="Rectangle 3">
            <a:extLst>
              <a:ext uri="{FF2B5EF4-FFF2-40B4-BE49-F238E27FC236}">
                <a16:creationId xmlns:a16="http://schemas.microsoft.com/office/drawing/2014/main" id="{5CC40CE9-DB34-B22F-9CCB-460413D0D3AD}"/>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D8238E-21B0-1DF1-F5BA-C301251B175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80866E3-E25A-DA4E-AC39-51313D519FA1}" type="slidenum">
              <a:rPr lang="en-CA" altLang="en-TW" sz="1200">
                <a:latin typeface="Tahoma" panose="020B0604030504040204" pitchFamily="34" charset="0"/>
              </a:rPr>
              <a:pPr eaLnBrk="1" hangingPunct="1"/>
              <a:t>12</a:t>
            </a:fld>
            <a:endParaRPr lang="en-CA" altLang="en-TW" sz="1200">
              <a:latin typeface="Tahoma" panose="020B0604030504040204" pitchFamily="34" charset="0"/>
            </a:endParaRPr>
          </a:p>
        </p:txBody>
      </p:sp>
      <p:sp>
        <p:nvSpPr>
          <p:cNvPr id="993282" name="Rectangle 2">
            <a:extLst>
              <a:ext uri="{FF2B5EF4-FFF2-40B4-BE49-F238E27FC236}">
                <a16:creationId xmlns:a16="http://schemas.microsoft.com/office/drawing/2014/main" id="{EDE1B056-9604-6761-13F5-62516990E7A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3283" name="Rectangle 3">
            <a:extLst>
              <a:ext uri="{FF2B5EF4-FFF2-40B4-BE49-F238E27FC236}">
                <a16:creationId xmlns:a16="http://schemas.microsoft.com/office/drawing/2014/main" id="{4EE22E83-F1C2-9655-1BEE-BEDF46DD6CC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60A1BA-84E6-DECE-D634-A8F77F302C9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2C6836-8A05-0443-A9D9-121282FF54E4}" type="slidenum">
              <a:rPr lang="en-CA" altLang="en-TW" sz="1200">
                <a:latin typeface="Tahoma" panose="020B0604030504040204" pitchFamily="34" charset="0"/>
              </a:rPr>
              <a:pPr eaLnBrk="1" hangingPunct="1"/>
              <a:t>13</a:t>
            </a:fld>
            <a:endParaRPr lang="en-CA" altLang="en-TW" sz="1200">
              <a:latin typeface="Tahoma" panose="020B0604030504040204" pitchFamily="34" charset="0"/>
            </a:endParaRPr>
          </a:p>
        </p:txBody>
      </p:sp>
      <p:sp>
        <p:nvSpPr>
          <p:cNvPr id="995330" name="Rectangle 2">
            <a:extLst>
              <a:ext uri="{FF2B5EF4-FFF2-40B4-BE49-F238E27FC236}">
                <a16:creationId xmlns:a16="http://schemas.microsoft.com/office/drawing/2014/main" id="{58D904F5-8EAE-5BB1-A303-B62D524AB0B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5331" name="Rectangle 3">
            <a:extLst>
              <a:ext uri="{FF2B5EF4-FFF2-40B4-BE49-F238E27FC236}">
                <a16:creationId xmlns:a16="http://schemas.microsoft.com/office/drawing/2014/main" id="{60B5AA4A-920E-260F-E958-24EC412554A5}"/>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21784A-ADB2-6EB2-FB63-6C628215151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039A535-59C1-DF4B-AA57-F046A912B900}" type="slidenum">
              <a:rPr lang="en-CA" altLang="en-TW" sz="1200">
                <a:latin typeface="Tahoma" panose="020B0604030504040204" pitchFamily="34" charset="0"/>
              </a:rPr>
              <a:pPr eaLnBrk="1" hangingPunct="1"/>
              <a:t>14</a:t>
            </a:fld>
            <a:endParaRPr lang="en-CA" altLang="en-TW" sz="1200">
              <a:latin typeface="Tahoma" panose="020B0604030504040204" pitchFamily="34" charset="0"/>
            </a:endParaRPr>
          </a:p>
        </p:txBody>
      </p:sp>
      <p:sp>
        <p:nvSpPr>
          <p:cNvPr id="996354" name="Rectangle 2">
            <a:extLst>
              <a:ext uri="{FF2B5EF4-FFF2-40B4-BE49-F238E27FC236}">
                <a16:creationId xmlns:a16="http://schemas.microsoft.com/office/drawing/2014/main" id="{B8C663FD-48D4-1152-496E-0CD9B56551DF}"/>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6355" name="Rectangle 3">
            <a:extLst>
              <a:ext uri="{FF2B5EF4-FFF2-40B4-BE49-F238E27FC236}">
                <a16:creationId xmlns:a16="http://schemas.microsoft.com/office/drawing/2014/main" id="{1DD85A10-6462-3296-0237-483C2A90B078}"/>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23AAEF-47C7-1142-831A-2F5164BE56F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02564BF-148B-6C42-933A-E95FC89F163D}" type="slidenum">
              <a:rPr lang="en-CA" altLang="en-TW" sz="1200">
                <a:latin typeface="Tahoma" panose="020B0604030504040204" pitchFamily="34" charset="0"/>
              </a:rPr>
              <a:pPr eaLnBrk="1" hangingPunct="1"/>
              <a:t>15</a:t>
            </a:fld>
            <a:endParaRPr lang="en-CA" altLang="en-TW" sz="1200">
              <a:latin typeface="Tahoma" panose="020B0604030504040204" pitchFamily="34" charset="0"/>
            </a:endParaRPr>
          </a:p>
        </p:txBody>
      </p:sp>
      <p:sp>
        <p:nvSpPr>
          <p:cNvPr id="1105922" name="Rectangle 2">
            <a:extLst>
              <a:ext uri="{FF2B5EF4-FFF2-40B4-BE49-F238E27FC236}">
                <a16:creationId xmlns:a16="http://schemas.microsoft.com/office/drawing/2014/main" id="{239C6E94-F961-3039-4B37-40B282325D9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105923" name="Rectangle 3">
            <a:extLst>
              <a:ext uri="{FF2B5EF4-FFF2-40B4-BE49-F238E27FC236}">
                <a16:creationId xmlns:a16="http://schemas.microsoft.com/office/drawing/2014/main" id="{8C9EC721-9B28-57BF-59BA-4F9B3C2CFED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1FC029-C43F-F5E9-AE8A-7C077B250D1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212EF27-27E0-A147-B1CA-4A027CB0B65A}" type="slidenum">
              <a:rPr lang="en-CA" altLang="en-TW" sz="1200">
                <a:latin typeface="Tahoma" panose="020B0604030504040204" pitchFamily="34" charset="0"/>
              </a:rPr>
              <a:pPr eaLnBrk="1" hangingPunct="1"/>
              <a:t>16</a:t>
            </a:fld>
            <a:endParaRPr lang="en-CA" altLang="en-TW" sz="1200">
              <a:latin typeface="Tahoma" panose="020B0604030504040204" pitchFamily="34" charset="0"/>
            </a:endParaRPr>
          </a:p>
        </p:txBody>
      </p:sp>
      <p:sp>
        <p:nvSpPr>
          <p:cNvPr id="998402" name="Rectangle 2">
            <a:extLst>
              <a:ext uri="{FF2B5EF4-FFF2-40B4-BE49-F238E27FC236}">
                <a16:creationId xmlns:a16="http://schemas.microsoft.com/office/drawing/2014/main" id="{6119D5D6-FBA9-8261-6449-F0A6F9FA73E2}"/>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8403" name="Rectangle 3">
            <a:extLst>
              <a:ext uri="{FF2B5EF4-FFF2-40B4-BE49-F238E27FC236}">
                <a16:creationId xmlns:a16="http://schemas.microsoft.com/office/drawing/2014/main" id="{8BFE69A0-E1E9-82AE-556B-C1E1FDA635B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1A2E74-B5DA-E4D1-2D6F-BF771F7A161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17AE81E-4832-7B4C-B9B4-433ACDD1EBDC}" type="slidenum">
              <a:rPr lang="en-CA" altLang="en-TW" sz="1200">
                <a:latin typeface="Tahoma" panose="020B0604030504040204" pitchFamily="34" charset="0"/>
              </a:rPr>
              <a:pPr eaLnBrk="1" hangingPunct="1"/>
              <a:t>17</a:t>
            </a:fld>
            <a:endParaRPr lang="en-CA" altLang="en-TW" sz="1200">
              <a:latin typeface="Tahoma" panose="020B0604030504040204" pitchFamily="34" charset="0"/>
            </a:endParaRPr>
          </a:p>
        </p:txBody>
      </p:sp>
      <p:sp>
        <p:nvSpPr>
          <p:cNvPr id="999426" name="Rectangle 2">
            <a:extLst>
              <a:ext uri="{FF2B5EF4-FFF2-40B4-BE49-F238E27FC236}">
                <a16:creationId xmlns:a16="http://schemas.microsoft.com/office/drawing/2014/main" id="{453BD933-D9F7-6853-CF3A-926C928C47C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99427" name="Rectangle 3">
            <a:extLst>
              <a:ext uri="{FF2B5EF4-FFF2-40B4-BE49-F238E27FC236}">
                <a16:creationId xmlns:a16="http://schemas.microsoft.com/office/drawing/2014/main" id="{0BDA76FE-F58E-3636-1BC2-C896993C29C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8292BA8-4C1E-4478-7A89-9D6ABC77CEF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E4C9531-2CAC-7C48-A47A-B5E4A1740CCE}" type="slidenum">
              <a:rPr lang="en-CA" altLang="en-TW" sz="1200">
                <a:latin typeface="Tahoma" panose="020B0604030504040204" pitchFamily="34" charset="0"/>
              </a:rPr>
              <a:pPr eaLnBrk="1" hangingPunct="1"/>
              <a:t>18</a:t>
            </a:fld>
            <a:endParaRPr lang="en-CA" altLang="en-TW" sz="1200">
              <a:latin typeface="Tahoma" panose="020B0604030504040204" pitchFamily="34" charset="0"/>
            </a:endParaRPr>
          </a:p>
        </p:txBody>
      </p:sp>
      <p:sp>
        <p:nvSpPr>
          <p:cNvPr id="1000450" name="Rectangle 2">
            <a:extLst>
              <a:ext uri="{FF2B5EF4-FFF2-40B4-BE49-F238E27FC236}">
                <a16:creationId xmlns:a16="http://schemas.microsoft.com/office/drawing/2014/main" id="{F1E78B34-5AEF-FDE4-C791-C418193E740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0451" name="Rectangle 3">
            <a:extLst>
              <a:ext uri="{FF2B5EF4-FFF2-40B4-BE49-F238E27FC236}">
                <a16:creationId xmlns:a16="http://schemas.microsoft.com/office/drawing/2014/main" id="{6002866F-B9D2-6E2A-D9F4-A0D726924298}"/>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CB7D158-5D71-45F9-8F43-45E7743614E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77876BD-129B-E044-9E81-7617AA982C80}" type="slidenum">
              <a:rPr lang="en-CA" altLang="en-TW" sz="1200">
                <a:latin typeface="Tahoma" panose="020B0604030504040204" pitchFamily="34" charset="0"/>
              </a:rPr>
              <a:pPr eaLnBrk="1" hangingPunct="1"/>
              <a:t>19</a:t>
            </a:fld>
            <a:endParaRPr lang="en-CA" altLang="en-TW" sz="1200">
              <a:latin typeface="Tahoma" panose="020B0604030504040204" pitchFamily="34" charset="0"/>
            </a:endParaRPr>
          </a:p>
        </p:txBody>
      </p:sp>
      <p:sp>
        <p:nvSpPr>
          <p:cNvPr id="1001474" name="Rectangle 2">
            <a:extLst>
              <a:ext uri="{FF2B5EF4-FFF2-40B4-BE49-F238E27FC236}">
                <a16:creationId xmlns:a16="http://schemas.microsoft.com/office/drawing/2014/main" id="{F8477516-3B7F-8946-954D-B8B93410A42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1475" name="Rectangle 3">
            <a:extLst>
              <a:ext uri="{FF2B5EF4-FFF2-40B4-BE49-F238E27FC236}">
                <a16:creationId xmlns:a16="http://schemas.microsoft.com/office/drawing/2014/main" id="{86ABBE27-EB11-5F64-8EC1-57FCB5FA568E}"/>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597631-7F76-6234-1C8F-77EF1939BA4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6496348-FDE4-C44F-BD7A-0E3B3C8A7367}" type="slidenum">
              <a:rPr lang="en-CA" altLang="en-TW" sz="1200">
                <a:latin typeface="Tahoma" panose="020B0604030504040204" pitchFamily="34" charset="0"/>
              </a:rPr>
              <a:pPr eaLnBrk="1" hangingPunct="1"/>
              <a:t>20</a:t>
            </a:fld>
            <a:endParaRPr lang="en-CA" altLang="en-TW" sz="1200">
              <a:latin typeface="Tahoma" panose="020B0604030504040204" pitchFamily="34" charset="0"/>
            </a:endParaRPr>
          </a:p>
        </p:txBody>
      </p:sp>
      <p:sp>
        <p:nvSpPr>
          <p:cNvPr id="1003522" name="Rectangle 2">
            <a:extLst>
              <a:ext uri="{FF2B5EF4-FFF2-40B4-BE49-F238E27FC236}">
                <a16:creationId xmlns:a16="http://schemas.microsoft.com/office/drawing/2014/main" id="{868E4590-2D05-C30F-644E-DBA25A1DCF7D}"/>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3523" name="Rectangle 3">
            <a:extLst>
              <a:ext uri="{FF2B5EF4-FFF2-40B4-BE49-F238E27FC236}">
                <a16:creationId xmlns:a16="http://schemas.microsoft.com/office/drawing/2014/main" id="{5154B866-B68D-8D29-D196-FA38756322F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743B122-988A-53CC-8985-CC1AE23B25A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1D7410D-C466-4646-AB09-08AB20CB2A2F}" type="slidenum">
              <a:rPr lang="en-CA" altLang="en-TW" sz="1200">
                <a:latin typeface="Tahoma" panose="020B0604030504040204" pitchFamily="34" charset="0"/>
              </a:rPr>
              <a:pPr eaLnBrk="1" hangingPunct="1"/>
              <a:t>21</a:t>
            </a:fld>
            <a:endParaRPr lang="en-CA" altLang="en-TW" sz="1200">
              <a:latin typeface="Tahoma" panose="020B0604030504040204" pitchFamily="34" charset="0"/>
            </a:endParaRPr>
          </a:p>
        </p:txBody>
      </p:sp>
      <p:sp>
        <p:nvSpPr>
          <p:cNvPr id="1004546" name="Rectangle 2">
            <a:extLst>
              <a:ext uri="{FF2B5EF4-FFF2-40B4-BE49-F238E27FC236}">
                <a16:creationId xmlns:a16="http://schemas.microsoft.com/office/drawing/2014/main" id="{8BE6ED3A-D8B2-9CC7-BA08-B70A9386C08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4547" name="Rectangle 3">
            <a:extLst>
              <a:ext uri="{FF2B5EF4-FFF2-40B4-BE49-F238E27FC236}">
                <a16:creationId xmlns:a16="http://schemas.microsoft.com/office/drawing/2014/main" id="{7F8FC90D-E091-29A9-18DF-FBF57B2A54CC}"/>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720BAD-CADF-733C-8A93-442ED726370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C7F7467-A71D-D540-BFAC-24C2B2FD2F47}" type="slidenum">
              <a:rPr lang="en-CA" altLang="en-TW" sz="1200">
                <a:latin typeface="Tahoma" panose="020B0604030504040204" pitchFamily="34" charset="0"/>
              </a:rPr>
              <a:pPr eaLnBrk="1" hangingPunct="1"/>
              <a:t>22</a:t>
            </a:fld>
            <a:endParaRPr lang="en-CA" altLang="en-TW" sz="1200">
              <a:latin typeface="Tahoma" panose="020B0604030504040204" pitchFamily="34" charset="0"/>
            </a:endParaRPr>
          </a:p>
        </p:txBody>
      </p:sp>
      <p:sp>
        <p:nvSpPr>
          <p:cNvPr id="1005570" name="Rectangle 2">
            <a:extLst>
              <a:ext uri="{FF2B5EF4-FFF2-40B4-BE49-F238E27FC236}">
                <a16:creationId xmlns:a16="http://schemas.microsoft.com/office/drawing/2014/main" id="{10622696-2020-1077-FD12-15232BAA4E6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5571" name="Rectangle 3">
            <a:extLst>
              <a:ext uri="{FF2B5EF4-FFF2-40B4-BE49-F238E27FC236}">
                <a16:creationId xmlns:a16="http://schemas.microsoft.com/office/drawing/2014/main" id="{9A2DB6EC-DE38-CFD9-FE94-82BAF71A3F2F}"/>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C59F6D-BE09-6C85-DC0A-831046865F1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9312AEE-6307-4447-9B61-B476F2363A39}" type="slidenum">
              <a:rPr lang="en-CA" altLang="en-TW" sz="1200">
                <a:latin typeface="Tahoma" panose="020B0604030504040204" pitchFamily="34" charset="0"/>
              </a:rPr>
              <a:pPr eaLnBrk="1" hangingPunct="1"/>
              <a:t>23</a:t>
            </a:fld>
            <a:endParaRPr lang="en-CA" altLang="en-TW" sz="1200">
              <a:latin typeface="Tahoma" panose="020B0604030504040204" pitchFamily="34" charset="0"/>
            </a:endParaRPr>
          </a:p>
        </p:txBody>
      </p:sp>
      <p:sp>
        <p:nvSpPr>
          <p:cNvPr id="1006594" name="Rectangle 2">
            <a:extLst>
              <a:ext uri="{FF2B5EF4-FFF2-40B4-BE49-F238E27FC236}">
                <a16:creationId xmlns:a16="http://schemas.microsoft.com/office/drawing/2014/main" id="{789338DE-077E-C155-EC03-EC281630C11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6595" name="Rectangle 3">
            <a:extLst>
              <a:ext uri="{FF2B5EF4-FFF2-40B4-BE49-F238E27FC236}">
                <a16:creationId xmlns:a16="http://schemas.microsoft.com/office/drawing/2014/main" id="{8E36A6FF-4D10-ABD8-7D22-DC0F43BB9226}"/>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7BF4AEF-506E-8076-F1A5-872B553680B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8673FE7-9264-CF45-BD23-6E65DFF342A4}" type="slidenum">
              <a:rPr lang="en-CA" altLang="en-TW" sz="1200">
                <a:latin typeface="Tahoma" panose="020B0604030504040204" pitchFamily="34" charset="0"/>
              </a:rPr>
              <a:pPr eaLnBrk="1" hangingPunct="1"/>
              <a:t>24</a:t>
            </a:fld>
            <a:endParaRPr lang="en-CA" altLang="en-TW" sz="1200">
              <a:latin typeface="Tahoma" panose="020B0604030504040204" pitchFamily="34" charset="0"/>
            </a:endParaRPr>
          </a:p>
        </p:txBody>
      </p:sp>
      <p:sp>
        <p:nvSpPr>
          <p:cNvPr id="1007618" name="Rectangle 2">
            <a:extLst>
              <a:ext uri="{FF2B5EF4-FFF2-40B4-BE49-F238E27FC236}">
                <a16:creationId xmlns:a16="http://schemas.microsoft.com/office/drawing/2014/main" id="{BD69E1B0-A077-3F47-40FC-602423B3381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7619" name="Rectangle 3">
            <a:extLst>
              <a:ext uri="{FF2B5EF4-FFF2-40B4-BE49-F238E27FC236}">
                <a16:creationId xmlns:a16="http://schemas.microsoft.com/office/drawing/2014/main" id="{F44FA195-B42D-172E-3B26-796D9DA5798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5C3D87-FF75-6C12-5BCC-8EFB6E66FB2D}"/>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7A77E03-8582-8D47-895B-09427CE9980A}" type="slidenum">
              <a:rPr lang="en-CA" altLang="en-TW" sz="1200">
                <a:latin typeface="Tahoma" panose="020B0604030504040204" pitchFamily="34" charset="0"/>
              </a:rPr>
              <a:pPr eaLnBrk="1" hangingPunct="1"/>
              <a:t>25</a:t>
            </a:fld>
            <a:endParaRPr lang="en-CA" altLang="en-TW" sz="1200">
              <a:latin typeface="Tahoma" panose="020B0604030504040204" pitchFamily="34" charset="0"/>
            </a:endParaRPr>
          </a:p>
        </p:txBody>
      </p:sp>
      <p:sp>
        <p:nvSpPr>
          <p:cNvPr id="1008642" name="Rectangle 2">
            <a:extLst>
              <a:ext uri="{FF2B5EF4-FFF2-40B4-BE49-F238E27FC236}">
                <a16:creationId xmlns:a16="http://schemas.microsoft.com/office/drawing/2014/main" id="{330ADE44-8467-E5E6-EC59-EC41DFA1D582}"/>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8643" name="Rectangle 3">
            <a:extLst>
              <a:ext uri="{FF2B5EF4-FFF2-40B4-BE49-F238E27FC236}">
                <a16:creationId xmlns:a16="http://schemas.microsoft.com/office/drawing/2014/main" id="{84FAAA39-E5F8-38E0-3011-855D58DD34C5}"/>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E4A918E-BD68-AD1A-1237-846B52EEE9A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A3702B1-85D3-C340-BB33-76526174563F}" type="slidenum">
              <a:rPr lang="en-CA" altLang="en-TW" sz="1200">
                <a:latin typeface="Tahoma" panose="020B0604030504040204" pitchFamily="34" charset="0"/>
              </a:rPr>
              <a:pPr eaLnBrk="1" hangingPunct="1"/>
              <a:t>26</a:t>
            </a:fld>
            <a:endParaRPr lang="en-CA" altLang="en-TW" sz="1200">
              <a:latin typeface="Tahoma" panose="020B0604030504040204" pitchFamily="34" charset="0"/>
            </a:endParaRPr>
          </a:p>
        </p:txBody>
      </p:sp>
      <p:sp>
        <p:nvSpPr>
          <p:cNvPr id="1009666" name="Rectangle 2">
            <a:extLst>
              <a:ext uri="{FF2B5EF4-FFF2-40B4-BE49-F238E27FC236}">
                <a16:creationId xmlns:a16="http://schemas.microsoft.com/office/drawing/2014/main" id="{A8B3E107-0558-5D66-B9F1-548296A7FFF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09667" name="Rectangle 3">
            <a:extLst>
              <a:ext uri="{FF2B5EF4-FFF2-40B4-BE49-F238E27FC236}">
                <a16:creationId xmlns:a16="http://schemas.microsoft.com/office/drawing/2014/main" id="{83F1247B-8692-2A4A-93E5-08D467B03147}"/>
              </a:ext>
            </a:extLst>
          </p:cNvPr>
          <p:cNvSpPr>
            <a:spLocks noGrp="1" noChangeArrowheads="1"/>
          </p:cNvSpPr>
          <p:nvPr>
            <p:ph type="body" idx="1"/>
          </p:nvPr>
        </p:nvSpPr>
        <p:spPr/>
        <p:txBody>
          <a:bodyPr/>
          <a:lstStyle/>
          <a:p>
            <a:pPr eaLnBrk="1" hangingPunct="1">
              <a:lnSpc>
                <a:spcPct val="90000"/>
              </a:lnSpc>
            </a:pPr>
            <a:r>
              <a:rPr lang="en-GB" altLang="en-TW" sz="1400">
                <a:latin typeface="Times New Roman" panose="02020603050405020304" pitchFamily="18" charset="0"/>
                <a:ea typeface="ＭＳ Ｐゴシック" panose="020B0600070205080204" pitchFamily="34" charset="-128"/>
              </a:rPr>
              <a:t>Some of the same issues regarding change in demand and change in quantity demanded not only apply in the microeconomic model but also apply to the aggregate supply and aggregate demand curves as well. Remind your students that a change in the price level does not shift the aggregate supply curve or aggregate demand curve. A change in the price level results in movements along the curves. You can also involve your students in the material by asking them a few hypothetical questions. Ask your class what will happen to the aggregate demand curve in each of the following cases: </a:t>
            </a:r>
          </a:p>
          <a:p>
            <a:pPr eaLnBrk="1" hangingPunct="1">
              <a:lnSpc>
                <a:spcPct val="90000"/>
              </a:lnSpc>
            </a:pPr>
            <a:r>
              <a:rPr lang="en-GB" altLang="en-TW" sz="1400">
                <a:latin typeface="Times New Roman" panose="02020603050405020304" pitchFamily="18" charset="0"/>
                <a:ea typeface="ＭＳ Ｐゴシック" panose="020B0600070205080204" pitchFamily="34" charset="-128"/>
              </a:rPr>
              <a:t>a. A cut in taxes.</a:t>
            </a:r>
          </a:p>
          <a:p>
            <a:pPr eaLnBrk="1" hangingPunct="1">
              <a:lnSpc>
                <a:spcPct val="90000"/>
              </a:lnSpc>
            </a:pPr>
            <a:r>
              <a:rPr lang="en-GB" altLang="en-TW" sz="1400">
                <a:latin typeface="Times New Roman" panose="02020603050405020304" pitchFamily="18" charset="0"/>
                <a:ea typeface="ＭＳ Ｐゴシック" panose="020B0600070205080204" pitchFamily="34" charset="-128"/>
              </a:rPr>
              <a:t>b. An increase in expected future profit.</a:t>
            </a:r>
          </a:p>
          <a:p>
            <a:pPr eaLnBrk="1" hangingPunct="1">
              <a:lnSpc>
                <a:spcPct val="90000"/>
              </a:lnSpc>
            </a:pPr>
            <a:r>
              <a:rPr lang="en-GB" altLang="en-TW" sz="1400">
                <a:latin typeface="Times New Roman" panose="02020603050405020304" pitchFamily="18" charset="0"/>
                <a:ea typeface="ＭＳ Ｐゴシック" panose="020B0600070205080204" pitchFamily="34" charset="-128"/>
              </a:rPr>
              <a:t>c. A cut in government spending.</a:t>
            </a:r>
          </a:p>
          <a:p>
            <a:pPr eaLnBrk="1" hangingPunct="1">
              <a:lnSpc>
                <a:spcPct val="90000"/>
              </a:lnSpc>
            </a:pPr>
            <a:r>
              <a:rPr lang="en-GB" altLang="en-TW" sz="1400">
                <a:latin typeface="Times New Roman" panose="02020603050405020304" pitchFamily="18" charset="0"/>
                <a:ea typeface="ＭＳ Ｐゴシック" panose="020B0600070205080204" pitchFamily="34" charset="-128"/>
              </a:rPr>
              <a:t>d. An increase in foreign income.</a:t>
            </a:r>
          </a:p>
          <a:p>
            <a:pPr eaLnBrk="1" hangingPunct="1">
              <a:lnSpc>
                <a:spcPct val="90000"/>
              </a:lnSpc>
            </a:pPr>
            <a:r>
              <a:rPr lang="en-GB" altLang="en-TW" sz="1400">
                <a:latin typeface="Times New Roman" panose="02020603050405020304" pitchFamily="18" charset="0"/>
                <a:ea typeface="ＭＳ Ｐゴシック" panose="020B0600070205080204" pitchFamily="34" charset="-128"/>
              </a:rPr>
              <a:t>e. A rise in the price level abroad.</a:t>
            </a:r>
            <a:endParaRPr lang="en-AU" altLang="en-TW" sz="1400">
              <a:latin typeface="Times New Roman" panose="02020603050405020304" pitchFamily="18" charset="0"/>
              <a:ea typeface="ＭＳ Ｐゴシック" panose="020B0600070205080204" pitchFamily="34" charset="-128"/>
            </a:endParaRPr>
          </a:p>
          <a:p>
            <a:pPr eaLnBrk="1" hangingPunct="1">
              <a:lnSpc>
                <a:spcPct val="90000"/>
              </a:lnSpc>
            </a:pPr>
            <a:r>
              <a:rPr lang="en-AU" altLang="en-TW" sz="1400">
                <a:latin typeface="Times New Roman" panose="02020603050405020304" pitchFamily="18" charset="0"/>
                <a:ea typeface="ＭＳ Ｐゴシック" panose="020B0600070205080204" pitchFamily="34" charset="-128"/>
              </a:rPr>
              <a:t>Each of these examples gives students practice shifting the aggregate demand curve rightward and leftward as well as understanding why it shifts in the direction that it does.</a:t>
            </a:r>
            <a:r>
              <a:rPr lang="en-GB" altLang="en-TW" sz="1400">
                <a:latin typeface="Times New Roman" panose="02020603050405020304" pitchFamily="18" charset="0"/>
                <a:ea typeface="ＭＳ Ｐゴシック" panose="020B0600070205080204" pitchFamily="34" charset="-128"/>
              </a:rPr>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5EB0397-4C75-87A6-51CE-738986D11D5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28B5B53-B50F-3A45-8E0B-2BE65E628EE2}" type="slidenum">
              <a:rPr lang="en-CA" altLang="en-TW" sz="1200">
                <a:latin typeface="Tahoma" panose="020B0604030504040204" pitchFamily="34" charset="0"/>
              </a:rPr>
              <a:pPr eaLnBrk="1" hangingPunct="1"/>
              <a:t>27</a:t>
            </a:fld>
            <a:endParaRPr lang="en-CA" altLang="en-TW" sz="1200">
              <a:latin typeface="Tahoma" panose="020B0604030504040204" pitchFamily="34" charset="0"/>
            </a:endParaRPr>
          </a:p>
        </p:txBody>
      </p:sp>
      <p:sp>
        <p:nvSpPr>
          <p:cNvPr id="1010690" name="Rectangle 2">
            <a:extLst>
              <a:ext uri="{FF2B5EF4-FFF2-40B4-BE49-F238E27FC236}">
                <a16:creationId xmlns:a16="http://schemas.microsoft.com/office/drawing/2014/main" id="{3A72AB1A-8418-8491-C23C-CA4D9BF3192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0691" name="Rectangle 3">
            <a:extLst>
              <a:ext uri="{FF2B5EF4-FFF2-40B4-BE49-F238E27FC236}">
                <a16:creationId xmlns:a16="http://schemas.microsoft.com/office/drawing/2014/main" id="{41D257B0-5596-FC8B-A056-8CD5425CCA8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49B2D28-EF97-7BB9-514D-A2253B8F23D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40629BA-183C-CC4D-A963-5FADB705B04A}" type="slidenum">
              <a:rPr lang="en-CA" altLang="en-TW" sz="1200">
                <a:latin typeface="Tahoma" panose="020B0604030504040204" pitchFamily="34" charset="0"/>
              </a:rPr>
              <a:pPr eaLnBrk="1" hangingPunct="1"/>
              <a:t>28</a:t>
            </a:fld>
            <a:endParaRPr lang="en-CA" altLang="en-TW" sz="1200">
              <a:latin typeface="Tahoma" panose="020B0604030504040204" pitchFamily="34" charset="0"/>
            </a:endParaRPr>
          </a:p>
        </p:txBody>
      </p:sp>
      <p:sp>
        <p:nvSpPr>
          <p:cNvPr id="1011714" name="Rectangle 2">
            <a:extLst>
              <a:ext uri="{FF2B5EF4-FFF2-40B4-BE49-F238E27FC236}">
                <a16:creationId xmlns:a16="http://schemas.microsoft.com/office/drawing/2014/main" id="{88BD8C01-18E5-71E6-04B5-9F4C7D72340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1715" name="Rectangle 3">
            <a:extLst>
              <a:ext uri="{FF2B5EF4-FFF2-40B4-BE49-F238E27FC236}">
                <a16:creationId xmlns:a16="http://schemas.microsoft.com/office/drawing/2014/main" id="{05FC93EE-A0DB-370C-7B11-FBEC664F089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9F2FC53-EBAB-7C0C-E0B1-5B27B0401CD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06571EF-5748-2D46-BC7F-09725ADEB054}" type="slidenum">
              <a:rPr lang="en-CA" altLang="en-TW" sz="1200">
                <a:latin typeface="Tahoma" panose="020B0604030504040204" pitchFamily="34" charset="0"/>
              </a:rPr>
              <a:pPr eaLnBrk="1" hangingPunct="1"/>
              <a:t>29</a:t>
            </a:fld>
            <a:endParaRPr lang="en-CA" altLang="en-TW" sz="1200">
              <a:latin typeface="Tahoma" panose="020B0604030504040204" pitchFamily="34" charset="0"/>
            </a:endParaRPr>
          </a:p>
        </p:txBody>
      </p:sp>
      <p:sp>
        <p:nvSpPr>
          <p:cNvPr id="1012738" name="Rectangle 2">
            <a:extLst>
              <a:ext uri="{FF2B5EF4-FFF2-40B4-BE49-F238E27FC236}">
                <a16:creationId xmlns:a16="http://schemas.microsoft.com/office/drawing/2014/main" id="{6747AF91-3235-A78A-2EED-1C2BD4B4B88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2739" name="Rectangle 3">
            <a:extLst>
              <a:ext uri="{FF2B5EF4-FFF2-40B4-BE49-F238E27FC236}">
                <a16:creationId xmlns:a16="http://schemas.microsoft.com/office/drawing/2014/main" id="{754908F0-8D69-2360-8CDE-D5C16944B7F9}"/>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5D90EC-1577-9F20-7A7F-6372F501184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90675D4-C189-5F43-B315-9BC2D06AAEFD}" type="slidenum">
              <a:rPr lang="en-CA" altLang="en-TW" sz="1200">
                <a:latin typeface="Tahoma" panose="020B0604030504040204" pitchFamily="34" charset="0"/>
              </a:rPr>
              <a:pPr eaLnBrk="1" hangingPunct="1"/>
              <a:t>30</a:t>
            </a:fld>
            <a:endParaRPr lang="en-CA" altLang="en-TW" sz="1200">
              <a:latin typeface="Tahoma" panose="020B0604030504040204" pitchFamily="34" charset="0"/>
            </a:endParaRPr>
          </a:p>
        </p:txBody>
      </p:sp>
      <p:sp>
        <p:nvSpPr>
          <p:cNvPr id="1013762" name="Rectangle 2">
            <a:extLst>
              <a:ext uri="{FF2B5EF4-FFF2-40B4-BE49-F238E27FC236}">
                <a16:creationId xmlns:a16="http://schemas.microsoft.com/office/drawing/2014/main" id="{356356A9-03A0-8B4F-3225-AF9996456BE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3763" name="Rectangle 3">
            <a:extLst>
              <a:ext uri="{FF2B5EF4-FFF2-40B4-BE49-F238E27FC236}">
                <a16:creationId xmlns:a16="http://schemas.microsoft.com/office/drawing/2014/main" id="{12FD61C7-AC09-3F3C-59E6-CB461635EC9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5949A61-F9EC-54A8-AD87-04814A8AE77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3CA4395-3CFE-4841-84F9-9331B4E94F06}" type="slidenum">
              <a:rPr lang="en-CA" altLang="en-TW" sz="1200">
                <a:latin typeface="Tahoma" panose="020B0604030504040204" pitchFamily="34" charset="0"/>
              </a:rPr>
              <a:pPr eaLnBrk="1" hangingPunct="1"/>
              <a:t>31</a:t>
            </a:fld>
            <a:endParaRPr lang="en-CA" altLang="en-TW" sz="1200">
              <a:latin typeface="Tahoma" panose="020B0604030504040204" pitchFamily="34" charset="0"/>
            </a:endParaRPr>
          </a:p>
        </p:txBody>
      </p:sp>
      <p:sp>
        <p:nvSpPr>
          <p:cNvPr id="1014786" name="Rectangle 2">
            <a:extLst>
              <a:ext uri="{FF2B5EF4-FFF2-40B4-BE49-F238E27FC236}">
                <a16:creationId xmlns:a16="http://schemas.microsoft.com/office/drawing/2014/main" id="{1C496B93-D825-DF5E-8868-6357862AAA5F}"/>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4787" name="Rectangle 3">
            <a:extLst>
              <a:ext uri="{FF2B5EF4-FFF2-40B4-BE49-F238E27FC236}">
                <a16:creationId xmlns:a16="http://schemas.microsoft.com/office/drawing/2014/main" id="{960BA74E-FB76-0554-C713-3E18E52D05A3}"/>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79F943D-38A5-0293-3ED8-7C7504667DC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69A76F2-3E0F-4740-9B62-43BE0AF7A183}" type="slidenum">
              <a:rPr lang="en-CA" altLang="en-TW" sz="1200">
                <a:latin typeface="Tahoma" panose="020B0604030504040204" pitchFamily="34" charset="0"/>
              </a:rPr>
              <a:pPr eaLnBrk="1" hangingPunct="1"/>
              <a:t>32</a:t>
            </a:fld>
            <a:endParaRPr lang="en-CA" altLang="en-TW" sz="1200">
              <a:latin typeface="Tahoma" panose="020B0604030504040204" pitchFamily="34" charset="0"/>
            </a:endParaRPr>
          </a:p>
        </p:txBody>
      </p:sp>
      <p:sp>
        <p:nvSpPr>
          <p:cNvPr id="1015810" name="Rectangle 2">
            <a:extLst>
              <a:ext uri="{FF2B5EF4-FFF2-40B4-BE49-F238E27FC236}">
                <a16:creationId xmlns:a16="http://schemas.microsoft.com/office/drawing/2014/main" id="{05CB1DBE-25FB-C7C5-23A6-4A6BA0DBB88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5811" name="Rectangle 3">
            <a:extLst>
              <a:ext uri="{FF2B5EF4-FFF2-40B4-BE49-F238E27FC236}">
                <a16:creationId xmlns:a16="http://schemas.microsoft.com/office/drawing/2014/main" id="{61FF55A2-9BED-7DE9-D81C-A54741C9861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D0ECB7-56DE-719A-D4BF-491CABA2F8B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518B852-BE04-2742-B3AB-C78C41E2911E}" type="slidenum">
              <a:rPr lang="en-CA" altLang="en-TW" sz="1200">
                <a:latin typeface="Tahoma" panose="020B0604030504040204" pitchFamily="34" charset="0"/>
              </a:rPr>
              <a:pPr eaLnBrk="1" hangingPunct="1"/>
              <a:t>33</a:t>
            </a:fld>
            <a:endParaRPr lang="en-CA" altLang="en-TW" sz="1200">
              <a:latin typeface="Tahoma" panose="020B0604030504040204" pitchFamily="34" charset="0"/>
            </a:endParaRPr>
          </a:p>
        </p:txBody>
      </p:sp>
      <p:sp>
        <p:nvSpPr>
          <p:cNvPr id="1016834" name="Rectangle 2">
            <a:extLst>
              <a:ext uri="{FF2B5EF4-FFF2-40B4-BE49-F238E27FC236}">
                <a16:creationId xmlns:a16="http://schemas.microsoft.com/office/drawing/2014/main" id="{F2834FDD-DB74-78B2-931C-F08BBE8E689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16835" name="Rectangle 3">
            <a:extLst>
              <a:ext uri="{FF2B5EF4-FFF2-40B4-BE49-F238E27FC236}">
                <a16:creationId xmlns:a16="http://schemas.microsoft.com/office/drawing/2014/main" id="{2839AFA9-AA77-F0CC-0632-D6CD469833F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101144-9A3E-6E7D-19CC-CDB683B4FE4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2252E3F-2C83-A448-BA88-ED47B5F024E2}" type="slidenum">
              <a:rPr lang="en-CA" altLang="en-TW" sz="1200">
                <a:latin typeface="Tahoma" panose="020B0604030504040204" pitchFamily="34" charset="0"/>
              </a:rPr>
              <a:pPr eaLnBrk="1" hangingPunct="1"/>
              <a:t>34</a:t>
            </a:fld>
            <a:endParaRPr lang="en-CA" altLang="en-TW" sz="1200">
              <a:latin typeface="Tahoma" panose="020B0604030504040204" pitchFamily="34" charset="0"/>
            </a:endParaRPr>
          </a:p>
        </p:txBody>
      </p:sp>
      <p:sp>
        <p:nvSpPr>
          <p:cNvPr id="1022978" name="Rectangle 2">
            <a:extLst>
              <a:ext uri="{FF2B5EF4-FFF2-40B4-BE49-F238E27FC236}">
                <a16:creationId xmlns:a16="http://schemas.microsoft.com/office/drawing/2014/main" id="{CB0DE384-7E86-4A5B-4AA9-276715F0023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2979" name="Rectangle 3">
            <a:extLst>
              <a:ext uri="{FF2B5EF4-FFF2-40B4-BE49-F238E27FC236}">
                <a16:creationId xmlns:a16="http://schemas.microsoft.com/office/drawing/2014/main" id="{732DF557-F302-5C8B-0805-D2B32834195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6A4A523-2030-CFBA-E383-233982942E3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E00B2B2-7100-694D-8C62-7F9D6BF5B853}" type="slidenum">
              <a:rPr lang="en-CA" altLang="en-TW" sz="1200">
                <a:latin typeface="Tahoma" panose="020B0604030504040204" pitchFamily="34" charset="0"/>
              </a:rPr>
              <a:pPr eaLnBrk="1" hangingPunct="1"/>
              <a:t>35</a:t>
            </a:fld>
            <a:endParaRPr lang="en-CA" altLang="en-TW" sz="1200">
              <a:latin typeface="Tahoma" panose="020B0604030504040204" pitchFamily="34" charset="0"/>
            </a:endParaRPr>
          </a:p>
        </p:txBody>
      </p:sp>
      <p:sp>
        <p:nvSpPr>
          <p:cNvPr id="1024002" name="Rectangle 2">
            <a:extLst>
              <a:ext uri="{FF2B5EF4-FFF2-40B4-BE49-F238E27FC236}">
                <a16:creationId xmlns:a16="http://schemas.microsoft.com/office/drawing/2014/main" id="{1FD3E7BD-252D-8CD7-52AD-439478DFB04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4003" name="Rectangle 3">
            <a:extLst>
              <a:ext uri="{FF2B5EF4-FFF2-40B4-BE49-F238E27FC236}">
                <a16:creationId xmlns:a16="http://schemas.microsoft.com/office/drawing/2014/main" id="{1689F8AB-3E16-B712-81E6-5B1C142301A5}"/>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84BA3B0-4654-98D9-9956-768A3D15AC0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7F893BE-1FEA-304B-A04B-8D378474B83E}" type="slidenum">
              <a:rPr lang="en-CA" altLang="en-TW" sz="1200">
                <a:latin typeface="Tahoma" panose="020B0604030504040204" pitchFamily="34" charset="0"/>
              </a:rPr>
              <a:pPr eaLnBrk="1" hangingPunct="1"/>
              <a:t>36</a:t>
            </a:fld>
            <a:endParaRPr lang="en-CA" altLang="en-TW" sz="1200">
              <a:latin typeface="Tahoma" panose="020B0604030504040204" pitchFamily="34" charset="0"/>
            </a:endParaRPr>
          </a:p>
        </p:txBody>
      </p:sp>
      <p:sp>
        <p:nvSpPr>
          <p:cNvPr id="1025026" name="Rectangle 2">
            <a:extLst>
              <a:ext uri="{FF2B5EF4-FFF2-40B4-BE49-F238E27FC236}">
                <a16:creationId xmlns:a16="http://schemas.microsoft.com/office/drawing/2014/main" id="{8EE9B1F4-9A6F-2CCF-FF3C-183CB901DF8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5027" name="Rectangle 3">
            <a:extLst>
              <a:ext uri="{FF2B5EF4-FFF2-40B4-BE49-F238E27FC236}">
                <a16:creationId xmlns:a16="http://schemas.microsoft.com/office/drawing/2014/main" id="{2C46FCF9-D164-75D0-CCD9-EF982FB9EE1B}"/>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CA35DD-FC2C-FABC-9BC0-3A50A404947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EDCC946-A77F-3847-93D5-6D04E26E9CB4}" type="slidenum">
              <a:rPr lang="en-CA" altLang="en-TW" sz="1200">
                <a:latin typeface="Tahoma" panose="020B0604030504040204" pitchFamily="34" charset="0"/>
              </a:rPr>
              <a:pPr eaLnBrk="1" hangingPunct="1"/>
              <a:t>37</a:t>
            </a:fld>
            <a:endParaRPr lang="en-CA" altLang="en-TW" sz="1200">
              <a:latin typeface="Tahoma" panose="020B0604030504040204" pitchFamily="34" charset="0"/>
            </a:endParaRPr>
          </a:p>
        </p:txBody>
      </p:sp>
      <p:sp>
        <p:nvSpPr>
          <p:cNvPr id="1026050" name="Rectangle 2">
            <a:extLst>
              <a:ext uri="{FF2B5EF4-FFF2-40B4-BE49-F238E27FC236}">
                <a16:creationId xmlns:a16="http://schemas.microsoft.com/office/drawing/2014/main" id="{4538220F-74DD-D45E-ADC8-F4AFE06F586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6051" name="Rectangle 3">
            <a:extLst>
              <a:ext uri="{FF2B5EF4-FFF2-40B4-BE49-F238E27FC236}">
                <a16:creationId xmlns:a16="http://schemas.microsoft.com/office/drawing/2014/main" id="{51AA5EFE-A98C-89E7-FD84-DE4508171BDE}"/>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66BDC12-DA82-65B7-57D9-7B34DB296A3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3CA0C308-805D-0A49-847F-E2F8885A943E}" type="slidenum">
              <a:rPr lang="en-CA" altLang="en-TW" sz="1200">
                <a:latin typeface="Tahoma" panose="020B0604030504040204" pitchFamily="34" charset="0"/>
              </a:rPr>
              <a:pPr eaLnBrk="1" hangingPunct="1"/>
              <a:t>38</a:t>
            </a:fld>
            <a:endParaRPr lang="en-CA" altLang="en-TW" sz="1200">
              <a:latin typeface="Tahoma" panose="020B0604030504040204" pitchFamily="34" charset="0"/>
            </a:endParaRPr>
          </a:p>
        </p:txBody>
      </p:sp>
      <p:sp>
        <p:nvSpPr>
          <p:cNvPr id="1028098" name="Rectangle 2">
            <a:extLst>
              <a:ext uri="{FF2B5EF4-FFF2-40B4-BE49-F238E27FC236}">
                <a16:creationId xmlns:a16="http://schemas.microsoft.com/office/drawing/2014/main" id="{8502EED8-1C45-C3C7-00AD-85CE10C8414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8099" name="Rectangle 3">
            <a:extLst>
              <a:ext uri="{FF2B5EF4-FFF2-40B4-BE49-F238E27FC236}">
                <a16:creationId xmlns:a16="http://schemas.microsoft.com/office/drawing/2014/main" id="{A1C45C71-DBDB-E1CB-14F7-877358C67643}"/>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5913336-2DB0-5ED5-8E4D-F6F8732D8DD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E841C68-0BE7-8B4A-96A2-7D83BD61173C}" type="slidenum">
              <a:rPr lang="en-CA" altLang="en-TW" sz="1200">
                <a:latin typeface="Tahoma" panose="020B0604030504040204" pitchFamily="34" charset="0"/>
              </a:rPr>
              <a:pPr eaLnBrk="1" hangingPunct="1"/>
              <a:t>39</a:t>
            </a:fld>
            <a:endParaRPr lang="en-CA" altLang="en-TW" sz="1200">
              <a:latin typeface="Tahoma" panose="020B0604030504040204" pitchFamily="34" charset="0"/>
            </a:endParaRPr>
          </a:p>
        </p:txBody>
      </p:sp>
      <p:sp>
        <p:nvSpPr>
          <p:cNvPr id="1024002" name="Rectangle 2">
            <a:extLst>
              <a:ext uri="{FF2B5EF4-FFF2-40B4-BE49-F238E27FC236}">
                <a16:creationId xmlns:a16="http://schemas.microsoft.com/office/drawing/2014/main" id="{084B2B74-A3EC-6737-2820-19905DAC353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4003" name="Rectangle 3">
            <a:extLst>
              <a:ext uri="{FF2B5EF4-FFF2-40B4-BE49-F238E27FC236}">
                <a16:creationId xmlns:a16="http://schemas.microsoft.com/office/drawing/2014/main" id="{CE8988FF-098A-686F-431E-216565D27945}"/>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BF4F24-3511-474E-3B26-155092078A4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1CD9433-BF95-744C-BC9A-875F5F9F3C3E}" type="slidenum">
              <a:rPr lang="en-CA" altLang="en-TW" sz="1200">
                <a:latin typeface="Tahoma" panose="020B0604030504040204" pitchFamily="34" charset="0"/>
              </a:rPr>
              <a:pPr eaLnBrk="1" hangingPunct="1"/>
              <a:t>40</a:t>
            </a:fld>
            <a:endParaRPr lang="en-CA" altLang="en-TW" sz="1200">
              <a:latin typeface="Tahoma" panose="020B0604030504040204" pitchFamily="34" charset="0"/>
            </a:endParaRPr>
          </a:p>
        </p:txBody>
      </p:sp>
      <p:sp>
        <p:nvSpPr>
          <p:cNvPr id="1024002" name="Rectangle 2">
            <a:extLst>
              <a:ext uri="{FF2B5EF4-FFF2-40B4-BE49-F238E27FC236}">
                <a16:creationId xmlns:a16="http://schemas.microsoft.com/office/drawing/2014/main" id="{B757E85E-3389-55AE-5664-BF536AF5FCD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24003" name="Rectangle 3">
            <a:extLst>
              <a:ext uri="{FF2B5EF4-FFF2-40B4-BE49-F238E27FC236}">
                <a16:creationId xmlns:a16="http://schemas.microsoft.com/office/drawing/2014/main" id="{8DECCAFD-5466-A085-141C-619031FF72D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96040F-8BF6-4658-50ED-4A4095A368F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BC471FE-D2C0-3741-A4AC-F02D71FA50D0}" type="slidenum">
              <a:rPr lang="en-CA" altLang="en-TW" sz="1200">
                <a:latin typeface="Tahoma" panose="020B0604030504040204" pitchFamily="34" charset="0"/>
              </a:rPr>
              <a:pPr eaLnBrk="1" hangingPunct="1"/>
              <a:t>41</a:t>
            </a:fld>
            <a:endParaRPr lang="en-CA" altLang="en-TW" sz="1200">
              <a:latin typeface="Tahoma" panose="020B0604030504040204" pitchFamily="34" charset="0"/>
            </a:endParaRPr>
          </a:p>
        </p:txBody>
      </p:sp>
      <p:sp>
        <p:nvSpPr>
          <p:cNvPr id="1030146" name="Rectangle 2">
            <a:extLst>
              <a:ext uri="{FF2B5EF4-FFF2-40B4-BE49-F238E27FC236}">
                <a16:creationId xmlns:a16="http://schemas.microsoft.com/office/drawing/2014/main" id="{67424BCB-0249-BFB7-A8A8-473BBC7EC9C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0147" name="Rectangle 3">
            <a:extLst>
              <a:ext uri="{FF2B5EF4-FFF2-40B4-BE49-F238E27FC236}">
                <a16:creationId xmlns:a16="http://schemas.microsoft.com/office/drawing/2014/main" id="{9FE31C68-E86A-85D3-009C-A00C6FDC7168}"/>
              </a:ext>
            </a:extLst>
          </p:cNvPr>
          <p:cNvSpPr>
            <a:spLocks noGrp="1" noChangeArrowheads="1"/>
          </p:cNvSpPr>
          <p:nvPr>
            <p:ph type="body" idx="1"/>
          </p:nvPr>
        </p:nvSpPr>
        <p:spPr/>
        <p:txBody>
          <a:bodyPr/>
          <a:lstStyle/>
          <a:p>
            <a:pPr eaLnBrk="1" hangingPunct="1">
              <a:lnSpc>
                <a:spcPct val="90000"/>
              </a:lnSpc>
            </a:pPr>
            <a:r>
              <a:rPr lang="en-AU" altLang="en-TW" sz="1400">
                <a:latin typeface="Times New Roman" panose="02020603050405020304" pitchFamily="18" charset="0"/>
                <a:ea typeface="ＭＳ Ｐゴシック" panose="020B0600070205080204" pitchFamily="34" charset="-128"/>
              </a:rPr>
              <a:t>Don</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t neglect the predictions of the model. This is the payoff for the student. With this simple model, we can now say quite a lot about growth, inflation, and the business cycle. However, when you do so, be aware that the </a:t>
            </a:r>
            <a:r>
              <a:rPr lang="en-AU" altLang="en-TW" sz="1400" i="1">
                <a:latin typeface="Times New Roman" panose="02020603050405020304" pitchFamily="18" charset="0"/>
                <a:ea typeface="ＭＳ Ｐゴシック" panose="020B0600070205080204" pitchFamily="34" charset="-128"/>
              </a:rPr>
              <a:t>AS-AD </a:t>
            </a:r>
            <a:r>
              <a:rPr lang="en-AU" altLang="en-TW" sz="1400">
                <a:latin typeface="Times New Roman" panose="02020603050405020304" pitchFamily="18" charset="0"/>
                <a:ea typeface="ＭＳ Ｐゴシック" panose="020B0600070205080204" pitchFamily="34" charset="-128"/>
              </a:rPr>
              <a:t>model predicts a fall in the price level when either aggregate demand decreases or aggregate supply increases. And the model predicts that real GDP decreases when either aggregate supply or aggregate demand decreases. But, some students object by pointing out that GDP rarely decreases and the price level rarely falls. These students are bothered by this apparent mismatch between the predictions of the model and the observed economy. The best way to handle this issue is to emphasize that in our actual economy, aggregate supply and aggregate demand almost always are increasing. When we use the model to simulate the effects of a decrease in either aggregate supply and aggregate demand, we</a:t>
            </a:r>
            <a:r>
              <a:rPr lang="en-AU" altLang="en-US" sz="1400">
                <a:latin typeface="Times New Roman" panose="02020603050405020304" pitchFamily="18" charset="0"/>
                <a:ea typeface="ＭＳ Ｐゴシック" panose="020B0600070205080204" pitchFamily="34" charset="-128"/>
              </a:rPr>
              <a:t>’</a:t>
            </a:r>
            <a:r>
              <a:rPr lang="en-AU" altLang="en-TW" sz="1400">
                <a:latin typeface="Times New Roman" panose="02020603050405020304" pitchFamily="18" charset="0"/>
                <a:ea typeface="ＭＳ Ｐゴシック" panose="020B0600070205080204" pitchFamily="34" charset="-128"/>
              </a:rPr>
              <a:t>re studying what happens relative to the trends in real GDP and the price level. A fall in the price level in the model translates into a lower price level than would otherwise have occurred and a slowing of inflation. The story is similar for real GDP.</a:t>
            </a:r>
            <a:r>
              <a:rPr lang="en-GB" altLang="en-TW" sz="1400">
                <a:latin typeface="Times New Roman" panose="02020603050405020304" pitchFamily="18" charset="0"/>
                <a:ea typeface="ＭＳ Ｐゴシック" panose="020B0600070205080204" pitchFamily="34" charset="-128"/>
              </a:rPr>
              <a:t>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607A27-9595-D805-30CC-767768838B6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4CDBE74-6FCD-1346-8FA4-881CF13D969C}" type="slidenum">
              <a:rPr lang="en-CA" altLang="en-TW" sz="1200">
                <a:latin typeface="Tahoma" panose="020B0604030504040204" pitchFamily="34" charset="0"/>
              </a:rPr>
              <a:pPr eaLnBrk="1" hangingPunct="1"/>
              <a:t>42</a:t>
            </a:fld>
            <a:endParaRPr lang="en-CA" altLang="en-TW" sz="1200">
              <a:latin typeface="Tahoma" panose="020B0604030504040204" pitchFamily="34" charset="0"/>
            </a:endParaRPr>
          </a:p>
        </p:txBody>
      </p:sp>
      <p:sp>
        <p:nvSpPr>
          <p:cNvPr id="1031170" name="Rectangle 2">
            <a:extLst>
              <a:ext uri="{FF2B5EF4-FFF2-40B4-BE49-F238E27FC236}">
                <a16:creationId xmlns:a16="http://schemas.microsoft.com/office/drawing/2014/main" id="{BC50EB90-6E24-7B40-AFE2-4E6F8BFFA56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1171" name="Rectangle 3">
            <a:extLst>
              <a:ext uri="{FF2B5EF4-FFF2-40B4-BE49-F238E27FC236}">
                <a16:creationId xmlns:a16="http://schemas.microsoft.com/office/drawing/2014/main" id="{599CB0EB-4CB3-0AB4-3A29-E4E30EB0EC0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E3D9E2-A16B-8A97-19CA-40B95390C5E4}"/>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86B7281-D97B-E54D-8F60-732783A759F4}" type="slidenum">
              <a:rPr lang="en-CA" altLang="en-TW" sz="1200">
                <a:latin typeface="Tahoma" panose="020B0604030504040204" pitchFamily="34" charset="0"/>
              </a:rPr>
              <a:pPr eaLnBrk="1" hangingPunct="1"/>
              <a:t>43</a:t>
            </a:fld>
            <a:endParaRPr lang="en-CA" altLang="en-TW" sz="1200">
              <a:latin typeface="Tahoma" panose="020B0604030504040204" pitchFamily="34" charset="0"/>
            </a:endParaRPr>
          </a:p>
        </p:txBody>
      </p:sp>
      <p:sp>
        <p:nvSpPr>
          <p:cNvPr id="1031170" name="Rectangle 2">
            <a:extLst>
              <a:ext uri="{FF2B5EF4-FFF2-40B4-BE49-F238E27FC236}">
                <a16:creationId xmlns:a16="http://schemas.microsoft.com/office/drawing/2014/main" id="{D3C5F515-E48B-DB57-0B5D-439CD21B64B6}"/>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1171" name="Rectangle 3">
            <a:extLst>
              <a:ext uri="{FF2B5EF4-FFF2-40B4-BE49-F238E27FC236}">
                <a16:creationId xmlns:a16="http://schemas.microsoft.com/office/drawing/2014/main" id="{FF932602-41CF-28B5-02BF-B6C3B8F7A30D}"/>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62AC789-BDF6-84B9-7735-2743CB8DB0F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357B465-E9A8-224F-92B1-96CDE8D745E3}" type="slidenum">
              <a:rPr lang="en-CA" altLang="en-TW" sz="1200">
                <a:latin typeface="Tahoma" panose="020B0604030504040204" pitchFamily="34" charset="0"/>
              </a:rPr>
              <a:pPr eaLnBrk="1" hangingPunct="1"/>
              <a:t>44</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81F9A5B3-4D4B-2190-A804-CCD78C87293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25D21044-3CA7-DBF4-72F2-7FD55694CFC9}"/>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7B8286-D292-C11B-A60D-008EEFC7200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2468F62-D958-0045-81BE-3FE7C9FB96E2}" type="slidenum">
              <a:rPr lang="en-CA" altLang="en-TW" sz="1200">
                <a:latin typeface="Tahoma" panose="020B0604030504040204" pitchFamily="34" charset="0"/>
              </a:rPr>
              <a:pPr eaLnBrk="1" hangingPunct="1"/>
              <a:t>45</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AD9F4BE5-533D-669E-C094-0D50ECF995A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D0A81ECA-C14A-1A93-2AD0-35C57703712A}"/>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2AF2EF3-3FA7-5FE5-27F6-D23C254AB23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8C70C97-54E5-284C-A9FE-B7CF4F9879EF}" type="slidenum">
              <a:rPr lang="en-CA" altLang="en-TW" sz="1200">
                <a:latin typeface="Tahoma" panose="020B0604030504040204" pitchFamily="34" charset="0"/>
              </a:rPr>
              <a:pPr eaLnBrk="1" hangingPunct="1"/>
              <a:t>46</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91758EF0-272D-4462-4ACE-EB3073E88DE2}"/>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5C044320-2C6E-1AC6-60E2-B1587273C92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AFECE74-52A6-0F04-45CD-D255EF34C04B}"/>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4BDF242-4D30-144C-AB81-6B6BACF9B118}" type="slidenum">
              <a:rPr lang="en-CA" altLang="en-TW" sz="1200">
                <a:latin typeface="Tahoma" panose="020B0604030504040204" pitchFamily="34" charset="0"/>
              </a:rPr>
              <a:pPr eaLnBrk="1" hangingPunct="1"/>
              <a:t>47</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CF3524FB-293B-9D5E-EA01-BB8A21535092}"/>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F38D8F5A-9012-9C89-9C7E-2E4D0BAA7359}"/>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30BF77-FB33-6473-7302-E8FE354BDFD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607F87A-6DB0-324F-A776-BC3160825379}" type="slidenum">
              <a:rPr lang="en-CA" altLang="en-TW" sz="1200">
                <a:latin typeface="Tahoma" panose="020B0604030504040204" pitchFamily="34" charset="0"/>
              </a:rPr>
              <a:pPr eaLnBrk="1" hangingPunct="1"/>
              <a:t>48</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4E394CA9-A6FF-3AF7-CC20-C4FBF772424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8D2E4CF6-8354-96A5-FA2C-0669093BA782}"/>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9949FF-3AAE-271E-FA15-9A859BCF13C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4D17D44-6BFC-7141-A89E-B77C8AD186BB}" type="slidenum">
              <a:rPr lang="en-CA" altLang="en-TW" sz="1200">
                <a:latin typeface="Tahoma" panose="020B0604030504040204" pitchFamily="34" charset="0"/>
              </a:rPr>
              <a:pPr eaLnBrk="1" hangingPunct="1"/>
              <a:t>49</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E1664038-8BC7-999E-BF0A-C16C1B3DFAE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ABB1FDAC-D5B9-9E7A-8674-54E88BDB98F4}"/>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07C173-7948-8E45-3039-8AC724DD2E7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E53F312-DEB8-4449-A594-62E29C6EED34}" type="slidenum">
              <a:rPr lang="en-CA" altLang="en-TW" sz="1200">
                <a:latin typeface="Tahoma" panose="020B0604030504040204" pitchFamily="34" charset="0"/>
              </a:rPr>
              <a:pPr eaLnBrk="1" hangingPunct="1"/>
              <a:t>50</a:t>
            </a:fld>
            <a:endParaRPr lang="en-CA" altLang="en-TW" sz="1200">
              <a:latin typeface="Tahoma" panose="020B0604030504040204" pitchFamily="34" charset="0"/>
            </a:endParaRPr>
          </a:p>
        </p:txBody>
      </p:sp>
      <p:sp>
        <p:nvSpPr>
          <p:cNvPr id="1122306" name="Rectangle 2">
            <a:extLst>
              <a:ext uri="{FF2B5EF4-FFF2-40B4-BE49-F238E27FC236}">
                <a16:creationId xmlns:a16="http://schemas.microsoft.com/office/drawing/2014/main" id="{9F69476F-C0F1-3560-6398-6F24CD27CD8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122307" name="Rectangle 3">
            <a:extLst>
              <a:ext uri="{FF2B5EF4-FFF2-40B4-BE49-F238E27FC236}">
                <a16:creationId xmlns:a16="http://schemas.microsoft.com/office/drawing/2014/main" id="{114F69BE-346F-B826-F73B-4CED9F73A947}"/>
              </a:ext>
            </a:extLst>
          </p:cNvPr>
          <p:cNvSpPr>
            <a:spLocks noGrp="1" noChangeArrowheads="1"/>
          </p:cNvSpPr>
          <p:nvPr>
            <p:ph type="body" idx="1"/>
          </p:nvPr>
        </p:nvSpPr>
        <p:spPr/>
        <p:txBody>
          <a:bodyPr/>
          <a:lstStyle/>
          <a:p>
            <a:pPr eaLnBrk="1" hangingPunct="1">
              <a:defRPr/>
            </a:pPr>
            <a:endParaRPr lang="en-GB">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invention of new machines</a:t>
            </a:r>
          </a:p>
          <a:p>
            <a:r>
              <a:rPr lang="en-US" dirty="0"/>
              <a:t>new software</a:t>
            </a:r>
          </a:p>
          <a:p>
            <a:r>
              <a:rPr lang="en-US" dirty="0"/>
              <a:t>automation</a:t>
            </a:r>
          </a:p>
          <a:p>
            <a:r>
              <a:rPr lang="en-US" dirty="0"/>
              <a:t>AI</a:t>
            </a:r>
          </a:p>
          <a:p>
            <a:r>
              <a:rPr lang="en-US" dirty="0"/>
              <a:t>Productivity = output per unit of labor</a:t>
            </a:r>
          </a:p>
          <a:p>
            <a:r>
              <a:rPr lang="en-US" dirty="0" err="1"/>
              <a:t>Nguyên</a:t>
            </a:r>
            <a:r>
              <a:rPr lang="en-US" dirty="0"/>
              <a:t> </a:t>
            </a:r>
            <a:r>
              <a:rPr lang="en-US" dirty="0" err="1"/>
              <a:t>nhân</a:t>
            </a:r>
            <a:r>
              <a:rPr lang="en-US" dirty="0"/>
              <a:t> </a:t>
            </a:r>
            <a:r>
              <a:rPr lang="en-US" dirty="0" err="1"/>
              <a:t>có</a:t>
            </a:r>
            <a:r>
              <a:rPr lang="en-US" dirty="0"/>
              <a:t> </a:t>
            </a:r>
            <a:r>
              <a:rPr lang="en-US" dirty="0" err="1"/>
              <a:t>thể</a:t>
            </a:r>
            <a:r>
              <a:rPr lang="en-US" dirty="0"/>
              <a:t> </a:t>
            </a:r>
            <a:r>
              <a:rPr lang="en-US" dirty="0" err="1"/>
              <a:t>là</a:t>
            </a:r>
            <a:r>
              <a:rPr lang="en-US" dirty="0"/>
              <a:t>:</a:t>
            </a:r>
          </a:p>
          <a:p>
            <a:pPr>
              <a:buFont typeface="Arial" panose="020B0604020202020204" pitchFamily="34" charset="0"/>
              <a:buChar char="•"/>
            </a:pPr>
            <a:r>
              <a:rPr lang="en-US" dirty="0"/>
              <a:t>Technology changes</a:t>
            </a:r>
          </a:p>
          <a:p>
            <a:pPr>
              <a:buFont typeface="Arial" panose="020B0604020202020204" pitchFamily="34" charset="0"/>
              <a:buChar char="•"/>
            </a:pPr>
            <a:r>
              <a:rPr lang="en-US" dirty="0"/>
              <a:t>Human capital changes</a:t>
            </a:r>
          </a:p>
          <a:p>
            <a:pPr>
              <a:buFont typeface="Arial" panose="020B0604020202020204" pitchFamily="34" charset="0"/>
              <a:buChar char="•"/>
            </a:pPr>
            <a:r>
              <a:rPr lang="en-US" dirty="0"/>
              <a:t>Natural conditions (weather, disasters)</a:t>
            </a:r>
          </a:p>
          <a:p>
            <a:pPr>
              <a:buFont typeface="Arial" panose="020B0604020202020204" pitchFamily="34" charset="0"/>
              <a:buChar char="•"/>
            </a:pPr>
            <a:r>
              <a:rPr lang="en-US" dirty="0"/>
              <a:t>Energy prices</a:t>
            </a:r>
          </a:p>
          <a:p>
            <a:pPr>
              <a:buFont typeface="Arial" panose="020B0604020202020204" pitchFamily="34" charset="0"/>
              <a:buChar char="•"/>
            </a:pPr>
            <a:r>
              <a:rPr lang="en-US" dirty="0"/>
              <a:t>Regulations</a:t>
            </a:r>
          </a:p>
          <a:p>
            <a:r>
              <a:rPr lang="en-US" dirty="0"/>
              <a:t>→ </a:t>
            </a:r>
            <a:r>
              <a:rPr lang="en-US" dirty="0" err="1"/>
              <a:t>tất</a:t>
            </a:r>
            <a:r>
              <a:rPr lang="en-US" dirty="0"/>
              <a:t> </a:t>
            </a:r>
            <a:r>
              <a:rPr lang="en-US" dirty="0" err="1"/>
              <a:t>cả</a:t>
            </a:r>
            <a:r>
              <a:rPr lang="en-US" dirty="0"/>
              <a:t> </a:t>
            </a:r>
            <a:r>
              <a:rPr lang="en-US" dirty="0" err="1"/>
              <a:t>đều</a:t>
            </a:r>
            <a:r>
              <a:rPr lang="en-US" dirty="0"/>
              <a:t> </a:t>
            </a:r>
            <a:r>
              <a:rPr lang="en-US" dirty="0" err="1"/>
              <a:t>làm</a:t>
            </a:r>
            <a:r>
              <a:rPr lang="en-US" dirty="0"/>
              <a:t> productivity </a:t>
            </a:r>
            <a:r>
              <a:rPr lang="en-US" dirty="0" err="1"/>
              <a:t>thay</a:t>
            </a:r>
            <a:r>
              <a:rPr lang="en-US" dirty="0"/>
              <a:t> </a:t>
            </a:r>
            <a:r>
              <a:rPr lang="en-US" dirty="0" err="1"/>
              <a:t>đổi</a:t>
            </a:r>
            <a:endParaRPr lang="en-US" dirty="0"/>
          </a:p>
          <a:p>
            <a:endParaRPr lang="en-US" dirty="0"/>
          </a:p>
          <a:p>
            <a:endParaRPr lang="en-TW" dirty="0"/>
          </a:p>
        </p:txBody>
      </p:sp>
      <p:sp>
        <p:nvSpPr>
          <p:cNvPr id="4" name="Slide Number Placeholder 3"/>
          <p:cNvSpPr>
            <a:spLocks noGrp="1"/>
          </p:cNvSpPr>
          <p:nvPr>
            <p:ph type="sldNum" sz="quarter" idx="5"/>
          </p:nvPr>
        </p:nvSpPr>
        <p:spPr/>
        <p:txBody>
          <a:bodyPr/>
          <a:lstStyle/>
          <a:p>
            <a:fld id="{C00C9930-0A10-4D51-BF8B-58A66CF9DE84}" type="slidenum">
              <a:rPr lang="en-GB" smtClean="0"/>
              <a:t>52</a:t>
            </a:fld>
            <a:endParaRPr lang="en-GB"/>
          </a:p>
        </p:txBody>
      </p:sp>
    </p:spTree>
    <p:extLst>
      <p:ext uri="{BB962C8B-B14F-4D97-AF65-F5344CB8AC3E}">
        <p14:creationId xmlns:p14="http://schemas.microsoft.com/office/powerpoint/2010/main" val="3063396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nền kinh tế có thể sản xuất nhiều hơn</a:t>
            </a:r>
            <a:br>
              <a:rPr lang="vi-VN" dirty="0"/>
            </a:br>
            <a:r>
              <a:rPr lang="vi-VN" dirty="0"/>
              <a:t>nhưng demand không tăng đủ để mua hết</a:t>
            </a:r>
            <a:endParaRPr lang="en-TW" dirty="0"/>
          </a:p>
        </p:txBody>
      </p:sp>
      <p:sp>
        <p:nvSpPr>
          <p:cNvPr id="4" name="Slide Number Placeholder 3"/>
          <p:cNvSpPr>
            <a:spLocks noGrp="1"/>
          </p:cNvSpPr>
          <p:nvPr>
            <p:ph type="sldNum" sz="quarter" idx="5"/>
          </p:nvPr>
        </p:nvSpPr>
        <p:spPr/>
        <p:txBody>
          <a:bodyPr/>
          <a:lstStyle/>
          <a:p>
            <a:fld id="{C00C9930-0A10-4D51-BF8B-58A66CF9DE84}" type="slidenum">
              <a:rPr lang="en-GB" smtClean="0"/>
              <a:t>59</a:t>
            </a:fld>
            <a:endParaRPr lang="en-GB"/>
          </a:p>
        </p:txBody>
      </p:sp>
    </p:spTree>
    <p:extLst>
      <p:ext uri="{BB962C8B-B14F-4D97-AF65-F5344CB8AC3E}">
        <p14:creationId xmlns:p14="http://schemas.microsoft.com/office/powerpoint/2010/main" val="41320072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272A3F-D9D9-A675-6173-E1C1CFDC80D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78F3013C-F51B-D843-8955-6F3E40F3523B}" type="slidenum">
              <a:rPr lang="en-CA" altLang="en-TW" sz="1200">
                <a:latin typeface="Tahoma" panose="020B0604030504040204" pitchFamily="34" charset="0"/>
              </a:rPr>
              <a:pPr eaLnBrk="1" hangingPunct="1"/>
              <a:t>62</a:t>
            </a:fld>
            <a:endParaRPr lang="en-CA" altLang="en-TW" sz="1200">
              <a:latin typeface="Tahoma" panose="020B0604030504040204" pitchFamily="34" charset="0"/>
            </a:endParaRPr>
          </a:p>
        </p:txBody>
      </p:sp>
      <p:sp>
        <p:nvSpPr>
          <p:cNvPr id="1035266" name="Rectangle 2">
            <a:extLst>
              <a:ext uri="{FF2B5EF4-FFF2-40B4-BE49-F238E27FC236}">
                <a16:creationId xmlns:a16="http://schemas.microsoft.com/office/drawing/2014/main" id="{637A30F7-D42C-BDF5-1232-FBAD78DE56C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5267" name="Rectangle 3">
            <a:extLst>
              <a:ext uri="{FF2B5EF4-FFF2-40B4-BE49-F238E27FC236}">
                <a16:creationId xmlns:a16="http://schemas.microsoft.com/office/drawing/2014/main" id="{0AE2D217-DEFE-AACD-093A-51CFF15B03EF}"/>
              </a:ext>
            </a:extLst>
          </p:cNvPr>
          <p:cNvSpPr>
            <a:spLocks noGrp="1" noChangeArrowheads="1"/>
          </p:cNvSpPr>
          <p:nvPr>
            <p:ph type="body" idx="1"/>
          </p:nvPr>
        </p:nvSpPr>
        <p:spPr/>
        <p:txBody>
          <a:bodyPr/>
          <a:lstStyle/>
          <a:p>
            <a:pPr eaLnBrk="1" hangingPunct="1"/>
            <a:r>
              <a:rPr lang="en-GB" altLang="en-TW" sz="1600">
                <a:latin typeface="Times New Roman" panose="02020603050405020304" pitchFamily="18" charset="0"/>
                <a:ea typeface="ＭＳ Ｐゴシック" panose="020B0600070205080204" pitchFamily="34" charset="-128"/>
              </a:rPr>
              <a:t>The story of the Phillips curve is a wonderful illustration of how the science of economics advances. The story I tell starts in 1958 when A. W. Phillips published his empirical work. At that time the mainstream economic model was quite different from the </a:t>
            </a:r>
            <a:r>
              <a:rPr lang="en-GB" altLang="en-TW" sz="1600" i="1">
                <a:latin typeface="Times New Roman" panose="02020603050405020304" pitchFamily="18" charset="0"/>
                <a:ea typeface="ＭＳ Ｐゴシック" panose="020B0600070205080204" pitchFamily="34" charset="-128"/>
              </a:rPr>
              <a:t>AS</a:t>
            </a:r>
            <a:r>
              <a:rPr lang="en-GB" altLang="en-TW" sz="1600">
                <a:latin typeface="Times New Roman" panose="02020603050405020304" pitchFamily="18" charset="0"/>
                <a:ea typeface="ＭＳ Ｐゴシック" panose="020B0600070205080204" pitchFamily="34" charset="-128"/>
              </a:rPr>
              <a:t>-</a:t>
            </a:r>
            <a:r>
              <a:rPr lang="en-GB" altLang="en-TW" sz="1600" i="1">
                <a:latin typeface="Times New Roman" panose="02020603050405020304" pitchFamily="18" charset="0"/>
                <a:ea typeface="ＭＳ Ｐゴシック" panose="020B0600070205080204" pitchFamily="34" charset="-128"/>
              </a:rPr>
              <a:t>AD </a:t>
            </a:r>
            <a:r>
              <a:rPr lang="en-GB" altLang="en-TW" sz="1600">
                <a:latin typeface="Times New Roman" panose="02020603050405020304" pitchFamily="18" charset="0"/>
                <a:ea typeface="ＭＳ Ｐゴシック" panose="020B0600070205080204" pitchFamily="34" charset="-128"/>
              </a:rPr>
              <a:t>model derived in the text. Essentially, it was similar to the simple aggregate expenditure model presented in Chapter 29. The model was based on the assumption that the price level was constant, making the inflation rate zero. This assumption was not too unrealistic immediately after World War II. By 1955, though, the inflation rate began to creep higher and averaged 2.7 percent a year between 1956 and 1959. Inflation was beginning to be perceived as a problem, one that a model with a </a:t>
            </a:r>
            <a:r>
              <a:rPr lang="en-GB" altLang="en-US" sz="1600">
                <a:latin typeface="Times New Roman" panose="02020603050405020304" pitchFamily="18" charset="0"/>
                <a:ea typeface="ＭＳ Ｐゴシック" panose="020B0600070205080204" pitchFamily="34" charset="-128"/>
              </a:rPr>
              <a:t>“</a:t>
            </a:r>
            <a:r>
              <a:rPr lang="en-GB" altLang="en-TW" sz="1600">
                <a:latin typeface="Times New Roman" panose="02020603050405020304" pitchFamily="18" charset="0"/>
                <a:ea typeface="ＭＳ Ｐゴシック" panose="020B0600070205080204" pitchFamily="34" charset="-128"/>
              </a:rPr>
              <a:t>fixed price level assumption</a:t>
            </a:r>
            <a:r>
              <a:rPr lang="en-GB" altLang="en-US" sz="1600">
                <a:latin typeface="Times New Roman" panose="02020603050405020304" pitchFamily="18" charset="0"/>
                <a:ea typeface="ＭＳ Ｐゴシック" panose="020B0600070205080204" pitchFamily="34" charset="-128"/>
              </a:rPr>
              <a:t>”</a:t>
            </a:r>
            <a:r>
              <a:rPr lang="en-GB" altLang="en-TW" sz="1600">
                <a:latin typeface="Times New Roman" panose="02020603050405020304" pitchFamily="18" charset="0"/>
                <a:ea typeface="ＭＳ Ｐゴシック" panose="020B0600070205080204" pitchFamily="34" charset="-128"/>
              </a:rPr>
              <a:t> was poorly suited to solve.</a:t>
            </a:r>
          </a:p>
          <a:p>
            <a:pPr eaLnBrk="1" hangingPunct="1"/>
            <a:r>
              <a:rPr lang="en-GB" altLang="en-TW" sz="1600">
                <a:latin typeface="Times New Roman" panose="02020603050405020304" pitchFamily="18" charset="0"/>
                <a:ea typeface="ＭＳ Ｐゴシック" panose="020B0600070205080204" pitchFamily="34" charset="-128"/>
              </a:rPr>
              <a:t>[Continued on next slide] </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B1D7432-9DB0-D12E-A861-8A142C8C493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C1CC6F71-0FD7-B546-87E1-D16E61E99FAC}" type="slidenum">
              <a:rPr lang="en-CA" altLang="en-TW" sz="1200">
                <a:latin typeface="Tahoma" panose="020B0604030504040204" pitchFamily="34" charset="0"/>
              </a:rPr>
              <a:pPr eaLnBrk="1" hangingPunct="1"/>
              <a:t>63</a:t>
            </a:fld>
            <a:endParaRPr lang="en-CA" altLang="en-TW" sz="1200">
              <a:latin typeface="Tahoma" panose="020B0604030504040204" pitchFamily="34" charset="0"/>
            </a:endParaRPr>
          </a:p>
        </p:txBody>
      </p:sp>
      <p:sp>
        <p:nvSpPr>
          <p:cNvPr id="1036290" name="Rectangle 2">
            <a:extLst>
              <a:ext uri="{FF2B5EF4-FFF2-40B4-BE49-F238E27FC236}">
                <a16:creationId xmlns:a16="http://schemas.microsoft.com/office/drawing/2014/main" id="{00A30EC0-954C-A990-1BBC-613B486CE0A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6291" name="Rectangle 3">
            <a:extLst>
              <a:ext uri="{FF2B5EF4-FFF2-40B4-BE49-F238E27FC236}">
                <a16:creationId xmlns:a16="http://schemas.microsoft.com/office/drawing/2014/main" id="{09409D6B-5F2D-0ECB-EE93-001EDD8CD8D8}"/>
              </a:ext>
            </a:extLst>
          </p:cNvPr>
          <p:cNvSpPr>
            <a:spLocks noGrp="1" noChangeArrowheads="1"/>
          </p:cNvSpPr>
          <p:nvPr>
            <p:ph type="body" idx="1"/>
          </p:nvPr>
        </p:nvSpPr>
        <p:spPr>
          <a:xfrm>
            <a:off x="914400" y="4343400"/>
            <a:ext cx="5029200" cy="4419600"/>
          </a:xfrm>
        </p:spPr>
        <p:txBody>
          <a:bodyPr/>
          <a:lstStyle/>
          <a:p>
            <a:pPr eaLnBrk="1" hangingPunct="1">
              <a:lnSpc>
                <a:spcPct val="90000"/>
              </a:lnSpc>
            </a:pPr>
            <a:r>
              <a:rPr lang="en-GB" altLang="en-TW" sz="1600">
                <a:latin typeface="Times New Roman" panose="02020603050405020304" pitchFamily="18" charset="0"/>
                <a:ea typeface="ＭＳ Ｐゴシック" panose="020B0600070205080204" pitchFamily="34" charset="-128"/>
              </a:rPr>
              <a:t>In this environment, economists gladly welcomed the simple, short-run Phillips curve, for it gave them a handle on inflation. They believed that they could predict the unemployment rate from their standard model and then combine this unemployment rate with the Phillips curve to determine the resulting inflation rate. The vital assumption in this procedure is that the Phillips curve captures a fixed trade-off between the actual inflation rate and the unemployment rate that is part of the economy</a:t>
            </a:r>
            <a:r>
              <a:rPr lang="en-GB" altLang="en-US" sz="1600">
                <a:latin typeface="Times New Roman" panose="02020603050405020304" pitchFamily="18" charset="0"/>
                <a:ea typeface="ＭＳ Ｐゴシック" panose="020B0600070205080204" pitchFamily="34" charset="-128"/>
              </a:rPr>
              <a:t>’</a:t>
            </a:r>
            <a:r>
              <a:rPr lang="en-GB" altLang="en-TW" sz="1600">
                <a:latin typeface="Times New Roman" panose="02020603050405020304" pitchFamily="18" charset="0"/>
                <a:ea typeface="ＭＳ Ｐゴシック" panose="020B0600070205080204" pitchFamily="34" charset="-128"/>
              </a:rPr>
              <a:t>s structure. This type of analysis reached its peak of popularity during the early and middle 1960s. By 1967, however, it was under attack. On a theoretical level, economist Milton Friedman and others pointed out the flimsy justification behind the simple fixed Phillips curve assumption. On an empirical level, the simple fixed Phillips curve failed as the inflation rate rose toward the end of the 1960s and into the 1970s: the unemployment rate did not fall as predicted by the fixed Phillips curve.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4767F0-A4F7-6CD4-470E-004CF1AE94C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114BAAA-83AF-0C40-BEA2-18A1F94B0049}" type="slidenum">
              <a:rPr lang="en-CA" altLang="en-TW" sz="1200">
                <a:latin typeface="Tahoma" panose="020B0604030504040204" pitchFamily="34" charset="0"/>
              </a:rPr>
              <a:pPr eaLnBrk="1" hangingPunct="1"/>
              <a:t>64</a:t>
            </a:fld>
            <a:endParaRPr lang="en-CA" altLang="en-TW" sz="1200">
              <a:latin typeface="Tahoma" panose="020B0604030504040204" pitchFamily="34" charset="0"/>
            </a:endParaRPr>
          </a:p>
        </p:txBody>
      </p:sp>
      <p:sp>
        <p:nvSpPr>
          <p:cNvPr id="1037314" name="Rectangle 2">
            <a:extLst>
              <a:ext uri="{FF2B5EF4-FFF2-40B4-BE49-F238E27FC236}">
                <a16:creationId xmlns:a16="http://schemas.microsoft.com/office/drawing/2014/main" id="{3C43DE8D-8720-3F7D-A0D1-6FFDF78249B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37315" name="Rectangle 3">
            <a:extLst>
              <a:ext uri="{FF2B5EF4-FFF2-40B4-BE49-F238E27FC236}">
                <a16:creationId xmlns:a16="http://schemas.microsoft.com/office/drawing/2014/main" id="{7DB1E772-E4F2-CEB9-D051-9D5E2D5C4941}"/>
              </a:ext>
            </a:extLst>
          </p:cNvPr>
          <p:cNvSpPr>
            <a:spLocks noGrp="1" noChangeArrowheads="1"/>
          </p:cNvSpPr>
          <p:nvPr>
            <p:ph type="body" idx="1"/>
          </p:nvPr>
        </p:nvSpPr>
        <p:spPr/>
        <p:txBody>
          <a:bodyPr/>
          <a:lstStyle/>
          <a:p>
            <a:pPr eaLnBrk="1" hangingPunct="1"/>
            <a:r>
              <a:rPr lang="en-AU" altLang="en-TW">
                <a:latin typeface="Times New Roman" panose="02020603050405020304" pitchFamily="18" charset="0"/>
                <a:ea typeface="ＭＳ Ｐゴシック" panose="020B0600070205080204" pitchFamily="34" charset="-128"/>
              </a:rPr>
              <a:t>At this point the idea of a long-run Phillips curve (as distinct from the short-run one) was developed. The concept that aggregate supply is an important component of macroeconomics was taking hold, as was the idea that short-run Phillips curves shift because of changes in people</a:t>
            </a:r>
            <a:r>
              <a:rPr lang="en-AU" altLang="en-US">
                <a:latin typeface="Times New Roman" panose="02020603050405020304" pitchFamily="18" charset="0"/>
                <a:ea typeface="ＭＳ Ｐゴシック" panose="020B0600070205080204" pitchFamily="34" charset="-128"/>
              </a:rPr>
              <a:t>’</a:t>
            </a:r>
            <a:r>
              <a:rPr lang="en-AU" altLang="en-TW">
                <a:latin typeface="Times New Roman" panose="02020603050405020304" pitchFamily="18" charset="0"/>
                <a:ea typeface="ＭＳ Ｐゴシック" panose="020B0600070205080204" pitchFamily="34" charset="-128"/>
              </a:rPr>
              <a:t>s expectations. The profession has advanced significantly between the initial discussion of the Phillips curve and what students learn today. This advance was the result of the interaction between theory, suggesting that the idea of a fixed short-run Phillips curve was inadequate, and empirical work that reinforced the point that the simple, early approach was deficient.</a:t>
            </a:r>
            <a:r>
              <a:rPr lang="en-GB" altLang="en-TW">
                <a:latin typeface="Times New Roman" panose="02020603050405020304" pitchFamily="18" charset="0"/>
                <a:ea typeface="ＭＳ Ｐゴシック" panose="020B0600070205080204" pitchFamily="34" charset="-128"/>
              </a:rPr>
              <a:t> </a:t>
            </a:r>
          </a:p>
          <a:p>
            <a:pPr eaLnBrk="1" hangingPunct="1"/>
            <a:endParaRPr lang="en-GB" altLang="en-TW">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2EA872-34D6-EAE8-9421-82E15FE4F8C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F4188ADD-9197-8B48-9F6D-AFD6C88DEEAA}" type="slidenum">
              <a:rPr lang="en-CA" altLang="en-TW" sz="1200">
                <a:latin typeface="Tahoma" panose="020B0604030504040204" pitchFamily="34" charset="0"/>
              </a:rPr>
              <a:pPr eaLnBrk="1" hangingPunct="1"/>
              <a:t>65</a:t>
            </a:fld>
            <a:endParaRPr lang="en-CA" altLang="en-TW" sz="1200">
              <a:latin typeface="Tahoma" panose="020B0604030504040204" pitchFamily="34" charset="0"/>
            </a:endParaRPr>
          </a:p>
        </p:txBody>
      </p:sp>
      <p:sp>
        <p:nvSpPr>
          <p:cNvPr id="1054722" name="Rectangle 2">
            <a:extLst>
              <a:ext uri="{FF2B5EF4-FFF2-40B4-BE49-F238E27FC236}">
                <a16:creationId xmlns:a16="http://schemas.microsoft.com/office/drawing/2014/main" id="{BB3D21E5-B3A8-4E22-D83B-3D3CF4E38F9E}"/>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54723" name="Rectangle 3">
            <a:extLst>
              <a:ext uri="{FF2B5EF4-FFF2-40B4-BE49-F238E27FC236}">
                <a16:creationId xmlns:a16="http://schemas.microsoft.com/office/drawing/2014/main" id="{8DE3A44B-A234-EE7F-B981-67D130D01CC7}"/>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3A7B879-4791-B2FA-2B33-15F42517F8E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13FD8EB-7017-AC4B-B782-13787215F1A2}" type="slidenum">
              <a:rPr lang="en-CA" altLang="en-TW" sz="1200">
                <a:latin typeface="Tahoma" panose="020B0604030504040204" pitchFamily="34" charset="0"/>
              </a:rPr>
              <a:pPr eaLnBrk="1" hangingPunct="1"/>
              <a:t>66</a:t>
            </a:fld>
            <a:endParaRPr lang="en-CA" altLang="en-TW" sz="1200">
              <a:latin typeface="Tahoma" panose="020B0604030504040204" pitchFamily="34" charset="0"/>
            </a:endParaRPr>
          </a:p>
        </p:txBody>
      </p:sp>
      <p:sp>
        <p:nvSpPr>
          <p:cNvPr id="1055746" name="Rectangle 2">
            <a:extLst>
              <a:ext uri="{FF2B5EF4-FFF2-40B4-BE49-F238E27FC236}">
                <a16:creationId xmlns:a16="http://schemas.microsoft.com/office/drawing/2014/main" id="{62BCF588-B00F-8C59-1C11-BB4E17A8227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55747" name="Rectangle 3">
            <a:extLst>
              <a:ext uri="{FF2B5EF4-FFF2-40B4-BE49-F238E27FC236}">
                <a16:creationId xmlns:a16="http://schemas.microsoft.com/office/drawing/2014/main" id="{BEF1E541-8E7B-9C7E-C360-BCA3522AFCC5}"/>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89015E8-5655-A780-4585-E2137DAEE8A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00B3C0C-A5C2-F94A-9C77-2FE96258C2C3}" type="slidenum">
              <a:rPr lang="en-CA" altLang="en-TW" sz="1200">
                <a:latin typeface="Tahoma" panose="020B0604030504040204" pitchFamily="34" charset="0"/>
              </a:rPr>
              <a:pPr eaLnBrk="1" hangingPunct="1"/>
              <a:t>67</a:t>
            </a:fld>
            <a:endParaRPr lang="en-CA" altLang="en-TW" sz="1200">
              <a:latin typeface="Tahoma" panose="020B0604030504040204" pitchFamily="34" charset="0"/>
            </a:endParaRPr>
          </a:p>
        </p:txBody>
      </p:sp>
      <p:sp>
        <p:nvSpPr>
          <p:cNvPr id="1056770" name="Rectangle 2">
            <a:extLst>
              <a:ext uri="{FF2B5EF4-FFF2-40B4-BE49-F238E27FC236}">
                <a16:creationId xmlns:a16="http://schemas.microsoft.com/office/drawing/2014/main" id="{77BBA821-D660-A6CE-4495-84EE0F1F4B5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56771" name="Rectangle 3">
            <a:extLst>
              <a:ext uri="{FF2B5EF4-FFF2-40B4-BE49-F238E27FC236}">
                <a16:creationId xmlns:a16="http://schemas.microsoft.com/office/drawing/2014/main" id="{67BB00A4-C368-AA79-DC04-9B7614C1302E}"/>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33A366-CA4D-5FDA-6387-62AB78B8318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05EC5185-E690-5248-A001-C662B389F778}" type="slidenum">
              <a:rPr lang="en-CA" altLang="en-TW" sz="1200">
                <a:latin typeface="Tahoma" panose="020B0604030504040204" pitchFamily="34" charset="0"/>
              </a:rPr>
              <a:pPr eaLnBrk="1" hangingPunct="1"/>
              <a:t>68</a:t>
            </a:fld>
            <a:endParaRPr lang="en-CA" altLang="en-TW" sz="1200">
              <a:latin typeface="Tahoma" panose="020B0604030504040204" pitchFamily="34" charset="0"/>
            </a:endParaRPr>
          </a:p>
        </p:txBody>
      </p:sp>
      <p:sp>
        <p:nvSpPr>
          <p:cNvPr id="1057794" name="Rectangle 2">
            <a:extLst>
              <a:ext uri="{FF2B5EF4-FFF2-40B4-BE49-F238E27FC236}">
                <a16:creationId xmlns:a16="http://schemas.microsoft.com/office/drawing/2014/main" id="{D21B920B-2FCD-43D3-91DE-3E2581D9CBF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57795" name="Rectangle 3">
            <a:extLst>
              <a:ext uri="{FF2B5EF4-FFF2-40B4-BE49-F238E27FC236}">
                <a16:creationId xmlns:a16="http://schemas.microsoft.com/office/drawing/2014/main" id="{2BFDDE7B-E957-8B47-6552-E92CCC6BCA4A}"/>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47A675B-135A-D6E0-4728-71E377958DE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8EAEA1F-96D4-4947-AA65-06A22F64773F}" type="slidenum">
              <a:rPr lang="en-CA" altLang="en-TW" sz="1200">
                <a:latin typeface="Tahoma" panose="020B0604030504040204" pitchFamily="34" charset="0"/>
              </a:rPr>
              <a:pPr eaLnBrk="1" hangingPunct="1"/>
              <a:t>69</a:t>
            </a:fld>
            <a:endParaRPr lang="en-CA" altLang="en-TW" sz="1200">
              <a:latin typeface="Tahoma" panose="020B0604030504040204" pitchFamily="34" charset="0"/>
            </a:endParaRPr>
          </a:p>
        </p:txBody>
      </p:sp>
      <p:sp>
        <p:nvSpPr>
          <p:cNvPr id="1059842" name="Rectangle 2">
            <a:extLst>
              <a:ext uri="{FF2B5EF4-FFF2-40B4-BE49-F238E27FC236}">
                <a16:creationId xmlns:a16="http://schemas.microsoft.com/office/drawing/2014/main" id="{F416038B-00FE-9B48-BB64-2985D7E6437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59843" name="Rectangle 3">
            <a:extLst>
              <a:ext uri="{FF2B5EF4-FFF2-40B4-BE49-F238E27FC236}">
                <a16:creationId xmlns:a16="http://schemas.microsoft.com/office/drawing/2014/main" id="{24D97C7E-7943-E2CE-F26A-550EF6642DCB}"/>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D1BBE45-0A39-D5DE-33BD-4CC89B9F3FE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4FB62EC-5E65-B84B-97C8-BF13DE646FF7}" type="slidenum">
              <a:rPr lang="en-CA" altLang="en-TW" sz="1200">
                <a:latin typeface="Tahoma" panose="020B0604030504040204" pitchFamily="34" charset="0"/>
              </a:rPr>
              <a:pPr eaLnBrk="1" hangingPunct="1"/>
              <a:t>70</a:t>
            </a:fld>
            <a:endParaRPr lang="en-CA" altLang="en-TW" sz="1200">
              <a:latin typeface="Tahoma" panose="020B0604030504040204" pitchFamily="34" charset="0"/>
            </a:endParaRPr>
          </a:p>
        </p:txBody>
      </p:sp>
      <p:sp>
        <p:nvSpPr>
          <p:cNvPr id="1060866" name="Rectangle 2">
            <a:extLst>
              <a:ext uri="{FF2B5EF4-FFF2-40B4-BE49-F238E27FC236}">
                <a16:creationId xmlns:a16="http://schemas.microsoft.com/office/drawing/2014/main" id="{4D3E2962-F5EE-FBC8-DB97-25C432C7D7E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0867" name="Rectangle 3">
            <a:extLst>
              <a:ext uri="{FF2B5EF4-FFF2-40B4-BE49-F238E27FC236}">
                <a16:creationId xmlns:a16="http://schemas.microsoft.com/office/drawing/2014/main" id="{29DCEF03-C6B3-9C0A-FD17-ABA4B3B3B429}"/>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95C19AF-4FE7-2D06-EF64-9FD502685D12}"/>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27A80EF-D074-5143-9A35-B66A86179631}" type="slidenum">
              <a:rPr lang="en-CA" altLang="en-TW" sz="1200">
                <a:latin typeface="Tahoma" panose="020B0604030504040204" pitchFamily="34" charset="0"/>
              </a:rPr>
              <a:pPr eaLnBrk="1" hangingPunct="1"/>
              <a:t>71</a:t>
            </a:fld>
            <a:endParaRPr lang="en-CA" altLang="en-TW" sz="1200">
              <a:latin typeface="Tahoma" panose="020B0604030504040204" pitchFamily="34" charset="0"/>
            </a:endParaRPr>
          </a:p>
        </p:txBody>
      </p:sp>
      <p:sp>
        <p:nvSpPr>
          <p:cNvPr id="1061890" name="Rectangle 2">
            <a:extLst>
              <a:ext uri="{FF2B5EF4-FFF2-40B4-BE49-F238E27FC236}">
                <a16:creationId xmlns:a16="http://schemas.microsoft.com/office/drawing/2014/main" id="{D8AB799C-23A0-AC16-2535-6051702569D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1891" name="Rectangle 3">
            <a:extLst>
              <a:ext uri="{FF2B5EF4-FFF2-40B4-BE49-F238E27FC236}">
                <a16:creationId xmlns:a16="http://schemas.microsoft.com/office/drawing/2014/main" id="{A62F395D-0355-06F8-37AF-068688EB83AC}"/>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001521-3531-62E0-18CE-0A3FBFBC8A03}"/>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28228CA4-EEEA-2B4B-9D2E-D6FF31A6B15C}" type="slidenum">
              <a:rPr lang="en-CA" altLang="en-TW" sz="1200">
                <a:latin typeface="Tahoma" panose="020B0604030504040204" pitchFamily="34" charset="0"/>
              </a:rPr>
              <a:pPr eaLnBrk="1" hangingPunct="1"/>
              <a:t>72</a:t>
            </a:fld>
            <a:endParaRPr lang="en-CA" altLang="en-TW" sz="1200">
              <a:latin typeface="Tahoma" panose="020B0604030504040204" pitchFamily="34" charset="0"/>
            </a:endParaRPr>
          </a:p>
        </p:txBody>
      </p:sp>
      <p:sp>
        <p:nvSpPr>
          <p:cNvPr id="1062914" name="Rectangle 2">
            <a:extLst>
              <a:ext uri="{FF2B5EF4-FFF2-40B4-BE49-F238E27FC236}">
                <a16:creationId xmlns:a16="http://schemas.microsoft.com/office/drawing/2014/main" id="{46C92A49-F345-2C8E-DE2C-780ECEED49E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2915" name="Rectangle 3">
            <a:extLst>
              <a:ext uri="{FF2B5EF4-FFF2-40B4-BE49-F238E27FC236}">
                <a16:creationId xmlns:a16="http://schemas.microsoft.com/office/drawing/2014/main" id="{2177AA38-5DA7-8A12-33DD-4DA07C9A1AC6}"/>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8037A0-B90C-05B2-1D69-15A10D8AA34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54C4408-E1F8-A34F-929A-9E2E3E9DE4B8}" type="slidenum">
              <a:rPr lang="en-CA" altLang="en-TW" sz="1200">
                <a:latin typeface="Tahoma" panose="020B0604030504040204" pitchFamily="34" charset="0"/>
              </a:rPr>
              <a:pPr eaLnBrk="1" hangingPunct="1"/>
              <a:t>73</a:t>
            </a:fld>
            <a:endParaRPr lang="en-CA" altLang="en-TW" sz="1200">
              <a:latin typeface="Tahoma" panose="020B0604030504040204" pitchFamily="34" charset="0"/>
            </a:endParaRPr>
          </a:p>
        </p:txBody>
      </p:sp>
      <p:sp>
        <p:nvSpPr>
          <p:cNvPr id="1064962" name="Rectangle 2">
            <a:extLst>
              <a:ext uri="{FF2B5EF4-FFF2-40B4-BE49-F238E27FC236}">
                <a16:creationId xmlns:a16="http://schemas.microsoft.com/office/drawing/2014/main" id="{94E87B8D-2636-410D-495D-1CC01650EA35}"/>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4963" name="Rectangle 3">
            <a:extLst>
              <a:ext uri="{FF2B5EF4-FFF2-40B4-BE49-F238E27FC236}">
                <a16:creationId xmlns:a16="http://schemas.microsoft.com/office/drawing/2014/main" id="{44E067E6-C9EB-7549-6975-880691EF7C5C}"/>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044553A-CBC4-0BC4-187F-037D59E21EB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D8A0A17-BD16-9A42-A1C4-81C3165CD307}" type="slidenum">
              <a:rPr lang="en-CA" altLang="en-TW" sz="1200">
                <a:latin typeface="Tahoma" panose="020B0604030504040204" pitchFamily="34" charset="0"/>
              </a:rPr>
              <a:pPr eaLnBrk="1" hangingPunct="1"/>
              <a:t>74</a:t>
            </a:fld>
            <a:endParaRPr lang="en-CA" altLang="en-TW" sz="1200">
              <a:latin typeface="Tahoma" panose="020B0604030504040204" pitchFamily="34" charset="0"/>
            </a:endParaRPr>
          </a:p>
        </p:txBody>
      </p:sp>
      <p:sp>
        <p:nvSpPr>
          <p:cNvPr id="1065986" name="Rectangle 2">
            <a:extLst>
              <a:ext uri="{FF2B5EF4-FFF2-40B4-BE49-F238E27FC236}">
                <a16:creationId xmlns:a16="http://schemas.microsoft.com/office/drawing/2014/main" id="{65FEAB40-BFAF-B5A6-91E5-0BDE287C8D1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5987" name="Rectangle 3">
            <a:extLst>
              <a:ext uri="{FF2B5EF4-FFF2-40B4-BE49-F238E27FC236}">
                <a16:creationId xmlns:a16="http://schemas.microsoft.com/office/drawing/2014/main" id="{247D77A9-70E2-D47D-D13A-02C4A1000FF0}"/>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7A45675-8036-B445-912F-161DA132C1E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E779F306-0284-DA4B-B51E-FA350D2DDEF9}" type="slidenum">
              <a:rPr lang="en-CA" altLang="en-TW" sz="1200">
                <a:latin typeface="Tahoma" panose="020B0604030504040204" pitchFamily="34" charset="0"/>
              </a:rPr>
              <a:pPr eaLnBrk="1" hangingPunct="1"/>
              <a:t>76</a:t>
            </a:fld>
            <a:endParaRPr lang="en-CA" altLang="en-TW" sz="1200">
              <a:latin typeface="Tahoma" panose="020B0604030504040204" pitchFamily="34" charset="0"/>
            </a:endParaRPr>
          </a:p>
        </p:txBody>
      </p:sp>
      <p:sp>
        <p:nvSpPr>
          <p:cNvPr id="1067010" name="Rectangle 2">
            <a:extLst>
              <a:ext uri="{FF2B5EF4-FFF2-40B4-BE49-F238E27FC236}">
                <a16:creationId xmlns:a16="http://schemas.microsoft.com/office/drawing/2014/main" id="{3BE97BF3-28F1-0CA7-CAE2-B76057B9D16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7011" name="Rectangle 3">
            <a:extLst>
              <a:ext uri="{FF2B5EF4-FFF2-40B4-BE49-F238E27FC236}">
                <a16:creationId xmlns:a16="http://schemas.microsoft.com/office/drawing/2014/main" id="{29A9FF8B-362C-DC3A-012B-D3737778358F}"/>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451641F-056F-D300-6ED8-16934D7AF90F}"/>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29A3BD8-7C0F-0643-8C93-D989120DFE8F}" type="slidenum">
              <a:rPr lang="en-CA" altLang="en-TW" sz="1200">
                <a:latin typeface="Tahoma" panose="020B0604030504040204" pitchFamily="34" charset="0"/>
              </a:rPr>
              <a:pPr eaLnBrk="1" hangingPunct="1"/>
              <a:t>77</a:t>
            </a:fld>
            <a:endParaRPr lang="en-CA" altLang="en-TW" sz="1200">
              <a:latin typeface="Tahoma" panose="020B0604030504040204" pitchFamily="34" charset="0"/>
            </a:endParaRPr>
          </a:p>
        </p:txBody>
      </p:sp>
      <p:sp>
        <p:nvSpPr>
          <p:cNvPr id="1068034" name="Rectangle 2">
            <a:extLst>
              <a:ext uri="{FF2B5EF4-FFF2-40B4-BE49-F238E27FC236}">
                <a16:creationId xmlns:a16="http://schemas.microsoft.com/office/drawing/2014/main" id="{A0981AE6-0D55-2764-8571-7AA36AC0DEDB}"/>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68035" name="Rectangle 3">
            <a:extLst>
              <a:ext uri="{FF2B5EF4-FFF2-40B4-BE49-F238E27FC236}">
                <a16:creationId xmlns:a16="http://schemas.microsoft.com/office/drawing/2014/main" id="{661B0F27-0A3F-9FD9-27BC-EE7045CB8062}"/>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44989E4-C44E-A80C-E79D-95A9C4E7DA5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D7FEED-F66D-0241-91AF-3B04A30928BF}" type="slidenum">
              <a:rPr lang="en-CA" altLang="en-TW" sz="1200">
                <a:latin typeface="Tahoma" panose="020B0604030504040204" pitchFamily="34" charset="0"/>
              </a:rPr>
              <a:pPr eaLnBrk="1" hangingPunct="1"/>
              <a:t>78</a:t>
            </a:fld>
            <a:endParaRPr lang="en-CA" altLang="en-TW" sz="1200">
              <a:latin typeface="Tahoma" panose="020B0604030504040204" pitchFamily="34" charset="0"/>
            </a:endParaRPr>
          </a:p>
        </p:txBody>
      </p:sp>
      <p:sp>
        <p:nvSpPr>
          <p:cNvPr id="1070082" name="Rectangle 2">
            <a:extLst>
              <a:ext uri="{FF2B5EF4-FFF2-40B4-BE49-F238E27FC236}">
                <a16:creationId xmlns:a16="http://schemas.microsoft.com/office/drawing/2014/main" id="{D49FF1DB-ACBF-532E-D8DB-31C08E654E43}"/>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0083" name="Rectangle 3">
            <a:extLst>
              <a:ext uri="{FF2B5EF4-FFF2-40B4-BE49-F238E27FC236}">
                <a16:creationId xmlns:a16="http://schemas.microsoft.com/office/drawing/2014/main" id="{719472A2-ED6E-A60B-C558-96E2CEE86AEF}"/>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0AFCE2-A3F0-8FE3-2934-8620C6150F2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347DE5F-0BEC-D24E-8BF6-19BD634FE0CD}" type="slidenum">
              <a:rPr lang="en-CA" altLang="en-TW" sz="1200">
                <a:latin typeface="Tahoma" panose="020B0604030504040204" pitchFamily="34" charset="0"/>
              </a:rPr>
              <a:pPr eaLnBrk="1" hangingPunct="1"/>
              <a:t>79</a:t>
            </a:fld>
            <a:endParaRPr lang="en-CA" altLang="en-TW" sz="1200">
              <a:latin typeface="Tahoma" panose="020B0604030504040204" pitchFamily="34" charset="0"/>
            </a:endParaRPr>
          </a:p>
        </p:txBody>
      </p:sp>
      <p:sp>
        <p:nvSpPr>
          <p:cNvPr id="1075202" name="Rectangle 2">
            <a:extLst>
              <a:ext uri="{FF2B5EF4-FFF2-40B4-BE49-F238E27FC236}">
                <a16:creationId xmlns:a16="http://schemas.microsoft.com/office/drawing/2014/main" id="{87A5B185-7BF2-9821-744C-07C7097D3CD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5203" name="Rectangle 3">
            <a:extLst>
              <a:ext uri="{FF2B5EF4-FFF2-40B4-BE49-F238E27FC236}">
                <a16:creationId xmlns:a16="http://schemas.microsoft.com/office/drawing/2014/main" id="{8F41F3FA-3880-F705-68DB-E446D9EBBA67}"/>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4BD601-60D6-52B1-81F9-9EFE80F1319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61DE225-8A78-0046-B379-A881A2A7DE83}" type="slidenum">
              <a:rPr lang="en-CA" altLang="en-TW" sz="1200">
                <a:latin typeface="Tahoma" panose="020B0604030504040204" pitchFamily="34" charset="0"/>
              </a:rPr>
              <a:pPr eaLnBrk="1" hangingPunct="1"/>
              <a:t>80</a:t>
            </a:fld>
            <a:endParaRPr lang="en-CA" altLang="en-TW" sz="1200">
              <a:latin typeface="Tahoma" panose="020B0604030504040204" pitchFamily="34" charset="0"/>
            </a:endParaRPr>
          </a:p>
        </p:txBody>
      </p:sp>
      <p:sp>
        <p:nvSpPr>
          <p:cNvPr id="1076226" name="Rectangle 2">
            <a:extLst>
              <a:ext uri="{FF2B5EF4-FFF2-40B4-BE49-F238E27FC236}">
                <a16:creationId xmlns:a16="http://schemas.microsoft.com/office/drawing/2014/main" id="{F8103C57-E5DF-B706-E5F6-81D5ACA86A4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6227" name="Rectangle 3">
            <a:extLst>
              <a:ext uri="{FF2B5EF4-FFF2-40B4-BE49-F238E27FC236}">
                <a16:creationId xmlns:a16="http://schemas.microsoft.com/office/drawing/2014/main" id="{9D073648-BFBA-65B5-E1D6-4DD2DEB77121}"/>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4FE73EE-61A5-E593-784E-80A03B277FC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1FCB0E4B-FD64-7745-A2FE-D6A3E693D8C7}" type="slidenum">
              <a:rPr lang="en-CA" altLang="en-TW" sz="1200">
                <a:latin typeface="Tahoma" panose="020B0604030504040204" pitchFamily="34" charset="0"/>
              </a:rPr>
              <a:pPr eaLnBrk="1" hangingPunct="1"/>
              <a:t>81</a:t>
            </a:fld>
            <a:endParaRPr lang="en-CA" altLang="en-TW" sz="1200">
              <a:latin typeface="Tahoma" panose="020B0604030504040204" pitchFamily="34" charset="0"/>
            </a:endParaRPr>
          </a:p>
        </p:txBody>
      </p:sp>
      <p:sp>
        <p:nvSpPr>
          <p:cNvPr id="1078274" name="Rectangle 2">
            <a:extLst>
              <a:ext uri="{FF2B5EF4-FFF2-40B4-BE49-F238E27FC236}">
                <a16:creationId xmlns:a16="http://schemas.microsoft.com/office/drawing/2014/main" id="{8E407B28-EBA9-C971-5FED-825BFC30BF4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8275" name="Rectangle 3">
            <a:extLst>
              <a:ext uri="{FF2B5EF4-FFF2-40B4-BE49-F238E27FC236}">
                <a16:creationId xmlns:a16="http://schemas.microsoft.com/office/drawing/2014/main" id="{02F6610C-32E9-12DF-5E8C-1B2BA7FA4CB6}"/>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8298589-6C89-C6AF-365B-F7ABAC19937A}"/>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D3802E6-455E-634A-911C-18CD48A3A228}" type="slidenum">
              <a:rPr lang="en-CA" altLang="en-TW" sz="1200">
                <a:latin typeface="Tahoma" panose="020B0604030504040204" pitchFamily="34" charset="0"/>
              </a:rPr>
              <a:pPr eaLnBrk="1" hangingPunct="1"/>
              <a:t>82</a:t>
            </a:fld>
            <a:endParaRPr lang="en-CA" altLang="en-TW" sz="1200">
              <a:latin typeface="Tahoma" panose="020B0604030504040204" pitchFamily="34" charset="0"/>
            </a:endParaRPr>
          </a:p>
        </p:txBody>
      </p:sp>
      <p:sp>
        <p:nvSpPr>
          <p:cNvPr id="1079298" name="Rectangle 2">
            <a:extLst>
              <a:ext uri="{FF2B5EF4-FFF2-40B4-BE49-F238E27FC236}">
                <a16:creationId xmlns:a16="http://schemas.microsoft.com/office/drawing/2014/main" id="{39E53827-D18A-4EE1-69C1-D3B31222010C}"/>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9299" name="Rectangle 3">
            <a:extLst>
              <a:ext uri="{FF2B5EF4-FFF2-40B4-BE49-F238E27FC236}">
                <a16:creationId xmlns:a16="http://schemas.microsoft.com/office/drawing/2014/main" id="{7868C0DD-FFC1-D9C6-B57A-9F6B182D7C95}"/>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22DF42-FEE4-DB51-161B-A36820FD7A15}"/>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6AB02EEE-0DF7-7943-8CAD-BD5E9FC955DC}" type="slidenum">
              <a:rPr lang="en-CA" altLang="en-TW" sz="1200">
                <a:latin typeface="Tahoma" panose="020B0604030504040204" pitchFamily="34" charset="0"/>
              </a:rPr>
              <a:pPr eaLnBrk="1" hangingPunct="1"/>
              <a:t>83</a:t>
            </a:fld>
            <a:endParaRPr lang="en-CA" altLang="en-TW" sz="1200">
              <a:latin typeface="Tahoma" panose="020B0604030504040204" pitchFamily="34" charset="0"/>
            </a:endParaRPr>
          </a:p>
        </p:txBody>
      </p:sp>
      <p:sp>
        <p:nvSpPr>
          <p:cNvPr id="1080322" name="Rectangle 2">
            <a:extLst>
              <a:ext uri="{FF2B5EF4-FFF2-40B4-BE49-F238E27FC236}">
                <a16:creationId xmlns:a16="http://schemas.microsoft.com/office/drawing/2014/main" id="{7A31DA17-DE5F-166E-4DBA-07E63EEFDA07}"/>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0323" name="Rectangle 3">
            <a:extLst>
              <a:ext uri="{FF2B5EF4-FFF2-40B4-BE49-F238E27FC236}">
                <a16:creationId xmlns:a16="http://schemas.microsoft.com/office/drawing/2014/main" id="{FDD9C9B9-6B5F-5C83-2AB7-FC33252BB658}"/>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69EAAAF-C09C-E3D0-239B-C8DB00B74B0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396C9B1-DD29-4646-A79E-3927257E505E}" type="slidenum">
              <a:rPr lang="en-CA" altLang="en-TW" sz="1200">
                <a:latin typeface="Tahoma" panose="020B0604030504040204" pitchFamily="34" charset="0"/>
              </a:rPr>
              <a:pPr eaLnBrk="1" hangingPunct="1"/>
              <a:t>84</a:t>
            </a:fld>
            <a:endParaRPr lang="en-CA" altLang="en-TW" sz="1200">
              <a:latin typeface="Tahoma" panose="020B0604030504040204" pitchFamily="34" charset="0"/>
            </a:endParaRPr>
          </a:p>
        </p:txBody>
      </p:sp>
      <p:sp>
        <p:nvSpPr>
          <p:cNvPr id="1082370" name="Rectangle 2">
            <a:extLst>
              <a:ext uri="{FF2B5EF4-FFF2-40B4-BE49-F238E27FC236}">
                <a16:creationId xmlns:a16="http://schemas.microsoft.com/office/drawing/2014/main" id="{29E42355-83B2-086B-F85D-FB7FA7E2A10A}"/>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2371" name="Rectangle 3">
            <a:extLst>
              <a:ext uri="{FF2B5EF4-FFF2-40B4-BE49-F238E27FC236}">
                <a16:creationId xmlns:a16="http://schemas.microsoft.com/office/drawing/2014/main" id="{66355BA7-90F5-842C-13B7-3DAB15D531DB}"/>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434AD4-4BB1-4586-CDF1-31A5BB8346BC}"/>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B893C891-CEA7-754B-9B90-4EFD7874BC09}" type="slidenum">
              <a:rPr lang="en-CA" altLang="en-TW" sz="1200">
                <a:latin typeface="Tahoma" panose="020B0604030504040204" pitchFamily="34" charset="0"/>
              </a:rPr>
              <a:pPr eaLnBrk="1" hangingPunct="1"/>
              <a:t>85</a:t>
            </a:fld>
            <a:endParaRPr lang="en-CA" altLang="en-TW" sz="1200">
              <a:latin typeface="Tahoma" panose="020B0604030504040204" pitchFamily="34" charset="0"/>
            </a:endParaRPr>
          </a:p>
        </p:txBody>
      </p:sp>
      <p:sp>
        <p:nvSpPr>
          <p:cNvPr id="1083394" name="Rectangle 2">
            <a:extLst>
              <a:ext uri="{FF2B5EF4-FFF2-40B4-BE49-F238E27FC236}">
                <a16:creationId xmlns:a16="http://schemas.microsoft.com/office/drawing/2014/main" id="{A2F442AB-8677-0BBB-004C-34DEE4AE93B1}"/>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3395" name="Rectangle 3">
            <a:extLst>
              <a:ext uri="{FF2B5EF4-FFF2-40B4-BE49-F238E27FC236}">
                <a16:creationId xmlns:a16="http://schemas.microsoft.com/office/drawing/2014/main" id="{32041A07-1053-6F60-867C-BE9738987ED4}"/>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89A939B-41F7-1163-5BCD-98C2221D0C4E}"/>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48DFF060-6C9A-B341-841F-30CB70968C32}" type="slidenum">
              <a:rPr lang="en-CA" altLang="en-TW" sz="1200">
                <a:latin typeface="Tahoma" panose="020B0604030504040204" pitchFamily="34" charset="0"/>
              </a:rPr>
              <a:pPr eaLnBrk="1" hangingPunct="1"/>
              <a:t>86</a:t>
            </a:fld>
            <a:endParaRPr lang="en-CA" altLang="en-TW" sz="1200">
              <a:latin typeface="Tahoma" panose="020B0604030504040204" pitchFamily="34" charset="0"/>
            </a:endParaRPr>
          </a:p>
        </p:txBody>
      </p:sp>
      <p:sp>
        <p:nvSpPr>
          <p:cNvPr id="1085442" name="Rectangle 2">
            <a:extLst>
              <a:ext uri="{FF2B5EF4-FFF2-40B4-BE49-F238E27FC236}">
                <a16:creationId xmlns:a16="http://schemas.microsoft.com/office/drawing/2014/main" id="{EE355585-FA72-0BBE-E868-4CDD2233C483}"/>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5443" name="Rectangle 3">
            <a:extLst>
              <a:ext uri="{FF2B5EF4-FFF2-40B4-BE49-F238E27FC236}">
                <a16:creationId xmlns:a16="http://schemas.microsoft.com/office/drawing/2014/main" id="{F3DCF277-5290-78B0-2794-41E43CA0F2D0}"/>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D47E86E-4F8A-70D4-7FCA-CD25F69DA3B1}"/>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D1286857-A558-E247-8ECC-A6BEC6DB0822}" type="slidenum">
              <a:rPr lang="en-CA" altLang="en-TW" sz="1200">
                <a:latin typeface="Tahoma" panose="020B0604030504040204" pitchFamily="34" charset="0"/>
              </a:rPr>
              <a:pPr eaLnBrk="1" hangingPunct="1"/>
              <a:t>87</a:t>
            </a:fld>
            <a:endParaRPr lang="en-CA" altLang="en-TW" sz="1200">
              <a:latin typeface="Tahoma" panose="020B0604030504040204" pitchFamily="34" charset="0"/>
            </a:endParaRPr>
          </a:p>
        </p:txBody>
      </p:sp>
      <p:sp>
        <p:nvSpPr>
          <p:cNvPr id="1089538" name="Rectangle 2">
            <a:extLst>
              <a:ext uri="{FF2B5EF4-FFF2-40B4-BE49-F238E27FC236}">
                <a16:creationId xmlns:a16="http://schemas.microsoft.com/office/drawing/2014/main" id="{89C2C737-3F0A-85A3-798F-FDA3404BFD14}"/>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89539" name="Rectangle 3">
            <a:extLst>
              <a:ext uri="{FF2B5EF4-FFF2-40B4-BE49-F238E27FC236}">
                <a16:creationId xmlns:a16="http://schemas.microsoft.com/office/drawing/2014/main" id="{5543D328-C92C-AD3C-F231-C14C209B8D00}"/>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807BB8C-D7E7-27C0-4EA8-55189D865B86}"/>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F8FF8AA-C5BB-8D4D-BD2D-3B23FD7EE9CF}" type="slidenum">
              <a:rPr lang="en-CA" altLang="en-TW" sz="1200">
                <a:latin typeface="Tahoma" panose="020B0604030504040204" pitchFamily="34" charset="0"/>
              </a:rPr>
              <a:pPr eaLnBrk="1" hangingPunct="1"/>
              <a:t>88</a:t>
            </a:fld>
            <a:endParaRPr lang="en-CA" altLang="en-TW" sz="1200">
              <a:latin typeface="Tahoma" panose="020B0604030504040204" pitchFamily="34" charset="0"/>
            </a:endParaRPr>
          </a:p>
        </p:txBody>
      </p:sp>
      <p:sp>
        <p:nvSpPr>
          <p:cNvPr id="1090562" name="Rectangle 2">
            <a:extLst>
              <a:ext uri="{FF2B5EF4-FFF2-40B4-BE49-F238E27FC236}">
                <a16:creationId xmlns:a16="http://schemas.microsoft.com/office/drawing/2014/main" id="{60599F2B-77C5-8084-01B7-2E65A5A8B778}"/>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0563" name="Rectangle 3">
            <a:extLst>
              <a:ext uri="{FF2B5EF4-FFF2-40B4-BE49-F238E27FC236}">
                <a16:creationId xmlns:a16="http://schemas.microsoft.com/office/drawing/2014/main" id="{9013A059-5B22-0697-505A-1A0A4EBB3586}"/>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CC169C-FCB1-6CF2-5B7B-3169A3952CE7}"/>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429353D-2F21-9047-9970-763A964E8D91}" type="slidenum">
              <a:rPr lang="en-CA" altLang="en-TW" sz="1200">
                <a:latin typeface="Tahoma" panose="020B0604030504040204" pitchFamily="34" charset="0"/>
              </a:rPr>
              <a:pPr eaLnBrk="1" hangingPunct="1"/>
              <a:t>89</a:t>
            </a:fld>
            <a:endParaRPr lang="en-CA" altLang="en-TW" sz="1200">
              <a:latin typeface="Tahoma" panose="020B0604030504040204" pitchFamily="34" charset="0"/>
            </a:endParaRPr>
          </a:p>
        </p:txBody>
      </p:sp>
      <p:sp>
        <p:nvSpPr>
          <p:cNvPr id="1092610" name="Rectangle 2">
            <a:extLst>
              <a:ext uri="{FF2B5EF4-FFF2-40B4-BE49-F238E27FC236}">
                <a16:creationId xmlns:a16="http://schemas.microsoft.com/office/drawing/2014/main" id="{234B5E9C-5D41-299F-F9C5-CFD7C5CC73A0}"/>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2611" name="Rectangle 3">
            <a:extLst>
              <a:ext uri="{FF2B5EF4-FFF2-40B4-BE49-F238E27FC236}">
                <a16:creationId xmlns:a16="http://schemas.microsoft.com/office/drawing/2014/main" id="{C26FBFEE-A708-2D12-A3D5-3EAD2F79C4BC}"/>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1D3D7BF-EA4D-854B-9149-7B7EA78D3598}"/>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824FAD86-41E9-AF4A-B556-1EA948A8CF03}" type="slidenum">
              <a:rPr lang="en-CA" altLang="en-TW" sz="1200">
                <a:latin typeface="Tahoma" panose="020B0604030504040204" pitchFamily="34" charset="0"/>
              </a:rPr>
              <a:pPr eaLnBrk="1" hangingPunct="1"/>
              <a:t>90</a:t>
            </a:fld>
            <a:endParaRPr lang="en-CA" altLang="en-TW" sz="1200">
              <a:latin typeface="Tahoma" panose="020B0604030504040204" pitchFamily="34" charset="0"/>
            </a:endParaRPr>
          </a:p>
        </p:txBody>
      </p:sp>
      <p:sp>
        <p:nvSpPr>
          <p:cNvPr id="1091586" name="Rectangle 2">
            <a:extLst>
              <a:ext uri="{FF2B5EF4-FFF2-40B4-BE49-F238E27FC236}">
                <a16:creationId xmlns:a16="http://schemas.microsoft.com/office/drawing/2014/main" id="{B4185CFC-E80C-3665-4FEA-392880227A19}"/>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1587" name="Rectangle 3">
            <a:extLst>
              <a:ext uri="{FF2B5EF4-FFF2-40B4-BE49-F238E27FC236}">
                <a16:creationId xmlns:a16="http://schemas.microsoft.com/office/drawing/2014/main" id="{B9A6E581-71F9-4586-2F5A-A29546625090}"/>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1353BB-B12A-BB46-0C16-16D08734D079}"/>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562C6640-9FD9-004B-AC96-67CB77B56CF9}" type="slidenum">
              <a:rPr lang="en-CA" altLang="en-TW" sz="1200">
                <a:latin typeface="Tahoma" panose="020B0604030504040204" pitchFamily="34" charset="0"/>
              </a:rPr>
              <a:pPr eaLnBrk="1" hangingPunct="1"/>
              <a:t>91</a:t>
            </a:fld>
            <a:endParaRPr lang="en-CA" altLang="en-TW" sz="1200">
              <a:latin typeface="Tahoma" panose="020B0604030504040204" pitchFamily="34" charset="0"/>
            </a:endParaRPr>
          </a:p>
        </p:txBody>
      </p:sp>
      <p:sp>
        <p:nvSpPr>
          <p:cNvPr id="1094658" name="Rectangle 2">
            <a:extLst>
              <a:ext uri="{FF2B5EF4-FFF2-40B4-BE49-F238E27FC236}">
                <a16:creationId xmlns:a16="http://schemas.microsoft.com/office/drawing/2014/main" id="{C2110BFD-BBDE-4677-F664-498EAC565A53}"/>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4659" name="Rectangle 3">
            <a:extLst>
              <a:ext uri="{FF2B5EF4-FFF2-40B4-BE49-F238E27FC236}">
                <a16:creationId xmlns:a16="http://schemas.microsoft.com/office/drawing/2014/main" id="{952794EA-B863-529F-5F39-33A6E41A1766}"/>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31F074-5024-6321-59CF-2C05537240C0}"/>
              </a:ext>
            </a:extLst>
          </p:cNvPr>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A72FCEB1-9655-0D42-8405-5167BA06F3B2}" type="slidenum">
              <a:rPr lang="en-CA" altLang="en-TW" sz="1200">
                <a:latin typeface="Tahoma" panose="020B0604030504040204" pitchFamily="34" charset="0"/>
              </a:rPr>
              <a:pPr eaLnBrk="1" hangingPunct="1"/>
              <a:t>92</a:t>
            </a:fld>
            <a:endParaRPr lang="en-CA" altLang="en-TW" sz="1200">
              <a:latin typeface="Tahoma" panose="020B0604030504040204" pitchFamily="34" charset="0"/>
            </a:endParaRPr>
          </a:p>
        </p:txBody>
      </p:sp>
      <p:sp>
        <p:nvSpPr>
          <p:cNvPr id="1096706" name="Rectangle 2">
            <a:extLst>
              <a:ext uri="{FF2B5EF4-FFF2-40B4-BE49-F238E27FC236}">
                <a16:creationId xmlns:a16="http://schemas.microsoft.com/office/drawing/2014/main" id="{02A8BA62-C3F5-D04B-E39A-21EF95CA882F}"/>
              </a:ext>
            </a:extLst>
          </p:cNvPr>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96707" name="Rectangle 3">
            <a:extLst>
              <a:ext uri="{FF2B5EF4-FFF2-40B4-BE49-F238E27FC236}">
                <a16:creationId xmlns:a16="http://schemas.microsoft.com/office/drawing/2014/main" id="{A69D925F-151E-968E-BA8C-30F175276797}"/>
              </a:ext>
            </a:extLst>
          </p:cNvPr>
          <p:cNvSpPr>
            <a:spLocks noGrp="1" noChangeArrowheads="1"/>
          </p:cNvSpPr>
          <p:nvPr>
            <p:ph type="body" idx="1"/>
          </p:nvPr>
        </p:nvSpPr>
        <p:spPr/>
        <p:txBody>
          <a:bodyPr/>
          <a:lstStyle/>
          <a:p>
            <a:pPr eaLnBrk="1" hangingPunct="1">
              <a:defRPr/>
            </a:pPr>
            <a:endParaRPr lang="en-US">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571805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743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08420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5632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83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6657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245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3888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4300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891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307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a:prstGeom prst="rect">
            <a:avLst/>
          </a:prstGeom>
        </p:spPr>
        <p:txBody>
          <a:bodyPr anchor="t"/>
          <a:lstStyle/>
          <a:p>
            <a:r>
              <a:rPr lang="en-US" dirty="0"/>
              <a:t>Click to edit Master title style</a:t>
            </a:r>
          </a:p>
        </p:txBody>
      </p:sp>
      <p:sp>
        <p:nvSpPr>
          <p:cNvPr id="7" name="Text Placeholder 6"/>
          <p:cNvSpPr>
            <a:spLocks noGrp="1"/>
          </p:cNvSpPr>
          <p:nvPr>
            <p:ph type="body" sz="quarter" idx="13"/>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Text Placeholder 8"/>
          <p:cNvSpPr>
            <a:spLocks noGrp="1"/>
          </p:cNvSpPr>
          <p:nvPr>
            <p:ph type="body" sz="quarter" idx="14"/>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a:t>Click to edit Master text styles</a:t>
            </a:r>
          </a:p>
        </p:txBody>
      </p:sp>
      <p:sp>
        <p:nvSpPr>
          <p:cNvPr id="10" name="Text Placeholder 8"/>
          <p:cNvSpPr>
            <a:spLocks noGrp="1"/>
          </p:cNvSpPr>
          <p:nvPr>
            <p:ph type="body" sz="quarter" idx="15"/>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Click to edit Master text styles</a:t>
            </a:r>
          </a:p>
        </p:txBody>
      </p:sp>
      <p:sp>
        <p:nvSpPr>
          <p:cNvPr id="6" name="Footer Placeholder 2"/>
          <p:cNvSpPr>
            <a:spLocks noGrp="1"/>
          </p:cNvSpPr>
          <p:nvPr>
            <p:ph type="ftr" sz="quarter" idx="16"/>
          </p:nvPr>
        </p:nvSpPr>
        <p:spPr>
          <a:xfrm>
            <a:off x="93663" y="6165850"/>
            <a:ext cx="8596312" cy="234950"/>
          </a:xfrm>
          <a:prstGeom prst="rect">
            <a:avLst/>
          </a:prstGeom>
        </p:spPr>
        <p:txBody>
          <a:bodyPr/>
          <a:lstStyle>
            <a:lvl1pPr eaLnBrk="1" hangingPunct="1">
              <a:defRPr sz="2400">
                <a:solidFill>
                  <a:srgbClr val="000000"/>
                </a:solidFill>
                <a:latin typeface="Times" charset="0"/>
                <a:ea typeface="MS PGothic" pitchFamily="34" charset="-128"/>
                <a:cs typeface="+mn-cs"/>
              </a:defRPr>
            </a:lvl1pPr>
          </a:lstStyle>
          <a:p>
            <a:pPr>
              <a:defRPr/>
            </a:pPr>
            <a:endParaRPr lang="en-US"/>
          </a:p>
        </p:txBody>
      </p:sp>
      <p:sp>
        <p:nvSpPr>
          <p:cNvPr id="8" name="Date Placeholder 3"/>
          <p:cNvSpPr>
            <a:spLocks noGrp="1"/>
          </p:cNvSpPr>
          <p:nvPr>
            <p:ph type="dt" sz="half" idx="17"/>
          </p:nvPr>
        </p:nvSpPr>
        <p:spPr>
          <a:xfrm>
            <a:off x="6335713" y="112713"/>
            <a:ext cx="2133600" cy="182562"/>
          </a:xfrm>
          <a:prstGeom prst="rect">
            <a:avLst/>
          </a:prstGeom>
        </p:spPr>
        <p:txBody>
          <a:bodyPr/>
          <a:lstStyle>
            <a:lvl1pPr eaLnBrk="1" hangingPunct="1">
              <a:defRPr sz="2400">
                <a:solidFill>
                  <a:srgbClr val="000000"/>
                </a:solidFill>
                <a:latin typeface="Times" charset="0"/>
                <a:ea typeface="MS PGothic" pitchFamily="34" charset="-128"/>
                <a:cs typeface="+mn-cs"/>
              </a:defRPr>
            </a:lvl1pPr>
          </a:lstStyle>
          <a:p>
            <a:pPr>
              <a:defRPr/>
            </a:pPr>
            <a:fld id="{9A969A0D-5DF0-455E-920E-DB858AE69123}" type="datetimeFigureOut">
              <a:rPr lang="en-US"/>
              <a:pPr>
                <a:defRPr/>
              </a:pPr>
              <a:t>2/25/26</a:t>
            </a:fld>
            <a:endParaRPr lang="en-US" dirty="0"/>
          </a:p>
        </p:txBody>
      </p:sp>
      <p:sp>
        <p:nvSpPr>
          <p:cNvPr id="12" name="Slide Number Placeholder 4"/>
          <p:cNvSpPr>
            <a:spLocks noGrp="1"/>
          </p:cNvSpPr>
          <p:nvPr>
            <p:ph type="sldNum" sz="quarter" idx="18"/>
          </p:nvPr>
        </p:nvSpPr>
        <p:spPr>
          <a:xfrm>
            <a:off x="8469313" y="112713"/>
            <a:ext cx="552450" cy="182562"/>
          </a:xfrm>
          <a:prstGeom prst="rect">
            <a:avLst/>
          </a:prstGeom>
        </p:spPr>
        <p:txBody>
          <a:bodyPr vert="horz" wrap="square" lIns="91440" tIns="45720" rIns="91440" bIns="45720" numCol="1" anchor="t" anchorCtr="0" compatLnSpc="1">
            <a:prstTxWarp prst="textNoShape">
              <a:avLst/>
            </a:prstTxWarp>
          </a:bodyPr>
          <a:lstStyle>
            <a:lvl1pPr eaLnBrk="1" hangingPunct="1">
              <a:defRPr sz="2400">
                <a:solidFill>
                  <a:srgbClr val="000000"/>
                </a:solidFill>
                <a:latin typeface="Times" panose="02020603050405020304" pitchFamily="18" charset="0"/>
                <a:ea typeface="MS PGothic" panose="020B0600070205080204" pitchFamily="34" charset="-128"/>
              </a:defRPr>
            </a:lvl1pPr>
          </a:lstStyle>
          <a:p>
            <a:pPr>
              <a:defRPr/>
            </a:pPr>
            <a:fld id="{16D6BF8C-5CE4-4E11-B28F-568A4285EE99}" type="slidenum">
              <a:rPr lang="en-US" altLang="en-US"/>
              <a:pPr>
                <a:defRPr/>
              </a:pPr>
              <a:t>‹#›</a:t>
            </a:fld>
            <a:endParaRPr lang="en-US" altLang="en-US"/>
          </a:p>
        </p:txBody>
      </p:sp>
    </p:spTree>
    <p:extLst>
      <p:ext uri="{BB962C8B-B14F-4D97-AF65-F5344CB8AC3E}">
        <p14:creationId xmlns:p14="http://schemas.microsoft.com/office/powerpoint/2010/main" val="3103395078"/>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 name="Text Box 13"/>
          <p:cNvSpPr txBox="1">
            <a:spLocks noChangeArrowheads="1"/>
          </p:cNvSpPr>
          <p:nvPr userDrawn="1"/>
        </p:nvSpPr>
        <p:spPr bwMode="auto">
          <a:xfrm>
            <a:off x="185738" y="6416675"/>
            <a:ext cx="8642350" cy="188913"/>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200" dirty="0">
                <a:solidFill>
                  <a:srgbClr val="000000"/>
                </a:solidFill>
                <a:latin typeface="Arial"/>
                <a:ea typeface="Verdana" panose="020B0604030504040204" pitchFamily="34" charset="0"/>
                <a:cs typeface="Verdana" panose="020B0604030504040204" pitchFamily="34" charset="0"/>
              </a:rPr>
              <a:t>© 2022 Pearson Education Limited. All Rights Reserved.</a:t>
            </a:r>
            <a:endParaRPr lang="en-GB" sz="1200" dirty="0">
              <a:solidFill>
                <a:srgbClr val="000000"/>
              </a:solidFill>
              <a:latin typeface="Arial"/>
              <a:ea typeface="Verdana" panose="020B0604030504040204" pitchFamily="34" charset="0"/>
              <a:cs typeface="Verdana" panose="020B0604030504040204" pitchFamily="34" charset="0"/>
            </a:endParaRPr>
          </a:p>
        </p:txBody>
      </p:sp>
      <p:pic>
        <p:nvPicPr>
          <p:cNvPr id="1029" name="Picture 8" descr="Pearson Logo"/>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56558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lr>
          <a:srgbClr val="007FA3"/>
        </a:buClr>
        <a:buChar char="•"/>
        <a:defRPr sz="3200">
          <a:solidFill>
            <a:schemeClr val="tx1"/>
          </a:solidFill>
          <a:latin typeface="+mj-lt"/>
          <a:ea typeface="+mn-ea"/>
          <a:cs typeface="+mn-cs"/>
        </a:defRPr>
      </a:lvl1pPr>
      <a:lvl2pPr marL="742950" indent="-285750" algn="l" rtl="0" eaLnBrk="0" fontAlgn="base" hangingPunct="0">
        <a:spcBef>
          <a:spcPct val="20000"/>
        </a:spcBef>
        <a:spcAft>
          <a:spcPct val="0"/>
        </a:spcAft>
        <a:buClr>
          <a:srgbClr val="007FA3"/>
        </a:buClr>
        <a:buChar char="–"/>
        <a:defRPr sz="2800">
          <a:solidFill>
            <a:schemeClr val="tx1"/>
          </a:solidFill>
          <a:latin typeface="+mj-lt"/>
        </a:defRPr>
      </a:lvl2pPr>
      <a:lvl3pPr marL="1143000" indent="-228600" algn="l" rtl="0" eaLnBrk="0" fontAlgn="base" hangingPunct="0">
        <a:spcBef>
          <a:spcPct val="20000"/>
        </a:spcBef>
        <a:spcAft>
          <a:spcPct val="0"/>
        </a:spcAft>
        <a:buClr>
          <a:srgbClr val="007FA3"/>
        </a:buClr>
        <a:buChar char="•"/>
        <a:defRPr sz="2400">
          <a:solidFill>
            <a:schemeClr val="tx1"/>
          </a:solidFill>
          <a:latin typeface="+mj-lt"/>
        </a:defRPr>
      </a:lvl3pPr>
      <a:lvl4pPr marL="1600200" indent="-228600" algn="l" rtl="0" eaLnBrk="0" fontAlgn="base" hangingPunct="0">
        <a:spcBef>
          <a:spcPct val="20000"/>
        </a:spcBef>
        <a:spcAft>
          <a:spcPct val="0"/>
        </a:spcAft>
        <a:buClr>
          <a:srgbClr val="007FA3"/>
        </a:buClr>
        <a:buChar char="–"/>
        <a:defRPr sz="2000">
          <a:solidFill>
            <a:schemeClr val="tx1"/>
          </a:solidFill>
          <a:latin typeface="+mj-lt"/>
        </a:defRPr>
      </a:lvl4pPr>
      <a:lvl5pPr marL="2057400" indent="-228600" algn="l" rtl="0" eaLnBrk="0" fontAlgn="base" hangingPunct="0">
        <a:spcBef>
          <a:spcPct val="20000"/>
        </a:spcBef>
        <a:spcAft>
          <a:spcPct val="0"/>
        </a:spcAft>
        <a:buChar char="»"/>
        <a:defRPr sz="2000">
          <a:solidFill>
            <a:schemeClr val="tx1"/>
          </a:solidFill>
          <a:latin typeface="+mj-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2" Type="http://schemas.openxmlformats.org/officeDocument/2006/relationships/image" Target="../media/image57.gi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8.gi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2.gi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3.gi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6.gi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7.gi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72.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gi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83.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8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s>
</file>

<file path=ppt/slides/_rels/slide92.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03.png"/><Relationship Id="rId7" Type="http://schemas.openxmlformats.org/officeDocument/2006/relationships/image" Target="../media/image115.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93.xml.rels><?xml version="1.0" encoding="UTF-8" standalone="yes"?>
<Relationships xmlns="http://schemas.openxmlformats.org/package/2006/relationships"><Relationship Id="rId2" Type="http://schemas.openxmlformats.org/officeDocument/2006/relationships/image" Target="../media/image120.gif"/><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21.gi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22.gif"/><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23.gif"/><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24.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auto">
          <a:xfrm>
            <a:off x="4859412" y="3502025"/>
            <a:ext cx="388930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Chapter 28</a:t>
            </a:r>
          </a:p>
          <a:p>
            <a:pPr marL="0" lvl="0" indent="0">
              <a:spcBef>
                <a:spcPts val="1200"/>
              </a:spcBef>
              <a:buNone/>
              <a:defRPr/>
            </a:pPr>
            <a:r>
              <a:rPr lang="en-US" sz="2200" kern="0" dirty="0">
                <a:solidFill>
                  <a:srgbClr val="000000"/>
                </a:solidFill>
              </a:rPr>
              <a:t>The business cycle, inflation and deflation</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
        <p:nvSpPr>
          <p:cNvPr id="5" name="Title 1"/>
          <p:cNvSpPr txBox="1">
            <a:spLocks/>
          </p:cNvSpPr>
          <p:nvPr/>
        </p:nvSpPr>
        <p:spPr>
          <a:xfrm>
            <a:off x="407988" y="238125"/>
            <a:ext cx="8051800" cy="1531938"/>
          </a:xfrm>
          <a:prstGeom prst="rect">
            <a:avLst/>
          </a:prstGeom>
        </p:spPr>
        <p:txBody>
          <a:bodyPr/>
          <a:lst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lvl="0" algn="l">
              <a:spcBef>
                <a:spcPts val="600"/>
              </a:spcBef>
              <a:defRPr/>
            </a:pPr>
            <a:r>
              <a:rPr lang="en-US" kern="0" dirty="0"/>
              <a:t>Economics</a:t>
            </a:r>
          </a:p>
          <a:p>
            <a:pPr lvl="0" algn="l">
              <a:spcBef>
                <a:spcPts val="600"/>
              </a:spcBef>
              <a:defRPr/>
            </a:pPr>
            <a:r>
              <a:rPr kumimoji="0" lang="en-US" sz="2400" b="0" i="0" u="none" strike="noStrike" kern="0" cap="none" spc="0" normalizeH="0" baseline="0" noProof="0" dirty="0">
                <a:ln>
                  <a:noFill/>
                </a:ln>
                <a:solidFill>
                  <a:srgbClr val="007FA3"/>
                </a:solidFill>
                <a:effectLst/>
                <a:uLnTx/>
                <a:uFillTx/>
                <a:latin typeface="Arial"/>
                <a:ea typeface="+mj-ea"/>
                <a:cs typeface="+mj-cs"/>
              </a:rPr>
              <a:t>Eleventh European Edition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1" y="1312948"/>
            <a:ext cx="3600401" cy="4922808"/>
          </a:xfrm>
          <a:prstGeom prst="rect">
            <a:avLst/>
          </a:prstGeom>
          <a:noFill/>
          <a:effectLst>
            <a:outerShdw blurRad="50800" dist="38100" dir="2700000" algn="tl" rotWithShape="0">
              <a:prstClr val="black">
                <a:alpha val="40000"/>
              </a:prstClr>
            </a:outerShdw>
          </a:effectLst>
        </p:spPr>
      </p:pic>
      <p:sp>
        <p:nvSpPr>
          <p:cNvPr id="8" name="Text Placeholder 4"/>
          <p:cNvSpPr txBox="1">
            <a:spLocks/>
          </p:cNvSpPr>
          <p:nvPr/>
        </p:nvSpPr>
        <p:spPr bwMode="auto">
          <a:xfrm>
            <a:off x="4859412" y="1962150"/>
            <a:ext cx="3889301"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Part </a:t>
            </a:r>
            <a:r>
              <a:rPr lang="en-US" sz="3000" kern="0" dirty="0">
                <a:solidFill>
                  <a:srgbClr val="000000"/>
                </a:solidFill>
                <a:latin typeface="Arial"/>
              </a:rPr>
              <a:t>8</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Macroeconomic fluctuations</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07155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5" name="Picture 7">
            <a:extLst>
              <a:ext uri="{FF2B5EF4-FFF2-40B4-BE49-F238E27FC236}">
                <a16:creationId xmlns:a16="http://schemas.microsoft.com/office/drawing/2014/main" id="{79FB0CC7-62CA-70F5-DE6D-3A5F310FA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319088"/>
            <a:ext cx="868362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 name="Text Box 5">
            <a:extLst>
              <a:ext uri="{FF2B5EF4-FFF2-40B4-BE49-F238E27FC236}">
                <a16:creationId xmlns:a16="http://schemas.microsoft.com/office/drawing/2014/main" id="{8617AE10-626E-99E0-CE32-E4B48BD74557}"/>
              </a:ext>
            </a:extLst>
          </p:cNvPr>
          <p:cNvSpPr txBox="1">
            <a:spLocks noChangeArrowheads="1"/>
          </p:cNvSpPr>
          <p:nvPr/>
        </p:nvSpPr>
        <p:spPr bwMode="auto">
          <a:xfrm>
            <a:off x="6172200" y="690563"/>
            <a:ext cx="1157288"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TW" sz="7200" b="1" dirty="0">
                <a:solidFill>
                  <a:schemeClr val="bg1"/>
                </a:solidFill>
              </a:rPr>
              <a:t>28</a:t>
            </a:r>
          </a:p>
        </p:txBody>
      </p:sp>
      <p:sp>
        <p:nvSpPr>
          <p:cNvPr id="907269" name="TextBox 6">
            <a:extLst>
              <a:ext uri="{FF2B5EF4-FFF2-40B4-BE49-F238E27FC236}">
                <a16:creationId xmlns:a16="http://schemas.microsoft.com/office/drawing/2014/main" id="{162ACE66-D92F-5ED4-59F7-A861AE8FB0D8}"/>
              </a:ext>
            </a:extLst>
          </p:cNvPr>
          <p:cNvSpPr txBox="1">
            <a:spLocks noChangeArrowheads="1"/>
          </p:cNvSpPr>
          <p:nvPr/>
        </p:nvSpPr>
        <p:spPr bwMode="auto">
          <a:xfrm>
            <a:off x="82852" y="2073823"/>
            <a:ext cx="60991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CA" altLang="en-TW" b="1" dirty="0"/>
              <a:t>When you have completed your </a:t>
            </a:r>
            <a:br>
              <a:rPr lang="en-CA" altLang="en-TW" b="1" dirty="0"/>
            </a:br>
            <a:r>
              <a:rPr lang="en-CA" altLang="en-TW" b="1" dirty="0"/>
              <a:t>study of this chapter, you will be able to</a:t>
            </a:r>
          </a:p>
        </p:txBody>
      </p:sp>
      <p:sp>
        <p:nvSpPr>
          <p:cNvPr id="8" name="TextBox 7">
            <a:extLst>
              <a:ext uri="{FF2B5EF4-FFF2-40B4-BE49-F238E27FC236}">
                <a16:creationId xmlns:a16="http://schemas.microsoft.com/office/drawing/2014/main" id="{DBE0B9FB-279B-751E-B3F4-F1D72E462AF8}"/>
              </a:ext>
            </a:extLst>
          </p:cNvPr>
          <p:cNvSpPr txBox="1">
            <a:spLocks noChangeArrowheads="1"/>
          </p:cNvSpPr>
          <p:nvPr/>
        </p:nvSpPr>
        <p:spPr bwMode="auto">
          <a:xfrm>
            <a:off x="222100" y="3004645"/>
            <a:ext cx="8434388"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defTabSz="114300" eaLnBrk="0" hangingPunct="0">
              <a:tabLst>
                <a:tab pos="571500" algn="l"/>
              </a:tabLst>
              <a:defRPr sz="2400">
                <a:solidFill>
                  <a:schemeClr val="tx1"/>
                </a:solidFill>
                <a:latin typeface="Arial" panose="020B0604020202020204" pitchFamily="34" charset="0"/>
                <a:ea typeface="ＭＳ Ｐゴシック" panose="020B0600070205080204" pitchFamily="34" charset="-128"/>
              </a:defRPr>
            </a:lvl1pPr>
            <a:lvl2pPr marL="342900" indent="-57150" defTabSz="114300" eaLnBrk="0" hangingPunct="0">
              <a:tabLst>
                <a:tab pos="5715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defTabSz="114300" eaLnBrk="0" hangingPunct="0">
              <a:tabLst>
                <a:tab pos="5715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defTabSz="114300" eaLnBrk="0" hangingPunct="0">
              <a:tabLst>
                <a:tab pos="5715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defTabSz="114300" eaLnBrk="0" hangingPunct="0">
              <a:tabLst>
                <a:tab pos="5715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defTabSz="114300" eaLnBrk="0" fontAlgn="base" hangingPunct="0">
              <a:spcBef>
                <a:spcPct val="0"/>
              </a:spcBef>
              <a:spcAft>
                <a:spcPct val="0"/>
              </a:spcAft>
              <a:tabLst>
                <a:tab pos="5715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defTabSz="114300" eaLnBrk="0" fontAlgn="base" hangingPunct="0">
              <a:spcBef>
                <a:spcPct val="0"/>
              </a:spcBef>
              <a:spcAft>
                <a:spcPct val="0"/>
              </a:spcAft>
              <a:tabLst>
                <a:tab pos="5715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defTabSz="114300" eaLnBrk="0" fontAlgn="base" hangingPunct="0">
              <a:spcBef>
                <a:spcPct val="0"/>
              </a:spcBef>
              <a:spcAft>
                <a:spcPct val="0"/>
              </a:spcAft>
              <a:tabLst>
                <a:tab pos="5715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defTabSz="114300" eaLnBrk="0" fontAlgn="base" hangingPunct="0">
              <a:spcBef>
                <a:spcPct val="0"/>
              </a:spcBef>
              <a:spcAft>
                <a:spcPct val="0"/>
              </a:spcAft>
              <a:tabLst>
                <a:tab pos="571500" algn="l"/>
              </a:tabLst>
              <a:defRPr sz="2400">
                <a:solidFill>
                  <a:schemeClr val="tx1"/>
                </a:solidFill>
                <a:latin typeface="Arial" panose="020B0604020202020204" pitchFamily="34" charset="0"/>
                <a:ea typeface="ＭＳ Ｐゴシック" panose="020B0600070205080204" pitchFamily="34" charset="-128"/>
              </a:defRPr>
            </a:lvl9pPr>
          </a:lstStyle>
          <a:p>
            <a:pPr>
              <a:lnSpc>
                <a:spcPct val="150000"/>
              </a:lnSpc>
            </a:pPr>
            <a:r>
              <a:rPr lang="en-US" dirty="0">
                <a:solidFill>
                  <a:srgbClr val="D20000"/>
                </a:solidFill>
                <a:latin typeface="Helvetica" pitchFamily="2" charset="0"/>
              </a:rPr>
              <a:t>1 </a:t>
            </a:r>
            <a:r>
              <a:rPr lang="en-US" dirty="0">
                <a:latin typeface="Helvetica" pitchFamily="2" charset="0"/>
              </a:rPr>
              <a:t>Explain how aggregate demand shocks and aggregate</a:t>
            </a:r>
          </a:p>
          <a:p>
            <a:pPr>
              <a:lnSpc>
                <a:spcPct val="150000"/>
              </a:lnSpc>
            </a:pPr>
            <a:r>
              <a:rPr lang="en-US" dirty="0">
                <a:latin typeface="Helvetica" pitchFamily="2" charset="0"/>
              </a:rPr>
              <a:t>supply shocks create the business cycle</a:t>
            </a:r>
          </a:p>
          <a:p>
            <a:pPr>
              <a:lnSpc>
                <a:spcPct val="150000"/>
              </a:lnSpc>
            </a:pPr>
            <a:r>
              <a:rPr lang="en-US" dirty="0">
                <a:solidFill>
                  <a:srgbClr val="D20000"/>
                </a:solidFill>
                <a:latin typeface="Helvetica" pitchFamily="2" charset="0"/>
              </a:rPr>
              <a:t>2 </a:t>
            </a:r>
            <a:r>
              <a:rPr lang="en-US" dirty="0">
                <a:latin typeface="Helvetica" pitchFamily="2" charset="0"/>
              </a:rPr>
              <a:t>Explain how demand-pull and cost-push forces</a:t>
            </a:r>
          </a:p>
          <a:p>
            <a:pPr>
              <a:lnSpc>
                <a:spcPct val="150000"/>
              </a:lnSpc>
            </a:pPr>
            <a:r>
              <a:rPr lang="en-US" dirty="0">
                <a:latin typeface="Helvetica" pitchFamily="2" charset="0"/>
              </a:rPr>
              <a:t>bring cycles in inflation and output</a:t>
            </a:r>
          </a:p>
          <a:p>
            <a:pPr>
              <a:lnSpc>
                <a:spcPct val="150000"/>
              </a:lnSpc>
            </a:pPr>
            <a:r>
              <a:rPr lang="en-US" dirty="0">
                <a:solidFill>
                  <a:srgbClr val="D20000"/>
                </a:solidFill>
                <a:latin typeface="Helvetica" pitchFamily="2" charset="0"/>
              </a:rPr>
              <a:t>3 </a:t>
            </a:r>
            <a:r>
              <a:rPr lang="en-US" dirty="0">
                <a:latin typeface="Helvetica" pitchFamily="2" charset="0"/>
              </a:rPr>
              <a:t>Explain the causes and consequences of deflation</a:t>
            </a:r>
          </a:p>
          <a:p>
            <a:pPr>
              <a:lnSpc>
                <a:spcPct val="150000"/>
              </a:lnSpc>
            </a:pPr>
            <a:r>
              <a:rPr lang="en-US" dirty="0">
                <a:solidFill>
                  <a:srgbClr val="D20000"/>
                </a:solidFill>
                <a:latin typeface="Helvetica" pitchFamily="2" charset="0"/>
              </a:rPr>
              <a:t>4 </a:t>
            </a:r>
            <a:r>
              <a:rPr lang="en-US" dirty="0">
                <a:latin typeface="Helvetica" pitchFamily="2" charset="0"/>
              </a:rPr>
              <a:t>Explain the short-run and long-run tradeoff</a:t>
            </a:r>
          </a:p>
          <a:p>
            <a:pPr lvl="1" eaLnBrk="1" hangingPunct="1">
              <a:spcBef>
                <a:spcPts val="1200"/>
              </a:spcBef>
              <a:spcAft>
                <a:spcPts val="300"/>
              </a:spcAft>
            </a:pPr>
            <a:endParaRPr lang="en-US" altLang="en-TW" dirty="0"/>
          </a:p>
        </p:txBody>
      </p:sp>
      <p:sp>
        <p:nvSpPr>
          <p:cNvPr id="11269" name="TextBox 9">
            <a:extLst>
              <a:ext uri="{FF2B5EF4-FFF2-40B4-BE49-F238E27FC236}">
                <a16:creationId xmlns:a16="http://schemas.microsoft.com/office/drawing/2014/main" id="{535B69F3-E711-5E88-8A68-39131413CE76}"/>
              </a:ext>
            </a:extLst>
          </p:cNvPr>
          <p:cNvSpPr txBox="1">
            <a:spLocks noChangeArrowheads="1"/>
          </p:cNvSpPr>
          <p:nvPr/>
        </p:nvSpPr>
        <p:spPr bwMode="auto">
          <a:xfrm>
            <a:off x="5843588" y="2192338"/>
            <a:ext cx="2971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CA" altLang="en-TW" sz="1600">
                <a:solidFill>
                  <a:schemeClr val="bg1"/>
                </a:solidFill>
              </a:rPr>
              <a:t>CHAPTER CHECKLIST</a:t>
            </a:r>
          </a:p>
        </p:txBody>
      </p:sp>
      <p:sp>
        <p:nvSpPr>
          <p:cNvPr id="11270" name="TextBox 9">
            <a:extLst>
              <a:ext uri="{FF2B5EF4-FFF2-40B4-BE49-F238E27FC236}">
                <a16:creationId xmlns:a16="http://schemas.microsoft.com/office/drawing/2014/main" id="{807B5F50-57A6-7A06-DD2D-CA20CE8E6353}"/>
              </a:ext>
            </a:extLst>
          </p:cNvPr>
          <p:cNvSpPr txBox="1">
            <a:spLocks noChangeArrowheads="1"/>
          </p:cNvSpPr>
          <p:nvPr/>
        </p:nvSpPr>
        <p:spPr bwMode="auto">
          <a:xfrm>
            <a:off x="228600" y="1179513"/>
            <a:ext cx="4487416"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lvl="0" indent="0">
              <a:spcBef>
                <a:spcPts val="1200"/>
              </a:spcBef>
              <a:buNone/>
              <a:defRPr/>
            </a:pPr>
            <a:r>
              <a:rPr lang="en-US" sz="2800" kern="0" dirty="0">
                <a:solidFill>
                  <a:srgbClr val="000000"/>
                </a:solidFill>
              </a:rPr>
              <a:t>The business cycle, inflation and deflation</a:t>
            </a:r>
            <a:endParaRPr kumimoji="0" lang="en-US" sz="2800" b="0" i="0" u="none" strike="noStrike" kern="0" cap="none" spc="0" normalizeH="0" baseline="0" noProof="0" dirty="0">
              <a:ln>
                <a:noFill/>
              </a:ln>
              <a:solidFill>
                <a:srgbClr val="000000"/>
              </a:solidFill>
              <a:effectLst/>
              <a:uLnTx/>
              <a:uFillTx/>
              <a:latin typeface="Arial"/>
              <a:ea typeface="+mn-ea"/>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7269"/>
                                        </p:tgtEl>
                                        <p:attrNameLst>
                                          <p:attrName>style.visibility</p:attrName>
                                        </p:attrNameLst>
                                      </p:cBhvr>
                                      <p:to>
                                        <p:strVal val="visible"/>
                                      </p:to>
                                    </p:set>
                                    <p:animEffect transition="in" filter="wipe(left)">
                                      <p:cBhvr>
                                        <p:cTn id="7" dur="500"/>
                                        <p:tgtEl>
                                          <p:spTgt spid="9072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1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10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10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wipe(left)">
                                      <p:cBhvr>
                                        <p:cTn id="27" dur="10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wipe(left)">
                                      <p:cBhvr>
                                        <p:cTn id="32" dur="10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wipe(left)">
                                      <p:cBhvr>
                                        <p:cTn id="37" dur="10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7269"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47874" name="Rectangle 2">
            <a:extLst>
              <a:ext uri="{FF2B5EF4-FFF2-40B4-BE49-F238E27FC236}">
                <a16:creationId xmlns:a16="http://schemas.microsoft.com/office/drawing/2014/main" id="{58DAD65F-3581-4002-45B5-01F6DBA73F24}"/>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847875" name="Rectangle 3">
            <a:extLst>
              <a:ext uri="{FF2B5EF4-FFF2-40B4-BE49-F238E27FC236}">
                <a16:creationId xmlns:a16="http://schemas.microsoft.com/office/drawing/2014/main" id="{0BB341ED-FEBE-9F88-FB93-4BDA17412949}"/>
              </a:ext>
            </a:extLst>
          </p:cNvPr>
          <p:cNvSpPr>
            <a:spLocks noGrp="1" noChangeArrowheads="1"/>
          </p:cNvSpPr>
          <p:nvPr>
            <p:ph type="body" idx="1"/>
          </p:nvPr>
        </p:nvSpPr>
        <p:spPr/>
        <p:txBody>
          <a:bodyPr/>
          <a:lstStyle/>
          <a:p>
            <a:pPr lvl="1" eaLnBrk="1" hangingPunct="1">
              <a:lnSpc>
                <a:spcPct val="95000"/>
              </a:lnSpc>
              <a:defRPr/>
            </a:pPr>
            <a:r>
              <a:rPr lang="en-US" dirty="0">
                <a:solidFill>
                  <a:srgbClr val="000000"/>
                </a:solidFill>
              </a:rPr>
              <a:t>The </a:t>
            </a:r>
            <a:r>
              <a:rPr lang="en-US" i="1" dirty="0">
                <a:solidFill>
                  <a:srgbClr val="000000"/>
                </a:solidFill>
              </a:rPr>
              <a:t>quantity of real GDP supplied</a:t>
            </a:r>
            <a:r>
              <a:rPr lang="en-US" dirty="0">
                <a:solidFill>
                  <a:srgbClr val="000000"/>
                </a:solidFill>
              </a:rPr>
              <a:t> is the total amount of final goods and services that firms in the United States plan to produce.</a:t>
            </a:r>
          </a:p>
          <a:p>
            <a:pPr lvl="1" eaLnBrk="1" hangingPunct="1">
              <a:lnSpc>
                <a:spcPct val="95000"/>
              </a:lnSpc>
              <a:defRPr/>
            </a:pPr>
            <a:r>
              <a:rPr lang="en-US" dirty="0">
                <a:solidFill>
                  <a:srgbClr val="000000"/>
                </a:solidFill>
              </a:rPr>
              <a:t>The quantity of real GDP supplied depends on the quantities of</a:t>
            </a:r>
          </a:p>
          <a:p>
            <a:pPr marL="1204913" lvl="2" indent="-290513" eaLnBrk="1" hangingPunct="1">
              <a:lnSpc>
                <a:spcPct val="90000"/>
              </a:lnSpc>
              <a:defRPr/>
            </a:pPr>
            <a:r>
              <a:rPr lang="en-US" dirty="0">
                <a:solidFill>
                  <a:srgbClr val="000000"/>
                </a:solidFill>
              </a:rPr>
              <a:t>Labor employed</a:t>
            </a:r>
          </a:p>
          <a:p>
            <a:pPr marL="1204913" lvl="2" indent="-290513" eaLnBrk="1" hangingPunct="1">
              <a:lnSpc>
                <a:spcPct val="90000"/>
              </a:lnSpc>
              <a:defRPr/>
            </a:pPr>
            <a:r>
              <a:rPr lang="en-US" dirty="0">
                <a:solidFill>
                  <a:srgbClr val="000000"/>
                </a:solidFill>
              </a:rPr>
              <a:t>Capital, human capital, and the state of  technology</a:t>
            </a:r>
          </a:p>
          <a:p>
            <a:pPr marL="1204913" lvl="2" indent="-290513" eaLnBrk="1" hangingPunct="1">
              <a:lnSpc>
                <a:spcPct val="90000"/>
              </a:lnSpc>
              <a:defRPr/>
            </a:pPr>
            <a:r>
              <a:rPr lang="en-US" dirty="0">
                <a:solidFill>
                  <a:srgbClr val="000000"/>
                </a:solidFill>
              </a:rPr>
              <a:t>Land and natural resources</a:t>
            </a:r>
          </a:p>
          <a:p>
            <a:pPr marL="1204913" lvl="2" indent="-290513" eaLnBrk="1" hangingPunct="1">
              <a:lnSpc>
                <a:spcPct val="90000"/>
              </a:lnSpc>
              <a:defRPr/>
            </a:pPr>
            <a:r>
              <a:rPr lang="en-US" dirty="0">
                <a:solidFill>
                  <a:srgbClr val="000000"/>
                </a:solidFill>
              </a:rPr>
              <a:t>Entrepreneurial talent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7875">
                                            <p:txEl>
                                              <p:pRg st="0" end="0"/>
                                            </p:txEl>
                                          </p:spTgt>
                                        </p:tgtEl>
                                        <p:attrNameLst>
                                          <p:attrName>style.visibility</p:attrName>
                                        </p:attrNameLst>
                                      </p:cBhvr>
                                      <p:to>
                                        <p:strVal val="visible"/>
                                      </p:to>
                                    </p:set>
                                    <p:animEffect transition="in" filter="wipe(left)">
                                      <p:cBhvr>
                                        <p:cTn id="7" dur="500"/>
                                        <p:tgtEl>
                                          <p:spTgt spid="8478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47875">
                                            <p:txEl>
                                              <p:pRg st="1" end="1"/>
                                            </p:txEl>
                                          </p:spTgt>
                                        </p:tgtEl>
                                        <p:attrNameLst>
                                          <p:attrName>style.visibility</p:attrName>
                                        </p:attrNameLst>
                                      </p:cBhvr>
                                      <p:to>
                                        <p:strVal val="visible"/>
                                      </p:to>
                                    </p:set>
                                    <p:animEffect transition="in" filter="wipe(left)">
                                      <p:cBhvr>
                                        <p:cTn id="12" dur="500"/>
                                        <p:tgtEl>
                                          <p:spTgt spid="8478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7875">
                                            <p:txEl>
                                              <p:pRg st="2" end="2"/>
                                            </p:txEl>
                                          </p:spTgt>
                                        </p:tgtEl>
                                        <p:attrNameLst>
                                          <p:attrName>style.visibility</p:attrName>
                                        </p:attrNameLst>
                                      </p:cBhvr>
                                      <p:to>
                                        <p:strVal val="visible"/>
                                      </p:to>
                                    </p:set>
                                    <p:animEffect transition="in" filter="wipe(left)">
                                      <p:cBhvr>
                                        <p:cTn id="17" dur="500"/>
                                        <p:tgtEl>
                                          <p:spTgt spid="8478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47875">
                                            <p:txEl>
                                              <p:pRg st="3" end="3"/>
                                            </p:txEl>
                                          </p:spTgt>
                                        </p:tgtEl>
                                        <p:attrNameLst>
                                          <p:attrName>style.visibility</p:attrName>
                                        </p:attrNameLst>
                                      </p:cBhvr>
                                      <p:to>
                                        <p:strVal val="visible"/>
                                      </p:to>
                                    </p:set>
                                    <p:animEffect transition="in" filter="wipe(left)">
                                      <p:cBhvr>
                                        <p:cTn id="22" dur="500"/>
                                        <p:tgtEl>
                                          <p:spTgt spid="8478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47875">
                                            <p:txEl>
                                              <p:pRg st="4" end="4"/>
                                            </p:txEl>
                                          </p:spTgt>
                                        </p:tgtEl>
                                        <p:attrNameLst>
                                          <p:attrName>style.visibility</p:attrName>
                                        </p:attrNameLst>
                                      </p:cBhvr>
                                      <p:to>
                                        <p:strVal val="visible"/>
                                      </p:to>
                                    </p:set>
                                    <p:animEffect transition="in" filter="wipe(left)">
                                      <p:cBhvr>
                                        <p:cTn id="27" dur="500"/>
                                        <p:tgtEl>
                                          <p:spTgt spid="8478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47875">
                                            <p:txEl>
                                              <p:pRg st="5" end="5"/>
                                            </p:txEl>
                                          </p:spTgt>
                                        </p:tgtEl>
                                        <p:attrNameLst>
                                          <p:attrName>style.visibility</p:attrName>
                                        </p:attrNameLst>
                                      </p:cBhvr>
                                      <p:to>
                                        <p:strVal val="visible"/>
                                      </p:to>
                                    </p:set>
                                    <p:animEffect transition="in" filter="wipe(left)">
                                      <p:cBhvr>
                                        <p:cTn id="32" dur="500"/>
                                        <p:tgtEl>
                                          <p:spTgt spid="847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5" grpId="0" build="p" bldLvl="3"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2866" name="Rectangle 2">
            <a:extLst>
              <a:ext uri="{FF2B5EF4-FFF2-40B4-BE49-F238E27FC236}">
                <a16:creationId xmlns:a16="http://schemas.microsoft.com/office/drawing/2014/main" id="{279D9313-88A2-C39D-98E5-E8EADDC8F300}"/>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932867" name="Rectangle 3">
            <a:extLst>
              <a:ext uri="{FF2B5EF4-FFF2-40B4-BE49-F238E27FC236}">
                <a16:creationId xmlns:a16="http://schemas.microsoft.com/office/drawing/2014/main" id="{5807CBAE-573F-4166-7461-ED488619292F}"/>
              </a:ext>
            </a:extLst>
          </p:cNvPr>
          <p:cNvSpPr>
            <a:spLocks noGrp="1" noChangeArrowheads="1"/>
          </p:cNvSpPr>
          <p:nvPr>
            <p:ph type="body" idx="1"/>
          </p:nvPr>
        </p:nvSpPr>
        <p:spPr/>
        <p:txBody>
          <a:bodyPr/>
          <a:lstStyle/>
          <a:p>
            <a:pPr lvl="1" eaLnBrk="1" hangingPunct="1">
              <a:defRPr/>
            </a:pPr>
            <a:r>
              <a:rPr lang="en-CA" dirty="0">
                <a:solidFill>
                  <a:srgbClr val="C00000"/>
                </a:solidFill>
              </a:rPr>
              <a:t>At full employment</a:t>
            </a:r>
            <a:r>
              <a:rPr lang="en-CA" dirty="0"/>
              <a:t>:</a:t>
            </a:r>
          </a:p>
          <a:p>
            <a:pPr marL="1204913" lvl="2" indent="-290513" eaLnBrk="1" hangingPunct="1">
              <a:defRPr/>
            </a:pPr>
            <a:r>
              <a:rPr lang="en-CA" dirty="0"/>
              <a:t>The real wage rate makes the quantity of labor demanded </a:t>
            </a:r>
            <a:r>
              <a:rPr lang="en-CA" dirty="0">
                <a:solidFill>
                  <a:srgbClr val="C00000"/>
                </a:solidFill>
              </a:rPr>
              <a:t>equal</a:t>
            </a:r>
            <a:r>
              <a:rPr lang="en-CA" dirty="0"/>
              <a:t> to the quantity of labor supplied.</a:t>
            </a:r>
          </a:p>
          <a:p>
            <a:pPr marL="1204913" lvl="2" indent="-290513" eaLnBrk="1" hangingPunct="1">
              <a:defRPr/>
            </a:pPr>
            <a:r>
              <a:rPr lang="en-CA" dirty="0">
                <a:solidFill>
                  <a:srgbClr val="C00000"/>
                </a:solidFill>
              </a:rPr>
              <a:t>Real</a:t>
            </a:r>
            <a:r>
              <a:rPr lang="en-CA" dirty="0"/>
              <a:t> GDP equals </a:t>
            </a:r>
            <a:r>
              <a:rPr lang="en-CA" dirty="0">
                <a:solidFill>
                  <a:srgbClr val="C00000"/>
                </a:solidFill>
              </a:rPr>
              <a:t>potential </a:t>
            </a:r>
            <a:r>
              <a:rPr lang="en-CA" dirty="0"/>
              <a:t>GDP.</a:t>
            </a:r>
          </a:p>
          <a:p>
            <a:pPr lvl="1" eaLnBrk="1" hangingPunct="1">
              <a:defRPr/>
            </a:pPr>
            <a:r>
              <a:rPr lang="en-CA" dirty="0">
                <a:solidFill>
                  <a:srgbClr val="C00000"/>
                </a:solidFill>
              </a:rPr>
              <a:t>Over the business cycle</a:t>
            </a:r>
            <a:r>
              <a:rPr lang="en-CA" dirty="0"/>
              <a:t>:</a:t>
            </a:r>
          </a:p>
          <a:p>
            <a:pPr marL="1204913" lvl="2" indent="-290513" eaLnBrk="1" hangingPunct="1">
              <a:defRPr/>
            </a:pPr>
            <a:r>
              <a:rPr lang="en-CA" dirty="0"/>
              <a:t>The quantity of labor employed fluctuates around its full employment level.</a:t>
            </a:r>
          </a:p>
          <a:p>
            <a:pPr marL="1204913" lvl="2" indent="-290513" eaLnBrk="1" hangingPunct="1">
              <a:defRPr/>
            </a:pPr>
            <a:r>
              <a:rPr lang="en-CA" dirty="0"/>
              <a:t>Real GDP fluctuates around potential GDP.</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2867">
                                            <p:txEl>
                                              <p:pRg st="1" end="1"/>
                                            </p:txEl>
                                          </p:spTgt>
                                        </p:tgtEl>
                                        <p:attrNameLst>
                                          <p:attrName>style.visibility</p:attrName>
                                        </p:attrNameLst>
                                      </p:cBhvr>
                                      <p:to>
                                        <p:strVal val="visible"/>
                                      </p:to>
                                    </p:set>
                                    <p:animEffect transition="in" filter="wipe(left)">
                                      <p:cBhvr>
                                        <p:cTn id="7" dur="500"/>
                                        <p:tgtEl>
                                          <p:spTgt spid="932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2867">
                                            <p:txEl>
                                              <p:pRg st="2" end="2"/>
                                            </p:txEl>
                                          </p:spTgt>
                                        </p:tgtEl>
                                        <p:attrNameLst>
                                          <p:attrName>style.visibility</p:attrName>
                                        </p:attrNameLst>
                                      </p:cBhvr>
                                      <p:to>
                                        <p:strVal val="visible"/>
                                      </p:to>
                                    </p:set>
                                    <p:animEffect transition="in" filter="wipe(left)">
                                      <p:cBhvr>
                                        <p:cTn id="12" dur="500"/>
                                        <p:tgtEl>
                                          <p:spTgt spid="9328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2867">
                                            <p:txEl>
                                              <p:pRg st="3" end="3"/>
                                            </p:txEl>
                                          </p:spTgt>
                                        </p:tgtEl>
                                        <p:attrNameLst>
                                          <p:attrName>style.visibility</p:attrName>
                                        </p:attrNameLst>
                                      </p:cBhvr>
                                      <p:to>
                                        <p:strVal val="visible"/>
                                      </p:to>
                                    </p:set>
                                    <p:animEffect transition="in" filter="wipe(left)">
                                      <p:cBhvr>
                                        <p:cTn id="17" dur="500"/>
                                        <p:tgtEl>
                                          <p:spTgt spid="93286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2867">
                                            <p:txEl>
                                              <p:pRg st="4" end="4"/>
                                            </p:txEl>
                                          </p:spTgt>
                                        </p:tgtEl>
                                        <p:attrNameLst>
                                          <p:attrName>style.visibility</p:attrName>
                                        </p:attrNameLst>
                                      </p:cBhvr>
                                      <p:to>
                                        <p:strVal val="visible"/>
                                      </p:to>
                                    </p:set>
                                    <p:animEffect transition="in" filter="wipe(left)">
                                      <p:cBhvr>
                                        <p:cTn id="22" dur="500"/>
                                        <p:tgtEl>
                                          <p:spTgt spid="93286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2867">
                                            <p:txEl>
                                              <p:pRg st="5" end="5"/>
                                            </p:txEl>
                                          </p:spTgt>
                                        </p:tgtEl>
                                        <p:attrNameLst>
                                          <p:attrName>style.visibility</p:attrName>
                                        </p:attrNameLst>
                                      </p:cBhvr>
                                      <p:to>
                                        <p:strVal val="visible"/>
                                      </p:to>
                                    </p:set>
                                    <p:animEffect transition="in" filter="wipe(left)">
                                      <p:cBhvr>
                                        <p:cTn id="27" dur="500"/>
                                        <p:tgtEl>
                                          <p:spTgt spid="9328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867" grpId="0" build="p" bldLvl="3"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1842" name="Rectangle 2">
            <a:extLst>
              <a:ext uri="{FF2B5EF4-FFF2-40B4-BE49-F238E27FC236}">
                <a16:creationId xmlns:a16="http://schemas.microsoft.com/office/drawing/2014/main" id="{804E3424-DF75-8954-2001-BD3CF134D64D}"/>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931843" name="Rectangle 3">
            <a:extLst>
              <a:ext uri="{FF2B5EF4-FFF2-40B4-BE49-F238E27FC236}">
                <a16:creationId xmlns:a16="http://schemas.microsoft.com/office/drawing/2014/main" id="{67AE6D2E-33CB-9A0F-034C-22D1EA55EC12}"/>
              </a:ext>
            </a:extLst>
          </p:cNvPr>
          <p:cNvSpPr>
            <a:spLocks noGrp="1" noChangeArrowheads="1"/>
          </p:cNvSpPr>
          <p:nvPr>
            <p:ph type="body" idx="1"/>
          </p:nvPr>
        </p:nvSpPr>
        <p:spPr>
          <a:xfrm>
            <a:off x="395536" y="1417638"/>
            <a:ext cx="8229600" cy="4495800"/>
          </a:xfrm>
        </p:spPr>
        <p:txBody>
          <a:bodyPr/>
          <a:lstStyle/>
          <a:p>
            <a:pPr eaLnBrk="1" hangingPunct="1">
              <a:buFont typeface="Webdings" charset="0"/>
              <a:buChar char="&lt;"/>
              <a:defRPr/>
            </a:pPr>
            <a:r>
              <a:rPr lang="en-US" dirty="0">
                <a:cs typeface="+mn-cs"/>
              </a:rPr>
              <a:t>Aggregate Supply Basics</a:t>
            </a:r>
          </a:p>
          <a:p>
            <a:pPr lvl="1" eaLnBrk="1" hangingPunct="1">
              <a:defRPr/>
            </a:pPr>
            <a:r>
              <a:rPr lang="en-US" sz="2600" b="1" dirty="0">
                <a:solidFill>
                  <a:srgbClr val="FF0000"/>
                </a:solidFill>
              </a:rPr>
              <a:t>Aggregate supply</a:t>
            </a:r>
            <a:r>
              <a:rPr lang="en-US" dirty="0"/>
              <a:t> is the relationship between the </a:t>
            </a:r>
            <a:r>
              <a:rPr lang="en-US" dirty="0">
                <a:solidFill>
                  <a:srgbClr val="000000"/>
                </a:solidFill>
              </a:rPr>
              <a:t> quantity of real GDP supplied and the price level when all other influences on production plans remain the same.</a:t>
            </a:r>
          </a:p>
          <a:p>
            <a:pPr lvl="1" eaLnBrk="1" hangingPunct="1">
              <a:defRPr/>
            </a:pPr>
            <a:r>
              <a:rPr lang="en-US" dirty="0">
                <a:solidFill>
                  <a:srgbClr val="000000"/>
                </a:solidFill>
              </a:rPr>
              <a:t>Other things remaining the same,</a:t>
            </a:r>
          </a:p>
          <a:p>
            <a:pPr marL="1204913" lvl="2" indent="-290513" eaLnBrk="1" hangingPunct="1">
              <a:defRPr/>
            </a:pPr>
            <a:r>
              <a:rPr lang="en-US" dirty="0">
                <a:solidFill>
                  <a:srgbClr val="000000"/>
                </a:solidFill>
              </a:rPr>
              <a:t>When the price level </a:t>
            </a:r>
            <a:r>
              <a:rPr lang="en-US" dirty="0">
                <a:solidFill>
                  <a:srgbClr val="C00000"/>
                </a:solidFill>
              </a:rPr>
              <a:t>rises</a:t>
            </a:r>
            <a:r>
              <a:rPr lang="en-US" dirty="0">
                <a:solidFill>
                  <a:srgbClr val="000000"/>
                </a:solidFill>
              </a:rPr>
              <a:t>, the quantity of real GDP supplied </a:t>
            </a:r>
            <a:r>
              <a:rPr lang="en-US" dirty="0">
                <a:solidFill>
                  <a:srgbClr val="C00000"/>
                </a:solidFill>
              </a:rPr>
              <a:t>increases</a:t>
            </a:r>
            <a:r>
              <a:rPr lang="en-US" dirty="0">
                <a:solidFill>
                  <a:srgbClr val="000000"/>
                </a:solidFill>
              </a:rPr>
              <a:t>.</a:t>
            </a:r>
          </a:p>
          <a:p>
            <a:pPr marL="1204913" lvl="2" indent="-290513" eaLnBrk="1" hangingPunct="1">
              <a:defRPr/>
            </a:pPr>
            <a:r>
              <a:rPr lang="en-US" dirty="0">
                <a:solidFill>
                  <a:srgbClr val="000000"/>
                </a:solidFill>
              </a:rPr>
              <a:t>When the price level </a:t>
            </a:r>
            <a:r>
              <a:rPr lang="en-US" dirty="0">
                <a:solidFill>
                  <a:srgbClr val="C00000"/>
                </a:solidFill>
              </a:rPr>
              <a:t>falls</a:t>
            </a:r>
            <a:r>
              <a:rPr lang="en-US" dirty="0">
                <a:solidFill>
                  <a:srgbClr val="000000"/>
                </a:solidFill>
              </a:rPr>
              <a:t>, the quantity of real GDP supplied </a:t>
            </a:r>
            <a:r>
              <a:rPr lang="en-US" dirty="0">
                <a:solidFill>
                  <a:srgbClr val="C00000"/>
                </a:solidFill>
              </a:rPr>
              <a:t>decreases</a:t>
            </a:r>
            <a:r>
              <a:rPr lang="en-US" dirty="0">
                <a:solidFill>
                  <a:srgbClr val="000000"/>
                </a:solidFill>
              </a:rPr>
              <a:t>.</a:t>
            </a:r>
            <a:endParaRPr lang="en-CA"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43">
                                            <p:txEl>
                                              <p:pRg st="1" end="1"/>
                                            </p:txEl>
                                          </p:spTgt>
                                        </p:tgtEl>
                                        <p:attrNameLst>
                                          <p:attrName>style.visibility</p:attrName>
                                        </p:attrNameLst>
                                      </p:cBhvr>
                                      <p:to>
                                        <p:strVal val="visible"/>
                                      </p:to>
                                    </p:set>
                                    <p:animEffect transition="in" filter="wipe(left)">
                                      <p:cBhvr>
                                        <p:cTn id="7" dur="500"/>
                                        <p:tgtEl>
                                          <p:spTgt spid="9318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43">
                                            <p:txEl>
                                              <p:pRg st="2" end="2"/>
                                            </p:txEl>
                                          </p:spTgt>
                                        </p:tgtEl>
                                        <p:attrNameLst>
                                          <p:attrName>style.visibility</p:attrName>
                                        </p:attrNameLst>
                                      </p:cBhvr>
                                      <p:to>
                                        <p:strVal val="visible"/>
                                      </p:to>
                                    </p:set>
                                    <p:animEffect transition="in" filter="wipe(left)">
                                      <p:cBhvr>
                                        <p:cTn id="12" dur="500"/>
                                        <p:tgtEl>
                                          <p:spTgt spid="9318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1843">
                                            <p:txEl>
                                              <p:pRg st="3" end="3"/>
                                            </p:txEl>
                                          </p:spTgt>
                                        </p:tgtEl>
                                        <p:attrNameLst>
                                          <p:attrName>style.visibility</p:attrName>
                                        </p:attrNameLst>
                                      </p:cBhvr>
                                      <p:to>
                                        <p:strVal val="visible"/>
                                      </p:to>
                                    </p:set>
                                    <p:animEffect transition="in" filter="wipe(left)">
                                      <p:cBhvr>
                                        <p:cTn id="17" dur="500"/>
                                        <p:tgtEl>
                                          <p:spTgt spid="9318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843">
                                            <p:txEl>
                                              <p:pRg st="4" end="4"/>
                                            </p:txEl>
                                          </p:spTgt>
                                        </p:tgtEl>
                                        <p:attrNameLst>
                                          <p:attrName>style.visibility</p:attrName>
                                        </p:attrNameLst>
                                      </p:cBhvr>
                                      <p:to>
                                        <p:strVal val="visible"/>
                                      </p:to>
                                    </p:set>
                                    <p:animEffect transition="in" filter="wipe(left)">
                                      <p:cBhvr>
                                        <p:cTn id="22" dur="500"/>
                                        <p:tgtEl>
                                          <p:spTgt spid="931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3" grpId="0" build="p" bldLvl="3"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4626" name="Rectangle 2">
            <a:extLst>
              <a:ext uri="{FF2B5EF4-FFF2-40B4-BE49-F238E27FC236}">
                <a16:creationId xmlns:a16="http://schemas.microsoft.com/office/drawing/2014/main" id="{0FC46AC9-C057-538B-4146-C9C867530072}"/>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4627" name="Rectangle 3">
            <a:extLst>
              <a:ext uri="{FF2B5EF4-FFF2-40B4-BE49-F238E27FC236}">
                <a16:creationId xmlns:a16="http://schemas.microsoft.com/office/drawing/2014/main" id="{7F1AB403-CE2A-5262-CDCF-41244BC250FA}"/>
              </a:ext>
            </a:extLst>
          </p:cNvPr>
          <p:cNvSpPr>
            <a:spLocks noGrp="1" noChangeArrowheads="1"/>
          </p:cNvSpPr>
          <p:nvPr>
            <p:ph type="body" idx="1"/>
          </p:nvPr>
        </p:nvSpPr>
        <p:spPr>
          <a:xfrm>
            <a:off x="323528" y="1268760"/>
            <a:ext cx="8496944" cy="5314602"/>
          </a:xfrm>
        </p:spPr>
        <p:txBody>
          <a:bodyPr/>
          <a:lstStyle/>
          <a:p>
            <a:pPr lvl="1" eaLnBrk="1" hangingPunct="1">
              <a:lnSpc>
                <a:spcPct val="90000"/>
              </a:lnSpc>
              <a:defRPr/>
            </a:pPr>
            <a:r>
              <a:rPr lang="en-US" dirty="0"/>
              <a:t> </a:t>
            </a:r>
            <a:r>
              <a:rPr lang="en-US" dirty="0">
                <a:solidFill>
                  <a:srgbClr val="000000"/>
                </a:solidFill>
              </a:rPr>
              <a:t>Along the aggregate supply curve, the only influence on production plans that changes is the price level. </a:t>
            </a:r>
          </a:p>
          <a:p>
            <a:pPr lvl="1" eaLnBrk="1" hangingPunct="1">
              <a:defRPr/>
            </a:pPr>
            <a:r>
              <a:rPr lang="en-US" dirty="0">
                <a:solidFill>
                  <a:srgbClr val="000000"/>
                </a:solidFill>
              </a:rPr>
              <a:t>All the other influences on production plans remain constant. Among these other influences are</a:t>
            </a:r>
          </a:p>
          <a:p>
            <a:pPr lvl="2" eaLnBrk="1" hangingPunct="1">
              <a:lnSpc>
                <a:spcPct val="95000"/>
              </a:lnSpc>
              <a:defRPr/>
            </a:pPr>
            <a:r>
              <a:rPr lang="en-US" dirty="0">
                <a:solidFill>
                  <a:srgbClr val="000000"/>
                </a:solidFill>
              </a:rPr>
              <a:t>The money wage rate</a:t>
            </a:r>
          </a:p>
          <a:p>
            <a:pPr lvl="2" eaLnBrk="1" hangingPunct="1">
              <a:lnSpc>
                <a:spcPct val="95000"/>
              </a:lnSpc>
              <a:defRPr/>
            </a:pPr>
            <a:r>
              <a:rPr lang="en-US" dirty="0">
                <a:solidFill>
                  <a:srgbClr val="000000"/>
                </a:solidFill>
              </a:rPr>
              <a:t>The money prices of other resources</a:t>
            </a:r>
            <a:endParaRPr lang="en-CA" dirty="0">
              <a:solidFill>
                <a:srgbClr val="000000"/>
              </a:solidFill>
            </a:endParaRPr>
          </a:p>
          <a:p>
            <a:pPr lvl="1" eaLnBrk="1" hangingPunct="1">
              <a:spcBef>
                <a:spcPct val="20000"/>
              </a:spcBef>
              <a:defRPr/>
            </a:pPr>
            <a:r>
              <a:rPr lang="en-CA" dirty="0">
                <a:solidFill>
                  <a:srgbClr val="000000"/>
                </a:solidFill>
              </a:rPr>
              <a:t>In contrast, along the potential GDP line, when the price level changes the money wage rate changes to keep the real wage rate at the full-employment level.</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4627">
                                            <p:txEl>
                                              <p:pRg st="1" end="1"/>
                                            </p:txEl>
                                          </p:spTgt>
                                        </p:tgtEl>
                                        <p:attrNameLst>
                                          <p:attrName>style.visibility</p:attrName>
                                        </p:attrNameLst>
                                      </p:cBhvr>
                                      <p:to>
                                        <p:strVal val="visible"/>
                                      </p:to>
                                    </p:set>
                                    <p:animEffect transition="in" filter="wipe(left)">
                                      <p:cBhvr>
                                        <p:cTn id="7" dur="500"/>
                                        <p:tgtEl>
                                          <p:spTgt spid="7946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4627">
                                            <p:txEl>
                                              <p:pRg st="2" end="2"/>
                                            </p:txEl>
                                          </p:spTgt>
                                        </p:tgtEl>
                                        <p:attrNameLst>
                                          <p:attrName>style.visibility</p:attrName>
                                        </p:attrNameLst>
                                      </p:cBhvr>
                                      <p:to>
                                        <p:strVal val="visible"/>
                                      </p:to>
                                    </p:set>
                                    <p:animEffect transition="in" filter="wipe(left)">
                                      <p:cBhvr>
                                        <p:cTn id="12" dur="500"/>
                                        <p:tgtEl>
                                          <p:spTgt spid="7946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4627">
                                            <p:txEl>
                                              <p:pRg st="3" end="3"/>
                                            </p:txEl>
                                          </p:spTgt>
                                        </p:tgtEl>
                                        <p:attrNameLst>
                                          <p:attrName>style.visibility</p:attrName>
                                        </p:attrNameLst>
                                      </p:cBhvr>
                                      <p:to>
                                        <p:strVal val="visible"/>
                                      </p:to>
                                    </p:set>
                                    <p:animEffect transition="in" filter="wipe(left)">
                                      <p:cBhvr>
                                        <p:cTn id="17" dur="500"/>
                                        <p:tgtEl>
                                          <p:spTgt spid="79462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4627">
                                            <p:txEl>
                                              <p:pRg st="4" end="4"/>
                                            </p:txEl>
                                          </p:spTgt>
                                        </p:tgtEl>
                                        <p:attrNameLst>
                                          <p:attrName>style.visibility</p:attrName>
                                        </p:attrNameLst>
                                      </p:cBhvr>
                                      <p:to>
                                        <p:strVal val="visible"/>
                                      </p:to>
                                    </p:set>
                                    <p:animEffect transition="in" filter="wipe(left)">
                                      <p:cBhvr>
                                        <p:cTn id="22" dur="500"/>
                                        <p:tgtEl>
                                          <p:spTgt spid="794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7" grpId="0" build="p" bldLvl="3"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5650" name="Rectangle 2">
            <a:extLst>
              <a:ext uri="{FF2B5EF4-FFF2-40B4-BE49-F238E27FC236}">
                <a16:creationId xmlns:a16="http://schemas.microsoft.com/office/drawing/2014/main" id="{F562821D-39DF-7133-0D02-9FE396996A6E}"/>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5651" name="Rectangle 3">
            <a:extLst>
              <a:ext uri="{FF2B5EF4-FFF2-40B4-BE49-F238E27FC236}">
                <a16:creationId xmlns:a16="http://schemas.microsoft.com/office/drawing/2014/main" id="{E0B1DEF7-0F2A-A282-7473-304D5346C99E}"/>
              </a:ext>
            </a:extLst>
          </p:cNvPr>
          <p:cNvSpPr>
            <a:spLocks noGrp="1" noChangeArrowheads="1"/>
          </p:cNvSpPr>
          <p:nvPr>
            <p:ph type="body" idx="1"/>
          </p:nvPr>
        </p:nvSpPr>
        <p:spPr>
          <a:xfrm>
            <a:off x="309562" y="1585119"/>
            <a:ext cx="8524875" cy="1219200"/>
          </a:xfrm>
        </p:spPr>
        <p:txBody>
          <a:bodyPr/>
          <a:lstStyle/>
          <a:p>
            <a:pPr marL="0" indent="0" eaLnBrk="1" hangingPunct="1">
              <a:spcBef>
                <a:spcPct val="0"/>
              </a:spcBef>
              <a:buClrTx/>
              <a:buFontTx/>
              <a:buNone/>
              <a:defRPr/>
            </a:pPr>
            <a:r>
              <a:rPr lang="en-US" sz="2400" b="0" dirty="0">
                <a:solidFill>
                  <a:schemeClr val="tx1"/>
                </a:solidFill>
                <a:cs typeface="+mn-cs"/>
              </a:rPr>
              <a:t>Figure 28.1 shows the aggregate supply schedule and aggregate supply curve</a:t>
            </a:r>
            <a:r>
              <a:rPr lang="en-US" b="0" dirty="0">
                <a:solidFill>
                  <a:schemeClr val="tx1"/>
                </a:solidFill>
                <a:cs typeface="+mn-cs"/>
              </a:rPr>
              <a:t>.</a:t>
            </a:r>
          </a:p>
        </p:txBody>
      </p:sp>
      <p:sp>
        <p:nvSpPr>
          <p:cNvPr id="795652" name="Rectangle 4">
            <a:extLst>
              <a:ext uri="{FF2B5EF4-FFF2-40B4-BE49-F238E27FC236}">
                <a16:creationId xmlns:a16="http://schemas.microsoft.com/office/drawing/2014/main" id="{128D1766-CB3F-5A36-0781-535CD468D300}"/>
              </a:ext>
            </a:extLst>
          </p:cNvPr>
          <p:cNvSpPr>
            <a:spLocks noChangeArrowheads="1"/>
          </p:cNvSpPr>
          <p:nvPr/>
        </p:nvSpPr>
        <p:spPr bwMode="auto">
          <a:xfrm>
            <a:off x="76200" y="3200400"/>
            <a:ext cx="3198813"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7988" indent="-407988">
              <a:defRPr/>
            </a:pPr>
            <a:endParaRPr lang="en-US">
              <a:latin typeface="Arial" charset="0"/>
              <a:ea typeface="ＭＳ Ｐゴシック" charset="0"/>
            </a:endParaRPr>
          </a:p>
        </p:txBody>
      </p:sp>
      <p:sp>
        <p:nvSpPr>
          <p:cNvPr id="795653" name="Rectangle 5">
            <a:extLst>
              <a:ext uri="{FF2B5EF4-FFF2-40B4-BE49-F238E27FC236}">
                <a16:creationId xmlns:a16="http://schemas.microsoft.com/office/drawing/2014/main" id="{3FC56448-FFD0-C6DB-C230-5FCE67263164}"/>
              </a:ext>
            </a:extLst>
          </p:cNvPr>
          <p:cNvSpPr>
            <a:spLocks noChangeArrowheads="1"/>
          </p:cNvSpPr>
          <p:nvPr/>
        </p:nvSpPr>
        <p:spPr bwMode="auto">
          <a:xfrm>
            <a:off x="76200" y="5334000"/>
            <a:ext cx="4419600" cy="121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1638" indent="-401638">
              <a:defRPr/>
            </a:pPr>
            <a:endParaRPr lang="en-US">
              <a:solidFill>
                <a:srgbClr val="000000"/>
              </a:solidFill>
              <a:latin typeface="Arial" charset="0"/>
              <a:ea typeface="ＭＳ Ｐゴシック" charset="0"/>
            </a:endParaRPr>
          </a:p>
          <a:p>
            <a:pPr marL="401638" indent="-401638">
              <a:defRPr/>
            </a:pPr>
            <a:endParaRPr lang="en-US">
              <a:latin typeface="Arial" charset="0"/>
              <a:ea typeface="ＭＳ Ｐゴシック" charset="0"/>
            </a:endParaRPr>
          </a:p>
        </p:txBody>
      </p:sp>
      <p:sp>
        <p:nvSpPr>
          <p:cNvPr id="795665" name="Rectangle 17">
            <a:extLst>
              <a:ext uri="{FF2B5EF4-FFF2-40B4-BE49-F238E27FC236}">
                <a16:creationId xmlns:a16="http://schemas.microsoft.com/office/drawing/2014/main" id="{145FDD4D-A40E-7141-9188-25C7CD0A29D1}"/>
              </a:ext>
            </a:extLst>
          </p:cNvPr>
          <p:cNvSpPr>
            <a:spLocks noChangeArrowheads="1"/>
          </p:cNvSpPr>
          <p:nvPr/>
        </p:nvSpPr>
        <p:spPr bwMode="auto">
          <a:xfrm>
            <a:off x="304800" y="3200400"/>
            <a:ext cx="2743200" cy="213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50800" indent="-50800">
              <a:defRPr/>
            </a:pPr>
            <a:r>
              <a:rPr lang="en-US" sz="2400" dirty="0">
                <a:solidFill>
                  <a:srgbClr val="000000"/>
                </a:solidFill>
                <a:latin typeface="Arial" charset="0"/>
                <a:ea typeface="ＭＳ Ｐゴシック" charset="0"/>
              </a:rPr>
              <a:t>Each point </a:t>
            </a:r>
            <a:r>
              <a:rPr lang="en-US" sz="2400" i="1" dirty="0">
                <a:solidFill>
                  <a:srgbClr val="000000"/>
                </a:solidFill>
                <a:latin typeface="Arial" charset="0"/>
                <a:ea typeface="ＭＳ Ｐゴシック" charset="0"/>
              </a:rPr>
              <a:t>A</a:t>
            </a:r>
            <a:r>
              <a:rPr lang="en-US" sz="2400" dirty="0">
                <a:solidFill>
                  <a:srgbClr val="000000"/>
                </a:solidFill>
                <a:latin typeface="Arial" charset="0"/>
                <a:ea typeface="ＭＳ Ｐゴシック" charset="0"/>
              </a:rPr>
              <a:t> to </a:t>
            </a:r>
            <a:r>
              <a:rPr lang="en-US" sz="2400" i="1" dirty="0">
                <a:solidFill>
                  <a:srgbClr val="000000"/>
                </a:solidFill>
                <a:latin typeface="Arial" charset="0"/>
                <a:ea typeface="ＭＳ Ｐゴシック" charset="0"/>
              </a:rPr>
              <a:t>E</a:t>
            </a:r>
            <a:r>
              <a:rPr lang="en-US" sz="2400" dirty="0">
                <a:solidFill>
                  <a:srgbClr val="000000"/>
                </a:solidFill>
                <a:latin typeface="Arial" charset="0"/>
                <a:ea typeface="ＭＳ Ｐゴシック" charset="0"/>
              </a:rPr>
              <a:t> on the </a:t>
            </a:r>
            <a:r>
              <a:rPr lang="en-US" sz="2400" i="1" dirty="0">
                <a:solidFill>
                  <a:srgbClr val="000000"/>
                </a:solidFill>
                <a:latin typeface="Arial" charset="0"/>
                <a:ea typeface="ＭＳ Ｐゴシック" charset="0"/>
              </a:rPr>
              <a:t>AS</a:t>
            </a:r>
            <a:r>
              <a:rPr lang="en-US" sz="2400" dirty="0">
                <a:solidFill>
                  <a:srgbClr val="000000"/>
                </a:solidFill>
                <a:latin typeface="Arial" charset="0"/>
                <a:ea typeface="ＭＳ Ｐゴシック" charset="0"/>
              </a:rPr>
              <a:t> curve corresponds to a row of the schedule.</a:t>
            </a:r>
          </a:p>
        </p:txBody>
      </p:sp>
      <p:pic>
        <p:nvPicPr>
          <p:cNvPr id="21510" name="Picture 27" descr="fig2801a.gif">
            <a:extLst>
              <a:ext uri="{FF2B5EF4-FFF2-40B4-BE49-F238E27FC236}">
                <a16:creationId xmlns:a16="http://schemas.microsoft.com/office/drawing/2014/main" id="{29C21780-03C8-6944-8152-0D561B0976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8" descr="fig2801b.gif">
            <a:extLst>
              <a:ext uri="{FF2B5EF4-FFF2-40B4-BE49-F238E27FC236}">
                <a16:creationId xmlns:a16="http://schemas.microsoft.com/office/drawing/2014/main" id="{0B2FA4B7-DF40-2B17-83C1-9D454549104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29" descr="fig2801c.gif">
            <a:extLst>
              <a:ext uri="{FF2B5EF4-FFF2-40B4-BE49-F238E27FC236}">
                <a16:creationId xmlns:a16="http://schemas.microsoft.com/office/drawing/2014/main" id="{E240DF09-E3AE-635B-86B9-6321E9B8490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30" descr="fig2801d.gif">
            <a:extLst>
              <a:ext uri="{FF2B5EF4-FFF2-40B4-BE49-F238E27FC236}">
                <a16:creationId xmlns:a16="http://schemas.microsoft.com/office/drawing/2014/main" id="{6F0A2A4D-85C7-B85C-CC69-9D51B906A9F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31" descr="fig2801e.gif">
            <a:extLst>
              <a:ext uri="{FF2B5EF4-FFF2-40B4-BE49-F238E27FC236}">
                <a16:creationId xmlns:a16="http://schemas.microsoft.com/office/drawing/2014/main" id="{D948CBF3-9052-DF8D-8EA0-844AD1C0B3D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32" descr="fig2801f.gif">
            <a:extLst>
              <a:ext uri="{FF2B5EF4-FFF2-40B4-BE49-F238E27FC236}">
                <a16:creationId xmlns:a16="http://schemas.microsoft.com/office/drawing/2014/main" id="{47E4BCDD-D63B-8944-972E-A1FC6E1A736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fig2801g.gif">
            <a:extLst>
              <a:ext uri="{FF2B5EF4-FFF2-40B4-BE49-F238E27FC236}">
                <a16:creationId xmlns:a16="http://schemas.microsoft.com/office/drawing/2014/main" id="{745D717E-5E08-CE28-B737-4539B190B27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203848" y="2872443"/>
            <a:ext cx="5860777" cy="390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5665"/>
                                        </p:tgtEl>
                                        <p:attrNameLst>
                                          <p:attrName>style.visibility</p:attrName>
                                        </p:attrNameLst>
                                      </p:cBhvr>
                                      <p:to>
                                        <p:strVal val="visible"/>
                                      </p:to>
                                    </p:set>
                                    <p:animEffect transition="in" filter="wipe(left)">
                                      <p:cBhvr>
                                        <p:cTn id="7" dur="500"/>
                                        <p:tgtEl>
                                          <p:spTgt spid="79566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1000"/>
                                        <p:tgtEl>
                                          <p:spTgt spid="30"/>
                                        </p:tgtEl>
                                      </p:cBhvr>
                                    </p:animEffect>
                                  </p:childTnLst>
                                </p:cTn>
                              </p:par>
                            </p:childTnLst>
                          </p:cTn>
                        </p:par>
                        <p:par>
                          <p:cTn id="16" fill="hold" nodeType="afterGroup">
                            <p:stCondLst>
                              <p:cond delay="2500"/>
                            </p:stCondLst>
                            <p:childTnLst>
                              <p:par>
                                <p:cTn id="17" presetID="22" presetClass="entr" presetSubtype="8"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left)">
                                      <p:cBhvr>
                                        <p:cTn id="19" dur="1000"/>
                                        <p:tgtEl>
                                          <p:spTgt spid="31"/>
                                        </p:tgtEl>
                                      </p:cBhvr>
                                    </p:animEffect>
                                  </p:childTnLst>
                                </p:cTn>
                              </p:par>
                            </p:childTnLst>
                          </p:cTn>
                        </p:par>
                        <p:par>
                          <p:cTn id="20" fill="hold" nodeType="afterGroup">
                            <p:stCondLst>
                              <p:cond delay="3500"/>
                            </p:stCondLst>
                            <p:childTnLst>
                              <p:par>
                                <p:cTn id="21" presetID="22" presetClass="entr" presetSubtype="8"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left)">
                                      <p:cBhvr>
                                        <p:cTn id="23" dur="1000"/>
                                        <p:tgtEl>
                                          <p:spTgt spid="32"/>
                                        </p:tgtEl>
                                      </p:cBhvr>
                                    </p:animEffect>
                                  </p:childTnLst>
                                </p:cTn>
                              </p:par>
                            </p:childTnLst>
                          </p:cTn>
                        </p:par>
                        <p:par>
                          <p:cTn id="24" fill="hold" nodeType="afterGroup">
                            <p:stCondLst>
                              <p:cond delay="4500"/>
                            </p:stCondLst>
                            <p:childTnLst>
                              <p:par>
                                <p:cTn id="25" presetID="22" presetClass="entr" presetSubtype="8"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1000"/>
                                        <p:tgtEl>
                                          <p:spTgt spid="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down)">
                                      <p:cBhvr>
                                        <p:cTn id="32"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65"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3890" name="Rectangle 2">
            <a:extLst>
              <a:ext uri="{FF2B5EF4-FFF2-40B4-BE49-F238E27FC236}">
                <a16:creationId xmlns:a16="http://schemas.microsoft.com/office/drawing/2014/main" id="{3F2121A5-4DAD-610D-7F68-44CBA65B1058}"/>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933891" name="Rectangle 3">
            <a:extLst>
              <a:ext uri="{FF2B5EF4-FFF2-40B4-BE49-F238E27FC236}">
                <a16:creationId xmlns:a16="http://schemas.microsoft.com/office/drawing/2014/main" id="{50A4BB5A-0CF1-0B57-6375-7B88FD9E334D}"/>
              </a:ext>
            </a:extLst>
          </p:cNvPr>
          <p:cNvSpPr>
            <a:spLocks noGrp="1" noChangeArrowheads="1"/>
          </p:cNvSpPr>
          <p:nvPr>
            <p:ph type="body" idx="1"/>
          </p:nvPr>
        </p:nvSpPr>
        <p:spPr>
          <a:xfrm>
            <a:off x="76200" y="1752600"/>
            <a:ext cx="8755063" cy="1069975"/>
          </a:xfrm>
        </p:spPr>
        <p:txBody>
          <a:bodyPr/>
          <a:lstStyle/>
          <a:p>
            <a:pPr marL="347663" indent="-347663" eaLnBrk="1" hangingPunct="1">
              <a:spcBef>
                <a:spcPct val="0"/>
              </a:spcBef>
              <a:buClrTx/>
              <a:buFontTx/>
              <a:buNone/>
              <a:defRPr/>
            </a:pPr>
            <a:r>
              <a:rPr lang="en-US" sz="2400">
                <a:solidFill>
                  <a:schemeClr val="tx1"/>
                </a:solidFill>
                <a:cs typeface="+mn-cs"/>
              </a:rPr>
              <a:t>1.</a:t>
            </a:r>
            <a:r>
              <a:rPr lang="en-US" sz="2400" b="0">
                <a:solidFill>
                  <a:schemeClr val="tx1"/>
                </a:solidFill>
                <a:cs typeface="+mn-cs"/>
              </a:rPr>
              <a:t> Potential GDP is $13 trillion and when </a:t>
            </a:r>
            <a:r>
              <a:rPr lang="en-US" sz="2400" b="0">
                <a:solidFill>
                  <a:srgbClr val="000000"/>
                </a:solidFill>
                <a:cs typeface="+mn-cs"/>
              </a:rPr>
              <a:t>the price level is 110, real GDP equals potential GDP</a:t>
            </a:r>
            <a:r>
              <a:rPr lang="en-US" sz="2400" b="0">
                <a:solidFill>
                  <a:schemeClr val="tx1"/>
                </a:solidFill>
                <a:cs typeface="+mn-cs"/>
              </a:rPr>
              <a:t>.</a:t>
            </a:r>
          </a:p>
        </p:txBody>
      </p:sp>
      <p:sp>
        <p:nvSpPr>
          <p:cNvPr id="933892" name="Rectangle 4">
            <a:extLst>
              <a:ext uri="{FF2B5EF4-FFF2-40B4-BE49-F238E27FC236}">
                <a16:creationId xmlns:a16="http://schemas.microsoft.com/office/drawing/2014/main" id="{BBDB925B-F352-CF8F-9C7D-1F14ACF252EE}"/>
              </a:ext>
            </a:extLst>
          </p:cNvPr>
          <p:cNvSpPr>
            <a:spLocks noChangeArrowheads="1"/>
          </p:cNvSpPr>
          <p:nvPr/>
        </p:nvSpPr>
        <p:spPr bwMode="auto">
          <a:xfrm>
            <a:off x="76200" y="3200400"/>
            <a:ext cx="3198813"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7988" indent="-407988">
              <a:defRPr/>
            </a:pPr>
            <a:endParaRPr lang="en-US">
              <a:latin typeface="Arial" charset="0"/>
              <a:ea typeface="ＭＳ Ｐゴシック" charset="0"/>
            </a:endParaRPr>
          </a:p>
        </p:txBody>
      </p:sp>
      <p:sp>
        <p:nvSpPr>
          <p:cNvPr id="933893" name="Rectangle 5">
            <a:extLst>
              <a:ext uri="{FF2B5EF4-FFF2-40B4-BE49-F238E27FC236}">
                <a16:creationId xmlns:a16="http://schemas.microsoft.com/office/drawing/2014/main" id="{61971BA8-2FE7-CC3C-BAE0-773729C49733}"/>
              </a:ext>
            </a:extLst>
          </p:cNvPr>
          <p:cNvSpPr>
            <a:spLocks noChangeArrowheads="1"/>
          </p:cNvSpPr>
          <p:nvPr/>
        </p:nvSpPr>
        <p:spPr bwMode="auto">
          <a:xfrm>
            <a:off x="76200" y="2743200"/>
            <a:ext cx="3048000"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1638" indent="-401638">
              <a:defRPr/>
            </a:pPr>
            <a:r>
              <a:rPr lang="en-US" b="1" dirty="0">
                <a:solidFill>
                  <a:srgbClr val="000000"/>
                </a:solidFill>
                <a:latin typeface="Arial" charset="0"/>
                <a:ea typeface="ＭＳ Ｐゴシック" charset="0"/>
              </a:rPr>
              <a:t>2.</a:t>
            </a:r>
            <a:r>
              <a:rPr lang="en-US" dirty="0">
                <a:solidFill>
                  <a:srgbClr val="000000"/>
                </a:solidFill>
                <a:latin typeface="Arial" charset="0"/>
                <a:ea typeface="ＭＳ Ｐゴシック" charset="0"/>
              </a:rPr>
              <a:t> </a:t>
            </a:r>
            <a:r>
              <a:rPr lang="en-US" sz="2400" dirty="0">
                <a:solidFill>
                  <a:srgbClr val="000000"/>
                </a:solidFill>
                <a:latin typeface="Arial" charset="0"/>
                <a:ea typeface="ＭＳ Ｐゴシック" charset="0"/>
              </a:rPr>
              <a:t>If the price level is above 110, real GDP exceeds potential GDP.</a:t>
            </a:r>
          </a:p>
          <a:p>
            <a:pPr marL="401638" indent="-401638">
              <a:defRPr/>
            </a:pPr>
            <a:endParaRPr lang="en-US" dirty="0">
              <a:latin typeface="Arial" charset="0"/>
              <a:ea typeface="ＭＳ Ｐゴシック" charset="0"/>
            </a:endParaRPr>
          </a:p>
        </p:txBody>
      </p:sp>
      <p:sp>
        <p:nvSpPr>
          <p:cNvPr id="933901" name="Rectangle 13">
            <a:extLst>
              <a:ext uri="{FF2B5EF4-FFF2-40B4-BE49-F238E27FC236}">
                <a16:creationId xmlns:a16="http://schemas.microsoft.com/office/drawing/2014/main" id="{0C84BB1D-92AF-4D71-6BDF-5A252B39C440}"/>
              </a:ext>
            </a:extLst>
          </p:cNvPr>
          <p:cNvSpPr>
            <a:spLocks noChangeArrowheads="1"/>
          </p:cNvSpPr>
          <p:nvPr/>
        </p:nvSpPr>
        <p:spPr bwMode="auto">
          <a:xfrm>
            <a:off x="76200" y="4495800"/>
            <a:ext cx="3048000"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1638" indent="-401638">
              <a:defRPr/>
            </a:pPr>
            <a:r>
              <a:rPr lang="en-US" b="1" dirty="0">
                <a:solidFill>
                  <a:srgbClr val="000000"/>
                </a:solidFill>
                <a:latin typeface="Arial" charset="0"/>
                <a:ea typeface="ＭＳ Ｐゴシック" charset="0"/>
              </a:rPr>
              <a:t>3.</a:t>
            </a:r>
            <a:r>
              <a:rPr lang="en-US" dirty="0">
                <a:solidFill>
                  <a:srgbClr val="000000"/>
                </a:solidFill>
                <a:latin typeface="Arial" charset="0"/>
                <a:ea typeface="ＭＳ Ｐゴシック" charset="0"/>
              </a:rPr>
              <a:t> </a:t>
            </a:r>
            <a:r>
              <a:rPr lang="en-US" sz="2400" dirty="0">
                <a:solidFill>
                  <a:srgbClr val="000000"/>
                </a:solidFill>
                <a:latin typeface="Arial" charset="0"/>
                <a:ea typeface="ＭＳ Ｐゴシック" charset="0"/>
              </a:rPr>
              <a:t>If the price level is below 110, real GDP is less than potential GDP.</a:t>
            </a:r>
            <a:endParaRPr lang="en-US" sz="2400" dirty="0">
              <a:latin typeface="Arial" charset="0"/>
              <a:ea typeface="ＭＳ Ｐゴシック" charset="0"/>
            </a:endParaRPr>
          </a:p>
        </p:txBody>
      </p:sp>
      <p:pic>
        <p:nvPicPr>
          <p:cNvPr id="25606" name="Picture 27" descr="fig2801a.gif">
            <a:extLst>
              <a:ext uri="{FF2B5EF4-FFF2-40B4-BE49-F238E27FC236}">
                <a16:creationId xmlns:a16="http://schemas.microsoft.com/office/drawing/2014/main" id="{08D49EBB-992C-0008-62EB-BD682C56F9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28" descr="fig2801b.gif">
            <a:extLst>
              <a:ext uri="{FF2B5EF4-FFF2-40B4-BE49-F238E27FC236}">
                <a16:creationId xmlns:a16="http://schemas.microsoft.com/office/drawing/2014/main" id="{68EAB6F7-3D27-A8DC-06DF-364164065F9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29" descr="fig2801c.gif">
            <a:extLst>
              <a:ext uri="{FF2B5EF4-FFF2-40B4-BE49-F238E27FC236}">
                <a16:creationId xmlns:a16="http://schemas.microsoft.com/office/drawing/2014/main" id="{B2721A02-0D85-3351-45B9-1A648C2F6C1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9" name="Picture 30" descr="fig2801d.gif">
            <a:extLst>
              <a:ext uri="{FF2B5EF4-FFF2-40B4-BE49-F238E27FC236}">
                <a16:creationId xmlns:a16="http://schemas.microsoft.com/office/drawing/2014/main" id="{5112094A-B136-7D73-E988-77C5B8E05F8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Picture 31" descr="fig2801e.gif">
            <a:extLst>
              <a:ext uri="{FF2B5EF4-FFF2-40B4-BE49-F238E27FC236}">
                <a16:creationId xmlns:a16="http://schemas.microsoft.com/office/drawing/2014/main" id="{F1CD0591-3B0C-0F0B-CBE4-434479BFE85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Picture 32" descr="fig2801f.gif">
            <a:extLst>
              <a:ext uri="{FF2B5EF4-FFF2-40B4-BE49-F238E27FC236}">
                <a16:creationId xmlns:a16="http://schemas.microsoft.com/office/drawing/2014/main" id="{0F7F597C-85F1-5CB7-B2F3-1D2EB7B3377E}"/>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2" name="Picture 33" descr="fig2801g.gif">
            <a:extLst>
              <a:ext uri="{FF2B5EF4-FFF2-40B4-BE49-F238E27FC236}">
                <a16:creationId xmlns:a16="http://schemas.microsoft.com/office/drawing/2014/main" id="{4C9F2139-6EA7-36FD-2E30-E18D08D0ABEB}"/>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34" descr="fig2801h.gif">
            <a:extLst>
              <a:ext uri="{FF2B5EF4-FFF2-40B4-BE49-F238E27FC236}">
                <a16:creationId xmlns:a16="http://schemas.microsoft.com/office/drawing/2014/main" id="{06F3FDA2-588B-D0FD-FAE5-D53CB54AE61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fig2801i.gif">
            <a:extLst>
              <a:ext uri="{FF2B5EF4-FFF2-40B4-BE49-F238E27FC236}">
                <a16:creationId xmlns:a16="http://schemas.microsoft.com/office/drawing/2014/main" id="{7689215B-9165-7634-EA54-135D5772F1F8}"/>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6" descr="fig2801j.gif">
            <a:extLst>
              <a:ext uri="{FF2B5EF4-FFF2-40B4-BE49-F238E27FC236}">
                <a16:creationId xmlns:a16="http://schemas.microsoft.com/office/drawing/2014/main" id="{A57516A1-8B37-908F-6BC9-E49085E65734}"/>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3352800" y="2971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1000"/>
                                        <p:tgtEl>
                                          <p:spTgt spid="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3893"/>
                                        </p:tgtEl>
                                        <p:attrNameLst>
                                          <p:attrName>style.visibility</p:attrName>
                                        </p:attrNameLst>
                                      </p:cBhvr>
                                      <p:to>
                                        <p:strVal val="visible"/>
                                      </p:to>
                                    </p:set>
                                    <p:animEffect transition="in" filter="wipe(left)">
                                      <p:cBhvr>
                                        <p:cTn id="12" dur="500"/>
                                        <p:tgtEl>
                                          <p:spTgt spid="933893"/>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left)">
                                      <p:cBhvr>
                                        <p:cTn id="16" dur="1000"/>
                                        <p:tgtEl>
                                          <p:spTgt spid="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33901"/>
                                        </p:tgtEl>
                                        <p:attrNameLst>
                                          <p:attrName>style.visibility</p:attrName>
                                        </p:attrNameLst>
                                      </p:cBhvr>
                                      <p:to>
                                        <p:strVal val="visible"/>
                                      </p:to>
                                    </p:set>
                                    <p:animEffect transition="in" filter="wipe(left)">
                                      <p:cBhvr>
                                        <p:cTn id="21" dur="500"/>
                                        <p:tgtEl>
                                          <p:spTgt spid="933901"/>
                                        </p:tgtEl>
                                      </p:cBhvr>
                                    </p:animEffect>
                                  </p:childTnLst>
                                </p:cTn>
                              </p:par>
                            </p:childTnLst>
                          </p:cTn>
                        </p:par>
                        <p:par>
                          <p:cTn id="22" fill="hold" nodeType="afterGroup">
                            <p:stCondLst>
                              <p:cond delay="500"/>
                            </p:stCondLst>
                            <p:childTnLst>
                              <p:par>
                                <p:cTn id="23" presetID="22" presetClass="entr" presetSubtype="2"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right)">
                                      <p:cBhvr>
                                        <p:cTn id="2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893" grpId="0" autoUpdateAnimBg="0"/>
      <p:bldP spid="933901"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6674" name="Rectangle 2">
            <a:extLst>
              <a:ext uri="{FF2B5EF4-FFF2-40B4-BE49-F238E27FC236}">
                <a16:creationId xmlns:a16="http://schemas.microsoft.com/office/drawing/2014/main" id="{076D3EE9-A43A-69F2-8C37-2EE22B048A58}"/>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6675" name="Rectangle 3">
            <a:extLst>
              <a:ext uri="{FF2B5EF4-FFF2-40B4-BE49-F238E27FC236}">
                <a16:creationId xmlns:a16="http://schemas.microsoft.com/office/drawing/2014/main" id="{09575AC7-FD02-6115-53D0-DCCEF180962A}"/>
              </a:ext>
            </a:extLst>
          </p:cNvPr>
          <p:cNvSpPr>
            <a:spLocks noGrp="1" noChangeArrowheads="1"/>
          </p:cNvSpPr>
          <p:nvPr>
            <p:ph type="body" idx="1"/>
          </p:nvPr>
        </p:nvSpPr>
        <p:spPr/>
        <p:txBody>
          <a:bodyPr/>
          <a:lstStyle/>
          <a:p>
            <a:pPr lvl="1" eaLnBrk="1" hangingPunct="1">
              <a:defRPr/>
            </a:pPr>
            <a:r>
              <a:rPr lang="en-US" b="1" dirty="0">
                <a:solidFill>
                  <a:srgbClr val="00468F"/>
                </a:solidFill>
              </a:rPr>
              <a:t>Why the </a:t>
            </a:r>
            <a:r>
              <a:rPr lang="en-US" b="1" i="1" dirty="0">
                <a:solidFill>
                  <a:srgbClr val="00468F"/>
                </a:solidFill>
              </a:rPr>
              <a:t>AS</a:t>
            </a:r>
            <a:r>
              <a:rPr lang="en-US" b="1" dirty="0">
                <a:solidFill>
                  <a:srgbClr val="00468F"/>
                </a:solidFill>
              </a:rPr>
              <a:t> Curve Slopes Upward</a:t>
            </a:r>
          </a:p>
          <a:p>
            <a:pPr lvl="1" eaLnBrk="1" hangingPunct="1">
              <a:defRPr/>
            </a:pPr>
            <a:r>
              <a:rPr lang="en-US" dirty="0"/>
              <a:t>When the price level </a:t>
            </a:r>
            <a:r>
              <a:rPr lang="en-US" dirty="0">
                <a:solidFill>
                  <a:srgbClr val="C00000"/>
                </a:solidFill>
              </a:rPr>
              <a:t>rises</a:t>
            </a:r>
            <a:r>
              <a:rPr lang="en-US" dirty="0"/>
              <a:t> and the money wage rate is </a:t>
            </a:r>
            <a:r>
              <a:rPr lang="en-US" dirty="0">
                <a:solidFill>
                  <a:srgbClr val="C00000"/>
                </a:solidFill>
              </a:rPr>
              <a:t>constant</a:t>
            </a:r>
            <a:r>
              <a:rPr lang="en-US" dirty="0"/>
              <a:t>, the real wage rate </a:t>
            </a:r>
            <a:r>
              <a:rPr lang="en-US" dirty="0">
                <a:solidFill>
                  <a:srgbClr val="C00000"/>
                </a:solidFill>
              </a:rPr>
              <a:t>falls </a:t>
            </a:r>
            <a:r>
              <a:rPr lang="en-US" dirty="0"/>
              <a:t>and employment </a:t>
            </a:r>
            <a:r>
              <a:rPr lang="en-US" dirty="0">
                <a:solidFill>
                  <a:srgbClr val="C00000"/>
                </a:solidFill>
              </a:rPr>
              <a:t>increases</a:t>
            </a:r>
            <a:r>
              <a:rPr lang="en-US" dirty="0"/>
              <a:t>. The quantity of real GDP supplied </a:t>
            </a:r>
            <a:r>
              <a:rPr lang="en-US" dirty="0">
                <a:solidFill>
                  <a:srgbClr val="C00000"/>
                </a:solidFill>
              </a:rPr>
              <a:t>increases</a:t>
            </a:r>
            <a:r>
              <a:rPr lang="en-US" dirty="0"/>
              <a:t>.</a:t>
            </a:r>
          </a:p>
          <a:p>
            <a:pPr lvl="1" eaLnBrk="1" hangingPunct="1">
              <a:defRPr/>
            </a:pPr>
            <a:r>
              <a:rPr lang="en-US" dirty="0"/>
              <a:t>When the price level </a:t>
            </a:r>
            <a:r>
              <a:rPr lang="en-US" dirty="0">
                <a:solidFill>
                  <a:srgbClr val="C00000"/>
                </a:solidFill>
              </a:rPr>
              <a:t>falls</a:t>
            </a:r>
            <a:r>
              <a:rPr lang="en-US" dirty="0"/>
              <a:t> and the money wage rate is constant, the real wage rate </a:t>
            </a:r>
            <a:r>
              <a:rPr lang="en-US" dirty="0">
                <a:solidFill>
                  <a:srgbClr val="C00000"/>
                </a:solidFill>
              </a:rPr>
              <a:t>rises</a:t>
            </a:r>
            <a:r>
              <a:rPr lang="en-US" dirty="0"/>
              <a:t> and employment </a:t>
            </a:r>
            <a:r>
              <a:rPr lang="en-US" dirty="0">
                <a:solidFill>
                  <a:srgbClr val="C00000"/>
                </a:solidFill>
              </a:rPr>
              <a:t>decreases</a:t>
            </a:r>
            <a:r>
              <a:rPr lang="en-US" dirty="0"/>
              <a:t>. The quantity of real GDP supplied </a:t>
            </a:r>
            <a:r>
              <a:rPr lang="en-US" dirty="0">
                <a:solidFill>
                  <a:srgbClr val="C00000"/>
                </a:solidFill>
              </a:rPr>
              <a:t>decreases</a:t>
            </a:r>
            <a:r>
              <a:rPr lang="en-US" dirty="0"/>
              <a: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6675">
                                            <p:txEl>
                                              <p:pRg st="1" end="1"/>
                                            </p:txEl>
                                          </p:spTgt>
                                        </p:tgtEl>
                                        <p:attrNameLst>
                                          <p:attrName>style.visibility</p:attrName>
                                        </p:attrNameLst>
                                      </p:cBhvr>
                                      <p:to>
                                        <p:strVal val="visible"/>
                                      </p:to>
                                    </p:set>
                                    <p:animEffect transition="in" filter="wipe(left)">
                                      <p:cBhvr>
                                        <p:cTn id="7" dur="500"/>
                                        <p:tgtEl>
                                          <p:spTgt spid="7966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6675">
                                            <p:txEl>
                                              <p:pRg st="2" end="2"/>
                                            </p:txEl>
                                          </p:spTgt>
                                        </p:tgtEl>
                                        <p:attrNameLst>
                                          <p:attrName>style.visibility</p:attrName>
                                        </p:attrNameLst>
                                      </p:cBhvr>
                                      <p:to>
                                        <p:strVal val="visible"/>
                                      </p:to>
                                    </p:set>
                                    <p:animEffect transition="in" filter="wipe(left)">
                                      <p:cBhvr>
                                        <p:cTn id="12" dur="500"/>
                                        <p:tgtEl>
                                          <p:spTgt spid="796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5" grpId="0"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7698" name="Rectangle 2">
            <a:extLst>
              <a:ext uri="{FF2B5EF4-FFF2-40B4-BE49-F238E27FC236}">
                <a16:creationId xmlns:a16="http://schemas.microsoft.com/office/drawing/2014/main" id="{25D62ECE-1739-FB41-E532-ED3E14AAB5E6}"/>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7699" name="Rectangle 3">
            <a:extLst>
              <a:ext uri="{FF2B5EF4-FFF2-40B4-BE49-F238E27FC236}">
                <a16:creationId xmlns:a16="http://schemas.microsoft.com/office/drawing/2014/main" id="{4E161F21-4144-670C-4239-FB2FE70F1028}"/>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 </a:t>
            </a:r>
            <a:r>
              <a:rPr lang="en-US" dirty="0">
                <a:solidFill>
                  <a:srgbClr val="C00000"/>
                </a:solidFill>
                <a:cs typeface="+mn-cs"/>
              </a:rPr>
              <a:t>Changes in Aggregate Supply</a:t>
            </a:r>
          </a:p>
          <a:p>
            <a:pPr lvl="1" eaLnBrk="1" hangingPunct="1">
              <a:defRPr/>
            </a:pPr>
            <a:r>
              <a:rPr lang="en-US" dirty="0">
                <a:solidFill>
                  <a:srgbClr val="000000"/>
                </a:solidFill>
              </a:rPr>
              <a:t>Aggregate supply changes when any influence on production plans other than the price level changes. </a:t>
            </a:r>
          </a:p>
          <a:p>
            <a:pPr lvl="1" eaLnBrk="1" hangingPunct="1">
              <a:defRPr/>
            </a:pPr>
            <a:r>
              <a:rPr lang="en-US" dirty="0">
                <a:solidFill>
                  <a:srgbClr val="000000"/>
                </a:solidFill>
              </a:rPr>
              <a:t>In particular, aggregate supply </a:t>
            </a:r>
            <a:r>
              <a:rPr lang="en-US" dirty="0">
                <a:solidFill>
                  <a:srgbClr val="C00000"/>
                </a:solidFill>
              </a:rPr>
              <a:t>changes</a:t>
            </a:r>
            <a:r>
              <a:rPr lang="en-US" dirty="0">
                <a:solidFill>
                  <a:srgbClr val="000000"/>
                </a:solidFill>
              </a:rPr>
              <a:t> when</a:t>
            </a:r>
          </a:p>
          <a:p>
            <a:pPr lvl="2" eaLnBrk="1" hangingPunct="1">
              <a:defRPr/>
            </a:pPr>
            <a:r>
              <a:rPr lang="en-US" sz="2800" dirty="0">
                <a:solidFill>
                  <a:srgbClr val="000000"/>
                </a:solidFill>
              </a:rPr>
              <a:t>Potential GDP changes.</a:t>
            </a:r>
          </a:p>
          <a:p>
            <a:pPr lvl="2" eaLnBrk="1" hangingPunct="1">
              <a:defRPr/>
            </a:pPr>
            <a:r>
              <a:rPr lang="en-US" sz="2800" dirty="0">
                <a:solidFill>
                  <a:srgbClr val="000000"/>
                </a:solidFill>
              </a:rPr>
              <a:t>The money wage rate changes.</a:t>
            </a:r>
          </a:p>
          <a:p>
            <a:pPr lvl="2" eaLnBrk="1" hangingPunct="1">
              <a:defRPr/>
            </a:pPr>
            <a:r>
              <a:rPr lang="en-US" sz="2800" dirty="0">
                <a:solidFill>
                  <a:srgbClr val="000000"/>
                </a:solidFill>
              </a:rPr>
              <a:t>The money prices of other resources change.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7699">
                                            <p:txEl>
                                              <p:pRg st="1" end="1"/>
                                            </p:txEl>
                                          </p:spTgt>
                                        </p:tgtEl>
                                        <p:attrNameLst>
                                          <p:attrName>style.visibility</p:attrName>
                                        </p:attrNameLst>
                                      </p:cBhvr>
                                      <p:to>
                                        <p:strVal val="visible"/>
                                      </p:to>
                                    </p:set>
                                    <p:animEffect transition="in" filter="wipe(left)">
                                      <p:cBhvr>
                                        <p:cTn id="7" dur="500"/>
                                        <p:tgtEl>
                                          <p:spTgt spid="7976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7699">
                                            <p:txEl>
                                              <p:pRg st="2" end="2"/>
                                            </p:txEl>
                                          </p:spTgt>
                                        </p:tgtEl>
                                        <p:attrNameLst>
                                          <p:attrName>style.visibility</p:attrName>
                                        </p:attrNameLst>
                                      </p:cBhvr>
                                      <p:to>
                                        <p:strVal val="visible"/>
                                      </p:to>
                                    </p:set>
                                    <p:animEffect transition="in" filter="wipe(left)">
                                      <p:cBhvr>
                                        <p:cTn id="12" dur="500"/>
                                        <p:tgtEl>
                                          <p:spTgt spid="7976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7699">
                                            <p:txEl>
                                              <p:pRg st="3" end="3"/>
                                            </p:txEl>
                                          </p:spTgt>
                                        </p:tgtEl>
                                        <p:attrNameLst>
                                          <p:attrName>style.visibility</p:attrName>
                                        </p:attrNameLst>
                                      </p:cBhvr>
                                      <p:to>
                                        <p:strVal val="visible"/>
                                      </p:to>
                                    </p:set>
                                    <p:animEffect transition="in" filter="wipe(left)">
                                      <p:cBhvr>
                                        <p:cTn id="17" dur="500"/>
                                        <p:tgtEl>
                                          <p:spTgt spid="79769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7699">
                                            <p:txEl>
                                              <p:pRg st="4" end="4"/>
                                            </p:txEl>
                                          </p:spTgt>
                                        </p:tgtEl>
                                        <p:attrNameLst>
                                          <p:attrName>style.visibility</p:attrName>
                                        </p:attrNameLst>
                                      </p:cBhvr>
                                      <p:to>
                                        <p:strVal val="visible"/>
                                      </p:to>
                                    </p:set>
                                    <p:animEffect transition="in" filter="wipe(left)">
                                      <p:cBhvr>
                                        <p:cTn id="22" dur="500"/>
                                        <p:tgtEl>
                                          <p:spTgt spid="79769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97699">
                                            <p:txEl>
                                              <p:pRg st="5" end="5"/>
                                            </p:txEl>
                                          </p:spTgt>
                                        </p:tgtEl>
                                        <p:attrNameLst>
                                          <p:attrName>style.visibility</p:attrName>
                                        </p:attrNameLst>
                                      </p:cBhvr>
                                      <p:to>
                                        <p:strVal val="visible"/>
                                      </p:to>
                                    </p:set>
                                    <p:animEffect transition="in" filter="wipe(left)">
                                      <p:cBhvr>
                                        <p:cTn id="27" dur="500"/>
                                        <p:tgtEl>
                                          <p:spTgt spid="797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9" grpId="0" build="p" bldLvl="3"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8722" name="Rectangle 2">
            <a:extLst>
              <a:ext uri="{FF2B5EF4-FFF2-40B4-BE49-F238E27FC236}">
                <a16:creationId xmlns:a16="http://schemas.microsoft.com/office/drawing/2014/main" id="{6F34BAAD-4101-8530-087D-0FF92EF40BDB}"/>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8723" name="Rectangle 3">
            <a:extLst>
              <a:ext uri="{FF2B5EF4-FFF2-40B4-BE49-F238E27FC236}">
                <a16:creationId xmlns:a16="http://schemas.microsoft.com/office/drawing/2014/main" id="{3F4107FD-9960-94A1-1F58-D674860A2310}"/>
              </a:ext>
            </a:extLst>
          </p:cNvPr>
          <p:cNvSpPr>
            <a:spLocks noGrp="1" noChangeArrowheads="1"/>
          </p:cNvSpPr>
          <p:nvPr>
            <p:ph type="body" idx="1"/>
          </p:nvPr>
        </p:nvSpPr>
        <p:spPr/>
        <p:txBody>
          <a:bodyPr/>
          <a:lstStyle/>
          <a:p>
            <a:pPr lvl="1" eaLnBrk="1" hangingPunct="1">
              <a:defRPr/>
            </a:pPr>
            <a:r>
              <a:rPr lang="en-US" b="1" dirty="0">
                <a:solidFill>
                  <a:srgbClr val="00468F"/>
                </a:solidFill>
              </a:rPr>
              <a:t>Changes in Potential GDP</a:t>
            </a:r>
          </a:p>
          <a:p>
            <a:pPr lvl="1" eaLnBrk="1" hangingPunct="1">
              <a:defRPr/>
            </a:pPr>
            <a:r>
              <a:rPr lang="en-US" dirty="0">
                <a:solidFill>
                  <a:srgbClr val="000000"/>
                </a:solidFill>
              </a:rPr>
              <a:t>Anything that changes potential GDP changes aggregate supply and shifts the aggregate supply curve.</a:t>
            </a:r>
          </a:p>
          <a:p>
            <a:pPr lvl="1" eaLnBrk="1" hangingPunct="1">
              <a:defRPr/>
            </a:pPr>
            <a:r>
              <a:rPr lang="en-US" dirty="0">
                <a:solidFill>
                  <a:srgbClr val="000000"/>
                </a:solidFill>
              </a:rPr>
              <a:t>Figure 28.1 on the next slide illustrates.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23">
                                            <p:txEl>
                                              <p:pRg st="1" end="1"/>
                                            </p:txEl>
                                          </p:spTgt>
                                        </p:tgtEl>
                                        <p:attrNameLst>
                                          <p:attrName>style.visibility</p:attrName>
                                        </p:attrNameLst>
                                      </p:cBhvr>
                                      <p:to>
                                        <p:strVal val="visible"/>
                                      </p:to>
                                    </p:set>
                                    <p:animEffect transition="in" filter="wipe(left)">
                                      <p:cBhvr>
                                        <p:cTn id="7" dur="500"/>
                                        <p:tgtEl>
                                          <p:spTgt spid="7987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23">
                                            <p:txEl>
                                              <p:pRg st="2" end="2"/>
                                            </p:txEl>
                                          </p:spTgt>
                                        </p:tgtEl>
                                        <p:attrNameLst>
                                          <p:attrName>style.visibility</p:attrName>
                                        </p:attrNameLst>
                                      </p:cBhvr>
                                      <p:to>
                                        <p:strVal val="visible"/>
                                      </p:to>
                                    </p:set>
                                    <p:animEffect transition="in" filter="wipe(left)">
                                      <p:cBhvr>
                                        <p:cTn id="12" dur="500"/>
                                        <p:tgtEl>
                                          <p:spTgt spid="7987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3"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99746" name="Rectangle 2">
            <a:extLst>
              <a:ext uri="{FF2B5EF4-FFF2-40B4-BE49-F238E27FC236}">
                <a16:creationId xmlns:a16="http://schemas.microsoft.com/office/drawing/2014/main" id="{00CD05F2-BB90-1720-FCA8-7E4B400FAAFB}"/>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799748" name="Rectangle 4">
            <a:extLst>
              <a:ext uri="{FF2B5EF4-FFF2-40B4-BE49-F238E27FC236}">
                <a16:creationId xmlns:a16="http://schemas.microsoft.com/office/drawing/2014/main" id="{EAF2761F-77D2-3B94-6265-8D5BBD9CA1E1}"/>
              </a:ext>
            </a:extLst>
          </p:cNvPr>
          <p:cNvSpPr>
            <a:spLocks noChangeArrowheads="1"/>
          </p:cNvSpPr>
          <p:nvPr/>
        </p:nvSpPr>
        <p:spPr bwMode="auto">
          <a:xfrm>
            <a:off x="76200" y="3352800"/>
            <a:ext cx="4113213" cy="1193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01638" indent="-401638">
              <a:defRPr/>
            </a:pPr>
            <a:r>
              <a:rPr lang="en-US" b="1" dirty="0">
                <a:latin typeface="Arial" charset="0"/>
                <a:ea typeface="ＭＳ Ｐゴシック" charset="0"/>
              </a:rPr>
              <a:t>1.</a:t>
            </a:r>
            <a:r>
              <a:rPr lang="en-US" dirty="0">
                <a:latin typeface="Arial" charset="0"/>
                <a:ea typeface="ＭＳ Ｐゴシック" charset="0"/>
              </a:rPr>
              <a:t>  </a:t>
            </a:r>
            <a:r>
              <a:rPr lang="en-US" sz="2400" dirty="0">
                <a:solidFill>
                  <a:srgbClr val="000000"/>
                </a:solidFill>
                <a:latin typeface="Arial" charset="0"/>
                <a:ea typeface="ＭＳ Ｐゴシック" charset="0"/>
              </a:rPr>
              <a:t>An increase in potential GDP shifts the potential GDP line rightward and ...</a:t>
            </a:r>
          </a:p>
        </p:txBody>
      </p:sp>
      <p:sp>
        <p:nvSpPr>
          <p:cNvPr id="799749" name="Rectangle 5">
            <a:extLst>
              <a:ext uri="{FF2B5EF4-FFF2-40B4-BE49-F238E27FC236}">
                <a16:creationId xmlns:a16="http://schemas.microsoft.com/office/drawing/2014/main" id="{90A36D78-F50C-2877-06C5-02F95933E150}"/>
              </a:ext>
            </a:extLst>
          </p:cNvPr>
          <p:cNvSpPr>
            <a:spLocks noChangeArrowheads="1"/>
          </p:cNvSpPr>
          <p:nvPr/>
        </p:nvSpPr>
        <p:spPr bwMode="auto">
          <a:xfrm>
            <a:off x="76200" y="4724400"/>
            <a:ext cx="4110038" cy="137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61963" indent="-461963">
              <a:defRPr/>
            </a:pPr>
            <a:r>
              <a:rPr lang="en-US" b="1" dirty="0">
                <a:latin typeface="Arial" charset="0"/>
                <a:ea typeface="ＭＳ Ｐゴシック" charset="0"/>
              </a:rPr>
              <a:t>2. </a:t>
            </a:r>
            <a:r>
              <a:rPr lang="en-US" sz="2400" dirty="0">
                <a:solidFill>
                  <a:srgbClr val="000000"/>
                </a:solidFill>
                <a:latin typeface="Arial" charset="0"/>
                <a:ea typeface="ＭＳ Ｐゴシック" charset="0"/>
              </a:rPr>
              <a:t>The aggregate supply curve shifts rightward  from </a:t>
            </a:r>
            <a:r>
              <a:rPr lang="en-US" sz="2400" i="1" dirty="0">
                <a:solidFill>
                  <a:srgbClr val="000000"/>
                </a:solidFill>
                <a:latin typeface="Arial" charset="0"/>
                <a:ea typeface="ＭＳ Ｐゴシック" charset="0"/>
              </a:rPr>
              <a:t>AS</a:t>
            </a:r>
            <a:r>
              <a:rPr lang="en-US" sz="2400" baseline="-25000" dirty="0">
                <a:solidFill>
                  <a:srgbClr val="000000"/>
                </a:solidFill>
                <a:latin typeface="Arial" charset="0"/>
                <a:ea typeface="ＭＳ Ｐゴシック" charset="0"/>
              </a:rPr>
              <a:t>0</a:t>
            </a:r>
            <a:r>
              <a:rPr lang="en-US" sz="2400" dirty="0">
                <a:solidFill>
                  <a:srgbClr val="000000"/>
                </a:solidFill>
                <a:latin typeface="Arial" charset="0"/>
                <a:ea typeface="ＭＳ Ｐゴシック" charset="0"/>
              </a:rPr>
              <a:t> to </a:t>
            </a:r>
            <a:r>
              <a:rPr lang="en-US" sz="2400" i="1" dirty="0">
                <a:solidFill>
                  <a:srgbClr val="000000"/>
                </a:solidFill>
                <a:latin typeface="Arial" charset="0"/>
                <a:ea typeface="ＭＳ Ｐゴシック" charset="0"/>
              </a:rPr>
              <a:t>AS</a:t>
            </a:r>
            <a:r>
              <a:rPr lang="en-US" sz="2400" baseline="-25000" dirty="0">
                <a:solidFill>
                  <a:srgbClr val="000000"/>
                </a:solidFill>
                <a:latin typeface="Arial" charset="0"/>
                <a:ea typeface="ＭＳ Ｐゴシック" charset="0"/>
              </a:rPr>
              <a:t>1</a:t>
            </a:r>
            <a:r>
              <a:rPr lang="en-US" sz="2400" dirty="0">
                <a:solidFill>
                  <a:srgbClr val="000000"/>
                </a:solidFill>
                <a:latin typeface="Arial" charset="0"/>
                <a:ea typeface="ＭＳ Ｐゴシック" charset="0"/>
              </a:rPr>
              <a:t>.</a:t>
            </a:r>
          </a:p>
          <a:p>
            <a:pPr marL="461963" indent="-461963">
              <a:defRPr/>
            </a:pPr>
            <a:endParaRPr lang="en-US" dirty="0">
              <a:latin typeface="Arial" charset="0"/>
              <a:ea typeface="ＭＳ Ｐゴシック" charset="0"/>
            </a:endParaRPr>
          </a:p>
        </p:txBody>
      </p:sp>
      <p:sp>
        <p:nvSpPr>
          <p:cNvPr id="799757" name="Rectangle 13">
            <a:extLst>
              <a:ext uri="{FF2B5EF4-FFF2-40B4-BE49-F238E27FC236}">
                <a16:creationId xmlns:a16="http://schemas.microsoft.com/office/drawing/2014/main" id="{9D388415-D091-5A95-91DD-FD698A6D9EF3}"/>
              </a:ext>
            </a:extLst>
          </p:cNvPr>
          <p:cNvSpPr>
            <a:spLocks noChangeArrowheads="1"/>
          </p:cNvSpPr>
          <p:nvPr/>
        </p:nvSpPr>
        <p:spPr bwMode="auto">
          <a:xfrm>
            <a:off x="152400" y="1981200"/>
            <a:ext cx="4037013" cy="121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Point </a:t>
            </a:r>
            <a:r>
              <a:rPr lang="en-US" sz="2400" i="1" dirty="0">
                <a:latin typeface="Arial" charset="0"/>
                <a:ea typeface="ＭＳ Ｐゴシック" charset="0"/>
              </a:rPr>
              <a:t>C</a:t>
            </a:r>
            <a:r>
              <a:rPr lang="en-US" sz="2400" dirty="0">
                <a:latin typeface="Arial" charset="0"/>
                <a:ea typeface="ＭＳ Ｐゴシック" charset="0"/>
              </a:rPr>
              <a:t> at the intersection of the potential GDP line and </a:t>
            </a:r>
            <a:r>
              <a:rPr lang="en-US" sz="2400" i="1" dirty="0">
                <a:latin typeface="Arial" charset="0"/>
                <a:ea typeface="ＭＳ Ｐゴシック" charset="0"/>
              </a:rPr>
              <a:t>AS</a:t>
            </a:r>
            <a:r>
              <a:rPr lang="en-US" sz="2400" dirty="0">
                <a:latin typeface="Arial" charset="0"/>
                <a:ea typeface="ＭＳ Ｐゴシック" charset="0"/>
              </a:rPr>
              <a:t> curve is an anchor point.</a:t>
            </a:r>
          </a:p>
        </p:txBody>
      </p:sp>
      <p:pic>
        <p:nvPicPr>
          <p:cNvPr id="33797" name="Picture 13" descr="fig2802a.gif">
            <a:extLst>
              <a:ext uri="{FF2B5EF4-FFF2-40B4-BE49-F238E27FC236}">
                <a16:creationId xmlns:a16="http://schemas.microsoft.com/office/drawing/2014/main" id="{12971285-707E-A182-E5AE-C32CCF6870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86238" y="1600200"/>
            <a:ext cx="48402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802b.gif">
            <a:extLst>
              <a:ext uri="{FF2B5EF4-FFF2-40B4-BE49-F238E27FC236}">
                <a16:creationId xmlns:a16="http://schemas.microsoft.com/office/drawing/2014/main" id="{89EEB51E-DC02-CFEA-6E20-0D6C3E628CF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1600200"/>
            <a:ext cx="48402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2802c.gif">
            <a:extLst>
              <a:ext uri="{FF2B5EF4-FFF2-40B4-BE49-F238E27FC236}">
                <a16:creationId xmlns:a16="http://schemas.microsoft.com/office/drawing/2014/main" id="{F761AA68-CCAD-4CD2-B6F9-0EBD5E4D67F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86238" y="1600200"/>
            <a:ext cx="48402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9748"/>
                                        </p:tgtEl>
                                        <p:attrNameLst>
                                          <p:attrName>style.visibility</p:attrName>
                                        </p:attrNameLst>
                                      </p:cBhvr>
                                      <p:to>
                                        <p:strVal val="visible"/>
                                      </p:to>
                                    </p:set>
                                    <p:animEffect transition="in" filter="wipe(left)">
                                      <p:cBhvr>
                                        <p:cTn id="7" dur="500"/>
                                        <p:tgtEl>
                                          <p:spTgt spid="79974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99749"/>
                                        </p:tgtEl>
                                        <p:attrNameLst>
                                          <p:attrName>style.visibility</p:attrName>
                                        </p:attrNameLst>
                                      </p:cBhvr>
                                      <p:to>
                                        <p:strVal val="visible"/>
                                      </p:to>
                                    </p:set>
                                    <p:animEffect transition="in" filter="wipe(left)">
                                      <p:cBhvr>
                                        <p:cTn id="16" dur="500"/>
                                        <p:tgtEl>
                                          <p:spTgt spid="79974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8" grpId="0" autoUpdateAnimBg="0"/>
      <p:bldP spid="79974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0770" name="Rectangle 2">
            <a:extLst>
              <a:ext uri="{FF2B5EF4-FFF2-40B4-BE49-F238E27FC236}">
                <a16:creationId xmlns:a16="http://schemas.microsoft.com/office/drawing/2014/main" id="{29AC88E8-57D6-1B39-E34D-AC8D17760F5C}"/>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800771" name="Rectangle 3">
            <a:extLst>
              <a:ext uri="{FF2B5EF4-FFF2-40B4-BE49-F238E27FC236}">
                <a16:creationId xmlns:a16="http://schemas.microsoft.com/office/drawing/2014/main" id="{39DC2195-30D8-EEA4-9B6A-6D50CB00E924}"/>
              </a:ext>
            </a:extLst>
          </p:cNvPr>
          <p:cNvSpPr>
            <a:spLocks noGrp="1" noChangeArrowheads="1"/>
          </p:cNvSpPr>
          <p:nvPr>
            <p:ph type="body" idx="1"/>
          </p:nvPr>
        </p:nvSpPr>
        <p:spPr>
          <a:xfrm>
            <a:off x="179512" y="1600200"/>
            <a:ext cx="8507288" cy="4525963"/>
          </a:xfrm>
        </p:spPr>
        <p:txBody>
          <a:bodyPr/>
          <a:lstStyle/>
          <a:p>
            <a:pPr lvl="1" eaLnBrk="1" hangingPunct="1"/>
            <a:r>
              <a:rPr lang="en-US" altLang="en-TW" b="1" dirty="0">
                <a:solidFill>
                  <a:srgbClr val="00468F"/>
                </a:solidFill>
              </a:rPr>
              <a:t>Change in Money Wage Rate</a:t>
            </a:r>
          </a:p>
          <a:p>
            <a:pPr lvl="1" eaLnBrk="1" hangingPunct="1"/>
            <a:r>
              <a:rPr lang="en-US" altLang="en-TW" dirty="0">
                <a:solidFill>
                  <a:srgbClr val="000000"/>
                </a:solidFill>
              </a:rPr>
              <a:t>A change in the money wage rate changes aggregate supply because it changes firms</a:t>
            </a:r>
            <a:r>
              <a:rPr lang="en-US" altLang="en-US" dirty="0">
                <a:solidFill>
                  <a:srgbClr val="000000"/>
                </a:solidFill>
              </a:rPr>
              <a:t>’</a:t>
            </a:r>
            <a:r>
              <a:rPr lang="en-US" altLang="en-TW" dirty="0">
                <a:solidFill>
                  <a:srgbClr val="000000"/>
                </a:solidFill>
              </a:rPr>
              <a:t> costs. </a:t>
            </a:r>
          </a:p>
          <a:p>
            <a:pPr lvl="1" eaLnBrk="1" hangingPunct="1"/>
            <a:r>
              <a:rPr lang="en-US" altLang="en-TW" dirty="0">
                <a:solidFill>
                  <a:srgbClr val="000000"/>
                </a:solidFill>
              </a:rPr>
              <a:t>The higher the money wage rate, the higher are firms</a:t>
            </a:r>
            <a:r>
              <a:rPr lang="en-US" altLang="en-US" dirty="0">
                <a:solidFill>
                  <a:srgbClr val="000000"/>
                </a:solidFill>
              </a:rPr>
              <a:t>’</a:t>
            </a:r>
            <a:r>
              <a:rPr lang="en-US" altLang="en-TW" dirty="0">
                <a:solidFill>
                  <a:srgbClr val="000000"/>
                </a:solidFill>
              </a:rPr>
              <a:t> costs and the smaller is the quantity that firms are willing to supply at each price level. </a:t>
            </a:r>
          </a:p>
          <a:p>
            <a:pPr lvl="1" eaLnBrk="1" hangingPunct="1"/>
            <a:r>
              <a:rPr lang="en-US" altLang="en-TW" dirty="0">
                <a:solidFill>
                  <a:srgbClr val="000000"/>
                </a:solidFill>
              </a:rPr>
              <a:t>So an increase in the money wage rate decreases aggregate supply.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0771">
                                            <p:txEl>
                                              <p:pRg st="2" end="2"/>
                                            </p:txEl>
                                          </p:spTgt>
                                        </p:tgtEl>
                                        <p:attrNameLst>
                                          <p:attrName>style.visibility</p:attrName>
                                        </p:attrNameLst>
                                      </p:cBhvr>
                                      <p:to>
                                        <p:strVal val="visible"/>
                                      </p:to>
                                    </p:set>
                                    <p:animEffect transition="in" filter="wipe(left)">
                                      <p:cBhvr>
                                        <p:cTn id="7" dur="500"/>
                                        <p:tgtEl>
                                          <p:spTgt spid="8007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0771">
                                            <p:txEl>
                                              <p:pRg st="3" end="3"/>
                                            </p:txEl>
                                          </p:spTgt>
                                        </p:tgtEl>
                                        <p:attrNameLst>
                                          <p:attrName>style.visibility</p:attrName>
                                        </p:attrNameLst>
                                      </p:cBhvr>
                                      <p:to>
                                        <p:strVal val="visible"/>
                                      </p:to>
                                    </p:set>
                                    <p:animEffect transition="in" filter="wipe(left)">
                                      <p:cBhvr>
                                        <p:cTn id="12" dur="500"/>
                                        <p:tgtEl>
                                          <p:spTgt spid="800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1" grpId="0" build="p" bldLvl="3"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55C83C23-48EB-A51E-C191-F2BDD4D9AE6A}"/>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801795" name="Rectangle 3">
            <a:extLst>
              <a:ext uri="{FF2B5EF4-FFF2-40B4-BE49-F238E27FC236}">
                <a16:creationId xmlns:a16="http://schemas.microsoft.com/office/drawing/2014/main" id="{472321D4-2941-DEA5-71F1-6670D4627563}"/>
              </a:ext>
            </a:extLst>
          </p:cNvPr>
          <p:cNvSpPr>
            <a:spLocks noGrp="1" noChangeArrowheads="1"/>
          </p:cNvSpPr>
          <p:nvPr>
            <p:ph type="body" idx="1"/>
          </p:nvPr>
        </p:nvSpPr>
        <p:spPr>
          <a:xfrm>
            <a:off x="381000" y="1676400"/>
            <a:ext cx="3886200" cy="1066800"/>
          </a:xfrm>
        </p:spPr>
        <p:txBody>
          <a:bodyPr/>
          <a:lstStyle/>
          <a:p>
            <a:pPr marL="0" indent="0" eaLnBrk="1" hangingPunct="1">
              <a:lnSpc>
                <a:spcPct val="90000"/>
              </a:lnSpc>
              <a:spcBef>
                <a:spcPct val="0"/>
              </a:spcBef>
              <a:buClrTx/>
              <a:buFontTx/>
              <a:buNone/>
              <a:defRPr/>
            </a:pPr>
            <a:r>
              <a:rPr lang="en-US" sz="2400" b="0" dirty="0">
                <a:solidFill>
                  <a:schemeClr val="tx1"/>
                </a:solidFill>
                <a:cs typeface="+mn-cs"/>
              </a:rPr>
              <a:t>Figure 28.3 shows the effect of a change in the money wage rate.</a:t>
            </a:r>
          </a:p>
        </p:txBody>
      </p:sp>
      <p:sp>
        <p:nvSpPr>
          <p:cNvPr id="801796" name="Rectangle 4">
            <a:extLst>
              <a:ext uri="{FF2B5EF4-FFF2-40B4-BE49-F238E27FC236}">
                <a16:creationId xmlns:a16="http://schemas.microsoft.com/office/drawing/2014/main" id="{30C0BCA8-3837-CDFE-D157-7AF1AAB09AF6}"/>
              </a:ext>
            </a:extLst>
          </p:cNvPr>
          <p:cNvSpPr>
            <a:spLocks noChangeArrowheads="1"/>
          </p:cNvSpPr>
          <p:nvPr/>
        </p:nvSpPr>
        <p:spPr bwMode="auto">
          <a:xfrm>
            <a:off x="381000" y="2971800"/>
            <a:ext cx="4114800"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A rise in the money wage rate decreases aggregate supply and the aggregate supply curve shifts leftward from </a:t>
            </a:r>
            <a:r>
              <a:rPr lang="en-US" sz="2400" i="1" dirty="0">
                <a:latin typeface="Arial" charset="0"/>
                <a:ea typeface="ＭＳ Ｐゴシック" charset="0"/>
              </a:rPr>
              <a:t>AS</a:t>
            </a:r>
            <a:r>
              <a:rPr lang="en-US" sz="2400" baseline="-25000" dirty="0">
                <a:latin typeface="Arial" charset="0"/>
                <a:ea typeface="ＭＳ Ｐゴシック" charset="0"/>
              </a:rPr>
              <a:t>0</a:t>
            </a:r>
            <a:r>
              <a:rPr lang="en-US" sz="2400" dirty="0">
                <a:latin typeface="Arial" charset="0"/>
                <a:ea typeface="ＭＳ Ｐゴシック" charset="0"/>
              </a:rPr>
              <a:t> to </a:t>
            </a:r>
            <a:r>
              <a:rPr lang="en-US" sz="2400" i="1" dirty="0">
                <a:latin typeface="Arial" charset="0"/>
                <a:ea typeface="ＭＳ Ｐゴシック" charset="0"/>
              </a:rPr>
              <a:t>AS</a:t>
            </a:r>
            <a:r>
              <a:rPr lang="en-US" sz="2400" baseline="-25000" dirty="0">
                <a:latin typeface="Arial" charset="0"/>
                <a:ea typeface="ＭＳ Ｐゴシック" charset="0"/>
              </a:rPr>
              <a:t>2</a:t>
            </a:r>
            <a:r>
              <a:rPr lang="en-US" sz="2400" dirty="0">
                <a:latin typeface="Arial" charset="0"/>
                <a:ea typeface="ＭＳ Ｐゴシック" charset="0"/>
              </a:rPr>
              <a:t>. </a:t>
            </a:r>
          </a:p>
        </p:txBody>
      </p:sp>
      <p:sp>
        <p:nvSpPr>
          <p:cNvPr id="801797" name="Rectangle 5">
            <a:extLst>
              <a:ext uri="{FF2B5EF4-FFF2-40B4-BE49-F238E27FC236}">
                <a16:creationId xmlns:a16="http://schemas.microsoft.com/office/drawing/2014/main" id="{783B9AD0-0698-1294-047A-489FAEDDDA54}"/>
              </a:ext>
            </a:extLst>
          </p:cNvPr>
          <p:cNvSpPr>
            <a:spLocks noChangeArrowheads="1"/>
          </p:cNvSpPr>
          <p:nvPr/>
        </p:nvSpPr>
        <p:spPr bwMode="auto">
          <a:xfrm>
            <a:off x="381000" y="5181600"/>
            <a:ext cx="4114800" cy="121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A rise in the money wage rate does not change potential GDP.</a:t>
            </a:r>
          </a:p>
        </p:txBody>
      </p:sp>
      <p:pic>
        <p:nvPicPr>
          <p:cNvPr id="39941" name="Picture 10" descr="fig2803a.gif">
            <a:extLst>
              <a:ext uri="{FF2B5EF4-FFF2-40B4-BE49-F238E27FC236}">
                <a16:creationId xmlns:a16="http://schemas.microsoft.com/office/drawing/2014/main" id="{68372002-71DC-8C23-2FF4-5097189D56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86238" y="1600200"/>
            <a:ext cx="48402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2803b.gif">
            <a:extLst>
              <a:ext uri="{FF2B5EF4-FFF2-40B4-BE49-F238E27FC236}">
                <a16:creationId xmlns:a16="http://schemas.microsoft.com/office/drawing/2014/main" id="{F324FFC5-2167-F4AA-747B-F342EF81EBB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86238" y="1600200"/>
            <a:ext cx="4840287"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1796"/>
                                        </p:tgtEl>
                                        <p:attrNameLst>
                                          <p:attrName>style.visibility</p:attrName>
                                        </p:attrNameLst>
                                      </p:cBhvr>
                                      <p:to>
                                        <p:strVal val="visible"/>
                                      </p:to>
                                    </p:set>
                                    <p:animEffect transition="in" filter="wipe(left)">
                                      <p:cBhvr>
                                        <p:cTn id="7" dur="500"/>
                                        <p:tgtEl>
                                          <p:spTgt spid="801796"/>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1000"/>
                                        <p:tgtEl>
                                          <p:spTgt spid="1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01797"/>
                                        </p:tgtEl>
                                        <p:attrNameLst>
                                          <p:attrName>style.visibility</p:attrName>
                                        </p:attrNameLst>
                                      </p:cBhvr>
                                      <p:to>
                                        <p:strVal val="visible"/>
                                      </p:to>
                                    </p:set>
                                    <p:animEffect transition="in" filter="wipe(left)">
                                      <p:cBhvr>
                                        <p:cTn id="16" dur="500"/>
                                        <p:tgtEl>
                                          <p:spTgt spid="801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autoUpdateAnimBg="0"/>
      <p:bldP spid="80179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04898" name="Rectangle 2">
            <a:extLst>
              <a:ext uri="{FF2B5EF4-FFF2-40B4-BE49-F238E27FC236}">
                <a16:creationId xmlns:a16="http://schemas.microsoft.com/office/drawing/2014/main" id="{90AEE0AD-9B0C-E5B6-71D3-F2BE599C84AD}"/>
              </a:ext>
            </a:extLst>
          </p:cNvPr>
          <p:cNvSpPr>
            <a:spLocks noGrp="1" noChangeArrowheads="1"/>
          </p:cNvSpPr>
          <p:nvPr>
            <p:ph type="title"/>
          </p:nvPr>
        </p:nvSpPr>
        <p:spPr/>
        <p:txBody>
          <a:bodyPr/>
          <a:lstStyle/>
          <a:p>
            <a:pPr eaLnBrk="1" hangingPunct="1">
              <a:defRPr/>
            </a:pPr>
            <a:r>
              <a:rPr lang="en-US" dirty="0">
                <a:cs typeface="+mj-cs"/>
              </a:rPr>
              <a:t>28.1  AGGREGATE SUPPLY</a:t>
            </a:r>
            <a:endParaRPr lang="en-CA" dirty="0">
              <a:cs typeface="+mj-cs"/>
            </a:endParaRPr>
          </a:p>
        </p:txBody>
      </p:sp>
      <p:sp>
        <p:nvSpPr>
          <p:cNvPr id="1104899" name="Rectangle 3">
            <a:extLst>
              <a:ext uri="{FF2B5EF4-FFF2-40B4-BE49-F238E27FC236}">
                <a16:creationId xmlns:a16="http://schemas.microsoft.com/office/drawing/2014/main" id="{7F74C944-D055-49DD-DCEA-B0242828F797}"/>
              </a:ext>
            </a:extLst>
          </p:cNvPr>
          <p:cNvSpPr>
            <a:spLocks noGrp="1" noChangeArrowheads="1"/>
          </p:cNvSpPr>
          <p:nvPr>
            <p:ph type="body" idx="1"/>
          </p:nvPr>
        </p:nvSpPr>
        <p:spPr>
          <a:xfrm>
            <a:off x="107504" y="1600200"/>
            <a:ext cx="8784976" cy="4525963"/>
          </a:xfrm>
        </p:spPr>
        <p:txBody>
          <a:bodyPr/>
          <a:lstStyle/>
          <a:p>
            <a:pPr lvl="1" eaLnBrk="1" hangingPunct="1"/>
            <a:r>
              <a:rPr lang="en-US" altLang="en-TW" b="1" dirty="0">
                <a:solidFill>
                  <a:srgbClr val="00468F"/>
                </a:solidFill>
              </a:rPr>
              <a:t>Change in Money Prices of Other Resources</a:t>
            </a:r>
          </a:p>
          <a:p>
            <a:pPr lvl="1" eaLnBrk="1" hangingPunct="1"/>
            <a:r>
              <a:rPr lang="en-US" altLang="en-TW" dirty="0">
                <a:solidFill>
                  <a:srgbClr val="000000"/>
                </a:solidFill>
              </a:rPr>
              <a:t>A change in the money prices of other resources changes aggregate supply because it changes firms</a:t>
            </a:r>
            <a:r>
              <a:rPr lang="en-US" altLang="en-US" dirty="0">
                <a:solidFill>
                  <a:srgbClr val="000000"/>
                </a:solidFill>
              </a:rPr>
              <a:t>’</a:t>
            </a:r>
            <a:r>
              <a:rPr lang="en-US" altLang="en-TW" dirty="0">
                <a:solidFill>
                  <a:srgbClr val="000000"/>
                </a:solidFill>
              </a:rPr>
              <a:t> costs. </a:t>
            </a:r>
          </a:p>
          <a:p>
            <a:pPr lvl="1" eaLnBrk="1" hangingPunct="1"/>
            <a:r>
              <a:rPr lang="en-US" altLang="en-TW" dirty="0">
                <a:solidFill>
                  <a:srgbClr val="000000"/>
                </a:solidFill>
              </a:rPr>
              <a:t>The higher the money prices of other resources, the higher are firms</a:t>
            </a:r>
            <a:r>
              <a:rPr lang="en-US" altLang="en-US" dirty="0">
                <a:solidFill>
                  <a:srgbClr val="000000"/>
                </a:solidFill>
              </a:rPr>
              <a:t>’</a:t>
            </a:r>
            <a:r>
              <a:rPr lang="en-US" altLang="en-TW" dirty="0">
                <a:solidFill>
                  <a:srgbClr val="000000"/>
                </a:solidFill>
              </a:rPr>
              <a:t> costs and the smaller is the quantity that firms are willing to supply at each price level. </a:t>
            </a:r>
          </a:p>
          <a:p>
            <a:pPr lvl="1" eaLnBrk="1" hangingPunct="1"/>
            <a:r>
              <a:rPr lang="en-US" altLang="en-TW" dirty="0">
                <a:solidFill>
                  <a:srgbClr val="000000"/>
                </a:solidFill>
              </a:rPr>
              <a:t>So an increase in the money prices of other resources decreases aggregate supply.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4899">
                                            <p:txEl>
                                              <p:pRg st="2" end="2"/>
                                            </p:txEl>
                                          </p:spTgt>
                                        </p:tgtEl>
                                        <p:attrNameLst>
                                          <p:attrName>style.visibility</p:attrName>
                                        </p:attrNameLst>
                                      </p:cBhvr>
                                      <p:to>
                                        <p:strVal val="visible"/>
                                      </p:to>
                                    </p:set>
                                    <p:animEffect transition="in" filter="wipe(left)">
                                      <p:cBhvr>
                                        <p:cTn id="7" dur="500"/>
                                        <p:tgtEl>
                                          <p:spTgt spid="110489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4899">
                                            <p:txEl>
                                              <p:pRg st="3" end="3"/>
                                            </p:txEl>
                                          </p:spTgt>
                                        </p:tgtEl>
                                        <p:attrNameLst>
                                          <p:attrName>style.visibility</p:attrName>
                                        </p:attrNameLst>
                                      </p:cBhvr>
                                      <p:to>
                                        <p:strVal val="visible"/>
                                      </p:to>
                                    </p:set>
                                    <p:animEffect transition="in" filter="wipe(left)">
                                      <p:cBhvr>
                                        <p:cTn id="12" dur="500"/>
                                        <p:tgtEl>
                                          <p:spTgt spid="11048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4899" grpId="0" build="p" bldLvl="3"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2818" name="Rectangle 2">
            <a:extLst>
              <a:ext uri="{FF2B5EF4-FFF2-40B4-BE49-F238E27FC236}">
                <a16:creationId xmlns:a16="http://schemas.microsoft.com/office/drawing/2014/main" id="{4E795360-CE16-E478-7782-53B274315911}"/>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2819" name="Rectangle 3">
            <a:extLst>
              <a:ext uri="{FF2B5EF4-FFF2-40B4-BE49-F238E27FC236}">
                <a16:creationId xmlns:a16="http://schemas.microsoft.com/office/drawing/2014/main" id="{B57AC6E2-8E37-E2B7-5520-A84AE514CF38}"/>
              </a:ext>
            </a:extLst>
          </p:cNvPr>
          <p:cNvSpPr>
            <a:spLocks noGrp="1" noChangeArrowheads="1"/>
          </p:cNvSpPr>
          <p:nvPr>
            <p:ph type="body" idx="1"/>
          </p:nvPr>
        </p:nvSpPr>
        <p:spPr/>
        <p:txBody>
          <a:bodyPr/>
          <a:lstStyle/>
          <a:p>
            <a:pPr lvl="1" eaLnBrk="1" hangingPunct="1">
              <a:lnSpc>
                <a:spcPct val="95000"/>
              </a:lnSpc>
            </a:pPr>
            <a:r>
              <a:rPr lang="en-US" altLang="en-TW" dirty="0"/>
              <a:t>The </a:t>
            </a:r>
            <a:r>
              <a:rPr lang="en-US" altLang="en-TW" i="1" dirty="0"/>
              <a:t>quantity of real GDP demanded</a:t>
            </a:r>
            <a:r>
              <a:rPr lang="en-US" altLang="en-TW" dirty="0"/>
              <a:t> is the total amount of final goods and services produced in the United States that people, businesses, governments, and foreigners plan to buy. </a:t>
            </a:r>
          </a:p>
          <a:p>
            <a:pPr lvl="1" eaLnBrk="1" hangingPunct="1">
              <a:lnSpc>
                <a:spcPct val="95000"/>
              </a:lnSpc>
            </a:pPr>
            <a:r>
              <a:rPr lang="en-US" altLang="en-TW" dirty="0"/>
              <a:t>This quantity is the sum of the real consumption expenditure (</a:t>
            </a:r>
            <a:r>
              <a:rPr lang="en-US" altLang="en-TW" i="1" dirty="0"/>
              <a:t>C</a:t>
            </a:r>
            <a:r>
              <a:rPr lang="en-US" altLang="en-TW" dirty="0"/>
              <a:t>), investment (</a:t>
            </a:r>
            <a:r>
              <a:rPr lang="en-US" altLang="en-TW" i="1" dirty="0"/>
              <a:t>I</a:t>
            </a:r>
            <a:r>
              <a:rPr lang="en-US" altLang="en-TW" dirty="0"/>
              <a:t>), government expenditure on goods and services (</a:t>
            </a:r>
            <a:r>
              <a:rPr lang="en-US" altLang="en-TW" i="1" dirty="0"/>
              <a:t>G</a:t>
            </a:r>
            <a:r>
              <a:rPr lang="en-US" altLang="en-TW" dirty="0"/>
              <a:t>), and exports (</a:t>
            </a:r>
            <a:r>
              <a:rPr lang="en-US" altLang="en-TW" i="1" dirty="0"/>
              <a:t>X</a:t>
            </a:r>
            <a:r>
              <a:rPr lang="en-US" altLang="en-TW" dirty="0"/>
              <a:t>) minus imports (</a:t>
            </a:r>
            <a:r>
              <a:rPr lang="en-US" altLang="en-TW" i="1" dirty="0"/>
              <a:t>M</a:t>
            </a:r>
            <a:r>
              <a:rPr lang="en-US" altLang="en-TW" dirty="0"/>
              <a:t>).</a:t>
            </a:r>
          </a:p>
          <a:p>
            <a:pPr lvl="1" eaLnBrk="1" hangingPunct="1">
              <a:lnSpc>
                <a:spcPct val="95000"/>
              </a:lnSpc>
            </a:pPr>
            <a:r>
              <a:rPr lang="en-US" altLang="en-TW" dirty="0"/>
              <a:t>That is,</a:t>
            </a:r>
          </a:p>
          <a:p>
            <a:pPr marL="457200" lvl="1" indent="0" algn="ctr" eaLnBrk="1" hangingPunct="1">
              <a:lnSpc>
                <a:spcPct val="95000"/>
              </a:lnSpc>
              <a:buNone/>
            </a:pPr>
            <a:r>
              <a:rPr lang="en-US" altLang="en-TW" i="1" dirty="0"/>
              <a:t>Y</a:t>
            </a:r>
            <a:r>
              <a:rPr lang="en-US" altLang="en-TW" dirty="0"/>
              <a:t> = </a:t>
            </a:r>
            <a:r>
              <a:rPr lang="en-US" altLang="en-TW" i="1" dirty="0"/>
              <a:t>C</a:t>
            </a:r>
            <a:r>
              <a:rPr lang="en-US" altLang="en-TW" dirty="0"/>
              <a:t> + </a:t>
            </a:r>
            <a:r>
              <a:rPr lang="en-US" altLang="en-TW" i="1" dirty="0"/>
              <a:t>I</a:t>
            </a:r>
            <a:r>
              <a:rPr lang="en-US" altLang="en-TW" dirty="0"/>
              <a:t> + </a:t>
            </a:r>
            <a:r>
              <a:rPr lang="en-US" altLang="en-TW" i="1" dirty="0"/>
              <a:t>G</a:t>
            </a:r>
            <a:r>
              <a:rPr lang="en-US" altLang="en-TW" dirty="0"/>
              <a:t> + </a:t>
            </a:r>
            <a:r>
              <a:rPr lang="en-US" altLang="en-TW" i="1" dirty="0"/>
              <a:t>X</a:t>
            </a:r>
            <a:r>
              <a:rPr lang="en-US" altLang="en-TW" dirty="0"/>
              <a:t> – </a:t>
            </a:r>
            <a:r>
              <a:rPr lang="en-US" altLang="en-TW" i="1" dirty="0"/>
              <a:t>M</a:t>
            </a:r>
            <a:endParaRPr lang="en-CA" altLang="en-TW" i="1"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2819">
                                            <p:txEl>
                                              <p:pRg st="0" end="0"/>
                                            </p:txEl>
                                          </p:spTgt>
                                        </p:tgtEl>
                                        <p:attrNameLst>
                                          <p:attrName>style.visibility</p:attrName>
                                        </p:attrNameLst>
                                      </p:cBhvr>
                                      <p:to>
                                        <p:strVal val="visible"/>
                                      </p:to>
                                    </p:set>
                                    <p:animEffect transition="in" filter="wipe(left)">
                                      <p:cBhvr>
                                        <p:cTn id="7" dur="500"/>
                                        <p:tgtEl>
                                          <p:spTgt spid="80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2819">
                                            <p:txEl>
                                              <p:pRg st="1" end="1"/>
                                            </p:txEl>
                                          </p:spTgt>
                                        </p:tgtEl>
                                        <p:attrNameLst>
                                          <p:attrName>style.visibility</p:attrName>
                                        </p:attrNameLst>
                                      </p:cBhvr>
                                      <p:to>
                                        <p:strVal val="visible"/>
                                      </p:to>
                                    </p:set>
                                    <p:animEffect transition="in" filter="wipe(left)">
                                      <p:cBhvr>
                                        <p:cTn id="12" dur="500"/>
                                        <p:tgtEl>
                                          <p:spTgt spid="802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2819">
                                            <p:txEl>
                                              <p:pRg st="2" end="2"/>
                                            </p:txEl>
                                          </p:spTgt>
                                        </p:tgtEl>
                                        <p:attrNameLst>
                                          <p:attrName>style.visibility</p:attrName>
                                        </p:attrNameLst>
                                      </p:cBhvr>
                                      <p:to>
                                        <p:strVal val="visible"/>
                                      </p:to>
                                    </p:set>
                                    <p:animEffect transition="in" filter="wipe(left)">
                                      <p:cBhvr>
                                        <p:cTn id="17" dur="500"/>
                                        <p:tgtEl>
                                          <p:spTgt spid="802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02819">
                                            <p:txEl>
                                              <p:pRg st="3" end="3"/>
                                            </p:txEl>
                                          </p:spTgt>
                                        </p:tgtEl>
                                        <p:attrNameLst>
                                          <p:attrName>style.visibility</p:attrName>
                                        </p:attrNameLst>
                                      </p:cBhvr>
                                      <p:to>
                                        <p:strVal val="visible"/>
                                      </p:to>
                                    </p:set>
                                    <p:animEffect transition="in" filter="wipe(left)">
                                      <p:cBhvr>
                                        <p:cTn id="22" dur="500"/>
                                        <p:tgtEl>
                                          <p:spTgt spid="802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19" grpId="0" build="p" bldLvl="3"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4914" name="Rectangle 2">
            <a:extLst>
              <a:ext uri="{FF2B5EF4-FFF2-40B4-BE49-F238E27FC236}">
                <a16:creationId xmlns:a16="http://schemas.microsoft.com/office/drawing/2014/main" id="{9484E5D8-9F62-1EF1-5BE8-B31674C20838}"/>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934915" name="Rectangle 3">
            <a:extLst>
              <a:ext uri="{FF2B5EF4-FFF2-40B4-BE49-F238E27FC236}">
                <a16:creationId xmlns:a16="http://schemas.microsoft.com/office/drawing/2014/main" id="{DF2D1CEC-EF80-23F6-7667-61FFF6DCEAD9}"/>
              </a:ext>
            </a:extLst>
          </p:cNvPr>
          <p:cNvSpPr>
            <a:spLocks noGrp="1" noChangeArrowheads="1"/>
          </p:cNvSpPr>
          <p:nvPr>
            <p:ph type="body" idx="1"/>
          </p:nvPr>
        </p:nvSpPr>
        <p:spPr/>
        <p:txBody>
          <a:bodyPr/>
          <a:lstStyle/>
          <a:p>
            <a:pPr eaLnBrk="1" hangingPunct="1">
              <a:buFont typeface="Webdings" charset="0"/>
              <a:buChar char="&lt;"/>
              <a:defRPr/>
            </a:pPr>
            <a:r>
              <a:rPr lang="en-US">
                <a:cs typeface="+mn-cs"/>
              </a:rPr>
              <a:t>Aggregate Demand Basics</a:t>
            </a:r>
            <a:endParaRPr lang="en-US">
              <a:solidFill>
                <a:srgbClr val="1566B0"/>
              </a:solidFill>
              <a:cs typeface="+mn-cs"/>
            </a:endParaRPr>
          </a:p>
          <a:p>
            <a:pPr lvl="1" eaLnBrk="1" hangingPunct="1">
              <a:defRPr/>
            </a:pPr>
            <a:r>
              <a:rPr lang="en-US" sz="2600" b="1">
                <a:solidFill>
                  <a:srgbClr val="FF0000"/>
                </a:solidFill>
              </a:rPr>
              <a:t>Aggregate demand</a:t>
            </a:r>
            <a:r>
              <a:rPr lang="en-US"/>
              <a:t> is the relationship between the quantity of real GDP demanded and the price level when all other influences on expenditure plans remain the same.</a:t>
            </a:r>
          </a:p>
          <a:p>
            <a:pPr lvl="1" eaLnBrk="1" hangingPunct="1">
              <a:defRPr/>
            </a:pPr>
            <a:endParaRPr lang="en-CA" i="1"/>
          </a:p>
        </p:txBody>
      </p:sp>
      <p:sp>
        <p:nvSpPr>
          <p:cNvPr id="934916" name="Rectangle 4">
            <a:extLst>
              <a:ext uri="{FF2B5EF4-FFF2-40B4-BE49-F238E27FC236}">
                <a16:creationId xmlns:a16="http://schemas.microsoft.com/office/drawing/2014/main" id="{64A9F7F9-4E90-7FA5-CC13-B1193175D9DC}"/>
              </a:ext>
            </a:extLst>
          </p:cNvPr>
          <p:cNvSpPr>
            <a:spLocks noChangeArrowheads="1"/>
          </p:cNvSpPr>
          <p:nvPr/>
        </p:nvSpPr>
        <p:spPr bwMode="auto">
          <a:xfrm>
            <a:off x="609600" y="4098925"/>
            <a:ext cx="7315200" cy="2378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vl="1">
              <a:lnSpc>
                <a:spcPct val="105000"/>
              </a:lnSpc>
              <a:spcBef>
                <a:spcPct val="50000"/>
              </a:spcBef>
              <a:defRPr/>
            </a:pPr>
            <a:r>
              <a:rPr lang="en-US" sz="2400" dirty="0">
                <a:solidFill>
                  <a:srgbClr val="000000"/>
                </a:solidFill>
                <a:latin typeface="Arial" charset="0"/>
                <a:ea typeface="ＭＳ Ｐゴシック" charset="0"/>
              </a:rPr>
              <a:t>Other things remaining the same,</a:t>
            </a:r>
          </a:p>
          <a:p>
            <a:pPr marL="1146175" lvl="2" indent="-231775">
              <a:lnSpc>
                <a:spcPct val="105000"/>
              </a:lnSpc>
              <a:spcBef>
                <a:spcPct val="50000"/>
              </a:spcBef>
              <a:buClr>
                <a:srgbClr val="00468F"/>
              </a:buClr>
              <a:buFontTx/>
              <a:buChar char="•"/>
              <a:defRPr/>
            </a:pPr>
            <a:r>
              <a:rPr lang="en-US" sz="2400" dirty="0">
                <a:solidFill>
                  <a:srgbClr val="000000"/>
                </a:solidFill>
                <a:latin typeface="Arial" charset="0"/>
                <a:ea typeface="ＭＳ Ｐゴシック" charset="0"/>
              </a:rPr>
              <a:t>When the price level rises, the quantity of real GDP demanded decreases.</a:t>
            </a:r>
          </a:p>
          <a:p>
            <a:pPr marL="1146175" lvl="2" indent="-231775">
              <a:lnSpc>
                <a:spcPct val="105000"/>
              </a:lnSpc>
              <a:spcBef>
                <a:spcPct val="50000"/>
              </a:spcBef>
              <a:buClr>
                <a:srgbClr val="00468F"/>
              </a:buClr>
              <a:buFontTx/>
              <a:buChar char="•"/>
              <a:defRPr/>
            </a:pPr>
            <a:r>
              <a:rPr lang="en-US" sz="2400" dirty="0">
                <a:solidFill>
                  <a:srgbClr val="000000"/>
                </a:solidFill>
                <a:latin typeface="Arial" charset="0"/>
                <a:ea typeface="ＭＳ Ｐゴシック" charset="0"/>
              </a:rPr>
              <a:t>When the price level falls, the quantity of real GDP demanded increases.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4915">
                                            <p:txEl>
                                              <p:pRg st="1" end="1"/>
                                            </p:txEl>
                                          </p:spTgt>
                                        </p:tgtEl>
                                        <p:attrNameLst>
                                          <p:attrName>style.visibility</p:attrName>
                                        </p:attrNameLst>
                                      </p:cBhvr>
                                      <p:to>
                                        <p:strVal val="visible"/>
                                      </p:to>
                                    </p:set>
                                    <p:animEffect transition="in" filter="wipe(left)">
                                      <p:cBhvr>
                                        <p:cTn id="7" dur="500"/>
                                        <p:tgtEl>
                                          <p:spTgt spid="9349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4916">
                                            <p:txEl>
                                              <p:pRg st="0" end="0"/>
                                            </p:txEl>
                                          </p:spTgt>
                                        </p:tgtEl>
                                        <p:attrNameLst>
                                          <p:attrName>style.visibility</p:attrName>
                                        </p:attrNameLst>
                                      </p:cBhvr>
                                      <p:to>
                                        <p:strVal val="visible"/>
                                      </p:to>
                                    </p:set>
                                    <p:animEffect transition="in" filter="wipe(left)">
                                      <p:cBhvr>
                                        <p:cTn id="12" dur="500"/>
                                        <p:tgtEl>
                                          <p:spTgt spid="93491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4916">
                                            <p:txEl>
                                              <p:pRg st="1" end="1"/>
                                            </p:txEl>
                                          </p:spTgt>
                                        </p:tgtEl>
                                        <p:attrNameLst>
                                          <p:attrName>style.visibility</p:attrName>
                                        </p:attrNameLst>
                                      </p:cBhvr>
                                      <p:to>
                                        <p:strVal val="visible"/>
                                      </p:to>
                                    </p:set>
                                    <p:animEffect transition="in" filter="wipe(left)">
                                      <p:cBhvr>
                                        <p:cTn id="17" dur="500"/>
                                        <p:tgtEl>
                                          <p:spTgt spid="93491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4916">
                                            <p:txEl>
                                              <p:pRg st="2" end="2"/>
                                            </p:txEl>
                                          </p:spTgt>
                                        </p:tgtEl>
                                        <p:attrNameLst>
                                          <p:attrName>style.visibility</p:attrName>
                                        </p:attrNameLst>
                                      </p:cBhvr>
                                      <p:to>
                                        <p:strVal val="visible"/>
                                      </p:to>
                                    </p:set>
                                    <p:animEffect transition="in" filter="wipe(left)">
                                      <p:cBhvr>
                                        <p:cTn id="22" dur="500"/>
                                        <p:tgtEl>
                                          <p:spTgt spid="9349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915" grpId="0" build="p" bldLvl="3" autoUpdateAnimBg="0"/>
      <p:bldP spid="934916" grpId="0" build="p" bldLvl="3"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9D7C1A1D-F16F-DAD5-ACB1-B18F6D37EAD7}"/>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51971" name="Rectangle 3">
            <a:extLst>
              <a:ext uri="{FF2B5EF4-FFF2-40B4-BE49-F238E27FC236}">
                <a16:creationId xmlns:a16="http://schemas.microsoft.com/office/drawing/2014/main" id="{F352AF60-0221-B53F-EF5A-5C7D894A0A25}"/>
              </a:ext>
            </a:extLst>
          </p:cNvPr>
          <p:cNvSpPr>
            <a:spLocks noGrp="1" noChangeArrowheads="1"/>
          </p:cNvSpPr>
          <p:nvPr>
            <p:ph type="body" idx="1"/>
          </p:nvPr>
        </p:nvSpPr>
        <p:spPr>
          <a:xfrm>
            <a:off x="304800" y="1828800"/>
            <a:ext cx="8534400" cy="838200"/>
          </a:xfrm>
        </p:spPr>
        <p:txBody>
          <a:bodyPr/>
          <a:lstStyle/>
          <a:p>
            <a:pPr marL="0" indent="0" eaLnBrk="1" hangingPunct="1">
              <a:lnSpc>
                <a:spcPct val="90000"/>
              </a:lnSpc>
              <a:spcBef>
                <a:spcPct val="0"/>
              </a:spcBef>
              <a:buClrTx/>
              <a:buFontTx/>
              <a:buNone/>
              <a:defRPr/>
            </a:pPr>
            <a:r>
              <a:rPr lang="en-US" sz="2400" b="0" dirty="0">
                <a:solidFill>
                  <a:schemeClr val="tx1"/>
                </a:solidFill>
                <a:cs typeface="+mn-cs"/>
              </a:rPr>
              <a:t>Figure 28.4 shows the aggregate demand schedule and aggregate demand curve.</a:t>
            </a:r>
          </a:p>
        </p:txBody>
      </p:sp>
      <p:sp>
        <p:nvSpPr>
          <p:cNvPr id="851978" name="Rectangle 10">
            <a:extLst>
              <a:ext uri="{FF2B5EF4-FFF2-40B4-BE49-F238E27FC236}">
                <a16:creationId xmlns:a16="http://schemas.microsoft.com/office/drawing/2014/main" id="{39DF7CE4-6671-41C4-CB38-611725218D7A}"/>
              </a:ext>
            </a:extLst>
          </p:cNvPr>
          <p:cNvSpPr>
            <a:spLocks noChangeArrowheads="1"/>
          </p:cNvSpPr>
          <p:nvPr/>
        </p:nvSpPr>
        <p:spPr bwMode="auto">
          <a:xfrm>
            <a:off x="76200" y="2705100"/>
            <a:ext cx="3200400"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tabLst>
                <a:tab pos="0" algn="l"/>
              </a:tabLst>
              <a:defRPr/>
            </a:pPr>
            <a:endParaRPr lang="en-US">
              <a:solidFill>
                <a:srgbClr val="000000"/>
              </a:solidFill>
              <a:latin typeface="Arial" charset="0"/>
              <a:ea typeface="ＭＳ Ｐゴシック" charset="0"/>
            </a:endParaRPr>
          </a:p>
        </p:txBody>
      </p:sp>
      <p:sp>
        <p:nvSpPr>
          <p:cNvPr id="851984" name="Rectangle 16">
            <a:extLst>
              <a:ext uri="{FF2B5EF4-FFF2-40B4-BE49-F238E27FC236}">
                <a16:creationId xmlns:a16="http://schemas.microsoft.com/office/drawing/2014/main" id="{9066111D-509C-290B-8CD3-AD0A2833E434}"/>
              </a:ext>
            </a:extLst>
          </p:cNvPr>
          <p:cNvSpPr>
            <a:spLocks noChangeArrowheads="1"/>
          </p:cNvSpPr>
          <p:nvPr/>
        </p:nvSpPr>
        <p:spPr bwMode="auto">
          <a:xfrm>
            <a:off x="230188" y="3200400"/>
            <a:ext cx="2894012"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50800" indent="-50800">
              <a:defRPr/>
            </a:pPr>
            <a:r>
              <a:rPr lang="en-US" sz="2400" dirty="0">
                <a:solidFill>
                  <a:srgbClr val="000000"/>
                </a:solidFill>
                <a:latin typeface="Arial" charset="0"/>
                <a:ea typeface="ＭＳ Ｐゴシック" charset="0"/>
              </a:rPr>
              <a:t>Each point </a:t>
            </a:r>
            <a:r>
              <a:rPr lang="en-US" sz="2400" i="1" dirty="0">
                <a:solidFill>
                  <a:srgbClr val="000000"/>
                </a:solidFill>
                <a:latin typeface="Arial" charset="0"/>
                <a:ea typeface="ＭＳ Ｐゴシック" charset="0"/>
              </a:rPr>
              <a:t>A</a:t>
            </a:r>
            <a:r>
              <a:rPr lang="en-US" sz="2400" dirty="0">
                <a:solidFill>
                  <a:srgbClr val="000000"/>
                </a:solidFill>
                <a:latin typeface="Arial" charset="0"/>
                <a:ea typeface="ＭＳ Ｐゴシック" charset="0"/>
              </a:rPr>
              <a:t> to </a:t>
            </a:r>
            <a:r>
              <a:rPr lang="en-US" sz="2400" i="1" dirty="0">
                <a:solidFill>
                  <a:srgbClr val="000000"/>
                </a:solidFill>
                <a:latin typeface="Arial" charset="0"/>
                <a:ea typeface="ＭＳ Ｐゴシック" charset="0"/>
              </a:rPr>
              <a:t>E</a:t>
            </a:r>
            <a:r>
              <a:rPr lang="en-US" sz="2400" dirty="0">
                <a:solidFill>
                  <a:srgbClr val="000000"/>
                </a:solidFill>
                <a:latin typeface="Arial" charset="0"/>
                <a:ea typeface="ＭＳ Ｐゴシック" charset="0"/>
              </a:rPr>
              <a:t> on the </a:t>
            </a:r>
            <a:r>
              <a:rPr lang="en-US" sz="2400" i="1" dirty="0">
                <a:solidFill>
                  <a:srgbClr val="000000"/>
                </a:solidFill>
                <a:latin typeface="Arial" charset="0"/>
                <a:ea typeface="ＭＳ Ｐゴシック" charset="0"/>
              </a:rPr>
              <a:t>AD</a:t>
            </a:r>
            <a:r>
              <a:rPr lang="en-US" sz="2400" dirty="0">
                <a:solidFill>
                  <a:srgbClr val="000000"/>
                </a:solidFill>
                <a:latin typeface="Arial" charset="0"/>
                <a:ea typeface="ＭＳ Ｐゴシック" charset="0"/>
              </a:rPr>
              <a:t> curve corresponds to a row of the schedule.</a:t>
            </a:r>
          </a:p>
        </p:txBody>
      </p:sp>
      <p:pic>
        <p:nvPicPr>
          <p:cNvPr id="50181" name="Picture 20" descr="fig2804a.gif">
            <a:extLst>
              <a:ext uri="{FF2B5EF4-FFF2-40B4-BE49-F238E27FC236}">
                <a16:creationId xmlns:a16="http://schemas.microsoft.com/office/drawing/2014/main" id="{70B3DBD7-1638-2F39-6AE7-127997D7F3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fig2804b.gif">
            <a:extLst>
              <a:ext uri="{FF2B5EF4-FFF2-40B4-BE49-F238E27FC236}">
                <a16:creationId xmlns:a16="http://schemas.microsoft.com/office/drawing/2014/main" id="{EEEAEE58-72B2-07B4-29F5-8E76FC2C31D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descr="fig2804c.gif">
            <a:extLst>
              <a:ext uri="{FF2B5EF4-FFF2-40B4-BE49-F238E27FC236}">
                <a16:creationId xmlns:a16="http://schemas.microsoft.com/office/drawing/2014/main" id="{BD7A6622-BE57-A4FB-A09A-438BE26AD79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3" descr="fig2804d.gif">
            <a:extLst>
              <a:ext uri="{FF2B5EF4-FFF2-40B4-BE49-F238E27FC236}">
                <a16:creationId xmlns:a16="http://schemas.microsoft.com/office/drawing/2014/main" id="{37E850EF-8153-C62B-242D-F8B7601DFF0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fig2804e.gif">
            <a:extLst>
              <a:ext uri="{FF2B5EF4-FFF2-40B4-BE49-F238E27FC236}">
                <a16:creationId xmlns:a16="http://schemas.microsoft.com/office/drawing/2014/main" id="{B2412D9E-5ABB-0E96-F0B4-2D4C637903C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descr="fig2804f.gif">
            <a:extLst>
              <a:ext uri="{FF2B5EF4-FFF2-40B4-BE49-F238E27FC236}">
                <a16:creationId xmlns:a16="http://schemas.microsoft.com/office/drawing/2014/main" id="{5A3637D2-C97D-A2DF-5345-E55EB8E41B1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6" descr="fig2804g.gif">
            <a:extLst>
              <a:ext uri="{FF2B5EF4-FFF2-40B4-BE49-F238E27FC236}">
                <a16:creationId xmlns:a16="http://schemas.microsoft.com/office/drawing/2014/main" id="{07908FD8-F02D-C83E-A08E-23A7FA22381C}"/>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1984"/>
                                        </p:tgtEl>
                                        <p:attrNameLst>
                                          <p:attrName>style.visibility</p:attrName>
                                        </p:attrNameLst>
                                      </p:cBhvr>
                                      <p:to>
                                        <p:strVal val="visible"/>
                                      </p:to>
                                    </p:set>
                                    <p:animEffect transition="in" filter="wipe(left)">
                                      <p:cBhvr>
                                        <p:cTn id="7" dur="500"/>
                                        <p:tgtEl>
                                          <p:spTgt spid="85198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1000"/>
                                        <p:tgtEl>
                                          <p:spTgt spid="22"/>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1000"/>
                                        <p:tgtEl>
                                          <p:spTgt spid="23"/>
                                        </p:tgtEl>
                                      </p:cBhvr>
                                    </p:animEffect>
                                  </p:childTnLst>
                                </p:cTn>
                              </p:par>
                            </p:childTnLst>
                          </p:cTn>
                        </p:par>
                        <p:par>
                          <p:cTn id="16" fill="hold" nodeType="afterGroup">
                            <p:stCondLst>
                              <p:cond delay="250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1000"/>
                                        <p:tgtEl>
                                          <p:spTgt spid="24"/>
                                        </p:tgtEl>
                                      </p:cBhvr>
                                    </p:animEffect>
                                  </p:childTnLst>
                                </p:cTn>
                              </p:par>
                            </p:childTnLst>
                          </p:cTn>
                        </p:par>
                        <p:par>
                          <p:cTn id="20" fill="hold" nodeType="afterGroup">
                            <p:stCondLst>
                              <p:cond delay="35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1000"/>
                                        <p:tgtEl>
                                          <p:spTgt spid="25"/>
                                        </p:tgtEl>
                                      </p:cBhvr>
                                    </p:animEffect>
                                  </p:childTnLst>
                                </p:cTn>
                              </p:par>
                            </p:childTnLst>
                          </p:cTn>
                        </p:par>
                        <p:par>
                          <p:cTn id="24" fill="hold" nodeType="afterGroup">
                            <p:stCondLst>
                              <p:cond delay="4500"/>
                            </p:stCondLst>
                            <p:childTnLst>
                              <p:par>
                                <p:cTn id="25" presetID="22" presetClass="entr" presetSubtype="8"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10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up)">
                                      <p:cBhvr>
                                        <p:cTn id="3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8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6962" name="Rectangle 2">
            <a:extLst>
              <a:ext uri="{FF2B5EF4-FFF2-40B4-BE49-F238E27FC236}">
                <a16:creationId xmlns:a16="http://schemas.microsoft.com/office/drawing/2014/main" id="{CDC52E42-ACE7-960E-09E2-F8D85FD1DD29}"/>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936963" name="Rectangle 3">
            <a:extLst>
              <a:ext uri="{FF2B5EF4-FFF2-40B4-BE49-F238E27FC236}">
                <a16:creationId xmlns:a16="http://schemas.microsoft.com/office/drawing/2014/main" id="{8A7AF801-EFC0-8C89-9877-64D5CDE1F746}"/>
              </a:ext>
            </a:extLst>
          </p:cNvPr>
          <p:cNvSpPr>
            <a:spLocks noGrp="1" noChangeArrowheads="1"/>
          </p:cNvSpPr>
          <p:nvPr>
            <p:ph type="body" idx="1"/>
          </p:nvPr>
        </p:nvSpPr>
        <p:spPr>
          <a:xfrm>
            <a:off x="304800" y="1828800"/>
            <a:ext cx="5257800" cy="533400"/>
          </a:xfrm>
        </p:spPr>
        <p:txBody>
          <a:bodyPr/>
          <a:lstStyle/>
          <a:p>
            <a:pPr marL="0" indent="0" eaLnBrk="1" hangingPunct="1">
              <a:spcBef>
                <a:spcPct val="0"/>
              </a:spcBef>
              <a:buClrTx/>
              <a:buFontTx/>
              <a:buNone/>
              <a:defRPr/>
            </a:pPr>
            <a:r>
              <a:rPr lang="en-US" sz="2400" b="0">
                <a:solidFill>
                  <a:schemeClr val="tx1"/>
                </a:solidFill>
                <a:cs typeface="+mn-cs"/>
              </a:rPr>
              <a:t>The quantity of real GDP demanded</a:t>
            </a:r>
          </a:p>
        </p:txBody>
      </p:sp>
      <p:sp>
        <p:nvSpPr>
          <p:cNvPr id="936964" name="Rectangle 4">
            <a:extLst>
              <a:ext uri="{FF2B5EF4-FFF2-40B4-BE49-F238E27FC236}">
                <a16:creationId xmlns:a16="http://schemas.microsoft.com/office/drawing/2014/main" id="{76E7A9B2-472D-9592-7682-BA263021055B}"/>
              </a:ext>
            </a:extLst>
          </p:cNvPr>
          <p:cNvSpPr>
            <a:spLocks noChangeArrowheads="1"/>
          </p:cNvSpPr>
          <p:nvPr/>
        </p:nvSpPr>
        <p:spPr bwMode="auto">
          <a:xfrm>
            <a:off x="304800" y="3886200"/>
            <a:ext cx="2971800" cy="121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defRPr/>
            </a:pPr>
            <a:r>
              <a:rPr lang="en-US" sz="2400" b="1" dirty="0">
                <a:solidFill>
                  <a:srgbClr val="000000"/>
                </a:solidFill>
                <a:latin typeface="Arial" charset="0"/>
                <a:ea typeface="ＭＳ Ｐゴシック" charset="0"/>
              </a:rPr>
              <a:t>2.</a:t>
            </a:r>
            <a:r>
              <a:rPr lang="en-US" sz="2400" dirty="0">
                <a:solidFill>
                  <a:srgbClr val="000000"/>
                </a:solidFill>
                <a:latin typeface="Arial" charset="0"/>
                <a:ea typeface="ＭＳ Ｐゴシック" charset="0"/>
              </a:rPr>
              <a:t> Increases when the price level falls.</a:t>
            </a:r>
          </a:p>
        </p:txBody>
      </p:sp>
      <p:sp>
        <p:nvSpPr>
          <p:cNvPr id="936965" name="Rectangle 5">
            <a:extLst>
              <a:ext uri="{FF2B5EF4-FFF2-40B4-BE49-F238E27FC236}">
                <a16:creationId xmlns:a16="http://schemas.microsoft.com/office/drawing/2014/main" id="{CC18F787-4674-F0FF-9DDB-03BF1B3DC405}"/>
              </a:ext>
            </a:extLst>
          </p:cNvPr>
          <p:cNvSpPr>
            <a:spLocks noChangeArrowheads="1"/>
          </p:cNvSpPr>
          <p:nvPr/>
        </p:nvSpPr>
        <p:spPr bwMode="auto">
          <a:xfrm>
            <a:off x="76200" y="2705100"/>
            <a:ext cx="3200400"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a:tabLst>
                <a:tab pos="0" algn="l"/>
              </a:tabLst>
              <a:defRPr/>
            </a:pPr>
            <a:endParaRPr lang="en-US">
              <a:solidFill>
                <a:srgbClr val="000000"/>
              </a:solidFill>
              <a:latin typeface="Arial" charset="0"/>
              <a:ea typeface="ＭＳ Ｐゴシック" charset="0"/>
            </a:endParaRPr>
          </a:p>
        </p:txBody>
      </p:sp>
      <p:sp>
        <p:nvSpPr>
          <p:cNvPr id="936971" name="Rectangle 11">
            <a:extLst>
              <a:ext uri="{FF2B5EF4-FFF2-40B4-BE49-F238E27FC236}">
                <a16:creationId xmlns:a16="http://schemas.microsoft.com/office/drawing/2014/main" id="{B53092C9-5D75-39D1-87D8-6071343B05A2}"/>
              </a:ext>
            </a:extLst>
          </p:cNvPr>
          <p:cNvSpPr>
            <a:spLocks noChangeArrowheads="1"/>
          </p:cNvSpPr>
          <p:nvPr/>
        </p:nvSpPr>
        <p:spPr bwMode="auto">
          <a:xfrm>
            <a:off x="306388" y="2514600"/>
            <a:ext cx="2817812" cy="99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defRPr/>
            </a:pPr>
            <a:r>
              <a:rPr lang="en-US" sz="2400" b="1" dirty="0">
                <a:solidFill>
                  <a:srgbClr val="000000"/>
                </a:solidFill>
                <a:latin typeface="Arial" charset="0"/>
                <a:ea typeface="ＭＳ Ｐゴシック" charset="0"/>
              </a:rPr>
              <a:t>1.</a:t>
            </a:r>
            <a:r>
              <a:rPr lang="en-US" sz="2400" dirty="0">
                <a:solidFill>
                  <a:srgbClr val="000000"/>
                </a:solidFill>
                <a:latin typeface="Arial" charset="0"/>
                <a:ea typeface="ＭＳ Ｐゴシック" charset="0"/>
              </a:rPr>
              <a:t> Decreases when the price level rises.</a:t>
            </a:r>
          </a:p>
        </p:txBody>
      </p:sp>
      <p:pic>
        <p:nvPicPr>
          <p:cNvPr id="54278" name="Picture 20" descr="fig2804a.gif">
            <a:extLst>
              <a:ext uri="{FF2B5EF4-FFF2-40B4-BE49-F238E27FC236}">
                <a16:creationId xmlns:a16="http://schemas.microsoft.com/office/drawing/2014/main" id="{FB4EAD9D-80A8-4AA4-A249-2808868B64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21" descr="fig2804b.gif">
            <a:extLst>
              <a:ext uri="{FF2B5EF4-FFF2-40B4-BE49-F238E27FC236}">
                <a16:creationId xmlns:a16="http://schemas.microsoft.com/office/drawing/2014/main" id="{F26A7E11-533B-5299-DBEB-3A586D01F33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22" descr="fig2804c.gif">
            <a:extLst>
              <a:ext uri="{FF2B5EF4-FFF2-40B4-BE49-F238E27FC236}">
                <a16:creationId xmlns:a16="http://schemas.microsoft.com/office/drawing/2014/main" id="{F4A5B135-F424-51A2-6300-0CE9964B2B6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1" name="Picture 23" descr="fig2804d.gif">
            <a:extLst>
              <a:ext uri="{FF2B5EF4-FFF2-40B4-BE49-F238E27FC236}">
                <a16:creationId xmlns:a16="http://schemas.microsoft.com/office/drawing/2014/main" id="{4F667B19-8F95-D93E-D800-67C116B7CBB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2" name="Picture 24" descr="fig2804e.gif">
            <a:extLst>
              <a:ext uri="{FF2B5EF4-FFF2-40B4-BE49-F238E27FC236}">
                <a16:creationId xmlns:a16="http://schemas.microsoft.com/office/drawing/2014/main" id="{9A1C6C03-B00B-94D4-0AA8-54C0DB1FC08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3" name="Picture 25" descr="fig2804f.gif">
            <a:extLst>
              <a:ext uri="{FF2B5EF4-FFF2-40B4-BE49-F238E27FC236}">
                <a16:creationId xmlns:a16="http://schemas.microsoft.com/office/drawing/2014/main" id="{698991CB-41CB-3276-AD9E-0C4F1E29ACD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4" name="Picture 26" descr="fig2804g.gif">
            <a:extLst>
              <a:ext uri="{FF2B5EF4-FFF2-40B4-BE49-F238E27FC236}">
                <a16:creationId xmlns:a16="http://schemas.microsoft.com/office/drawing/2014/main" id="{EAF108D3-9730-C087-852E-BE0FF3364878}"/>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27" descr="fig2804h.gif">
            <a:extLst>
              <a:ext uri="{FF2B5EF4-FFF2-40B4-BE49-F238E27FC236}">
                <a16:creationId xmlns:a16="http://schemas.microsoft.com/office/drawing/2014/main" id="{1BCF2D92-3F98-D869-319C-2F66E88E4D3E}"/>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8" descr="fig2804i.gif">
            <a:extLst>
              <a:ext uri="{FF2B5EF4-FFF2-40B4-BE49-F238E27FC236}">
                <a16:creationId xmlns:a16="http://schemas.microsoft.com/office/drawing/2014/main" id="{9B895AD7-E0A4-81EF-E2A3-4E81F7996535}"/>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3432175" y="2590800"/>
            <a:ext cx="57118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6971"/>
                                        </p:tgtEl>
                                        <p:attrNameLst>
                                          <p:attrName>style.visibility</p:attrName>
                                        </p:attrNameLst>
                                      </p:cBhvr>
                                      <p:to>
                                        <p:strVal val="visible"/>
                                      </p:to>
                                    </p:set>
                                    <p:animEffect transition="in" filter="wipe(left)">
                                      <p:cBhvr>
                                        <p:cTn id="7" dur="500"/>
                                        <p:tgtEl>
                                          <p:spTgt spid="936971"/>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1000"/>
                                        <p:tgtEl>
                                          <p:spTgt spid="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36964"/>
                                        </p:tgtEl>
                                        <p:attrNameLst>
                                          <p:attrName>style.visibility</p:attrName>
                                        </p:attrNameLst>
                                      </p:cBhvr>
                                      <p:to>
                                        <p:strVal val="visible"/>
                                      </p:to>
                                    </p:set>
                                    <p:animEffect transition="in" filter="wipe(left)">
                                      <p:cBhvr>
                                        <p:cTn id="16" dur="500"/>
                                        <p:tgtEl>
                                          <p:spTgt spid="936964"/>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wipe(up)">
                                      <p:cBhvr>
                                        <p:cTn id="20"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6964" grpId="0"/>
      <p:bldP spid="936971"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4866" name="Rectangle 2">
            <a:extLst>
              <a:ext uri="{FF2B5EF4-FFF2-40B4-BE49-F238E27FC236}">
                <a16:creationId xmlns:a16="http://schemas.microsoft.com/office/drawing/2014/main" id="{95F4E1FB-E97B-5349-65FA-8F9CB3BD47DE}"/>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4867" name="Rectangle 3">
            <a:extLst>
              <a:ext uri="{FF2B5EF4-FFF2-40B4-BE49-F238E27FC236}">
                <a16:creationId xmlns:a16="http://schemas.microsoft.com/office/drawing/2014/main" id="{F320C641-72AB-7E58-F33D-C417E0F575AB}"/>
              </a:ext>
            </a:extLst>
          </p:cNvPr>
          <p:cNvSpPr>
            <a:spLocks noGrp="1" noChangeArrowheads="1"/>
          </p:cNvSpPr>
          <p:nvPr>
            <p:ph type="body" idx="1"/>
          </p:nvPr>
        </p:nvSpPr>
        <p:spPr/>
        <p:txBody>
          <a:bodyPr/>
          <a:lstStyle/>
          <a:p>
            <a:pPr lvl="1" eaLnBrk="1" hangingPunct="1">
              <a:defRPr/>
            </a:pPr>
            <a:r>
              <a:rPr lang="en-US">
                <a:solidFill>
                  <a:srgbClr val="000000"/>
                </a:solidFill>
              </a:rPr>
              <a:t>The price level influences the quantity of real GDP demanded because a change in the price level brings changes in</a:t>
            </a:r>
          </a:p>
          <a:p>
            <a:pPr lvl="2" eaLnBrk="1" hangingPunct="1">
              <a:defRPr/>
            </a:pPr>
            <a:r>
              <a:rPr lang="en-US">
                <a:solidFill>
                  <a:srgbClr val="000000"/>
                </a:solidFill>
              </a:rPr>
              <a:t>The buying power of money</a:t>
            </a:r>
          </a:p>
          <a:p>
            <a:pPr lvl="2" eaLnBrk="1" hangingPunct="1">
              <a:defRPr/>
            </a:pPr>
            <a:r>
              <a:rPr lang="en-US">
                <a:solidFill>
                  <a:srgbClr val="000000"/>
                </a:solidFill>
              </a:rPr>
              <a:t>The real interest rate</a:t>
            </a:r>
          </a:p>
          <a:p>
            <a:pPr lvl="2" eaLnBrk="1" hangingPunct="1">
              <a:defRPr/>
            </a:pPr>
            <a:r>
              <a:rPr lang="en-US">
                <a:solidFill>
                  <a:srgbClr val="000000"/>
                </a:solidFill>
              </a:rPr>
              <a:t>The real prices of exports and imports</a:t>
            </a:r>
          </a:p>
          <a:p>
            <a:pPr lvl="2" eaLnBrk="1" hangingPunct="1">
              <a:buFontTx/>
              <a:buNone/>
              <a:defRPr/>
            </a:pPr>
            <a:endParaRPr lang="en-US">
              <a:solidFill>
                <a:srgbClr val="000000"/>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4867">
                                            <p:txEl>
                                              <p:pRg st="1" end="1"/>
                                            </p:txEl>
                                          </p:spTgt>
                                        </p:tgtEl>
                                        <p:attrNameLst>
                                          <p:attrName>style.visibility</p:attrName>
                                        </p:attrNameLst>
                                      </p:cBhvr>
                                      <p:to>
                                        <p:strVal val="visible"/>
                                      </p:to>
                                    </p:set>
                                    <p:animEffect transition="in" filter="wipe(left)">
                                      <p:cBhvr>
                                        <p:cTn id="7" dur="500"/>
                                        <p:tgtEl>
                                          <p:spTgt spid="80486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4867">
                                            <p:txEl>
                                              <p:pRg st="2" end="2"/>
                                            </p:txEl>
                                          </p:spTgt>
                                        </p:tgtEl>
                                        <p:attrNameLst>
                                          <p:attrName>style.visibility</p:attrName>
                                        </p:attrNameLst>
                                      </p:cBhvr>
                                      <p:to>
                                        <p:strVal val="visible"/>
                                      </p:to>
                                    </p:set>
                                    <p:animEffect transition="in" filter="wipe(left)">
                                      <p:cBhvr>
                                        <p:cTn id="12" dur="500"/>
                                        <p:tgtEl>
                                          <p:spTgt spid="80486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4867">
                                            <p:txEl>
                                              <p:pRg st="3" end="3"/>
                                            </p:txEl>
                                          </p:spTgt>
                                        </p:tgtEl>
                                        <p:attrNameLst>
                                          <p:attrName>style.visibility</p:attrName>
                                        </p:attrNameLst>
                                      </p:cBhvr>
                                      <p:to>
                                        <p:strVal val="visible"/>
                                      </p:to>
                                    </p:set>
                                    <p:animEffect transition="in" filter="wipe(left)">
                                      <p:cBhvr>
                                        <p:cTn id="17" dur="500"/>
                                        <p:tgtEl>
                                          <p:spTgt spid="804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7" grpId="0" build="p" bldLvl="3"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5890" name="Rectangle 2">
            <a:extLst>
              <a:ext uri="{FF2B5EF4-FFF2-40B4-BE49-F238E27FC236}">
                <a16:creationId xmlns:a16="http://schemas.microsoft.com/office/drawing/2014/main" id="{95848F65-6F9D-B71F-94AE-20BDB27802F3}"/>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5891" name="Rectangle 3">
            <a:extLst>
              <a:ext uri="{FF2B5EF4-FFF2-40B4-BE49-F238E27FC236}">
                <a16:creationId xmlns:a16="http://schemas.microsoft.com/office/drawing/2014/main" id="{2039EE9A-A353-652F-F88F-3222A961C00E}"/>
              </a:ext>
            </a:extLst>
          </p:cNvPr>
          <p:cNvSpPr>
            <a:spLocks noGrp="1" noChangeArrowheads="1"/>
          </p:cNvSpPr>
          <p:nvPr>
            <p:ph type="body" idx="1"/>
          </p:nvPr>
        </p:nvSpPr>
        <p:spPr/>
        <p:txBody>
          <a:bodyPr/>
          <a:lstStyle/>
          <a:p>
            <a:pPr lvl="1" eaLnBrk="1" hangingPunct="1">
              <a:defRPr/>
            </a:pPr>
            <a:r>
              <a:rPr lang="en-US" b="1">
                <a:solidFill>
                  <a:srgbClr val="00468F"/>
                </a:solidFill>
              </a:rPr>
              <a:t>The Buying Power of Money</a:t>
            </a:r>
            <a:endParaRPr lang="en-US">
              <a:solidFill>
                <a:srgbClr val="1566B0"/>
              </a:solidFill>
            </a:endParaRPr>
          </a:p>
          <a:p>
            <a:pPr lvl="1" eaLnBrk="1" hangingPunct="1">
              <a:defRPr/>
            </a:pPr>
            <a:r>
              <a:rPr lang="en-US">
                <a:solidFill>
                  <a:srgbClr val="000000"/>
                </a:solidFill>
              </a:rPr>
              <a:t>A rise in the price level lowers the buying power of money and decreases the quantity of real GDP demanded.</a:t>
            </a:r>
          </a:p>
          <a:p>
            <a:pPr lvl="1" eaLnBrk="1" hangingPunct="1">
              <a:defRPr/>
            </a:pPr>
            <a:r>
              <a:rPr lang="en-US">
                <a:solidFill>
                  <a:srgbClr val="000000"/>
                </a:solidFill>
              </a:rPr>
              <a:t>For example, if the price level rises and other things remain the same, a given quantity of money will buy less goods and services, so people cut their spending.</a:t>
            </a:r>
          </a:p>
          <a:p>
            <a:pPr lvl="1" eaLnBrk="1" hangingPunct="1">
              <a:defRPr/>
            </a:pPr>
            <a:r>
              <a:rPr lang="en-US">
                <a:solidFill>
                  <a:srgbClr val="000000"/>
                </a:solidFill>
              </a:rPr>
              <a:t>So the quantity of real GDP demanded decreases.</a:t>
            </a:r>
          </a:p>
          <a:p>
            <a:pPr lvl="1" eaLnBrk="1" hangingPunct="1">
              <a:defRPr/>
            </a:pPr>
            <a:endParaRPr lang="en-US">
              <a:solidFill>
                <a:srgbClr val="000000"/>
              </a:solidFill>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5891">
                                            <p:txEl>
                                              <p:pRg st="1" end="1"/>
                                            </p:txEl>
                                          </p:spTgt>
                                        </p:tgtEl>
                                        <p:attrNameLst>
                                          <p:attrName>style.visibility</p:attrName>
                                        </p:attrNameLst>
                                      </p:cBhvr>
                                      <p:to>
                                        <p:strVal val="visible"/>
                                      </p:to>
                                    </p:set>
                                    <p:animEffect transition="in" filter="wipe(left)">
                                      <p:cBhvr>
                                        <p:cTn id="7" dur="500"/>
                                        <p:tgtEl>
                                          <p:spTgt spid="8058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5891">
                                            <p:txEl>
                                              <p:pRg st="2" end="2"/>
                                            </p:txEl>
                                          </p:spTgt>
                                        </p:tgtEl>
                                        <p:attrNameLst>
                                          <p:attrName>style.visibility</p:attrName>
                                        </p:attrNameLst>
                                      </p:cBhvr>
                                      <p:to>
                                        <p:strVal val="visible"/>
                                      </p:to>
                                    </p:set>
                                    <p:animEffect transition="in" filter="wipe(left)">
                                      <p:cBhvr>
                                        <p:cTn id="12" dur="500"/>
                                        <p:tgtEl>
                                          <p:spTgt spid="8058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5891">
                                            <p:txEl>
                                              <p:pRg st="3" end="3"/>
                                            </p:txEl>
                                          </p:spTgt>
                                        </p:tgtEl>
                                        <p:attrNameLst>
                                          <p:attrName>style.visibility</p:attrName>
                                        </p:attrNameLst>
                                      </p:cBhvr>
                                      <p:to>
                                        <p:strVal val="visible"/>
                                      </p:to>
                                    </p:set>
                                    <p:animEffect transition="in" filter="wipe(left)">
                                      <p:cBhvr>
                                        <p:cTn id="17" dur="500"/>
                                        <p:tgtEl>
                                          <p:spTgt spid="805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1" grpId="0" build="p" bldLvl="3"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7938" name="Rectangle 2">
            <a:extLst>
              <a:ext uri="{FF2B5EF4-FFF2-40B4-BE49-F238E27FC236}">
                <a16:creationId xmlns:a16="http://schemas.microsoft.com/office/drawing/2014/main" id="{3609D43C-355A-AFAD-095E-C18AE7C92AC1}"/>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7939" name="Rectangle 3">
            <a:extLst>
              <a:ext uri="{FF2B5EF4-FFF2-40B4-BE49-F238E27FC236}">
                <a16:creationId xmlns:a16="http://schemas.microsoft.com/office/drawing/2014/main" id="{601FE3A2-3418-53CC-8A5D-EC895803D45C}"/>
              </a:ext>
            </a:extLst>
          </p:cNvPr>
          <p:cNvSpPr>
            <a:spLocks noGrp="1" noChangeArrowheads="1"/>
          </p:cNvSpPr>
          <p:nvPr>
            <p:ph type="body" idx="1"/>
          </p:nvPr>
        </p:nvSpPr>
        <p:spPr/>
        <p:txBody>
          <a:bodyPr/>
          <a:lstStyle/>
          <a:p>
            <a:pPr lvl="1" eaLnBrk="1" hangingPunct="1">
              <a:lnSpc>
                <a:spcPct val="95000"/>
              </a:lnSpc>
            </a:pPr>
            <a:r>
              <a:rPr lang="en-US" altLang="en-TW" b="1" dirty="0">
                <a:solidFill>
                  <a:srgbClr val="00468F"/>
                </a:solidFill>
              </a:rPr>
              <a:t>The Real Interest Rate</a:t>
            </a:r>
          </a:p>
          <a:p>
            <a:pPr lvl="1" eaLnBrk="1" hangingPunct="1">
              <a:lnSpc>
                <a:spcPct val="95000"/>
              </a:lnSpc>
            </a:pPr>
            <a:r>
              <a:rPr lang="en-US" altLang="en-TW" dirty="0">
                <a:solidFill>
                  <a:srgbClr val="000000"/>
                </a:solidFill>
              </a:rPr>
              <a:t>When the price level rises, the real interest rate rises. </a:t>
            </a:r>
          </a:p>
          <a:p>
            <a:pPr lvl="1" eaLnBrk="1" hangingPunct="1">
              <a:lnSpc>
                <a:spcPct val="95000"/>
              </a:lnSpc>
            </a:pPr>
            <a:r>
              <a:rPr lang="en-US" altLang="en-TW" dirty="0">
                <a:solidFill>
                  <a:srgbClr val="000000"/>
                </a:solidFill>
              </a:rPr>
              <a:t>An increase in the price level increases the amount of money that people want to hold—increases the demand for money. </a:t>
            </a:r>
          </a:p>
          <a:p>
            <a:pPr lvl="1" eaLnBrk="1" hangingPunct="1">
              <a:lnSpc>
                <a:spcPct val="95000"/>
              </a:lnSpc>
            </a:pPr>
            <a:r>
              <a:rPr lang="en-US" altLang="en-TW" dirty="0">
                <a:solidFill>
                  <a:srgbClr val="000000"/>
                </a:solidFill>
              </a:rPr>
              <a:t>When the demand for money increases, the nominal interest rate rises.</a:t>
            </a:r>
          </a:p>
          <a:p>
            <a:pPr lvl="1" eaLnBrk="1" hangingPunct="1">
              <a:lnSpc>
                <a:spcPct val="95000"/>
              </a:lnSpc>
            </a:pPr>
            <a:r>
              <a:rPr lang="en-US" altLang="en-TW" dirty="0">
                <a:solidFill>
                  <a:srgbClr val="000000"/>
                </a:solidFill>
              </a:rPr>
              <a:t>In the short run, the inflation rate doesn</a:t>
            </a:r>
            <a:r>
              <a:rPr lang="en-US" altLang="en-US" dirty="0">
                <a:solidFill>
                  <a:srgbClr val="000000"/>
                </a:solidFill>
              </a:rPr>
              <a:t>’</a:t>
            </a:r>
            <a:r>
              <a:rPr lang="en-US" altLang="en-TW" dirty="0">
                <a:solidFill>
                  <a:srgbClr val="000000"/>
                </a:solidFill>
              </a:rPr>
              <a:t>t change, so a rise in the nominal interest rate brings a rise in the real interest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7939">
                                            <p:txEl>
                                              <p:pRg st="1" end="1"/>
                                            </p:txEl>
                                          </p:spTgt>
                                        </p:tgtEl>
                                        <p:attrNameLst>
                                          <p:attrName>style.visibility</p:attrName>
                                        </p:attrNameLst>
                                      </p:cBhvr>
                                      <p:to>
                                        <p:strVal val="visible"/>
                                      </p:to>
                                    </p:set>
                                    <p:animEffect transition="in" filter="wipe(left)">
                                      <p:cBhvr>
                                        <p:cTn id="7" dur="500"/>
                                        <p:tgtEl>
                                          <p:spTgt spid="8079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7939">
                                            <p:txEl>
                                              <p:pRg st="2" end="2"/>
                                            </p:txEl>
                                          </p:spTgt>
                                        </p:tgtEl>
                                        <p:attrNameLst>
                                          <p:attrName>style.visibility</p:attrName>
                                        </p:attrNameLst>
                                      </p:cBhvr>
                                      <p:to>
                                        <p:strVal val="visible"/>
                                      </p:to>
                                    </p:set>
                                    <p:animEffect transition="in" filter="wipe(left)">
                                      <p:cBhvr>
                                        <p:cTn id="12" dur="500"/>
                                        <p:tgtEl>
                                          <p:spTgt spid="8079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7939">
                                            <p:txEl>
                                              <p:pRg st="3" end="3"/>
                                            </p:txEl>
                                          </p:spTgt>
                                        </p:tgtEl>
                                        <p:attrNameLst>
                                          <p:attrName>style.visibility</p:attrName>
                                        </p:attrNameLst>
                                      </p:cBhvr>
                                      <p:to>
                                        <p:strVal val="visible"/>
                                      </p:to>
                                    </p:set>
                                    <p:animEffect transition="in" filter="wipe(left)">
                                      <p:cBhvr>
                                        <p:cTn id="17" dur="500"/>
                                        <p:tgtEl>
                                          <p:spTgt spid="8079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07939">
                                            <p:txEl>
                                              <p:pRg st="4" end="4"/>
                                            </p:txEl>
                                          </p:spTgt>
                                        </p:tgtEl>
                                        <p:attrNameLst>
                                          <p:attrName>style.visibility</p:attrName>
                                        </p:attrNameLst>
                                      </p:cBhvr>
                                      <p:to>
                                        <p:strVal val="visible"/>
                                      </p:to>
                                    </p:set>
                                    <p:animEffect transition="in" filter="wipe(left)">
                                      <p:cBhvr>
                                        <p:cTn id="22" dur="500"/>
                                        <p:tgtEl>
                                          <p:spTgt spid="807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39"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62" name="Rectangle 2">
            <a:extLst>
              <a:ext uri="{FF2B5EF4-FFF2-40B4-BE49-F238E27FC236}">
                <a16:creationId xmlns:a16="http://schemas.microsoft.com/office/drawing/2014/main" id="{4DAF778F-344B-6494-AC1A-0A1221602B17}"/>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8963" name="Rectangle 3">
            <a:extLst>
              <a:ext uri="{FF2B5EF4-FFF2-40B4-BE49-F238E27FC236}">
                <a16:creationId xmlns:a16="http://schemas.microsoft.com/office/drawing/2014/main" id="{622ACD5F-1E7B-3836-D617-09ADC665F3A7}"/>
              </a:ext>
            </a:extLst>
          </p:cNvPr>
          <p:cNvSpPr>
            <a:spLocks noGrp="1" noChangeArrowheads="1"/>
          </p:cNvSpPr>
          <p:nvPr>
            <p:ph type="body" idx="1"/>
          </p:nvPr>
        </p:nvSpPr>
        <p:spPr/>
        <p:txBody>
          <a:bodyPr/>
          <a:lstStyle/>
          <a:p>
            <a:pPr lvl="1" eaLnBrk="1" hangingPunct="1">
              <a:defRPr/>
            </a:pPr>
            <a:r>
              <a:rPr lang="en-US">
                <a:solidFill>
                  <a:srgbClr val="000000"/>
                </a:solidFill>
              </a:rPr>
              <a:t>Faced with a higher real interest rate, businesses and people delay plans to buy new capital goods and consumer durable goods and cut back on spending. </a:t>
            </a:r>
          </a:p>
          <a:p>
            <a:pPr lvl="1" eaLnBrk="1" hangingPunct="1">
              <a:defRPr/>
            </a:pPr>
            <a:r>
              <a:rPr lang="en-US">
                <a:solidFill>
                  <a:srgbClr val="000000"/>
                </a:solidFill>
              </a:rPr>
              <a:t>So the quantity of real GDP demanded decreases.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8963">
                                            <p:txEl>
                                              <p:pRg st="1" end="1"/>
                                            </p:txEl>
                                          </p:spTgt>
                                        </p:tgtEl>
                                        <p:attrNameLst>
                                          <p:attrName>style.visibility</p:attrName>
                                        </p:attrNameLst>
                                      </p:cBhvr>
                                      <p:to>
                                        <p:strVal val="visible"/>
                                      </p:to>
                                    </p:set>
                                    <p:animEffect transition="in" filter="wipe(left)">
                                      <p:cBhvr>
                                        <p:cTn id="7" dur="500"/>
                                        <p:tgtEl>
                                          <p:spTgt spid="8089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3" grpId="0" build="p" bldLvl="3"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9986" name="Rectangle 2">
            <a:extLst>
              <a:ext uri="{FF2B5EF4-FFF2-40B4-BE49-F238E27FC236}">
                <a16:creationId xmlns:a16="http://schemas.microsoft.com/office/drawing/2014/main" id="{313DB27D-7934-F67F-ACCF-1502875B639E}"/>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09987" name="Rectangle 3">
            <a:extLst>
              <a:ext uri="{FF2B5EF4-FFF2-40B4-BE49-F238E27FC236}">
                <a16:creationId xmlns:a16="http://schemas.microsoft.com/office/drawing/2014/main" id="{5129CC91-23A7-C541-AB77-3637CE6086DE}"/>
              </a:ext>
            </a:extLst>
          </p:cNvPr>
          <p:cNvSpPr>
            <a:spLocks noGrp="1" noChangeArrowheads="1"/>
          </p:cNvSpPr>
          <p:nvPr>
            <p:ph type="body" idx="1"/>
          </p:nvPr>
        </p:nvSpPr>
        <p:spPr/>
        <p:txBody>
          <a:bodyPr/>
          <a:lstStyle/>
          <a:p>
            <a:pPr lvl="1" eaLnBrk="1" hangingPunct="1">
              <a:defRPr/>
            </a:pPr>
            <a:r>
              <a:rPr lang="en-US" b="1">
                <a:solidFill>
                  <a:srgbClr val="00468F"/>
                </a:solidFill>
              </a:rPr>
              <a:t>The Real Prices of Exports and Imports</a:t>
            </a:r>
          </a:p>
          <a:p>
            <a:pPr lvl="1" eaLnBrk="1" hangingPunct="1">
              <a:defRPr/>
            </a:pPr>
            <a:r>
              <a:rPr lang="en-US">
                <a:solidFill>
                  <a:srgbClr val="000000"/>
                </a:solidFill>
              </a:rPr>
              <a:t>When the U.S. price level rises and other things remain the same, the prices in other countries do not change. </a:t>
            </a:r>
          </a:p>
          <a:p>
            <a:pPr lvl="1" eaLnBrk="1" hangingPunct="1">
              <a:defRPr/>
            </a:pPr>
            <a:r>
              <a:rPr lang="en-US">
                <a:solidFill>
                  <a:srgbClr val="000000"/>
                </a:solidFill>
              </a:rPr>
              <a:t>So a rise in the U.S. price level makes U.S.-made goods and services more expensive relative to foreign-made goods and services.</a:t>
            </a:r>
          </a:p>
          <a:p>
            <a:pPr lvl="1" eaLnBrk="1" hangingPunct="1">
              <a:defRPr/>
            </a:pPr>
            <a:r>
              <a:rPr lang="en-US">
                <a:solidFill>
                  <a:srgbClr val="000000"/>
                </a:solidFill>
              </a:rPr>
              <a:t>This change in real prices encourages people to spend less on U.S.-made items and more on foreign-made items.</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987">
                                            <p:txEl>
                                              <p:pRg st="1" end="1"/>
                                            </p:txEl>
                                          </p:spTgt>
                                        </p:tgtEl>
                                        <p:attrNameLst>
                                          <p:attrName>style.visibility</p:attrName>
                                        </p:attrNameLst>
                                      </p:cBhvr>
                                      <p:to>
                                        <p:strVal val="visible"/>
                                      </p:to>
                                    </p:set>
                                    <p:animEffect transition="in" filter="wipe(left)">
                                      <p:cBhvr>
                                        <p:cTn id="7" dur="500"/>
                                        <p:tgtEl>
                                          <p:spTgt spid="8099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9987">
                                            <p:txEl>
                                              <p:pRg st="2" end="2"/>
                                            </p:txEl>
                                          </p:spTgt>
                                        </p:tgtEl>
                                        <p:attrNameLst>
                                          <p:attrName>style.visibility</p:attrName>
                                        </p:attrNameLst>
                                      </p:cBhvr>
                                      <p:to>
                                        <p:strVal val="visible"/>
                                      </p:to>
                                    </p:set>
                                    <p:animEffect transition="in" filter="wipe(left)">
                                      <p:cBhvr>
                                        <p:cTn id="12" dur="500"/>
                                        <p:tgtEl>
                                          <p:spTgt spid="8099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9987">
                                            <p:txEl>
                                              <p:pRg st="3" end="3"/>
                                            </p:txEl>
                                          </p:spTgt>
                                        </p:tgtEl>
                                        <p:attrNameLst>
                                          <p:attrName>style.visibility</p:attrName>
                                        </p:attrNameLst>
                                      </p:cBhvr>
                                      <p:to>
                                        <p:strVal val="visible"/>
                                      </p:to>
                                    </p:set>
                                    <p:animEffect transition="in" filter="wipe(left)">
                                      <p:cBhvr>
                                        <p:cTn id="17" dur="500"/>
                                        <p:tgtEl>
                                          <p:spTgt spid="809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7" grpId="0" build="p" bldLvl="3"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2994" name="Rectangle 2">
            <a:extLst>
              <a:ext uri="{FF2B5EF4-FFF2-40B4-BE49-F238E27FC236}">
                <a16:creationId xmlns:a16="http://schemas.microsoft.com/office/drawing/2014/main" id="{9676B87D-D9F9-76AF-5A93-319785F601DA}"/>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52995" name="Rectangle 3">
            <a:extLst>
              <a:ext uri="{FF2B5EF4-FFF2-40B4-BE49-F238E27FC236}">
                <a16:creationId xmlns:a16="http://schemas.microsoft.com/office/drawing/2014/main" id="{1FC20CAD-E7C3-5F2A-E90D-DF032F7F90E9}"/>
              </a:ext>
            </a:extLst>
          </p:cNvPr>
          <p:cNvSpPr>
            <a:spLocks noGrp="1" noChangeArrowheads="1"/>
          </p:cNvSpPr>
          <p:nvPr>
            <p:ph type="body" idx="1"/>
          </p:nvPr>
        </p:nvSpPr>
        <p:spPr/>
        <p:txBody>
          <a:bodyPr/>
          <a:lstStyle/>
          <a:p>
            <a:pPr lvl="1" eaLnBrk="1" hangingPunct="1">
              <a:defRPr/>
            </a:pPr>
            <a:r>
              <a:rPr lang="en-US">
                <a:solidFill>
                  <a:srgbClr val="000000"/>
                </a:solidFill>
              </a:rPr>
              <a:t>In the long run, when the price level changes by more in one country than in other countries, the exchange rate changes. </a:t>
            </a:r>
          </a:p>
          <a:p>
            <a:pPr lvl="1" eaLnBrk="1" hangingPunct="1">
              <a:defRPr/>
            </a:pPr>
            <a:r>
              <a:rPr lang="en-US">
                <a:solidFill>
                  <a:srgbClr val="000000"/>
                </a:solidFill>
              </a:rPr>
              <a:t>The exchange rate neutralizes the price level change, so this international price effect on buying plans is a short-run effect only.</a:t>
            </a:r>
          </a:p>
          <a:p>
            <a:pPr lvl="1" eaLnBrk="1" hangingPunct="1">
              <a:defRPr/>
            </a:pPr>
            <a:r>
              <a:rPr lang="en-US">
                <a:solidFill>
                  <a:srgbClr val="000000"/>
                </a:solidFill>
              </a:rPr>
              <a:t>But the short-run effect is powerful.</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2995">
                                            <p:txEl>
                                              <p:pRg st="1" end="1"/>
                                            </p:txEl>
                                          </p:spTgt>
                                        </p:tgtEl>
                                        <p:attrNameLst>
                                          <p:attrName>style.visibility</p:attrName>
                                        </p:attrNameLst>
                                      </p:cBhvr>
                                      <p:to>
                                        <p:strVal val="visible"/>
                                      </p:to>
                                    </p:set>
                                    <p:animEffect transition="in" filter="wipe(left)">
                                      <p:cBhvr>
                                        <p:cTn id="7" dur="500"/>
                                        <p:tgtEl>
                                          <p:spTgt spid="8529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2995">
                                            <p:txEl>
                                              <p:pRg st="2" end="2"/>
                                            </p:txEl>
                                          </p:spTgt>
                                        </p:tgtEl>
                                        <p:attrNameLst>
                                          <p:attrName>style.visibility</p:attrName>
                                        </p:attrNameLst>
                                      </p:cBhvr>
                                      <p:to>
                                        <p:strVal val="visible"/>
                                      </p:to>
                                    </p:set>
                                    <p:animEffect transition="in" filter="wipe(left)">
                                      <p:cBhvr>
                                        <p:cTn id="12" dur="500"/>
                                        <p:tgtEl>
                                          <p:spTgt spid="852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5" grpId="0" build="p" bldLvl="3"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1010" name="Rectangle 2">
            <a:extLst>
              <a:ext uri="{FF2B5EF4-FFF2-40B4-BE49-F238E27FC236}">
                <a16:creationId xmlns:a16="http://schemas.microsoft.com/office/drawing/2014/main" id="{303B6C73-01C5-F606-208A-9F9EE5CE29FC}"/>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11011" name="Rectangle 3">
            <a:extLst>
              <a:ext uri="{FF2B5EF4-FFF2-40B4-BE49-F238E27FC236}">
                <a16:creationId xmlns:a16="http://schemas.microsoft.com/office/drawing/2014/main" id="{FE1B1294-13F3-60BD-19D0-11D4A5387856}"/>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Changes in Aggregate Demand</a:t>
            </a:r>
            <a:endParaRPr lang="en-US" dirty="0">
              <a:solidFill>
                <a:srgbClr val="1566B0"/>
              </a:solidFill>
              <a:cs typeface="+mn-cs"/>
            </a:endParaRPr>
          </a:p>
          <a:p>
            <a:pPr lvl="1" eaLnBrk="1" hangingPunct="1">
              <a:defRPr/>
            </a:pPr>
            <a:r>
              <a:rPr lang="en-US" dirty="0"/>
              <a:t>A change in any factor that influences expenditure plans other than the price level brings a change in aggregate demand. </a:t>
            </a:r>
          </a:p>
          <a:p>
            <a:pPr lvl="2" eaLnBrk="1" hangingPunct="1">
              <a:defRPr/>
            </a:pPr>
            <a:r>
              <a:rPr lang="en-US" dirty="0"/>
              <a:t>When aggregate demand increases, the aggregate demand curve shifts rightward. </a:t>
            </a:r>
          </a:p>
          <a:p>
            <a:pPr lvl="2" eaLnBrk="1" hangingPunct="1">
              <a:defRPr/>
            </a:pPr>
            <a:r>
              <a:rPr lang="en-US" dirty="0"/>
              <a:t>When aggregate demand decreases, the aggregate demand curve shifts leftward.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1011">
                                            <p:txEl>
                                              <p:pRg st="1" end="1"/>
                                            </p:txEl>
                                          </p:spTgt>
                                        </p:tgtEl>
                                        <p:attrNameLst>
                                          <p:attrName>style.visibility</p:attrName>
                                        </p:attrNameLst>
                                      </p:cBhvr>
                                      <p:to>
                                        <p:strVal val="visible"/>
                                      </p:to>
                                    </p:set>
                                    <p:animEffect transition="in" filter="wipe(left)">
                                      <p:cBhvr>
                                        <p:cTn id="7" dur="500"/>
                                        <p:tgtEl>
                                          <p:spTgt spid="8110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1011">
                                            <p:txEl>
                                              <p:pRg st="2" end="2"/>
                                            </p:txEl>
                                          </p:spTgt>
                                        </p:tgtEl>
                                        <p:attrNameLst>
                                          <p:attrName>style.visibility</p:attrName>
                                        </p:attrNameLst>
                                      </p:cBhvr>
                                      <p:to>
                                        <p:strVal val="visible"/>
                                      </p:to>
                                    </p:set>
                                    <p:animEffect transition="in" filter="wipe(left)">
                                      <p:cBhvr>
                                        <p:cTn id="12" dur="500"/>
                                        <p:tgtEl>
                                          <p:spTgt spid="8110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1011">
                                            <p:txEl>
                                              <p:pRg st="3" end="3"/>
                                            </p:txEl>
                                          </p:spTgt>
                                        </p:tgtEl>
                                        <p:attrNameLst>
                                          <p:attrName>style.visibility</p:attrName>
                                        </p:attrNameLst>
                                      </p:cBhvr>
                                      <p:to>
                                        <p:strVal val="visible"/>
                                      </p:to>
                                    </p:set>
                                    <p:animEffect transition="in" filter="wipe(left)">
                                      <p:cBhvr>
                                        <p:cTn id="17" dur="500"/>
                                        <p:tgtEl>
                                          <p:spTgt spid="811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1" grpId="0" build="p" bldLvl="3"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2034" name="Rectangle 2">
            <a:extLst>
              <a:ext uri="{FF2B5EF4-FFF2-40B4-BE49-F238E27FC236}">
                <a16:creationId xmlns:a16="http://schemas.microsoft.com/office/drawing/2014/main" id="{D2FBC0B1-8373-A382-17E9-5D761F36318F}"/>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12035" name="Rectangle 3">
            <a:extLst>
              <a:ext uri="{FF2B5EF4-FFF2-40B4-BE49-F238E27FC236}">
                <a16:creationId xmlns:a16="http://schemas.microsoft.com/office/drawing/2014/main" id="{D910E66C-B806-C23A-5193-64F8F7E7DD58}"/>
              </a:ext>
            </a:extLst>
          </p:cNvPr>
          <p:cNvSpPr>
            <a:spLocks noGrp="1" noChangeArrowheads="1"/>
          </p:cNvSpPr>
          <p:nvPr>
            <p:ph type="body" idx="1"/>
          </p:nvPr>
        </p:nvSpPr>
        <p:spPr/>
        <p:txBody>
          <a:bodyPr/>
          <a:lstStyle/>
          <a:p>
            <a:pPr lvl="1" eaLnBrk="1" hangingPunct="1">
              <a:defRPr/>
            </a:pPr>
            <a:r>
              <a:rPr lang="en-US">
                <a:solidFill>
                  <a:srgbClr val="000000"/>
                </a:solidFill>
              </a:rPr>
              <a:t>The factors that change aggregate demand are</a:t>
            </a:r>
          </a:p>
          <a:p>
            <a:pPr lvl="2" eaLnBrk="1" hangingPunct="1">
              <a:defRPr/>
            </a:pPr>
            <a:r>
              <a:rPr lang="en-US">
                <a:solidFill>
                  <a:srgbClr val="000000"/>
                </a:solidFill>
              </a:rPr>
              <a:t>Expectations about the future</a:t>
            </a:r>
          </a:p>
          <a:p>
            <a:pPr lvl="2" eaLnBrk="1" hangingPunct="1">
              <a:defRPr/>
            </a:pPr>
            <a:r>
              <a:rPr lang="en-US">
                <a:solidFill>
                  <a:srgbClr val="000000"/>
                </a:solidFill>
              </a:rPr>
              <a:t>Fiscal policy and monetary policy</a:t>
            </a:r>
          </a:p>
          <a:p>
            <a:pPr lvl="2" eaLnBrk="1" hangingPunct="1">
              <a:defRPr/>
            </a:pPr>
            <a:r>
              <a:rPr lang="en-US">
                <a:solidFill>
                  <a:srgbClr val="000000"/>
                </a:solidFill>
              </a:rPr>
              <a:t>The state of the world economy</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2035">
                                            <p:txEl>
                                              <p:pRg st="1" end="1"/>
                                            </p:txEl>
                                          </p:spTgt>
                                        </p:tgtEl>
                                        <p:attrNameLst>
                                          <p:attrName>style.visibility</p:attrName>
                                        </p:attrNameLst>
                                      </p:cBhvr>
                                      <p:to>
                                        <p:strVal val="visible"/>
                                      </p:to>
                                    </p:set>
                                    <p:animEffect transition="in" filter="wipe(left)">
                                      <p:cBhvr>
                                        <p:cTn id="7" dur="500"/>
                                        <p:tgtEl>
                                          <p:spTgt spid="8120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2035">
                                            <p:txEl>
                                              <p:pRg st="2" end="2"/>
                                            </p:txEl>
                                          </p:spTgt>
                                        </p:tgtEl>
                                        <p:attrNameLst>
                                          <p:attrName>style.visibility</p:attrName>
                                        </p:attrNameLst>
                                      </p:cBhvr>
                                      <p:to>
                                        <p:strVal val="visible"/>
                                      </p:to>
                                    </p:set>
                                    <p:animEffect transition="in" filter="wipe(left)">
                                      <p:cBhvr>
                                        <p:cTn id="12" dur="500"/>
                                        <p:tgtEl>
                                          <p:spTgt spid="8120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2035">
                                            <p:txEl>
                                              <p:pRg st="3" end="3"/>
                                            </p:txEl>
                                          </p:spTgt>
                                        </p:tgtEl>
                                        <p:attrNameLst>
                                          <p:attrName>style.visibility</p:attrName>
                                        </p:attrNameLst>
                                      </p:cBhvr>
                                      <p:to>
                                        <p:strVal val="visible"/>
                                      </p:to>
                                    </p:set>
                                    <p:animEffect transition="in" filter="wipe(left)">
                                      <p:cBhvr>
                                        <p:cTn id="17" dur="500"/>
                                        <p:tgtEl>
                                          <p:spTgt spid="8120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5" grpId="0" build="p" bldLvl="3"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3058" name="Rectangle 2">
            <a:extLst>
              <a:ext uri="{FF2B5EF4-FFF2-40B4-BE49-F238E27FC236}">
                <a16:creationId xmlns:a16="http://schemas.microsoft.com/office/drawing/2014/main" id="{34FEAB00-1A1C-BA65-A31C-6701D2FAC942}"/>
              </a:ext>
            </a:extLst>
          </p:cNvPr>
          <p:cNvSpPr>
            <a:spLocks noGrp="1" noChangeArrowheads="1"/>
          </p:cNvSpPr>
          <p:nvPr>
            <p:ph type="title"/>
          </p:nvPr>
        </p:nvSpPr>
        <p:spPr/>
        <p:txBody>
          <a:bodyPr/>
          <a:lstStyle/>
          <a:p>
            <a:pPr eaLnBrk="1" hangingPunct="1">
              <a:defRPr/>
            </a:pPr>
            <a:r>
              <a:rPr lang="en-US" dirty="0">
                <a:cs typeface="+mj-cs"/>
              </a:rPr>
              <a:t>29.2  AGGREGATE DEMAND</a:t>
            </a:r>
            <a:endParaRPr lang="en-CA" dirty="0">
              <a:cs typeface="+mj-cs"/>
            </a:endParaRPr>
          </a:p>
        </p:txBody>
      </p:sp>
      <p:sp>
        <p:nvSpPr>
          <p:cNvPr id="813059" name="Rectangle 3">
            <a:extLst>
              <a:ext uri="{FF2B5EF4-FFF2-40B4-BE49-F238E27FC236}">
                <a16:creationId xmlns:a16="http://schemas.microsoft.com/office/drawing/2014/main" id="{551A94F4-440F-9C71-B8B9-75F64C0A0371}"/>
              </a:ext>
            </a:extLst>
          </p:cNvPr>
          <p:cNvSpPr>
            <a:spLocks noGrp="1" noChangeArrowheads="1"/>
          </p:cNvSpPr>
          <p:nvPr>
            <p:ph type="body" idx="1"/>
          </p:nvPr>
        </p:nvSpPr>
        <p:spPr>
          <a:xfrm>
            <a:off x="251520" y="1181100"/>
            <a:ext cx="8640960" cy="5560268"/>
          </a:xfrm>
        </p:spPr>
        <p:txBody>
          <a:bodyPr/>
          <a:lstStyle/>
          <a:p>
            <a:pPr lvl="1" eaLnBrk="1" hangingPunct="1">
              <a:defRPr/>
            </a:pPr>
            <a:r>
              <a:rPr lang="en-US" b="1" dirty="0">
                <a:solidFill>
                  <a:srgbClr val="00468F"/>
                </a:solidFill>
              </a:rPr>
              <a:t>Expectations</a:t>
            </a:r>
          </a:p>
          <a:p>
            <a:pPr lvl="1" eaLnBrk="1" hangingPunct="1">
              <a:defRPr/>
            </a:pPr>
            <a:r>
              <a:rPr lang="en-US" dirty="0">
                <a:solidFill>
                  <a:srgbClr val="000000"/>
                </a:solidFill>
              </a:rPr>
              <a:t>An increase in expected future income increases the amount of consumption goods that people plan to buy today and increases aggregate demand.</a:t>
            </a:r>
          </a:p>
          <a:p>
            <a:pPr lvl="1" eaLnBrk="1" hangingPunct="1">
              <a:defRPr/>
            </a:pPr>
            <a:r>
              <a:rPr lang="en-US" dirty="0">
                <a:solidFill>
                  <a:srgbClr val="000000"/>
                </a:solidFill>
              </a:rPr>
              <a:t>An increase in expected future inflation increases aggregate demand today because people decide to buy more goods and services now before their prices rise.</a:t>
            </a:r>
          </a:p>
          <a:p>
            <a:pPr lvl="1" eaLnBrk="1" hangingPunct="1">
              <a:defRPr/>
            </a:pPr>
            <a:r>
              <a:rPr lang="en-US" dirty="0">
                <a:solidFill>
                  <a:srgbClr val="000000"/>
                </a:solidFill>
              </a:rPr>
              <a:t>An increase in expected future profit increases the investment that firms plan to undertake today and increases aggregate demand.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3059">
                                            <p:txEl>
                                              <p:pRg st="1" end="1"/>
                                            </p:txEl>
                                          </p:spTgt>
                                        </p:tgtEl>
                                        <p:attrNameLst>
                                          <p:attrName>style.visibility</p:attrName>
                                        </p:attrNameLst>
                                      </p:cBhvr>
                                      <p:to>
                                        <p:strVal val="visible"/>
                                      </p:to>
                                    </p:set>
                                    <p:animEffect transition="in" filter="wipe(left)">
                                      <p:cBhvr>
                                        <p:cTn id="7" dur="500"/>
                                        <p:tgtEl>
                                          <p:spTgt spid="8130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3059">
                                            <p:txEl>
                                              <p:pRg st="2" end="2"/>
                                            </p:txEl>
                                          </p:spTgt>
                                        </p:tgtEl>
                                        <p:attrNameLst>
                                          <p:attrName>style.visibility</p:attrName>
                                        </p:attrNameLst>
                                      </p:cBhvr>
                                      <p:to>
                                        <p:strVal val="visible"/>
                                      </p:to>
                                    </p:set>
                                    <p:animEffect transition="in" filter="wipe(left)">
                                      <p:cBhvr>
                                        <p:cTn id="12" dur="500"/>
                                        <p:tgtEl>
                                          <p:spTgt spid="8130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3059">
                                            <p:txEl>
                                              <p:pRg st="3" end="3"/>
                                            </p:txEl>
                                          </p:spTgt>
                                        </p:tgtEl>
                                        <p:attrNameLst>
                                          <p:attrName>style.visibility</p:attrName>
                                        </p:attrNameLst>
                                      </p:cBhvr>
                                      <p:to>
                                        <p:strVal val="visible"/>
                                      </p:to>
                                    </p:set>
                                    <p:animEffect transition="in" filter="wipe(left)">
                                      <p:cBhvr>
                                        <p:cTn id="17" dur="500"/>
                                        <p:tgtEl>
                                          <p:spTgt spid="813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59" grpId="0" build="p" bldLvl="3"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6130" name="Rectangle 2">
            <a:extLst>
              <a:ext uri="{FF2B5EF4-FFF2-40B4-BE49-F238E27FC236}">
                <a16:creationId xmlns:a16="http://schemas.microsoft.com/office/drawing/2014/main" id="{6C0606B0-8026-DDDD-ACE9-CF8BF10C927F}"/>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16131" name="Rectangle 3">
            <a:extLst>
              <a:ext uri="{FF2B5EF4-FFF2-40B4-BE49-F238E27FC236}">
                <a16:creationId xmlns:a16="http://schemas.microsoft.com/office/drawing/2014/main" id="{9BFFD9A6-67DC-0090-AF5B-926FAFA015E2}"/>
              </a:ext>
            </a:extLst>
          </p:cNvPr>
          <p:cNvSpPr>
            <a:spLocks noGrp="1" noChangeArrowheads="1"/>
          </p:cNvSpPr>
          <p:nvPr>
            <p:ph type="body" idx="1"/>
          </p:nvPr>
        </p:nvSpPr>
        <p:spPr/>
        <p:txBody>
          <a:bodyPr/>
          <a:lstStyle/>
          <a:p>
            <a:pPr lvl="1" eaLnBrk="1" hangingPunct="1">
              <a:defRPr/>
            </a:pPr>
            <a:r>
              <a:rPr lang="en-US" b="1" dirty="0">
                <a:solidFill>
                  <a:srgbClr val="00468F"/>
                </a:solidFill>
              </a:rPr>
              <a:t>Fiscal Policy and Monetary Policy</a:t>
            </a:r>
          </a:p>
          <a:p>
            <a:pPr lvl="1" eaLnBrk="1" hangingPunct="1">
              <a:defRPr/>
            </a:pPr>
            <a:r>
              <a:rPr lang="en-US" dirty="0"/>
              <a:t>Governments can use fiscal policy to influence aggregate demand.</a:t>
            </a:r>
          </a:p>
          <a:p>
            <a:pPr lvl="1" eaLnBrk="1" hangingPunct="1">
              <a:defRPr/>
            </a:pPr>
            <a:r>
              <a:rPr lang="en-US" b="1" dirty="0">
                <a:solidFill>
                  <a:srgbClr val="FF0000"/>
                </a:solidFill>
              </a:rPr>
              <a:t>Fiscal policy</a:t>
            </a:r>
            <a:r>
              <a:rPr lang="en-US" dirty="0"/>
              <a:t> is changing taxes, transfer payments, and government expenditure on goods and services. </a:t>
            </a:r>
          </a:p>
          <a:p>
            <a:pPr lvl="1" eaLnBrk="1" hangingPunct="1">
              <a:defRPr/>
            </a:pPr>
            <a:r>
              <a:rPr lang="en-US" dirty="0"/>
              <a:t>The Federal Reserve can use monetary policy to influence aggregate demand.</a:t>
            </a:r>
          </a:p>
          <a:p>
            <a:pPr lvl="1" eaLnBrk="1" hangingPunct="1">
              <a:defRPr/>
            </a:pPr>
            <a:r>
              <a:rPr lang="en-US" b="1" dirty="0">
                <a:solidFill>
                  <a:srgbClr val="FF0000"/>
                </a:solidFill>
              </a:rPr>
              <a:t>Monetary policy</a:t>
            </a:r>
            <a:r>
              <a:rPr lang="en-US" dirty="0"/>
              <a:t> is changing the quantity of money and the interest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6131">
                                            <p:txEl>
                                              <p:pRg st="1" end="1"/>
                                            </p:txEl>
                                          </p:spTgt>
                                        </p:tgtEl>
                                        <p:attrNameLst>
                                          <p:attrName>style.visibility</p:attrName>
                                        </p:attrNameLst>
                                      </p:cBhvr>
                                      <p:to>
                                        <p:strVal val="visible"/>
                                      </p:to>
                                    </p:set>
                                    <p:animEffect transition="in" filter="wipe(left)">
                                      <p:cBhvr>
                                        <p:cTn id="7" dur="500"/>
                                        <p:tgtEl>
                                          <p:spTgt spid="8161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6131">
                                            <p:txEl>
                                              <p:pRg st="2" end="2"/>
                                            </p:txEl>
                                          </p:spTgt>
                                        </p:tgtEl>
                                        <p:attrNameLst>
                                          <p:attrName>style.visibility</p:attrName>
                                        </p:attrNameLst>
                                      </p:cBhvr>
                                      <p:to>
                                        <p:strVal val="visible"/>
                                      </p:to>
                                    </p:set>
                                    <p:animEffect transition="in" filter="wipe(left)">
                                      <p:cBhvr>
                                        <p:cTn id="12" dur="500"/>
                                        <p:tgtEl>
                                          <p:spTgt spid="8161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6131">
                                            <p:txEl>
                                              <p:pRg st="3" end="3"/>
                                            </p:txEl>
                                          </p:spTgt>
                                        </p:tgtEl>
                                        <p:attrNameLst>
                                          <p:attrName>style.visibility</p:attrName>
                                        </p:attrNameLst>
                                      </p:cBhvr>
                                      <p:to>
                                        <p:strVal val="visible"/>
                                      </p:to>
                                    </p:set>
                                    <p:animEffect transition="in" filter="wipe(left)">
                                      <p:cBhvr>
                                        <p:cTn id="17" dur="500"/>
                                        <p:tgtEl>
                                          <p:spTgt spid="81613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6131">
                                            <p:txEl>
                                              <p:pRg st="4" end="4"/>
                                            </p:txEl>
                                          </p:spTgt>
                                        </p:tgtEl>
                                        <p:attrNameLst>
                                          <p:attrName>style.visibility</p:attrName>
                                        </p:attrNameLst>
                                      </p:cBhvr>
                                      <p:to>
                                        <p:strVal val="visible"/>
                                      </p:to>
                                    </p:set>
                                    <p:animEffect transition="in" filter="wipe(left)">
                                      <p:cBhvr>
                                        <p:cTn id="22" dur="500"/>
                                        <p:tgtEl>
                                          <p:spTgt spid="8161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131" grpId="0" build="p" bldLvl="3"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7154" name="Rectangle 2">
            <a:extLst>
              <a:ext uri="{FF2B5EF4-FFF2-40B4-BE49-F238E27FC236}">
                <a16:creationId xmlns:a16="http://schemas.microsoft.com/office/drawing/2014/main" id="{21097B1D-2E65-C70F-F5C8-4D656CCF512E}"/>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17155" name="Rectangle 3">
            <a:extLst>
              <a:ext uri="{FF2B5EF4-FFF2-40B4-BE49-F238E27FC236}">
                <a16:creationId xmlns:a16="http://schemas.microsoft.com/office/drawing/2014/main" id="{1D1A4C0A-4229-5985-A240-953A11930089}"/>
              </a:ext>
            </a:extLst>
          </p:cNvPr>
          <p:cNvSpPr>
            <a:spLocks noGrp="1" noChangeArrowheads="1"/>
          </p:cNvSpPr>
          <p:nvPr>
            <p:ph type="body" idx="1"/>
          </p:nvPr>
        </p:nvSpPr>
        <p:spPr/>
        <p:txBody>
          <a:bodyPr/>
          <a:lstStyle/>
          <a:p>
            <a:pPr lvl="1" eaLnBrk="1" hangingPunct="1">
              <a:defRPr/>
            </a:pPr>
            <a:r>
              <a:rPr lang="en-US"/>
              <a:t>A tax cut or an increase in either transfer payments or government expenditure on goods and services increases aggregate demand.</a:t>
            </a:r>
          </a:p>
          <a:p>
            <a:pPr lvl="1" eaLnBrk="1" hangingPunct="1">
              <a:defRPr/>
            </a:pPr>
            <a:r>
              <a:rPr lang="en-US"/>
              <a:t> A cut in the interest rate or an increase in the quantity of money increases aggregate demand.</a:t>
            </a:r>
          </a:p>
          <a:p>
            <a:pPr lvl="1" eaLnBrk="1" hangingPunct="1">
              <a:defRPr/>
            </a:pPr>
            <a:endParaRPr lang="en-US"/>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7155">
                                            <p:txEl>
                                              <p:pRg st="1" end="1"/>
                                            </p:txEl>
                                          </p:spTgt>
                                        </p:tgtEl>
                                        <p:attrNameLst>
                                          <p:attrName>style.visibility</p:attrName>
                                        </p:attrNameLst>
                                      </p:cBhvr>
                                      <p:to>
                                        <p:strVal val="visible"/>
                                      </p:to>
                                    </p:set>
                                    <p:animEffect transition="in" filter="wipe(left)">
                                      <p:cBhvr>
                                        <p:cTn id="7" dur="500"/>
                                        <p:tgtEl>
                                          <p:spTgt spid="8171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55" grpId="0" build="p" bldLvl="3"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8114" name="Rectangle 2">
            <a:extLst>
              <a:ext uri="{FF2B5EF4-FFF2-40B4-BE49-F238E27FC236}">
                <a16:creationId xmlns:a16="http://schemas.microsoft.com/office/drawing/2014/main" id="{5BCD8F1B-3C69-CABA-4BCF-48EFA6520AE4}"/>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58115" name="Rectangle 3">
            <a:extLst>
              <a:ext uri="{FF2B5EF4-FFF2-40B4-BE49-F238E27FC236}">
                <a16:creationId xmlns:a16="http://schemas.microsoft.com/office/drawing/2014/main" id="{CBC9C975-33EF-4AF7-67A1-9FEA6F955E5D}"/>
              </a:ext>
            </a:extLst>
          </p:cNvPr>
          <p:cNvSpPr>
            <a:spLocks noGrp="1" noChangeArrowheads="1"/>
          </p:cNvSpPr>
          <p:nvPr>
            <p:ph type="body" idx="1"/>
          </p:nvPr>
        </p:nvSpPr>
        <p:spPr>
          <a:xfrm>
            <a:off x="457200" y="1268760"/>
            <a:ext cx="8363272" cy="5314602"/>
          </a:xfrm>
        </p:spPr>
        <p:txBody>
          <a:bodyPr/>
          <a:lstStyle/>
          <a:p>
            <a:pPr lvl="1" eaLnBrk="1" hangingPunct="1">
              <a:defRPr/>
            </a:pPr>
            <a:r>
              <a:rPr lang="en-US" b="1" dirty="0">
                <a:solidFill>
                  <a:srgbClr val="00468F"/>
                </a:solidFill>
              </a:rPr>
              <a:t>The World Economy</a:t>
            </a:r>
          </a:p>
          <a:p>
            <a:pPr lvl="1" eaLnBrk="1" hangingPunct="1">
              <a:defRPr/>
            </a:pPr>
            <a:r>
              <a:rPr lang="en-US" dirty="0"/>
              <a:t>The foreign exchange rate and foreign income influence aggregate demand.</a:t>
            </a:r>
          </a:p>
          <a:p>
            <a:pPr lvl="1" eaLnBrk="1" hangingPunct="1">
              <a:defRPr/>
            </a:pPr>
            <a:r>
              <a:rPr lang="en-US" dirty="0"/>
              <a:t>The foreign exchange rate is the amount of foreign currency you can buy with a U.S. dollar.</a:t>
            </a:r>
          </a:p>
          <a:p>
            <a:pPr lvl="1" eaLnBrk="1" hangingPunct="1">
              <a:defRPr/>
            </a:pPr>
            <a:r>
              <a:rPr lang="en-US" dirty="0"/>
              <a:t>Other things remaining the same, a rise in the foreign exchange rate decreases aggregate demand.</a:t>
            </a:r>
          </a:p>
          <a:p>
            <a:pPr lvl="1" eaLnBrk="1" hangingPunct="1">
              <a:defRPr/>
            </a:pPr>
            <a:r>
              <a:rPr lang="en-US" dirty="0"/>
              <a:t>An increase in foreign income increases U.S. exports and increases U.S. aggregate demand.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8115">
                                            <p:txEl>
                                              <p:pRg st="1" end="1"/>
                                            </p:txEl>
                                          </p:spTgt>
                                        </p:tgtEl>
                                        <p:attrNameLst>
                                          <p:attrName>style.visibility</p:attrName>
                                        </p:attrNameLst>
                                      </p:cBhvr>
                                      <p:to>
                                        <p:strVal val="visible"/>
                                      </p:to>
                                    </p:set>
                                    <p:animEffect transition="in" filter="wipe(left)">
                                      <p:cBhvr>
                                        <p:cTn id="7" dur="500"/>
                                        <p:tgtEl>
                                          <p:spTgt spid="858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8115">
                                            <p:txEl>
                                              <p:pRg st="2" end="2"/>
                                            </p:txEl>
                                          </p:spTgt>
                                        </p:tgtEl>
                                        <p:attrNameLst>
                                          <p:attrName>style.visibility</p:attrName>
                                        </p:attrNameLst>
                                      </p:cBhvr>
                                      <p:to>
                                        <p:strVal val="visible"/>
                                      </p:to>
                                    </p:set>
                                    <p:animEffect transition="in" filter="wipe(left)">
                                      <p:cBhvr>
                                        <p:cTn id="12" dur="500"/>
                                        <p:tgtEl>
                                          <p:spTgt spid="8581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8115">
                                            <p:txEl>
                                              <p:pRg st="3" end="3"/>
                                            </p:txEl>
                                          </p:spTgt>
                                        </p:tgtEl>
                                        <p:attrNameLst>
                                          <p:attrName>style.visibility</p:attrName>
                                        </p:attrNameLst>
                                      </p:cBhvr>
                                      <p:to>
                                        <p:strVal val="visible"/>
                                      </p:to>
                                    </p:set>
                                    <p:animEffect transition="in" filter="wipe(left)">
                                      <p:cBhvr>
                                        <p:cTn id="17" dur="500"/>
                                        <p:tgtEl>
                                          <p:spTgt spid="8581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58115">
                                            <p:txEl>
                                              <p:pRg st="4" end="4"/>
                                            </p:txEl>
                                          </p:spTgt>
                                        </p:tgtEl>
                                        <p:attrNameLst>
                                          <p:attrName>style.visibility</p:attrName>
                                        </p:attrNameLst>
                                      </p:cBhvr>
                                      <p:to>
                                        <p:strVal val="visible"/>
                                      </p:to>
                                    </p:set>
                                    <p:animEffect transition="in" filter="wipe(left)">
                                      <p:cBhvr>
                                        <p:cTn id="22" dur="500"/>
                                        <p:tgtEl>
                                          <p:spTgt spid="8581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5" grpId="0" build="p" bldLvl="3"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6066" name="Rectangle 2">
            <a:extLst>
              <a:ext uri="{FF2B5EF4-FFF2-40B4-BE49-F238E27FC236}">
                <a16:creationId xmlns:a16="http://schemas.microsoft.com/office/drawing/2014/main" id="{D2590BB2-6B98-5648-DAB1-107975C184EC}"/>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56067" name="Rectangle 3">
            <a:extLst>
              <a:ext uri="{FF2B5EF4-FFF2-40B4-BE49-F238E27FC236}">
                <a16:creationId xmlns:a16="http://schemas.microsoft.com/office/drawing/2014/main" id="{7BD3BC6E-33CD-6ADA-A028-56625DFA1E2E}"/>
              </a:ext>
            </a:extLst>
          </p:cNvPr>
          <p:cNvSpPr>
            <a:spLocks noGrp="1" noChangeArrowheads="1"/>
          </p:cNvSpPr>
          <p:nvPr>
            <p:ph type="body" idx="1"/>
          </p:nvPr>
        </p:nvSpPr>
        <p:spPr>
          <a:xfrm>
            <a:off x="304800" y="1600200"/>
            <a:ext cx="4114800" cy="762000"/>
          </a:xfrm>
        </p:spPr>
        <p:txBody>
          <a:bodyPr/>
          <a:lstStyle/>
          <a:p>
            <a:pPr marL="0" indent="0" eaLnBrk="1" hangingPunct="1">
              <a:lnSpc>
                <a:spcPct val="90000"/>
              </a:lnSpc>
              <a:spcBef>
                <a:spcPct val="0"/>
              </a:spcBef>
              <a:buClrTx/>
              <a:buFontTx/>
              <a:buNone/>
              <a:defRPr/>
            </a:pPr>
            <a:r>
              <a:rPr lang="en-US" sz="2400" b="0" dirty="0">
                <a:solidFill>
                  <a:schemeClr val="tx1"/>
                </a:solidFill>
                <a:cs typeface="+mn-cs"/>
              </a:rPr>
              <a:t>Figure 28.5 shows changes in aggregate demand.</a:t>
            </a:r>
          </a:p>
        </p:txBody>
      </p:sp>
      <p:sp>
        <p:nvSpPr>
          <p:cNvPr id="856068" name="Rectangle 4">
            <a:extLst>
              <a:ext uri="{FF2B5EF4-FFF2-40B4-BE49-F238E27FC236}">
                <a16:creationId xmlns:a16="http://schemas.microsoft.com/office/drawing/2014/main" id="{7A0F6468-954E-DBB3-43C7-F6C4228F1BE3}"/>
              </a:ext>
            </a:extLst>
          </p:cNvPr>
          <p:cNvSpPr>
            <a:spLocks noChangeArrowheads="1"/>
          </p:cNvSpPr>
          <p:nvPr/>
        </p:nvSpPr>
        <p:spPr bwMode="auto">
          <a:xfrm>
            <a:off x="228600" y="2514600"/>
            <a:ext cx="4572000" cy="3962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285750">
              <a:spcBef>
                <a:spcPct val="20000"/>
              </a:spcBef>
              <a:defRPr/>
            </a:pPr>
            <a:r>
              <a:rPr lang="en-US" b="1" dirty="0">
                <a:latin typeface="Arial" charset="0"/>
                <a:ea typeface="ＭＳ Ｐゴシック" charset="0"/>
              </a:rPr>
              <a:t>1. </a:t>
            </a:r>
            <a:r>
              <a:rPr lang="en-US" sz="2400" dirty="0">
                <a:solidFill>
                  <a:srgbClr val="000000"/>
                </a:solidFill>
                <a:latin typeface="Arial" charset="0"/>
                <a:ea typeface="ＭＳ Ｐゴシック" charset="0"/>
              </a:rPr>
              <a:t>Aggregate demand</a:t>
            </a:r>
            <a:r>
              <a:rPr lang="en-US" sz="2400" dirty="0">
                <a:latin typeface="Arial" charset="0"/>
                <a:ea typeface="ＭＳ Ｐゴシック" charset="0"/>
              </a:rPr>
              <a:t> </a:t>
            </a:r>
            <a:br>
              <a:rPr lang="en-US" sz="2400" dirty="0">
                <a:latin typeface="Arial" charset="0"/>
                <a:ea typeface="ＭＳ Ｐゴシック" charset="0"/>
              </a:rPr>
            </a:br>
            <a:r>
              <a:rPr lang="en-US" sz="2400" dirty="0">
                <a:latin typeface="Arial" charset="0"/>
                <a:ea typeface="ＭＳ Ｐゴシック" charset="0"/>
              </a:rPr>
              <a:t>i</a:t>
            </a:r>
            <a:r>
              <a:rPr lang="en-US" sz="2400" dirty="0">
                <a:solidFill>
                  <a:srgbClr val="000000"/>
                </a:solidFill>
                <a:latin typeface="Arial" charset="0"/>
                <a:ea typeface="ＭＳ Ｐゴシック" charset="0"/>
              </a:rPr>
              <a:t>ncreases if</a:t>
            </a:r>
          </a:p>
          <a:p>
            <a:pPr marL="684213" lvl="1" indent="-227013">
              <a:spcBef>
                <a:spcPct val="20000"/>
              </a:spcBef>
              <a:buClr>
                <a:srgbClr val="00468F"/>
              </a:buClr>
              <a:buFontTx/>
              <a:buChar char="•"/>
              <a:defRPr/>
            </a:pPr>
            <a:r>
              <a:rPr lang="en-US" sz="2400" dirty="0">
                <a:solidFill>
                  <a:srgbClr val="000000"/>
                </a:solidFill>
                <a:latin typeface="Arial" charset="0"/>
                <a:ea typeface="ＭＳ Ｐゴシック" charset="0"/>
              </a:rPr>
              <a:t>Expected future income, inflation, or profits increase.</a:t>
            </a:r>
          </a:p>
          <a:p>
            <a:pPr marL="684213" lvl="1" indent="-227013">
              <a:spcBef>
                <a:spcPct val="20000"/>
              </a:spcBef>
              <a:buClr>
                <a:srgbClr val="00468F"/>
              </a:buClr>
              <a:buFontTx/>
              <a:buChar char="•"/>
              <a:defRPr/>
            </a:pPr>
            <a:r>
              <a:rPr lang="en-US" sz="2400" dirty="0">
                <a:solidFill>
                  <a:srgbClr val="000000"/>
                </a:solidFill>
                <a:latin typeface="Arial" charset="0"/>
                <a:ea typeface="ＭＳ Ｐゴシック" charset="0"/>
              </a:rPr>
              <a:t>Fiscal policy or monetary policy actions increase planned expenditure.</a:t>
            </a:r>
          </a:p>
          <a:p>
            <a:pPr marL="684213" lvl="1" indent="-227013">
              <a:spcBef>
                <a:spcPct val="20000"/>
              </a:spcBef>
              <a:buClr>
                <a:srgbClr val="00468F"/>
              </a:buClr>
              <a:buFontTx/>
              <a:buChar char="•"/>
              <a:defRPr/>
            </a:pPr>
            <a:r>
              <a:rPr lang="en-US" sz="2400" dirty="0">
                <a:solidFill>
                  <a:srgbClr val="000000"/>
                </a:solidFill>
                <a:latin typeface="Arial" charset="0"/>
                <a:ea typeface="ＭＳ Ｐゴシック" charset="0"/>
              </a:rPr>
              <a:t>The exchange rate falls or foreign income increases.</a:t>
            </a:r>
          </a:p>
        </p:txBody>
      </p:sp>
      <p:pic>
        <p:nvPicPr>
          <p:cNvPr id="80900" name="Picture 12" descr="fig2805a.gif">
            <a:extLst>
              <a:ext uri="{FF2B5EF4-FFF2-40B4-BE49-F238E27FC236}">
                <a16:creationId xmlns:a16="http://schemas.microsoft.com/office/drawing/2014/main" id="{64FE2A7B-371B-5C2B-2485-B6BE5D76F7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752600"/>
            <a:ext cx="454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2805b.gif">
            <a:extLst>
              <a:ext uri="{FF2B5EF4-FFF2-40B4-BE49-F238E27FC236}">
                <a16:creationId xmlns:a16="http://schemas.microsoft.com/office/drawing/2014/main" id="{8BC340F8-1FF1-7311-E9EA-D79CAAF3DD3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752600"/>
            <a:ext cx="454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6068">
                                            <p:txEl>
                                              <p:pRg st="0" end="0"/>
                                            </p:txEl>
                                          </p:spTgt>
                                        </p:tgtEl>
                                        <p:attrNameLst>
                                          <p:attrName>style.visibility</p:attrName>
                                        </p:attrNameLst>
                                      </p:cBhvr>
                                      <p:to>
                                        <p:strVal val="visible"/>
                                      </p:to>
                                    </p:set>
                                    <p:animEffect transition="in" filter="wipe(left)">
                                      <p:cBhvr>
                                        <p:cTn id="7" dur="500"/>
                                        <p:tgtEl>
                                          <p:spTgt spid="856068">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1000"/>
                                        <p:tgtEl>
                                          <p:spTgt spid="1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56068">
                                            <p:txEl>
                                              <p:pRg st="1" end="1"/>
                                            </p:txEl>
                                          </p:spTgt>
                                        </p:tgtEl>
                                        <p:attrNameLst>
                                          <p:attrName>style.visibility</p:attrName>
                                        </p:attrNameLst>
                                      </p:cBhvr>
                                      <p:to>
                                        <p:strVal val="visible"/>
                                      </p:to>
                                    </p:set>
                                    <p:animEffect transition="in" filter="wipe(left)">
                                      <p:cBhvr>
                                        <p:cTn id="16" dur="500"/>
                                        <p:tgtEl>
                                          <p:spTgt spid="856068">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56068">
                                            <p:txEl>
                                              <p:pRg st="2" end="2"/>
                                            </p:txEl>
                                          </p:spTgt>
                                        </p:tgtEl>
                                        <p:attrNameLst>
                                          <p:attrName>style.visibility</p:attrName>
                                        </p:attrNameLst>
                                      </p:cBhvr>
                                      <p:to>
                                        <p:strVal val="visible"/>
                                      </p:to>
                                    </p:set>
                                    <p:animEffect transition="in" filter="wipe(left)">
                                      <p:cBhvr>
                                        <p:cTn id="21" dur="500"/>
                                        <p:tgtEl>
                                          <p:spTgt spid="856068">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56068">
                                            <p:txEl>
                                              <p:pRg st="3" end="3"/>
                                            </p:txEl>
                                          </p:spTgt>
                                        </p:tgtEl>
                                        <p:attrNameLst>
                                          <p:attrName>style.visibility</p:attrName>
                                        </p:attrNameLst>
                                      </p:cBhvr>
                                      <p:to>
                                        <p:strVal val="visible"/>
                                      </p:to>
                                    </p:set>
                                    <p:animEffect transition="in" filter="wipe(left)">
                                      <p:cBhvr>
                                        <p:cTn id="26" dur="500"/>
                                        <p:tgtEl>
                                          <p:spTgt spid="8560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8" grpId="0"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57090" name="Rectangle 2">
            <a:extLst>
              <a:ext uri="{FF2B5EF4-FFF2-40B4-BE49-F238E27FC236}">
                <a16:creationId xmlns:a16="http://schemas.microsoft.com/office/drawing/2014/main" id="{30473B1B-F7D6-F8AF-16F2-187536A8903F}"/>
              </a:ext>
            </a:extLst>
          </p:cNvPr>
          <p:cNvSpPr>
            <a:spLocks noGrp="1" noChangeArrowheads="1"/>
          </p:cNvSpPr>
          <p:nvPr>
            <p:ph type="title"/>
          </p:nvPr>
        </p:nvSpPr>
        <p:spPr/>
        <p:txBody>
          <a:bodyPr/>
          <a:lstStyle/>
          <a:p>
            <a:pPr eaLnBrk="1" hangingPunct="1">
              <a:defRPr/>
            </a:pPr>
            <a:r>
              <a:rPr lang="en-US" dirty="0">
                <a:cs typeface="+mj-cs"/>
              </a:rPr>
              <a:t>28.2  AGGREGATE DEMAND</a:t>
            </a:r>
            <a:endParaRPr lang="en-CA" dirty="0">
              <a:cs typeface="+mj-cs"/>
            </a:endParaRPr>
          </a:p>
        </p:txBody>
      </p:sp>
      <p:sp>
        <p:nvSpPr>
          <p:cNvPr id="857091" name="Rectangle 3">
            <a:extLst>
              <a:ext uri="{FF2B5EF4-FFF2-40B4-BE49-F238E27FC236}">
                <a16:creationId xmlns:a16="http://schemas.microsoft.com/office/drawing/2014/main" id="{9ABC0AC3-338A-ECA2-A426-49281836D67A}"/>
              </a:ext>
            </a:extLst>
          </p:cNvPr>
          <p:cNvSpPr>
            <a:spLocks noChangeArrowheads="1"/>
          </p:cNvSpPr>
          <p:nvPr/>
        </p:nvSpPr>
        <p:spPr bwMode="auto">
          <a:xfrm>
            <a:off x="228600" y="1905000"/>
            <a:ext cx="4292600" cy="472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82575" indent="-282575">
              <a:defRPr/>
            </a:pPr>
            <a:r>
              <a:rPr lang="en-US" b="1" dirty="0">
                <a:latin typeface="Arial" charset="0"/>
                <a:ea typeface="ＭＳ Ｐゴシック" charset="0"/>
              </a:rPr>
              <a:t>2.</a:t>
            </a:r>
            <a:r>
              <a:rPr lang="en-US" dirty="0">
                <a:latin typeface="Arial" charset="0"/>
                <a:ea typeface="ＭＳ Ｐゴシック" charset="0"/>
              </a:rPr>
              <a:t> </a:t>
            </a:r>
            <a:r>
              <a:rPr lang="en-US" sz="2400" dirty="0">
                <a:solidFill>
                  <a:srgbClr val="000000"/>
                </a:solidFill>
                <a:latin typeface="Arial" charset="0"/>
                <a:ea typeface="ＭＳ Ｐゴシック" charset="0"/>
              </a:rPr>
              <a:t>Aggregate demand</a:t>
            </a:r>
            <a:r>
              <a:rPr lang="en-US" sz="2400" dirty="0">
                <a:latin typeface="Arial" charset="0"/>
                <a:ea typeface="ＭＳ Ｐゴシック" charset="0"/>
              </a:rPr>
              <a:t> </a:t>
            </a:r>
            <a:br>
              <a:rPr lang="en-US" sz="2400" dirty="0">
                <a:latin typeface="Arial" charset="0"/>
                <a:ea typeface="ＭＳ Ｐゴシック" charset="0"/>
              </a:rPr>
            </a:br>
            <a:r>
              <a:rPr lang="en-US" sz="2400" dirty="0">
                <a:latin typeface="Arial" charset="0"/>
                <a:ea typeface="ＭＳ Ｐゴシック" charset="0"/>
              </a:rPr>
              <a:t>de</a:t>
            </a:r>
            <a:r>
              <a:rPr lang="en-US" sz="2400" dirty="0">
                <a:solidFill>
                  <a:srgbClr val="000000"/>
                </a:solidFill>
                <a:latin typeface="Arial" charset="0"/>
                <a:ea typeface="ＭＳ Ｐゴシック" charset="0"/>
              </a:rPr>
              <a:t>creases if</a:t>
            </a:r>
          </a:p>
          <a:p>
            <a:pPr marL="625475" lvl="1" indent="-163513">
              <a:spcBef>
                <a:spcPct val="50000"/>
              </a:spcBef>
              <a:buClr>
                <a:srgbClr val="00468F"/>
              </a:buClr>
              <a:buFontTx/>
              <a:buChar char="•"/>
              <a:defRPr/>
            </a:pPr>
            <a:r>
              <a:rPr lang="en-US" sz="2400" dirty="0">
                <a:solidFill>
                  <a:srgbClr val="000000"/>
                </a:solidFill>
                <a:latin typeface="Arial" charset="0"/>
                <a:ea typeface="ＭＳ Ｐゴシック" charset="0"/>
              </a:rPr>
              <a:t>Expected future income, inflation, or profits decrease.</a:t>
            </a:r>
          </a:p>
          <a:p>
            <a:pPr marL="625475" lvl="1" indent="-163513">
              <a:spcBef>
                <a:spcPct val="50000"/>
              </a:spcBef>
              <a:buClr>
                <a:srgbClr val="00468F"/>
              </a:buClr>
              <a:buFontTx/>
              <a:buChar char="•"/>
              <a:defRPr/>
            </a:pPr>
            <a:r>
              <a:rPr lang="en-US" sz="2400" dirty="0">
                <a:solidFill>
                  <a:srgbClr val="000000"/>
                </a:solidFill>
                <a:latin typeface="Arial" charset="0"/>
                <a:ea typeface="ＭＳ Ｐゴシック" charset="0"/>
              </a:rPr>
              <a:t>Fiscal policy or monetary policy actions decrease planned expenditure.</a:t>
            </a:r>
          </a:p>
          <a:p>
            <a:pPr marL="625475" lvl="1" indent="-163513">
              <a:spcBef>
                <a:spcPct val="50000"/>
              </a:spcBef>
              <a:buClr>
                <a:srgbClr val="00468F"/>
              </a:buClr>
              <a:buFontTx/>
              <a:buChar char="•"/>
              <a:defRPr/>
            </a:pPr>
            <a:r>
              <a:rPr lang="en-US" sz="2400" dirty="0">
                <a:solidFill>
                  <a:srgbClr val="000000"/>
                </a:solidFill>
                <a:latin typeface="Arial" charset="0"/>
                <a:ea typeface="ＭＳ Ｐゴシック" charset="0"/>
              </a:rPr>
              <a:t>The exchange rate rises or foreign income decreases.</a:t>
            </a:r>
          </a:p>
        </p:txBody>
      </p:sp>
      <p:pic>
        <p:nvPicPr>
          <p:cNvPr id="84995" name="Picture 12" descr="fig2805a.gif">
            <a:extLst>
              <a:ext uri="{FF2B5EF4-FFF2-40B4-BE49-F238E27FC236}">
                <a16:creationId xmlns:a16="http://schemas.microsoft.com/office/drawing/2014/main" id="{185245B7-98E9-800F-10FC-BEDDA9B669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752600"/>
            <a:ext cx="454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6" name="Picture 13" descr="fig2805b.gif">
            <a:extLst>
              <a:ext uri="{FF2B5EF4-FFF2-40B4-BE49-F238E27FC236}">
                <a16:creationId xmlns:a16="http://schemas.microsoft.com/office/drawing/2014/main" id="{0272F880-0EDE-357A-E7C7-47E58D17AD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752600"/>
            <a:ext cx="454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805c.gif">
            <a:extLst>
              <a:ext uri="{FF2B5EF4-FFF2-40B4-BE49-F238E27FC236}">
                <a16:creationId xmlns:a16="http://schemas.microsoft.com/office/drawing/2014/main" id="{A5394797-7703-27B7-FEAC-7A63F76F01E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21200" y="1752600"/>
            <a:ext cx="4546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right)">
                                      <p:cBhvr>
                                        <p:cTn id="7" dur="10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7091">
                                            <p:txEl>
                                              <p:pRg st="1" end="1"/>
                                            </p:txEl>
                                          </p:spTgt>
                                        </p:tgtEl>
                                        <p:attrNameLst>
                                          <p:attrName>style.visibility</p:attrName>
                                        </p:attrNameLst>
                                      </p:cBhvr>
                                      <p:to>
                                        <p:strVal val="visible"/>
                                      </p:to>
                                    </p:set>
                                    <p:animEffect transition="in" filter="wipe(left)">
                                      <p:cBhvr>
                                        <p:cTn id="12" dur="500"/>
                                        <p:tgtEl>
                                          <p:spTgt spid="857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7091">
                                            <p:txEl>
                                              <p:pRg st="2" end="2"/>
                                            </p:txEl>
                                          </p:spTgt>
                                        </p:tgtEl>
                                        <p:attrNameLst>
                                          <p:attrName>style.visibility</p:attrName>
                                        </p:attrNameLst>
                                      </p:cBhvr>
                                      <p:to>
                                        <p:strVal val="visible"/>
                                      </p:to>
                                    </p:set>
                                    <p:animEffect transition="in" filter="wipe(left)">
                                      <p:cBhvr>
                                        <p:cTn id="17" dur="500"/>
                                        <p:tgtEl>
                                          <p:spTgt spid="857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57091">
                                            <p:txEl>
                                              <p:pRg st="3" end="3"/>
                                            </p:txEl>
                                          </p:spTgt>
                                        </p:tgtEl>
                                        <p:attrNameLst>
                                          <p:attrName>style.visibility</p:attrName>
                                        </p:attrNameLst>
                                      </p:cBhvr>
                                      <p:to>
                                        <p:strVal val="visible"/>
                                      </p:to>
                                    </p:set>
                                    <p:animEffect transition="in" filter="wipe(left)">
                                      <p:cBhvr>
                                        <p:cTn id="22" dur="500"/>
                                        <p:tgtEl>
                                          <p:spTgt spid="8570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1"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1250" name="Rectangle 2">
            <a:extLst>
              <a:ext uri="{FF2B5EF4-FFF2-40B4-BE49-F238E27FC236}">
                <a16:creationId xmlns:a16="http://schemas.microsoft.com/office/drawing/2014/main" id="{CB35A712-E488-0DDF-97AE-800EB1DA56F9}"/>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
        <p:nvSpPr>
          <p:cNvPr id="821251" name="Rectangle 3">
            <a:extLst>
              <a:ext uri="{FF2B5EF4-FFF2-40B4-BE49-F238E27FC236}">
                <a16:creationId xmlns:a16="http://schemas.microsoft.com/office/drawing/2014/main" id="{41975204-737D-3215-E058-C20534A95549}"/>
              </a:ext>
            </a:extLst>
          </p:cNvPr>
          <p:cNvSpPr>
            <a:spLocks noGrp="1" noChangeArrowheads="1"/>
          </p:cNvSpPr>
          <p:nvPr>
            <p:ph type="body" idx="1"/>
          </p:nvPr>
        </p:nvSpPr>
        <p:spPr/>
        <p:txBody>
          <a:bodyPr/>
          <a:lstStyle/>
          <a:p>
            <a:pPr lvl="1" eaLnBrk="1" hangingPunct="1">
              <a:defRPr/>
            </a:pPr>
            <a:r>
              <a:rPr lang="en-US" dirty="0"/>
              <a:t>Aggregate supply and aggregate demand determine real GDP and the price level.</a:t>
            </a:r>
          </a:p>
          <a:p>
            <a:pPr lvl="1" eaLnBrk="1" hangingPunct="1">
              <a:defRPr/>
            </a:pPr>
            <a:r>
              <a:rPr lang="en-US" sz="2600" b="1" dirty="0">
                <a:solidFill>
                  <a:srgbClr val="FF0000"/>
                </a:solidFill>
              </a:rPr>
              <a:t>Macroeconomic equilibrium</a:t>
            </a:r>
            <a:r>
              <a:rPr lang="en-US" dirty="0"/>
              <a:t> occurs when the quantity of real GDP demanded equals the quantity of real GDP supplied.</a:t>
            </a:r>
          </a:p>
          <a:p>
            <a:pPr lvl="1" eaLnBrk="1" hangingPunct="1">
              <a:defRPr/>
            </a:pPr>
            <a:r>
              <a:rPr lang="en-US" dirty="0"/>
              <a:t>Macroeconomic equilibrium occurs at the point of intersection of the </a:t>
            </a:r>
            <a:r>
              <a:rPr lang="en-US" i="1" dirty="0"/>
              <a:t>AD</a:t>
            </a:r>
            <a:r>
              <a:rPr lang="en-US" dirty="0"/>
              <a:t> curve and the </a:t>
            </a:r>
            <a:r>
              <a:rPr lang="en-US" i="1" dirty="0"/>
              <a:t>AS</a:t>
            </a:r>
            <a:r>
              <a:rPr lang="en-US" dirty="0"/>
              <a:t> curve.</a:t>
            </a:r>
          </a:p>
          <a:p>
            <a:pPr lvl="1" eaLnBrk="1" hangingPunct="1">
              <a:defRPr/>
            </a:pPr>
            <a:r>
              <a:rPr lang="en-US" dirty="0"/>
              <a:t>Figure 28.7 on the next slide illustrates macroeconomic equilibrium.</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1251">
                                            <p:txEl>
                                              <p:pRg st="1" end="1"/>
                                            </p:txEl>
                                          </p:spTgt>
                                        </p:tgtEl>
                                        <p:attrNameLst>
                                          <p:attrName>style.visibility</p:attrName>
                                        </p:attrNameLst>
                                      </p:cBhvr>
                                      <p:to>
                                        <p:strVal val="visible"/>
                                      </p:to>
                                    </p:set>
                                    <p:animEffect transition="in" filter="wipe(left)">
                                      <p:cBhvr>
                                        <p:cTn id="7" dur="500"/>
                                        <p:tgtEl>
                                          <p:spTgt spid="8212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1251">
                                            <p:txEl>
                                              <p:pRg st="2" end="2"/>
                                            </p:txEl>
                                          </p:spTgt>
                                        </p:tgtEl>
                                        <p:attrNameLst>
                                          <p:attrName>style.visibility</p:attrName>
                                        </p:attrNameLst>
                                      </p:cBhvr>
                                      <p:to>
                                        <p:strVal val="visible"/>
                                      </p:to>
                                    </p:set>
                                    <p:animEffect transition="in" filter="wipe(left)">
                                      <p:cBhvr>
                                        <p:cTn id="12" dur="500"/>
                                        <p:tgtEl>
                                          <p:spTgt spid="8212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1251">
                                            <p:txEl>
                                              <p:pRg st="3" end="3"/>
                                            </p:txEl>
                                          </p:spTgt>
                                        </p:tgtEl>
                                        <p:attrNameLst>
                                          <p:attrName>style.visibility</p:attrName>
                                        </p:attrNameLst>
                                      </p:cBhvr>
                                      <p:to>
                                        <p:strVal val="visible"/>
                                      </p:to>
                                    </p:set>
                                    <p:animEffect transition="in" filter="wipe(left)">
                                      <p:cBhvr>
                                        <p:cTn id="17" dur="500"/>
                                        <p:tgtEl>
                                          <p:spTgt spid="821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251" grpId="0" build="p" bldLvl="3"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5156" name="Rectangle 4">
            <a:extLst>
              <a:ext uri="{FF2B5EF4-FFF2-40B4-BE49-F238E27FC236}">
                <a16:creationId xmlns:a16="http://schemas.microsoft.com/office/drawing/2014/main" id="{449B5674-ABD1-9DBA-E4F6-0C471133F5C2}"/>
              </a:ext>
            </a:extLst>
          </p:cNvPr>
          <p:cNvSpPr>
            <a:spLocks noChangeArrowheads="1"/>
          </p:cNvSpPr>
          <p:nvPr/>
        </p:nvSpPr>
        <p:spPr bwMode="auto">
          <a:xfrm>
            <a:off x="457200" y="1752600"/>
            <a:ext cx="4186238" cy="403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cs typeface="ＭＳ Ｐゴシック" charset="0"/>
              </a:rPr>
              <a:t>Suppose that the price level is 100 and that real GDP is $12 trillion, at point </a:t>
            </a:r>
            <a:r>
              <a:rPr lang="en-US" sz="2400" i="1" dirty="0">
                <a:latin typeface="Arial" charset="0"/>
                <a:ea typeface="ＭＳ Ｐゴシック" charset="0"/>
                <a:cs typeface="ＭＳ Ｐゴシック" charset="0"/>
              </a:rPr>
              <a:t>A.</a:t>
            </a:r>
          </a:p>
          <a:p>
            <a:pPr>
              <a:spcBef>
                <a:spcPct val="50000"/>
              </a:spcBef>
              <a:defRPr/>
            </a:pPr>
            <a:r>
              <a:rPr lang="en-US" sz="2400" dirty="0">
                <a:latin typeface="Arial" charset="0"/>
                <a:ea typeface="ＭＳ Ｐゴシック" charset="0"/>
                <a:cs typeface="ＭＳ Ｐゴシック" charset="0"/>
              </a:rPr>
              <a:t>The quantity of real GDP demanded exceeds </a:t>
            </a:r>
            <a:br>
              <a:rPr lang="en-US" sz="2400" dirty="0">
                <a:latin typeface="Arial" charset="0"/>
                <a:ea typeface="ＭＳ Ｐゴシック" charset="0"/>
                <a:cs typeface="ＭＳ Ｐゴシック" charset="0"/>
              </a:rPr>
            </a:br>
            <a:r>
              <a:rPr lang="en-US" sz="2400" dirty="0">
                <a:latin typeface="Arial" charset="0"/>
                <a:ea typeface="ＭＳ Ｐゴシック" charset="0"/>
                <a:cs typeface="ＭＳ Ｐゴシック" charset="0"/>
              </a:rPr>
              <a:t>$12 trillion and </a:t>
            </a:r>
          </a:p>
          <a:p>
            <a:pPr marL="355600" indent="-355600">
              <a:spcBef>
                <a:spcPct val="50000"/>
              </a:spcBef>
              <a:defRPr/>
            </a:pPr>
            <a:r>
              <a:rPr lang="en-US" sz="2400" b="1" dirty="0">
                <a:latin typeface="Arial" charset="0"/>
                <a:ea typeface="ＭＳ Ｐゴシック" charset="0"/>
                <a:cs typeface="ＭＳ Ｐゴシック" charset="0"/>
              </a:rPr>
              <a:t>1. </a:t>
            </a:r>
            <a:r>
              <a:rPr lang="en-US" sz="2400" dirty="0">
                <a:latin typeface="Arial" charset="0"/>
                <a:ea typeface="ＭＳ Ｐゴシック" charset="0"/>
                <a:cs typeface="ＭＳ Ｐゴシック" charset="0"/>
              </a:rPr>
              <a:t>Firms cannot meet the demand for their output, so they increase production and raise prices.</a:t>
            </a:r>
          </a:p>
          <a:p>
            <a:pPr>
              <a:spcBef>
                <a:spcPct val="50000"/>
              </a:spcBef>
              <a:defRPr/>
            </a:pPr>
            <a:endParaRPr lang="en-US" dirty="0">
              <a:latin typeface="Arial" charset="0"/>
              <a:ea typeface="ＭＳ Ｐゴシック" charset="0"/>
            </a:endParaRPr>
          </a:p>
        </p:txBody>
      </p:sp>
      <p:sp>
        <p:nvSpPr>
          <p:cNvPr id="7" name="Rectangle 2">
            <a:extLst>
              <a:ext uri="{FF2B5EF4-FFF2-40B4-BE49-F238E27FC236}">
                <a16:creationId xmlns:a16="http://schemas.microsoft.com/office/drawing/2014/main" id="{D7171F29-7C2C-F1E4-20E9-4005ADD8D341}"/>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pic>
        <p:nvPicPr>
          <p:cNvPr id="97283" name="Picture 16" descr="fig2907a.gif">
            <a:extLst>
              <a:ext uri="{FF2B5EF4-FFF2-40B4-BE49-F238E27FC236}">
                <a16:creationId xmlns:a16="http://schemas.microsoft.com/office/drawing/2014/main" id="{97CD9D7F-D150-CBD6-9FDB-FD014C3D416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2907b.gif">
            <a:extLst>
              <a:ext uri="{FF2B5EF4-FFF2-40B4-BE49-F238E27FC236}">
                <a16:creationId xmlns:a16="http://schemas.microsoft.com/office/drawing/2014/main" id="{53BF020C-B61C-1DB9-C932-F49AC1397B0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2907c.gif">
            <a:extLst>
              <a:ext uri="{FF2B5EF4-FFF2-40B4-BE49-F238E27FC236}">
                <a16:creationId xmlns:a16="http://schemas.microsoft.com/office/drawing/2014/main" id="{2EC31A21-A141-4CB8-3D7F-438242B6F0A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descr="fig2907d.gif">
            <a:extLst>
              <a:ext uri="{FF2B5EF4-FFF2-40B4-BE49-F238E27FC236}">
                <a16:creationId xmlns:a16="http://schemas.microsoft.com/office/drawing/2014/main" id="{6795D1FF-8439-A68A-0749-9B7919E817D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5156">
                                            <p:txEl>
                                              <p:pRg st="1" end="1"/>
                                            </p:txEl>
                                          </p:spTgt>
                                        </p:tgtEl>
                                        <p:attrNameLst>
                                          <p:attrName>style.visibility</p:attrName>
                                        </p:attrNameLst>
                                      </p:cBhvr>
                                      <p:to>
                                        <p:strVal val="visible"/>
                                      </p:to>
                                    </p:set>
                                    <p:animEffect transition="in" filter="wipe(left)">
                                      <p:cBhvr>
                                        <p:cTn id="12" dur="1000"/>
                                        <p:tgtEl>
                                          <p:spTgt spid="9451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5156">
                                            <p:txEl>
                                              <p:pRg st="2" end="2"/>
                                            </p:txEl>
                                          </p:spTgt>
                                        </p:tgtEl>
                                        <p:attrNameLst>
                                          <p:attrName>style.visibility</p:attrName>
                                        </p:attrNameLst>
                                      </p:cBhvr>
                                      <p:to>
                                        <p:strVal val="visible"/>
                                      </p:to>
                                    </p:set>
                                    <p:animEffect transition="in" filter="wipe(left)">
                                      <p:cBhvr>
                                        <p:cTn id="17" dur="1000"/>
                                        <p:tgtEl>
                                          <p:spTgt spid="94515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10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7204" name="Rectangle 4">
            <a:extLst>
              <a:ext uri="{FF2B5EF4-FFF2-40B4-BE49-F238E27FC236}">
                <a16:creationId xmlns:a16="http://schemas.microsoft.com/office/drawing/2014/main" id="{EDF675B3-4D29-2D8F-4BEA-30FD92974754}"/>
              </a:ext>
            </a:extLst>
          </p:cNvPr>
          <p:cNvSpPr>
            <a:spLocks noChangeArrowheads="1"/>
          </p:cNvSpPr>
          <p:nvPr/>
        </p:nvSpPr>
        <p:spPr bwMode="auto">
          <a:xfrm>
            <a:off x="457200" y="1752600"/>
            <a:ext cx="4114800" cy="441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cs typeface="ＭＳ Ｐゴシック" charset="0"/>
              </a:rPr>
              <a:t>Suppose that the price level is 120 and that real GDP is $14 trillion, at point </a:t>
            </a:r>
            <a:r>
              <a:rPr lang="en-US" sz="2400" i="1" dirty="0">
                <a:latin typeface="Arial" charset="0"/>
                <a:ea typeface="ＭＳ Ｐゴシック" charset="0"/>
                <a:cs typeface="ＭＳ Ｐゴシック" charset="0"/>
              </a:rPr>
              <a:t>B.</a:t>
            </a:r>
          </a:p>
          <a:p>
            <a:pPr>
              <a:spcBef>
                <a:spcPct val="50000"/>
              </a:spcBef>
              <a:defRPr/>
            </a:pPr>
            <a:r>
              <a:rPr lang="en-US" sz="2400" dirty="0">
                <a:latin typeface="Arial" charset="0"/>
                <a:ea typeface="ＭＳ Ｐゴシック" charset="0"/>
                <a:cs typeface="ＭＳ Ｐゴシック" charset="0"/>
              </a:rPr>
              <a:t>The quantity of real GDP demanded is less than </a:t>
            </a:r>
            <a:br>
              <a:rPr lang="en-US" sz="2400" dirty="0">
                <a:latin typeface="Arial" charset="0"/>
                <a:ea typeface="ＭＳ Ｐゴシック" charset="0"/>
                <a:cs typeface="ＭＳ Ｐゴシック" charset="0"/>
              </a:rPr>
            </a:br>
            <a:r>
              <a:rPr lang="en-US" sz="2400" dirty="0">
                <a:latin typeface="Arial" charset="0"/>
                <a:ea typeface="ＭＳ Ｐゴシック" charset="0"/>
                <a:cs typeface="ＭＳ Ｐゴシック" charset="0"/>
              </a:rPr>
              <a:t>$14 trillion.</a:t>
            </a:r>
          </a:p>
          <a:p>
            <a:pPr marL="355600" indent="-355600">
              <a:spcBef>
                <a:spcPct val="50000"/>
              </a:spcBef>
              <a:defRPr/>
            </a:pPr>
            <a:r>
              <a:rPr lang="en-US" sz="2400" b="1" dirty="0">
                <a:latin typeface="Arial" charset="0"/>
                <a:ea typeface="ＭＳ Ｐゴシック" charset="0"/>
                <a:cs typeface="ＭＳ Ｐゴシック" charset="0"/>
              </a:rPr>
              <a:t>2.</a:t>
            </a:r>
            <a:r>
              <a:rPr lang="en-US" sz="2400" dirty="0">
                <a:latin typeface="Arial" charset="0"/>
                <a:ea typeface="ＭＳ Ｐゴシック" charset="0"/>
                <a:cs typeface="ＭＳ Ｐゴシック" charset="0"/>
              </a:rPr>
              <a:t> Firms cannot sell all they produce, so they cut production and lower prices.</a:t>
            </a:r>
          </a:p>
        </p:txBody>
      </p:sp>
      <p:sp>
        <p:nvSpPr>
          <p:cNvPr id="8" name="Rectangle 2">
            <a:extLst>
              <a:ext uri="{FF2B5EF4-FFF2-40B4-BE49-F238E27FC236}">
                <a16:creationId xmlns:a16="http://schemas.microsoft.com/office/drawing/2014/main" id="{9E9944BA-EA00-2D44-319F-2B116F3A65D2}"/>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pic>
        <p:nvPicPr>
          <p:cNvPr id="101379" name="Picture 12" descr="fig2907a.gif">
            <a:extLst>
              <a:ext uri="{FF2B5EF4-FFF2-40B4-BE49-F238E27FC236}">
                <a16:creationId xmlns:a16="http://schemas.microsoft.com/office/drawing/2014/main" id="{B58951A0-18DD-70D8-A407-219E799DFE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0" name="Picture 14" descr="fig2907b.gif">
            <a:extLst>
              <a:ext uri="{FF2B5EF4-FFF2-40B4-BE49-F238E27FC236}">
                <a16:creationId xmlns:a16="http://schemas.microsoft.com/office/drawing/2014/main" id="{E9F85B05-E2BD-B7AB-5B8F-86574A69C6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15" descr="fig2907c.gif">
            <a:extLst>
              <a:ext uri="{FF2B5EF4-FFF2-40B4-BE49-F238E27FC236}">
                <a16:creationId xmlns:a16="http://schemas.microsoft.com/office/drawing/2014/main" id="{7717A7C6-3633-AF90-4944-E027AAD1B83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2907d.gif">
            <a:extLst>
              <a:ext uri="{FF2B5EF4-FFF2-40B4-BE49-F238E27FC236}">
                <a16:creationId xmlns:a16="http://schemas.microsoft.com/office/drawing/2014/main" id="{B4A660CC-5614-9BBE-9222-4EDC492C7AC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2907e.gif">
            <a:extLst>
              <a:ext uri="{FF2B5EF4-FFF2-40B4-BE49-F238E27FC236}">
                <a16:creationId xmlns:a16="http://schemas.microsoft.com/office/drawing/2014/main" id="{F5E2589A-94BA-37EF-2BEE-59B0E79A182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7204">
                                            <p:txEl>
                                              <p:pRg st="1" end="1"/>
                                            </p:txEl>
                                          </p:spTgt>
                                        </p:tgtEl>
                                        <p:attrNameLst>
                                          <p:attrName>style.visibility</p:attrName>
                                        </p:attrNameLst>
                                      </p:cBhvr>
                                      <p:to>
                                        <p:strVal val="visible"/>
                                      </p:to>
                                    </p:set>
                                    <p:animEffect transition="in" filter="wipe(left)">
                                      <p:cBhvr>
                                        <p:cTn id="12" dur="1000"/>
                                        <p:tgtEl>
                                          <p:spTgt spid="94720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7204">
                                            <p:txEl>
                                              <p:pRg st="2" end="2"/>
                                            </p:txEl>
                                          </p:spTgt>
                                        </p:tgtEl>
                                        <p:attrNameLst>
                                          <p:attrName>style.visibility</p:attrName>
                                        </p:attrNameLst>
                                      </p:cBhvr>
                                      <p:to>
                                        <p:strVal val="visible"/>
                                      </p:to>
                                    </p:set>
                                    <p:animEffect transition="in" filter="wipe(left)">
                                      <p:cBhvr>
                                        <p:cTn id="17" dur="1000"/>
                                        <p:tgtEl>
                                          <p:spTgt spid="94720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right)">
                                      <p:cBhvr>
                                        <p:cTn id="2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8228" name="Rectangle 4">
            <a:extLst>
              <a:ext uri="{FF2B5EF4-FFF2-40B4-BE49-F238E27FC236}">
                <a16:creationId xmlns:a16="http://schemas.microsoft.com/office/drawing/2014/main" id="{D23A4A1C-7D4B-A28E-F70F-F08648C963B7}"/>
              </a:ext>
            </a:extLst>
          </p:cNvPr>
          <p:cNvSpPr>
            <a:spLocks noChangeArrowheads="1"/>
          </p:cNvSpPr>
          <p:nvPr/>
        </p:nvSpPr>
        <p:spPr bwMode="auto">
          <a:xfrm>
            <a:off x="457200" y="2057400"/>
            <a:ext cx="3810000" cy="175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dirty="0">
                <a:latin typeface="Arial" charset="0"/>
                <a:ea typeface="ＭＳ Ｐゴシック" charset="0"/>
              </a:rPr>
              <a:t>Macroeconomic equilibrium occurs when the price level is 110 and real GDP is $13 trillion.</a:t>
            </a:r>
            <a:endParaRPr lang="en-US" i="1" dirty="0">
              <a:latin typeface="Arial" charset="0"/>
              <a:ea typeface="ＭＳ Ｐゴシック" charset="0"/>
            </a:endParaRPr>
          </a:p>
        </p:txBody>
      </p:sp>
      <p:sp>
        <p:nvSpPr>
          <p:cNvPr id="9" name="Rectangle 2">
            <a:extLst>
              <a:ext uri="{FF2B5EF4-FFF2-40B4-BE49-F238E27FC236}">
                <a16:creationId xmlns:a16="http://schemas.microsoft.com/office/drawing/2014/main" id="{5E82C23B-FA6F-55E2-788C-DF55D3C5699D}"/>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pic>
        <p:nvPicPr>
          <p:cNvPr id="103427" name="Picture 13" descr="fig2907a.gif">
            <a:extLst>
              <a:ext uri="{FF2B5EF4-FFF2-40B4-BE49-F238E27FC236}">
                <a16:creationId xmlns:a16="http://schemas.microsoft.com/office/drawing/2014/main" id="{9DD7BD11-E6C3-5CE3-AF2F-E728738D93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8" name="Picture 15" descr="fig2907b.gif">
            <a:extLst>
              <a:ext uri="{FF2B5EF4-FFF2-40B4-BE49-F238E27FC236}">
                <a16:creationId xmlns:a16="http://schemas.microsoft.com/office/drawing/2014/main" id="{A84FF77D-0BE3-1713-0F20-7D2BB50DE2B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Picture 16" descr="fig2907c.gif">
            <a:extLst>
              <a:ext uri="{FF2B5EF4-FFF2-40B4-BE49-F238E27FC236}">
                <a16:creationId xmlns:a16="http://schemas.microsoft.com/office/drawing/2014/main" id="{843CAD73-4EB8-97E9-8CAD-25479DCCD8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0" name="Picture 17" descr="fig2907d.gif">
            <a:extLst>
              <a:ext uri="{FF2B5EF4-FFF2-40B4-BE49-F238E27FC236}">
                <a16:creationId xmlns:a16="http://schemas.microsoft.com/office/drawing/2014/main" id="{99A22C07-8656-94A7-1F5E-86812934696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1" name="Picture 18" descr="fig2907e.gif">
            <a:extLst>
              <a:ext uri="{FF2B5EF4-FFF2-40B4-BE49-F238E27FC236}">
                <a16:creationId xmlns:a16="http://schemas.microsoft.com/office/drawing/2014/main" id="{2D938873-4F15-ACAC-C6F5-20B52973BB1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descr="fig2907f.gif">
            <a:extLst>
              <a:ext uri="{FF2B5EF4-FFF2-40B4-BE49-F238E27FC236}">
                <a16:creationId xmlns:a16="http://schemas.microsoft.com/office/drawing/2014/main" id="{792421E1-F765-46EE-5E1B-1405506030F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1905000"/>
            <a:ext cx="42291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9251" name="Rectangle 3">
            <a:extLst>
              <a:ext uri="{FF2B5EF4-FFF2-40B4-BE49-F238E27FC236}">
                <a16:creationId xmlns:a16="http://schemas.microsoft.com/office/drawing/2014/main" id="{F83AD2D7-23FB-C684-75B3-E9772F3B5788}"/>
              </a:ext>
            </a:extLst>
          </p:cNvPr>
          <p:cNvSpPr>
            <a:spLocks noChangeArrowheads="1"/>
          </p:cNvSpPr>
          <p:nvPr/>
        </p:nvSpPr>
        <p:spPr bwMode="auto">
          <a:xfrm>
            <a:off x="152400" y="4267200"/>
            <a:ext cx="2667000" cy="2362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949252" name="Rectangle 4">
            <a:extLst>
              <a:ext uri="{FF2B5EF4-FFF2-40B4-BE49-F238E27FC236}">
                <a16:creationId xmlns:a16="http://schemas.microsoft.com/office/drawing/2014/main" id="{7FC44479-CC0C-11D7-2A6B-1546DC2306C9}"/>
              </a:ext>
            </a:extLst>
          </p:cNvPr>
          <p:cNvSpPr>
            <a:spLocks noChangeArrowheads="1"/>
          </p:cNvSpPr>
          <p:nvPr/>
        </p:nvSpPr>
        <p:spPr bwMode="auto">
          <a:xfrm>
            <a:off x="228600" y="1752600"/>
            <a:ext cx="2590800" cy="2362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p:txBody>
      </p:sp>
      <p:sp>
        <p:nvSpPr>
          <p:cNvPr id="949259" name="Rectangle 11">
            <a:extLst>
              <a:ext uri="{FF2B5EF4-FFF2-40B4-BE49-F238E27FC236}">
                <a16:creationId xmlns:a16="http://schemas.microsoft.com/office/drawing/2014/main" id="{5B6CCA24-C7DF-35C8-2B80-633754894CC4}"/>
              </a:ext>
            </a:extLst>
          </p:cNvPr>
          <p:cNvSpPr>
            <a:spLocks noChangeArrowheads="1"/>
          </p:cNvSpPr>
          <p:nvPr/>
        </p:nvSpPr>
        <p:spPr bwMode="auto">
          <a:xfrm>
            <a:off x="304800" y="1752600"/>
            <a:ext cx="8305800" cy="472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ts val="1200"/>
              </a:spcBef>
              <a:spcAft>
                <a:spcPts val="300"/>
              </a:spcAft>
            </a:pPr>
            <a:r>
              <a:rPr lang="en-US" altLang="en-TW"/>
              <a:t>In macroeconomic equilibrium, the economy might be at full employment or above or below full employment.</a:t>
            </a:r>
          </a:p>
          <a:p>
            <a:pPr eaLnBrk="1" hangingPunct="1">
              <a:spcBef>
                <a:spcPts val="1200"/>
              </a:spcBef>
              <a:spcAft>
                <a:spcPts val="300"/>
              </a:spcAft>
            </a:pPr>
            <a:r>
              <a:rPr lang="en-US" altLang="en-TW" b="1">
                <a:solidFill>
                  <a:srgbClr val="FF0000"/>
                </a:solidFill>
              </a:rPr>
              <a:t>Full-employment  equilibrium</a:t>
            </a:r>
            <a:r>
              <a:rPr lang="en-US" altLang="en-TW"/>
              <a:t>—when equilibrium real GDP equals potential GDP—occurs where the </a:t>
            </a:r>
            <a:r>
              <a:rPr lang="en-US" altLang="en-TW" i="1"/>
              <a:t>AD</a:t>
            </a:r>
            <a:r>
              <a:rPr lang="en-US" altLang="en-TW"/>
              <a:t> curve intersects the </a:t>
            </a:r>
            <a:r>
              <a:rPr lang="en-US" altLang="en-TW" i="1"/>
              <a:t>AS</a:t>
            </a:r>
            <a:r>
              <a:rPr lang="en-US" altLang="en-TW"/>
              <a:t> curve.</a:t>
            </a:r>
            <a:endParaRPr lang="en-US" altLang="en-TW" i="1"/>
          </a:p>
          <a:p>
            <a:pPr marL="0" lvl="1" eaLnBrk="1" hangingPunct="1">
              <a:spcBef>
                <a:spcPts val="1200"/>
              </a:spcBef>
              <a:spcAft>
                <a:spcPts val="300"/>
              </a:spcAft>
            </a:pPr>
            <a:r>
              <a:rPr lang="en-US" altLang="en-TW" sz="2600" b="1">
                <a:solidFill>
                  <a:srgbClr val="FF0000"/>
                </a:solidFill>
              </a:rPr>
              <a:t>Recessionary gap </a:t>
            </a:r>
            <a:r>
              <a:rPr lang="en-US" altLang="en-TW">
                <a:solidFill>
                  <a:srgbClr val="000000"/>
                </a:solidFill>
              </a:rPr>
              <a:t>is a gap that exists when potential GDP exceeds real GDP and that brings a falling price level.</a:t>
            </a:r>
          </a:p>
          <a:p>
            <a:pPr marL="0" lvl="1" eaLnBrk="1" hangingPunct="1">
              <a:spcBef>
                <a:spcPts val="1200"/>
              </a:spcBef>
              <a:spcAft>
                <a:spcPts val="300"/>
              </a:spcAft>
            </a:pPr>
            <a:r>
              <a:rPr lang="en-US" altLang="en-TW" sz="2600" b="1">
                <a:solidFill>
                  <a:srgbClr val="FF0000"/>
                </a:solidFill>
              </a:rPr>
              <a:t>Inflationary gap </a:t>
            </a:r>
            <a:r>
              <a:rPr lang="en-US" altLang="en-TW">
                <a:solidFill>
                  <a:srgbClr val="000000"/>
                </a:solidFill>
              </a:rPr>
              <a:t>is a gap that exists when real GDP exceeds potential GDP and that brings a rising price level.</a:t>
            </a:r>
          </a:p>
          <a:p>
            <a:pPr marL="0" lvl="1" eaLnBrk="1" hangingPunct="1">
              <a:spcBef>
                <a:spcPts val="1200"/>
              </a:spcBef>
              <a:spcAft>
                <a:spcPts val="300"/>
              </a:spcAft>
            </a:pPr>
            <a:endParaRPr lang="en-CA" altLang="en-TW">
              <a:solidFill>
                <a:srgbClr val="000000"/>
              </a:solidFill>
            </a:endParaRPr>
          </a:p>
          <a:p>
            <a:pPr eaLnBrk="1" hangingPunct="1">
              <a:spcBef>
                <a:spcPts val="1200"/>
              </a:spcBef>
              <a:spcAft>
                <a:spcPts val="300"/>
              </a:spcAft>
            </a:pPr>
            <a:endParaRPr lang="en-US" altLang="en-TW"/>
          </a:p>
        </p:txBody>
      </p:sp>
      <p:sp>
        <p:nvSpPr>
          <p:cNvPr id="7" name="Rectangle 2">
            <a:extLst>
              <a:ext uri="{FF2B5EF4-FFF2-40B4-BE49-F238E27FC236}">
                <a16:creationId xmlns:a16="http://schemas.microsoft.com/office/drawing/2014/main" id="{5D6237CA-9582-B365-CD07-67B91A0D71F9}"/>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49259">
                                            <p:txEl>
                                              <p:pRg st="1" end="1"/>
                                            </p:txEl>
                                          </p:spTgt>
                                        </p:tgtEl>
                                        <p:attrNameLst>
                                          <p:attrName>style.visibility</p:attrName>
                                        </p:attrNameLst>
                                      </p:cBhvr>
                                      <p:to>
                                        <p:strVal val="visible"/>
                                      </p:to>
                                    </p:set>
                                    <p:animEffect transition="in" filter="wipe(left)">
                                      <p:cBhvr>
                                        <p:cTn id="7" dur="1000"/>
                                        <p:tgtEl>
                                          <p:spTgt spid="9492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9259">
                                            <p:txEl>
                                              <p:pRg st="2" end="2"/>
                                            </p:txEl>
                                          </p:spTgt>
                                        </p:tgtEl>
                                        <p:attrNameLst>
                                          <p:attrName>style.visibility</p:attrName>
                                        </p:attrNameLst>
                                      </p:cBhvr>
                                      <p:to>
                                        <p:strVal val="visible"/>
                                      </p:to>
                                    </p:set>
                                    <p:animEffect transition="in" filter="wipe(left)">
                                      <p:cBhvr>
                                        <p:cTn id="12" dur="1000"/>
                                        <p:tgtEl>
                                          <p:spTgt spid="9492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9259">
                                            <p:txEl>
                                              <p:pRg st="3" end="3"/>
                                            </p:txEl>
                                          </p:spTgt>
                                        </p:tgtEl>
                                        <p:attrNameLst>
                                          <p:attrName>style.visibility</p:attrName>
                                        </p:attrNameLst>
                                      </p:cBhvr>
                                      <p:to>
                                        <p:strVal val="visible"/>
                                      </p:to>
                                    </p:set>
                                    <p:animEffect transition="in" filter="wipe(left)">
                                      <p:cBhvr>
                                        <p:cTn id="17" dur="1000"/>
                                        <p:tgtEl>
                                          <p:spTgt spid="9492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5156" name="Rectangle 4">
            <a:extLst>
              <a:ext uri="{FF2B5EF4-FFF2-40B4-BE49-F238E27FC236}">
                <a16:creationId xmlns:a16="http://schemas.microsoft.com/office/drawing/2014/main" id="{66A518B9-8E6A-673B-9B1F-FF0861AA2B96}"/>
              </a:ext>
            </a:extLst>
          </p:cNvPr>
          <p:cNvSpPr>
            <a:spLocks noChangeArrowheads="1"/>
          </p:cNvSpPr>
          <p:nvPr/>
        </p:nvSpPr>
        <p:spPr bwMode="auto">
          <a:xfrm>
            <a:off x="304800" y="1600200"/>
            <a:ext cx="4114800" cy="502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dirty="0">
                <a:latin typeface="Arial" charset="0"/>
                <a:ea typeface="ＭＳ Ｐゴシック" charset="0"/>
              </a:rPr>
              <a:t>Figure 28.8(a) shows the three types of macro-economic equilibrium</a:t>
            </a:r>
            <a:r>
              <a:rPr lang="en-US" i="1" dirty="0">
                <a:latin typeface="Arial" charset="0"/>
                <a:ea typeface="ＭＳ Ｐゴシック" charset="0"/>
              </a:rPr>
              <a:t>.</a:t>
            </a:r>
          </a:p>
          <a:p>
            <a:pPr marL="457200" indent="-457200">
              <a:spcBef>
                <a:spcPct val="50000"/>
              </a:spcBef>
              <a:buFontTx/>
              <a:buAutoNum type="arabicPeriod"/>
              <a:defRPr/>
            </a:pPr>
            <a:r>
              <a:rPr lang="en-US" dirty="0">
                <a:latin typeface="Arial" charset="0"/>
                <a:ea typeface="ＭＳ Ｐゴシック" charset="0"/>
              </a:rPr>
              <a:t>With real GDP less than potential GDP, the economy is below full employment.</a:t>
            </a:r>
          </a:p>
          <a:p>
            <a:pPr marL="444500">
              <a:spcBef>
                <a:spcPct val="50000"/>
              </a:spcBef>
              <a:defRPr/>
            </a:pPr>
            <a:r>
              <a:rPr lang="en-US" dirty="0">
                <a:latin typeface="Arial" charset="0"/>
                <a:ea typeface="ＭＳ Ｐゴシック" charset="0"/>
              </a:rPr>
              <a:t>A recessionary gap emerges.</a:t>
            </a:r>
          </a:p>
          <a:p>
            <a:pPr>
              <a:spcBef>
                <a:spcPct val="50000"/>
              </a:spcBef>
              <a:defRPr/>
            </a:pPr>
            <a:r>
              <a:rPr lang="en-US" dirty="0">
                <a:latin typeface="Arial" charset="0"/>
                <a:ea typeface="ＭＳ Ｐゴシック" charset="0"/>
                <a:cs typeface="ＭＳ Ｐゴシック" charset="0"/>
              </a:rPr>
              <a:t>With real GDP equal to potential GDP, the economy is at full employment.</a:t>
            </a:r>
          </a:p>
          <a:p>
            <a:pPr marL="457200" indent="-457200">
              <a:spcBef>
                <a:spcPct val="50000"/>
              </a:spcBef>
              <a:buFontTx/>
              <a:buAutoNum type="arabicPeriod"/>
              <a:defRPr/>
            </a:pPr>
            <a:endParaRPr lang="en-US" dirty="0">
              <a:latin typeface="Arial" charset="0"/>
              <a:ea typeface="ＭＳ Ｐゴシック" charset="0"/>
            </a:endParaRPr>
          </a:p>
          <a:p>
            <a:pPr>
              <a:spcBef>
                <a:spcPct val="50000"/>
              </a:spcBef>
              <a:defRPr/>
            </a:pPr>
            <a:endParaRPr lang="en-US" i="1" dirty="0">
              <a:latin typeface="Arial" charset="0"/>
              <a:ea typeface="ＭＳ Ｐゴシック" charset="0"/>
            </a:endParaRPr>
          </a:p>
        </p:txBody>
      </p:sp>
      <p:pic>
        <p:nvPicPr>
          <p:cNvPr id="107522" name="Picture 36" descr="fig2908ab.gif">
            <a:extLst>
              <a:ext uri="{FF2B5EF4-FFF2-40B4-BE49-F238E27FC236}">
                <a16:creationId xmlns:a16="http://schemas.microsoft.com/office/drawing/2014/main" id="{EF8D05A4-A5D6-5516-6B9F-D4E93178AB5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37" descr="fig2908ac.gif">
            <a:extLst>
              <a:ext uri="{FF2B5EF4-FFF2-40B4-BE49-F238E27FC236}">
                <a16:creationId xmlns:a16="http://schemas.microsoft.com/office/drawing/2014/main" id="{00621F79-2066-94CC-0014-84A512EC1AF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fig2908ad.gif">
            <a:extLst>
              <a:ext uri="{FF2B5EF4-FFF2-40B4-BE49-F238E27FC236}">
                <a16:creationId xmlns:a16="http://schemas.microsoft.com/office/drawing/2014/main" id="{82877C18-D8E5-3BF5-F479-5AE08725B05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a:extLst>
              <a:ext uri="{FF2B5EF4-FFF2-40B4-BE49-F238E27FC236}">
                <a16:creationId xmlns:a16="http://schemas.microsoft.com/office/drawing/2014/main" id="{6E8C5CD7-E689-0CA1-50C7-0EB493750361}"/>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45156">
                                            <p:txEl>
                                              <p:pRg st="1" end="1"/>
                                            </p:txEl>
                                          </p:spTgt>
                                        </p:tgtEl>
                                        <p:attrNameLst>
                                          <p:attrName>style.visibility</p:attrName>
                                        </p:attrNameLst>
                                      </p:cBhvr>
                                      <p:to>
                                        <p:strVal val="visible"/>
                                      </p:to>
                                    </p:set>
                                    <p:animEffect transition="in" filter="wipe(left)">
                                      <p:cBhvr>
                                        <p:cTn id="7" dur="1000"/>
                                        <p:tgtEl>
                                          <p:spTgt spid="94515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5156">
                                            <p:txEl>
                                              <p:pRg st="2" end="2"/>
                                            </p:txEl>
                                          </p:spTgt>
                                        </p:tgtEl>
                                        <p:attrNameLst>
                                          <p:attrName>style.visibility</p:attrName>
                                        </p:attrNameLst>
                                      </p:cBhvr>
                                      <p:to>
                                        <p:strVal val="visible"/>
                                      </p:to>
                                    </p:set>
                                    <p:animEffect transition="in" filter="wipe(left)">
                                      <p:cBhvr>
                                        <p:cTn id="12" dur="1000"/>
                                        <p:tgtEl>
                                          <p:spTgt spid="94515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right)">
                                      <p:cBhvr>
                                        <p:cTn id="17" dur="1000"/>
                                        <p:tgtEl>
                                          <p:spTgt spid="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1000"/>
                                        <p:tgtEl>
                                          <p:spTgt spid="39"/>
                                        </p:tgtEl>
                                      </p:cBhvr>
                                    </p:animEffect>
                                  </p:childTnLst>
                                </p:cTn>
                              </p:par>
                              <p:par>
                                <p:cTn id="23" presetID="22" presetClass="entr" presetSubtype="8" fill="hold" nodeType="withEffect">
                                  <p:stCondLst>
                                    <p:cond delay="0"/>
                                  </p:stCondLst>
                                  <p:childTnLst>
                                    <p:set>
                                      <p:cBhvr>
                                        <p:cTn id="24" dur="1" fill="hold">
                                          <p:stCondLst>
                                            <p:cond delay="0"/>
                                          </p:stCondLst>
                                        </p:cTn>
                                        <p:tgtEl>
                                          <p:spTgt spid="945156">
                                            <p:txEl>
                                              <p:pRg st="3" end="3"/>
                                            </p:txEl>
                                          </p:spTgt>
                                        </p:tgtEl>
                                        <p:attrNameLst>
                                          <p:attrName>style.visibility</p:attrName>
                                        </p:attrNameLst>
                                      </p:cBhvr>
                                      <p:to>
                                        <p:strVal val="visible"/>
                                      </p:to>
                                    </p:set>
                                    <p:animEffect transition="in" filter="wipe(left)">
                                      <p:cBhvr>
                                        <p:cTn id="25" dur="1000"/>
                                        <p:tgtEl>
                                          <p:spTgt spid="9451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5156" name="Rectangle 4">
            <a:extLst>
              <a:ext uri="{FF2B5EF4-FFF2-40B4-BE49-F238E27FC236}">
                <a16:creationId xmlns:a16="http://schemas.microsoft.com/office/drawing/2014/main" id="{EC910A71-F0BC-37E2-3AC2-6153D84BD2A2}"/>
              </a:ext>
            </a:extLst>
          </p:cNvPr>
          <p:cNvSpPr>
            <a:spLocks noChangeArrowheads="1"/>
          </p:cNvSpPr>
          <p:nvPr/>
        </p:nvSpPr>
        <p:spPr bwMode="auto">
          <a:xfrm>
            <a:off x="457200" y="1752600"/>
            <a:ext cx="3581400" cy="457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55600" indent="-355600">
              <a:spcBef>
                <a:spcPct val="50000"/>
              </a:spcBef>
              <a:defRPr/>
            </a:pPr>
            <a:r>
              <a:rPr lang="en-US" b="1" dirty="0">
                <a:latin typeface="Arial" charset="0"/>
                <a:ea typeface="ＭＳ Ｐゴシック" charset="0"/>
              </a:rPr>
              <a:t>2. </a:t>
            </a:r>
            <a:r>
              <a:rPr lang="en-US" dirty="0">
                <a:latin typeface="Arial" charset="0"/>
                <a:ea typeface="ＭＳ Ｐゴシック" charset="0"/>
              </a:rPr>
              <a:t>When real GDP exceeds potential GDP, the economy is above full employment.</a:t>
            </a:r>
          </a:p>
          <a:p>
            <a:pPr marL="355600" indent="-355600">
              <a:spcBef>
                <a:spcPct val="50000"/>
              </a:spcBef>
              <a:defRPr/>
            </a:pPr>
            <a:r>
              <a:rPr lang="en-US" dirty="0">
                <a:latin typeface="Arial" charset="0"/>
                <a:ea typeface="ＭＳ Ｐゴシック" charset="0"/>
              </a:rPr>
              <a:t>	An inflationary gap emerges.</a:t>
            </a:r>
          </a:p>
          <a:p>
            <a:pPr marL="355600" indent="-355600">
              <a:spcBef>
                <a:spcPct val="50000"/>
              </a:spcBef>
              <a:defRPr/>
            </a:pPr>
            <a:endParaRPr lang="en-US" dirty="0">
              <a:latin typeface="Arial" charset="0"/>
              <a:ea typeface="ＭＳ Ｐゴシック" charset="0"/>
            </a:endParaRPr>
          </a:p>
          <a:p>
            <a:pPr>
              <a:spcBef>
                <a:spcPct val="50000"/>
              </a:spcBef>
              <a:defRPr/>
            </a:pPr>
            <a:endParaRPr lang="en-US" i="1" dirty="0">
              <a:latin typeface="Arial" charset="0"/>
              <a:ea typeface="ＭＳ Ｐゴシック" charset="0"/>
            </a:endParaRPr>
          </a:p>
        </p:txBody>
      </p:sp>
      <p:pic>
        <p:nvPicPr>
          <p:cNvPr id="111618" name="Picture 11" descr="fig2908ab.gif">
            <a:extLst>
              <a:ext uri="{FF2B5EF4-FFF2-40B4-BE49-F238E27FC236}">
                <a16:creationId xmlns:a16="http://schemas.microsoft.com/office/drawing/2014/main" id="{0FEFBC11-03BA-D7B9-D82B-DB3BF28199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19" name="Picture 14" descr="fig2908ac.gif">
            <a:extLst>
              <a:ext uri="{FF2B5EF4-FFF2-40B4-BE49-F238E27FC236}">
                <a16:creationId xmlns:a16="http://schemas.microsoft.com/office/drawing/2014/main" id="{DF0B08A1-20F1-97A7-CCDA-57FA527B396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0" name="Picture 15" descr="fig2908ad.gif">
            <a:extLst>
              <a:ext uri="{FF2B5EF4-FFF2-40B4-BE49-F238E27FC236}">
                <a16:creationId xmlns:a16="http://schemas.microsoft.com/office/drawing/2014/main" id="{3D587A64-E244-4BD3-7EEE-70E4C9B80F3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21" name="Picture 16" descr="fig2908ae.gif">
            <a:extLst>
              <a:ext uri="{FF2B5EF4-FFF2-40B4-BE49-F238E27FC236}">
                <a16:creationId xmlns:a16="http://schemas.microsoft.com/office/drawing/2014/main" id="{736F1164-A1AB-99EF-9FC5-5FACBDAC5B7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2908af.gif">
            <a:extLst>
              <a:ext uri="{FF2B5EF4-FFF2-40B4-BE49-F238E27FC236}">
                <a16:creationId xmlns:a16="http://schemas.microsoft.com/office/drawing/2014/main" id="{592F9292-BF06-8484-8895-AEF28976F96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2908ag.gif">
            <a:extLst>
              <a:ext uri="{FF2B5EF4-FFF2-40B4-BE49-F238E27FC236}">
                <a16:creationId xmlns:a16="http://schemas.microsoft.com/office/drawing/2014/main" id="{EBDAEC31-3290-7CD4-8A8F-B0D23FB8067D}"/>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335463" y="20113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a:extLst>
              <a:ext uri="{FF2B5EF4-FFF2-40B4-BE49-F238E27FC236}">
                <a16:creationId xmlns:a16="http://schemas.microsoft.com/office/drawing/2014/main" id="{310E3FFA-8C91-9110-6016-F9BDC09421F9}"/>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5156">
                                            <p:txEl>
                                              <p:pRg st="1" end="1"/>
                                            </p:txEl>
                                          </p:spTgt>
                                        </p:tgtEl>
                                        <p:attrNameLst>
                                          <p:attrName>style.visibility</p:attrName>
                                        </p:attrNameLst>
                                      </p:cBhvr>
                                      <p:to>
                                        <p:strVal val="visible"/>
                                      </p:to>
                                    </p:set>
                                    <p:animEffect transition="in" filter="wipe(left)">
                                      <p:cBhvr>
                                        <p:cTn id="12" dur="1000"/>
                                        <p:tgtEl>
                                          <p:spTgt spid="9451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59139" name="Rectangle 3">
            <a:extLst>
              <a:ext uri="{FF2B5EF4-FFF2-40B4-BE49-F238E27FC236}">
                <a16:creationId xmlns:a16="http://schemas.microsoft.com/office/drawing/2014/main" id="{5B2860F2-7435-6232-99FD-11C1EABFAD08}"/>
              </a:ext>
            </a:extLst>
          </p:cNvPr>
          <p:cNvSpPr>
            <a:spLocks noGrp="1" noChangeArrowheads="1"/>
          </p:cNvSpPr>
          <p:nvPr>
            <p:ph type="body" idx="1"/>
          </p:nvPr>
        </p:nvSpPr>
        <p:spPr/>
        <p:txBody>
          <a:bodyPr/>
          <a:lstStyle/>
          <a:p>
            <a:pPr lvl="1" eaLnBrk="1" hangingPunct="1">
              <a:defRPr/>
            </a:pPr>
            <a:r>
              <a:rPr lang="en-US" b="1" dirty="0">
                <a:solidFill>
                  <a:srgbClr val="00468F"/>
                </a:solidFill>
                <a:cs typeface="+mn-cs"/>
              </a:rPr>
              <a:t>Adjustment toward Full Employment</a:t>
            </a:r>
          </a:p>
          <a:p>
            <a:pPr lvl="1">
              <a:defRPr/>
            </a:pPr>
            <a:r>
              <a:rPr lang="en-US" dirty="0"/>
              <a:t>When real GDP is below or above potential GDP, the money wage rate gradually changes to bring full employment. </a:t>
            </a:r>
          </a:p>
          <a:p>
            <a:pPr lvl="1">
              <a:defRPr/>
            </a:pPr>
            <a:r>
              <a:rPr lang="en-US" dirty="0"/>
              <a:t>Figure 28.8(b) illustrates this adjustment.</a:t>
            </a:r>
            <a:endParaRPr lang="en-CA" dirty="0"/>
          </a:p>
        </p:txBody>
      </p:sp>
      <p:sp>
        <p:nvSpPr>
          <p:cNvPr id="5" name="Rectangle 2">
            <a:extLst>
              <a:ext uri="{FF2B5EF4-FFF2-40B4-BE49-F238E27FC236}">
                <a16:creationId xmlns:a16="http://schemas.microsoft.com/office/drawing/2014/main" id="{F7128D1E-9A1D-6178-4261-7E4594EBB72D}"/>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9139">
                                            <p:txEl>
                                              <p:pRg st="1" end="1"/>
                                            </p:txEl>
                                          </p:spTgt>
                                        </p:tgtEl>
                                        <p:attrNameLst>
                                          <p:attrName>style.visibility</p:attrName>
                                        </p:attrNameLst>
                                      </p:cBhvr>
                                      <p:to>
                                        <p:strVal val="visible"/>
                                      </p:to>
                                    </p:set>
                                    <p:animEffect transition="in" filter="wipe(left)">
                                      <p:cBhvr>
                                        <p:cTn id="7" dur="500"/>
                                        <p:tgtEl>
                                          <p:spTgt spid="8591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9139">
                                            <p:txEl>
                                              <p:pRg st="2" end="2"/>
                                            </p:txEl>
                                          </p:spTgt>
                                        </p:tgtEl>
                                        <p:attrNameLst>
                                          <p:attrName>style.visibility</p:attrName>
                                        </p:attrNameLst>
                                      </p:cBhvr>
                                      <p:to>
                                        <p:strVal val="visible"/>
                                      </p:to>
                                    </p:set>
                                    <p:animEffect transition="in" filter="wipe(left)">
                                      <p:cBhvr>
                                        <p:cTn id="12" dur="500"/>
                                        <p:tgtEl>
                                          <p:spTgt spid="8591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39" grpId="0" build="p" bldLvl="3"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6371" name="Rectangle 3">
            <a:extLst>
              <a:ext uri="{FF2B5EF4-FFF2-40B4-BE49-F238E27FC236}">
                <a16:creationId xmlns:a16="http://schemas.microsoft.com/office/drawing/2014/main" id="{23BEBB38-0584-CD1D-BB26-6A8910868608}"/>
              </a:ext>
            </a:extLst>
          </p:cNvPr>
          <p:cNvSpPr>
            <a:spLocks noGrp="1" noChangeArrowheads="1"/>
          </p:cNvSpPr>
          <p:nvPr>
            <p:ph type="body" idx="1"/>
          </p:nvPr>
        </p:nvSpPr>
        <p:spPr>
          <a:xfrm>
            <a:off x="228600" y="1333500"/>
            <a:ext cx="4030663" cy="4191000"/>
          </a:xfrm>
        </p:spPr>
        <p:txBody>
          <a:bodyPr/>
          <a:lstStyle/>
          <a:p>
            <a:pPr marL="88900" lvl="1">
              <a:defRPr/>
            </a:pPr>
            <a:r>
              <a:rPr lang="en-US" dirty="0"/>
              <a:t>In a </a:t>
            </a:r>
            <a:r>
              <a:rPr lang="en-US" i="1" dirty="0"/>
              <a:t>recessionary gap </a:t>
            </a:r>
            <a:r>
              <a:rPr lang="en-US" dirty="0"/>
              <a:t>, there is a surplus of labor and firms can hire new workers at a lower wage rate.</a:t>
            </a:r>
          </a:p>
          <a:p>
            <a:pPr marL="88900" lvl="1">
              <a:defRPr/>
            </a:pPr>
            <a:r>
              <a:rPr lang="en-US" dirty="0"/>
              <a:t>As the money wage rate falls, the </a:t>
            </a:r>
            <a:r>
              <a:rPr lang="en-US" i="1" dirty="0"/>
              <a:t>AS</a:t>
            </a:r>
            <a:r>
              <a:rPr lang="en-US" dirty="0"/>
              <a:t> curve shifts from </a:t>
            </a:r>
            <a:r>
              <a:rPr lang="en-US" i="1" dirty="0"/>
              <a:t>AS</a:t>
            </a:r>
            <a:r>
              <a:rPr lang="en-US" baseline="-10000" dirty="0"/>
              <a:t>1</a:t>
            </a:r>
            <a:r>
              <a:rPr lang="en-US" dirty="0"/>
              <a:t> toward </a:t>
            </a:r>
            <a:r>
              <a:rPr lang="en-US" i="1" dirty="0"/>
              <a:t>AS</a:t>
            </a:r>
            <a:r>
              <a:rPr lang="en-US" dirty="0"/>
              <a:t> *.</a:t>
            </a:r>
          </a:p>
          <a:p>
            <a:pPr marL="88900" lvl="1">
              <a:defRPr/>
            </a:pPr>
            <a:r>
              <a:rPr lang="en-US" dirty="0"/>
              <a:t>The price level falls and real GDP increases. </a:t>
            </a:r>
          </a:p>
        </p:txBody>
      </p:sp>
      <p:sp>
        <p:nvSpPr>
          <p:cNvPr id="826380" name="Rectangle 12">
            <a:extLst>
              <a:ext uri="{FF2B5EF4-FFF2-40B4-BE49-F238E27FC236}">
                <a16:creationId xmlns:a16="http://schemas.microsoft.com/office/drawing/2014/main" id="{3A45D4D1-9F95-F6B5-B704-1304A60BE17B}"/>
              </a:ext>
            </a:extLst>
          </p:cNvPr>
          <p:cNvSpPr>
            <a:spLocks noChangeArrowheads="1"/>
          </p:cNvSpPr>
          <p:nvPr/>
        </p:nvSpPr>
        <p:spPr bwMode="auto">
          <a:xfrm>
            <a:off x="152400" y="2819400"/>
            <a:ext cx="3886200" cy="137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a:p>
            <a:pPr>
              <a:spcBef>
                <a:spcPct val="50000"/>
              </a:spcBef>
              <a:defRPr/>
            </a:pPr>
            <a:endParaRPr lang="en-CA">
              <a:latin typeface="Arial" charset="0"/>
              <a:ea typeface="ＭＳ Ｐゴシック" charset="0"/>
            </a:endParaRPr>
          </a:p>
        </p:txBody>
      </p:sp>
      <p:pic>
        <p:nvPicPr>
          <p:cNvPr id="115715" name="Picture 9" descr="fig2908ba.gif">
            <a:extLst>
              <a:ext uri="{FF2B5EF4-FFF2-40B4-BE49-F238E27FC236}">
                <a16:creationId xmlns:a16="http://schemas.microsoft.com/office/drawing/2014/main" id="{CED5CAA2-C49F-2D13-73BD-EDFF8F097C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2908bb.gif">
            <a:extLst>
              <a:ext uri="{FF2B5EF4-FFF2-40B4-BE49-F238E27FC236}">
                <a16:creationId xmlns:a16="http://schemas.microsoft.com/office/drawing/2014/main" id="{C77841A0-8AE0-1DA2-F697-46DB7E8A46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2908bc.gif">
            <a:extLst>
              <a:ext uri="{FF2B5EF4-FFF2-40B4-BE49-F238E27FC236}">
                <a16:creationId xmlns:a16="http://schemas.microsoft.com/office/drawing/2014/main" id="{52918000-AD41-2185-8C9A-D1212EE290C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2908bd.gif">
            <a:extLst>
              <a:ext uri="{FF2B5EF4-FFF2-40B4-BE49-F238E27FC236}">
                <a16:creationId xmlns:a16="http://schemas.microsoft.com/office/drawing/2014/main" id="{E69D375D-D4FA-D81F-D9B0-0A2544F8E19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2908be.gif">
            <a:extLst>
              <a:ext uri="{FF2B5EF4-FFF2-40B4-BE49-F238E27FC236}">
                <a16:creationId xmlns:a16="http://schemas.microsoft.com/office/drawing/2014/main" id="{49F609FA-59D0-5177-6911-86BF2FC8978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2">
            <a:extLst>
              <a:ext uri="{FF2B5EF4-FFF2-40B4-BE49-F238E27FC236}">
                <a16:creationId xmlns:a16="http://schemas.microsoft.com/office/drawing/2014/main" id="{CC610B30-926C-BF9B-8880-68E63B578CEF}"/>
              </a:ext>
            </a:extLst>
          </p:cNvPr>
          <p:cNvSpPr>
            <a:spLocks noGrp="1" noChangeArrowheads="1"/>
          </p:cNvSpPr>
          <p:nvPr>
            <p:ph type="title"/>
          </p:nvPr>
        </p:nvSpPr>
        <p:spPr>
          <a:xfrm>
            <a:off x="457200" y="2286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26371">
                                            <p:txEl>
                                              <p:pRg st="1" end="1"/>
                                            </p:txEl>
                                          </p:spTgt>
                                        </p:tgtEl>
                                        <p:attrNameLst>
                                          <p:attrName>style.visibility</p:attrName>
                                        </p:attrNameLst>
                                      </p:cBhvr>
                                      <p:to>
                                        <p:strVal val="visible"/>
                                      </p:to>
                                    </p:set>
                                    <p:animEffect transition="in" filter="wipe(left)">
                                      <p:cBhvr>
                                        <p:cTn id="7" dur="1000"/>
                                        <p:tgtEl>
                                          <p:spTgt spid="8263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1000"/>
                                        <p:tgtEl>
                                          <p:spTgt spid="11"/>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1000"/>
                                        <p:tgtEl>
                                          <p:spTgt spid="1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826371">
                                            <p:txEl>
                                              <p:pRg st="2" end="2"/>
                                            </p:txEl>
                                          </p:spTgt>
                                        </p:tgtEl>
                                        <p:attrNameLst>
                                          <p:attrName>style.visibility</p:attrName>
                                        </p:attrNameLst>
                                      </p:cBhvr>
                                      <p:to>
                                        <p:strVal val="visible"/>
                                      </p:to>
                                    </p:set>
                                    <p:animEffect transition="in" filter="wipe(left)">
                                      <p:cBhvr>
                                        <p:cTn id="26" dur="1000"/>
                                        <p:tgtEl>
                                          <p:spTgt spid="826371">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6371" name="Rectangle 3">
            <a:extLst>
              <a:ext uri="{FF2B5EF4-FFF2-40B4-BE49-F238E27FC236}">
                <a16:creationId xmlns:a16="http://schemas.microsoft.com/office/drawing/2014/main" id="{0694D9BF-486D-1E06-9385-E2D89A16574D}"/>
              </a:ext>
            </a:extLst>
          </p:cNvPr>
          <p:cNvSpPr>
            <a:spLocks noGrp="1" noChangeArrowheads="1"/>
          </p:cNvSpPr>
          <p:nvPr>
            <p:ph type="body" idx="1"/>
          </p:nvPr>
        </p:nvSpPr>
        <p:spPr>
          <a:xfrm>
            <a:off x="395536" y="1409700"/>
            <a:ext cx="4030663" cy="4191000"/>
          </a:xfrm>
        </p:spPr>
        <p:txBody>
          <a:bodyPr/>
          <a:lstStyle/>
          <a:p>
            <a:pPr marL="88900" lvl="1">
              <a:defRPr/>
            </a:pPr>
            <a:r>
              <a:rPr lang="en-US" dirty="0"/>
              <a:t>In an </a:t>
            </a:r>
            <a:r>
              <a:rPr lang="en-US" i="1" dirty="0"/>
              <a:t>inflationary gap </a:t>
            </a:r>
            <a:r>
              <a:rPr lang="en-US" dirty="0"/>
              <a:t>, there is a shortage of labor and to hire new workers firms raise the wage rate.</a:t>
            </a:r>
          </a:p>
          <a:p>
            <a:pPr marL="88900" lvl="1">
              <a:defRPr/>
            </a:pPr>
            <a:r>
              <a:rPr lang="en-US" dirty="0"/>
              <a:t>As the money wage rate rises, the </a:t>
            </a:r>
            <a:r>
              <a:rPr lang="en-US" i="1" dirty="0"/>
              <a:t>AS</a:t>
            </a:r>
            <a:r>
              <a:rPr lang="en-US" dirty="0"/>
              <a:t> curve shifts from </a:t>
            </a:r>
            <a:r>
              <a:rPr lang="en-US" i="1" dirty="0"/>
              <a:t>AS</a:t>
            </a:r>
            <a:r>
              <a:rPr lang="en-US" baseline="-10000" dirty="0"/>
              <a:t>2</a:t>
            </a:r>
            <a:r>
              <a:rPr lang="en-US" dirty="0"/>
              <a:t> toward </a:t>
            </a:r>
            <a:r>
              <a:rPr lang="en-US" i="1" dirty="0"/>
              <a:t>AS</a:t>
            </a:r>
            <a:r>
              <a:rPr lang="en-US" dirty="0"/>
              <a:t> *.</a:t>
            </a:r>
          </a:p>
          <a:p>
            <a:pPr marL="88900" lvl="1">
              <a:defRPr/>
            </a:pPr>
            <a:r>
              <a:rPr lang="en-US" dirty="0"/>
              <a:t>The price level rises and real GDP decreases. </a:t>
            </a:r>
          </a:p>
        </p:txBody>
      </p:sp>
      <p:sp>
        <p:nvSpPr>
          <p:cNvPr id="826380" name="Rectangle 12">
            <a:extLst>
              <a:ext uri="{FF2B5EF4-FFF2-40B4-BE49-F238E27FC236}">
                <a16:creationId xmlns:a16="http://schemas.microsoft.com/office/drawing/2014/main" id="{E55B592F-424C-E7A4-4D6D-4EAED8B5CA4A}"/>
              </a:ext>
            </a:extLst>
          </p:cNvPr>
          <p:cNvSpPr>
            <a:spLocks noChangeArrowheads="1"/>
          </p:cNvSpPr>
          <p:nvPr/>
        </p:nvSpPr>
        <p:spPr bwMode="auto">
          <a:xfrm>
            <a:off x="152400" y="2819400"/>
            <a:ext cx="3886200" cy="137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endParaRPr lang="en-US">
              <a:latin typeface="Arial" charset="0"/>
              <a:ea typeface="ＭＳ Ｐゴシック" charset="0"/>
            </a:endParaRPr>
          </a:p>
          <a:p>
            <a:pPr>
              <a:spcBef>
                <a:spcPct val="50000"/>
              </a:spcBef>
              <a:defRPr/>
            </a:pPr>
            <a:endParaRPr lang="en-CA">
              <a:latin typeface="Arial" charset="0"/>
              <a:ea typeface="ＭＳ Ｐゴシック" charset="0"/>
            </a:endParaRPr>
          </a:p>
        </p:txBody>
      </p:sp>
      <p:pic>
        <p:nvPicPr>
          <p:cNvPr id="119811" name="Picture 9" descr="fig2908ba.gif">
            <a:extLst>
              <a:ext uri="{FF2B5EF4-FFF2-40B4-BE49-F238E27FC236}">
                <a16:creationId xmlns:a16="http://schemas.microsoft.com/office/drawing/2014/main" id="{D50704E4-2791-5A1C-A434-98FA51A1266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2" name="Picture 10" descr="fig2908bb.gif">
            <a:extLst>
              <a:ext uri="{FF2B5EF4-FFF2-40B4-BE49-F238E27FC236}">
                <a16:creationId xmlns:a16="http://schemas.microsoft.com/office/drawing/2014/main" id="{58684611-3A96-FB01-8D4A-CB4E8806619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3" name="Picture 11" descr="fig2908bc.gif">
            <a:extLst>
              <a:ext uri="{FF2B5EF4-FFF2-40B4-BE49-F238E27FC236}">
                <a16:creationId xmlns:a16="http://schemas.microsoft.com/office/drawing/2014/main" id="{EC815584-FA19-3EA4-C9BD-43D3B5050AF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4" name="Picture 12" descr="fig2908bd.gif">
            <a:extLst>
              <a:ext uri="{FF2B5EF4-FFF2-40B4-BE49-F238E27FC236}">
                <a16:creationId xmlns:a16="http://schemas.microsoft.com/office/drawing/2014/main" id="{4646A56B-C2C4-91DA-CB64-6200E2F84FC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15" name="Picture 13" descr="fig2908be.gif">
            <a:extLst>
              <a:ext uri="{FF2B5EF4-FFF2-40B4-BE49-F238E27FC236}">
                <a16:creationId xmlns:a16="http://schemas.microsoft.com/office/drawing/2014/main" id="{CDEA1307-6D48-9424-4A33-9B39FFBE0DA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908bf.gif">
            <a:extLst>
              <a:ext uri="{FF2B5EF4-FFF2-40B4-BE49-F238E27FC236}">
                <a16:creationId xmlns:a16="http://schemas.microsoft.com/office/drawing/2014/main" id="{48D20D61-60E7-2BB3-C057-8F1FD8618BE5}"/>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2908bg.gif">
            <a:extLst>
              <a:ext uri="{FF2B5EF4-FFF2-40B4-BE49-F238E27FC236}">
                <a16:creationId xmlns:a16="http://schemas.microsoft.com/office/drawing/2014/main" id="{B08742D2-9DC5-FFB9-4754-ADD60538A71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2908bh.gif">
            <a:extLst>
              <a:ext uri="{FF2B5EF4-FFF2-40B4-BE49-F238E27FC236}">
                <a16:creationId xmlns:a16="http://schemas.microsoft.com/office/drawing/2014/main" id="{9D94ED33-3F71-446B-97C5-C5A7C2E1D5FB}"/>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259263" y="1782763"/>
            <a:ext cx="4808537"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2">
            <a:extLst>
              <a:ext uri="{FF2B5EF4-FFF2-40B4-BE49-F238E27FC236}">
                <a16:creationId xmlns:a16="http://schemas.microsoft.com/office/drawing/2014/main" id="{CF1D128F-0BC4-1AB9-A48A-320FDA9EEF15}"/>
              </a:ext>
            </a:extLst>
          </p:cNvPr>
          <p:cNvSpPr>
            <a:spLocks noGrp="1" noChangeArrowheads="1"/>
          </p:cNvSpPr>
          <p:nvPr>
            <p:ph type="title"/>
          </p:nvPr>
        </p:nvSpPr>
        <p:spPr>
          <a:xfrm>
            <a:off x="395536" y="2286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26371">
                                            <p:txEl>
                                              <p:pRg st="1" end="1"/>
                                            </p:txEl>
                                          </p:spTgt>
                                        </p:tgtEl>
                                        <p:attrNameLst>
                                          <p:attrName>style.visibility</p:attrName>
                                        </p:attrNameLst>
                                      </p:cBhvr>
                                      <p:to>
                                        <p:strVal val="visible"/>
                                      </p:to>
                                    </p:set>
                                    <p:animEffect transition="in" filter="wipe(left)">
                                      <p:cBhvr>
                                        <p:cTn id="12" dur="1000"/>
                                        <p:tgtEl>
                                          <p:spTgt spid="826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right)">
                                      <p:cBhvr>
                                        <p:cTn id="17" dur="10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26371">
                                            <p:txEl>
                                              <p:pRg st="2" end="2"/>
                                            </p:txEl>
                                          </p:spTgt>
                                        </p:tgtEl>
                                        <p:attrNameLst>
                                          <p:attrName>style.visibility</p:attrName>
                                        </p:attrNameLst>
                                      </p:cBhvr>
                                      <p:to>
                                        <p:strVal val="visible"/>
                                      </p:to>
                                    </p:set>
                                    <p:animEffect transition="in" filter="wipe(left)">
                                      <p:cBhvr>
                                        <p:cTn id="22" dur="1000"/>
                                        <p:tgtEl>
                                          <p:spTgt spid="826371">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right)">
                                      <p:cBhvr>
                                        <p:cTn id="2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2A3C54F6-EA50-B2F3-63FC-27A96E20E87D}"/>
              </a:ext>
            </a:extLst>
          </p:cNvPr>
          <p:cNvSpPr>
            <a:spLocks noGrp="1" noChangeArrowheads="1"/>
          </p:cNvSpPr>
          <p:nvPr>
            <p:ph type="body" idx="1"/>
          </p:nvPr>
        </p:nvSpPr>
        <p:spPr/>
        <p:txBody>
          <a:bodyPr/>
          <a:lstStyle/>
          <a:p>
            <a:pPr eaLnBrk="1" hangingPunct="1"/>
            <a:r>
              <a:rPr lang="en-US" altLang="en-TW" dirty="0"/>
              <a:t>Economic Growth and Inflation Trends</a:t>
            </a:r>
            <a:endParaRPr lang="en-US" altLang="en-TW" dirty="0">
              <a:solidFill>
                <a:srgbClr val="1566B0"/>
              </a:solidFill>
            </a:endParaRPr>
          </a:p>
          <a:p>
            <a:pPr lvl="1"/>
            <a:r>
              <a:rPr lang="en-US" altLang="en-TW" dirty="0"/>
              <a:t>Economic growth results from a growing labor force and increasing labor productivity, which together make potential GDP grow.</a:t>
            </a:r>
          </a:p>
          <a:p>
            <a:pPr lvl="1"/>
            <a:r>
              <a:rPr lang="en-US" altLang="en-TW" dirty="0"/>
              <a:t>Inflation results from a growing quantity of money that outpaces the growth of potential GDP.</a:t>
            </a:r>
          </a:p>
          <a:p>
            <a:pPr lvl="1"/>
            <a:r>
              <a:rPr lang="en-US" altLang="en-TW" dirty="0"/>
              <a:t>The </a:t>
            </a:r>
            <a:r>
              <a:rPr lang="en-US" altLang="en-TW" i="1" dirty="0"/>
              <a:t>AS-AD </a:t>
            </a:r>
            <a:r>
              <a:rPr lang="en-US" altLang="en-TW" dirty="0"/>
              <a:t>model can be used to understand economic growth and inflation trends. </a:t>
            </a:r>
          </a:p>
          <a:p>
            <a:pPr marL="457200" lvl="1" indent="0">
              <a:buNone/>
            </a:pPr>
            <a:endParaRPr lang="en-US" altLang="en-TW" dirty="0"/>
          </a:p>
        </p:txBody>
      </p:sp>
      <p:sp>
        <p:nvSpPr>
          <p:cNvPr id="5" name="Rectangle 2">
            <a:extLst>
              <a:ext uri="{FF2B5EF4-FFF2-40B4-BE49-F238E27FC236}">
                <a16:creationId xmlns:a16="http://schemas.microsoft.com/office/drawing/2014/main" id="{EDFCF525-A3A0-8D5A-0CDC-EA359CA03098}"/>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1" end="1"/>
                                            </p:txEl>
                                          </p:spTgt>
                                        </p:tgtEl>
                                        <p:attrNameLst>
                                          <p:attrName>style.visibility</p:attrName>
                                        </p:attrNameLst>
                                      </p:cBhvr>
                                      <p:to>
                                        <p:strVal val="visible"/>
                                      </p:to>
                                    </p:set>
                                    <p:animEffect transition="in" filter="wipe(left)">
                                      <p:cBhvr>
                                        <p:cTn id="7" dur="1000"/>
                                        <p:tgtEl>
                                          <p:spTgt spid="951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2" end="2"/>
                                            </p:txEl>
                                          </p:spTgt>
                                        </p:tgtEl>
                                        <p:attrNameLst>
                                          <p:attrName>style.visibility</p:attrName>
                                        </p:attrNameLst>
                                      </p:cBhvr>
                                      <p:to>
                                        <p:strVal val="visible"/>
                                      </p:to>
                                    </p:set>
                                    <p:animEffect transition="in" filter="wipe(left)">
                                      <p:cBhvr>
                                        <p:cTn id="12" dur="1000"/>
                                        <p:tgtEl>
                                          <p:spTgt spid="951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1299">
                                            <p:txEl>
                                              <p:pRg st="3" end="3"/>
                                            </p:txEl>
                                          </p:spTgt>
                                        </p:tgtEl>
                                        <p:attrNameLst>
                                          <p:attrName>style.visibility</p:attrName>
                                        </p:attrNameLst>
                                      </p:cBhvr>
                                      <p:to>
                                        <p:strVal val="visible"/>
                                      </p:to>
                                    </p:set>
                                    <p:animEffect transition="in" filter="wipe(left)">
                                      <p:cBhvr>
                                        <p:cTn id="17" dur="1000"/>
                                        <p:tgtEl>
                                          <p:spTgt spid="951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1C02DEA9-1D36-4D7F-E2F2-EC1DE6B23C10}"/>
              </a:ext>
            </a:extLst>
          </p:cNvPr>
          <p:cNvSpPr>
            <a:spLocks noGrp="1" noChangeArrowheads="1"/>
          </p:cNvSpPr>
          <p:nvPr>
            <p:ph type="body" idx="1"/>
          </p:nvPr>
        </p:nvSpPr>
        <p:spPr/>
        <p:txBody>
          <a:bodyPr/>
          <a:lstStyle/>
          <a:p>
            <a:pPr lvl="1"/>
            <a:r>
              <a:rPr lang="en-US" altLang="en-TW" dirty="0"/>
              <a:t>In the </a:t>
            </a:r>
            <a:r>
              <a:rPr lang="en-US" altLang="en-TW" i="1" dirty="0"/>
              <a:t>AS-AD </a:t>
            </a:r>
            <a:r>
              <a:rPr lang="en-US" altLang="en-TW" dirty="0"/>
              <a:t>model, </a:t>
            </a:r>
          </a:p>
          <a:p>
            <a:pPr lvl="1"/>
            <a:r>
              <a:rPr lang="en-US" altLang="en-TW" dirty="0"/>
              <a:t>Economic growth arises from increasing potential GDP—a persistent rightward shift in the potential GDP line. </a:t>
            </a:r>
          </a:p>
          <a:p>
            <a:pPr lvl="1"/>
            <a:r>
              <a:rPr lang="en-US" altLang="en-TW" dirty="0"/>
              <a:t>Inflation arises from a persistent increase in aggregate demand at a faster pace than that of the increase in potential GDP—a persistent rightward shift of the </a:t>
            </a:r>
            <a:r>
              <a:rPr lang="en-US" altLang="en-TW" i="1" dirty="0"/>
              <a:t>AD</a:t>
            </a:r>
            <a:r>
              <a:rPr lang="en-US" altLang="en-TW" dirty="0"/>
              <a:t> curve at a faster pace than the growth of potential GDP. </a:t>
            </a:r>
          </a:p>
        </p:txBody>
      </p:sp>
      <p:sp>
        <p:nvSpPr>
          <p:cNvPr id="5" name="Rectangle 2">
            <a:extLst>
              <a:ext uri="{FF2B5EF4-FFF2-40B4-BE49-F238E27FC236}">
                <a16:creationId xmlns:a16="http://schemas.microsoft.com/office/drawing/2014/main" id="{C192806B-CE8A-45EF-C4B0-61DB7C8F281C}"/>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1" end="1"/>
                                            </p:txEl>
                                          </p:spTgt>
                                        </p:tgtEl>
                                        <p:attrNameLst>
                                          <p:attrName>style.visibility</p:attrName>
                                        </p:attrNameLst>
                                      </p:cBhvr>
                                      <p:to>
                                        <p:strVal val="visible"/>
                                      </p:to>
                                    </p:set>
                                    <p:animEffect transition="in" filter="wipe(left)">
                                      <p:cBhvr>
                                        <p:cTn id="7" dur="1000"/>
                                        <p:tgtEl>
                                          <p:spTgt spid="951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2" end="2"/>
                                            </p:txEl>
                                          </p:spTgt>
                                        </p:tgtEl>
                                        <p:attrNameLst>
                                          <p:attrName>style.visibility</p:attrName>
                                        </p:attrNameLst>
                                      </p:cBhvr>
                                      <p:to>
                                        <p:strVal val="visible"/>
                                      </p:to>
                                    </p:set>
                                    <p:animEffect transition="in" filter="wipe(left)">
                                      <p:cBhvr>
                                        <p:cTn id="12" dur="1000"/>
                                        <p:tgtEl>
                                          <p:spTgt spid="951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AF4E3534-C90D-9369-1F53-2DB975F42A17}"/>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The Business Cycle</a:t>
            </a:r>
            <a:endParaRPr lang="en-US" dirty="0">
              <a:solidFill>
                <a:srgbClr val="1566B0"/>
              </a:solidFill>
              <a:cs typeface="+mn-cs"/>
            </a:endParaRPr>
          </a:p>
          <a:p>
            <a:pPr lvl="1">
              <a:defRPr/>
            </a:pPr>
            <a:r>
              <a:rPr lang="en-US" dirty="0"/>
              <a:t>The business cycle results from fluctuations in aggregate supply and aggregate demand.</a:t>
            </a:r>
          </a:p>
          <a:p>
            <a:pPr lvl="1">
              <a:defRPr/>
            </a:pPr>
            <a:r>
              <a:rPr lang="en-US" dirty="0"/>
              <a:t>Aggregate supply fluctuates because labor productivity grows at a variable pace, which brings fluctuations in the growth rate of potential GDP. </a:t>
            </a:r>
          </a:p>
          <a:p>
            <a:pPr lvl="1">
              <a:defRPr/>
            </a:pPr>
            <a:r>
              <a:rPr lang="en-US" dirty="0"/>
              <a:t>The resulting cycle is called a </a:t>
            </a:r>
            <a:r>
              <a:rPr lang="en-US" b="1" dirty="0">
                <a:solidFill>
                  <a:srgbClr val="FF0000"/>
                </a:solidFill>
              </a:rPr>
              <a:t>real business cycle</a:t>
            </a:r>
            <a:r>
              <a:rPr lang="en-US" dirty="0"/>
              <a:t>.  </a:t>
            </a:r>
          </a:p>
        </p:txBody>
      </p:sp>
      <p:sp>
        <p:nvSpPr>
          <p:cNvPr id="5" name="Rectangle 2">
            <a:extLst>
              <a:ext uri="{FF2B5EF4-FFF2-40B4-BE49-F238E27FC236}">
                <a16:creationId xmlns:a16="http://schemas.microsoft.com/office/drawing/2014/main" id="{49DAA87D-3507-0117-4E9E-C1A213BE78B0}"/>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1" end="1"/>
                                            </p:txEl>
                                          </p:spTgt>
                                        </p:tgtEl>
                                        <p:attrNameLst>
                                          <p:attrName>style.visibility</p:attrName>
                                        </p:attrNameLst>
                                      </p:cBhvr>
                                      <p:to>
                                        <p:strVal val="visible"/>
                                      </p:to>
                                    </p:set>
                                    <p:animEffect transition="in" filter="wipe(left)">
                                      <p:cBhvr>
                                        <p:cTn id="7" dur="1000"/>
                                        <p:tgtEl>
                                          <p:spTgt spid="951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2" end="2"/>
                                            </p:txEl>
                                          </p:spTgt>
                                        </p:tgtEl>
                                        <p:attrNameLst>
                                          <p:attrName>style.visibility</p:attrName>
                                        </p:attrNameLst>
                                      </p:cBhvr>
                                      <p:to>
                                        <p:strVal val="visible"/>
                                      </p:to>
                                    </p:set>
                                    <p:animEffect transition="in" filter="wipe(left)">
                                      <p:cBhvr>
                                        <p:cTn id="12" dur="1000"/>
                                        <p:tgtEl>
                                          <p:spTgt spid="951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1299">
                                            <p:txEl>
                                              <p:pRg st="3" end="3"/>
                                            </p:txEl>
                                          </p:spTgt>
                                        </p:tgtEl>
                                        <p:attrNameLst>
                                          <p:attrName>style.visibility</p:attrName>
                                        </p:attrNameLst>
                                      </p:cBhvr>
                                      <p:to>
                                        <p:strVal val="visible"/>
                                      </p:to>
                                    </p:set>
                                    <p:animEffect transition="in" filter="wipe(left)">
                                      <p:cBhvr>
                                        <p:cTn id="17" dur="1000"/>
                                        <p:tgtEl>
                                          <p:spTgt spid="951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33E47ED8-BB9C-EC52-E4AD-E3D2C743CFD3}"/>
              </a:ext>
            </a:extLst>
          </p:cNvPr>
          <p:cNvSpPr>
            <a:spLocks noGrp="1" noChangeArrowheads="1"/>
          </p:cNvSpPr>
          <p:nvPr>
            <p:ph type="body" idx="1"/>
          </p:nvPr>
        </p:nvSpPr>
        <p:spPr>
          <a:xfrm>
            <a:off x="457200" y="1600200"/>
            <a:ext cx="8507288" cy="4525963"/>
          </a:xfrm>
        </p:spPr>
        <p:txBody>
          <a:bodyPr/>
          <a:lstStyle/>
          <a:p>
            <a:pPr lvl="1">
              <a:defRPr/>
            </a:pPr>
            <a:r>
              <a:rPr lang="en-US" dirty="0"/>
              <a:t>But the main source of the business cycle is </a:t>
            </a:r>
            <a:r>
              <a:rPr lang="en-US" dirty="0">
                <a:solidFill>
                  <a:srgbClr val="C00000"/>
                </a:solidFill>
              </a:rPr>
              <a:t>aggregate demand fluctuations</a:t>
            </a:r>
            <a:r>
              <a:rPr lang="en-US" dirty="0"/>
              <a:t>. </a:t>
            </a:r>
          </a:p>
          <a:p>
            <a:pPr lvl="1">
              <a:defRPr/>
            </a:pPr>
            <a:r>
              <a:rPr lang="en-US" dirty="0"/>
              <a:t>The key reason is that the swings in aggregate demand occur more quickly than changes in </a:t>
            </a:r>
            <a:r>
              <a:rPr lang="en-US" dirty="0">
                <a:solidFill>
                  <a:srgbClr val="C00000"/>
                </a:solidFill>
              </a:rPr>
              <a:t>the money wage rate </a:t>
            </a:r>
            <a:r>
              <a:rPr lang="en-US" dirty="0"/>
              <a:t>that change aggregate supply. </a:t>
            </a:r>
          </a:p>
          <a:p>
            <a:pPr lvl="1">
              <a:defRPr/>
            </a:pPr>
            <a:r>
              <a:rPr lang="en-US" dirty="0"/>
              <a:t>The result is that the economy swings from inflationary gap to full employment to recessionary gap and back again.</a:t>
            </a:r>
          </a:p>
        </p:txBody>
      </p:sp>
      <p:sp>
        <p:nvSpPr>
          <p:cNvPr id="5" name="Rectangle 2">
            <a:extLst>
              <a:ext uri="{FF2B5EF4-FFF2-40B4-BE49-F238E27FC236}">
                <a16:creationId xmlns:a16="http://schemas.microsoft.com/office/drawing/2014/main" id="{D8C9DA81-8E69-3D79-C8FF-5B8AA131777A}"/>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1" end="1"/>
                                            </p:txEl>
                                          </p:spTgt>
                                        </p:tgtEl>
                                        <p:attrNameLst>
                                          <p:attrName>style.visibility</p:attrName>
                                        </p:attrNameLst>
                                      </p:cBhvr>
                                      <p:to>
                                        <p:strVal val="visible"/>
                                      </p:to>
                                    </p:set>
                                    <p:animEffect transition="in" filter="wipe(left)">
                                      <p:cBhvr>
                                        <p:cTn id="7" dur="1000"/>
                                        <p:tgtEl>
                                          <p:spTgt spid="951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2" end="2"/>
                                            </p:txEl>
                                          </p:spTgt>
                                        </p:tgtEl>
                                        <p:attrNameLst>
                                          <p:attrName>style.visibility</p:attrName>
                                        </p:attrNameLst>
                                      </p:cBhvr>
                                      <p:to>
                                        <p:strVal val="visible"/>
                                      </p:to>
                                    </p:set>
                                    <p:animEffect transition="in" filter="wipe(left)">
                                      <p:cBhvr>
                                        <p:cTn id="12" dur="1000"/>
                                        <p:tgtEl>
                                          <p:spTgt spid="951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C79A90AB-EA08-4044-E684-03BC350EBC74}"/>
              </a:ext>
            </a:extLst>
          </p:cNvPr>
          <p:cNvSpPr>
            <a:spLocks noGrp="1" noChangeArrowheads="1"/>
          </p:cNvSpPr>
          <p:nvPr>
            <p:ph type="body" idx="1"/>
          </p:nvPr>
        </p:nvSpPr>
        <p:spPr/>
        <p:txBody>
          <a:bodyPr/>
          <a:lstStyle/>
          <a:p>
            <a:pPr eaLnBrk="1" hangingPunct="1">
              <a:buFont typeface="Webdings" charset="0"/>
              <a:buChar char="&lt;"/>
              <a:defRPr/>
            </a:pPr>
            <a:r>
              <a:rPr lang="en-US" dirty="0">
                <a:solidFill>
                  <a:srgbClr val="C00000"/>
                </a:solidFill>
                <a:cs typeface="+mn-cs"/>
              </a:rPr>
              <a:t>Inflation Cycles</a:t>
            </a:r>
          </a:p>
          <a:p>
            <a:pPr lvl="1">
              <a:defRPr/>
            </a:pPr>
            <a:r>
              <a:rPr lang="en-US" dirty="0"/>
              <a:t>Just as there are cycles in real GDP, there are </a:t>
            </a:r>
            <a:r>
              <a:rPr lang="en-US" dirty="0">
                <a:solidFill>
                  <a:srgbClr val="C00000"/>
                </a:solidFill>
              </a:rPr>
              <a:t>cycles in inflation</a:t>
            </a:r>
            <a:r>
              <a:rPr lang="en-US" dirty="0"/>
              <a:t>, and these cycles interact.</a:t>
            </a:r>
          </a:p>
          <a:p>
            <a:pPr lvl="1">
              <a:defRPr/>
            </a:pPr>
            <a:r>
              <a:rPr lang="en-US" dirty="0"/>
              <a:t>To study the interaction of real GDP cycles and inflation cycles we distinguish between </a:t>
            </a:r>
            <a:r>
              <a:rPr lang="en-US" dirty="0">
                <a:solidFill>
                  <a:srgbClr val="C00000"/>
                </a:solidFill>
              </a:rPr>
              <a:t>two sources</a:t>
            </a:r>
            <a:r>
              <a:rPr lang="en-US" dirty="0"/>
              <a:t> of inflation:</a:t>
            </a:r>
          </a:p>
          <a:p>
            <a:pPr marL="800100" lvl="1" indent="-342900">
              <a:buClr>
                <a:srgbClr val="00468F"/>
              </a:buClr>
              <a:buFont typeface="Arial"/>
              <a:buChar char="•"/>
              <a:defRPr/>
            </a:pPr>
            <a:r>
              <a:rPr lang="en-US" dirty="0">
                <a:solidFill>
                  <a:srgbClr val="0070C0"/>
                </a:solidFill>
              </a:rPr>
              <a:t>Demand-pull inflation</a:t>
            </a:r>
          </a:p>
          <a:p>
            <a:pPr marL="800100" lvl="1" indent="-342900">
              <a:buClr>
                <a:srgbClr val="00468F"/>
              </a:buClr>
              <a:buFont typeface="Arial"/>
              <a:buChar char="•"/>
              <a:defRPr/>
            </a:pPr>
            <a:r>
              <a:rPr lang="en-US" dirty="0">
                <a:solidFill>
                  <a:srgbClr val="0070C0"/>
                </a:solidFill>
              </a:rPr>
              <a:t>Cost-push inflation</a:t>
            </a:r>
          </a:p>
        </p:txBody>
      </p:sp>
      <p:sp>
        <p:nvSpPr>
          <p:cNvPr id="5" name="Rectangle 2">
            <a:extLst>
              <a:ext uri="{FF2B5EF4-FFF2-40B4-BE49-F238E27FC236}">
                <a16:creationId xmlns:a16="http://schemas.microsoft.com/office/drawing/2014/main" id="{F91A4190-0074-0252-2AF2-3C6EC3C97E89}"/>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1" end="1"/>
                                            </p:txEl>
                                          </p:spTgt>
                                        </p:tgtEl>
                                        <p:attrNameLst>
                                          <p:attrName>style.visibility</p:attrName>
                                        </p:attrNameLst>
                                      </p:cBhvr>
                                      <p:to>
                                        <p:strVal val="visible"/>
                                      </p:to>
                                    </p:set>
                                    <p:animEffect transition="in" filter="wipe(left)">
                                      <p:cBhvr>
                                        <p:cTn id="7" dur="1000"/>
                                        <p:tgtEl>
                                          <p:spTgt spid="951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2" end="2"/>
                                            </p:txEl>
                                          </p:spTgt>
                                        </p:tgtEl>
                                        <p:attrNameLst>
                                          <p:attrName>style.visibility</p:attrName>
                                        </p:attrNameLst>
                                      </p:cBhvr>
                                      <p:to>
                                        <p:strVal val="visible"/>
                                      </p:to>
                                    </p:set>
                                    <p:animEffect transition="in" filter="wipe(left)">
                                      <p:cBhvr>
                                        <p:cTn id="12" dur="1000"/>
                                        <p:tgtEl>
                                          <p:spTgt spid="951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1299">
                                            <p:txEl>
                                              <p:pRg st="3" end="3"/>
                                            </p:txEl>
                                          </p:spTgt>
                                        </p:tgtEl>
                                        <p:attrNameLst>
                                          <p:attrName>style.visibility</p:attrName>
                                        </p:attrNameLst>
                                      </p:cBhvr>
                                      <p:to>
                                        <p:strVal val="visible"/>
                                      </p:to>
                                    </p:set>
                                    <p:animEffect transition="in" filter="wipe(left)">
                                      <p:cBhvr>
                                        <p:cTn id="17" dur="1000"/>
                                        <p:tgtEl>
                                          <p:spTgt spid="95129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1299">
                                            <p:txEl>
                                              <p:pRg st="4" end="4"/>
                                            </p:txEl>
                                          </p:spTgt>
                                        </p:tgtEl>
                                        <p:attrNameLst>
                                          <p:attrName>style.visibility</p:attrName>
                                        </p:attrNameLst>
                                      </p:cBhvr>
                                      <p:to>
                                        <p:strVal val="visible"/>
                                      </p:to>
                                    </p:set>
                                    <p:animEffect transition="in" filter="wipe(left)">
                                      <p:cBhvr>
                                        <p:cTn id="22" dur="1000"/>
                                        <p:tgtEl>
                                          <p:spTgt spid="951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1299" name="Rectangle 3">
            <a:extLst>
              <a:ext uri="{FF2B5EF4-FFF2-40B4-BE49-F238E27FC236}">
                <a16:creationId xmlns:a16="http://schemas.microsoft.com/office/drawing/2014/main" id="{36CCCE8B-177D-F778-23CD-EB2DD3F82423}"/>
              </a:ext>
            </a:extLst>
          </p:cNvPr>
          <p:cNvSpPr>
            <a:spLocks noGrp="1" noChangeArrowheads="1"/>
          </p:cNvSpPr>
          <p:nvPr>
            <p:ph type="body" idx="1"/>
          </p:nvPr>
        </p:nvSpPr>
        <p:spPr/>
        <p:txBody>
          <a:bodyPr/>
          <a:lstStyle/>
          <a:p>
            <a:pPr marL="444500" lvl="2" indent="0" eaLnBrk="1" hangingPunct="1">
              <a:buFontTx/>
              <a:buNone/>
              <a:defRPr/>
            </a:pPr>
            <a:r>
              <a:rPr lang="en-US" b="1" dirty="0">
                <a:solidFill>
                  <a:srgbClr val="00468F"/>
                </a:solidFill>
              </a:rPr>
              <a:t>Demand-Pull Inflation</a:t>
            </a:r>
          </a:p>
          <a:p>
            <a:pPr lvl="1">
              <a:defRPr/>
            </a:pPr>
            <a:r>
              <a:rPr lang="en-US" dirty="0"/>
              <a:t>An inflation that starts because aggregate demand increases is called </a:t>
            </a:r>
            <a:r>
              <a:rPr lang="en-US" b="1" dirty="0">
                <a:solidFill>
                  <a:srgbClr val="FF0000"/>
                </a:solidFill>
              </a:rPr>
              <a:t>demand-pull inflation</a:t>
            </a:r>
            <a:r>
              <a:rPr lang="en-US" dirty="0"/>
              <a:t>.  </a:t>
            </a:r>
          </a:p>
          <a:p>
            <a:pPr lvl="1">
              <a:defRPr/>
            </a:pPr>
            <a:r>
              <a:rPr lang="en-US" dirty="0"/>
              <a:t>Any factor that increases aggregate demand can start an inflation, but the only factor that can sustain it is </a:t>
            </a:r>
            <a:r>
              <a:rPr lang="en-US" dirty="0">
                <a:solidFill>
                  <a:srgbClr val="0070C0"/>
                </a:solidFill>
              </a:rPr>
              <a:t>growth in the quantity of money.</a:t>
            </a:r>
          </a:p>
          <a:p>
            <a:pPr lvl="1">
              <a:defRPr/>
            </a:pPr>
            <a:endParaRPr lang="en-US" dirty="0"/>
          </a:p>
        </p:txBody>
      </p:sp>
      <p:sp>
        <p:nvSpPr>
          <p:cNvPr id="5" name="Rectangle 2">
            <a:extLst>
              <a:ext uri="{FF2B5EF4-FFF2-40B4-BE49-F238E27FC236}">
                <a16:creationId xmlns:a16="http://schemas.microsoft.com/office/drawing/2014/main" id="{63AD9BF8-76A7-9A6F-A511-F721B8FEC282}"/>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51299">
                                            <p:txEl>
                                              <p:pRg st="0" end="0"/>
                                            </p:txEl>
                                          </p:spTgt>
                                        </p:tgtEl>
                                        <p:attrNameLst>
                                          <p:attrName>style.visibility</p:attrName>
                                        </p:attrNameLst>
                                      </p:cBhvr>
                                      <p:to>
                                        <p:strVal val="visible"/>
                                      </p:to>
                                    </p:set>
                                    <p:animEffect transition="in" filter="wipe(left)">
                                      <p:cBhvr>
                                        <p:cTn id="7" dur="1000"/>
                                        <p:tgtEl>
                                          <p:spTgt spid="951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51299">
                                            <p:txEl>
                                              <p:pRg st="1" end="1"/>
                                            </p:txEl>
                                          </p:spTgt>
                                        </p:tgtEl>
                                        <p:attrNameLst>
                                          <p:attrName>style.visibility</p:attrName>
                                        </p:attrNameLst>
                                      </p:cBhvr>
                                      <p:to>
                                        <p:strVal val="visible"/>
                                      </p:to>
                                    </p:set>
                                    <p:animEffect transition="in" filter="wipe(left)">
                                      <p:cBhvr>
                                        <p:cTn id="12" dur="1000"/>
                                        <p:tgtEl>
                                          <p:spTgt spid="9512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1299">
                                            <p:txEl>
                                              <p:pRg st="2" end="2"/>
                                            </p:txEl>
                                          </p:spTgt>
                                        </p:tgtEl>
                                        <p:attrNameLst>
                                          <p:attrName>style.visibility</p:attrName>
                                        </p:attrNameLst>
                                      </p:cBhvr>
                                      <p:to>
                                        <p:strVal val="visible"/>
                                      </p:to>
                                    </p:set>
                                    <p:animEffect transition="in" filter="wipe(left)">
                                      <p:cBhvr>
                                        <p:cTn id="17" dur="1000"/>
                                        <p:tgtEl>
                                          <p:spTgt spid="951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1283" name="Rectangle 3">
            <a:extLst>
              <a:ext uri="{FF2B5EF4-FFF2-40B4-BE49-F238E27FC236}">
                <a16:creationId xmlns:a16="http://schemas.microsoft.com/office/drawing/2014/main" id="{69ACA7B6-93A7-DEF5-3089-E71AEEEAD9FD}"/>
              </a:ext>
            </a:extLst>
          </p:cNvPr>
          <p:cNvSpPr>
            <a:spLocks noGrp="1" noChangeArrowheads="1"/>
          </p:cNvSpPr>
          <p:nvPr>
            <p:ph type="body" idx="1"/>
          </p:nvPr>
        </p:nvSpPr>
        <p:spPr>
          <a:xfrm>
            <a:off x="304800" y="1676400"/>
            <a:ext cx="3124200" cy="1143000"/>
          </a:xfrm>
        </p:spPr>
        <p:txBody>
          <a:bodyPr/>
          <a:lstStyle/>
          <a:p>
            <a:pPr marL="0" indent="0">
              <a:lnSpc>
                <a:spcPct val="90000"/>
              </a:lnSpc>
              <a:spcBef>
                <a:spcPct val="0"/>
              </a:spcBef>
              <a:buClrTx/>
              <a:buFontTx/>
              <a:buNone/>
              <a:defRPr/>
            </a:pPr>
            <a:r>
              <a:rPr lang="en-US" sz="2400" b="0" dirty="0">
                <a:solidFill>
                  <a:schemeClr val="tx1"/>
                </a:solidFill>
                <a:cs typeface="+mn-cs"/>
              </a:rPr>
              <a:t>Figure 28.9 illustrates the process.</a:t>
            </a:r>
          </a:p>
        </p:txBody>
      </p:sp>
      <p:sp>
        <p:nvSpPr>
          <p:cNvPr id="1121284" name="Rectangle 4">
            <a:extLst>
              <a:ext uri="{FF2B5EF4-FFF2-40B4-BE49-F238E27FC236}">
                <a16:creationId xmlns:a16="http://schemas.microsoft.com/office/drawing/2014/main" id="{D8BEEB02-92E0-D83D-954C-DD6857CCA580}"/>
              </a:ext>
            </a:extLst>
          </p:cNvPr>
          <p:cNvSpPr>
            <a:spLocks noChangeArrowheads="1"/>
          </p:cNvSpPr>
          <p:nvPr/>
        </p:nvSpPr>
        <p:spPr bwMode="auto">
          <a:xfrm>
            <a:off x="304800" y="2514600"/>
            <a:ext cx="4267200" cy="1295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Each time the quantity of money increases, the </a:t>
            </a:r>
            <a:r>
              <a:rPr lang="en-US" sz="2400" i="1" dirty="0">
                <a:latin typeface="Arial" charset="0"/>
                <a:ea typeface="ＭＳ Ｐゴシック" charset="0"/>
              </a:rPr>
              <a:t>AD</a:t>
            </a:r>
            <a:r>
              <a:rPr lang="en-US" sz="2400" dirty="0">
                <a:latin typeface="Arial" charset="0"/>
                <a:ea typeface="ＭＳ Ｐゴシック" charset="0"/>
              </a:rPr>
              <a:t> curve shifts rightward.</a:t>
            </a:r>
          </a:p>
        </p:txBody>
      </p:sp>
      <p:sp>
        <p:nvSpPr>
          <p:cNvPr id="1121285" name="Rectangle 5">
            <a:extLst>
              <a:ext uri="{FF2B5EF4-FFF2-40B4-BE49-F238E27FC236}">
                <a16:creationId xmlns:a16="http://schemas.microsoft.com/office/drawing/2014/main" id="{966CB807-5AF1-5982-8A1D-7079E44B7273}"/>
              </a:ext>
            </a:extLst>
          </p:cNvPr>
          <p:cNvSpPr>
            <a:spLocks noChangeArrowheads="1"/>
          </p:cNvSpPr>
          <p:nvPr/>
        </p:nvSpPr>
        <p:spPr bwMode="auto">
          <a:xfrm>
            <a:off x="304800" y="3733800"/>
            <a:ext cx="4143375"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Each time real GDP exceeds potential GDP, the money wage rate rises and the </a:t>
            </a:r>
            <a:r>
              <a:rPr lang="en-US" sz="2400" i="1" dirty="0">
                <a:latin typeface="Arial" charset="0"/>
                <a:ea typeface="ＭＳ Ｐゴシック" charset="0"/>
              </a:rPr>
              <a:t>AS</a:t>
            </a:r>
            <a:r>
              <a:rPr lang="en-US" sz="2400" dirty="0">
                <a:latin typeface="Arial" charset="0"/>
                <a:ea typeface="ＭＳ Ｐゴシック" charset="0"/>
              </a:rPr>
              <a:t> curve shifts leftward.</a:t>
            </a:r>
          </a:p>
          <a:p>
            <a:pPr>
              <a:spcBef>
                <a:spcPct val="50000"/>
              </a:spcBef>
              <a:defRPr/>
            </a:pPr>
            <a:r>
              <a:rPr lang="en-US" sz="2400" dirty="0">
                <a:latin typeface="Arial" charset="0"/>
                <a:ea typeface="ＭＳ Ｐゴシック" charset="0"/>
              </a:rPr>
              <a:t>A demand-pull inflation results.</a:t>
            </a:r>
          </a:p>
        </p:txBody>
      </p:sp>
      <p:sp>
        <p:nvSpPr>
          <p:cNvPr id="21" name="Rectangle 2">
            <a:extLst>
              <a:ext uri="{FF2B5EF4-FFF2-40B4-BE49-F238E27FC236}">
                <a16:creationId xmlns:a16="http://schemas.microsoft.com/office/drawing/2014/main" id="{994EAA03-E10C-D0DB-C151-E15681A5DAA0}"/>
              </a:ext>
            </a:extLst>
          </p:cNvPr>
          <p:cNvSpPr>
            <a:spLocks noGrp="1" noChangeArrowheads="1"/>
          </p:cNvSpPr>
          <p:nvPr>
            <p:ph type="title"/>
          </p:nvPr>
        </p:nvSpPr>
        <p:spPr>
          <a:xfrm>
            <a:off x="381000" y="685800"/>
            <a:ext cx="8229600" cy="838200"/>
          </a:xfrm>
        </p:spPr>
        <p:txBody>
          <a:bodyPr/>
          <a:lstStyle/>
          <a:p>
            <a:pPr marL="812800" indent="-812800" eaLnBrk="1" hangingPunct="1">
              <a:defRPr/>
            </a:pPr>
            <a:r>
              <a:rPr lang="en-US" dirty="0">
                <a:cs typeface="+mj-cs"/>
              </a:rPr>
              <a:t>28.3  EXPLAINING ECONOMIC TRENDS AND FLUCTUATIONS</a:t>
            </a:r>
            <a:endParaRPr lang="en-CA" dirty="0">
              <a:cs typeface="+mj-cs"/>
            </a:endParaRPr>
          </a:p>
        </p:txBody>
      </p:sp>
      <p:pic>
        <p:nvPicPr>
          <p:cNvPr id="134149" name="Picture 21" descr="fig2909a.gif">
            <a:extLst>
              <a:ext uri="{FF2B5EF4-FFF2-40B4-BE49-F238E27FC236}">
                <a16:creationId xmlns:a16="http://schemas.microsoft.com/office/drawing/2014/main" id="{0F74E5AF-35D9-B677-B30E-5E231F3F9D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descr="fig2909b.gif">
            <a:extLst>
              <a:ext uri="{FF2B5EF4-FFF2-40B4-BE49-F238E27FC236}">
                <a16:creationId xmlns:a16="http://schemas.microsoft.com/office/drawing/2014/main" id="{8AA7BAD4-B46A-F065-0FA9-70C404D3B07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3" descr="fig2909c.gif">
            <a:extLst>
              <a:ext uri="{FF2B5EF4-FFF2-40B4-BE49-F238E27FC236}">
                <a16:creationId xmlns:a16="http://schemas.microsoft.com/office/drawing/2014/main" id="{9491EA39-8D08-3D85-F014-14EDFEE1CE1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fig2909d.gif">
            <a:extLst>
              <a:ext uri="{FF2B5EF4-FFF2-40B4-BE49-F238E27FC236}">
                <a16:creationId xmlns:a16="http://schemas.microsoft.com/office/drawing/2014/main" id="{861896DE-C9A2-832A-59AC-3202FBBDDC4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descr="fig2909e.gif">
            <a:extLst>
              <a:ext uri="{FF2B5EF4-FFF2-40B4-BE49-F238E27FC236}">
                <a16:creationId xmlns:a16="http://schemas.microsoft.com/office/drawing/2014/main" id="{CE225EDB-DFDB-6A96-5F6B-514BA45DD0F6}"/>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6" descr="fig2909f.gif">
            <a:extLst>
              <a:ext uri="{FF2B5EF4-FFF2-40B4-BE49-F238E27FC236}">
                <a16:creationId xmlns:a16="http://schemas.microsoft.com/office/drawing/2014/main" id="{7D212129-96E9-B2AF-056A-28561DBBDFF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33900" y="2179638"/>
            <a:ext cx="438150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1284"/>
                                        </p:tgtEl>
                                        <p:attrNameLst>
                                          <p:attrName>style.visibility</p:attrName>
                                        </p:attrNameLst>
                                      </p:cBhvr>
                                      <p:to>
                                        <p:strVal val="visible"/>
                                      </p:to>
                                    </p:set>
                                    <p:animEffect transition="in" filter="wipe(left)">
                                      <p:cBhvr>
                                        <p:cTn id="7" dur="500"/>
                                        <p:tgtEl>
                                          <p:spTgt spid="1121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10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21285">
                                            <p:txEl>
                                              <p:pRg st="0" end="0"/>
                                            </p:txEl>
                                          </p:spTgt>
                                        </p:tgtEl>
                                        <p:attrNameLst>
                                          <p:attrName>style.visibility</p:attrName>
                                        </p:attrNameLst>
                                      </p:cBhvr>
                                      <p:to>
                                        <p:strVal val="visible"/>
                                      </p:to>
                                    </p:set>
                                    <p:animEffect transition="in" filter="wipe(left)">
                                      <p:cBhvr>
                                        <p:cTn id="17" dur="1000"/>
                                        <p:tgtEl>
                                          <p:spTgt spid="112128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right)">
                                      <p:cBhvr>
                                        <p:cTn id="22" dur="10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1000"/>
                                        <p:tgtEl>
                                          <p:spTgt spid="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right)">
                                      <p:cBhvr>
                                        <p:cTn id="32" dur="1000"/>
                                        <p:tgtEl>
                                          <p:spTgt spid="2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121285">
                                            <p:txEl>
                                              <p:pRg st="1" end="1"/>
                                            </p:txEl>
                                          </p:spTgt>
                                        </p:tgtEl>
                                        <p:attrNameLst>
                                          <p:attrName>style.visibility</p:attrName>
                                        </p:attrNameLst>
                                      </p:cBhvr>
                                      <p:to>
                                        <p:strVal val="visible"/>
                                      </p:to>
                                    </p:set>
                                    <p:animEffect transition="in" filter="wipe(left)">
                                      <p:cBhvr>
                                        <p:cTn id="37" dur="1000"/>
                                        <p:tgtEl>
                                          <p:spTgt spid="1121285">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1284"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0215"/>
            <a:ext cx="8491288" cy="1189411"/>
          </a:xfrm>
        </p:spPr>
        <p:txBody>
          <a:bodyPr/>
          <a:lstStyle/>
          <a:p>
            <a:pPr algn="l"/>
            <a:r>
              <a:rPr lang="en-US" sz="3200" dirty="0"/>
              <a:t>Figure 28.1 </a:t>
            </a:r>
            <a:br>
              <a:rPr lang="en-US" sz="3200" dirty="0"/>
            </a:br>
            <a:r>
              <a:rPr lang="en-US" sz="3200" dirty="0"/>
              <a:t>Mainstream business cycle theory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64526"/>
            <a:ext cx="8312727" cy="3708690"/>
          </a:xfrm>
          <a:prstGeom prst="rect">
            <a:avLst/>
          </a:prstGeom>
        </p:spPr>
      </p:pic>
    </p:spTree>
    <p:extLst>
      <p:ext uri="{BB962C8B-B14F-4D97-AF65-F5344CB8AC3E}">
        <p14:creationId xmlns:p14="http://schemas.microsoft.com/office/powerpoint/2010/main" val="432231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0215"/>
            <a:ext cx="8491288" cy="1189411"/>
          </a:xfrm>
        </p:spPr>
        <p:txBody>
          <a:bodyPr/>
          <a:lstStyle/>
          <a:p>
            <a:pPr algn="l"/>
            <a:r>
              <a:rPr lang="en-US" sz="3200" dirty="0"/>
              <a:t>Figure 1 </a:t>
            </a:r>
            <a:br>
              <a:rPr lang="en-US" sz="3200" dirty="0"/>
            </a:br>
            <a:r>
              <a:rPr lang="en-US" sz="3200" dirty="0"/>
              <a:t>Real business cycle impulse</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52" y="1409626"/>
            <a:ext cx="6909688" cy="4572940"/>
          </a:xfrm>
          <a:prstGeom prst="rect">
            <a:avLst/>
          </a:prstGeom>
        </p:spPr>
      </p:pic>
      <p:sp>
        <p:nvSpPr>
          <p:cNvPr id="4" name="TextBox 3"/>
          <p:cNvSpPr txBox="1"/>
          <p:nvPr/>
        </p:nvSpPr>
        <p:spPr>
          <a:xfrm>
            <a:off x="329184" y="6092990"/>
            <a:ext cx="3571812" cy="215444"/>
          </a:xfrm>
          <a:prstGeom prst="rect">
            <a:avLst/>
          </a:prstGeom>
          <a:noFill/>
        </p:spPr>
        <p:txBody>
          <a:bodyPr wrap="none" rtlCol="0">
            <a:spAutoFit/>
          </a:bodyPr>
          <a:lstStyle/>
          <a:p>
            <a:r>
              <a:rPr lang="en-US" sz="800" dirty="0"/>
              <a:t>Sources of data: Office for National Statistics and the authors’ calculations</a:t>
            </a:r>
            <a:endParaRPr lang="en-IN" sz="800" dirty="0"/>
          </a:p>
        </p:txBody>
      </p:sp>
      <p:sp>
        <p:nvSpPr>
          <p:cNvPr id="6" name="TextBox 5">
            <a:extLst>
              <a:ext uri="{FF2B5EF4-FFF2-40B4-BE49-F238E27FC236}">
                <a16:creationId xmlns:a16="http://schemas.microsoft.com/office/drawing/2014/main" id="{F16C6759-F80B-A8B1-3A5E-C4BD8121BB50}"/>
              </a:ext>
            </a:extLst>
          </p:cNvPr>
          <p:cNvSpPr txBox="1"/>
          <p:nvPr/>
        </p:nvSpPr>
        <p:spPr>
          <a:xfrm>
            <a:off x="3347864" y="226400"/>
            <a:ext cx="4572000" cy="646331"/>
          </a:xfrm>
          <a:prstGeom prst="rect">
            <a:avLst/>
          </a:prstGeom>
          <a:noFill/>
        </p:spPr>
        <p:txBody>
          <a:bodyPr wrap="square">
            <a:spAutoFit/>
          </a:bodyPr>
          <a:lstStyle/>
          <a:p>
            <a:r>
              <a:rPr lang="en-US" dirty="0"/>
              <a:t>technology shocks</a:t>
            </a:r>
          </a:p>
          <a:p>
            <a:r>
              <a:rPr lang="en-US" dirty="0"/>
              <a:t>productivity shocks</a:t>
            </a:r>
          </a:p>
        </p:txBody>
      </p:sp>
      <p:sp>
        <p:nvSpPr>
          <p:cNvPr id="8" name="TextBox 7">
            <a:extLst>
              <a:ext uri="{FF2B5EF4-FFF2-40B4-BE49-F238E27FC236}">
                <a16:creationId xmlns:a16="http://schemas.microsoft.com/office/drawing/2014/main" id="{90D9B2AD-1067-B47F-2FCD-E4D4F1EFE49C}"/>
              </a:ext>
            </a:extLst>
          </p:cNvPr>
          <p:cNvSpPr txBox="1"/>
          <p:nvPr/>
        </p:nvSpPr>
        <p:spPr>
          <a:xfrm>
            <a:off x="6007096" y="0"/>
            <a:ext cx="3029400" cy="1477328"/>
          </a:xfrm>
          <a:prstGeom prst="rect">
            <a:avLst/>
          </a:prstGeom>
          <a:noFill/>
        </p:spPr>
        <p:txBody>
          <a:bodyPr wrap="square">
            <a:spAutoFit/>
          </a:bodyPr>
          <a:lstStyle/>
          <a:p>
            <a:r>
              <a:rPr lang="en-US" dirty="0"/>
              <a:t>Real business cycle theory explains business cycles as fluctuations in productivity that shift the short-run aggregate supply curve.</a:t>
            </a:r>
            <a:endParaRPr lang="en-TW" dirty="0"/>
          </a:p>
        </p:txBody>
      </p:sp>
    </p:spTree>
    <p:extLst>
      <p:ext uri="{BB962C8B-B14F-4D97-AF65-F5344CB8AC3E}">
        <p14:creationId xmlns:p14="http://schemas.microsoft.com/office/powerpoint/2010/main" val="4007561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465677"/>
            <a:ext cx="8491288" cy="1189411"/>
          </a:xfrm>
        </p:spPr>
        <p:txBody>
          <a:bodyPr/>
          <a:lstStyle/>
          <a:p>
            <a:pPr algn="l"/>
            <a:r>
              <a:rPr lang="en-US" sz="3200" dirty="0"/>
              <a:t>Figure 28.2 </a:t>
            </a:r>
            <a:br>
              <a:rPr lang="en-US" sz="3200" dirty="0"/>
            </a:br>
            <a:r>
              <a:rPr lang="en-US" sz="3200" dirty="0"/>
              <a:t>Loanable funds and </a:t>
            </a:r>
            <a:r>
              <a:rPr lang="en-US" sz="3200" dirty="0" err="1"/>
              <a:t>labour</a:t>
            </a:r>
            <a:r>
              <a:rPr lang="en-US" sz="3200" dirty="0"/>
              <a:t> markets in a real business cycle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972" y="1851690"/>
            <a:ext cx="6564057" cy="4475952"/>
          </a:xfrm>
          <a:prstGeom prst="rect">
            <a:avLst/>
          </a:prstGeom>
        </p:spPr>
      </p:pic>
    </p:spTree>
    <p:extLst>
      <p:ext uri="{BB962C8B-B14F-4D97-AF65-F5344CB8AC3E}">
        <p14:creationId xmlns:p14="http://schemas.microsoft.com/office/powerpoint/2010/main" val="33725244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28.3 </a:t>
            </a:r>
            <a:br>
              <a:rPr lang="en-US" sz="3200" dirty="0"/>
            </a:br>
            <a:r>
              <a:rPr lang="en-US" sz="3200" dirty="0"/>
              <a:t>Demand-pull rise in the price level</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7875" y="1417333"/>
            <a:ext cx="8068251" cy="4704133"/>
          </a:xfrm>
          <a:prstGeom prst="rect">
            <a:avLst/>
          </a:prstGeom>
        </p:spPr>
      </p:pic>
    </p:spTree>
    <p:extLst>
      <p:ext uri="{BB962C8B-B14F-4D97-AF65-F5344CB8AC3E}">
        <p14:creationId xmlns:p14="http://schemas.microsoft.com/office/powerpoint/2010/main" val="952517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28.4 </a:t>
            </a:r>
            <a:br>
              <a:rPr lang="en-US" sz="3200" dirty="0"/>
            </a:br>
            <a:r>
              <a:rPr lang="en-US" sz="3200" dirty="0"/>
              <a:t>Demand-pull inflation spiral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28661"/>
            <a:ext cx="8312727" cy="3428531"/>
          </a:xfrm>
          <a:prstGeom prst="rect">
            <a:avLst/>
          </a:prstGeom>
        </p:spPr>
      </p:pic>
    </p:spTree>
    <p:extLst>
      <p:ext uri="{BB962C8B-B14F-4D97-AF65-F5344CB8AC3E}">
        <p14:creationId xmlns:p14="http://schemas.microsoft.com/office/powerpoint/2010/main" val="14289899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28.5 </a:t>
            </a:r>
            <a:br>
              <a:rPr lang="en-US" sz="3200" dirty="0"/>
            </a:br>
            <a:r>
              <a:rPr lang="en-US" sz="3200" dirty="0"/>
              <a:t>Cost-push rise in the price level</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488" y="1420652"/>
            <a:ext cx="7557025" cy="4790372"/>
          </a:xfrm>
          <a:prstGeom prst="rect">
            <a:avLst/>
          </a:prstGeom>
        </p:spPr>
      </p:pic>
    </p:spTree>
    <p:extLst>
      <p:ext uri="{BB962C8B-B14F-4D97-AF65-F5344CB8AC3E}">
        <p14:creationId xmlns:p14="http://schemas.microsoft.com/office/powerpoint/2010/main" val="37499283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28.6 </a:t>
            </a:r>
            <a:br>
              <a:rPr lang="en-US" sz="3200" dirty="0"/>
            </a:br>
            <a:r>
              <a:rPr lang="en-US" sz="3200" dirty="0"/>
              <a:t>Cost-push inflation spiral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04350"/>
            <a:ext cx="8312727" cy="3449299"/>
          </a:xfrm>
          <a:prstGeom prst="rect">
            <a:avLst/>
          </a:prstGeom>
        </p:spPr>
      </p:pic>
    </p:spTree>
    <p:extLst>
      <p:ext uri="{BB962C8B-B14F-4D97-AF65-F5344CB8AC3E}">
        <p14:creationId xmlns:p14="http://schemas.microsoft.com/office/powerpoint/2010/main" val="17830224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28.7 </a:t>
            </a:r>
            <a:br>
              <a:rPr lang="en-US" sz="3200" dirty="0"/>
            </a:br>
            <a:r>
              <a:rPr lang="en-US" sz="3200" dirty="0"/>
              <a:t>Expected inflation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84250"/>
            <a:ext cx="8312727" cy="3489500"/>
          </a:xfrm>
          <a:prstGeom prst="rect">
            <a:avLst/>
          </a:prstGeom>
        </p:spPr>
      </p:pic>
    </p:spTree>
    <p:extLst>
      <p:ext uri="{BB962C8B-B14F-4D97-AF65-F5344CB8AC3E}">
        <p14:creationId xmlns:p14="http://schemas.microsoft.com/office/powerpoint/2010/main" val="1897729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1 </a:t>
            </a:r>
            <a:br>
              <a:rPr lang="en-US" sz="3200" dirty="0"/>
            </a:br>
            <a:r>
              <a:rPr lang="en-US" sz="3200" dirty="0"/>
              <a:t>Japan’s long deflation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4594" y="1476477"/>
            <a:ext cx="6054812" cy="4457372"/>
          </a:xfrm>
          <a:prstGeom prst="rect">
            <a:avLst/>
          </a:prstGeom>
        </p:spPr>
      </p:pic>
      <p:sp>
        <p:nvSpPr>
          <p:cNvPr id="6" name="TextBox 5"/>
          <p:cNvSpPr txBox="1"/>
          <p:nvPr/>
        </p:nvSpPr>
        <p:spPr>
          <a:xfrm>
            <a:off x="338328" y="6092990"/>
            <a:ext cx="5341527" cy="215444"/>
          </a:xfrm>
          <a:prstGeom prst="rect">
            <a:avLst/>
          </a:prstGeom>
          <a:noFill/>
        </p:spPr>
        <p:txBody>
          <a:bodyPr wrap="none" rtlCol="0">
            <a:spAutoFit/>
          </a:bodyPr>
          <a:lstStyle/>
          <a:p>
            <a:r>
              <a:rPr lang="en-US" sz="800" dirty="0"/>
              <a:t>Sources of data: </a:t>
            </a:r>
            <a:r>
              <a:rPr lang="en-US" sz="800" i="1" dirty="0"/>
              <a:t>Financial Statistics </a:t>
            </a:r>
            <a:r>
              <a:rPr lang="en-US" sz="800" dirty="0"/>
              <a:t>and </a:t>
            </a:r>
            <a:r>
              <a:rPr lang="en-US" sz="800" i="1" dirty="0"/>
              <a:t>World Economic Outlook, </a:t>
            </a:r>
            <a:r>
              <a:rPr lang="en-US" sz="800" dirty="0"/>
              <a:t>International Monetary Fund, Washington, DC</a:t>
            </a:r>
            <a:endParaRPr lang="en-IN" sz="800" dirty="0"/>
          </a:p>
        </p:txBody>
      </p:sp>
      <p:sp>
        <p:nvSpPr>
          <p:cNvPr id="4" name="TextBox 3">
            <a:extLst>
              <a:ext uri="{FF2B5EF4-FFF2-40B4-BE49-F238E27FC236}">
                <a16:creationId xmlns:a16="http://schemas.microsoft.com/office/drawing/2014/main" id="{C201BECA-C543-9F1A-8F31-7EB7BDEE5B91}"/>
              </a:ext>
            </a:extLst>
          </p:cNvPr>
          <p:cNvSpPr txBox="1"/>
          <p:nvPr/>
        </p:nvSpPr>
        <p:spPr>
          <a:xfrm>
            <a:off x="2339752" y="6315755"/>
            <a:ext cx="4572000" cy="369332"/>
          </a:xfrm>
          <a:prstGeom prst="rect">
            <a:avLst/>
          </a:prstGeom>
          <a:noFill/>
        </p:spPr>
        <p:txBody>
          <a:bodyPr wrap="square">
            <a:spAutoFit/>
          </a:bodyPr>
          <a:lstStyle/>
          <a:p>
            <a:r>
              <a:rPr lang="en-US" dirty="0"/>
              <a:t>AD grows slower than potential GDP</a:t>
            </a:r>
            <a:endParaRPr lang="en-TW" dirty="0"/>
          </a:p>
        </p:txBody>
      </p:sp>
    </p:spTree>
    <p:extLst>
      <p:ext uri="{BB962C8B-B14F-4D97-AF65-F5344CB8AC3E}">
        <p14:creationId xmlns:p14="http://schemas.microsoft.com/office/powerpoint/2010/main" val="23578551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5216"/>
            <a:ext cx="8491288" cy="1189411"/>
          </a:xfrm>
        </p:spPr>
        <p:txBody>
          <a:bodyPr/>
          <a:lstStyle/>
          <a:p>
            <a:pPr algn="l"/>
            <a:r>
              <a:rPr lang="en-US" sz="3200" dirty="0"/>
              <a:t>Figure 2 </a:t>
            </a:r>
            <a:br>
              <a:rPr lang="en-US" sz="3200" dirty="0"/>
            </a:br>
            <a:r>
              <a:rPr lang="en-US" sz="3200" dirty="0"/>
              <a:t>Money growth rate too low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7262" y="1510945"/>
            <a:ext cx="6029476" cy="4432308"/>
          </a:xfrm>
          <a:prstGeom prst="rect">
            <a:avLst/>
          </a:prstGeom>
        </p:spPr>
      </p:pic>
      <p:sp>
        <p:nvSpPr>
          <p:cNvPr id="6" name="TextBox 5"/>
          <p:cNvSpPr txBox="1"/>
          <p:nvPr/>
        </p:nvSpPr>
        <p:spPr>
          <a:xfrm>
            <a:off x="338328" y="6092990"/>
            <a:ext cx="5341527" cy="215444"/>
          </a:xfrm>
          <a:prstGeom prst="rect">
            <a:avLst/>
          </a:prstGeom>
          <a:noFill/>
        </p:spPr>
        <p:txBody>
          <a:bodyPr wrap="none" rtlCol="0">
            <a:spAutoFit/>
          </a:bodyPr>
          <a:lstStyle/>
          <a:p>
            <a:r>
              <a:rPr lang="en-US" sz="800" dirty="0"/>
              <a:t>Sources of data: </a:t>
            </a:r>
            <a:r>
              <a:rPr lang="en-US" sz="800" i="1" dirty="0"/>
              <a:t>Financial Statistics </a:t>
            </a:r>
            <a:r>
              <a:rPr lang="en-US" sz="800" dirty="0"/>
              <a:t>and </a:t>
            </a:r>
            <a:r>
              <a:rPr lang="en-US" sz="800" i="1" dirty="0"/>
              <a:t>World Economic Outlook, </a:t>
            </a:r>
            <a:r>
              <a:rPr lang="en-US" sz="800" dirty="0"/>
              <a:t>International Monetary Fund, Washington, DC</a:t>
            </a:r>
            <a:endParaRPr lang="en-IN" sz="800" dirty="0"/>
          </a:p>
        </p:txBody>
      </p:sp>
    </p:spTree>
    <p:extLst>
      <p:ext uri="{BB962C8B-B14F-4D97-AF65-F5344CB8AC3E}">
        <p14:creationId xmlns:p14="http://schemas.microsoft.com/office/powerpoint/2010/main" val="37495132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465677"/>
            <a:ext cx="8491288" cy="1189411"/>
          </a:xfrm>
        </p:spPr>
        <p:txBody>
          <a:bodyPr/>
          <a:lstStyle/>
          <a:p>
            <a:pPr algn="l"/>
            <a:r>
              <a:rPr lang="en-US" sz="3200" dirty="0"/>
              <a:t>Figure 3 </a:t>
            </a:r>
            <a:br>
              <a:rPr lang="en-US" sz="3200" dirty="0"/>
            </a:br>
            <a:r>
              <a:rPr lang="en-US" sz="3200" dirty="0"/>
              <a:t>Japan’s decade average real GDP growth rates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282" y="1857969"/>
            <a:ext cx="5661434" cy="4199048"/>
          </a:xfrm>
          <a:prstGeom prst="rect">
            <a:avLst/>
          </a:prstGeom>
        </p:spPr>
      </p:pic>
      <p:sp>
        <p:nvSpPr>
          <p:cNvPr id="5" name="TextBox 4"/>
          <p:cNvSpPr txBox="1"/>
          <p:nvPr/>
        </p:nvSpPr>
        <p:spPr>
          <a:xfrm>
            <a:off x="338328" y="6092990"/>
            <a:ext cx="5341527" cy="215444"/>
          </a:xfrm>
          <a:prstGeom prst="rect">
            <a:avLst/>
          </a:prstGeom>
          <a:noFill/>
        </p:spPr>
        <p:txBody>
          <a:bodyPr wrap="none" rtlCol="0">
            <a:spAutoFit/>
          </a:bodyPr>
          <a:lstStyle/>
          <a:p>
            <a:r>
              <a:rPr lang="en-US" sz="800" dirty="0"/>
              <a:t>Sources of data: </a:t>
            </a:r>
            <a:r>
              <a:rPr lang="en-US" sz="800" i="1" dirty="0"/>
              <a:t>Financial Statistics </a:t>
            </a:r>
            <a:r>
              <a:rPr lang="en-US" sz="800" dirty="0"/>
              <a:t>and </a:t>
            </a:r>
            <a:r>
              <a:rPr lang="en-US" sz="800" i="1" dirty="0"/>
              <a:t>World Economic Outlook, </a:t>
            </a:r>
            <a:r>
              <a:rPr lang="en-US" sz="800" dirty="0"/>
              <a:t>International Monetary Fund, Washington, DC</a:t>
            </a:r>
            <a:endParaRPr lang="en-IN" sz="800" dirty="0"/>
          </a:p>
        </p:txBody>
      </p:sp>
    </p:spTree>
    <p:extLst>
      <p:ext uri="{BB962C8B-B14F-4D97-AF65-F5344CB8AC3E}">
        <p14:creationId xmlns:p14="http://schemas.microsoft.com/office/powerpoint/2010/main" val="40738287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882" name="Rectangle 2">
            <a:extLst>
              <a:ext uri="{FF2B5EF4-FFF2-40B4-BE49-F238E27FC236}">
                <a16:creationId xmlns:a16="http://schemas.microsoft.com/office/drawing/2014/main" id="{EA4519D5-8A8B-0B59-8653-9EF85B759143}"/>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0883" name="Rectangle 3">
            <a:extLst>
              <a:ext uri="{FF2B5EF4-FFF2-40B4-BE49-F238E27FC236}">
                <a16:creationId xmlns:a16="http://schemas.microsoft.com/office/drawing/2014/main" id="{1B35FD3E-DFCC-177C-1D3C-81D7AB0F5862}"/>
              </a:ext>
            </a:extLst>
          </p:cNvPr>
          <p:cNvSpPr>
            <a:spLocks noGrp="1" noChangeArrowheads="1"/>
          </p:cNvSpPr>
          <p:nvPr>
            <p:ph type="body" idx="1"/>
          </p:nvPr>
        </p:nvSpPr>
        <p:spPr/>
        <p:txBody>
          <a:bodyPr/>
          <a:lstStyle/>
          <a:p>
            <a:pPr marL="460375" lvl="1" indent="-3175" eaLnBrk="1" hangingPunct="1">
              <a:defRPr/>
            </a:pPr>
            <a:r>
              <a:rPr lang="en-US" sz="2600" b="1" dirty="0">
                <a:solidFill>
                  <a:srgbClr val="FF0000"/>
                </a:solidFill>
              </a:rPr>
              <a:t>Short-run Phillips curve</a:t>
            </a:r>
            <a:r>
              <a:rPr lang="en-US" sz="2600" dirty="0">
                <a:solidFill>
                  <a:srgbClr val="FF0000"/>
                </a:solidFill>
              </a:rPr>
              <a:t> </a:t>
            </a:r>
            <a:r>
              <a:rPr lang="en-US" dirty="0"/>
              <a:t>is a curve that shows the relationship between the inflation rate and the unemployment rate when the natural unemployment rate and the expected inflation rate remain constant.</a:t>
            </a:r>
          </a:p>
          <a:p>
            <a:pPr marL="460375" lvl="1" indent="-3175" eaLnBrk="1" hangingPunct="1">
              <a:defRPr/>
            </a:pPr>
            <a:r>
              <a:rPr lang="en-US" dirty="0"/>
              <a:t>Figure 31.1 on the next slide shows a short-run Phillips curve.</a:t>
            </a:r>
          </a:p>
          <a:p>
            <a:pPr marL="460375" lvl="1" indent="-3175" eaLnBrk="1" hangingPunct="1">
              <a:defRPr/>
            </a:pPr>
            <a:endParaRPr lang="en-CA" dirty="0"/>
          </a:p>
        </p:txBody>
      </p:sp>
    </p:spTree>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1906" name="Rectangle 2">
            <a:extLst>
              <a:ext uri="{FF2B5EF4-FFF2-40B4-BE49-F238E27FC236}">
                <a16:creationId xmlns:a16="http://schemas.microsoft.com/office/drawing/2014/main" id="{AF4B7794-1B9A-6879-4498-EC65E2930CF6}"/>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1908" name="Rectangle 4">
            <a:extLst>
              <a:ext uri="{FF2B5EF4-FFF2-40B4-BE49-F238E27FC236}">
                <a16:creationId xmlns:a16="http://schemas.microsoft.com/office/drawing/2014/main" id="{8CA2DDED-D5B1-8A10-2205-F3786C7ED1E1}"/>
              </a:ext>
            </a:extLst>
          </p:cNvPr>
          <p:cNvSpPr>
            <a:spLocks noChangeArrowheads="1"/>
          </p:cNvSpPr>
          <p:nvPr/>
        </p:nvSpPr>
        <p:spPr bwMode="auto">
          <a:xfrm>
            <a:off x="228600" y="2133600"/>
            <a:ext cx="41910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defRPr/>
            </a:pPr>
            <a:r>
              <a:rPr lang="en-US" b="1" dirty="0">
                <a:latin typeface="Arial" charset="0"/>
                <a:ea typeface="ＭＳ Ｐゴシック" charset="0"/>
              </a:rPr>
              <a:t>1.</a:t>
            </a:r>
            <a:r>
              <a:rPr lang="en-US" dirty="0">
                <a:latin typeface="Arial" charset="0"/>
                <a:ea typeface="ＭＳ Ｐゴシック" charset="0"/>
              </a:rPr>
              <a:t> </a:t>
            </a:r>
            <a:r>
              <a:rPr lang="en-US" sz="2400" dirty="0">
                <a:latin typeface="Arial" charset="0"/>
                <a:ea typeface="ＭＳ Ｐゴシック" charset="0"/>
              </a:rPr>
              <a:t>The natural unemployment rate is 6 percent.</a:t>
            </a:r>
          </a:p>
        </p:txBody>
      </p:sp>
      <p:sp>
        <p:nvSpPr>
          <p:cNvPr id="891909" name="Rectangle 5">
            <a:extLst>
              <a:ext uri="{FF2B5EF4-FFF2-40B4-BE49-F238E27FC236}">
                <a16:creationId xmlns:a16="http://schemas.microsoft.com/office/drawing/2014/main" id="{4F3D5F14-0A48-2E93-A97E-C3F48CD04B1C}"/>
              </a:ext>
            </a:extLst>
          </p:cNvPr>
          <p:cNvSpPr>
            <a:spLocks noChangeArrowheads="1"/>
          </p:cNvSpPr>
          <p:nvPr/>
        </p:nvSpPr>
        <p:spPr bwMode="auto">
          <a:xfrm>
            <a:off x="228600" y="4267200"/>
            <a:ext cx="4495800" cy="1295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spcBef>
                <a:spcPct val="50000"/>
              </a:spcBef>
              <a:defRPr/>
            </a:pPr>
            <a:r>
              <a:rPr lang="en-US" b="1" dirty="0">
                <a:latin typeface="Arial" charset="0"/>
                <a:ea typeface="ＭＳ Ｐゴシック" charset="0"/>
              </a:rPr>
              <a:t>3.</a:t>
            </a:r>
            <a:r>
              <a:rPr lang="en-US" dirty="0">
                <a:latin typeface="Arial" charset="0"/>
                <a:ea typeface="ＭＳ Ｐゴシック" charset="0"/>
              </a:rPr>
              <a:t> </a:t>
            </a:r>
            <a:r>
              <a:rPr lang="en-US" sz="2400" dirty="0">
                <a:latin typeface="Arial" charset="0"/>
                <a:ea typeface="ＭＳ Ｐゴシック" charset="0"/>
              </a:rPr>
              <a:t>This combination, at point </a:t>
            </a:r>
            <a:r>
              <a:rPr lang="en-US" sz="2400" i="1" dirty="0">
                <a:latin typeface="Arial" charset="0"/>
                <a:ea typeface="ＭＳ Ｐゴシック" charset="0"/>
              </a:rPr>
              <a:t>B</a:t>
            </a:r>
            <a:r>
              <a:rPr lang="en-US" sz="2400" dirty="0">
                <a:latin typeface="Arial" charset="0"/>
                <a:ea typeface="ＭＳ Ｐゴシック" charset="0"/>
              </a:rPr>
              <a:t>, provides the anchor point for the short-run Phillips curve.</a:t>
            </a:r>
          </a:p>
        </p:txBody>
      </p:sp>
      <p:sp>
        <p:nvSpPr>
          <p:cNvPr id="891917" name="Rectangle 13">
            <a:extLst>
              <a:ext uri="{FF2B5EF4-FFF2-40B4-BE49-F238E27FC236}">
                <a16:creationId xmlns:a16="http://schemas.microsoft.com/office/drawing/2014/main" id="{29035018-4352-3F86-9E38-C30F278C652E}"/>
              </a:ext>
            </a:extLst>
          </p:cNvPr>
          <p:cNvSpPr>
            <a:spLocks noChangeArrowheads="1"/>
          </p:cNvSpPr>
          <p:nvPr/>
        </p:nvSpPr>
        <p:spPr bwMode="auto">
          <a:xfrm>
            <a:off x="228600" y="3200400"/>
            <a:ext cx="41910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defRPr/>
            </a:pPr>
            <a:r>
              <a:rPr lang="en-US" b="1" dirty="0">
                <a:latin typeface="Arial" charset="0"/>
                <a:ea typeface="ＭＳ Ｐゴシック" charset="0"/>
              </a:rPr>
              <a:t>2.</a:t>
            </a:r>
            <a:r>
              <a:rPr lang="en-US" dirty="0">
                <a:latin typeface="Arial" charset="0"/>
                <a:ea typeface="ＭＳ Ｐゴシック" charset="0"/>
              </a:rPr>
              <a:t> </a:t>
            </a:r>
            <a:r>
              <a:rPr lang="en-US" sz="2400" dirty="0">
                <a:latin typeface="Arial" charset="0"/>
                <a:ea typeface="ＭＳ Ｐゴシック" charset="0"/>
              </a:rPr>
              <a:t>The expected inflation rate is 3 percent a year.</a:t>
            </a:r>
          </a:p>
        </p:txBody>
      </p:sp>
      <p:pic>
        <p:nvPicPr>
          <p:cNvPr id="15365" name="Picture 13" descr="fig3001a.gif">
            <a:extLst>
              <a:ext uri="{FF2B5EF4-FFF2-40B4-BE49-F238E27FC236}">
                <a16:creationId xmlns:a16="http://schemas.microsoft.com/office/drawing/2014/main" id="{5D594098-AE85-17D2-F737-27C0E3E108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3001b.gif">
            <a:extLst>
              <a:ext uri="{FF2B5EF4-FFF2-40B4-BE49-F238E27FC236}">
                <a16:creationId xmlns:a16="http://schemas.microsoft.com/office/drawing/2014/main" id="{BDE4B318-80B0-ECC2-97D7-2C48930995D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3001c.gif">
            <a:extLst>
              <a:ext uri="{FF2B5EF4-FFF2-40B4-BE49-F238E27FC236}">
                <a16:creationId xmlns:a16="http://schemas.microsoft.com/office/drawing/2014/main" id="{F7E03421-2251-50E1-85BE-303C2B6EFA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3001d.gif">
            <a:extLst>
              <a:ext uri="{FF2B5EF4-FFF2-40B4-BE49-F238E27FC236}">
                <a16:creationId xmlns:a16="http://schemas.microsoft.com/office/drawing/2014/main" id="{A27BA5AB-F4EA-27DF-159F-F1E1EB00E72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1908"/>
                                        </p:tgtEl>
                                        <p:attrNameLst>
                                          <p:attrName>style.visibility</p:attrName>
                                        </p:attrNameLst>
                                      </p:cBhvr>
                                      <p:to>
                                        <p:strVal val="visible"/>
                                      </p:to>
                                    </p:set>
                                    <p:animEffect transition="in" filter="wipe(left)">
                                      <p:cBhvr>
                                        <p:cTn id="7" dur="500"/>
                                        <p:tgtEl>
                                          <p:spTgt spid="891908"/>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91917"/>
                                        </p:tgtEl>
                                        <p:attrNameLst>
                                          <p:attrName>style.visibility</p:attrName>
                                        </p:attrNameLst>
                                      </p:cBhvr>
                                      <p:to>
                                        <p:strVal val="visible"/>
                                      </p:to>
                                    </p:set>
                                    <p:animEffect transition="in" filter="wipe(left)">
                                      <p:cBhvr>
                                        <p:cTn id="16" dur="500"/>
                                        <p:tgtEl>
                                          <p:spTgt spid="891917"/>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91909"/>
                                        </p:tgtEl>
                                        <p:attrNameLst>
                                          <p:attrName>style.visibility</p:attrName>
                                        </p:attrNameLst>
                                      </p:cBhvr>
                                      <p:to>
                                        <p:strVal val="visible"/>
                                      </p:to>
                                    </p:set>
                                    <p:animEffect transition="in" filter="wipe(left)">
                                      <p:cBhvr>
                                        <p:cTn id="25" dur="500"/>
                                        <p:tgtEl>
                                          <p:spTgt spid="891909"/>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908" grpId="0" autoUpdateAnimBg="0"/>
      <p:bldP spid="891909" grpId="0" autoUpdateAnimBg="0"/>
      <p:bldP spid="891917"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082" name="Rectangle 2">
            <a:extLst>
              <a:ext uri="{FF2B5EF4-FFF2-40B4-BE49-F238E27FC236}">
                <a16:creationId xmlns:a16="http://schemas.microsoft.com/office/drawing/2014/main" id="{D62ED4C4-1C46-DCA3-8BE6-EED44B59C8F0}"/>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42084" name="Rectangle 4">
            <a:extLst>
              <a:ext uri="{FF2B5EF4-FFF2-40B4-BE49-F238E27FC236}">
                <a16:creationId xmlns:a16="http://schemas.microsoft.com/office/drawing/2014/main" id="{4356764D-5EAE-93C8-5AE5-4DFF1B0080F1}"/>
              </a:ext>
            </a:extLst>
          </p:cNvPr>
          <p:cNvSpPr>
            <a:spLocks noChangeArrowheads="1"/>
          </p:cNvSpPr>
          <p:nvPr/>
        </p:nvSpPr>
        <p:spPr bwMode="auto">
          <a:xfrm>
            <a:off x="228600" y="4419600"/>
            <a:ext cx="4572000"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98463" indent="-398463">
              <a:spcBef>
                <a:spcPct val="50000"/>
              </a:spcBef>
              <a:defRPr/>
            </a:pPr>
            <a:r>
              <a:rPr lang="en-US" sz="2400" b="1" dirty="0">
                <a:latin typeface="Arial" charset="0"/>
                <a:ea typeface="ＭＳ Ｐゴシック" charset="0"/>
              </a:rPr>
              <a:t>4.</a:t>
            </a:r>
            <a:r>
              <a:rPr lang="en-US" sz="2400" dirty="0">
                <a:latin typeface="Arial" charset="0"/>
                <a:ea typeface="ＭＳ Ｐゴシック" charset="0"/>
              </a:rPr>
              <a:t> The short-run Phillips curve passes through points </a:t>
            </a:r>
            <a:r>
              <a:rPr lang="en-US" sz="2400" i="1" dirty="0">
                <a:latin typeface="Arial" charset="0"/>
                <a:ea typeface="ＭＳ Ｐゴシック" charset="0"/>
              </a:rPr>
              <a:t>A</a:t>
            </a:r>
            <a:r>
              <a:rPr lang="en-US" sz="2400" dirty="0">
                <a:latin typeface="Arial" charset="0"/>
                <a:ea typeface="ＭＳ Ｐゴシック" charset="0"/>
              </a:rPr>
              <a:t>, </a:t>
            </a:r>
            <a:r>
              <a:rPr lang="en-US" sz="2400" i="1" dirty="0">
                <a:latin typeface="Arial" charset="0"/>
                <a:ea typeface="ＭＳ Ｐゴシック" charset="0"/>
              </a:rPr>
              <a:t>B</a:t>
            </a:r>
            <a:r>
              <a:rPr lang="en-US" sz="2400" dirty="0">
                <a:latin typeface="Arial" charset="0"/>
                <a:ea typeface="ＭＳ Ｐゴシック" charset="0"/>
              </a:rPr>
              <a:t>, and </a:t>
            </a:r>
            <a:r>
              <a:rPr lang="en-US" sz="2400" i="1" dirty="0">
                <a:latin typeface="Arial" charset="0"/>
                <a:ea typeface="ＭＳ Ｐゴシック" charset="0"/>
              </a:rPr>
              <a:t>C</a:t>
            </a:r>
            <a:r>
              <a:rPr lang="en-US" sz="2400" dirty="0">
                <a:latin typeface="Arial" charset="0"/>
                <a:ea typeface="ＭＳ Ｐゴシック" charset="0"/>
              </a:rPr>
              <a:t> and is the curve </a:t>
            </a:r>
            <a:r>
              <a:rPr lang="en-US" sz="2400" i="1" dirty="0">
                <a:latin typeface="Arial" charset="0"/>
                <a:ea typeface="ＭＳ Ｐゴシック" charset="0"/>
              </a:rPr>
              <a:t>SRPC</a:t>
            </a:r>
            <a:r>
              <a:rPr lang="en-US" sz="2400" dirty="0">
                <a:latin typeface="Arial" charset="0"/>
                <a:ea typeface="ＭＳ Ｐゴシック" charset="0"/>
              </a:rPr>
              <a:t>.</a:t>
            </a:r>
          </a:p>
        </p:txBody>
      </p:sp>
      <p:sp>
        <p:nvSpPr>
          <p:cNvPr id="942092" name="Rectangle 12">
            <a:extLst>
              <a:ext uri="{FF2B5EF4-FFF2-40B4-BE49-F238E27FC236}">
                <a16:creationId xmlns:a16="http://schemas.microsoft.com/office/drawing/2014/main" id="{FB9A98EA-3507-8821-4EFC-5F720D1F61FE}"/>
              </a:ext>
            </a:extLst>
          </p:cNvPr>
          <p:cNvSpPr>
            <a:spLocks noChangeArrowheads="1"/>
          </p:cNvSpPr>
          <p:nvPr/>
        </p:nvSpPr>
        <p:spPr bwMode="auto">
          <a:xfrm>
            <a:off x="533400" y="1905000"/>
            <a:ext cx="41910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A lower unemployment rate brings a higher inflation rate, such as at point </a:t>
            </a:r>
            <a:r>
              <a:rPr lang="en-US" sz="2400" i="1" dirty="0">
                <a:latin typeface="Arial" charset="0"/>
                <a:ea typeface="ＭＳ Ｐゴシック" charset="0"/>
              </a:rPr>
              <a:t>A</a:t>
            </a:r>
            <a:r>
              <a:rPr lang="en-US" sz="2400" dirty="0">
                <a:latin typeface="Arial" charset="0"/>
                <a:ea typeface="ＭＳ Ｐゴシック" charset="0"/>
              </a:rPr>
              <a:t>.</a:t>
            </a:r>
          </a:p>
        </p:txBody>
      </p:sp>
      <p:sp>
        <p:nvSpPr>
          <p:cNvPr id="942093" name="Rectangle 13">
            <a:extLst>
              <a:ext uri="{FF2B5EF4-FFF2-40B4-BE49-F238E27FC236}">
                <a16:creationId xmlns:a16="http://schemas.microsoft.com/office/drawing/2014/main" id="{C4028C99-BE43-31C4-2097-07853AE18045}"/>
              </a:ext>
            </a:extLst>
          </p:cNvPr>
          <p:cNvSpPr>
            <a:spLocks noChangeArrowheads="1"/>
          </p:cNvSpPr>
          <p:nvPr/>
        </p:nvSpPr>
        <p:spPr bwMode="auto">
          <a:xfrm>
            <a:off x="533400" y="3124200"/>
            <a:ext cx="41910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A higher unemployment rate brings a lower inflation rate, such as at point </a:t>
            </a:r>
            <a:r>
              <a:rPr lang="en-US" sz="2400" i="1" dirty="0">
                <a:latin typeface="Arial" charset="0"/>
                <a:ea typeface="ＭＳ Ｐゴシック" charset="0"/>
              </a:rPr>
              <a:t>C</a:t>
            </a:r>
            <a:r>
              <a:rPr lang="en-US" sz="2400" dirty="0">
                <a:latin typeface="Arial" charset="0"/>
                <a:ea typeface="ＭＳ Ｐゴシック" charset="0"/>
              </a:rPr>
              <a:t>.</a:t>
            </a:r>
          </a:p>
        </p:txBody>
      </p:sp>
      <p:pic>
        <p:nvPicPr>
          <p:cNvPr id="19461" name="Picture 13" descr="fig3001a.gif">
            <a:extLst>
              <a:ext uri="{FF2B5EF4-FFF2-40B4-BE49-F238E27FC236}">
                <a16:creationId xmlns:a16="http://schemas.microsoft.com/office/drawing/2014/main" id="{E03DC2E7-BB8D-669C-4A11-1D40A614E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14" descr="fig3001b.gif">
            <a:extLst>
              <a:ext uri="{FF2B5EF4-FFF2-40B4-BE49-F238E27FC236}">
                <a16:creationId xmlns:a16="http://schemas.microsoft.com/office/drawing/2014/main" id="{0DA6C4FB-FB5E-8CFC-834B-A2381FC7285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15" descr="fig3001c.gif">
            <a:extLst>
              <a:ext uri="{FF2B5EF4-FFF2-40B4-BE49-F238E27FC236}">
                <a16:creationId xmlns:a16="http://schemas.microsoft.com/office/drawing/2014/main" id="{70724ED5-2032-E1F9-7EF1-4F50FC0F634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16" descr="fig3001d.gif">
            <a:extLst>
              <a:ext uri="{FF2B5EF4-FFF2-40B4-BE49-F238E27FC236}">
                <a16:creationId xmlns:a16="http://schemas.microsoft.com/office/drawing/2014/main" id="{F1E36BDA-805D-6373-208F-19371F6FBF2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3001e.gif">
            <a:extLst>
              <a:ext uri="{FF2B5EF4-FFF2-40B4-BE49-F238E27FC236}">
                <a16:creationId xmlns:a16="http://schemas.microsoft.com/office/drawing/2014/main" id="{FEC660CF-18B6-8132-1BE1-41FF6BA3AB8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descr="fig3001f.gif">
            <a:extLst>
              <a:ext uri="{FF2B5EF4-FFF2-40B4-BE49-F238E27FC236}">
                <a16:creationId xmlns:a16="http://schemas.microsoft.com/office/drawing/2014/main" id="{AABE58BD-0E52-850E-6925-FCF0B54B05A5}"/>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9" descr="fig3001g.gif">
            <a:extLst>
              <a:ext uri="{FF2B5EF4-FFF2-40B4-BE49-F238E27FC236}">
                <a16:creationId xmlns:a16="http://schemas.microsoft.com/office/drawing/2014/main" id="{9DBB0855-BCB8-DBC2-62C9-F089CBCA469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1905000"/>
            <a:ext cx="4325938"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10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093"/>
                                        </p:tgtEl>
                                        <p:attrNameLst>
                                          <p:attrName>style.visibility</p:attrName>
                                        </p:attrNameLst>
                                      </p:cBhvr>
                                      <p:to>
                                        <p:strVal val="visible"/>
                                      </p:to>
                                    </p:set>
                                    <p:animEffect transition="in" filter="wipe(left)">
                                      <p:cBhvr>
                                        <p:cTn id="12" dur="500"/>
                                        <p:tgtEl>
                                          <p:spTgt spid="942093"/>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1000"/>
                                        <p:tgtEl>
                                          <p:spTgt spid="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2084"/>
                                        </p:tgtEl>
                                        <p:attrNameLst>
                                          <p:attrName>style.visibility</p:attrName>
                                        </p:attrNameLst>
                                      </p:cBhvr>
                                      <p:to>
                                        <p:strVal val="visible"/>
                                      </p:to>
                                    </p:set>
                                    <p:animEffect transition="in" filter="wipe(left)">
                                      <p:cBhvr>
                                        <p:cTn id="21" dur="500"/>
                                        <p:tgtEl>
                                          <p:spTgt spid="942084"/>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up)">
                                      <p:cBhvr>
                                        <p:cTn id="25"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084" grpId="0" autoUpdateAnimBg="0"/>
      <p:bldP spid="94209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2932" name="Rectangle 4">
            <a:extLst>
              <a:ext uri="{FF2B5EF4-FFF2-40B4-BE49-F238E27FC236}">
                <a16:creationId xmlns:a16="http://schemas.microsoft.com/office/drawing/2014/main" id="{0A90FDA0-8D33-3188-3E12-5AA932C81591}"/>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2933" name="Rectangle 5">
            <a:extLst>
              <a:ext uri="{FF2B5EF4-FFF2-40B4-BE49-F238E27FC236}">
                <a16:creationId xmlns:a16="http://schemas.microsoft.com/office/drawing/2014/main" id="{13A9EC74-9853-CB95-C819-0220E6AF645A}"/>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Aggregate Supply and the Short-Run Phillips Curve</a:t>
            </a:r>
          </a:p>
          <a:p>
            <a:pPr lvl="1" eaLnBrk="1" hangingPunct="1">
              <a:defRPr/>
            </a:pPr>
            <a:r>
              <a:rPr lang="en-US" dirty="0"/>
              <a:t>The </a:t>
            </a:r>
            <a:r>
              <a:rPr lang="en-US" i="1" dirty="0"/>
              <a:t>AS-AD</a:t>
            </a:r>
            <a:r>
              <a:rPr lang="en-US" dirty="0"/>
              <a:t> model explains the negative relationship between unemployment and inflation along the short-run Phillips curve. </a:t>
            </a:r>
          </a:p>
          <a:p>
            <a:pPr lvl="1" eaLnBrk="1" hangingPunct="1">
              <a:defRPr/>
            </a:pPr>
            <a:r>
              <a:rPr lang="en-US" dirty="0"/>
              <a:t>The short-run Phillips curve is another way of looking at the upward-sloping aggregate supply curve. </a:t>
            </a:r>
          </a:p>
          <a:p>
            <a:pPr lvl="1" eaLnBrk="1" hangingPunct="1">
              <a:defRPr/>
            </a:pPr>
            <a:r>
              <a:rPr lang="en-US" dirty="0"/>
              <a:t>Both curves arise because the money wage rate is fixed in the short run.</a:t>
            </a:r>
            <a:endParaRPr lang="en-CA"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2933">
                                            <p:txEl>
                                              <p:pRg st="1" end="1"/>
                                            </p:txEl>
                                          </p:spTgt>
                                        </p:tgtEl>
                                        <p:attrNameLst>
                                          <p:attrName>style.visibility</p:attrName>
                                        </p:attrNameLst>
                                      </p:cBhvr>
                                      <p:to>
                                        <p:strVal val="visible"/>
                                      </p:to>
                                    </p:set>
                                    <p:animEffect transition="in" filter="wipe(left)">
                                      <p:cBhvr>
                                        <p:cTn id="7" dur="500"/>
                                        <p:tgtEl>
                                          <p:spTgt spid="89293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2933">
                                            <p:txEl>
                                              <p:pRg st="2" end="2"/>
                                            </p:txEl>
                                          </p:spTgt>
                                        </p:tgtEl>
                                        <p:attrNameLst>
                                          <p:attrName>style.visibility</p:attrName>
                                        </p:attrNameLst>
                                      </p:cBhvr>
                                      <p:to>
                                        <p:strVal val="visible"/>
                                      </p:to>
                                    </p:set>
                                    <p:animEffect transition="in" filter="wipe(left)">
                                      <p:cBhvr>
                                        <p:cTn id="12" dur="500"/>
                                        <p:tgtEl>
                                          <p:spTgt spid="89293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2933">
                                            <p:txEl>
                                              <p:pRg st="3" end="3"/>
                                            </p:txEl>
                                          </p:spTgt>
                                        </p:tgtEl>
                                        <p:attrNameLst>
                                          <p:attrName>style.visibility</p:attrName>
                                        </p:attrNameLst>
                                      </p:cBhvr>
                                      <p:to>
                                        <p:strVal val="visible"/>
                                      </p:to>
                                    </p:set>
                                    <p:animEffect transition="in" filter="wipe(left)">
                                      <p:cBhvr>
                                        <p:cTn id="17" dur="500"/>
                                        <p:tgtEl>
                                          <p:spTgt spid="8929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3" grpId="0" build="p" bldLvl="3"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4978" name="Rectangle 2">
            <a:extLst>
              <a:ext uri="{FF2B5EF4-FFF2-40B4-BE49-F238E27FC236}">
                <a16:creationId xmlns:a16="http://schemas.microsoft.com/office/drawing/2014/main" id="{0039FD93-A60C-3499-1BBA-1E57E931D234}"/>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4979" name="Rectangle 3">
            <a:extLst>
              <a:ext uri="{FF2B5EF4-FFF2-40B4-BE49-F238E27FC236}">
                <a16:creationId xmlns:a16="http://schemas.microsoft.com/office/drawing/2014/main" id="{66952EE4-BA63-E585-39FB-9B409DD0BC62}"/>
              </a:ext>
            </a:extLst>
          </p:cNvPr>
          <p:cNvSpPr>
            <a:spLocks noGrp="1" noChangeArrowheads="1"/>
          </p:cNvSpPr>
          <p:nvPr>
            <p:ph type="body" idx="1"/>
          </p:nvPr>
        </p:nvSpPr>
        <p:spPr/>
        <p:txBody>
          <a:bodyPr/>
          <a:lstStyle/>
          <a:p>
            <a:pPr marL="460375" lvl="1" indent="-3175" eaLnBrk="1" hangingPunct="1">
              <a:defRPr/>
            </a:pPr>
            <a:r>
              <a:rPr lang="en-US"/>
              <a:t>Along the aggregate supply curve, the money wage rate is fixed. So when the price level rises, the real wage rate falls.</a:t>
            </a:r>
          </a:p>
          <a:p>
            <a:pPr marL="460375" lvl="1" indent="-3175" eaLnBrk="1" hangingPunct="1">
              <a:defRPr/>
            </a:pPr>
            <a:r>
              <a:rPr lang="en-US"/>
              <a:t>And the quantity of labor employed increases.</a:t>
            </a:r>
          </a:p>
          <a:p>
            <a:pPr marL="460375" lvl="1" indent="-3175" eaLnBrk="1" hangingPunct="1">
              <a:defRPr/>
            </a:pPr>
            <a:r>
              <a:rPr lang="en-US"/>
              <a:t>Along the short-run Phillips curve, the rise in the price level means an increase in inflation.</a:t>
            </a:r>
          </a:p>
          <a:p>
            <a:pPr marL="460375" lvl="1" indent="-3175" eaLnBrk="1" hangingPunct="1">
              <a:defRPr/>
            </a:pPr>
            <a:r>
              <a:rPr lang="en-US"/>
              <a:t>The increase in quantity of labor employed means a decrease in the number unemployed and a decrease in the unemployment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4979">
                                            <p:txEl>
                                              <p:pRg st="1" end="1"/>
                                            </p:txEl>
                                          </p:spTgt>
                                        </p:tgtEl>
                                        <p:attrNameLst>
                                          <p:attrName>style.visibility</p:attrName>
                                        </p:attrNameLst>
                                      </p:cBhvr>
                                      <p:to>
                                        <p:strVal val="visible"/>
                                      </p:to>
                                    </p:set>
                                    <p:animEffect transition="in" filter="wipe(left)">
                                      <p:cBhvr>
                                        <p:cTn id="7" dur="500"/>
                                        <p:tgtEl>
                                          <p:spTgt spid="8949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4979">
                                            <p:txEl>
                                              <p:pRg st="2" end="2"/>
                                            </p:txEl>
                                          </p:spTgt>
                                        </p:tgtEl>
                                        <p:attrNameLst>
                                          <p:attrName>style.visibility</p:attrName>
                                        </p:attrNameLst>
                                      </p:cBhvr>
                                      <p:to>
                                        <p:strVal val="visible"/>
                                      </p:to>
                                    </p:set>
                                    <p:animEffect transition="in" filter="wipe(left)">
                                      <p:cBhvr>
                                        <p:cTn id="12" dur="500"/>
                                        <p:tgtEl>
                                          <p:spTgt spid="89497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4979">
                                            <p:txEl>
                                              <p:pRg st="3" end="3"/>
                                            </p:txEl>
                                          </p:spTgt>
                                        </p:tgtEl>
                                        <p:attrNameLst>
                                          <p:attrName>style.visibility</p:attrName>
                                        </p:attrNameLst>
                                      </p:cBhvr>
                                      <p:to>
                                        <p:strVal val="visible"/>
                                      </p:to>
                                    </p:set>
                                    <p:animEffect transition="in" filter="wipe(left)">
                                      <p:cBhvr>
                                        <p:cTn id="17" dur="500"/>
                                        <p:tgtEl>
                                          <p:spTgt spid="894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4979" grpId="0" build="p" bldLvl="3"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6002" name="Rectangle 2">
            <a:extLst>
              <a:ext uri="{FF2B5EF4-FFF2-40B4-BE49-F238E27FC236}">
                <a16:creationId xmlns:a16="http://schemas.microsoft.com/office/drawing/2014/main" id="{BBC43F07-010D-2813-F497-C3DEE5C36FF6}"/>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6003" name="Rectangle 3">
            <a:extLst>
              <a:ext uri="{FF2B5EF4-FFF2-40B4-BE49-F238E27FC236}">
                <a16:creationId xmlns:a16="http://schemas.microsoft.com/office/drawing/2014/main" id="{57C5DEB9-9565-6C05-FC6E-1FD4177FFD72}"/>
              </a:ext>
            </a:extLst>
          </p:cNvPr>
          <p:cNvSpPr>
            <a:spLocks noGrp="1" noChangeArrowheads="1"/>
          </p:cNvSpPr>
          <p:nvPr>
            <p:ph type="body" idx="1"/>
          </p:nvPr>
        </p:nvSpPr>
        <p:spPr>
          <a:xfrm>
            <a:off x="342900" y="1417638"/>
            <a:ext cx="8458200" cy="4289425"/>
          </a:xfrm>
        </p:spPr>
        <p:txBody>
          <a:bodyPr/>
          <a:lstStyle/>
          <a:p>
            <a:pPr marL="460375" lvl="1" indent="-3175" eaLnBrk="1" hangingPunct="1">
              <a:defRPr/>
            </a:pPr>
            <a:r>
              <a:rPr lang="en-US" dirty="0"/>
              <a:t>So a movement along the </a:t>
            </a:r>
            <a:r>
              <a:rPr lang="en-US" i="1" dirty="0"/>
              <a:t>AS</a:t>
            </a:r>
            <a:r>
              <a:rPr lang="en-US" dirty="0"/>
              <a:t> curve is equivalent to a movement along the short-run Phillips curve.</a:t>
            </a:r>
          </a:p>
          <a:p>
            <a:pPr marL="460375" lvl="1" indent="-3175" eaLnBrk="1" hangingPunct="1">
              <a:defRPr/>
            </a:pPr>
            <a:r>
              <a:rPr lang="en-US" b="1" dirty="0">
                <a:solidFill>
                  <a:srgbClr val="00468F"/>
                </a:solidFill>
              </a:rPr>
              <a:t>Unemployment and Real GDP</a:t>
            </a:r>
          </a:p>
          <a:p>
            <a:pPr marL="460375" lvl="1" indent="-3175" eaLnBrk="1" hangingPunct="1">
              <a:defRPr/>
            </a:pPr>
            <a:r>
              <a:rPr lang="en-US" dirty="0"/>
              <a:t>At full employment, the quantity of real GDP is </a:t>
            </a:r>
            <a:r>
              <a:rPr lang="en-US" i="1" dirty="0"/>
              <a:t>potential GDP </a:t>
            </a:r>
            <a:r>
              <a:rPr lang="en-US" dirty="0"/>
              <a:t>and the unemployment rate is the natural unemployment rate. </a:t>
            </a:r>
          </a:p>
          <a:p>
            <a:pPr marL="460375" lvl="1" indent="-3175" eaLnBrk="1" hangingPunct="1">
              <a:defRPr/>
            </a:pPr>
            <a:r>
              <a:rPr lang="en-US" dirty="0"/>
              <a:t>If real GDP exceeds potential GDP, employment exceeds its full-employment level and the unemployment rate falls below the natural  unemployment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6003">
                                            <p:txEl>
                                              <p:pRg st="1" end="1"/>
                                            </p:txEl>
                                          </p:spTgt>
                                        </p:tgtEl>
                                        <p:attrNameLst>
                                          <p:attrName>style.visibility</p:attrName>
                                        </p:attrNameLst>
                                      </p:cBhvr>
                                      <p:to>
                                        <p:strVal val="visible"/>
                                      </p:to>
                                    </p:set>
                                    <p:animEffect transition="in" filter="wipe(left)">
                                      <p:cBhvr>
                                        <p:cTn id="7" dur="500"/>
                                        <p:tgtEl>
                                          <p:spTgt spid="8960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6003">
                                            <p:txEl>
                                              <p:pRg st="2" end="2"/>
                                            </p:txEl>
                                          </p:spTgt>
                                        </p:tgtEl>
                                        <p:attrNameLst>
                                          <p:attrName>style.visibility</p:attrName>
                                        </p:attrNameLst>
                                      </p:cBhvr>
                                      <p:to>
                                        <p:strVal val="visible"/>
                                      </p:to>
                                    </p:set>
                                    <p:animEffect transition="in" filter="wipe(left)">
                                      <p:cBhvr>
                                        <p:cTn id="12" dur="500"/>
                                        <p:tgtEl>
                                          <p:spTgt spid="8960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6003">
                                            <p:txEl>
                                              <p:pRg st="3" end="3"/>
                                            </p:txEl>
                                          </p:spTgt>
                                        </p:tgtEl>
                                        <p:attrNameLst>
                                          <p:attrName>style.visibility</p:attrName>
                                        </p:attrNameLst>
                                      </p:cBhvr>
                                      <p:to>
                                        <p:strVal val="visible"/>
                                      </p:to>
                                    </p:set>
                                    <p:animEffect transition="in" filter="wipe(left)">
                                      <p:cBhvr>
                                        <p:cTn id="17" dur="500"/>
                                        <p:tgtEl>
                                          <p:spTgt spid="8960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6003" grpId="0" build="p" bldLvl="3"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7026" name="Rectangle 2">
            <a:extLst>
              <a:ext uri="{FF2B5EF4-FFF2-40B4-BE49-F238E27FC236}">
                <a16:creationId xmlns:a16="http://schemas.microsoft.com/office/drawing/2014/main" id="{06A57D7D-38B4-9FB1-B023-C76D5D6F57DD}"/>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7027" name="Rectangle 3">
            <a:extLst>
              <a:ext uri="{FF2B5EF4-FFF2-40B4-BE49-F238E27FC236}">
                <a16:creationId xmlns:a16="http://schemas.microsoft.com/office/drawing/2014/main" id="{48837E64-FD91-1EA7-CD3F-4C49C4666A03}"/>
              </a:ext>
            </a:extLst>
          </p:cNvPr>
          <p:cNvSpPr>
            <a:spLocks noGrp="1" noChangeArrowheads="1"/>
          </p:cNvSpPr>
          <p:nvPr>
            <p:ph type="body" idx="1"/>
          </p:nvPr>
        </p:nvSpPr>
        <p:spPr>
          <a:xfrm>
            <a:off x="236711" y="1455852"/>
            <a:ext cx="8534400" cy="1447800"/>
          </a:xfrm>
        </p:spPr>
        <p:txBody>
          <a:bodyPr/>
          <a:lstStyle/>
          <a:p>
            <a:pPr marL="117475" lvl="1" indent="-3175" eaLnBrk="1" hangingPunct="1">
              <a:defRPr/>
            </a:pPr>
            <a:r>
              <a:rPr lang="en-US" dirty="0"/>
              <a:t>Similarly, if real GDP is less than potential GDP, employment is less than its full employment level and the unemployment rate rises above the natural unemployment rate.</a:t>
            </a:r>
            <a:endParaRPr lang="en-US" b="1" dirty="0">
              <a:solidFill>
                <a:srgbClr val="1566B0"/>
              </a:solidFill>
            </a:endParaRPr>
          </a:p>
        </p:txBody>
      </p:sp>
      <p:sp>
        <p:nvSpPr>
          <p:cNvPr id="897029" name="Text Box 5">
            <a:extLst>
              <a:ext uri="{FF2B5EF4-FFF2-40B4-BE49-F238E27FC236}">
                <a16:creationId xmlns:a16="http://schemas.microsoft.com/office/drawing/2014/main" id="{AA81DD7A-1D0A-E85D-4451-7949DD8DABCA}"/>
              </a:ext>
            </a:extLst>
          </p:cNvPr>
          <p:cNvSpPr txBox="1">
            <a:spLocks noChangeArrowheads="1"/>
          </p:cNvSpPr>
          <p:nvPr/>
        </p:nvSpPr>
        <p:spPr bwMode="auto">
          <a:xfrm>
            <a:off x="304800" y="3276600"/>
            <a:ext cx="4724400" cy="3435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1143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1" eaLnBrk="1" hangingPunct="1">
              <a:lnSpc>
                <a:spcPct val="105000"/>
              </a:lnSpc>
              <a:spcBef>
                <a:spcPct val="50000"/>
              </a:spcBef>
            </a:pPr>
            <a:r>
              <a:rPr lang="en-US" altLang="en-TW" sz="2600" b="1" dirty="0">
                <a:solidFill>
                  <a:srgbClr val="FF0000"/>
                </a:solidFill>
              </a:rPr>
              <a:t>Okun</a:t>
            </a:r>
            <a:r>
              <a:rPr lang="en-US" altLang="en-US" sz="2600" b="1" dirty="0">
                <a:solidFill>
                  <a:srgbClr val="FF0000"/>
                </a:solidFill>
              </a:rPr>
              <a:t>’</a:t>
            </a:r>
            <a:r>
              <a:rPr lang="en-US" altLang="en-TW" sz="2600" b="1" dirty="0">
                <a:solidFill>
                  <a:srgbClr val="FF0000"/>
                </a:solidFill>
              </a:rPr>
              <a:t>s Law</a:t>
            </a:r>
          </a:p>
          <a:p>
            <a:pPr lvl="1" eaLnBrk="1" hangingPunct="1">
              <a:lnSpc>
                <a:spcPct val="105000"/>
              </a:lnSpc>
              <a:spcBef>
                <a:spcPct val="20000"/>
              </a:spcBef>
            </a:pPr>
            <a:r>
              <a:rPr lang="en-US" altLang="en-TW" dirty="0">
                <a:solidFill>
                  <a:srgbClr val="000000"/>
                </a:solidFill>
              </a:rPr>
              <a:t>For each percentage point that the unemployment rate is above the natural unemployment rate, there is a 2 percent gap between real GDP and potential GDP.</a:t>
            </a:r>
          </a:p>
          <a:p>
            <a:pPr eaLnBrk="1" hangingPunct="1">
              <a:spcBef>
                <a:spcPct val="50000"/>
              </a:spcBef>
            </a:pPr>
            <a:endParaRPr lang="en-US" altLang="en-TW" dirty="0"/>
          </a:p>
        </p:txBody>
      </p:sp>
      <p:pic>
        <p:nvPicPr>
          <p:cNvPr id="27652" name="Picture 6" descr="tab3101.gif">
            <a:extLst>
              <a:ext uri="{FF2B5EF4-FFF2-40B4-BE49-F238E27FC236}">
                <a16:creationId xmlns:a16="http://schemas.microsoft.com/office/drawing/2014/main" id="{72F5EC85-4303-352A-AE8D-679B977A85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3935413"/>
            <a:ext cx="3157538" cy="200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7029"/>
                                        </p:tgtEl>
                                        <p:attrNameLst>
                                          <p:attrName>style.visibility</p:attrName>
                                        </p:attrNameLst>
                                      </p:cBhvr>
                                      <p:to>
                                        <p:strVal val="visible"/>
                                      </p:to>
                                    </p:set>
                                    <p:animEffect transition="in" filter="wipe(left)">
                                      <p:cBhvr>
                                        <p:cTn id="7" dur="500"/>
                                        <p:tgtEl>
                                          <p:spTgt spid="897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029"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9077" name="Rectangle 5">
            <a:extLst>
              <a:ext uri="{FF2B5EF4-FFF2-40B4-BE49-F238E27FC236}">
                <a16:creationId xmlns:a16="http://schemas.microsoft.com/office/drawing/2014/main" id="{05A4F91A-B620-8277-AA23-0FD504288EF4}"/>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899078" name="Rectangle 6">
            <a:extLst>
              <a:ext uri="{FF2B5EF4-FFF2-40B4-BE49-F238E27FC236}">
                <a16:creationId xmlns:a16="http://schemas.microsoft.com/office/drawing/2014/main" id="{84EAE485-1898-AA25-0222-4CB08F90FD00}"/>
              </a:ext>
            </a:extLst>
          </p:cNvPr>
          <p:cNvSpPr>
            <a:spLocks noGrp="1" noChangeArrowheads="1"/>
          </p:cNvSpPr>
          <p:nvPr>
            <p:ph type="body" idx="1"/>
          </p:nvPr>
        </p:nvSpPr>
        <p:spPr/>
        <p:txBody>
          <a:bodyPr/>
          <a:lstStyle/>
          <a:p>
            <a:pPr lvl="1" eaLnBrk="1" hangingPunct="1"/>
            <a:r>
              <a:rPr lang="en-US" altLang="en-TW" b="1">
                <a:solidFill>
                  <a:srgbClr val="00468F"/>
                </a:solidFill>
              </a:rPr>
              <a:t>Inflation and the Price Level</a:t>
            </a:r>
          </a:p>
          <a:p>
            <a:pPr lvl="1" eaLnBrk="1" hangingPunct="1"/>
            <a:r>
              <a:rPr lang="en-US" altLang="en-TW"/>
              <a:t>The inflation rate is defined as the percentage change in the price level. </a:t>
            </a:r>
          </a:p>
          <a:p>
            <a:pPr lvl="1" eaLnBrk="1" hangingPunct="1"/>
            <a:r>
              <a:rPr lang="en-US" altLang="en-TW"/>
              <a:t>So starting from any given price level, the higher the inflation rate, the higher is the current period</a:t>
            </a:r>
            <a:r>
              <a:rPr lang="en-US" altLang="en-US"/>
              <a:t>’</a:t>
            </a:r>
            <a:r>
              <a:rPr lang="en-US" altLang="en-TW"/>
              <a:t>s price level.</a:t>
            </a:r>
          </a:p>
          <a:p>
            <a:pPr lvl="1" eaLnBrk="1" hangingPunct="1"/>
            <a:r>
              <a:rPr lang="en-US" altLang="en-TW"/>
              <a:t>Figure 31.2 on the next slide shows the connection between the short-run Phillips Curve and the aggregate supply curve.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9078">
                                            <p:txEl>
                                              <p:pRg st="1" end="1"/>
                                            </p:txEl>
                                          </p:spTgt>
                                        </p:tgtEl>
                                        <p:attrNameLst>
                                          <p:attrName>style.visibility</p:attrName>
                                        </p:attrNameLst>
                                      </p:cBhvr>
                                      <p:to>
                                        <p:strVal val="visible"/>
                                      </p:to>
                                    </p:set>
                                    <p:animEffect transition="in" filter="wipe(left)">
                                      <p:cBhvr>
                                        <p:cTn id="7" dur="500"/>
                                        <p:tgtEl>
                                          <p:spTgt spid="89907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9078">
                                            <p:txEl>
                                              <p:pRg st="2" end="2"/>
                                            </p:txEl>
                                          </p:spTgt>
                                        </p:tgtEl>
                                        <p:attrNameLst>
                                          <p:attrName>style.visibility</p:attrName>
                                        </p:attrNameLst>
                                      </p:cBhvr>
                                      <p:to>
                                        <p:strVal val="visible"/>
                                      </p:to>
                                    </p:set>
                                    <p:animEffect transition="in" filter="wipe(left)">
                                      <p:cBhvr>
                                        <p:cTn id="12" dur="500"/>
                                        <p:tgtEl>
                                          <p:spTgt spid="89907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99078">
                                            <p:txEl>
                                              <p:pRg st="3" end="3"/>
                                            </p:txEl>
                                          </p:spTgt>
                                        </p:tgtEl>
                                        <p:attrNameLst>
                                          <p:attrName>style.visibility</p:attrName>
                                        </p:attrNameLst>
                                      </p:cBhvr>
                                      <p:to>
                                        <p:strVal val="visible"/>
                                      </p:to>
                                    </p:set>
                                    <p:animEffect transition="in" filter="wipe(left)">
                                      <p:cBhvr>
                                        <p:cTn id="17" dur="500"/>
                                        <p:tgtEl>
                                          <p:spTgt spid="8990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078" grpId="0" build="p" bldLvl="3"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0098" name="Rectangle 2">
            <a:extLst>
              <a:ext uri="{FF2B5EF4-FFF2-40B4-BE49-F238E27FC236}">
                <a16:creationId xmlns:a16="http://schemas.microsoft.com/office/drawing/2014/main" id="{912DE942-530C-46CD-77D0-109D45C642F5}"/>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00100" name="Rectangle 4">
            <a:extLst>
              <a:ext uri="{FF2B5EF4-FFF2-40B4-BE49-F238E27FC236}">
                <a16:creationId xmlns:a16="http://schemas.microsoft.com/office/drawing/2014/main" id="{298EF245-B390-8E5D-2B77-2CE4894043D4}"/>
              </a:ext>
            </a:extLst>
          </p:cNvPr>
          <p:cNvSpPr>
            <a:spLocks noChangeArrowheads="1"/>
          </p:cNvSpPr>
          <p:nvPr/>
        </p:nvSpPr>
        <p:spPr bwMode="auto">
          <a:xfrm>
            <a:off x="228600" y="2057400"/>
            <a:ext cx="4343400"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At point </a:t>
            </a:r>
            <a:r>
              <a:rPr lang="en-US" sz="2400" i="1" dirty="0">
                <a:latin typeface="Arial" charset="0"/>
                <a:ea typeface="ＭＳ Ｐゴシック" charset="0"/>
              </a:rPr>
              <a:t>A</a:t>
            </a:r>
            <a:r>
              <a:rPr lang="en-US" sz="2400" dirty="0">
                <a:latin typeface="Arial" charset="0"/>
                <a:ea typeface="ＭＳ Ｐゴシック" charset="0"/>
              </a:rPr>
              <a:t> on the Phillips curve: The unemployment rate is 5 percent and the inflation rate is 4 percent a year.</a:t>
            </a:r>
          </a:p>
        </p:txBody>
      </p:sp>
      <p:sp>
        <p:nvSpPr>
          <p:cNvPr id="900114" name="Rectangle 18">
            <a:extLst>
              <a:ext uri="{FF2B5EF4-FFF2-40B4-BE49-F238E27FC236}">
                <a16:creationId xmlns:a16="http://schemas.microsoft.com/office/drawing/2014/main" id="{FC0DA5A9-751E-CAEA-22B7-5AEF7FAA99B6}"/>
              </a:ext>
            </a:extLst>
          </p:cNvPr>
          <p:cNvSpPr>
            <a:spLocks noChangeArrowheads="1"/>
          </p:cNvSpPr>
          <p:nvPr/>
        </p:nvSpPr>
        <p:spPr bwMode="auto">
          <a:xfrm>
            <a:off x="152400" y="3886200"/>
            <a:ext cx="41910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Point A on the Phillips curve corresponds to point </a:t>
            </a:r>
            <a:r>
              <a:rPr lang="en-US" sz="2400" i="1" dirty="0">
                <a:latin typeface="Arial" charset="0"/>
                <a:ea typeface="ＭＳ Ｐゴシック" charset="0"/>
              </a:rPr>
              <a:t>A</a:t>
            </a:r>
            <a:r>
              <a:rPr lang="en-US" sz="2400" dirty="0">
                <a:latin typeface="Arial" charset="0"/>
                <a:ea typeface="ＭＳ Ｐゴシック" charset="0"/>
              </a:rPr>
              <a:t> on the aggregate supply curve: Real GDP is $10.2 trillion and the price level is 104.</a:t>
            </a:r>
          </a:p>
        </p:txBody>
      </p:sp>
      <p:pic>
        <p:nvPicPr>
          <p:cNvPr id="33796" name="Picture 12" descr="fig3002a.gif">
            <a:extLst>
              <a:ext uri="{FF2B5EF4-FFF2-40B4-BE49-F238E27FC236}">
                <a16:creationId xmlns:a16="http://schemas.microsoft.com/office/drawing/2014/main" id="{412BC851-080D-F585-DEE1-BA25091472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3002b.gif">
            <a:extLst>
              <a:ext uri="{FF2B5EF4-FFF2-40B4-BE49-F238E27FC236}">
                <a16:creationId xmlns:a16="http://schemas.microsoft.com/office/drawing/2014/main" id="{D123452D-1BA4-AB04-BBA5-D902F43A47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0114"/>
                                        </p:tgtEl>
                                        <p:attrNameLst>
                                          <p:attrName>style.visibility</p:attrName>
                                        </p:attrNameLst>
                                      </p:cBhvr>
                                      <p:to>
                                        <p:strVal val="visible"/>
                                      </p:to>
                                    </p:set>
                                    <p:animEffect transition="in" filter="wipe(left)">
                                      <p:cBhvr>
                                        <p:cTn id="7" dur="500"/>
                                        <p:tgtEl>
                                          <p:spTgt spid="900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Effect transition="in" filter="fade">
                                      <p:cBhvr>
                                        <p:cTn id="1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0114"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01122" name="Rectangle 2">
            <a:extLst>
              <a:ext uri="{FF2B5EF4-FFF2-40B4-BE49-F238E27FC236}">
                <a16:creationId xmlns:a16="http://schemas.microsoft.com/office/drawing/2014/main" id="{71B9A815-01F8-C92C-1CC1-7FD9E5B88943}"/>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01123" name="Rectangle 3">
            <a:extLst>
              <a:ext uri="{FF2B5EF4-FFF2-40B4-BE49-F238E27FC236}">
                <a16:creationId xmlns:a16="http://schemas.microsoft.com/office/drawing/2014/main" id="{E7A13F9F-350E-AAD9-C65C-946966606AED}"/>
              </a:ext>
            </a:extLst>
          </p:cNvPr>
          <p:cNvSpPr>
            <a:spLocks noGrp="1" noChangeArrowheads="1"/>
          </p:cNvSpPr>
          <p:nvPr>
            <p:ph type="body" idx="1"/>
          </p:nvPr>
        </p:nvSpPr>
        <p:spPr>
          <a:xfrm>
            <a:off x="228600" y="2133600"/>
            <a:ext cx="4343400" cy="1676400"/>
          </a:xfrm>
        </p:spPr>
        <p:txBody>
          <a:bodyPr/>
          <a:lstStyle/>
          <a:p>
            <a:pPr marL="0" indent="0" eaLnBrk="1" hangingPunct="1">
              <a:buClrTx/>
              <a:buFontTx/>
              <a:buNone/>
              <a:defRPr/>
            </a:pPr>
            <a:r>
              <a:rPr lang="en-US" sz="2400" b="0">
                <a:solidFill>
                  <a:schemeClr val="tx1"/>
                </a:solidFill>
                <a:cs typeface="+mn-cs"/>
              </a:rPr>
              <a:t>At point </a:t>
            </a:r>
            <a:r>
              <a:rPr lang="en-US" sz="2400" b="0" i="1">
                <a:solidFill>
                  <a:schemeClr val="tx1"/>
                </a:solidFill>
                <a:cs typeface="+mn-cs"/>
              </a:rPr>
              <a:t>B</a:t>
            </a:r>
            <a:r>
              <a:rPr lang="en-US" sz="2400" b="0">
                <a:solidFill>
                  <a:schemeClr val="tx1"/>
                </a:solidFill>
                <a:cs typeface="+mn-cs"/>
              </a:rPr>
              <a:t> on the Phillips curve: The unemployment rate is 6 percent and the inflation rate is 3 percent a year.</a:t>
            </a:r>
            <a:endParaRPr lang="en-CA" sz="2400" b="0">
              <a:solidFill>
                <a:schemeClr val="tx1"/>
              </a:solidFill>
              <a:cs typeface="+mn-cs"/>
            </a:endParaRPr>
          </a:p>
        </p:txBody>
      </p:sp>
      <p:sp>
        <p:nvSpPr>
          <p:cNvPr id="901135" name="Rectangle 15">
            <a:extLst>
              <a:ext uri="{FF2B5EF4-FFF2-40B4-BE49-F238E27FC236}">
                <a16:creationId xmlns:a16="http://schemas.microsoft.com/office/drawing/2014/main" id="{84326F40-0B44-2FDF-FC1E-8F071551A593}"/>
              </a:ext>
            </a:extLst>
          </p:cNvPr>
          <p:cNvSpPr>
            <a:spLocks noChangeArrowheads="1"/>
          </p:cNvSpPr>
          <p:nvPr/>
        </p:nvSpPr>
        <p:spPr bwMode="auto">
          <a:xfrm>
            <a:off x="228600" y="3886200"/>
            <a:ext cx="4191000" cy="2133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r>
              <a:rPr lang="en-US" sz="2400" dirty="0">
                <a:latin typeface="Arial" charset="0"/>
                <a:ea typeface="ＭＳ Ｐゴシック" charset="0"/>
              </a:rPr>
              <a:t>Point </a:t>
            </a:r>
            <a:r>
              <a:rPr lang="en-US" sz="2400" i="1" dirty="0">
                <a:latin typeface="Arial" charset="0"/>
                <a:ea typeface="ＭＳ Ｐゴシック" charset="0"/>
              </a:rPr>
              <a:t>B</a:t>
            </a:r>
            <a:r>
              <a:rPr lang="en-US" sz="2400" dirty="0">
                <a:latin typeface="Arial" charset="0"/>
                <a:ea typeface="ＭＳ Ｐゴシック" charset="0"/>
              </a:rPr>
              <a:t> on the Phillips curve corresponds to point </a:t>
            </a:r>
            <a:r>
              <a:rPr lang="en-US" sz="2400" i="1" dirty="0">
                <a:latin typeface="Arial" charset="0"/>
                <a:ea typeface="ＭＳ Ｐゴシック" charset="0"/>
              </a:rPr>
              <a:t>B</a:t>
            </a:r>
            <a:r>
              <a:rPr lang="en-US" sz="2400" dirty="0">
                <a:latin typeface="Arial" charset="0"/>
                <a:ea typeface="ＭＳ Ｐゴシック" charset="0"/>
              </a:rPr>
              <a:t> on the aggregate supply curve: Real GDP is $10 trillion and the price level is 103.</a:t>
            </a:r>
            <a:endParaRPr lang="en-CA" sz="2400" dirty="0">
              <a:latin typeface="Arial" charset="0"/>
              <a:ea typeface="ＭＳ Ｐゴシック" charset="0"/>
            </a:endParaRPr>
          </a:p>
        </p:txBody>
      </p:sp>
      <p:pic>
        <p:nvPicPr>
          <p:cNvPr id="37892" name="Picture 12" descr="fig3002a.gif">
            <a:extLst>
              <a:ext uri="{FF2B5EF4-FFF2-40B4-BE49-F238E27FC236}">
                <a16:creationId xmlns:a16="http://schemas.microsoft.com/office/drawing/2014/main" id="{0C4C04CF-B769-A774-28D1-1FA87447E8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13" descr="fig3002b.gif">
            <a:extLst>
              <a:ext uri="{FF2B5EF4-FFF2-40B4-BE49-F238E27FC236}">
                <a16:creationId xmlns:a16="http://schemas.microsoft.com/office/drawing/2014/main" id="{B132CF2D-A984-037C-50BB-42F3FFBE6E7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14" descr="fig3002c.gif">
            <a:extLst>
              <a:ext uri="{FF2B5EF4-FFF2-40B4-BE49-F238E27FC236}">
                <a16:creationId xmlns:a16="http://schemas.microsoft.com/office/drawing/2014/main" id="{DD186B9E-4C22-ECFE-F26A-EDE8A8AE9B0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3002d.gif">
            <a:extLst>
              <a:ext uri="{FF2B5EF4-FFF2-40B4-BE49-F238E27FC236}">
                <a16:creationId xmlns:a16="http://schemas.microsoft.com/office/drawing/2014/main" id="{D8B4388C-6667-4A1C-2F44-3AA55707BD0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01135">
                                            <p:txEl>
                                              <p:pRg st="0" end="0"/>
                                            </p:txEl>
                                          </p:spTgt>
                                        </p:tgtEl>
                                        <p:attrNameLst>
                                          <p:attrName>style.visibility</p:attrName>
                                        </p:attrNameLst>
                                      </p:cBhvr>
                                      <p:to>
                                        <p:strVal val="visible"/>
                                      </p:to>
                                    </p:set>
                                    <p:animEffect transition="in" filter="wipe(left)">
                                      <p:cBhvr>
                                        <p:cTn id="7" dur="500"/>
                                        <p:tgtEl>
                                          <p:spTgt spid="901135">
                                            <p:txEl>
                                              <p:pRg st="0" end="0"/>
                                            </p:txEl>
                                          </p:spTgt>
                                        </p:tgtEl>
                                      </p:cBhvr>
                                    </p:animEffect>
                                  </p:childTnLst>
                                </p:cTn>
                              </p:par>
                            </p:childTnLst>
                          </p:cTn>
                        </p:par>
                        <p:par>
                          <p:cTn id="8" fill="hold" nodeType="afterGroup">
                            <p:stCondLst>
                              <p:cond delay="500"/>
                            </p:stCondLst>
                            <p:childTnLst>
                              <p:par>
                                <p:cTn id="9" presetID="53"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fltVal val="0"/>
                                          </p:val>
                                        </p:tav>
                                        <p:tav tm="100000">
                                          <p:val>
                                            <p:strVal val="#ppt_w"/>
                                          </p:val>
                                        </p:tav>
                                      </p:tavLst>
                                    </p:anim>
                                    <p:anim calcmode="lin" valueType="num">
                                      <p:cBhvr>
                                        <p:cTn id="12" dur="500" fill="hold"/>
                                        <p:tgtEl>
                                          <p:spTgt spid="16"/>
                                        </p:tgtEl>
                                        <p:attrNameLst>
                                          <p:attrName>ppt_h</p:attrName>
                                        </p:attrNameLst>
                                      </p:cBhvr>
                                      <p:tavLst>
                                        <p:tav tm="0">
                                          <p:val>
                                            <p:fltVal val="0"/>
                                          </p:val>
                                        </p:tav>
                                        <p:tav tm="100000">
                                          <p:val>
                                            <p:strVal val="#ppt_h"/>
                                          </p:val>
                                        </p:tav>
                                      </p:tavLst>
                                    </p:anim>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02146" name="Rectangle 2">
            <a:extLst>
              <a:ext uri="{FF2B5EF4-FFF2-40B4-BE49-F238E27FC236}">
                <a16:creationId xmlns:a16="http://schemas.microsoft.com/office/drawing/2014/main" id="{2E5A23E1-2A01-72A8-2178-516BCB7533DB}"/>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02147" name="Rectangle 3">
            <a:extLst>
              <a:ext uri="{FF2B5EF4-FFF2-40B4-BE49-F238E27FC236}">
                <a16:creationId xmlns:a16="http://schemas.microsoft.com/office/drawing/2014/main" id="{42213E64-9C2A-422A-E373-BF586E1E3C49}"/>
              </a:ext>
            </a:extLst>
          </p:cNvPr>
          <p:cNvSpPr>
            <a:spLocks noGrp="1" noChangeArrowheads="1"/>
          </p:cNvSpPr>
          <p:nvPr>
            <p:ph type="body" idx="1"/>
          </p:nvPr>
        </p:nvSpPr>
        <p:spPr>
          <a:xfrm>
            <a:off x="304800" y="1981200"/>
            <a:ext cx="4343400" cy="1752600"/>
          </a:xfrm>
        </p:spPr>
        <p:txBody>
          <a:bodyPr/>
          <a:lstStyle/>
          <a:p>
            <a:pPr marL="0" indent="0" eaLnBrk="1" hangingPunct="1">
              <a:buClrTx/>
              <a:buFontTx/>
              <a:buNone/>
              <a:defRPr/>
            </a:pPr>
            <a:r>
              <a:rPr lang="en-US" sz="2400" b="0">
                <a:solidFill>
                  <a:schemeClr val="tx1"/>
                </a:solidFill>
                <a:cs typeface="+mn-cs"/>
              </a:rPr>
              <a:t>At point </a:t>
            </a:r>
            <a:r>
              <a:rPr lang="en-US" sz="2400" b="0" i="1">
                <a:solidFill>
                  <a:schemeClr val="tx1"/>
                </a:solidFill>
                <a:cs typeface="+mn-cs"/>
              </a:rPr>
              <a:t>C</a:t>
            </a:r>
            <a:r>
              <a:rPr lang="en-US" sz="2400" b="0">
                <a:solidFill>
                  <a:schemeClr val="tx1"/>
                </a:solidFill>
                <a:cs typeface="+mn-cs"/>
              </a:rPr>
              <a:t> on the Phillips curve: The unemployment rate is 7 percent and the inflation rate is 2 percent a year.</a:t>
            </a:r>
            <a:endParaRPr lang="en-CA" sz="2400" b="0">
              <a:solidFill>
                <a:schemeClr val="tx1"/>
              </a:solidFill>
              <a:cs typeface="+mn-cs"/>
            </a:endParaRPr>
          </a:p>
        </p:txBody>
      </p:sp>
      <p:sp>
        <p:nvSpPr>
          <p:cNvPr id="902164" name="Rectangle 20">
            <a:extLst>
              <a:ext uri="{FF2B5EF4-FFF2-40B4-BE49-F238E27FC236}">
                <a16:creationId xmlns:a16="http://schemas.microsoft.com/office/drawing/2014/main" id="{8B3748E4-FB4E-4183-70BF-A4D2660C35D1}"/>
              </a:ext>
            </a:extLst>
          </p:cNvPr>
          <p:cNvSpPr>
            <a:spLocks noChangeArrowheads="1"/>
          </p:cNvSpPr>
          <p:nvPr/>
        </p:nvSpPr>
        <p:spPr bwMode="auto">
          <a:xfrm>
            <a:off x="304800" y="3733800"/>
            <a:ext cx="4191000" cy="1905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20000"/>
              </a:spcBef>
              <a:defRPr/>
            </a:pPr>
            <a:r>
              <a:rPr lang="en-US" sz="2400" dirty="0">
                <a:latin typeface="Arial" charset="0"/>
                <a:ea typeface="ＭＳ Ｐゴシック" charset="0"/>
              </a:rPr>
              <a:t>Point </a:t>
            </a:r>
            <a:r>
              <a:rPr lang="en-US" sz="2400" i="1" dirty="0">
                <a:latin typeface="Arial" charset="0"/>
                <a:ea typeface="ＭＳ Ｐゴシック" charset="0"/>
              </a:rPr>
              <a:t>C</a:t>
            </a:r>
            <a:r>
              <a:rPr lang="en-US" sz="2400" dirty="0">
                <a:latin typeface="Arial" charset="0"/>
                <a:ea typeface="ＭＳ Ｐゴシック" charset="0"/>
              </a:rPr>
              <a:t> on the Phillips curve corresponds to point </a:t>
            </a:r>
            <a:r>
              <a:rPr lang="en-US" sz="2400" i="1" dirty="0">
                <a:latin typeface="Arial" charset="0"/>
                <a:ea typeface="ＭＳ Ｐゴシック" charset="0"/>
              </a:rPr>
              <a:t>C</a:t>
            </a:r>
            <a:r>
              <a:rPr lang="en-US" sz="2400" dirty="0">
                <a:latin typeface="Arial" charset="0"/>
                <a:ea typeface="ＭＳ Ｐゴシック" charset="0"/>
              </a:rPr>
              <a:t> on the aggregate supply curve: Real GDP is $9.8 trillion and the price level is 102.</a:t>
            </a:r>
            <a:endParaRPr lang="en-CA" sz="2400" dirty="0">
              <a:latin typeface="Arial" charset="0"/>
              <a:ea typeface="ＭＳ Ｐゴシック" charset="0"/>
            </a:endParaRPr>
          </a:p>
        </p:txBody>
      </p:sp>
      <p:pic>
        <p:nvPicPr>
          <p:cNvPr id="39940" name="Picture 12" descr="fig3002a.gif">
            <a:extLst>
              <a:ext uri="{FF2B5EF4-FFF2-40B4-BE49-F238E27FC236}">
                <a16:creationId xmlns:a16="http://schemas.microsoft.com/office/drawing/2014/main" id="{81F1AD42-8092-866A-CBC4-65E4D72D25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13" descr="fig3002b.gif">
            <a:extLst>
              <a:ext uri="{FF2B5EF4-FFF2-40B4-BE49-F238E27FC236}">
                <a16:creationId xmlns:a16="http://schemas.microsoft.com/office/drawing/2014/main" id="{CADDADD0-B08D-72D3-ED0D-36A9F155DD6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14" descr="fig3002c.gif">
            <a:extLst>
              <a:ext uri="{FF2B5EF4-FFF2-40B4-BE49-F238E27FC236}">
                <a16:creationId xmlns:a16="http://schemas.microsoft.com/office/drawing/2014/main" id="{21C1772F-F12E-8D55-F621-4BA7EF80C28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15" descr="fig3002d.gif">
            <a:extLst>
              <a:ext uri="{FF2B5EF4-FFF2-40B4-BE49-F238E27FC236}">
                <a16:creationId xmlns:a16="http://schemas.microsoft.com/office/drawing/2014/main" id="{B58D16DA-8A5B-FBA7-675F-DA5C9E6FC92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16" descr="fig3002e.gif">
            <a:extLst>
              <a:ext uri="{FF2B5EF4-FFF2-40B4-BE49-F238E27FC236}">
                <a16:creationId xmlns:a16="http://schemas.microsoft.com/office/drawing/2014/main" id="{DDC5C78C-7E19-7DB5-A53F-9DC904ED51A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fig3002f.gif">
            <a:extLst>
              <a:ext uri="{FF2B5EF4-FFF2-40B4-BE49-F238E27FC236}">
                <a16:creationId xmlns:a16="http://schemas.microsoft.com/office/drawing/2014/main" id="{71532963-B1EE-6F65-265E-616D6CEB623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1905000"/>
            <a:ext cx="41910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2164"/>
                                        </p:tgtEl>
                                        <p:attrNameLst>
                                          <p:attrName>style.visibility</p:attrName>
                                        </p:attrNameLst>
                                      </p:cBhvr>
                                      <p:to>
                                        <p:strVal val="visible"/>
                                      </p:to>
                                    </p:set>
                                    <p:animEffect transition="in" filter="wipe(left)">
                                      <p:cBhvr>
                                        <p:cTn id="7" dur="500"/>
                                        <p:tgtEl>
                                          <p:spTgt spid="902164"/>
                                        </p:tgtEl>
                                      </p:cBhvr>
                                    </p:animEffect>
                                  </p:childTnLst>
                                </p:cTn>
                              </p:par>
                            </p:childTnLst>
                          </p:cTn>
                        </p:par>
                        <p:par>
                          <p:cTn id="8" fill="hold" nodeType="afterGroup">
                            <p:stCondLst>
                              <p:cond delay="500"/>
                            </p:stCondLst>
                            <p:childTnLst>
                              <p:par>
                                <p:cTn id="9" presetID="53"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500" fill="hold"/>
                                        <p:tgtEl>
                                          <p:spTgt spid="18"/>
                                        </p:tgtEl>
                                        <p:attrNameLst>
                                          <p:attrName>ppt_w</p:attrName>
                                        </p:attrNameLst>
                                      </p:cBhvr>
                                      <p:tavLst>
                                        <p:tav tm="0">
                                          <p:val>
                                            <p:fltVal val="0"/>
                                          </p:val>
                                        </p:tav>
                                        <p:tav tm="100000">
                                          <p:val>
                                            <p:strVal val="#ppt_w"/>
                                          </p:val>
                                        </p:tav>
                                      </p:tavLst>
                                    </p:anim>
                                    <p:anim calcmode="lin" valueType="num">
                                      <p:cBhvr>
                                        <p:cTn id="12" dur="500" fill="hold"/>
                                        <p:tgtEl>
                                          <p:spTgt spid="18"/>
                                        </p:tgtEl>
                                        <p:attrNameLst>
                                          <p:attrName>ppt_h</p:attrName>
                                        </p:attrNameLst>
                                      </p:cBhvr>
                                      <p:tavLst>
                                        <p:tav tm="0">
                                          <p:val>
                                            <p:fltVal val="0"/>
                                          </p:val>
                                        </p:tav>
                                        <p:tav tm="100000">
                                          <p:val>
                                            <p:strVal val="#ppt_h"/>
                                          </p:val>
                                        </p:tav>
                                      </p:tavLst>
                                    </p:anim>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2164" grpId="0"/>
    </p:bldLst>
  </p:timing>
</p:sld>
</file>

<file path=ppt/slides/slide7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03170" name="Rectangle 2">
            <a:extLst>
              <a:ext uri="{FF2B5EF4-FFF2-40B4-BE49-F238E27FC236}">
                <a16:creationId xmlns:a16="http://schemas.microsoft.com/office/drawing/2014/main" id="{5DE0A85A-E16F-B009-709C-71644844C87C}"/>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03171" name="Rectangle 3">
            <a:extLst>
              <a:ext uri="{FF2B5EF4-FFF2-40B4-BE49-F238E27FC236}">
                <a16:creationId xmlns:a16="http://schemas.microsoft.com/office/drawing/2014/main" id="{553BAFA6-D81D-6EFC-A9E9-2FA14FCDAFDF}"/>
              </a:ext>
            </a:extLst>
          </p:cNvPr>
          <p:cNvSpPr>
            <a:spLocks noGrp="1" noChangeArrowheads="1"/>
          </p:cNvSpPr>
          <p:nvPr>
            <p:ph type="body" idx="1"/>
          </p:nvPr>
        </p:nvSpPr>
        <p:spPr/>
        <p:txBody>
          <a:bodyPr/>
          <a:lstStyle/>
          <a:p>
            <a:pPr marL="460375" lvl="1" indent="-3175" eaLnBrk="1" hangingPunct="1">
              <a:defRPr/>
            </a:pPr>
            <a:r>
              <a:rPr lang="en-US" b="1">
                <a:solidFill>
                  <a:srgbClr val="00468F"/>
                </a:solidFill>
              </a:rPr>
              <a:t>Aggregate Demand Fluctuations</a:t>
            </a:r>
          </a:p>
          <a:p>
            <a:pPr marL="460375" lvl="1" indent="-3175" eaLnBrk="1" hangingPunct="1">
              <a:defRPr/>
            </a:pPr>
            <a:r>
              <a:rPr lang="en-US"/>
              <a:t>Aggregate demand fluctuations bring movements along the aggregate supply curve and equivalent movements along the short-run Phillips curve.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3171">
                                            <p:txEl>
                                              <p:pRg st="1" end="1"/>
                                            </p:txEl>
                                          </p:spTgt>
                                        </p:tgtEl>
                                        <p:attrNameLst>
                                          <p:attrName>style.visibility</p:attrName>
                                        </p:attrNameLst>
                                      </p:cBhvr>
                                      <p:to>
                                        <p:strVal val="visible"/>
                                      </p:to>
                                    </p:set>
                                    <p:animEffect transition="in" filter="wipe(left)">
                                      <p:cBhvr>
                                        <p:cTn id="7" dur="500"/>
                                        <p:tgtEl>
                                          <p:spTgt spid="9031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171" grpId="0" build="p" bldLvl="3"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09314" name="Rectangle 2">
            <a:extLst>
              <a:ext uri="{FF2B5EF4-FFF2-40B4-BE49-F238E27FC236}">
                <a16:creationId xmlns:a16="http://schemas.microsoft.com/office/drawing/2014/main" id="{05972ABF-0351-A38F-0E7A-0E586C0417B3}"/>
              </a:ext>
            </a:extLst>
          </p:cNvPr>
          <p:cNvSpPr>
            <a:spLocks noGrp="1" noChangeArrowheads="1"/>
          </p:cNvSpPr>
          <p:nvPr>
            <p:ph type="title"/>
          </p:nvPr>
        </p:nvSpPr>
        <p:spPr/>
        <p:txBody>
          <a:bodyPr/>
          <a:lstStyle/>
          <a:p>
            <a:pPr eaLnBrk="1" hangingPunct="1">
              <a:defRPr/>
            </a:pPr>
            <a:r>
              <a:rPr lang="en-US" dirty="0">
                <a:cs typeface="+mj-cs"/>
              </a:rPr>
              <a:t>THE SHORT-RUN PHILLIPS CURVE</a:t>
            </a:r>
            <a:endParaRPr lang="en-CA" dirty="0">
              <a:cs typeface="+mj-cs"/>
            </a:endParaRPr>
          </a:p>
        </p:txBody>
      </p:sp>
      <p:sp>
        <p:nvSpPr>
          <p:cNvPr id="909315" name="Rectangle 3">
            <a:extLst>
              <a:ext uri="{FF2B5EF4-FFF2-40B4-BE49-F238E27FC236}">
                <a16:creationId xmlns:a16="http://schemas.microsoft.com/office/drawing/2014/main" id="{FDCB9AE9-3C1D-AE9F-BAA0-BA1BFD7649D5}"/>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Why Bother with the Phillips Curve?</a:t>
            </a:r>
          </a:p>
          <a:p>
            <a:pPr marL="460375" lvl="1" indent="-3175" eaLnBrk="1" hangingPunct="1">
              <a:defRPr/>
            </a:pPr>
            <a:r>
              <a:rPr lang="en-US" dirty="0"/>
              <a:t>First, the Phillips curve focuses directly on two policy targets: the inflation rate and the unemployment rate. </a:t>
            </a:r>
          </a:p>
          <a:p>
            <a:pPr marL="460375" lvl="1" indent="-3175" eaLnBrk="1" hangingPunct="1">
              <a:defRPr/>
            </a:pPr>
            <a:r>
              <a:rPr lang="en-US" dirty="0"/>
              <a:t>Second, the aggregate supply curve shifts whenever the money wage rate or potential GDP changes, but the short-run Phillips curve does not shift unless </a:t>
            </a:r>
            <a:r>
              <a:rPr lang="en-US" dirty="0">
                <a:solidFill>
                  <a:srgbClr val="C00000"/>
                </a:solidFill>
              </a:rPr>
              <a:t>either the natural unemployment rate</a:t>
            </a:r>
            <a:r>
              <a:rPr lang="en-US" dirty="0"/>
              <a:t> or </a:t>
            </a:r>
            <a:r>
              <a:rPr lang="en-US" dirty="0">
                <a:solidFill>
                  <a:srgbClr val="C00000"/>
                </a:solidFill>
              </a:rPr>
              <a:t>the expected inflation rate change.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9315">
                                            <p:txEl>
                                              <p:pRg st="1" end="1"/>
                                            </p:txEl>
                                          </p:spTgt>
                                        </p:tgtEl>
                                        <p:attrNameLst>
                                          <p:attrName>style.visibility</p:attrName>
                                        </p:attrNameLst>
                                      </p:cBhvr>
                                      <p:to>
                                        <p:strVal val="visible"/>
                                      </p:to>
                                    </p:set>
                                    <p:animEffect transition="in" filter="wipe(left)">
                                      <p:cBhvr>
                                        <p:cTn id="7" dur="500"/>
                                        <p:tgtEl>
                                          <p:spTgt spid="9093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09315">
                                            <p:txEl>
                                              <p:pRg st="2" end="2"/>
                                            </p:txEl>
                                          </p:spTgt>
                                        </p:tgtEl>
                                        <p:attrNameLst>
                                          <p:attrName>style.visibility</p:attrName>
                                        </p:attrNameLst>
                                      </p:cBhvr>
                                      <p:to>
                                        <p:strVal val="visible"/>
                                      </p:to>
                                    </p:set>
                                    <p:animEffect transition="in" filter="wipe(left)">
                                      <p:cBhvr>
                                        <p:cTn id="12" dur="500"/>
                                        <p:tgtEl>
                                          <p:spTgt spid="909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315" grpId="0" build="p" bldLvl="3"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4072"/>
            <a:ext cx="8491288" cy="1189411"/>
          </a:xfrm>
        </p:spPr>
        <p:txBody>
          <a:bodyPr/>
          <a:lstStyle/>
          <a:p>
            <a:pPr algn="l"/>
            <a:r>
              <a:rPr lang="en-US" sz="3200" dirty="0"/>
              <a:t>Figure 28.8 </a:t>
            </a:r>
            <a:br>
              <a:rPr lang="en-US" sz="3200" dirty="0"/>
            </a:br>
            <a:r>
              <a:rPr lang="en-US" sz="3200" dirty="0"/>
              <a:t>Short-run Phillips curve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722301"/>
            <a:ext cx="8312727" cy="3413397"/>
          </a:xfrm>
          <a:prstGeom prst="rect">
            <a:avLst/>
          </a:prstGeom>
        </p:spPr>
      </p:pic>
    </p:spTree>
    <p:extLst>
      <p:ext uri="{BB962C8B-B14F-4D97-AF65-F5344CB8AC3E}">
        <p14:creationId xmlns:p14="http://schemas.microsoft.com/office/powerpoint/2010/main" val="32296307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0340" name="Rectangle 4">
            <a:extLst>
              <a:ext uri="{FF2B5EF4-FFF2-40B4-BE49-F238E27FC236}">
                <a16:creationId xmlns:a16="http://schemas.microsoft.com/office/drawing/2014/main" id="{53DC7B5B-F5C9-F169-9888-E8123EAC160A}"/>
              </a:ext>
            </a:extLst>
          </p:cNvPr>
          <p:cNvSpPr>
            <a:spLocks noGrp="1" noChangeArrowheads="1"/>
          </p:cNvSpPr>
          <p:nvPr>
            <p:ph type="title"/>
          </p:nvPr>
        </p:nvSpPr>
        <p:spPr>
          <a:xfrm>
            <a:off x="381000" y="762000"/>
            <a:ext cx="8763000" cy="762000"/>
          </a:xfrm>
        </p:spPr>
        <p:txBody>
          <a:bodyPr/>
          <a:lstStyle/>
          <a:p>
            <a:pPr eaLnBrk="1" hangingPunct="1">
              <a:defRPr/>
            </a:pPr>
            <a:r>
              <a:rPr lang="en-US" dirty="0">
                <a:cs typeface="+mj-cs"/>
              </a:rPr>
              <a:t>31.2  SHORT-RUN AND LONG-RUN PHILLIPS CURVES</a:t>
            </a:r>
            <a:endParaRPr lang="en-CA" dirty="0">
              <a:cs typeface="+mj-cs"/>
            </a:endParaRPr>
          </a:p>
        </p:txBody>
      </p:sp>
      <p:sp>
        <p:nvSpPr>
          <p:cNvPr id="910341" name="Rectangle 5">
            <a:extLst>
              <a:ext uri="{FF2B5EF4-FFF2-40B4-BE49-F238E27FC236}">
                <a16:creationId xmlns:a16="http://schemas.microsoft.com/office/drawing/2014/main" id="{0F857D2F-447D-0A52-7B34-374BFB0179D2}"/>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The Long-Run Phillips Curve</a:t>
            </a:r>
          </a:p>
          <a:p>
            <a:pPr lvl="1" eaLnBrk="1" hangingPunct="1">
              <a:defRPr/>
            </a:pPr>
            <a:r>
              <a:rPr lang="en-US" dirty="0"/>
              <a:t>The </a:t>
            </a:r>
            <a:r>
              <a:rPr lang="en-US" sz="2600" b="1" dirty="0">
                <a:solidFill>
                  <a:srgbClr val="FF0000"/>
                </a:solidFill>
              </a:rPr>
              <a:t>long-run Phillips curve</a:t>
            </a:r>
            <a:r>
              <a:rPr lang="en-US" dirty="0"/>
              <a:t> is a vertical line that shows the relationship between inflation and unemployment when the economy is at full employment.</a:t>
            </a:r>
          </a:p>
          <a:p>
            <a:pPr lvl="1" eaLnBrk="1" hangingPunct="1">
              <a:defRPr/>
            </a:pPr>
            <a:r>
              <a:rPr lang="en-US" dirty="0"/>
              <a:t>Figure 31.3 shows the long-run Phillips Curve.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0341">
                                            <p:txEl>
                                              <p:pRg st="1" end="1"/>
                                            </p:txEl>
                                          </p:spTgt>
                                        </p:tgtEl>
                                        <p:attrNameLst>
                                          <p:attrName>style.visibility</p:attrName>
                                        </p:attrNameLst>
                                      </p:cBhvr>
                                      <p:to>
                                        <p:strVal val="visible"/>
                                      </p:to>
                                    </p:set>
                                    <p:animEffect transition="in" filter="wipe(left)">
                                      <p:cBhvr>
                                        <p:cTn id="7" dur="500"/>
                                        <p:tgtEl>
                                          <p:spTgt spid="91034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0341">
                                            <p:txEl>
                                              <p:pRg st="2" end="2"/>
                                            </p:txEl>
                                          </p:spTgt>
                                        </p:tgtEl>
                                        <p:attrNameLst>
                                          <p:attrName>style.visibility</p:attrName>
                                        </p:attrNameLst>
                                      </p:cBhvr>
                                      <p:to>
                                        <p:strVal val="visible"/>
                                      </p:to>
                                    </p:set>
                                    <p:animEffect transition="in" filter="wipe(left)">
                                      <p:cBhvr>
                                        <p:cTn id="12" dur="500"/>
                                        <p:tgtEl>
                                          <p:spTgt spid="9103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341" grpId="0" build="p" bldLvl="3"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4" name="Rectangle 4">
            <a:extLst>
              <a:ext uri="{FF2B5EF4-FFF2-40B4-BE49-F238E27FC236}">
                <a16:creationId xmlns:a16="http://schemas.microsoft.com/office/drawing/2014/main" id="{F86112B6-9215-C01C-AC9C-EE59F900E575}"/>
              </a:ext>
            </a:extLst>
          </p:cNvPr>
          <p:cNvSpPr>
            <a:spLocks noChangeArrowheads="1"/>
          </p:cNvSpPr>
          <p:nvPr/>
        </p:nvSpPr>
        <p:spPr bwMode="auto">
          <a:xfrm>
            <a:off x="304800" y="2438400"/>
            <a:ext cx="41910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0" hangingPunct="0">
              <a:defRPr/>
            </a:pPr>
            <a:r>
              <a:rPr lang="en-US" sz="2400" dirty="0">
                <a:latin typeface="Arial" charset="0"/>
                <a:ea typeface="ＭＳ Ｐゴシック" charset="0"/>
              </a:rPr>
              <a:t>The long-run Phillips curve is a vertical line at the natural unemployment rate.</a:t>
            </a:r>
          </a:p>
        </p:txBody>
      </p:sp>
      <p:sp>
        <p:nvSpPr>
          <p:cNvPr id="911367" name="Rectangle 7">
            <a:extLst>
              <a:ext uri="{FF2B5EF4-FFF2-40B4-BE49-F238E27FC236}">
                <a16:creationId xmlns:a16="http://schemas.microsoft.com/office/drawing/2014/main" id="{C13F08C4-1A5D-2464-ACB2-A25A7C2B002E}"/>
              </a:ext>
            </a:extLst>
          </p:cNvPr>
          <p:cNvSpPr>
            <a:spLocks noChangeArrowheads="1"/>
          </p:cNvSpPr>
          <p:nvPr/>
        </p:nvSpPr>
        <p:spPr bwMode="auto">
          <a:xfrm>
            <a:off x="304800" y="3810000"/>
            <a:ext cx="41910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0" hangingPunct="0">
              <a:defRPr/>
            </a:pPr>
            <a:r>
              <a:rPr lang="en-US" sz="2400" dirty="0">
                <a:latin typeface="Arial" charset="0"/>
                <a:ea typeface="ＭＳ Ｐゴシック" charset="0"/>
              </a:rPr>
              <a:t>In the long run, there is no unemployment-inflation tradeoff</a:t>
            </a:r>
            <a:r>
              <a:rPr lang="en-US" dirty="0">
                <a:latin typeface="Arial" charset="0"/>
                <a:ea typeface="ＭＳ Ｐゴシック" charset="0"/>
              </a:rPr>
              <a:t>.</a:t>
            </a:r>
          </a:p>
        </p:txBody>
      </p:sp>
      <p:sp>
        <p:nvSpPr>
          <p:cNvPr id="911373" name="Rectangle 13">
            <a:extLst>
              <a:ext uri="{FF2B5EF4-FFF2-40B4-BE49-F238E27FC236}">
                <a16:creationId xmlns:a16="http://schemas.microsoft.com/office/drawing/2014/main" id="{6505A81F-B0A0-5E2E-36B9-1A7A2988BADE}"/>
              </a:ext>
            </a:extLst>
          </p:cNvPr>
          <p:cNvSpPr>
            <a:spLocks noGrp="1" noChangeArrowheads="1"/>
          </p:cNvSpPr>
          <p:nvPr>
            <p:ph type="title"/>
          </p:nvPr>
        </p:nvSpPr>
        <p:spPr/>
        <p:txBody>
          <a:bodyPr/>
          <a:lstStyle/>
          <a:p>
            <a:pPr eaLnBrk="1" hangingPunct="1">
              <a:defRPr/>
            </a:pPr>
            <a:r>
              <a:rPr lang="en-US" dirty="0">
                <a:cs typeface="+mj-cs"/>
              </a:rPr>
              <a:t>31.2  SHORT-RUN AND LONG-RUN ...</a:t>
            </a:r>
            <a:endParaRPr lang="en-CA" dirty="0">
              <a:cs typeface="+mj-cs"/>
            </a:endParaRPr>
          </a:p>
        </p:txBody>
      </p:sp>
      <p:pic>
        <p:nvPicPr>
          <p:cNvPr id="48132" name="Picture 8" descr="fig3003a.gif">
            <a:extLst>
              <a:ext uri="{FF2B5EF4-FFF2-40B4-BE49-F238E27FC236}">
                <a16:creationId xmlns:a16="http://schemas.microsoft.com/office/drawing/2014/main" id="{B75BA19E-5569-5BA7-E34E-2DCB10DFDD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06938" y="1905000"/>
            <a:ext cx="4437062"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fig3003b.gif">
            <a:extLst>
              <a:ext uri="{FF2B5EF4-FFF2-40B4-BE49-F238E27FC236}">
                <a16:creationId xmlns:a16="http://schemas.microsoft.com/office/drawing/2014/main" id="{F6390754-1530-923C-9166-1892814F30F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06938" y="1905000"/>
            <a:ext cx="4437062"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3003c.gif">
            <a:extLst>
              <a:ext uri="{FF2B5EF4-FFF2-40B4-BE49-F238E27FC236}">
                <a16:creationId xmlns:a16="http://schemas.microsoft.com/office/drawing/2014/main" id="{0E98D968-5CB8-5E52-0B72-6C05A65726C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06938" y="1905000"/>
            <a:ext cx="4437062"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67"/>
                                        </p:tgtEl>
                                        <p:attrNameLst>
                                          <p:attrName>style.visibility</p:attrName>
                                        </p:attrNameLst>
                                      </p:cBhvr>
                                      <p:to>
                                        <p:strVal val="visible"/>
                                      </p:to>
                                    </p:set>
                                    <p:animEffect transition="in" filter="wipe(left)">
                                      <p:cBhvr>
                                        <p:cTn id="12" dur="500"/>
                                        <p:tgtEl>
                                          <p:spTgt spid="911367"/>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7"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2386" name="Rectangle 2">
            <a:extLst>
              <a:ext uri="{FF2B5EF4-FFF2-40B4-BE49-F238E27FC236}">
                <a16:creationId xmlns:a16="http://schemas.microsoft.com/office/drawing/2014/main" id="{56897C23-3910-DE4C-C7AD-89BD49B91BBA}"/>
              </a:ext>
            </a:extLst>
          </p:cNvPr>
          <p:cNvSpPr>
            <a:spLocks noGrp="1" noChangeArrowheads="1"/>
          </p:cNvSpPr>
          <p:nvPr>
            <p:ph type="title"/>
          </p:nvPr>
        </p:nvSpPr>
        <p:spPr>
          <a:xfrm>
            <a:off x="457200" y="404664"/>
            <a:ext cx="8763000" cy="533400"/>
          </a:xfrm>
        </p:spPr>
        <p:txBody>
          <a:bodyPr/>
          <a:lstStyle/>
          <a:p>
            <a:pPr eaLnBrk="1" hangingPunct="1">
              <a:defRPr/>
            </a:pPr>
            <a:r>
              <a:rPr lang="en-US" dirty="0">
                <a:cs typeface="+mj-cs"/>
              </a:rPr>
              <a:t>  SHORT-RUN AND LONG-RUN PHILLIPS CURVES</a:t>
            </a:r>
            <a:endParaRPr lang="en-CA" dirty="0">
              <a:cs typeface="+mj-cs"/>
            </a:endParaRPr>
          </a:p>
        </p:txBody>
      </p:sp>
      <p:sp>
        <p:nvSpPr>
          <p:cNvPr id="912387" name="Rectangle 3">
            <a:extLst>
              <a:ext uri="{FF2B5EF4-FFF2-40B4-BE49-F238E27FC236}">
                <a16:creationId xmlns:a16="http://schemas.microsoft.com/office/drawing/2014/main" id="{4432178E-BB84-1B91-C9B5-B0CC090DE49B}"/>
              </a:ext>
            </a:extLst>
          </p:cNvPr>
          <p:cNvSpPr>
            <a:spLocks noGrp="1" noChangeArrowheads="1"/>
          </p:cNvSpPr>
          <p:nvPr>
            <p:ph type="body" idx="1"/>
          </p:nvPr>
        </p:nvSpPr>
        <p:spPr/>
        <p:txBody>
          <a:bodyPr/>
          <a:lstStyle/>
          <a:p>
            <a:pPr marL="460375" lvl="1" indent="-3175" eaLnBrk="1" hangingPunct="1">
              <a:defRPr/>
            </a:pPr>
            <a:r>
              <a:rPr lang="en-US" b="1" dirty="0"/>
              <a:t>No Long-Run Tradeoff</a:t>
            </a:r>
            <a:endParaRPr lang="en-US" dirty="0"/>
          </a:p>
          <a:p>
            <a:pPr marL="460375" lvl="1" indent="-3175" eaLnBrk="1" hangingPunct="1">
              <a:spcBef>
                <a:spcPct val="20000"/>
              </a:spcBef>
              <a:defRPr/>
            </a:pPr>
            <a:r>
              <a:rPr lang="en-US" dirty="0">
                <a:solidFill>
                  <a:srgbClr val="000000"/>
                </a:solidFill>
              </a:rPr>
              <a:t>Because the long-run Phillips curve is vertical, there is no long-run tradeoff between unemployment and inflation. </a:t>
            </a:r>
          </a:p>
          <a:p>
            <a:pPr marL="460375" lvl="1" indent="-3175" eaLnBrk="1" hangingPunct="1">
              <a:defRPr/>
            </a:pPr>
            <a:r>
              <a:rPr lang="en-US" dirty="0">
                <a:solidFill>
                  <a:srgbClr val="000000"/>
                </a:solidFill>
              </a:rPr>
              <a:t>In the long run, the only unemployment rate available is the </a:t>
            </a:r>
            <a:r>
              <a:rPr lang="en-US" dirty="0">
                <a:solidFill>
                  <a:srgbClr val="C00000"/>
                </a:solidFill>
              </a:rPr>
              <a:t>natural unemployment rate</a:t>
            </a:r>
            <a:r>
              <a:rPr lang="en-US" dirty="0">
                <a:solidFill>
                  <a:srgbClr val="000000"/>
                </a:solidFill>
              </a:rPr>
              <a:t>, but any inflation rate can occur.</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2387">
                                            <p:txEl>
                                              <p:pRg st="1" end="1"/>
                                            </p:txEl>
                                          </p:spTgt>
                                        </p:tgtEl>
                                        <p:attrNameLst>
                                          <p:attrName>style.visibility</p:attrName>
                                        </p:attrNameLst>
                                      </p:cBhvr>
                                      <p:to>
                                        <p:strVal val="visible"/>
                                      </p:to>
                                    </p:set>
                                    <p:animEffect transition="in" filter="wipe(left)">
                                      <p:cBhvr>
                                        <p:cTn id="7" dur="500"/>
                                        <p:tgtEl>
                                          <p:spTgt spid="9123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2387">
                                            <p:txEl>
                                              <p:pRg st="2" end="2"/>
                                            </p:txEl>
                                          </p:spTgt>
                                        </p:tgtEl>
                                        <p:attrNameLst>
                                          <p:attrName>style.visibility</p:attrName>
                                        </p:attrNameLst>
                                      </p:cBhvr>
                                      <p:to>
                                        <p:strVal val="visible"/>
                                      </p:to>
                                    </p:set>
                                    <p:animEffect transition="in" filter="wipe(left)">
                                      <p:cBhvr>
                                        <p:cTn id="12" dur="500"/>
                                        <p:tgtEl>
                                          <p:spTgt spid="912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7" grpId="0" build="p" bldLvl="3"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5458" name="Rectangle 2">
            <a:extLst>
              <a:ext uri="{FF2B5EF4-FFF2-40B4-BE49-F238E27FC236}">
                <a16:creationId xmlns:a16="http://schemas.microsoft.com/office/drawing/2014/main" id="{22566E7D-A53E-8CC8-5B3B-A9114565C4F6}"/>
              </a:ext>
            </a:extLst>
          </p:cNvPr>
          <p:cNvSpPr>
            <a:spLocks noGrp="1" noChangeArrowheads="1"/>
          </p:cNvSpPr>
          <p:nvPr>
            <p:ph type="title"/>
          </p:nvPr>
        </p:nvSpPr>
        <p:spPr>
          <a:xfrm>
            <a:off x="381000" y="404664"/>
            <a:ext cx="8763000" cy="533400"/>
          </a:xfrm>
        </p:spPr>
        <p:txBody>
          <a:bodyPr/>
          <a:lstStyle/>
          <a:p>
            <a:pPr eaLnBrk="1" hangingPunct="1">
              <a:defRPr/>
            </a:pPr>
            <a:r>
              <a:rPr lang="en-US" dirty="0">
                <a:cs typeface="+mj-cs"/>
              </a:rPr>
              <a:t>SHORT-RUN AND LONG-RUN PHILLIPS CURVES</a:t>
            </a:r>
            <a:endParaRPr lang="en-CA" dirty="0">
              <a:cs typeface="+mj-cs"/>
            </a:endParaRPr>
          </a:p>
        </p:txBody>
      </p:sp>
      <p:sp>
        <p:nvSpPr>
          <p:cNvPr id="915459" name="Rectangle 3">
            <a:extLst>
              <a:ext uri="{FF2B5EF4-FFF2-40B4-BE49-F238E27FC236}">
                <a16:creationId xmlns:a16="http://schemas.microsoft.com/office/drawing/2014/main" id="{108D1C3D-DFC1-7041-A2AD-3A8D37A695ED}"/>
              </a:ext>
            </a:extLst>
          </p:cNvPr>
          <p:cNvSpPr>
            <a:spLocks noGrp="1" noChangeArrowheads="1"/>
          </p:cNvSpPr>
          <p:nvPr>
            <p:ph type="body" idx="1"/>
          </p:nvPr>
        </p:nvSpPr>
        <p:spPr/>
        <p:txBody>
          <a:bodyPr/>
          <a:lstStyle/>
          <a:p>
            <a:pPr eaLnBrk="1" hangingPunct="1">
              <a:buFont typeface="Webdings" charset="0"/>
              <a:buChar char="&lt;"/>
              <a:defRPr/>
            </a:pPr>
            <a:r>
              <a:rPr lang="en-US" dirty="0">
                <a:solidFill>
                  <a:srgbClr val="C00000"/>
                </a:solidFill>
                <a:cs typeface="+mn-cs"/>
              </a:rPr>
              <a:t>Expected Inflation</a:t>
            </a:r>
          </a:p>
          <a:p>
            <a:pPr marL="460375" lvl="1" indent="-3175" eaLnBrk="1" hangingPunct="1">
              <a:defRPr/>
            </a:pPr>
            <a:r>
              <a:rPr lang="en-US" dirty="0"/>
              <a:t>The </a:t>
            </a:r>
            <a:r>
              <a:rPr lang="en-US" sz="2600" b="1" dirty="0">
                <a:solidFill>
                  <a:srgbClr val="FF0000"/>
                </a:solidFill>
              </a:rPr>
              <a:t>expected inflation rate</a:t>
            </a:r>
            <a:r>
              <a:rPr lang="en-US" dirty="0"/>
              <a:t> is the inflation rate that people forecast and use to set the money wage rate and other money prices.</a:t>
            </a:r>
          </a:p>
          <a:p>
            <a:pPr marL="460375" lvl="1" indent="-3175" eaLnBrk="1" hangingPunct="1">
              <a:defRPr/>
            </a:pPr>
            <a:r>
              <a:rPr lang="en-US" dirty="0"/>
              <a:t>Because the actual inflation rate equals the expected inflation rate at full employment, we can interpret the long-run Phillips curve as the relationship between inflation and unemployment when the inflation rate equals the expected inflation rate.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5459">
                                            <p:txEl>
                                              <p:pRg st="1" end="1"/>
                                            </p:txEl>
                                          </p:spTgt>
                                        </p:tgtEl>
                                        <p:attrNameLst>
                                          <p:attrName>style.visibility</p:attrName>
                                        </p:attrNameLst>
                                      </p:cBhvr>
                                      <p:to>
                                        <p:strVal val="visible"/>
                                      </p:to>
                                    </p:set>
                                    <p:animEffect transition="in" filter="wipe(left)">
                                      <p:cBhvr>
                                        <p:cTn id="7" dur="500"/>
                                        <p:tgtEl>
                                          <p:spTgt spid="9154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5459">
                                            <p:txEl>
                                              <p:pRg st="2" end="2"/>
                                            </p:txEl>
                                          </p:spTgt>
                                        </p:tgtEl>
                                        <p:attrNameLst>
                                          <p:attrName>style.visibility</p:attrName>
                                        </p:attrNameLst>
                                      </p:cBhvr>
                                      <p:to>
                                        <p:strVal val="visible"/>
                                      </p:to>
                                    </p:set>
                                    <p:animEffect transition="in" filter="wipe(left)">
                                      <p:cBhvr>
                                        <p:cTn id="12" dur="500"/>
                                        <p:tgtEl>
                                          <p:spTgt spid="915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59" grpId="0" build="p" bldLvl="3"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4" name="Rectangle 4">
            <a:extLst>
              <a:ext uri="{FF2B5EF4-FFF2-40B4-BE49-F238E27FC236}">
                <a16:creationId xmlns:a16="http://schemas.microsoft.com/office/drawing/2014/main" id="{D259DA37-2451-34C7-D16C-3E4EEC2F664A}"/>
              </a:ext>
            </a:extLst>
          </p:cNvPr>
          <p:cNvSpPr>
            <a:spLocks noChangeArrowheads="1"/>
          </p:cNvSpPr>
          <p:nvPr/>
        </p:nvSpPr>
        <p:spPr bwMode="auto">
          <a:xfrm>
            <a:off x="304800" y="1752600"/>
            <a:ext cx="4495800" cy="123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a:latin typeface="Arial" charset="0"/>
                <a:ea typeface="ＭＳ Ｐゴシック" charset="0"/>
              </a:rPr>
              <a:t>If the natural unemployment rate is 6 percent, the long-run Phillips curve is </a:t>
            </a:r>
            <a:r>
              <a:rPr lang="en-US" i="1">
                <a:latin typeface="Arial" charset="0"/>
                <a:ea typeface="ＭＳ Ｐゴシック" charset="0"/>
              </a:rPr>
              <a:t>LRPC</a:t>
            </a:r>
            <a:r>
              <a:rPr lang="en-US">
                <a:latin typeface="Arial" charset="0"/>
                <a:ea typeface="ＭＳ Ｐゴシック" charset="0"/>
              </a:rPr>
              <a:t>.</a:t>
            </a:r>
          </a:p>
        </p:txBody>
      </p:sp>
      <p:sp>
        <p:nvSpPr>
          <p:cNvPr id="916488" name="Rectangle 8">
            <a:extLst>
              <a:ext uri="{FF2B5EF4-FFF2-40B4-BE49-F238E27FC236}">
                <a16:creationId xmlns:a16="http://schemas.microsoft.com/office/drawing/2014/main" id="{6DB944EF-93BA-6DE8-EF2B-4A3B2CB3CCB5}"/>
              </a:ext>
            </a:extLst>
          </p:cNvPr>
          <p:cNvSpPr>
            <a:spLocks noChangeArrowheads="1"/>
          </p:cNvSpPr>
          <p:nvPr/>
        </p:nvSpPr>
        <p:spPr bwMode="auto">
          <a:xfrm>
            <a:off x="304800" y="3048000"/>
            <a:ext cx="4419600"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defRPr/>
            </a:pPr>
            <a:r>
              <a:rPr lang="en-US" b="1" dirty="0">
                <a:latin typeface="Arial" charset="0"/>
                <a:ea typeface="ＭＳ Ｐゴシック" charset="0"/>
              </a:rPr>
              <a:t>1.</a:t>
            </a:r>
            <a:r>
              <a:rPr lang="en-US" dirty="0">
                <a:latin typeface="Arial" charset="0"/>
                <a:ea typeface="ＭＳ Ｐゴシック" charset="0"/>
              </a:rPr>
              <a:t> If the expected inflation rate is 3 percent a year, the short-run Phillips curve is </a:t>
            </a:r>
            <a:r>
              <a:rPr lang="en-US" i="1" dirty="0">
                <a:latin typeface="Arial" charset="0"/>
                <a:ea typeface="ＭＳ Ｐゴシック" charset="0"/>
              </a:rPr>
              <a:t>SRPC</a:t>
            </a:r>
            <a:r>
              <a:rPr lang="en-US" baseline="-25000" dirty="0">
                <a:latin typeface="Arial" charset="0"/>
                <a:ea typeface="ＭＳ Ｐゴシック" charset="0"/>
              </a:rPr>
              <a:t>0</a:t>
            </a:r>
            <a:r>
              <a:rPr lang="en-US" dirty="0">
                <a:latin typeface="Arial" charset="0"/>
                <a:ea typeface="ＭＳ Ｐゴシック" charset="0"/>
              </a:rPr>
              <a:t>.</a:t>
            </a:r>
          </a:p>
        </p:txBody>
      </p:sp>
      <p:sp>
        <p:nvSpPr>
          <p:cNvPr id="916489" name="Rectangle 9">
            <a:extLst>
              <a:ext uri="{FF2B5EF4-FFF2-40B4-BE49-F238E27FC236}">
                <a16:creationId xmlns:a16="http://schemas.microsoft.com/office/drawing/2014/main" id="{AECE01B9-A8AC-5C18-09AF-E5C9E0A48355}"/>
              </a:ext>
            </a:extLst>
          </p:cNvPr>
          <p:cNvSpPr>
            <a:spLocks noChangeArrowheads="1"/>
          </p:cNvSpPr>
          <p:nvPr/>
        </p:nvSpPr>
        <p:spPr bwMode="auto">
          <a:xfrm>
            <a:off x="228600" y="4800600"/>
            <a:ext cx="4495800"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7663" indent="-347663">
              <a:defRPr/>
            </a:pPr>
            <a:r>
              <a:rPr lang="en-US" b="1">
                <a:latin typeface="Arial" charset="0"/>
                <a:ea typeface="ＭＳ Ｐゴシック" charset="0"/>
              </a:rPr>
              <a:t>2.</a:t>
            </a:r>
            <a:r>
              <a:rPr lang="en-US">
                <a:latin typeface="Arial" charset="0"/>
                <a:ea typeface="ＭＳ Ｐゴシック" charset="0"/>
              </a:rPr>
              <a:t> If the expected inflation rate is 7 percent a year, the short-run Phillips curve is </a:t>
            </a:r>
            <a:r>
              <a:rPr lang="en-US" i="1">
                <a:latin typeface="Arial" charset="0"/>
                <a:ea typeface="ＭＳ Ｐゴシック" charset="0"/>
              </a:rPr>
              <a:t>SRPC</a:t>
            </a:r>
            <a:r>
              <a:rPr lang="en-US" baseline="-25000">
                <a:latin typeface="Arial" charset="0"/>
                <a:ea typeface="ＭＳ Ｐゴシック" charset="0"/>
              </a:rPr>
              <a:t>1</a:t>
            </a:r>
            <a:r>
              <a:rPr lang="en-US">
                <a:latin typeface="Arial" charset="0"/>
                <a:ea typeface="ＭＳ Ｐゴシック" charset="0"/>
              </a:rPr>
              <a:t>.</a:t>
            </a:r>
          </a:p>
        </p:txBody>
      </p:sp>
      <p:sp>
        <p:nvSpPr>
          <p:cNvPr id="916495" name="Rectangle 15">
            <a:extLst>
              <a:ext uri="{FF2B5EF4-FFF2-40B4-BE49-F238E27FC236}">
                <a16:creationId xmlns:a16="http://schemas.microsoft.com/office/drawing/2014/main" id="{2092FE9A-7226-B1AD-8D10-FB9C5D9DF356}"/>
              </a:ext>
            </a:extLst>
          </p:cNvPr>
          <p:cNvSpPr>
            <a:spLocks noGrp="1" noChangeArrowheads="1"/>
          </p:cNvSpPr>
          <p:nvPr>
            <p:ph type="title"/>
          </p:nvPr>
        </p:nvSpPr>
        <p:spPr/>
        <p:txBody>
          <a:bodyPr/>
          <a:lstStyle/>
          <a:p>
            <a:pPr eaLnBrk="1" hangingPunct="1">
              <a:defRPr/>
            </a:pPr>
            <a:r>
              <a:rPr lang="en-US" dirty="0">
                <a:cs typeface="+mj-cs"/>
              </a:rPr>
              <a:t>31.2  SHORT-RUN AND LONG-RUN ...</a:t>
            </a:r>
            <a:endParaRPr lang="en-CA" dirty="0">
              <a:cs typeface="+mj-cs"/>
            </a:endParaRPr>
          </a:p>
        </p:txBody>
      </p:sp>
      <p:pic>
        <p:nvPicPr>
          <p:cNvPr id="56325" name="Picture 14" descr="fig3004a.gif">
            <a:extLst>
              <a:ext uri="{FF2B5EF4-FFF2-40B4-BE49-F238E27FC236}">
                <a16:creationId xmlns:a16="http://schemas.microsoft.com/office/drawing/2014/main" id="{F130C623-96F8-B913-50E1-4722F75E33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905000"/>
            <a:ext cx="425291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descr="fig3004b.gif">
            <a:extLst>
              <a:ext uri="{FF2B5EF4-FFF2-40B4-BE49-F238E27FC236}">
                <a16:creationId xmlns:a16="http://schemas.microsoft.com/office/drawing/2014/main" id="{778F08F1-ECCD-7DA5-FE2C-36F608D5F69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905000"/>
            <a:ext cx="425291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descr="fig3004c.gif">
            <a:extLst>
              <a:ext uri="{FF2B5EF4-FFF2-40B4-BE49-F238E27FC236}">
                <a16:creationId xmlns:a16="http://schemas.microsoft.com/office/drawing/2014/main" id="{B294997F-920C-BA9A-3486-F5C156E5F05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905000"/>
            <a:ext cx="4252913"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6488"/>
                                        </p:tgtEl>
                                        <p:attrNameLst>
                                          <p:attrName>style.visibility</p:attrName>
                                        </p:attrNameLst>
                                      </p:cBhvr>
                                      <p:to>
                                        <p:strVal val="visible"/>
                                      </p:to>
                                    </p:set>
                                    <p:animEffect transition="in" filter="wipe(left)">
                                      <p:cBhvr>
                                        <p:cTn id="7" dur="500"/>
                                        <p:tgtEl>
                                          <p:spTgt spid="91648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1000"/>
                                        <p:tgtEl>
                                          <p:spTgt spid="1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16489"/>
                                        </p:tgtEl>
                                        <p:attrNameLst>
                                          <p:attrName>style.visibility</p:attrName>
                                        </p:attrNameLst>
                                      </p:cBhvr>
                                      <p:to>
                                        <p:strVal val="visible"/>
                                      </p:to>
                                    </p:set>
                                    <p:animEffect transition="in" filter="wipe(left)">
                                      <p:cBhvr>
                                        <p:cTn id="16" dur="500"/>
                                        <p:tgtEl>
                                          <p:spTgt spid="91648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6488" grpId="0" autoUpdateAnimBg="0"/>
      <p:bldP spid="916489"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7508" name="Rectangle 4">
            <a:extLst>
              <a:ext uri="{FF2B5EF4-FFF2-40B4-BE49-F238E27FC236}">
                <a16:creationId xmlns:a16="http://schemas.microsoft.com/office/drawing/2014/main" id="{9532ECAB-72D3-5178-3D46-158CF8C60D54}"/>
              </a:ext>
            </a:extLst>
          </p:cNvPr>
          <p:cNvSpPr>
            <a:spLocks noGrp="1" noChangeArrowheads="1"/>
          </p:cNvSpPr>
          <p:nvPr>
            <p:ph type="title"/>
          </p:nvPr>
        </p:nvSpPr>
        <p:spPr>
          <a:xfrm>
            <a:off x="381000" y="465137"/>
            <a:ext cx="8763000" cy="533400"/>
          </a:xfrm>
        </p:spPr>
        <p:txBody>
          <a:bodyPr/>
          <a:lstStyle/>
          <a:p>
            <a:pPr eaLnBrk="1" hangingPunct="1">
              <a:defRPr/>
            </a:pPr>
            <a:r>
              <a:rPr lang="en-US" dirty="0">
                <a:cs typeface="+mj-cs"/>
              </a:rPr>
              <a:t>SHORT-RUN AND LONG-RUN PHILLIPS CURVES</a:t>
            </a:r>
            <a:endParaRPr lang="en-CA" dirty="0">
              <a:cs typeface="+mj-cs"/>
            </a:endParaRPr>
          </a:p>
        </p:txBody>
      </p:sp>
      <p:sp>
        <p:nvSpPr>
          <p:cNvPr id="917509" name="Rectangle 5">
            <a:extLst>
              <a:ext uri="{FF2B5EF4-FFF2-40B4-BE49-F238E27FC236}">
                <a16:creationId xmlns:a16="http://schemas.microsoft.com/office/drawing/2014/main" id="{EBCEACA9-3356-CACA-19C7-2852DF3889C7}"/>
              </a:ext>
            </a:extLst>
          </p:cNvPr>
          <p:cNvSpPr>
            <a:spLocks noGrp="1" noChangeArrowheads="1"/>
          </p:cNvSpPr>
          <p:nvPr>
            <p:ph type="body" idx="1"/>
          </p:nvPr>
        </p:nvSpPr>
        <p:spPr>
          <a:xfrm>
            <a:off x="107504" y="1600200"/>
            <a:ext cx="8928992" cy="4525963"/>
          </a:xfrm>
        </p:spPr>
        <p:txBody>
          <a:bodyPr/>
          <a:lstStyle/>
          <a:p>
            <a:pPr eaLnBrk="1" hangingPunct="1">
              <a:buFont typeface="Webdings" charset="0"/>
              <a:buChar char="&lt;"/>
              <a:defRPr/>
            </a:pPr>
            <a:r>
              <a:rPr lang="en-US" dirty="0">
                <a:cs typeface="+mn-cs"/>
              </a:rPr>
              <a:t>The Natural Rate Hypothesis</a:t>
            </a:r>
          </a:p>
          <a:p>
            <a:pPr lvl="1" eaLnBrk="1" hangingPunct="1">
              <a:defRPr/>
            </a:pPr>
            <a:r>
              <a:rPr lang="en-US" dirty="0"/>
              <a:t>The </a:t>
            </a:r>
            <a:r>
              <a:rPr lang="en-US" sz="2600" b="1" dirty="0">
                <a:solidFill>
                  <a:srgbClr val="FF0000"/>
                </a:solidFill>
              </a:rPr>
              <a:t>natural rate hypothesis</a:t>
            </a:r>
            <a:r>
              <a:rPr lang="en-US" dirty="0"/>
              <a:t> is the proposition that when the inflation rate changes, the unemployment rate changes </a:t>
            </a:r>
            <a:r>
              <a:rPr lang="en-US" i="1" dirty="0"/>
              <a:t>temporarily</a:t>
            </a:r>
            <a:r>
              <a:rPr lang="en-US" dirty="0"/>
              <a:t> and eventually returns to the natural unemployment rate.</a:t>
            </a:r>
          </a:p>
          <a:p>
            <a:pPr lvl="1" eaLnBrk="1" hangingPunct="1">
              <a:defRPr/>
            </a:pPr>
            <a:r>
              <a:rPr lang="en-US" dirty="0"/>
              <a:t>Figure 31.5 illustrates the natural rate hypothesis.</a:t>
            </a:r>
          </a:p>
          <a:p>
            <a:pPr lvl="1" eaLnBrk="1" hangingPunct="1">
              <a:defRPr/>
            </a:pPr>
            <a:endParaRPr lang="en-US"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7509">
                                            <p:txEl>
                                              <p:pRg st="1" end="1"/>
                                            </p:txEl>
                                          </p:spTgt>
                                        </p:tgtEl>
                                        <p:attrNameLst>
                                          <p:attrName>style.visibility</p:attrName>
                                        </p:attrNameLst>
                                      </p:cBhvr>
                                      <p:to>
                                        <p:strVal val="visible"/>
                                      </p:to>
                                    </p:set>
                                    <p:animEffect transition="in" filter="wipe(left)">
                                      <p:cBhvr>
                                        <p:cTn id="7" dur="500"/>
                                        <p:tgtEl>
                                          <p:spTgt spid="91750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7509">
                                            <p:txEl>
                                              <p:pRg st="2" end="2"/>
                                            </p:txEl>
                                          </p:spTgt>
                                        </p:tgtEl>
                                        <p:attrNameLst>
                                          <p:attrName>style.visibility</p:attrName>
                                        </p:attrNameLst>
                                      </p:cBhvr>
                                      <p:to>
                                        <p:strVal val="visible"/>
                                      </p:to>
                                    </p:set>
                                    <p:animEffect transition="in" filter="wipe(left)">
                                      <p:cBhvr>
                                        <p:cTn id="12" dur="500"/>
                                        <p:tgtEl>
                                          <p:spTgt spid="9175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509" grpId="0" build="p" bldLvl="3"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8532" name="Rectangle 4">
            <a:extLst>
              <a:ext uri="{FF2B5EF4-FFF2-40B4-BE49-F238E27FC236}">
                <a16:creationId xmlns:a16="http://schemas.microsoft.com/office/drawing/2014/main" id="{521E6E22-2062-9478-DC09-D34D3A100E97}"/>
              </a:ext>
            </a:extLst>
          </p:cNvPr>
          <p:cNvSpPr>
            <a:spLocks noChangeArrowheads="1"/>
          </p:cNvSpPr>
          <p:nvPr/>
        </p:nvSpPr>
        <p:spPr bwMode="auto">
          <a:xfrm>
            <a:off x="228600" y="1981200"/>
            <a:ext cx="4267200" cy="123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sz="2400" dirty="0">
                <a:latin typeface="Arial" charset="0"/>
                <a:ea typeface="ＭＳ Ｐゴシック" charset="0"/>
              </a:rPr>
              <a:t>The inflation rate is 3 percent a year and the economy is at full employment, at point </a:t>
            </a:r>
            <a:r>
              <a:rPr lang="en-US" sz="2400" i="1" dirty="0">
                <a:latin typeface="Arial" charset="0"/>
                <a:ea typeface="ＭＳ Ｐゴシック" charset="0"/>
              </a:rPr>
              <a:t>A</a:t>
            </a:r>
            <a:r>
              <a:rPr lang="en-US" sz="2400" dirty="0">
                <a:latin typeface="Arial" charset="0"/>
                <a:ea typeface="ＭＳ Ｐゴシック" charset="0"/>
              </a:rPr>
              <a:t>.</a:t>
            </a:r>
          </a:p>
        </p:txBody>
      </p:sp>
      <p:sp>
        <p:nvSpPr>
          <p:cNvPr id="918533" name="Rectangle 5">
            <a:extLst>
              <a:ext uri="{FF2B5EF4-FFF2-40B4-BE49-F238E27FC236}">
                <a16:creationId xmlns:a16="http://schemas.microsoft.com/office/drawing/2014/main" id="{959657B9-683A-C235-7CF8-A173DAB0F081}"/>
              </a:ext>
            </a:extLst>
          </p:cNvPr>
          <p:cNvSpPr>
            <a:spLocks noChangeArrowheads="1"/>
          </p:cNvSpPr>
          <p:nvPr/>
        </p:nvSpPr>
        <p:spPr bwMode="auto">
          <a:xfrm>
            <a:off x="228600" y="3524250"/>
            <a:ext cx="4495800" cy="857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Then the inflation rate increases</a:t>
            </a:r>
            <a:r>
              <a:rPr lang="en-US" dirty="0">
                <a:latin typeface="Arial" charset="0"/>
                <a:ea typeface="ＭＳ Ｐゴシック" charset="0"/>
              </a:rPr>
              <a:t>.</a:t>
            </a:r>
          </a:p>
        </p:txBody>
      </p:sp>
      <p:sp>
        <p:nvSpPr>
          <p:cNvPr id="918534" name="Rectangle 6">
            <a:extLst>
              <a:ext uri="{FF2B5EF4-FFF2-40B4-BE49-F238E27FC236}">
                <a16:creationId xmlns:a16="http://schemas.microsoft.com/office/drawing/2014/main" id="{5EDD8CD4-DD3F-BA44-BB2D-B8513ADFDA91}"/>
              </a:ext>
            </a:extLst>
          </p:cNvPr>
          <p:cNvSpPr>
            <a:spLocks noChangeArrowheads="1"/>
          </p:cNvSpPr>
          <p:nvPr/>
        </p:nvSpPr>
        <p:spPr bwMode="auto">
          <a:xfrm>
            <a:off x="304800" y="4419600"/>
            <a:ext cx="4419600"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a:t>In the short run, the increase in inflation brings a decrease in the unemployment rate — a movement along </a:t>
            </a:r>
            <a:r>
              <a:rPr lang="en-US" altLang="en-TW" i="1"/>
              <a:t>SRPC</a:t>
            </a:r>
            <a:r>
              <a:rPr lang="en-US" altLang="en-TW" baseline="-25000"/>
              <a:t>0</a:t>
            </a:r>
            <a:r>
              <a:rPr lang="en-US" altLang="en-TW"/>
              <a:t> to point </a:t>
            </a:r>
            <a:r>
              <a:rPr lang="en-US" altLang="en-TW" i="1"/>
              <a:t>B</a:t>
            </a:r>
            <a:r>
              <a:rPr lang="en-US" altLang="en-TW"/>
              <a:t>.</a:t>
            </a:r>
          </a:p>
        </p:txBody>
      </p:sp>
      <p:sp>
        <p:nvSpPr>
          <p:cNvPr id="918541" name="Rectangle 13">
            <a:extLst>
              <a:ext uri="{FF2B5EF4-FFF2-40B4-BE49-F238E27FC236}">
                <a16:creationId xmlns:a16="http://schemas.microsoft.com/office/drawing/2014/main" id="{8A21B07D-5964-4F05-7E36-F2F7317960DA}"/>
              </a:ext>
            </a:extLst>
          </p:cNvPr>
          <p:cNvSpPr>
            <a:spLocks noGrp="1" noChangeArrowheads="1"/>
          </p:cNvSpPr>
          <p:nvPr>
            <p:ph type="title"/>
          </p:nvPr>
        </p:nvSpPr>
        <p:spPr>
          <a:xfrm>
            <a:off x="457200" y="274638"/>
            <a:ext cx="8229600" cy="706090"/>
          </a:xfrm>
        </p:spPr>
        <p:txBody>
          <a:bodyPr/>
          <a:lstStyle/>
          <a:p>
            <a:pPr eaLnBrk="1" hangingPunct="1">
              <a:defRPr/>
            </a:pPr>
            <a:r>
              <a:rPr lang="en-US" dirty="0">
                <a:cs typeface="+mj-cs"/>
              </a:rPr>
              <a:t>SHORT-RUN AND LONG-RUN ...</a:t>
            </a:r>
            <a:endParaRPr lang="en-CA" dirty="0">
              <a:cs typeface="+mj-cs"/>
            </a:endParaRPr>
          </a:p>
        </p:txBody>
      </p:sp>
      <p:pic>
        <p:nvPicPr>
          <p:cNvPr id="62469" name="Picture 10" descr="fig3005a.gif">
            <a:extLst>
              <a:ext uri="{FF2B5EF4-FFF2-40B4-BE49-F238E27FC236}">
                <a16:creationId xmlns:a16="http://schemas.microsoft.com/office/drawing/2014/main" id="{4246A004-B758-5568-FD04-E51D45026F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11" descr="fig3005b.gif">
            <a:extLst>
              <a:ext uri="{FF2B5EF4-FFF2-40B4-BE49-F238E27FC236}">
                <a16:creationId xmlns:a16="http://schemas.microsoft.com/office/drawing/2014/main" id="{C5ED566E-0A86-E3D1-5BA7-6B29F9DC5A0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3005c.gif">
            <a:extLst>
              <a:ext uri="{FF2B5EF4-FFF2-40B4-BE49-F238E27FC236}">
                <a16:creationId xmlns:a16="http://schemas.microsoft.com/office/drawing/2014/main" id="{39E91D38-F040-0808-A55A-03B2DE328CF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8533"/>
                                        </p:tgtEl>
                                        <p:attrNameLst>
                                          <p:attrName>style.visibility</p:attrName>
                                        </p:attrNameLst>
                                      </p:cBhvr>
                                      <p:to>
                                        <p:strVal val="visible"/>
                                      </p:to>
                                    </p:set>
                                    <p:animEffect transition="in" filter="wipe(left)">
                                      <p:cBhvr>
                                        <p:cTn id="7" dur="500"/>
                                        <p:tgtEl>
                                          <p:spTgt spid="918533"/>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1000"/>
                                        <p:tgtEl>
                                          <p:spTgt spid="1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18534"/>
                                        </p:tgtEl>
                                        <p:attrNameLst>
                                          <p:attrName>style.visibility</p:attrName>
                                        </p:attrNameLst>
                                      </p:cBhvr>
                                      <p:to>
                                        <p:strVal val="visible"/>
                                      </p:to>
                                    </p:set>
                                    <p:animEffect transition="in" filter="wipe(left)">
                                      <p:cBhvr>
                                        <p:cTn id="16" dur="500"/>
                                        <p:tgtEl>
                                          <p:spTgt spid="918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8533" grpId="0" autoUpdateAnimBg="0"/>
      <p:bldP spid="918534"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9555" name="Rectangle 3">
            <a:extLst>
              <a:ext uri="{FF2B5EF4-FFF2-40B4-BE49-F238E27FC236}">
                <a16:creationId xmlns:a16="http://schemas.microsoft.com/office/drawing/2014/main" id="{0C2D49E0-5FCB-2D33-7033-DD01C32BB060}"/>
              </a:ext>
            </a:extLst>
          </p:cNvPr>
          <p:cNvSpPr>
            <a:spLocks noGrp="1" noChangeArrowheads="1"/>
          </p:cNvSpPr>
          <p:nvPr>
            <p:ph type="body" idx="1"/>
          </p:nvPr>
        </p:nvSpPr>
        <p:spPr>
          <a:xfrm>
            <a:off x="381000" y="2152650"/>
            <a:ext cx="4267200" cy="1614488"/>
          </a:xfrm>
        </p:spPr>
        <p:txBody>
          <a:bodyPr/>
          <a:lstStyle/>
          <a:p>
            <a:pPr marL="0" indent="0" eaLnBrk="1" hangingPunct="1">
              <a:lnSpc>
                <a:spcPct val="90000"/>
              </a:lnSpc>
              <a:spcBef>
                <a:spcPct val="0"/>
              </a:spcBef>
              <a:buClrTx/>
              <a:buFontTx/>
              <a:buNone/>
              <a:defRPr/>
            </a:pPr>
            <a:r>
              <a:rPr lang="en-US" sz="2400" b="0">
                <a:solidFill>
                  <a:schemeClr val="tx1"/>
                </a:solidFill>
                <a:cs typeface="+mn-cs"/>
              </a:rPr>
              <a:t>Eventually, the higher inflation rate is expected and the short-run Phillips curve shifts upward to </a:t>
            </a:r>
            <a:r>
              <a:rPr lang="en-US" sz="2400" b="0" i="1">
                <a:solidFill>
                  <a:schemeClr val="tx1"/>
                </a:solidFill>
                <a:cs typeface="+mn-cs"/>
              </a:rPr>
              <a:t>SRPC</a:t>
            </a:r>
            <a:r>
              <a:rPr lang="en-US" sz="2400" b="0" baseline="-25000">
                <a:solidFill>
                  <a:schemeClr val="tx1"/>
                </a:solidFill>
                <a:cs typeface="+mn-cs"/>
              </a:rPr>
              <a:t>1</a:t>
            </a:r>
            <a:r>
              <a:rPr lang="en-US" sz="2400" b="0">
                <a:solidFill>
                  <a:schemeClr val="tx1"/>
                </a:solidFill>
                <a:cs typeface="+mn-cs"/>
              </a:rPr>
              <a:t>.</a:t>
            </a:r>
          </a:p>
        </p:txBody>
      </p:sp>
      <p:sp>
        <p:nvSpPr>
          <p:cNvPr id="919556" name="Rectangle 4">
            <a:extLst>
              <a:ext uri="{FF2B5EF4-FFF2-40B4-BE49-F238E27FC236}">
                <a16:creationId xmlns:a16="http://schemas.microsoft.com/office/drawing/2014/main" id="{A6BCC65E-4F3F-8B25-CD82-DB220B9093F5}"/>
              </a:ext>
            </a:extLst>
          </p:cNvPr>
          <p:cNvSpPr>
            <a:spLocks noChangeArrowheads="1"/>
          </p:cNvSpPr>
          <p:nvPr/>
        </p:nvSpPr>
        <p:spPr bwMode="auto">
          <a:xfrm>
            <a:off x="457200" y="3733800"/>
            <a:ext cx="4191000" cy="2000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TW"/>
              <a:t>At the higher expected inflation rate, unemployment returns to the natural unemployment rate—the natural rate hypothesis.</a:t>
            </a:r>
          </a:p>
        </p:txBody>
      </p:sp>
      <p:sp>
        <p:nvSpPr>
          <p:cNvPr id="919567" name="Rectangle 15">
            <a:extLst>
              <a:ext uri="{FF2B5EF4-FFF2-40B4-BE49-F238E27FC236}">
                <a16:creationId xmlns:a16="http://schemas.microsoft.com/office/drawing/2014/main" id="{AC89697E-E677-CE5F-B90D-F25E710B092D}"/>
              </a:ext>
            </a:extLst>
          </p:cNvPr>
          <p:cNvSpPr>
            <a:spLocks noGrp="1" noChangeArrowheads="1"/>
          </p:cNvSpPr>
          <p:nvPr>
            <p:ph type="title"/>
          </p:nvPr>
        </p:nvSpPr>
        <p:spPr>
          <a:xfrm>
            <a:off x="266700" y="310926"/>
            <a:ext cx="8763000" cy="533400"/>
          </a:xfrm>
        </p:spPr>
        <p:txBody>
          <a:bodyPr/>
          <a:lstStyle/>
          <a:p>
            <a:pPr eaLnBrk="1" hangingPunct="1">
              <a:defRPr/>
            </a:pPr>
            <a:r>
              <a:rPr lang="en-US" dirty="0">
                <a:cs typeface="+mj-cs"/>
              </a:rPr>
              <a:t>SHORT-RUN AND LONG-RUN PHILLIPS CURVES</a:t>
            </a:r>
            <a:endParaRPr lang="en-CA" dirty="0">
              <a:cs typeface="+mj-cs"/>
            </a:endParaRPr>
          </a:p>
        </p:txBody>
      </p:sp>
      <p:pic>
        <p:nvPicPr>
          <p:cNvPr id="66564" name="Picture 10" descr="fig3005a.gif">
            <a:extLst>
              <a:ext uri="{FF2B5EF4-FFF2-40B4-BE49-F238E27FC236}">
                <a16:creationId xmlns:a16="http://schemas.microsoft.com/office/drawing/2014/main" id="{88A6C6A8-2D96-D679-7BB2-EAD1F0D7EA3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5" name="Picture 11" descr="fig3005b.gif">
            <a:extLst>
              <a:ext uri="{FF2B5EF4-FFF2-40B4-BE49-F238E27FC236}">
                <a16:creationId xmlns:a16="http://schemas.microsoft.com/office/drawing/2014/main" id="{66345EDE-885D-BFDC-9423-D34A37C5A7E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6" name="Picture 12" descr="fig3005c.gif">
            <a:extLst>
              <a:ext uri="{FF2B5EF4-FFF2-40B4-BE49-F238E27FC236}">
                <a16:creationId xmlns:a16="http://schemas.microsoft.com/office/drawing/2014/main" id="{F1903662-03AE-2271-8D8F-57390779411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3005d.gif">
            <a:extLst>
              <a:ext uri="{FF2B5EF4-FFF2-40B4-BE49-F238E27FC236}">
                <a16:creationId xmlns:a16="http://schemas.microsoft.com/office/drawing/2014/main" id="{36079446-3747-FFFC-82FF-720F8112D14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3005e.gif">
            <a:extLst>
              <a:ext uri="{FF2B5EF4-FFF2-40B4-BE49-F238E27FC236}">
                <a16:creationId xmlns:a16="http://schemas.microsoft.com/office/drawing/2014/main" id="{E20672A0-1319-7542-5B08-6F5B1C0437C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24400" y="1893888"/>
            <a:ext cx="4264025"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1000"/>
                                        <p:tgtEl>
                                          <p:spTgt spid="14"/>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19556"/>
                                        </p:tgtEl>
                                        <p:attrNameLst>
                                          <p:attrName>style.visibility</p:attrName>
                                        </p:attrNameLst>
                                      </p:cBhvr>
                                      <p:to>
                                        <p:strVal val="visible"/>
                                      </p:to>
                                    </p:set>
                                    <p:animEffect transition="in" filter="wipe(left)">
                                      <p:cBhvr>
                                        <p:cTn id="16" dur="500"/>
                                        <p:tgtEl>
                                          <p:spTgt spid="919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9556"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602" name="Rectangle 2">
            <a:extLst>
              <a:ext uri="{FF2B5EF4-FFF2-40B4-BE49-F238E27FC236}">
                <a16:creationId xmlns:a16="http://schemas.microsoft.com/office/drawing/2014/main" id="{38ED8E4E-791F-C42B-1FB4-F956FCA680E0}"/>
              </a:ext>
            </a:extLst>
          </p:cNvPr>
          <p:cNvSpPr>
            <a:spLocks noGrp="1" noChangeArrowheads="1"/>
          </p:cNvSpPr>
          <p:nvPr>
            <p:ph type="title"/>
          </p:nvPr>
        </p:nvSpPr>
        <p:spPr>
          <a:xfrm>
            <a:off x="376064" y="332656"/>
            <a:ext cx="8763000" cy="533400"/>
          </a:xfrm>
        </p:spPr>
        <p:txBody>
          <a:bodyPr/>
          <a:lstStyle/>
          <a:p>
            <a:pPr eaLnBrk="1" hangingPunct="1">
              <a:defRPr/>
            </a:pPr>
            <a:r>
              <a:rPr lang="en-US" dirty="0">
                <a:cs typeface="+mj-cs"/>
              </a:rPr>
              <a:t>SHORT-RUN AND LONG-RUN PHILLIPS CURVES</a:t>
            </a:r>
            <a:endParaRPr lang="en-CA" dirty="0">
              <a:cs typeface="+mj-cs"/>
            </a:endParaRPr>
          </a:p>
        </p:txBody>
      </p:sp>
      <p:sp>
        <p:nvSpPr>
          <p:cNvPr id="921603" name="Rectangle 3">
            <a:extLst>
              <a:ext uri="{FF2B5EF4-FFF2-40B4-BE49-F238E27FC236}">
                <a16:creationId xmlns:a16="http://schemas.microsoft.com/office/drawing/2014/main" id="{8579D8CB-3B86-7C57-3D8A-155B6381504F}"/>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Changes in the Natural Unemployment Rate</a:t>
            </a:r>
          </a:p>
          <a:p>
            <a:pPr marL="460375" lvl="1" indent="-3175" eaLnBrk="1" hangingPunct="1">
              <a:defRPr/>
            </a:pPr>
            <a:r>
              <a:rPr lang="en-US" dirty="0"/>
              <a:t>If the natural unemployment rate changes, both the long-run Phillips curve and the short-run Phillips curve shift. </a:t>
            </a:r>
          </a:p>
          <a:p>
            <a:pPr marL="460375" lvl="1" indent="-3175" eaLnBrk="1" hangingPunct="1">
              <a:defRPr/>
            </a:pPr>
            <a:r>
              <a:rPr lang="en-US" dirty="0"/>
              <a:t>When the natural unemployment rate increases, both the long-run Phillips curve and the short-run Phillips curve shift rightward.</a:t>
            </a:r>
          </a:p>
          <a:p>
            <a:pPr marL="460375" lvl="1" indent="-3175" eaLnBrk="1" hangingPunct="1">
              <a:defRPr/>
            </a:pPr>
            <a:r>
              <a:rPr lang="en-US" dirty="0"/>
              <a:t>When the natural unemployment rate decreases, both the long-run Phillips curve and the short-run Phillips curve shift leftward.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03">
                                            <p:txEl>
                                              <p:pRg st="1" end="1"/>
                                            </p:txEl>
                                          </p:spTgt>
                                        </p:tgtEl>
                                        <p:attrNameLst>
                                          <p:attrName>style.visibility</p:attrName>
                                        </p:attrNameLst>
                                      </p:cBhvr>
                                      <p:to>
                                        <p:strVal val="visible"/>
                                      </p:to>
                                    </p:set>
                                    <p:animEffect transition="in" filter="wipe(left)">
                                      <p:cBhvr>
                                        <p:cTn id="7" dur="500"/>
                                        <p:tgtEl>
                                          <p:spTgt spid="9216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03">
                                            <p:txEl>
                                              <p:pRg st="2" end="2"/>
                                            </p:txEl>
                                          </p:spTgt>
                                        </p:tgtEl>
                                        <p:attrNameLst>
                                          <p:attrName>style.visibility</p:attrName>
                                        </p:attrNameLst>
                                      </p:cBhvr>
                                      <p:to>
                                        <p:strVal val="visible"/>
                                      </p:to>
                                    </p:set>
                                    <p:animEffect transition="in" filter="wipe(left)">
                                      <p:cBhvr>
                                        <p:cTn id="12" dur="500"/>
                                        <p:tgtEl>
                                          <p:spTgt spid="9216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03">
                                            <p:txEl>
                                              <p:pRg st="3" end="3"/>
                                            </p:txEl>
                                          </p:spTgt>
                                        </p:tgtEl>
                                        <p:attrNameLst>
                                          <p:attrName>style.visibility</p:attrName>
                                        </p:attrNameLst>
                                      </p:cBhvr>
                                      <p:to>
                                        <p:strVal val="visible"/>
                                      </p:to>
                                    </p:set>
                                    <p:animEffect transition="in" filter="wipe(left)">
                                      <p:cBhvr>
                                        <p:cTn id="17" dur="500"/>
                                        <p:tgtEl>
                                          <p:spTgt spid="921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03" grpId="0" build="p" bldLvl="3"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2627" name="Rectangle 3">
            <a:extLst>
              <a:ext uri="{FF2B5EF4-FFF2-40B4-BE49-F238E27FC236}">
                <a16:creationId xmlns:a16="http://schemas.microsoft.com/office/drawing/2014/main" id="{33DBB442-D590-B8A0-F686-A8ED9F25FBC6}"/>
              </a:ext>
            </a:extLst>
          </p:cNvPr>
          <p:cNvSpPr>
            <a:spLocks noGrp="1" noChangeArrowheads="1"/>
          </p:cNvSpPr>
          <p:nvPr>
            <p:ph type="body" idx="1"/>
          </p:nvPr>
        </p:nvSpPr>
        <p:spPr>
          <a:xfrm>
            <a:off x="228600" y="2057400"/>
            <a:ext cx="3581400" cy="1471613"/>
          </a:xfrm>
        </p:spPr>
        <p:txBody>
          <a:bodyPr/>
          <a:lstStyle/>
          <a:p>
            <a:pPr marL="0" indent="0" eaLnBrk="1" hangingPunct="1">
              <a:lnSpc>
                <a:spcPct val="90000"/>
              </a:lnSpc>
              <a:spcBef>
                <a:spcPct val="0"/>
              </a:spcBef>
              <a:buClrTx/>
              <a:buFontTx/>
              <a:buNone/>
              <a:defRPr/>
            </a:pPr>
            <a:r>
              <a:rPr lang="en-US" sz="2400" b="0" dirty="0">
                <a:solidFill>
                  <a:schemeClr val="tx1"/>
                </a:solidFill>
                <a:cs typeface="+mn-cs"/>
              </a:rPr>
              <a:t>Figure 31.6 shows the effect of changes in the natural unemployment rate.</a:t>
            </a:r>
          </a:p>
        </p:txBody>
      </p:sp>
      <p:sp>
        <p:nvSpPr>
          <p:cNvPr id="922628" name="Rectangle 4">
            <a:extLst>
              <a:ext uri="{FF2B5EF4-FFF2-40B4-BE49-F238E27FC236}">
                <a16:creationId xmlns:a16="http://schemas.microsoft.com/office/drawing/2014/main" id="{28C1303E-2449-0E91-6202-EAA684BB5308}"/>
              </a:ext>
            </a:extLst>
          </p:cNvPr>
          <p:cNvSpPr>
            <a:spLocks noChangeArrowheads="1"/>
          </p:cNvSpPr>
          <p:nvPr/>
        </p:nvSpPr>
        <p:spPr bwMode="auto">
          <a:xfrm>
            <a:off x="228600" y="3733800"/>
            <a:ext cx="3667125"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The expected inflation rate is 3 percent a year.</a:t>
            </a:r>
          </a:p>
          <a:p>
            <a:pPr>
              <a:defRPr/>
            </a:pPr>
            <a:endParaRPr lang="en-US" dirty="0">
              <a:latin typeface="Arial" charset="0"/>
              <a:ea typeface="ＭＳ Ｐゴシック" charset="0"/>
            </a:endParaRPr>
          </a:p>
        </p:txBody>
      </p:sp>
      <p:sp>
        <p:nvSpPr>
          <p:cNvPr id="922638" name="Rectangle 14">
            <a:extLst>
              <a:ext uri="{FF2B5EF4-FFF2-40B4-BE49-F238E27FC236}">
                <a16:creationId xmlns:a16="http://schemas.microsoft.com/office/drawing/2014/main" id="{7D3697C4-5753-8AD0-F1EE-18EC3E60F3BB}"/>
              </a:ext>
            </a:extLst>
          </p:cNvPr>
          <p:cNvSpPr>
            <a:spLocks noGrp="1" noChangeArrowheads="1"/>
          </p:cNvSpPr>
          <p:nvPr>
            <p:ph type="title"/>
          </p:nvPr>
        </p:nvSpPr>
        <p:spPr/>
        <p:txBody>
          <a:bodyPr/>
          <a:lstStyle/>
          <a:p>
            <a:pPr eaLnBrk="1" hangingPunct="1">
              <a:defRPr/>
            </a:pPr>
            <a:r>
              <a:rPr lang="en-US" dirty="0">
                <a:cs typeface="+mj-cs"/>
              </a:rPr>
              <a:t>SHORT-RUN AND LONG-RUN ...</a:t>
            </a:r>
            <a:endParaRPr lang="en-CA" dirty="0">
              <a:cs typeface="+mj-cs"/>
            </a:endParaRPr>
          </a:p>
        </p:txBody>
      </p:sp>
      <p:sp>
        <p:nvSpPr>
          <p:cNvPr id="922645" name="Rectangle 21">
            <a:extLst>
              <a:ext uri="{FF2B5EF4-FFF2-40B4-BE49-F238E27FC236}">
                <a16:creationId xmlns:a16="http://schemas.microsoft.com/office/drawing/2014/main" id="{AF4EC793-F878-5CD2-3247-F60B2E675F74}"/>
              </a:ext>
            </a:extLst>
          </p:cNvPr>
          <p:cNvSpPr>
            <a:spLocks noChangeArrowheads="1"/>
          </p:cNvSpPr>
          <p:nvPr/>
        </p:nvSpPr>
        <p:spPr bwMode="auto">
          <a:xfrm>
            <a:off x="228600" y="4724400"/>
            <a:ext cx="3667125" cy="137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sz="2400" dirty="0">
                <a:latin typeface="Arial" charset="0"/>
                <a:ea typeface="ＭＳ Ｐゴシック" charset="0"/>
              </a:rPr>
              <a:t>The natural unemployment rate is 6 percent.</a:t>
            </a:r>
          </a:p>
        </p:txBody>
      </p:sp>
      <p:pic>
        <p:nvPicPr>
          <p:cNvPr id="70661" name="Picture 9" descr="fig3006a.gif">
            <a:extLst>
              <a:ext uri="{FF2B5EF4-FFF2-40B4-BE49-F238E27FC236}">
                <a16:creationId xmlns:a16="http://schemas.microsoft.com/office/drawing/2014/main" id="{856D4E58-D82C-A46A-6FD5-36BA32CECA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3006b.gif">
            <a:extLst>
              <a:ext uri="{FF2B5EF4-FFF2-40B4-BE49-F238E27FC236}">
                <a16:creationId xmlns:a16="http://schemas.microsoft.com/office/drawing/2014/main" id="{AD86E47C-FA53-0218-381B-A3D23DFBF02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3006c.gif">
            <a:extLst>
              <a:ext uri="{FF2B5EF4-FFF2-40B4-BE49-F238E27FC236}">
                <a16:creationId xmlns:a16="http://schemas.microsoft.com/office/drawing/2014/main" id="{7C7F84A8-2B72-FD26-8BB6-C3BF9B283D6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628"/>
                                        </p:tgtEl>
                                        <p:attrNameLst>
                                          <p:attrName>style.visibility</p:attrName>
                                        </p:attrNameLst>
                                      </p:cBhvr>
                                      <p:to>
                                        <p:strVal val="visible"/>
                                      </p:to>
                                    </p:set>
                                    <p:animEffect transition="in" filter="wipe(left)">
                                      <p:cBhvr>
                                        <p:cTn id="7" dur="500"/>
                                        <p:tgtEl>
                                          <p:spTgt spid="922628"/>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22645"/>
                                        </p:tgtEl>
                                        <p:attrNameLst>
                                          <p:attrName>style.visibility</p:attrName>
                                        </p:attrNameLst>
                                      </p:cBhvr>
                                      <p:to>
                                        <p:strVal val="visible"/>
                                      </p:to>
                                    </p:set>
                                    <p:animEffect transition="in" filter="wipe(left)">
                                      <p:cBhvr>
                                        <p:cTn id="16" dur="500"/>
                                        <p:tgtEl>
                                          <p:spTgt spid="922645"/>
                                        </p:tgtEl>
                                      </p:cBhvr>
                                    </p:animEffect>
                                  </p:childTnLst>
                                </p:cTn>
                              </p:par>
                            </p:childTnLst>
                          </p:cTn>
                        </p:par>
                        <p:par>
                          <p:cTn id="17" fill="hold" nodeType="afterGroup">
                            <p:stCondLst>
                              <p:cond delay="500"/>
                            </p:stCondLst>
                            <p:childTnLst>
                              <p:par>
                                <p:cTn id="18" presetID="10"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28" grpId="0" autoUpdateAnimBg="0"/>
      <p:bldP spid="922645"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4132" name="Rectangle 4">
            <a:extLst>
              <a:ext uri="{FF2B5EF4-FFF2-40B4-BE49-F238E27FC236}">
                <a16:creationId xmlns:a16="http://schemas.microsoft.com/office/drawing/2014/main" id="{1221E3F7-F5AB-D926-D955-D1FC70A35354}"/>
              </a:ext>
            </a:extLst>
          </p:cNvPr>
          <p:cNvSpPr>
            <a:spLocks noGrp="1" noChangeArrowheads="1"/>
          </p:cNvSpPr>
          <p:nvPr>
            <p:ph type="title"/>
          </p:nvPr>
        </p:nvSpPr>
        <p:spPr>
          <a:xfrm>
            <a:off x="372580" y="520700"/>
            <a:ext cx="8763000" cy="533400"/>
          </a:xfrm>
        </p:spPr>
        <p:txBody>
          <a:bodyPr/>
          <a:lstStyle/>
          <a:p>
            <a:pPr eaLnBrk="1" hangingPunct="1">
              <a:defRPr/>
            </a:pPr>
            <a:r>
              <a:rPr lang="en-US" dirty="0">
                <a:cs typeface="+mj-cs"/>
              </a:rPr>
              <a:t>SHORT-RUN AND LONG-RUN PHILLIPS CURVES</a:t>
            </a:r>
            <a:endParaRPr lang="en-CA" dirty="0">
              <a:cs typeface="+mj-cs"/>
            </a:endParaRPr>
          </a:p>
        </p:txBody>
      </p:sp>
      <p:sp>
        <p:nvSpPr>
          <p:cNvPr id="944139" name="Rectangle 11">
            <a:extLst>
              <a:ext uri="{FF2B5EF4-FFF2-40B4-BE49-F238E27FC236}">
                <a16:creationId xmlns:a16="http://schemas.microsoft.com/office/drawing/2014/main" id="{6BBA480C-5992-A3C1-E8E9-B6B39785A891}"/>
              </a:ext>
            </a:extLst>
          </p:cNvPr>
          <p:cNvSpPr>
            <a:spLocks noChangeArrowheads="1"/>
          </p:cNvSpPr>
          <p:nvPr/>
        </p:nvSpPr>
        <p:spPr bwMode="auto">
          <a:xfrm>
            <a:off x="152400" y="2181225"/>
            <a:ext cx="3667125" cy="1628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dirty="0">
                <a:latin typeface="Arial" charset="0"/>
                <a:ea typeface="ＭＳ Ｐゴシック" charset="0"/>
              </a:rPr>
              <a:t>The short-run Phillips curve is </a:t>
            </a:r>
            <a:r>
              <a:rPr lang="en-US" i="1" dirty="0">
                <a:latin typeface="Arial" charset="0"/>
                <a:ea typeface="ＭＳ Ｐゴシック" charset="0"/>
              </a:rPr>
              <a:t>SRPC</a:t>
            </a:r>
            <a:r>
              <a:rPr lang="en-US" baseline="-25000" dirty="0">
                <a:latin typeface="Arial" charset="0"/>
                <a:ea typeface="ＭＳ Ｐゴシック" charset="0"/>
              </a:rPr>
              <a:t>0 </a:t>
            </a:r>
            <a:r>
              <a:rPr lang="en-US" dirty="0">
                <a:latin typeface="Arial" charset="0"/>
                <a:ea typeface="ＭＳ Ｐゴシック" charset="0"/>
              </a:rPr>
              <a:t>and the long-run Phillips curve is </a:t>
            </a:r>
            <a:r>
              <a:rPr lang="en-US" i="1" dirty="0">
                <a:latin typeface="Arial" charset="0"/>
                <a:ea typeface="ＭＳ Ｐゴシック" charset="0"/>
              </a:rPr>
              <a:t>LRPC</a:t>
            </a:r>
            <a:r>
              <a:rPr lang="en-US" baseline="-25000" dirty="0">
                <a:latin typeface="Arial" charset="0"/>
                <a:ea typeface="ＭＳ Ｐゴシック" charset="0"/>
              </a:rPr>
              <a:t>0</a:t>
            </a:r>
            <a:r>
              <a:rPr lang="en-US" dirty="0">
                <a:latin typeface="Arial" charset="0"/>
                <a:ea typeface="ＭＳ Ｐゴシック" charset="0"/>
              </a:rPr>
              <a:t>.</a:t>
            </a:r>
          </a:p>
        </p:txBody>
      </p:sp>
      <p:sp>
        <p:nvSpPr>
          <p:cNvPr id="944140" name="Rectangle 12">
            <a:extLst>
              <a:ext uri="{FF2B5EF4-FFF2-40B4-BE49-F238E27FC236}">
                <a16:creationId xmlns:a16="http://schemas.microsoft.com/office/drawing/2014/main" id="{47B3B0C6-4D53-EED5-B4BD-1E5F28F8AAF0}"/>
              </a:ext>
            </a:extLst>
          </p:cNvPr>
          <p:cNvSpPr>
            <a:spLocks noChangeArrowheads="1"/>
          </p:cNvSpPr>
          <p:nvPr/>
        </p:nvSpPr>
        <p:spPr bwMode="auto">
          <a:xfrm>
            <a:off x="152400" y="4086225"/>
            <a:ext cx="3667125" cy="2238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dirty="0">
                <a:latin typeface="Arial" charset="0"/>
                <a:ea typeface="ＭＳ Ｐゴシック" charset="0"/>
              </a:rPr>
              <a:t>A decrease in the natural unemployment rate shifts the two Phillips curves leftward to </a:t>
            </a:r>
            <a:r>
              <a:rPr lang="en-US" i="1" dirty="0">
                <a:latin typeface="Arial" charset="0"/>
                <a:ea typeface="ＭＳ Ｐゴシック" charset="0"/>
              </a:rPr>
              <a:t>LRPC</a:t>
            </a:r>
            <a:r>
              <a:rPr lang="en-US" baseline="-25000" dirty="0">
                <a:latin typeface="Arial" charset="0"/>
                <a:ea typeface="ＭＳ Ｐゴシック" charset="0"/>
              </a:rPr>
              <a:t>1</a:t>
            </a:r>
            <a:r>
              <a:rPr lang="en-US" dirty="0">
                <a:latin typeface="Arial" charset="0"/>
                <a:ea typeface="ＭＳ Ｐゴシック" charset="0"/>
              </a:rPr>
              <a:t> and </a:t>
            </a:r>
            <a:r>
              <a:rPr lang="en-US" i="1" dirty="0">
                <a:latin typeface="Arial" charset="0"/>
                <a:ea typeface="ＭＳ Ｐゴシック" charset="0"/>
              </a:rPr>
              <a:t>SRPC</a:t>
            </a:r>
            <a:r>
              <a:rPr lang="en-US" baseline="-25000" dirty="0">
                <a:latin typeface="Arial" charset="0"/>
                <a:ea typeface="ＭＳ Ｐゴシック" charset="0"/>
              </a:rPr>
              <a:t>1</a:t>
            </a:r>
            <a:r>
              <a:rPr lang="en-US" dirty="0">
                <a:latin typeface="Arial" charset="0"/>
                <a:ea typeface="ＭＳ Ｐゴシック" charset="0"/>
              </a:rPr>
              <a:t>.</a:t>
            </a:r>
          </a:p>
        </p:txBody>
      </p:sp>
      <p:pic>
        <p:nvPicPr>
          <p:cNvPr id="74756" name="Picture 9" descr="fig3006a.gif">
            <a:extLst>
              <a:ext uri="{FF2B5EF4-FFF2-40B4-BE49-F238E27FC236}">
                <a16:creationId xmlns:a16="http://schemas.microsoft.com/office/drawing/2014/main" id="{84D3A946-EAA6-9F1B-3C82-E69D5EE743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10" descr="fig3006b.gif">
            <a:extLst>
              <a:ext uri="{FF2B5EF4-FFF2-40B4-BE49-F238E27FC236}">
                <a16:creationId xmlns:a16="http://schemas.microsoft.com/office/drawing/2014/main" id="{19151758-2B40-CAB0-555F-794D8A21951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Picture 11" descr="fig3006c.gif">
            <a:extLst>
              <a:ext uri="{FF2B5EF4-FFF2-40B4-BE49-F238E27FC236}">
                <a16:creationId xmlns:a16="http://schemas.microsoft.com/office/drawing/2014/main" id="{CA78092A-DC6C-A856-BF7F-F207194E65C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3006d.gif">
            <a:extLst>
              <a:ext uri="{FF2B5EF4-FFF2-40B4-BE49-F238E27FC236}">
                <a16:creationId xmlns:a16="http://schemas.microsoft.com/office/drawing/2014/main" id="{A16FD9DA-2792-F18B-3B34-79508CAB631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803650" y="1905000"/>
            <a:ext cx="534035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4140"/>
                                        </p:tgtEl>
                                        <p:attrNameLst>
                                          <p:attrName>style.visibility</p:attrName>
                                        </p:attrNameLst>
                                      </p:cBhvr>
                                      <p:to>
                                        <p:strVal val="visible"/>
                                      </p:to>
                                    </p:set>
                                    <p:animEffect transition="in" filter="wipe(left)">
                                      <p:cBhvr>
                                        <p:cTn id="7" dur="500"/>
                                        <p:tgtEl>
                                          <p:spTgt spid="944140"/>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right)">
                                      <p:cBhvr>
                                        <p:cTn id="11"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4140"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4674" name="Rectangle 2">
            <a:extLst>
              <a:ext uri="{FF2B5EF4-FFF2-40B4-BE49-F238E27FC236}">
                <a16:creationId xmlns:a16="http://schemas.microsoft.com/office/drawing/2014/main" id="{B1D9BC08-1C02-9395-7FCA-3714231BC5FC}"/>
              </a:ext>
            </a:extLst>
          </p:cNvPr>
          <p:cNvSpPr>
            <a:spLocks noGrp="1" noChangeArrowheads="1"/>
          </p:cNvSpPr>
          <p:nvPr>
            <p:ph type="title"/>
          </p:nvPr>
        </p:nvSpPr>
        <p:spPr>
          <a:xfrm>
            <a:off x="190500" y="206150"/>
            <a:ext cx="8763000" cy="533400"/>
          </a:xfrm>
        </p:spPr>
        <p:txBody>
          <a:bodyPr/>
          <a:lstStyle/>
          <a:p>
            <a:pPr eaLnBrk="1" hangingPunct="1">
              <a:defRPr/>
            </a:pPr>
            <a:r>
              <a:rPr lang="en-US" dirty="0">
                <a:cs typeface="+mj-cs"/>
              </a:rPr>
              <a:t>SHORT-RUN AND LONG-RUN PHILLIPS CURVES</a:t>
            </a:r>
            <a:endParaRPr lang="en-CA" dirty="0">
              <a:cs typeface="+mj-cs"/>
            </a:endParaRPr>
          </a:p>
        </p:txBody>
      </p:sp>
      <p:sp>
        <p:nvSpPr>
          <p:cNvPr id="924675" name="Rectangle 3">
            <a:extLst>
              <a:ext uri="{FF2B5EF4-FFF2-40B4-BE49-F238E27FC236}">
                <a16:creationId xmlns:a16="http://schemas.microsoft.com/office/drawing/2014/main" id="{2969F450-BF85-8036-B839-73942BBAF874}"/>
              </a:ext>
            </a:extLst>
          </p:cNvPr>
          <p:cNvSpPr>
            <a:spLocks noGrp="1" noChangeArrowheads="1"/>
          </p:cNvSpPr>
          <p:nvPr>
            <p:ph type="body" idx="1"/>
          </p:nvPr>
        </p:nvSpPr>
        <p:spPr>
          <a:xfrm>
            <a:off x="323528" y="1052736"/>
            <a:ext cx="8629972" cy="5472608"/>
          </a:xfrm>
        </p:spPr>
        <p:txBody>
          <a:bodyPr/>
          <a:lstStyle/>
          <a:p>
            <a:pPr eaLnBrk="1" hangingPunct="1">
              <a:buFont typeface="Webdings" charset="0"/>
              <a:buChar char="&lt;"/>
              <a:defRPr/>
            </a:pPr>
            <a:r>
              <a:rPr lang="en-US" dirty="0">
                <a:cs typeface="+mn-cs"/>
              </a:rPr>
              <a:t>Have Changes in the Natural Unemployment Rate Changed the Tradeoff?</a:t>
            </a:r>
          </a:p>
          <a:p>
            <a:pPr marL="460375" lvl="1" indent="-3175" eaLnBrk="1" hangingPunct="1">
              <a:lnSpc>
                <a:spcPct val="100000"/>
              </a:lnSpc>
              <a:spcBef>
                <a:spcPct val="20000"/>
              </a:spcBef>
              <a:defRPr/>
            </a:pPr>
            <a:r>
              <a:rPr lang="en-US" dirty="0"/>
              <a:t>Changes in the natural unemployment rate have changed the tradeoff. </a:t>
            </a:r>
          </a:p>
          <a:p>
            <a:pPr marL="460375" lvl="1" indent="-3175" eaLnBrk="1" hangingPunct="1">
              <a:lnSpc>
                <a:spcPct val="100000"/>
              </a:lnSpc>
              <a:spcBef>
                <a:spcPct val="20000"/>
              </a:spcBef>
              <a:defRPr/>
            </a:pPr>
            <a:r>
              <a:rPr lang="en-US" dirty="0"/>
              <a:t>According to the Congressional Budget Office, the natural unemployment rate increased from about </a:t>
            </a:r>
            <a:br>
              <a:rPr lang="en-US" dirty="0"/>
            </a:br>
            <a:r>
              <a:rPr lang="en-US" dirty="0"/>
              <a:t>5 percent in 1950 to more than 6 percent in the mid-1970s.</a:t>
            </a:r>
          </a:p>
          <a:p>
            <a:pPr marL="460375" lvl="1" indent="-3175" eaLnBrk="1" hangingPunct="1">
              <a:lnSpc>
                <a:spcPct val="100000"/>
              </a:lnSpc>
              <a:spcBef>
                <a:spcPct val="20000"/>
              </a:spcBef>
              <a:defRPr/>
            </a:pPr>
            <a:r>
              <a:rPr lang="en-US" dirty="0"/>
              <a:t>It decreased to 4.8 percent by 2000 and has been constant at this level through 2009.</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4675">
                                            <p:txEl>
                                              <p:pRg st="1" end="1"/>
                                            </p:txEl>
                                          </p:spTgt>
                                        </p:tgtEl>
                                        <p:attrNameLst>
                                          <p:attrName>style.visibility</p:attrName>
                                        </p:attrNameLst>
                                      </p:cBhvr>
                                      <p:to>
                                        <p:strVal val="visible"/>
                                      </p:to>
                                    </p:set>
                                    <p:animEffect transition="in" filter="wipe(left)">
                                      <p:cBhvr>
                                        <p:cTn id="7" dur="500"/>
                                        <p:tgtEl>
                                          <p:spTgt spid="9246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4675">
                                            <p:txEl>
                                              <p:pRg st="2" end="2"/>
                                            </p:txEl>
                                          </p:spTgt>
                                        </p:tgtEl>
                                        <p:attrNameLst>
                                          <p:attrName>style.visibility</p:attrName>
                                        </p:attrNameLst>
                                      </p:cBhvr>
                                      <p:to>
                                        <p:strVal val="visible"/>
                                      </p:to>
                                    </p:set>
                                    <p:animEffect transition="in" filter="wipe(left)">
                                      <p:cBhvr>
                                        <p:cTn id="12" dur="500"/>
                                        <p:tgtEl>
                                          <p:spTgt spid="92467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4675">
                                            <p:txEl>
                                              <p:pRg st="3" end="3"/>
                                            </p:txEl>
                                          </p:spTgt>
                                        </p:tgtEl>
                                        <p:attrNameLst>
                                          <p:attrName>style.visibility</p:attrName>
                                        </p:attrNameLst>
                                      </p:cBhvr>
                                      <p:to>
                                        <p:strVal val="visible"/>
                                      </p:to>
                                    </p:set>
                                    <p:animEffect transition="in" filter="wipe(left)">
                                      <p:cBhvr>
                                        <p:cTn id="17" dur="500"/>
                                        <p:tgtEl>
                                          <p:spTgt spid="924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675" grpId="0" build="p" bldLvl="3"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7746" name="Rectangle 2">
            <a:extLst>
              <a:ext uri="{FF2B5EF4-FFF2-40B4-BE49-F238E27FC236}">
                <a16:creationId xmlns:a16="http://schemas.microsoft.com/office/drawing/2014/main" id="{581FEBF1-CE0F-EBE4-ED32-6B30C058B9BD}"/>
              </a:ext>
            </a:extLst>
          </p:cNvPr>
          <p:cNvSpPr>
            <a:spLocks noGrp="1" noChangeArrowheads="1"/>
          </p:cNvSpPr>
          <p:nvPr>
            <p:ph type="title"/>
          </p:nvPr>
        </p:nvSpPr>
        <p:spPr>
          <a:xfrm>
            <a:off x="381000" y="762000"/>
            <a:ext cx="8229600" cy="762000"/>
          </a:xfrm>
        </p:spPr>
        <p:txBody>
          <a:bodyPr/>
          <a:lstStyle/>
          <a:p>
            <a:pPr marL="812800" indent="-812800" eaLnBrk="1" hangingPunct="1">
              <a:defRPr/>
            </a:pPr>
            <a:r>
              <a:rPr lang="en-US" dirty="0">
                <a:cs typeface="+mj-cs"/>
              </a:rPr>
              <a:t>INFLUENCING INFLATION AND UNEMPLOYMENT</a:t>
            </a:r>
            <a:endParaRPr lang="en-CA" dirty="0">
              <a:cs typeface="+mj-cs"/>
            </a:endParaRPr>
          </a:p>
        </p:txBody>
      </p:sp>
      <p:sp>
        <p:nvSpPr>
          <p:cNvPr id="927747" name="Rectangle 3">
            <a:extLst>
              <a:ext uri="{FF2B5EF4-FFF2-40B4-BE49-F238E27FC236}">
                <a16:creationId xmlns:a16="http://schemas.microsoft.com/office/drawing/2014/main" id="{D6905668-4A70-3546-0162-9BE36A0F3DFD}"/>
              </a:ext>
            </a:extLst>
          </p:cNvPr>
          <p:cNvSpPr>
            <a:spLocks noGrp="1" noChangeArrowheads="1"/>
          </p:cNvSpPr>
          <p:nvPr>
            <p:ph type="body" idx="1"/>
          </p:nvPr>
        </p:nvSpPr>
        <p:spPr/>
        <p:txBody>
          <a:bodyPr/>
          <a:lstStyle/>
          <a:p>
            <a:pPr eaLnBrk="1" hangingPunct="1">
              <a:buFont typeface="Webdings" charset="0"/>
              <a:buChar char="&lt;"/>
              <a:defRPr/>
            </a:pPr>
            <a:r>
              <a:rPr lang="en-US" dirty="0">
                <a:cs typeface="+mn-cs"/>
              </a:rPr>
              <a:t>Influencing the Expected Inflation Rate</a:t>
            </a:r>
          </a:p>
          <a:p>
            <a:pPr marL="460375" lvl="1" indent="-3175" eaLnBrk="1" hangingPunct="1">
              <a:defRPr/>
            </a:pPr>
            <a:r>
              <a:rPr lang="en-US" dirty="0"/>
              <a:t>The </a:t>
            </a:r>
            <a:r>
              <a:rPr lang="en-US" i="1" dirty="0"/>
              <a:t>expected inflation rate </a:t>
            </a:r>
            <a:r>
              <a:rPr lang="en-US" dirty="0"/>
              <a:t>is the inflation rate that people forecast and use to set the money wage rate and other money prices.</a:t>
            </a:r>
          </a:p>
          <a:p>
            <a:pPr marL="460375" lvl="1" indent="-3175" eaLnBrk="1" hangingPunct="1">
              <a:defRPr/>
            </a:pPr>
            <a:r>
              <a:rPr lang="en-US" sz="2600" b="1" dirty="0">
                <a:solidFill>
                  <a:srgbClr val="FF0000"/>
                </a:solidFill>
              </a:rPr>
              <a:t>Rational expectation </a:t>
            </a:r>
            <a:r>
              <a:rPr lang="en-US" dirty="0">
                <a:solidFill>
                  <a:srgbClr val="000000"/>
                </a:solidFill>
              </a:rPr>
              <a:t>is the forecast that results from the use of all the relevant data and economic science.</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7747">
                                            <p:txEl>
                                              <p:pRg st="1" end="1"/>
                                            </p:txEl>
                                          </p:spTgt>
                                        </p:tgtEl>
                                        <p:attrNameLst>
                                          <p:attrName>style.visibility</p:attrName>
                                        </p:attrNameLst>
                                      </p:cBhvr>
                                      <p:to>
                                        <p:strVal val="visible"/>
                                      </p:to>
                                    </p:set>
                                    <p:animEffect transition="in" filter="wipe(left)">
                                      <p:cBhvr>
                                        <p:cTn id="7" dur="500"/>
                                        <p:tgtEl>
                                          <p:spTgt spid="927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7747">
                                            <p:txEl>
                                              <p:pRg st="2" end="2"/>
                                            </p:txEl>
                                          </p:spTgt>
                                        </p:tgtEl>
                                        <p:attrNameLst>
                                          <p:attrName>style.visibility</p:attrName>
                                        </p:attrNameLst>
                                      </p:cBhvr>
                                      <p:to>
                                        <p:strVal val="visible"/>
                                      </p:to>
                                    </p:set>
                                    <p:animEffect transition="in" filter="wipe(left)">
                                      <p:cBhvr>
                                        <p:cTn id="12" dur="500"/>
                                        <p:tgtEl>
                                          <p:spTgt spid="927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47" grpId="0" build="p" bldLvl="3"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5155" name="Rectangle 3">
            <a:extLst>
              <a:ext uri="{FF2B5EF4-FFF2-40B4-BE49-F238E27FC236}">
                <a16:creationId xmlns:a16="http://schemas.microsoft.com/office/drawing/2014/main" id="{AC5B9820-EA0C-B4D7-B3D6-4D08A1D3D562}"/>
              </a:ext>
            </a:extLst>
          </p:cNvPr>
          <p:cNvSpPr>
            <a:spLocks noChangeArrowheads="1"/>
          </p:cNvSpPr>
          <p:nvPr/>
        </p:nvSpPr>
        <p:spPr bwMode="auto">
          <a:xfrm>
            <a:off x="228600" y="1905000"/>
            <a:ext cx="4495800" cy="419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ts val="1200"/>
              </a:spcBef>
              <a:spcAft>
                <a:spcPts val="300"/>
              </a:spcAft>
            </a:pPr>
            <a:r>
              <a:rPr lang="en-US" altLang="en-TW"/>
              <a:t>Figure 31.7 illustrates the effects of the Fed</a:t>
            </a:r>
            <a:r>
              <a:rPr lang="en-US" altLang="en-US"/>
              <a:t>’</a:t>
            </a:r>
            <a:r>
              <a:rPr lang="en-US" altLang="en-TW"/>
              <a:t>s policy.</a:t>
            </a:r>
          </a:p>
          <a:p>
            <a:pPr>
              <a:spcBef>
                <a:spcPts val="1200"/>
              </a:spcBef>
              <a:spcAft>
                <a:spcPts val="300"/>
              </a:spcAft>
            </a:pPr>
            <a:r>
              <a:rPr lang="en-US" altLang="en-TW"/>
              <a:t>The economy starts at point </a:t>
            </a:r>
            <a:r>
              <a:rPr lang="en-US" altLang="en-TW" i="1"/>
              <a:t>A, </a:t>
            </a:r>
            <a:r>
              <a:rPr lang="en-US" altLang="en-TW"/>
              <a:t>with the unemployment rate higher than the natural unemployment rate on </a:t>
            </a:r>
            <a:r>
              <a:rPr lang="en-US" altLang="en-TW" i="1"/>
              <a:t>SRPC</a:t>
            </a:r>
            <a:r>
              <a:rPr lang="en-US" altLang="en-TW" baseline="-25000"/>
              <a:t>0</a:t>
            </a:r>
            <a:r>
              <a:rPr lang="en-US" altLang="en-TW"/>
              <a:t>.</a:t>
            </a:r>
          </a:p>
          <a:p>
            <a:pPr>
              <a:spcBef>
                <a:spcPts val="1200"/>
              </a:spcBef>
              <a:spcAft>
                <a:spcPts val="300"/>
              </a:spcAft>
            </a:pPr>
            <a:r>
              <a:rPr lang="en-US" altLang="en-TW"/>
              <a:t>The Fed increases the growth rate of real GDP and the economy slides up along </a:t>
            </a:r>
            <a:r>
              <a:rPr lang="en-US" altLang="en-TW" i="1"/>
              <a:t>SRPC</a:t>
            </a:r>
            <a:r>
              <a:rPr lang="en-US" altLang="en-TW" baseline="-25000"/>
              <a:t>0</a:t>
            </a:r>
            <a:r>
              <a:rPr lang="en-US" altLang="en-TW"/>
              <a:t>.</a:t>
            </a:r>
          </a:p>
          <a:p>
            <a:pPr>
              <a:spcBef>
                <a:spcPts val="1200"/>
              </a:spcBef>
              <a:spcAft>
                <a:spcPts val="300"/>
              </a:spcAft>
            </a:pPr>
            <a:endParaRPr lang="en-US" altLang="en-TW"/>
          </a:p>
        </p:txBody>
      </p:sp>
      <p:sp>
        <p:nvSpPr>
          <p:cNvPr id="7" name="Rectangle 2">
            <a:extLst>
              <a:ext uri="{FF2B5EF4-FFF2-40B4-BE49-F238E27FC236}">
                <a16:creationId xmlns:a16="http://schemas.microsoft.com/office/drawing/2014/main" id="{C557E729-DD1B-0B95-82B0-2EF6A9AE827E}"/>
              </a:ext>
            </a:extLst>
          </p:cNvPr>
          <p:cNvSpPr>
            <a:spLocks noGrp="1" noChangeArrowheads="1"/>
          </p:cNvSpPr>
          <p:nvPr>
            <p:ph type="title"/>
          </p:nvPr>
        </p:nvSpPr>
        <p:spPr>
          <a:xfrm>
            <a:off x="381000" y="762000"/>
            <a:ext cx="8229600" cy="762000"/>
          </a:xfrm>
        </p:spPr>
        <p:txBody>
          <a:bodyPr/>
          <a:lstStyle/>
          <a:p>
            <a:pPr marL="812800" indent="-812800" eaLnBrk="1" hangingPunct="1">
              <a:defRPr/>
            </a:pPr>
            <a:r>
              <a:rPr lang="en-US" dirty="0">
                <a:cs typeface="+mj-cs"/>
              </a:rPr>
              <a:t>31.3  INFLUENCING INFLATION AND UNEMPLOYMENT</a:t>
            </a:r>
            <a:endParaRPr lang="en-CA" dirty="0">
              <a:cs typeface="+mj-cs"/>
            </a:endParaRPr>
          </a:p>
        </p:txBody>
      </p:sp>
      <p:pic>
        <p:nvPicPr>
          <p:cNvPr id="84995" name="Picture 9" descr="fig3107b.gif">
            <a:extLst>
              <a:ext uri="{FF2B5EF4-FFF2-40B4-BE49-F238E27FC236}">
                <a16:creationId xmlns:a16="http://schemas.microsoft.com/office/drawing/2014/main" id="{C79DDED8-9D88-FAA6-A6CD-B30D0F65D1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2098675"/>
            <a:ext cx="3921125"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fig3107c.gif">
            <a:extLst>
              <a:ext uri="{FF2B5EF4-FFF2-40B4-BE49-F238E27FC236}">
                <a16:creationId xmlns:a16="http://schemas.microsoft.com/office/drawing/2014/main" id="{5BD4B67E-00E2-D703-0339-90BB74807B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2098675"/>
            <a:ext cx="3921125"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3107d.gif">
            <a:extLst>
              <a:ext uri="{FF2B5EF4-FFF2-40B4-BE49-F238E27FC236}">
                <a16:creationId xmlns:a16="http://schemas.microsoft.com/office/drawing/2014/main" id="{F6644570-87B5-F521-7771-168773D1F68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098675"/>
            <a:ext cx="3921125"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3107e.gif">
            <a:extLst>
              <a:ext uri="{FF2B5EF4-FFF2-40B4-BE49-F238E27FC236}">
                <a16:creationId xmlns:a16="http://schemas.microsoft.com/office/drawing/2014/main" id="{F5EA9795-850B-AF63-17FD-EFEBC919704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03800" y="2098675"/>
            <a:ext cx="3921125"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3107f.gif">
            <a:extLst>
              <a:ext uri="{FF2B5EF4-FFF2-40B4-BE49-F238E27FC236}">
                <a16:creationId xmlns:a16="http://schemas.microsoft.com/office/drawing/2014/main" id="{E972132A-BE00-C159-B248-9E19ECBFCB6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003800" y="2098675"/>
            <a:ext cx="3921125"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45155">
                                            <p:txEl>
                                              <p:pRg st="1" end="1"/>
                                            </p:txEl>
                                          </p:spTgt>
                                        </p:tgtEl>
                                        <p:attrNameLst>
                                          <p:attrName>style.visibility</p:attrName>
                                        </p:attrNameLst>
                                      </p:cBhvr>
                                      <p:to>
                                        <p:strVal val="visible"/>
                                      </p:to>
                                    </p:set>
                                    <p:animEffect transition="in" filter="wipe(left)">
                                      <p:cBhvr>
                                        <p:cTn id="7" dur="1000"/>
                                        <p:tgtEl>
                                          <p:spTgt spid="9451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5155">
                                            <p:txEl>
                                              <p:pRg st="2" end="2"/>
                                            </p:txEl>
                                          </p:spTgt>
                                        </p:tgtEl>
                                        <p:attrNameLst>
                                          <p:attrName>style.visibility</p:attrName>
                                        </p:attrNameLst>
                                      </p:cBhvr>
                                      <p:to>
                                        <p:strVal val="visible"/>
                                      </p:to>
                                    </p:set>
                                    <p:animEffect transition="in" filter="wipe(left)">
                                      <p:cBhvr>
                                        <p:cTn id="17" dur="1000"/>
                                        <p:tgtEl>
                                          <p:spTgt spid="945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par>
                          <p:cTn id="23" fill="hold" nodeType="afterGroup">
                            <p:stCondLst>
                              <p:cond delay="500"/>
                            </p:stCondLst>
                            <p:childTnLst>
                              <p:par>
                                <p:cTn id="24" presetID="10" presetClass="entr" presetSubtype="0"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par>
                          <p:cTn id="27" fill="hold" nodeType="afterGroup">
                            <p:stCondLst>
                              <p:cond delay="1000"/>
                            </p:stCondLst>
                            <p:childTnLst>
                              <p:par>
                                <p:cTn id="28" presetID="10" presetClass="entr" presetSubtype="0"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1843" name="Rectangle 3">
            <a:extLst>
              <a:ext uri="{FF2B5EF4-FFF2-40B4-BE49-F238E27FC236}">
                <a16:creationId xmlns:a16="http://schemas.microsoft.com/office/drawing/2014/main" id="{218910FB-7544-6329-C0EF-87ADA46E1A7C}"/>
              </a:ext>
            </a:extLst>
          </p:cNvPr>
          <p:cNvSpPr>
            <a:spLocks noGrp="1" noChangeArrowheads="1"/>
          </p:cNvSpPr>
          <p:nvPr>
            <p:ph type="body" idx="1"/>
          </p:nvPr>
        </p:nvSpPr>
        <p:spPr/>
        <p:txBody>
          <a:bodyPr/>
          <a:lstStyle/>
          <a:p>
            <a:pPr lvl="1" eaLnBrk="1" hangingPunct="1">
              <a:defRPr/>
            </a:pPr>
            <a:r>
              <a:rPr lang="en-US" b="1" dirty="0">
                <a:solidFill>
                  <a:srgbClr val="00468F"/>
                </a:solidFill>
              </a:rPr>
              <a:t>What Can the Fed Do to Lower Expected Inflation?</a:t>
            </a:r>
          </a:p>
          <a:p>
            <a:pPr marL="460375" lvl="1" indent="-3175" eaLnBrk="1" hangingPunct="1">
              <a:defRPr/>
            </a:pPr>
            <a:r>
              <a:rPr lang="en-US" dirty="0">
                <a:solidFill>
                  <a:srgbClr val="000000"/>
                </a:solidFill>
              </a:rPr>
              <a:t>If the Fed wants to lower the inflation rate, it can pursue two alternative lines of attack:</a:t>
            </a:r>
          </a:p>
          <a:p>
            <a:pPr lvl="2" eaLnBrk="1" hangingPunct="1">
              <a:defRPr/>
            </a:pPr>
            <a:r>
              <a:rPr lang="en-US" dirty="0">
                <a:solidFill>
                  <a:srgbClr val="000000"/>
                </a:solidFill>
              </a:rPr>
              <a:t>A surprise inflation reduction</a:t>
            </a:r>
          </a:p>
          <a:p>
            <a:pPr lvl="2" eaLnBrk="1" hangingPunct="1">
              <a:defRPr/>
            </a:pPr>
            <a:r>
              <a:rPr lang="en-US" dirty="0">
                <a:solidFill>
                  <a:srgbClr val="000000"/>
                </a:solidFill>
              </a:rPr>
              <a:t>A credible announced inflation reduction</a:t>
            </a:r>
          </a:p>
          <a:p>
            <a:pPr marL="460375" lvl="1" indent="-3175" eaLnBrk="1" hangingPunct="1">
              <a:defRPr/>
            </a:pPr>
            <a:r>
              <a:rPr lang="en-US" dirty="0">
                <a:solidFill>
                  <a:srgbClr val="000000"/>
                </a:solidFill>
              </a:rPr>
              <a:t>The figure on the next slide shows the effects of policy actions to lower the inflation rate.</a:t>
            </a:r>
          </a:p>
        </p:txBody>
      </p:sp>
      <p:sp>
        <p:nvSpPr>
          <p:cNvPr id="2" name="Title 1">
            <a:extLst>
              <a:ext uri="{FF2B5EF4-FFF2-40B4-BE49-F238E27FC236}">
                <a16:creationId xmlns:a16="http://schemas.microsoft.com/office/drawing/2014/main" id="{5094AEA9-1D28-A478-E77F-3BF09A43EF63}"/>
              </a:ext>
            </a:extLst>
          </p:cNvPr>
          <p:cNvSpPr>
            <a:spLocks noGrp="1"/>
          </p:cNvSpPr>
          <p:nvPr>
            <p:ph type="title"/>
          </p:nvPr>
        </p:nvSpPr>
        <p:spPr/>
        <p:txBody>
          <a:bodyPr/>
          <a:lstStyle/>
          <a:p>
            <a:pPr eaLnBrk="1" hangingPunct="1">
              <a:defRPr/>
            </a:pPr>
            <a:endParaRPr lang="en-US" dirty="0">
              <a:cs typeface="+mj-cs"/>
            </a:endParaRPr>
          </a:p>
        </p:txBody>
      </p:sp>
      <p:sp>
        <p:nvSpPr>
          <p:cNvPr id="5" name="Rectangle 2">
            <a:extLst>
              <a:ext uri="{FF2B5EF4-FFF2-40B4-BE49-F238E27FC236}">
                <a16:creationId xmlns:a16="http://schemas.microsoft.com/office/drawing/2014/main" id="{C755C035-C5CB-92FA-03C8-8061E62505B4}"/>
              </a:ext>
            </a:extLst>
          </p:cNvPr>
          <p:cNvSpPr txBox="1">
            <a:spLocks noChangeArrowheads="1"/>
          </p:cNvSpPr>
          <p:nvPr/>
        </p:nvSpPr>
        <p:spPr bwMode="auto">
          <a:xfrm>
            <a:off x="381000" y="762000"/>
            <a:ext cx="8229600" cy="762000"/>
          </a:xfrm>
          <a:prstGeom prst="rect">
            <a:avLst/>
          </a:prstGeom>
          <a:gradFill rotWithShape="0">
            <a:gsLst>
              <a:gs pos="0">
                <a:srgbClr val="00468F"/>
              </a:gs>
              <a:gs pos="100000">
                <a:srgbClr val="00468F">
                  <a:gamma/>
                  <a:tint val="60784"/>
                  <a:invGamma/>
                </a:srgbClr>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nchor="ctr"/>
          <a:lstStyle>
            <a:lvl1pPr algn="l" rtl="0" fontAlgn="base">
              <a:spcBef>
                <a:spcPct val="0"/>
              </a:spcBef>
              <a:spcAft>
                <a:spcPct val="0"/>
              </a:spcAft>
              <a:defRPr sz="2600" b="1">
                <a:solidFill>
                  <a:schemeClr val="bg1"/>
                </a:solidFill>
                <a:latin typeface="+mj-lt"/>
                <a:ea typeface="+mj-ea"/>
                <a:cs typeface="+mj-cs"/>
              </a:defRPr>
            </a:lvl1pPr>
            <a:lvl2pPr algn="l" rtl="0" fontAlgn="base">
              <a:spcBef>
                <a:spcPct val="0"/>
              </a:spcBef>
              <a:spcAft>
                <a:spcPct val="0"/>
              </a:spcAft>
              <a:defRPr sz="2600" b="1">
                <a:solidFill>
                  <a:schemeClr val="bg1"/>
                </a:solidFill>
                <a:latin typeface="Arial" charset="0"/>
                <a:ea typeface="ＭＳ Ｐゴシック" charset="0"/>
              </a:defRPr>
            </a:lvl2pPr>
            <a:lvl3pPr algn="l" rtl="0" fontAlgn="base">
              <a:spcBef>
                <a:spcPct val="0"/>
              </a:spcBef>
              <a:spcAft>
                <a:spcPct val="0"/>
              </a:spcAft>
              <a:defRPr sz="2600" b="1">
                <a:solidFill>
                  <a:schemeClr val="bg1"/>
                </a:solidFill>
                <a:latin typeface="Arial" charset="0"/>
                <a:ea typeface="ＭＳ Ｐゴシック" charset="0"/>
              </a:defRPr>
            </a:lvl3pPr>
            <a:lvl4pPr algn="l" rtl="0" fontAlgn="base">
              <a:spcBef>
                <a:spcPct val="0"/>
              </a:spcBef>
              <a:spcAft>
                <a:spcPct val="0"/>
              </a:spcAft>
              <a:defRPr sz="2600" b="1">
                <a:solidFill>
                  <a:schemeClr val="bg1"/>
                </a:solidFill>
                <a:latin typeface="Arial" charset="0"/>
                <a:ea typeface="ＭＳ Ｐゴシック" charset="0"/>
              </a:defRPr>
            </a:lvl4pPr>
            <a:lvl5pPr algn="l" rtl="0" fontAlgn="base">
              <a:spcBef>
                <a:spcPct val="0"/>
              </a:spcBef>
              <a:spcAft>
                <a:spcPct val="0"/>
              </a:spcAft>
              <a:defRPr sz="2600" b="1">
                <a:solidFill>
                  <a:schemeClr val="bg1"/>
                </a:solidFill>
                <a:latin typeface="Arial" charset="0"/>
                <a:ea typeface="ＭＳ Ｐゴシック" charset="0"/>
              </a:defRPr>
            </a:lvl5pPr>
            <a:lvl6pPr marL="457200" algn="l" rtl="0" fontAlgn="base">
              <a:spcBef>
                <a:spcPct val="0"/>
              </a:spcBef>
              <a:spcAft>
                <a:spcPct val="0"/>
              </a:spcAft>
              <a:defRPr sz="2600" b="1">
                <a:solidFill>
                  <a:schemeClr val="bg1"/>
                </a:solidFill>
                <a:latin typeface="Arial" charset="0"/>
                <a:ea typeface="ＭＳ Ｐゴシック" charset="0"/>
              </a:defRPr>
            </a:lvl6pPr>
            <a:lvl7pPr marL="914400" algn="l" rtl="0" fontAlgn="base">
              <a:spcBef>
                <a:spcPct val="0"/>
              </a:spcBef>
              <a:spcAft>
                <a:spcPct val="0"/>
              </a:spcAft>
              <a:defRPr sz="2600" b="1">
                <a:solidFill>
                  <a:schemeClr val="bg1"/>
                </a:solidFill>
                <a:latin typeface="Arial" charset="0"/>
                <a:ea typeface="ＭＳ Ｐゴシック" charset="0"/>
              </a:defRPr>
            </a:lvl7pPr>
            <a:lvl8pPr marL="1371600" algn="l" rtl="0" fontAlgn="base">
              <a:spcBef>
                <a:spcPct val="0"/>
              </a:spcBef>
              <a:spcAft>
                <a:spcPct val="0"/>
              </a:spcAft>
              <a:defRPr sz="2600" b="1">
                <a:solidFill>
                  <a:schemeClr val="bg1"/>
                </a:solidFill>
                <a:latin typeface="Arial" charset="0"/>
                <a:ea typeface="ＭＳ Ｐゴシック" charset="0"/>
              </a:defRPr>
            </a:lvl8pPr>
            <a:lvl9pPr marL="1828800" algn="l" rtl="0" fontAlgn="base">
              <a:spcBef>
                <a:spcPct val="0"/>
              </a:spcBef>
              <a:spcAft>
                <a:spcPct val="0"/>
              </a:spcAft>
              <a:defRPr sz="2600" b="1">
                <a:solidFill>
                  <a:schemeClr val="bg1"/>
                </a:solidFill>
                <a:latin typeface="Arial" charset="0"/>
                <a:ea typeface="ＭＳ Ｐゴシック" charset="0"/>
              </a:defRPr>
            </a:lvl9pPr>
          </a:lstStyle>
          <a:p>
            <a:pPr marL="812800" indent="-812800">
              <a:defRPr/>
            </a:pPr>
            <a:r>
              <a:rPr lang="en-US"/>
              <a:t>31.3  INFLUENCING INFLATION AND UNEMPLOYMENT</a:t>
            </a:r>
            <a:endParaRPr lang="en-CA" dirty="0"/>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43">
                                            <p:txEl>
                                              <p:pRg st="1" end="1"/>
                                            </p:txEl>
                                          </p:spTgt>
                                        </p:tgtEl>
                                        <p:attrNameLst>
                                          <p:attrName>style.visibility</p:attrName>
                                        </p:attrNameLst>
                                      </p:cBhvr>
                                      <p:to>
                                        <p:strVal val="visible"/>
                                      </p:to>
                                    </p:set>
                                    <p:animEffect transition="in" filter="wipe(left)">
                                      <p:cBhvr>
                                        <p:cTn id="7" dur="500"/>
                                        <p:tgtEl>
                                          <p:spTgt spid="9318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43">
                                            <p:txEl>
                                              <p:pRg st="2" end="2"/>
                                            </p:txEl>
                                          </p:spTgt>
                                        </p:tgtEl>
                                        <p:attrNameLst>
                                          <p:attrName>style.visibility</p:attrName>
                                        </p:attrNameLst>
                                      </p:cBhvr>
                                      <p:to>
                                        <p:strVal val="visible"/>
                                      </p:to>
                                    </p:set>
                                    <p:animEffect transition="in" filter="wipe(left)">
                                      <p:cBhvr>
                                        <p:cTn id="12" dur="500"/>
                                        <p:tgtEl>
                                          <p:spTgt spid="9318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1843">
                                            <p:txEl>
                                              <p:pRg st="3" end="3"/>
                                            </p:txEl>
                                          </p:spTgt>
                                        </p:tgtEl>
                                        <p:attrNameLst>
                                          <p:attrName>style.visibility</p:attrName>
                                        </p:attrNameLst>
                                      </p:cBhvr>
                                      <p:to>
                                        <p:strVal val="visible"/>
                                      </p:to>
                                    </p:set>
                                    <p:animEffect transition="in" filter="wipe(left)">
                                      <p:cBhvr>
                                        <p:cTn id="17" dur="500"/>
                                        <p:tgtEl>
                                          <p:spTgt spid="9318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843">
                                            <p:txEl>
                                              <p:pRg st="4" end="4"/>
                                            </p:txEl>
                                          </p:spTgt>
                                        </p:tgtEl>
                                        <p:attrNameLst>
                                          <p:attrName>style.visibility</p:attrName>
                                        </p:attrNameLst>
                                      </p:cBhvr>
                                      <p:to>
                                        <p:strVal val="visible"/>
                                      </p:to>
                                    </p:set>
                                    <p:animEffect transition="in" filter="wipe(left)">
                                      <p:cBhvr>
                                        <p:cTn id="22" dur="500"/>
                                        <p:tgtEl>
                                          <p:spTgt spid="931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43" grpId="0" build="p" bldLvl="3"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3891" name="Rectangle 3">
            <a:extLst>
              <a:ext uri="{FF2B5EF4-FFF2-40B4-BE49-F238E27FC236}">
                <a16:creationId xmlns:a16="http://schemas.microsoft.com/office/drawing/2014/main" id="{E9346456-1D19-E660-238C-FA28AA99A63C}"/>
              </a:ext>
            </a:extLst>
          </p:cNvPr>
          <p:cNvSpPr>
            <a:spLocks noGrp="1" noChangeArrowheads="1"/>
          </p:cNvSpPr>
          <p:nvPr>
            <p:ph type="body" idx="1"/>
          </p:nvPr>
        </p:nvSpPr>
        <p:spPr>
          <a:xfrm>
            <a:off x="457200" y="1828800"/>
            <a:ext cx="3429000" cy="1828800"/>
          </a:xfrm>
        </p:spPr>
        <p:txBody>
          <a:bodyPr/>
          <a:lstStyle/>
          <a:p>
            <a:pPr marL="0" indent="0" eaLnBrk="1" hangingPunct="1">
              <a:lnSpc>
                <a:spcPct val="90000"/>
              </a:lnSpc>
              <a:buClrTx/>
              <a:buFontTx/>
              <a:buNone/>
              <a:defRPr/>
            </a:pPr>
            <a:r>
              <a:rPr lang="en-US" sz="2400" b="0" dirty="0">
                <a:solidFill>
                  <a:schemeClr val="tx1"/>
                </a:solidFill>
                <a:cs typeface="+mn-cs"/>
              </a:rPr>
              <a:t>Gradually, the expected inflation rate falls and the short run Phillips curve gradually shifts downward.</a:t>
            </a:r>
          </a:p>
        </p:txBody>
      </p:sp>
      <p:sp>
        <p:nvSpPr>
          <p:cNvPr id="933900" name="Rectangle 12">
            <a:extLst>
              <a:ext uri="{FF2B5EF4-FFF2-40B4-BE49-F238E27FC236}">
                <a16:creationId xmlns:a16="http://schemas.microsoft.com/office/drawing/2014/main" id="{F156A185-0DF5-3902-2904-A6340DFEAD72}"/>
              </a:ext>
            </a:extLst>
          </p:cNvPr>
          <p:cNvSpPr>
            <a:spLocks noChangeArrowheads="1"/>
          </p:cNvSpPr>
          <p:nvPr/>
        </p:nvSpPr>
        <p:spPr bwMode="auto">
          <a:xfrm>
            <a:off x="381000" y="3733800"/>
            <a:ext cx="3429000" cy="198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nSpc>
                <a:spcPct val="90000"/>
              </a:lnSpc>
              <a:spcBef>
                <a:spcPct val="50000"/>
              </a:spcBef>
              <a:defRPr/>
            </a:pPr>
            <a:r>
              <a:rPr lang="en-US">
                <a:latin typeface="Arial" charset="0"/>
                <a:ea typeface="ＭＳ Ｐゴシック" charset="0"/>
              </a:rPr>
              <a:t>The unemployment rate remains above at 6 percent through the adjustment to point </a:t>
            </a:r>
            <a:r>
              <a:rPr lang="en-US" i="1">
                <a:latin typeface="Arial" charset="0"/>
                <a:ea typeface="ＭＳ Ｐゴシック" charset="0"/>
              </a:rPr>
              <a:t>B</a:t>
            </a:r>
            <a:r>
              <a:rPr lang="en-US">
                <a:latin typeface="Arial" charset="0"/>
                <a:ea typeface="ＭＳ Ｐゴシック" charset="0"/>
              </a:rPr>
              <a:t> on </a:t>
            </a:r>
            <a:r>
              <a:rPr lang="en-US" i="1">
                <a:latin typeface="Arial" charset="0"/>
                <a:ea typeface="ＭＳ Ｐゴシック" charset="0"/>
              </a:rPr>
              <a:t>SRPC</a:t>
            </a:r>
            <a:r>
              <a:rPr lang="en-US">
                <a:latin typeface="Arial" charset="0"/>
                <a:ea typeface="ＭＳ Ｐゴシック" charset="0"/>
              </a:rPr>
              <a:t>1.</a:t>
            </a:r>
          </a:p>
        </p:txBody>
      </p:sp>
      <p:pic>
        <p:nvPicPr>
          <p:cNvPr id="101379" name="Picture 10" descr="fig3007a0.gif">
            <a:extLst>
              <a:ext uri="{FF2B5EF4-FFF2-40B4-BE49-F238E27FC236}">
                <a16:creationId xmlns:a16="http://schemas.microsoft.com/office/drawing/2014/main" id="{D21C1386-FD15-E1A5-DC83-4CADF1282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3007a1.gif">
            <a:extLst>
              <a:ext uri="{FF2B5EF4-FFF2-40B4-BE49-F238E27FC236}">
                <a16:creationId xmlns:a16="http://schemas.microsoft.com/office/drawing/2014/main" id="{51F37345-2B7C-9F3A-E1D6-CD76190F72A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3007b.gif">
            <a:extLst>
              <a:ext uri="{FF2B5EF4-FFF2-40B4-BE49-F238E27FC236}">
                <a16:creationId xmlns:a16="http://schemas.microsoft.com/office/drawing/2014/main" id="{5EC88675-9FC4-DFD9-6E50-5FD4CB7910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3007c.gif">
            <a:extLst>
              <a:ext uri="{FF2B5EF4-FFF2-40B4-BE49-F238E27FC236}">
                <a16:creationId xmlns:a16="http://schemas.microsoft.com/office/drawing/2014/main" id="{081FF1C1-89B2-1383-96F1-BB014FE44F0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3007d.gif">
            <a:extLst>
              <a:ext uri="{FF2B5EF4-FFF2-40B4-BE49-F238E27FC236}">
                <a16:creationId xmlns:a16="http://schemas.microsoft.com/office/drawing/2014/main" id="{9198EB92-9B8A-7DD6-3C3D-4F3EFB4C5C08}"/>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3" descr="fig3007e.gif">
            <a:extLst>
              <a:ext uri="{FF2B5EF4-FFF2-40B4-BE49-F238E27FC236}">
                <a16:creationId xmlns:a16="http://schemas.microsoft.com/office/drawing/2014/main" id="{5E23F212-59BC-0FF9-E43E-BBB821D7CEC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fig3007f.gif">
            <a:extLst>
              <a:ext uri="{FF2B5EF4-FFF2-40B4-BE49-F238E27FC236}">
                <a16:creationId xmlns:a16="http://schemas.microsoft.com/office/drawing/2014/main" id="{21223F5F-F38A-7BD6-F3F1-6A50C2FE250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descr="fig3007g.gif">
            <a:extLst>
              <a:ext uri="{FF2B5EF4-FFF2-40B4-BE49-F238E27FC236}">
                <a16:creationId xmlns:a16="http://schemas.microsoft.com/office/drawing/2014/main" id="{1F900BF0-3545-D7F7-EA14-1AB2DD417248}"/>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6" descr="fig3007i.gif">
            <a:extLst>
              <a:ext uri="{FF2B5EF4-FFF2-40B4-BE49-F238E27FC236}">
                <a16:creationId xmlns:a16="http://schemas.microsoft.com/office/drawing/2014/main" id="{C064B0F6-1B79-9F55-4D62-21D22A09195A}"/>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a:extLst>
              <a:ext uri="{FF2B5EF4-FFF2-40B4-BE49-F238E27FC236}">
                <a16:creationId xmlns:a16="http://schemas.microsoft.com/office/drawing/2014/main" id="{0AF7D160-585E-5ED0-3FC3-AEA963462BAA}"/>
              </a:ext>
            </a:extLst>
          </p:cNvPr>
          <p:cNvSpPr>
            <a:spLocks noGrp="1" noChangeArrowheads="1"/>
          </p:cNvSpPr>
          <p:nvPr>
            <p:ph type="title"/>
          </p:nvPr>
        </p:nvSpPr>
        <p:spPr>
          <a:xfrm>
            <a:off x="381000" y="762000"/>
            <a:ext cx="8229600" cy="762000"/>
          </a:xfrm>
        </p:spPr>
        <p:txBody>
          <a:bodyPr/>
          <a:lstStyle/>
          <a:p>
            <a:pPr marL="812800" indent="-812800" eaLnBrk="1" hangingPunct="1">
              <a:defRPr/>
            </a:pPr>
            <a:r>
              <a:rPr lang="en-US" dirty="0">
                <a:cs typeface="+mj-cs"/>
              </a:rPr>
              <a:t>INFLUENCING INFLATION AND UNEMPLOYMENT</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nodeType="afterGroup">
                            <p:stCondLst>
                              <p:cond delay="150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nodeType="afterGroup">
                            <p:stCondLst>
                              <p:cond delay="200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par>
                          <p:cTn id="24" fill="hold" nodeType="afterGroup">
                            <p:stCondLst>
                              <p:cond delay="2500"/>
                            </p:stCondLst>
                            <p:childTnLst>
                              <p:par>
                                <p:cTn id="25" presetID="10" presetClass="entr" presetSubtype="0" fill="hold"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par>
                          <p:cTn id="28" fill="hold" nodeType="afterGroup">
                            <p:stCondLst>
                              <p:cond delay="3000"/>
                            </p:stCondLst>
                            <p:childTnLst>
                              <p:par>
                                <p:cTn id="29" presetID="10"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par>
                          <p:cTn id="32" fill="hold" nodeType="afterGroup">
                            <p:stCondLst>
                              <p:cond delay="3500"/>
                            </p:stCondLst>
                            <p:childTnLst>
                              <p:par>
                                <p:cTn id="33" presetID="10" presetClass="entr" presetSubtype="0" fill="hold"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33900"/>
                                        </p:tgtEl>
                                        <p:attrNameLst>
                                          <p:attrName>style.visibility</p:attrName>
                                        </p:attrNameLst>
                                      </p:cBhvr>
                                      <p:to>
                                        <p:strVal val="visible"/>
                                      </p:to>
                                    </p:set>
                                    <p:animEffect transition="in" filter="wipe(left)">
                                      <p:cBhvr>
                                        <p:cTn id="40" dur="500"/>
                                        <p:tgtEl>
                                          <p:spTgt spid="933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3900"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7204" name="Rectangle 4">
            <a:extLst>
              <a:ext uri="{FF2B5EF4-FFF2-40B4-BE49-F238E27FC236}">
                <a16:creationId xmlns:a16="http://schemas.microsoft.com/office/drawing/2014/main" id="{DC86CB55-94E5-D341-4290-33D7C5D06C0A}"/>
              </a:ext>
            </a:extLst>
          </p:cNvPr>
          <p:cNvSpPr>
            <a:spLocks noChangeArrowheads="1"/>
          </p:cNvSpPr>
          <p:nvPr/>
        </p:nvSpPr>
        <p:spPr bwMode="auto">
          <a:xfrm>
            <a:off x="304800" y="2590800"/>
            <a:ext cx="3886200" cy="2362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a:latin typeface="Arial" charset="0"/>
                <a:ea typeface="ＭＳ Ｐゴシック" charset="0"/>
              </a:rPr>
              <a:t>A credible announced plan to reduce the inflation rate lowers the expected inflation rate and shifts the short-run Phillips curve downward. </a:t>
            </a:r>
          </a:p>
        </p:txBody>
      </p:sp>
      <p:sp>
        <p:nvSpPr>
          <p:cNvPr id="947231" name="Rectangle 31">
            <a:extLst>
              <a:ext uri="{FF2B5EF4-FFF2-40B4-BE49-F238E27FC236}">
                <a16:creationId xmlns:a16="http://schemas.microsoft.com/office/drawing/2014/main" id="{407F358E-968A-899A-50BC-64A6E2E48FE1}"/>
              </a:ext>
            </a:extLst>
          </p:cNvPr>
          <p:cNvSpPr>
            <a:spLocks noChangeArrowheads="1"/>
          </p:cNvSpPr>
          <p:nvPr/>
        </p:nvSpPr>
        <p:spPr bwMode="auto">
          <a:xfrm>
            <a:off x="304800" y="5029200"/>
            <a:ext cx="3886200" cy="152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spcBef>
                <a:spcPct val="50000"/>
              </a:spcBef>
              <a:defRPr/>
            </a:pPr>
            <a:r>
              <a:rPr lang="en-US">
                <a:latin typeface="Arial" charset="0"/>
                <a:ea typeface="ＭＳ Ｐゴシック" charset="0"/>
              </a:rPr>
              <a:t>Inflation rate falls and unemployment remains at 6 percent as the economy moves along </a:t>
            </a:r>
            <a:r>
              <a:rPr lang="en-US" i="1">
                <a:latin typeface="Arial" charset="0"/>
                <a:ea typeface="ＭＳ Ｐゴシック" charset="0"/>
              </a:rPr>
              <a:t>LRPC</a:t>
            </a:r>
            <a:r>
              <a:rPr lang="en-US">
                <a:latin typeface="Arial" charset="0"/>
                <a:ea typeface="ＭＳ Ｐゴシック" charset="0"/>
              </a:rPr>
              <a:t>.</a:t>
            </a:r>
          </a:p>
        </p:txBody>
      </p:sp>
      <p:sp>
        <p:nvSpPr>
          <p:cNvPr id="947232" name="Rectangle 32">
            <a:extLst>
              <a:ext uri="{FF2B5EF4-FFF2-40B4-BE49-F238E27FC236}">
                <a16:creationId xmlns:a16="http://schemas.microsoft.com/office/drawing/2014/main" id="{46E6F042-86C9-7F63-EE9B-37D099ADB4D3}"/>
              </a:ext>
            </a:extLst>
          </p:cNvPr>
          <p:cNvSpPr>
            <a:spLocks noChangeArrowheads="1"/>
          </p:cNvSpPr>
          <p:nvPr/>
        </p:nvSpPr>
        <p:spPr bwMode="auto">
          <a:xfrm>
            <a:off x="381000" y="1676400"/>
            <a:ext cx="3733800" cy="83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0" hangingPunct="0">
              <a:defRPr/>
            </a:pPr>
            <a:r>
              <a:rPr lang="en-US" b="1">
                <a:solidFill>
                  <a:srgbClr val="00468F"/>
                </a:solidFill>
                <a:latin typeface="Arial" charset="0"/>
                <a:ea typeface="ＭＳ Ｐゴシック" charset="0"/>
              </a:rPr>
              <a:t>A Credible Announced  Inflation Reduction</a:t>
            </a:r>
          </a:p>
        </p:txBody>
      </p:sp>
      <p:pic>
        <p:nvPicPr>
          <p:cNvPr id="103428" name="Picture 10" descr="fig3008a0.gif">
            <a:extLst>
              <a:ext uri="{FF2B5EF4-FFF2-40B4-BE49-F238E27FC236}">
                <a16:creationId xmlns:a16="http://schemas.microsoft.com/office/drawing/2014/main" id="{E87129E0-A797-E035-0565-635B6EA83A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fig3008a1.gif">
            <a:extLst>
              <a:ext uri="{FF2B5EF4-FFF2-40B4-BE49-F238E27FC236}">
                <a16:creationId xmlns:a16="http://schemas.microsoft.com/office/drawing/2014/main" id="{14A272DB-3D5E-D05B-08B2-5E2C7F3FB17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fig3008b.gif">
            <a:extLst>
              <a:ext uri="{FF2B5EF4-FFF2-40B4-BE49-F238E27FC236}">
                <a16:creationId xmlns:a16="http://schemas.microsoft.com/office/drawing/2014/main" id="{12A338A4-645B-8FBB-F2FE-0329319EF40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3008c.gif">
            <a:extLst>
              <a:ext uri="{FF2B5EF4-FFF2-40B4-BE49-F238E27FC236}">
                <a16:creationId xmlns:a16="http://schemas.microsoft.com/office/drawing/2014/main" id="{F72DC1A1-21AC-BCF3-EB02-7E257FBE4DD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3008d.gif">
            <a:extLst>
              <a:ext uri="{FF2B5EF4-FFF2-40B4-BE49-F238E27FC236}">
                <a16:creationId xmlns:a16="http://schemas.microsoft.com/office/drawing/2014/main" id="{E6629CEA-F1D2-67E7-CB8C-E2E801155C9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3" descr="fig3008e.gif">
            <a:extLst>
              <a:ext uri="{FF2B5EF4-FFF2-40B4-BE49-F238E27FC236}">
                <a16:creationId xmlns:a16="http://schemas.microsoft.com/office/drawing/2014/main" id="{2E378173-7C4E-DA1E-E932-4BFC849A306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fig3008f.gif">
            <a:extLst>
              <a:ext uri="{FF2B5EF4-FFF2-40B4-BE49-F238E27FC236}">
                <a16:creationId xmlns:a16="http://schemas.microsoft.com/office/drawing/2014/main" id="{A8B960A1-EADD-C9BE-3CA6-36F6841B372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descr="fig3008g.gif">
            <a:extLst>
              <a:ext uri="{FF2B5EF4-FFF2-40B4-BE49-F238E27FC236}">
                <a16:creationId xmlns:a16="http://schemas.microsoft.com/office/drawing/2014/main" id="{6B912985-E440-5428-2C25-A590B6812BFA}"/>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6" descr="fig3008i.gif">
            <a:extLst>
              <a:ext uri="{FF2B5EF4-FFF2-40B4-BE49-F238E27FC236}">
                <a16:creationId xmlns:a16="http://schemas.microsoft.com/office/drawing/2014/main" id="{EFF88150-4186-8F96-29BA-206F2B9CD6DD}"/>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4191000" y="1676400"/>
            <a:ext cx="4808538"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a:extLst>
              <a:ext uri="{FF2B5EF4-FFF2-40B4-BE49-F238E27FC236}">
                <a16:creationId xmlns:a16="http://schemas.microsoft.com/office/drawing/2014/main" id="{97E87585-DFC2-3658-2569-F58B4B2F800A}"/>
              </a:ext>
            </a:extLst>
          </p:cNvPr>
          <p:cNvSpPr>
            <a:spLocks noGrp="1" noChangeArrowheads="1"/>
          </p:cNvSpPr>
          <p:nvPr>
            <p:ph type="title"/>
          </p:nvPr>
        </p:nvSpPr>
        <p:spPr>
          <a:xfrm>
            <a:off x="381000" y="762000"/>
            <a:ext cx="8229600" cy="762000"/>
          </a:xfrm>
        </p:spPr>
        <p:txBody>
          <a:bodyPr/>
          <a:lstStyle/>
          <a:p>
            <a:pPr marL="812800" indent="-812800" eaLnBrk="1" hangingPunct="1">
              <a:defRPr/>
            </a:pPr>
            <a:r>
              <a:rPr lang="en-US" dirty="0">
                <a:cs typeface="+mj-cs"/>
              </a:rPr>
              <a:t>31.3  INFLUENCING INFLATION AND UNEMPLOYMENT</a:t>
            </a:r>
            <a:endParaRPr lang="en-CA" dirty="0">
              <a:cs typeface="+mj-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7204"/>
                                        </p:tgtEl>
                                        <p:attrNameLst>
                                          <p:attrName>style.visibility</p:attrName>
                                        </p:attrNameLst>
                                      </p:cBhvr>
                                      <p:to>
                                        <p:strVal val="visible"/>
                                      </p:to>
                                    </p:set>
                                    <p:animEffect transition="in" filter="wipe(left)">
                                      <p:cBhvr>
                                        <p:cTn id="7" dur="500"/>
                                        <p:tgtEl>
                                          <p:spTgt spid="947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par>
                          <p:cTn id="13" fill="hold" nodeType="after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par>
                          <p:cTn id="21" fill="hold" nodeType="afterGroup">
                            <p:stCondLst>
                              <p:cond delay="1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par>
                          <p:cTn id="25" fill="hold" nodeType="afterGroup">
                            <p:stCondLst>
                              <p:cond delay="2000"/>
                            </p:stCondLst>
                            <p:childTnLst>
                              <p:par>
                                <p:cTn id="26" presetID="10" presetClass="entr" presetSubtype="0"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nodeType="afterGroup">
                            <p:stCondLst>
                              <p:cond delay="2500"/>
                            </p:stCondLst>
                            <p:childTnLst>
                              <p:par>
                                <p:cTn id="30" presetID="10" presetClass="entr" presetSubtype="0" fill="hold"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par>
                          <p:cTn id="33" fill="hold" nodeType="afterGroup">
                            <p:stCondLst>
                              <p:cond delay="3000"/>
                            </p:stCondLst>
                            <p:childTnLst>
                              <p:par>
                                <p:cTn id="34" presetID="10" presetClass="entr" presetSubtype="0"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childTnLst>
                          </p:cTn>
                        </p:par>
                        <p:par>
                          <p:cTn id="37" fill="hold" nodeType="afterGroup">
                            <p:stCondLst>
                              <p:cond delay="3500"/>
                            </p:stCondLst>
                            <p:childTnLst>
                              <p:par>
                                <p:cTn id="38" presetID="10" presetClass="entr" presetSubtype="0" fill="hold" nodeType="after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47231">
                                            <p:txEl>
                                              <p:pRg st="0" end="0"/>
                                            </p:txEl>
                                          </p:spTgt>
                                        </p:tgtEl>
                                        <p:attrNameLst>
                                          <p:attrName>style.visibility</p:attrName>
                                        </p:attrNameLst>
                                      </p:cBhvr>
                                      <p:to>
                                        <p:strVal val="visible"/>
                                      </p:to>
                                    </p:set>
                                    <p:animEffect transition="in" filter="wipe(left)">
                                      <p:cBhvr>
                                        <p:cTn id="45" dur="500"/>
                                        <p:tgtEl>
                                          <p:spTgt spid="9472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04" grpId="0"/>
      <p:bldP spid="947231" grpId="0" build="p"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4072"/>
            <a:ext cx="8491288" cy="1189411"/>
          </a:xfrm>
        </p:spPr>
        <p:txBody>
          <a:bodyPr/>
          <a:lstStyle/>
          <a:p>
            <a:pPr algn="l"/>
            <a:r>
              <a:rPr lang="en-US" sz="3200" dirty="0"/>
              <a:t>Figure 28.9 </a:t>
            </a:r>
            <a:br>
              <a:rPr lang="en-US" sz="3200" dirty="0"/>
            </a:br>
            <a:r>
              <a:rPr lang="en-US" sz="3200" dirty="0"/>
              <a:t>Short-run and long-run </a:t>
            </a:r>
            <a:r>
              <a:rPr lang="en-US" sz="3200" dirty="0" err="1"/>
              <a:t>phillips</a:t>
            </a:r>
            <a:r>
              <a:rPr lang="en-US" sz="3200" dirty="0"/>
              <a:t> curves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5637" y="1504403"/>
            <a:ext cx="8312727" cy="4516885"/>
          </a:xfrm>
          <a:prstGeom prst="rect">
            <a:avLst/>
          </a:prstGeom>
        </p:spPr>
      </p:pic>
    </p:spTree>
    <p:extLst>
      <p:ext uri="{BB962C8B-B14F-4D97-AF65-F5344CB8AC3E}">
        <p14:creationId xmlns:p14="http://schemas.microsoft.com/office/powerpoint/2010/main" val="15878089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4072"/>
            <a:ext cx="8491288" cy="1189411"/>
          </a:xfrm>
        </p:spPr>
        <p:txBody>
          <a:bodyPr/>
          <a:lstStyle/>
          <a:p>
            <a:pPr algn="l"/>
            <a:r>
              <a:rPr lang="en-US" sz="3200" dirty="0"/>
              <a:t>Figure 1 </a:t>
            </a:r>
            <a:br>
              <a:rPr lang="en-US" sz="3200" dirty="0"/>
            </a:br>
            <a:r>
              <a:rPr lang="en-US" sz="3200" dirty="0"/>
              <a:t>The UK </a:t>
            </a:r>
            <a:r>
              <a:rPr lang="en-US" sz="3200" dirty="0" err="1"/>
              <a:t>phillips</a:t>
            </a:r>
            <a:r>
              <a:rPr lang="en-US" sz="3200" dirty="0"/>
              <a:t> curves 2008–2020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9015" y="1441249"/>
            <a:ext cx="5105971" cy="4826038"/>
          </a:xfrm>
          <a:prstGeom prst="rect">
            <a:avLst/>
          </a:prstGeom>
        </p:spPr>
      </p:pic>
    </p:spTree>
    <p:extLst>
      <p:ext uri="{BB962C8B-B14F-4D97-AF65-F5344CB8AC3E}">
        <p14:creationId xmlns:p14="http://schemas.microsoft.com/office/powerpoint/2010/main" val="809902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466821"/>
            <a:ext cx="8491288" cy="1189411"/>
          </a:xfrm>
        </p:spPr>
        <p:txBody>
          <a:bodyPr/>
          <a:lstStyle/>
          <a:p>
            <a:pPr algn="l"/>
            <a:r>
              <a:rPr lang="en-US" sz="3200" dirty="0"/>
              <a:t>Figure 1 </a:t>
            </a:r>
            <a:br>
              <a:rPr lang="en-US" sz="3200" dirty="0"/>
            </a:br>
            <a:r>
              <a:rPr lang="en-US" sz="3200" dirty="0"/>
              <a:t>Real GDP growth rates in Eurozone countries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8055" y="1943547"/>
            <a:ext cx="6147889" cy="4293765"/>
          </a:xfrm>
          <a:prstGeom prst="rect">
            <a:avLst/>
          </a:prstGeom>
        </p:spPr>
      </p:pic>
    </p:spTree>
    <p:extLst>
      <p:ext uri="{BB962C8B-B14F-4D97-AF65-F5344CB8AC3E}">
        <p14:creationId xmlns:p14="http://schemas.microsoft.com/office/powerpoint/2010/main" val="10371531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24072"/>
            <a:ext cx="8491288" cy="1189411"/>
          </a:xfrm>
        </p:spPr>
        <p:txBody>
          <a:bodyPr/>
          <a:lstStyle/>
          <a:p>
            <a:pPr algn="l"/>
            <a:r>
              <a:rPr lang="en-US" sz="3200" dirty="0"/>
              <a:t>Figure 2 </a:t>
            </a:r>
            <a:br>
              <a:rPr lang="en-US" sz="3200" dirty="0"/>
            </a:br>
            <a:r>
              <a:rPr lang="en-US" sz="3200" dirty="0"/>
              <a:t>Eurozone inflation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2780" y="1437111"/>
            <a:ext cx="6938439" cy="4662337"/>
          </a:xfrm>
          <a:prstGeom prst="rect">
            <a:avLst/>
          </a:prstGeom>
        </p:spPr>
      </p:pic>
    </p:spTree>
    <p:extLst>
      <p:ext uri="{BB962C8B-B14F-4D97-AF65-F5344CB8AC3E}">
        <p14:creationId xmlns:p14="http://schemas.microsoft.com/office/powerpoint/2010/main" val="7691835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465677"/>
            <a:ext cx="8491288" cy="1189411"/>
          </a:xfrm>
        </p:spPr>
        <p:txBody>
          <a:bodyPr/>
          <a:lstStyle/>
          <a:p>
            <a:pPr algn="l"/>
            <a:r>
              <a:rPr lang="en-US" sz="3200" dirty="0"/>
              <a:t>Figure 3 </a:t>
            </a:r>
            <a:br>
              <a:rPr lang="en-US" sz="3200" dirty="0"/>
            </a:br>
            <a:r>
              <a:rPr lang="en-US" sz="3200" dirty="0"/>
              <a:t>Eurozone aggregate demand and</a:t>
            </a:r>
            <a:br>
              <a:rPr lang="en-US" sz="3200" dirty="0"/>
            </a:br>
            <a:r>
              <a:rPr lang="en-US" sz="3200" dirty="0"/>
              <a:t>aggregate supply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6297" y="1874900"/>
            <a:ext cx="4791404" cy="4456766"/>
          </a:xfrm>
          <a:prstGeom prst="rect">
            <a:avLst/>
          </a:prstGeom>
        </p:spPr>
      </p:pic>
    </p:spTree>
    <p:extLst>
      <p:ext uri="{BB962C8B-B14F-4D97-AF65-F5344CB8AC3E}">
        <p14:creationId xmlns:p14="http://schemas.microsoft.com/office/powerpoint/2010/main" val="442172746"/>
      </p:ext>
    </p:extLst>
  </p:cSld>
  <p:clrMapOvr>
    <a:masterClrMapping/>
  </p:clrMapOvr>
</p:sld>
</file>

<file path=ppt/theme/theme1.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8981DF6FD949479277F2472D00FEA7" ma:contentTypeVersion="17" ma:contentTypeDescription="Create a new document." ma:contentTypeScope="" ma:versionID="c9a32762dcbd6c5e0f6b51de6863c537">
  <xsd:schema xmlns:xsd="http://www.w3.org/2001/XMLSchema" xmlns:xs="http://www.w3.org/2001/XMLSchema" xmlns:p="http://schemas.microsoft.com/office/2006/metadata/properties" xmlns:ns2="c888f911-6bfd-442d-9fe5-f42f2f7a2c59" xmlns:ns3="c86649ca-290d-4237-b5ca-38108a4ea666" targetNamespace="http://schemas.microsoft.com/office/2006/metadata/properties" ma:root="true" ma:fieldsID="ef88fcde43fbf2b7859e96eae522f514" ns2:_="" ns3:_="">
    <xsd:import namespace="c888f911-6bfd-442d-9fe5-f42f2f7a2c59"/>
    <xsd:import namespace="c86649ca-290d-4237-b5ca-38108a4ea66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Videocompleted_x003f_"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88f911-6bfd-442d-9fe5-f42f2f7a2c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Videocompleted_x003f_" ma:index="20" nillable="true" ma:displayName="Video completed?" ma:default="0" ma:format="Dropdown" ma:internalName="Videocompleted_x003f_">
      <xsd:simpleType>
        <xsd:restriction base="dms:Boolea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86649ca-290d-4237-b5ca-38108a4ea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Videocompleted_x003f_ xmlns="c888f911-6bfd-442d-9fe5-f42f2f7a2c59">false</Videocompleted_x003f_>
  </documentManagement>
</p:properties>
</file>

<file path=customXml/itemProps1.xml><?xml version="1.0" encoding="utf-8"?>
<ds:datastoreItem xmlns:ds="http://schemas.openxmlformats.org/officeDocument/2006/customXml" ds:itemID="{2D9A3F61-13A4-47A6-BDA2-C2D344883AF0}">
  <ds:schemaRefs>
    <ds:schemaRef ds:uri="http://schemas.microsoft.com/sharepoint/v3/contenttype/forms"/>
  </ds:schemaRefs>
</ds:datastoreItem>
</file>

<file path=customXml/itemProps2.xml><?xml version="1.0" encoding="utf-8"?>
<ds:datastoreItem xmlns:ds="http://schemas.openxmlformats.org/officeDocument/2006/customXml" ds:itemID="{25F9DA32-FB23-4F36-9CE2-02F2F96E04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88f911-6bfd-442d-9fe5-f42f2f7a2c59"/>
    <ds:schemaRef ds:uri="c86649ca-290d-4237-b5ca-38108a4ea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162C22-5EC1-4514-873A-C7AF6F8F3814}">
  <ds:schemaRefs>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purl.org/dc/terms/"/>
    <ds:schemaRef ds:uri="c86649ca-290d-4237-b5ca-38108a4ea666"/>
    <ds:schemaRef ds:uri="c888f911-6bfd-442d-9fe5-f42f2f7a2c59"/>
    <ds:schemaRef ds:uri="http://schemas.microsoft.com/office/2006/metadata/properties"/>
    <ds:schemaRef ds:uri="http://www.w3.org/XML/1998/namespace"/>
    <ds:schemaRef ds:uri="http://purl.org/dc/dcmitype/"/>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
  <TotalTime>5896</TotalTime>
  <Words>5918</Words>
  <Application>Microsoft Macintosh PowerPoint</Application>
  <PresentationFormat>On-screen Show (4:3)</PresentationFormat>
  <Paragraphs>499</Paragraphs>
  <Slides>97</Slides>
  <Notes>82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97</vt:i4>
      </vt:variant>
    </vt:vector>
  </HeadingPairs>
  <TitlesOfParts>
    <vt:vector size="105" baseType="lpstr">
      <vt:lpstr>Times</vt:lpstr>
      <vt:lpstr>Arial</vt:lpstr>
      <vt:lpstr>Calibri</vt:lpstr>
      <vt:lpstr>Helvetica</vt:lpstr>
      <vt:lpstr>Tahoma</vt:lpstr>
      <vt:lpstr>Times New Roman</vt:lpstr>
      <vt:lpstr>Webdings</vt:lpstr>
      <vt:lpstr>3_Default Design</vt:lpstr>
      <vt:lpstr>PowerPoint Presentation</vt:lpstr>
      <vt:lpstr>PowerPoint Presentation</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28.1  AGGREGATE SUPPLY</vt:lpstr>
      <vt:lpstr>28.2  AGGREGATE DEMAND</vt:lpstr>
      <vt:lpstr>28.2  AGGREGATE DEMAND</vt:lpstr>
      <vt:lpstr>28.2  AGGREGATE DEMAND</vt:lpstr>
      <vt:lpstr>28.2  AGGREGATE DEMAND</vt:lpstr>
      <vt:lpstr>28.2  AGGREGATE DEMAND</vt:lpstr>
      <vt:lpstr>28.2  AGGREGATE DEMAND</vt:lpstr>
      <vt:lpstr>28.2  AGGREGATE DEMAND</vt:lpstr>
      <vt:lpstr>28.2  AGGREGATE DEMAND</vt:lpstr>
      <vt:lpstr>28.2  AGGREGATE DEMAND</vt:lpstr>
      <vt:lpstr>28.2  AGGREGATE DEMAND</vt:lpstr>
      <vt:lpstr>28.2  AGGREGATE DEMAND</vt:lpstr>
      <vt:lpstr>28.2  AGGREGATE DEMAND</vt:lpstr>
      <vt:lpstr>29.2  AGGREGATE DEMAND</vt:lpstr>
      <vt:lpstr>28.2  AGGREGATE DEMAND</vt:lpstr>
      <vt:lpstr>28.2  AGGREGATE DEMAND</vt:lpstr>
      <vt:lpstr>28.2  AGGREGATE DEMAND</vt:lpstr>
      <vt:lpstr>28.2  AGGREGATE DEMAND</vt:lpstr>
      <vt:lpstr>28.2  AGGREGATE DEMAND</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28.3  EXPLAINING ECONOMIC TRENDS AND FLUCTUATIONS</vt:lpstr>
      <vt:lpstr>Figure 28.1  Mainstream business cycle theory</vt:lpstr>
      <vt:lpstr>Figure 1  Real business cycle impulse</vt:lpstr>
      <vt:lpstr>Figure 28.2  Loanable funds and labour markets in a real business cycle</vt:lpstr>
      <vt:lpstr>Figure 28.3  Demand-pull rise in the price level</vt:lpstr>
      <vt:lpstr>Figure 28.4  Demand-pull inflation spiral</vt:lpstr>
      <vt:lpstr>Figure 28.5  Cost-push rise in the price level</vt:lpstr>
      <vt:lpstr>Figure 28.6  Cost-push inflation spiral</vt:lpstr>
      <vt:lpstr>Figure 28.7  Expected inflation</vt:lpstr>
      <vt:lpstr>Figure 1  Japan’s long deflation</vt:lpstr>
      <vt:lpstr>Figure 2  Money growth rate too low</vt:lpstr>
      <vt:lpstr>Figure 3  Japan’s decade average real GDP growth rates</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THE SHORT-RUN PHILLIPS CURVE</vt:lpstr>
      <vt:lpstr>Figure 28.8  Short-run Phillips curve</vt:lpstr>
      <vt:lpstr>31.2  SHORT-RUN AND LONG-RUN PHILLIPS CURVES</vt:lpstr>
      <vt:lpstr>31.2  SHORT-RUN AND LONG-RUN ...</vt:lpstr>
      <vt:lpstr>  SHORT-RUN AND LONG-RUN PHILLIPS CURVES</vt:lpstr>
      <vt:lpstr>SHORT-RUN AND LONG-RUN PHILLIPS CURVES</vt:lpstr>
      <vt:lpstr>31.2  SHORT-RUN AND LONG-RUN ...</vt:lpstr>
      <vt:lpstr>SHORT-RUN AND LONG-RUN PHILLIPS CURVES</vt:lpstr>
      <vt:lpstr>SHORT-RUN AND LONG-RUN ...</vt:lpstr>
      <vt:lpstr>SHORT-RUN AND LONG-RUN PHILLIPS CURVES</vt:lpstr>
      <vt:lpstr>SHORT-RUN AND LONG-RUN PHILLIPS CURVES</vt:lpstr>
      <vt:lpstr>SHORT-RUN AND LONG-RUN ...</vt:lpstr>
      <vt:lpstr>SHORT-RUN AND LONG-RUN PHILLIPS CURVES</vt:lpstr>
      <vt:lpstr>SHORT-RUN AND LONG-RUN PHILLIPS CURVES</vt:lpstr>
      <vt:lpstr>INFLUENCING INFLATION AND UNEMPLOYMENT</vt:lpstr>
      <vt:lpstr>31.3  INFLUENCING INFLATION AND UNEMPLOYMENT</vt:lpstr>
      <vt:lpstr>PowerPoint Presentation</vt:lpstr>
      <vt:lpstr>INFLUENCING INFLATION AND UNEMPLOYMENT</vt:lpstr>
      <vt:lpstr>31.3  INFLUENCING INFLATION AND UNEMPLOYMENT</vt:lpstr>
      <vt:lpstr>Figure 28.9  Short-run and long-run phillips curves</vt:lpstr>
      <vt:lpstr>Figure 1  The UK phillips curves 2008–2020</vt:lpstr>
      <vt:lpstr>Figure 1  Real GDP growth rates in Eurozone countries</vt:lpstr>
      <vt:lpstr>Figure 2  Eurozone inflation</vt:lpstr>
      <vt:lpstr>Figure 3  Eurozone aggregate demand and aggregate supply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 Powerpoint Slides</dc:title>
  <dc:subject>Digital Marketing</dc:subject>
  <dc:creator>Kirsty Farrelly</dc:creator>
  <cp:keywords>Digital Marketing</cp:keywords>
  <cp:lastModifiedBy>Le Mai. Huong</cp:lastModifiedBy>
  <cp:revision>280</cp:revision>
  <dcterms:created xsi:type="dcterms:W3CDTF">2019-02-27T10:38:23Z</dcterms:created>
  <dcterms:modified xsi:type="dcterms:W3CDTF">2026-02-25T15:55:38Z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0x010100138981DF6FD949479277F2472D00FEA7</vt:lpwstr>
  </property>
</Properties>
</file>