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5.xml" ContentType="application/vnd.openxmlformats-officedocument.theme+xml"/>
  <Override PartName="/ppt/theme/theme12.xml" ContentType="application/vnd.openxmlformats-officedocument.theme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embeddings/oleObject1.bin" ContentType="application/vnd.openxmlformats-officedocument.oleObject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_rels/presentation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17.png" ContentType="image/png"/>
  <Override PartName="/ppt/media/image11.png" ContentType="image/png"/>
  <Override PartName="/ppt/media/image1.jpeg" ContentType="image/jpeg"/>
  <Override PartName="/ppt/media/image41.png" ContentType="image/png"/>
  <Override PartName="/ppt/media/image5.jpeg" ContentType="image/jpeg"/>
  <Override PartName="/ppt/media/image48.png" ContentType="image/png"/>
  <Override PartName="/ppt/media/image12.png" ContentType="image/png"/>
  <Override PartName="/ppt/media/image38.png" ContentType="image/png"/>
  <Override PartName="/ppt/media/image14.png" ContentType="image/png"/>
  <Override PartName="/ppt/media/image7.png" ContentType="image/png"/>
  <Override PartName="/ppt/media/image39.png" ContentType="image/png"/>
  <Override PartName="/ppt/media/image4.tif" ContentType="image/tiff"/>
  <Override PartName="/ppt/media/image16.png" ContentType="image/png"/>
  <Override PartName="/ppt/media/image9.png" ContentType="image/png"/>
  <Override PartName="/ppt/media/image3.wmf" ContentType="image/x-wmf"/>
  <Override PartName="/ppt/media/image21.png" ContentType="image/png"/>
  <Override PartName="/ppt/media/image10.png" ContentType="image/png"/>
  <Override PartName="/ppt/media/image69.png" ContentType="image/png"/>
  <Override PartName="/ppt/media/image13.png" ContentType="image/png"/>
  <Override PartName="/ppt/media/image6.png" ContentType="image/png"/>
  <Override PartName="/ppt/media/image18.png" ContentType="image/png"/>
  <Override PartName="/ppt/media/image2.jpeg" ContentType="image/jpeg"/>
  <Override PartName="/ppt/media/image19.png" ContentType="image/png"/>
  <Override PartName="/ppt/media/image20.png" ContentType="image/png"/>
  <Override PartName="/ppt/media/image79.png" ContentType="image/png"/>
  <Override PartName="/ppt/media/image8.png" ContentType="image/png"/>
  <Override PartName="/ppt/media/image15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40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37.png" ContentType="image/png"/>
  <Override PartName="/ppt/media/image82.jpeg" ContentType="image/jpeg"/>
  <Override PartName="/ppt/media/image49.png" ContentType="image/png"/>
  <Override PartName="/ppt/media/image31.png" ContentType="image/png"/>
  <Override PartName="/ppt/media/image50.wmf" ContentType="image/x-wmf"/>
  <Override PartName="/ppt/media/image61.png" ContentType="image/png"/>
  <Override PartName="/ppt/media/image51.png" ContentType="image/png"/>
  <Override PartName="/ppt/media/image52.png" ContentType="image/png"/>
  <Override PartName="/ppt/media/image53.png" ContentType="image/png"/>
  <Override PartName="/ppt/media/image54.png" ContentType="image/png"/>
  <Override PartName="/ppt/media/image55.png" ContentType="image/png"/>
  <Override PartName="/ppt/media/image60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67.png" ContentType="image/png"/>
  <Override PartName="/ppt/media/image68.png" ContentType="image/png"/>
  <Override PartName="/ppt/media/image70.png" ContentType="image/png"/>
  <Override PartName="/ppt/media/image56.png" ContentType="image/png"/>
  <Override PartName="/ppt/media/image71.png" ContentType="image/png"/>
  <Override PartName="/ppt/media/image57.png" ContentType="image/png"/>
  <Override PartName="/ppt/media/image72.png" ContentType="image/png"/>
  <Override PartName="/ppt/media/image58.png" ContentType="image/png"/>
  <Override PartName="/ppt/media/image73.png" ContentType="image/png"/>
  <Override PartName="/ppt/media/image76.png" ContentType="image/png"/>
  <Override PartName="/ppt/media/image77.png" ContentType="image/png"/>
  <Override PartName="/ppt/media/image59.png" ContentType="image/png"/>
  <Override PartName="/ppt/media/image74.png" ContentType="image/png"/>
  <Override PartName="/ppt/media/image65.png" ContentType="image/png"/>
  <Override PartName="/ppt/media/image47.png" ContentType="image/png"/>
  <Override PartName="/ppt/media/image80.png" ContentType="image/png"/>
  <Override PartName="/ppt/media/image78.png" ContentType="image/png"/>
  <Override PartName="/ppt/media/image75.png" ContentType="image/png"/>
  <Override PartName="/ppt/media/image66.png" ContentType="image/png"/>
  <Override PartName="/ppt/media/image81.png" ContentType="image/png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35.xml" ContentType="application/vnd.openxmlformats-officedocument.presentationml.slide+xml"/>
  <Override PartName="/ppt/slides/slide50.xml" ContentType="application/vnd.openxmlformats-officedocument.presentationml.slide+xml"/>
  <Override PartName="/ppt/slides/slide36.xml" ContentType="application/vnd.openxmlformats-officedocument.presentationml.slide+xml"/>
  <Override PartName="/ppt/slides/slide51.xml" ContentType="application/vnd.openxmlformats-officedocument.presentationml.slide+xml"/>
  <Override PartName="/ppt/slides/slide37.xml" ContentType="application/vnd.openxmlformats-officedocument.presentationml.slide+xml"/>
  <Override PartName="/ppt/slides/slide52.xml" ContentType="application/vnd.openxmlformats-officedocument.presentationml.slide+xml"/>
  <Override PartName="/ppt/slides/slide47.xml" ContentType="application/vnd.openxmlformats-officedocument.presentationml.slide+xml"/>
  <Override PartName="/ppt/slides/slide38.xml" ContentType="application/vnd.openxmlformats-officedocument.presentationml.slide+xml"/>
  <Override PartName="/ppt/slides/slide6.xml" ContentType="application/vnd.openxmlformats-officedocument.presentationml.slide+xml"/>
  <Override PartName="/ppt/slides/slide53.xml" ContentType="application/vnd.openxmlformats-officedocument.presentationml.slide+xml"/>
  <Override PartName="/ppt/slides/slide48.xml" ContentType="application/vnd.openxmlformats-officedocument.presentationml.slide+xml"/>
  <Override PartName="/ppt/slides/_rels/slide57.xml.rels" ContentType="application/vnd.openxmlformats-package.relationships+xml"/>
  <Override PartName="/ppt/slides/_rels/slide56.xml.rels" ContentType="application/vnd.openxmlformats-package.relationships+xml"/>
  <Override PartName="/ppt/slides/_rels/slide55.xml.rels" ContentType="application/vnd.openxmlformats-package.relationships+xml"/>
  <Override PartName="/ppt/slides/_rels/slide54.xml.rels" ContentType="application/vnd.openxmlformats-package.relationships+xml"/>
  <Override PartName="/ppt/slides/_rels/slide39.xml.rels" ContentType="application/vnd.openxmlformats-package.relationships+xml"/>
  <Override PartName="/ppt/slides/_rels/slide53.xml.rels" ContentType="application/vnd.openxmlformats-package.relationships+xml"/>
  <Override PartName="/ppt/slides/_rels/slide38.xml.rels" ContentType="application/vnd.openxmlformats-package.relationships+xml"/>
  <Override PartName="/ppt/slides/_rels/slide52.xml.rels" ContentType="application/vnd.openxmlformats-package.relationships+xml"/>
  <Override PartName="/ppt/slides/_rels/slide37.xml.rels" ContentType="application/vnd.openxmlformats-package.relationships+xml"/>
  <Override PartName="/ppt/slides/_rels/slide51.xml.rels" ContentType="application/vnd.openxmlformats-package.relationships+xml"/>
  <Override PartName="/ppt/slides/_rels/slide36.xml.rels" ContentType="application/vnd.openxmlformats-package.relationships+xml"/>
  <Override PartName="/ppt/slides/_rels/slide35.xml.rels" ContentType="application/vnd.openxmlformats-package.relationships+xml"/>
  <Override PartName="/ppt/slides/_rels/slide5.xml.rels" ContentType="application/vnd.openxmlformats-package.relationships+xml"/>
  <Override PartName="/ppt/slides/_rels/slide45.xml.rels" ContentType="application/vnd.openxmlformats-package.relationships+xml"/>
  <Override PartName="/ppt/slides/_rels/slide4.xml.rels" ContentType="application/vnd.openxmlformats-package.relationships+xml"/>
  <Override PartName="/ppt/slides/_rels/slide44.xml.rels" ContentType="application/vnd.openxmlformats-package.relationships+xml"/>
  <Override PartName="/ppt/slides/_rels/slide3.xml.rels" ContentType="application/vnd.openxmlformats-package.relationships+xml"/>
  <Override PartName="/ppt/slides/_rels/slide43.xml.rels" ContentType="application/vnd.openxmlformats-package.relationships+xml"/>
  <Override PartName="/ppt/slides/_rels/slide2.xml.rels" ContentType="application/vnd.openxmlformats-package.relationships+xml"/>
  <Override PartName="/ppt/slides/_rels/slide42.xml.rels" ContentType="application/vnd.openxmlformats-package.relationships+xml"/>
  <Override PartName="/ppt/slides/_rels/slide1.xml.rels" ContentType="application/vnd.openxmlformats-package.relationships+xml"/>
  <Override PartName="/ppt/slides/_rels/slide41.xml.rels" ContentType="application/vnd.openxmlformats-package.relationships+xml"/>
  <Override PartName="/ppt/slides/_rels/slide40.xml.rels" ContentType="application/vnd.openxmlformats-package.relationships+xml"/>
  <Override PartName="/ppt/slides/_rels/slide34.xml.rels" ContentType="application/vnd.openxmlformats-package.relationships+xml"/>
  <Override PartName="/ppt/slides/_rels/slide9.xml.rels" ContentType="application/vnd.openxmlformats-package.relationships+xml"/>
  <Override PartName="/ppt/slides/_rels/slide49.xml.rels" ContentType="application/vnd.openxmlformats-package.relationships+xml"/>
  <Override PartName="/ppt/slides/_rels/slide33.xml.rels" ContentType="application/vnd.openxmlformats-package.relationships+xml"/>
  <Override PartName="/ppt/slides/_rels/slide8.xml.rels" ContentType="application/vnd.openxmlformats-package.relationships+xml"/>
  <Override PartName="/ppt/slides/_rels/slide48.xml.rels" ContentType="application/vnd.openxmlformats-package.relationships+xml"/>
  <Override PartName="/ppt/slides/_rels/slide32.xml.rels" ContentType="application/vnd.openxmlformats-package.relationships+xml"/>
  <Override PartName="/ppt/slides/_rels/slide7.xml.rels" ContentType="application/vnd.openxmlformats-package.relationships+xml"/>
  <Override PartName="/ppt/slides/_rels/slide47.xml.rels" ContentType="application/vnd.openxmlformats-package.relationships+xml"/>
  <Override PartName="/ppt/slides/_rels/slide28.xml.rels" ContentType="application/vnd.openxmlformats-package.relationships+xml"/>
  <Override PartName="/ppt/slides/_rels/slide27.xml.rels" ContentType="application/vnd.openxmlformats-package.relationships+xml"/>
  <Override PartName="/ppt/slides/_rels/slide26.xml.rels" ContentType="application/vnd.openxmlformats-package.relationships+xml"/>
  <Override PartName="/ppt/slides/_rels/slide25.xml.rels" ContentType="application/vnd.openxmlformats-package.relationships+xml"/>
  <Override PartName="/ppt/slides/_rels/slide24.xml.rels" ContentType="application/vnd.openxmlformats-package.relationships+xml"/>
  <Override PartName="/ppt/slides/_rels/slide31.xml.rels" ContentType="application/vnd.openxmlformats-package.relationships+xml"/>
  <Override PartName="/ppt/slides/_rels/slide46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22.xml.rels" ContentType="application/vnd.openxmlformats-package.relationships+xml"/>
  <Override PartName="/ppt/slides/_rels/slide21.xml.rels" ContentType="application/vnd.openxmlformats-package.relationships+xml"/>
  <Override PartName="/ppt/slides/_rels/slide30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20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50.xml.rels" ContentType="application/vnd.openxmlformats-package.relationships+xml"/>
  <Override PartName="/ppt/slides/_rels/slide17.xml.rels" ContentType="application/vnd.openxmlformats-package.relationships+xml"/>
  <Override PartName="/ppt/slides/_rels/slide2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6.xml.rels" ContentType="application/vnd.openxmlformats-package.relationships+xml"/>
  <Override PartName="/ppt/slides/slide39.xml" ContentType="application/vnd.openxmlformats-officedocument.presentationml.slide+xml"/>
  <Override PartName="/ppt/slides/slide7.xml" ContentType="application/vnd.openxmlformats-officedocument.presentationml.slide+xml"/>
  <Override PartName="/ppt/slides/slide54.xml" ContentType="application/vnd.openxmlformats-officedocument.presentationml.slide+xml"/>
  <Override PartName="/ppt/slides/slide49.xml" ContentType="application/vnd.openxmlformats-officedocument.presentationml.slide+xml"/>
  <Override PartName="/ppt/slides/slide8.xml" ContentType="application/vnd.openxmlformats-officedocument.presentationml.slide+xml"/>
  <Override PartName="/ppt/slides/slide55.xml" ContentType="application/vnd.openxmlformats-officedocument.presentationml.slide+xml"/>
  <Override PartName="/ppt/slides/slide9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Slides/_rels/notesSlide57.xml.rels" ContentType="application/vnd.openxmlformats-package.relationships+xml"/>
  <Override PartName="/ppt/notesSlides/_rels/notesSlide56.xml.rels" ContentType="application/vnd.openxmlformats-package.relationships+xml"/>
  <Override PartName="/ppt/notesSlides/_rels/notesSlide55.xml.rels" ContentType="application/vnd.openxmlformats-package.relationships+xml"/>
  <Override PartName="/ppt/notesSlides/_rels/notesSlide49.xml.rels" ContentType="application/vnd.openxmlformats-package.relationships+xml"/>
  <Override PartName="/ppt/notesSlides/_rels/notesSlide54.xml.rels" ContentType="application/vnd.openxmlformats-package.relationships+xml"/>
  <Override PartName="/ppt/notesSlides/_rels/notesSlide48.xml.rels" ContentType="application/vnd.openxmlformats-package.relationships+xml"/>
  <Override PartName="/ppt/notesSlides/_rels/notesSlide47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50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46.xml.rels" ContentType="application/vnd.openxmlformats-package.relationships+xml"/>
  <Override PartName="/ppt/notesSlides/_rels/notesSlide45.xml.rels" ContentType="application/vnd.openxmlformats-package.relationships+xml"/>
  <Override PartName="/ppt/notesSlides/_rels/notesSlide44.xml.rels" ContentType="application/vnd.openxmlformats-package.relationships+xml"/>
  <Override PartName="/ppt/notesSlides/_rels/notesSlide4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53.xml.rels" ContentType="application/vnd.openxmlformats-package.relationships+xml"/>
  <Override PartName="/ppt/notesSlides/_rels/notesSlide4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52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41.xml.rels" ContentType="application/vnd.openxmlformats-package.relationships+xml"/>
  <Override PartName="/ppt/notesSlides/_rels/notesSlide7.xml.rels" ContentType="application/vnd.openxmlformats-package.relationships+xml"/>
  <Override PartName="/ppt/notesSlides/_rels/notesSlide51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40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37.xml.rels" ContentType="application/vnd.openxmlformats-package.relationships+xml"/>
  <Override PartName="/ppt/notesSlides/notesSlide3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5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11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54.xml"/><Relationship Id="rId64" Type="http://schemas.openxmlformats.org/officeDocument/2006/relationships/slide" Target="slides/slide55.xml"/><Relationship Id="rId65" Type="http://schemas.openxmlformats.org/officeDocument/2006/relationships/slide" Target="slides/slide56.xml"/><Relationship Id="rId66" Type="http://schemas.openxmlformats.org/officeDocument/2006/relationships/slide" Target="slides/slide57.xml"/><Relationship Id="rId6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543317F-3EB9-467D-A0FD-05C89538011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3080" cy="3428640"/>
          </a:xfrm>
          <a:prstGeom prst="rect">
            <a:avLst/>
          </a:prstGeom>
          <a:ln w="0">
            <a:noFill/>
          </a:ln>
        </p:spPr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8CBEA48-6B68-406A-8605-2ED0872D336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sldNum" idx="5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EB28BB6-15C2-4803-A5B8-13DBC987AD6A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sldNum" idx="6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14D017E-093C-4848-82FE-36F631BE32A2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sldNum" idx="7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4489F7B-B741-4A27-A19D-8FDDDDAC9E30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Num" idx="8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3B1F682-A11D-47EB-BB21-3A64B13B9F80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sldNum" idx="9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CF774E7-8049-4386-ADAB-D18BF41C4A14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sldNum" idx="10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5B1020D-CF63-4587-AFAD-C863F5E1769C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sldNum" idx="11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F6ED3F1-647B-4EFA-81F8-BAAD63E5B25D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sldNum" idx="12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8026D93-A597-40E4-A4D0-404A59979D29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sldNum" idx="13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31083D0-4F26-478A-80E2-BB7A57265BB5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ldNum" idx="14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9069E10-F146-4BC4-9A96-99FD6E9DCBF1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sldNum" idx="15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DA06560-8964-4EB6-99AC-06AF7609E24A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sldNum" idx="16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D619515-624F-4CA6-B83D-FD3AA3742812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sldNum" idx="17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DD464A2-FBE1-4470-ABB2-B02ABA46D123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ldNum" idx="18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5EE1719-E95C-45F3-A90F-FE119C3EEE38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sldNum" idx="19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733A743-C500-4E67-81A6-4876FBDA31B3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sldNum" idx="20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BC37091-8ADE-4658-B959-EEF98042DB88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1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CA94A34-61E0-4371-AEB4-7FA2AF454EC3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sldNum" idx="22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7AB8884-62E8-43EA-BCB4-B7093693EA19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sldNum" idx="23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082A507-D456-4E04-A19D-4F42E9167DCD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sldNum" idx="24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2EAF5BD-D6EF-4404-BFA4-531394B90D8A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AU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.</a:t>
            </a:r>
            <a:r>
              <a:rPr b="0" lang="en-GB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sldNum" idx="25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1C146C9-E6BF-4971-AF33-E0DF1D6B4548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sldNum" idx="26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7F635D1-6D70-4A21-9E3F-9E31FB3A0981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ldNum" idx="27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FE246FC-C958-4264-A52C-AE6967865756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sldNum" idx="28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1F605E2-4F8E-42B0-B895-C6B13955029F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sldNum" idx="29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F9C49AD-B504-4FBB-953B-E750050CC21A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sldNum" idx="30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ABEC913-160C-4015-8152-D43810411731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343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sldNum" idx="31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0AFCA2F-B0D9-4394-B82D-56560D40B3D2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74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sldNum" idx="32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75622BB-2716-4EB0-BEE3-415E9D10E3F7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77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sldNum" idx="33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2C36C55-DA0B-45FC-89C6-17C3500763BB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80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sldNum" idx="34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54DE2B6-4CDD-4458-A7B9-C24287B64C98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83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sldNum" idx="35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DF13D0-9DB7-4BA1-B228-B4182604D4AD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86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sldNum" idx="36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9473776-1945-4217-8CF8-A60F65C60846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89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sldNum" idx="37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62CC9F7-8F30-4561-83FB-1D20E49E7B44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92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sldNum" idx="38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41D14A7-7BEF-4C4E-B0AE-D0A6D402B273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95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sldNum" idx="39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66B3CD7-ADCF-408A-A7F3-E59020EE9954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98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sldNum" idx="40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C5097EC-DB86-4388-B42C-B908DE4BCBCA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01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sldNum" idx="41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1D5A727-1375-4A03-AB14-29DACE96F542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04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sldNum" idx="42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E8ECD39-7F74-4781-AAAF-8FE8133CC44F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07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sldNum" idx="43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81BD70C-1679-4BC1-A1E0-3200EB70091F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10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sldNum" idx="44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0305043-C412-49AA-B2C8-6802C542791A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13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sldNum" idx="45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255F3B5-875E-4CF5-B547-2649A0A7288F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16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sldNum" idx="46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FA92C87-6727-4C7D-A2FB-2AF709AD3702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19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sldNum" idx="47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9CCE53A-06ED-467C-8DE1-E544E24F024E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22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sldNum" idx="48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84BA21D-D2EE-45F6-A807-C77C2BF21671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25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sldNum" idx="49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697E8B6-53F5-40A3-B3EF-F1B25A2967C3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28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sldNum" idx="50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268EF31-5FB8-4572-9C6D-F90CF5A173A8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31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sldNum" idx="51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64DC051-DC1D-4555-8129-7A0D7D5AB6FE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34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sldNum" idx="52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7B69283-D4CA-46EA-AE0D-85FC79F55013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37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sldNum" idx="53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C19E70E-C056-4884-8B1B-55A235FAB242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40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sldNum" idx="54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5A02B8A-E454-4E42-9562-15E2F67ABBEF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43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sldNum" idx="55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D574DAA-D8BF-4A83-BC93-C312BB8D4A32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46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PlaceHolder 1"/>
          <p:cNvSpPr>
            <a:spLocks noGrp="1"/>
          </p:cNvSpPr>
          <p:nvPr>
            <p:ph type="sldNum" idx="56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2EFC05B-165C-42BC-BEA2-54DAF7DA4486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49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PlaceHolder 1"/>
          <p:cNvSpPr>
            <a:spLocks noGrp="1"/>
          </p:cNvSpPr>
          <p:nvPr>
            <p:ph type="sldNum" idx="57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6B60F38-484A-4EB3-8747-43638E3D6928}" type="slidenum">
              <a:rPr b="0" lang="en-CA" sz="1200" strike="noStrike" u="none">
                <a:solidFill>
                  <a:schemeClr val="dk1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52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54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PlaceHolder 3"/>
          <p:cNvSpPr>
            <a:spLocks noGrp="1"/>
          </p:cNvSpPr>
          <p:nvPr>
            <p:ph type="sldNum" idx="58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DCD72C9-BD51-4771-8D31-D7898C5B72F7}" type="slidenum">
              <a:rPr b="0" lang="en-CA" sz="12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5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PlaceHolder 3"/>
          <p:cNvSpPr>
            <a:spLocks noGrp="1"/>
          </p:cNvSpPr>
          <p:nvPr>
            <p:ph type="sldNum" idx="59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A53D9B0-B75F-4C9A-B483-7945AE864CA1}" type="slidenum">
              <a:rPr b="0" lang="en-CA" sz="12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60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PlaceHolder 3"/>
          <p:cNvSpPr>
            <a:spLocks noGrp="1"/>
          </p:cNvSpPr>
          <p:nvPr>
            <p:ph type="sldNum" idx="60"/>
          </p:nvPr>
        </p:nvSpPr>
        <p:spPr>
          <a:xfrm>
            <a:off x="3886200" y="868680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CA" sz="12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21BD30D-7358-4D85-A983-7541D3F7996A}" type="slidenum">
              <a:rPr b="0" lang="en-CA" sz="1200" strike="noStrike" u="none">
                <a:solidFill>
                  <a:srgbClr val="000000"/>
                </a:solidFill>
                <a:effectLst/>
                <a:uFillTx/>
                <a:latin typeface="Tahoma"/>
                <a:ea typeface="ＭＳ Ｐゴシック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/>
          <p:cNvSpPr/>
          <p:nvPr/>
        </p:nvSpPr>
        <p:spPr>
          <a:xfrm>
            <a:off x="3276720" y="914400"/>
            <a:ext cx="411444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561"/>
              </a:spcBef>
            </a:pP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Box 3"/>
          <p:cNvSpPr/>
          <p:nvPr/>
        </p:nvSpPr>
        <p:spPr>
          <a:xfrm>
            <a:off x="3641760" y="6643800"/>
            <a:ext cx="169200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© 2018 Pearson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"/>
          <p:cNvSpPr/>
          <p:nvPr/>
        </p:nvSpPr>
        <p:spPr>
          <a:xfrm>
            <a:off x="3276720" y="914400"/>
            <a:ext cx="411444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561"/>
              </a:spcBef>
            </a:pP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Box 3"/>
          <p:cNvSpPr/>
          <p:nvPr/>
        </p:nvSpPr>
        <p:spPr>
          <a:xfrm>
            <a:off x="3641760" y="6643800"/>
            <a:ext cx="169200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© 2018 Pearson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"/>
          <p:cNvSpPr/>
          <p:nvPr/>
        </p:nvSpPr>
        <p:spPr>
          <a:xfrm>
            <a:off x="3276720" y="914400"/>
            <a:ext cx="411444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561"/>
              </a:spcBef>
            </a:pP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Box 3"/>
          <p:cNvSpPr/>
          <p:nvPr/>
        </p:nvSpPr>
        <p:spPr>
          <a:xfrm>
            <a:off x="3641760" y="6643800"/>
            <a:ext cx="169200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© 2018 Pearson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CA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CA" sz="2800" strike="noStrike" u="none">
                <a:solidFill>
                  <a:srgbClr val="00468f"/>
                </a:solidFill>
                <a:effectLst/>
                <a:uFillTx/>
                <a:latin typeface="Arial"/>
              </a:rPr>
              <a:t>Click to edit the outline text format</a:t>
            </a: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"/>
          <p:cNvSpPr/>
          <p:nvPr/>
        </p:nvSpPr>
        <p:spPr>
          <a:xfrm>
            <a:off x="3276720" y="914400"/>
            <a:ext cx="411444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561"/>
              </a:spcBef>
            </a:pP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Box 3"/>
          <p:cNvSpPr/>
          <p:nvPr/>
        </p:nvSpPr>
        <p:spPr>
          <a:xfrm>
            <a:off x="3641760" y="6643800"/>
            <a:ext cx="169200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© 2018 Pearson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CA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CA" sz="2800" strike="noStrike" u="none">
                <a:solidFill>
                  <a:srgbClr val="00468f"/>
                </a:solidFill>
                <a:effectLst/>
                <a:uFillTx/>
                <a:latin typeface="Arial"/>
              </a:rPr>
              <a:t>Click to edit the outline text format</a:t>
            </a: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3_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2"/>
          <p:cNvSpPr/>
          <p:nvPr/>
        </p:nvSpPr>
        <p:spPr>
          <a:xfrm>
            <a:off x="3276720" y="914400"/>
            <a:ext cx="411444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561"/>
              </a:spcBef>
            </a:pP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Box 3"/>
          <p:cNvSpPr/>
          <p:nvPr/>
        </p:nvSpPr>
        <p:spPr>
          <a:xfrm>
            <a:off x="3641760" y="6643800"/>
            <a:ext cx="169200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© 2018 Pearson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CA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CA" sz="2800" strike="noStrike" u="none">
                <a:solidFill>
                  <a:srgbClr val="00468f"/>
                </a:solidFill>
                <a:effectLst/>
                <a:uFillTx/>
                <a:latin typeface="Arial"/>
              </a:rPr>
              <a:t>Click to edit the outline text format</a:t>
            </a: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2"/>
          <p:cNvSpPr/>
          <p:nvPr/>
        </p:nvSpPr>
        <p:spPr>
          <a:xfrm>
            <a:off x="3276720" y="914400"/>
            <a:ext cx="411444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561"/>
              </a:spcBef>
            </a:pP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Box 3"/>
          <p:cNvSpPr/>
          <p:nvPr/>
        </p:nvSpPr>
        <p:spPr>
          <a:xfrm>
            <a:off x="3641760" y="6643800"/>
            <a:ext cx="169200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© 2018 Pearson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CA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CA" sz="2800" strike="noStrike" u="none">
                <a:solidFill>
                  <a:srgbClr val="00468f"/>
                </a:solidFill>
                <a:effectLst/>
                <a:uFillTx/>
                <a:latin typeface="Arial"/>
              </a:rPr>
              <a:t>Click to edit the outline text format</a:t>
            </a: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3.wmf"/><Relationship Id="rId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 Box 2"/>
          <p:cNvSpPr/>
          <p:nvPr/>
        </p:nvSpPr>
        <p:spPr>
          <a:xfrm>
            <a:off x="4022640" y="6629400"/>
            <a:ext cx="169200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400"/>
              </a:spcBef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© 2018 Pearson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CA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CA" sz="2800" strike="noStrike" u="none">
                <a:solidFill>
                  <a:srgbClr val="fb1b2a"/>
                </a:solidFill>
                <a:effectLst/>
                <a:uFillTx/>
                <a:latin typeface="Arial"/>
              </a:rPr>
              <a:t>Click to edit the outline text format</a:t>
            </a:r>
            <a:endParaRPr b="1" lang="en-CA" sz="2800" strike="noStrike" u="none">
              <a:solidFill>
                <a:srgbClr val="fb1b2a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/>
          <p:nvPr/>
        </p:nvSpPr>
        <p:spPr>
          <a:xfrm>
            <a:off x="4022640" y="6643800"/>
            <a:ext cx="169200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400"/>
              </a:spcBef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© 2018 Pearson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Click to edit Master title style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60360" y="1440000"/>
            <a:ext cx="822924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468f"/>
              </a:buClr>
              <a:buFont typeface="Webdings" charset="2"/>
              <a:buChar char=""/>
            </a:pPr>
            <a:r>
              <a:rPr b="1" lang="en-US" sz="2800" strike="noStrike" u="non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Click to edit Master text styles</a:t>
            </a: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5892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Second level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lvl="2" marL="1079640" indent="-288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Third level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Fourth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Fifth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/>
          <p:cNvSpPr/>
          <p:nvPr/>
        </p:nvSpPr>
        <p:spPr>
          <a:xfrm>
            <a:off x="4022640" y="6629400"/>
            <a:ext cx="169200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400"/>
              </a:spcBef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© 2018 Pearson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Click to edit Master title style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360000" y="1440000"/>
            <a:ext cx="4114440" cy="4647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468f"/>
              </a:buClr>
              <a:buFont typeface="Webdings" charset="2"/>
              <a:buChar char=""/>
            </a:pPr>
            <a:r>
              <a:rPr b="1" lang="en-US" sz="2800" strike="noStrike" u="non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Click to edit Master text styles</a:t>
            </a: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5892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Second level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468f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Third level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Fourth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Fifth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7" descr="">
            <a:hlinkClick r:id="" action="ppaction://hlinkshowjump?jump=nextslide"/>
          </p:cNvPr>
          <p:cNvPicPr/>
          <p:nvPr/>
        </p:nvPicPr>
        <p:blipFill>
          <a:blip r:embed="rId2"/>
          <a:stretch/>
        </p:blipFill>
        <p:spPr>
          <a:xfrm>
            <a:off x="8640720" y="6480000"/>
            <a:ext cx="221760" cy="22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Box 2"/>
          <p:cNvSpPr/>
          <p:nvPr/>
        </p:nvSpPr>
        <p:spPr>
          <a:xfrm>
            <a:off x="4098960" y="6643800"/>
            <a:ext cx="169200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400"/>
              </a:spcBef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© 2018 Pearson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Click to edit Master title style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60000" y="1440000"/>
            <a:ext cx="4114440" cy="4647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468f"/>
              </a:buClr>
              <a:buFont typeface="Webdings" charset="2"/>
              <a:buChar char=""/>
            </a:pPr>
            <a:r>
              <a:rPr b="1" lang="en-US" sz="2800" strike="noStrike" u="non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Click to edit Master text styles</a:t>
            </a: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5892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Second level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468f"/>
              </a:buClr>
              <a:buFont typeface="Symbol" charset="2"/>
              <a:buChar char="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Third level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Fourth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Fifth level</a:t>
            </a:r>
            <a:endParaRPr b="0" lang="en-CA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4" descr="">
            <a:hlinkClick r:id="" action="ppaction://hlinkshowjump?jump=previousslide"/>
          </p:cNvPr>
          <p:cNvPicPr/>
          <p:nvPr/>
        </p:nvPicPr>
        <p:blipFill>
          <a:blip r:embed="rId2"/>
          <a:stretch/>
        </p:blipFill>
        <p:spPr>
          <a:xfrm>
            <a:off x="8640720" y="6480000"/>
            <a:ext cx="221760" cy="22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Text Box 2"/>
          <p:cNvSpPr/>
          <p:nvPr/>
        </p:nvSpPr>
        <p:spPr>
          <a:xfrm>
            <a:off x="4022640" y="6643800"/>
            <a:ext cx="169200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400"/>
              </a:spcBef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© 2018 Pearson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Box 13"/>
          <p:cNvSpPr/>
          <p:nvPr/>
        </p:nvSpPr>
        <p:spPr>
          <a:xfrm>
            <a:off x="185760" y="6416640"/>
            <a:ext cx="86421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Verdana"/>
              </a:rPr>
              <a:t>© 2022 Pearson Education Limited. All Rights Reserved.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Picture 8" descr="Pearson Logo"/>
          <p:cNvPicPr/>
          <p:nvPr/>
        </p:nvPicPr>
        <p:blipFill>
          <a:blip r:embed="rId2"/>
          <a:stretch/>
        </p:blipFill>
        <p:spPr>
          <a:xfrm>
            <a:off x="457200" y="6377040"/>
            <a:ext cx="917280" cy="27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tif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50.wmf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67.png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71.png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71.png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79.png"/><Relationship Id="rId2" Type="http://schemas.openxmlformats.org/officeDocument/2006/relationships/image" Target="../media/image80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79.png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82.jpe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82.jpe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82.jpe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5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Placeholder 1"/>
          <p:cNvSpPr/>
          <p:nvPr/>
        </p:nvSpPr>
        <p:spPr>
          <a:xfrm>
            <a:off x="4859280" y="3502080"/>
            <a:ext cx="3528720" cy="10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Chapter 3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Demand and supply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itle 1"/>
          <p:cNvSpPr/>
          <p:nvPr/>
        </p:nvSpPr>
        <p:spPr>
          <a:xfrm>
            <a:off x="407880" y="237960"/>
            <a:ext cx="8051400" cy="153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b="1" lang="en-US" sz="3600" strike="noStrike" u="none">
                <a:solidFill>
                  <a:srgbClr val="007fa3"/>
                </a:solidFill>
                <a:effectLst/>
                <a:uFillTx/>
                <a:latin typeface="Arial"/>
              </a:rPr>
              <a:t>Economics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</a:pPr>
            <a:r>
              <a:rPr b="0" lang="en-US" sz="2400" strike="noStrike" u="none">
                <a:solidFill>
                  <a:srgbClr val="007fa3"/>
                </a:solidFill>
                <a:effectLst/>
                <a:uFillTx/>
                <a:latin typeface="Arial"/>
              </a:rPr>
              <a:t>Eleventh European Edition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" name="Picture 4" descr=""/>
          <p:cNvPicPr/>
          <p:nvPr/>
        </p:nvPicPr>
        <p:blipFill>
          <a:blip r:embed="rId1"/>
          <a:stretch/>
        </p:blipFill>
        <p:spPr>
          <a:xfrm>
            <a:off x="539640" y="1312920"/>
            <a:ext cx="3600000" cy="4922280"/>
          </a:xfrm>
          <a:prstGeom prst="rect">
            <a:avLst/>
          </a:prstGeom>
          <a:noFill/>
          <a:ln w="0"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</p:pic>
      <p:sp>
        <p:nvSpPr>
          <p:cNvPr id="53" name="Text Placeholder 3"/>
          <p:cNvSpPr/>
          <p:nvPr/>
        </p:nvSpPr>
        <p:spPr>
          <a:xfrm>
            <a:off x="4859280" y="1962000"/>
            <a:ext cx="3528720" cy="10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Part 2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 markets work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8" descr=""/>
          <p:cNvPicPr/>
          <p:nvPr/>
        </p:nvPicPr>
        <p:blipFill>
          <a:blip r:embed="rId1"/>
          <a:stretch/>
        </p:blipFill>
        <p:spPr>
          <a:xfrm>
            <a:off x="216000" y="287280"/>
            <a:ext cx="8610120" cy="19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Box 6"/>
          <p:cNvSpPr/>
          <p:nvPr/>
        </p:nvSpPr>
        <p:spPr>
          <a:xfrm>
            <a:off x="225360" y="2362320"/>
            <a:ext cx="609876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CA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When you have completed your </a:t>
            </a:r>
            <a:br>
              <a:rPr sz="2400"/>
            </a:br>
            <a:r>
              <a:rPr b="1" lang="en-CA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study of this chapter, you will be able to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Box 7"/>
          <p:cNvSpPr/>
          <p:nvPr/>
        </p:nvSpPr>
        <p:spPr>
          <a:xfrm>
            <a:off x="225360" y="3489480"/>
            <a:ext cx="8461080" cy="31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03200" indent="-289080" defTabSz="11448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  <a:tabLst>
                <a:tab algn="l" pos="0"/>
              </a:tabLst>
            </a:pPr>
            <a:r>
              <a:rPr b="1" lang="en-US" sz="2400" strike="noStrike" u="non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1</a:t>
            </a: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Define and calculate the price elasticity of demand, </a:t>
            </a:r>
            <a:br>
              <a:rPr sz="2400"/>
            </a:b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and explain the factors that influence it.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3200" indent="-289080" defTabSz="11448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  <a:tabLst>
                <a:tab algn="l" pos="0"/>
              </a:tabLst>
            </a:pPr>
            <a:r>
              <a:rPr b="1" lang="en-US" sz="2400" strike="noStrike" u="non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2 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Define and calculate the price elasticity of supply, </a:t>
            </a:r>
            <a:br>
              <a:rPr sz="2400"/>
            </a:b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explain the factors that influence it.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03200" indent="-289080" defTabSz="11448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  <a:tabLst>
                <a:tab algn="l" pos="0"/>
              </a:tabLst>
            </a:pPr>
            <a:r>
              <a:rPr b="1" lang="en-US" sz="2400" strike="noStrike" u="non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3 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Define the cross elasticity of demand and the income elasticity of demand, and explain the factors that </a:t>
            </a:r>
            <a:br>
              <a:rPr sz="2400"/>
            </a:b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influence them.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Box 5"/>
          <p:cNvSpPr/>
          <p:nvPr/>
        </p:nvSpPr>
        <p:spPr>
          <a:xfrm>
            <a:off x="144360" y="755640"/>
            <a:ext cx="417636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CA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Elasticities of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CA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Demand and Supply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Box 5"/>
          <p:cNvSpPr/>
          <p:nvPr/>
        </p:nvSpPr>
        <p:spPr>
          <a:xfrm>
            <a:off x="5987880" y="424440"/>
            <a:ext cx="1157040" cy="10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>
              <a:lnSpc>
                <a:spcPct val="100000"/>
              </a:lnSpc>
              <a:spcBef>
                <a:spcPts val="3600"/>
              </a:spcBef>
            </a:pPr>
            <a:r>
              <a:rPr b="1" lang="en-US" sz="72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4</a:t>
            </a:r>
            <a:endParaRPr b="0" lang="en-US" sz="7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Box 9"/>
          <p:cNvSpPr/>
          <p:nvPr/>
        </p:nvSpPr>
        <p:spPr>
          <a:xfrm>
            <a:off x="5843520" y="1825560"/>
            <a:ext cx="297144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A" sz="1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CHAPTER CHECKLIST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wipe dir="r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nodeType="clickEffect" fill="hold">
                      <p:stCondLst>
                        <p:cond delay="indefinite"/>
                      </p:stCondLst>
                      <p:childTnLst>
                        <p:par>
                          <p:cTn id="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2" dur="10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nodeType="clickEffect" fill="hold">
                      <p:stCondLst>
                        <p:cond delay="indefinite"/>
                      </p:stCondLst>
                      <p:childTnLst>
                        <p:par>
                          <p:cTn id="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7" dur="1000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nodeType="clickEffect" fill="hold">
                      <p:stCondLst>
                        <p:cond delay="indefinite"/>
                      </p:stCondLst>
                      <p:childTnLst>
                        <p:par>
                          <p:cTn id="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2" dur="1000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22924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1" lang="en-US" sz="2600" strike="noStrike" u="non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Price elasticity of demand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is a measure of the extent to which the quantity demanded of a good changes when the price of the good changes.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To determine the price elasticity of demand, we compare the percentage change in the quantity demanded with the percentage change in price.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</p:spTree>
  </p:cSld>
  <p:transition spd="slow">
    <p:wipe dir="r"/>
  </p:transition>
  <p:timing>
    <p:tnLst>
      <p:par>
        <p:cTn id="23" dur="indefinite" restart="never" nodeType="tmRoot">
          <p:childTnLst>
            <p:seq>
              <p:cTn id="24" dur="indefinite" nodeType="mainSeq">
                <p:childTnLst>
                  <p:par>
                    <p:cTn id="25" nodeType="clickEffect" fill="hold">
                      <p:stCondLst>
                        <p:cond delay="indefinite"/>
                      </p:stCondLst>
                      <p:childTnLst>
                        <p:par>
                          <p:cTn id="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9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nodeType="clickEffect" fill="hold">
                      <p:stCondLst>
                        <p:cond delay="indefinite"/>
                      </p:stCondLst>
                      <p:childTnLst>
                        <p:par>
                          <p:cTn id="3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4" dur="500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22924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Webdings" charset="2"/>
              <a:buChar char=""/>
            </a:pPr>
            <a:r>
              <a:rPr b="1" lang="en-US" sz="2800" strike="noStrike" u="non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Percentage Change in Price</a:t>
            </a: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Suppose Starbucks raises the price of a latte from $3 to $5. What is the percentage change in price?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  <p:grpSp>
        <p:nvGrpSpPr>
          <p:cNvPr id="64" name="Group 1"/>
          <p:cNvGrpSpPr/>
          <p:nvPr/>
        </p:nvGrpSpPr>
        <p:grpSpPr>
          <a:xfrm>
            <a:off x="647640" y="3392640"/>
            <a:ext cx="7772400" cy="1144080"/>
            <a:chOff x="647640" y="3392640"/>
            <a:chExt cx="7772400" cy="1144080"/>
          </a:xfrm>
        </p:grpSpPr>
        <p:sp>
          <p:nvSpPr>
            <p:cNvPr id="65" name="Rectangle 4"/>
            <p:cNvSpPr/>
            <p:nvPr/>
          </p:nvSpPr>
          <p:spPr>
            <a:xfrm>
              <a:off x="647640" y="3527280"/>
              <a:ext cx="2819160" cy="818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>
                <a:lnSpc>
                  <a:spcPct val="100000"/>
                </a:lnSpc>
                <a:spcBef>
                  <a:spcPts val="479"/>
                </a:spcBef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	</a:t>
              </a: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Percentage change in price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Rectangle 5"/>
            <p:cNvSpPr/>
            <p:nvPr/>
          </p:nvSpPr>
          <p:spPr>
            <a:xfrm>
              <a:off x="3743280" y="3417840"/>
              <a:ext cx="3657240" cy="49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New price – Initial price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Rectangle 6"/>
            <p:cNvSpPr/>
            <p:nvPr/>
          </p:nvSpPr>
          <p:spPr>
            <a:xfrm>
              <a:off x="4152960" y="4046400"/>
              <a:ext cx="2666520" cy="49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 algn="ctr">
                <a:lnSpc>
                  <a:spcPct val="100000"/>
                </a:lnSpc>
                <a:spcBef>
                  <a:spcPts val="479"/>
                </a:spcBef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Initial Price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561"/>
                </a:spcBef>
                <a:tabLst>
                  <a:tab algn="l" pos="0"/>
                </a:tabLst>
              </a:pPr>
              <a:endPara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Rectangle 8"/>
            <p:cNvSpPr/>
            <p:nvPr/>
          </p:nvSpPr>
          <p:spPr>
            <a:xfrm>
              <a:off x="7201080" y="3719520"/>
              <a:ext cx="1218960" cy="49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x 100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Line 9"/>
            <p:cNvSpPr/>
            <p:nvPr/>
          </p:nvSpPr>
          <p:spPr>
            <a:xfrm>
              <a:off x="3848040" y="3965400"/>
              <a:ext cx="3178080" cy="360"/>
            </a:xfrm>
            <a:prstGeom prst="line">
              <a:avLst/>
            </a:prstGeom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70" name="AutoShape 10"/>
            <p:cNvSpPr/>
            <p:nvPr/>
          </p:nvSpPr>
          <p:spPr>
            <a:xfrm>
              <a:off x="3743280" y="3392640"/>
              <a:ext cx="151920" cy="1144080"/>
            </a:xfrm>
            <a:prstGeom prst="leftBracket">
              <a:avLst>
                <a:gd name="adj" fmla="val 58333"/>
              </a:avLst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71" name="AutoShape 11"/>
            <p:cNvSpPr/>
            <p:nvPr/>
          </p:nvSpPr>
          <p:spPr>
            <a:xfrm>
              <a:off x="6972480" y="3392640"/>
              <a:ext cx="155160" cy="1144080"/>
            </a:xfrm>
            <a:prstGeom prst="rightBracket">
              <a:avLst>
                <a:gd name="adj" fmla="val 57143"/>
              </a:avLst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72" name="Rectangle 5"/>
            <p:cNvSpPr/>
            <p:nvPr/>
          </p:nvSpPr>
          <p:spPr>
            <a:xfrm>
              <a:off x="3246480" y="3747960"/>
              <a:ext cx="380520" cy="46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>
                <a:lnSpc>
                  <a:spcPct val="100000"/>
                </a:lnSpc>
                <a:spcBef>
                  <a:spcPts val="479"/>
                </a:spcBef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=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3" name="Group 2"/>
          <p:cNvGrpSpPr/>
          <p:nvPr/>
        </p:nvGrpSpPr>
        <p:grpSpPr>
          <a:xfrm>
            <a:off x="647640" y="4938840"/>
            <a:ext cx="8265600" cy="1136160"/>
            <a:chOff x="647640" y="4938840"/>
            <a:chExt cx="8265600" cy="1136160"/>
          </a:xfrm>
        </p:grpSpPr>
        <p:sp>
          <p:nvSpPr>
            <p:cNvPr id="74" name="Rectangle 14"/>
            <p:cNvSpPr/>
            <p:nvPr/>
          </p:nvSpPr>
          <p:spPr>
            <a:xfrm>
              <a:off x="647640" y="5040360"/>
              <a:ext cx="2742840" cy="81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>
                <a:lnSpc>
                  <a:spcPct val="100000"/>
                </a:lnSpc>
                <a:spcBef>
                  <a:spcPts val="479"/>
                </a:spcBef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	</a:t>
              </a: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Percentage change in price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Rectangle 15"/>
            <p:cNvSpPr/>
            <p:nvPr/>
          </p:nvSpPr>
          <p:spPr>
            <a:xfrm>
              <a:off x="3903840" y="4938840"/>
              <a:ext cx="1352160" cy="48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$5 – $3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Rectangle 16"/>
            <p:cNvSpPr/>
            <p:nvPr/>
          </p:nvSpPr>
          <p:spPr>
            <a:xfrm>
              <a:off x="3979800" y="5587920"/>
              <a:ext cx="1047240" cy="48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 algn="ctr">
                <a:lnSpc>
                  <a:spcPct val="100000"/>
                </a:lnSpc>
                <a:spcBef>
                  <a:spcPts val="479"/>
                </a:spcBef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$3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561"/>
                </a:spcBef>
                <a:tabLst>
                  <a:tab algn="l" pos="0"/>
                </a:tabLst>
              </a:pPr>
              <a:endPara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Rectangle 17"/>
            <p:cNvSpPr/>
            <p:nvPr/>
          </p:nvSpPr>
          <p:spPr>
            <a:xfrm>
              <a:off x="5408640" y="5264280"/>
              <a:ext cx="1240920" cy="48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x 100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Line 18"/>
            <p:cNvSpPr/>
            <p:nvPr/>
          </p:nvSpPr>
          <p:spPr>
            <a:xfrm>
              <a:off x="3848040" y="5506920"/>
              <a:ext cx="1352520" cy="360"/>
            </a:xfrm>
            <a:prstGeom prst="line">
              <a:avLst/>
            </a:prstGeom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79" name="AutoShape 19"/>
            <p:cNvSpPr/>
            <p:nvPr/>
          </p:nvSpPr>
          <p:spPr>
            <a:xfrm>
              <a:off x="3743280" y="4938840"/>
              <a:ext cx="151920" cy="1136160"/>
            </a:xfrm>
            <a:prstGeom prst="leftBracket">
              <a:avLst>
                <a:gd name="adj" fmla="val 58333"/>
              </a:avLst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80" name="AutoShape 20"/>
            <p:cNvSpPr/>
            <p:nvPr/>
          </p:nvSpPr>
          <p:spPr>
            <a:xfrm>
              <a:off x="5180040" y="4938840"/>
              <a:ext cx="155160" cy="1136160"/>
            </a:xfrm>
            <a:prstGeom prst="rightBracket">
              <a:avLst>
                <a:gd name="adj" fmla="val 57143"/>
              </a:avLst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81" name="Rectangle 21"/>
            <p:cNvSpPr/>
            <p:nvPr/>
          </p:nvSpPr>
          <p:spPr>
            <a:xfrm>
              <a:off x="6246720" y="5264280"/>
              <a:ext cx="2666520" cy="48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= 66.67 percent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Rectangle 5"/>
            <p:cNvSpPr/>
            <p:nvPr/>
          </p:nvSpPr>
          <p:spPr>
            <a:xfrm>
              <a:off x="3274920" y="5308560"/>
              <a:ext cx="380520" cy="46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>
                <a:lnSpc>
                  <a:spcPct val="100000"/>
                </a:lnSpc>
                <a:spcBef>
                  <a:spcPts val="479"/>
                </a:spcBef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=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 spd="slow">
    <p:wipe dir="r"/>
  </p:transition>
  <p:timing>
    <p:tnLst>
      <p:par>
        <p:cTn id="35" dur="indefinite" restart="never" nodeType="tmRoot">
          <p:childTnLst>
            <p:seq>
              <p:cTn id="36" dur="indefinite" nodeType="mainSeq">
                <p:childTnLst>
                  <p:par>
                    <p:cTn id="37" nodeType="clickEffect" fill="hold">
                      <p:stCondLst>
                        <p:cond delay="indefinite"/>
                      </p:stCondLst>
                      <p:childTnLst>
                        <p:par>
                          <p:cTn id="3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1" dur="500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nodeType="clickEffect" fill="hold">
                      <p:stCondLst>
                        <p:cond delay="indefinite"/>
                      </p:stCondLst>
                      <p:childTnLst>
                        <p:par>
                          <p:cTn id="4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4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nodeType="clickEffect" fill="hold">
                      <p:stCondLst>
                        <p:cond delay="indefinite"/>
                      </p:stCondLst>
                      <p:childTnLst>
                        <p:par>
                          <p:cTn id="4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0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22924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A</a:t>
            </a: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Suppose Starbucks cuts the price of a latte from </a:t>
            </a:r>
            <a:br>
              <a:rPr sz="2400"/>
            </a:b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$5 to $3. What is the percentage change in price?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  <p:grpSp>
        <p:nvGrpSpPr>
          <p:cNvPr id="85" name="Group 22"/>
          <p:cNvGrpSpPr/>
          <p:nvPr/>
        </p:nvGrpSpPr>
        <p:grpSpPr>
          <a:xfrm>
            <a:off x="647640" y="3392640"/>
            <a:ext cx="7772400" cy="1144080"/>
            <a:chOff x="647640" y="3392640"/>
            <a:chExt cx="7772400" cy="1144080"/>
          </a:xfrm>
        </p:grpSpPr>
        <p:sp>
          <p:nvSpPr>
            <p:cNvPr id="86" name="Rectangle 4"/>
            <p:cNvSpPr/>
            <p:nvPr/>
          </p:nvSpPr>
          <p:spPr>
            <a:xfrm>
              <a:off x="647640" y="3527280"/>
              <a:ext cx="2819160" cy="818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>
                <a:lnSpc>
                  <a:spcPct val="100000"/>
                </a:lnSpc>
                <a:spcBef>
                  <a:spcPts val="479"/>
                </a:spcBef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	</a:t>
              </a: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Percentage change in price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Rectangle 5"/>
            <p:cNvSpPr/>
            <p:nvPr/>
          </p:nvSpPr>
          <p:spPr>
            <a:xfrm>
              <a:off x="3743280" y="3417840"/>
              <a:ext cx="3657240" cy="49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New price – Initial price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Rectangle 6"/>
            <p:cNvSpPr/>
            <p:nvPr/>
          </p:nvSpPr>
          <p:spPr>
            <a:xfrm>
              <a:off x="4152960" y="4046400"/>
              <a:ext cx="2666520" cy="49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 algn="ctr">
                <a:lnSpc>
                  <a:spcPct val="100000"/>
                </a:lnSpc>
                <a:spcBef>
                  <a:spcPts val="479"/>
                </a:spcBef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Initial Price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561"/>
                </a:spcBef>
                <a:tabLst>
                  <a:tab algn="l" pos="0"/>
                </a:tabLst>
              </a:pPr>
              <a:endPara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Rectangle 8"/>
            <p:cNvSpPr/>
            <p:nvPr/>
          </p:nvSpPr>
          <p:spPr>
            <a:xfrm>
              <a:off x="7201080" y="3719520"/>
              <a:ext cx="1218960" cy="49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x 100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Line 9"/>
            <p:cNvSpPr/>
            <p:nvPr/>
          </p:nvSpPr>
          <p:spPr>
            <a:xfrm>
              <a:off x="3848040" y="3965400"/>
              <a:ext cx="3178080" cy="360"/>
            </a:xfrm>
            <a:prstGeom prst="line">
              <a:avLst/>
            </a:prstGeom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1" name="AutoShape 10"/>
            <p:cNvSpPr/>
            <p:nvPr/>
          </p:nvSpPr>
          <p:spPr>
            <a:xfrm>
              <a:off x="3743280" y="3392640"/>
              <a:ext cx="151920" cy="1144080"/>
            </a:xfrm>
            <a:prstGeom prst="leftBracket">
              <a:avLst>
                <a:gd name="adj" fmla="val 58333"/>
              </a:avLst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2" name="AutoShape 11"/>
            <p:cNvSpPr/>
            <p:nvPr/>
          </p:nvSpPr>
          <p:spPr>
            <a:xfrm>
              <a:off x="6972480" y="3392640"/>
              <a:ext cx="155160" cy="1144080"/>
            </a:xfrm>
            <a:prstGeom prst="rightBracket">
              <a:avLst>
                <a:gd name="adj" fmla="val 57143"/>
              </a:avLst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93" name="Rectangle 5"/>
            <p:cNvSpPr/>
            <p:nvPr/>
          </p:nvSpPr>
          <p:spPr>
            <a:xfrm>
              <a:off x="3246480" y="3747960"/>
              <a:ext cx="380520" cy="46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>
                <a:lnSpc>
                  <a:spcPct val="100000"/>
                </a:lnSpc>
                <a:spcBef>
                  <a:spcPts val="479"/>
                </a:spcBef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=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4" name="Group 31"/>
          <p:cNvGrpSpPr/>
          <p:nvPr/>
        </p:nvGrpSpPr>
        <p:grpSpPr>
          <a:xfrm>
            <a:off x="647640" y="4938840"/>
            <a:ext cx="8265600" cy="1136160"/>
            <a:chOff x="647640" y="4938840"/>
            <a:chExt cx="8265600" cy="1136160"/>
          </a:xfrm>
        </p:grpSpPr>
        <p:sp>
          <p:nvSpPr>
            <p:cNvPr id="95" name="Rectangle 14"/>
            <p:cNvSpPr/>
            <p:nvPr/>
          </p:nvSpPr>
          <p:spPr>
            <a:xfrm>
              <a:off x="647640" y="5040360"/>
              <a:ext cx="2742840" cy="81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>
                <a:lnSpc>
                  <a:spcPct val="100000"/>
                </a:lnSpc>
                <a:spcBef>
                  <a:spcPts val="479"/>
                </a:spcBef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	</a:t>
              </a: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Percentage change in price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Rectangle 15"/>
            <p:cNvSpPr/>
            <p:nvPr/>
          </p:nvSpPr>
          <p:spPr>
            <a:xfrm>
              <a:off x="3903840" y="4938840"/>
              <a:ext cx="1352160" cy="48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$3 – $5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Rectangle 16"/>
            <p:cNvSpPr/>
            <p:nvPr/>
          </p:nvSpPr>
          <p:spPr>
            <a:xfrm>
              <a:off x="3979800" y="5587920"/>
              <a:ext cx="1047240" cy="48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 algn="ctr">
                <a:lnSpc>
                  <a:spcPct val="100000"/>
                </a:lnSpc>
                <a:spcBef>
                  <a:spcPts val="479"/>
                </a:spcBef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$5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561"/>
                </a:spcBef>
                <a:tabLst>
                  <a:tab algn="l" pos="0"/>
                </a:tabLst>
              </a:pPr>
              <a:endPara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Rectangle 17"/>
            <p:cNvSpPr/>
            <p:nvPr/>
          </p:nvSpPr>
          <p:spPr>
            <a:xfrm>
              <a:off x="5408640" y="5264280"/>
              <a:ext cx="1240920" cy="48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x 100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Line 18"/>
            <p:cNvSpPr/>
            <p:nvPr/>
          </p:nvSpPr>
          <p:spPr>
            <a:xfrm>
              <a:off x="3848040" y="5506920"/>
              <a:ext cx="1352520" cy="360"/>
            </a:xfrm>
            <a:prstGeom prst="line">
              <a:avLst/>
            </a:prstGeom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0" name="AutoShape 19"/>
            <p:cNvSpPr/>
            <p:nvPr/>
          </p:nvSpPr>
          <p:spPr>
            <a:xfrm>
              <a:off x="3743280" y="4938840"/>
              <a:ext cx="151920" cy="1136160"/>
            </a:xfrm>
            <a:prstGeom prst="leftBracket">
              <a:avLst>
                <a:gd name="adj" fmla="val 58333"/>
              </a:avLst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1" name="AutoShape 20"/>
            <p:cNvSpPr/>
            <p:nvPr/>
          </p:nvSpPr>
          <p:spPr>
            <a:xfrm>
              <a:off x="5180040" y="4938840"/>
              <a:ext cx="155160" cy="1136160"/>
            </a:xfrm>
            <a:prstGeom prst="rightBracket">
              <a:avLst>
                <a:gd name="adj" fmla="val 57143"/>
              </a:avLst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02" name="Rectangle 21"/>
            <p:cNvSpPr/>
            <p:nvPr/>
          </p:nvSpPr>
          <p:spPr>
            <a:xfrm>
              <a:off x="6246720" y="5264280"/>
              <a:ext cx="2666520" cy="48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= </a:t>
              </a: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– 40 percent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Rectangle 5"/>
            <p:cNvSpPr/>
            <p:nvPr/>
          </p:nvSpPr>
          <p:spPr>
            <a:xfrm>
              <a:off x="3274920" y="5308560"/>
              <a:ext cx="380520" cy="46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>
                <a:lnSpc>
                  <a:spcPct val="100000"/>
                </a:lnSpc>
                <a:spcBef>
                  <a:spcPts val="479"/>
                </a:spcBef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=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 spd="slow">
    <p:wipe dir="r"/>
  </p:transition>
  <p:timing>
    <p:tnLst>
      <p:par>
        <p:cTn id="54" dur="indefinite" restart="never" nodeType="tmRoot">
          <p:childTnLst>
            <p:seq>
              <p:cTn id="55" dur="indefinite" nodeType="mainSeq">
                <p:childTnLst>
                  <p:par>
                    <p:cTn id="56" nodeType="clickEffect" fill="hold">
                      <p:stCondLst>
                        <p:cond delay="indefinite"/>
                      </p:stCondLst>
                      <p:childTnLst>
                        <p:par>
                          <p:cTn id="5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8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nodeType="clickEffect" fill="hold">
                      <p:stCondLst>
                        <p:cond delay="indefinite"/>
                      </p:stCondLst>
                      <p:childTnLst>
                        <p:par>
                          <p:cTn id="6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4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6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22924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The same price change, $2, over the same interval, </a:t>
            </a:r>
            <a:br>
              <a:rPr sz="2400"/>
            </a:b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$3 to $5, is a different percentage change depending on whether the price rises or falls.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We need a measure of percentage change that does not depend on the direction of the price change.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We use the average of the initial price and the new price to measure the percentage change.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</p:spTree>
  </p:cSld>
  <p:transition spd="slow">
    <p:wipe dir="r"/>
  </p:transition>
  <p:timing>
    <p:tnLst>
      <p:par>
        <p:cTn id="68" dur="indefinite" restart="never" nodeType="tmRoot">
          <p:childTnLst>
            <p:seq>
              <p:cTn id="69" dur="indefinite" nodeType="mainSeq">
                <p:childTnLst>
                  <p:par>
                    <p:cTn id="70" nodeType="clickEffect" fill="hold">
                      <p:stCondLst>
                        <p:cond delay="indefinite"/>
                      </p:stCondLst>
                      <p:childTnLst>
                        <p:par>
                          <p:cTn id="7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4" dur="500"/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nodeType="clickEffect" fill="hold">
                      <p:stCondLst>
                        <p:cond delay="indefinite"/>
                      </p:stCondLst>
                      <p:childTnLst>
                        <p:par>
                          <p:cTn id="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9" dur="500"/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22924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1" lang="en-US" sz="2400" strike="noStrike" u="non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The Midpoint Method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To calculate the percentage change in the price divide the change in the price by the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average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price and then multiply by 100. 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The average price is at the midpoint between the initial price and the new price, hence the name midpoint method.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  <p:grpSp>
        <p:nvGrpSpPr>
          <p:cNvPr id="108" name="Group 2"/>
          <p:cNvGrpSpPr/>
          <p:nvPr/>
        </p:nvGrpSpPr>
        <p:grpSpPr>
          <a:xfrm>
            <a:off x="355680" y="4724280"/>
            <a:ext cx="8457480" cy="1066680"/>
            <a:chOff x="355680" y="4724280"/>
            <a:chExt cx="8457480" cy="1066680"/>
          </a:xfrm>
        </p:grpSpPr>
        <p:grpSp>
          <p:nvGrpSpPr>
            <p:cNvPr id="109" name="Group 22"/>
            <p:cNvGrpSpPr/>
            <p:nvPr/>
          </p:nvGrpSpPr>
          <p:grpSpPr>
            <a:xfrm>
              <a:off x="355680" y="4724280"/>
              <a:ext cx="8457480" cy="1066680"/>
              <a:chOff x="355680" y="4724280"/>
              <a:chExt cx="8457480" cy="1066680"/>
            </a:xfrm>
          </p:grpSpPr>
          <p:sp>
            <p:nvSpPr>
              <p:cNvPr id="110" name="Rectangle 8"/>
              <p:cNvSpPr/>
              <p:nvPr/>
            </p:nvSpPr>
            <p:spPr>
              <a:xfrm>
                <a:off x="7560360" y="5029200"/>
                <a:ext cx="1252800" cy="456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 marL="343080" indent="-34308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400" strike="noStrike" u="none">
                    <a:solidFill>
                      <a:schemeClr val="dk1"/>
                    </a:solidFill>
                    <a:effectLst/>
                    <a:uFillTx/>
                    <a:latin typeface="Arial"/>
                    <a:ea typeface="ＭＳ Ｐゴシック"/>
                  </a:rPr>
                  <a:t>x 100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" name="Rectangle 5"/>
              <p:cNvSpPr/>
              <p:nvPr/>
            </p:nvSpPr>
            <p:spPr>
              <a:xfrm>
                <a:off x="355680" y="4876920"/>
                <a:ext cx="2780280" cy="761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 marL="343080" indent="-343080">
                  <a:lnSpc>
                    <a:spcPct val="100000"/>
                  </a:lnSpc>
                  <a:spcBef>
                    <a:spcPts val="479"/>
                  </a:spcBef>
                  <a:tabLst>
                    <a:tab algn="l" pos="0"/>
                  </a:tabLst>
                </a:pPr>
                <a:r>
                  <a:rPr b="0" lang="en-US" sz="2400" strike="noStrike" u="none">
                    <a:solidFill>
                      <a:schemeClr val="dk1"/>
                    </a:solidFill>
                    <a:effectLst/>
                    <a:uFillTx/>
                    <a:latin typeface="Arial"/>
                    <a:ea typeface="ＭＳ Ｐゴシック"/>
                  </a:rPr>
                  <a:t>	</a:t>
                </a:r>
                <a:r>
                  <a:rPr b="0" lang="en-US" sz="2400" strike="noStrike" u="none">
                    <a:solidFill>
                      <a:schemeClr val="dk1"/>
                    </a:solidFill>
                    <a:effectLst/>
                    <a:uFillTx/>
                    <a:latin typeface="Arial"/>
                    <a:ea typeface="ＭＳ Ｐゴシック"/>
                  </a:rPr>
                  <a:t>Percentage change in price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" name="Rectangle 6"/>
              <p:cNvSpPr/>
              <p:nvPr/>
            </p:nvSpPr>
            <p:spPr>
              <a:xfrm>
                <a:off x="3604680" y="4724280"/>
                <a:ext cx="3759480" cy="456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 marL="343080" indent="-34308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400" strike="noStrike" u="none">
                    <a:solidFill>
                      <a:schemeClr val="dk1"/>
                    </a:solidFill>
                    <a:effectLst/>
                    <a:uFillTx/>
                    <a:latin typeface="Arial"/>
                    <a:ea typeface="ＭＳ Ｐゴシック"/>
                  </a:rPr>
                  <a:t>New price – Initial price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Rectangle 7"/>
              <p:cNvSpPr/>
              <p:nvPr/>
            </p:nvSpPr>
            <p:spPr>
              <a:xfrm>
                <a:off x="2977920" y="5334120"/>
                <a:ext cx="4777920" cy="456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 marL="343080" indent="-343080" algn="ctr">
                  <a:lnSpc>
                    <a:spcPct val="100000"/>
                  </a:lnSpc>
                  <a:spcBef>
                    <a:spcPts val="479"/>
                  </a:spcBef>
                  <a:tabLst>
                    <a:tab algn="l" pos="0"/>
                  </a:tabLst>
                </a:pPr>
                <a:r>
                  <a:rPr b="0" lang="en-US" sz="2400" strike="noStrike" u="none">
                    <a:solidFill>
                      <a:schemeClr val="dk1"/>
                    </a:solidFill>
                    <a:effectLst/>
                    <a:uFillTx/>
                    <a:latin typeface="Arial"/>
                    <a:ea typeface="ＭＳ Ｐゴシック"/>
                  </a:rPr>
                  <a:t>(New Price + Initial Price) ÷ 2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" name="Line 9"/>
              <p:cNvSpPr/>
              <p:nvPr/>
            </p:nvSpPr>
            <p:spPr>
              <a:xfrm>
                <a:off x="3291120" y="5257800"/>
                <a:ext cx="3996720" cy="360"/>
              </a:xfrm>
              <a:prstGeom prst="line">
                <a:avLst/>
              </a:prstGeom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ctr">
                <a:noAutofit/>
              </a:bodyPr>
              <a:p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15" name="AutoShape 10"/>
              <p:cNvSpPr/>
              <p:nvPr/>
            </p:nvSpPr>
            <p:spPr>
              <a:xfrm>
                <a:off x="3213000" y="4724280"/>
                <a:ext cx="156240" cy="1066320"/>
              </a:xfrm>
              <a:prstGeom prst="leftBracket">
                <a:avLst>
                  <a:gd name="adj" fmla="val 58333"/>
                </a:avLst>
              </a:prstGeom>
              <a:noFill/>
              <a:ln w="285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16" name="AutoShape 11"/>
              <p:cNvSpPr/>
              <p:nvPr/>
            </p:nvSpPr>
            <p:spPr>
              <a:xfrm>
                <a:off x="7361280" y="4724280"/>
                <a:ext cx="159480" cy="1066320"/>
              </a:xfrm>
              <a:prstGeom prst="rightBracket">
                <a:avLst>
                  <a:gd name="adj" fmla="val 57143"/>
                </a:avLst>
              </a:prstGeom>
              <a:noFill/>
              <a:ln w="285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</p:grpSp>
        <p:sp>
          <p:nvSpPr>
            <p:cNvPr id="117" name="Rectangle 5"/>
            <p:cNvSpPr/>
            <p:nvPr/>
          </p:nvSpPr>
          <p:spPr>
            <a:xfrm>
              <a:off x="2793960" y="5024520"/>
              <a:ext cx="380520" cy="46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>
                <a:lnSpc>
                  <a:spcPct val="100000"/>
                </a:lnSpc>
                <a:spcBef>
                  <a:spcPts val="479"/>
                </a:spcBef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=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 spd="slow">
    <p:wipe dir="r"/>
  </p:transition>
  <p:timing>
    <p:tnLst>
      <p:par>
        <p:cTn id="80" dur="indefinite" restart="never" nodeType="tmRoot">
          <p:childTnLst>
            <p:seq>
              <p:cTn id="81" dur="indefinite" nodeType="mainSeq">
                <p:childTnLst>
                  <p:par>
                    <p:cTn id="82" nodeType="clickEffect" fill="hold">
                      <p:stCondLst>
                        <p:cond delay="indefinite"/>
                      </p:stCondLst>
                      <p:childTnLst>
                        <p:par>
                          <p:cTn id="8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6" dur="500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nodeType="clickEffect" fill="hold">
                      <p:stCondLst>
                        <p:cond delay="indefinite"/>
                      </p:stCondLst>
                      <p:childTnLst>
                        <p:par>
                          <p:cTn id="8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1" dur="500"/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nodeType="clickEffect" fill="hold">
                      <p:stCondLst>
                        <p:cond delay="indefinite"/>
                      </p:stCondLst>
                      <p:childTnLst>
                        <p:par>
                          <p:cTn id="9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4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6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02116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The percentage change in price calculated by the midpoint method is the same for a price rise and a price fall.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 12"/>
          <p:cNvSpPr/>
          <p:nvPr/>
        </p:nvSpPr>
        <p:spPr>
          <a:xfrm>
            <a:off x="7518240" y="2362320"/>
            <a:ext cx="2006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tabLst>
                <a:tab algn="l" pos="0"/>
              </a:tabLst>
            </a:pPr>
            <a:endParaRPr b="0" lang="en-GB" sz="2400" strike="noStrike" u="none">
              <a:solidFill>
                <a:schemeClr val="dk1"/>
              </a:solidFill>
              <a:effectLst/>
              <a:uFillTx/>
              <a:latin typeface="Arial"/>
              <a:ea typeface="ＭＳ Ｐゴシック"/>
            </a:endParaRPr>
          </a:p>
        </p:txBody>
      </p:sp>
      <p:grpSp>
        <p:nvGrpSpPr>
          <p:cNvPr id="121" name="Group 2"/>
          <p:cNvGrpSpPr/>
          <p:nvPr/>
        </p:nvGrpSpPr>
        <p:grpSpPr>
          <a:xfrm>
            <a:off x="1111320" y="2967120"/>
            <a:ext cx="6611760" cy="1066320"/>
            <a:chOff x="1111320" y="2967120"/>
            <a:chExt cx="6611760" cy="1066320"/>
          </a:xfrm>
        </p:grpSpPr>
        <p:sp>
          <p:nvSpPr>
            <p:cNvPr id="122" name="Rectangle 5"/>
            <p:cNvSpPr/>
            <p:nvPr/>
          </p:nvSpPr>
          <p:spPr>
            <a:xfrm>
              <a:off x="6488280" y="3271680"/>
              <a:ext cx="123480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x 100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Rectangle 6"/>
            <p:cNvSpPr/>
            <p:nvPr/>
          </p:nvSpPr>
          <p:spPr>
            <a:xfrm>
              <a:off x="1111320" y="3043080"/>
              <a:ext cx="2841120" cy="837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>
                <a:lnSpc>
                  <a:spcPct val="100000"/>
                </a:lnSpc>
                <a:spcBef>
                  <a:spcPts val="479"/>
                </a:spcBef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	</a:t>
              </a: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Percentage change in price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Rectangle 7"/>
            <p:cNvSpPr/>
            <p:nvPr/>
          </p:nvSpPr>
          <p:spPr>
            <a:xfrm>
              <a:off x="4572000" y="3002040"/>
              <a:ext cx="141408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$5 – $3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Rectangle 8"/>
            <p:cNvSpPr/>
            <p:nvPr/>
          </p:nvSpPr>
          <p:spPr>
            <a:xfrm>
              <a:off x="4025880" y="3538440"/>
              <a:ext cx="243000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 algn="ctr">
                <a:lnSpc>
                  <a:spcPct val="100000"/>
                </a:lnSpc>
                <a:spcBef>
                  <a:spcPts val="479"/>
                </a:spcBef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($5 + $3) ÷ 2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561"/>
                </a:spcBef>
                <a:tabLst>
                  <a:tab algn="l" pos="0"/>
                </a:tabLst>
              </a:pPr>
              <a:endPara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Line 9"/>
            <p:cNvSpPr/>
            <p:nvPr/>
          </p:nvSpPr>
          <p:spPr>
            <a:xfrm>
              <a:off x="4314600" y="3500280"/>
              <a:ext cx="1881360" cy="360"/>
            </a:xfrm>
            <a:prstGeom prst="line">
              <a:avLst/>
            </a:prstGeom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7" name="AutoShape 10"/>
            <p:cNvSpPr/>
            <p:nvPr/>
          </p:nvSpPr>
          <p:spPr>
            <a:xfrm>
              <a:off x="4168800" y="2967120"/>
              <a:ext cx="155160" cy="1066320"/>
            </a:xfrm>
            <a:prstGeom prst="leftBracket">
              <a:avLst>
                <a:gd name="adj" fmla="val 58333"/>
              </a:avLst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8" name="AutoShape 11"/>
            <p:cNvSpPr/>
            <p:nvPr/>
          </p:nvSpPr>
          <p:spPr>
            <a:xfrm>
              <a:off x="6170760" y="2967120"/>
              <a:ext cx="171000" cy="1066320"/>
            </a:xfrm>
            <a:prstGeom prst="rightBracket">
              <a:avLst>
                <a:gd name="adj" fmla="val 57143"/>
              </a:avLst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129" name="Rectangle 5"/>
            <p:cNvSpPr/>
            <p:nvPr/>
          </p:nvSpPr>
          <p:spPr>
            <a:xfrm>
              <a:off x="3714840" y="3271680"/>
              <a:ext cx="380520" cy="46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>
                <a:lnSpc>
                  <a:spcPct val="100000"/>
                </a:lnSpc>
                <a:spcBef>
                  <a:spcPts val="479"/>
                </a:spcBef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=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0" name="Rectangle 1"/>
          <p:cNvSpPr/>
          <p:nvPr/>
        </p:nvSpPr>
        <p:spPr>
          <a:xfrm>
            <a:off x="4572000" y="3013200"/>
            <a:ext cx="228564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br>
              <a:rPr sz="2400"/>
            </a:b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1" name="Group 3"/>
          <p:cNvGrpSpPr/>
          <p:nvPr/>
        </p:nvGrpSpPr>
        <p:grpSpPr>
          <a:xfrm>
            <a:off x="1446120" y="4587840"/>
            <a:ext cx="4419360" cy="829800"/>
            <a:chOff x="1446120" y="4587840"/>
            <a:chExt cx="4419360" cy="829800"/>
          </a:xfrm>
        </p:grpSpPr>
        <p:sp>
          <p:nvSpPr>
            <p:cNvPr id="132" name="Rectangle 14"/>
            <p:cNvSpPr/>
            <p:nvPr/>
          </p:nvSpPr>
          <p:spPr>
            <a:xfrm>
              <a:off x="1446120" y="4587840"/>
              <a:ext cx="4419360" cy="829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spcBef>
                  <a:spcPts val="479"/>
                </a:spcBef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Percentage </a:t>
              </a:r>
              <a:br>
                <a:rPr sz="2400"/>
              </a:b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change in price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Rectangle 5"/>
            <p:cNvSpPr/>
            <p:nvPr/>
          </p:nvSpPr>
          <p:spPr>
            <a:xfrm>
              <a:off x="3714840" y="4844880"/>
              <a:ext cx="2133360" cy="46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>
                <a:lnSpc>
                  <a:spcPct val="100000"/>
                </a:lnSpc>
                <a:spcBef>
                  <a:spcPts val="479"/>
                </a:spcBef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= 50 percent.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 spd="slow">
    <p:wipe dir="r"/>
  </p:transition>
  <p:timing>
    <p:tnLst>
      <p:par>
        <p:cTn id="98" dur="indefinite" restart="never" nodeType="tmRoot">
          <p:childTnLst>
            <p:seq>
              <p:cTn id="99" dur="indefinite" nodeType="mainSeq">
                <p:childTnLst>
                  <p:par>
                    <p:cTn id="100" nodeType="clickEffect" fill="hold">
                      <p:stCondLst>
                        <p:cond delay="indefinite"/>
                      </p:stCondLst>
                      <p:childTnLst>
                        <p:par>
                          <p:cTn id="10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4" dur="500"/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nodeType="clickEffect" fill="hold">
                      <p:stCondLst>
                        <p:cond delay="indefinite"/>
                      </p:stCondLst>
                      <p:childTnLst>
                        <p:par>
                          <p:cTn id="10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9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0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nodeType="clickEffect" fill="hold">
                      <p:stCondLst>
                        <p:cond delay="indefinite"/>
                      </p:stCondLst>
                      <p:childTnLst>
                        <p:par>
                          <p:cTn id="1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5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6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22924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2000" indent="-342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Webdings" charset="2"/>
              <a:buChar char=""/>
            </a:pPr>
            <a:r>
              <a:rPr b="1" lang="en-US" sz="2800" strike="noStrike" u="non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Percentage Change in Quantity Demanded</a:t>
            </a: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If Starbucks raises the price of a latte, the quantity of lattes demanded decreases.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  <p:grpSp>
        <p:nvGrpSpPr>
          <p:cNvPr id="136" name="Group 1"/>
          <p:cNvGrpSpPr/>
          <p:nvPr/>
        </p:nvGrpSpPr>
        <p:grpSpPr>
          <a:xfrm>
            <a:off x="735120" y="3062160"/>
            <a:ext cx="8316360" cy="1294920"/>
            <a:chOff x="735120" y="3062160"/>
            <a:chExt cx="8316360" cy="1294920"/>
          </a:xfrm>
        </p:grpSpPr>
        <p:grpSp>
          <p:nvGrpSpPr>
            <p:cNvPr id="137" name="Group 22"/>
            <p:cNvGrpSpPr/>
            <p:nvPr/>
          </p:nvGrpSpPr>
          <p:grpSpPr>
            <a:xfrm>
              <a:off x="735120" y="3062160"/>
              <a:ext cx="8316360" cy="1294920"/>
              <a:chOff x="735120" y="3062160"/>
              <a:chExt cx="8316360" cy="1294920"/>
            </a:xfrm>
          </p:grpSpPr>
          <p:sp>
            <p:nvSpPr>
              <p:cNvPr id="138" name="Rectangle 5"/>
              <p:cNvSpPr/>
              <p:nvPr/>
            </p:nvSpPr>
            <p:spPr>
              <a:xfrm>
                <a:off x="8010720" y="3521160"/>
                <a:ext cx="1040760" cy="456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 marL="343080" indent="-34308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400" strike="noStrike" u="none">
                    <a:solidFill>
                      <a:schemeClr val="dk1"/>
                    </a:solidFill>
                    <a:effectLst/>
                    <a:uFillTx/>
                    <a:latin typeface="Arial"/>
                    <a:ea typeface="ＭＳ Ｐゴシック"/>
                  </a:rPr>
                  <a:t>x 100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Rectangle 6"/>
              <p:cNvSpPr/>
              <p:nvPr/>
            </p:nvSpPr>
            <p:spPr>
              <a:xfrm>
                <a:off x="735120" y="3062160"/>
                <a:ext cx="1752840" cy="1294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  <a:spcBef>
                    <a:spcPts val="479"/>
                  </a:spcBef>
                </a:pPr>
                <a:r>
                  <a:rPr b="0" lang="en-US" sz="2400" strike="noStrike" u="none">
                    <a:solidFill>
                      <a:schemeClr val="dk1"/>
                    </a:solidFill>
                    <a:effectLst/>
                    <a:uFillTx/>
                    <a:latin typeface="Arial"/>
                    <a:ea typeface="ＭＳ Ｐゴシック"/>
                  </a:rPr>
                  <a:t>Percentage change in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479"/>
                  </a:spcBef>
                </a:pPr>
                <a:r>
                  <a:rPr b="0" lang="en-US" sz="2400" strike="noStrike" u="none">
                    <a:solidFill>
                      <a:schemeClr val="dk1"/>
                    </a:solidFill>
                    <a:effectLst/>
                    <a:uFillTx/>
                    <a:latin typeface="Arial"/>
                    <a:ea typeface="ＭＳ Ｐゴシック"/>
                  </a:rPr>
                  <a:t>quantity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479"/>
                  </a:spcBef>
                </a:pPr>
                <a:r>
                  <a:rPr b="0" lang="en-US" sz="2400" strike="noStrike" u="none">
                    <a:solidFill>
                      <a:schemeClr val="dk1"/>
                    </a:solidFill>
                    <a:effectLst/>
                    <a:uFillTx/>
                    <a:latin typeface="Arial"/>
                    <a:ea typeface="ＭＳ Ｐゴシック"/>
                  </a:rPr>
                  <a:t> 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561"/>
                  </a:spcBef>
                </a:pPr>
                <a:endParaRPr b="0" lang="en-US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" name="Rectangle 7"/>
              <p:cNvSpPr/>
              <p:nvPr/>
            </p:nvSpPr>
            <p:spPr>
              <a:xfrm>
                <a:off x="3296160" y="3232080"/>
                <a:ext cx="4416120" cy="456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 marL="343080" indent="-34308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400" strike="noStrike" u="none">
                    <a:solidFill>
                      <a:schemeClr val="dk1"/>
                    </a:solidFill>
                    <a:effectLst/>
                    <a:uFillTx/>
                    <a:latin typeface="Arial"/>
                    <a:ea typeface="ＭＳ Ｐゴシック"/>
                  </a:rPr>
                  <a:t>New quantity – Initial quantity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" name="Rectangle 8"/>
              <p:cNvSpPr/>
              <p:nvPr/>
            </p:nvSpPr>
            <p:spPr>
              <a:xfrm>
                <a:off x="2783160" y="3753000"/>
                <a:ext cx="5245920" cy="456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 marL="343080" indent="-343080" algn="ctr">
                  <a:lnSpc>
                    <a:spcPct val="100000"/>
                  </a:lnSpc>
                  <a:spcBef>
                    <a:spcPts val="479"/>
                  </a:spcBef>
                  <a:tabLst>
                    <a:tab algn="l" pos="0"/>
                  </a:tabLst>
                </a:pPr>
                <a:r>
                  <a:rPr b="0" lang="en-US" sz="2400" strike="noStrike" u="none">
                    <a:solidFill>
                      <a:schemeClr val="dk1"/>
                    </a:solidFill>
                    <a:effectLst/>
                    <a:uFillTx/>
                    <a:latin typeface="Arial"/>
                    <a:ea typeface="ＭＳ Ｐゴシック"/>
                  </a:rPr>
                  <a:t>(New quantity + Initial quantity) ÷ 2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561"/>
                  </a:spcBef>
                  <a:tabLst>
                    <a:tab algn="l" pos="0"/>
                  </a:tabLst>
                </a:pPr>
                <a:endParaRPr b="0" lang="en-US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Line 9"/>
              <p:cNvSpPr/>
              <p:nvPr/>
            </p:nvSpPr>
            <p:spPr>
              <a:xfrm>
                <a:off x="2961720" y="3749400"/>
                <a:ext cx="4905720" cy="360"/>
              </a:xfrm>
              <a:prstGeom prst="line">
                <a:avLst/>
              </a:prstGeom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ctr">
                <a:noAutofit/>
              </a:bodyPr>
              <a:p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43" name="AutoShape 10"/>
              <p:cNvSpPr/>
              <p:nvPr/>
            </p:nvSpPr>
            <p:spPr>
              <a:xfrm>
                <a:off x="2878560" y="3178080"/>
                <a:ext cx="163080" cy="1066320"/>
              </a:xfrm>
              <a:prstGeom prst="leftBracket">
                <a:avLst>
                  <a:gd name="adj" fmla="val 58333"/>
                </a:avLst>
              </a:prstGeom>
              <a:noFill/>
              <a:ln w="285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44" name="AutoShape 11"/>
              <p:cNvSpPr/>
              <p:nvPr/>
            </p:nvSpPr>
            <p:spPr>
              <a:xfrm>
                <a:off x="7773840" y="3178080"/>
                <a:ext cx="175320" cy="1066320"/>
              </a:xfrm>
              <a:prstGeom prst="rightBracket">
                <a:avLst>
                  <a:gd name="adj" fmla="val 57143"/>
                </a:avLst>
              </a:prstGeom>
              <a:noFill/>
              <a:ln w="285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</p:grpSp>
        <p:sp>
          <p:nvSpPr>
            <p:cNvPr id="145" name="Rectangle 5"/>
            <p:cNvSpPr/>
            <p:nvPr/>
          </p:nvSpPr>
          <p:spPr>
            <a:xfrm>
              <a:off x="2422440" y="3483000"/>
              <a:ext cx="380520" cy="46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>
                <a:lnSpc>
                  <a:spcPct val="100000"/>
                </a:lnSpc>
                <a:spcBef>
                  <a:spcPts val="479"/>
                </a:spcBef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=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6" name="Group 2"/>
          <p:cNvGrpSpPr/>
          <p:nvPr/>
        </p:nvGrpSpPr>
        <p:grpSpPr>
          <a:xfrm>
            <a:off x="738360" y="4721400"/>
            <a:ext cx="7975080" cy="1371240"/>
            <a:chOff x="738360" y="4721400"/>
            <a:chExt cx="7975080" cy="1371240"/>
          </a:xfrm>
        </p:grpSpPr>
        <p:grpSp>
          <p:nvGrpSpPr>
            <p:cNvPr id="147" name="Group 32"/>
            <p:cNvGrpSpPr/>
            <p:nvPr/>
          </p:nvGrpSpPr>
          <p:grpSpPr>
            <a:xfrm>
              <a:off x="738360" y="4721400"/>
              <a:ext cx="7975080" cy="1371240"/>
              <a:chOff x="738360" y="4721400"/>
              <a:chExt cx="7975080" cy="1371240"/>
            </a:xfrm>
          </p:grpSpPr>
          <p:sp>
            <p:nvSpPr>
              <p:cNvPr id="148" name="Rectangle 25"/>
              <p:cNvSpPr/>
              <p:nvPr/>
            </p:nvSpPr>
            <p:spPr>
              <a:xfrm>
                <a:off x="738360" y="4721400"/>
                <a:ext cx="1810080" cy="1371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  <a:spcBef>
                    <a:spcPts val="479"/>
                  </a:spcBef>
                </a:pPr>
                <a:r>
                  <a:rPr b="0" lang="en-US" sz="2400" strike="noStrike" u="none">
                    <a:solidFill>
                      <a:schemeClr val="dk1"/>
                    </a:solidFill>
                    <a:effectLst/>
                    <a:uFillTx/>
                    <a:latin typeface="Arial"/>
                    <a:ea typeface="ＭＳ Ｐゴシック"/>
                  </a:rPr>
                  <a:t>Percentage </a:t>
                </a:r>
                <a:br>
                  <a:rPr sz="2400"/>
                </a:br>
                <a:r>
                  <a:rPr b="0" lang="en-US" sz="2400" strike="noStrike" u="none">
                    <a:solidFill>
                      <a:schemeClr val="dk1"/>
                    </a:solidFill>
                    <a:effectLst/>
                    <a:uFillTx/>
                    <a:latin typeface="Arial"/>
                    <a:ea typeface="ＭＳ Ｐゴシック"/>
                  </a:rPr>
                  <a:t>change in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479"/>
                  </a:spcBef>
                </a:pPr>
                <a:r>
                  <a:rPr b="0" lang="en-US" sz="2400" strike="noStrike" u="none">
                    <a:solidFill>
                      <a:schemeClr val="dk1"/>
                    </a:solidFill>
                    <a:effectLst/>
                    <a:uFillTx/>
                    <a:latin typeface="Arial"/>
                    <a:ea typeface="ＭＳ Ｐゴシック"/>
                  </a:rPr>
                  <a:t>quantity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" name="Rectangle 26"/>
              <p:cNvSpPr/>
              <p:nvPr/>
            </p:nvSpPr>
            <p:spPr>
              <a:xfrm>
                <a:off x="3161520" y="4937040"/>
                <a:ext cx="1317960" cy="456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 marL="343080" indent="-343080" algn="ct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400" strike="noStrike" u="none">
                    <a:solidFill>
                      <a:schemeClr val="dk1"/>
                    </a:solidFill>
                    <a:effectLst/>
                    <a:uFillTx/>
                    <a:latin typeface="Arial"/>
                    <a:ea typeface="ＭＳ Ｐゴシック"/>
                  </a:rPr>
                  <a:t>5 – 15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" name="Rectangle 27"/>
              <p:cNvSpPr/>
              <p:nvPr/>
            </p:nvSpPr>
            <p:spPr>
              <a:xfrm>
                <a:off x="2823480" y="5423040"/>
                <a:ext cx="2048400" cy="456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 marL="343080" indent="-343080" algn="ctr">
                  <a:lnSpc>
                    <a:spcPct val="100000"/>
                  </a:lnSpc>
                  <a:spcBef>
                    <a:spcPts val="479"/>
                  </a:spcBef>
                  <a:tabLst>
                    <a:tab algn="l" pos="0"/>
                  </a:tabLst>
                </a:pPr>
                <a:r>
                  <a:rPr b="0" lang="en-US" sz="2400" strike="noStrike" u="none">
                    <a:solidFill>
                      <a:schemeClr val="dk1"/>
                    </a:solidFill>
                    <a:effectLst/>
                    <a:uFillTx/>
                    <a:latin typeface="Arial"/>
                    <a:ea typeface="ＭＳ Ｐゴシック"/>
                  </a:rPr>
                  <a:t>(5 + 15) ÷ 2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>
                  <a:lnSpc>
                    <a:spcPct val="100000"/>
                  </a:lnSpc>
                  <a:spcBef>
                    <a:spcPts val="561"/>
                  </a:spcBef>
                  <a:tabLst>
                    <a:tab algn="l" pos="0"/>
                  </a:tabLst>
                </a:pPr>
                <a:endParaRPr b="0" lang="en-US" sz="2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" name="Line 28"/>
              <p:cNvSpPr/>
              <p:nvPr/>
            </p:nvSpPr>
            <p:spPr>
              <a:xfrm>
                <a:off x="2961720" y="5394240"/>
                <a:ext cx="1747440" cy="360"/>
              </a:xfrm>
              <a:prstGeom prst="line">
                <a:avLst/>
              </a:prstGeom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ctr">
                <a:noAutofit/>
              </a:bodyPr>
              <a:p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52" name="AutoShape 29"/>
              <p:cNvSpPr/>
              <p:nvPr/>
            </p:nvSpPr>
            <p:spPr>
              <a:xfrm>
                <a:off x="2879640" y="4875120"/>
                <a:ext cx="164160" cy="1066320"/>
              </a:xfrm>
              <a:prstGeom prst="leftBracket">
                <a:avLst>
                  <a:gd name="adj" fmla="val 58333"/>
                </a:avLst>
              </a:prstGeom>
              <a:noFill/>
              <a:ln w="285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53" name="AutoShape 30"/>
              <p:cNvSpPr/>
              <p:nvPr/>
            </p:nvSpPr>
            <p:spPr>
              <a:xfrm>
                <a:off x="4633920" y="4875120"/>
                <a:ext cx="171360" cy="1066320"/>
              </a:xfrm>
              <a:prstGeom prst="rightBracket">
                <a:avLst>
                  <a:gd name="adj" fmla="val 57143"/>
                </a:avLst>
              </a:prstGeom>
              <a:noFill/>
              <a:ln w="285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endParaRPr>
              </a:p>
            </p:txBody>
          </p:sp>
          <p:sp>
            <p:nvSpPr>
              <p:cNvPr id="154" name="Rectangle 31"/>
              <p:cNvSpPr/>
              <p:nvPr/>
            </p:nvSpPr>
            <p:spPr>
              <a:xfrm>
                <a:off x="4884480" y="5164200"/>
                <a:ext cx="3828960" cy="456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 marL="343080" indent="-34308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2400" strike="noStrike" u="none">
                    <a:solidFill>
                      <a:schemeClr val="dk1"/>
                    </a:solidFill>
                    <a:effectLst/>
                    <a:uFillTx/>
                    <a:latin typeface="Arial"/>
                    <a:ea typeface="ＭＳ Ｐゴシック"/>
                  </a:rPr>
                  <a:t>x 100 </a:t>
                </a:r>
                <a:r>
                  <a:rPr b="0" lang="en-US" sz="2400" strike="noStrike" u="none">
                    <a:solidFill>
                      <a:schemeClr val="dk1"/>
                    </a:solidFill>
                    <a:effectLst/>
                    <a:uFillTx/>
                    <a:latin typeface="Arial"/>
                    <a:ea typeface="ＭＳ Ｐゴシック"/>
                  </a:rPr>
                  <a:t>=  – 100 percent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5" name="Rectangle 5"/>
            <p:cNvSpPr/>
            <p:nvPr/>
          </p:nvSpPr>
          <p:spPr>
            <a:xfrm>
              <a:off x="2455920" y="5164200"/>
              <a:ext cx="380520" cy="46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>
                <a:lnSpc>
                  <a:spcPct val="100000"/>
                </a:lnSpc>
                <a:spcBef>
                  <a:spcPts val="479"/>
                </a:spcBef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=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 spd="slow">
    <p:wipe dir="r"/>
  </p:transition>
  <p:timing>
    <p:tnLst>
      <p:par>
        <p:cTn id="117" dur="indefinite" restart="never" nodeType="tmRoot">
          <p:childTnLst>
            <p:seq>
              <p:cTn id="118" dur="indefinite" nodeType="mainSeq">
                <p:childTnLst>
                  <p:par>
                    <p:cTn id="119" nodeType="clickEffect" fill="hold">
                      <p:stCondLst>
                        <p:cond delay="indefinite"/>
                      </p:stCondLst>
                      <p:childTnLst>
                        <p:par>
                          <p:cTn id="1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1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23" dur="500"/>
                                        <p:tgtEl>
                                          <p:spTgt spid="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nodeType="clickEffect" fill="hold">
                      <p:stCondLst>
                        <p:cond delay="indefinite"/>
                      </p:stCondLst>
                      <p:childTnLst>
                        <p:par>
                          <p:cTn id="12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6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8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9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nodeType="clickEffect" fill="hold">
                      <p:stCondLst>
                        <p:cond delay="indefinite"/>
                      </p:stCondLst>
                      <p:childTnLst>
                        <p:par>
                          <p:cTn id="13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2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4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5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22924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When the price </a:t>
            </a:r>
            <a:r>
              <a:rPr b="0" i="1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rises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, the quantity demanded </a:t>
            </a:r>
            <a:r>
              <a:rPr b="0" i="1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decreases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 along the demand curve. 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Similarly, when the price </a:t>
            </a:r>
            <a:r>
              <a:rPr b="0" i="1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falls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, the quantity demanded </a:t>
            </a:r>
            <a:r>
              <a:rPr b="0" i="1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increases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 along the demand curve. 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Price and quantity always change in opposite directions.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So to compare the percentage change in the price and the percentage change in the quantity demanded, we ignore the minus sign and use the absolute values.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</p:spTree>
  </p:cSld>
  <p:transition spd="slow">
    <p:wipe dir="r"/>
  </p:transition>
  <p:timing>
    <p:tnLst>
      <p:par>
        <p:cTn id="136" dur="indefinite" restart="never" nodeType="tmRoot">
          <p:childTnLst>
            <p:seq>
              <p:cTn id="137" dur="indefinite" nodeType="mainSeq">
                <p:childTnLst>
                  <p:par>
                    <p:cTn id="138" nodeType="clickEffect" fill="hold">
                      <p:stCondLst>
                        <p:cond delay="indefinite"/>
                      </p:stCondLst>
                      <p:childTnLst>
                        <p:par>
                          <p:cTn id="13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42" dur="500"/>
                                        <p:tgtEl>
                                          <p:spTgt spid="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nodeType="clickEffect" fill="hold">
                      <p:stCondLst>
                        <p:cond delay="indefinite"/>
                      </p:stCondLst>
                      <p:childTnLst>
                        <p:par>
                          <p:cTn id="14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47" dur="500"/>
                                        <p:tgtEl>
                                          <p:spTgt spid="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nodeType="clickEffect" fill="hold">
                      <p:stCondLst>
                        <p:cond delay="indefinite"/>
                      </p:stCondLst>
                      <p:childTnLst>
                        <p:par>
                          <p:cTn id="14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52" dur="500"/>
                                        <p:tgtEl>
                                          <p:spTgt spid="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22924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2000" indent="-342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Webdings" charset="2"/>
              <a:buChar char=""/>
            </a:pPr>
            <a:r>
              <a:rPr b="1" lang="en-US" sz="2800" strike="noStrike" u="non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Elastic and Inelastic Demand</a:t>
            </a: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rPr>
              <a:t>Demand is</a:t>
            </a:r>
            <a:r>
              <a:rPr b="1" lang="en-US" sz="2400" strike="noStrike" u="non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 elastic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if the percentage change in the quantity demanded exceeds the percentage change in price.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rPr>
              <a:t>Demand is</a:t>
            </a:r>
            <a:r>
              <a:rPr b="1" lang="en-US" sz="2400" strike="noStrike" u="non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 unit elastic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if the percentage change in the quantity demanded equals the percentage change in price.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</p:spTree>
  </p:cSld>
  <p:transition spd="slow">
    <p:wipe dir="r"/>
  </p:transition>
  <p:timing>
    <p:tnLst>
      <p:par>
        <p:cTn id="153" dur="indefinite" restart="never" nodeType="tmRoot">
          <p:childTnLst>
            <p:seq>
              <p:cTn id="154" dur="indefinite" nodeType="mainSeq">
                <p:childTnLst>
                  <p:par>
                    <p:cTn id="155" nodeType="clickEffect" fill="hold">
                      <p:stCondLst>
                        <p:cond delay="indefinite"/>
                      </p:stCondLst>
                      <p:childTnLst>
                        <p:par>
                          <p:cTn id="15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59" dur="500"/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nodeType="clickEffect" fill="hold">
                      <p:stCondLst>
                        <p:cond delay="indefinite"/>
                      </p:stCondLst>
                      <p:childTnLst>
                        <p:par>
                          <p:cTn id="16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64" dur="500"/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22924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rPr>
              <a:t>Demand is</a:t>
            </a:r>
            <a:r>
              <a:rPr b="1" lang="en-US" sz="2400" strike="noStrike" u="non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 inelastic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if the percentage change in the quantity demanded is less than the percentage change in price.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rPr>
              <a:t>Demand is</a:t>
            </a:r>
            <a:r>
              <a:rPr b="1" lang="en-US" sz="2400" strike="noStrike" u="non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 perfectly elastic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if the quantity demanded changes by a very large percentage in response to an almost zero percentage change in price.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rPr>
              <a:t>Demand is</a:t>
            </a:r>
            <a:r>
              <a:rPr b="1" lang="en-US" sz="2400" strike="noStrike" u="non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 perfectly inelastic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if the quantity demanded remains constant as the price changes.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</p:spTree>
  </p:cSld>
  <p:transition spd="slow">
    <p:wipe dir="r"/>
  </p:transition>
  <p:timing>
    <p:tnLst>
      <p:par>
        <p:cTn id="165" dur="indefinite" restart="never" nodeType="tmRoot">
          <p:childTnLst>
            <p:seq>
              <p:cTn id="166" dur="indefinite" nodeType="mainSeq">
                <p:childTnLst>
                  <p:par>
                    <p:cTn id="167" nodeType="clickEffect" fill="hold">
                      <p:stCondLst>
                        <p:cond delay="indefinite"/>
                      </p:stCondLst>
                      <p:childTnLst>
                        <p:par>
                          <p:cTn id="16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71" dur="500"/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nodeType="clickEffect" fill="hold">
                      <p:stCondLst>
                        <p:cond delay="indefinite"/>
                      </p:stCondLst>
                      <p:childTnLst>
                        <p:par>
                          <p:cTn id="17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76" dur="500"/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13" descr="fig0501aa.gif"/>
          <p:cNvPicPr/>
          <p:nvPr/>
        </p:nvPicPr>
        <p:blipFill>
          <a:blip r:embed="rId1"/>
          <a:stretch/>
        </p:blipFill>
        <p:spPr>
          <a:xfrm>
            <a:off x="4464000" y="2376360"/>
            <a:ext cx="4300200" cy="325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Picture 14" descr="fig0501ab.gif"/>
          <p:cNvPicPr/>
          <p:nvPr/>
        </p:nvPicPr>
        <p:blipFill>
          <a:blip r:embed="rId2"/>
          <a:stretch/>
        </p:blipFill>
        <p:spPr>
          <a:xfrm>
            <a:off x="4464000" y="2376360"/>
            <a:ext cx="4300200" cy="325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4" name="Picture 15" descr="fig0501ac.gif"/>
          <p:cNvPicPr/>
          <p:nvPr/>
        </p:nvPicPr>
        <p:blipFill>
          <a:blip r:embed="rId3"/>
          <a:stretch/>
        </p:blipFill>
        <p:spPr>
          <a:xfrm>
            <a:off x="4464000" y="2376360"/>
            <a:ext cx="4300200" cy="325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5" name="Picture 16" descr="fig0501ad.gif"/>
          <p:cNvPicPr/>
          <p:nvPr/>
        </p:nvPicPr>
        <p:blipFill>
          <a:blip r:embed="rId4"/>
          <a:stretch/>
        </p:blipFill>
        <p:spPr>
          <a:xfrm>
            <a:off x="4464000" y="2376360"/>
            <a:ext cx="4300200" cy="325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4363560" cy="4647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Figure 5.1(a) shows a              perfectly elastic demand.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For a small change in the price of spring water, 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The quantity of spring water demanded changes by a large amount.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The demand for spring water is perfectly elastic.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</p:spTree>
  </p:cSld>
  <p:transition spd="slow">
    <p:wipe dir="r"/>
  </p:transition>
  <p:timing>
    <p:tnLst>
      <p:par>
        <p:cTn id="177" dur="indefinite" restart="never" nodeType="tmRoot">
          <p:childTnLst>
            <p:seq>
              <p:cTn id="178" dur="indefinite" nodeType="mainSeq">
                <p:childTnLst>
                  <p:par>
                    <p:cTn id="179" nodeType="clickEffect" fill="hold">
                      <p:stCondLst>
                        <p:cond delay="indefinite"/>
                      </p:stCondLst>
                      <p:childTnLst>
                        <p:par>
                          <p:cTn id="18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1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83" dur="500"/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6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nodeType="clickEffect" fill="hold">
                      <p:stCondLst>
                        <p:cond delay="indefinite"/>
                      </p:stCondLst>
                      <p:childTnLst>
                        <p:par>
                          <p:cTn id="18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91" dur="500"/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4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nodeType="clickEffect" fill="hold">
                      <p:stCondLst>
                        <p:cond delay="indefinite"/>
                      </p:stCondLst>
                      <p:childTnLst>
                        <p:par>
                          <p:cTn id="19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99" dur="500"/>
                                        <p:tgtEl>
                                          <p:spTgt spid="1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2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Picture 12" descr="fig0501ba.gif"/>
          <p:cNvPicPr/>
          <p:nvPr/>
        </p:nvPicPr>
        <p:blipFill>
          <a:blip r:embed="rId1"/>
          <a:stretch/>
        </p:blipFill>
        <p:spPr>
          <a:xfrm>
            <a:off x="4464000" y="2376360"/>
            <a:ext cx="4300200" cy="325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" name="Picture 13" descr="fig0501bb.gif"/>
          <p:cNvPicPr/>
          <p:nvPr/>
        </p:nvPicPr>
        <p:blipFill>
          <a:blip r:embed="rId2"/>
          <a:stretch/>
        </p:blipFill>
        <p:spPr>
          <a:xfrm>
            <a:off x="4464000" y="2376360"/>
            <a:ext cx="4300200" cy="325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" name="Picture 14" descr="fig0501bc.gif"/>
          <p:cNvPicPr/>
          <p:nvPr/>
        </p:nvPicPr>
        <p:blipFill>
          <a:blip r:embed="rId3"/>
          <a:stretch/>
        </p:blipFill>
        <p:spPr>
          <a:xfrm>
            <a:off x="4464000" y="2376360"/>
            <a:ext cx="4300200" cy="325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" name="Picture 15" descr="fig0501bd.gif"/>
          <p:cNvPicPr/>
          <p:nvPr/>
        </p:nvPicPr>
        <p:blipFill>
          <a:blip r:embed="rId4"/>
          <a:stretch/>
        </p:blipFill>
        <p:spPr>
          <a:xfrm>
            <a:off x="4464000" y="2376360"/>
            <a:ext cx="4300200" cy="325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4287600" cy="4647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Figure 5.1(b) shows an elastic demand.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When the price of a Sony PlayStation rises by 10%, 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The quantity of PlayStations demanded decreases by 20%.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Demand for Sony Playstations is elastic.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</p:spTree>
  </p:cSld>
  <p:transition spd="slow">
    <p:wipe dir="r"/>
  </p:transition>
  <p:timing>
    <p:tnLst>
      <p:par>
        <p:cTn id="203" dur="indefinite" restart="never" nodeType="tmRoot">
          <p:childTnLst>
            <p:seq>
              <p:cTn id="204" dur="indefinite" nodeType="mainSeq">
                <p:childTnLst>
                  <p:par>
                    <p:cTn id="205" nodeType="clickEffect" fill="hold">
                      <p:stCondLst>
                        <p:cond delay="indefinite"/>
                      </p:stCondLst>
                      <p:childTnLst>
                        <p:par>
                          <p:cTn id="20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09" dur="500"/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12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nodeType="clickEffect" fill="hold">
                      <p:stCondLst>
                        <p:cond delay="indefinite"/>
                      </p:stCondLst>
                      <p:childTnLst>
                        <p:par>
                          <p:cTn id="2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17" dur="500"/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nodeType="with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220"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nodeType="clickEffect" fill="hold">
                      <p:stCondLst>
                        <p:cond delay="indefinite"/>
                      </p:stCondLst>
                      <p:childTnLst>
                        <p:par>
                          <p:cTn id="2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3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25" dur="500"/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8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4114440" cy="4647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Figure 5.1(c) shows a unit elastic demand.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When the price of a trip rises by 10%, 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The quantity of trips demanded decreases by 10%.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The demand for trips is unit elastic.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  <p:pic>
        <p:nvPicPr>
          <p:cNvPr id="176" name="Picture 12" descr="fig0501ca.gif"/>
          <p:cNvPicPr/>
          <p:nvPr/>
        </p:nvPicPr>
        <p:blipFill>
          <a:blip r:embed="rId1"/>
          <a:stretch/>
        </p:blipFill>
        <p:spPr>
          <a:xfrm>
            <a:off x="4464000" y="2376360"/>
            <a:ext cx="4300200" cy="325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" name="Picture 13" descr="fig0501cb.gif"/>
          <p:cNvPicPr/>
          <p:nvPr/>
        </p:nvPicPr>
        <p:blipFill>
          <a:blip r:embed="rId2"/>
          <a:stretch/>
        </p:blipFill>
        <p:spPr>
          <a:xfrm>
            <a:off x="4464000" y="2376360"/>
            <a:ext cx="4300200" cy="325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Picture 14" descr="fig0501cc.gif"/>
          <p:cNvPicPr/>
          <p:nvPr/>
        </p:nvPicPr>
        <p:blipFill>
          <a:blip r:embed="rId3"/>
          <a:stretch/>
        </p:blipFill>
        <p:spPr>
          <a:xfrm>
            <a:off x="4464000" y="2376360"/>
            <a:ext cx="4300200" cy="325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" name="Picture 15" descr="fig0501cd.gif"/>
          <p:cNvPicPr/>
          <p:nvPr/>
        </p:nvPicPr>
        <p:blipFill>
          <a:blip r:embed="rId4"/>
          <a:stretch/>
        </p:blipFill>
        <p:spPr>
          <a:xfrm>
            <a:off x="4464000" y="2376360"/>
            <a:ext cx="4300200" cy="325872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wipe dir="r"/>
  </p:transition>
  <p:timing>
    <p:tnLst>
      <p:par>
        <p:cTn id="229" dur="indefinite" restart="never" nodeType="tmRoot">
          <p:childTnLst>
            <p:seq>
              <p:cTn id="230" dur="indefinite" nodeType="mainSeq">
                <p:childTnLst>
                  <p:par>
                    <p:cTn id="231" nodeType="clickEffect" fill="hold">
                      <p:stCondLst>
                        <p:cond delay="0"/>
                      </p:stCondLst>
                      <p:childTnLst>
                        <p:par>
                          <p:cTn id="23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3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35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237" nodeType="after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239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241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4114440" cy="4647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Figure 5.1(d) shows an inelastic demand.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When the price of gum rises by 20%,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The quantity of gum demanded decreases by 10%.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The demand for gum is inelastic.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  <p:pic>
        <p:nvPicPr>
          <p:cNvPr id="182" name="Picture 12" descr="fig0501da.gif"/>
          <p:cNvPicPr/>
          <p:nvPr/>
        </p:nvPicPr>
        <p:blipFill>
          <a:blip r:embed="rId1"/>
          <a:stretch/>
        </p:blipFill>
        <p:spPr>
          <a:xfrm>
            <a:off x="4464000" y="2376360"/>
            <a:ext cx="4300200" cy="325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" name="Picture 13" descr="fig0501db.gif"/>
          <p:cNvPicPr/>
          <p:nvPr/>
        </p:nvPicPr>
        <p:blipFill>
          <a:blip r:embed="rId2"/>
          <a:stretch/>
        </p:blipFill>
        <p:spPr>
          <a:xfrm>
            <a:off x="4464000" y="2376360"/>
            <a:ext cx="4300200" cy="325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Picture 14" descr="fig0501dc.gif"/>
          <p:cNvPicPr/>
          <p:nvPr/>
        </p:nvPicPr>
        <p:blipFill>
          <a:blip r:embed="rId3"/>
          <a:stretch/>
        </p:blipFill>
        <p:spPr>
          <a:xfrm>
            <a:off x="4464000" y="2376360"/>
            <a:ext cx="4300200" cy="325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5" name="Picture 15" descr="fig0501dd.gif"/>
          <p:cNvPicPr/>
          <p:nvPr/>
        </p:nvPicPr>
        <p:blipFill>
          <a:blip r:embed="rId4"/>
          <a:stretch/>
        </p:blipFill>
        <p:spPr>
          <a:xfrm>
            <a:off x="4464000" y="2376360"/>
            <a:ext cx="4300200" cy="325872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wipe dir="r"/>
  </p:transition>
  <p:timing>
    <p:tnLst>
      <p:par>
        <p:cTn id="244" dur="indefinite" restart="never" nodeType="tmRoot">
          <p:childTnLst>
            <p:seq>
              <p:cTn id="245" dur="indefinite" nodeType="mainSeq">
                <p:childTnLst>
                  <p:par>
                    <p:cTn id="246" nodeType="clickEffect" fill="hold">
                      <p:stCondLst>
                        <p:cond delay="indefinite"/>
                      </p:stCondLst>
                      <p:childTnLst>
                        <p:par>
                          <p:cTn id="24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8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50" dur="500"/>
                                        <p:tgtEl>
                                          <p:spTgt spid="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53"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nodeType="clickEffect" fill="hold">
                      <p:stCondLst>
                        <p:cond delay="indefinite"/>
                      </p:stCondLst>
                      <p:childTnLst>
                        <p:par>
                          <p:cTn id="25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6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58" dur="500"/>
                                        <p:tgtEl>
                                          <p:spTgt spid="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nodeType="with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261"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nodeType="clickEffect" fill="hold">
                      <p:stCondLst>
                        <p:cond delay="indefinite"/>
                      </p:stCondLst>
                      <p:childTnLst>
                        <p:par>
                          <p:cTn id="26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66" dur="500"/>
                                        <p:tgtEl>
                                          <p:spTgt spid="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9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4114440" cy="4647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Figure 5.1(e) shows a perfectly inelastic demand.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When the price of a dose rises, 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The quantity of doses demanded does not change.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Demand for doses is perfectly inelastic.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  <p:pic>
        <p:nvPicPr>
          <p:cNvPr id="188" name="Picture 12" descr="fig0501ea.gif"/>
          <p:cNvPicPr/>
          <p:nvPr/>
        </p:nvPicPr>
        <p:blipFill>
          <a:blip r:embed="rId1"/>
          <a:stretch/>
        </p:blipFill>
        <p:spPr>
          <a:xfrm>
            <a:off x="4464000" y="2376360"/>
            <a:ext cx="4300200" cy="325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" name="Picture 13" descr="fig0501eb.gif"/>
          <p:cNvPicPr/>
          <p:nvPr/>
        </p:nvPicPr>
        <p:blipFill>
          <a:blip r:embed="rId2"/>
          <a:stretch/>
        </p:blipFill>
        <p:spPr>
          <a:xfrm>
            <a:off x="4464000" y="2376360"/>
            <a:ext cx="4300200" cy="325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" name="Picture 14" descr="fig0501ec.gif"/>
          <p:cNvPicPr/>
          <p:nvPr/>
        </p:nvPicPr>
        <p:blipFill>
          <a:blip r:embed="rId3"/>
          <a:stretch/>
        </p:blipFill>
        <p:spPr>
          <a:xfrm>
            <a:off x="4464000" y="2376360"/>
            <a:ext cx="4300200" cy="325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Picture 15" descr="fig0501ed.gif"/>
          <p:cNvPicPr/>
          <p:nvPr/>
        </p:nvPicPr>
        <p:blipFill>
          <a:blip r:embed="rId4"/>
          <a:stretch/>
        </p:blipFill>
        <p:spPr>
          <a:xfrm>
            <a:off x="4464000" y="2376360"/>
            <a:ext cx="4300200" cy="325872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wipe dir="r"/>
  </p:transition>
  <p:timing>
    <p:tnLst>
      <p:par>
        <p:cTn id="270" dur="indefinite" restart="never" nodeType="tmRoot">
          <p:childTnLst>
            <p:seq>
              <p:cTn id="271" dur="indefinite" nodeType="mainSeq">
                <p:childTnLst>
                  <p:par>
                    <p:cTn id="272" nodeType="clickEffect" fill="hold">
                      <p:stCondLst>
                        <p:cond delay="indefinite"/>
                      </p:stCondLst>
                      <p:childTnLst>
                        <p:par>
                          <p:cTn id="27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76" dur="500"/>
                                        <p:tgtEl>
                                          <p:spTgt spid="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79"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nodeType="clickEffect" fill="hold">
                      <p:stCondLst>
                        <p:cond delay="indefinite"/>
                      </p:stCondLst>
                      <p:childTnLst>
                        <p:par>
                          <p:cTn id="28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8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84" dur="500"/>
                                        <p:tgtEl>
                                          <p:spTgt spid="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7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nodeType="clickEffect" fill="hold">
                      <p:stCondLst>
                        <p:cond delay="indefinite"/>
                      </p:stCondLst>
                      <p:childTnLst>
                        <p:par>
                          <p:cTn id="28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92" dur="500"/>
                                        <p:tgtEl>
                                          <p:spTgt spid="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5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22924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Webdings" charset="2"/>
              <a:buChar char=""/>
            </a:pPr>
            <a:r>
              <a:rPr b="1" lang="en-US" sz="2800" strike="noStrike" u="non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Influences on the Price Elasticity of Demand</a:t>
            </a: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Influences on the price elasticity of demand fall into two categories: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lvl="2" marL="70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Availability of substitutes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70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Proportion of income spent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1" lang="en-US" sz="2400" strike="noStrike" u="non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Availability of Substitutes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The demand for a good is elastic if a substitute for it is easy to find. 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The demand for a good is inelastic if a substitute for it is hard to find.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</p:spTree>
  </p:cSld>
  <p:transition spd="slow">
    <p:wipe dir="r"/>
  </p:transition>
  <p:timing>
    <p:tnLst>
      <p:par>
        <p:cTn id="296" dur="indefinite" restart="never" nodeType="tmRoot">
          <p:childTnLst>
            <p:seq>
              <p:cTn id="297" dur="indefinite" nodeType="mainSeq">
                <p:childTnLst>
                  <p:par>
                    <p:cTn id="298" nodeType="clickEffect" fill="hold">
                      <p:stCondLst>
                        <p:cond delay="indefinite"/>
                      </p:stCondLst>
                      <p:childTnLst>
                        <p:par>
                          <p:cTn id="29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02" dur="500"/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nodeType="clickEffect" fill="hold">
                      <p:stCondLst>
                        <p:cond delay="indefinite"/>
                      </p:stCondLst>
                      <p:childTnLst>
                        <p:par>
                          <p:cTn id="30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07" dur="500"/>
                                        <p:tgtEl>
                                          <p:spTgt spid="1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nodeType="clickEffect" fill="hold">
                      <p:stCondLst>
                        <p:cond delay="indefinite"/>
                      </p:stCondLst>
                      <p:childTnLst>
                        <p:par>
                          <p:cTn id="30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12" dur="500"/>
                                        <p:tgtEl>
                                          <p:spTgt spid="1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nodeType="clickEffect" fill="hold">
                      <p:stCondLst>
                        <p:cond delay="indefinite"/>
                      </p:stCondLst>
                      <p:childTnLst>
                        <p:par>
                          <p:cTn id="3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17" dur="500"/>
                                        <p:tgtEl>
                                          <p:spTgt spid="1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nodeType="clickEffect" fill="hold">
                      <p:stCondLst>
                        <p:cond delay="indefinite"/>
                      </p:stCondLst>
                      <p:childTnLst>
                        <p:par>
                          <p:cTn id="3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22" dur="500"/>
                                        <p:tgtEl>
                                          <p:spTgt spid="1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nodeType="clickEffect" fill="hold">
                      <p:stCondLst>
                        <p:cond delay="indefinite"/>
                      </p:stCondLst>
                      <p:childTnLst>
                        <p:par>
                          <p:cTn id="32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27" dur="500"/>
                                        <p:tgtEl>
                                          <p:spTgt spid="1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22924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Three main factors influence the ability to find a substitute for a good: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Luxury Versus Necessity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lvl="2" marL="70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 necessity has poor substitutes, so the demand for a necessity is inelastic. Food is a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necessity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.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70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 luxury has many substitutes, so the demand for a luxury is elastic. Exotic vacations are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luxuries.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Narrowness of Definition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lvl="2" marL="70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The demand for a narrowly defined good is elastic.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70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The demand for a broadly defined good is inelastic.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transition spd="slow">
    <p:wipe dir="r"/>
  </p:transition>
  <p:timing>
    <p:tnLst>
      <p:par>
        <p:cTn id="328" dur="indefinite" restart="never" nodeType="tmRoot">
          <p:childTnLst>
            <p:seq>
              <p:cTn id="329" dur="indefinite" nodeType="mainSeq">
                <p:childTnLst>
                  <p:par>
                    <p:cTn id="330" nodeType="clickEffect" fill="hold">
                      <p:stCondLst>
                        <p:cond delay="indefinite"/>
                      </p:stCondLst>
                      <p:childTnLst>
                        <p:par>
                          <p:cTn id="33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34" dur="500"/>
                                        <p:tgtEl>
                                          <p:spTgt spid="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nodeType="clickEffect" fill="hold">
                      <p:stCondLst>
                        <p:cond delay="indefinite"/>
                      </p:stCondLst>
                      <p:childTnLst>
                        <p:par>
                          <p:cTn id="33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39" dur="500"/>
                                        <p:tgtEl>
                                          <p:spTgt spid="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nodeType="clickEffect" fill="hold">
                      <p:stCondLst>
                        <p:cond delay="indefinite"/>
                      </p:stCondLst>
                      <p:childTnLst>
                        <p:par>
                          <p:cTn id="34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44" dur="500"/>
                                        <p:tgtEl>
                                          <p:spTgt spid="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nodeType="clickEffect" fill="hold">
                      <p:stCondLst>
                        <p:cond delay="indefinite"/>
                      </p:stCondLst>
                      <p:childTnLst>
                        <p:par>
                          <p:cTn id="3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49" dur="500"/>
                                        <p:tgtEl>
                                          <p:spTgt spid="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nodeType="clickEffect" fill="hold">
                      <p:stCondLst>
                        <p:cond delay="indefinite"/>
                      </p:stCondLst>
                      <p:childTnLst>
                        <p:par>
                          <p:cTn id="35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54" dur="500"/>
                                        <p:tgtEl>
                                          <p:spTgt spid="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nodeType="clickEffect" fill="hold">
                      <p:stCondLst>
                        <p:cond delay="indefinite"/>
                      </p:stCondLst>
                      <p:childTnLst>
                        <p:par>
                          <p:cTn id="35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59" dur="500"/>
                                        <p:tgtEl>
                                          <p:spTgt spid="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22924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5892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Time Elapsed Since Price Change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5892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The longer the time elapsed since the price change, the more elastic is the demand for the good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.</a:t>
            </a: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5892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1" lang="en-US" sz="2400" strike="noStrike" u="non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Proportion of Income Spent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5892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 price rise, like a decrease in income, means that people cannot afford to buy the same quantities.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5892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The greater the proportion of income spent on a good, the more elastic is the demand for the good.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</p:spTree>
  </p:cSld>
  <p:transition spd="slow">
    <p:wipe dir="r"/>
  </p:transition>
  <p:timing>
    <p:tnLst>
      <p:par>
        <p:cTn id="360" dur="indefinite" restart="never" nodeType="tmRoot">
          <p:childTnLst>
            <p:seq>
              <p:cTn id="361" dur="indefinite" nodeType="mainSeq">
                <p:childTnLst>
                  <p:par>
                    <p:cTn id="362" nodeType="clickEffect" fill="hold">
                      <p:stCondLst>
                        <p:cond delay="indefinite"/>
                      </p:stCondLst>
                      <p:childTnLst>
                        <p:par>
                          <p:cTn id="36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66" dur="500"/>
                                        <p:tgtEl>
                                          <p:spTgt spid="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nodeType="clickEffect" fill="hold">
                      <p:stCondLst>
                        <p:cond delay="indefinite"/>
                      </p:stCondLst>
                      <p:childTnLst>
                        <p:par>
                          <p:cTn id="36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71" dur="500"/>
                                        <p:tgtEl>
                                          <p:spTgt spid="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nodeType="clickEffect" fill="hold">
                      <p:stCondLst>
                        <p:cond delay="indefinite"/>
                      </p:stCondLst>
                      <p:childTnLst>
                        <p:par>
                          <p:cTn id="37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76" dur="500"/>
                                        <p:tgtEl>
                                          <p:spTgt spid="1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nodeType="clickEffect" fill="hold">
                      <p:stCondLst>
                        <p:cond delay="indefinite"/>
                      </p:stCondLst>
                      <p:childTnLst>
                        <p:par>
                          <p:cTn id="37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81" dur="500"/>
                                        <p:tgtEl>
                                          <p:spTgt spid="1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22924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Webdings" charset="2"/>
              <a:buChar char=""/>
              <a:tabLst>
                <a:tab algn="l" pos="1090440"/>
              </a:tabLst>
            </a:pPr>
            <a:r>
              <a:rPr b="1" lang="en-US" sz="2800" strike="noStrike" u="non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Computing the Price Elasticity of Demand</a:t>
            </a: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1090440"/>
              </a:tabLst>
            </a:pP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1090440"/>
              </a:tabLst>
            </a:pP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70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If the price elasticity of demand is greater than 1, demand is elastic.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70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If the price elasticity of demand equals 1, demand is unit elastic.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70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If the price elasticity of demand is less than 1, demand is inelastic.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  <p:grpSp>
        <p:nvGrpSpPr>
          <p:cNvPr id="200" name="Group 16"/>
          <p:cNvGrpSpPr/>
          <p:nvPr/>
        </p:nvGrpSpPr>
        <p:grpSpPr>
          <a:xfrm>
            <a:off x="960480" y="2065320"/>
            <a:ext cx="7030440" cy="1363320"/>
            <a:chOff x="960480" y="2065320"/>
            <a:chExt cx="7030440" cy="1363320"/>
          </a:xfrm>
        </p:grpSpPr>
        <p:sp>
          <p:nvSpPr>
            <p:cNvPr id="201" name="Rectangle 6"/>
            <p:cNvSpPr/>
            <p:nvPr/>
          </p:nvSpPr>
          <p:spPr>
            <a:xfrm>
              <a:off x="960480" y="2438280"/>
              <a:ext cx="2399760" cy="990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spcBef>
                  <a:spcPts val="479"/>
                </a:spcBef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Price elasticity of demand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Rectangle 7"/>
            <p:cNvSpPr/>
            <p:nvPr/>
          </p:nvSpPr>
          <p:spPr>
            <a:xfrm>
              <a:off x="3949560" y="2065320"/>
              <a:ext cx="3580920" cy="829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Percentage change in quantity demanded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Rectangle 8"/>
            <p:cNvSpPr/>
            <p:nvPr/>
          </p:nvSpPr>
          <p:spPr>
            <a:xfrm>
              <a:off x="3514680" y="2971800"/>
              <a:ext cx="447624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 algn="ctr">
                <a:lnSpc>
                  <a:spcPct val="100000"/>
                </a:lnSpc>
                <a:spcBef>
                  <a:spcPts val="479"/>
                </a:spcBef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Percentage change in the price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Line 9"/>
            <p:cNvSpPr/>
            <p:nvPr/>
          </p:nvSpPr>
          <p:spPr>
            <a:xfrm>
              <a:off x="3565440" y="2933640"/>
              <a:ext cx="4349520" cy="360"/>
            </a:xfrm>
            <a:prstGeom prst="line">
              <a:avLst/>
            </a:prstGeom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205" name="Rectangle 15"/>
            <p:cNvSpPr/>
            <p:nvPr/>
          </p:nvSpPr>
          <p:spPr>
            <a:xfrm>
              <a:off x="3094200" y="2666880"/>
              <a:ext cx="418680" cy="533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spcBef>
                  <a:spcPts val="479"/>
                </a:spcBef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=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 spd="slow">
    <p:wipe dir="r"/>
  </p:transition>
  <p:timing>
    <p:tnLst>
      <p:par>
        <p:cTn id="382" dur="indefinite" restart="never" nodeType="tmRoot">
          <p:childTnLst>
            <p:seq>
              <p:cTn id="383" dur="indefinite" nodeType="mainSeq">
                <p:childTnLst>
                  <p:par>
                    <p:cTn id="384" nodeType="clickEffect" fill="hold">
                      <p:stCondLst>
                        <p:cond delay="indefinite"/>
                      </p:stCondLst>
                      <p:childTnLst>
                        <p:par>
                          <p:cTn id="38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86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88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9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" nodeType="clickEffect" fill="hold">
                      <p:stCondLst>
                        <p:cond delay="indefinite"/>
                      </p:stCondLst>
                      <p:childTnLst>
                        <p:par>
                          <p:cTn id="39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94" dur="500"/>
                                        <p:tgtEl>
                                          <p:spTgt spid="1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nodeType="clickEffect" fill="hold">
                      <p:stCondLst>
                        <p:cond delay="indefinite"/>
                      </p:stCondLst>
                      <p:childTnLst>
                        <p:par>
                          <p:cTn id="39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99" dur="500"/>
                                        <p:tgtEl>
                                          <p:spTgt spid="1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nodeType="clickEffect" fill="hold">
                      <p:stCondLst>
                        <p:cond delay="indefinite"/>
                      </p:stCondLst>
                      <p:childTnLst>
                        <p:par>
                          <p:cTn id="40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04" dur="500"/>
                                        <p:tgtEl>
                                          <p:spTgt spid="1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3526920" cy="4647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Figure 5.2 shows the price elasticity of demand calculation.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The percentage change in the price equals ($2/$4) × 100, or  50%. 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The percentage change in the quantity equals </a:t>
            </a:r>
            <a:br>
              <a:rPr sz="2400"/>
            </a:b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(10 cups/10 cups) × 100, or 100%.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  <p:pic>
        <p:nvPicPr>
          <p:cNvPr id="208" name="Picture 17" descr="fig0502a.gif"/>
          <p:cNvPicPr/>
          <p:nvPr/>
        </p:nvPicPr>
        <p:blipFill>
          <a:blip r:embed="rId1"/>
          <a:stretch/>
        </p:blipFill>
        <p:spPr>
          <a:xfrm>
            <a:off x="3887640" y="1511280"/>
            <a:ext cx="4781160" cy="400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9" name="Picture 18" descr="fig0502b.gif"/>
          <p:cNvPicPr/>
          <p:nvPr/>
        </p:nvPicPr>
        <p:blipFill>
          <a:blip r:embed="rId2"/>
          <a:stretch/>
        </p:blipFill>
        <p:spPr>
          <a:xfrm>
            <a:off x="3887640" y="1511280"/>
            <a:ext cx="4781160" cy="400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0" name="Picture 19" descr="fig0502c.gif"/>
          <p:cNvPicPr/>
          <p:nvPr/>
        </p:nvPicPr>
        <p:blipFill>
          <a:blip r:embed="rId3"/>
          <a:stretch/>
        </p:blipFill>
        <p:spPr>
          <a:xfrm>
            <a:off x="3887640" y="1511280"/>
            <a:ext cx="4781160" cy="400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1" name="Picture 20" descr="fig0502d.gif"/>
          <p:cNvPicPr/>
          <p:nvPr/>
        </p:nvPicPr>
        <p:blipFill>
          <a:blip r:embed="rId4"/>
          <a:stretch/>
        </p:blipFill>
        <p:spPr>
          <a:xfrm>
            <a:off x="3887640" y="1511280"/>
            <a:ext cx="4781160" cy="400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2" name="Picture 21" descr="fig0502e.gif"/>
          <p:cNvPicPr/>
          <p:nvPr/>
        </p:nvPicPr>
        <p:blipFill>
          <a:blip r:embed="rId5"/>
          <a:stretch/>
        </p:blipFill>
        <p:spPr>
          <a:xfrm>
            <a:off x="3887640" y="1511280"/>
            <a:ext cx="4781160" cy="400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3" name="Picture 22" descr="fig0502f.gif"/>
          <p:cNvPicPr/>
          <p:nvPr/>
        </p:nvPicPr>
        <p:blipFill>
          <a:blip r:embed="rId6"/>
          <a:stretch/>
        </p:blipFill>
        <p:spPr>
          <a:xfrm>
            <a:off x="3887640" y="1511280"/>
            <a:ext cx="4781160" cy="400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4" name="Picture 23" descr="fig0502g.gif"/>
          <p:cNvPicPr/>
          <p:nvPr/>
        </p:nvPicPr>
        <p:blipFill>
          <a:blip r:embed="rId7"/>
          <a:stretch/>
        </p:blipFill>
        <p:spPr>
          <a:xfrm>
            <a:off x="3887640" y="1511280"/>
            <a:ext cx="4781160" cy="400824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wipe dir="r"/>
  </p:transition>
  <p:timing>
    <p:tnLst>
      <p:par>
        <p:cTn id="405" dur="indefinite" restart="never" nodeType="tmRoot">
          <p:childTnLst>
            <p:seq>
              <p:cTn id="406" dur="indefinite" nodeType="mainSeq">
                <p:childTnLst>
                  <p:par>
                    <p:cTn id="407" nodeType="clickEffect" fill="hold">
                      <p:stCondLst>
                        <p:cond delay="indefinite"/>
                      </p:stCondLst>
                      <p:childTnLst>
                        <p:par>
                          <p:cTn id="40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1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nodeType="clickEffect" fill="hold">
                      <p:stCondLst>
                        <p:cond delay="indefinite"/>
                      </p:stCondLst>
                      <p:childTnLst>
                        <p:par>
                          <p:cTn id="41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1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6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nodeType="clickEffect" fill="hold">
                      <p:stCondLst>
                        <p:cond delay="indefinite"/>
                      </p:stCondLst>
                      <p:childTnLst>
                        <p:par>
                          <p:cTn id="41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1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21" dur="500"/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24"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nodeType="withEffect" fill="hold" presetClass="entr" presetID="10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7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8" nodeType="clickEffect" fill="hold">
                      <p:stCondLst>
                        <p:cond delay="indefinite"/>
                      </p:stCondLst>
                      <p:childTnLst>
                        <p:par>
                          <p:cTn id="4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32" dur="500"/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3" nodeType="with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435"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nodeType="withEffect" fill="hold" presetClass="entr" presetID="10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8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3677760" cy="4647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The price elasticity of demand equals …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Percentage change in quantity ÷ Percentage change in price.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The price elasticity of demand equals 100% divided by 50%. 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The price elasticity of demand is 2.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  <p:pic>
        <p:nvPicPr>
          <p:cNvPr id="217" name="Picture 17" descr="fig0502a.gif"/>
          <p:cNvPicPr/>
          <p:nvPr/>
        </p:nvPicPr>
        <p:blipFill>
          <a:blip r:embed="rId1"/>
          <a:stretch/>
        </p:blipFill>
        <p:spPr>
          <a:xfrm>
            <a:off x="3887640" y="1511280"/>
            <a:ext cx="4781160" cy="400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8" name="Picture 18" descr="fig0502b.gif"/>
          <p:cNvPicPr/>
          <p:nvPr/>
        </p:nvPicPr>
        <p:blipFill>
          <a:blip r:embed="rId2"/>
          <a:stretch/>
        </p:blipFill>
        <p:spPr>
          <a:xfrm>
            <a:off x="3887640" y="1511280"/>
            <a:ext cx="4781160" cy="400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9" name="Picture 19" descr="fig0502c.gif"/>
          <p:cNvPicPr/>
          <p:nvPr/>
        </p:nvPicPr>
        <p:blipFill>
          <a:blip r:embed="rId3"/>
          <a:stretch/>
        </p:blipFill>
        <p:spPr>
          <a:xfrm>
            <a:off x="3887640" y="1511280"/>
            <a:ext cx="4781160" cy="400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0" name="Picture 20" descr="fig0502d.gif"/>
          <p:cNvPicPr/>
          <p:nvPr/>
        </p:nvPicPr>
        <p:blipFill>
          <a:blip r:embed="rId4"/>
          <a:stretch/>
        </p:blipFill>
        <p:spPr>
          <a:xfrm>
            <a:off x="3887640" y="1511280"/>
            <a:ext cx="4781160" cy="400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1" name="Picture 21" descr="fig0502e.gif"/>
          <p:cNvPicPr/>
          <p:nvPr/>
        </p:nvPicPr>
        <p:blipFill>
          <a:blip r:embed="rId5"/>
          <a:stretch/>
        </p:blipFill>
        <p:spPr>
          <a:xfrm>
            <a:off x="3887640" y="1511280"/>
            <a:ext cx="4781160" cy="400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2" name="Picture 22" descr="fig0502f.gif"/>
          <p:cNvPicPr/>
          <p:nvPr/>
        </p:nvPicPr>
        <p:blipFill>
          <a:blip r:embed="rId6"/>
          <a:stretch/>
        </p:blipFill>
        <p:spPr>
          <a:xfrm>
            <a:off x="3887640" y="1511280"/>
            <a:ext cx="4781160" cy="400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3" name="Picture 23" descr="fig0502g.gif"/>
          <p:cNvPicPr/>
          <p:nvPr/>
        </p:nvPicPr>
        <p:blipFill>
          <a:blip r:embed="rId7"/>
          <a:stretch/>
        </p:blipFill>
        <p:spPr>
          <a:xfrm>
            <a:off x="3887640" y="1511280"/>
            <a:ext cx="4781160" cy="400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4" name="Picture 24" descr="fig0502h.gif"/>
          <p:cNvPicPr/>
          <p:nvPr/>
        </p:nvPicPr>
        <p:blipFill>
          <a:blip r:embed="rId8"/>
          <a:stretch/>
        </p:blipFill>
        <p:spPr>
          <a:xfrm>
            <a:off x="3887640" y="1511280"/>
            <a:ext cx="4781160" cy="400824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wipe dir="r"/>
  </p:transition>
  <p:timing>
    <p:tnLst>
      <p:par>
        <p:cTn id="439" dur="indefinite" restart="never" nodeType="tmRoot">
          <p:childTnLst>
            <p:seq>
              <p:cTn id="440" dur="indefinite" nodeType="mainSeq">
                <p:childTnLst>
                  <p:par>
                    <p:cTn id="441" nodeType="clickEffect" fill="hold">
                      <p:stCondLst>
                        <p:cond delay="indefinite"/>
                      </p:stCondLst>
                      <p:childTnLst>
                        <p:par>
                          <p:cTn id="44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43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45" dur="500"/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6" nodeType="clickEffect" fill="hold">
                      <p:stCondLst>
                        <p:cond delay="indefinite"/>
                      </p:stCondLst>
                      <p:childTnLst>
                        <p:par>
                          <p:cTn id="44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48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50" dur="500"/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nodeType="clickEffect" fill="hold">
                      <p:stCondLst>
                        <p:cond delay="indefinite"/>
                      </p:stCondLst>
                      <p:childTnLst>
                        <p:par>
                          <p:cTn id="4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53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55" dur="500"/>
                                        <p:tgtEl>
                                          <p:spTgt spid="2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8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22924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A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That is:</a:t>
            </a: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We can use this formula to calculate the  price elasticity of demand for a Starbucks latte: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  <p:grpSp>
        <p:nvGrpSpPr>
          <p:cNvPr id="227" name="Group 11"/>
          <p:cNvGrpSpPr/>
          <p:nvPr/>
        </p:nvGrpSpPr>
        <p:grpSpPr>
          <a:xfrm>
            <a:off x="973080" y="4916520"/>
            <a:ext cx="6491160" cy="914040"/>
            <a:chOff x="973080" y="4916520"/>
            <a:chExt cx="6491160" cy="914040"/>
          </a:xfrm>
        </p:grpSpPr>
        <p:sp>
          <p:nvSpPr>
            <p:cNvPr id="228" name="Rectangle 12"/>
            <p:cNvSpPr/>
            <p:nvPr/>
          </p:nvSpPr>
          <p:spPr>
            <a:xfrm>
              <a:off x="973080" y="5079960"/>
              <a:ext cx="4295880" cy="49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>
                <a:lnSpc>
                  <a:spcPct val="100000"/>
                </a:lnSpc>
                <a:spcBef>
                  <a:spcPts val="479"/>
                </a:spcBef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Price elasticity of demand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Rectangle 13"/>
            <p:cNvSpPr/>
            <p:nvPr/>
          </p:nvSpPr>
          <p:spPr>
            <a:xfrm>
              <a:off x="5468040" y="4916520"/>
              <a:ext cx="101016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100%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Rectangle 14"/>
            <p:cNvSpPr/>
            <p:nvPr/>
          </p:nvSpPr>
          <p:spPr>
            <a:xfrm>
              <a:off x="5468040" y="5373720"/>
              <a:ext cx="101016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 algn="ctr">
                <a:lnSpc>
                  <a:spcPct val="100000"/>
                </a:lnSpc>
                <a:spcBef>
                  <a:spcPts val="479"/>
                </a:spcBef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50%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Line 15"/>
            <p:cNvSpPr/>
            <p:nvPr/>
          </p:nvSpPr>
          <p:spPr>
            <a:xfrm>
              <a:off x="5485320" y="5373360"/>
              <a:ext cx="981720" cy="1800"/>
            </a:xfrm>
            <a:prstGeom prst="line">
              <a:avLst/>
            </a:prstGeom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200" bIns="-43200" anchor="ctr">
              <a:noAutofit/>
            </a:bodyPr>
            <a:p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232" name="Rectangle 16"/>
            <p:cNvSpPr/>
            <p:nvPr/>
          </p:nvSpPr>
          <p:spPr>
            <a:xfrm>
              <a:off x="4826160" y="5106960"/>
              <a:ext cx="504000" cy="533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>
                <a:lnSpc>
                  <a:spcPct val="100000"/>
                </a:lnSpc>
                <a:spcBef>
                  <a:spcPts val="479"/>
                </a:spcBef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=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Rectangle 17"/>
            <p:cNvSpPr/>
            <p:nvPr/>
          </p:nvSpPr>
          <p:spPr>
            <a:xfrm>
              <a:off x="6960240" y="5106960"/>
              <a:ext cx="504000" cy="533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>
                <a:lnSpc>
                  <a:spcPct val="100000"/>
                </a:lnSpc>
                <a:spcBef>
                  <a:spcPts val="479"/>
                </a:spcBef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2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" name="Rectangle 18"/>
            <p:cNvSpPr/>
            <p:nvPr/>
          </p:nvSpPr>
          <p:spPr>
            <a:xfrm>
              <a:off x="6614280" y="5106960"/>
              <a:ext cx="502200" cy="533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>
                <a:lnSpc>
                  <a:spcPct val="100000"/>
                </a:lnSpc>
                <a:spcBef>
                  <a:spcPts val="479"/>
                </a:spcBef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=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5" name="Group 16"/>
          <p:cNvGrpSpPr/>
          <p:nvPr/>
        </p:nvGrpSpPr>
        <p:grpSpPr>
          <a:xfrm>
            <a:off x="960480" y="2065320"/>
            <a:ext cx="7030440" cy="1363320"/>
            <a:chOff x="960480" y="2065320"/>
            <a:chExt cx="7030440" cy="1363320"/>
          </a:xfrm>
        </p:grpSpPr>
        <p:sp>
          <p:nvSpPr>
            <p:cNvPr id="236" name="Rectangle 6"/>
            <p:cNvSpPr/>
            <p:nvPr/>
          </p:nvSpPr>
          <p:spPr>
            <a:xfrm>
              <a:off x="960480" y="2438280"/>
              <a:ext cx="2399760" cy="990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spcBef>
                  <a:spcPts val="479"/>
                </a:spcBef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Price elasticity of demand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Rectangle 7"/>
            <p:cNvSpPr/>
            <p:nvPr/>
          </p:nvSpPr>
          <p:spPr>
            <a:xfrm>
              <a:off x="3949560" y="2065320"/>
              <a:ext cx="3580920" cy="829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Percentage change in quantity demanded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Rectangle 8"/>
            <p:cNvSpPr/>
            <p:nvPr/>
          </p:nvSpPr>
          <p:spPr>
            <a:xfrm>
              <a:off x="3514680" y="2971800"/>
              <a:ext cx="447624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 algn="ctr">
                <a:lnSpc>
                  <a:spcPct val="100000"/>
                </a:lnSpc>
                <a:spcBef>
                  <a:spcPts val="479"/>
                </a:spcBef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Percentage change in the price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Line 9"/>
            <p:cNvSpPr/>
            <p:nvPr/>
          </p:nvSpPr>
          <p:spPr>
            <a:xfrm>
              <a:off x="3565440" y="2933640"/>
              <a:ext cx="4349520" cy="360"/>
            </a:xfrm>
            <a:prstGeom prst="line">
              <a:avLst/>
            </a:prstGeom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240" name="Rectangle 15"/>
            <p:cNvSpPr/>
            <p:nvPr/>
          </p:nvSpPr>
          <p:spPr>
            <a:xfrm>
              <a:off x="3094200" y="2666880"/>
              <a:ext cx="418680" cy="533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spcBef>
                  <a:spcPts val="479"/>
                </a:spcBef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=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 spd="slow">
    <p:wipe dir="r"/>
  </p:transition>
  <p:timing>
    <p:tnLst>
      <p:par>
        <p:cTn id="459" dur="indefinite" restart="never" nodeType="tmRoot">
          <p:childTnLst>
            <p:seq>
              <p:cTn id="460" dur="indefinite" nodeType="mainSeq">
                <p:childTnLst>
                  <p:par>
                    <p:cTn id="461" nodeType="clickEffect" fill="hold">
                      <p:stCondLst>
                        <p:cond delay="indefinite"/>
                      </p:stCondLst>
                      <p:childTnLst>
                        <p:par>
                          <p:cTn id="46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63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65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6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7" nodeType="clickEffect" fill="hold">
                      <p:stCondLst>
                        <p:cond delay="indefinite"/>
                      </p:stCondLst>
                      <p:childTnLst>
                        <p:par>
                          <p:cTn id="46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6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71" dur="500"/>
                                        <p:tgtEl>
                                          <p:spTgt spid="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2" nodeType="clickEffect" fill="hold">
                      <p:stCondLst>
                        <p:cond delay="indefinite"/>
                      </p:stCondLst>
                      <p:childTnLst>
                        <p:par>
                          <p:cTn id="47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74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76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7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22924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2000" indent="-342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Webdings" charset="2"/>
              <a:buChar char=""/>
            </a:pPr>
            <a:r>
              <a:rPr b="1" lang="en-US" sz="2800" strike="noStrike" u="non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Interpreting the Price Elasticity of Demand Number</a:t>
            </a: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The elasticity of demand for a Starbucks latte of 2 tells us three things: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The demand for Starbucks lattes is elastic—it has substitutes and the proportion of a buyer’s income spent is small.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If Starbucks raised its price, revenue per cup will rise but it will lose potential business.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Even a slightly lower price could bring in more revenue.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</p:spTree>
  </p:cSld>
  <p:transition spd="slow">
    <p:wipe dir="r"/>
  </p:transition>
  <p:timing>
    <p:tnLst>
      <p:par>
        <p:cTn id="478" dur="indefinite" restart="never" nodeType="tmRoot">
          <p:childTnLst>
            <p:seq>
              <p:cTn id="479" dur="indefinite" nodeType="mainSeq">
                <p:childTnLst>
                  <p:par>
                    <p:cTn id="480" nodeType="clickEffect" fill="hold">
                      <p:stCondLst>
                        <p:cond delay="indefinite"/>
                      </p:stCondLst>
                      <p:childTnLst>
                        <p:par>
                          <p:cTn id="48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8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84" dur="500"/>
                                        <p:tgtEl>
                                          <p:spTgt spid="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5" nodeType="clickEffect" fill="hold">
                      <p:stCondLst>
                        <p:cond delay="indefinite"/>
                      </p:stCondLst>
                      <p:childTnLst>
                        <p:par>
                          <p:cTn id="48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8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89" dur="500"/>
                                        <p:tgtEl>
                                          <p:spTgt spid="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0" nodeType="clickEffect" fill="hold">
                      <p:stCondLst>
                        <p:cond delay="indefinite"/>
                      </p:stCondLst>
                      <p:childTnLst>
                        <p:par>
                          <p:cTn id="49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9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94" dur="500"/>
                                        <p:tgtEl>
                                          <p:spTgt spid="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nodeType="clickEffect" fill="hold">
                      <p:stCondLst>
                        <p:cond delay="indefinite"/>
                      </p:stCondLst>
                      <p:childTnLst>
                        <p:par>
                          <p:cTn id="49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9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99" dur="500"/>
                                        <p:tgtEl>
                                          <p:spTgt spid="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22924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2000" indent="-342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Webdings" charset="2"/>
              <a:buChar char=""/>
            </a:pPr>
            <a:r>
              <a:rPr b="1" lang="en-US" sz="2800" strike="noStrike" u="non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Elasticity Along a Linear Demand Curve</a:t>
            </a: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Slope measures responsiveness. But slope and elasticity are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not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the same thing!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Along a linear (straight-line) demand curve, the slope is constant but the elasticity varies.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Along a linear demand curve, demand is</a:t>
            </a:r>
            <a:r>
              <a:rPr b="0" lang="en-US" sz="2400" strike="noStrike" u="non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: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lvl="2" marL="70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Unit elastic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at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the midpoint of the curve. 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70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Elastic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above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the midpoint of the curve.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70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Inelastic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below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the midpoint of the curve.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transition spd="slow">
    <p:wipe dir="r"/>
  </p:transition>
  <p:timing>
    <p:tnLst>
      <p:par>
        <p:cTn id="500" dur="indefinite" restart="never" nodeType="tmRoot">
          <p:childTnLst>
            <p:seq>
              <p:cTn id="501" dur="indefinite" nodeType="mainSeq">
                <p:childTnLst>
                  <p:par>
                    <p:cTn id="502" nodeType="clickEffect" fill="hold">
                      <p:stCondLst>
                        <p:cond delay="indefinite"/>
                      </p:stCondLst>
                      <p:childTnLst>
                        <p:par>
                          <p:cTn id="50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0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06" dur="500"/>
                                        <p:tgtEl>
                                          <p:spTgt spid="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7" nodeType="clickEffect" fill="hold">
                      <p:stCondLst>
                        <p:cond delay="indefinite"/>
                      </p:stCondLst>
                      <p:childTnLst>
                        <p:par>
                          <p:cTn id="50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0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11" dur="500"/>
                                        <p:tgtEl>
                                          <p:spTgt spid="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2" nodeType="clickEffect" fill="hold">
                      <p:stCondLst>
                        <p:cond delay="indefinite"/>
                      </p:stCondLst>
                      <p:childTnLst>
                        <p:par>
                          <p:cTn id="51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1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16" dur="500"/>
                                        <p:tgtEl>
                                          <p:spTgt spid="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7" nodeType="clickEffect" fill="hold">
                      <p:stCondLst>
                        <p:cond delay="indefinite"/>
                      </p:stCondLst>
                      <p:childTnLst>
                        <p:par>
                          <p:cTn id="51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1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21" dur="500"/>
                                        <p:tgtEl>
                                          <p:spTgt spid="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2" nodeType="clickEffect" fill="hold">
                      <p:stCondLst>
                        <p:cond delay="indefinite"/>
                      </p:stCondLst>
                      <p:childTnLst>
                        <p:par>
                          <p:cTn id="52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2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26" dur="500"/>
                                        <p:tgtEl>
                                          <p:spTgt spid="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7" nodeType="clickEffect" fill="hold">
                      <p:stCondLst>
                        <p:cond delay="indefinite"/>
                      </p:stCondLst>
                      <p:childTnLst>
                        <p:par>
                          <p:cTn id="5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2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31" dur="500"/>
                                        <p:tgtEl>
                                          <p:spTgt spid="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4114440" cy="4647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Figure 5.3 shows that the elasticity decreases along a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 linear demand curve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as the price falls.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At any price above the midpoint, demand is elastic.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At the midpoint, demand is unit elastic.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At any price below the midpoint, demand is inelastic.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  <p:pic>
        <p:nvPicPr>
          <p:cNvPr id="247" name="Picture 12" descr="fig0503a.gif"/>
          <p:cNvPicPr/>
          <p:nvPr/>
        </p:nvPicPr>
        <p:blipFill>
          <a:blip r:embed="rId1"/>
          <a:stretch/>
        </p:blipFill>
        <p:spPr>
          <a:xfrm>
            <a:off x="4464000" y="1511280"/>
            <a:ext cx="4134960" cy="450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8" name="Picture 13" descr="fig0503b.gif"/>
          <p:cNvPicPr/>
          <p:nvPr/>
        </p:nvPicPr>
        <p:blipFill>
          <a:blip r:embed="rId2"/>
          <a:stretch/>
        </p:blipFill>
        <p:spPr>
          <a:xfrm>
            <a:off x="4464000" y="1511280"/>
            <a:ext cx="4134960" cy="450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9" name="Picture 14" descr="fig0503c.gif"/>
          <p:cNvPicPr/>
          <p:nvPr/>
        </p:nvPicPr>
        <p:blipFill>
          <a:blip r:embed="rId3"/>
          <a:stretch/>
        </p:blipFill>
        <p:spPr>
          <a:xfrm>
            <a:off x="4464000" y="1511280"/>
            <a:ext cx="4134960" cy="450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0" name="Picture 15" descr="fig0503d.gif"/>
          <p:cNvPicPr/>
          <p:nvPr/>
        </p:nvPicPr>
        <p:blipFill>
          <a:blip r:embed="rId4"/>
          <a:stretch/>
        </p:blipFill>
        <p:spPr>
          <a:xfrm>
            <a:off x="4464000" y="1511280"/>
            <a:ext cx="4134960" cy="450036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wipe dir="r"/>
  </p:transition>
  <p:timing>
    <p:tnLst>
      <p:par>
        <p:cTn id="532" dur="indefinite" restart="never" nodeType="tmRoot">
          <p:childTnLst>
            <p:seq>
              <p:cTn id="533" dur="indefinite" nodeType="mainSeq">
                <p:childTnLst>
                  <p:par>
                    <p:cTn id="534" nodeType="clickEffect" fill="hold">
                      <p:stCondLst>
                        <p:cond delay="indefinite"/>
                      </p:stCondLst>
                      <p:childTnLst>
                        <p:par>
                          <p:cTn id="53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36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38" dur="500"/>
                                        <p:tgtEl>
                                          <p:spTgt spid="2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1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2" nodeType="clickEffect" fill="hold">
                      <p:stCondLst>
                        <p:cond delay="indefinite"/>
                      </p:stCondLst>
                      <p:childTnLst>
                        <p:par>
                          <p:cTn id="54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4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46" dur="500"/>
                                        <p:tgtEl>
                                          <p:spTgt spid="2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9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0" nodeType="clickEffect" fill="hold">
                      <p:stCondLst>
                        <p:cond delay="indefinite"/>
                      </p:stCondLst>
                      <p:childTnLst>
                        <p:par>
                          <p:cTn id="55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5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54" dur="500"/>
                                        <p:tgtEl>
                                          <p:spTgt spid="2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7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22924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Webdings" charset="2"/>
              <a:buChar char=""/>
            </a:pPr>
            <a:r>
              <a:rPr b="1" lang="en-US" sz="2800" strike="noStrike" u="non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Total Revenue and the Price Elasticity of Demand</a:t>
            </a: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1" lang="en-US" sz="2600" strike="noStrike" u="non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Total revenue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 is the amount spent on a good and received by its sellers and equals the price of the good multiplied by the quantity of the good sold. 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1" lang="en-US" sz="2600" strike="noStrike" u="non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Total revenue test 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is a method of estimating the price elasticity of demand by observing the change in total revenue that results from a price change.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</p:spTree>
  </p:cSld>
  <p:transition spd="slow">
    <p:wipe dir="r"/>
  </p:transition>
  <p:timing>
    <p:tnLst>
      <p:par>
        <p:cTn id="558" dur="indefinite" restart="never" nodeType="tmRoot">
          <p:childTnLst>
            <p:seq>
              <p:cTn id="559" dur="indefinite" nodeType="mainSeq">
                <p:childTnLst>
                  <p:par>
                    <p:cTn id="560" nodeType="clickEffect" fill="hold">
                      <p:stCondLst>
                        <p:cond delay="indefinite"/>
                      </p:stCondLst>
                      <p:childTnLst>
                        <p:par>
                          <p:cTn id="56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6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64" dur="500"/>
                                        <p:tgtEl>
                                          <p:spTgt spid="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5" nodeType="clickEffect" fill="hold">
                      <p:stCondLst>
                        <p:cond delay="indefinite"/>
                      </p:stCondLst>
                      <p:childTnLst>
                        <p:par>
                          <p:cTn id="56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6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69" dur="500"/>
                                        <p:tgtEl>
                                          <p:spTgt spid="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22924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If demand is elastic: 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lvl="2" marL="70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 given percentage rise in price brings a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larger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percentage decrease in the quantity demanded.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70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Total revenue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decreases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. 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If demand is inelastic:</a:t>
            </a:r>
            <a:r>
              <a:rPr b="0" lang="en-US" sz="2400" strike="noStrike" u="non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 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lvl="2" marL="70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 given percentage rise in price brings a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smaller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percentage decrease in the quantity demanded.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70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Total revenue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increases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.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transition spd="slow">
    <p:wipe dir="r"/>
  </p:transition>
  <p:timing>
    <p:tnLst>
      <p:par>
        <p:cTn id="570" dur="indefinite" restart="never" nodeType="tmRoot">
          <p:childTnLst>
            <p:seq>
              <p:cTn id="571" dur="indefinite" nodeType="mainSeq">
                <p:childTnLst>
                  <p:par>
                    <p:cTn id="572" nodeType="clickEffect" fill="hold">
                      <p:stCondLst>
                        <p:cond delay="indefinite"/>
                      </p:stCondLst>
                      <p:childTnLst>
                        <p:par>
                          <p:cTn id="57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7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76" dur="500"/>
                                        <p:tgtEl>
                                          <p:spTgt spid="2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7" nodeType="clickEffect" fill="hold">
                      <p:stCondLst>
                        <p:cond delay="indefinite"/>
                      </p:stCondLst>
                      <p:childTnLst>
                        <p:par>
                          <p:cTn id="57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7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81" dur="500"/>
                                        <p:tgtEl>
                                          <p:spTgt spid="2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2" nodeType="clickEffect" fill="hold">
                      <p:stCondLst>
                        <p:cond delay="indefinite"/>
                      </p:stCondLst>
                      <p:childTnLst>
                        <p:par>
                          <p:cTn id="58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8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86" dur="500"/>
                                        <p:tgtEl>
                                          <p:spTgt spid="2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7" nodeType="clickEffect" fill="hold">
                      <p:stCondLst>
                        <p:cond delay="indefinite"/>
                      </p:stCondLst>
                      <p:childTnLst>
                        <p:par>
                          <p:cTn id="58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8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91" dur="500"/>
                                        <p:tgtEl>
                                          <p:spTgt spid="2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2" nodeType="clickEffect" fill="hold">
                      <p:stCondLst>
                        <p:cond delay="indefinite"/>
                      </p:stCondLst>
                      <p:childTnLst>
                        <p:par>
                          <p:cTn id="59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9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96" dur="500"/>
                                        <p:tgtEl>
                                          <p:spTgt spid="2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22924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Total revenue test: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lvl="2" marL="70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If price and total revenue change in the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opposite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directions, demand is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elastic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.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70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If a price change leaves total revenue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unchanged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, demand is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unit elastic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.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70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If price and total revenue change in the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same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direction, demand is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inelastic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.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transition spd="slow">
    <p:wipe dir="r"/>
  </p:transition>
  <p:timing>
    <p:tnLst>
      <p:par>
        <p:cTn id="597" dur="indefinite" restart="never" nodeType="tmRoot">
          <p:childTnLst>
            <p:seq>
              <p:cTn id="598" dur="indefinite" nodeType="mainSeq">
                <p:childTnLst>
                  <p:par>
                    <p:cTn id="599" nodeType="clickEffect" fill="hold">
                      <p:stCondLst>
                        <p:cond delay="indefinite"/>
                      </p:stCondLst>
                      <p:childTnLst>
                        <p:par>
                          <p:cTn id="6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01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03" dur="500"/>
                                        <p:tgtEl>
                                          <p:spTgt spid="2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4" nodeType="clickEffect" fill="hold">
                      <p:stCondLst>
                        <p:cond delay="indefinite"/>
                      </p:stCondLst>
                      <p:childTnLst>
                        <p:par>
                          <p:cTn id="60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06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08" dur="500"/>
                                        <p:tgtEl>
                                          <p:spTgt spid="2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9" nodeType="clickEffect" fill="hold">
                      <p:stCondLst>
                        <p:cond delay="indefinite"/>
                      </p:stCondLst>
                      <p:childTnLst>
                        <p:par>
                          <p:cTn id="61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11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13" dur="500"/>
                                        <p:tgtEl>
                                          <p:spTgt spid="2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Picture 16" descr="fig0504aa.gif"/>
          <p:cNvPicPr/>
          <p:nvPr/>
        </p:nvPicPr>
        <p:blipFill>
          <a:blip r:embed="rId1"/>
          <a:stretch/>
        </p:blipFill>
        <p:spPr>
          <a:xfrm>
            <a:off x="4824360" y="1476360"/>
            <a:ext cx="3831840" cy="4190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8" name="Picture 17" descr="fig0504ab.gif"/>
          <p:cNvPicPr/>
          <p:nvPr/>
        </p:nvPicPr>
        <p:blipFill>
          <a:blip r:embed="rId2"/>
          <a:stretch/>
        </p:blipFill>
        <p:spPr>
          <a:xfrm>
            <a:off x="4824360" y="1476360"/>
            <a:ext cx="3831840" cy="4190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9" name="Picture 18" descr="fig0504ac.gif"/>
          <p:cNvPicPr/>
          <p:nvPr/>
        </p:nvPicPr>
        <p:blipFill>
          <a:blip r:embed="rId3"/>
          <a:stretch/>
        </p:blipFill>
        <p:spPr>
          <a:xfrm>
            <a:off x="4824360" y="1476360"/>
            <a:ext cx="3831840" cy="4190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0" name="Picture 19" descr="fig0504ad.gif"/>
          <p:cNvPicPr/>
          <p:nvPr/>
        </p:nvPicPr>
        <p:blipFill>
          <a:blip r:embed="rId4"/>
          <a:stretch/>
        </p:blipFill>
        <p:spPr>
          <a:xfrm>
            <a:off x="4824360" y="1476360"/>
            <a:ext cx="3831840" cy="4190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1" name="Picture 20" descr="fig0504ae.gif"/>
          <p:cNvPicPr/>
          <p:nvPr/>
        </p:nvPicPr>
        <p:blipFill>
          <a:blip r:embed="rId5"/>
          <a:stretch/>
        </p:blipFill>
        <p:spPr>
          <a:xfrm>
            <a:off x="4824360" y="1476360"/>
            <a:ext cx="3831840" cy="4190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2" name="Picture 21" descr="fig0504af.gif"/>
          <p:cNvPicPr/>
          <p:nvPr/>
        </p:nvPicPr>
        <p:blipFill>
          <a:blip r:embed="rId6"/>
          <a:stretch/>
        </p:blipFill>
        <p:spPr>
          <a:xfrm>
            <a:off x="4824360" y="1476360"/>
            <a:ext cx="3831840" cy="419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4668480" cy="4647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Figure 5.4(a) shows total revenue and elastic demand.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At $3 a cup, the quantity demanded is 15 cups an hour.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Total revenue is $45 an hour.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When the price rises to $5 a cup, the quantity demanded decreases to 5 cups an hour.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Total revenue decreases to $25 an hour.  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Demand is elastic.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</p:spTree>
  </p:cSld>
  <p:transition spd="slow">
    <p:wipe dir="r"/>
  </p:transition>
  <p:timing>
    <p:tnLst>
      <p:par>
        <p:cTn id="614" dur="indefinite" restart="never" nodeType="tmRoot">
          <p:childTnLst>
            <p:seq>
              <p:cTn id="615" dur="indefinite" nodeType="mainSeq">
                <p:childTnLst>
                  <p:par>
                    <p:cTn id="616" nodeType="clickEffect" fill="hold">
                      <p:stCondLst>
                        <p:cond delay="indefinite"/>
                      </p:stCondLst>
                      <p:childTnLst>
                        <p:par>
                          <p:cTn id="61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18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20" dur="500"/>
                                        <p:tgtEl>
                                          <p:spTgt spid="2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23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4" nodeType="clickEffect" fill="hold">
                      <p:stCondLst>
                        <p:cond delay="indefinite"/>
                      </p:stCondLst>
                      <p:childTnLst>
                        <p:par>
                          <p:cTn id="62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26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28" dur="500"/>
                                        <p:tgtEl>
                                          <p:spTgt spid="2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9" nodeType="clickEffect" fill="hold">
                      <p:stCondLst>
                        <p:cond delay="indefinite"/>
                      </p:stCondLst>
                      <p:childTnLst>
                        <p:par>
                          <p:cTn id="63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31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33" dur="500"/>
                                        <p:tgtEl>
                                          <p:spTgt spid="2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6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7" nodeType="withEffect" fill="hold" presetClass="entr" presetID="1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9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nodeType="withEffect" fill="hold" presetClass="entr" presetID="1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2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3" nodeType="clickEffect" fill="hold">
                      <p:stCondLst>
                        <p:cond delay="indefinite"/>
                      </p:stCondLst>
                      <p:childTnLst>
                        <p:par>
                          <p:cTn id="64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4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47" dur="500"/>
                                        <p:tgtEl>
                                          <p:spTgt spid="2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0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1" nodeType="clickEffect" fill="hold">
                      <p:stCondLst>
                        <p:cond delay="indefinite"/>
                      </p:stCondLst>
                      <p:childTnLst>
                        <p:par>
                          <p:cTn id="6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53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55" dur="500"/>
                                        <p:tgtEl>
                                          <p:spTgt spid="2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Picture 16" descr="fig0504ba.gif"/>
          <p:cNvPicPr/>
          <p:nvPr/>
        </p:nvPicPr>
        <p:blipFill>
          <a:blip r:embed="rId1"/>
          <a:stretch/>
        </p:blipFill>
        <p:spPr>
          <a:xfrm>
            <a:off x="4824360" y="1476360"/>
            <a:ext cx="3831840" cy="4190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6" name="Picture 17" descr="fig0504bb.gif"/>
          <p:cNvPicPr/>
          <p:nvPr/>
        </p:nvPicPr>
        <p:blipFill>
          <a:blip r:embed="rId2"/>
          <a:stretch/>
        </p:blipFill>
        <p:spPr>
          <a:xfrm>
            <a:off x="4824360" y="1476360"/>
            <a:ext cx="3831840" cy="4190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7" name="Picture 18" descr="fig0504bc.gif"/>
          <p:cNvPicPr/>
          <p:nvPr/>
        </p:nvPicPr>
        <p:blipFill>
          <a:blip r:embed="rId3"/>
          <a:stretch/>
        </p:blipFill>
        <p:spPr>
          <a:xfrm>
            <a:off x="4824360" y="1476360"/>
            <a:ext cx="3831840" cy="4190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8" name="Picture 19" descr="fig0504bd.gif"/>
          <p:cNvPicPr/>
          <p:nvPr/>
        </p:nvPicPr>
        <p:blipFill>
          <a:blip r:embed="rId4"/>
          <a:stretch/>
        </p:blipFill>
        <p:spPr>
          <a:xfrm>
            <a:off x="4824360" y="1476360"/>
            <a:ext cx="3831840" cy="4190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9" name="Picture 20" descr="fig0504be.gif"/>
          <p:cNvPicPr/>
          <p:nvPr/>
        </p:nvPicPr>
        <p:blipFill>
          <a:blip r:embed="rId5"/>
          <a:stretch/>
        </p:blipFill>
        <p:spPr>
          <a:xfrm>
            <a:off x="4824360" y="1476360"/>
            <a:ext cx="3831840" cy="4190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0" name="Picture 21" descr="fig0504bf.gif"/>
          <p:cNvPicPr/>
          <p:nvPr/>
        </p:nvPicPr>
        <p:blipFill>
          <a:blip r:embed="rId6"/>
          <a:stretch/>
        </p:blipFill>
        <p:spPr>
          <a:xfrm>
            <a:off x="4824360" y="1476360"/>
            <a:ext cx="3831840" cy="419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4744800" cy="4647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Figure 5.4(b) shows total revenue and inelastic demand.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At $50 a book, the quantity demanded is 5 million books.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Total revenue is $250 million.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When the price rises to $75 a book, the quantity demanded decreases to 4 million books.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Total revenue increases to $300 million.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Demand is inelastic.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</p:spTree>
  </p:cSld>
  <p:transition spd="slow">
    <p:wipe dir="r"/>
  </p:transition>
  <p:timing>
    <p:tnLst>
      <p:par>
        <p:cTn id="656" dur="indefinite" restart="never" nodeType="tmRoot">
          <p:childTnLst>
            <p:seq>
              <p:cTn id="657" dur="indefinite" nodeType="mainSeq">
                <p:childTnLst>
                  <p:par>
                    <p:cTn id="658" nodeType="clickEffect" fill="hold">
                      <p:stCondLst>
                        <p:cond delay="indefinite"/>
                      </p:stCondLst>
                      <p:childTnLst>
                        <p:par>
                          <p:cTn id="65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6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62" dur="500"/>
                                        <p:tgtEl>
                                          <p:spTgt spid="2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5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6" nodeType="clickEffect" fill="hold">
                      <p:stCondLst>
                        <p:cond delay="indefinite"/>
                      </p:stCondLst>
                      <p:childTnLst>
                        <p:par>
                          <p:cTn id="66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68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70" dur="500"/>
                                        <p:tgtEl>
                                          <p:spTgt spid="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3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4" nodeType="clickEffect" fill="hold">
                      <p:stCondLst>
                        <p:cond delay="indefinite"/>
                      </p:stCondLst>
                      <p:childTnLst>
                        <p:par>
                          <p:cTn id="67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76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78" dur="500"/>
                                        <p:tgtEl>
                                          <p:spTgt spid="2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1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4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5" nodeType="clickEffect" fill="hold">
                      <p:stCondLst>
                        <p:cond delay="indefinite"/>
                      </p:stCondLst>
                      <p:childTnLst>
                        <p:par>
                          <p:cTn id="68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8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89" dur="500"/>
                                        <p:tgtEl>
                                          <p:spTgt spid="2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2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3" nodeType="clickEffect" fill="hold">
                      <p:stCondLst>
                        <p:cond delay="indefinite"/>
                      </p:stCondLst>
                      <p:childTnLst>
                        <p:par>
                          <p:cTn id="69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9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97" dur="500"/>
                                        <p:tgtEl>
                                          <p:spTgt spid="2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 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40240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Webdings" charset="2"/>
              <a:buChar char=""/>
            </a:pPr>
            <a:r>
              <a:rPr b="1" lang="en-US" sz="2800" strike="noStrike" u="non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Applications of the Price Elasticity of Demand</a:t>
            </a: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Orange Prices and Total Revenue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Price elasticity of demand for agricultural products (oranges) is 0.4. 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So if a frost cuts the supply of oranges (and demand doesn’t change), a 1 percent decrease in the quantity harvested will lead to a 2.5 percent rise in the price.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Demand is inelastic and farmers’ total revenue will increase.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	</a:t>
            </a:r>
            <a:endParaRPr b="1" lang="en-CA" sz="20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5" name="Object 29"/>
          <p:cNvGraphicFramePr/>
          <p:nvPr/>
        </p:nvGraphicFramePr>
        <p:xfrm>
          <a:off x="4514760" y="3321000"/>
          <a:ext cx="114120" cy="215640"/>
        </p:xfrm>
        <a:graphic>
          <a:graphicData uri="http://schemas.openxmlformats.org/presentationml/2006/ole">
            <p:oleObj progId="Equation.3" r:id="rId1" spid="">
              <p:embed/>
              <p:pic>
                <p:nvPicPr>
                  <p:cNvPr id="276" name="Object 29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4514760" y="3321000"/>
                    <a:ext cx="114120" cy="2156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</p:spTree>
  </p:cSld>
  <p:transition spd="slow">
    <p:wipe dir="r"/>
  </p:transition>
  <p:timing>
    <p:tnLst>
      <p:par>
        <p:cTn id="698" dur="indefinite" restart="never" nodeType="tmRoot">
          <p:childTnLst>
            <p:seq>
              <p:cTn id="699" dur="indefinite" nodeType="mainSeq">
                <p:childTnLst>
                  <p:par>
                    <p:cTn id="700" nodeType="clickEffect" fill="hold">
                      <p:stCondLst>
                        <p:cond delay="indefinite"/>
                      </p:stCondLst>
                      <p:childTnLst>
                        <p:par>
                          <p:cTn id="70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0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04" dur="500"/>
                                        <p:tgtEl>
                                          <p:spTgt spid="2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5" nodeType="clickEffect" fill="hold">
                      <p:stCondLst>
                        <p:cond delay="indefinite"/>
                      </p:stCondLst>
                      <p:childTnLst>
                        <p:par>
                          <p:cTn id="70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0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09" dur="500"/>
                                        <p:tgtEl>
                                          <p:spTgt spid="2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0" nodeType="clickEffect" fill="hold">
                      <p:stCondLst>
                        <p:cond delay="indefinite"/>
                      </p:stCondLst>
                      <p:childTnLst>
                        <p:par>
                          <p:cTn id="71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1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14" dur="500"/>
                                        <p:tgtEl>
                                          <p:spTgt spid="2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5" nodeType="clickEffect" fill="hold">
                      <p:stCondLst>
                        <p:cond delay="indefinite"/>
                      </p:stCondLst>
                      <p:childTnLst>
                        <p:par>
                          <p:cTn id="71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1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19" dur="500"/>
                                        <p:tgtEl>
                                          <p:spTgt spid="2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22924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1" lang="en-US" sz="2400" strike="noStrike" u="non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Addiction and Elasticity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Nonusers’ demand for addictive substances is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elastic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. 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 moderately higher price will lead to a substantially smaller number of people trying a drug.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Existing users’ demand for addictive substances is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inelastic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So even a substantial price rise brings only a modest decrease in the quantity demanded.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</p:spTree>
  </p:cSld>
  <p:transition spd="slow">
    <p:wipe dir="r"/>
  </p:transition>
  <p:timing>
    <p:tnLst>
      <p:par>
        <p:cTn id="720" dur="indefinite" restart="never" nodeType="tmRoot">
          <p:childTnLst>
            <p:seq>
              <p:cTn id="721" dur="indefinite" nodeType="mainSeq">
                <p:childTnLst>
                  <p:par>
                    <p:cTn id="722" nodeType="clickEffect" fill="hold">
                      <p:stCondLst>
                        <p:cond delay="indefinite"/>
                      </p:stCondLst>
                      <p:childTnLst>
                        <p:par>
                          <p:cTn id="72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2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26" dur="500"/>
                                        <p:tgtEl>
                                          <p:spTgt spid="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7" nodeType="clickEffect" fill="hold">
                      <p:stCondLst>
                        <p:cond delay="indefinite"/>
                      </p:stCondLst>
                      <p:childTnLst>
                        <p:par>
                          <p:cTn id="7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2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31" dur="500"/>
                                        <p:tgtEl>
                                          <p:spTgt spid="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2" nodeType="clickEffect" fill="hold">
                      <p:stCondLst>
                        <p:cond delay="indefinite"/>
                      </p:stCondLst>
                      <p:childTnLst>
                        <p:par>
                          <p:cTn id="73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3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36" dur="500"/>
                                        <p:tgtEl>
                                          <p:spTgt spid="2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7" nodeType="clickEffect" fill="hold">
                      <p:stCondLst>
                        <p:cond delay="indefinite"/>
                      </p:stCondLst>
                      <p:childTnLst>
                        <p:par>
                          <p:cTn id="73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3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41" dur="500"/>
                                        <p:tgtEl>
                                          <p:spTgt spid="2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5.1  THE PRICE ELASTICITY OF DEMAND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22924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High taxes on cigarettes and alcohol limit the number of young people who become habitual users of these products. 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High taxes have only a modest effect on the quantities consumed by established users.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</p:spTree>
  </p:cSld>
  <p:transition spd="slow">
    <p:wipe dir="r"/>
  </p:transition>
  <p:timing>
    <p:tnLst>
      <p:par>
        <p:cTn id="742" dur="indefinite" restart="never" nodeType="tmRoot">
          <p:childTnLst>
            <p:seq>
              <p:cTn id="743" dur="indefinite" nodeType="mainSeq">
                <p:childTnLst>
                  <p:par>
                    <p:cTn id="744" nodeType="clickEffect" fill="hold">
                      <p:stCondLst>
                        <p:cond delay="indefinite"/>
                      </p:stCondLst>
                      <p:childTnLst>
                        <p:par>
                          <p:cTn id="74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46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48" dur="500"/>
                                        <p:tgtEl>
                                          <p:spTgt spid="2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5.2  THE PRICE ELASTICITY OF SUPPLY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22924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1" lang="en-US" sz="2400" strike="noStrike" u="non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Price elasticity of supply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is a measure of the extent to which the quantity supplied of a good changes when the price of the good changes.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To determine the price elasticity of supply, we compare the percentage change in the quantity supplied with the percentage change in price.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</p:spTree>
  </p:cSld>
  <p:transition spd="slow">
    <p:wipe dir="r"/>
  </p:transition>
  <p:timing>
    <p:tnLst>
      <p:par>
        <p:cTn id="749" dur="indefinite" restart="never" nodeType="tmRoot">
          <p:childTnLst>
            <p:seq>
              <p:cTn id="750" dur="indefinite" nodeType="mainSeq">
                <p:childTnLst>
                  <p:par>
                    <p:cTn id="751" nodeType="clickEffect" fill="hold">
                      <p:stCondLst>
                        <p:cond delay="indefinite"/>
                      </p:stCondLst>
                      <p:childTnLst>
                        <p:par>
                          <p:cTn id="7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53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55" dur="500"/>
                                        <p:tgtEl>
                                          <p:spTgt spid="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5.2  THE PRICE ELASTICITY OF SUPPLY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22924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Webdings" charset="2"/>
              <a:buChar char=""/>
            </a:pPr>
            <a:r>
              <a:rPr b="1" lang="en-US" sz="2800" strike="noStrike" u="non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Elastic and Inelastic Supply</a:t>
            </a: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5892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rPr>
              <a:t>Supply is </a:t>
            </a:r>
            <a:r>
              <a:rPr b="1" lang="en-US" sz="2400" strike="noStrike" u="non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perfectly elastic </a:t>
            </a:r>
            <a:r>
              <a:rPr b="0" lang="en-US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rPr>
              <a:t>if an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almost zero percentage change in price brings a very large percentage change in the quantity supplied.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5892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rPr>
              <a:t>Supply is </a:t>
            </a:r>
            <a:r>
              <a:rPr b="1" lang="en-US" sz="2400" strike="noStrike" u="non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elastic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if the percentage change in the quantity supplied exceeds the percentage change in price.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</p:spTree>
  </p:cSld>
  <p:transition spd="slow">
    <p:wipe dir="r"/>
  </p:transition>
  <p:timing>
    <p:tnLst>
      <p:par>
        <p:cTn id="756" dur="indefinite" restart="never" nodeType="tmRoot">
          <p:childTnLst>
            <p:seq>
              <p:cTn id="757" dur="indefinite" nodeType="mainSeq">
                <p:childTnLst>
                  <p:par>
                    <p:cTn id="758" nodeType="clickEffect" fill="hold">
                      <p:stCondLst>
                        <p:cond delay="indefinite"/>
                      </p:stCondLst>
                      <p:childTnLst>
                        <p:par>
                          <p:cTn id="75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6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62" dur="500"/>
                                        <p:tgtEl>
                                          <p:spTgt spid="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3" nodeType="clickEffect" fill="hold">
                      <p:stCondLst>
                        <p:cond delay="indefinite"/>
                      </p:stCondLst>
                      <p:childTnLst>
                        <p:par>
                          <p:cTn id="76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6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67" dur="500"/>
                                        <p:tgtEl>
                                          <p:spTgt spid="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5.2  THE PRICE ELASTICITY OF SUPPLY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771660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rPr>
              <a:t>Supply is </a:t>
            </a:r>
            <a:r>
              <a:rPr b="1" lang="en-US" sz="2400" strike="noStrike" u="non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unit elastic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if the percentage change in the quantity supplied equals the percentage change in price.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rPr>
              <a:t>Supply is </a:t>
            </a:r>
            <a:r>
              <a:rPr b="1" lang="en-US" sz="2400" strike="noStrike" u="non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inelastic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if the percentage change in the quantity supplied is less than the percentage change in price.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rPr>
              <a:t>Supply is </a:t>
            </a:r>
            <a:r>
              <a:rPr b="1" lang="en-US" sz="2400" strike="noStrike" u="non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perfectly inelastic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if the percentage change in the quantity supplied is zero when the price changes.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</p:spTree>
  </p:cSld>
  <p:transition spd="slow">
    <p:wipe dir="r"/>
  </p:transition>
  <p:timing>
    <p:tnLst>
      <p:par>
        <p:cTn id="768" dur="indefinite" restart="never" nodeType="tmRoot">
          <p:childTnLst>
            <p:seq>
              <p:cTn id="769" dur="indefinite" nodeType="mainSeq">
                <p:childTnLst>
                  <p:par>
                    <p:cTn id="770" nodeType="clickEffect" fill="hold">
                      <p:stCondLst>
                        <p:cond delay="indefinite"/>
                      </p:stCondLst>
                      <p:childTnLst>
                        <p:par>
                          <p:cTn id="77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7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74" dur="500"/>
                                        <p:tgtEl>
                                          <p:spTgt spid="2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5" nodeType="clickEffect" fill="hold">
                      <p:stCondLst>
                        <p:cond delay="indefinite"/>
                      </p:stCondLst>
                      <p:childTnLst>
                        <p:par>
                          <p:cTn id="7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7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79" dur="500"/>
                                        <p:tgtEl>
                                          <p:spTgt spid="2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5.2  THE PRICE ELASTICITY OF SUPPLY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4114440" cy="4647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Figure 5.5(a) shows perfectly elastic supply.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A small rise in the price,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Increases the quantity supplied by a very large amount,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Supply is perfectly elastic.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  <p:pic>
        <p:nvPicPr>
          <p:cNvPr id="289" name="Picture 13" descr="fig0505aa.gif"/>
          <p:cNvPicPr/>
          <p:nvPr/>
        </p:nvPicPr>
        <p:blipFill>
          <a:blip r:embed="rId1"/>
          <a:stretch/>
        </p:blipFill>
        <p:spPr>
          <a:xfrm>
            <a:off x="4464000" y="2376360"/>
            <a:ext cx="4360680" cy="323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0" name="Picture 14" descr="fig0505ab.gif"/>
          <p:cNvPicPr/>
          <p:nvPr/>
        </p:nvPicPr>
        <p:blipFill>
          <a:blip r:embed="rId2"/>
          <a:stretch/>
        </p:blipFill>
        <p:spPr>
          <a:xfrm>
            <a:off x="4464000" y="2376360"/>
            <a:ext cx="4360680" cy="323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1" name="Picture 15" descr="fig0505ac.gif"/>
          <p:cNvPicPr/>
          <p:nvPr/>
        </p:nvPicPr>
        <p:blipFill>
          <a:blip r:embed="rId3"/>
          <a:stretch/>
        </p:blipFill>
        <p:spPr>
          <a:xfrm>
            <a:off x="4464000" y="2376360"/>
            <a:ext cx="4360680" cy="323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2" name="Picture 16" descr="fig0505ad.gif"/>
          <p:cNvPicPr/>
          <p:nvPr/>
        </p:nvPicPr>
        <p:blipFill>
          <a:blip r:embed="rId4"/>
          <a:stretch/>
        </p:blipFill>
        <p:spPr>
          <a:xfrm>
            <a:off x="4464000" y="2376360"/>
            <a:ext cx="4360680" cy="323352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wipe dir="r"/>
  </p:transition>
  <p:timing>
    <p:tnLst>
      <p:par>
        <p:cTn id="780" dur="indefinite" restart="never" nodeType="tmRoot">
          <p:childTnLst>
            <p:seq>
              <p:cTn id="781" dur="indefinite" nodeType="mainSeq">
                <p:childTnLst>
                  <p:par>
                    <p:cTn id="782" nodeType="clickEffect" fill="hold">
                      <p:stCondLst>
                        <p:cond delay="indefinite"/>
                      </p:stCondLst>
                      <p:childTnLst>
                        <p:par>
                          <p:cTn id="78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8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86" dur="500"/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89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0" nodeType="clickEffect" fill="hold">
                      <p:stCondLst>
                        <p:cond delay="indefinite"/>
                      </p:stCondLst>
                      <p:childTnLst>
                        <p:par>
                          <p:cTn id="79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9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94" dur="500"/>
                                        <p:tgtEl>
                                          <p:spTgt spid="2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7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8" nodeType="clickEffect" fill="hold">
                      <p:stCondLst>
                        <p:cond delay="indefinite"/>
                      </p:stCondLst>
                      <p:childTnLst>
                        <p:par>
                          <p:cTn id="79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0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02" dur="500"/>
                                        <p:tgtEl>
                                          <p:spTgt spid="2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05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5.2  THE PRICE ELASTICITY OF SUPPLY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4114440" cy="4647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Figure 5.5(b) shows an elastic supply.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A 10% rise in the price of a book,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Increases the quantity of books supplied by 20%.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The supply of books is elastic.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  <p:pic>
        <p:nvPicPr>
          <p:cNvPr id="295" name="Picture 12" descr="fig0505ba.gif"/>
          <p:cNvPicPr/>
          <p:nvPr/>
        </p:nvPicPr>
        <p:blipFill>
          <a:blip r:embed="rId1"/>
          <a:stretch/>
        </p:blipFill>
        <p:spPr>
          <a:xfrm>
            <a:off x="4464000" y="2376360"/>
            <a:ext cx="4360680" cy="323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6" name="Picture 13" descr="fig0505bb.gif"/>
          <p:cNvPicPr/>
          <p:nvPr/>
        </p:nvPicPr>
        <p:blipFill>
          <a:blip r:embed="rId2"/>
          <a:stretch/>
        </p:blipFill>
        <p:spPr>
          <a:xfrm>
            <a:off x="4464000" y="2376360"/>
            <a:ext cx="4360680" cy="323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7" name="Picture 14" descr="fig0505bc.gif"/>
          <p:cNvPicPr/>
          <p:nvPr/>
        </p:nvPicPr>
        <p:blipFill>
          <a:blip r:embed="rId3"/>
          <a:stretch/>
        </p:blipFill>
        <p:spPr>
          <a:xfrm>
            <a:off x="4464000" y="2376360"/>
            <a:ext cx="4360680" cy="323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8" name="Picture 15" descr="fig0505bd.gif"/>
          <p:cNvPicPr/>
          <p:nvPr/>
        </p:nvPicPr>
        <p:blipFill>
          <a:blip r:embed="rId4"/>
          <a:stretch/>
        </p:blipFill>
        <p:spPr>
          <a:xfrm>
            <a:off x="4464000" y="2376360"/>
            <a:ext cx="4360680" cy="323352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wipe dir="r"/>
  </p:transition>
  <p:timing>
    <p:tnLst>
      <p:par>
        <p:cTn id="806" dur="indefinite" restart="never" nodeType="tmRoot">
          <p:childTnLst>
            <p:seq>
              <p:cTn id="807" dur="indefinite" nodeType="mainSeq">
                <p:childTnLst>
                  <p:par>
                    <p:cTn id="808" nodeType="clickEffect" fill="hold">
                      <p:stCondLst>
                        <p:cond delay="indefinite"/>
                      </p:stCondLst>
                      <p:childTnLst>
                        <p:par>
                          <p:cTn id="80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1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12" dur="500"/>
                                        <p:tgtEl>
                                          <p:spTgt spid="2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3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815"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6" nodeType="clickEffect" fill="hold">
                      <p:stCondLst>
                        <p:cond delay="indefinite"/>
                      </p:stCondLst>
                      <p:childTnLst>
                        <p:par>
                          <p:cTn id="81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18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20" dur="500"/>
                                        <p:tgtEl>
                                          <p:spTgt spid="2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1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23"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4" nodeType="clickEffect" fill="hold">
                      <p:stCondLst>
                        <p:cond delay="indefinite"/>
                      </p:stCondLst>
                      <p:childTnLst>
                        <p:par>
                          <p:cTn id="82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26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28" dur="500"/>
                                        <p:tgtEl>
                                          <p:spTgt spid="2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31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5.2  THE PRICE ELASTICITY OF SUPPLY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4114440" cy="4647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Figure 5.5(c) shows a unit elastic supply.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A 10% rise in the price of fish, 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Increases the quantity of fish supplied by 10%.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The supply of fish is unit elastic.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  <p:pic>
        <p:nvPicPr>
          <p:cNvPr id="301" name="Picture 12" descr="fig0505ca.gif"/>
          <p:cNvPicPr/>
          <p:nvPr/>
        </p:nvPicPr>
        <p:blipFill>
          <a:blip r:embed="rId1"/>
          <a:stretch/>
        </p:blipFill>
        <p:spPr>
          <a:xfrm>
            <a:off x="4464000" y="2376360"/>
            <a:ext cx="4360680" cy="323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2" name="Picture 13" descr="fig0505cb.gif"/>
          <p:cNvPicPr/>
          <p:nvPr/>
        </p:nvPicPr>
        <p:blipFill>
          <a:blip r:embed="rId2"/>
          <a:stretch/>
        </p:blipFill>
        <p:spPr>
          <a:xfrm>
            <a:off x="4464000" y="2376360"/>
            <a:ext cx="4360680" cy="323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3" name="Picture 14" descr="fig0505cc.gif"/>
          <p:cNvPicPr/>
          <p:nvPr/>
        </p:nvPicPr>
        <p:blipFill>
          <a:blip r:embed="rId3"/>
          <a:stretch/>
        </p:blipFill>
        <p:spPr>
          <a:xfrm>
            <a:off x="4464000" y="2376360"/>
            <a:ext cx="4360680" cy="323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4" name="Picture 15" descr="fig0505cd.gif"/>
          <p:cNvPicPr/>
          <p:nvPr/>
        </p:nvPicPr>
        <p:blipFill>
          <a:blip r:embed="rId4"/>
          <a:stretch/>
        </p:blipFill>
        <p:spPr>
          <a:xfrm>
            <a:off x="4464000" y="2376360"/>
            <a:ext cx="4360680" cy="323352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wipe dir="r"/>
  </p:transition>
  <p:timing>
    <p:tnLst>
      <p:par>
        <p:cTn id="832" dur="indefinite" restart="never" nodeType="tmRoot">
          <p:childTnLst>
            <p:seq>
              <p:cTn id="833" dur="indefinite" nodeType="mainSeq">
                <p:childTnLst>
                  <p:par>
                    <p:cTn id="834" nodeType="clickEffect" fill="hold">
                      <p:stCondLst>
                        <p:cond delay="indefinite"/>
                      </p:stCondLst>
                      <p:childTnLst>
                        <p:par>
                          <p:cTn id="83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36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38" dur="500"/>
                                        <p:tgtEl>
                                          <p:spTgt spid="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9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841"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2" nodeType="clickEffect" fill="hold">
                      <p:stCondLst>
                        <p:cond delay="indefinite"/>
                      </p:stCondLst>
                      <p:childTnLst>
                        <p:par>
                          <p:cTn id="84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4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46" dur="500"/>
                                        <p:tgtEl>
                                          <p:spTgt spid="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7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49"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0" nodeType="clickEffect" fill="hold">
                      <p:stCondLst>
                        <p:cond delay="indefinite"/>
                      </p:stCondLst>
                      <p:childTnLst>
                        <p:par>
                          <p:cTn id="85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5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54" dur="500"/>
                                        <p:tgtEl>
                                          <p:spTgt spid="3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57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5.2  THE PRICE ELASTICITY OF SUPPLY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4114440" cy="4647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Figure 5.5(d) shows an inelastic supply.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A 20% rise in the price of a hotel room,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Increases the quantity of hotel rooms supplied by 10%.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The supply of hotel rooms is inelastic.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  <p:pic>
        <p:nvPicPr>
          <p:cNvPr id="307" name="Picture 12" descr="fig0505da.gif"/>
          <p:cNvPicPr/>
          <p:nvPr/>
        </p:nvPicPr>
        <p:blipFill>
          <a:blip r:embed="rId1"/>
          <a:stretch/>
        </p:blipFill>
        <p:spPr>
          <a:xfrm>
            <a:off x="4464000" y="2376360"/>
            <a:ext cx="4360680" cy="323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8" name="Picture 13" descr="fig0505db.gif"/>
          <p:cNvPicPr/>
          <p:nvPr/>
        </p:nvPicPr>
        <p:blipFill>
          <a:blip r:embed="rId2"/>
          <a:stretch/>
        </p:blipFill>
        <p:spPr>
          <a:xfrm>
            <a:off x="4464000" y="2376360"/>
            <a:ext cx="4360680" cy="323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9" name="Picture 14" descr="fig0505dc.gif"/>
          <p:cNvPicPr/>
          <p:nvPr/>
        </p:nvPicPr>
        <p:blipFill>
          <a:blip r:embed="rId3"/>
          <a:stretch/>
        </p:blipFill>
        <p:spPr>
          <a:xfrm>
            <a:off x="4464000" y="2376360"/>
            <a:ext cx="4360680" cy="323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0" name="Picture 15" descr="fig0505dd.gif"/>
          <p:cNvPicPr/>
          <p:nvPr/>
        </p:nvPicPr>
        <p:blipFill>
          <a:blip r:embed="rId4"/>
          <a:stretch/>
        </p:blipFill>
        <p:spPr>
          <a:xfrm>
            <a:off x="4464000" y="2376360"/>
            <a:ext cx="4360680" cy="323352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wipe dir="r"/>
  </p:transition>
  <p:timing>
    <p:tnLst>
      <p:par>
        <p:cTn id="858" dur="indefinite" restart="never" nodeType="tmRoot">
          <p:childTnLst>
            <p:seq>
              <p:cTn id="859" dur="indefinite" nodeType="mainSeq">
                <p:childTnLst>
                  <p:par>
                    <p:cTn id="860" nodeType="clickEffect" fill="hold">
                      <p:stCondLst>
                        <p:cond delay="indefinite"/>
                      </p:stCondLst>
                      <p:childTnLst>
                        <p:par>
                          <p:cTn id="86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6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64" dur="500"/>
                                        <p:tgtEl>
                                          <p:spTgt spid="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5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867"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8" nodeType="clickEffect" fill="hold">
                      <p:stCondLst>
                        <p:cond delay="indefinite"/>
                      </p:stCondLst>
                      <p:childTnLst>
                        <p:par>
                          <p:cTn id="86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7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72" dur="500"/>
                                        <p:tgtEl>
                                          <p:spTgt spid="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3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75"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6" nodeType="clickEffect" fill="hold">
                      <p:stCondLst>
                        <p:cond delay="indefinite"/>
                      </p:stCondLst>
                      <p:childTnLst>
                        <p:par>
                          <p:cTn id="87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78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80" dur="500"/>
                                        <p:tgtEl>
                                          <p:spTgt spid="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83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Picture 12" descr="fig0505ea.gif"/>
          <p:cNvPicPr/>
          <p:nvPr/>
        </p:nvPicPr>
        <p:blipFill>
          <a:blip r:embed="rId1"/>
          <a:stretch/>
        </p:blipFill>
        <p:spPr>
          <a:xfrm>
            <a:off x="4464000" y="2376360"/>
            <a:ext cx="4360680" cy="323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2" name="Picture 13" descr="fig0505eb.gif"/>
          <p:cNvPicPr/>
          <p:nvPr/>
        </p:nvPicPr>
        <p:blipFill>
          <a:blip r:embed="rId2"/>
          <a:stretch/>
        </p:blipFill>
        <p:spPr>
          <a:xfrm>
            <a:off x="4464000" y="2376360"/>
            <a:ext cx="4360680" cy="323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3" name="Picture 14" descr="fig0505ec.gif"/>
          <p:cNvPicPr/>
          <p:nvPr/>
        </p:nvPicPr>
        <p:blipFill>
          <a:blip r:embed="rId3"/>
          <a:stretch/>
        </p:blipFill>
        <p:spPr>
          <a:xfrm>
            <a:off x="4464000" y="2376360"/>
            <a:ext cx="4360680" cy="323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4" name="Picture 15" descr="fig0505ed.gif"/>
          <p:cNvPicPr/>
          <p:nvPr/>
        </p:nvPicPr>
        <p:blipFill>
          <a:blip r:embed="rId4"/>
          <a:stretch/>
        </p:blipFill>
        <p:spPr>
          <a:xfrm>
            <a:off x="4464000" y="2376360"/>
            <a:ext cx="4360680" cy="3233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5.2  THE PRICE ELASTICITY OF SUPPLY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4287600" cy="4647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Figure 5.5(e) shows a perfectly inelastic supply.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The price of a beachfront lot rises by a small percentage.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The quantity of beachfront lots supplied increases by 0%.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The supply of beachfront lots is perfectly inelastic.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</p:spTree>
  </p:cSld>
  <p:transition spd="slow">
    <p:wipe dir="r"/>
  </p:transition>
  <p:timing>
    <p:tnLst>
      <p:par>
        <p:cTn id="884" dur="indefinite" restart="never" nodeType="tmRoot">
          <p:childTnLst>
            <p:seq>
              <p:cTn id="885" dur="indefinite" nodeType="mainSeq">
                <p:childTnLst>
                  <p:par>
                    <p:cTn id="886" nodeType="clickEffect" fill="hold">
                      <p:stCondLst>
                        <p:cond delay="indefinite"/>
                      </p:stCondLst>
                      <p:childTnLst>
                        <p:par>
                          <p:cTn id="88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88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90" dur="500"/>
                                        <p:tgtEl>
                                          <p:spTgt spid="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1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893"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4" nodeType="clickEffect" fill="hold">
                      <p:stCondLst>
                        <p:cond delay="indefinite"/>
                      </p:stCondLst>
                      <p:childTnLst>
                        <p:par>
                          <p:cTn id="89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96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98" dur="500"/>
                                        <p:tgtEl>
                                          <p:spTgt spid="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01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2" nodeType="clickEffect" fill="hold">
                      <p:stCondLst>
                        <p:cond delay="indefinite"/>
                      </p:stCondLst>
                      <p:childTnLst>
                        <p:par>
                          <p:cTn id="90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0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06" dur="500"/>
                                        <p:tgtEl>
                                          <p:spTgt spid="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09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5.2  THE PRICE ELASTICITY OF SUPPLY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22924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Webdings" charset="2"/>
              <a:buChar char=""/>
            </a:pPr>
            <a:r>
              <a:rPr b="1" lang="en-US" sz="2800" strike="noStrike" u="non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Influences on the Price Elasticity of Supply</a:t>
            </a: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The two main influences are: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lvl="2" marL="70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Production possibilities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70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Storage possibilities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1" lang="en-US" sz="2400" strike="noStrike" u="non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Production Possibilities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Goods that can be produced at a constant (or very gently rising) opportunity cost have an elastic supply. 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Goods that can be produced in only a fixed quantity have a perfectly inelastic supply.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</p:spTree>
  </p:cSld>
  <p:transition spd="slow">
    <p:wipe dir="r"/>
  </p:transition>
  <p:timing>
    <p:tnLst>
      <p:par>
        <p:cTn id="910" dur="indefinite" restart="never" nodeType="tmRoot">
          <p:childTnLst>
            <p:seq>
              <p:cTn id="911" dur="indefinite" nodeType="mainSeq">
                <p:childTnLst>
                  <p:par>
                    <p:cTn id="912" nodeType="clickEffect" fill="hold">
                      <p:stCondLst>
                        <p:cond delay="indefinite"/>
                      </p:stCondLst>
                      <p:childTnLst>
                        <p:par>
                          <p:cTn id="91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1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16" dur="500"/>
                                        <p:tgtEl>
                                          <p:spTgt spid="3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7" nodeType="clickEffect" fill="hold">
                      <p:stCondLst>
                        <p:cond delay="indefinite"/>
                      </p:stCondLst>
                      <p:childTnLst>
                        <p:par>
                          <p:cTn id="91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1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21" dur="500"/>
                                        <p:tgtEl>
                                          <p:spTgt spid="3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2" nodeType="clickEffect" fill="hold">
                      <p:stCondLst>
                        <p:cond delay="indefinite"/>
                      </p:stCondLst>
                      <p:childTnLst>
                        <p:par>
                          <p:cTn id="92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2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26" dur="500"/>
                                        <p:tgtEl>
                                          <p:spTgt spid="3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7" nodeType="clickEffect" fill="hold">
                      <p:stCondLst>
                        <p:cond delay="indefinite"/>
                      </p:stCondLst>
                      <p:childTnLst>
                        <p:par>
                          <p:cTn id="9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2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31" dur="500"/>
                                        <p:tgtEl>
                                          <p:spTgt spid="3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2" nodeType="clickEffect" fill="hold">
                      <p:stCondLst>
                        <p:cond delay="indefinite"/>
                      </p:stCondLst>
                      <p:childTnLst>
                        <p:par>
                          <p:cTn id="93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3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36" dur="500"/>
                                        <p:tgtEl>
                                          <p:spTgt spid="3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7" nodeType="clickEffect" fill="hold">
                      <p:stCondLst>
                        <p:cond delay="indefinite"/>
                      </p:stCondLst>
                      <p:childTnLst>
                        <p:par>
                          <p:cTn id="93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3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41" dur="500"/>
                                        <p:tgtEl>
                                          <p:spTgt spid="3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5.2  THE PRICE ELASTICITY OF SUPPLY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22924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Time Elapsed Since Price Change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As time passes after a price change, producers find it  easier to change their production plans, so supply becomes more elastic.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1" lang="en-US" sz="2400" strike="noStrike" u="non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Storage Possibilities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The supply of a storable good is highly elastic.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The cost of storage is the main influence on the elasticity of supply of a storable good.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</p:spTree>
  </p:cSld>
  <p:transition spd="slow">
    <p:wipe dir="r"/>
  </p:transition>
  <p:timing>
    <p:tnLst>
      <p:par>
        <p:cTn id="942" dur="indefinite" restart="never" nodeType="tmRoot">
          <p:childTnLst>
            <p:seq>
              <p:cTn id="943" dur="indefinite" nodeType="mainSeq">
                <p:childTnLst>
                  <p:par>
                    <p:cTn id="944" nodeType="clickEffect" fill="hold">
                      <p:stCondLst>
                        <p:cond delay="indefinite"/>
                      </p:stCondLst>
                      <p:childTnLst>
                        <p:par>
                          <p:cTn id="94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46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48" dur="500"/>
                                        <p:tgtEl>
                                          <p:spTgt spid="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9" nodeType="clickEffect" fill="hold">
                      <p:stCondLst>
                        <p:cond delay="indefinite"/>
                      </p:stCondLst>
                      <p:childTnLst>
                        <p:par>
                          <p:cTn id="95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51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53" dur="500"/>
                                        <p:tgtEl>
                                          <p:spTgt spid="3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4" nodeType="clickEffect" fill="hold">
                      <p:stCondLst>
                        <p:cond delay="indefinite"/>
                      </p:stCondLst>
                      <p:childTnLst>
                        <p:par>
                          <p:cTn id="95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56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58" dur="500"/>
                                        <p:tgtEl>
                                          <p:spTgt spid="3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9" nodeType="clickEffect" fill="hold">
                      <p:stCondLst>
                        <p:cond delay="indefinite"/>
                      </p:stCondLst>
                      <p:childTnLst>
                        <p:par>
                          <p:cTn id="96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61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63" dur="500"/>
                                        <p:tgtEl>
                                          <p:spTgt spid="3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5.2  THE PRICE ELASTICITY OF SUPPLY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22924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Webdings" charset="2"/>
              <a:buChar char=""/>
            </a:pPr>
            <a:r>
              <a:rPr b="1" lang="en-US" sz="2800" strike="noStrike" u="non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Computing the Price Elasticity of Supply</a:t>
            </a: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lvl="1" marL="70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If the price elasticity of supply is greater than 1, supply is elastic.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70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If the price elasticity of supply equals 1, supply is unit elastic.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70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If the price elasticity of supply is less than 1, supply is inelastic.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23" name="Group 16"/>
          <p:cNvGrpSpPr/>
          <p:nvPr/>
        </p:nvGrpSpPr>
        <p:grpSpPr>
          <a:xfrm>
            <a:off x="1066680" y="2139840"/>
            <a:ext cx="7030800" cy="1363680"/>
            <a:chOff x="1066680" y="2139840"/>
            <a:chExt cx="7030800" cy="1363680"/>
          </a:xfrm>
        </p:grpSpPr>
        <p:sp>
          <p:nvSpPr>
            <p:cNvPr id="324" name="Rectangle 6"/>
            <p:cNvSpPr/>
            <p:nvPr/>
          </p:nvSpPr>
          <p:spPr>
            <a:xfrm>
              <a:off x="1066680" y="2513160"/>
              <a:ext cx="2400120" cy="990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spcBef>
                  <a:spcPts val="479"/>
                </a:spcBef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Price elasticity of supply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5" name="Rectangle 7"/>
            <p:cNvSpPr/>
            <p:nvPr/>
          </p:nvSpPr>
          <p:spPr>
            <a:xfrm>
              <a:off x="4056120" y="2139840"/>
              <a:ext cx="3580920" cy="829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Percentage change in quantity supplied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6" name="Rectangle 8"/>
            <p:cNvSpPr/>
            <p:nvPr/>
          </p:nvSpPr>
          <p:spPr>
            <a:xfrm>
              <a:off x="3621240" y="3046320"/>
              <a:ext cx="447624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 algn="ctr">
                <a:lnSpc>
                  <a:spcPct val="100000"/>
                </a:lnSpc>
                <a:spcBef>
                  <a:spcPts val="479"/>
                </a:spcBef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Percentage change in the price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Line 9"/>
            <p:cNvSpPr/>
            <p:nvPr/>
          </p:nvSpPr>
          <p:spPr>
            <a:xfrm>
              <a:off x="3671640" y="3008160"/>
              <a:ext cx="4349880" cy="360"/>
            </a:xfrm>
            <a:prstGeom prst="line">
              <a:avLst/>
            </a:prstGeom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328" name="Rectangle 15"/>
            <p:cNvSpPr/>
            <p:nvPr/>
          </p:nvSpPr>
          <p:spPr>
            <a:xfrm>
              <a:off x="3200400" y="2741760"/>
              <a:ext cx="418680" cy="533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spcBef>
                  <a:spcPts val="479"/>
                </a:spcBef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=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 spd="slow">
    <p:wipe dir="r"/>
  </p:transition>
  <p:timing>
    <p:tnLst>
      <p:par>
        <p:cTn id="964" dur="indefinite" restart="never" nodeType="tmRoot">
          <p:childTnLst>
            <p:seq>
              <p:cTn id="965" dur="indefinite" nodeType="mainSeq">
                <p:childTnLst>
                  <p:par>
                    <p:cTn id="966" nodeType="clickEffect" fill="hold">
                      <p:stCondLst>
                        <p:cond delay="indefinite"/>
                      </p:stCondLst>
                      <p:childTnLst>
                        <p:par>
                          <p:cTn id="96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68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70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71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2" nodeType="clickEffect" fill="hold">
                      <p:stCondLst>
                        <p:cond delay="indefinite"/>
                      </p:stCondLst>
                      <p:childTnLst>
                        <p:par>
                          <p:cTn id="97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7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76" dur="500"/>
                                        <p:tgtEl>
                                          <p:spTgt spid="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7" nodeType="clickEffect" fill="hold">
                      <p:stCondLst>
                        <p:cond delay="indefinite"/>
                      </p:stCondLst>
                      <p:childTnLst>
                        <p:par>
                          <p:cTn id="97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7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81" dur="500"/>
                                        <p:tgtEl>
                                          <p:spTgt spid="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2" nodeType="clickEffect" fill="hold">
                      <p:stCondLst>
                        <p:cond delay="indefinite"/>
                      </p:stCondLst>
                      <p:childTnLst>
                        <p:par>
                          <p:cTn id="98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8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86" dur="500"/>
                                        <p:tgtEl>
                                          <p:spTgt spid="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5.2  THE PRICE ELASTICITY OF SUPPLY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3526920" cy="4647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Figure 5.6 shows how to calculate the price elasticity of supply.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Percentage change in the price equals $40/$60  × 100, or 66.67%. 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Percentage change in the quantity equals </a:t>
            </a:r>
            <a:br>
              <a:rPr sz="2400"/>
            </a:b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18 bouquets/15 bouquets  × 100, or 120%.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  <p:pic>
        <p:nvPicPr>
          <p:cNvPr id="331" name="Picture 18" descr="fig0506a.gif"/>
          <p:cNvPicPr/>
          <p:nvPr/>
        </p:nvPicPr>
        <p:blipFill>
          <a:blip r:embed="rId1"/>
          <a:stretch/>
        </p:blipFill>
        <p:spPr>
          <a:xfrm>
            <a:off x="3851280" y="1511280"/>
            <a:ext cx="4860720" cy="480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2" name="Picture 19" descr="fig0506b.gif"/>
          <p:cNvPicPr/>
          <p:nvPr/>
        </p:nvPicPr>
        <p:blipFill>
          <a:blip r:embed="rId2"/>
          <a:stretch/>
        </p:blipFill>
        <p:spPr>
          <a:xfrm>
            <a:off x="3851280" y="1511280"/>
            <a:ext cx="4860720" cy="480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3" name="Picture 20" descr="fig0506c.gif"/>
          <p:cNvPicPr/>
          <p:nvPr/>
        </p:nvPicPr>
        <p:blipFill>
          <a:blip r:embed="rId3"/>
          <a:stretch/>
        </p:blipFill>
        <p:spPr>
          <a:xfrm>
            <a:off x="3851280" y="1511280"/>
            <a:ext cx="4860720" cy="480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4" name="Picture 21" descr="fig0506d.gif"/>
          <p:cNvPicPr/>
          <p:nvPr/>
        </p:nvPicPr>
        <p:blipFill>
          <a:blip r:embed="rId4"/>
          <a:stretch/>
        </p:blipFill>
        <p:spPr>
          <a:xfrm>
            <a:off x="3851280" y="1511280"/>
            <a:ext cx="4860720" cy="480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5" name="Picture 22" descr="fig0506e.gif"/>
          <p:cNvPicPr/>
          <p:nvPr/>
        </p:nvPicPr>
        <p:blipFill>
          <a:blip r:embed="rId5"/>
          <a:stretch/>
        </p:blipFill>
        <p:spPr>
          <a:xfrm>
            <a:off x="3851280" y="1511280"/>
            <a:ext cx="4860720" cy="480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6" name="Picture 23" descr="fig0506f.gif"/>
          <p:cNvPicPr/>
          <p:nvPr/>
        </p:nvPicPr>
        <p:blipFill>
          <a:blip r:embed="rId6"/>
          <a:stretch/>
        </p:blipFill>
        <p:spPr>
          <a:xfrm>
            <a:off x="3851280" y="1511280"/>
            <a:ext cx="4860720" cy="480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7" name="Picture 24" descr="fig0506g.gif"/>
          <p:cNvPicPr/>
          <p:nvPr/>
        </p:nvPicPr>
        <p:blipFill>
          <a:blip r:embed="rId7"/>
          <a:stretch/>
        </p:blipFill>
        <p:spPr>
          <a:xfrm>
            <a:off x="3851280" y="1511280"/>
            <a:ext cx="4860720" cy="480024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wipe dir="r"/>
  </p:transition>
  <p:timing>
    <p:tnLst>
      <p:par>
        <p:cTn id="987" dur="indefinite" restart="never" nodeType="tmRoot">
          <p:childTnLst>
            <p:seq>
              <p:cTn id="988" dur="indefinite" nodeType="mainSeq">
                <p:childTnLst>
                  <p:par>
                    <p:cTn id="989" nodeType="clickEffect" fill="hold">
                      <p:stCondLst>
                        <p:cond delay="0"/>
                      </p:stCondLst>
                      <p:childTnLst>
                        <p:par>
                          <p:cTn id="99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9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93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4" nodeType="withEffect" fill="hold" presetClass="entr" presetID="1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96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7" nodeType="clickEffect" fill="hold">
                      <p:stCondLst>
                        <p:cond delay="indefinite"/>
                      </p:stCondLst>
                      <p:childTnLst>
                        <p:par>
                          <p:cTn id="99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9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01" dur="500"/>
                                        <p:tgtEl>
                                          <p:spTgt spid="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2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004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5" nodeType="withEffect" fill="hold" presetClass="entr" presetID="1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07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8" nodeType="clickEffect" fill="hold">
                      <p:stCondLst>
                        <p:cond delay="indefinite"/>
                      </p:stCondLst>
                      <p:childTnLst>
                        <p:par>
                          <p:cTn id="100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1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12" dur="500"/>
                                        <p:tgtEl>
                                          <p:spTgt spid="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3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15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6" nodeType="withEffect" fill="hold" presetClass="entr" presetID="10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18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5.2  THE PRICE ELASTICITY OF SUPPLY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3601800" cy="4647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The price elasticity of supply equals the Percentage change in the quantity ÷ Percentage change in the price.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The price elasticity of supply equals </a:t>
            </a:r>
            <a:br>
              <a:rPr sz="2400"/>
            </a:b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120% ÷ 66.67%.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The price elasticity of supply is 1.8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  <p:pic>
        <p:nvPicPr>
          <p:cNvPr id="340" name="Picture 18" descr="fig0506a.gif"/>
          <p:cNvPicPr/>
          <p:nvPr/>
        </p:nvPicPr>
        <p:blipFill>
          <a:blip r:embed="rId1"/>
          <a:stretch/>
        </p:blipFill>
        <p:spPr>
          <a:xfrm>
            <a:off x="3851280" y="1511280"/>
            <a:ext cx="4860720" cy="480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1" name="Picture 19" descr="fig0506b.gif"/>
          <p:cNvPicPr/>
          <p:nvPr/>
        </p:nvPicPr>
        <p:blipFill>
          <a:blip r:embed="rId2"/>
          <a:stretch/>
        </p:blipFill>
        <p:spPr>
          <a:xfrm>
            <a:off x="3851280" y="1511280"/>
            <a:ext cx="4860720" cy="480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2" name="Picture 20" descr="fig0506c.gif"/>
          <p:cNvPicPr/>
          <p:nvPr/>
        </p:nvPicPr>
        <p:blipFill>
          <a:blip r:embed="rId3"/>
          <a:stretch/>
        </p:blipFill>
        <p:spPr>
          <a:xfrm>
            <a:off x="3851280" y="1511280"/>
            <a:ext cx="4860720" cy="480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3" name="Picture 21" descr="fig0506d.gif"/>
          <p:cNvPicPr/>
          <p:nvPr/>
        </p:nvPicPr>
        <p:blipFill>
          <a:blip r:embed="rId4"/>
          <a:stretch/>
        </p:blipFill>
        <p:spPr>
          <a:xfrm>
            <a:off x="3851280" y="1511280"/>
            <a:ext cx="4860720" cy="480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4" name="Picture 22" descr="fig0506e.gif"/>
          <p:cNvPicPr/>
          <p:nvPr/>
        </p:nvPicPr>
        <p:blipFill>
          <a:blip r:embed="rId5"/>
          <a:stretch/>
        </p:blipFill>
        <p:spPr>
          <a:xfrm>
            <a:off x="3851280" y="1511280"/>
            <a:ext cx="4860720" cy="480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5" name="Picture 23" descr="fig0506f.gif"/>
          <p:cNvPicPr/>
          <p:nvPr/>
        </p:nvPicPr>
        <p:blipFill>
          <a:blip r:embed="rId6"/>
          <a:stretch/>
        </p:blipFill>
        <p:spPr>
          <a:xfrm>
            <a:off x="3851280" y="1511280"/>
            <a:ext cx="4860720" cy="480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6" name="Picture 24" descr="fig0506g.gif"/>
          <p:cNvPicPr/>
          <p:nvPr/>
        </p:nvPicPr>
        <p:blipFill>
          <a:blip r:embed="rId7"/>
          <a:stretch/>
        </p:blipFill>
        <p:spPr>
          <a:xfrm>
            <a:off x="3851280" y="1511280"/>
            <a:ext cx="4860720" cy="480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7" name="Picture 25" descr="fig0506h.gif"/>
          <p:cNvPicPr/>
          <p:nvPr/>
        </p:nvPicPr>
        <p:blipFill>
          <a:blip r:embed="rId8"/>
          <a:stretch/>
        </p:blipFill>
        <p:spPr>
          <a:xfrm>
            <a:off x="3851280" y="1511280"/>
            <a:ext cx="4860720" cy="480024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wipe dir="r"/>
  </p:transition>
  <p:timing>
    <p:tnLst>
      <p:par>
        <p:cTn id="1019" dur="indefinite" restart="never" nodeType="tmRoot">
          <p:childTnLst>
            <p:seq>
              <p:cTn id="1020" dur="indefinite" nodeType="mainSeq">
                <p:childTnLst>
                  <p:par>
                    <p:cTn id="1021" nodeType="clickEffect" fill="hold">
                      <p:stCondLst>
                        <p:cond delay="indefinite"/>
                      </p:stCondLst>
                      <p:childTnLst>
                        <p:par>
                          <p:cTn id="10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23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25" dur="500"/>
                                        <p:tgtEl>
                                          <p:spTgt spid="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6" nodeType="clickEffect" fill="hold">
                      <p:stCondLst>
                        <p:cond delay="indefinite"/>
                      </p:stCondLst>
                      <p:childTnLst>
                        <p:par>
                          <p:cTn id="102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28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30" dur="500"/>
                                        <p:tgtEl>
                                          <p:spTgt spid="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33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CA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5.3 CROSS ELASTICITY AND INCOME ELASTICITY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22924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Webdings" charset="2"/>
              <a:buChar char=""/>
            </a:pPr>
            <a:r>
              <a:rPr b="1" lang="en-US" sz="2800" strike="noStrike" u="non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Cross Elasticity of Demand</a:t>
            </a: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Cross elasticity of demand 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is a measure of the extent to which the demand for a good changes when the price of a substitute or complement changes, other things remaining the same.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  <p:grpSp>
        <p:nvGrpSpPr>
          <p:cNvPr id="350" name="Group 10"/>
          <p:cNvGrpSpPr/>
          <p:nvPr/>
        </p:nvGrpSpPr>
        <p:grpSpPr>
          <a:xfrm>
            <a:off x="762120" y="4038480"/>
            <a:ext cx="7857720" cy="1747800"/>
            <a:chOff x="762120" y="4038480"/>
            <a:chExt cx="7857720" cy="1747800"/>
          </a:xfrm>
        </p:grpSpPr>
        <p:sp>
          <p:nvSpPr>
            <p:cNvPr id="351" name="Rectangle 5"/>
            <p:cNvSpPr/>
            <p:nvPr/>
          </p:nvSpPr>
          <p:spPr>
            <a:xfrm>
              <a:off x="762120" y="4229280"/>
              <a:ext cx="1828440" cy="1294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spcBef>
                  <a:spcPts val="479"/>
                </a:spcBef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Cross elasticity of demand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2" name="Rectangle 6"/>
            <p:cNvSpPr/>
            <p:nvPr/>
          </p:nvSpPr>
          <p:spPr>
            <a:xfrm>
              <a:off x="2900520" y="4038480"/>
              <a:ext cx="5409720" cy="87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Percentage change in quantity demanded of a good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3" name="Rectangle 7"/>
            <p:cNvSpPr/>
            <p:nvPr/>
          </p:nvSpPr>
          <p:spPr>
            <a:xfrm>
              <a:off x="2840040" y="4896000"/>
              <a:ext cx="5779800" cy="890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Percentage change in the price of one of its substitutes or complements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4" name="Line 8"/>
            <p:cNvSpPr/>
            <p:nvPr/>
          </p:nvSpPr>
          <p:spPr>
            <a:xfrm>
              <a:off x="2997000" y="4876560"/>
              <a:ext cx="5537160" cy="19080"/>
            </a:xfrm>
            <a:prstGeom prst="line">
              <a:avLst/>
            </a:prstGeom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920" bIns="-25920" anchor="ctr">
              <a:noAutofit/>
            </a:bodyPr>
            <a:p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355" name="Rectangle 9"/>
            <p:cNvSpPr/>
            <p:nvPr/>
          </p:nvSpPr>
          <p:spPr>
            <a:xfrm>
              <a:off x="2494080" y="4629240"/>
              <a:ext cx="418680" cy="533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spcBef>
                  <a:spcPts val="479"/>
                </a:spcBef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=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 spd="slow">
    <p:wipe dir="r"/>
  </p:transition>
  <p:timing>
    <p:tnLst>
      <p:par>
        <p:cTn id="1034" dur="indefinite" restart="never" nodeType="tmRoot">
          <p:childTnLst>
            <p:seq>
              <p:cTn id="1035" dur="indefinite" nodeType="mainSeq">
                <p:childTnLst>
                  <p:par>
                    <p:cTn id="1036" nodeType="clickEffect" fill="hold">
                      <p:stCondLst>
                        <p:cond delay="indefinite"/>
                      </p:stCondLst>
                      <p:childTnLst>
                        <p:par>
                          <p:cTn id="103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38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40" dur="500"/>
                                        <p:tgtEl>
                                          <p:spTgt spid="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1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042" nodeType="afterEffect" fill="hold" presetClass="entr" presetID="2" presetSubtype="4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44" dur="500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45" dur="500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CA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5.3 CROSS ELASTICITY AND INCOME ELASTICITY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22924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Suppose that when the price of a burger falls by 10 percent, the quantity of pizza demanded decreases by 5 percent.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  <p:grpSp>
        <p:nvGrpSpPr>
          <p:cNvPr id="358" name="Group 13"/>
          <p:cNvGrpSpPr/>
          <p:nvPr/>
        </p:nvGrpSpPr>
        <p:grpSpPr>
          <a:xfrm>
            <a:off x="1789200" y="3537000"/>
            <a:ext cx="5303520" cy="1294920"/>
            <a:chOff x="1789200" y="3537000"/>
            <a:chExt cx="5303520" cy="1294920"/>
          </a:xfrm>
        </p:grpSpPr>
        <p:sp>
          <p:nvSpPr>
            <p:cNvPr id="359" name="Rectangle 5"/>
            <p:cNvSpPr/>
            <p:nvPr/>
          </p:nvSpPr>
          <p:spPr>
            <a:xfrm>
              <a:off x="1789200" y="3537000"/>
              <a:ext cx="1742760" cy="1294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spcBef>
                  <a:spcPts val="479"/>
                </a:spcBef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Cross elasticity of demand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0" name="Rectangle 6"/>
            <p:cNvSpPr/>
            <p:nvPr/>
          </p:nvSpPr>
          <p:spPr>
            <a:xfrm>
              <a:off x="3927240" y="3651120"/>
              <a:ext cx="2106000" cy="49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– 5 percent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1" name="Rectangle 7"/>
            <p:cNvSpPr/>
            <p:nvPr/>
          </p:nvSpPr>
          <p:spPr>
            <a:xfrm>
              <a:off x="3931920" y="4184640"/>
              <a:ext cx="2101680" cy="533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 algn="ctr">
                <a:lnSpc>
                  <a:spcPct val="100000"/>
                </a:lnSpc>
                <a:spcBef>
                  <a:spcPts val="479"/>
                </a:spcBef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– 10 percent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2" name="Line 8"/>
            <p:cNvSpPr/>
            <p:nvPr/>
          </p:nvSpPr>
          <p:spPr>
            <a:xfrm>
              <a:off x="4054320" y="4146480"/>
              <a:ext cx="1874880" cy="360"/>
            </a:xfrm>
            <a:prstGeom prst="line">
              <a:avLst/>
            </a:prstGeom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ctr">
              <a:noAutofit/>
            </a:bodyPr>
            <a:p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363" name="Rectangle 9"/>
            <p:cNvSpPr/>
            <p:nvPr/>
          </p:nvSpPr>
          <p:spPr>
            <a:xfrm>
              <a:off x="3532320" y="3917880"/>
              <a:ext cx="399240" cy="533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spcBef>
                  <a:spcPts val="479"/>
                </a:spcBef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=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4" name="Rectangle 10"/>
            <p:cNvSpPr/>
            <p:nvPr/>
          </p:nvSpPr>
          <p:spPr>
            <a:xfrm>
              <a:off x="6051960" y="3922560"/>
              <a:ext cx="396000" cy="533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spcBef>
                  <a:spcPts val="479"/>
                </a:spcBef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=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5" name="Rectangle 11"/>
            <p:cNvSpPr/>
            <p:nvPr/>
          </p:nvSpPr>
          <p:spPr>
            <a:xfrm>
              <a:off x="6312240" y="3894120"/>
              <a:ext cx="780480" cy="533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>
                <a:lnSpc>
                  <a:spcPct val="100000"/>
                </a:lnSpc>
                <a:spcBef>
                  <a:spcPts val="479"/>
                </a:spcBef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0.5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 spd="slow">
    <p:wipe dir="r"/>
  </p:transition>
  <p:timing>
    <p:tnLst>
      <p:par>
        <p:cTn id="1046" dur="indefinite" restart="never" nodeType="tmRoot">
          <p:childTnLst>
            <p:seq>
              <p:cTn id="1047" dur="indefinite" nodeType="mainSeq">
                <p:childTnLst>
                  <p:par>
                    <p:cTn id="1048" nodeType="clickEffect" fill="hold">
                      <p:stCondLst>
                        <p:cond delay="indefinite"/>
                      </p:stCondLst>
                      <p:childTnLst>
                        <p:par>
                          <p:cTn id="104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50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52" dur="500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53" dur="500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CA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5.3 CROSS ELASTICITY AND INCOME ELASTICITY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40240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The cross elasticity of demand for a substitute is positive.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lvl="2" marL="70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fall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in the price of a substitute of the good brings a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decrease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in the quantity demanded of the good.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70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The quantity demanded of the good and the price of its substitute change in the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same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direction.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The cross elasticity of demand for a complement is negative.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lvl="2" marL="70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fall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in the price of a complement of the good brings an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increase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in the quantity demanded of the good.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703080" indent="-3430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468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The quantity demanded of the good and the price of one of its complements change in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opposite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directions.</a:t>
            </a:r>
            <a:endParaRPr b="0" lang="en-CA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transition spd="slow">
    <p:wipe dir="r"/>
  </p:transition>
  <p:timing>
    <p:tnLst>
      <p:par>
        <p:cTn id="1054" dur="indefinite" restart="never" nodeType="tmRoot">
          <p:childTnLst>
            <p:seq>
              <p:cTn id="1055" dur="indefinite" nodeType="mainSeq">
                <p:childTnLst>
                  <p:par>
                    <p:cTn id="1056" nodeType="clickEffect" fill="hold">
                      <p:stCondLst>
                        <p:cond delay="indefinite"/>
                      </p:stCondLst>
                      <p:childTnLst>
                        <p:par>
                          <p:cTn id="105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58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60" dur="500"/>
                                        <p:tgtEl>
                                          <p:spTgt spid="3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1" nodeType="clickEffect" fill="hold">
                      <p:stCondLst>
                        <p:cond delay="indefinite"/>
                      </p:stCondLst>
                      <p:childTnLst>
                        <p:par>
                          <p:cTn id="106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63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65" dur="500"/>
                                        <p:tgtEl>
                                          <p:spTgt spid="3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6" nodeType="clickEffect" fill="hold">
                      <p:stCondLst>
                        <p:cond delay="indefinite"/>
                      </p:stCondLst>
                      <p:childTnLst>
                        <p:par>
                          <p:cTn id="106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68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70" dur="500"/>
                                        <p:tgtEl>
                                          <p:spTgt spid="3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1" nodeType="clickEffect" fill="hold">
                      <p:stCondLst>
                        <p:cond delay="indefinite"/>
                      </p:stCondLst>
                      <p:childTnLst>
                        <p:par>
                          <p:cTn id="107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73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75" dur="500"/>
                                        <p:tgtEl>
                                          <p:spTgt spid="3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6" nodeType="clickEffect" fill="hold">
                      <p:stCondLst>
                        <p:cond delay="indefinite"/>
                      </p:stCondLst>
                      <p:childTnLst>
                        <p:par>
                          <p:cTn id="107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78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80" dur="500"/>
                                        <p:tgtEl>
                                          <p:spTgt spid="3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CA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5.3 CROSS ELASTICITY AND INCOME ELASTICITY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4114440" cy="4647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Figure 5.7 shows cross elasticity of demand.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  <a:tabLst>
                <a:tab algn="l" pos="2826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Pizzas and burgers are substitutes.   When the price of a burger falls, the demand for pizza decreases.          Cross elasticity of demand is positive.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  <p:pic>
        <p:nvPicPr>
          <p:cNvPr id="370" name="Picture 15" descr="fig0507a.gif"/>
          <p:cNvPicPr/>
          <p:nvPr/>
        </p:nvPicPr>
        <p:blipFill>
          <a:blip r:embed="rId1"/>
          <a:stretch/>
        </p:blipFill>
        <p:spPr>
          <a:xfrm>
            <a:off x="4419720" y="1760400"/>
            <a:ext cx="4411440" cy="486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1" name="Picture 16" descr="fig0507b.gif"/>
          <p:cNvPicPr/>
          <p:nvPr/>
        </p:nvPicPr>
        <p:blipFill>
          <a:blip r:embed="rId2"/>
          <a:stretch/>
        </p:blipFill>
        <p:spPr>
          <a:xfrm>
            <a:off x="4419720" y="1760400"/>
            <a:ext cx="4411440" cy="486864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wipe dir="r"/>
  </p:transition>
  <p:timing>
    <p:tnLst>
      <p:par>
        <p:cTn id="1081" dur="indefinite" restart="never" nodeType="tmRoot">
          <p:childTnLst>
            <p:seq>
              <p:cTn id="1082" dur="indefinite" nodeType="mainSeq">
                <p:childTnLst>
                  <p:par>
                    <p:cTn id="1083" nodeType="clickEffect" fill="hold">
                      <p:stCondLst>
                        <p:cond delay="indefinite"/>
                      </p:stCondLst>
                      <p:childTnLst>
                        <p:par>
                          <p:cTn id="108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8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87" dur="500"/>
                                        <p:tgtEl>
                                          <p:spTgt spid="3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8" nodeType="with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1090"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CA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5.3 CROSS ELASTICITY AND INCOME ELASTICITY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4114440" cy="4647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Figure 5.7 shows cross elasticity of demand.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817200" indent="-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AutoNum type="arabicPeriod" startAt="2"/>
              <a:tabLst>
                <a:tab algn="l" pos="2826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Pizzas and soda are complements. When the price of soda falls, the demand for pizza increases. Cross elasticity of demand is negative.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  <p:pic>
        <p:nvPicPr>
          <p:cNvPr id="374" name="Picture 15" descr="fig0507a.gif"/>
          <p:cNvPicPr/>
          <p:nvPr/>
        </p:nvPicPr>
        <p:blipFill>
          <a:blip r:embed="rId1"/>
          <a:stretch/>
        </p:blipFill>
        <p:spPr>
          <a:xfrm>
            <a:off x="4419720" y="1760400"/>
            <a:ext cx="4411440" cy="486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5" name="Picture 16" descr="fig0507b.gif"/>
          <p:cNvPicPr/>
          <p:nvPr/>
        </p:nvPicPr>
        <p:blipFill>
          <a:blip r:embed="rId2"/>
          <a:stretch/>
        </p:blipFill>
        <p:spPr>
          <a:xfrm>
            <a:off x="4419720" y="1760400"/>
            <a:ext cx="4411440" cy="486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6" name="Picture 17" descr="fig0507c.gif"/>
          <p:cNvPicPr/>
          <p:nvPr/>
        </p:nvPicPr>
        <p:blipFill>
          <a:blip r:embed="rId3"/>
          <a:stretch/>
        </p:blipFill>
        <p:spPr>
          <a:xfrm>
            <a:off x="4419720" y="1760400"/>
            <a:ext cx="4411440" cy="486864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wipe dir="r"/>
  </p:transition>
  <p:timing>
    <p:tnLst>
      <p:par>
        <p:cTn id="1091" dur="indefinite" restart="never" nodeType="tmRoot">
          <p:childTnLst>
            <p:seq>
              <p:cTn id="1092" dur="indefinite" nodeType="mainSeq">
                <p:childTnLst>
                  <p:par>
                    <p:cTn id="1093" nodeType="clickEffect" fill="hold">
                      <p:stCondLst>
                        <p:cond delay="indefinite"/>
                      </p:stCondLst>
                      <p:childTnLst>
                        <p:par>
                          <p:cTn id="109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9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97" dur="500"/>
                                        <p:tgtEl>
                                          <p:spTgt spid="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8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100" dur="10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431640" y="539640"/>
            <a:ext cx="8229240" cy="533160"/>
          </a:xfrm>
          <a:prstGeom prst="rect">
            <a:avLst/>
          </a:prstGeom>
          <a:gradFill rotWithShape="0">
            <a:gsLst>
              <a:gs pos="0">
                <a:srgbClr val="00468f"/>
              </a:gs>
              <a:gs pos="100000">
                <a:srgbClr val="648fbb"/>
              </a:gs>
            </a:gsLst>
            <a:lin ang="0"/>
          </a:gradFill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CA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5.3 CROSS ELASTICITY AND INCOME ELASTICITY</a:t>
            </a:r>
            <a:endParaRPr b="0" lang="en-CA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/>
          </p:nvPr>
        </p:nvSpPr>
        <p:spPr>
          <a:xfrm>
            <a:off x="360360" y="1440000"/>
            <a:ext cx="8229240" cy="4289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468f"/>
              </a:buClr>
              <a:buFont typeface="Webdings" charset="2"/>
              <a:buChar char=""/>
            </a:pPr>
            <a:r>
              <a:rPr b="1" lang="en-US" sz="2800" strike="noStrike" u="none">
                <a:solidFill>
                  <a:srgbClr val="00468f"/>
                </a:solidFill>
                <a:effectLst/>
                <a:uFillTx/>
                <a:latin typeface="Arial"/>
                <a:ea typeface="ＭＳ Ｐゴシック"/>
              </a:rPr>
              <a:t>Income Elasticity of Demand</a:t>
            </a:r>
            <a:endParaRPr b="1" lang="en-CA" sz="28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  <a:p>
            <a:pPr marL="36000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1" lang="en-US" sz="2400" strike="noStrike" u="none">
                <a:solidFill>
                  <a:srgbClr val="ff0000"/>
                </a:solidFill>
                <a:effectLst/>
                <a:uFillTx/>
                <a:latin typeface="Arial"/>
                <a:ea typeface="ＭＳ Ｐゴシック"/>
              </a:rPr>
              <a:t>Income elasticity of demand 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is a measure of the extent to which the demand for a good changes when income changes, other things remaining the same.</a:t>
            </a:r>
            <a:endParaRPr b="1" lang="en-CA" sz="2400" strike="noStrike" u="none">
              <a:solidFill>
                <a:srgbClr val="00468f"/>
              </a:solidFill>
              <a:effectLst/>
              <a:uFillTx/>
              <a:latin typeface="Arial"/>
            </a:endParaRPr>
          </a:p>
        </p:txBody>
      </p:sp>
      <p:grpSp>
        <p:nvGrpSpPr>
          <p:cNvPr id="379" name="Group 11"/>
          <p:cNvGrpSpPr/>
          <p:nvPr/>
        </p:nvGrpSpPr>
        <p:grpSpPr>
          <a:xfrm>
            <a:off x="720720" y="3492360"/>
            <a:ext cx="8000640" cy="1218960"/>
            <a:chOff x="720720" y="3492360"/>
            <a:chExt cx="8000640" cy="1218960"/>
          </a:xfrm>
        </p:grpSpPr>
        <p:sp>
          <p:nvSpPr>
            <p:cNvPr id="380" name="Rectangle 5"/>
            <p:cNvSpPr/>
            <p:nvPr/>
          </p:nvSpPr>
          <p:spPr>
            <a:xfrm>
              <a:off x="720720" y="3492360"/>
              <a:ext cx="1828440" cy="121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spcBef>
                  <a:spcPts val="479"/>
                </a:spcBef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Income elasticity of demand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1" name="Rectangle 6"/>
            <p:cNvSpPr/>
            <p:nvPr/>
          </p:nvSpPr>
          <p:spPr>
            <a:xfrm>
              <a:off x="2778120" y="3573360"/>
              <a:ext cx="594324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Percentage change in quantity demanded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2" name="Rectangle 7"/>
            <p:cNvSpPr/>
            <p:nvPr/>
          </p:nvSpPr>
          <p:spPr>
            <a:xfrm>
              <a:off x="2720880" y="4178160"/>
              <a:ext cx="594180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343080" indent="-343080" algn="ctr">
                <a:lnSpc>
                  <a:spcPct val="100000"/>
                </a:lnSpc>
                <a:spcBef>
                  <a:spcPts val="479"/>
                </a:spcBef>
                <a:tabLst>
                  <a:tab algn="l" pos="0"/>
                </a:tabLst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Percentage change in income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3" name="Line 8"/>
            <p:cNvSpPr/>
            <p:nvPr/>
          </p:nvSpPr>
          <p:spPr>
            <a:xfrm>
              <a:off x="2927160" y="4097160"/>
              <a:ext cx="5643720" cy="4680"/>
            </a:xfrm>
            <a:prstGeom prst="line">
              <a:avLst/>
            </a:prstGeom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0320" bIns="-40320" anchor="ctr">
              <a:noAutofit/>
            </a:bodyPr>
            <a:p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endParaRPr>
            </a:p>
          </p:txBody>
        </p:sp>
        <p:sp>
          <p:nvSpPr>
            <p:cNvPr id="384" name="Rectangle 9"/>
            <p:cNvSpPr/>
            <p:nvPr/>
          </p:nvSpPr>
          <p:spPr>
            <a:xfrm>
              <a:off x="2435400" y="3835440"/>
              <a:ext cx="418680" cy="533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spcBef>
                  <a:spcPts val="479"/>
                </a:spcBef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ＭＳ Ｐゴシック"/>
                </a:rPr>
                <a:t>=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 spd="slow">
    <p:wipe dir="r"/>
  </p:transition>
  <p:timing>
    <p:tnLst>
      <p:par>
        <p:cTn id="1101" dur="indefinite" restart="never" nodeType="tmRoot">
          <p:childTnLst>
            <p:seq>
              <p:cTn id="1102" dur="indefinite" nodeType="mainSeq">
                <p:childTnLst>
                  <p:par>
                    <p:cTn id="1103" nodeType="clickEffect" fill="hold">
                      <p:stCondLst>
                        <p:cond delay="indefinite"/>
                      </p:stCondLst>
                      <p:childTnLst>
                        <p:par>
                          <p:cTn id="110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0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107" dur="500"/>
                                        <p:tgtEl>
                                          <p:spTgt spid="3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8" nodeType="clickEffect" fill="hold">
                      <p:stCondLst>
                        <p:cond delay="indefinite"/>
                      </p:stCondLst>
                      <p:childTnLst>
                        <p:par>
                          <p:cTn id="110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10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12" dur="500" fill="hold"/>
                                        <p:tgtEl>
                                          <p:spTgt spid="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13" dur="500" fill="hold"/>
                                        <p:tgtEl>
                                          <p:spTgt spid="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Rectangle 3"/>
          <p:cNvSpPr/>
          <p:nvPr/>
        </p:nvSpPr>
        <p:spPr>
          <a:xfrm>
            <a:off x="360360" y="1511280"/>
            <a:ext cx="8457840" cy="47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08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If you are like most people, you complain when the price of a latte rises, but </a:t>
            </a:r>
            <a:r>
              <a:rPr b="0" lang="en-A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the first thing to do is look at the prices of a latte in other nearby coffee shops.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A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Suppose that their prices have not increased and you can get an acceptable latte for a lower price at Dunkin’ Doughnuts.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A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You decide to switch to Dunkin’ Doughnuts and keep drinking the same quantity of latte.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A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But soon though, all the coffee shops in your neighborhood have raised their price. Your daily latte is more expensive, so you go back to Starbucks for your latte.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6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8283240" cy="115056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wipe dir="r"/>
  </p:transition>
  <p:timing>
    <p:tnLst>
      <p:par>
        <p:cTn id="1114" dur="indefinite" restart="never" nodeType="tmRoot">
          <p:childTnLst>
            <p:seq>
              <p:cTn id="1115" dur="indefinite" nodeType="mainSeq">
                <p:childTnLst>
                  <p:par>
                    <p:cTn id="1116" nodeType="clickEffect" fill="hold">
                      <p:stCondLst>
                        <p:cond delay="indefinite"/>
                      </p:stCondLst>
                      <p:childTnLst>
                        <p:par>
                          <p:cTn id="111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18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120" dur="500"/>
                                        <p:tgtEl>
                                          <p:spTgt spid="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1" nodeType="clickEffect" fill="hold">
                      <p:stCondLst>
                        <p:cond delay="indefinite"/>
                      </p:stCondLst>
                      <p:childTnLst>
                        <p:par>
                          <p:cTn id="11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23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125" dur="500"/>
                                        <p:tgtEl>
                                          <p:spTgt spid="3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6" nodeType="clickEffect" fill="hold">
                      <p:stCondLst>
                        <p:cond delay="indefinite"/>
                      </p:stCondLst>
                      <p:childTnLst>
                        <p:par>
                          <p:cTn id="112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28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130" dur="500"/>
                                        <p:tgtEl>
                                          <p:spTgt spid="3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1" nodeType="clickEffect" fill="hold">
                      <p:stCondLst>
                        <p:cond delay="indefinite"/>
                      </p:stCondLst>
                      <p:childTnLst>
                        <p:par>
                          <p:cTn id="113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33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135" dur="500"/>
                                        <p:tgtEl>
                                          <p:spTgt spid="3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Rectangle 3"/>
          <p:cNvSpPr/>
          <p:nvPr/>
        </p:nvSpPr>
        <p:spPr>
          <a:xfrm>
            <a:off x="360360" y="1511280"/>
            <a:ext cx="8554680" cy="47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08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1" lang="en-AU" sz="2400" strike="noStrike" u="none">
                <a:solidFill>
                  <a:srgbClr val="009dae"/>
                </a:solidFill>
                <a:effectLst/>
                <a:uFillTx/>
                <a:latin typeface="Arial"/>
                <a:ea typeface="ＭＳ Ｐゴシック"/>
              </a:rPr>
              <a:t>Price Elasticity of Demand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A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We can translate your possible response to a hike in Starbucks’ price into estimates of your price elasticity of demand for Starbucks latte and for latte in general.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1" lang="en-A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Close Substitutes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A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A Starbucks latte and a Dunkin’ Doughnuts latte are different, but for some people they are reasonably close substitutes.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A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So when Starbucks alone raises its price, the quantity sold by Starbucks changes a lot—the demand for a Starbucks latte is elastic.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8" name="Picture 3" descr=""/>
          <p:cNvPicPr/>
          <p:nvPr/>
        </p:nvPicPr>
        <p:blipFill>
          <a:blip r:embed="rId1"/>
          <a:stretch/>
        </p:blipFill>
        <p:spPr>
          <a:xfrm>
            <a:off x="0" y="0"/>
            <a:ext cx="8283240" cy="115056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wipe dir="r"/>
  </p:transition>
  <p:timing>
    <p:tnLst>
      <p:par>
        <p:cTn id="1136" dur="indefinite" restart="never" nodeType="tmRoot">
          <p:childTnLst>
            <p:seq>
              <p:cTn id="1137" dur="indefinite" nodeType="mainSeq">
                <p:childTnLst>
                  <p:par>
                    <p:cTn id="1138" nodeType="clickEffect" fill="hold">
                      <p:stCondLst>
                        <p:cond delay="indefinite"/>
                      </p:stCondLst>
                      <p:childTnLst>
                        <p:par>
                          <p:cTn id="113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4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142" dur="500"/>
                                        <p:tgtEl>
                                          <p:spTgt spid="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3" nodeType="clickEffect" fill="hold">
                      <p:stCondLst>
                        <p:cond delay="indefinite"/>
                      </p:stCondLst>
                      <p:childTnLst>
                        <p:par>
                          <p:cTn id="114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4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147" dur="500"/>
                                        <p:tgtEl>
                                          <p:spTgt spid="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8" nodeType="clickEffect" fill="hold">
                      <p:stCondLst>
                        <p:cond delay="indefinite"/>
                      </p:stCondLst>
                      <p:childTnLst>
                        <p:par>
                          <p:cTn id="114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5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152" dur="500"/>
                                        <p:tgtEl>
                                          <p:spTgt spid="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3" nodeType="clickEffect" fill="hold">
                      <p:stCondLst>
                        <p:cond delay="indefinite"/>
                      </p:stCondLst>
                      <p:childTnLst>
                        <p:par>
                          <p:cTn id="115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5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157" dur="500"/>
                                        <p:tgtEl>
                                          <p:spTgt spid="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Rectangle 3"/>
          <p:cNvSpPr/>
          <p:nvPr/>
        </p:nvSpPr>
        <p:spPr>
          <a:xfrm>
            <a:off x="360360" y="1511280"/>
            <a:ext cx="8152920" cy="48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1448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Poor Substitutes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48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</a:pPr>
            <a:r>
              <a:rPr b="0" lang="en-A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Later, when all the coffee shops have raised the price of a latte, you return to Starbucks but cut back a bit on your consumption of latte. Your price elasticity of demand for latte of all types is low—it is inelastic.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48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</a:pPr>
            <a:r>
              <a:rPr b="0" lang="en-A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Latte, tea, and other drinks are poor substitutes.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480">
              <a:lnSpc>
                <a:spcPct val="100000"/>
              </a:lnSpc>
              <a:spcBef>
                <a:spcPts val="479"/>
              </a:spcBef>
              <a:spcAft>
                <a:spcPts val="1199"/>
              </a:spcAft>
            </a:pPr>
            <a:r>
              <a:rPr b="0" lang="en-AU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So when the price of a latte rises, the quantity of latte bought decreases but not by very much—the demand for latte of all types is inelastic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0" name="Picture 3" descr=""/>
          <p:cNvPicPr/>
          <p:nvPr/>
        </p:nvPicPr>
        <p:blipFill>
          <a:blip r:embed="rId1"/>
          <a:stretch/>
        </p:blipFill>
        <p:spPr>
          <a:xfrm>
            <a:off x="0" y="0"/>
            <a:ext cx="8283240" cy="115056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wipe dir="r"/>
  </p:transition>
  <p:timing>
    <p:tnLst>
      <p:par>
        <p:cTn id="1158" dur="indefinite" restart="never" nodeType="tmRoot">
          <p:childTnLst>
            <p:seq>
              <p:cTn id="1159" dur="indefinite" nodeType="mainSeq">
                <p:childTnLst>
                  <p:par>
                    <p:cTn id="1160" nodeType="clickEffect" fill="hold">
                      <p:stCondLst>
                        <p:cond delay="indefinite"/>
                      </p:stCondLst>
                      <p:childTnLst>
                        <p:par>
                          <p:cTn id="116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6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164" dur="500"/>
                                        <p:tgtEl>
                                          <p:spTgt spid="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5" nodeType="clickEffect" fill="hold">
                      <p:stCondLst>
                        <p:cond delay="indefinite"/>
                      </p:stCondLst>
                      <p:childTnLst>
                        <p:par>
                          <p:cTn id="116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6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169" dur="500"/>
                                        <p:tgtEl>
                                          <p:spTgt spid="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0" nodeType="clickEffect" fill="hold">
                      <p:stCondLst>
                        <p:cond delay="indefinite"/>
                      </p:stCondLst>
                      <p:childTnLst>
                        <p:par>
                          <p:cTn id="117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7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174" dur="500"/>
                                        <p:tgtEl>
                                          <p:spTgt spid="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6_Custom Design">
  <a:themeElements>
    <a:clrScheme name="3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Custom Design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9_newdesign">
  <a:themeElements>
    <a:clrScheme name="1_new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newdesign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0_newdesign">
  <a:themeElements>
    <a:clrScheme name="3_new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3_newdesign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1_newdesign">
  <a:themeElements>
    <a:clrScheme name="3_new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3_newdesign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5_Custom Design">
  <a:themeElements>
    <a:clrScheme name="1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ustom Design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1_foundations">
  <a:themeElements>
    <a:clrScheme name="1_foundations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foundations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C:\My Documents\Australia files\Pflanz PPT\Final Micro\newdesign.ppt</Template>
  <TotalTime>4521</TotalTime>
  <Application>LibreOffice/25.2.3.2$MacOSX_AARCH64 LibreOffice_project/bbb074479178df812d175f709636b368952c2ce3</Application>
  <AppVersion>15.0000</AppVersion>
  <Words>3310</Words>
  <Paragraphs>418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2000-11-24T17:02:06Z</dcterms:created>
  <dc:creator>Robin Bade and Michael Parkin</dc:creator>
  <dc:description/>
  <dc:language>en-US</dc:language>
  <cp:lastModifiedBy/>
  <cp:lastPrinted>2001-04-18T20:25:52Z</cp:lastPrinted>
  <dcterms:modified xsi:type="dcterms:W3CDTF">2025-07-29T04:59:31Z</dcterms:modified>
  <cp:revision>211</cp:revision>
  <dc:subject/>
  <dc:title>Chapter 5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58</vt:i4>
  </property>
  <property fmtid="{D5CDD505-2E9C-101B-9397-08002B2CF9AE}" pid="3" name="PresentationFormat">
    <vt:lpwstr>On-screen Show (4:3)</vt:lpwstr>
  </property>
  <property fmtid="{D5CDD505-2E9C-101B-9397-08002B2CF9AE}" pid="4" name="Slides">
    <vt:i4>58</vt:i4>
  </property>
</Properties>
</file>