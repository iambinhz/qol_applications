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9"/>
  </p:notesMasterIdLst>
  <p:handoutMasterIdLst>
    <p:handoutMasterId r:id="rId60"/>
  </p:handoutMasterIdLst>
  <p:sldIdLst>
    <p:sldId id="304" r:id="rId5"/>
    <p:sldId id="258" r:id="rId6"/>
    <p:sldId id="259" r:id="rId7"/>
    <p:sldId id="260" r:id="rId8"/>
    <p:sldId id="261" r:id="rId9"/>
    <p:sldId id="262" r:id="rId10"/>
    <p:sldId id="263" r:id="rId11"/>
    <p:sldId id="312" r:id="rId12"/>
    <p:sldId id="313" r:id="rId13"/>
    <p:sldId id="314" r:id="rId14"/>
    <p:sldId id="315" r:id="rId15"/>
    <p:sldId id="316" r:id="rId16"/>
    <p:sldId id="317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318" r:id="rId42"/>
    <p:sldId id="319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1596" r:id="rId51"/>
    <p:sldId id="302" r:id="rId52"/>
    <p:sldId id="1595" r:id="rId53"/>
    <p:sldId id="303" r:id="rId54"/>
    <p:sldId id="320" r:id="rId55"/>
    <p:sldId id="321" r:id="rId56"/>
    <p:sldId id="322" r:id="rId57"/>
    <p:sldId id="323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1" userDrawn="1">
          <p15:clr>
            <a:srgbClr val="A4A3A4"/>
          </p15:clr>
        </p15:guide>
        <p15:guide id="6" pos="271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orient="horz" pos="3929" userDrawn="1">
          <p15:clr>
            <a:srgbClr val="A4A3A4"/>
          </p15:clr>
        </p15:guide>
        <p15:guide id="9" orient="horz" pos="1842" userDrawn="1">
          <p15:clr>
            <a:srgbClr val="A4A3A4"/>
          </p15:clr>
        </p15:guide>
        <p15:guide id="10" pos="5511" userDrawn="1">
          <p15:clr>
            <a:srgbClr val="A4A3A4"/>
          </p15:clr>
        </p15:guide>
        <p15:guide id="11" orient="horz" pos="12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resh, Anandan" initials="SA" lastIdx="6" clrIdx="0">
    <p:extLst>
      <p:ext uri="{19B8F6BF-5375-455C-9EA6-DF929625EA0E}">
        <p15:presenceInfo xmlns:p15="http://schemas.microsoft.com/office/powerpoint/2012/main" userId="S-1-5-21-2752970185-40930380-1894245210-2183" providerId="AD"/>
      </p:ext>
    </p:extLst>
  </p:cmAuthor>
  <p:cmAuthor id="2" name="Shukla, Preety" initials="SP" lastIdx="4" clrIdx="1">
    <p:extLst>
      <p:ext uri="{19B8F6BF-5375-455C-9EA6-DF929625EA0E}">
        <p15:presenceInfo xmlns:p15="http://schemas.microsoft.com/office/powerpoint/2012/main" userId="S::preety.shukla@pearson.com::a180e6dc-b464-4223-9030-d1701501bd4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80A3"/>
    <a:srgbClr val="007BA4"/>
    <a:srgbClr val="00A4B7"/>
    <a:srgbClr val="EA5633"/>
    <a:srgbClr val="182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>
      <p:cViewPr varScale="1">
        <p:scale>
          <a:sx n="121" d="100"/>
          <a:sy n="121" d="100"/>
        </p:scale>
        <p:origin x="696" y="176"/>
      </p:cViewPr>
      <p:guideLst>
        <p:guide orient="horz" pos="461"/>
        <p:guide pos="271"/>
        <p:guide pos="2880"/>
        <p:guide orient="horz" pos="3929"/>
        <p:guide orient="horz" pos="1842"/>
        <p:guide pos="5511"/>
        <p:guide orient="horz" pos="12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BE231-3047-46CC-8EB7-0A9C6A23B5E3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D405B-D0BD-49FD-B9CE-587CD7BE639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238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29C7B-D5A1-4F4F-81D6-26274366EFE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C9930-0A10-4D51-BF8B-58A66CF9DE8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6D3EE1-26EB-4098-B0C0-27B5598D974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09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180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774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8420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63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983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665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24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88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300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891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307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9A969A0D-5DF0-455E-920E-DB858AE69123}" type="datetimeFigureOut">
              <a:rPr lang="en-US"/>
              <a:pPr>
                <a:defRPr/>
              </a:pPr>
              <a:t>2/3/26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6D6BF8C-5CE4-4E11-B28F-568A4285EE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39507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1493" y="602691"/>
            <a:ext cx="634365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AD8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2019</a:t>
            </a:r>
            <a:r>
              <a:rPr spc="-25" dirty="0"/>
              <a:t> </a:t>
            </a:r>
            <a:r>
              <a:rPr dirty="0"/>
              <a:t>Pearson</a:t>
            </a:r>
            <a:r>
              <a:rPr spc="-25" dirty="0"/>
              <a:t> </a:t>
            </a:r>
            <a:r>
              <a:rPr dirty="0"/>
              <a:t>Education</a:t>
            </a:r>
            <a:r>
              <a:rPr spc="-25" dirty="0"/>
              <a:t> </a:t>
            </a:r>
            <a:r>
              <a:rPr spc="-20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056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2022 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9" name="Picture 8" descr="Pearson Logo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565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 txBox="1">
            <a:spLocks/>
          </p:cNvSpPr>
          <p:nvPr/>
        </p:nvSpPr>
        <p:spPr bwMode="auto">
          <a:xfrm>
            <a:off x="4859412" y="3502025"/>
            <a:ext cx="3961060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Chapter 21</a:t>
            </a:r>
          </a:p>
          <a:p>
            <a:pPr marL="0" lvl="0" indent="0">
              <a:spcBef>
                <a:spcPts val="1200"/>
              </a:spcBef>
              <a:buNone/>
              <a:defRPr/>
            </a:pPr>
            <a:r>
              <a:rPr lang="en-US" sz="2200" kern="0" dirty="0">
                <a:solidFill>
                  <a:srgbClr val="000000"/>
                </a:solidFill>
              </a:rPr>
              <a:t>Monitoring jobs and inflation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07988" y="238125"/>
            <a:ext cx="8051800" cy="15319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FA3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pPr lvl="0" algn="l">
              <a:spcBef>
                <a:spcPts val="600"/>
              </a:spcBef>
              <a:defRPr/>
            </a:pPr>
            <a:r>
              <a:rPr lang="en-US" kern="0" dirty="0"/>
              <a:t>Economics</a:t>
            </a:r>
          </a:p>
          <a:p>
            <a:pPr lvl="0" algn="l">
              <a:spcBef>
                <a:spcPts val="600"/>
              </a:spcBef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FA3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Eleventh European Edition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312948"/>
            <a:ext cx="3600401" cy="4922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 Placeholder 4"/>
          <p:cNvSpPr txBox="1">
            <a:spLocks/>
          </p:cNvSpPr>
          <p:nvPr/>
        </p:nvSpPr>
        <p:spPr bwMode="auto">
          <a:xfrm>
            <a:off x="4859412" y="1962150"/>
            <a:ext cx="388930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</a:t>
            </a:r>
            <a:r>
              <a:rPr lang="en-US" sz="3000" kern="0" dirty="0">
                <a:solidFill>
                  <a:srgbClr val="000000"/>
                </a:solidFill>
                <a:latin typeface="Arial"/>
              </a:rPr>
              <a:t>6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lvl="0" indent="0">
              <a:spcBef>
                <a:spcPts val="1200"/>
              </a:spcBef>
              <a:buNone/>
              <a:defRPr/>
            </a:pPr>
            <a:r>
              <a:rPr lang="en-US" sz="2200" kern="0" dirty="0">
                <a:solidFill>
                  <a:srgbClr val="000000"/>
                </a:solidFill>
              </a:rPr>
              <a:t>Monitoring macroeconomic performance</a:t>
            </a: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15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9428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EF4A21"/>
                </a:solidFill>
              </a:rPr>
              <a:t>After</a:t>
            </a:r>
            <a:r>
              <a:rPr sz="2500" spc="-45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studying</a:t>
            </a:r>
            <a:r>
              <a:rPr sz="2500" spc="-3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this</a:t>
            </a:r>
            <a:r>
              <a:rPr sz="2500" spc="-6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chapter,</a:t>
            </a:r>
            <a:r>
              <a:rPr sz="2500" spc="-55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you</a:t>
            </a:r>
            <a:r>
              <a:rPr sz="2500" spc="-4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will</a:t>
            </a:r>
            <a:r>
              <a:rPr sz="2500" spc="-7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be</a:t>
            </a:r>
            <a:r>
              <a:rPr sz="2500" spc="-70" dirty="0">
                <a:solidFill>
                  <a:srgbClr val="EF4A21"/>
                </a:solidFill>
              </a:rPr>
              <a:t> </a:t>
            </a:r>
            <a:r>
              <a:rPr sz="2500" dirty="0">
                <a:solidFill>
                  <a:srgbClr val="EF4A21"/>
                </a:solidFill>
              </a:rPr>
              <a:t>able</a:t>
            </a:r>
            <a:r>
              <a:rPr sz="2500" spc="-75" dirty="0">
                <a:solidFill>
                  <a:srgbClr val="EF4A21"/>
                </a:solidFill>
              </a:rPr>
              <a:t> </a:t>
            </a:r>
            <a:r>
              <a:rPr sz="2500" spc="-25" dirty="0">
                <a:solidFill>
                  <a:srgbClr val="EF4A21"/>
                </a:solidFill>
              </a:rPr>
              <a:t>to: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763016" y="1626234"/>
            <a:ext cx="7912734" cy="3094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Explain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we </a:t>
            </a:r>
            <a:r>
              <a:rPr sz="2400" dirty="0">
                <a:latin typeface="Arial"/>
                <a:cs typeface="Arial"/>
              </a:rPr>
              <a:t>measure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unemployment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 indicators</a:t>
            </a:r>
            <a:endParaRPr sz="2400">
              <a:latin typeface="Arial"/>
              <a:cs typeface="Arial"/>
            </a:endParaRPr>
          </a:p>
          <a:p>
            <a:pPr marL="355600" marR="1089660" indent="-342900">
              <a:lnSpc>
                <a:spcPct val="100000"/>
              </a:lnSpc>
              <a:spcBef>
                <a:spcPts val="1995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Explain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occurs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present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employment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00"/>
              </a:spcBef>
              <a:buClr>
                <a:srgbClr val="EF4A21"/>
              </a:buClr>
              <a:buSzPct val="79166"/>
              <a:buFont typeface="Wingdings"/>
              <a:buChar char="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Explain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measure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954009" cy="48126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graduate?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class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2017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better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market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7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Americans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(down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2015)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who </a:t>
            </a:r>
            <a:r>
              <a:rPr sz="2400" dirty="0">
                <a:latin typeface="Arial"/>
                <a:cs typeface="Arial"/>
              </a:rPr>
              <a:t>wanted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couldn’t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one.</a:t>
            </a:r>
            <a:endParaRPr sz="2400">
              <a:latin typeface="Arial"/>
              <a:cs typeface="Arial"/>
            </a:endParaRPr>
          </a:p>
          <a:p>
            <a:pPr marL="12700" marR="386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Also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2015,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8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looking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spc="-20" dirty="0">
                <a:latin typeface="Arial"/>
                <a:cs typeface="Arial"/>
              </a:rPr>
              <a:t>full-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taken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job.</a:t>
            </a:r>
            <a:endParaRPr sz="2400">
              <a:latin typeface="Arial"/>
              <a:cs typeface="Arial"/>
            </a:endParaRPr>
          </a:p>
          <a:p>
            <a:pPr marL="12700" marR="6540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U.S.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lots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jobs: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during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recession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2009,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139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jobs—</a:t>
            </a:r>
            <a:r>
              <a:rPr sz="2400" dirty="0">
                <a:latin typeface="Arial"/>
                <a:cs typeface="Arial"/>
              </a:rPr>
              <a:t>22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1989.</a:t>
            </a:r>
            <a:endParaRPr sz="2400">
              <a:latin typeface="Arial"/>
              <a:cs typeface="Arial"/>
            </a:endParaRPr>
          </a:p>
          <a:p>
            <a:pPr marL="12700" marR="30734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years,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faster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serious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problem.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533640" cy="42335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Why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Unemployment Is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a</a:t>
            </a:r>
            <a:r>
              <a:rPr sz="2400" b="1" spc="-2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Problem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results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Lost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incomes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production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5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Lost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human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capital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income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devastating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those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bear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it. </a:t>
            </a:r>
            <a:r>
              <a:rPr sz="2400" dirty="0">
                <a:latin typeface="Arial"/>
                <a:cs typeface="Arial"/>
              </a:rPr>
              <a:t>Employment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benefits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safety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don’t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fully </a:t>
            </a:r>
            <a:r>
              <a:rPr sz="2400" dirty="0">
                <a:latin typeface="Arial"/>
                <a:cs typeface="Arial"/>
              </a:rPr>
              <a:t>replace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wages,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everyone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receives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benefits.</a:t>
            </a:r>
            <a:endParaRPr sz="2400">
              <a:latin typeface="Arial"/>
              <a:cs typeface="Arial"/>
            </a:endParaRPr>
          </a:p>
          <a:p>
            <a:pPr marL="12700" marR="49657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Prolonged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permanently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damages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person’s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prospects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destroying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human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capital.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863840" cy="40811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Current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Population</a:t>
            </a:r>
            <a:r>
              <a:rPr sz="2400" b="1" spc="-6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Survey</a:t>
            </a:r>
            <a:endParaRPr sz="2400">
              <a:latin typeface="Arial"/>
              <a:cs typeface="Arial"/>
            </a:endParaRPr>
          </a:p>
          <a:p>
            <a:pPr marL="12700" marR="255904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U.S.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Census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Bureau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conducts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monthly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population </a:t>
            </a:r>
            <a:r>
              <a:rPr sz="2400" dirty="0">
                <a:latin typeface="Arial"/>
                <a:cs typeface="Arial"/>
              </a:rPr>
              <a:t>survey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determine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status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U.S.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force.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divided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groups:</a:t>
            </a:r>
            <a:endParaRPr sz="2400">
              <a:latin typeface="Arial"/>
              <a:cs typeface="Arial"/>
            </a:endParaRPr>
          </a:p>
          <a:p>
            <a:pPr marL="421640" marR="508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4386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working-age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population</a:t>
            </a:r>
            <a:r>
              <a:rPr sz="2400" spc="-10" dirty="0">
                <a:latin typeface="Arial"/>
                <a:cs typeface="Arial"/>
              </a:rPr>
              <a:t>—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people 	</a:t>
            </a:r>
            <a:r>
              <a:rPr sz="2400" dirty="0">
                <a:latin typeface="Arial"/>
                <a:cs typeface="Arial"/>
              </a:rPr>
              <a:t>aged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16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older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jail,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hospital,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or 	</a:t>
            </a:r>
            <a:r>
              <a:rPr sz="2400" dirty="0">
                <a:latin typeface="Arial"/>
                <a:cs typeface="Arial"/>
              </a:rPr>
              <a:t>some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institution</a:t>
            </a:r>
            <a:endParaRPr sz="2400">
              <a:latin typeface="Arial"/>
              <a:cs typeface="Arial"/>
            </a:endParaRPr>
          </a:p>
          <a:p>
            <a:pPr marL="421640" marR="62865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43865" algn="l"/>
              </a:tabLst>
            </a:pPr>
            <a:r>
              <a:rPr sz="2400" dirty="0">
                <a:latin typeface="Arial"/>
                <a:cs typeface="Arial"/>
              </a:rPr>
              <a:t>People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(under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16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age)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	</a:t>
            </a:r>
            <a:r>
              <a:rPr sz="2400" dirty="0">
                <a:latin typeface="Arial"/>
                <a:cs typeface="Arial"/>
              </a:rPr>
              <a:t>institutional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care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66684" cy="24650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divided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groups:</a:t>
            </a:r>
            <a:endParaRPr sz="2400">
              <a:latin typeface="Arial"/>
              <a:cs typeface="Arial"/>
            </a:endParaRPr>
          </a:p>
          <a:p>
            <a:pPr marL="42164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21640" algn="l"/>
              </a:tabLst>
            </a:pPr>
            <a:r>
              <a:rPr sz="2400" dirty="0">
                <a:latin typeface="Arial"/>
                <a:cs typeface="Arial"/>
              </a:rPr>
              <a:t>People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force</a:t>
            </a:r>
            <a:endParaRPr sz="2400">
              <a:latin typeface="Arial"/>
              <a:cs typeface="Arial"/>
            </a:endParaRPr>
          </a:p>
          <a:p>
            <a:pPr marL="421005" indent="-33718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21005" algn="l"/>
              </a:tabLst>
            </a:pPr>
            <a:r>
              <a:rPr sz="2400" dirty="0">
                <a:latin typeface="Arial"/>
                <a:cs typeface="Arial"/>
              </a:rPr>
              <a:t>People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force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labor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force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unemployed workers.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790702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unemployed,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following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categories:</a:t>
            </a:r>
            <a:endParaRPr sz="2400">
              <a:latin typeface="Arial"/>
              <a:cs typeface="Arial"/>
            </a:endParaRPr>
          </a:p>
          <a:p>
            <a:pPr marL="421640" marR="9144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43865" algn="l"/>
              </a:tabLst>
            </a:pPr>
            <a:r>
              <a:rPr sz="2400" dirty="0">
                <a:latin typeface="Arial"/>
                <a:cs typeface="Arial"/>
              </a:rPr>
              <a:t>Without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specific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efforts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job 	</a:t>
            </a:r>
            <a:r>
              <a:rPr sz="2400" dirty="0">
                <a:latin typeface="Arial"/>
                <a:cs typeface="Arial"/>
              </a:rPr>
              <a:t>within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previous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four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weeks</a:t>
            </a:r>
            <a:endParaRPr sz="2400">
              <a:latin typeface="Arial"/>
              <a:cs typeface="Arial"/>
            </a:endParaRPr>
          </a:p>
          <a:p>
            <a:pPr marL="421640" marR="89535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43865" algn="l"/>
              </a:tabLst>
            </a:pPr>
            <a:r>
              <a:rPr sz="2400" dirty="0">
                <a:latin typeface="Arial"/>
                <a:cs typeface="Arial"/>
              </a:rPr>
              <a:t>Waiting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back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she 	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laid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off</a:t>
            </a:r>
            <a:endParaRPr sz="2400">
              <a:latin typeface="Arial"/>
              <a:cs typeface="Arial"/>
            </a:endParaRPr>
          </a:p>
          <a:p>
            <a:pPr marL="421640" indent="-33782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421640" algn="l"/>
              </a:tabLst>
            </a:pPr>
            <a:r>
              <a:rPr sz="2400" dirty="0">
                <a:latin typeface="Arial"/>
                <a:cs typeface="Arial"/>
              </a:rPr>
              <a:t>Waiting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start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30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days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fr-FR" sz="3200" dirty="0"/>
              <a:t>Figure 21.1 </a:t>
            </a:r>
            <a:br>
              <a:rPr lang="fr-FR" sz="3200" dirty="0"/>
            </a:br>
            <a:r>
              <a:rPr lang="fr-FR" sz="3200" dirty="0"/>
              <a:t>Population labour force </a:t>
            </a:r>
            <a:r>
              <a:rPr lang="fr-FR" sz="3200" dirty="0" err="1"/>
              <a:t>categories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512" y="1399666"/>
            <a:ext cx="4114977" cy="466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3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21.2 </a:t>
            </a:r>
            <a:br>
              <a:rPr lang="en-US" sz="3200" dirty="0"/>
            </a:br>
            <a:r>
              <a:rPr lang="en-US" sz="3200" dirty="0"/>
              <a:t>UK unemployment rate: 1980–2020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795313"/>
            <a:ext cx="8312727" cy="379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2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540336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21.3 </a:t>
            </a:r>
            <a:br>
              <a:rPr lang="en-US" sz="3200" dirty="0"/>
            </a:br>
            <a:r>
              <a:rPr lang="en-US" sz="3200" dirty="0"/>
              <a:t>UK economic activity rate and employment rate: 1980–2020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2116985"/>
            <a:ext cx="8312727" cy="361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11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540336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21.4 </a:t>
            </a:r>
            <a:br>
              <a:rPr lang="en-US" sz="3200" dirty="0"/>
            </a:br>
            <a:r>
              <a:rPr lang="en-US" sz="3200" dirty="0"/>
              <a:t>Alternative measures of unemployment: 1993–2020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48686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Statistics. Alternative unemployment rates calculated by the authors</a:t>
            </a:r>
            <a:endParaRPr lang="en-IN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941357"/>
            <a:ext cx="8312727" cy="37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31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21.5 </a:t>
            </a:r>
            <a:br>
              <a:rPr lang="en-US" sz="3200" dirty="0"/>
            </a:br>
            <a:r>
              <a:rPr lang="en-US" sz="3200" dirty="0"/>
              <a:t>Output gap and the unemployment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42370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Sources of data: Office for National Statistics; and authors’ </a:t>
            </a:r>
            <a:r>
              <a:rPr lang="en-IN" sz="800" dirty="0"/>
              <a:t>assumptions and calculations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17" y="1449914"/>
            <a:ext cx="7988367" cy="454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47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540336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Unemployment rates across the United Kingdom</a:t>
            </a:r>
            <a:endParaRPr lang="en-US" sz="3200" dirty="0">
              <a:highlight>
                <a:srgbClr val="FFFF00"/>
              </a:highligh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052" y="1895480"/>
            <a:ext cx="4313895" cy="407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0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329940" cy="4446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22.1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labor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categories.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2017: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Population: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325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population: </a:t>
            </a:r>
            <a:r>
              <a:rPr sz="2400" dirty="0">
                <a:latin typeface="Arial"/>
                <a:cs typeface="Arial"/>
              </a:rPr>
              <a:t>255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</a:t>
            </a:r>
            <a:endParaRPr sz="2400">
              <a:latin typeface="Arial"/>
              <a:cs typeface="Arial"/>
            </a:endParaRPr>
          </a:p>
          <a:p>
            <a:pPr marL="12700" marR="142875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Labor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force: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160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 </a:t>
            </a:r>
            <a:r>
              <a:rPr sz="2400" dirty="0">
                <a:latin typeface="Arial"/>
                <a:cs typeface="Arial"/>
              </a:rPr>
              <a:t>Employed: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153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Unemployed: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7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0708" y="1656588"/>
            <a:ext cx="4614672" cy="40629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533363"/>
            <a:ext cx="5183505" cy="203517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Three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Labor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Market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Indicators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employment-</a:t>
            </a:r>
            <a:r>
              <a:rPr sz="2400" spc="-10" dirty="0">
                <a:latin typeface="Arial"/>
                <a:cs typeface="Arial"/>
              </a:rPr>
              <a:t>to-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ratio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participation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251520" y="980728"/>
            <a:ext cx="8455222" cy="46978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dirty="0"/>
              <a:t>The</a:t>
            </a:r>
            <a:r>
              <a:rPr sz="2400" spc="-65" dirty="0"/>
              <a:t> </a:t>
            </a:r>
            <a:r>
              <a:rPr sz="2400" dirty="0"/>
              <a:t>Unemployment</a:t>
            </a:r>
            <a:r>
              <a:rPr sz="2400" spc="-20" dirty="0"/>
              <a:t> Rate</a:t>
            </a:r>
          </a:p>
          <a:p>
            <a:pPr marL="12700" marR="485140">
              <a:lnSpc>
                <a:spcPct val="100000"/>
              </a:lnSpc>
              <a:spcBef>
                <a:spcPts val="1200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unemployment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rate</a:t>
            </a:r>
            <a:r>
              <a:rPr sz="2400" spc="-50" dirty="0">
                <a:solidFill>
                  <a:srgbClr val="000000"/>
                </a:solidFill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percentage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labor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force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24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4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unemployed.</a:t>
            </a: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1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unemployment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4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</a:p>
          <a:p>
            <a:pPr marL="12700">
              <a:lnSpc>
                <a:spcPct val="100000"/>
              </a:lnSpc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(Number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people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unemployed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force)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×</a:t>
            </a:r>
            <a:r>
              <a:rPr sz="24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100.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June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2017,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force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was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160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million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</a:p>
          <a:p>
            <a:pPr marL="12700">
              <a:lnSpc>
                <a:spcPct val="100000"/>
              </a:lnSpc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million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were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unemployed,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so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unemployment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Arial"/>
                <a:cs typeface="Arial"/>
              </a:rPr>
              <a:t>was</a:t>
            </a:r>
          </a:p>
          <a:p>
            <a:pPr marL="12700">
              <a:lnSpc>
                <a:spcPct val="100000"/>
              </a:lnSpc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4.4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percent.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unemployment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recession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reaches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its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peak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value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after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recession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ends.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7258" y="51815"/>
            <a:ext cx="8229600" cy="1143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497445" cy="106299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22.2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unemployment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rate: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1980–2017.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recession.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363" y="2590800"/>
            <a:ext cx="7133844" cy="39669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663" y="624840"/>
            <a:ext cx="822960" cy="4922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7522" y="1457055"/>
            <a:ext cx="7643495" cy="37153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Employment-to-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Population</a:t>
            </a:r>
            <a:r>
              <a:rPr sz="2400" b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Ratio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employment-</a:t>
            </a:r>
            <a:r>
              <a:rPr sz="2400" b="1" spc="-10" dirty="0">
                <a:latin typeface="Arial"/>
                <a:cs typeface="Arial"/>
              </a:rPr>
              <a:t>to-</a:t>
            </a:r>
            <a:r>
              <a:rPr sz="2400" b="1" dirty="0">
                <a:latin typeface="Arial"/>
                <a:cs typeface="Arial"/>
              </a:rPr>
              <a:t>population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ratio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percentage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jobs.</a:t>
            </a:r>
            <a:endParaRPr sz="2400">
              <a:latin typeface="Arial"/>
              <a:cs typeface="Arial"/>
            </a:endParaRPr>
          </a:p>
          <a:p>
            <a:pPr marL="12700" marR="123761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employment-</a:t>
            </a:r>
            <a:r>
              <a:rPr sz="2400" spc="-10" dirty="0">
                <a:latin typeface="Arial"/>
                <a:cs typeface="Arial"/>
              </a:rPr>
              <a:t>to-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ratio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(Employment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÷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population)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×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100.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June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2017,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employment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153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255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employment-</a:t>
            </a:r>
            <a:r>
              <a:rPr sz="2400" spc="-10" dirty="0">
                <a:latin typeface="Arial"/>
                <a:cs typeface="Arial"/>
              </a:rPr>
              <a:t>to-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ratio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60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percent.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663" y="624840"/>
            <a:ext cx="822960" cy="4922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7522" y="1457055"/>
            <a:ext cx="7527925" cy="40811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Labor</a:t>
            </a:r>
            <a:r>
              <a:rPr sz="24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Force</a:t>
            </a:r>
            <a:r>
              <a:rPr sz="24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Participation</a:t>
            </a:r>
            <a:r>
              <a:rPr sz="2400" b="1" spc="-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labor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force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participation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percentage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members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force.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participation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(Labor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÷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population)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×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100.</a:t>
            </a:r>
            <a:endParaRPr sz="2400">
              <a:latin typeface="Arial"/>
              <a:cs typeface="Arial"/>
            </a:endParaRPr>
          </a:p>
          <a:p>
            <a:pPr marL="12700" marR="35433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June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2017,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160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working-</a:t>
            </a:r>
            <a:r>
              <a:rPr sz="2400" dirty="0">
                <a:latin typeface="Arial"/>
                <a:cs typeface="Arial"/>
              </a:rPr>
              <a:t>age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255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million.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participation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62.7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percent.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624840"/>
            <a:ext cx="822960" cy="49225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7522" y="1609801"/>
            <a:ext cx="74822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22.3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participation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employment-</a:t>
            </a:r>
            <a:r>
              <a:rPr sz="2400" spc="-10" dirty="0">
                <a:latin typeface="Arial"/>
                <a:cs typeface="Arial"/>
              </a:rPr>
              <a:t>to-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ratio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trended </a:t>
            </a:r>
            <a:r>
              <a:rPr sz="2400" dirty="0">
                <a:latin typeface="Arial"/>
                <a:cs typeface="Arial"/>
              </a:rPr>
              <a:t>upward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before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2000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downward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after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2000.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8344" y="2889504"/>
            <a:ext cx="6720840" cy="372617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2019</a:t>
            </a:r>
            <a:r>
              <a:rPr spc="-25" dirty="0"/>
              <a:t> </a:t>
            </a:r>
            <a:r>
              <a:rPr dirty="0"/>
              <a:t>Pearson</a:t>
            </a:r>
            <a:r>
              <a:rPr spc="-25" dirty="0"/>
              <a:t> </a:t>
            </a:r>
            <a:r>
              <a:rPr dirty="0"/>
              <a:t>Education</a:t>
            </a:r>
            <a:r>
              <a:rPr spc="-25" dirty="0"/>
              <a:t> </a:t>
            </a:r>
            <a:r>
              <a:rPr spc="-20" dirty="0"/>
              <a:t>Ltd.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663" y="624840"/>
            <a:ext cx="822960" cy="4922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7522" y="1457055"/>
            <a:ext cx="7785100" cy="42456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Other</a:t>
            </a:r>
            <a:r>
              <a:rPr sz="2400" b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Definitions</a:t>
            </a:r>
            <a:r>
              <a:rPr sz="2400" b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of</a:t>
            </a:r>
            <a:r>
              <a:rPr sz="24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Unemployment</a:t>
            </a:r>
            <a:endParaRPr sz="2400">
              <a:latin typeface="Arial"/>
              <a:cs typeface="Arial"/>
            </a:endParaRPr>
          </a:p>
          <a:p>
            <a:pPr marL="12700" marR="8826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purpose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underutilization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resources.</a:t>
            </a:r>
            <a:endParaRPr sz="2400">
              <a:latin typeface="Arial"/>
              <a:cs typeface="Arial"/>
            </a:endParaRPr>
          </a:p>
          <a:p>
            <a:pPr marL="12700" marR="52768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believes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correct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measure.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But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official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imperfect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because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10" dirty="0">
                <a:latin typeface="Arial"/>
                <a:cs typeface="Arial"/>
              </a:rPr>
              <a:t> excludes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Marginally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attached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workers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spc="-10" dirty="0">
                <a:latin typeface="Arial"/>
                <a:cs typeface="Arial"/>
              </a:rPr>
              <a:t>Part-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full-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20" dirty="0">
                <a:latin typeface="Arial"/>
                <a:cs typeface="Arial"/>
              </a:rPr>
              <a:t> jobs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34300" cy="34105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Marginally</a:t>
            </a:r>
            <a:r>
              <a:rPr sz="2400" b="1" spc="-11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Attached</a:t>
            </a:r>
            <a:r>
              <a:rPr sz="2400" b="1" spc="-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Workers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marginally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attached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worker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currently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neither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looking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indicated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wants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available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has </a:t>
            </a:r>
            <a:r>
              <a:rPr sz="2400" dirty="0">
                <a:latin typeface="Arial"/>
                <a:cs typeface="Arial"/>
              </a:rPr>
              <a:t>looked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sometime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recent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past.</a:t>
            </a:r>
            <a:endParaRPr sz="2400">
              <a:latin typeface="Arial"/>
              <a:cs typeface="Arial"/>
            </a:endParaRPr>
          </a:p>
          <a:p>
            <a:pPr marL="12700" marR="243840" algn="just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discouraged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worker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marginally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attached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worker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stopped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looking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repeated </a:t>
            </a:r>
            <a:r>
              <a:rPr sz="2400" dirty="0">
                <a:latin typeface="Arial"/>
                <a:cs typeface="Arial"/>
              </a:rPr>
              <a:t>failure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one.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849870" cy="40811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Part-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Time</a:t>
            </a:r>
            <a:r>
              <a:rPr sz="2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Workers</a:t>
            </a:r>
            <a:r>
              <a:rPr sz="24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Who</a:t>
            </a:r>
            <a:r>
              <a:rPr sz="24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Want</a:t>
            </a:r>
            <a:r>
              <a:rPr sz="24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Full-Time</a:t>
            </a:r>
            <a:r>
              <a:rPr sz="2400" b="1" spc="-7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Arial"/>
                <a:cs typeface="Arial"/>
              </a:rPr>
              <a:t>Jobs</a:t>
            </a:r>
            <a:endParaRPr sz="2400">
              <a:latin typeface="Arial"/>
              <a:cs typeface="Arial"/>
            </a:endParaRPr>
          </a:p>
          <a:p>
            <a:pPr marL="12700" marR="15557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Many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some </a:t>
            </a:r>
            <a:r>
              <a:rPr sz="2400" spc="-10" dirty="0">
                <a:latin typeface="Arial"/>
                <a:cs typeface="Arial"/>
              </a:rPr>
              <a:t>part-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like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full-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can’t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find </a:t>
            </a:r>
            <a:r>
              <a:rPr sz="2400" spc="-10" dirty="0">
                <a:latin typeface="Arial"/>
                <a:cs typeface="Arial"/>
              </a:rPr>
              <a:t>them.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official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statistics,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economic part-</a:t>
            </a:r>
            <a:r>
              <a:rPr sz="2400" i="1" dirty="0">
                <a:latin typeface="Arial"/>
                <a:cs typeface="Arial"/>
              </a:rPr>
              <a:t>time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workers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unemployed.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Most</a:t>
            </a:r>
            <a:r>
              <a:rPr sz="2400" b="1" spc="-5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Costly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Unemployment</a:t>
            </a:r>
            <a:endParaRPr sz="2400">
              <a:latin typeface="Arial"/>
              <a:cs typeface="Arial"/>
            </a:endParaRPr>
          </a:p>
          <a:p>
            <a:pPr marL="12700" marR="45974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unemployment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costly,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costly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long- </a:t>
            </a:r>
            <a:r>
              <a:rPr sz="2400" dirty="0">
                <a:latin typeface="Arial"/>
                <a:cs typeface="Arial"/>
              </a:rPr>
              <a:t>term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unemployment</a:t>
            </a:r>
            <a:r>
              <a:rPr sz="2400" dirty="0">
                <a:latin typeface="Arial"/>
                <a:cs typeface="Arial"/>
              </a:rPr>
              <a:t> that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results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loss.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23528" y="1166018"/>
            <a:ext cx="8229600" cy="4507003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dirty="0">
                <a:solidFill>
                  <a:srgbClr val="1A70B7"/>
                </a:solidFill>
              </a:rPr>
              <a:t>Alternative</a:t>
            </a:r>
            <a:r>
              <a:rPr sz="2800" spc="-55" dirty="0">
                <a:solidFill>
                  <a:srgbClr val="1A70B7"/>
                </a:solidFill>
              </a:rPr>
              <a:t> </a:t>
            </a:r>
            <a:r>
              <a:rPr sz="2800" dirty="0">
                <a:solidFill>
                  <a:srgbClr val="1A70B7"/>
                </a:solidFill>
              </a:rPr>
              <a:t>Measures</a:t>
            </a:r>
            <a:r>
              <a:rPr sz="2800" spc="-35" dirty="0">
                <a:solidFill>
                  <a:srgbClr val="1A70B7"/>
                </a:solidFill>
              </a:rPr>
              <a:t> </a:t>
            </a:r>
            <a:r>
              <a:rPr sz="2800" dirty="0">
                <a:solidFill>
                  <a:srgbClr val="1A70B7"/>
                </a:solidFill>
              </a:rPr>
              <a:t>of</a:t>
            </a:r>
            <a:r>
              <a:rPr sz="2800" spc="-50" dirty="0">
                <a:solidFill>
                  <a:srgbClr val="1A70B7"/>
                </a:solidFill>
              </a:rPr>
              <a:t> </a:t>
            </a:r>
            <a:r>
              <a:rPr sz="2800" spc="-10" dirty="0">
                <a:solidFill>
                  <a:srgbClr val="1A70B7"/>
                </a:solidFill>
              </a:rPr>
              <a:t>Unemployment</a:t>
            </a:r>
          </a:p>
          <a:p>
            <a:pPr marL="12700" marR="465455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BLS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reports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six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alternative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measures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unemployment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rate:</a:t>
            </a:r>
            <a:r>
              <a:rPr sz="28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two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narrower</a:t>
            </a:r>
            <a:r>
              <a:rPr sz="28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than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official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measure</a:t>
            </a:r>
            <a:r>
              <a:rPr sz="28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three</a:t>
            </a:r>
            <a:r>
              <a:rPr sz="28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broader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ones.</a:t>
            </a:r>
          </a:p>
          <a:p>
            <a:pPr marL="12700" marR="243840">
              <a:lnSpc>
                <a:spcPct val="100000"/>
              </a:lnSpc>
              <a:spcBef>
                <a:spcPts val="1205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narrower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measures,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U-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U-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2,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focus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personal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cost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unemployment.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broader</a:t>
            </a:r>
            <a:r>
              <a:rPr sz="28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measures,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Arial"/>
                <a:cs typeface="Arial"/>
              </a:rPr>
              <a:t>U-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4,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U-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5,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8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U-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6,</a:t>
            </a:r>
            <a:r>
              <a:rPr sz="28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focus</a:t>
            </a:r>
            <a:r>
              <a:rPr sz="28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Arial"/>
                <a:cs typeface="Arial"/>
              </a:rPr>
              <a:t>on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assessing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full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amount</a:t>
            </a:r>
            <a:r>
              <a:rPr sz="28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8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unused</a:t>
            </a:r>
            <a:r>
              <a:rPr sz="28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sz="28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Arial"/>
                <a:cs typeface="Arial"/>
              </a:rPr>
              <a:t>resources.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2974975" cy="450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22.4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six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alternative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measures.</a:t>
            </a:r>
            <a:endParaRPr sz="24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200"/>
              </a:spcBef>
            </a:pP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1: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Those</a:t>
            </a:r>
            <a:endParaRPr sz="2400">
              <a:latin typeface="Arial"/>
              <a:cs typeface="Arial"/>
            </a:endParaRPr>
          </a:p>
          <a:p>
            <a:pPr marL="713105" marR="14986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unemployed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15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weeks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or </a:t>
            </a:r>
            <a:r>
              <a:rPr sz="2400" spc="-10" dirty="0">
                <a:latin typeface="Arial"/>
                <a:cs typeface="Arial"/>
              </a:rPr>
              <a:t>longer</a:t>
            </a:r>
            <a:endParaRPr sz="2400">
              <a:latin typeface="Arial"/>
              <a:cs typeface="Arial"/>
            </a:endParaRPr>
          </a:p>
          <a:p>
            <a:pPr marL="713105" marR="81280" indent="-695325">
              <a:lnSpc>
                <a:spcPct val="100000"/>
              </a:lnSpc>
              <a:spcBef>
                <a:spcPts val="1205"/>
              </a:spcBef>
            </a:pP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2: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Unemployed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job </a:t>
            </a:r>
            <a:r>
              <a:rPr sz="2400" spc="-10" dirty="0">
                <a:latin typeface="Arial"/>
                <a:cs typeface="Arial"/>
              </a:rPr>
              <a:t>losers</a:t>
            </a:r>
            <a:endParaRPr sz="24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200"/>
              </a:spcBef>
            </a:pP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3: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official</a:t>
            </a:r>
            <a:endParaRPr sz="2400">
              <a:latin typeface="Arial"/>
              <a:cs typeface="Arial"/>
            </a:endParaRPr>
          </a:p>
          <a:p>
            <a:pPr marL="713105" marR="254635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unemployment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9352" y="1656588"/>
            <a:ext cx="4826508" cy="40965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3238500" cy="48126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latin typeface="Arial"/>
                <a:cs typeface="Arial"/>
              </a:rPr>
              <a:t>Broader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  <a:p>
            <a:pPr marL="713105" marR="5080" indent="-695325">
              <a:lnSpc>
                <a:spcPct val="100000"/>
              </a:lnSpc>
              <a:spcBef>
                <a:spcPts val="1200"/>
              </a:spcBef>
            </a:pP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4: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Discouraged workers</a:t>
            </a:r>
            <a:endParaRPr sz="24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205"/>
              </a:spcBef>
            </a:pP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5: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4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Other</a:t>
            </a:r>
            <a:endParaRPr sz="2400">
              <a:latin typeface="Arial"/>
              <a:cs typeface="Arial"/>
            </a:endParaRPr>
          </a:p>
          <a:p>
            <a:pPr marL="713105" marR="196215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marginally </a:t>
            </a:r>
            <a:r>
              <a:rPr sz="2400" dirty="0">
                <a:latin typeface="Arial"/>
                <a:cs typeface="Arial"/>
              </a:rPr>
              <a:t>attached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workers</a:t>
            </a:r>
            <a:endParaRPr sz="2400">
              <a:latin typeface="Arial"/>
              <a:cs typeface="Arial"/>
            </a:endParaRPr>
          </a:p>
          <a:p>
            <a:pPr marL="713105" marR="77470" indent="-695325">
              <a:lnSpc>
                <a:spcPct val="100000"/>
              </a:lnSpc>
              <a:spcBef>
                <a:spcPts val="1200"/>
              </a:spcBef>
            </a:pP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6: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U-</a:t>
            </a:r>
            <a:r>
              <a:rPr sz="2400" dirty="0">
                <a:latin typeface="Arial"/>
                <a:cs typeface="Arial"/>
              </a:rPr>
              <a:t>4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Part-</a:t>
            </a:r>
            <a:r>
              <a:rPr sz="2400" spc="-20" dirty="0">
                <a:latin typeface="Arial"/>
                <a:cs typeface="Arial"/>
              </a:rPr>
              <a:t>time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want full-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jobs</a:t>
            </a:r>
            <a:endParaRPr sz="2400">
              <a:latin typeface="Arial"/>
              <a:cs typeface="Arial"/>
            </a:endParaRPr>
          </a:p>
          <a:p>
            <a:pPr marL="12700" marR="219075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All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 </a:t>
            </a:r>
            <a:r>
              <a:rPr sz="2400" dirty="0">
                <a:latin typeface="Arial"/>
                <a:cs typeface="Arial"/>
              </a:rPr>
              <a:t>together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recession.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Employment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Unemployment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9352" y="1656588"/>
            <a:ext cx="4826508" cy="40965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533363"/>
            <a:ext cx="6670675" cy="203517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spc="-10" dirty="0">
                <a:latin typeface="Arial"/>
                <a:cs typeface="Arial"/>
              </a:rPr>
              <a:t>Unemployment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classified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types: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Frictional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unemployment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Structural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unemployment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1A70B7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Cyclical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unemployment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Unemployment</a:t>
            </a:r>
            <a:r>
              <a:rPr spc="-7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Full</a:t>
            </a:r>
            <a:r>
              <a:rPr spc="-60" dirty="0"/>
              <a:t> </a:t>
            </a:r>
            <a:r>
              <a:rPr spc="-10" dirty="0"/>
              <a:t>Employment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99336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solidFill>
                  <a:srgbClr val="1A70B7"/>
                </a:solidFill>
              </a:rPr>
              <a:t>Frictional</a:t>
            </a:r>
            <a:r>
              <a:rPr sz="2400" spc="-35" dirty="0">
                <a:solidFill>
                  <a:srgbClr val="1A70B7"/>
                </a:solidFill>
              </a:rPr>
              <a:t> </a:t>
            </a:r>
            <a:r>
              <a:rPr sz="2400" spc="-10" dirty="0">
                <a:solidFill>
                  <a:srgbClr val="1A70B7"/>
                </a:solidFill>
              </a:rPr>
              <a:t>Unemployment</a:t>
            </a:r>
          </a:p>
          <a:p>
            <a:pPr marL="12700" marR="34988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solidFill>
                  <a:srgbClr val="000000"/>
                </a:solidFill>
              </a:rPr>
              <a:t>Frictional</a:t>
            </a:r>
            <a:r>
              <a:rPr sz="2400" spc="-7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unemployment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unemployment</a:t>
            </a:r>
            <a:r>
              <a:rPr sz="24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arises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normal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market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turnover.</a:t>
            </a:r>
          </a:p>
          <a:p>
            <a:pPr marL="12700" marR="1225550">
              <a:lnSpc>
                <a:spcPct val="100000"/>
              </a:lnSpc>
              <a:spcBef>
                <a:spcPts val="1205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creation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destruction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jobs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requires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Arial"/>
                <a:cs typeface="Arial"/>
              </a:rPr>
              <a:t>that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unemployed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workers</a:t>
            </a:r>
            <a:r>
              <a:rPr sz="24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search</a:t>
            </a:r>
            <a:r>
              <a:rPr sz="24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new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jobs.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number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people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entering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reentering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labor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force</a:t>
            </a:r>
            <a:r>
              <a:rPr sz="24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increases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unemployment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benefits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raise</a:t>
            </a:r>
            <a:r>
              <a:rPr sz="24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frictional</a:t>
            </a:r>
            <a:r>
              <a:rPr sz="24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unemployment.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Frictional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unemployment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permanent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healthy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phenomenon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growing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economy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Unemployment</a:t>
            </a:r>
            <a:r>
              <a:rPr spc="-7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Full</a:t>
            </a:r>
            <a:r>
              <a:rPr spc="-60" dirty="0"/>
              <a:t> </a:t>
            </a:r>
            <a:r>
              <a:rPr spc="-10" dirty="0"/>
              <a:t>Employment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7646670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average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value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money.</a:t>
            </a:r>
            <a:endParaRPr sz="2400">
              <a:latin typeface="Arial"/>
              <a:cs typeface="Arial"/>
            </a:endParaRPr>
          </a:p>
          <a:p>
            <a:pPr marL="12700" marR="825500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persistently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inflation</a:t>
            </a:r>
            <a:r>
              <a:rPr sz="2400" spc="-10" dirty="0">
                <a:latin typeface="Arial"/>
                <a:cs typeface="Arial"/>
              </a:rPr>
              <a:t>.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persistently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falling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called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deflation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442595" indent="-35877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42595" algn="l"/>
              </a:tabLst>
            </a:pPr>
            <a:r>
              <a:rPr sz="2400" dirty="0">
                <a:latin typeface="Arial"/>
                <a:cs typeface="Arial"/>
              </a:rPr>
              <a:t>Measure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deflation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 marL="441959" marR="5080" indent="-35814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443865" algn="l"/>
              </a:tabLst>
            </a:pPr>
            <a:r>
              <a:rPr sz="2400" dirty="0">
                <a:latin typeface="Arial"/>
                <a:cs typeface="Arial"/>
              </a:rPr>
              <a:t>Distinguish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money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values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	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variables.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318" y="1457055"/>
            <a:ext cx="7968615" cy="403225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Why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Inflation</a:t>
            </a:r>
            <a:r>
              <a:rPr sz="2400" b="1" spc="-7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and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Deflation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Are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Problems</a:t>
            </a:r>
            <a:endParaRPr sz="2400">
              <a:latin typeface="Arial"/>
              <a:cs typeface="Arial"/>
            </a:endParaRPr>
          </a:p>
          <a:p>
            <a:pPr marL="120650" marR="17907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Low,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steady,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anticipated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deflation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spc="-10" dirty="0">
                <a:latin typeface="Arial"/>
                <a:cs typeface="Arial"/>
              </a:rPr>
              <a:t>problem.</a:t>
            </a:r>
            <a:endParaRPr sz="24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1205"/>
              </a:spcBef>
            </a:pPr>
            <a:r>
              <a:rPr sz="2400" spc="-10" dirty="0">
                <a:latin typeface="Arial"/>
                <a:cs typeface="Arial"/>
              </a:rPr>
              <a:t>Unpredictable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deflation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problem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because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Redistributes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income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Redistributes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wealth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Lowers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GDP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employment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Diverts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322044"/>
          </a:xfrm>
          <a:prstGeom prst="rect">
            <a:avLst/>
          </a:prstGeom>
        </p:spPr>
        <p:txBody>
          <a:bodyPr vert="horz" wrap="square" lIns="0" tIns="165445" rIns="0" bIns="0" rtlCol="0">
            <a:spAutoFit/>
          </a:bodyPr>
          <a:lstStyle/>
          <a:p>
            <a:pPr marL="12700" marR="153670">
              <a:lnSpc>
                <a:spcPct val="100000"/>
              </a:lnSpc>
              <a:spcBef>
                <a:spcPts val="100"/>
              </a:spcBef>
            </a:pP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Unpredictable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changes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inflation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FF0000"/>
                </a:solidFill>
                <a:latin typeface="Arial"/>
                <a:cs typeface="Arial"/>
              </a:rPr>
              <a:t>redistribute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income</a:t>
            </a:r>
            <a:r>
              <a:rPr sz="2400"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arbitrary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ways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between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employers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workers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between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borrowers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lenders.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high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inflation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because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it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diverts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resources</a:t>
            </a:r>
            <a:r>
              <a:rPr sz="2400"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sz="24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productive</a:t>
            </a:r>
            <a:r>
              <a:rPr sz="2400" b="0" spc="-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activities</a:t>
            </a:r>
            <a:r>
              <a:rPr sz="240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sz="2400"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inflation</a:t>
            </a:r>
            <a:r>
              <a:rPr sz="2400" b="0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forecasting.</a:t>
            </a:r>
          </a:p>
          <a:p>
            <a:pPr marL="12700" marR="596900">
              <a:lnSpc>
                <a:spcPct val="100000"/>
              </a:lnSpc>
              <a:spcBef>
                <a:spcPts val="1200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social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perspective,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this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waste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resources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a </a:t>
            </a:r>
            <a:r>
              <a:rPr sz="2400" b="0" dirty="0">
                <a:solidFill>
                  <a:srgbClr val="FF0000"/>
                </a:solidFill>
                <a:latin typeface="Arial"/>
                <a:cs typeface="Arial"/>
              </a:rPr>
              <a:t>cost of</a:t>
            </a:r>
            <a:r>
              <a:rPr sz="2400" b="0" spc="-10" dirty="0">
                <a:solidFill>
                  <a:srgbClr val="FF0000"/>
                </a:solidFill>
                <a:latin typeface="Arial"/>
                <a:cs typeface="Arial"/>
              </a:rPr>
              <a:t> inflation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 marL="12700" marR="57785">
              <a:lnSpc>
                <a:spcPct val="100000"/>
              </a:lnSpc>
              <a:spcBef>
                <a:spcPts val="1205"/>
              </a:spcBef>
            </a:pP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its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worst,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inflation</a:t>
            </a:r>
            <a:r>
              <a:rPr sz="2400"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becomes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hyperinflation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—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an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inflation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rate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so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rapid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workers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sz="2400"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paid</a:t>
            </a:r>
            <a:r>
              <a:rPr sz="2400"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twice</a:t>
            </a:r>
            <a:r>
              <a:rPr sz="2400"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Arial"/>
                <a:cs typeface="Arial"/>
              </a:rPr>
              <a:t>day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because</a:t>
            </a:r>
            <a:r>
              <a:rPr sz="2400"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money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loses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its</a:t>
            </a:r>
            <a:r>
              <a:rPr sz="2400"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value</a:t>
            </a:r>
            <a:r>
              <a:rPr sz="2400"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so</a:t>
            </a:r>
            <a:r>
              <a:rPr sz="2400"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"/>
                <a:cs typeface="Arial"/>
              </a:rPr>
              <a:t>quickly.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077075" cy="17945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4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Consumer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Price</a:t>
            </a:r>
            <a:r>
              <a:rPr sz="24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Index</a:t>
            </a:r>
            <a:endParaRPr sz="240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Consumer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Price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Index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CPI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average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paid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urban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consumers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“fixed”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basket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consumer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services.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854315" cy="49650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Reading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5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CPI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A70B7"/>
                </a:solidFill>
                <a:latin typeface="Arial"/>
                <a:cs typeface="Arial"/>
              </a:rPr>
              <a:t>Numbers</a:t>
            </a:r>
            <a:endParaRPr sz="2400">
              <a:latin typeface="Arial"/>
              <a:cs typeface="Arial"/>
            </a:endParaRPr>
          </a:p>
          <a:p>
            <a:pPr marL="12700" marR="37274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100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reference</a:t>
            </a:r>
            <a:r>
              <a:rPr sz="2400" b="1" spc="-20" dirty="0">
                <a:latin typeface="Arial"/>
                <a:cs typeface="Arial"/>
              </a:rPr>
              <a:t> base </a:t>
            </a:r>
            <a:r>
              <a:rPr sz="2400" b="1" spc="-10" dirty="0">
                <a:latin typeface="Arial"/>
                <a:cs typeface="Arial"/>
              </a:rPr>
              <a:t>period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Currently,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reference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period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1982−1984.</a:t>
            </a:r>
            <a:endParaRPr sz="2400">
              <a:latin typeface="Arial"/>
              <a:cs typeface="Arial"/>
            </a:endParaRPr>
          </a:p>
          <a:p>
            <a:pPr marL="12700" marR="48577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average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36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months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January </a:t>
            </a:r>
            <a:r>
              <a:rPr sz="2400" dirty="0">
                <a:latin typeface="Arial"/>
                <a:cs typeface="Arial"/>
              </a:rPr>
              <a:t>1982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through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December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1984,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equals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100.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June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2017,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245.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This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tells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average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paid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by </a:t>
            </a:r>
            <a:r>
              <a:rPr sz="2400" dirty="0">
                <a:latin typeface="Arial"/>
                <a:cs typeface="Arial"/>
              </a:rPr>
              <a:t>urban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consumers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fixed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basket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145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June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2017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during 1982−1984.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5871845" cy="26301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Constructing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1A70B7"/>
                </a:solidFill>
                <a:latin typeface="Arial"/>
                <a:cs typeface="Arial"/>
              </a:rPr>
              <a:t>CPI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Constructing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involves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stages: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Selecting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basket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5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Conducting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monthly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survey</a:t>
            </a:r>
            <a:endParaRPr sz="24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3695" algn="l"/>
              </a:tabLst>
            </a:pPr>
            <a:r>
              <a:rPr sz="2400" dirty="0">
                <a:latin typeface="Arial"/>
                <a:cs typeface="Arial"/>
              </a:rPr>
              <a:t>Calculating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CPI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CPI</a:t>
            </a:r>
            <a:r>
              <a:rPr spc="-30" dirty="0"/>
              <a:t> </a:t>
            </a:r>
            <a:r>
              <a:rPr spc="-10" dirty="0"/>
              <a:t>Basket</a:t>
            </a:r>
          </a:p>
          <a:p>
            <a:pPr marL="12700" marR="17907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CPI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basket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based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Consumer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Expenditure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Survey,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which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undertaken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infrequently.</a:t>
            </a: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CPI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basket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today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based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collected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Consumer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Expenditure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Survey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2016.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449954" cy="4142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22.6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illustrates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CPI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basket.</a:t>
            </a:r>
            <a:endParaRPr sz="2400">
              <a:latin typeface="Arial"/>
              <a:cs typeface="Arial"/>
            </a:endParaRPr>
          </a:p>
          <a:p>
            <a:pPr marL="12700" marR="49720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Housing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largest component.</a:t>
            </a:r>
            <a:endParaRPr sz="2400">
              <a:latin typeface="Arial"/>
              <a:cs typeface="Arial"/>
            </a:endParaRPr>
          </a:p>
          <a:p>
            <a:pPr marL="12700" marR="24130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latin typeface="Arial"/>
                <a:cs typeface="Arial"/>
              </a:rPr>
              <a:t>Transportation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food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beverages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next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largest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components.</a:t>
            </a:r>
            <a:endParaRPr sz="2400">
              <a:latin typeface="Arial"/>
              <a:cs typeface="Arial"/>
            </a:endParaRPr>
          </a:p>
          <a:p>
            <a:pPr marL="12700" marR="14224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All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components </a:t>
            </a:r>
            <a:r>
              <a:rPr sz="2400" dirty="0">
                <a:latin typeface="Arial"/>
                <a:cs typeface="Arial"/>
              </a:rPr>
              <a:t>account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27.4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percent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basket.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0708" y="1656588"/>
            <a:ext cx="4678680" cy="424129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833359" cy="35020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Monthly</a:t>
            </a:r>
            <a:r>
              <a:rPr sz="2400" b="1" spc="-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Price</a:t>
            </a:r>
            <a:r>
              <a:rPr sz="2400" b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Survey</a:t>
            </a:r>
            <a:endParaRPr sz="2400">
              <a:latin typeface="Arial"/>
              <a:cs typeface="Arial"/>
            </a:endParaRPr>
          </a:p>
          <a:p>
            <a:pPr marL="12700" marR="11811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Every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month,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check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80,000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basket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30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metropolitan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areas.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Calculating</a:t>
            </a:r>
            <a:r>
              <a:rPr sz="2400" b="1" spc="-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Arial"/>
                <a:cs typeface="Arial"/>
              </a:rPr>
              <a:t>CPI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Find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basket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base-</a:t>
            </a:r>
            <a:r>
              <a:rPr sz="2400" dirty="0">
                <a:latin typeface="Arial"/>
                <a:cs typeface="Arial"/>
              </a:rPr>
              <a:t>period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prices.</a:t>
            </a:r>
            <a:endParaRPr sz="2400">
              <a:latin typeface="Arial"/>
              <a:cs typeface="Arial"/>
            </a:endParaRPr>
          </a:p>
          <a:p>
            <a:pPr marL="349885" indent="-33718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49885" algn="l"/>
              </a:tabLst>
            </a:pPr>
            <a:r>
              <a:rPr sz="2400" dirty="0">
                <a:latin typeface="Arial"/>
                <a:cs typeface="Arial"/>
              </a:rPr>
              <a:t>Find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basket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current-period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prices.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0520" algn="l"/>
              </a:tabLst>
            </a:pPr>
            <a:r>
              <a:rPr sz="2400" dirty="0">
                <a:latin typeface="Arial"/>
                <a:cs typeface="Arial"/>
              </a:rPr>
              <a:t>Calculate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period.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21.6 </a:t>
            </a:r>
            <a:br>
              <a:rPr lang="en-US" sz="3200" dirty="0"/>
            </a:br>
            <a:r>
              <a:rPr lang="en-US" sz="3200" dirty="0"/>
              <a:t>The CPI basket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13" y="1351756"/>
            <a:ext cx="8183175" cy="467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55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Table 21.1 </a:t>
            </a:r>
            <a:br>
              <a:rPr lang="en-US" sz="3200" dirty="0"/>
            </a:br>
            <a:r>
              <a:rPr lang="en-US" sz="3200" dirty="0"/>
              <a:t>The CPI: a simplified calculation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266" y="1461502"/>
            <a:ext cx="5071469" cy="477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73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754120" cy="466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Let’s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</a:t>
            </a:r>
            <a:r>
              <a:rPr sz="2400" spc="-25" dirty="0">
                <a:latin typeface="Arial"/>
                <a:cs typeface="Arial"/>
              </a:rPr>
              <a:t> of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calculation.</a:t>
            </a:r>
            <a:endParaRPr sz="2400">
              <a:latin typeface="Arial"/>
              <a:cs typeface="Arial"/>
            </a:endParaRPr>
          </a:p>
          <a:p>
            <a:pPr marL="12700" marR="800100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simple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economy,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consume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only </a:t>
            </a:r>
            <a:r>
              <a:rPr sz="2400" dirty="0">
                <a:latin typeface="Arial"/>
                <a:cs typeface="Arial"/>
              </a:rPr>
              <a:t>oranges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haircuts.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basket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10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oranges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haircuts.</a:t>
            </a:r>
            <a:endParaRPr sz="2400">
              <a:latin typeface="Arial"/>
              <a:cs typeface="Arial"/>
            </a:endParaRPr>
          </a:p>
          <a:p>
            <a:pPr marL="12700" marR="32766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also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prices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period.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basket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period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$50.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6090" y="1609801"/>
            <a:ext cx="3914341" cy="483214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609801"/>
            <a:ext cx="3615054" cy="28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Table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22.1(b)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fixed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basket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goods.</a:t>
            </a:r>
            <a:endParaRPr sz="2400">
              <a:latin typeface="Arial"/>
              <a:cs typeface="Arial"/>
            </a:endParaRPr>
          </a:p>
          <a:p>
            <a:pPr marL="12700" marR="10541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also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period.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basket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current-</a:t>
            </a:r>
            <a:r>
              <a:rPr sz="2400" dirty="0">
                <a:latin typeface="Arial"/>
                <a:cs typeface="Arial"/>
              </a:rPr>
              <a:t>period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Arial"/>
                <a:cs typeface="Arial"/>
              </a:rPr>
              <a:t>$70.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0370" y="1417638"/>
            <a:ext cx="3816045" cy="50776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23528" y="980728"/>
            <a:ext cx="8229600" cy="4525963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CPI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calculated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using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formula:</a:t>
            </a:r>
          </a:p>
          <a:p>
            <a:pPr marL="12700" marR="1701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CPI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(Cost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basket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current-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period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prices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Cost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of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basket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base-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period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prices)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100.</a:t>
            </a: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Using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numbers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simple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example,</a:t>
            </a:r>
          </a:p>
          <a:p>
            <a:pPr marL="1890395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CPI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($70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÷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$50)</a:t>
            </a:r>
            <a:r>
              <a:rPr b="0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100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b="0" spc="-20" dirty="0">
                <a:solidFill>
                  <a:srgbClr val="000000"/>
                </a:solidFill>
                <a:latin typeface="Arial"/>
                <a:cs typeface="Arial"/>
              </a:rPr>
              <a:t> 140.</a:t>
            </a: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CPI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40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percent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higher</a:t>
            </a:r>
            <a:r>
              <a:rPr b="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current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period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than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it</a:t>
            </a:r>
          </a:p>
          <a:p>
            <a:pPr marL="12700">
              <a:lnSpc>
                <a:spcPct val="100000"/>
              </a:lnSpc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was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base</a:t>
            </a:r>
            <a:r>
              <a:rPr b="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period.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2902" y="99289"/>
            <a:ext cx="8229600" cy="1143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566025" cy="33496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Measuring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Inflation</a:t>
            </a:r>
            <a:r>
              <a:rPr sz="2400" b="1" spc="-6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Rate</a:t>
            </a:r>
            <a:endParaRPr sz="2400">
              <a:latin typeface="Arial"/>
              <a:cs typeface="Arial"/>
            </a:endParaRPr>
          </a:p>
          <a:p>
            <a:pPr marL="12700" marR="24130">
              <a:lnSpc>
                <a:spcPct val="1417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major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purpose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measure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inflation.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inflation</a:t>
            </a:r>
            <a:r>
              <a:rPr sz="2400" b="1" i="1" spc="-8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rate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percentage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level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next.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formula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[(CPI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÷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last</a:t>
            </a:r>
            <a:endParaRPr sz="2400">
              <a:latin typeface="Arial"/>
              <a:cs typeface="Arial"/>
            </a:endParaRPr>
          </a:p>
          <a:p>
            <a:pPr marL="201993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year]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×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100.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318" y="1609801"/>
            <a:ext cx="4185285" cy="429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22.7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relationship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price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rate.</a:t>
            </a:r>
            <a:endParaRPr sz="2400">
              <a:latin typeface="Arial"/>
              <a:cs typeface="Arial"/>
            </a:endParaRPr>
          </a:p>
          <a:p>
            <a:pPr marL="12065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  <a:p>
            <a:pPr marL="337185" marR="108585" indent="-32512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37185" algn="l"/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High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rising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rapidly.</a:t>
            </a:r>
            <a:endParaRPr sz="2400">
              <a:latin typeface="Arial"/>
              <a:cs typeface="Arial"/>
            </a:endParaRPr>
          </a:p>
          <a:p>
            <a:pPr marL="337185" marR="177165" indent="-32512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37185" algn="l"/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Low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rising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slowly.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Negative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price</a:t>
            </a:r>
            <a:endParaRPr sz="2400">
              <a:latin typeface="Arial"/>
              <a:cs typeface="Arial"/>
            </a:endParaRPr>
          </a:p>
          <a:p>
            <a:pPr marL="33718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level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falling.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0" y="6480047"/>
            <a:ext cx="222503" cy="2225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6444" y="1223772"/>
            <a:ext cx="3296411" cy="54117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318" y="1457055"/>
            <a:ext cx="7331075" cy="2998898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6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Biased</a:t>
            </a:r>
            <a:r>
              <a:rPr sz="2400" b="1" spc="-4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1A70B7"/>
                </a:solidFill>
                <a:latin typeface="Arial"/>
                <a:cs typeface="Arial"/>
              </a:rPr>
              <a:t>CPI</a:t>
            </a:r>
            <a:endParaRPr sz="2400" dirty="0">
              <a:latin typeface="Arial"/>
              <a:cs typeface="Arial"/>
            </a:endParaRPr>
          </a:p>
          <a:p>
            <a:pPr marL="12065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might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overstate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four </a:t>
            </a:r>
            <a:r>
              <a:rPr sz="2400" spc="-10" dirty="0">
                <a:latin typeface="Arial"/>
                <a:cs typeface="Arial"/>
              </a:rPr>
              <a:t>reasons: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New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bias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Quality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bias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6F2F9F"/>
              </a:buClr>
              <a:buSzPct val="11875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Commodity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substitution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bias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783195" cy="40811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New</a:t>
            </a:r>
            <a:r>
              <a:rPr sz="2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Goods</a:t>
            </a:r>
            <a:r>
              <a:rPr sz="2400" b="1" spc="-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Arial"/>
                <a:cs typeface="Arial"/>
              </a:rPr>
              <a:t>Bias</a:t>
            </a:r>
            <a:endParaRPr sz="2400">
              <a:latin typeface="Arial"/>
              <a:cs typeface="Arial"/>
            </a:endParaRPr>
          </a:p>
          <a:p>
            <a:pPr marL="12700" marR="37528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New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available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year </a:t>
            </a:r>
            <a:r>
              <a:rPr sz="2400" dirty="0">
                <a:latin typeface="Arial"/>
                <a:cs typeface="Arial"/>
              </a:rPr>
              <a:t>appear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expensive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goods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replace,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upward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CPI.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Quality</a:t>
            </a:r>
            <a:r>
              <a:rPr sz="2400" b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Change</a:t>
            </a:r>
            <a:r>
              <a:rPr sz="2400" b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Arial"/>
                <a:cs typeface="Arial"/>
              </a:rPr>
              <a:t>Bias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Quality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improvements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occur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every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year.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payment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improved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quality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not </a:t>
            </a:r>
            <a:r>
              <a:rPr sz="2400" spc="-10" dirty="0">
                <a:latin typeface="Arial"/>
                <a:cs typeface="Arial"/>
              </a:rPr>
              <a:t>inflation.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inflation.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1E7CE3-7B20-BF8C-D364-825718594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580665"/>
            <a:ext cx="5292080" cy="60026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6F54B-C7E5-4DD8-CDDF-59E969862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11491384" y="6423026"/>
            <a:ext cx="694267" cy="379413"/>
          </a:xfrm>
          <a:prstGeom prst="rect">
            <a:avLst/>
          </a:prstGeom>
          <a:noFill/>
          <a:ln w="19050">
            <a:noFill/>
            <a:prstDash val="sysDot"/>
            <a:bevel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FontTx/>
              <a:buNone/>
              <a:defRPr sz="1200" kern="1200">
                <a:solidFill>
                  <a:srgbClr val="4E519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73C29DC-2178-4274-9150-45F8EBD31C2D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958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35253" y="1166018"/>
            <a:ext cx="8229600" cy="2783454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>
                <a:solidFill>
                  <a:srgbClr val="C00000"/>
                </a:solidFill>
              </a:rPr>
              <a:t>Commodity</a:t>
            </a:r>
            <a:r>
              <a:rPr spc="-45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Substitution</a:t>
            </a:r>
            <a:r>
              <a:rPr spc="-65" dirty="0">
                <a:solidFill>
                  <a:srgbClr val="C00000"/>
                </a:solidFill>
              </a:rPr>
              <a:t> </a:t>
            </a:r>
            <a:r>
              <a:rPr spc="-20" dirty="0">
                <a:solidFill>
                  <a:srgbClr val="C00000"/>
                </a:solidFill>
              </a:rPr>
              <a:t>Bias</a:t>
            </a: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market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basket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goods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used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calculating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b="0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CPI</a:t>
            </a:r>
            <a:r>
              <a:rPr b="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25" dirty="0">
                <a:solidFill>
                  <a:srgbClr val="000000"/>
                </a:solidFill>
                <a:latin typeface="Arial"/>
                <a:cs typeface="Arial"/>
              </a:rPr>
              <a:t>is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fixed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does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take</a:t>
            </a:r>
            <a:r>
              <a:rPr b="0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into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account</a:t>
            </a:r>
            <a:r>
              <a:rPr b="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consumers’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substitutions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away</a:t>
            </a:r>
            <a:r>
              <a:rPr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from</a:t>
            </a:r>
            <a:r>
              <a:rPr b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goods</a:t>
            </a:r>
            <a:r>
              <a:rPr b="0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whose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dirty="0">
                <a:solidFill>
                  <a:srgbClr val="000000"/>
                </a:solidFill>
                <a:latin typeface="Arial"/>
                <a:cs typeface="Arial"/>
              </a:rPr>
              <a:t>relative</a:t>
            </a:r>
            <a:r>
              <a:rPr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"/>
                <a:cs typeface="Arial"/>
              </a:rPr>
              <a:t>prices increase.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E43C-1A9B-0A17-8F89-FCD516977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7251"/>
            <a:ext cx="9143999" cy="490118"/>
          </a:xfrm>
        </p:spPr>
        <p:txBody>
          <a:bodyPr/>
          <a:lstStyle/>
          <a:p>
            <a:br>
              <a:rPr lang="en-US" altLang="en-US" sz="3000" dirty="0"/>
            </a:br>
            <a:r>
              <a:rPr lang="en-US" altLang="en-US" sz="3000" dirty="0"/>
              <a:t>Example of Substitution Bias</a:t>
            </a:r>
            <a:br>
              <a:rPr lang="en-US" altLang="en-US" sz="3000" dirty="0"/>
            </a:b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76D5F-3C13-4DE2-73A0-6925B0E0A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94" y="1352305"/>
            <a:ext cx="8686800" cy="1516856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CPI basket</a:t>
            </a:r>
          </a:p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2E293-494B-CEDE-8A47-4635B7A6B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11491384" y="6423026"/>
            <a:ext cx="694267" cy="379413"/>
          </a:xfrm>
          <a:prstGeom prst="rect">
            <a:avLst/>
          </a:prstGeom>
          <a:noFill/>
          <a:ln w="19050">
            <a:noFill/>
            <a:prstDash val="sysDot"/>
            <a:bevel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FontTx/>
              <a:buNone/>
              <a:defRPr sz="1200" kern="1200">
                <a:solidFill>
                  <a:srgbClr val="4E519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73C29DC-2178-4274-9150-45F8EBD31C2D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BC45C2-C785-A43E-083E-48EC9BEC5997}"/>
              </a:ext>
            </a:extLst>
          </p:cNvPr>
          <p:cNvGraphicFramePr>
            <a:graphicFrameLocks noGrp="1"/>
          </p:cNvGraphicFramePr>
          <p:nvPr/>
        </p:nvGraphicFramePr>
        <p:xfrm>
          <a:off x="220955" y="1635498"/>
          <a:ext cx="8589168" cy="1028700"/>
        </p:xfrm>
        <a:graphic>
          <a:graphicData uri="http://schemas.openxmlformats.org/drawingml/2006/table">
            <a:tbl>
              <a:tblPr/>
              <a:tblGrid>
                <a:gridCol w="2147292">
                  <a:extLst>
                    <a:ext uri="{9D8B030D-6E8A-4147-A177-3AD203B41FA5}">
                      <a16:colId xmlns:a16="http://schemas.microsoft.com/office/drawing/2014/main" val="261451809"/>
                    </a:ext>
                  </a:extLst>
                </a:gridCol>
                <a:gridCol w="2147292">
                  <a:extLst>
                    <a:ext uri="{9D8B030D-6E8A-4147-A177-3AD203B41FA5}">
                      <a16:colId xmlns:a16="http://schemas.microsoft.com/office/drawing/2014/main" val="1583157345"/>
                    </a:ext>
                  </a:extLst>
                </a:gridCol>
                <a:gridCol w="2147292">
                  <a:extLst>
                    <a:ext uri="{9D8B030D-6E8A-4147-A177-3AD203B41FA5}">
                      <a16:colId xmlns:a16="http://schemas.microsoft.com/office/drawing/2014/main" val="2342313031"/>
                    </a:ext>
                  </a:extLst>
                </a:gridCol>
                <a:gridCol w="2147292">
                  <a:extLst>
                    <a:ext uri="{9D8B030D-6E8A-4147-A177-3AD203B41FA5}">
                      <a16:colId xmlns:a16="http://schemas.microsoft.com/office/drawing/2014/main" val="320419763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Good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Quantity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Price (Year 0)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Price (Year 1)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83353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Beef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10 kg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sz="1800"/>
                        <a:t>$10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sz="1800"/>
                        <a:t>$20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24668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Chicken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10 kg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sz="1800"/>
                        <a:t>$5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sz="1800" dirty="0"/>
                        <a:t>$5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0313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0C0D18-0EEE-713A-19E5-7704399CA127}"/>
              </a:ext>
            </a:extLst>
          </p:cNvPr>
          <p:cNvSpPr txBox="1"/>
          <p:nvPr/>
        </p:nvSpPr>
        <p:spPr>
          <a:xfrm>
            <a:off x="114300" y="4050857"/>
            <a:ext cx="4591296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/>
              <a:t>Cost of the CPI basket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50" dirty="0"/>
              <a:t>Cost in Year 0:</a:t>
            </a:r>
            <a:br>
              <a:rPr lang="en-US" sz="1650" dirty="0"/>
            </a:br>
            <a:r>
              <a:rPr lang="en-US" sz="1650" dirty="0"/>
              <a:t>10 × 10 + 10 × 5 = </a:t>
            </a:r>
            <a:r>
              <a:rPr lang="en-US" sz="1650" b="1" dirty="0"/>
              <a:t>$150</a:t>
            </a:r>
            <a:endParaRPr lang="en-US" sz="16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50" dirty="0"/>
              <a:t>Cost in Year 1 (fixed basket):</a:t>
            </a:r>
            <a:br>
              <a:rPr lang="en-US" sz="1650" dirty="0"/>
            </a:br>
            <a:r>
              <a:rPr lang="en-US" sz="1650" dirty="0"/>
              <a:t>10 × 20 + 10 × 5 = </a:t>
            </a:r>
            <a:r>
              <a:rPr lang="en-US" sz="1650" b="1" dirty="0"/>
              <a:t>$250</a:t>
            </a:r>
            <a:endParaRPr lang="en-US" sz="1650" dirty="0"/>
          </a:p>
          <a:p>
            <a:r>
              <a:rPr lang="en-US" sz="1650" b="1" dirty="0"/>
              <a:t>Measured inflation (CPI):</a:t>
            </a:r>
            <a:br>
              <a:rPr lang="en-US" sz="1650" dirty="0"/>
            </a:br>
            <a:r>
              <a:rPr lang="en-US" sz="1650" dirty="0"/>
              <a:t>(250 − 150) ÷ 150 = </a:t>
            </a:r>
            <a:r>
              <a:rPr lang="en-US" sz="1650" b="1" dirty="0"/>
              <a:t>66.7%</a:t>
            </a:r>
            <a:endParaRPr lang="en-US" sz="165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943CE3-B9EB-B975-2B9E-B55FFCF81668}"/>
              </a:ext>
            </a:extLst>
          </p:cNvPr>
          <p:cNvGraphicFramePr>
            <a:graphicFrameLocks noGrp="1"/>
          </p:cNvGraphicFramePr>
          <p:nvPr/>
        </p:nvGraphicFramePr>
        <p:xfrm>
          <a:off x="263968" y="2960140"/>
          <a:ext cx="8399736" cy="1028700"/>
        </p:xfrm>
        <a:graphic>
          <a:graphicData uri="http://schemas.openxmlformats.org/drawingml/2006/table">
            <a:tbl>
              <a:tblPr/>
              <a:tblGrid>
                <a:gridCol w="2136332">
                  <a:extLst>
                    <a:ext uri="{9D8B030D-6E8A-4147-A177-3AD203B41FA5}">
                      <a16:colId xmlns:a16="http://schemas.microsoft.com/office/drawing/2014/main" val="4248733132"/>
                    </a:ext>
                  </a:extLst>
                </a:gridCol>
                <a:gridCol w="3463492">
                  <a:extLst>
                    <a:ext uri="{9D8B030D-6E8A-4147-A177-3AD203B41FA5}">
                      <a16:colId xmlns:a16="http://schemas.microsoft.com/office/drawing/2014/main" val="3668930264"/>
                    </a:ext>
                  </a:extLst>
                </a:gridCol>
                <a:gridCol w="2799912">
                  <a:extLst>
                    <a:ext uri="{9D8B030D-6E8A-4147-A177-3AD203B41FA5}">
                      <a16:colId xmlns:a16="http://schemas.microsoft.com/office/drawing/2014/main" val="309736394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/>
                        <a:t>Good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Quantity (Year 1)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Price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74707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/>
                        <a:t>Beef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 kg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TW" sz="1800" dirty="0"/>
                        <a:t>$20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94699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/>
                        <a:t>Chicken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15 kg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TW" sz="1800" dirty="0"/>
                        <a:t>$5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2540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A0A0E8B-A1B2-8FE5-40DB-EDE9DFDBE901}"/>
              </a:ext>
            </a:extLst>
          </p:cNvPr>
          <p:cNvSpPr txBox="1"/>
          <p:nvPr/>
        </p:nvSpPr>
        <p:spPr>
          <a:xfrm>
            <a:off x="236057" y="2656009"/>
            <a:ext cx="8523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Actual consumer behavior (substitution)</a:t>
            </a:r>
            <a:endParaRPr lang="en-TW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67863-59D9-8BED-F343-E65F20F7CDDF}"/>
              </a:ext>
            </a:extLst>
          </p:cNvPr>
          <p:cNvSpPr txBox="1"/>
          <p:nvPr/>
        </p:nvSpPr>
        <p:spPr>
          <a:xfrm>
            <a:off x="4463836" y="3858504"/>
            <a:ext cx="459129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dirty="0"/>
              <a:t>Actual consumer behavior (substitution)</a:t>
            </a:r>
          </a:p>
          <a:p>
            <a:r>
              <a:rPr lang="en-US" sz="1650" dirty="0"/>
              <a:t>Consumers substitute chicken for beef: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50" dirty="0"/>
              <a:t>Beef: 5 kg at $20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50" dirty="0"/>
              <a:t>Chicken: 15 kg at $5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50" dirty="0"/>
              <a:t>Actual spending in Year 1:</a:t>
            </a:r>
            <a:br>
              <a:rPr lang="en-US" sz="1650" dirty="0"/>
            </a:br>
            <a:r>
              <a:rPr lang="en-US" sz="1650" dirty="0"/>
              <a:t>5 × 20 + 15 × 5 = </a:t>
            </a:r>
            <a:r>
              <a:rPr lang="en-US" sz="1650" b="1" dirty="0"/>
              <a:t>$175</a:t>
            </a:r>
            <a:endParaRPr lang="en-US" sz="1650" dirty="0"/>
          </a:p>
          <a:p>
            <a:r>
              <a:rPr lang="en-US" sz="1650" b="1" dirty="0"/>
              <a:t>True cost increase:</a:t>
            </a:r>
            <a:br>
              <a:rPr lang="en-US" sz="1650" dirty="0"/>
            </a:br>
            <a:r>
              <a:rPr lang="en-US" sz="1650" dirty="0"/>
              <a:t>(175 − 150) ÷ 150 = </a:t>
            </a:r>
            <a:r>
              <a:rPr lang="en-US" sz="1650" b="1" dirty="0"/>
              <a:t>16.7%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9642461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522" y="1457055"/>
            <a:ext cx="7528559" cy="42335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Magnitude</a:t>
            </a:r>
            <a:r>
              <a:rPr sz="2400" b="1" spc="-3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of</a:t>
            </a:r>
            <a:r>
              <a:rPr sz="2400" b="1" spc="-3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 Bias</a:t>
            </a:r>
            <a:endParaRPr sz="2400">
              <a:latin typeface="Arial"/>
              <a:cs typeface="Arial"/>
            </a:endParaRPr>
          </a:p>
          <a:p>
            <a:pPr marL="12700" marR="71755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made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1996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says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CPI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overstates </a:t>
            </a:r>
            <a:r>
              <a:rPr sz="2400" dirty="0">
                <a:latin typeface="Arial"/>
                <a:cs typeface="Arial"/>
              </a:rPr>
              <a:t>inflation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1.1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percentage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year.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Some</a:t>
            </a:r>
            <a:r>
              <a:rPr sz="2400" b="1" spc="-65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Consequences</a:t>
            </a:r>
            <a:r>
              <a:rPr sz="2400" b="1" spc="-4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of</a:t>
            </a:r>
            <a:r>
              <a:rPr sz="2400" b="1" spc="-5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A70B7"/>
                </a:solidFill>
                <a:latin typeface="Arial"/>
                <a:cs typeface="Arial"/>
              </a:rPr>
              <a:t>the</a:t>
            </a:r>
            <a:r>
              <a:rPr sz="2400" b="1" spc="-70" dirty="0">
                <a:solidFill>
                  <a:srgbClr val="1A70B7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A70B7"/>
                </a:solidFill>
                <a:latin typeface="Arial"/>
                <a:cs typeface="Arial"/>
              </a:rPr>
              <a:t>Bias</a:t>
            </a:r>
            <a:endParaRPr sz="2400">
              <a:latin typeface="Arial"/>
              <a:cs typeface="Arial"/>
            </a:endParaRPr>
          </a:p>
          <a:p>
            <a:pPr marL="443865" indent="-360045">
              <a:lnSpc>
                <a:spcPct val="100000"/>
              </a:lnSpc>
              <a:spcBef>
                <a:spcPts val="1200"/>
              </a:spcBef>
              <a:buSzPct val="118750"/>
              <a:buFont typeface="Wingdings"/>
              <a:buChar char=""/>
              <a:tabLst>
                <a:tab pos="443865" algn="l"/>
              </a:tabLst>
            </a:pPr>
            <a:r>
              <a:rPr sz="2400" dirty="0">
                <a:latin typeface="Arial"/>
                <a:cs typeface="Arial"/>
              </a:rPr>
              <a:t>Distorts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private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contracts.</a:t>
            </a:r>
            <a:endParaRPr sz="2400">
              <a:latin typeface="Arial"/>
              <a:cs typeface="Arial"/>
            </a:endParaRPr>
          </a:p>
          <a:p>
            <a:pPr marL="443865" indent="-360045">
              <a:lnSpc>
                <a:spcPct val="100000"/>
              </a:lnSpc>
              <a:spcBef>
                <a:spcPts val="1200"/>
              </a:spcBef>
              <a:buSzPct val="118750"/>
              <a:buFont typeface="Wingdings"/>
              <a:buChar char=""/>
              <a:tabLst>
                <a:tab pos="443865" algn="l"/>
              </a:tabLst>
            </a:pPr>
            <a:r>
              <a:rPr sz="2400" dirty="0">
                <a:latin typeface="Arial"/>
                <a:cs typeface="Arial"/>
              </a:rPr>
              <a:t>Increases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outlays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(close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third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44386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federal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government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outlays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linked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CPI).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now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corrected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bias,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some </a:t>
            </a:r>
            <a:r>
              <a:rPr sz="2400" dirty="0">
                <a:latin typeface="Arial"/>
                <a:cs typeface="Arial"/>
              </a:rPr>
              <a:t>still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remains.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026789" y="6682439"/>
            <a:ext cx="1089660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/>
              <a:t>©</a:t>
            </a:r>
            <a:r>
              <a:rPr lang="en-US" spc="-35"/>
              <a:t> </a:t>
            </a:r>
            <a:r>
              <a:rPr lang="en-US"/>
              <a:t>2019</a:t>
            </a:r>
            <a:r>
              <a:rPr lang="en-US" spc="-25"/>
              <a:t> </a:t>
            </a:r>
            <a:r>
              <a:rPr lang="en-US"/>
              <a:t>Pearson</a:t>
            </a:r>
            <a:r>
              <a:rPr lang="en-US" spc="-25"/>
              <a:t> </a:t>
            </a:r>
            <a:r>
              <a:rPr lang="en-US"/>
              <a:t>Education</a:t>
            </a:r>
            <a:r>
              <a:rPr lang="en-US" spc="-25"/>
              <a:t> </a:t>
            </a:r>
            <a:r>
              <a:rPr lang="en-US" spc="-20"/>
              <a:t>Ltd.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Price</a:t>
            </a:r>
            <a:r>
              <a:rPr spc="-55" dirty="0"/>
              <a:t> </a:t>
            </a:r>
            <a:r>
              <a:rPr dirty="0"/>
              <a:t>Level,</a:t>
            </a:r>
            <a:r>
              <a:rPr spc="-55" dirty="0"/>
              <a:t> </a:t>
            </a:r>
            <a:r>
              <a:rPr dirty="0"/>
              <a:t>Inflation,</a:t>
            </a:r>
            <a:r>
              <a:rPr spc="-7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Deflation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4" y="296080"/>
            <a:ext cx="8229600" cy="1034744"/>
          </a:xfrm>
        </p:spPr>
        <p:txBody>
          <a:bodyPr/>
          <a:lstStyle/>
          <a:p>
            <a:pPr algn="l"/>
            <a:r>
              <a:rPr lang="en-US" sz="3200" dirty="0"/>
              <a:t>Figure 21.7 </a:t>
            </a:r>
            <a:br>
              <a:rPr lang="en-US" sz="3200" dirty="0"/>
            </a:br>
            <a:r>
              <a:rPr lang="en-US" sz="3200" dirty="0"/>
              <a:t>The price level and inflation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552579"/>
            <a:ext cx="8312727" cy="396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07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3" y="296080"/>
            <a:ext cx="8419529" cy="1034744"/>
          </a:xfrm>
        </p:spPr>
        <p:txBody>
          <a:bodyPr/>
          <a:lstStyle/>
          <a:p>
            <a:pPr algn="l"/>
            <a:r>
              <a:rPr lang="en-US" sz="3200" dirty="0"/>
              <a:t>Figure 21.8 </a:t>
            </a:r>
            <a:br>
              <a:rPr lang="en-US" sz="3200" dirty="0"/>
            </a:br>
            <a:r>
              <a:rPr lang="en-US" sz="3200" dirty="0"/>
              <a:t>Comparing three measures of inflation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64" y="6093876"/>
            <a:ext cx="2182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 of data: Office for National Statistics</a:t>
            </a:r>
            <a:endParaRPr lang="en-IN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633455"/>
            <a:ext cx="8312727" cy="366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758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3" y="296080"/>
            <a:ext cx="8419529" cy="1034744"/>
          </a:xfrm>
        </p:spPr>
        <p:txBody>
          <a:bodyPr/>
          <a:lstStyle/>
          <a:p>
            <a:pPr algn="l"/>
            <a:r>
              <a:rPr lang="en-US" sz="3200" dirty="0"/>
              <a:t>Figure 1 </a:t>
            </a:r>
            <a:br>
              <a:rPr lang="en-US" sz="3200" dirty="0"/>
            </a:br>
            <a:r>
              <a:rPr lang="en-US" sz="3200" dirty="0"/>
              <a:t>Official CPI inflation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758" y="1520625"/>
            <a:ext cx="6136484" cy="457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373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A266-25F6-5942-B884-C36524E11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9183" y="296080"/>
            <a:ext cx="8419529" cy="1034744"/>
          </a:xfrm>
        </p:spPr>
        <p:txBody>
          <a:bodyPr/>
          <a:lstStyle/>
          <a:p>
            <a:pPr algn="l"/>
            <a:r>
              <a:rPr lang="en-US" sz="3200" dirty="0"/>
              <a:t>Figure 2 </a:t>
            </a:r>
            <a:br>
              <a:rPr lang="en-US" sz="3200" dirty="0"/>
            </a:br>
            <a:r>
              <a:rPr lang="en-US" sz="3200" dirty="0"/>
              <a:t>Contributions to inflation June 2021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182" y="1481199"/>
            <a:ext cx="6051635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0158"/>
      </p:ext>
    </p:extLst>
  </p:cSld>
  <p:clrMapOvr>
    <a:masterClrMapping/>
  </p:clrMapOvr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8981DF6FD949479277F2472D00FEA7" ma:contentTypeVersion="17" ma:contentTypeDescription="Create a new document." ma:contentTypeScope="" ma:versionID="c9a32762dcbd6c5e0f6b51de6863c537">
  <xsd:schema xmlns:xsd="http://www.w3.org/2001/XMLSchema" xmlns:xs="http://www.w3.org/2001/XMLSchema" xmlns:p="http://schemas.microsoft.com/office/2006/metadata/properties" xmlns:ns2="c888f911-6bfd-442d-9fe5-f42f2f7a2c59" xmlns:ns3="c86649ca-290d-4237-b5ca-38108a4ea666" targetNamespace="http://schemas.microsoft.com/office/2006/metadata/properties" ma:root="true" ma:fieldsID="ef88fcde43fbf2b7859e96eae522f514" ns2:_="" ns3:_="">
    <xsd:import namespace="c888f911-6bfd-442d-9fe5-f42f2f7a2c59"/>
    <xsd:import namespace="c86649ca-290d-4237-b5ca-38108a4ea6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Videocompleted_x003f_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88f911-6bfd-442d-9fe5-f42f2f7a2c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Videocompleted_x003f_" ma:index="20" nillable="true" ma:displayName="Video completed?" ma:default="0" ma:format="Dropdown" ma:internalName="Videocompleted_x003f_">
      <xsd:simpleType>
        <xsd:restriction base="dms:Boolean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49ca-290d-4237-b5ca-38108a4ea6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ideocompleted_x003f_ xmlns="c888f911-6bfd-442d-9fe5-f42f2f7a2c59">false</Videocompleted_x003f_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9DA32-FB23-4F36-9CE2-02F2F96E04D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888f911-6bfd-442d-9fe5-f42f2f7a2c59"/>
    <ds:schemaRef ds:uri="c86649ca-290d-4237-b5ca-38108a4ea666"/>
  </ds:schemaRefs>
</ds:datastoreItem>
</file>

<file path=customXml/itemProps2.xml><?xml version="1.0" encoding="utf-8"?>
<ds:datastoreItem xmlns:ds="http://schemas.openxmlformats.org/officeDocument/2006/customXml" ds:itemID="{65162C22-5EC1-4514-873A-C7AF6F8F3814}">
  <ds:schemaRefs>
    <ds:schemaRef ds:uri="http://schemas.microsoft.com/office/2006/metadata/properties"/>
    <ds:schemaRef ds:uri="http://www.w3.org/2000/xmlns/"/>
    <ds:schemaRef ds:uri="c888f911-6bfd-442d-9fe5-f42f2f7a2c59"/>
  </ds:schemaRefs>
</ds:datastoreItem>
</file>

<file path=customXml/itemProps3.xml><?xml version="1.0" encoding="utf-8"?>
<ds:datastoreItem xmlns:ds="http://schemas.openxmlformats.org/officeDocument/2006/customXml" ds:itemID="{2D9A3F61-13A4-47A6-BDA2-C2D344883AF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5413</TotalTime>
  <Words>2801</Words>
  <Application>Microsoft Office PowerPoint</Application>
  <PresentationFormat>On-screen Show (4:3)</PresentationFormat>
  <Paragraphs>342</Paragraphs>
  <Slides>54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3_Default Design</vt:lpstr>
      <vt:lpstr>PowerPoint Presentation</vt:lpstr>
      <vt:lpstr>After studying this chapter, you will be able to: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Figure 21.1  Population labour force categories</vt:lpstr>
      <vt:lpstr>Figure 21.2  UK unemployment rate: 1980–2020</vt:lpstr>
      <vt:lpstr>Figure 21.3  UK economic activity rate and employment rate: 1980–2020</vt:lpstr>
      <vt:lpstr>Figure 21.4  Alternative measures of unemployment: 1993–2020</vt:lpstr>
      <vt:lpstr>Figure 21.5  Output gap and the unemployment rate</vt:lpstr>
      <vt:lpstr>Figure 1  Unemployment rates across the United Kingdom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Employment and Unemployment</vt:lpstr>
      <vt:lpstr>Unemployment and Full Employment</vt:lpstr>
      <vt:lpstr>Unemployment and Full Employment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Figure 21.6  The CPI basket</vt:lpstr>
      <vt:lpstr>Table 21.1  The CPI: a simplified calculation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Price Level, Inflation, and Deflation</vt:lpstr>
      <vt:lpstr>PowerPoint Presentation</vt:lpstr>
      <vt:lpstr>Price Level, Inflation, and Deflation</vt:lpstr>
      <vt:lpstr> Example of Substitution Bias </vt:lpstr>
      <vt:lpstr>Price Level, Inflation, and Deflation</vt:lpstr>
      <vt:lpstr>Figure 21.7  The price level and inflation</vt:lpstr>
      <vt:lpstr>Figure 21.8  Comparing three measures of inflation</vt:lpstr>
      <vt:lpstr>Figure 1  Official CPI inflation</vt:lpstr>
      <vt:lpstr>Figure 2  Contributions to inflation June 2021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Powerpoint Slides</dc:title>
  <dc:subject>Digital Marketing</dc:subject>
  <dc:creator>Kirsty Farrelly</dc:creator>
  <cp:keywords>Digital Marketing</cp:keywords>
  <cp:lastModifiedBy>Mai Le</cp:lastModifiedBy>
  <cp:revision>254</cp:revision>
  <dcterms:created xsi:type="dcterms:W3CDTF">2019-02-27T10:38:23Z</dcterms:created>
  <dcterms:modified xsi:type="dcterms:W3CDTF">2026-02-02T17:58:53Z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0x010100138981DF6FD949479277F2472D00FEA7</vt:lpwstr>
  </property>
</Properties>
</file>