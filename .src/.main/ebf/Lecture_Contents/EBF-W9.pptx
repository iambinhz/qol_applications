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_rels/.rels" ContentType="application/vnd.openxmlformats-package.relationships+xml"/>
  <Override PartName="/ppt/presentation.xml" ContentType="application/vnd.openxmlformats-officedocument.presentationml.presentation.main+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5.xml.rels" ContentType="application/vnd.openxmlformats-package.relationships+xml"/>
  <Override PartName="/ppt/slideMasters/_rels/slideMaster4.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7.xml" ContentType="application/vnd.openxmlformats-officedocument.presentationml.slideMaster+xml"/>
  <Override PartName="/ppt/notesMasters/_rels/notesMaster1.xml.rels" ContentType="application/vnd.openxmlformats-package.relationships+xml"/>
  <Override PartName="/ppt/notesMasters/notesMaster1.xml" ContentType="application/vnd.openxmlformats-officedocument.presentationml.notesMaster+xml"/>
  <Override PartName="/ppt/_rels/presentation.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6.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media/image17.png" ContentType="image/png"/>
  <Override PartName="/ppt/media/image21.png" ContentType="image/png"/>
  <Override PartName="/ppt/media/image35.png" ContentType="image/png"/>
  <Override PartName="/ppt/media/image11.png" ContentType="image/png"/>
  <Override PartName="/ppt/media/image1.jpeg" ContentType="image/jpeg"/>
  <Override PartName="/ppt/media/image41.png" ContentType="image/png"/>
  <Override PartName="/ppt/media/image5.jpeg" ContentType="image/jpeg"/>
  <Override PartName="/ppt/media/image48.png" ContentType="image/png"/>
  <Override PartName="/ppt/media/image4.jpeg" ContentType="image/jpeg"/>
  <Override PartName="/ppt/media/image38.png" ContentType="image/png"/>
  <Override PartName="/ppt/media/image56.jpeg" ContentType="image/jpeg"/>
  <Override PartName="/ppt/media/image12.png" ContentType="image/png"/>
  <Override PartName="/ppt/media/image6.jpeg" ContentType="image/jpeg"/>
  <Override PartName="/ppt/media/image16.png" ContentType="image/png"/>
  <Override PartName="/ppt/media/image9.png" ContentType="image/png"/>
  <Override PartName="/ppt/media/image10.png" ContentType="image/png"/>
  <Override PartName="/ppt/media/image3.png" ContentType="image/png"/>
  <Override PartName="/ppt/media/image13.png" ContentType="image/png"/>
  <Override PartName="/ppt/media/image7.png" ContentType="image/png"/>
  <Override PartName="/ppt/media/image14.png" ContentType="image/png"/>
  <Override PartName="/ppt/media/image39.png" ContentType="image/png"/>
  <Override PartName="/ppt/media/image20.png" ContentType="image/png"/>
  <Override PartName="/ppt/media/image8.png" ContentType="image/png"/>
  <Override PartName="/ppt/media/image15.png" ContentType="image/png"/>
  <Override PartName="/ppt/media/image22.png" ContentType="image/png"/>
  <Override PartName="/ppt/media/image23.png" ContentType="image/png"/>
  <Override PartName="/ppt/media/image24.png" ContentType="image/png"/>
  <Override PartName="/ppt/media/image25.png" ContentType="image/png"/>
  <Override PartName="/ppt/media/image26.png" ContentType="image/png"/>
  <Override PartName="/ppt/media/image27.png" ContentType="image/png"/>
  <Override PartName="/ppt/media/image31.png" ContentType="image/png"/>
  <Override PartName="/ppt/media/image32.png" ContentType="image/png"/>
  <Override PartName="/ppt/media/image33.png" ContentType="image/png"/>
  <Override PartName="/ppt/media/image34.png" ContentType="image/png"/>
  <Override PartName="/ppt/media/image40.png" ContentType="image/png"/>
  <Override PartName="/ppt/media/image42.png" ContentType="image/png"/>
  <Override PartName="/ppt/media/image28.png" ContentType="image/png"/>
  <Override PartName="/ppt/media/image43.png" ContentType="image/png"/>
  <Override PartName="/ppt/media/image29.png" ContentType="image/png"/>
  <Override PartName="/ppt/media/image44.png" ContentType="image/png"/>
  <Override PartName="/ppt/media/image50.png" ContentType="image/png"/>
  <Override PartName="/ppt/media/image45.png" ContentType="image/png"/>
  <Override PartName="/ppt/media/image36.png" ContentType="image/png"/>
  <Override PartName="/ppt/media/image18.png" ContentType="image/png"/>
  <Override PartName="/ppt/media/image2.jpeg" ContentType="image/jpeg"/>
  <Override PartName="/ppt/media/image51.png" ContentType="image/png"/>
  <Override PartName="/ppt/media/image46.png" ContentType="image/png"/>
  <Override PartName="/ppt/media/image37.png" ContentType="image/png"/>
  <Override PartName="/ppt/media/image19.png" ContentType="image/png"/>
  <Override PartName="/ppt/media/image52.png" ContentType="image/png"/>
  <Override PartName="/ppt/media/image47.png" ContentType="image/png"/>
  <Override PartName="/ppt/media/image53.png" ContentType="image/png"/>
  <Override PartName="/ppt/media/image54.png" ContentType="image/png"/>
  <Override PartName="/ppt/media/image30.png" ContentType="image/png"/>
  <Override PartName="/ppt/media/image49.png" ContentType="image/png"/>
  <Override PartName="/ppt/media/image55.png" ContentType="image/png"/>
  <Override PartName="/ppt/slides/slide16.xml" ContentType="application/vnd.openxmlformats-officedocument.presentationml.slide+xml"/>
  <Override PartName="/ppt/slides/slide2.xml" ContentType="application/vnd.openxmlformats-officedocument.presentationml.slide+xml"/>
  <Override PartName="/ppt/slides/slide10.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11.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20.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_rels/slide64.xml.rels" ContentType="application/vnd.openxmlformats-package.relationships+xml"/>
  <Override PartName="/ppt/slides/_rels/slide49.xml.rels" ContentType="application/vnd.openxmlformats-package.relationships+xml"/>
  <Override PartName="/ppt/slides/_rels/slide9.xml.rels" ContentType="application/vnd.openxmlformats-package.relationships+xml"/>
  <Override PartName="/ppt/slides/_rels/slide58.xml.rels" ContentType="application/vnd.openxmlformats-package.relationships+xml"/>
  <Override PartName="/ppt/slides/_rels/slide63.xml.rels" ContentType="application/vnd.openxmlformats-package.relationships+xml"/>
  <Override PartName="/ppt/slides/_rels/slide48.xml.rels" ContentType="application/vnd.openxmlformats-package.relationships+xml"/>
  <Override PartName="/ppt/slides/_rels/slide8.xml.rels" ContentType="application/vnd.openxmlformats-package.relationships+xml"/>
  <Override PartName="/ppt/slides/_rels/slide57.xml.rels" ContentType="application/vnd.openxmlformats-package.relationships+xml"/>
  <Override PartName="/ppt/slides/_rels/slide62.xml.rels" ContentType="application/vnd.openxmlformats-package.relationships+xml"/>
  <Override PartName="/ppt/slides/_rels/slide29.xml.rels" ContentType="application/vnd.openxmlformats-package.relationships+xml"/>
  <Override PartName="/ppt/slides/_rels/slide47.xml.rels" ContentType="application/vnd.openxmlformats-package.relationships+xml"/>
  <Override PartName="/ppt/slides/_rels/slide7.xml.rels" ContentType="application/vnd.openxmlformats-package.relationships+xml"/>
  <Override PartName="/ppt/slides/_rels/slide56.xml.rels" ContentType="application/vnd.openxmlformats-package.relationships+xml"/>
  <Override PartName="/ppt/slides/_rels/slide61.xml.rels" ContentType="application/vnd.openxmlformats-package.relationships+xml"/>
  <Override PartName="/ppt/slides/_rels/slide28.xml.rels" ContentType="application/vnd.openxmlformats-package.relationships+xml"/>
  <Override PartName="/ppt/slides/_rels/slide46.xml.rels" ContentType="application/vnd.openxmlformats-package.relationships+xml"/>
  <Override PartName="/ppt/slides/_rels/slide6.xml.rels" ContentType="application/vnd.openxmlformats-package.relationships+xml"/>
  <Override PartName="/ppt/slides/_rels/slide55.xml.rels" ContentType="application/vnd.openxmlformats-package.relationships+xml"/>
  <Override PartName="/ppt/slides/_rels/slide60.xml.rels" ContentType="application/vnd.openxmlformats-package.relationships+xml"/>
  <Override PartName="/ppt/slides/_rels/slide27.xml.rels" ContentType="application/vnd.openxmlformats-package.relationships+xml"/>
  <Override PartName="/ppt/slides/_rels/slide5.xml.rels" ContentType="application/vnd.openxmlformats-package.relationships+xml"/>
  <Override PartName="/ppt/slides/_rels/slide45.xml.rels" ContentType="application/vnd.openxmlformats-package.relationships+xml"/>
  <Override PartName="/ppt/slides/_rels/slide54.xml.rels" ContentType="application/vnd.openxmlformats-package.relationships+xml"/>
  <Override PartName="/ppt/slides/_rels/slide59.xml.rels" ContentType="application/vnd.openxmlformats-package.relationships+xml"/>
  <Override PartName="/ppt/slides/_rels/slide53.xml.rels" ContentType="application/vnd.openxmlformats-package.relationships+xml"/>
  <Override PartName="/ppt/slides/_rels/slide44.xml.rels" ContentType="application/vnd.openxmlformats-package.relationships+xml"/>
  <Override PartName="/ppt/slides/_rels/slide4.xml.rels" ContentType="application/vnd.openxmlformats-package.relationships+xml"/>
  <Override PartName="/ppt/slides/_rels/slide43.xml.rels" ContentType="application/vnd.openxmlformats-package.relationships+xml"/>
  <Override PartName="/ppt/slides/_rels/slide3.xml.rels" ContentType="application/vnd.openxmlformats-package.relationships+xml"/>
  <Override PartName="/ppt/slides/_rels/slide42.xml.rels" ContentType="application/vnd.openxmlformats-package.relationships+xml"/>
  <Override PartName="/ppt/slides/_rels/slide2.xml.rels" ContentType="application/vnd.openxmlformats-package.relationships+xml"/>
  <Override PartName="/ppt/slides/_rels/slide41.xml.rels" ContentType="application/vnd.openxmlformats-package.relationships+xml"/>
  <Override PartName="/ppt/slides/_rels/slide1.xml.rels" ContentType="application/vnd.openxmlformats-package.relationships+xml"/>
  <Override PartName="/ppt/slides/_rels/slide40.xml.rels" ContentType="application/vnd.openxmlformats-package.relationships+xml"/>
  <Override PartName="/ppt/slides/_rels/slide39.xml.rels" ContentType="application/vnd.openxmlformats-package.relationships+xml"/>
  <Override PartName="/ppt/slides/_rels/slide38.xml.rels" ContentType="application/vnd.openxmlformats-package.relationships+xml"/>
  <Override PartName="/ppt/slides/_rels/slide37.xml.rels" ContentType="application/vnd.openxmlformats-package.relationships+xml"/>
  <Override PartName="/ppt/slides/_rels/slide36.xml.rels" ContentType="application/vnd.openxmlformats-package.relationships+xml"/>
  <Override PartName="/ppt/slides/_rels/slide35.xml.rels" ContentType="application/vnd.openxmlformats-package.relationships+xml"/>
  <Override PartName="/ppt/slides/_rels/slide26.xml.rels" ContentType="application/vnd.openxmlformats-package.relationships+xml"/>
  <Override PartName="/ppt/slides/_rels/slide25.xml.rels" ContentType="application/vnd.openxmlformats-package.relationships+xml"/>
  <Override PartName="/ppt/slides/_rels/slide24.xml.rels" ContentType="application/vnd.openxmlformats-package.relationships+xml"/>
  <Override PartName="/ppt/slides/_rels/slide23.xml.rels" ContentType="application/vnd.openxmlformats-package.relationships+xml"/>
  <Override PartName="/ppt/slides/_rels/slide22.xml.rels" ContentType="application/vnd.openxmlformats-package.relationships+xml"/>
  <Override PartName="/ppt/slides/_rels/slide21.xml.rels" ContentType="application/vnd.openxmlformats-package.relationships+xml"/>
  <Override PartName="/ppt/slides/_rels/slide30.xml.rels" ContentType="application/vnd.openxmlformats-package.relationships+xml"/>
  <Override PartName="/ppt/slides/_rels/slide15.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14.xml.rels" ContentType="application/vnd.openxmlformats-package.relationships+xml"/>
  <Override PartName="/ppt/slides/_rels/slide20.xml.rels" ContentType="application/vnd.openxmlformats-package.relationships+xml"/>
  <Override PartName="/ppt/slides/_rels/slide34.xml.rels" ContentType="application/vnd.openxmlformats-package.relationships+xml"/>
  <Override PartName="/ppt/slides/_rels/slide52.xml.rels" ContentType="application/vnd.openxmlformats-package.relationships+xml"/>
  <Override PartName="/ppt/slides/_rels/slide19.xml.rels" ContentType="application/vnd.openxmlformats-package.relationships+xml"/>
  <Override PartName="/ppt/slides/_rels/slide33.xml.rels" ContentType="application/vnd.openxmlformats-package.relationships+xml"/>
  <Override PartName="/ppt/slides/_rels/slide51.xml.rels" ContentType="application/vnd.openxmlformats-package.relationships+xml"/>
  <Override PartName="/ppt/slides/_rels/slide18.xml.rels" ContentType="application/vnd.openxmlformats-package.relationships+xml"/>
  <Override PartName="/ppt/slides/_rels/slide32.xml.rels" ContentType="application/vnd.openxmlformats-package.relationships+xml"/>
  <Override PartName="/ppt/slides/_rels/slide50.xml.rels" ContentType="application/vnd.openxmlformats-package.relationships+xml"/>
  <Override PartName="/ppt/slides/_rels/slide17.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31.xml.rels" ContentType="application/vnd.openxmlformats-package.relationships+xml"/>
  <Override PartName="/ppt/slides/_rels/slide16.xml.rels" ContentType="application/vnd.openxmlformats-package.relationships+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9.xml" ContentType="application/vnd.openxmlformats-officedocument.presentationml.slide+xml"/>
  <Override PartName="/ppt/slides/slide54.xml" ContentType="application/vnd.openxmlformats-officedocument.presentationml.slide+xml"/>
  <Override PartName="/ppt/slides/slide45.xml" ContentType="application/vnd.openxmlformats-officedocument.presentationml.slide+xml"/>
  <Override PartName="/ppt/slides/slide27.xml" ContentType="application/vnd.openxmlformats-officedocument.presentationml.slide+xml"/>
  <Override PartName="/ppt/slides/slide60.xml" ContentType="application/vnd.openxmlformats-officedocument.presentationml.slide+xml"/>
  <Override PartName="/ppt/slides/slide55.xml" ContentType="application/vnd.openxmlformats-officedocument.presentationml.slide+xml"/>
  <Override PartName="/ppt/slides/slide46.xml" ContentType="application/vnd.openxmlformats-officedocument.presentationml.slide+xml"/>
  <Override PartName="/ppt/slides/slide28.xml" ContentType="application/vnd.openxmlformats-officedocument.presentationml.slide+xml"/>
  <Override PartName="/ppt/slides/slide61.xml" ContentType="application/vnd.openxmlformats-officedocument.presentationml.slide+xml"/>
  <Override PartName="/ppt/slides/slide56.xml" ContentType="application/vnd.openxmlformats-officedocument.presentationml.slide+xml"/>
  <Override PartName="/ppt/slides/slide47.xml" ContentType="application/vnd.openxmlformats-officedocument.presentationml.slide+xml"/>
  <Override PartName="/ppt/slides/slide29.xml" ContentType="application/vnd.openxmlformats-officedocument.presentationml.slide+xml"/>
  <Override PartName="/ppt/slides/slide62.xml" ContentType="application/vnd.openxmlformats-officedocument.presentationml.slide+xml"/>
  <Override PartName="/ppt/slides/slide57.xml" ContentType="application/vnd.openxmlformats-officedocument.presentationml.slide+xml"/>
  <Override PartName="/ppt/slides/slide48.xml" ContentType="application/vnd.openxmlformats-officedocument.presentationml.slide+xml"/>
  <Override PartName="/ppt/slides/slide63.xml" ContentType="application/vnd.openxmlformats-officedocument.presentationml.slide+xml"/>
  <Override PartName="/ppt/slides/slide58.xml" ContentType="application/vnd.openxmlformats-officedocument.presentationml.slide+xml"/>
  <Override PartName="/ppt/slides/slide49.xml" ContentType="application/vnd.openxmlformats-officedocument.presentationml.slide+xml"/>
  <Override PartName="/ppt/slides/slide64.xml" ContentType="application/vnd.openxmlformats-officedocument.presentationml.slide+xml"/>
  <Override PartName="/ppt/notesSlides/_rels/notesSlide64.xml.rels" ContentType="application/vnd.openxmlformats-package.relationships+xml"/>
  <Override PartName="/ppt/notesSlides/_rels/notesSlide49.xml.rels" ContentType="application/vnd.openxmlformats-package.relationships+xml"/>
  <Override PartName="/ppt/notesSlides/_rels/notesSlide58.xml.rels" ContentType="application/vnd.openxmlformats-package.relationships+xml"/>
  <Override PartName="/ppt/notesSlides/_rels/notesSlide48.xml.rels" ContentType="application/vnd.openxmlformats-package.relationships+xml"/>
  <Override PartName="/ppt/notesSlides/_rels/notesSlide57.xml.rels" ContentType="application/vnd.openxmlformats-package.relationships+xml"/>
  <Override PartName="/ppt/notesSlides/_rels/notesSlide29.xml.rels" ContentType="application/vnd.openxmlformats-package.relationships+xml"/>
  <Override PartName="/ppt/notesSlides/_rels/notesSlide47.xml.rels" ContentType="application/vnd.openxmlformats-package.relationships+xml"/>
  <Override PartName="/ppt/notesSlides/_rels/notesSlide56.xml.rels" ContentType="application/vnd.openxmlformats-package.relationships+xml"/>
  <Override PartName="/ppt/notesSlides/_rels/notesSlide28.xml.rels" ContentType="application/vnd.openxmlformats-package.relationships+xml"/>
  <Override PartName="/ppt/notesSlides/_rels/notesSlide46.xml.rels" ContentType="application/vnd.openxmlformats-package.relationships+xml"/>
  <Override PartName="/ppt/notesSlides/_rels/notesSlide55.xml.rels" ContentType="application/vnd.openxmlformats-package.relationships+xml"/>
  <Override PartName="/ppt/notesSlides/_rels/notesSlide60.xml.rels" ContentType="application/vnd.openxmlformats-package.relationships+xml"/>
  <Override PartName="/ppt/notesSlides/_rels/notesSlide6.xml.rels" ContentType="application/vnd.openxmlformats-package.relationships+xml"/>
  <Override PartName="/ppt/notesSlides/_rels/notesSlide27.xml.rels" ContentType="application/vnd.openxmlformats-package.relationships+xml"/>
  <Override PartName="/ppt/notesSlides/_rels/notesSlide45.xml.rels" ContentType="application/vnd.openxmlformats-package.relationships+xml"/>
  <Override PartName="/ppt/notesSlides/_rels/notesSlide54.xml.rels" ContentType="application/vnd.openxmlformats-package.relationships+xml"/>
  <Override PartName="/ppt/notesSlides/_rels/notesSlide59.xml.rels" ContentType="application/vnd.openxmlformats-package.relationships+xml"/>
  <Override PartName="/ppt/notesSlides/_rels/notesSlide8.xml.rels" ContentType="application/vnd.openxmlformats-package.relationships+xml"/>
  <Override PartName="/ppt/notesSlides/_rels/notesSlide62.xml.rels" ContentType="application/vnd.openxmlformats-package.relationships+xml"/>
  <Override PartName="/ppt/notesSlides/_rels/notesSlide52.xml.rels" ContentType="application/vnd.openxmlformats-package.relationships+xml"/>
  <Override PartName="/ppt/notesSlides/_rels/notesSlide19.xml.rels" ContentType="application/vnd.openxmlformats-package.relationships+xml"/>
  <Override PartName="/ppt/notesSlides/_rels/notesSlide7.xml.rels" ContentType="application/vnd.openxmlformats-package.relationships+xml"/>
  <Override PartName="/ppt/notesSlides/_rels/notesSlide61.xml.rels" ContentType="application/vnd.openxmlformats-package.relationships+xml"/>
  <Override PartName="/ppt/notesSlides/_rels/notesSlide51.xml.rels" ContentType="application/vnd.openxmlformats-package.relationships+xml"/>
  <Override PartName="/ppt/notesSlides/_rels/notesSlide18.xml.rels" ContentType="application/vnd.openxmlformats-package.relationships+xml"/>
  <Override PartName="/ppt/notesSlides/_rels/notesSlide50.xml.rels" ContentType="application/vnd.openxmlformats-package.relationships+xml"/>
  <Override PartName="/ppt/notesSlides/_rels/notesSlide17.xml.rels" ContentType="application/vnd.openxmlformats-package.relationships+xml"/>
  <Override PartName="/ppt/notesSlides/_rels/notesSlide44.xml.rels" ContentType="application/vnd.openxmlformats-package.relationships+xml"/>
  <Override PartName="/ppt/notesSlides/_rels/notesSlide43.xml.rels" ContentType="application/vnd.openxmlformats-package.relationships+xml"/>
  <Override PartName="/ppt/notesSlides/_rels/notesSlide63.xml.rels" ContentType="application/vnd.openxmlformats-package.relationships+xml"/>
  <Override PartName="/ppt/notesSlides/_rels/notesSlide9.xml.rels" ContentType="application/vnd.openxmlformats-package.relationships+xml"/>
  <Override PartName="/ppt/notesSlides/_rels/notesSlide53.xml.rels" ContentType="application/vnd.openxmlformats-package.relationships+xml"/>
  <Override PartName="/ppt/notesSlides/_rels/notesSlide42.xml.rels" ContentType="application/vnd.openxmlformats-package.relationships+xml"/>
  <Override PartName="/ppt/notesSlides/_rels/notesSlide41.xml.rels" ContentType="application/vnd.openxmlformats-package.relationships+xml"/>
  <Override PartName="/ppt/notesSlides/_rels/notesSlide40.xml.rels" ContentType="application/vnd.openxmlformats-package.relationships+xml"/>
  <Override PartName="/ppt/notesSlides/_rels/notesSlide36.xml.rels" ContentType="application/vnd.openxmlformats-package.relationships+xml"/>
  <Override PartName="/ppt/notesSlides/_rels/notesSlide35.xml.rels" ContentType="application/vnd.openxmlformats-package.relationships+xml"/>
  <Override PartName="/ppt/notesSlides/_rels/notesSlide34.xml.rels" ContentType="application/vnd.openxmlformats-package.relationships+xml"/>
  <Override PartName="/ppt/notesSlides/_rels/notesSlide33.xml.rels" ContentType="application/vnd.openxmlformats-package.relationships+xml"/>
  <Override PartName="/ppt/notesSlides/_rels/notesSlide32.xml.rels" ContentType="application/vnd.openxmlformats-package.relationships+xml"/>
  <Override PartName="/ppt/notesSlides/_rels/notesSlide31.xml.rels" ContentType="application/vnd.openxmlformats-package.relationships+xml"/>
  <Override PartName="/ppt/notesSlides/_rels/notesSlide26.xml.rels" ContentType="application/vnd.openxmlformats-package.relationships+xml"/>
  <Override PartName="/ppt/notesSlides/_rels/notesSlide20.xml.rels" ContentType="application/vnd.openxmlformats-package.relationships+xml"/>
  <Override PartName="/ppt/notesSlides/_rels/notesSlide12.xml.rels" ContentType="application/vnd.openxmlformats-package.relationships+xml"/>
  <Override PartName="/ppt/notesSlides/_rels/notesSlide1.xml.rels" ContentType="application/vnd.openxmlformats-package.relationships+xml"/>
  <Override PartName="/ppt/notesSlides/_rels/notesSlide39.xml.rels" ContentType="application/vnd.openxmlformats-package.relationships+xml"/>
  <Override PartName="/ppt/notesSlides/_rels/notesSlide5.xml.rels" ContentType="application/vnd.openxmlformats-package.relationships+xml"/>
  <Override PartName="/ppt/notesSlides/_rels/notesSlide16.xml.rels" ContentType="application/vnd.openxmlformats-package.relationships+xml"/>
  <Override PartName="/ppt/notesSlides/_rels/notesSlide30.xml.rels" ContentType="application/vnd.openxmlformats-package.relationships+xml"/>
  <Override PartName="/ppt/notesSlides/_rels/notesSlide4.xml.rels" ContentType="application/vnd.openxmlformats-package.relationships+xml"/>
  <Override PartName="/ppt/notesSlides/_rels/notesSlide15.xml.rels" ContentType="application/vnd.openxmlformats-package.relationships+xml"/>
  <Override PartName="/ppt/notesSlides/_rels/notesSlide3.xml.rels" ContentType="application/vnd.openxmlformats-package.relationships+xml"/>
  <Override PartName="/ppt/notesSlides/_rels/notesSlide14.xml.rels" ContentType="application/vnd.openxmlformats-package.relationships+xml"/>
  <Override PartName="/ppt/notesSlides/_rels/notesSlide2.xml.rels" ContentType="application/vnd.openxmlformats-package.relationships+xml"/>
  <Override PartName="/ppt/notesSlides/_rels/notesSlide13.xml.rels" ContentType="application/vnd.openxmlformats-package.relationships+xml"/>
  <Override PartName="/ppt/notesSlides/_rels/notesSlide10.xml.rels" ContentType="application/vnd.openxmlformats-package.relationships+xml"/>
  <Override PartName="/ppt/notesSlides/_rels/notesSlide25.xml.rels" ContentType="application/vnd.openxmlformats-package.relationships+xml"/>
  <Override PartName="/ppt/notesSlides/_rels/notesSlide24.xml.rels" ContentType="application/vnd.openxmlformats-package.relationships+xml"/>
  <Override PartName="/ppt/notesSlides/_rels/notesSlide22.xml.rels" ContentType="application/vnd.openxmlformats-package.relationships+xml"/>
  <Override PartName="/ppt/notesSlides/_rels/notesSlide23.xml.rels" ContentType="application/vnd.openxmlformats-package.relationships+xml"/>
  <Override PartName="/ppt/notesSlides/_rels/notesSlide21.xml.rels" ContentType="application/vnd.openxmlformats-package.relationships+xml"/>
  <Override PartName="/ppt/notesSlides/_rels/notesSlide38.xml.rels" ContentType="application/vnd.openxmlformats-package.relationships+xml"/>
  <Override PartName="/ppt/notesSlides/_rels/notesSlide11.xml.rels" ContentType="application/vnd.openxmlformats-package.relationships+xml"/>
  <Override PartName="/ppt/notesSlides/_rels/notesSlide37.xml.rels" ContentType="application/vnd.openxmlformats-package.relationships+xml"/>
  <Override PartName="/ppt/notesSlides/notesSlide37.xml" ContentType="application/vnd.openxmlformats-officedocument.presentationml.notesSlide+xml"/>
  <Override PartName="/ppt/notesSlides/notesSlide11.xml" ContentType="application/vnd.openxmlformats-officedocument.presentationml.notesSlide+xml"/>
  <Override PartName="/ppt/notesSlides/notesSlide38.xml" ContentType="application/vnd.openxmlformats-officedocument.presentationml.notesSlide+xml"/>
  <Override PartName="/ppt/notesSlides/notesSlide3.xml" ContentType="application/vnd.openxmlformats-officedocument.presentationml.notesSlide+xml"/>
  <Override PartName="/ppt/notesSlides/notesSlide39.xml" ContentType="application/vnd.openxmlformats-officedocument.presentationml.notesSlide+xml"/>
  <Override PartName="/ppt/notesSlides/notesSlide5.xml" ContentType="application/vnd.openxmlformats-officedocument.presentationml.notesSlide+xml"/>
  <Override PartName="/ppt/notesSlides/notesSlide21.xml" ContentType="application/vnd.openxmlformats-officedocument.presentationml.notesSlide+xml"/>
  <Override PartName="/ppt/notesSlides/notesSlide6.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10.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8.xml" ContentType="application/vnd.openxmlformats-officedocument.presentationml.notesSlide+xml"/>
  <Override PartName="/ppt/notesSlides/notesSlide1.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4.xml" ContentType="application/vnd.openxmlformats-officedocument.presentationml.notesSlide+xml"/>
  <Override PartName="/ppt/notesSlides/notesSlide26.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0.xml" ContentType="application/vnd.openxmlformats-officedocument.presentationml.notesSlide+xml"/>
  <Override PartName="/ppt/notesSlides/notesSlide7.xml" ContentType="application/vnd.openxmlformats-officedocument.presentationml.notesSlide+xml"/>
  <Override PartName="/ppt/notesSlides/notesSlide41.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17.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9.xml" ContentType="application/vnd.openxmlformats-officedocument.presentationml.notesSlide+xml"/>
  <Override PartName="/ppt/notesSlides/notesSlide54.xml" ContentType="application/vnd.openxmlformats-officedocument.presentationml.notesSlide+xml"/>
  <Override PartName="/ppt/notesSlides/notesSlide45.xml" ContentType="application/vnd.openxmlformats-officedocument.presentationml.notesSlide+xml"/>
  <Override PartName="/ppt/notesSlides/notesSlide27.xml" ContentType="application/vnd.openxmlformats-officedocument.presentationml.notesSlide+xml"/>
  <Override PartName="/ppt/notesSlides/notesSlide60.xml" ContentType="application/vnd.openxmlformats-officedocument.presentationml.notesSlide+xml"/>
  <Override PartName="/ppt/notesSlides/notesSlide55.xml" ContentType="application/vnd.openxmlformats-officedocument.presentationml.notesSlide+xml"/>
  <Override PartName="/ppt/notesSlides/notesSlide46.xml" ContentType="application/vnd.openxmlformats-officedocument.presentationml.notesSlide+xml"/>
  <Override PartName="/ppt/notesSlides/notesSlide28.xml" ContentType="application/vnd.openxmlformats-officedocument.presentationml.notesSlide+xml"/>
  <Override PartName="/ppt/notesSlides/notesSlide61.xml" ContentType="application/vnd.openxmlformats-officedocument.presentationml.notesSlide+xml"/>
  <Override PartName="/ppt/notesSlides/notesSlide56.xml" ContentType="application/vnd.openxmlformats-officedocument.presentationml.notesSlide+xml"/>
  <Override PartName="/ppt/notesSlides/notesSlide47.xml" ContentType="application/vnd.openxmlformats-officedocument.presentationml.notesSlide+xml"/>
  <Override PartName="/ppt/notesSlides/notesSlide29.xml" ContentType="application/vnd.openxmlformats-officedocument.presentationml.notesSlide+xml"/>
  <Override PartName="/ppt/notesSlides/notesSlide62.xml" ContentType="application/vnd.openxmlformats-officedocument.presentationml.notesSlide+xml"/>
  <Override PartName="/ppt/notesSlides/notesSlide57.xml" ContentType="application/vnd.openxmlformats-officedocument.presentationml.notesSlide+xml"/>
  <Override PartName="/ppt/notesSlides/notesSlide48.xml" ContentType="application/vnd.openxmlformats-officedocument.presentationml.notesSlide+xml"/>
  <Override PartName="/ppt/notesSlides/notesSlide63.xml" ContentType="application/vnd.openxmlformats-officedocument.presentationml.notesSlide+xml"/>
  <Override PartName="/ppt/notesSlides/notesSlide58.xml" ContentType="application/vnd.openxmlformats-officedocument.presentationml.notesSlide+xml"/>
  <Override PartName="/ppt/notesSlides/notesSlide49.xml" ContentType="application/vnd.openxmlformats-officedocument.presentationml.notesSlide+xml"/>
  <Override PartName="/ppt/notesSlides/notesSlide64.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Lst>
  <p:notesMasterIdLst>
    <p:notesMasterId r:id="rId9"/>
  </p:notes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287" r:id="rId41"/>
    <p:sldId id="288" r:id="rId42"/>
    <p:sldId id="289" r:id="rId43"/>
    <p:sldId id="290" r:id="rId44"/>
    <p:sldId id="291" r:id="rId45"/>
    <p:sldId id="292" r:id="rId46"/>
    <p:sldId id="293" r:id="rId47"/>
    <p:sldId id="294" r:id="rId48"/>
    <p:sldId id="295" r:id="rId49"/>
    <p:sldId id="296" r:id="rId50"/>
    <p:sldId id="297" r:id="rId51"/>
    <p:sldId id="298" r:id="rId52"/>
    <p:sldId id="299" r:id="rId53"/>
    <p:sldId id="300" r:id="rId54"/>
    <p:sldId id="301" r:id="rId55"/>
    <p:sldId id="302" r:id="rId56"/>
    <p:sldId id="303" r:id="rId57"/>
    <p:sldId id="304" r:id="rId58"/>
    <p:sldId id="305" r:id="rId59"/>
    <p:sldId id="306" r:id="rId60"/>
    <p:sldId id="307" r:id="rId61"/>
    <p:sldId id="308" r:id="rId62"/>
    <p:sldId id="309" r:id="rId63"/>
    <p:sldId id="310" r:id="rId64"/>
    <p:sldId id="311" r:id="rId65"/>
    <p:sldId id="312" r:id="rId66"/>
    <p:sldId id="313" r:id="rId67"/>
    <p:sldId id="314" r:id="rId68"/>
    <p:sldId id="315" r:id="rId69"/>
    <p:sldId id="316" r:id="rId70"/>
    <p:sldId id="317" r:id="rId71"/>
    <p:sldId id="318" r:id="rId72"/>
    <p:sldId id="319" r:id="rId73"/>
  </p:sldIdLst>
  <p:sldSz cx="9144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notesMaster" Target="notesMasters/notesMaster1.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 Id="rId28" Type="http://schemas.openxmlformats.org/officeDocument/2006/relationships/slide" Target="slides/slide19.xml"/><Relationship Id="rId29" Type="http://schemas.openxmlformats.org/officeDocument/2006/relationships/slide" Target="slides/slide20.xml"/><Relationship Id="rId30" Type="http://schemas.openxmlformats.org/officeDocument/2006/relationships/slide" Target="slides/slide21.xml"/><Relationship Id="rId31" Type="http://schemas.openxmlformats.org/officeDocument/2006/relationships/slide" Target="slides/slide22.xml"/><Relationship Id="rId32" Type="http://schemas.openxmlformats.org/officeDocument/2006/relationships/slide" Target="slides/slide23.xml"/><Relationship Id="rId33" Type="http://schemas.openxmlformats.org/officeDocument/2006/relationships/slide" Target="slides/slide24.xml"/><Relationship Id="rId34" Type="http://schemas.openxmlformats.org/officeDocument/2006/relationships/slide" Target="slides/slide25.xml"/><Relationship Id="rId35" Type="http://schemas.openxmlformats.org/officeDocument/2006/relationships/slide" Target="slides/slide26.xml"/><Relationship Id="rId36" Type="http://schemas.openxmlformats.org/officeDocument/2006/relationships/slide" Target="slides/slide27.xml"/><Relationship Id="rId37" Type="http://schemas.openxmlformats.org/officeDocument/2006/relationships/slide" Target="slides/slide28.xml"/><Relationship Id="rId38" Type="http://schemas.openxmlformats.org/officeDocument/2006/relationships/slide" Target="slides/slide29.xml"/><Relationship Id="rId39" Type="http://schemas.openxmlformats.org/officeDocument/2006/relationships/slide" Target="slides/slide30.xml"/><Relationship Id="rId40" Type="http://schemas.openxmlformats.org/officeDocument/2006/relationships/slide" Target="slides/slide31.xml"/><Relationship Id="rId41" Type="http://schemas.openxmlformats.org/officeDocument/2006/relationships/slide" Target="slides/slide32.xml"/><Relationship Id="rId42" Type="http://schemas.openxmlformats.org/officeDocument/2006/relationships/slide" Target="slides/slide33.xml"/><Relationship Id="rId43" Type="http://schemas.openxmlformats.org/officeDocument/2006/relationships/slide" Target="slides/slide34.xml"/><Relationship Id="rId44" Type="http://schemas.openxmlformats.org/officeDocument/2006/relationships/slide" Target="slides/slide35.xml"/><Relationship Id="rId45" Type="http://schemas.openxmlformats.org/officeDocument/2006/relationships/slide" Target="slides/slide36.xml"/><Relationship Id="rId46" Type="http://schemas.openxmlformats.org/officeDocument/2006/relationships/slide" Target="slides/slide37.xml"/><Relationship Id="rId47" Type="http://schemas.openxmlformats.org/officeDocument/2006/relationships/slide" Target="slides/slide38.xml"/><Relationship Id="rId48" Type="http://schemas.openxmlformats.org/officeDocument/2006/relationships/slide" Target="slides/slide39.xml"/><Relationship Id="rId49" Type="http://schemas.openxmlformats.org/officeDocument/2006/relationships/slide" Target="slides/slide40.xml"/><Relationship Id="rId50" Type="http://schemas.openxmlformats.org/officeDocument/2006/relationships/slide" Target="slides/slide41.xml"/><Relationship Id="rId51" Type="http://schemas.openxmlformats.org/officeDocument/2006/relationships/slide" Target="slides/slide42.xml"/><Relationship Id="rId52" Type="http://schemas.openxmlformats.org/officeDocument/2006/relationships/slide" Target="slides/slide43.xml"/><Relationship Id="rId53" Type="http://schemas.openxmlformats.org/officeDocument/2006/relationships/slide" Target="slides/slide44.xml"/><Relationship Id="rId54" Type="http://schemas.openxmlformats.org/officeDocument/2006/relationships/slide" Target="slides/slide45.xml"/><Relationship Id="rId55" Type="http://schemas.openxmlformats.org/officeDocument/2006/relationships/slide" Target="slides/slide46.xml"/><Relationship Id="rId56" Type="http://schemas.openxmlformats.org/officeDocument/2006/relationships/slide" Target="slides/slide47.xml"/><Relationship Id="rId57" Type="http://schemas.openxmlformats.org/officeDocument/2006/relationships/slide" Target="slides/slide48.xml"/><Relationship Id="rId58" Type="http://schemas.openxmlformats.org/officeDocument/2006/relationships/slide" Target="slides/slide49.xml"/><Relationship Id="rId59" Type="http://schemas.openxmlformats.org/officeDocument/2006/relationships/slide" Target="slides/slide50.xml"/><Relationship Id="rId60" Type="http://schemas.openxmlformats.org/officeDocument/2006/relationships/slide" Target="slides/slide51.xml"/><Relationship Id="rId61" Type="http://schemas.openxmlformats.org/officeDocument/2006/relationships/slide" Target="slides/slide52.xml"/><Relationship Id="rId62" Type="http://schemas.openxmlformats.org/officeDocument/2006/relationships/slide" Target="slides/slide53.xml"/><Relationship Id="rId63" Type="http://schemas.openxmlformats.org/officeDocument/2006/relationships/slide" Target="slides/slide54.xml"/><Relationship Id="rId64" Type="http://schemas.openxmlformats.org/officeDocument/2006/relationships/slide" Target="slides/slide55.xml"/><Relationship Id="rId65" Type="http://schemas.openxmlformats.org/officeDocument/2006/relationships/slide" Target="slides/slide56.xml"/><Relationship Id="rId66" Type="http://schemas.openxmlformats.org/officeDocument/2006/relationships/slide" Target="slides/slide57.xml"/><Relationship Id="rId67" Type="http://schemas.openxmlformats.org/officeDocument/2006/relationships/slide" Target="slides/slide58.xml"/><Relationship Id="rId68" Type="http://schemas.openxmlformats.org/officeDocument/2006/relationships/slide" Target="slides/slide59.xml"/><Relationship Id="rId69" Type="http://schemas.openxmlformats.org/officeDocument/2006/relationships/slide" Target="slides/slide60.xml"/><Relationship Id="rId70" Type="http://schemas.openxmlformats.org/officeDocument/2006/relationships/slide" Target="slides/slide61.xml"/><Relationship Id="rId71" Type="http://schemas.openxmlformats.org/officeDocument/2006/relationships/slide" Target="slides/slide62.xml"/><Relationship Id="rId72" Type="http://schemas.openxmlformats.org/officeDocument/2006/relationships/slide" Target="slides/slide63.xml"/><Relationship Id="rId73" Type="http://schemas.openxmlformats.org/officeDocument/2006/relationships/slide" Target="slides/slide64.xml"/><Relationship Id="rId74"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8.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 name="PlaceHolder 1"/>
          <p:cNvSpPr>
            <a:spLocks noGrp="1"/>
          </p:cNvSpPr>
          <p:nvPr>
            <p:ph type="sldImg"/>
          </p:nvPr>
        </p:nvSpPr>
        <p:spPr>
          <a:xfrm>
            <a:off x="533520" y="764280"/>
            <a:ext cx="6704640" cy="3771360"/>
          </a:xfrm>
          <a:prstGeom prst="rect">
            <a:avLst/>
          </a:prstGeom>
          <a:noFill/>
          <a:ln w="0">
            <a:noFill/>
          </a:ln>
        </p:spPr>
        <p:txBody>
          <a:bodyPr lIns="0" rIns="0" tIns="0" bIns="0" anchor="ctr">
            <a:noAutofit/>
          </a:bodyPr>
          <a:p>
            <a:r>
              <a:rPr b="0" lang="en-CA" sz="2400" strike="noStrike" u="none">
                <a:solidFill>
                  <a:schemeClr val="dk1"/>
                </a:solidFill>
                <a:effectLst/>
                <a:uFillTx/>
                <a:latin typeface="Arial"/>
              </a:rPr>
              <a:t>Click to move the slide</a:t>
            </a:r>
            <a:endParaRPr b="0" lang="en-CA" sz="2400" strike="noStrike" u="none">
              <a:solidFill>
                <a:schemeClr val="dk1"/>
              </a:solidFill>
              <a:effectLst/>
              <a:uFillTx/>
              <a:latin typeface="Arial"/>
            </a:endParaRPr>
          </a:p>
        </p:txBody>
      </p:sp>
      <p:sp>
        <p:nvSpPr>
          <p:cNvPr id="34"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indent="0">
              <a:buNone/>
            </a:pPr>
            <a:r>
              <a:rPr b="0" lang="en-US" sz="2000" strike="noStrike" u="none">
                <a:solidFill>
                  <a:srgbClr val="000000"/>
                </a:solidFill>
                <a:effectLst/>
                <a:uFillTx/>
                <a:latin typeface="Arial"/>
              </a:rPr>
              <a:t>Click to edit the notes format</a:t>
            </a:r>
            <a:endParaRPr b="0" lang="en-US" sz="2000" strike="noStrike" u="none">
              <a:solidFill>
                <a:srgbClr val="000000"/>
              </a:solidFill>
              <a:effectLst/>
              <a:uFillTx/>
              <a:latin typeface="Arial"/>
            </a:endParaRPr>
          </a:p>
        </p:txBody>
      </p:sp>
      <p:sp>
        <p:nvSpPr>
          <p:cNvPr id="35"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36" name="PlaceHolder 4"/>
          <p:cNvSpPr>
            <a:spLocks noGrp="1"/>
          </p:cNvSpPr>
          <p:nvPr>
            <p:ph type="dt" idx="1"/>
          </p:nvPr>
        </p:nvSpPr>
        <p:spPr>
          <a:xfrm>
            <a:off x="4399200" y="0"/>
            <a:ext cx="3372840" cy="502560"/>
          </a:xfrm>
          <a:prstGeom prst="rect">
            <a:avLst/>
          </a:prstGeom>
          <a:noFill/>
          <a:ln w="0">
            <a:noFill/>
          </a:ln>
        </p:spPr>
        <p:txBody>
          <a:bodyPr lIns="0" rIns="0" tIns="0" bIns="0" anchor="t">
            <a:noAutofit/>
          </a:bodyPr>
          <a:lstStyle>
            <a:lvl1pPr indent="0" algn="r">
              <a:buNone/>
              <a:defRPr b="0" lang="en-US" sz="1400" strike="noStrike" u="none">
                <a:solidFill>
                  <a:srgbClr val="000000"/>
                </a:solidFill>
                <a:effectLst/>
                <a:uFillTx/>
                <a:latin typeface="Times New Roman"/>
              </a:defRPr>
            </a:lvl1pPr>
          </a:lstStyle>
          <a:p>
            <a:pPr indent="0" algn="r">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37" name="PlaceHolder 5"/>
          <p:cNvSpPr>
            <a:spLocks noGrp="1"/>
          </p:cNvSpPr>
          <p:nvPr>
            <p:ph type="ftr" idx="2"/>
          </p:nvPr>
        </p:nvSpPr>
        <p:spPr>
          <a:xfrm>
            <a:off x="0" y="9555480"/>
            <a:ext cx="3372840" cy="502560"/>
          </a:xfrm>
          <a:prstGeom prst="rect">
            <a:avLst/>
          </a:prstGeom>
          <a:noFill/>
          <a:ln w="0">
            <a:noFill/>
          </a:ln>
        </p:spPr>
        <p:txBody>
          <a:bodyPr lIns="0" rIns="0" tIns="0" bIns="0" anchor="b">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38" name="PlaceHolder 6"/>
          <p:cNvSpPr>
            <a:spLocks noGrp="1"/>
          </p:cNvSpPr>
          <p:nvPr>
            <p:ph type="sldNum" idx="3"/>
          </p:nvPr>
        </p:nvSpPr>
        <p:spPr>
          <a:xfrm>
            <a:off x="4399200" y="9555480"/>
            <a:ext cx="3372840" cy="502560"/>
          </a:xfrm>
          <a:prstGeom prst="rect">
            <a:avLst/>
          </a:prstGeom>
          <a:noFill/>
          <a:ln w="0">
            <a:noFill/>
          </a:ln>
        </p:spPr>
        <p:txBody>
          <a:bodyPr lIns="0" rIns="0" tIns="0" bIns="0" anchor="b">
            <a:noAutofit/>
          </a:bodyPr>
          <a:lstStyle>
            <a:lvl1pPr indent="0" algn="r">
              <a:buNone/>
              <a:defRPr b="0" lang="en-US" sz="1400" strike="noStrike" u="none">
                <a:solidFill>
                  <a:srgbClr val="000000"/>
                </a:solidFill>
                <a:effectLst/>
                <a:uFillTx/>
                <a:latin typeface="Times New Roman"/>
              </a:defRPr>
            </a:lvl1pPr>
          </a:lstStyle>
          <a:p>
            <a:pPr indent="0" algn="r">
              <a:buNone/>
            </a:pPr>
            <a:fld id="{D00DCEB0-F907-4F07-8DC1-31527B714540}" type="slidenum">
              <a:rPr b="0" lang="en-US" sz="1400" strike="noStrike" u="none">
                <a:solidFill>
                  <a:srgbClr val="000000"/>
                </a:solidFill>
                <a:effectLst/>
                <a:uFillTx/>
                <a:latin typeface="Times New Roman"/>
              </a:rPr>
              <a:t>1</a:t>
            </a:fld>
            <a:endParaRPr b="0" lang="en-US" sz="14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_rels/notesSlide40.xml.rels><?xml version="1.0" encoding="UTF-8"?>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
</Relationships>
</file>

<file path=ppt/notesSlides/_rels/notesSlide41.xml.rels><?xml version="1.0" encoding="UTF-8"?>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
</Relationships>
</file>

<file path=ppt/notesSlides/_rels/notesSlide42.xml.rels><?xml version="1.0" encoding="UTF-8"?>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
</Relationships>
</file>

<file path=ppt/notesSlides/_rels/notesSlide43.xml.rels><?xml version="1.0" encoding="UTF-8"?>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
</Relationships>
</file>

<file path=ppt/notesSlides/_rels/notesSlide44.xml.rels><?xml version="1.0" encoding="UTF-8"?>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
</Relationships>
</file>

<file path=ppt/notesSlides/_rels/notesSlide45.xml.rels><?xml version="1.0" encoding="UTF-8"?>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
</Relationships>
</file>

<file path=ppt/notesSlides/_rels/notesSlide46.xml.rels><?xml version="1.0" encoding="UTF-8"?>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
</Relationships>
</file>

<file path=ppt/notesSlides/_rels/notesSlide47.xml.rels><?xml version="1.0" encoding="UTF-8"?>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
</Relationships>
</file>

<file path=ppt/notesSlides/_rels/notesSlide48.xml.rels><?xml version="1.0" encoding="UTF-8"?>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
</Relationships>
</file>

<file path=ppt/notesSlides/_rels/notesSlide49.xml.rels><?xml version="1.0" encoding="UTF-8"?>
<Relationships xmlns="http://schemas.openxmlformats.org/package/2006/relationships"><Relationship Id="rId1" Type="http://schemas.openxmlformats.org/officeDocument/2006/relationships/slide" Target="../slides/slide49.xml"/><Relationship Id="rId2" Type="http://schemas.openxmlformats.org/officeDocument/2006/relationships/notesMaster" Target="../notesMasters/notesMaster1.xml"/>
</Relationships>
</file>

<file path=ppt/notesSlides/_rels/notesSlide50.xml.rels><?xml version="1.0" encoding="UTF-8"?>
<Relationships xmlns="http://schemas.openxmlformats.org/package/2006/relationships"><Relationship Id="rId1" Type="http://schemas.openxmlformats.org/officeDocument/2006/relationships/slide" Target="../slides/slide50.xml"/><Relationship Id="rId2" Type="http://schemas.openxmlformats.org/officeDocument/2006/relationships/notesMaster" Target="../notesMasters/notesMaster1.xml"/>
</Relationships>
</file>

<file path=ppt/notesSlides/_rels/notesSlide51.xml.rels><?xml version="1.0" encoding="UTF-8"?>
<Relationships xmlns="http://schemas.openxmlformats.org/package/2006/relationships"><Relationship Id="rId1" Type="http://schemas.openxmlformats.org/officeDocument/2006/relationships/slide" Target="../slides/slide51.xml"/><Relationship Id="rId2" Type="http://schemas.openxmlformats.org/officeDocument/2006/relationships/notesMaster" Target="../notesMasters/notesMaster1.xml"/>
</Relationships>
</file>

<file path=ppt/notesSlides/_rels/notesSlide52.xml.rels><?xml version="1.0" encoding="UTF-8"?>
<Relationships xmlns="http://schemas.openxmlformats.org/package/2006/relationships"><Relationship Id="rId1" Type="http://schemas.openxmlformats.org/officeDocument/2006/relationships/slide" Target="../slides/slide52.xml"/><Relationship Id="rId2" Type="http://schemas.openxmlformats.org/officeDocument/2006/relationships/notesMaster" Target="../notesMasters/notesMaster1.xml"/>
</Relationships>
</file>

<file path=ppt/notesSlides/_rels/notesSlide53.xml.rels><?xml version="1.0" encoding="UTF-8"?>
<Relationships xmlns="http://schemas.openxmlformats.org/package/2006/relationships"><Relationship Id="rId1" Type="http://schemas.openxmlformats.org/officeDocument/2006/relationships/slide" Target="../slides/slide53.xml"/><Relationship Id="rId2" Type="http://schemas.openxmlformats.org/officeDocument/2006/relationships/notesMaster" Target="../notesMasters/notesMaster1.xml"/>
</Relationships>
</file>

<file path=ppt/notesSlides/_rels/notesSlide54.xml.rels><?xml version="1.0" encoding="UTF-8"?>
<Relationships xmlns="http://schemas.openxmlformats.org/package/2006/relationships"><Relationship Id="rId1" Type="http://schemas.openxmlformats.org/officeDocument/2006/relationships/slide" Target="../slides/slide54.xml"/><Relationship Id="rId2" Type="http://schemas.openxmlformats.org/officeDocument/2006/relationships/notesMaster" Target="../notesMasters/notesMaster1.xml"/>
</Relationships>
</file>

<file path=ppt/notesSlides/_rels/notesSlide55.xml.rels><?xml version="1.0" encoding="UTF-8"?>
<Relationships xmlns="http://schemas.openxmlformats.org/package/2006/relationships"><Relationship Id="rId1" Type="http://schemas.openxmlformats.org/officeDocument/2006/relationships/slide" Target="../slides/slide55.xml"/><Relationship Id="rId2" Type="http://schemas.openxmlformats.org/officeDocument/2006/relationships/notesMaster" Target="../notesMasters/notesMaster1.xml"/>
</Relationships>
</file>

<file path=ppt/notesSlides/_rels/notesSlide56.xml.rels><?xml version="1.0" encoding="UTF-8"?>
<Relationships xmlns="http://schemas.openxmlformats.org/package/2006/relationships"><Relationship Id="rId1" Type="http://schemas.openxmlformats.org/officeDocument/2006/relationships/slide" Target="../slides/slide56.xml"/><Relationship Id="rId2" Type="http://schemas.openxmlformats.org/officeDocument/2006/relationships/notesMaster" Target="../notesMasters/notesMaster1.xml"/>
</Relationships>
</file>

<file path=ppt/notesSlides/_rels/notesSlide57.xml.rels><?xml version="1.0" encoding="UTF-8"?>
<Relationships xmlns="http://schemas.openxmlformats.org/package/2006/relationships"><Relationship Id="rId1" Type="http://schemas.openxmlformats.org/officeDocument/2006/relationships/slide" Target="../slides/slide57.xml"/><Relationship Id="rId2" Type="http://schemas.openxmlformats.org/officeDocument/2006/relationships/notesMaster" Target="../notesMasters/notesMaster1.xml"/>
</Relationships>
</file>

<file path=ppt/notesSlides/_rels/notesSlide58.xml.rels><?xml version="1.0" encoding="UTF-8"?>
<Relationships xmlns="http://schemas.openxmlformats.org/package/2006/relationships"><Relationship Id="rId1" Type="http://schemas.openxmlformats.org/officeDocument/2006/relationships/slide" Target="../slides/slide58.xml"/><Relationship Id="rId2" Type="http://schemas.openxmlformats.org/officeDocument/2006/relationships/notesMaster" Target="../notesMasters/notesMaster1.xml"/>
</Relationships>
</file>

<file path=ppt/notesSlides/_rels/notesSlide59.xml.rels><?xml version="1.0" encoding="UTF-8"?>
<Relationships xmlns="http://schemas.openxmlformats.org/package/2006/relationships"><Relationship Id="rId1" Type="http://schemas.openxmlformats.org/officeDocument/2006/relationships/slide" Target="../slides/slide59.xml"/><Relationship Id="rId2" Type="http://schemas.openxmlformats.org/officeDocument/2006/relationships/notesMaster" Target="../notesMasters/notesMaster1.xml"/>
</Relationships>
</file>

<file path=ppt/notesSlides/_rels/notesSlide60.xml.rels><?xml version="1.0" encoding="UTF-8"?>
<Relationships xmlns="http://schemas.openxmlformats.org/package/2006/relationships"><Relationship Id="rId1" Type="http://schemas.openxmlformats.org/officeDocument/2006/relationships/slide" Target="../slides/slide60.xml"/><Relationship Id="rId2" Type="http://schemas.openxmlformats.org/officeDocument/2006/relationships/notesMaster" Target="../notesMasters/notesMaster1.xml"/>
</Relationships>
</file>

<file path=ppt/notesSlides/_rels/notesSlide61.xml.rels><?xml version="1.0" encoding="UTF-8"?>
<Relationships xmlns="http://schemas.openxmlformats.org/package/2006/relationships"><Relationship Id="rId1" Type="http://schemas.openxmlformats.org/officeDocument/2006/relationships/slide" Target="../slides/slide61.xml"/><Relationship Id="rId2" Type="http://schemas.openxmlformats.org/officeDocument/2006/relationships/notesMaster" Target="../notesMasters/notesMaster1.xml"/>
</Relationships>
</file>

<file path=ppt/notesSlides/_rels/notesSlide62.xml.rels><?xml version="1.0" encoding="UTF-8"?>
<Relationships xmlns="http://schemas.openxmlformats.org/package/2006/relationships"><Relationship Id="rId1" Type="http://schemas.openxmlformats.org/officeDocument/2006/relationships/slide" Target="../slides/slide62.xml"/><Relationship Id="rId2" Type="http://schemas.openxmlformats.org/officeDocument/2006/relationships/notesMaster" Target="../notesMasters/notesMaster1.xml"/>
</Relationships>
</file>

<file path=ppt/notesSlides/_rels/notesSlide63.xml.rels><?xml version="1.0" encoding="UTF-8"?>
<Relationships xmlns="http://schemas.openxmlformats.org/package/2006/relationships"><Relationship Id="rId1" Type="http://schemas.openxmlformats.org/officeDocument/2006/relationships/slide" Target="../slides/slide63.xml"/><Relationship Id="rId2" Type="http://schemas.openxmlformats.org/officeDocument/2006/relationships/notesMaster" Target="../notesMasters/notesMaster1.xml"/>
</Relationships>
</file>

<file path=ppt/notesSlides/_rels/notesSlide64.xml.rels><?xml version="1.0" encoding="UTF-8"?>
<Relationships xmlns="http://schemas.openxmlformats.org/package/2006/relationships"><Relationship Id="rId1" Type="http://schemas.openxmlformats.org/officeDocument/2006/relationships/slide" Target="../slides/slide64.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6" name="PlaceHolder 1"/>
          <p:cNvSpPr>
            <a:spLocks noGrp="1"/>
          </p:cNvSpPr>
          <p:nvPr>
            <p:ph type="sldNum" idx="4"/>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AF0220B1-FF91-40EE-A407-D56EAFCA8C32}"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327" name="PlaceHolder 2"/>
          <p:cNvSpPr>
            <a:spLocks noGrp="1"/>
          </p:cNvSpPr>
          <p:nvPr>
            <p:ph type="sldImg"/>
          </p:nvPr>
        </p:nvSpPr>
        <p:spPr>
          <a:xfrm>
            <a:off x="1143000" y="685800"/>
            <a:ext cx="4571640" cy="3428640"/>
          </a:xfrm>
          <a:prstGeom prst="rect">
            <a:avLst/>
          </a:prstGeom>
          <a:ln w="0">
            <a:noFill/>
          </a:ln>
        </p:spPr>
      </p:sp>
      <p:sp>
        <p:nvSpPr>
          <p:cNvPr id="328"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lnSpc>
                <a:spcPct val="100000"/>
              </a:lnSpc>
              <a:buNone/>
            </a:pPr>
            <a:r>
              <a:rPr b="0" lang="en-CA" sz="1600" strike="noStrike" u="none">
                <a:solidFill>
                  <a:srgbClr val="000000"/>
                </a:solidFill>
                <a:effectLst/>
                <a:uFillTx/>
                <a:latin typeface="Times New Roman"/>
                <a:ea typeface="ＭＳ Ｐゴシック"/>
              </a:rPr>
              <a:t>Notes and teaching tips: </a:t>
            </a:r>
            <a:r>
              <a:rPr b="0" lang="en-GB" sz="1600" strike="noStrike" u="none">
                <a:solidFill>
                  <a:srgbClr val="000000"/>
                </a:solidFill>
                <a:effectLst/>
                <a:uFillTx/>
                <a:latin typeface="Times New Roman"/>
                <a:ea typeface="ＭＳ Ｐゴシック"/>
              </a:rPr>
              <a:t>4, 6, 28, and 43. </a:t>
            </a:r>
            <a:endParaRPr b="0" lang="en-US" sz="1600" strike="noStrike" u="none">
              <a:solidFill>
                <a:srgbClr val="000000"/>
              </a:solidFill>
              <a:effectLst/>
              <a:uFillTx/>
              <a:latin typeface="Arial"/>
            </a:endParaRPr>
          </a:p>
          <a:p>
            <a:pPr indent="0">
              <a:lnSpc>
                <a:spcPct val="100000"/>
              </a:lnSpc>
              <a:buNone/>
            </a:pPr>
            <a:r>
              <a:rPr b="0" lang="en-CA" sz="1600" strike="noStrike" u="none">
                <a:solidFill>
                  <a:srgbClr val="000000"/>
                </a:solidFill>
                <a:effectLst/>
                <a:uFillTx/>
                <a:latin typeface="Times New Roman"/>
                <a:ea typeface="ＭＳ Ｐゴシック"/>
              </a:rPr>
              <a:t>To view a full-screen figure during a class, click the red </a:t>
            </a:r>
            <a:r>
              <a:rPr b="0" lang="en-CA" sz="1600" strike="noStrike" u="none">
                <a:solidFill>
                  <a:srgbClr val="000000"/>
                </a:solidFill>
                <a:effectLst/>
                <a:uFillTx/>
                <a:latin typeface="Arial"/>
                <a:ea typeface="ＭＳ Ｐゴシック"/>
              </a:rPr>
              <a:t>“</a:t>
            </a:r>
            <a:r>
              <a:rPr b="0" lang="en-CA" sz="1600" strike="noStrike" u="none">
                <a:solidFill>
                  <a:srgbClr val="000000"/>
                </a:solidFill>
                <a:effectLst/>
                <a:uFillTx/>
                <a:latin typeface="Times New Roman"/>
                <a:ea typeface="ＭＳ Ｐゴシック"/>
              </a:rPr>
              <a:t>expand</a:t>
            </a:r>
            <a:r>
              <a:rPr b="0" lang="en-CA" sz="1600" strike="noStrike" u="none">
                <a:solidFill>
                  <a:srgbClr val="000000"/>
                </a:solidFill>
                <a:effectLst/>
                <a:uFillTx/>
                <a:latin typeface="Arial"/>
                <a:ea typeface="ＭＳ Ｐゴシック"/>
              </a:rPr>
              <a:t>”</a:t>
            </a:r>
            <a:r>
              <a:rPr b="0" lang="en-CA" sz="1600" strike="noStrike" u="none">
                <a:solidFill>
                  <a:srgbClr val="000000"/>
                </a:solidFill>
                <a:effectLst/>
                <a:uFillTx/>
                <a:latin typeface="Times New Roman"/>
                <a:ea typeface="ＭＳ Ｐゴシック"/>
              </a:rPr>
              <a:t> button.</a:t>
            </a:r>
            <a:endParaRPr b="0" lang="en-US" sz="1600" strike="noStrike" u="none">
              <a:solidFill>
                <a:srgbClr val="000000"/>
              </a:solidFill>
              <a:effectLst/>
              <a:uFillTx/>
              <a:latin typeface="Arial"/>
            </a:endParaRPr>
          </a:p>
          <a:p>
            <a:pPr indent="0">
              <a:lnSpc>
                <a:spcPct val="100000"/>
              </a:lnSpc>
              <a:buNone/>
            </a:pPr>
            <a:r>
              <a:rPr b="0" lang="en-CA" sz="1600" strike="noStrike" u="none">
                <a:solidFill>
                  <a:srgbClr val="000000"/>
                </a:solidFill>
                <a:effectLst/>
                <a:uFillTx/>
                <a:latin typeface="Times New Roman"/>
                <a:ea typeface="ＭＳ Ｐゴシック"/>
              </a:rPr>
              <a:t>To return to the previous slide, click the red </a:t>
            </a:r>
            <a:r>
              <a:rPr b="0" lang="en-CA" sz="1600" strike="noStrike" u="none">
                <a:solidFill>
                  <a:srgbClr val="000000"/>
                </a:solidFill>
                <a:effectLst/>
                <a:uFillTx/>
                <a:latin typeface="Arial"/>
                <a:ea typeface="ＭＳ Ｐゴシック"/>
              </a:rPr>
              <a:t>“</a:t>
            </a:r>
            <a:r>
              <a:rPr b="0" lang="en-CA" sz="1600" strike="noStrike" u="none">
                <a:solidFill>
                  <a:srgbClr val="000000"/>
                </a:solidFill>
                <a:effectLst/>
                <a:uFillTx/>
                <a:latin typeface="Times New Roman"/>
                <a:ea typeface="ＭＳ Ｐゴシック"/>
              </a:rPr>
              <a:t>shrink</a:t>
            </a:r>
            <a:r>
              <a:rPr b="0" lang="en-CA" sz="1600" strike="noStrike" u="none">
                <a:solidFill>
                  <a:srgbClr val="000000"/>
                </a:solidFill>
                <a:effectLst/>
                <a:uFillTx/>
                <a:latin typeface="Arial"/>
                <a:ea typeface="ＭＳ Ｐゴシック"/>
              </a:rPr>
              <a:t>”</a:t>
            </a:r>
            <a:r>
              <a:rPr b="0" lang="en-CA" sz="1600" strike="noStrike" u="none">
                <a:solidFill>
                  <a:srgbClr val="000000"/>
                </a:solidFill>
                <a:effectLst/>
                <a:uFillTx/>
                <a:latin typeface="Times New Roman"/>
                <a:ea typeface="ＭＳ Ｐゴシック"/>
              </a:rPr>
              <a:t> button.</a:t>
            </a:r>
            <a:endParaRPr b="0" lang="en-US" sz="1600" strike="noStrike" u="none">
              <a:solidFill>
                <a:srgbClr val="000000"/>
              </a:solidFill>
              <a:effectLst/>
              <a:uFillTx/>
              <a:latin typeface="Arial"/>
            </a:endParaRPr>
          </a:p>
          <a:p>
            <a:pPr indent="0">
              <a:lnSpc>
                <a:spcPct val="100000"/>
              </a:lnSpc>
              <a:buNone/>
            </a:pPr>
            <a:r>
              <a:rPr b="0" lang="en-CA" sz="1600" strike="noStrike" u="none">
                <a:solidFill>
                  <a:srgbClr val="000000"/>
                </a:solidFill>
                <a:effectLst/>
                <a:uFillTx/>
                <a:latin typeface="Times New Roman"/>
                <a:ea typeface="ＭＳ Ｐゴシック"/>
              </a:rPr>
              <a:t>To advance to the next slide, click anywhere on the full screen figure.</a:t>
            </a:r>
            <a:endParaRPr b="0" lang="en-US" sz="1600" strike="noStrike" u="none">
              <a:solidFill>
                <a:srgbClr val="000000"/>
              </a:solidFill>
              <a:effectLst/>
              <a:uFillTx/>
              <a:latin typeface="Arial"/>
            </a:endParaRPr>
          </a:p>
          <a:p>
            <a:pPr indent="0">
              <a:lnSpc>
                <a:spcPct val="100000"/>
              </a:lnSpc>
              <a:buNone/>
            </a:pPr>
            <a:r>
              <a:rPr b="0" lang="en-CA" sz="1600" strike="noStrike" u="none">
                <a:solidFill>
                  <a:srgbClr val="000000"/>
                </a:solidFill>
                <a:effectLst/>
                <a:uFillTx/>
                <a:latin typeface="Times New Roman"/>
                <a:ea typeface="ＭＳ Ｐゴシック"/>
              </a:rPr>
              <a:t>To enhance your lecture, check out the Lecture Launchers, Land Mines, and Class Activities in the Instructor</a:t>
            </a:r>
            <a:r>
              <a:rPr b="0" lang="en-CA" sz="1600" strike="noStrike" u="none">
                <a:solidFill>
                  <a:srgbClr val="000000"/>
                </a:solidFill>
                <a:effectLst/>
                <a:uFillTx/>
                <a:latin typeface="Arial"/>
                <a:ea typeface="ＭＳ Ｐゴシック"/>
              </a:rPr>
              <a:t>’</a:t>
            </a:r>
            <a:r>
              <a:rPr b="0" lang="en-CA" sz="1600" strike="noStrike" u="none">
                <a:solidFill>
                  <a:srgbClr val="000000"/>
                </a:solidFill>
                <a:effectLst/>
                <a:uFillTx/>
                <a:latin typeface="Times New Roman"/>
                <a:ea typeface="ＭＳ Ｐゴシック"/>
              </a:rPr>
              <a:t>s Manual.</a:t>
            </a:r>
            <a:r>
              <a:rPr b="0" lang="en-US" sz="1600" strike="noStrike" u="none">
                <a:solidFill>
                  <a:srgbClr val="000000"/>
                </a:solidFill>
                <a:effectLst/>
                <a:uFillTx/>
                <a:latin typeface="Times New Roman"/>
                <a:ea typeface="ＭＳ Ｐゴシック"/>
              </a:rPr>
              <a:t> </a:t>
            </a:r>
            <a:endParaRPr b="0" lang="en-US" sz="1600" strike="noStrike" u="none">
              <a:solidFill>
                <a:srgbClr val="000000"/>
              </a:solidFill>
              <a:effectLst/>
              <a:uFillTx/>
              <a:latin typeface="Arial"/>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9" name="PlaceHolder 1"/>
          <p:cNvSpPr>
            <a:spLocks noGrp="1"/>
          </p:cNvSpPr>
          <p:nvPr>
            <p:ph type="sldNum" idx="5"/>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7FF9ECF9-EA92-4107-B0BB-7D45895F3FC1}"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330" name="PlaceHolder 2"/>
          <p:cNvSpPr>
            <a:spLocks noGrp="1"/>
          </p:cNvSpPr>
          <p:nvPr>
            <p:ph type="sldImg"/>
          </p:nvPr>
        </p:nvSpPr>
        <p:spPr>
          <a:xfrm>
            <a:off x="1143000" y="685800"/>
            <a:ext cx="4571640" cy="3428640"/>
          </a:xfrm>
          <a:prstGeom prst="rect">
            <a:avLst/>
          </a:prstGeom>
          <a:ln w="0">
            <a:noFill/>
          </a:ln>
        </p:spPr>
      </p:sp>
      <p:sp>
        <p:nvSpPr>
          <p:cNvPr id="331"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lnSpc>
                <a:spcPct val="100000"/>
              </a:lnSpc>
              <a:buNone/>
            </a:pPr>
            <a:r>
              <a:rPr b="0" lang="en-AU" sz="2000" strike="noStrike" u="none">
                <a:solidFill>
                  <a:srgbClr val="000000"/>
                </a:solidFill>
                <a:effectLst/>
                <a:uFillTx/>
                <a:latin typeface="Times New Roman"/>
                <a:ea typeface="ＭＳ Ｐゴシック"/>
              </a:rPr>
              <a:t>Go back to Chapter 1 and the major questions of microeconomics. Point out that the course so far has addressed the first two questions: “what?” and “how?” and that you’re now going to answer the third big question: “for whom?” Explain that we can cover all this material in just two chapters (the current one and Chapter 19) because we’re able to draw on what the students already know. Understanding choices at the margin, demand and supply, market forces that bring equilibrium and coordinate activity are all used in this chapter. Note the power of the economic tools that the students already know and how big the payoff is from keeping on top of the entire course as it builds.</a:t>
            </a:r>
            <a:r>
              <a:rPr b="0" lang="en-GB" sz="2000" strike="noStrike" u="none">
                <a:solidFill>
                  <a:srgbClr val="000000"/>
                </a:solidFill>
                <a:effectLst/>
                <a:uFillTx/>
                <a:latin typeface="Times New Roman"/>
                <a:ea typeface="ＭＳ Ｐゴシック"/>
              </a:rPr>
              <a:t> </a:t>
            </a:r>
            <a:endParaRPr b="0" lang="en-US" sz="2000" strike="noStrike" u="none">
              <a:solidFill>
                <a:srgbClr val="000000"/>
              </a:solidFill>
              <a:effectLst/>
              <a:uFillTx/>
              <a:latin typeface="Arial"/>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2" name="PlaceHolder 1"/>
          <p:cNvSpPr>
            <a:spLocks noGrp="1"/>
          </p:cNvSpPr>
          <p:nvPr>
            <p:ph type="sldNum" idx="6"/>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1812099A-BBDD-4493-9FE6-55B45BC9AD02}"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333" name="PlaceHolder 2"/>
          <p:cNvSpPr>
            <a:spLocks noGrp="1"/>
          </p:cNvSpPr>
          <p:nvPr>
            <p:ph type="sldImg"/>
          </p:nvPr>
        </p:nvSpPr>
        <p:spPr>
          <a:xfrm>
            <a:off x="1143000" y="685800"/>
            <a:ext cx="4571640" cy="3428640"/>
          </a:xfrm>
          <a:prstGeom prst="rect">
            <a:avLst/>
          </a:prstGeom>
          <a:ln w="0">
            <a:noFill/>
          </a:ln>
        </p:spPr>
      </p:sp>
      <p:sp>
        <p:nvSpPr>
          <p:cNvPr id="334"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5" name="PlaceHolder 1"/>
          <p:cNvSpPr>
            <a:spLocks noGrp="1"/>
          </p:cNvSpPr>
          <p:nvPr>
            <p:ph type="sldNum" idx="7"/>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942074A6-0954-411B-9791-E39E39BD8337}"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336" name="PlaceHolder 2"/>
          <p:cNvSpPr>
            <a:spLocks noGrp="1"/>
          </p:cNvSpPr>
          <p:nvPr>
            <p:ph type="sldImg"/>
          </p:nvPr>
        </p:nvSpPr>
        <p:spPr>
          <a:xfrm>
            <a:off x="1143000" y="685800"/>
            <a:ext cx="4571640" cy="3428640"/>
          </a:xfrm>
          <a:prstGeom prst="rect">
            <a:avLst/>
          </a:prstGeom>
          <a:ln w="0">
            <a:noFill/>
          </a:ln>
        </p:spPr>
      </p:sp>
      <p:sp>
        <p:nvSpPr>
          <p:cNvPr id="337"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lnSpc>
                <a:spcPct val="100000"/>
              </a:lnSpc>
              <a:buNone/>
            </a:pPr>
            <a:r>
              <a:rPr b="0" lang="en-AU" sz="2000" strike="noStrike" u="none">
                <a:solidFill>
                  <a:srgbClr val="000000"/>
                </a:solidFill>
                <a:effectLst/>
                <a:uFillTx/>
                <a:latin typeface="Times New Roman"/>
                <a:ea typeface="ＭＳ Ｐゴシック"/>
              </a:rPr>
              <a:t>To avoid any possible confusion on the part of students, point out that in the labor market the tables have been turned compared to the goods and services market. The household that is on the demand side of the markets for consumption of goods and services is now on the supply side of the market. Stress that we are not talking about the demand for jobs and the supply of jobs. Rather we study the demand for labor and the supply of labor.</a:t>
            </a:r>
            <a:r>
              <a:rPr b="0" lang="en-GB" sz="2000" strike="noStrike" u="none">
                <a:solidFill>
                  <a:srgbClr val="000000"/>
                </a:solidFill>
                <a:effectLst/>
                <a:uFillTx/>
                <a:latin typeface="Times New Roman"/>
                <a:ea typeface="ＭＳ Ｐゴシック"/>
              </a:rPr>
              <a:t> </a:t>
            </a:r>
            <a:endParaRPr b="0" lang="en-US" sz="2000" strike="noStrike" u="none">
              <a:solidFill>
                <a:srgbClr val="000000"/>
              </a:solidFill>
              <a:effectLst/>
              <a:uFillTx/>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8" name="PlaceHolder 1"/>
          <p:cNvSpPr>
            <a:spLocks noGrp="1"/>
          </p:cNvSpPr>
          <p:nvPr>
            <p:ph type="sldNum" idx="8"/>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3543B05F-092D-4B95-8805-A8B2C9163534}"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339" name="PlaceHolder 2"/>
          <p:cNvSpPr>
            <a:spLocks noGrp="1"/>
          </p:cNvSpPr>
          <p:nvPr>
            <p:ph type="sldImg"/>
          </p:nvPr>
        </p:nvSpPr>
        <p:spPr>
          <a:xfrm>
            <a:off x="1143000" y="685800"/>
            <a:ext cx="4571640" cy="3428640"/>
          </a:xfrm>
          <a:prstGeom prst="rect">
            <a:avLst/>
          </a:prstGeom>
          <a:ln w="0">
            <a:noFill/>
          </a:ln>
        </p:spPr>
      </p:sp>
      <p:sp>
        <p:nvSpPr>
          <p:cNvPr id="340"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1" name="PlaceHolder 1"/>
          <p:cNvSpPr>
            <a:spLocks noGrp="1"/>
          </p:cNvSpPr>
          <p:nvPr>
            <p:ph type="sldNum" idx="9"/>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9ED96E4E-6809-4972-9332-2AD850066D26}"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342" name="PlaceHolder 2"/>
          <p:cNvSpPr>
            <a:spLocks noGrp="1"/>
          </p:cNvSpPr>
          <p:nvPr>
            <p:ph type="sldImg"/>
          </p:nvPr>
        </p:nvSpPr>
        <p:spPr>
          <a:xfrm>
            <a:off x="1143000" y="685800"/>
            <a:ext cx="4571640" cy="3428640"/>
          </a:xfrm>
          <a:prstGeom prst="rect">
            <a:avLst/>
          </a:prstGeom>
          <a:ln w="0">
            <a:noFill/>
          </a:ln>
        </p:spPr>
      </p:sp>
      <p:sp>
        <p:nvSpPr>
          <p:cNvPr id="343"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4" name="PlaceHolder 1"/>
          <p:cNvSpPr>
            <a:spLocks noGrp="1"/>
          </p:cNvSpPr>
          <p:nvPr>
            <p:ph type="sldNum" idx="10"/>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B231D1ED-1D65-46DE-9243-36FDA41DCF1B}"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345" name="PlaceHolder 2"/>
          <p:cNvSpPr>
            <a:spLocks noGrp="1"/>
          </p:cNvSpPr>
          <p:nvPr>
            <p:ph type="sldImg"/>
          </p:nvPr>
        </p:nvSpPr>
        <p:spPr>
          <a:xfrm>
            <a:off x="1143000" y="685800"/>
            <a:ext cx="4571640" cy="3428640"/>
          </a:xfrm>
          <a:prstGeom prst="rect">
            <a:avLst/>
          </a:prstGeom>
          <a:ln w="0">
            <a:noFill/>
          </a:ln>
        </p:spPr>
      </p:sp>
      <p:sp>
        <p:nvSpPr>
          <p:cNvPr id="346"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7" name="PlaceHolder 1"/>
          <p:cNvSpPr>
            <a:spLocks noGrp="1"/>
          </p:cNvSpPr>
          <p:nvPr>
            <p:ph type="sldNum" idx="11"/>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C2EEF9A6-D626-4D13-A915-764080FD4B2C}"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348" name="PlaceHolder 2"/>
          <p:cNvSpPr>
            <a:spLocks noGrp="1"/>
          </p:cNvSpPr>
          <p:nvPr>
            <p:ph type="sldImg"/>
          </p:nvPr>
        </p:nvSpPr>
        <p:spPr>
          <a:xfrm>
            <a:off x="1143000" y="685800"/>
            <a:ext cx="4571640" cy="3428640"/>
          </a:xfrm>
          <a:prstGeom prst="rect">
            <a:avLst/>
          </a:prstGeom>
          <a:ln w="0">
            <a:noFill/>
          </a:ln>
        </p:spPr>
      </p:sp>
      <p:sp>
        <p:nvSpPr>
          <p:cNvPr id="349"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0" name="PlaceHolder 1"/>
          <p:cNvSpPr>
            <a:spLocks noGrp="1"/>
          </p:cNvSpPr>
          <p:nvPr>
            <p:ph type="sldNum" idx="12"/>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351B75AF-E58A-4E72-BCA7-3A33AA8B3A41}"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351" name="PlaceHolder 2"/>
          <p:cNvSpPr>
            <a:spLocks noGrp="1"/>
          </p:cNvSpPr>
          <p:nvPr>
            <p:ph type="sldImg"/>
          </p:nvPr>
        </p:nvSpPr>
        <p:spPr>
          <a:xfrm>
            <a:off x="1143000" y="685800"/>
            <a:ext cx="4571640" cy="3428640"/>
          </a:xfrm>
          <a:prstGeom prst="rect">
            <a:avLst/>
          </a:prstGeom>
          <a:ln w="0">
            <a:noFill/>
          </a:ln>
        </p:spPr>
      </p:sp>
      <p:sp>
        <p:nvSpPr>
          <p:cNvPr id="352"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3" name="PlaceHolder 1"/>
          <p:cNvSpPr>
            <a:spLocks noGrp="1"/>
          </p:cNvSpPr>
          <p:nvPr>
            <p:ph type="sldNum" idx="13"/>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rgbClr val="000000"/>
                </a:solidFill>
                <a:effectLst/>
                <a:uFillTx/>
                <a:latin typeface="Tahoma"/>
                <a:ea typeface="ＭＳ Ｐゴシック"/>
              </a:defRPr>
            </a:lvl1pPr>
          </a:lstStyle>
          <a:p>
            <a:pPr indent="0" algn="r">
              <a:lnSpc>
                <a:spcPct val="100000"/>
              </a:lnSpc>
              <a:buNone/>
            </a:pPr>
            <a:fld id="{22C0A0B8-2FE1-4C67-BE41-BC59D5DEF761}" type="slidenum">
              <a:rPr b="0" lang="en-CA" sz="1200" strike="noStrike" u="none">
                <a:solidFill>
                  <a:srgbClr val="000000"/>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354" name="PlaceHolder 2"/>
          <p:cNvSpPr>
            <a:spLocks noGrp="1"/>
          </p:cNvSpPr>
          <p:nvPr>
            <p:ph type="sldImg"/>
          </p:nvPr>
        </p:nvSpPr>
        <p:spPr>
          <a:xfrm>
            <a:off x="1143000" y="685800"/>
            <a:ext cx="4571640" cy="3428640"/>
          </a:xfrm>
          <a:prstGeom prst="rect">
            <a:avLst/>
          </a:prstGeom>
          <a:ln w="0">
            <a:noFill/>
          </a:ln>
        </p:spPr>
      </p:sp>
      <p:sp>
        <p:nvSpPr>
          <p:cNvPr id="355"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6" name="PlaceHolder 1"/>
          <p:cNvSpPr>
            <a:spLocks noGrp="1"/>
          </p:cNvSpPr>
          <p:nvPr>
            <p:ph type="sldNum" idx="14"/>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DF500465-3FA8-4184-8510-1F05FFDB8A51}"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357" name="PlaceHolder 2"/>
          <p:cNvSpPr>
            <a:spLocks noGrp="1"/>
          </p:cNvSpPr>
          <p:nvPr>
            <p:ph type="sldImg"/>
          </p:nvPr>
        </p:nvSpPr>
        <p:spPr>
          <a:xfrm>
            <a:off x="1143000" y="685800"/>
            <a:ext cx="4571640" cy="3428640"/>
          </a:xfrm>
          <a:prstGeom prst="rect">
            <a:avLst/>
          </a:prstGeom>
          <a:ln w="0">
            <a:noFill/>
          </a:ln>
        </p:spPr>
      </p:sp>
      <p:sp>
        <p:nvSpPr>
          <p:cNvPr id="358"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9" name="PlaceHolder 1"/>
          <p:cNvSpPr>
            <a:spLocks noGrp="1"/>
          </p:cNvSpPr>
          <p:nvPr>
            <p:ph type="sldNum" idx="15"/>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F0DE1C13-24F3-4D19-A6CE-3955DA68FA8E}"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360" name="PlaceHolder 2"/>
          <p:cNvSpPr>
            <a:spLocks noGrp="1"/>
          </p:cNvSpPr>
          <p:nvPr>
            <p:ph type="sldImg"/>
          </p:nvPr>
        </p:nvSpPr>
        <p:spPr>
          <a:xfrm>
            <a:off x="1143000" y="685800"/>
            <a:ext cx="4571640" cy="3428640"/>
          </a:xfrm>
          <a:prstGeom prst="rect">
            <a:avLst/>
          </a:prstGeom>
          <a:ln w="0">
            <a:noFill/>
          </a:ln>
        </p:spPr>
      </p:sp>
      <p:sp>
        <p:nvSpPr>
          <p:cNvPr id="361"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2" name="PlaceHolder 1"/>
          <p:cNvSpPr>
            <a:spLocks noGrp="1"/>
          </p:cNvSpPr>
          <p:nvPr>
            <p:ph type="sldNum" idx="16"/>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647A1E6C-D1F4-4A9F-9F1E-30226AEA27AE}"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363" name="PlaceHolder 2"/>
          <p:cNvSpPr>
            <a:spLocks noGrp="1"/>
          </p:cNvSpPr>
          <p:nvPr>
            <p:ph type="sldImg"/>
          </p:nvPr>
        </p:nvSpPr>
        <p:spPr>
          <a:xfrm>
            <a:off x="1143000" y="685800"/>
            <a:ext cx="4571640" cy="3428640"/>
          </a:xfrm>
          <a:prstGeom prst="rect">
            <a:avLst/>
          </a:prstGeom>
          <a:ln w="0">
            <a:noFill/>
          </a:ln>
        </p:spPr>
      </p:sp>
      <p:sp>
        <p:nvSpPr>
          <p:cNvPr id="364"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5" name="PlaceHolder 1"/>
          <p:cNvSpPr>
            <a:spLocks noGrp="1"/>
          </p:cNvSpPr>
          <p:nvPr>
            <p:ph type="sldNum" idx="17"/>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CC244DB9-8D52-474E-B8EB-963B3D358D1E}"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366" name="PlaceHolder 2"/>
          <p:cNvSpPr>
            <a:spLocks noGrp="1"/>
          </p:cNvSpPr>
          <p:nvPr>
            <p:ph type="sldImg"/>
          </p:nvPr>
        </p:nvSpPr>
        <p:spPr>
          <a:xfrm>
            <a:off x="1143000" y="685800"/>
            <a:ext cx="4571640" cy="3428640"/>
          </a:xfrm>
          <a:prstGeom prst="rect">
            <a:avLst/>
          </a:prstGeom>
          <a:ln w="0">
            <a:noFill/>
          </a:ln>
        </p:spPr>
      </p:sp>
      <p:sp>
        <p:nvSpPr>
          <p:cNvPr id="367"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8" name="PlaceHolder 1"/>
          <p:cNvSpPr>
            <a:spLocks noGrp="1"/>
          </p:cNvSpPr>
          <p:nvPr>
            <p:ph type="sldNum" idx="18"/>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B947AEE1-0AF7-438D-A8C0-CA6DE7AE9873}"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369" name="PlaceHolder 2"/>
          <p:cNvSpPr>
            <a:spLocks noGrp="1"/>
          </p:cNvSpPr>
          <p:nvPr>
            <p:ph type="sldImg"/>
          </p:nvPr>
        </p:nvSpPr>
        <p:spPr>
          <a:xfrm>
            <a:off x="1143000" y="685800"/>
            <a:ext cx="4571640" cy="3428640"/>
          </a:xfrm>
          <a:prstGeom prst="rect">
            <a:avLst/>
          </a:prstGeom>
          <a:ln w="0">
            <a:noFill/>
          </a:ln>
        </p:spPr>
      </p:sp>
      <p:sp>
        <p:nvSpPr>
          <p:cNvPr id="370"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1" name="PlaceHolder 1"/>
          <p:cNvSpPr>
            <a:spLocks noGrp="1"/>
          </p:cNvSpPr>
          <p:nvPr>
            <p:ph type="sldNum" idx="19"/>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8E65FA2C-18CA-467D-828C-5CCA60CC7E33}"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372" name="PlaceHolder 2"/>
          <p:cNvSpPr>
            <a:spLocks noGrp="1"/>
          </p:cNvSpPr>
          <p:nvPr>
            <p:ph type="sldImg"/>
          </p:nvPr>
        </p:nvSpPr>
        <p:spPr>
          <a:xfrm>
            <a:off x="1143000" y="685800"/>
            <a:ext cx="4571640" cy="3428640"/>
          </a:xfrm>
          <a:prstGeom prst="rect">
            <a:avLst/>
          </a:prstGeom>
          <a:ln w="0">
            <a:noFill/>
          </a:ln>
        </p:spPr>
      </p:sp>
      <p:sp>
        <p:nvSpPr>
          <p:cNvPr id="373"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4" name="PlaceHolder 1"/>
          <p:cNvSpPr>
            <a:spLocks noGrp="1"/>
          </p:cNvSpPr>
          <p:nvPr>
            <p:ph type="sldNum" idx="20"/>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97E12D11-CABC-4671-BB43-8802A954EE7A}"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375" name="PlaceHolder 2"/>
          <p:cNvSpPr>
            <a:spLocks noGrp="1"/>
          </p:cNvSpPr>
          <p:nvPr>
            <p:ph type="sldImg"/>
          </p:nvPr>
        </p:nvSpPr>
        <p:spPr>
          <a:xfrm>
            <a:off x="1143000" y="685800"/>
            <a:ext cx="4571640" cy="3428640"/>
          </a:xfrm>
          <a:prstGeom prst="rect">
            <a:avLst/>
          </a:prstGeom>
          <a:ln w="0">
            <a:noFill/>
          </a:ln>
        </p:spPr>
      </p:sp>
      <p:sp>
        <p:nvSpPr>
          <p:cNvPr id="376"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7" name="PlaceHolder 1"/>
          <p:cNvSpPr>
            <a:spLocks noGrp="1"/>
          </p:cNvSpPr>
          <p:nvPr>
            <p:ph type="sldNum" idx="21"/>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006694A7-C7FC-41AA-A8D0-70AB584D4AAD}"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378" name="PlaceHolder 2"/>
          <p:cNvSpPr>
            <a:spLocks noGrp="1"/>
          </p:cNvSpPr>
          <p:nvPr>
            <p:ph type="sldImg"/>
          </p:nvPr>
        </p:nvSpPr>
        <p:spPr>
          <a:xfrm>
            <a:off x="1143000" y="685800"/>
            <a:ext cx="4571640" cy="3428640"/>
          </a:xfrm>
          <a:prstGeom prst="rect">
            <a:avLst/>
          </a:prstGeom>
          <a:ln w="0">
            <a:noFill/>
          </a:ln>
        </p:spPr>
      </p:sp>
      <p:sp>
        <p:nvSpPr>
          <p:cNvPr id="379"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0" name="PlaceHolder 1"/>
          <p:cNvSpPr>
            <a:spLocks noGrp="1"/>
          </p:cNvSpPr>
          <p:nvPr>
            <p:ph type="sldNum" idx="22"/>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2B1D1127-6BC4-4B8A-8D67-3439330958E0}"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381" name="PlaceHolder 2"/>
          <p:cNvSpPr>
            <a:spLocks noGrp="1"/>
          </p:cNvSpPr>
          <p:nvPr>
            <p:ph type="sldImg"/>
          </p:nvPr>
        </p:nvSpPr>
        <p:spPr>
          <a:xfrm>
            <a:off x="1143000" y="685800"/>
            <a:ext cx="4571640" cy="3428640"/>
          </a:xfrm>
          <a:prstGeom prst="rect">
            <a:avLst/>
          </a:prstGeom>
          <a:ln w="0">
            <a:noFill/>
          </a:ln>
        </p:spPr>
      </p:sp>
      <p:sp>
        <p:nvSpPr>
          <p:cNvPr id="382"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3" name="PlaceHolder 1"/>
          <p:cNvSpPr>
            <a:spLocks noGrp="1"/>
          </p:cNvSpPr>
          <p:nvPr>
            <p:ph type="sldNum" idx="23"/>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3248C816-AC93-493F-BBA7-FFC72D80B718}"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384" name="PlaceHolder 2"/>
          <p:cNvSpPr>
            <a:spLocks noGrp="1"/>
          </p:cNvSpPr>
          <p:nvPr>
            <p:ph type="sldImg"/>
          </p:nvPr>
        </p:nvSpPr>
        <p:spPr>
          <a:xfrm>
            <a:off x="1143000" y="685800"/>
            <a:ext cx="4571640" cy="3428640"/>
          </a:xfrm>
          <a:prstGeom prst="rect">
            <a:avLst/>
          </a:prstGeom>
          <a:ln w="0">
            <a:noFill/>
          </a:ln>
        </p:spPr>
      </p:sp>
      <p:sp>
        <p:nvSpPr>
          <p:cNvPr id="385"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6" name="PlaceHolder 1"/>
          <p:cNvSpPr>
            <a:spLocks noGrp="1"/>
          </p:cNvSpPr>
          <p:nvPr>
            <p:ph type="sldNum" idx="24"/>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F7DBAAE3-493C-4B70-87F2-7A62480B1091}"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387" name="PlaceHolder 2"/>
          <p:cNvSpPr>
            <a:spLocks noGrp="1"/>
          </p:cNvSpPr>
          <p:nvPr>
            <p:ph type="sldImg"/>
          </p:nvPr>
        </p:nvSpPr>
        <p:spPr>
          <a:xfrm>
            <a:off x="1143000" y="685800"/>
            <a:ext cx="4571640" cy="3428640"/>
          </a:xfrm>
          <a:prstGeom prst="rect">
            <a:avLst/>
          </a:prstGeom>
          <a:ln w="0">
            <a:noFill/>
          </a:ln>
        </p:spPr>
      </p:sp>
      <p:sp>
        <p:nvSpPr>
          <p:cNvPr id="388"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9" name="PlaceHolder 1"/>
          <p:cNvSpPr>
            <a:spLocks noGrp="1"/>
          </p:cNvSpPr>
          <p:nvPr>
            <p:ph type="sldNum" idx="25"/>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4F75C6C9-9BE7-436C-94B8-E32872B2882C}"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390" name="PlaceHolder 2"/>
          <p:cNvSpPr>
            <a:spLocks noGrp="1"/>
          </p:cNvSpPr>
          <p:nvPr>
            <p:ph type="sldImg"/>
          </p:nvPr>
        </p:nvSpPr>
        <p:spPr>
          <a:xfrm>
            <a:off x="1143000" y="685800"/>
            <a:ext cx="4571640" cy="3428640"/>
          </a:xfrm>
          <a:prstGeom prst="rect">
            <a:avLst/>
          </a:prstGeom>
          <a:ln w="0">
            <a:noFill/>
          </a:ln>
        </p:spPr>
      </p:sp>
      <p:sp>
        <p:nvSpPr>
          <p:cNvPr id="391"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2" name="PlaceHolder 1"/>
          <p:cNvSpPr>
            <a:spLocks noGrp="1"/>
          </p:cNvSpPr>
          <p:nvPr>
            <p:ph type="sldNum" idx="26"/>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E31BEAB2-B926-40AB-8A72-8B657D60F8A8}"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393" name="PlaceHolder 2"/>
          <p:cNvSpPr>
            <a:spLocks noGrp="1"/>
          </p:cNvSpPr>
          <p:nvPr>
            <p:ph type="sldImg"/>
          </p:nvPr>
        </p:nvSpPr>
        <p:spPr>
          <a:xfrm>
            <a:off x="1143000" y="685800"/>
            <a:ext cx="4571640" cy="3428640"/>
          </a:xfrm>
          <a:prstGeom prst="rect">
            <a:avLst/>
          </a:prstGeom>
          <a:ln w="0">
            <a:noFill/>
          </a:ln>
        </p:spPr>
      </p:sp>
      <p:sp>
        <p:nvSpPr>
          <p:cNvPr id="394"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5" name="PlaceHolder 1"/>
          <p:cNvSpPr>
            <a:spLocks noGrp="1"/>
          </p:cNvSpPr>
          <p:nvPr>
            <p:ph type="sldNum" idx="27"/>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08940F0A-6617-4467-8271-3EA91A41AE6A}"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396" name="PlaceHolder 2"/>
          <p:cNvSpPr>
            <a:spLocks noGrp="1"/>
          </p:cNvSpPr>
          <p:nvPr>
            <p:ph type="sldImg"/>
          </p:nvPr>
        </p:nvSpPr>
        <p:spPr>
          <a:xfrm>
            <a:off x="1143000" y="685800"/>
            <a:ext cx="4571640" cy="3428640"/>
          </a:xfrm>
          <a:prstGeom prst="rect">
            <a:avLst/>
          </a:prstGeom>
          <a:ln w="0">
            <a:noFill/>
          </a:ln>
        </p:spPr>
      </p:sp>
      <p:sp>
        <p:nvSpPr>
          <p:cNvPr id="397"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8" name="PlaceHolder 1"/>
          <p:cNvSpPr>
            <a:spLocks noGrp="1"/>
          </p:cNvSpPr>
          <p:nvPr>
            <p:ph type="sldNum" idx="28"/>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09EA6826-51CE-4233-B035-30FED38AF68A}"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399" name="PlaceHolder 2"/>
          <p:cNvSpPr>
            <a:spLocks noGrp="1"/>
          </p:cNvSpPr>
          <p:nvPr>
            <p:ph type="sldImg"/>
          </p:nvPr>
        </p:nvSpPr>
        <p:spPr>
          <a:xfrm>
            <a:off x="1143000" y="685800"/>
            <a:ext cx="4571640" cy="3428640"/>
          </a:xfrm>
          <a:prstGeom prst="rect">
            <a:avLst/>
          </a:prstGeom>
          <a:ln w="0">
            <a:noFill/>
          </a:ln>
        </p:spPr>
      </p:sp>
      <p:sp>
        <p:nvSpPr>
          <p:cNvPr id="400" name="PlaceHolder 3"/>
          <p:cNvSpPr>
            <a:spLocks noGrp="1"/>
          </p:cNvSpPr>
          <p:nvPr>
            <p:ph type="body"/>
          </p:nvPr>
        </p:nvSpPr>
        <p:spPr>
          <a:xfrm>
            <a:off x="0" y="0"/>
            <a:ext cx="0" cy="0"/>
          </a:xfrm>
          <a:prstGeom prst="rect">
            <a:avLst/>
          </a:prstGeom>
          <a:noFill/>
          <a:ln w="0">
            <a:noFill/>
          </a:ln>
        </p:spPr>
        <p:txBody>
          <a:bodyPr numCol="1" spcCol="0" lIns="91440" rIns="91440" tIns="0" bIns="0" anchor="t">
            <a:noAutofit/>
          </a:bodyPr>
          <a:p>
            <a:pPr indent="0">
              <a:buNone/>
            </a:pPr>
            <a:endParaRPr b="0" lang="en-US" sz="1800" strike="noStrike" u="none">
              <a:solidFill>
                <a:srgbClr val="000000"/>
              </a:solidFill>
              <a:effectLst/>
              <a:uFillTx/>
              <a:latin typeface="Arial"/>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1" name="PlaceHolder 1"/>
          <p:cNvSpPr>
            <a:spLocks noGrp="1"/>
          </p:cNvSpPr>
          <p:nvPr>
            <p:ph type="sldNum" idx="29"/>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47234D8B-01BB-4EDF-A46D-6F85D3636AAF}"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402" name="PlaceHolder 2"/>
          <p:cNvSpPr>
            <a:spLocks noGrp="1"/>
          </p:cNvSpPr>
          <p:nvPr>
            <p:ph type="sldImg"/>
          </p:nvPr>
        </p:nvSpPr>
        <p:spPr>
          <a:xfrm>
            <a:off x="1143000" y="685800"/>
            <a:ext cx="4571640" cy="3428640"/>
          </a:xfrm>
          <a:prstGeom prst="rect">
            <a:avLst/>
          </a:prstGeom>
          <a:ln w="0">
            <a:noFill/>
          </a:ln>
        </p:spPr>
      </p:sp>
      <p:sp>
        <p:nvSpPr>
          <p:cNvPr id="403"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lnSpc>
                <a:spcPct val="100000"/>
              </a:lnSpc>
              <a:buNone/>
            </a:pPr>
            <a:r>
              <a:rPr b="0" lang="en-US" sz="1600" strike="noStrike" u="none">
                <a:solidFill>
                  <a:srgbClr val="000000"/>
                </a:solidFill>
                <a:effectLst/>
                <a:uFillTx/>
                <a:latin typeface="Arial"/>
              </a:rPr>
              <a:t>Ask the students if they would be willing to work 40 hours each week at a wage rate of $20 per hour (which is about $40,000 per year). Next, ask them whether they would increase their labor supplied to 48 hours per week if they could earn $40 per hour (about $80,000 per year, if working 40 hours per week). Most students would be willing to work more hours per week at this wage rate. Then ask them how many hours per week they would work if they were paid $10,000 per hour. In this case, working only one day per week would garner them about $8 million per year, leaving the remaining six days of each week to enjoy their high income. Many would not be willing to continue working 48 hours a week, thereby creating a backward-bending supply of labor curve.</a:t>
            </a:r>
            <a:endParaRPr b="0" lang="en-US" sz="1600" strike="noStrike" u="none">
              <a:solidFill>
                <a:srgbClr val="000000"/>
              </a:solidFill>
              <a:effectLst/>
              <a:uFillTx/>
              <a:latin typeface="Arial"/>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4" name="PlaceHolder 1"/>
          <p:cNvSpPr>
            <a:spLocks noGrp="1"/>
          </p:cNvSpPr>
          <p:nvPr>
            <p:ph type="sldNum" idx="30"/>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BD152C8D-6145-4192-9FAE-EB74EB35D905}"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405" name="PlaceHolder 2"/>
          <p:cNvSpPr>
            <a:spLocks noGrp="1"/>
          </p:cNvSpPr>
          <p:nvPr>
            <p:ph type="sldImg"/>
          </p:nvPr>
        </p:nvSpPr>
        <p:spPr>
          <a:xfrm>
            <a:off x="1143000" y="685800"/>
            <a:ext cx="4571640" cy="3428640"/>
          </a:xfrm>
          <a:prstGeom prst="rect">
            <a:avLst/>
          </a:prstGeom>
          <a:ln w="0">
            <a:noFill/>
          </a:ln>
        </p:spPr>
      </p:sp>
      <p:sp>
        <p:nvSpPr>
          <p:cNvPr id="406"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7" name="PlaceHolder 1"/>
          <p:cNvSpPr>
            <a:spLocks noGrp="1"/>
          </p:cNvSpPr>
          <p:nvPr>
            <p:ph type="sldNum" idx="31"/>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51E97A81-4FCD-41DB-B0DA-58720F1B927F}"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408" name="PlaceHolder 2"/>
          <p:cNvSpPr>
            <a:spLocks noGrp="1"/>
          </p:cNvSpPr>
          <p:nvPr>
            <p:ph type="sldImg"/>
          </p:nvPr>
        </p:nvSpPr>
        <p:spPr>
          <a:xfrm>
            <a:off x="1143000" y="685800"/>
            <a:ext cx="4571640" cy="3428640"/>
          </a:xfrm>
          <a:prstGeom prst="rect">
            <a:avLst/>
          </a:prstGeom>
          <a:ln w="0">
            <a:noFill/>
          </a:ln>
        </p:spPr>
      </p:sp>
      <p:sp>
        <p:nvSpPr>
          <p:cNvPr id="409"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0" name="PlaceHolder 1"/>
          <p:cNvSpPr>
            <a:spLocks noGrp="1"/>
          </p:cNvSpPr>
          <p:nvPr>
            <p:ph type="sldNum" idx="32"/>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A3AE3EEA-E85F-45FB-A0C1-DD194335BAD3}"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411" name="PlaceHolder 2"/>
          <p:cNvSpPr>
            <a:spLocks noGrp="1"/>
          </p:cNvSpPr>
          <p:nvPr>
            <p:ph type="sldImg"/>
          </p:nvPr>
        </p:nvSpPr>
        <p:spPr>
          <a:xfrm>
            <a:off x="1143000" y="685800"/>
            <a:ext cx="4571640" cy="3428640"/>
          </a:xfrm>
          <a:prstGeom prst="rect">
            <a:avLst/>
          </a:prstGeom>
          <a:ln w="0">
            <a:noFill/>
          </a:ln>
        </p:spPr>
      </p:sp>
      <p:sp>
        <p:nvSpPr>
          <p:cNvPr id="412"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3" name="PlaceHolder 1"/>
          <p:cNvSpPr>
            <a:spLocks noGrp="1"/>
          </p:cNvSpPr>
          <p:nvPr>
            <p:ph type="sldNum" idx="33"/>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A77F8C70-F6BE-4B38-99CE-8A67FF2D4695}"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414" name="PlaceHolder 2"/>
          <p:cNvSpPr>
            <a:spLocks noGrp="1"/>
          </p:cNvSpPr>
          <p:nvPr>
            <p:ph type="sldImg"/>
          </p:nvPr>
        </p:nvSpPr>
        <p:spPr>
          <a:xfrm>
            <a:off x="1143000" y="685800"/>
            <a:ext cx="4571640" cy="3428640"/>
          </a:xfrm>
          <a:prstGeom prst="rect">
            <a:avLst/>
          </a:prstGeom>
          <a:ln w="0">
            <a:noFill/>
          </a:ln>
        </p:spPr>
      </p:sp>
      <p:sp>
        <p:nvSpPr>
          <p:cNvPr id="415"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6" name="PlaceHolder 1"/>
          <p:cNvSpPr>
            <a:spLocks noGrp="1"/>
          </p:cNvSpPr>
          <p:nvPr>
            <p:ph type="sldNum" idx="34"/>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39450CD1-34C3-45AA-A408-B3B06F19DB38}"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417" name="PlaceHolder 2"/>
          <p:cNvSpPr>
            <a:spLocks noGrp="1"/>
          </p:cNvSpPr>
          <p:nvPr>
            <p:ph type="sldImg"/>
          </p:nvPr>
        </p:nvSpPr>
        <p:spPr>
          <a:xfrm>
            <a:off x="1143000" y="685800"/>
            <a:ext cx="4571640" cy="3428640"/>
          </a:xfrm>
          <a:prstGeom prst="rect">
            <a:avLst/>
          </a:prstGeom>
          <a:ln w="0">
            <a:noFill/>
          </a:ln>
        </p:spPr>
      </p:sp>
      <p:sp>
        <p:nvSpPr>
          <p:cNvPr id="418"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9" name="PlaceHolder 1"/>
          <p:cNvSpPr>
            <a:spLocks noGrp="1"/>
          </p:cNvSpPr>
          <p:nvPr>
            <p:ph type="sldNum" idx="35"/>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460FB5CB-89E7-4216-8096-DD0A5A8854D2}"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420" name="PlaceHolder 2"/>
          <p:cNvSpPr>
            <a:spLocks noGrp="1"/>
          </p:cNvSpPr>
          <p:nvPr>
            <p:ph type="sldImg"/>
          </p:nvPr>
        </p:nvSpPr>
        <p:spPr>
          <a:xfrm>
            <a:off x="1143000" y="685800"/>
            <a:ext cx="4571640" cy="3428640"/>
          </a:xfrm>
          <a:prstGeom prst="rect">
            <a:avLst/>
          </a:prstGeom>
          <a:ln w="0">
            <a:noFill/>
          </a:ln>
        </p:spPr>
      </p:sp>
      <p:sp>
        <p:nvSpPr>
          <p:cNvPr id="421"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2" name="PlaceHolder 1"/>
          <p:cNvSpPr>
            <a:spLocks noGrp="1"/>
          </p:cNvSpPr>
          <p:nvPr>
            <p:ph type="sldNum" idx="36"/>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5795429C-8A29-4F2E-A8C1-B2E872A959CC}"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423" name="PlaceHolder 2"/>
          <p:cNvSpPr>
            <a:spLocks noGrp="1"/>
          </p:cNvSpPr>
          <p:nvPr>
            <p:ph type="sldImg"/>
          </p:nvPr>
        </p:nvSpPr>
        <p:spPr>
          <a:xfrm>
            <a:off x="1143000" y="685800"/>
            <a:ext cx="4571640" cy="3428640"/>
          </a:xfrm>
          <a:prstGeom prst="rect">
            <a:avLst/>
          </a:prstGeom>
          <a:ln w="0">
            <a:noFill/>
          </a:ln>
        </p:spPr>
      </p:sp>
      <p:sp>
        <p:nvSpPr>
          <p:cNvPr id="424"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5" name="PlaceHolder 1"/>
          <p:cNvSpPr>
            <a:spLocks noGrp="1"/>
          </p:cNvSpPr>
          <p:nvPr>
            <p:ph type="sldNum" idx="37"/>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CA823DF8-E495-449B-88C9-08B99DC76BC0}"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426" name="PlaceHolder 2"/>
          <p:cNvSpPr>
            <a:spLocks noGrp="1"/>
          </p:cNvSpPr>
          <p:nvPr>
            <p:ph type="sldImg"/>
          </p:nvPr>
        </p:nvSpPr>
        <p:spPr>
          <a:xfrm>
            <a:off x="1143000" y="685800"/>
            <a:ext cx="4571640" cy="3428640"/>
          </a:xfrm>
          <a:prstGeom prst="rect">
            <a:avLst/>
          </a:prstGeom>
          <a:ln w="0">
            <a:noFill/>
          </a:ln>
        </p:spPr>
      </p:sp>
      <p:sp>
        <p:nvSpPr>
          <p:cNvPr id="427"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8" name="PlaceHolder 1"/>
          <p:cNvSpPr>
            <a:spLocks noGrp="1"/>
          </p:cNvSpPr>
          <p:nvPr>
            <p:ph type="sldNum" idx="38"/>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4C0F3FFB-4DE2-40C2-AFD5-8F2A63F41C9E}"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429" name="PlaceHolder 2"/>
          <p:cNvSpPr>
            <a:spLocks noGrp="1"/>
          </p:cNvSpPr>
          <p:nvPr>
            <p:ph type="sldImg"/>
          </p:nvPr>
        </p:nvSpPr>
        <p:spPr>
          <a:xfrm>
            <a:off x="1143000" y="685800"/>
            <a:ext cx="4571640" cy="3428640"/>
          </a:xfrm>
          <a:prstGeom prst="rect">
            <a:avLst/>
          </a:prstGeom>
          <a:ln w="0">
            <a:noFill/>
          </a:ln>
        </p:spPr>
      </p:sp>
      <p:sp>
        <p:nvSpPr>
          <p:cNvPr id="430"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1" name="PlaceHolder 1"/>
          <p:cNvSpPr>
            <a:spLocks noGrp="1"/>
          </p:cNvSpPr>
          <p:nvPr>
            <p:ph type="sldNum" idx="39"/>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D8EB1396-B3AC-4BCD-A16E-60C4C82D0F94}"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432" name="PlaceHolder 2"/>
          <p:cNvSpPr>
            <a:spLocks noGrp="1"/>
          </p:cNvSpPr>
          <p:nvPr>
            <p:ph type="sldImg"/>
          </p:nvPr>
        </p:nvSpPr>
        <p:spPr>
          <a:xfrm>
            <a:off x="1143000" y="685800"/>
            <a:ext cx="4571640" cy="3428640"/>
          </a:xfrm>
          <a:prstGeom prst="rect">
            <a:avLst/>
          </a:prstGeom>
          <a:ln w="0">
            <a:noFill/>
          </a:ln>
        </p:spPr>
      </p:sp>
      <p:sp>
        <p:nvSpPr>
          <p:cNvPr id="433"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4" name="PlaceHolder 1"/>
          <p:cNvSpPr>
            <a:spLocks noGrp="1"/>
          </p:cNvSpPr>
          <p:nvPr>
            <p:ph type="sldNum" idx="40"/>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BD5E32BC-4ADD-48CC-B12B-AB7FB5E25F3B}"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435" name="PlaceHolder 2"/>
          <p:cNvSpPr>
            <a:spLocks noGrp="1"/>
          </p:cNvSpPr>
          <p:nvPr>
            <p:ph type="sldImg"/>
          </p:nvPr>
        </p:nvSpPr>
        <p:spPr>
          <a:xfrm>
            <a:off x="1143000" y="685800"/>
            <a:ext cx="4571640" cy="3428640"/>
          </a:xfrm>
          <a:prstGeom prst="rect">
            <a:avLst/>
          </a:prstGeom>
          <a:ln w="0">
            <a:noFill/>
          </a:ln>
        </p:spPr>
      </p:sp>
      <p:sp>
        <p:nvSpPr>
          <p:cNvPr id="436"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7" name="PlaceHolder 1"/>
          <p:cNvSpPr>
            <a:spLocks noGrp="1"/>
          </p:cNvSpPr>
          <p:nvPr>
            <p:ph type="sldNum" idx="41"/>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D7351BFD-26AA-4B49-AF7E-F7AFA63926F3}"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438" name="PlaceHolder 2"/>
          <p:cNvSpPr>
            <a:spLocks noGrp="1"/>
          </p:cNvSpPr>
          <p:nvPr>
            <p:ph type="sldImg"/>
          </p:nvPr>
        </p:nvSpPr>
        <p:spPr>
          <a:xfrm>
            <a:off x="1143000" y="685800"/>
            <a:ext cx="4571640" cy="3428640"/>
          </a:xfrm>
          <a:prstGeom prst="rect">
            <a:avLst/>
          </a:prstGeom>
          <a:ln w="0">
            <a:noFill/>
          </a:ln>
        </p:spPr>
      </p:sp>
      <p:sp>
        <p:nvSpPr>
          <p:cNvPr id="439"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0" name="PlaceHolder 1"/>
          <p:cNvSpPr>
            <a:spLocks noGrp="1"/>
          </p:cNvSpPr>
          <p:nvPr>
            <p:ph type="sldNum" idx="42"/>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D3698904-9A77-4BE3-8381-7F66F868AABC}"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441" name="PlaceHolder 2"/>
          <p:cNvSpPr>
            <a:spLocks noGrp="1"/>
          </p:cNvSpPr>
          <p:nvPr>
            <p:ph type="sldImg"/>
          </p:nvPr>
        </p:nvSpPr>
        <p:spPr>
          <a:xfrm>
            <a:off x="1143000" y="685800"/>
            <a:ext cx="4571640" cy="3428640"/>
          </a:xfrm>
          <a:prstGeom prst="rect">
            <a:avLst/>
          </a:prstGeom>
          <a:ln w="0">
            <a:noFill/>
          </a:ln>
        </p:spPr>
      </p:sp>
      <p:sp>
        <p:nvSpPr>
          <p:cNvPr id="442"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3" name="PlaceHolder 1"/>
          <p:cNvSpPr>
            <a:spLocks noGrp="1"/>
          </p:cNvSpPr>
          <p:nvPr>
            <p:ph type="sldNum" idx="43"/>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F565A532-C4FE-44E4-A994-956160C0845F}"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444" name="PlaceHolder 2"/>
          <p:cNvSpPr>
            <a:spLocks noGrp="1"/>
          </p:cNvSpPr>
          <p:nvPr>
            <p:ph type="sldImg"/>
          </p:nvPr>
        </p:nvSpPr>
        <p:spPr>
          <a:xfrm>
            <a:off x="1143000" y="685800"/>
            <a:ext cx="4571640" cy="3428640"/>
          </a:xfrm>
          <a:prstGeom prst="rect">
            <a:avLst/>
          </a:prstGeom>
          <a:ln w="0">
            <a:noFill/>
          </a:ln>
        </p:spPr>
      </p:sp>
      <p:sp>
        <p:nvSpPr>
          <p:cNvPr id="445"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6" name="PlaceHolder 1"/>
          <p:cNvSpPr>
            <a:spLocks noGrp="1"/>
          </p:cNvSpPr>
          <p:nvPr>
            <p:ph type="sldNum" idx="44"/>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EE27FC66-3B9E-44FB-932C-07DD36DF3633}"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447" name="PlaceHolder 2"/>
          <p:cNvSpPr>
            <a:spLocks noGrp="1"/>
          </p:cNvSpPr>
          <p:nvPr>
            <p:ph type="sldImg"/>
          </p:nvPr>
        </p:nvSpPr>
        <p:spPr>
          <a:xfrm>
            <a:off x="1143000" y="685800"/>
            <a:ext cx="4571640" cy="3428640"/>
          </a:xfrm>
          <a:prstGeom prst="rect">
            <a:avLst/>
          </a:prstGeom>
          <a:ln w="0">
            <a:noFill/>
          </a:ln>
        </p:spPr>
      </p:sp>
      <p:sp>
        <p:nvSpPr>
          <p:cNvPr id="448" name="PlaceHolder 3"/>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lnSpc>
                <a:spcPct val="100000"/>
              </a:lnSpc>
              <a:buNone/>
            </a:pPr>
            <a:r>
              <a:rPr b="1" i="1" lang="en-US" sz="2000" strike="noStrike" u="none">
                <a:solidFill>
                  <a:srgbClr val="000000"/>
                </a:solidFill>
                <a:effectLst/>
                <a:uFillTx/>
                <a:latin typeface="Arial"/>
              </a:rPr>
              <a:t>Professional associations are among the most successful labour market monopolists.</a:t>
            </a:r>
            <a:r>
              <a:rPr b="0" lang="en-US" sz="2000" strike="noStrike" u="none">
                <a:solidFill>
                  <a:srgbClr val="000000"/>
                </a:solidFill>
                <a:effectLst/>
                <a:uFillTx/>
                <a:latin typeface="Arial"/>
              </a:rPr>
              <a:t> Students are usually interested in the fact that doctors and lawyers control entry into their professions and raise the compensation above the competitive equilibrium level. The outcome is inefficient.</a:t>
            </a:r>
            <a:endParaRPr b="0" lang="en-US" sz="2000" strike="noStrike" u="none">
              <a:solidFill>
                <a:srgbClr val="000000"/>
              </a:solidFill>
              <a:effectLst/>
              <a:uFillTx/>
              <a:latin typeface="Arial"/>
            </a:endParaRPr>
          </a:p>
        </p:txBody>
      </p:sp>
    </p:spTree>
  </p:cSld>
</p:notes>
</file>

<file path=ppt/notesSlides/notesSlide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9" name="PlaceHolder 1"/>
          <p:cNvSpPr>
            <a:spLocks noGrp="1"/>
          </p:cNvSpPr>
          <p:nvPr>
            <p:ph type="sldNum" idx="45"/>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827A5AFD-9AA9-45F6-BA4C-E73CB5413C2F}"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450" name="PlaceHolder 2"/>
          <p:cNvSpPr>
            <a:spLocks noGrp="1"/>
          </p:cNvSpPr>
          <p:nvPr>
            <p:ph type="sldImg"/>
          </p:nvPr>
        </p:nvSpPr>
        <p:spPr>
          <a:xfrm>
            <a:off x="1143000" y="685800"/>
            <a:ext cx="4571640" cy="3428640"/>
          </a:xfrm>
          <a:prstGeom prst="rect">
            <a:avLst/>
          </a:prstGeom>
          <a:ln w="0">
            <a:noFill/>
          </a:ln>
        </p:spPr>
      </p:sp>
      <p:sp>
        <p:nvSpPr>
          <p:cNvPr id="451" name="PlaceHolder 3"/>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2" name="PlaceHolder 1"/>
          <p:cNvSpPr>
            <a:spLocks noGrp="1"/>
          </p:cNvSpPr>
          <p:nvPr>
            <p:ph type="sldNum" idx="46"/>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0B9B0D9C-F0F0-4738-A433-56FC88B6FD42}"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453" name="PlaceHolder 2"/>
          <p:cNvSpPr>
            <a:spLocks noGrp="1"/>
          </p:cNvSpPr>
          <p:nvPr>
            <p:ph type="sldImg"/>
          </p:nvPr>
        </p:nvSpPr>
        <p:spPr>
          <a:xfrm>
            <a:off x="1143000" y="685800"/>
            <a:ext cx="4571640" cy="3428640"/>
          </a:xfrm>
          <a:prstGeom prst="rect">
            <a:avLst/>
          </a:prstGeom>
          <a:ln w="0">
            <a:noFill/>
          </a:ln>
        </p:spPr>
      </p:sp>
      <p:sp>
        <p:nvSpPr>
          <p:cNvPr id="454" name="PlaceHolder 3"/>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5" name="PlaceHolder 1"/>
          <p:cNvSpPr>
            <a:spLocks noGrp="1"/>
          </p:cNvSpPr>
          <p:nvPr>
            <p:ph type="sldNum" idx="47"/>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4F40F7D2-78BD-4D76-99B9-3D92B7CB76A0}"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456" name="PlaceHolder 2"/>
          <p:cNvSpPr>
            <a:spLocks noGrp="1"/>
          </p:cNvSpPr>
          <p:nvPr>
            <p:ph type="sldImg"/>
          </p:nvPr>
        </p:nvSpPr>
        <p:spPr>
          <a:xfrm>
            <a:off x="1143000" y="685800"/>
            <a:ext cx="4571640" cy="3428640"/>
          </a:xfrm>
          <a:prstGeom prst="rect">
            <a:avLst/>
          </a:prstGeom>
          <a:ln w="0">
            <a:noFill/>
          </a:ln>
        </p:spPr>
      </p:sp>
      <p:sp>
        <p:nvSpPr>
          <p:cNvPr id="457" name="PlaceHolder 3"/>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4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8" name="PlaceHolder 1"/>
          <p:cNvSpPr>
            <a:spLocks noGrp="1"/>
          </p:cNvSpPr>
          <p:nvPr>
            <p:ph type="sldNum" idx="48"/>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C5F7409A-0BE9-419D-AF81-7A55B310A977}"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459" name="PlaceHolder 2"/>
          <p:cNvSpPr>
            <a:spLocks noGrp="1"/>
          </p:cNvSpPr>
          <p:nvPr>
            <p:ph type="sldImg"/>
          </p:nvPr>
        </p:nvSpPr>
        <p:spPr>
          <a:xfrm>
            <a:off x="1143000" y="685800"/>
            <a:ext cx="4571640" cy="3428640"/>
          </a:xfrm>
          <a:prstGeom prst="rect">
            <a:avLst/>
          </a:prstGeom>
          <a:ln w="0">
            <a:noFill/>
          </a:ln>
        </p:spPr>
      </p:sp>
      <p:sp>
        <p:nvSpPr>
          <p:cNvPr id="460" name="PlaceHolder 3"/>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4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1" name="PlaceHolder 1"/>
          <p:cNvSpPr>
            <a:spLocks noGrp="1"/>
          </p:cNvSpPr>
          <p:nvPr>
            <p:ph type="sldNum" idx="49"/>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123EB071-C3F5-4DA4-9276-F381FA5F6A22}"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462" name="PlaceHolder 2"/>
          <p:cNvSpPr>
            <a:spLocks noGrp="1"/>
          </p:cNvSpPr>
          <p:nvPr>
            <p:ph type="sldImg"/>
          </p:nvPr>
        </p:nvSpPr>
        <p:spPr>
          <a:xfrm>
            <a:off x="1143000" y="685800"/>
            <a:ext cx="4571640" cy="3428640"/>
          </a:xfrm>
          <a:prstGeom prst="rect">
            <a:avLst/>
          </a:prstGeom>
          <a:ln w="0">
            <a:noFill/>
          </a:ln>
        </p:spPr>
      </p:sp>
      <p:sp>
        <p:nvSpPr>
          <p:cNvPr id="463" name="PlaceHolder 3"/>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4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4" name="PlaceHolder 1"/>
          <p:cNvSpPr>
            <a:spLocks noGrp="1"/>
          </p:cNvSpPr>
          <p:nvPr>
            <p:ph type="sldNum" idx="50"/>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8A672E9B-F4E3-445F-9084-D2D3DE38D020}"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465" name="PlaceHolder 2"/>
          <p:cNvSpPr>
            <a:spLocks noGrp="1"/>
          </p:cNvSpPr>
          <p:nvPr>
            <p:ph type="sldImg"/>
          </p:nvPr>
        </p:nvSpPr>
        <p:spPr>
          <a:xfrm>
            <a:off x="1143000" y="685800"/>
            <a:ext cx="4571640" cy="3428640"/>
          </a:xfrm>
          <a:prstGeom prst="rect">
            <a:avLst/>
          </a:prstGeom>
          <a:ln w="0">
            <a:noFill/>
          </a:ln>
        </p:spPr>
      </p:sp>
      <p:sp>
        <p:nvSpPr>
          <p:cNvPr id="466" name="PlaceHolder 3"/>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4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7" name="PlaceHolder 1"/>
          <p:cNvSpPr>
            <a:spLocks noGrp="1"/>
          </p:cNvSpPr>
          <p:nvPr>
            <p:ph type="sldNum" idx="51"/>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29C91D61-6CEC-4865-856F-51C59396B14D}"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468" name="PlaceHolder 2"/>
          <p:cNvSpPr>
            <a:spLocks noGrp="1"/>
          </p:cNvSpPr>
          <p:nvPr>
            <p:ph type="sldImg"/>
          </p:nvPr>
        </p:nvSpPr>
        <p:spPr>
          <a:xfrm>
            <a:off x="1143000" y="685800"/>
            <a:ext cx="4571640" cy="3428640"/>
          </a:xfrm>
          <a:prstGeom prst="rect">
            <a:avLst/>
          </a:prstGeom>
          <a:ln w="0">
            <a:noFill/>
          </a:ln>
        </p:spPr>
      </p:sp>
      <p:sp>
        <p:nvSpPr>
          <p:cNvPr id="469" name="PlaceHolder 3"/>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4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0" name="PlaceHolder 1"/>
          <p:cNvSpPr>
            <a:spLocks noGrp="1"/>
          </p:cNvSpPr>
          <p:nvPr>
            <p:ph type="sldNum" idx="52"/>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49220EE1-E7BB-4CEB-BBCD-3C3BB42F43D1}"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471" name="PlaceHolder 2"/>
          <p:cNvSpPr>
            <a:spLocks noGrp="1"/>
          </p:cNvSpPr>
          <p:nvPr>
            <p:ph type="sldImg"/>
          </p:nvPr>
        </p:nvSpPr>
        <p:spPr>
          <a:xfrm>
            <a:off x="1143000" y="685800"/>
            <a:ext cx="4571640" cy="3428640"/>
          </a:xfrm>
          <a:prstGeom prst="rect">
            <a:avLst/>
          </a:prstGeom>
          <a:ln w="0">
            <a:noFill/>
          </a:ln>
        </p:spPr>
      </p:sp>
      <p:sp>
        <p:nvSpPr>
          <p:cNvPr id="472"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5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3" name="PlaceHolder 1"/>
          <p:cNvSpPr>
            <a:spLocks noGrp="1"/>
          </p:cNvSpPr>
          <p:nvPr>
            <p:ph type="sldNum" idx="53"/>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12DE2FD7-2F91-4BE8-A6EE-8B2716225F46}"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474" name="PlaceHolder 2"/>
          <p:cNvSpPr>
            <a:spLocks noGrp="1"/>
          </p:cNvSpPr>
          <p:nvPr>
            <p:ph type="sldImg"/>
          </p:nvPr>
        </p:nvSpPr>
        <p:spPr>
          <a:xfrm>
            <a:off x="1143000" y="685800"/>
            <a:ext cx="4571640" cy="3428640"/>
          </a:xfrm>
          <a:prstGeom prst="rect">
            <a:avLst/>
          </a:prstGeom>
          <a:ln w="0">
            <a:noFill/>
          </a:ln>
        </p:spPr>
      </p:sp>
      <p:sp>
        <p:nvSpPr>
          <p:cNvPr id="475"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5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6" name="PlaceHolder 1"/>
          <p:cNvSpPr>
            <a:spLocks noGrp="1"/>
          </p:cNvSpPr>
          <p:nvPr>
            <p:ph type="sldNum" idx="54"/>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7B323A00-53CF-437F-9DC0-91965FB3C428}"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477" name="PlaceHolder 2"/>
          <p:cNvSpPr>
            <a:spLocks noGrp="1"/>
          </p:cNvSpPr>
          <p:nvPr>
            <p:ph type="sldImg"/>
          </p:nvPr>
        </p:nvSpPr>
        <p:spPr>
          <a:xfrm>
            <a:off x="1143000" y="685800"/>
            <a:ext cx="4571640" cy="3428640"/>
          </a:xfrm>
          <a:prstGeom prst="rect">
            <a:avLst/>
          </a:prstGeom>
          <a:ln w="0">
            <a:noFill/>
          </a:ln>
        </p:spPr>
      </p:sp>
      <p:sp>
        <p:nvSpPr>
          <p:cNvPr id="478"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5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9" name="PlaceHolder 1"/>
          <p:cNvSpPr>
            <a:spLocks noGrp="1"/>
          </p:cNvSpPr>
          <p:nvPr>
            <p:ph type="sldNum" idx="55"/>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B6ACC3F0-0198-4823-B8A1-1827A21EDE14}"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480" name="PlaceHolder 2"/>
          <p:cNvSpPr>
            <a:spLocks noGrp="1"/>
          </p:cNvSpPr>
          <p:nvPr>
            <p:ph type="sldImg"/>
          </p:nvPr>
        </p:nvSpPr>
        <p:spPr>
          <a:xfrm>
            <a:off x="1143000" y="685800"/>
            <a:ext cx="4571640" cy="3428640"/>
          </a:xfrm>
          <a:prstGeom prst="rect">
            <a:avLst/>
          </a:prstGeom>
          <a:ln w="0">
            <a:noFill/>
          </a:ln>
        </p:spPr>
      </p:sp>
      <p:sp>
        <p:nvSpPr>
          <p:cNvPr id="481"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5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2" name="PlaceHolder 1"/>
          <p:cNvSpPr>
            <a:spLocks noGrp="1"/>
          </p:cNvSpPr>
          <p:nvPr>
            <p:ph type="sldNum" idx="56"/>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8BA1DA56-F9F6-4C64-8F8F-1A1AA99F78F1}"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483" name="PlaceHolder 2"/>
          <p:cNvSpPr>
            <a:spLocks noGrp="1"/>
          </p:cNvSpPr>
          <p:nvPr>
            <p:ph type="sldImg"/>
          </p:nvPr>
        </p:nvSpPr>
        <p:spPr>
          <a:xfrm>
            <a:off x="1143000" y="685800"/>
            <a:ext cx="4571640" cy="3428640"/>
          </a:xfrm>
          <a:prstGeom prst="rect">
            <a:avLst/>
          </a:prstGeom>
          <a:ln w="0">
            <a:noFill/>
          </a:ln>
        </p:spPr>
      </p:sp>
      <p:sp>
        <p:nvSpPr>
          <p:cNvPr id="484"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5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5" name="PlaceHolder 1"/>
          <p:cNvSpPr>
            <a:spLocks noGrp="1"/>
          </p:cNvSpPr>
          <p:nvPr>
            <p:ph type="sldNum" idx="57"/>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88F422F4-461B-41D8-A0E2-412FAB2F6A0A}"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486" name="PlaceHolder 2"/>
          <p:cNvSpPr>
            <a:spLocks noGrp="1"/>
          </p:cNvSpPr>
          <p:nvPr>
            <p:ph type="sldImg"/>
          </p:nvPr>
        </p:nvSpPr>
        <p:spPr>
          <a:xfrm>
            <a:off x="1143000" y="685800"/>
            <a:ext cx="4571640" cy="3428640"/>
          </a:xfrm>
          <a:prstGeom prst="rect">
            <a:avLst/>
          </a:prstGeom>
          <a:ln w="0">
            <a:noFill/>
          </a:ln>
        </p:spPr>
      </p:sp>
      <p:sp>
        <p:nvSpPr>
          <p:cNvPr id="487"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5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8" name="PlaceHolder 1"/>
          <p:cNvSpPr>
            <a:spLocks noGrp="1"/>
          </p:cNvSpPr>
          <p:nvPr>
            <p:ph type="sldNum" idx="58"/>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DA12C9F8-E8D9-4A63-88BD-DD1D76044971}"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489" name="PlaceHolder 2"/>
          <p:cNvSpPr>
            <a:spLocks noGrp="1"/>
          </p:cNvSpPr>
          <p:nvPr>
            <p:ph type="sldImg"/>
          </p:nvPr>
        </p:nvSpPr>
        <p:spPr>
          <a:xfrm>
            <a:off x="1143000" y="685800"/>
            <a:ext cx="4571640" cy="3428640"/>
          </a:xfrm>
          <a:prstGeom prst="rect">
            <a:avLst/>
          </a:prstGeom>
          <a:ln w="0">
            <a:noFill/>
          </a:ln>
        </p:spPr>
      </p:sp>
      <p:sp>
        <p:nvSpPr>
          <p:cNvPr id="490"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5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1" name="PlaceHolder 1"/>
          <p:cNvSpPr>
            <a:spLocks noGrp="1"/>
          </p:cNvSpPr>
          <p:nvPr>
            <p:ph type="sldNum" idx="59"/>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rgbClr val="000000"/>
                </a:solidFill>
                <a:effectLst/>
                <a:uFillTx/>
                <a:latin typeface="Tahoma"/>
                <a:ea typeface="ＭＳ Ｐゴシック"/>
              </a:defRPr>
            </a:lvl1pPr>
          </a:lstStyle>
          <a:p>
            <a:pPr indent="0" algn="r">
              <a:lnSpc>
                <a:spcPct val="100000"/>
              </a:lnSpc>
              <a:buNone/>
            </a:pPr>
            <a:fld id="{31B0DB78-0B7F-476E-93DB-9C7EEB87A149}" type="slidenum">
              <a:rPr b="0" lang="en-CA" sz="1200" strike="noStrike" u="none">
                <a:solidFill>
                  <a:srgbClr val="000000"/>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492" name="PlaceHolder 2"/>
          <p:cNvSpPr>
            <a:spLocks noGrp="1"/>
          </p:cNvSpPr>
          <p:nvPr>
            <p:ph type="sldImg"/>
          </p:nvPr>
        </p:nvSpPr>
        <p:spPr>
          <a:xfrm>
            <a:off x="1143000" y="685800"/>
            <a:ext cx="4571640" cy="3428640"/>
          </a:xfrm>
          <a:prstGeom prst="rect">
            <a:avLst/>
          </a:prstGeom>
          <a:ln w="0">
            <a:noFill/>
          </a:ln>
        </p:spPr>
      </p:sp>
      <p:sp>
        <p:nvSpPr>
          <p:cNvPr id="493"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5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4" name="PlaceHolder 1"/>
          <p:cNvSpPr>
            <a:spLocks noGrp="1"/>
          </p:cNvSpPr>
          <p:nvPr>
            <p:ph type="sldNum" idx="60"/>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614963BE-3F4E-478C-AA9F-3D7EED28BDAC}"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495" name="PlaceHolder 2"/>
          <p:cNvSpPr>
            <a:spLocks noGrp="1"/>
          </p:cNvSpPr>
          <p:nvPr>
            <p:ph type="sldImg"/>
          </p:nvPr>
        </p:nvSpPr>
        <p:spPr>
          <a:xfrm>
            <a:off x="1143000" y="685800"/>
            <a:ext cx="4571640" cy="3428640"/>
          </a:xfrm>
          <a:prstGeom prst="rect">
            <a:avLst/>
          </a:prstGeom>
          <a:ln w="0">
            <a:noFill/>
          </a:ln>
        </p:spPr>
      </p:sp>
      <p:sp>
        <p:nvSpPr>
          <p:cNvPr id="496"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5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7" name="PlaceHolder 1"/>
          <p:cNvSpPr>
            <a:spLocks noGrp="1"/>
          </p:cNvSpPr>
          <p:nvPr>
            <p:ph type="sldNum" idx="61"/>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45B13B10-679F-4567-BAAC-1FD2ED5125F3}"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498" name="PlaceHolder 2"/>
          <p:cNvSpPr>
            <a:spLocks noGrp="1"/>
          </p:cNvSpPr>
          <p:nvPr>
            <p:ph type="sldImg"/>
          </p:nvPr>
        </p:nvSpPr>
        <p:spPr>
          <a:xfrm>
            <a:off x="1143000" y="685800"/>
            <a:ext cx="4571640" cy="3428640"/>
          </a:xfrm>
          <a:prstGeom prst="rect">
            <a:avLst/>
          </a:prstGeom>
          <a:ln w="0">
            <a:noFill/>
          </a:ln>
        </p:spPr>
      </p:sp>
      <p:sp>
        <p:nvSpPr>
          <p:cNvPr id="499"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5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0" name="PlaceHolder 1"/>
          <p:cNvSpPr>
            <a:spLocks noGrp="1"/>
          </p:cNvSpPr>
          <p:nvPr>
            <p:ph type="sldNum" idx="62"/>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48AB1A3D-58DE-448F-82DC-2736162A90A1}"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501" name="PlaceHolder 2"/>
          <p:cNvSpPr>
            <a:spLocks noGrp="1"/>
          </p:cNvSpPr>
          <p:nvPr>
            <p:ph type="sldImg"/>
          </p:nvPr>
        </p:nvSpPr>
        <p:spPr>
          <a:xfrm>
            <a:off x="1143000" y="685800"/>
            <a:ext cx="4571640" cy="3428640"/>
          </a:xfrm>
          <a:prstGeom prst="rect">
            <a:avLst/>
          </a:prstGeom>
          <a:ln w="0">
            <a:noFill/>
          </a:ln>
        </p:spPr>
      </p:sp>
      <p:sp>
        <p:nvSpPr>
          <p:cNvPr id="502"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6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3" name="PlaceHolder 1"/>
          <p:cNvSpPr>
            <a:spLocks noGrp="1"/>
          </p:cNvSpPr>
          <p:nvPr>
            <p:ph type="sldNum" idx="63"/>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B520626B-C9A0-4B77-B7A8-0A39CB58E99C}"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504" name="PlaceHolder 2"/>
          <p:cNvSpPr>
            <a:spLocks noGrp="1"/>
          </p:cNvSpPr>
          <p:nvPr>
            <p:ph type="sldImg"/>
          </p:nvPr>
        </p:nvSpPr>
        <p:spPr>
          <a:xfrm>
            <a:off x="1143000" y="685800"/>
            <a:ext cx="4571640" cy="3428640"/>
          </a:xfrm>
          <a:prstGeom prst="rect">
            <a:avLst/>
          </a:prstGeom>
          <a:ln w="0">
            <a:noFill/>
          </a:ln>
        </p:spPr>
      </p:sp>
      <p:sp>
        <p:nvSpPr>
          <p:cNvPr id="505"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6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6" name="PlaceHolder 1"/>
          <p:cNvSpPr>
            <a:spLocks noGrp="1"/>
          </p:cNvSpPr>
          <p:nvPr>
            <p:ph type="sldNum" idx="64"/>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chemeClr val="dk1"/>
                </a:solidFill>
                <a:effectLst/>
                <a:uFillTx/>
                <a:latin typeface="Tahoma"/>
                <a:ea typeface="ＭＳ Ｐゴシック"/>
              </a:defRPr>
            </a:lvl1pPr>
          </a:lstStyle>
          <a:p>
            <a:pPr indent="0" algn="r">
              <a:lnSpc>
                <a:spcPct val="100000"/>
              </a:lnSpc>
              <a:buNone/>
            </a:pPr>
            <a:fld id="{D837168F-881A-49D5-8A64-E23374DEC7FC}" type="slidenum">
              <a:rPr b="0" lang="en-CA" sz="1200" strike="noStrike" u="none">
                <a:solidFill>
                  <a:schemeClr val="dk1"/>
                </a:solidFill>
                <a:effectLst/>
                <a:uFillTx/>
                <a:latin typeface="Tahoma"/>
                <a:ea typeface="ＭＳ Ｐゴシック"/>
              </a:rPr>
              <a:t>1</a:t>
            </a:fld>
            <a:endParaRPr b="0" lang="en-US" sz="1200" strike="noStrike" u="none">
              <a:solidFill>
                <a:srgbClr val="000000"/>
              </a:solidFill>
              <a:effectLst/>
              <a:uFillTx/>
              <a:latin typeface="Times New Roman"/>
            </a:endParaRPr>
          </a:p>
        </p:txBody>
      </p:sp>
      <p:sp>
        <p:nvSpPr>
          <p:cNvPr id="507" name="PlaceHolder 2"/>
          <p:cNvSpPr>
            <a:spLocks noGrp="1"/>
          </p:cNvSpPr>
          <p:nvPr>
            <p:ph type="sldImg"/>
          </p:nvPr>
        </p:nvSpPr>
        <p:spPr>
          <a:xfrm>
            <a:off x="1143000" y="685800"/>
            <a:ext cx="4571640" cy="3428640"/>
          </a:xfrm>
          <a:prstGeom prst="rect">
            <a:avLst/>
          </a:prstGeom>
          <a:ln w="0">
            <a:noFill/>
          </a:ln>
        </p:spPr>
      </p:sp>
      <p:sp>
        <p:nvSpPr>
          <p:cNvPr id="508"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6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9" name="PlaceHolder 1"/>
          <p:cNvSpPr>
            <a:spLocks noGrp="1"/>
          </p:cNvSpPr>
          <p:nvPr>
            <p:ph type="sldNum" idx="65"/>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rgbClr val="000000"/>
                </a:solidFill>
                <a:effectLst/>
                <a:uFillTx/>
                <a:latin typeface="Tahoma"/>
                <a:ea typeface="ＭＳ Ｐゴシック"/>
              </a:defRPr>
            </a:lvl1pPr>
          </a:lstStyle>
          <a:p>
            <a:pPr indent="0" algn="r">
              <a:lnSpc>
                <a:spcPct val="100000"/>
              </a:lnSpc>
              <a:buNone/>
            </a:pPr>
            <a:fld id="{DB8BE9A9-07F0-4D64-9ECF-A216C43D7432}" type="slidenum">
              <a:rPr b="0" lang="en-CA" sz="1200" strike="noStrike" u="none">
                <a:solidFill>
                  <a:srgbClr val="000000"/>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10" name="Rectangle 7"/>
          <p:cNvSpPr/>
          <p:nvPr/>
        </p:nvSpPr>
        <p:spPr>
          <a:xfrm>
            <a:off x="3886200" y="8686800"/>
            <a:ext cx="2971440" cy="456840"/>
          </a:xfrm>
          <a:prstGeom prst="rect">
            <a:avLst/>
          </a:prstGeom>
          <a:noFill/>
          <a:ln w="0">
            <a:noFill/>
          </a:ln>
        </p:spPr>
        <p:style>
          <a:lnRef idx="0"/>
          <a:fillRef idx="0"/>
          <a:effectRef idx="0"/>
          <a:fontRef idx="minor"/>
        </p:style>
        <p:txBody>
          <a:bodyPr lIns="90000" rIns="90000" tIns="45000" bIns="45000" anchor="b">
            <a:noAutofit/>
          </a:bodyPr>
          <a:p>
            <a:pPr algn="r">
              <a:lnSpc>
                <a:spcPct val="100000"/>
              </a:lnSpc>
            </a:pPr>
            <a:fld id="{FB103B68-3354-4AFA-9600-54E9D04A1F98}" type="slidenum">
              <a:rPr b="0" lang="en-CA" sz="1200" strike="noStrike" u="none">
                <a:solidFill>
                  <a:srgbClr val="000000"/>
                </a:solidFill>
                <a:effectLst/>
                <a:uFillTx/>
                <a:latin typeface="Tahoma"/>
                <a:ea typeface="ＭＳ Ｐゴシック"/>
              </a:rPr>
              <a:t>&lt;number&gt;</a:t>
            </a:fld>
            <a:endParaRPr b="0" lang="en-US" sz="1200" strike="noStrike" u="none">
              <a:solidFill>
                <a:srgbClr val="000000"/>
              </a:solidFill>
              <a:effectLst/>
              <a:uFillTx/>
              <a:latin typeface="Arial"/>
            </a:endParaRPr>
          </a:p>
        </p:txBody>
      </p:sp>
      <p:sp>
        <p:nvSpPr>
          <p:cNvPr id="511" name="PlaceHolder 2"/>
          <p:cNvSpPr>
            <a:spLocks noGrp="1"/>
          </p:cNvSpPr>
          <p:nvPr>
            <p:ph type="sldImg"/>
          </p:nvPr>
        </p:nvSpPr>
        <p:spPr>
          <a:xfrm>
            <a:off x="1143000" y="685800"/>
            <a:ext cx="4571640" cy="3428640"/>
          </a:xfrm>
          <a:prstGeom prst="rect">
            <a:avLst/>
          </a:prstGeom>
          <a:ln w="0">
            <a:noFill/>
          </a:ln>
        </p:spPr>
      </p:sp>
      <p:sp>
        <p:nvSpPr>
          <p:cNvPr id="512"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6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3" name="PlaceHolder 1"/>
          <p:cNvSpPr>
            <a:spLocks noGrp="1"/>
          </p:cNvSpPr>
          <p:nvPr>
            <p:ph type="sldNum" idx="66"/>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rgbClr val="000000"/>
                </a:solidFill>
                <a:effectLst/>
                <a:uFillTx/>
                <a:latin typeface="Tahoma"/>
                <a:ea typeface="ＭＳ Ｐゴシック"/>
              </a:defRPr>
            </a:lvl1pPr>
          </a:lstStyle>
          <a:p>
            <a:pPr indent="0" algn="r">
              <a:lnSpc>
                <a:spcPct val="100000"/>
              </a:lnSpc>
              <a:buNone/>
            </a:pPr>
            <a:fld id="{445E3214-20B4-46C0-BFA5-AD579DBB9BD3}" type="slidenum">
              <a:rPr b="0" lang="en-CA" sz="1200" strike="noStrike" u="none">
                <a:solidFill>
                  <a:srgbClr val="000000"/>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14" name="Rectangle 7"/>
          <p:cNvSpPr/>
          <p:nvPr/>
        </p:nvSpPr>
        <p:spPr>
          <a:xfrm>
            <a:off x="3886200" y="8686800"/>
            <a:ext cx="2971440" cy="456840"/>
          </a:xfrm>
          <a:prstGeom prst="rect">
            <a:avLst/>
          </a:prstGeom>
          <a:noFill/>
          <a:ln w="0">
            <a:noFill/>
          </a:ln>
        </p:spPr>
        <p:style>
          <a:lnRef idx="0"/>
          <a:fillRef idx="0"/>
          <a:effectRef idx="0"/>
          <a:fontRef idx="minor"/>
        </p:style>
        <p:txBody>
          <a:bodyPr lIns="90000" rIns="90000" tIns="45000" bIns="45000" anchor="b">
            <a:noAutofit/>
          </a:bodyPr>
          <a:p>
            <a:pPr algn="r">
              <a:lnSpc>
                <a:spcPct val="100000"/>
              </a:lnSpc>
            </a:pPr>
            <a:fld id="{5448F861-B489-4B13-ADA5-9993ED2DCAF7}" type="slidenum">
              <a:rPr b="0" lang="en-CA" sz="1200" strike="noStrike" u="none">
                <a:solidFill>
                  <a:srgbClr val="000000"/>
                </a:solidFill>
                <a:effectLst/>
                <a:uFillTx/>
                <a:latin typeface="Tahoma"/>
                <a:ea typeface="ＭＳ Ｐゴシック"/>
              </a:rPr>
              <a:t>&lt;number&gt;</a:t>
            </a:fld>
            <a:endParaRPr b="0" lang="en-US" sz="1200" strike="noStrike" u="none">
              <a:solidFill>
                <a:srgbClr val="000000"/>
              </a:solidFill>
              <a:effectLst/>
              <a:uFillTx/>
              <a:latin typeface="Arial"/>
            </a:endParaRPr>
          </a:p>
        </p:txBody>
      </p:sp>
      <p:sp>
        <p:nvSpPr>
          <p:cNvPr id="515" name="PlaceHolder 2"/>
          <p:cNvSpPr>
            <a:spLocks noGrp="1"/>
          </p:cNvSpPr>
          <p:nvPr>
            <p:ph type="sldImg"/>
          </p:nvPr>
        </p:nvSpPr>
        <p:spPr>
          <a:xfrm>
            <a:off x="1143000" y="685800"/>
            <a:ext cx="4571640" cy="3428640"/>
          </a:xfrm>
          <a:prstGeom prst="rect">
            <a:avLst/>
          </a:prstGeom>
          <a:ln w="0">
            <a:noFill/>
          </a:ln>
        </p:spPr>
      </p:sp>
      <p:sp>
        <p:nvSpPr>
          <p:cNvPr id="516"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notesSlides/notesSlide6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7" name="PlaceHolder 1"/>
          <p:cNvSpPr>
            <a:spLocks noGrp="1"/>
          </p:cNvSpPr>
          <p:nvPr>
            <p:ph type="sldNum" idx="67"/>
          </p:nvPr>
        </p:nvSpPr>
        <p:spPr>
          <a:xfrm>
            <a:off x="3886200" y="868680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b="0" lang="en-CA" sz="1200" strike="noStrike" u="none">
                <a:solidFill>
                  <a:srgbClr val="000000"/>
                </a:solidFill>
                <a:effectLst/>
                <a:uFillTx/>
                <a:latin typeface="Tahoma"/>
                <a:ea typeface="ＭＳ Ｐゴシック"/>
              </a:defRPr>
            </a:lvl1pPr>
          </a:lstStyle>
          <a:p>
            <a:pPr indent="0" algn="r">
              <a:lnSpc>
                <a:spcPct val="100000"/>
              </a:lnSpc>
              <a:buNone/>
            </a:pPr>
            <a:fld id="{44AA4294-850E-4320-B2FF-425107F54E72}" type="slidenum">
              <a:rPr b="0" lang="en-CA" sz="1200" strike="noStrike" u="none">
                <a:solidFill>
                  <a:srgbClr val="000000"/>
                </a:solidFill>
                <a:effectLst/>
                <a:uFillTx/>
                <a:latin typeface="Tahoma"/>
                <a:ea typeface="ＭＳ Ｐゴシック"/>
              </a:rPr>
              <a:t>&lt;number&gt;</a:t>
            </a:fld>
            <a:endParaRPr b="0" lang="en-US" sz="1200" strike="noStrike" u="none">
              <a:solidFill>
                <a:srgbClr val="000000"/>
              </a:solidFill>
              <a:effectLst/>
              <a:uFillTx/>
              <a:latin typeface="Times New Roman"/>
            </a:endParaRPr>
          </a:p>
        </p:txBody>
      </p:sp>
      <p:sp>
        <p:nvSpPr>
          <p:cNvPr id="518" name="Rectangle 7"/>
          <p:cNvSpPr/>
          <p:nvPr/>
        </p:nvSpPr>
        <p:spPr>
          <a:xfrm>
            <a:off x="3886200" y="8686800"/>
            <a:ext cx="2971440" cy="456840"/>
          </a:xfrm>
          <a:prstGeom prst="rect">
            <a:avLst/>
          </a:prstGeom>
          <a:noFill/>
          <a:ln w="0">
            <a:noFill/>
          </a:ln>
        </p:spPr>
        <p:style>
          <a:lnRef idx="0"/>
          <a:fillRef idx="0"/>
          <a:effectRef idx="0"/>
          <a:fontRef idx="minor"/>
        </p:style>
        <p:txBody>
          <a:bodyPr lIns="90000" rIns="90000" tIns="45000" bIns="45000" anchor="b">
            <a:noAutofit/>
          </a:bodyPr>
          <a:p>
            <a:pPr algn="r">
              <a:lnSpc>
                <a:spcPct val="100000"/>
              </a:lnSpc>
            </a:pPr>
            <a:fld id="{80864FAA-9CEC-4462-AEF3-B50CD42720B0}" type="slidenum">
              <a:rPr b="0" lang="en-CA" sz="1200" strike="noStrike" u="none">
                <a:solidFill>
                  <a:srgbClr val="000000"/>
                </a:solidFill>
                <a:effectLst/>
                <a:uFillTx/>
                <a:latin typeface="Tahoma"/>
                <a:ea typeface="ＭＳ Ｐゴシック"/>
              </a:rPr>
              <a:t>&lt;number&gt;</a:t>
            </a:fld>
            <a:endParaRPr b="0" lang="en-US" sz="1200" strike="noStrike" u="none">
              <a:solidFill>
                <a:srgbClr val="000000"/>
              </a:solidFill>
              <a:effectLst/>
              <a:uFillTx/>
              <a:latin typeface="Arial"/>
            </a:endParaRPr>
          </a:p>
        </p:txBody>
      </p:sp>
      <p:sp>
        <p:nvSpPr>
          <p:cNvPr id="519" name="PlaceHolder 2"/>
          <p:cNvSpPr>
            <a:spLocks noGrp="1"/>
          </p:cNvSpPr>
          <p:nvPr>
            <p:ph type="sldImg"/>
          </p:nvPr>
        </p:nvSpPr>
        <p:spPr>
          <a:xfrm>
            <a:off x="1143000" y="685800"/>
            <a:ext cx="4571640" cy="3428640"/>
          </a:xfrm>
          <a:prstGeom prst="rect">
            <a:avLst/>
          </a:prstGeom>
          <a:ln w="0">
            <a:noFill/>
          </a:ln>
        </p:spPr>
      </p:sp>
      <p:sp>
        <p:nvSpPr>
          <p:cNvPr id="520" name="PlaceHolder 3"/>
          <p:cNvSpPr>
            <a:spLocks noGrp="1"/>
          </p:cNvSpPr>
          <p:nvPr>
            <p:ph type="body"/>
          </p:nvPr>
        </p:nvSpPr>
        <p:spPr>
          <a:xfrm>
            <a:off x="914400" y="4343400"/>
            <a:ext cx="5028840" cy="411444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7.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3600"/>
            <a:ext cx="8229240" cy="1144800"/>
          </a:xfrm>
          <a:prstGeom prst="rect">
            <a:avLst/>
          </a:prstGeom>
          <a:noFill/>
          <a:ln w="0">
            <a:noFill/>
          </a:ln>
        </p:spPr>
        <p:txBody>
          <a:bodyPr lIns="0" rIns="0" tIns="0" bIns="0" anchor="ctr">
            <a:spAutoFit/>
          </a:bodyPr>
          <a:p>
            <a:pPr indent="0">
              <a:buNone/>
            </a:pPr>
            <a:endParaRPr b="0" lang="en-CA" sz="2400" strike="noStrike" u="none">
              <a:solidFill>
                <a:schemeClr val="dk1"/>
              </a:solidFill>
              <a:effectLst/>
              <a:uFillTx/>
              <a:latin typeface="Arial"/>
            </a:endParaRPr>
          </a:p>
        </p:txBody>
      </p:sp>
      <p:sp>
        <p:nvSpPr>
          <p:cNvPr id="7"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1" lang="en-CA" sz="2800" strike="noStrike" u="none">
              <a:solidFill>
                <a:srgbClr val="00468f"/>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p:spTree>
      <p:nvGrpSpPr>
        <p:cNvPr id="1" name=""/>
        <p:cNvGrpSpPr/>
        <p:nvPr/>
      </p:nvGrpSpPr>
      <p:grpSpPr>
        <a:xfrm>
          <a:off x="0" y="0"/>
          <a:ext cx="0" cy="0"/>
          <a:chOff x="0" y="0"/>
          <a:chExt cx="0" cy="0"/>
        </a:xfrm>
      </p:grpSpPr>
      <p:sp>
        <p:nvSpPr>
          <p:cNvPr id="11" name="PlaceHolder 1"/>
          <p:cNvSpPr>
            <a:spLocks noGrp="1"/>
          </p:cNvSpPr>
          <p:nvPr>
            <p:ph type="title"/>
          </p:nvPr>
        </p:nvSpPr>
        <p:spPr>
          <a:xfrm>
            <a:off x="457200" y="273600"/>
            <a:ext cx="8229240" cy="1144800"/>
          </a:xfrm>
          <a:prstGeom prst="rect">
            <a:avLst/>
          </a:prstGeom>
          <a:noFill/>
          <a:ln w="0">
            <a:noFill/>
          </a:ln>
        </p:spPr>
        <p:txBody>
          <a:bodyPr lIns="0" rIns="0" tIns="0" bIns="0" anchor="ctr">
            <a:spAutoFit/>
          </a:bodyPr>
          <a:p>
            <a:pPr indent="0">
              <a:buNone/>
            </a:pPr>
            <a:endParaRPr b="0" lang="en-CA" sz="2400" strike="noStrike" u="none">
              <a:solidFill>
                <a:schemeClr val="dk1"/>
              </a:solidFill>
              <a:effectLst/>
              <a:uFillTx/>
              <a:latin typeface="Arial"/>
            </a:endParaRPr>
          </a:p>
        </p:txBody>
      </p:sp>
      <p:sp>
        <p:nvSpPr>
          <p:cNvPr id="12"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1" lang="en-CA" sz="2800" strike="noStrike" u="none">
              <a:solidFill>
                <a:srgbClr val="00468f"/>
              </a:solidFill>
              <a:effectLst/>
              <a:uFillTx/>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1">
    <p:spTree>
      <p:nvGrpSpPr>
        <p:cNvPr id="1" name=""/>
        <p:cNvGrpSpPr/>
        <p:nvPr/>
      </p:nvGrpSpPr>
      <p:grpSpPr>
        <a:xfrm>
          <a:off x="0" y="0"/>
          <a:ext cx="0" cy="0"/>
          <a:chOff x="0" y="0"/>
          <a:chExt cx="0" cy="0"/>
        </a:xfrm>
      </p:grpSpPr>
      <p:sp>
        <p:nvSpPr>
          <p:cNvPr id="17" name="PlaceHolder 1"/>
          <p:cNvSpPr>
            <a:spLocks noGrp="1"/>
          </p:cNvSpPr>
          <p:nvPr>
            <p:ph type="title"/>
          </p:nvPr>
        </p:nvSpPr>
        <p:spPr>
          <a:xfrm>
            <a:off x="457200" y="273600"/>
            <a:ext cx="8229240" cy="1144800"/>
          </a:xfrm>
          <a:prstGeom prst="rect">
            <a:avLst/>
          </a:prstGeom>
          <a:noFill/>
          <a:ln w="0">
            <a:noFill/>
          </a:ln>
        </p:spPr>
        <p:txBody>
          <a:bodyPr lIns="0" rIns="0" tIns="0" bIns="0" anchor="ctr">
            <a:spAutoFit/>
          </a:bodyPr>
          <a:p>
            <a:pPr indent="0">
              <a:buNone/>
            </a:pPr>
            <a:endParaRPr b="0" lang="en-CA" sz="2400" strike="noStrike" u="none">
              <a:solidFill>
                <a:schemeClr val="dk1"/>
              </a:solidFill>
              <a:effectLst/>
              <a:uFillTx/>
              <a:latin typeface="Arial"/>
            </a:endParaRPr>
          </a:p>
        </p:txBody>
      </p:sp>
      <p:sp>
        <p:nvSpPr>
          <p:cNvPr id="18"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1" lang="en-CA" sz="2800" strike="noStrike" u="none">
              <a:solidFill>
                <a:srgbClr val="00468f"/>
              </a:solidFill>
              <a:effectLst/>
              <a:uFillTx/>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2">
    <p:spTree>
      <p:nvGrpSpPr>
        <p:cNvPr id="1" name=""/>
        <p:cNvGrpSpPr/>
        <p:nvPr/>
      </p:nvGrpSpPr>
      <p:grpSpPr>
        <a:xfrm>
          <a:off x="0" y="0"/>
          <a:ext cx="0" cy="0"/>
          <a:chOff x="0" y="0"/>
          <a:chExt cx="0" cy="0"/>
        </a:xfrm>
      </p:grpSpPr>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3">
    <p:spTree>
      <p:nvGrpSpPr>
        <p:cNvPr id="1" name=""/>
        <p:cNvGrpSpPr/>
        <p:nvPr/>
      </p:nvGrpSpPr>
      <p:grpSpPr>
        <a:xfrm>
          <a:off x="0" y="0"/>
          <a:ext cx="0" cy="0"/>
          <a:chOff x="0" y="0"/>
          <a:chExt cx="0" cy="0"/>
        </a:xfrm>
      </p:grpSpPr>
      <p:sp>
        <p:nvSpPr>
          <p:cNvPr id="31" name="PlaceHolder 1"/>
          <p:cNvSpPr>
            <a:spLocks noGrp="1"/>
          </p:cNvSpPr>
          <p:nvPr>
            <p:ph type="title"/>
          </p:nvPr>
        </p:nvSpPr>
        <p:spPr>
          <a:xfrm>
            <a:off x="457200" y="273600"/>
            <a:ext cx="8229240" cy="1144800"/>
          </a:xfrm>
          <a:prstGeom prst="rect">
            <a:avLst/>
          </a:prstGeom>
          <a:noFill/>
          <a:ln w="0">
            <a:noFill/>
          </a:ln>
        </p:spPr>
        <p:txBody>
          <a:bodyPr lIns="0" rIns="0" tIns="0" bIns="0" anchor="ctr">
            <a:spAutoFit/>
          </a:bodyPr>
          <a:p>
            <a:pPr indent="0">
              <a:buNone/>
            </a:pPr>
            <a:endParaRPr b="0" lang="en-CA" sz="2400" strike="noStrike" u="none">
              <a:solidFill>
                <a:schemeClr val="dk1"/>
              </a:solidFill>
              <a:effectLst/>
              <a:uFillTx/>
              <a:latin typeface="Arial"/>
            </a:endParaRPr>
          </a:p>
        </p:txBody>
      </p:sp>
      <p:sp>
        <p:nvSpPr>
          <p:cNvPr id="32"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pPr indent="0">
              <a:spcBef>
                <a:spcPts val="1417"/>
              </a:spcBef>
              <a:buNone/>
            </a:pPr>
            <a:endParaRPr b="1" lang="en-CA" sz="2800" strike="noStrike" u="none">
              <a:solidFill>
                <a:srgbClr val="00468f"/>
              </a:solidFill>
              <a:effectLst/>
              <a:uFillTx/>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3">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jpeg"/><Relationship Id="rId3"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2.jpeg"/><Relationship Id="rId3"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Relationship Id="rId3" Type="http://schemas.openxmlformats.org/officeDocument/2006/relationships/slideLayout" Target="../slideLayouts/slideLayout8.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0" name="Text Box 2"/>
          <p:cNvSpPr/>
          <p:nvPr/>
        </p:nvSpPr>
        <p:spPr>
          <a:xfrm>
            <a:off x="3581280" y="6637320"/>
            <a:ext cx="1692000" cy="21384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spcBef>
                <a:spcPts val="400"/>
              </a:spcBef>
            </a:pPr>
            <a:r>
              <a:rPr b="0" lang="en-US" sz="800" strike="noStrike" u="none">
                <a:solidFill>
                  <a:srgbClr val="000000"/>
                </a:solidFill>
                <a:effectLst/>
                <a:uFillTx/>
                <a:latin typeface="Arial"/>
                <a:ea typeface="ＭＳ Ｐゴシック"/>
              </a:rPr>
              <a:t>© 2018 Pearson</a:t>
            </a:r>
            <a:endParaRPr b="0" lang="en-US" sz="800" strike="noStrike" u="none">
              <a:solidFill>
                <a:srgbClr val="000000"/>
              </a:solidFill>
              <a:effectLst/>
              <a:uFillTx/>
              <a:latin typeface="Arial"/>
            </a:endParaRPr>
          </a:p>
        </p:txBody>
      </p:sp>
      <p:sp>
        <p:nvSpPr>
          <p:cNvPr id="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buNone/>
            </a:pPr>
            <a:r>
              <a:rPr b="0" lang="en-CA" sz="2400" strike="noStrike" u="none">
                <a:solidFill>
                  <a:schemeClr val="dk1"/>
                </a:solidFill>
                <a:effectLst/>
                <a:uFillTx/>
                <a:latin typeface="Arial"/>
              </a:rPr>
              <a:t>Click to edit the title text format</a:t>
            </a:r>
            <a:endParaRPr b="0" lang="en-CA" sz="2400" strike="noStrike" u="none">
              <a:solidFill>
                <a:schemeClr val="dk1"/>
              </a:solidFill>
              <a:effectLst/>
              <a:uFillTx/>
              <a:latin typeface="Arial"/>
            </a:endParaRPr>
          </a:p>
        </p:txBody>
      </p:sp>
      <p:sp>
        <p:nvSpPr>
          <p:cNvPr id="2" name="PlaceHolder 2"/>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1" lang="en-CA" sz="2800" strike="noStrike" u="none">
                <a:solidFill>
                  <a:srgbClr val="fb1b2a"/>
                </a:solidFill>
                <a:effectLst/>
                <a:uFillTx/>
                <a:latin typeface="Arial"/>
              </a:rPr>
              <a:t>Click to edit the outline text format</a:t>
            </a:r>
            <a:endParaRPr b="1" lang="en-CA" sz="2800" strike="noStrike" u="none">
              <a:solidFill>
                <a:srgbClr val="fb1b2a"/>
              </a:solidFill>
              <a:effectLst/>
              <a:uFillTx/>
              <a:latin typeface="Arial"/>
            </a:endParaRPr>
          </a:p>
          <a:p>
            <a:pPr lvl="1" marL="864000" indent="-324000">
              <a:spcBef>
                <a:spcPts val="1134"/>
              </a:spcBef>
              <a:buClr>
                <a:srgbClr val="000000"/>
              </a:buClr>
              <a:buSzPct val="75000"/>
              <a:buFont typeface="Symbol" charset="2"/>
              <a:buChar char=""/>
            </a:pPr>
            <a:r>
              <a:rPr b="0" lang="en-CA" sz="2400" strike="noStrike" u="none">
                <a:solidFill>
                  <a:schemeClr val="dk1"/>
                </a:solidFill>
                <a:effectLst/>
                <a:uFillTx/>
                <a:latin typeface="Arial"/>
              </a:rPr>
              <a:t>Second Outline Level</a:t>
            </a:r>
            <a:endParaRPr b="0" lang="en-CA" sz="2400" strike="noStrike" u="none">
              <a:solidFill>
                <a:schemeClr val="dk1"/>
              </a:solidFill>
              <a:effectLst/>
              <a:uFillTx/>
              <a:latin typeface="Arial"/>
            </a:endParaRPr>
          </a:p>
          <a:p>
            <a:pPr lvl="2" marL="1296000" indent="-288000">
              <a:spcBef>
                <a:spcPts val="850"/>
              </a:spcBef>
              <a:buClr>
                <a:srgbClr val="000000"/>
              </a:buClr>
              <a:buSzPct val="45000"/>
              <a:buFont typeface="Wingdings" charset="2"/>
              <a:buChar char=""/>
            </a:pPr>
            <a:r>
              <a:rPr b="0" lang="en-CA" sz="2000" strike="noStrike" u="none">
                <a:solidFill>
                  <a:schemeClr val="dk1"/>
                </a:solidFill>
                <a:effectLst/>
                <a:uFillTx/>
                <a:latin typeface="Arial"/>
              </a:rPr>
              <a:t>Third Outline Level</a:t>
            </a:r>
            <a:endParaRPr b="0" lang="en-CA" sz="2000" strike="noStrike" u="none">
              <a:solidFill>
                <a:schemeClr val="dk1"/>
              </a:solidFill>
              <a:effectLst/>
              <a:uFillTx/>
              <a:latin typeface="Arial"/>
            </a:endParaRPr>
          </a:p>
          <a:p>
            <a:pPr lvl="3" marL="1728000" indent="-216000">
              <a:spcBef>
                <a:spcPts val="567"/>
              </a:spcBef>
              <a:buClr>
                <a:srgbClr val="000000"/>
              </a:buClr>
              <a:buSzPct val="75000"/>
              <a:buFont typeface="Symbol" charset="2"/>
              <a:buChar char=""/>
            </a:pPr>
            <a:r>
              <a:rPr b="0" lang="en-CA" sz="2000" strike="noStrike" u="none">
                <a:solidFill>
                  <a:schemeClr val="dk1"/>
                </a:solidFill>
                <a:effectLst/>
                <a:uFillTx/>
                <a:latin typeface="Arial"/>
              </a:rPr>
              <a:t>Fourth Outline Level</a:t>
            </a:r>
            <a:endParaRPr b="0" lang="en-CA" sz="2000" strike="noStrike" u="none">
              <a:solidFill>
                <a:schemeClr val="dk1"/>
              </a:solidFill>
              <a:effectLst/>
              <a:uFillTx/>
              <a:latin typeface="Arial"/>
            </a:endParaRPr>
          </a:p>
          <a:p>
            <a:pPr lvl="4" marL="2160000" indent="-216000">
              <a:spcBef>
                <a:spcPts val="283"/>
              </a:spcBef>
              <a:buClr>
                <a:srgbClr val="000000"/>
              </a:buClr>
              <a:buSzPct val="45000"/>
              <a:buFont typeface="Wingdings" charset="2"/>
              <a:buChar char=""/>
            </a:pPr>
            <a:r>
              <a:rPr b="0" lang="en-CA" sz="2000" strike="noStrike" u="none">
                <a:solidFill>
                  <a:schemeClr val="dk1"/>
                </a:solidFill>
                <a:effectLst/>
                <a:uFillTx/>
                <a:latin typeface="Arial"/>
              </a:rPr>
              <a:t>Fifth Outline Level</a:t>
            </a:r>
            <a:endParaRPr b="0" lang="en-CA" sz="2000" strike="noStrike" u="none">
              <a:solidFill>
                <a:schemeClr val="dk1"/>
              </a:solidFill>
              <a:effectLst/>
              <a:uFillTx/>
              <a:latin typeface="Arial"/>
            </a:endParaRPr>
          </a:p>
          <a:p>
            <a:pPr lvl="5" marL="2592000" indent="-216000">
              <a:spcBef>
                <a:spcPts val="283"/>
              </a:spcBef>
              <a:buClr>
                <a:srgbClr val="000000"/>
              </a:buClr>
              <a:buSzPct val="45000"/>
              <a:buFont typeface="Wingdings" charset="2"/>
              <a:buChar char=""/>
            </a:pPr>
            <a:r>
              <a:rPr b="0" lang="en-CA" sz="2000" strike="noStrike" u="none">
                <a:solidFill>
                  <a:schemeClr val="dk1"/>
                </a:solidFill>
                <a:effectLst/>
                <a:uFillTx/>
                <a:latin typeface="Arial"/>
              </a:rPr>
              <a:t>Sixth Outline Level</a:t>
            </a:r>
            <a:endParaRPr b="0" lang="en-CA" sz="2000" strike="noStrike" u="none">
              <a:solidFill>
                <a:schemeClr val="dk1"/>
              </a:solidFill>
              <a:effectLst/>
              <a:uFillTx/>
              <a:latin typeface="Arial"/>
            </a:endParaRPr>
          </a:p>
          <a:p>
            <a:pPr lvl="6" marL="3024000" indent="-216000">
              <a:spcBef>
                <a:spcPts val="283"/>
              </a:spcBef>
              <a:buClr>
                <a:srgbClr val="000000"/>
              </a:buClr>
              <a:buSzPct val="45000"/>
              <a:buFont typeface="Wingdings" charset="2"/>
              <a:buChar char=""/>
            </a:pPr>
            <a:r>
              <a:rPr b="0" lang="en-CA" sz="2000" strike="noStrike" u="none">
                <a:solidFill>
                  <a:schemeClr val="dk1"/>
                </a:solidFill>
                <a:effectLst/>
                <a:uFillTx/>
                <a:latin typeface="Arial"/>
              </a:rPr>
              <a:t>Seventh Outline Level</a:t>
            </a:r>
            <a:endParaRPr b="0" lang="en-CA" sz="2000" strike="noStrike" u="none">
              <a:solidFill>
                <a:schemeClr val="dk1"/>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3" name="Text Box 2"/>
          <p:cNvSpPr/>
          <p:nvPr/>
        </p:nvSpPr>
        <p:spPr>
          <a:xfrm>
            <a:off x="3581280" y="6637320"/>
            <a:ext cx="1692000" cy="21384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spcBef>
                <a:spcPts val="400"/>
              </a:spcBef>
            </a:pPr>
            <a:r>
              <a:rPr b="0" lang="en-US" sz="800" strike="noStrike" u="none">
                <a:solidFill>
                  <a:srgbClr val="000000"/>
                </a:solidFill>
                <a:effectLst/>
                <a:uFillTx/>
                <a:latin typeface="Arial"/>
                <a:ea typeface="ＭＳ Ｐゴシック"/>
              </a:rPr>
              <a:t>© 2018 Pearson</a:t>
            </a:r>
            <a:endParaRPr b="0" lang="en-US" sz="800" strike="noStrike" u="none">
              <a:solidFill>
                <a:srgbClr val="000000"/>
              </a:solidFill>
              <a:effectLst/>
              <a:uFillTx/>
              <a:latin typeface="Arial"/>
            </a:endParaRPr>
          </a:p>
        </p:txBody>
      </p:sp>
      <p:sp>
        <p:nvSpPr>
          <p:cNvPr id="4"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Click to edit Master title style</a:t>
            </a:r>
            <a:endParaRPr b="0" lang="en-CA" sz="2600" strike="noStrike" u="none">
              <a:solidFill>
                <a:schemeClr val="dk1"/>
              </a:solidFill>
              <a:effectLst/>
              <a:uFillTx/>
              <a:latin typeface="Arial"/>
            </a:endParaRPr>
          </a:p>
        </p:txBody>
      </p:sp>
      <p:sp>
        <p:nvSpPr>
          <p:cNvPr id="5" name="PlaceHolder 2"/>
          <p:cNvSpPr>
            <a:spLocks noGrp="1"/>
          </p:cNvSpPr>
          <p:nvPr>
            <p:ph type="body"/>
          </p:nvPr>
        </p:nvSpPr>
        <p:spPr>
          <a:xfrm>
            <a:off x="360360" y="1440000"/>
            <a:ext cx="8229240" cy="4289040"/>
          </a:xfrm>
          <a:prstGeom prst="rect">
            <a:avLst/>
          </a:prstGeom>
          <a:noFill/>
          <a:ln w="0">
            <a:noFill/>
          </a:ln>
        </p:spPr>
        <p:txBody>
          <a:bodyPr numCol="1" spcCol="0" lIns="91440" rIns="91440" tIns="45720" bIns="45720" anchor="t">
            <a:noAutofit/>
          </a:bodyPr>
          <a:p>
            <a:pPr marL="343080" indent="-343080">
              <a:lnSpc>
                <a:spcPct val="100000"/>
              </a:lnSpc>
              <a:spcBef>
                <a:spcPts val="561"/>
              </a:spcBef>
              <a:buClr>
                <a:srgbClr val="00468f"/>
              </a:buClr>
              <a:buFont typeface="Webdings" charset="2"/>
              <a:buChar char=""/>
            </a:pPr>
            <a:r>
              <a:rPr b="1" lang="en-US" sz="2800" strike="noStrike" u="none">
                <a:solidFill>
                  <a:srgbClr val="00468f"/>
                </a:solidFill>
                <a:effectLst/>
                <a:uFillTx/>
                <a:latin typeface="Arial"/>
                <a:ea typeface="ＭＳ Ｐゴシック"/>
              </a:rPr>
              <a:t>Click to edit Master text styles</a:t>
            </a:r>
            <a:endParaRPr b="1" lang="en-CA" sz="28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Second level</a:t>
            </a:r>
            <a:endParaRPr b="1" lang="en-CA" sz="2400" strike="noStrike" u="none">
              <a:solidFill>
                <a:srgbClr val="00468f"/>
              </a:solidFill>
              <a:effectLst/>
              <a:uFillTx/>
              <a:latin typeface="Arial"/>
            </a:endParaRPr>
          </a:p>
          <a:p>
            <a:pPr lvl="2" marL="1079640" indent="-288000">
              <a:lnSpc>
                <a:spcPct val="100000"/>
              </a:lnSpc>
              <a:spcBef>
                <a:spcPts val="601"/>
              </a:spcBef>
              <a:spcAft>
                <a:spcPts val="601"/>
              </a:spcAft>
              <a:buClr>
                <a:srgbClr val="00468f"/>
              </a:buClr>
              <a:buFont typeface="Symbol" charset="2"/>
              <a:buChar char=""/>
            </a:pPr>
            <a:r>
              <a:rPr b="0" lang="en-US" sz="2400" strike="noStrike" u="none">
                <a:solidFill>
                  <a:schemeClr val="dk1"/>
                </a:solidFill>
                <a:effectLst/>
                <a:uFillTx/>
                <a:latin typeface="Arial"/>
                <a:ea typeface="ＭＳ Ｐゴシック"/>
              </a:rPr>
              <a:t>Third level</a:t>
            </a:r>
            <a:endParaRPr b="0" lang="en-CA" sz="2400" strike="noStrike" u="none">
              <a:solidFill>
                <a:schemeClr val="dk1"/>
              </a:solidFill>
              <a:effectLst/>
              <a:uFillTx/>
              <a:latin typeface="Arial"/>
            </a:endParaRPr>
          </a:p>
          <a:p>
            <a:pPr lvl="3" marL="1600200" indent="-228600">
              <a:lnSpc>
                <a:spcPct val="100000"/>
              </a:lnSpc>
              <a:spcBef>
                <a:spcPts val="400"/>
              </a:spcBef>
              <a:buClr>
                <a:srgbClr val="000000"/>
              </a:buClr>
              <a:buFont typeface="Symbol" charset="2"/>
              <a:buChar char=""/>
            </a:pPr>
            <a:r>
              <a:rPr b="0" lang="en-US" sz="2000" strike="noStrike" u="none">
                <a:solidFill>
                  <a:schemeClr val="dk1"/>
                </a:solidFill>
                <a:effectLst/>
                <a:uFillTx/>
                <a:latin typeface="Arial"/>
                <a:ea typeface="ＭＳ Ｐゴシック"/>
              </a:rPr>
              <a:t>Fourth level</a:t>
            </a:r>
            <a:endParaRPr b="0" lang="en-CA" sz="2000" strike="noStrike" u="none">
              <a:solidFill>
                <a:schemeClr val="dk1"/>
              </a:solidFill>
              <a:effectLst/>
              <a:uFillTx/>
              <a:latin typeface="Arial"/>
            </a:endParaRPr>
          </a:p>
          <a:p>
            <a:pPr lvl="4" marL="2057400" indent="-228600">
              <a:lnSpc>
                <a:spcPct val="100000"/>
              </a:lnSpc>
              <a:spcBef>
                <a:spcPts val="400"/>
              </a:spcBef>
              <a:buClr>
                <a:srgbClr val="000000"/>
              </a:buClr>
              <a:buFont typeface="OpenSymbol"/>
              <a:buChar char="»"/>
            </a:pPr>
            <a:r>
              <a:rPr b="0" lang="en-US" sz="2000" strike="noStrike" u="none">
                <a:solidFill>
                  <a:schemeClr val="dk1"/>
                </a:solidFill>
                <a:effectLst/>
                <a:uFillTx/>
                <a:latin typeface="Arial"/>
                <a:ea typeface="ＭＳ Ｐゴシック"/>
              </a:rPr>
              <a:t>Fifth level</a:t>
            </a:r>
            <a:endParaRPr b="0" lang="en-CA" sz="2000" strike="noStrike" u="none">
              <a:solidFill>
                <a:schemeClr val="dk1"/>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8" name="Text Box 2"/>
          <p:cNvSpPr/>
          <p:nvPr/>
        </p:nvSpPr>
        <p:spPr>
          <a:xfrm>
            <a:off x="3581280" y="6637320"/>
            <a:ext cx="1692000" cy="21384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spcBef>
                <a:spcPts val="400"/>
              </a:spcBef>
            </a:pPr>
            <a:r>
              <a:rPr b="0" lang="en-US" sz="800" strike="noStrike" u="none">
                <a:solidFill>
                  <a:srgbClr val="000000"/>
                </a:solidFill>
                <a:effectLst/>
                <a:uFillTx/>
                <a:latin typeface="Arial"/>
                <a:ea typeface="ＭＳ Ｐゴシック"/>
              </a:rPr>
              <a:t>© 2018 Pearson</a:t>
            </a:r>
            <a:endParaRPr b="0" lang="en-US" sz="800" strike="noStrike" u="none">
              <a:solidFill>
                <a:srgbClr val="000000"/>
              </a:solidFill>
              <a:effectLst/>
              <a:uFillTx/>
              <a:latin typeface="Arial"/>
            </a:endParaRPr>
          </a:p>
        </p:txBody>
      </p:sp>
      <p:sp>
        <p:nvSpPr>
          <p:cNvPr id="9"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Click to edit Master title style</a:t>
            </a:r>
            <a:endParaRPr b="0" lang="en-CA" sz="2600" strike="noStrike" u="none">
              <a:solidFill>
                <a:schemeClr val="dk1"/>
              </a:solidFill>
              <a:effectLst/>
              <a:uFillTx/>
              <a:latin typeface="Arial"/>
            </a:endParaRPr>
          </a:p>
        </p:txBody>
      </p:sp>
      <p:sp>
        <p:nvSpPr>
          <p:cNvPr id="10" name="PlaceHolder 2"/>
          <p:cNvSpPr>
            <a:spLocks noGrp="1"/>
          </p:cNvSpPr>
          <p:nvPr>
            <p:ph type="body"/>
          </p:nvPr>
        </p:nvSpPr>
        <p:spPr>
          <a:xfrm>
            <a:off x="360000" y="1440000"/>
            <a:ext cx="4114440" cy="4647960"/>
          </a:xfrm>
          <a:prstGeom prst="rect">
            <a:avLst/>
          </a:prstGeom>
          <a:noFill/>
          <a:ln w="0">
            <a:noFill/>
          </a:ln>
        </p:spPr>
        <p:txBody>
          <a:bodyPr numCol="1" spcCol="0" lIns="91440" rIns="91440" tIns="45720" bIns="45720" anchor="t">
            <a:noAutofit/>
          </a:bodyPr>
          <a:p>
            <a:pPr marL="343080" indent="-343080">
              <a:lnSpc>
                <a:spcPct val="100000"/>
              </a:lnSpc>
              <a:spcBef>
                <a:spcPts val="561"/>
              </a:spcBef>
              <a:buClr>
                <a:srgbClr val="00468f"/>
              </a:buClr>
              <a:buFont typeface="Webdings" charset="2"/>
              <a:buChar char=""/>
            </a:pPr>
            <a:r>
              <a:rPr b="1" lang="en-US" sz="2800" strike="noStrike" u="none">
                <a:solidFill>
                  <a:srgbClr val="00468f"/>
                </a:solidFill>
                <a:effectLst/>
                <a:uFillTx/>
                <a:latin typeface="Arial"/>
                <a:ea typeface="ＭＳ Ｐゴシック"/>
              </a:rPr>
              <a:t>Click to edit Master text styles</a:t>
            </a:r>
            <a:endParaRPr b="1" lang="en-CA" sz="28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Second level</a:t>
            </a:r>
            <a:endParaRPr b="1" lang="en-CA" sz="2400" strike="noStrike" u="none">
              <a:solidFill>
                <a:srgbClr val="00468f"/>
              </a:solidFill>
              <a:effectLst/>
              <a:uFillTx/>
              <a:latin typeface="Arial"/>
            </a:endParaRPr>
          </a:p>
          <a:p>
            <a:pPr lvl="2" marL="1143000" indent="-228600">
              <a:lnSpc>
                <a:spcPct val="100000"/>
              </a:lnSpc>
              <a:spcBef>
                <a:spcPts val="479"/>
              </a:spcBef>
              <a:buClr>
                <a:srgbClr val="00468f"/>
              </a:buClr>
              <a:buFont typeface="Symbol" charset="2"/>
              <a:buChar char=""/>
            </a:pPr>
            <a:r>
              <a:rPr b="0" lang="en-US" sz="2400" strike="noStrike" u="none">
                <a:solidFill>
                  <a:schemeClr val="dk1"/>
                </a:solidFill>
                <a:effectLst/>
                <a:uFillTx/>
                <a:latin typeface="Arial"/>
                <a:ea typeface="ＭＳ Ｐゴシック"/>
              </a:rPr>
              <a:t>Third level</a:t>
            </a:r>
            <a:endParaRPr b="0" lang="en-CA" sz="2400" strike="noStrike" u="none">
              <a:solidFill>
                <a:schemeClr val="dk1"/>
              </a:solidFill>
              <a:effectLst/>
              <a:uFillTx/>
              <a:latin typeface="Arial"/>
            </a:endParaRPr>
          </a:p>
          <a:p>
            <a:pPr lvl="3" marL="1600200" indent="-228600">
              <a:lnSpc>
                <a:spcPct val="100000"/>
              </a:lnSpc>
              <a:spcBef>
                <a:spcPts val="400"/>
              </a:spcBef>
              <a:buClr>
                <a:srgbClr val="000000"/>
              </a:buClr>
              <a:buFont typeface="Symbol" charset="2"/>
              <a:buChar char=""/>
            </a:pPr>
            <a:r>
              <a:rPr b="0" lang="en-US" sz="2000" strike="noStrike" u="none">
                <a:solidFill>
                  <a:schemeClr val="dk1"/>
                </a:solidFill>
                <a:effectLst/>
                <a:uFillTx/>
                <a:latin typeface="Arial"/>
                <a:ea typeface="ＭＳ Ｐゴシック"/>
              </a:rPr>
              <a:t>Fourth level</a:t>
            </a:r>
            <a:endParaRPr b="0" lang="en-CA" sz="2000" strike="noStrike" u="none">
              <a:solidFill>
                <a:schemeClr val="dk1"/>
              </a:solidFill>
              <a:effectLst/>
              <a:uFillTx/>
              <a:latin typeface="Arial"/>
            </a:endParaRPr>
          </a:p>
          <a:p>
            <a:pPr lvl="4" marL="2057400" indent="-228600">
              <a:lnSpc>
                <a:spcPct val="100000"/>
              </a:lnSpc>
              <a:spcBef>
                <a:spcPts val="400"/>
              </a:spcBef>
              <a:buClr>
                <a:srgbClr val="000000"/>
              </a:buClr>
              <a:buFont typeface="OpenSymbol"/>
              <a:buChar char="»"/>
            </a:pPr>
            <a:r>
              <a:rPr b="0" lang="en-US" sz="2000" strike="noStrike" u="none">
                <a:solidFill>
                  <a:schemeClr val="dk1"/>
                </a:solidFill>
                <a:effectLst/>
                <a:uFillTx/>
                <a:latin typeface="Arial"/>
                <a:ea typeface="ＭＳ Ｐゴシック"/>
              </a:rPr>
              <a:t>Fifth level</a:t>
            </a:r>
            <a:endParaRPr b="0" lang="en-CA" sz="2000" strike="noStrike" u="none">
              <a:solidFill>
                <a:schemeClr val="dk1"/>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13" name="Picture 7" descr="">
            <a:hlinkClick r:id="" action="ppaction://hlinkshowjump?jump=nextslide"/>
          </p:cNvPr>
          <p:cNvPicPr/>
          <p:nvPr/>
        </p:nvPicPr>
        <p:blipFill>
          <a:blip r:embed="rId2"/>
          <a:stretch/>
        </p:blipFill>
        <p:spPr>
          <a:xfrm>
            <a:off x="8640720" y="6480000"/>
            <a:ext cx="221760" cy="221760"/>
          </a:xfrm>
          <a:prstGeom prst="rect">
            <a:avLst/>
          </a:prstGeom>
          <a:noFill/>
          <a:ln w="0">
            <a:noFill/>
          </a:ln>
        </p:spPr>
      </p:pic>
      <p:sp>
        <p:nvSpPr>
          <p:cNvPr id="14" name="Text Box 2"/>
          <p:cNvSpPr/>
          <p:nvPr/>
        </p:nvSpPr>
        <p:spPr>
          <a:xfrm>
            <a:off x="3581280" y="6637320"/>
            <a:ext cx="1692000" cy="21384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spcBef>
                <a:spcPts val="400"/>
              </a:spcBef>
            </a:pPr>
            <a:r>
              <a:rPr b="0" lang="en-US" sz="800" strike="noStrike" u="none">
                <a:solidFill>
                  <a:srgbClr val="000000"/>
                </a:solidFill>
                <a:effectLst/>
                <a:uFillTx/>
                <a:latin typeface="Arial"/>
                <a:ea typeface="ＭＳ Ｐゴシック"/>
              </a:rPr>
              <a:t>© 2018 Pearson</a:t>
            </a:r>
            <a:endParaRPr b="0" lang="en-US" sz="800" strike="noStrike" u="none">
              <a:solidFill>
                <a:srgbClr val="000000"/>
              </a:solidFill>
              <a:effectLst/>
              <a:uFillTx/>
              <a:latin typeface="Arial"/>
            </a:endParaRPr>
          </a:p>
        </p:txBody>
      </p:sp>
      <p:sp>
        <p:nvSpPr>
          <p:cNvPr id="15"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Click to edit Master title style</a:t>
            </a:r>
            <a:endParaRPr b="0" lang="en-CA" sz="2600" strike="noStrike" u="none">
              <a:solidFill>
                <a:schemeClr val="dk1"/>
              </a:solidFill>
              <a:effectLst/>
              <a:uFillTx/>
              <a:latin typeface="Arial"/>
            </a:endParaRPr>
          </a:p>
        </p:txBody>
      </p:sp>
      <p:sp>
        <p:nvSpPr>
          <p:cNvPr id="16" name="PlaceHolder 2"/>
          <p:cNvSpPr>
            <a:spLocks noGrp="1"/>
          </p:cNvSpPr>
          <p:nvPr>
            <p:ph type="body"/>
          </p:nvPr>
        </p:nvSpPr>
        <p:spPr>
          <a:xfrm>
            <a:off x="360000" y="1440000"/>
            <a:ext cx="4114440" cy="4647960"/>
          </a:xfrm>
          <a:prstGeom prst="rect">
            <a:avLst/>
          </a:prstGeom>
          <a:noFill/>
          <a:ln w="0">
            <a:noFill/>
          </a:ln>
        </p:spPr>
        <p:txBody>
          <a:bodyPr numCol="1" spcCol="0" lIns="91440" rIns="91440" tIns="45720" bIns="45720" anchor="t">
            <a:noAutofit/>
          </a:bodyPr>
          <a:p>
            <a:pPr marL="343080" indent="-343080">
              <a:lnSpc>
                <a:spcPct val="100000"/>
              </a:lnSpc>
              <a:spcBef>
                <a:spcPts val="561"/>
              </a:spcBef>
              <a:buClr>
                <a:srgbClr val="00468f"/>
              </a:buClr>
              <a:buFont typeface="Webdings" charset="2"/>
              <a:buChar char=""/>
            </a:pPr>
            <a:r>
              <a:rPr b="1" lang="en-US" sz="2800" strike="noStrike" u="none">
                <a:solidFill>
                  <a:srgbClr val="00468f"/>
                </a:solidFill>
                <a:effectLst/>
                <a:uFillTx/>
                <a:latin typeface="Arial"/>
                <a:ea typeface="ＭＳ Ｐゴシック"/>
              </a:rPr>
              <a:t>Click to edit Master text styles</a:t>
            </a:r>
            <a:endParaRPr b="1" lang="en-CA" sz="28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Second level</a:t>
            </a:r>
            <a:endParaRPr b="1" lang="en-CA" sz="2400" strike="noStrike" u="none">
              <a:solidFill>
                <a:srgbClr val="00468f"/>
              </a:solidFill>
              <a:effectLst/>
              <a:uFillTx/>
              <a:latin typeface="Arial"/>
            </a:endParaRPr>
          </a:p>
          <a:p>
            <a:pPr lvl="2" marL="1143000" indent="-228600">
              <a:lnSpc>
                <a:spcPct val="100000"/>
              </a:lnSpc>
              <a:spcBef>
                <a:spcPts val="479"/>
              </a:spcBef>
              <a:buClr>
                <a:srgbClr val="00468f"/>
              </a:buClr>
              <a:buFont typeface="Symbol" charset="2"/>
              <a:buChar char=""/>
            </a:pPr>
            <a:r>
              <a:rPr b="0" lang="en-US" sz="2400" strike="noStrike" u="none">
                <a:solidFill>
                  <a:schemeClr val="dk1"/>
                </a:solidFill>
                <a:effectLst/>
                <a:uFillTx/>
                <a:latin typeface="Arial"/>
                <a:ea typeface="ＭＳ Ｐゴシック"/>
              </a:rPr>
              <a:t>Third level</a:t>
            </a:r>
            <a:endParaRPr b="0" lang="en-CA" sz="2400" strike="noStrike" u="none">
              <a:solidFill>
                <a:schemeClr val="dk1"/>
              </a:solidFill>
              <a:effectLst/>
              <a:uFillTx/>
              <a:latin typeface="Arial"/>
            </a:endParaRPr>
          </a:p>
          <a:p>
            <a:pPr lvl="3" marL="1600200" indent="-228600">
              <a:lnSpc>
                <a:spcPct val="100000"/>
              </a:lnSpc>
              <a:spcBef>
                <a:spcPts val="400"/>
              </a:spcBef>
              <a:buClr>
                <a:srgbClr val="000000"/>
              </a:buClr>
              <a:buFont typeface="Symbol" charset="2"/>
              <a:buChar char=""/>
            </a:pPr>
            <a:r>
              <a:rPr b="0" lang="en-US" sz="2000" strike="noStrike" u="none">
                <a:solidFill>
                  <a:schemeClr val="dk1"/>
                </a:solidFill>
                <a:effectLst/>
                <a:uFillTx/>
                <a:latin typeface="Arial"/>
                <a:ea typeface="ＭＳ Ｐゴシック"/>
              </a:rPr>
              <a:t>Fourth level</a:t>
            </a:r>
            <a:endParaRPr b="0" lang="en-CA" sz="2000" strike="noStrike" u="none">
              <a:solidFill>
                <a:schemeClr val="dk1"/>
              </a:solidFill>
              <a:effectLst/>
              <a:uFillTx/>
              <a:latin typeface="Arial"/>
            </a:endParaRPr>
          </a:p>
          <a:p>
            <a:pPr lvl="4" marL="2057400" indent="-228600">
              <a:lnSpc>
                <a:spcPct val="100000"/>
              </a:lnSpc>
              <a:spcBef>
                <a:spcPts val="400"/>
              </a:spcBef>
              <a:buClr>
                <a:srgbClr val="000000"/>
              </a:buClr>
              <a:buFont typeface="OpenSymbol"/>
              <a:buChar char="»"/>
            </a:pPr>
            <a:r>
              <a:rPr b="0" lang="en-US" sz="2000" strike="noStrike" u="none">
                <a:solidFill>
                  <a:schemeClr val="dk1"/>
                </a:solidFill>
                <a:effectLst/>
                <a:uFillTx/>
                <a:latin typeface="Arial"/>
                <a:ea typeface="ＭＳ Ｐゴシック"/>
              </a:rPr>
              <a:t>Fifth level</a:t>
            </a:r>
            <a:endParaRPr b="0" lang="en-CA" sz="2000" strike="noStrike" u="none">
              <a:solidFill>
                <a:schemeClr val="dk1"/>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55" r:id="rId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19" name="Picture 4" descr="">
            <a:hlinkClick r:id="" action="ppaction://hlinkshowjump?jump=previousslide"/>
          </p:cNvPr>
          <p:cNvPicPr/>
          <p:nvPr/>
        </p:nvPicPr>
        <p:blipFill>
          <a:blip r:embed="rId2"/>
          <a:stretch/>
        </p:blipFill>
        <p:spPr>
          <a:xfrm>
            <a:off x="8640720" y="6480000"/>
            <a:ext cx="221760" cy="221760"/>
          </a:xfrm>
          <a:prstGeom prst="rect">
            <a:avLst/>
          </a:prstGeom>
          <a:noFill/>
          <a:ln w="0">
            <a:noFill/>
          </a:ln>
        </p:spPr>
      </p:pic>
      <p:sp>
        <p:nvSpPr>
          <p:cNvPr id="20" name="Text Box 2"/>
          <p:cNvSpPr/>
          <p:nvPr/>
        </p:nvSpPr>
        <p:spPr>
          <a:xfrm>
            <a:off x="3581280" y="6637320"/>
            <a:ext cx="1692000" cy="21384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spcBef>
                <a:spcPts val="400"/>
              </a:spcBef>
            </a:pPr>
            <a:r>
              <a:rPr b="0" lang="en-US" sz="800" strike="noStrike" u="none">
                <a:solidFill>
                  <a:srgbClr val="000000"/>
                </a:solidFill>
                <a:effectLst/>
                <a:uFillTx/>
                <a:latin typeface="Arial"/>
                <a:ea typeface="ＭＳ Ｐゴシック"/>
              </a:rPr>
              <a:t>© 2018 Pearson</a:t>
            </a:r>
            <a:endParaRPr b="0" lang="en-US" sz="800" strike="noStrike" u="none">
              <a:solidFill>
                <a:srgbClr val="000000"/>
              </a:solidFill>
              <a:effectLst/>
              <a:uFillTx/>
              <a:latin typeface="Arial"/>
            </a:endParaRPr>
          </a:p>
        </p:txBody>
      </p:sp>
      <p:sp>
        <p:nvSpPr>
          <p:cNvPr id="2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buNone/>
            </a:pPr>
            <a:r>
              <a:rPr b="0" lang="en-CA" sz="2400" strike="noStrike" u="none">
                <a:solidFill>
                  <a:schemeClr val="dk1"/>
                </a:solidFill>
                <a:effectLst/>
                <a:uFillTx/>
                <a:latin typeface="Arial"/>
              </a:rPr>
              <a:t>Click to edit the title text format</a:t>
            </a:r>
            <a:endParaRPr b="0" lang="en-CA" sz="2400" strike="noStrike" u="none">
              <a:solidFill>
                <a:schemeClr val="dk1"/>
              </a:solidFill>
              <a:effectLst/>
              <a:uFillTx/>
              <a:latin typeface="Arial"/>
            </a:endParaRPr>
          </a:p>
        </p:txBody>
      </p:sp>
      <p:sp>
        <p:nvSpPr>
          <p:cNvPr id="22" name="PlaceHolder 2"/>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CA" sz="3200" strike="noStrike" u="none">
                <a:solidFill>
                  <a:schemeClr val="dk1"/>
                </a:solidFill>
                <a:effectLst/>
                <a:uFillTx/>
                <a:latin typeface="Arial"/>
              </a:rPr>
              <a:t>Click to edit the outline text format</a:t>
            </a:r>
            <a:endParaRPr b="0" lang="en-CA" sz="3200" strike="noStrike" u="none">
              <a:solidFill>
                <a:schemeClr val="dk1"/>
              </a:solidFill>
              <a:effectLst/>
              <a:uFillTx/>
              <a:latin typeface="Arial"/>
            </a:endParaRPr>
          </a:p>
          <a:p>
            <a:pPr lvl="1" marL="864000" indent="-324000">
              <a:spcBef>
                <a:spcPts val="1134"/>
              </a:spcBef>
              <a:buClr>
                <a:srgbClr val="000000"/>
              </a:buClr>
              <a:buSzPct val="75000"/>
              <a:buFont typeface="Symbol" charset="2"/>
              <a:buChar char=""/>
            </a:pPr>
            <a:r>
              <a:rPr b="0" lang="en-CA" sz="2400" strike="noStrike" u="none">
                <a:solidFill>
                  <a:schemeClr val="dk1"/>
                </a:solidFill>
                <a:effectLst/>
                <a:uFillTx/>
                <a:latin typeface="Arial"/>
              </a:rPr>
              <a:t>Second Outline Level</a:t>
            </a:r>
            <a:endParaRPr b="0" lang="en-CA" sz="2400" strike="noStrike" u="none">
              <a:solidFill>
                <a:schemeClr val="dk1"/>
              </a:solidFill>
              <a:effectLst/>
              <a:uFillTx/>
              <a:latin typeface="Arial"/>
            </a:endParaRPr>
          </a:p>
          <a:p>
            <a:pPr lvl="2" marL="1296000" indent="-288000">
              <a:spcBef>
                <a:spcPts val="850"/>
              </a:spcBef>
              <a:buClr>
                <a:srgbClr val="000000"/>
              </a:buClr>
              <a:buSzPct val="45000"/>
              <a:buFont typeface="Wingdings" charset="2"/>
              <a:buChar char=""/>
            </a:pPr>
            <a:r>
              <a:rPr b="0" lang="en-CA" sz="2000" strike="noStrike" u="none">
                <a:solidFill>
                  <a:schemeClr val="dk1"/>
                </a:solidFill>
                <a:effectLst/>
                <a:uFillTx/>
                <a:latin typeface="Arial"/>
              </a:rPr>
              <a:t>Third Outline Level</a:t>
            </a:r>
            <a:endParaRPr b="0" lang="en-CA" sz="2000" strike="noStrike" u="none">
              <a:solidFill>
                <a:schemeClr val="dk1"/>
              </a:solidFill>
              <a:effectLst/>
              <a:uFillTx/>
              <a:latin typeface="Arial"/>
            </a:endParaRPr>
          </a:p>
          <a:p>
            <a:pPr lvl="3" marL="1728000" indent="-216000">
              <a:spcBef>
                <a:spcPts val="567"/>
              </a:spcBef>
              <a:buClr>
                <a:srgbClr val="000000"/>
              </a:buClr>
              <a:buSzPct val="75000"/>
              <a:buFont typeface="Symbol" charset="2"/>
              <a:buChar char=""/>
            </a:pPr>
            <a:r>
              <a:rPr b="0" lang="en-CA" sz="2000" strike="noStrike" u="none">
                <a:solidFill>
                  <a:schemeClr val="dk1"/>
                </a:solidFill>
                <a:effectLst/>
                <a:uFillTx/>
                <a:latin typeface="Arial"/>
              </a:rPr>
              <a:t>Fourth Outline Level</a:t>
            </a:r>
            <a:endParaRPr b="0" lang="en-CA" sz="2000" strike="noStrike" u="none">
              <a:solidFill>
                <a:schemeClr val="dk1"/>
              </a:solidFill>
              <a:effectLst/>
              <a:uFillTx/>
              <a:latin typeface="Arial"/>
            </a:endParaRPr>
          </a:p>
          <a:p>
            <a:pPr lvl="4" marL="2160000" indent="-216000">
              <a:spcBef>
                <a:spcPts val="283"/>
              </a:spcBef>
              <a:buClr>
                <a:srgbClr val="000000"/>
              </a:buClr>
              <a:buSzPct val="45000"/>
              <a:buFont typeface="Wingdings" charset="2"/>
              <a:buChar char=""/>
            </a:pPr>
            <a:r>
              <a:rPr b="0" lang="en-CA" sz="2000" strike="noStrike" u="none">
                <a:solidFill>
                  <a:schemeClr val="dk1"/>
                </a:solidFill>
                <a:effectLst/>
                <a:uFillTx/>
                <a:latin typeface="Arial"/>
              </a:rPr>
              <a:t>Fifth Outline Level</a:t>
            </a:r>
            <a:endParaRPr b="0" lang="en-CA" sz="2000" strike="noStrike" u="none">
              <a:solidFill>
                <a:schemeClr val="dk1"/>
              </a:solidFill>
              <a:effectLst/>
              <a:uFillTx/>
              <a:latin typeface="Arial"/>
            </a:endParaRPr>
          </a:p>
          <a:p>
            <a:pPr lvl="5" marL="2592000" indent="-216000">
              <a:spcBef>
                <a:spcPts val="283"/>
              </a:spcBef>
              <a:buClr>
                <a:srgbClr val="000000"/>
              </a:buClr>
              <a:buSzPct val="45000"/>
              <a:buFont typeface="Wingdings" charset="2"/>
              <a:buChar char=""/>
            </a:pPr>
            <a:r>
              <a:rPr b="0" lang="en-CA" sz="2000" strike="noStrike" u="none">
                <a:solidFill>
                  <a:schemeClr val="dk1"/>
                </a:solidFill>
                <a:effectLst/>
                <a:uFillTx/>
                <a:latin typeface="Arial"/>
              </a:rPr>
              <a:t>Sixth Outline Level</a:t>
            </a:r>
            <a:endParaRPr b="0" lang="en-CA" sz="2000" strike="noStrike" u="none">
              <a:solidFill>
                <a:schemeClr val="dk1"/>
              </a:solidFill>
              <a:effectLst/>
              <a:uFillTx/>
              <a:latin typeface="Arial"/>
            </a:endParaRPr>
          </a:p>
          <a:p>
            <a:pPr lvl="6" marL="3024000" indent="-216000">
              <a:spcBef>
                <a:spcPts val="283"/>
              </a:spcBef>
              <a:buClr>
                <a:srgbClr val="000000"/>
              </a:buClr>
              <a:buSzPct val="45000"/>
              <a:buFont typeface="Wingdings" charset="2"/>
              <a:buChar char=""/>
            </a:pPr>
            <a:r>
              <a:rPr b="0" lang="en-CA" sz="2000" strike="noStrike" u="none">
                <a:solidFill>
                  <a:schemeClr val="dk1"/>
                </a:solidFill>
                <a:effectLst/>
                <a:uFillTx/>
                <a:latin typeface="Arial"/>
              </a:rPr>
              <a:t>Seventh Outline Level</a:t>
            </a:r>
            <a:endParaRPr b="0" lang="en-CA" sz="2000" strike="noStrike" u="none">
              <a:solidFill>
                <a:schemeClr val="dk1"/>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57" r:id="rId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3" name="Rectangle 3"/>
          <p:cNvSpPr/>
          <p:nvPr/>
        </p:nvSpPr>
        <p:spPr>
          <a:xfrm>
            <a:off x="1905120" y="609480"/>
            <a:ext cx="4686120" cy="5187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1" lang="en-US" sz="2800" strike="noStrike" u="none">
              <a:solidFill>
                <a:srgbClr val="00468f"/>
              </a:solidFill>
              <a:effectLst/>
              <a:uFillTx/>
              <a:latin typeface="Arial"/>
              <a:ea typeface="ＭＳ Ｐゴシック"/>
            </a:endParaRPr>
          </a:p>
        </p:txBody>
      </p:sp>
      <p:sp>
        <p:nvSpPr>
          <p:cNvPr id="24" name="Rectangle 6"/>
          <p:cNvSpPr/>
          <p:nvPr/>
        </p:nvSpPr>
        <p:spPr>
          <a:xfrm>
            <a:off x="1371600" y="0"/>
            <a:ext cx="2606400" cy="461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CA" sz="2400" strike="noStrike" u="none">
                <a:solidFill>
                  <a:srgbClr val="ffffff"/>
                </a:solidFill>
                <a:effectLst/>
                <a:uFillTx/>
                <a:latin typeface="Arial"/>
                <a:ea typeface="ＭＳ Ｐゴシック"/>
              </a:rPr>
              <a:t>EYE on the PAST</a:t>
            </a:r>
            <a:endParaRPr b="0" lang="en-US" sz="2400" strike="noStrike" u="none">
              <a:solidFill>
                <a:srgbClr val="000000"/>
              </a:solidFill>
              <a:effectLst/>
              <a:uFillTx/>
              <a:latin typeface="Arial"/>
            </a:endParaRPr>
          </a:p>
        </p:txBody>
      </p:sp>
      <p:sp>
        <p:nvSpPr>
          <p:cNvPr id="25" name="Text Box 2"/>
          <p:cNvSpPr/>
          <p:nvPr/>
        </p:nvSpPr>
        <p:spPr>
          <a:xfrm>
            <a:off x="3505320" y="6643800"/>
            <a:ext cx="1692000" cy="21384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spcBef>
                <a:spcPts val="400"/>
              </a:spcBef>
            </a:pPr>
            <a:r>
              <a:rPr b="0" lang="en-US" sz="800" strike="noStrike" u="none">
                <a:solidFill>
                  <a:srgbClr val="000000"/>
                </a:solidFill>
                <a:effectLst/>
                <a:uFillTx/>
                <a:latin typeface="Arial"/>
                <a:ea typeface="ＭＳ Ｐゴシック"/>
              </a:rPr>
              <a:t>© 2018 Pearson</a:t>
            </a:r>
            <a:endParaRPr b="0" lang="en-US" sz="800" strike="noStrike" u="non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6" name="Rectangle 3"/>
          <p:cNvSpPr/>
          <p:nvPr/>
        </p:nvSpPr>
        <p:spPr>
          <a:xfrm>
            <a:off x="1905120" y="609480"/>
            <a:ext cx="4686120" cy="5187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1" lang="en-US" sz="2800" strike="noStrike" u="none">
              <a:solidFill>
                <a:srgbClr val="00468f"/>
              </a:solidFill>
              <a:effectLst/>
              <a:uFillTx/>
              <a:latin typeface="Arial"/>
              <a:ea typeface="ＭＳ Ｐゴシック"/>
            </a:endParaRPr>
          </a:p>
        </p:txBody>
      </p:sp>
      <p:sp>
        <p:nvSpPr>
          <p:cNvPr id="27" name="Rectangle 6"/>
          <p:cNvSpPr/>
          <p:nvPr/>
        </p:nvSpPr>
        <p:spPr>
          <a:xfrm>
            <a:off x="1371600" y="0"/>
            <a:ext cx="2606400" cy="461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en-CA" sz="2400" strike="noStrike" u="none">
                <a:solidFill>
                  <a:srgbClr val="ffffff"/>
                </a:solidFill>
                <a:effectLst/>
                <a:uFillTx/>
                <a:latin typeface="Arial"/>
                <a:ea typeface="ＭＳ Ｐゴシック"/>
              </a:rPr>
              <a:t>EYE on the PAST</a:t>
            </a:r>
            <a:endParaRPr b="0" lang="en-US" sz="2400" strike="noStrike" u="none">
              <a:solidFill>
                <a:srgbClr val="000000"/>
              </a:solidFill>
              <a:effectLst/>
              <a:uFillTx/>
              <a:latin typeface="Arial"/>
            </a:endParaRPr>
          </a:p>
        </p:txBody>
      </p:sp>
      <p:sp>
        <p:nvSpPr>
          <p:cNvPr id="28" name="Text Box 2"/>
          <p:cNvSpPr/>
          <p:nvPr/>
        </p:nvSpPr>
        <p:spPr>
          <a:xfrm>
            <a:off x="3505320" y="6643800"/>
            <a:ext cx="1692000" cy="21384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spcBef>
                <a:spcPts val="400"/>
              </a:spcBef>
            </a:pPr>
            <a:r>
              <a:rPr b="0" lang="en-US" sz="800" strike="noStrike" u="none">
                <a:solidFill>
                  <a:srgbClr val="000000"/>
                </a:solidFill>
                <a:effectLst/>
                <a:uFillTx/>
                <a:latin typeface="Arial"/>
                <a:ea typeface="ＭＳ Ｐゴシック"/>
              </a:rPr>
              <a:t>© 2018 Pearson</a:t>
            </a:r>
            <a:endParaRPr b="0" lang="en-US" sz="800" strike="noStrike" u="none">
              <a:solidFill>
                <a:srgbClr val="000000"/>
              </a:solidFill>
              <a:effectLst/>
              <a:uFillTx/>
              <a:latin typeface="Arial"/>
            </a:endParaRPr>
          </a:p>
        </p:txBody>
      </p:sp>
      <p:sp>
        <p:nvSpPr>
          <p:cNvPr id="2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buNone/>
            </a:pPr>
            <a:r>
              <a:rPr b="0" lang="en-CA" sz="2400" strike="noStrike" u="none">
                <a:solidFill>
                  <a:schemeClr val="dk1"/>
                </a:solidFill>
                <a:effectLst/>
                <a:uFillTx/>
                <a:latin typeface="Arial"/>
              </a:rPr>
              <a:t>Click to edit the title text format</a:t>
            </a:r>
            <a:endParaRPr b="0" lang="en-CA" sz="2400" strike="noStrike" u="none">
              <a:solidFill>
                <a:schemeClr val="dk1"/>
              </a:solidFill>
              <a:effectLst/>
              <a:uFillTx/>
              <a:latin typeface="Arial"/>
            </a:endParaRPr>
          </a:p>
        </p:txBody>
      </p:sp>
      <p:sp>
        <p:nvSpPr>
          <p:cNvPr id="30" name="PlaceHolder 2"/>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1" lang="en-CA" sz="2800" strike="noStrike" u="none">
                <a:solidFill>
                  <a:srgbClr val="00468f"/>
                </a:solidFill>
                <a:effectLst/>
                <a:uFillTx/>
                <a:latin typeface="Arial"/>
              </a:rPr>
              <a:t>Click to edit the outline text format</a:t>
            </a:r>
            <a:endParaRPr b="1" lang="en-CA" sz="2800" strike="noStrike" u="none">
              <a:solidFill>
                <a:srgbClr val="00468f"/>
              </a:solidFill>
              <a:effectLst/>
              <a:uFillTx/>
              <a:latin typeface="Arial"/>
            </a:endParaRPr>
          </a:p>
          <a:p>
            <a:pPr lvl="1" marL="864000" indent="-324000">
              <a:spcBef>
                <a:spcPts val="1134"/>
              </a:spcBef>
              <a:buClr>
                <a:srgbClr val="000000"/>
              </a:buClr>
              <a:buSzPct val="75000"/>
              <a:buFont typeface="Symbol" charset="2"/>
              <a:buChar char=""/>
            </a:pPr>
            <a:r>
              <a:rPr b="0" lang="en-CA" sz="2400" strike="noStrike" u="none">
                <a:solidFill>
                  <a:schemeClr val="dk1"/>
                </a:solidFill>
                <a:effectLst/>
                <a:uFillTx/>
                <a:latin typeface="Arial"/>
              </a:rPr>
              <a:t>Second Outline Level</a:t>
            </a:r>
            <a:endParaRPr b="0" lang="en-CA" sz="2400" strike="noStrike" u="none">
              <a:solidFill>
                <a:schemeClr val="dk1"/>
              </a:solidFill>
              <a:effectLst/>
              <a:uFillTx/>
              <a:latin typeface="Arial"/>
            </a:endParaRPr>
          </a:p>
          <a:p>
            <a:pPr lvl="2" marL="1296000" indent="-288000">
              <a:spcBef>
                <a:spcPts val="850"/>
              </a:spcBef>
              <a:buClr>
                <a:srgbClr val="000000"/>
              </a:buClr>
              <a:buSzPct val="45000"/>
              <a:buFont typeface="Wingdings" charset="2"/>
              <a:buChar char=""/>
            </a:pPr>
            <a:r>
              <a:rPr b="0" lang="en-CA" sz="2000" strike="noStrike" u="none">
                <a:solidFill>
                  <a:schemeClr val="dk1"/>
                </a:solidFill>
                <a:effectLst/>
                <a:uFillTx/>
                <a:latin typeface="Arial"/>
              </a:rPr>
              <a:t>Third Outline Level</a:t>
            </a:r>
            <a:endParaRPr b="0" lang="en-CA" sz="2000" strike="noStrike" u="none">
              <a:solidFill>
                <a:schemeClr val="dk1"/>
              </a:solidFill>
              <a:effectLst/>
              <a:uFillTx/>
              <a:latin typeface="Arial"/>
            </a:endParaRPr>
          </a:p>
          <a:p>
            <a:pPr lvl="3" marL="1728000" indent="-216000">
              <a:spcBef>
                <a:spcPts val="567"/>
              </a:spcBef>
              <a:buClr>
                <a:srgbClr val="000000"/>
              </a:buClr>
              <a:buSzPct val="75000"/>
              <a:buFont typeface="Symbol" charset="2"/>
              <a:buChar char=""/>
            </a:pPr>
            <a:r>
              <a:rPr b="0" lang="en-CA" sz="2000" strike="noStrike" u="none">
                <a:solidFill>
                  <a:schemeClr val="dk1"/>
                </a:solidFill>
                <a:effectLst/>
                <a:uFillTx/>
                <a:latin typeface="Arial"/>
              </a:rPr>
              <a:t>Fourth Outline Level</a:t>
            </a:r>
            <a:endParaRPr b="0" lang="en-CA" sz="2000" strike="noStrike" u="none">
              <a:solidFill>
                <a:schemeClr val="dk1"/>
              </a:solidFill>
              <a:effectLst/>
              <a:uFillTx/>
              <a:latin typeface="Arial"/>
            </a:endParaRPr>
          </a:p>
          <a:p>
            <a:pPr lvl="4" marL="2160000" indent="-216000">
              <a:spcBef>
                <a:spcPts val="283"/>
              </a:spcBef>
              <a:buClr>
                <a:srgbClr val="000000"/>
              </a:buClr>
              <a:buSzPct val="45000"/>
              <a:buFont typeface="Wingdings" charset="2"/>
              <a:buChar char=""/>
            </a:pPr>
            <a:r>
              <a:rPr b="0" lang="en-CA" sz="2000" strike="noStrike" u="none">
                <a:solidFill>
                  <a:schemeClr val="dk1"/>
                </a:solidFill>
                <a:effectLst/>
                <a:uFillTx/>
                <a:latin typeface="Arial"/>
              </a:rPr>
              <a:t>Fifth Outline Level</a:t>
            </a:r>
            <a:endParaRPr b="0" lang="en-CA" sz="2000" strike="noStrike" u="none">
              <a:solidFill>
                <a:schemeClr val="dk1"/>
              </a:solidFill>
              <a:effectLst/>
              <a:uFillTx/>
              <a:latin typeface="Arial"/>
            </a:endParaRPr>
          </a:p>
          <a:p>
            <a:pPr lvl="5" marL="2592000" indent="-216000">
              <a:spcBef>
                <a:spcPts val="283"/>
              </a:spcBef>
              <a:buClr>
                <a:srgbClr val="000000"/>
              </a:buClr>
              <a:buSzPct val="45000"/>
              <a:buFont typeface="Wingdings" charset="2"/>
              <a:buChar char=""/>
            </a:pPr>
            <a:r>
              <a:rPr b="0" lang="en-CA" sz="2000" strike="noStrike" u="none">
                <a:solidFill>
                  <a:schemeClr val="dk1"/>
                </a:solidFill>
                <a:effectLst/>
                <a:uFillTx/>
                <a:latin typeface="Arial"/>
              </a:rPr>
              <a:t>Sixth Outline Level</a:t>
            </a:r>
            <a:endParaRPr b="0" lang="en-CA" sz="2000" strike="noStrike" u="none">
              <a:solidFill>
                <a:schemeClr val="dk1"/>
              </a:solidFill>
              <a:effectLst/>
              <a:uFillTx/>
              <a:latin typeface="Arial"/>
            </a:endParaRPr>
          </a:p>
          <a:p>
            <a:pPr lvl="6" marL="3024000" indent="-216000">
              <a:spcBef>
                <a:spcPts val="283"/>
              </a:spcBef>
              <a:buClr>
                <a:srgbClr val="000000"/>
              </a:buClr>
              <a:buSzPct val="45000"/>
              <a:buFont typeface="Wingdings" charset="2"/>
              <a:buChar char=""/>
            </a:pPr>
            <a:r>
              <a:rPr b="0" lang="en-CA" sz="2000" strike="noStrike" u="none">
                <a:solidFill>
                  <a:schemeClr val="dk1"/>
                </a:solidFill>
                <a:effectLst/>
                <a:uFillTx/>
                <a:latin typeface="Arial"/>
              </a:rPr>
              <a:t>Seventh Outline Level</a:t>
            </a:r>
            <a:endParaRPr b="0" lang="en-CA" sz="2000" strike="noStrike" u="none">
              <a:solidFill>
                <a:schemeClr val="dk1"/>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61" r:id="rId2"/>
    <p:sldLayoutId id="2147483662" r:id="rId3"/>
  </p:sldLayoutIdLst>
</p:sldMaster>
</file>

<file path=ppt/slides/_rels/slide1.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2.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image" Target="../media/image5.jpeg"/><Relationship Id="rId3" Type="http://schemas.openxmlformats.org/officeDocument/2006/relationships/slideLayout" Target="../slideLayouts/slideLayout2.xml"/><Relationship Id="rId4"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image" Target="../media/image5.jpeg"/><Relationship Id="rId3" Type="http://schemas.openxmlformats.org/officeDocument/2006/relationships/image" Target="../media/image6.jpeg"/><Relationship Id="rId4" Type="http://schemas.openxmlformats.org/officeDocument/2006/relationships/slideLayout" Target="../slideLayouts/slideLayout4.xml"/><Relationship Id="rId5"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image" Target="../media/image5.jpeg"/><Relationship Id="rId3" Type="http://schemas.openxmlformats.org/officeDocument/2006/relationships/image" Target="../media/image6.jpeg"/><Relationship Id="rId4" Type="http://schemas.openxmlformats.org/officeDocument/2006/relationships/slideLayout" Target="../slideLayouts/slideLayout5.xml"/><Relationship Id="rId5"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slideLayout" Target="../slideLayouts/slideLayout4.xml"/><Relationship Id="rId8"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slideLayout" Target="../slideLayouts/slideLayout5.xml"/><Relationship Id="rId9"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slideLayout" Target="../slideLayouts/slideLayout3.xml"/><Relationship Id="rId9"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slideLayout" Target="../slideLayouts/slideLayout4.xml"/><Relationship Id="rId5"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slideLayout" Target="../slideLayouts/slideLayout5.xml"/><Relationship Id="rId7"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slideLayout" Target="../slideLayouts/slideLayout3.xml"/><Relationship Id="rId7"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slideLayout" Target="../slideLayouts/slideLayout3.xml"/><Relationship Id="rId7"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24.png"/><Relationship Id="rId7" Type="http://schemas.openxmlformats.org/officeDocument/2006/relationships/image" Target="../media/image25.png"/><Relationship Id="rId8" Type="http://schemas.openxmlformats.org/officeDocument/2006/relationships/image" Target="../media/image26.png"/><Relationship Id="rId9" Type="http://schemas.openxmlformats.org/officeDocument/2006/relationships/image" Target="../media/image27.png"/><Relationship Id="rId10" Type="http://schemas.openxmlformats.org/officeDocument/2006/relationships/image" Target="../media/image28.png"/><Relationship Id="rId11" Type="http://schemas.openxmlformats.org/officeDocument/2006/relationships/slideLayout" Target="../slideLayouts/slideLayout4.xml"/><Relationship Id="rId1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24.png"/><Relationship Id="rId7" Type="http://schemas.openxmlformats.org/officeDocument/2006/relationships/image" Target="../media/image25.png"/><Relationship Id="rId8" Type="http://schemas.openxmlformats.org/officeDocument/2006/relationships/image" Target="../media/image26.png"/><Relationship Id="rId9" Type="http://schemas.openxmlformats.org/officeDocument/2006/relationships/image" Target="../media/image27.png"/><Relationship Id="rId10" Type="http://schemas.openxmlformats.org/officeDocument/2006/relationships/image" Target="../media/image28.png"/><Relationship Id="rId11" Type="http://schemas.openxmlformats.org/officeDocument/2006/relationships/image" Target="../media/image29.png"/><Relationship Id="rId12" Type="http://schemas.openxmlformats.org/officeDocument/2006/relationships/image" Target="../media/image30.png"/><Relationship Id="rId13" Type="http://schemas.openxmlformats.org/officeDocument/2006/relationships/image" Target="../media/image31.png"/><Relationship Id="rId14" Type="http://schemas.openxmlformats.org/officeDocument/2006/relationships/image" Target="../media/image32.png"/><Relationship Id="rId15" Type="http://schemas.openxmlformats.org/officeDocument/2006/relationships/image" Target="../media/image33.png"/><Relationship Id="rId16" Type="http://schemas.openxmlformats.org/officeDocument/2006/relationships/image" Target="../media/image34.png"/><Relationship Id="rId17" Type="http://schemas.openxmlformats.org/officeDocument/2006/relationships/slideLayout" Target="../slideLayouts/slideLayout5.xml"/><Relationship Id="rId18"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24.png"/><Relationship Id="rId7" Type="http://schemas.openxmlformats.org/officeDocument/2006/relationships/image" Target="../media/image25.png"/><Relationship Id="rId8" Type="http://schemas.openxmlformats.org/officeDocument/2006/relationships/image" Target="../media/image26.png"/><Relationship Id="rId9" Type="http://schemas.openxmlformats.org/officeDocument/2006/relationships/image" Target="../media/image27.png"/><Relationship Id="rId10" Type="http://schemas.openxmlformats.org/officeDocument/2006/relationships/image" Target="../media/image28.png"/><Relationship Id="rId11" Type="http://schemas.openxmlformats.org/officeDocument/2006/relationships/image" Target="../media/image29.png"/><Relationship Id="rId12" Type="http://schemas.openxmlformats.org/officeDocument/2006/relationships/image" Target="../media/image30.png"/><Relationship Id="rId13" Type="http://schemas.openxmlformats.org/officeDocument/2006/relationships/slideLayout" Target="../slideLayouts/slideLayout3.xml"/><Relationship Id="rId14"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24.png"/><Relationship Id="rId7" Type="http://schemas.openxmlformats.org/officeDocument/2006/relationships/image" Target="../media/image25.png"/><Relationship Id="rId8" Type="http://schemas.openxmlformats.org/officeDocument/2006/relationships/image" Target="../media/image26.png"/><Relationship Id="rId9" Type="http://schemas.openxmlformats.org/officeDocument/2006/relationships/image" Target="../media/image27.png"/><Relationship Id="rId10" Type="http://schemas.openxmlformats.org/officeDocument/2006/relationships/image" Target="../media/image28.png"/><Relationship Id="rId11" Type="http://schemas.openxmlformats.org/officeDocument/2006/relationships/image" Target="../media/image29.png"/><Relationship Id="rId12" Type="http://schemas.openxmlformats.org/officeDocument/2006/relationships/image" Target="../media/image30.png"/><Relationship Id="rId13" Type="http://schemas.openxmlformats.org/officeDocument/2006/relationships/image" Target="../media/image31.png"/><Relationship Id="rId14" Type="http://schemas.openxmlformats.org/officeDocument/2006/relationships/image" Target="../media/image32.png"/><Relationship Id="rId15" Type="http://schemas.openxmlformats.org/officeDocument/2006/relationships/image" Target="../media/image33.png"/><Relationship Id="rId16" Type="http://schemas.openxmlformats.org/officeDocument/2006/relationships/image" Target="../media/image34.png"/><Relationship Id="rId17" Type="http://schemas.openxmlformats.org/officeDocument/2006/relationships/slideLayout" Target="../slideLayouts/slideLayout3.xml"/><Relationship Id="rId18"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24.png"/><Relationship Id="rId7" Type="http://schemas.openxmlformats.org/officeDocument/2006/relationships/image" Target="../media/image25.png"/><Relationship Id="rId8" Type="http://schemas.openxmlformats.org/officeDocument/2006/relationships/image" Target="../media/image26.png"/><Relationship Id="rId9" Type="http://schemas.openxmlformats.org/officeDocument/2006/relationships/image" Target="../media/image27.png"/><Relationship Id="rId10" Type="http://schemas.openxmlformats.org/officeDocument/2006/relationships/image" Target="../media/image28.png"/><Relationship Id="rId11" Type="http://schemas.openxmlformats.org/officeDocument/2006/relationships/image" Target="../media/image29.png"/><Relationship Id="rId12" Type="http://schemas.openxmlformats.org/officeDocument/2006/relationships/image" Target="../media/image30.png"/><Relationship Id="rId13" Type="http://schemas.openxmlformats.org/officeDocument/2006/relationships/image" Target="../media/image31.png"/><Relationship Id="rId14" Type="http://schemas.openxmlformats.org/officeDocument/2006/relationships/image" Target="../media/image32.png"/><Relationship Id="rId15" Type="http://schemas.openxmlformats.org/officeDocument/2006/relationships/image" Target="../media/image33.png"/><Relationship Id="rId16" Type="http://schemas.openxmlformats.org/officeDocument/2006/relationships/image" Target="../media/image34.png"/><Relationship Id="rId17" Type="http://schemas.openxmlformats.org/officeDocument/2006/relationships/slideLayout" Target="../slideLayouts/slideLayout3.xml"/><Relationship Id="rId18"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image" Target="../media/image35.png"/><Relationship Id="rId2" Type="http://schemas.openxmlformats.org/officeDocument/2006/relationships/image" Target="../media/image36.png"/><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image" Target="../media/image39.png"/><Relationship Id="rId6" Type="http://schemas.openxmlformats.org/officeDocument/2006/relationships/image" Target="../media/image40.png"/><Relationship Id="rId7" Type="http://schemas.openxmlformats.org/officeDocument/2006/relationships/image" Target="../media/image41.png"/><Relationship Id="rId8" Type="http://schemas.openxmlformats.org/officeDocument/2006/relationships/slideLayout" Target="../slideLayouts/slideLayout4.xml"/><Relationship Id="rId9"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image" Target="../media/image35.png"/><Relationship Id="rId2" Type="http://schemas.openxmlformats.org/officeDocument/2006/relationships/image" Target="../media/image36.png"/><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image" Target="../media/image39.png"/><Relationship Id="rId6" Type="http://schemas.openxmlformats.org/officeDocument/2006/relationships/image" Target="../media/image40.png"/><Relationship Id="rId7" Type="http://schemas.openxmlformats.org/officeDocument/2006/relationships/image" Target="../media/image41.png"/><Relationship Id="rId8" Type="http://schemas.openxmlformats.org/officeDocument/2006/relationships/slideLayout" Target="../slideLayouts/slideLayout5.xml"/><Relationship Id="rId9"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image" Target="../media/image42.png"/><Relationship Id="rId2" Type="http://schemas.openxmlformats.org/officeDocument/2006/relationships/image" Target="../media/image43.png"/><Relationship Id="rId3" Type="http://schemas.openxmlformats.org/officeDocument/2006/relationships/image" Target="../media/image44.png"/><Relationship Id="rId4" Type="http://schemas.openxmlformats.org/officeDocument/2006/relationships/slideLayout" Target="../slideLayouts/slideLayout4.xml"/><Relationship Id="rId5" Type="http://schemas.openxmlformats.org/officeDocument/2006/relationships/notesSlide" Target="../notesSlides/notesSlide39.xml"/>
</Relationships>
</file>

<file path=ppt/slides/_rels/slide40.xml.rels><?xml version="1.0" encoding="UTF-8"?>
<Relationships xmlns="http://schemas.openxmlformats.org/package/2006/relationships"><Relationship Id="rId1" Type="http://schemas.openxmlformats.org/officeDocument/2006/relationships/image" Target="../media/image42.png"/><Relationship Id="rId2" Type="http://schemas.openxmlformats.org/officeDocument/2006/relationships/image" Target="../media/image43.png"/><Relationship Id="rId3" Type="http://schemas.openxmlformats.org/officeDocument/2006/relationships/image" Target="../media/image44.png"/><Relationship Id="rId4" Type="http://schemas.openxmlformats.org/officeDocument/2006/relationships/slideLayout" Target="../slideLayouts/slideLayout5.xml"/><Relationship Id="rId5" Type="http://schemas.openxmlformats.org/officeDocument/2006/relationships/notesSlide" Target="../notesSlides/notesSlide40.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
</Relationships>
</file>

<file path=ppt/slides/_rels/slide42.xml.rels><?xml version="1.0" encoding="UTF-8"?>
<Relationships xmlns="http://schemas.openxmlformats.org/package/2006/relationships"><Relationship Id="rId1" Type="http://schemas.openxmlformats.org/officeDocument/2006/relationships/image" Target="../media/image45.png"/><Relationship Id="rId2" Type="http://schemas.openxmlformats.org/officeDocument/2006/relationships/image" Target="../media/image46.png"/><Relationship Id="rId3" Type="http://schemas.openxmlformats.org/officeDocument/2006/relationships/slideLayout" Target="../slideLayouts/slideLayout4.xml"/><Relationship Id="rId4" Type="http://schemas.openxmlformats.org/officeDocument/2006/relationships/notesSlide" Target="../notesSlides/notesSlide42.xml"/>
</Relationships>
</file>

<file path=ppt/slides/_rels/slide43.xml.rels><?xml version="1.0" encoding="UTF-8"?>
<Relationships xmlns="http://schemas.openxmlformats.org/package/2006/relationships"><Relationship Id="rId1" Type="http://schemas.openxmlformats.org/officeDocument/2006/relationships/image" Target="../media/image45.png"/><Relationship Id="rId2" Type="http://schemas.openxmlformats.org/officeDocument/2006/relationships/image" Target="../media/image46.png"/><Relationship Id="rId3" Type="http://schemas.openxmlformats.org/officeDocument/2006/relationships/image" Target="../media/image47.png"/><Relationship Id="rId4" Type="http://schemas.openxmlformats.org/officeDocument/2006/relationships/image" Target="../media/image48.png"/><Relationship Id="rId5" Type="http://schemas.openxmlformats.org/officeDocument/2006/relationships/image" Target="../media/image49.png"/><Relationship Id="rId6" Type="http://schemas.openxmlformats.org/officeDocument/2006/relationships/image" Target="../media/image50.png"/><Relationship Id="rId7" Type="http://schemas.openxmlformats.org/officeDocument/2006/relationships/slideLayout" Target="../slideLayouts/slideLayout5.xml"/><Relationship Id="rId8" Type="http://schemas.openxmlformats.org/officeDocument/2006/relationships/notesSlide" Target="../notesSlides/notesSlide43.xml"/>
</Relationships>
</file>

<file path=ppt/slides/_rels/slide44.xml.rels><?xml version="1.0" encoding="UTF-8"?>
<Relationships xmlns="http://schemas.openxmlformats.org/package/2006/relationships"><Relationship Id="rId1" Type="http://schemas.openxmlformats.org/officeDocument/2006/relationships/image" Target="../media/image45.png"/><Relationship Id="rId2" Type="http://schemas.openxmlformats.org/officeDocument/2006/relationships/image" Target="../media/image46.png"/><Relationship Id="rId3" Type="http://schemas.openxmlformats.org/officeDocument/2006/relationships/image" Target="../media/image47.png"/><Relationship Id="rId4" Type="http://schemas.openxmlformats.org/officeDocument/2006/relationships/image" Target="../media/image48.png"/><Relationship Id="rId5" Type="http://schemas.openxmlformats.org/officeDocument/2006/relationships/slideLayout" Target="../slideLayouts/slideLayout3.xml"/><Relationship Id="rId6" Type="http://schemas.openxmlformats.org/officeDocument/2006/relationships/notesSlide" Target="../notesSlides/notesSlide44.xml"/>
</Relationships>
</file>

<file path=ppt/slides/_rels/slide45.xml.rels><?xml version="1.0" encoding="UTF-8"?>
<Relationships xmlns="http://schemas.openxmlformats.org/package/2006/relationships"><Relationship Id="rId1" Type="http://schemas.openxmlformats.org/officeDocument/2006/relationships/image" Target="../media/image45.png"/><Relationship Id="rId2" Type="http://schemas.openxmlformats.org/officeDocument/2006/relationships/image" Target="../media/image46.png"/><Relationship Id="rId3" Type="http://schemas.openxmlformats.org/officeDocument/2006/relationships/image" Target="../media/image47.png"/><Relationship Id="rId4" Type="http://schemas.openxmlformats.org/officeDocument/2006/relationships/image" Target="../media/image48.png"/><Relationship Id="rId5" Type="http://schemas.openxmlformats.org/officeDocument/2006/relationships/image" Target="../media/image49.png"/><Relationship Id="rId6" Type="http://schemas.openxmlformats.org/officeDocument/2006/relationships/image" Target="../media/image50.png"/><Relationship Id="rId7" Type="http://schemas.openxmlformats.org/officeDocument/2006/relationships/slideLayout" Target="../slideLayouts/slideLayout3.xml"/><Relationship Id="rId8" Type="http://schemas.openxmlformats.org/officeDocument/2006/relationships/notesSlide" Target="../notesSlides/notesSlide45.xml"/>
</Relationships>
</file>

<file path=ppt/slides/_rels/slide4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
</Relationships>
</file>

<file path=ppt/slides/_rels/slide4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
</Relationships>
</file>

<file path=ppt/slides/_rels/slide4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
</Relationships>
</file>

<file path=ppt/slides/_rels/slide4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
</Relationships>
</file>

<file path=ppt/slides/_rels/slide5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
</Relationships>
</file>

<file path=ppt/slides/_rels/slide51.xml.rels><?xml version="1.0" encoding="UTF-8"?>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4.xml"/><Relationship Id="rId5" Type="http://schemas.openxmlformats.org/officeDocument/2006/relationships/notesSlide" Target="../notesSlides/notesSlide51.xml"/>
</Relationships>
</file>

<file path=ppt/slides/_rels/slide52.xml.rels><?xml version="1.0" encoding="UTF-8"?>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5.xml"/><Relationship Id="rId5" Type="http://schemas.openxmlformats.org/officeDocument/2006/relationships/notesSlide" Target="../notesSlides/notesSlide52.xml"/>
</Relationships>
</file>

<file path=ppt/slides/_rels/slide5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
</Relationships>
</file>

<file path=ppt/slides/_rels/slide54.xml.rels><?xml version="1.0" encoding="UTF-8"?>
<Relationships xmlns="http://schemas.openxmlformats.org/package/2006/relationships"><Relationship Id="rId1" Type="http://schemas.openxmlformats.org/officeDocument/2006/relationships/image" Target="../media/image54.png"/><Relationship Id="rId2" Type="http://schemas.openxmlformats.org/officeDocument/2006/relationships/slideLayout" Target="../slideLayouts/slideLayout4.xml"/><Relationship Id="rId3" Type="http://schemas.openxmlformats.org/officeDocument/2006/relationships/notesSlide" Target="../notesSlides/notesSlide54.xml"/>
</Relationships>
</file>

<file path=ppt/slides/_rels/slide55.xml.rels><?xml version="1.0" encoding="UTF-8"?>
<Relationships xmlns="http://schemas.openxmlformats.org/package/2006/relationships"><Relationship Id="rId1" Type="http://schemas.openxmlformats.org/officeDocument/2006/relationships/image" Target="../media/image54.png"/><Relationship Id="rId2" Type="http://schemas.openxmlformats.org/officeDocument/2006/relationships/image" Target="../media/image55.png"/><Relationship Id="rId3" Type="http://schemas.openxmlformats.org/officeDocument/2006/relationships/slideLayout" Target="../slideLayouts/slideLayout5.xml"/><Relationship Id="rId4" Type="http://schemas.openxmlformats.org/officeDocument/2006/relationships/notesSlide" Target="../notesSlides/notesSlide55.xml"/>
</Relationships>
</file>

<file path=ppt/slides/_rels/slide56.xml.rels><?xml version="1.0" encoding="UTF-8"?>
<Relationships xmlns="http://schemas.openxmlformats.org/package/2006/relationships"><Relationship Id="rId1" Type="http://schemas.openxmlformats.org/officeDocument/2006/relationships/image" Target="../media/image54.png"/><Relationship Id="rId2" Type="http://schemas.openxmlformats.org/officeDocument/2006/relationships/image" Target="../media/image55.png"/><Relationship Id="rId3" Type="http://schemas.openxmlformats.org/officeDocument/2006/relationships/slideLayout" Target="../slideLayouts/slideLayout3.xml"/><Relationship Id="rId4" Type="http://schemas.openxmlformats.org/officeDocument/2006/relationships/notesSlide" Target="../notesSlides/notesSlide56.xml"/>
</Relationships>
</file>

<file path=ppt/slides/_rels/slide5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
</Relationships>
</file>

<file path=ppt/slides/_rels/slide5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
</Relationships>
</file>

<file path=ppt/slides/_rels/slide5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
</Relationships>
</file>

<file path=ppt/slides/_rels/slide6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
</Relationships>
</file>

<file path=ppt/slides/_rels/slide6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
</Relationships>
</file>

<file path=ppt/slides/_rels/slide62.xml.rels><?xml version="1.0" encoding="UTF-8"?>
<Relationships xmlns="http://schemas.openxmlformats.org/package/2006/relationships"><Relationship Id="rId1" Type="http://schemas.openxmlformats.org/officeDocument/2006/relationships/image" Target="../media/image56.jpeg"/><Relationship Id="rId2" Type="http://schemas.openxmlformats.org/officeDocument/2006/relationships/slideLayout" Target="../slideLayouts/slideLayout8.xml"/><Relationship Id="rId3" Type="http://schemas.openxmlformats.org/officeDocument/2006/relationships/notesSlide" Target="../notesSlides/notesSlide62.xml"/>
</Relationships>
</file>

<file path=ppt/slides/_rels/slide63.xml.rels><?xml version="1.0" encoding="UTF-8"?>
<Relationships xmlns="http://schemas.openxmlformats.org/package/2006/relationships"><Relationship Id="rId1" Type="http://schemas.openxmlformats.org/officeDocument/2006/relationships/image" Target="../media/image56.jpeg"/><Relationship Id="rId2" Type="http://schemas.openxmlformats.org/officeDocument/2006/relationships/slideLayout" Target="../slideLayouts/slideLayout8.xml"/><Relationship Id="rId3" Type="http://schemas.openxmlformats.org/officeDocument/2006/relationships/notesSlide" Target="../notesSlides/notesSlide63.xml"/>
</Relationships>
</file>

<file path=ppt/slides/_rels/slide64.xml.rels><?xml version="1.0" encoding="UTF-8"?>
<Relationships xmlns="http://schemas.openxmlformats.org/package/2006/relationships"><Relationship Id="rId1" Type="http://schemas.openxmlformats.org/officeDocument/2006/relationships/image" Target="../media/image56.jpeg"/><Relationship Id="rId2" Type="http://schemas.openxmlformats.org/officeDocument/2006/relationships/slideLayout" Target="../slideLayouts/slideLayout8.xml"/><Relationship Id="rId3" Type="http://schemas.openxmlformats.org/officeDocument/2006/relationships/notesSlide" Target="../notesSlides/notesSlide6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9" name="Picture 7" descr=""/>
          <p:cNvPicPr/>
          <p:nvPr/>
        </p:nvPicPr>
        <p:blipFill>
          <a:blip r:embed="rId1"/>
          <a:stretch/>
        </p:blipFill>
        <p:spPr>
          <a:xfrm>
            <a:off x="228600" y="380880"/>
            <a:ext cx="8683200" cy="2209320"/>
          </a:xfrm>
          <a:prstGeom prst="rect">
            <a:avLst/>
          </a:prstGeom>
          <a:noFill/>
          <a:ln w="0">
            <a:noFill/>
          </a:ln>
        </p:spPr>
      </p:pic>
      <p:sp>
        <p:nvSpPr>
          <p:cNvPr id="40" name="Text Box 5"/>
          <p:cNvSpPr/>
          <p:nvPr/>
        </p:nvSpPr>
        <p:spPr>
          <a:xfrm>
            <a:off x="6172200" y="700560"/>
            <a:ext cx="1157040" cy="1097640"/>
          </a:xfrm>
          <a:prstGeom prst="rect">
            <a:avLst/>
          </a:prstGeom>
          <a:noFill/>
          <a:ln w="0">
            <a:noFill/>
          </a:ln>
        </p:spPr>
        <p:style>
          <a:lnRef idx="0"/>
          <a:fillRef idx="0"/>
          <a:effectRef idx="0"/>
          <a:fontRef idx="minor"/>
        </p:style>
        <p:txBody>
          <a:bodyPr lIns="0" rIns="0" tIns="0" bIns="0" anchor="b">
            <a:spAutoFit/>
          </a:bodyPr>
          <a:p>
            <a:pPr algn="ctr">
              <a:lnSpc>
                <a:spcPct val="100000"/>
              </a:lnSpc>
              <a:spcBef>
                <a:spcPts val="3600"/>
              </a:spcBef>
            </a:pPr>
            <a:r>
              <a:rPr b="1" lang="en-US" sz="7200" strike="noStrike" u="none">
                <a:solidFill>
                  <a:schemeClr val="lt1"/>
                </a:solidFill>
                <a:effectLst/>
                <a:uFillTx/>
                <a:latin typeface="Arial"/>
                <a:ea typeface="ＭＳ Ｐゴシック"/>
              </a:rPr>
              <a:t>17</a:t>
            </a:r>
            <a:endParaRPr b="0" lang="en-US" sz="7200" strike="noStrike" u="none">
              <a:solidFill>
                <a:srgbClr val="000000"/>
              </a:solidFill>
              <a:effectLst/>
              <a:uFillTx/>
              <a:latin typeface="Arial"/>
            </a:endParaRPr>
          </a:p>
        </p:txBody>
      </p:sp>
      <p:sp>
        <p:nvSpPr>
          <p:cNvPr id="41" name="TextBox 6"/>
          <p:cNvSpPr/>
          <p:nvPr/>
        </p:nvSpPr>
        <p:spPr>
          <a:xfrm>
            <a:off x="225360" y="2362320"/>
            <a:ext cx="6098760" cy="8218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CA" sz="2400" strike="noStrike" u="none">
                <a:solidFill>
                  <a:schemeClr val="dk1"/>
                </a:solidFill>
                <a:effectLst/>
                <a:uFillTx/>
                <a:latin typeface="Arial"/>
                <a:ea typeface="ＭＳ Ｐゴシック"/>
              </a:rPr>
              <a:t>When you have completed your </a:t>
            </a:r>
            <a:br>
              <a:rPr sz="2400"/>
            </a:br>
            <a:r>
              <a:rPr b="1" lang="en-CA" sz="2400" strike="noStrike" u="none">
                <a:solidFill>
                  <a:schemeClr val="dk1"/>
                </a:solidFill>
                <a:effectLst/>
                <a:uFillTx/>
                <a:latin typeface="Arial"/>
                <a:ea typeface="ＭＳ Ｐゴシック"/>
              </a:rPr>
              <a:t>study of this chapter, you will be able to</a:t>
            </a:r>
            <a:endParaRPr b="0" lang="en-US" sz="2400" strike="noStrike" u="none">
              <a:solidFill>
                <a:srgbClr val="000000"/>
              </a:solidFill>
              <a:effectLst/>
              <a:uFillTx/>
              <a:latin typeface="Arial"/>
            </a:endParaRPr>
          </a:p>
        </p:txBody>
      </p:sp>
      <p:sp>
        <p:nvSpPr>
          <p:cNvPr id="42" name="TextBox 7"/>
          <p:cNvSpPr/>
          <p:nvPr/>
        </p:nvSpPr>
        <p:spPr>
          <a:xfrm>
            <a:off x="225360" y="3489480"/>
            <a:ext cx="8686440" cy="2793600"/>
          </a:xfrm>
          <a:prstGeom prst="rect">
            <a:avLst/>
          </a:prstGeom>
          <a:noFill/>
          <a:ln w="0">
            <a:noFill/>
          </a:ln>
        </p:spPr>
        <p:style>
          <a:lnRef idx="0"/>
          <a:fillRef idx="0"/>
          <a:effectRef idx="0"/>
          <a:fontRef idx="minor"/>
        </p:style>
        <p:txBody>
          <a:bodyPr lIns="90000" rIns="90000" tIns="45000" bIns="45000" anchor="t">
            <a:spAutoFit/>
          </a:bodyPr>
          <a:p>
            <a:pPr marL="114480" defTabSz="399960">
              <a:lnSpc>
                <a:spcPct val="100000"/>
              </a:lnSpc>
              <a:spcBef>
                <a:spcPts val="479"/>
              </a:spcBef>
              <a:spcAft>
                <a:spcPts val="1199"/>
              </a:spcAft>
            </a:pPr>
            <a:r>
              <a:rPr b="1" lang="en-US" sz="2400" strike="noStrike" u="none">
                <a:solidFill>
                  <a:srgbClr val="ff0000"/>
                </a:solidFill>
                <a:effectLst/>
                <a:uFillTx/>
                <a:latin typeface="Arial"/>
                <a:ea typeface="ＭＳ Ｐゴシック"/>
              </a:rPr>
              <a:t>1</a:t>
            </a:r>
            <a:r>
              <a:rPr b="1" lang="en-US" sz="2400" strike="noStrike" u="none">
                <a:solidFill>
                  <a:schemeClr val="dk1"/>
                </a:solidFill>
                <a:effectLst/>
                <a:uFillTx/>
                <a:latin typeface="Arial"/>
                <a:ea typeface="ＭＳ Ｐゴシック"/>
              </a:rPr>
              <a:t> </a:t>
            </a:r>
            <a:r>
              <a:rPr b="0" lang="en-US" sz="2400" strike="noStrike" u="none">
                <a:solidFill>
                  <a:schemeClr val="dk1"/>
                </a:solidFill>
                <a:effectLst/>
                <a:uFillTx/>
                <a:latin typeface="Arial"/>
                <a:ea typeface="ＭＳ Ｐゴシック"/>
              </a:rPr>
              <a:t>Explain how the value of marginal product determines the </a:t>
            </a:r>
            <a:r>
              <a:rPr b="0" lang="en-US" sz="2400" strike="noStrike" u="none">
                <a:solidFill>
                  <a:schemeClr val="dk1"/>
                </a:solidFill>
                <a:effectLst/>
                <a:uFillTx/>
                <a:latin typeface="Arial"/>
                <a:ea typeface="ＭＳ Ｐゴシック"/>
              </a:rPr>
              <a:t>	</a:t>
            </a:r>
            <a:r>
              <a:rPr b="0" lang="en-US" sz="2400" strike="noStrike" u="none">
                <a:solidFill>
                  <a:schemeClr val="dk1"/>
                </a:solidFill>
                <a:effectLst/>
                <a:uFillTx/>
                <a:latin typeface="Arial"/>
                <a:ea typeface="ＭＳ Ｐゴシック"/>
              </a:rPr>
              <a:t>demand for a factor of production.</a:t>
            </a:r>
            <a:endParaRPr b="0" lang="en-US" sz="2400" strike="noStrike" u="none">
              <a:solidFill>
                <a:srgbClr val="000000"/>
              </a:solidFill>
              <a:effectLst/>
              <a:uFillTx/>
              <a:latin typeface="Arial"/>
            </a:endParaRPr>
          </a:p>
          <a:p>
            <a:pPr marL="114480" defTabSz="399960">
              <a:lnSpc>
                <a:spcPct val="100000"/>
              </a:lnSpc>
              <a:spcBef>
                <a:spcPts val="479"/>
              </a:spcBef>
              <a:spcAft>
                <a:spcPts val="1199"/>
              </a:spcAft>
            </a:pPr>
            <a:r>
              <a:rPr b="1" lang="en-US" sz="2400" strike="noStrike" u="none">
                <a:solidFill>
                  <a:srgbClr val="ff0000"/>
                </a:solidFill>
                <a:effectLst/>
                <a:uFillTx/>
                <a:latin typeface="Arial"/>
                <a:ea typeface="ＭＳ Ｐゴシック"/>
              </a:rPr>
              <a:t>2</a:t>
            </a:r>
            <a:r>
              <a:rPr b="1" lang="en-US" sz="2400" strike="noStrike" u="none">
                <a:solidFill>
                  <a:srgbClr val="ff0000"/>
                </a:solidFill>
                <a:effectLst/>
                <a:uFillTx/>
                <a:latin typeface="Arial"/>
                <a:ea typeface="ＭＳ Ｐゴシック"/>
              </a:rPr>
              <a:t>	</a:t>
            </a:r>
            <a:r>
              <a:rPr b="0" lang="en-US" sz="2400" strike="noStrike" u="none">
                <a:solidFill>
                  <a:schemeClr val="dk1"/>
                </a:solidFill>
                <a:effectLst/>
                <a:uFillTx/>
                <a:latin typeface="Arial"/>
                <a:ea typeface="ＭＳ Ｐゴシック"/>
              </a:rPr>
              <a:t>Explain how wage rates and employment are determined </a:t>
            </a:r>
            <a:r>
              <a:rPr b="0" lang="en-US" sz="2400" strike="noStrike" u="none">
                <a:solidFill>
                  <a:schemeClr val="dk1"/>
                </a:solidFill>
                <a:effectLst/>
                <a:uFillTx/>
                <a:latin typeface="Arial"/>
                <a:ea typeface="ＭＳ Ｐゴシック"/>
              </a:rPr>
              <a:t>	</a:t>
            </a:r>
            <a:r>
              <a:rPr b="0" lang="en-US" sz="2400" strike="noStrike" u="none">
                <a:solidFill>
                  <a:schemeClr val="dk1"/>
                </a:solidFill>
                <a:effectLst/>
                <a:uFillTx/>
                <a:latin typeface="Arial"/>
                <a:ea typeface="ＭＳ Ｐゴシック"/>
              </a:rPr>
              <a:t>and how labor unions influence labor markets.</a:t>
            </a:r>
            <a:endParaRPr b="0" lang="en-US" sz="2400" strike="noStrike" u="none">
              <a:solidFill>
                <a:srgbClr val="000000"/>
              </a:solidFill>
              <a:effectLst/>
              <a:uFillTx/>
              <a:latin typeface="Arial"/>
            </a:endParaRPr>
          </a:p>
          <a:p>
            <a:pPr marL="114480" defTabSz="399960">
              <a:lnSpc>
                <a:spcPct val="100000"/>
              </a:lnSpc>
              <a:spcBef>
                <a:spcPts val="479"/>
              </a:spcBef>
              <a:spcAft>
                <a:spcPts val="1199"/>
              </a:spcAft>
            </a:pPr>
            <a:r>
              <a:rPr b="1" lang="en-US" sz="2400" strike="noStrike" u="none">
                <a:solidFill>
                  <a:srgbClr val="ff0000"/>
                </a:solidFill>
                <a:effectLst/>
                <a:uFillTx/>
                <a:latin typeface="Arial"/>
                <a:ea typeface="ＭＳ Ｐゴシック"/>
              </a:rPr>
              <a:t>3 </a:t>
            </a:r>
            <a:r>
              <a:rPr b="0" lang="en-US" sz="2400" strike="noStrike" u="none">
                <a:solidFill>
                  <a:schemeClr val="dk1"/>
                </a:solidFill>
                <a:effectLst/>
                <a:uFillTx/>
                <a:latin typeface="Arial"/>
                <a:ea typeface="ＭＳ Ｐゴシック"/>
              </a:rPr>
              <a:t>Explain how capital and land rental rates and natural </a:t>
            </a:r>
            <a:r>
              <a:rPr b="0" lang="en-US" sz="2400" strike="noStrike" u="none">
                <a:solidFill>
                  <a:schemeClr val="dk1"/>
                </a:solidFill>
                <a:effectLst/>
                <a:uFillTx/>
                <a:latin typeface="Arial"/>
                <a:ea typeface="ＭＳ Ｐゴシック"/>
              </a:rPr>
              <a:t>	</a:t>
            </a:r>
            <a:r>
              <a:rPr b="0" lang="en-US" sz="2400" strike="noStrike" u="none">
                <a:solidFill>
                  <a:schemeClr val="dk1"/>
                </a:solidFill>
                <a:effectLst/>
                <a:uFillTx/>
                <a:latin typeface="Arial"/>
                <a:ea typeface="ＭＳ Ｐゴシック"/>
              </a:rPr>
              <a:t>resource prices are determined.</a:t>
            </a:r>
            <a:endParaRPr b="0" lang="en-US" sz="2400" strike="noStrike" u="none">
              <a:solidFill>
                <a:srgbClr val="000000"/>
              </a:solidFill>
              <a:effectLst/>
              <a:uFillTx/>
              <a:latin typeface="Arial"/>
            </a:endParaRPr>
          </a:p>
        </p:txBody>
      </p:sp>
      <p:sp>
        <p:nvSpPr>
          <p:cNvPr id="43" name="TextBox 9"/>
          <p:cNvSpPr/>
          <p:nvPr/>
        </p:nvSpPr>
        <p:spPr>
          <a:xfrm>
            <a:off x="5843520" y="2192400"/>
            <a:ext cx="2971440" cy="3362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CA" sz="1600" strike="noStrike" u="none">
                <a:solidFill>
                  <a:schemeClr val="lt1"/>
                </a:solidFill>
                <a:effectLst/>
                <a:uFillTx/>
                <a:latin typeface="Arial"/>
                <a:ea typeface="ＭＳ Ｐゴシック"/>
              </a:rPr>
              <a:t>CHAPTER CHECKLIST</a:t>
            </a:r>
            <a:endParaRPr b="0" lang="en-US" sz="1600" strike="noStrike" u="none">
              <a:solidFill>
                <a:srgbClr val="000000"/>
              </a:solidFill>
              <a:effectLst/>
              <a:uFillTx/>
              <a:latin typeface="Arial"/>
            </a:endParaRPr>
          </a:p>
        </p:txBody>
      </p:sp>
      <p:sp>
        <p:nvSpPr>
          <p:cNvPr id="44" name="Rectangle 1"/>
          <p:cNvSpPr/>
          <p:nvPr/>
        </p:nvSpPr>
        <p:spPr>
          <a:xfrm>
            <a:off x="284040" y="1143000"/>
            <a:ext cx="3517560" cy="95364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en-CA" sz="2800" strike="noStrike" u="none">
                <a:solidFill>
                  <a:schemeClr val="dk1"/>
                </a:solidFill>
                <a:effectLst/>
                <a:uFillTx/>
                <a:latin typeface="Arial"/>
                <a:ea typeface="ＭＳ Ｐゴシック"/>
              </a:rPr>
              <a:t>Markets for Factors </a:t>
            </a:r>
            <a:br>
              <a:rPr sz="2800"/>
            </a:br>
            <a:r>
              <a:rPr b="1" lang="en-CA" sz="2800" strike="noStrike" u="none">
                <a:solidFill>
                  <a:schemeClr val="dk1"/>
                </a:solidFill>
                <a:effectLst/>
                <a:uFillTx/>
                <a:latin typeface="Arial"/>
                <a:ea typeface="ＭＳ Ｐゴシック"/>
              </a:rPr>
              <a:t>of Production</a:t>
            </a:r>
            <a:endParaRPr b="0" lang="en-US" sz="2800" strike="noStrike" u="none">
              <a:solidFill>
                <a:srgbClr val="000000"/>
              </a:solidFill>
              <a:effectLst/>
              <a:uFillTx/>
              <a:latin typeface="Arial"/>
            </a:endParaRPr>
          </a:p>
        </p:txBody>
      </p:sp>
    </p:spTree>
  </p:cSld>
  <p:transition spd="slow">
    <p:wipe dir="r"/>
  </p:transition>
  <p:timing>
    <p:tnLst>
      <p:par>
        <p:cTn id="1" dur="indefinite" restart="never" nodeType="tmRoot">
          <p:childTnLst>
            <p:seq>
              <p:cTn id="2" dur="indefinite" nodeType="mainSeq">
                <p:childTnLst>
                  <p:par>
                    <p:cTn id="3" nodeType="clickEffect" fill="hold">
                      <p:stCondLst>
                        <p:cond delay="indefinite"/>
                      </p:stCondLst>
                      <p:childTnLst>
                        <p:par>
                          <p:cTn id="4" nodeType="withEffect" fill="hold">
                            <p:stCondLst>
                              <p:cond delay="0"/>
                            </p:stCondLst>
                            <p:childTnLst>
                              <p:par>
                                <p:cTn id="5" nodeType="clickEffect" fill="hold" presetClass="entr" presetID="22" presetSubtype="8">
                                  <p:stCondLst>
                                    <p:cond delay="0"/>
                                  </p:stCondLst>
                                  <p:childTnLst>
                                    <p:set>
                                      <p:cBhvr>
                                        <p:cTn id="6" dur="1" fill="hold">
                                          <p:stCondLst>
                                            <p:cond delay="0"/>
                                          </p:stCondLst>
                                        </p:cTn>
                                        <p:tgtEl>
                                          <p:spTgt spid="41"/>
                                        </p:tgtEl>
                                        <p:attrNameLst>
                                          <p:attrName>style.visibility</p:attrName>
                                        </p:attrNameLst>
                                      </p:cBhvr>
                                      <p:to>
                                        <p:strVal val="visible"/>
                                      </p:to>
                                    </p:set>
                                    <p:animEffect filter="wipe(left)" transition="in">
                                      <p:cBhvr additive="repl">
                                        <p:cTn id="7" dur="500"/>
                                        <p:tgtEl>
                                          <p:spTgt spid="41"/>
                                        </p:tgtEl>
                                      </p:cBhvr>
                                    </p:animEffect>
                                  </p:childTnLst>
                                </p:cTn>
                              </p:par>
                            </p:childTnLst>
                          </p:cTn>
                        </p:par>
                      </p:childTnLst>
                    </p:cTn>
                  </p:par>
                  <p:par>
                    <p:cTn id="8" nodeType="clickEffect" fill="hold">
                      <p:stCondLst>
                        <p:cond delay="indefinite"/>
                      </p:stCondLst>
                      <p:childTnLst>
                        <p:par>
                          <p:cTn id="9" nodeType="withEffect" fill="hold">
                            <p:stCondLst>
                              <p:cond delay="0"/>
                            </p:stCondLst>
                            <p:childTnLst>
                              <p:par>
                                <p:cTn id="10" nodeType="clickEffect" fill="hold" presetClass="entr" presetID="22" presetSubtype="8">
                                  <p:stCondLst>
                                    <p:cond delay="0"/>
                                  </p:stCondLst>
                                  <p:childTnLst>
                                    <p:set>
                                      <p:cBhvr>
                                        <p:cTn id="11" dur="1" fill="hold">
                                          <p:stCondLst>
                                            <p:cond delay="0"/>
                                          </p:stCondLst>
                                        </p:cTn>
                                        <p:tgtEl>
                                          <p:spTgt spid="42">
                                            <p:txEl>
                                              <p:pRg st="0" end="0"/>
                                            </p:txEl>
                                          </p:spTgt>
                                        </p:tgtEl>
                                        <p:attrNameLst>
                                          <p:attrName>style.visibility</p:attrName>
                                        </p:attrNameLst>
                                      </p:cBhvr>
                                      <p:to>
                                        <p:strVal val="visible"/>
                                      </p:to>
                                    </p:set>
                                    <p:animEffect filter="wipe(left)" transition="in">
                                      <p:cBhvr additive="repl">
                                        <p:cTn id="12" dur="1000"/>
                                        <p:tgtEl>
                                          <p:spTgt spid="42">
                                            <p:txEl>
                                              <p:pRg st="0" end="0"/>
                                            </p:txEl>
                                          </p:spTgt>
                                        </p:tgtEl>
                                      </p:cBhvr>
                                    </p:animEffect>
                                  </p:childTnLst>
                                </p:cTn>
                              </p:par>
                            </p:childTnLst>
                          </p:cTn>
                        </p:par>
                      </p:childTnLst>
                    </p:cTn>
                  </p:par>
                  <p:par>
                    <p:cTn id="13" nodeType="clickEffect" fill="hold">
                      <p:stCondLst>
                        <p:cond delay="indefinite"/>
                      </p:stCondLst>
                      <p:childTnLst>
                        <p:par>
                          <p:cTn id="14" nodeType="withEffect" fill="hold">
                            <p:stCondLst>
                              <p:cond delay="0"/>
                            </p:stCondLst>
                            <p:childTnLst>
                              <p:par>
                                <p:cTn id="15" nodeType="clickEffect" fill="hold" presetClass="entr" presetID="22" presetSubtype="8">
                                  <p:stCondLst>
                                    <p:cond delay="0"/>
                                  </p:stCondLst>
                                  <p:childTnLst>
                                    <p:set>
                                      <p:cBhvr>
                                        <p:cTn id="16" dur="1" fill="hold">
                                          <p:stCondLst>
                                            <p:cond delay="0"/>
                                          </p:stCondLst>
                                        </p:cTn>
                                        <p:tgtEl>
                                          <p:spTgt spid="42">
                                            <p:txEl>
                                              <p:pRg st="1" end="1"/>
                                            </p:txEl>
                                          </p:spTgt>
                                        </p:tgtEl>
                                        <p:attrNameLst>
                                          <p:attrName>style.visibility</p:attrName>
                                        </p:attrNameLst>
                                      </p:cBhvr>
                                      <p:to>
                                        <p:strVal val="visible"/>
                                      </p:to>
                                    </p:set>
                                    <p:animEffect filter="wipe(left)" transition="in">
                                      <p:cBhvr additive="repl">
                                        <p:cTn id="17" dur="1000"/>
                                        <p:tgtEl>
                                          <p:spTgt spid="42">
                                            <p:txEl>
                                              <p:pRg st="1" end="1"/>
                                            </p:txEl>
                                          </p:spTgt>
                                        </p:tgtEl>
                                      </p:cBhvr>
                                    </p:animEffect>
                                  </p:childTnLst>
                                </p:cTn>
                              </p:par>
                            </p:childTnLst>
                          </p:cTn>
                        </p:par>
                      </p:childTnLst>
                    </p:cTn>
                  </p:par>
                  <p:par>
                    <p:cTn id="18" nodeType="clickEffect" fill="hold">
                      <p:stCondLst>
                        <p:cond delay="indefinite"/>
                      </p:stCondLst>
                      <p:childTnLst>
                        <p:par>
                          <p:cTn id="19" nodeType="withEffect" fill="hold">
                            <p:stCondLst>
                              <p:cond delay="0"/>
                            </p:stCondLst>
                            <p:childTnLst>
                              <p:par>
                                <p:cTn id="20" nodeType="clickEffect" fill="hold" presetClass="entr" presetID="22" presetSubtype="8">
                                  <p:stCondLst>
                                    <p:cond delay="0"/>
                                  </p:stCondLst>
                                  <p:childTnLst>
                                    <p:set>
                                      <p:cBhvr>
                                        <p:cTn id="21" dur="1" fill="hold">
                                          <p:stCondLst>
                                            <p:cond delay="0"/>
                                          </p:stCondLst>
                                        </p:cTn>
                                        <p:tgtEl>
                                          <p:spTgt spid="42">
                                            <p:txEl>
                                              <p:pRg st="2" end="2"/>
                                            </p:txEl>
                                          </p:spTgt>
                                        </p:tgtEl>
                                        <p:attrNameLst>
                                          <p:attrName>style.visibility</p:attrName>
                                        </p:attrNameLst>
                                      </p:cBhvr>
                                      <p:to>
                                        <p:strVal val="visible"/>
                                      </p:to>
                                    </p:set>
                                    <p:animEffect filter="wipe(left)" transition="in">
                                      <p:cBhvr additive="repl">
                                        <p:cTn id="22" dur="1000"/>
                                        <p:tgtEl>
                                          <p:spTgt spid="42">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 name="PlaceHolder 1"/>
          <p:cNvSpPr>
            <a:spLocks noGrp="1"/>
          </p:cNvSpPr>
          <p:nvPr>
            <p:ph/>
          </p:nvPr>
        </p:nvSpPr>
        <p:spPr>
          <a:xfrm>
            <a:off x="360360" y="1440000"/>
            <a:ext cx="8229240" cy="4289040"/>
          </a:xfrm>
          <a:prstGeom prst="rect">
            <a:avLst/>
          </a:prstGeom>
          <a:noFill/>
          <a:ln w="0">
            <a:noFill/>
          </a:ln>
        </p:spPr>
        <p:txBody>
          <a:bodyPr lIns="90000" rIns="90000" tIns="45000" bIns="45000" anchor="t">
            <a:noAutofit/>
          </a:bodyPr>
          <a:p>
            <a:pPr marL="360000" indent="0">
              <a:lnSpc>
                <a:spcPct val="100000"/>
              </a:lnSpc>
              <a:spcBef>
                <a:spcPts val="601"/>
              </a:spcBef>
              <a:spcAft>
                <a:spcPts val="601"/>
              </a:spcAft>
              <a:buNone/>
              <a:tabLst>
                <a:tab algn="l" pos="0"/>
              </a:tabLst>
            </a:pPr>
            <a:r>
              <a:rPr b="0" lang="en-CA" sz="2400" strike="noStrike" u="none">
                <a:solidFill>
                  <a:schemeClr val="dk1"/>
                </a:solidFill>
                <a:effectLst/>
                <a:uFillTx/>
                <a:latin typeface="Arial"/>
                <a:ea typeface="ＭＳ Ｐゴシック"/>
              </a:rPr>
              <a:t>The four factors of production that produce goods and services are</a:t>
            </a:r>
            <a:endParaRPr b="1" lang="en-CA" sz="2400" strike="noStrike" u="none">
              <a:solidFill>
                <a:srgbClr val="fb1b2a"/>
              </a:solidFill>
              <a:effectLst/>
              <a:uFillTx/>
              <a:latin typeface="Arial"/>
            </a:endParaRPr>
          </a:p>
          <a:p>
            <a:pPr lvl="2" marL="703080" indent="-343080">
              <a:lnSpc>
                <a:spcPct val="100000"/>
              </a:lnSpc>
              <a:spcBef>
                <a:spcPts val="601"/>
              </a:spcBef>
              <a:spcAft>
                <a:spcPts val="601"/>
              </a:spcAft>
              <a:buClr>
                <a:srgbClr val="000000"/>
              </a:buClr>
              <a:buFont typeface="Arial"/>
              <a:buChar char="•"/>
              <a:tabLst>
                <a:tab algn="l" pos="0"/>
              </a:tabLst>
            </a:pPr>
            <a:r>
              <a:rPr b="0" lang="en-CA" sz="2400" strike="noStrike" u="none">
                <a:solidFill>
                  <a:schemeClr val="dk1"/>
                </a:solidFill>
                <a:effectLst/>
                <a:uFillTx/>
                <a:latin typeface="Arial"/>
                <a:ea typeface="ＭＳ Ｐゴシック"/>
              </a:rPr>
              <a:t>Labor</a:t>
            </a:r>
            <a:endParaRPr b="0" lang="en-CA" sz="2400" strike="noStrike" u="none">
              <a:solidFill>
                <a:schemeClr val="dk1"/>
              </a:solidFill>
              <a:effectLst/>
              <a:uFillTx/>
              <a:latin typeface="Arial"/>
            </a:endParaRPr>
          </a:p>
          <a:p>
            <a:pPr lvl="2" marL="703080" indent="-343080">
              <a:lnSpc>
                <a:spcPct val="100000"/>
              </a:lnSpc>
              <a:spcBef>
                <a:spcPts val="601"/>
              </a:spcBef>
              <a:spcAft>
                <a:spcPts val="601"/>
              </a:spcAft>
              <a:buClr>
                <a:srgbClr val="000000"/>
              </a:buClr>
              <a:buFont typeface="Arial"/>
              <a:buChar char="•"/>
              <a:tabLst>
                <a:tab algn="l" pos="0"/>
              </a:tabLst>
            </a:pPr>
            <a:r>
              <a:rPr b="0" lang="en-CA" sz="2400" strike="noStrike" u="none">
                <a:solidFill>
                  <a:schemeClr val="dk1"/>
                </a:solidFill>
                <a:effectLst/>
                <a:uFillTx/>
                <a:latin typeface="Arial"/>
                <a:ea typeface="ＭＳ Ｐゴシック"/>
              </a:rPr>
              <a:t>Capital</a:t>
            </a:r>
            <a:endParaRPr b="0" lang="en-CA" sz="2400" strike="noStrike" u="none">
              <a:solidFill>
                <a:schemeClr val="dk1"/>
              </a:solidFill>
              <a:effectLst/>
              <a:uFillTx/>
              <a:latin typeface="Arial"/>
            </a:endParaRPr>
          </a:p>
          <a:p>
            <a:pPr lvl="2" marL="703080" indent="-343080">
              <a:lnSpc>
                <a:spcPct val="100000"/>
              </a:lnSpc>
              <a:spcBef>
                <a:spcPts val="601"/>
              </a:spcBef>
              <a:spcAft>
                <a:spcPts val="601"/>
              </a:spcAft>
              <a:buClr>
                <a:srgbClr val="000000"/>
              </a:buClr>
              <a:buFont typeface="Arial"/>
              <a:buChar char="•"/>
              <a:tabLst>
                <a:tab algn="l" pos="0"/>
              </a:tabLst>
            </a:pPr>
            <a:r>
              <a:rPr b="0" lang="en-US" sz="2400" strike="noStrike" u="none">
                <a:solidFill>
                  <a:schemeClr val="dk1"/>
                </a:solidFill>
                <a:effectLst/>
                <a:uFillTx/>
                <a:latin typeface="Arial"/>
                <a:ea typeface="ＭＳ Ｐゴシック"/>
              </a:rPr>
              <a:t>Land (natural resources)</a:t>
            </a:r>
            <a:endParaRPr b="0" lang="en-CA" sz="2400" strike="noStrike" u="none">
              <a:solidFill>
                <a:schemeClr val="dk1"/>
              </a:solidFill>
              <a:effectLst/>
              <a:uFillTx/>
              <a:latin typeface="Arial"/>
            </a:endParaRPr>
          </a:p>
          <a:p>
            <a:pPr lvl="2" marL="703080" indent="-343080">
              <a:lnSpc>
                <a:spcPct val="100000"/>
              </a:lnSpc>
              <a:spcBef>
                <a:spcPts val="601"/>
              </a:spcBef>
              <a:spcAft>
                <a:spcPts val="601"/>
              </a:spcAft>
              <a:buClr>
                <a:srgbClr val="000000"/>
              </a:buClr>
              <a:buFont typeface="Arial"/>
              <a:buChar char="•"/>
              <a:tabLst>
                <a:tab algn="l" pos="0"/>
              </a:tabLst>
            </a:pPr>
            <a:r>
              <a:rPr b="0" lang="en-US" sz="2400" strike="noStrike" u="none">
                <a:solidFill>
                  <a:schemeClr val="dk1"/>
                </a:solidFill>
                <a:effectLst/>
                <a:uFillTx/>
                <a:latin typeface="Arial"/>
                <a:ea typeface="ＭＳ Ｐゴシック"/>
              </a:rPr>
              <a:t>Entrepreneurship</a:t>
            </a:r>
            <a:endParaRPr b="0" lang="en-CA" sz="2400" strike="noStrike" u="none">
              <a:solidFill>
                <a:schemeClr val="dk1"/>
              </a:solidFill>
              <a:effectLst/>
              <a:uFillTx/>
              <a:latin typeface="Arial"/>
            </a:endParaRPr>
          </a:p>
          <a:p>
            <a:pPr marL="631800" indent="-174600">
              <a:lnSpc>
                <a:spcPct val="100000"/>
              </a:lnSpc>
              <a:spcBef>
                <a:spcPts val="561"/>
              </a:spcBef>
              <a:buNone/>
              <a:tabLst>
                <a:tab algn="l" pos="0"/>
              </a:tabLst>
            </a:pPr>
            <a:endParaRPr b="1" lang="en-CA" sz="2800" strike="noStrike" u="none">
              <a:solidFill>
                <a:srgbClr val="fb1b2a"/>
              </a:solidFill>
              <a:effectLst/>
              <a:uFillTx/>
              <a:latin typeface="Arial"/>
            </a:endParaRPr>
          </a:p>
        </p:txBody>
      </p:sp>
      <p:sp>
        <p:nvSpPr>
          <p:cNvPr id="46" name="Line 3"/>
          <p:cNvSpPr/>
          <p:nvPr/>
        </p:nvSpPr>
        <p:spPr>
          <a:xfrm>
            <a:off x="533160" y="1234800"/>
            <a:ext cx="8077320" cy="44640"/>
          </a:xfrm>
          <a:prstGeom prst="line">
            <a:avLst/>
          </a:prstGeom>
          <a:ln w="88900">
            <a:solidFill>
              <a:srgbClr val="00468f"/>
            </a:solidFill>
            <a:miter/>
          </a:ln>
        </p:spPr>
        <p:style>
          <a:lnRef idx="0"/>
          <a:fillRef idx="0"/>
          <a:effectRef idx="0"/>
          <a:fontRef idx="minor"/>
        </p:style>
        <p:txBody>
          <a:bodyPr lIns="90000" rIns="90000" tIns="-360" bIns="-360" anchor="t">
            <a:noAutofit/>
          </a:bodyPr>
          <a:p>
            <a:endParaRPr b="0" lang="en-US" sz="2400" strike="noStrike" u="none">
              <a:solidFill>
                <a:schemeClr val="dk1"/>
              </a:solidFill>
              <a:effectLst/>
              <a:uFillTx/>
              <a:latin typeface="Arial"/>
              <a:ea typeface="ＭＳ Ｐゴシック"/>
            </a:endParaRPr>
          </a:p>
        </p:txBody>
      </p:sp>
      <p:sp>
        <p:nvSpPr>
          <p:cNvPr id="47" name="Text Box 4"/>
          <p:cNvSpPr/>
          <p:nvPr/>
        </p:nvSpPr>
        <p:spPr>
          <a:xfrm>
            <a:off x="685800" y="746280"/>
            <a:ext cx="6705360" cy="48852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1301"/>
              </a:spcBef>
            </a:pPr>
            <a:r>
              <a:rPr b="1" lang="en-US" sz="2600" strike="noStrike" u="none">
                <a:solidFill>
                  <a:schemeClr val="dk1"/>
                </a:solidFill>
                <a:effectLst/>
                <a:uFillTx/>
                <a:latin typeface="Arial"/>
                <a:ea typeface="ＭＳ Ｐゴシック"/>
              </a:rPr>
              <a:t>THE ANATOMY OF FACTOR MARKETS</a:t>
            </a:r>
            <a:endParaRPr b="0" lang="en-US" sz="2600" strike="noStrike" u="none">
              <a:solidFill>
                <a:srgbClr val="000000"/>
              </a:solidFill>
              <a:effectLst/>
              <a:uFillTx/>
              <a:latin typeface="Arial"/>
            </a:endParaRPr>
          </a:p>
        </p:txBody>
      </p:sp>
    </p:spTree>
  </p:cSld>
  <p:transition spd="slow">
    <p:wipe dir="r"/>
  </p:transition>
  <p:timing>
    <p:tnLst>
      <p:par>
        <p:cTn id="23" dur="indefinite" restart="never" nodeType="tmRoot">
          <p:childTnLst>
            <p:seq>
              <p:cTn id="24" dur="indefinite" nodeType="mainSeq">
                <p:childTnLst>
                  <p:par>
                    <p:cTn id="25" nodeType="clickEffect" fill="hold">
                      <p:stCondLst>
                        <p:cond delay="indefinite"/>
                      </p:stCondLst>
                      <p:childTnLst>
                        <p:par>
                          <p:cTn id="26" nodeType="withEffect" fill="hold">
                            <p:stCondLst>
                              <p:cond delay="0"/>
                            </p:stCondLst>
                            <p:childTnLst>
                              <p:par>
                                <p:cTn id="27" nodeType="clickEffect" fill="hold" presetClass="entr" presetID="22" presetSubtype="8">
                                  <p:stCondLst>
                                    <p:cond delay="0"/>
                                  </p:stCondLst>
                                  <p:childTnLst>
                                    <p:set>
                                      <p:cBhvr>
                                        <p:cTn id="28" dur="1" fill="hold">
                                          <p:stCondLst>
                                            <p:cond delay="0"/>
                                          </p:stCondLst>
                                        </p:cTn>
                                        <p:tgtEl>
                                          <p:spTgt spid="45">
                                            <p:txEl>
                                              <p:pRg st="1" end="1"/>
                                            </p:txEl>
                                          </p:spTgt>
                                        </p:tgtEl>
                                        <p:attrNameLst>
                                          <p:attrName>style.visibility</p:attrName>
                                        </p:attrNameLst>
                                      </p:cBhvr>
                                      <p:to>
                                        <p:strVal val="visible"/>
                                      </p:to>
                                    </p:set>
                                    <p:animEffect filter="wipe(left)" transition="in">
                                      <p:cBhvr additive="repl">
                                        <p:cTn id="29" dur="500"/>
                                        <p:tgtEl>
                                          <p:spTgt spid="45">
                                            <p:txEl>
                                              <p:pRg st="1" end="1"/>
                                            </p:txEl>
                                          </p:spTgt>
                                        </p:tgtEl>
                                      </p:cBhvr>
                                    </p:animEffect>
                                  </p:childTnLst>
                                </p:cTn>
                              </p:par>
                            </p:childTnLst>
                          </p:cTn>
                        </p:par>
                      </p:childTnLst>
                    </p:cTn>
                  </p:par>
                  <p:par>
                    <p:cTn id="30" nodeType="clickEffect" fill="hold">
                      <p:stCondLst>
                        <p:cond delay="indefinite"/>
                      </p:stCondLst>
                      <p:childTnLst>
                        <p:par>
                          <p:cTn id="31" nodeType="withEffect" fill="hold">
                            <p:stCondLst>
                              <p:cond delay="0"/>
                            </p:stCondLst>
                            <p:childTnLst>
                              <p:par>
                                <p:cTn id="32" nodeType="clickEffect" fill="hold" presetClass="entr" presetID="22" presetSubtype="8">
                                  <p:stCondLst>
                                    <p:cond delay="0"/>
                                  </p:stCondLst>
                                  <p:childTnLst>
                                    <p:set>
                                      <p:cBhvr>
                                        <p:cTn id="33" dur="1" fill="hold">
                                          <p:stCondLst>
                                            <p:cond delay="0"/>
                                          </p:stCondLst>
                                        </p:cTn>
                                        <p:tgtEl>
                                          <p:spTgt spid="45">
                                            <p:txEl>
                                              <p:pRg st="2" end="2"/>
                                            </p:txEl>
                                          </p:spTgt>
                                        </p:tgtEl>
                                        <p:attrNameLst>
                                          <p:attrName>style.visibility</p:attrName>
                                        </p:attrNameLst>
                                      </p:cBhvr>
                                      <p:to>
                                        <p:strVal val="visible"/>
                                      </p:to>
                                    </p:set>
                                    <p:animEffect filter="wipe(left)" transition="in">
                                      <p:cBhvr additive="repl">
                                        <p:cTn id="34" dur="500"/>
                                        <p:tgtEl>
                                          <p:spTgt spid="45">
                                            <p:txEl>
                                              <p:pRg st="2" end="2"/>
                                            </p:txEl>
                                          </p:spTgt>
                                        </p:tgtEl>
                                      </p:cBhvr>
                                    </p:animEffect>
                                  </p:childTnLst>
                                </p:cTn>
                              </p:par>
                            </p:childTnLst>
                          </p:cTn>
                        </p:par>
                      </p:childTnLst>
                    </p:cTn>
                  </p:par>
                  <p:par>
                    <p:cTn id="35" nodeType="clickEffect" fill="hold">
                      <p:stCondLst>
                        <p:cond delay="indefinite"/>
                      </p:stCondLst>
                      <p:childTnLst>
                        <p:par>
                          <p:cTn id="36" nodeType="withEffect" fill="hold">
                            <p:stCondLst>
                              <p:cond delay="0"/>
                            </p:stCondLst>
                            <p:childTnLst>
                              <p:par>
                                <p:cTn id="37" nodeType="clickEffect" fill="hold" presetClass="entr" presetID="22" presetSubtype="8">
                                  <p:stCondLst>
                                    <p:cond delay="0"/>
                                  </p:stCondLst>
                                  <p:childTnLst>
                                    <p:set>
                                      <p:cBhvr>
                                        <p:cTn id="38" dur="1" fill="hold">
                                          <p:stCondLst>
                                            <p:cond delay="0"/>
                                          </p:stCondLst>
                                        </p:cTn>
                                        <p:tgtEl>
                                          <p:spTgt spid="45">
                                            <p:txEl>
                                              <p:pRg st="3" end="3"/>
                                            </p:txEl>
                                          </p:spTgt>
                                        </p:tgtEl>
                                        <p:attrNameLst>
                                          <p:attrName>style.visibility</p:attrName>
                                        </p:attrNameLst>
                                      </p:cBhvr>
                                      <p:to>
                                        <p:strVal val="visible"/>
                                      </p:to>
                                    </p:set>
                                    <p:animEffect filter="wipe(left)" transition="in">
                                      <p:cBhvr additive="repl">
                                        <p:cTn id="39" dur="500"/>
                                        <p:tgtEl>
                                          <p:spTgt spid="45">
                                            <p:txEl>
                                              <p:pRg st="3" end="3"/>
                                            </p:txEl>
                                          </p:spTgt>
                                        </p:tgtEl>
                                      </p:cBhvr>
                                    </p:animEffect>
                                  </p:childTnLst>
                                </p:cTn>
                              </p:par>
                            </p:childTnLst>
                          </p:cTn>
                        </p:par>
                      </p:childTnLst>
                    </p:cTn>
                  </p:par>
                  <p:par>
                    <p:cTn id="40" nodeType="clickEffect" fill="hold">
                      <p:stCondLst>
                        <p:cond delay="indefinite"/>
                      </p:stCondLst>
                      <p:childTnLst>
                        <p:par>
                          <p:cTn id="41" nodeType="withEffect" fill="hold">
                            <p:stCondLst>
                              <p:cond delay="0"/>
                            </p:stCondLst>
                            <p:childTnLst>
                              <p:par>
                                <p:cTn id="42" nodeType="clickEffect" fill="hold" presetClass="entr" presetID="22" presetSubtype="8">
                                  <p:stCondLst>
                                    <p:cond delay="0"/>
                                  </p:stCondLst>
                                  <p:childTnLst>
                                    <p:set>
                                      <p:cBhvr>
                                        <p:cTn id="43" dur="1" fill="hold">
                                          <p:stCondLst>
                                            <p:cond delay="0"/>
                                          </p:stCondLst>
                                        </p:cTn>
                                        <p:tgtEl>
                                          <p:spTgt spid="45">
                                            <p:txEl>
                                              <p:pRg st="4" end="4"/>
                                            </p:txEl>
                                          </p:spTgt>
                                        </p:tgtEl>
                                        <p:attrNameLst>
                                          <p:attrName>style.visibility</p:attrName>
                                        </p:attrNameLst>
                                      </p:cBhvr>
                                      <p:to>
                                        <p:strVal val="visible"/>
                                      </p:to>
                                    </p:set>
                                    <p:animEffect filter="wipe(left)" transition="in">
                                      <p:cBhvr additive="repl">
                                        <p:cTn id="44" dur="500"/>
                                        <p:tgtEl>
                                          <p:spTgt spid="45">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 name="PlaceHolder 1"/>
          <p:cNvSpPr>
            <a:spLocks noGrp="1"/>
          </p:cNvSpPr>
          <p:nvPr>
            <p:ph/>
          </p:nvPr>
        </p:nvSpPr>
        <p:spPr>
          <a:xfrm>
            <a:off x="360360" y="1440000"/>
            <a:ext cx="8229240" cy="4441320"/>
          </a:xfrm>
          <a:prstGeom prst="rect">
            <a:avLst/>
          </a:prstGeom>
          <a:noFill/>
          <a:ln w="0">
            <a:noFill/>
          </a:ln>
        </p:spPr>
        <p:txBody>
          <a:bodyPr lIns="90000" rIns="90000" tIns="45000" bIns="45000" anchor="t">
            <a:noAutofit/>
          </a:bodyPr>
          <a:p>
            <a:pPr marL="360000" indent="0">
              <a:lnSpc>
                <a:spcPct val="100000"/>
              </a:lnSpc>
              <a:spcBef>
                <a:spcPts val="601"/>
              </a:spcBef>
              <a:spcAft>
                <a:spcPts val="601"/>
              </a:spcAft>
              <a:buNone/>
              <a:tabLst>
                <a:tab algn="l" pos="0"/>
              </a:tabLst>
            </a:pPr>
            <a:r>
              <a:rPr b="1" lang="en-US" sz="2400" strike="noStrike" u="none">
                <a:solidFill>
                  <a:srgbClr val="ff0000"/>
                </a:solidFill>
                <a:effectLst/>
                <a:uFillTx/>
                <a:latin typeface="Arial"/>
                <a:ea typeface="MS Mincho"/>
              </a:rPr>
              <a:t>Factor markets </a:t>
            </a:r>
            <a:r>
              <a:rPr b="0" lang="en-US" sz="2400" strike="noStrike" u="none">
                <a:solidFill>
                  <a:schemeClr val="dk1"/>
                </a:solidFill>
                <a:effectLst/>
                <a:uFillTx/>
                <a:latin typeface="Arial"/>
                <a:ea typeface="MS Mincho"/>
              </a:rPr>
              <a:t>are the markets in which the services of the factors of production are traded.</a:t>
            </a:r>
            <a:endParaRPr b="1" lang="en-CA" sz="2400" strike="noStrike" u="none">
              <a:solidFill>
                <a:srgbClr val="fb1b2a"/>
              </a:solidFill>
              <a:effectLst/>
              <a:uFillTx/>
              <a:latin typeface="Arial"/>
            </a:endParaRPr>
          </a:p>
          <a:p>
            <a:pPr marL="360000" indent="0">
              <a:lnSpc>
                <a:spcPct val="100000"/>
              </a:lnSpc>
              <a:spcBef>
                <a:spcPts val="601"/>
              </a:spcBef>
              <a:spcAft>
                <a:spcPts val="601"/>
              </a:spcAft>
              <a:buNone/>
              <a:tabLst>
                <a:tab algn="l" pos="0"/>
              </a:tabLst>
            </a:pPr>
            <a:r>
              <a:rPr b="1" lang="en-US" sz="2400" strike="noStrike" u="none">
                <a:solidFill>
                  <a:srgbClr val="ff0000"/>
                </a:solidFill>
                <a:effectLst/>
                <a:uFillTx/>
                <a:latin typeface="Arial"/>
                <a:ea typeface="MS Mincho"/>
              </a:rPr>
              <a:t>Factor prices </a:t>
            </a:r>
            <a:r>
              <a:rPr b="0" lang="en-US" sz="2400" strike="noStrike" u="none">
                <a:solidFill>
                  <a:schemeClr val="dk1"/>
                </a:solidFill>
                <a:effectLst/>
                <a:uFillTx/>
                <a:latin typeface="Arial"/>
                <a:ea typeface="MS Mincho"/>
              </a:rPr>
              <a:t>are the prices of factors of production.  </a:t>
            </a:r>
            <a:endParaRPr b="1" lang="en-CA" sz="2400" strike="noStrike" u="none">
              <a:solidFill>
                <a:srgbClr val="fb1b2a"/>
              </a:solidFill>
              <a:effectLst/>
              <a:uFillTx/>
              <a:latin typeface="Arial"/>
            </a:endParaRPr>
          </a:p>
          <a:p>
            <a:pPr marL="289080" indent="-174600">
              <a:lnSpc>
                <a:spcPct val="100000"/>
              </a:lnSpc>
              <a:spcBef>
                <a:spcPts val="1199"/>
              </a:spcBef>
              <a:spcAft>
                <a:spcPts val="601"/>
              </a:spcAft>
              <a:buNone/>
              <a:tabLst>
                <a:tab algn="l" pos="0"/>
              </a:tabLst>
            </a:pPr>
            <a:endParaRPr b="1" lang="en-CA" sz="2800" strike="noStrike" u="none">
              <a:solidFill>
                <a:srgbClr val="fb1b2a"/>
              </a:solidFill>
              <a:effectLst/>
              <a:uFillTx/>
              <a:latin typeface="Arial"/>
            </a:endParaRPr>
          </a:p>
        </p:txBody>
      </p:sp>
      <p:sp>
        <p:nvSpPr>
          <p:cNvPr id="49" name="Line 3"/>
          <p:cNvSpPr/>
          <p:nvPr/>
        </p:nvSpPr>
        <p:spPr>
          <a:xfrm>
            <a:off x="533160" y="1234800"/>
            <a:ext cx="8077320" cy="44640"/>
          </a:xfrm>
          <a:prstGeom prst="line">
            <a:avLst/>
          </a:prstGeom>
          <a:ln w="88900">
            <a:solidFill>
              <a:srgbClr val="00468f"/>
            </a:solidFill>
            <a:miter/>
          </a:ln>
        </p:spPr>
        <p:style>
          <a:lnRef idx="0"/>
          <a:fillRef idx="0"/>
          <a:effectRef idx="0"/>
          <a:fontRef idx="minor"/>
        </p:style>
        <p:txBody>
          <a:bodyPr lIns="90000" rIns="90000" tIns="-360" bIns="-360" anchor="t">
            <a:noAutofit/>
          </a:bodyPr>
          <a:p>
            <a:endParaRPr b="0" lang="en-US" sz="2400" strike="noStrike" u="none">
              <a:solidFill>
                <a:schemeClr val="dk1"/>
              </a:solidFill>
              <a:effectLst/>
              <a:uFillTx/>
              <a:latin typeface="Arial"/>
              <a:ea typeface="ＭＳ Ｐゴシック"/>
            </a:endParaRPr>
          </a:p>
        </p:txBody>
      </p:sp>
      <p:sp>
        <p:nvSpPr>
          <p:cNvPr id="50" name="Text Box 4"/>
          <p:cNvSpPr/>
          <p:nvPr/>
        </p:nvSpPr>
        <p:spPr>
          <a:xfrm>
            <a:off x="685800" y="746280"/>
            <a:ext cx="6705360" cy="48852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1301"/>
              </a:spcBef>
            </a:pPr>
            <a:r>
              <a:rPr b="1" lang="en-US" sz="2600" strike="noStrike" u="none">
                <a:solidFill>
                  <a:schemeClr val="dk1"/>
                </a:solidFill>
                <a:effectLst/>
                <a:uFillTx/>
                <a:latin typeface="Arial"/>
                <a:ea typeface="ＭＳ Ｐゴシック"/>
              </a:rPr>
              <a:t>THE ANATOMY OF FACTOR MARKETS</a:t>
            </a:r>
            <a:endParaRPr b="0" lang="en-US" sz="2600" strike="noStrike" u="none">
              <a:solidFill>
                <a:srgbClr val="000000"/>
              </a:solidFill>
              <a:effectLst/>
              <a:uFillTx/>
              <a:latin typeface="Arial"/>
            </a:endParaRPr>
          </a:p>
        </p:txBody>
      </p:sp>
    </p:spTree>
  </p:cSld>
  <p:transition spd="slow">
    <p:wipe dir="r"/>
  </p:transition>
  <p:timing>
    <p:tnLst>
      <p:par>
        <p:cTn id="45" dur="indefinite" restart="never" nodeType="tmRoot">
          <p:childTnLst>
            <p:seq>
              <p:cTn id="46" dur="indefinite" nodeType="mainSeq">
                <p:childTnLst>
                  <p:par>
                    <p:cTn id="47" nodeType="clickEffect" fill="hold">
                      <p:stCondLst>
                        <p:cond delay="indefinite"/>
                      </p:stCondLst>
                      <p:childTnLst>
                        <p:par>
                          <p:cTn id="48" nodeType="withEffect" fill="hold">
                            <p:stCondLst>
                              <p:cond delay="0"/>
                            </p:stCondLst>
                            <p:childTnLst>
                              <p:par>
                                <p:cTn id="49" nodeType="clickEffect" fill="hold" presetClass="entr" presetID="22" presetSubtype="8">
                                  <p:stCondLst>
                                    <p:cond delay="0"/>
                                  </p:stCondLst>
                                  <p:childTnLst>
                                    <p:set>
                                      <p:cBhvr>
                                        <p:cTn id="50" dur="1" fill="hold">
                                          <p:stCondLst>
                                            <p:cond delay="0"/>
                                          </p:stCondLst>
                                        </p:cTn>
                                        <p:tgtEl>
                                          <p:spTgt spid="48">
                                            <p:txEl>
                                              <p:pRg st="1" end="1"/>
                                            </p:txEl>
                                          </p:spTgt>
                                        </p:tgtEl>
                                        <p:attrNameLst>
                                          <p:attrName>style.visibility</p:attrName>
                                        </p:attrNameLst>
                                      </p:cBhvr>
                                      <p:to>
                                        <p:strVal val="visible"/>
                                      </p:to>
                                    </p:set>
                                    <p:animEffect filter="wipe(left)" transition="in">
                                      <p:cBhvr additive="repl">
                                        <p:cTn id="51" dur="500"/>
                                        <p:tgtEl>
                                          <p:spTgt spid="48">
                                            <p:txEl>
                                              <p:pRg st="1" end="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 name="PlaceHolder 1"/>
          <p:cNvSpPr>
            <a:spLocks noGrp="1"/>
          </p:cNvSpPr>
          <p:nvPr>
            <p:ph/>
          </p:nvPr>
        </p:nvSpPr>
        <p:spPr>
          <a:xfrm>
            <a:off x="360360" y="1440000"/>
            <a:ext cx="8229240" cy="4289040"/>
          </a:xfrm>
          <a:prstGeom prst="rect">
            <a:avLst/>
          </a:prstGeom>
          <a:noFill/>
          <a:ln w="0">
            <a:noFill/>
          </a:ln>
        </p:spPr>
        <p:txBody>
          <a:bodyPr lIns="90000" rIns="90000" tIns="45000" bIns="45000" anchor="t">
            <a:noAutofit/>
          </a:bodyPr>
          <a:p>
            <a:pPr marL="358920" indent="0">
              <a:lnSpc>
                <a:spcPct val="100000"/>
              </a:lnSpc>
              <a:spcBef>
                <a:spcPts val="601"/>
              </a:spcBef>
              <a:spcAft>
                <a:spcPts val="601"/>
              </a:spcAft>
              <a:buNone/>
              <a:tabLst>
                <a:tab algn="l" pos="0"/>
              </a:tabLst>
            </a:pPr>
            <a:r>
              <a:rPr b="1" lang="en-US" sz="2800" strike="noStrike" u="none">
                <a:solidFill>
                  <a:srgbClr val="fb1b2a"/>
                </a:solidFill>
                <a:effectLst/>
                <a:uFillTx/>
                <a:latin typeface="Arial"/>
                <a:ea typeface="MS Mincho"/>
              </a:rPr>
              <a:t>Markets for Labor Services</a:t>
            </a:r>
            <a:endParaRPr b="1" lang="en-CA" sz="2800" strike="noStrike" u="none">
              <a:solidFill>
                <a:srgbClr val="fb1b2a"/>
              </a:solidFill>
              <a:effectLst/>
              <a:uFillTx/>
              <a:latin typeface="Arial"/>
            </a:endParaRPr>
          </a:p>
          <a:p>
            <a:pPr marL="358920" indent="0">
              <a:lnSpc>
                <a:spcPct val="100000"/>
              </a:lnSpc>
              <a:spcBef>
                <a:spcPts val="601"/>
              </a:spcBef>
              <a:spcAft>
                <a:spcPts val="601"/>
              </a:spcAft>
              <a:buNone/>
              <a:tabLst>
                <a:tab algn="l" pos="0"/>
              </a:tabLst>
            </a:pPr>
            <a:r>
              <a:rPr b="0" i="1" lang="en-US" sz="2400" strike="noStrike" u="none">
                <a:solidFill>
                  <a:schemeClr val="dk1"/>
                </a:solidFill>
                <a:effectLst/>
                <a:uFillTx/>
                <a:latin typeface="Arial"/>
                <a:ea typeface="MS Mincho"/>
              </a:rPr>
              <a:t>Labor services</a:t>
            </a:r>
            <a:r>
              <a:rPr b="0" lang="en-US" sz="2400" strike="noStrike" u="none">
                <a:solidFill>
                  <a:schemeClr val="dk1"/>
                </a:solidFill>
                <a:effectLst/>
                <a:uFillTx/>
                <a:latin typeface="Arial"/>
                <a:ea typeface="MS Mincho"/>
              </a:rPr>
              <a:t> are the physical and mental work effort that people supply to producers of goods and services.</a:t>
            </a:r>
            <a:endParaRPr b="1" lang="en-CA" sz="2400" strike="noStrike" u="none">
              <a:solidFill>
                <a:srgbClr val="fb1b2a"/>
              </a:solidFill>
              <a:effectLst/>
              <a:uFillTx/>
              <a:latin typeface="Arial"/>
            </a:endParaRPr>
          </a:p>
          <a:p>
            <a:pPr marL="35892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MS Mincho"/>
              </a:rPr>
              <a:t>A </a:t>
            </a:r>
            <a:r>
              <a:rPr b="0" i="1" lang="en-US" sz="2400" strike="noStrike" u="none">
                <a:solidFill>
                  <a:schemeClr val="dk1"/>
                </a:solidFill>
                <a:effectLst/>
                <a:uFillTx/>
                <a:latin typeface="Arial"/>
                <a:ea typeface="MS Mincho"/>
              </a:rPr>
              <a:t>labor market</a:t>
            </a:r>
            <a:r>
              <a:rPr b="0" lang="en-US" sz="2400" strike="noStrike" u="none">
                <a:solidFill>
                  <a:schemeClr val="dk1"/>
                </a:solidFill>
                <a:effectLst/>
                <a:uFillTx/>
                <a:latin typeface="Arial"/>
                <a:ea typeface="MS Mincho"/>
              </a:rPr>
              <a:t> is a collection of people and firms who are trading labor services.</a:t>
            </a:r>
            <a:endParaRPr b="1" lang="en-CA" sz="2400" strike="noStrike" u="none">
              <a:solidFill>
                <a:srgbClr val="fb1b2a"/>
              </a:solidFill>
              <a:effectLst/>
              <a:uFillTx/>
              <a:latin typeface="Arial"/>
            </a:endParaRPr>
          </a:p>
        </p:txBody>
      </p:sp>
      <p:sp>
        <p:nvSpPr>
          <p:cNvPr id="52" name="Line 3"/>
          <p:cNvSpPr/>
          <p:nvPr/>
        </p:nvSpPr>
        <p:spPr>
          <a:xfrm>
            <a:off x="533160" y="1234800"/>
            <a:ext cx="8077320" cy="44640"/>
          </a:xfrm>
          <a:prstGeom prst="line">
            <a:avLst/>
          </a:prstGeom>
          <a:ln w="88900">
            <a:solidFill>
              <a:srgbClr val="00468f"/>
            </a:solidFill>
            <a:miter/>
          </a:ln>
        </p:spPr>
        <p:style>
          <a:lnRef idx="0"/>
          <a:fillRef idx="0"/>
          <a:effectRef idx="0"/>
          <a:fontRef idx="minor"/>
        </p:style>
        <p:txBody>
          <a:bodyPr lIns="90000" rIns="90000" tIns="-360" bIns="-360" anchor="t">
            <a:noAutofit/>
          </a:bodyPr>
          <a:p>
            <a:endParaRPr b="0" lang="en-US" sz="2400" strike="noStrike" u="none">
              <a:solidFill>
                <a:schemeClr val="dk1"/>
              </a:solidFill>
              <a:effectLst/>
              <a:uFillTx/>
              <a:latin typeface="Arial"/>
              <a:ea typeface="ＭＳ Ｐゴシック"/>
            </a:endParaRPr>
          </a:p>
        </p:txBody>
      </p:sp>
      <p:sp>
        <p:nvSpPr>
          <p:cNvPr id="53" name="Text Box 4"/>
          <p:cNvSpPr/>
          <p:nvPr/>
        </p:nvSpPr>
        <p:spPr>
          <a:xfrm>
            <a:off x="685800" y="746280"/>
            <a:ext cx="6705360" cy="48852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1301"/>
              </a:spcBef>
            </a:pPr>
            <a:r>
              <a:rPr b="1" lang="en-US" sz="2600" strike="noStrike" u="none">
                <a:solidFill>
                  <a:schemeClr val="dk1"/>
                </a:solidFill>
                <a:effectLst/>
                <a:uFillTx/>
                <a:latin typeface="Arial"/>
                <a:ea typeface="ＭＳ Ｐゴシック"/>
              </a:rPr>
              <a:t>THE ANATOMY OF FACTOR MARKETS</a:t>
            </a:r>
            <a:endParaRPr b="0" lang="en-US" sz="2600" strike="noStrike" u="none">
              <a:solidFill>
                <a:srgbClr val="000000"/>
              </a:solidFill>
              <a:effectLst/>
              <a:uFillTx/>
              <a:latin typeface="Arial"/>
            </a:endParaRPr>
          </a:p>
        </p:txBody>
      </p:sp>
    </p:spTree>
  </p:cSld>
  <p:transition spd="slow">
    <p:wipe dir="r"/>
  </p:transition>
  <p:timing>
    <p:tnLst>
      <p:par>
        <p:cTn id="52" dur="indefinite" restart="never" nodeType="tmRoot">
          <p:childTnLst>
            <p:seq>
              <p:cTn id="53" dur="indefinite" nodeType="mainSeq">
                <p:childTnLst>
                  <p:par>
                    <p:cTn id="54" nodeType="clickEffect" fill="hold">
                      <p:stCondLst>
                        <p:cond delay="indefinite"/>
                      </p:stCondLst>
                      <p:childTnLst>
                        <p:par>
                          <p:cTn id="55" nodeType="withEffect" fill="hold">
                            <p:stCondLst>
                              <p:cond delay="0"/>
                            </p:stCondLst>
                            <p:childTnLst>
                              <p:par>
                                <p:cTn id="56" nodeType="clickEffect" fill="hold" presetClass="entr" presetID="22" presetSubtype="8">
                                  <p:stCondLst>
                                    <p:cond delay="0"/>
                                  </p:stCondLst>
                                  <p:childTnLst>
                                    <p:set>
                                      <p:cBhvr>
                                        <p:cTn id="57" dur="1" fill="hold">
                                          <p:stCondLst>
                                            <p:cond delay="0"/>
                                          </p:stCondLst>
                                        </p:cTn>
                                        <p:tgtEl>
                                          <p:spTgt spid="51">
                                            <p:txEl>
                                              <p:pRg st="1" end="1"/>
                                            </p:txEl>
                                          </p:spTgt>
                                        </p:tgtEl>
                                        <p:attrNameLst>
                                          <p:attrName>style.visibility</p:attrName>
                                        </p:attrNameLst>
                                      </p:cBhvr>
                                      <p:to>
                                        <p:strVal val="visible"/>
                                      </p:to>
                                    </p:set>
                                    <p:animEffect filter="wipe(left)" transition="in">
                                      <p:cBhvr additive="repl">
                                        <p:cTn id="58" dur="500"/>
                                        <p:tgtEl>
                                          <p:spTgt spid="51">
                                            <p:txEl>
                                              <p:pRg st="1" end="1"/>
                                            </p:txEl>
                                          </p:spTgt>
                                        </p:tgtEl>
                                      </p:cBhvr>
                                    </p:animEffect>
                                  </p:childTnLst>
                                </p:cTn>
                              </p:par>
                            </p:childTnLst>
                          </p:cTn>
                        </p:par>
                      </p:childTnLst>
                    </p:cTn>
                  </p:par>
                  <p:par>
                    <p:cTn id="59" nodeType="clickEffect" fill="hold">
                      <p:stCondLst>
                        <p:cond delay="indefinite"/>
                      </p:stCondLst>
                      <p:childTnLst>
                        <p:par>
                          <p:cTn id="60" nodeType="withEffect" fill="hold">
                            <p:stCondLst>
                              <p:cond delay="0"/>
                            </p:stCondLst>
                            <p:childTnLst>
                              <p:par>
                                <p:cTn id="61" nodeType="clickEffect" fill="hold" presetClass="entr" presetID="22" presetSubtype="8">
                                  <p:stCondLst>
                                    <p:cond delay="0"/>
                                  </p:stCondLst>
                                  <p:childTnLst>
                                    <p:set>
                                      <p:cBhvr>
                                        <p:cTn id="62" dur="1" fill="hold">
                                          <p:stCondLst>
                                            <p:cond delay="0"/>
                                          </p:stCondLst>
                                        </p:cTn>
                                        <p:tgtEl>
                                          <p:spTgt spid="51">
                                            <p:txEl>
                                              <p:pRg st="2" end="2"/>
                                            </p:txEl>
                                          </p:spTgt>
                                        </p:tgtEl>
                                        <p:attrNameLst>
                                          <p:attrName>style.visibility</p:attrName>
                                        </p:attrNameLst>
                                      </p:cBhvr>
                                      <p:to>
                                        <p:strVal val="visible"/>
                                      </p:to>
                                    </p:set>
                                    <p:animEffect filter="wipe(left)" transition="in">
                                      <p:cBhvr additive="repl">
                                        <p:cTn id="63" dur="500"/>
                                        <p:tgtEl>
                                          <p:spTgt spid="51">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 name="PlaceHolder 1"/>
          <p:cNvSpPr>
            <a:spLocks noGrp="1"/>
          </p:cNvSpPr>
          <p:nvPr>
            <p:ph/>
          </p:nvPr>
        </p:nvSpPr>
        <p:spPr>
          <a:xfrm>
            <a:off x="360360" y="1440000"/>
            <a:ext cx="8229240" cy="4289040"/>
          </a:xfrm>
          <a:prstGeom prst="rect">
            <a:avLst/>
          </a:prstGeom>
          <a:noFill/>
          <a:ln w="0">
            <a:noFill/>
          </a:ln>
        </p:spPr>
        <p:txBody>
          <a:bodyPr lIns="90000" rIns="90000" tIns="45000" bIns="45000" anchor="t">
            <a:noAutofit/>
          </a:bodyPr>
          <a:p>
            <a:pPr marL="358920" indent="0">
              <a:lnSpc>
                <a:spcPct val="100000"/>
              </a:lnSpc>
              <a:spcBef>
                <a:spcPts val="601"/>
              </a:spcBef>
              <a:spcAft>
                <a:spcPts val="601"/>
              </a:spcAft>
              <a:buNone/>
              <a:tabLst>
                <a:tab algn="l" pos="0"/>
              </a:tabLst>
            </a:pPr>
            <a:r>
              <a:rPr b="1" lang="en-CA" sz="2800" strike="noStrike" u="none">
                <a:solidFill>
                  <a:srgbClr val="fb1b2a"/>
                </a:solidFill>
                <a:effectLst/>
                <a:uFillTx/>
                <a:latin typeface="Arial"/>
                <a:ea typeface="MS Mincho"/>
              </a:rPr>
              <a:t>Markets</a:t>
            </a:r>
            <a:r>
              <a:rPr b="1" lang="en-US" sz="2800" strike="noStrike" u="none">
                <a:solidFill>
                  <a:srgbClr val="fb1b2a"/>
                </a:solidFill>
                <a:effectLst/>
                <a:uFillTx/>
                <a:latin typeface="Arial"/>
                <a:ea typeface="MS Mincho"/>
              </a:rPr>
              <a:t> for Capital Services</a:t>
            </a:r>
            <a:endParaRPr b="1" lang="en-CA" sz="2800" strike="noStrike" u="none">
              <a:solidFill>
                <a:srgbClr val="fb1b2a"/>
              </a:solidFill>
              <a:effectLst/>
              <a:uFillTx/>
              <a:latin typeface="Arial"/>
            </a:endParaRPr>
          </a:p>
          <a:p>
            <a:pPr marL="358920" indent="0">
              <a:lnSpc>
                <a:spcPct val="100000"/>
              </a:lnSpc>
              <a:spcBef>
                <a:spcPts val="601"/>
              </a:spcBef>
              <a:spcAft>
                <a:spcPts val="601"/>
              </a:spcAft>
              <a:buNone/>
              <a:tabLst>
                <a:tab algn="l" pos="0"/>
              </a:tabLst>
            </a:pPr>
            <a:r>
              <a:rPr b="0" i="1" lang="en-US" sz="2400" strike="noStrike" u="none">
                <a:solidFill>
                  <a:schemeClr val="dk1"/>
                </a:solidFill>
                <a:effectLst/>
                <a:uFillTx/>
                <a:latin typeface="Arial"/>
                <a:ea typeface="MS Mincho"/>
              </a:rPr>
              <a:t>Capital</a:t>
            </a:r>
            <a:r>
              <a:rPr b="0" lang="en-US" sz="2400" strike="noStrike" u="none">
                <a:solidFill>
                  <a:schemeClr val="dk1"/>
                </a:solidFill>
                <a:effectLst/>
                <a:uFillTx/>
                <a:latin typeface="Arial"/>
                <a:ea typeface="MS Mincho"/>
              </a:rPr>
              <a:t> consists of the tools, instruments, machines, and other constructions that have been produced in the past and that businesses use to produce goods and services.</a:t>
            </a:r>
            <a:endParaRPr b="1" lang="en-CA" sz="2400" strike="noStrike" u="none">
              <a:solidFill>
                <a:srgbClr val="fb1b2a"/>
              </a:solidFill>
              <a:effectLst/>
              <a:uFillTx/>
              <a:latin typeface="Arial"/>
            </a:endParaRPr>
          </a:p>
          <a:p>
            <a:pPr marL="35892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MS Mincho"/>
              </a:rPr>
              <a:t>A market for </a:t>
            </a:r>
            <a:r>
              <a:rPr b="0" i="1" lang="en-US" sz="2400" strike="noStrike" u="none">
                <a:solidFill>
                  <a:schemeClr val="dk1"/>
                </a:solidFill>
                <a:effectLst/>
                <a:uFillTx/>
                <a:latin typeface="Arial"/>
                <a:ea typeface="MS Mincho"/>
              </a:rPr>
              <a:t>capital services</a:t>
            </a:r>
            <a:r>
              <a:rPr b="0" lang="en-US" sz="2400" strike="noStrike" u="none">
                <a:solidFill>
                  <a:schemeClr val="dk1"/>
                </a:solidFill>
                <a:effectLst/>
                <a:uFillTx/>
                <a:latin typeface="Arial"/>
                <a:ea typeface="MS Mincho"/>
              </a:rPr>
              <a:t> is a </a:t>
            </a:r>
            <a:r>
              <a:rPr b="0" i="1" lang="en-US" sz="2400" strike="noStrike" u="none">
                <a:solidFill>
                  <a:schemeClr val="dk1"/>
                </a:solidFill>
                <a:effectLst/>
                <a:uFillTx/>
                <a:latin typeface="Arial"/>
                <a:ea typeface="MS Mincho"/>
              </a:rPr>
              <a:t>rental market</a:t>
            </a:r>
            <a:r>
              <a:rPr b="0" lang="en-US" sz="2400" strike="noStrike" u="none">
                <a:solidFill>
                  <a:schemeClr val="dk1"/>
                </a:solidFill>
                <a:effectLst/>
                <a:uFillTx/>
                <a:latin typeface="Arial"/>
                <a:ea typeface="MS Mincho"/>
              </a:rPr>
              <a:t>—a market in which the services of capital are hired.</a:t>
            </a:r>
            <a:endParaRPr b="1" lang="en-CA" sz="2400" strike="noStrike" u="none">
              <a:solidFill>
                <a:srgbClr val="fb1b2a"/>
              </a:solidFill>
              <a:effectLst/>
              <a:uFillTx/>
              <a:latin typeface="Arial"/>
            </a:endParaRPr>
          </a:p>
          <a:p>
            <a:pPr marL="35892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MS Mincho"/>
              </a:rPr>
              <a:t>For example, the truck and crane rental market.</a:t>
            </a:r>
            <a:endParaRPr b="1" lang="en-CA" sz="2400" strike="noStrike" u="none">
              <a:solidFill>
                <a:srgbClr val="fb1b2a"/>
              </a:solidFill>
              <a:effectLst/>
              <a:uFillTx/>
              <a:latin typeface="Arial"/>
            </a:endParaRPr>
          </a:p>
          <a:p>
            <a:pPr marL="35892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MS Mincho"/>
              </a:rPr>
              <a:t>The price of capital services is a rental rate.</a:t>
            </a:r>
            <a:endParaRPr b="1" lang="en-CA" sz="2400" strike="noStrike" u="none">
              <a:solidFill>
                <a:srgbClr val="fb1b2a"/>
              </a:solidFill>
              <a:effectLst/>
              <a:uFillTx/>
              <a:latin typeface="Arial"/>
            </a:endParaRPr>
          </a:p>
        </p:txBody>
      </p:sp>
      <p:sp>
        <p:nvSpPr>
          <p:cNvPr id="55" name="Line 3"/>
          <p:cNvSpPr/>
          <p:nvPr/>
        </p:nvSpPr>
        <p:spPr>
          <a:xfrm>
            <a:off x="533160" y="1234800"/>
            <a:ext cx="8077320" cy="44640"/>
          </a:xfrm>
          <a:prstGeom prst="line">
            <a:avLst/>
          </a:prstGeom>
          <a:ln w="88900">
            <a:solidFill>
              <a:srgbClr val="00468f"/>
            </a:solidFill>
            <a:miter/>
          </a:ln>
        </p:spPr>
        <p:style>
          <a:lnRef idx="0"/>
          <a:fillRef idx="0"/>
          <a:effectRef idx="0"/>
          <a:fontRef idx="minor"/>
        </p:style>
        <p:txBody>
          <a:bodyPr lIns="90000" rIns="90000" tIns="-360" bIns="-360" anchor="t">
            <a:noAutofit/>
          </a:bodyPr>
          <a:p>
            <a:endParaRPr b="0" lang="en-US" sz="2400" strike="noStrike" u="none">
              <a:solidFill>
                <a:schemeClr val="dk1"/>
              </a:solidFill>
              <a:effectLst/>
              <a:uFillTx/>
              <a:latin typeface="Arial"/>
              <a:ea typeface="ＭＳ Ｐゴシック"/>
            </a:endParaRPr>
          </a:p>
        </p:txBody>
      </p:sp>
      <p:sp>
        <p:nvSpPr>
          <p:cNvPr id="56" name="Text Box 4"/>
          <p:cNvSpPr/>
          <p:nvPr/>
        </p:nvSpPr>
        <p:spPr>
          <a:xfrm>
            <a:off x="685800" y="746280"/>
            <a:ext cx="6705360" cy="48852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1301"/>
              </a:spcBef>
            </a:pPr>
            <a:r>
              <a:rPr b="1" lang="en-US" sz="2600" strike="noStrike" u="none">
                <a:solidFill>
                  <a:schemeClr val="dk1"/>
                </a:solidFill>
                <a:effectLst/>
                <a:uFillTx/>
                <a:latin typeface="Arial"/>
                <a:ea typeface="ＭＳ Ｐゴシック"/>
              </a:rPr>
              <a:t>THE ANATOMY OF FACTOR MARKETS</a:t>
            </a:r>
            <a:endParaRPr b="0" lang="en-US" sz="2600" strike="noStrike" u="none">
              <a:solidFill>
                <a:srgbClr val="000000"/>
              </a:solidFill>
              <a:effectLst/>
              <a:uFillTx/>
              <a:latin typeface="Arial"/>
            </a:endParaRPr>
          </a:p>
        </p:txBody>
      </p:sp>
    </p:spTree>
  </p:cSld>
  <p:transition spd="slow">
    <p:wipe dir="r"/>
  </p:transition>
  <p:timing>
    <p:tnLst>
      <p:par>
        <p:cTn id="64" dur="indefinite" restart="never" nodeType="tmRoot">
          <p:childTnLst>
            <p:seq>
              <p:cTn id="65" dur="indefinite" nodeType="mainSeq">
                <p:childTnLst>
                  <p:par>
                    <p:cTn id="66" nodeType="clickEffect" fill="hold">
                      <p:stCondLst>
                        <p:cond delay="indefinite"/>
                      </p:stCondLst>
                      <p:childTnLst>
                        <p:par>
                          <p:cTn id="67" nodeType="withEffect" fill="hold">
                            <p:stCondLst>
                              <p:cond delay="0"/>
                            </p:stCondLst>
                            <p:childTnLst>
                              <p:par>
                                <p:cTn id="68" nodeType="clickEffect" fill="hold" presetClass="entr" presetID="22" presetSubtype="8">
                                  <p:stCondLst>
                                    <p:cond delay="0"/>
                                  </p:stCondLst>
                                  <p:childTnLst>
                                    <p:set>
                                      <p:cBhvr>
                                        <p:cTn id="69" dur="1" fill="hold">
                                          <p:stCondLst>
                                            <p:cond delay="0"/>
                                          </p:stCondLst>
                                        </p:cTn>
                                        <p:tgtEl>
                                          <p:spTgt spid="54">
                                            <p:txEl>
                                              <p:pRg st="1" end="1"/>
                                            </p:txEl>
                                          </p:spTgt>
                                        </p:tgtEl>
                                        <p:attrNameLst>
                                          <p:attrName>style.visibility</p:attrName>
                                        </p:attrNameLst>
                                      </p:cBhvr>
                                      <p:to>
                                        <p:strVal val="visible"/>
                                      </p:to>
                                    </p:set>
                                    <p:animEffect filter="wipe(left)" transition="in">
                                      <p:cBhvr additive="repl">
                                        <p:cTn id="70" dur="500"/>
                                        <p:tgtEl>
                                          <p:spTgt spid="54">
                                            <p:txEl>
                                              <p:pRg st="1" end="1"/>
                                            </p:txEl>
                                          </p:spTgt>
                                        </p:tgtEl>
                                      </p:cBhvr>
                                    </p:animEffect>
                                  </p:childTnLst>
                                </p:cTn>
                              </p:par>
                            </p:childTnLst>
                          </p:cTn>
                        </p:par>
                      </p:childTnLst>
                    </p:cTn>
                  </p:par>
                  <p:par>
                    <p:cTn id="71" nodeType="clickEffect" fill="hold">
                      <p:stCondLst>
                        <p:cond delay="indefinite"/>
                      </p:stCondLst>
                      <p:childTnLst>
                        <p:par>
                          <p:cTn id="72" nodeType="withEffect" fill="hold">
                            <p:stCondLst>
                              <p:cond delay="0"/>
                            </p:stCondLst>
                            <p:childTnLst>
                              <p:par>
                                <p:cTn id="73" nodeType="clickEffect" fill="hold" presetClass="entr" presetID="22" presetSubtype="8">
                                  <p:stCondLst>
                                    <p:cond delay="0"/>
                                  </p:stCondLst>
                                  <p:childTnLst>
                                    <p:set>
                                      <p:cBhvr>
                                        <p:cTn id="74" dur="1" fill="hold">
                                          <p:stCondLst>
                                            <p:cond delay="0"/>
                                          </p:stCondLst>
                                        </p:cTn>
                                        <p:tgtEl>
                                          <p:spTgt spid="54">
                                            <p:txEl>
                                              <p:pRg st="2" end="2"/>
                                            </p:txEl>
                                          </p:spTgt>
                                        </p:tgtEl>
                                        <p:attrNameLst>
                                          <p:attrName>style.visibility</p:attrName>
                                        </p:attrNameLst>
                                      </p:cBhvr>
                                      <p:to>
                                        <p:strVal val="visible"/>
                                      </p:to>
                                    </p:set>
                                    <p:animEffect filter="wipe(left)" transition="in">
                                      <p:cBhvr additive="repl">
                                        <p:cTn id="75" dur="500"/>
                                        <p:tgtEl>
                                          <p:spTgt spid="54">
                                            <p:txEl>
                                              <p:pRg st="2" end="2"/>
                                            </p:txEl>
                                          </p:spTgt>
                                        </p:tgtEl>
                                      </p:cBhvr>
                                    </p:animEffect>
                                  </p:childTnLst>
                                </p:cTn>
                              </p:par>
                            </p:childTnLst>
                          </p:cTn>
                        </p:par>
                      </p:childTnLst>
                    </p:cTn>
                  </p:par>
                  <p:par>
                    <p:cTn id="76" nodeType="clickEffect" fill="hold">
                      <p:stCondLst>
                        <p:cond delay="indefinite"/>
                      </p:stCondLst>
                      <p:childTnLst>
                        <p:par>
                          <p:cTn id="77" nodeType="withEffect" fill="hold">
                            <p:stCondLst>
                              <p:cond delay="0"/>
                            </p:stCondLst>
                            <p:childTnLst>
                              <p:par>
                                <p:cTn id="78" nodeType="clickEffect" fill="hold" presetClass="entr" presetID="22" presetSubtype="8">
                                  <p:stCondLst>
                                    <p:cond delay="0"/>
                                  </p:stCondLst>
                                  <p:childTnLst>
                                    <p:set>
                                      <p:cBhvr>
                                        <p:cTn id="79" dur="1" fill="hold">
                                          <p:stCondLst>
                                            <p:cond delay="0"/>
                                          </p:stCondLst>
                                        </p:cTn>
                                        <p:tgtEl>
                                          <p:spTgt spid="54">
                                            <p:txEl>
                                              <p:pRg st="3" end="3"/>
                                            </p:txEl>
                                          </p:spTgt>
                                        </p:tgtEl>
                                        <p:attrNameLst>
                                          <p:attrName>style.visibility</p:attrName>
                                        </p:attrNameLst>
                                      </p:cBhvr>
                                      <p:to>
                                        <p:strVal val="visible"/>
                                      </p:to>
                                    </p:set>
                                    <p:animEffect filter="wipe(left)" transition="in">
                                      <p:cBhvr additive="repl">
                                        <p:cTn id="80" dur="500"/>
                                        <p:tgtEl>
                                          <p:spTgt spid="54">
                                            <p:txEl>
                                              <p:pRg st="3" end="3"/>
                                            </p:txEl>
                                          </p:spTgt>
                                        </p:tgtEl>
                                      </p:cBhvr>
                                    </p:animEffect>
                                  </p:childTnLst>
                                </p:cTn>
                              </p:par>
                            </p:childTnLst>
                          </p:cTn>
                        </p:par>
                      </p:childTnLst>
                    </p:cTn>
                  </p:par>
                  <p:par>
                    <p:cTn id="81" nodeType="clickEffect" fill="hold">
                      <p:stCondLst>
                        <p:cond delay="indefinite"/>
                      </p:stCondLst>
                      <p:childTnLst>
                        <p:par>
                          <p:cTn id="82" nodeType="withEffect" fill="hold">
                            <p:stCondLst>
                              <p:cond delay="0"/>
                            </p:stCondLst>
                            <p:childTnLst>
                              <p:par>
                                <p:cTn id="83" nodeType="clickEffect" fill="hold" presetClass="entr" presetID="22" presetSubtype="8">
                                  <p:stCondLst>
                                    <p:cond delay="0"/>
                                  </p:stCondLst>
                                  <p:childTnLst>
                                    <p:set>
                                      <p:cBhvr>
                                        <p:cTn id="84" dur="1" fill="hold">
                                          <p:stCondLst>
                                            <p:cond delay="0"/>
                                          </p:stCondLst>
                                        </p:cTn>
                                        <p:tgtEl>
                                          <p:spTgt spid="54">
                                            <p:txEl>
                                              <p:pRg st="4" end="4"/>
                                            </p:txEl>
                                          </p:spTgt>
                                        </p:tgtEl>
                                        <p:attrNameLst>
                                          <p:attrName>style.visibility</p:attrName>
                                        </p:attrNameLst>
                                      </p:cBhvr>
                                      <p:to>
                                        <p:strVal val="visible"/>
                                      </p:to>
                                    </p:set>
                                    <p:animEffect filter="wipe(left)" transition="in">
                                      <p:cBhvr additive="repl">
                                        <p:cTn id="85" dur="500"/>
                                        <p:tgtEl>
                                          <p:spTgt spid="54">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 name="PlaceHolder 1"/>
          <p:cNvSpPr>
            <a:spLocks noGrp="1"/>
          </p:cNvSpPr>
          <p:nvPr>
            <p:ph/>
          </p:nvPr>
        </p:nvSpPr>
        <p:spPr>
          <a:xfrm>
            <a:off x="360360" y="1440000"/>
            <a:ext cx="8229240" cy="4289040"/>
          </a:xfrm>
          <a:prstGeom prst="rect">
            <a:avLst/>
          </a:prstGeom>
          <a:noFill/>
          <a:ln w="0">
            <a:noFill/>
          </a:ln>
        </p:spPr>
        <p:txBody>
          <a:bodyPr lIns="90000" rIns="90000" tIns="45000" bIns="45000" anchor="t">
            <a:noAutofit/>
          </a:bodyPr>
          <a:p>
            <a:pPr marL="358920" indent="0">
              <a:lnSpc>
                <a:spcPct val="100000"/>
              </a:lnSpc>
              <a:spcBef>
                <a:spcPts val="601"/>
              </a:spcBef>
              <a:spcAft>
                <a:spcPts val="601"/>
              </a:spcAft>
              <a:buNone/>
              <a:tabLst>
                <a:tab algn="l" pos="0"/>
              </a:tabLst>
            </a:pPr>
            <a:r>
              <a:rPr b="1" lang="en-CA" sz="2800" strike="noStrike" u="none">
                <a:solidFill>
                  <a:srgbClr val="fb1b2a"/>
                </a:solidFill>
                <a:effectLst/>
                <a:uFillTx/>
                <a:latin typeface="Arial"/>
                <a:ea typeface="MS Mincho"/>
              </a:rPr>
              <a:t>Markets</a:t>
            </a:r>
            <a:r>
              <a:rPr b="1" lang="en-US" sz="2800" strike="noStrike" u="none">
                <a:solidFill>
                  <a:srgbClr val="fb1b2a"/>
                </a:solidFill>
                <a:effectLst/>
                <a:uFillTx/>
                <a:latin typeface="Arial"/>
                <a:ea typeface="MS Mincho"/>
              </a:rPr>
              <a:t> for Land Services and              Natural Resources</a:t>
            </a:r>
            <a:endParaRPr b="1" lang="en-CA" sz="2800" strike="noStrike" u="none">
              <a:solidFill>
                <a:srgbClr val="fb1b2a"/>
              </a:solidFill>
              <a:effectLst/>
              <a:uFillTx/>
              <a:latin typeface="Arial"/>
            </a:endParaRPr>
          </a:p>
          <a:p>
            <a:pPr marL="358920" indent="0">
              <a:lnSpc>
                <a:spcPct val="100000"/>
              </a:lnSpc>
              <a:spcBef>
                <a:spcPts val="601"/>
              </a:spcBef>
              <a:spcAft>
                <a:spcPts val="601"/>
              </a:spcAft>
              <a:buNone/>
              <a:tabLst>
                <a:tab algn="l" pos="0"/>
              </a:tabLst>
            </a:pPr>
            <a:r>
              <a:rPr b="0" i="1" lang="en-US" sz="2400" strike="noStrike" u="none">
                <a:solidFill>
                  <a:schemeClr val="dk1"/>
                </a:solidFill>
                <a:effectLst/>
                <a:uFillTx/>
                <a:latin typeface="Arial"/>
                <a:ea typeface="MS Mincho"/>
              </a:rPr>
              <a:t>Land</a:t>
            </a:r>
            <a:r>
              <a:rPr b="0" lang="en-US" sz="2400" strike="noStrike" u="none">
                <a:solidFill>
                  <a:schemeClr val="dk1"/>
                </a:solidFill>
                <a:effectLst/>
                <a:uFillTx/>
                <a:latin typeface="Arial"/>
                <a:ea typeface="MS Mincho"/>
              </a:rPr>
              <a:t> consists of all the gifts of nature—natural resources.</a:t>
            </a:r>
            <a:endParaRPr b="1" lang="en-CA" sz="2400" strike="noStrike" u="none">
              <a:solidFill>
                <a:srgbClr val="fb1b2a"/>
              </a:solidFill>
              <a:effectLst/>
              <a:uFillTx/>
              <a:latin typeface="Arial"/>
            </a:endParaRPr>
          </a:p>
          <a:p>
            <a:pPr marL="35892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MS Mincho"/>
              </a:rPr>
              <a:t>A market for land as a factor of production is the market for the </a:t>
            </a:r>
            <a:r>
              <a:rPr b="0" i="1" lang="en-US" sz="2400" strike="noStrike" u="none">
                <a:solidFill>
                  <a:schemeClr val="dk1"/>
                </a:solidFill>
                <a:effectLst/>
                <a:uFillTx/>
                <a:latin typeface="Arial"/>
                <a:ea typeface="MS Mincho"/>
              </a:rPr>
              <a:t>services of land</a:t>
            </a:r>
            <a:r>
              <a:rPr b="0" lang="en-US" sz="2400" strike="noStrike" u="none">
                <a:solidFill>
                  <a:schemeClr val="dk1"/>
                </a:solidFill>
                <a:effectLst/>
                <a:uFillTx/>
                <a:latin typeface="Arial"/>
                <a:ea typeface="MS Mincho"/>
              </a:rPr>
              <a:t>. </a:t>
            </a:r>
            <a:endParaRPr b="1" lang="en-CA" sz="2400" strike="noStrike" u="none">
              <a:solidFill>
                <a:srgbClr val="fb1b2a"/>
              </a:solidFill>
              <a:effectLst/>
              <a:uFillTx/>
              <a:latin typeface="Arial"/>
            </a:endParaRPr>
          </a:p>
          <a:p>
            <a:pPr marL="35892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MS Mincho"/>
              </a:rPr>
              <a:t>Most natural resources can be used repeatedly (such as a farm) but a few are nonrenewable.</a:t>
            </a:r>
            <a:endParaRPr b="1" lang="en-CA" sz="2400" strike="noStrike" u="none">
              <a:solidFill>
                <a:srgbClr val="fb1b2a"/>
              </a:solidFill>
              <a:effectLst/>
              <a:uFillTx/>
              <a:latin typeface="Arial"/>
            </a:endParaRPr>
          </a:p>
          <a:p>
            <a:pPr marL="358920" indent="0">
              <a:lnSpc>
                <a:spcPct val="100000"/>
              </a:lnSpc>
              <a:spcBef>
                <a:spcPts val="601"/>
              </a:spcBef>
              <a:spcAft>
                <a:spcPts val="601"/>
              </a:spcAft>
              <a:buNone/>
              <a:tabLst>
                <a:tab algn="l" pos="0"/>
              </a:tabLst>
            </a:pPr>
            <a:r>
              <a:rPr b="1" lang="en-US" sz="2400" strike="noStrike" u="none">
                <a:solidFill>
                  <a:srgbClr val="ff0000"/>
                </a:solidFill>
                <a:effectLst/>
                <a:uFillTx/>
                <a:latin typeface="Arial"/>
                <a:ea typeface="MS Mincho"/>
              </a:rPr>
              <a:t>Nonrenewable natural resources</a:t>
            </a:r>
            <a:r>
              <a:rPr b="0" lang="en-US" sz="2400" strike="noStrike" u="none">
                <a:solidFill>
                  <a:schemeClr val="dk1"/>
                </a:solidFill>
                <a:effectLst/>
                <a:uFillTx/>
                <a:latin typeface="Arial"/>
                <a:ea typeface="MS Mincho"/>
              </a:rPr>
              <a:t> are resources that can be used only once—for example, oil and coal.</a:t>
            </a:r>
            <a:endParaRPr b="1" lang="en-CA" sz="2400" strike="noStrike" u="none">
              <a:solidFill>
                <a:srgbClr val="fb1b2a"/>
              </a:solidFill>
              <a:effectLst/>
              <a:uFillTx/>
              <a:latin typeface="Arial"/>
            </a:endParaRPr>
          </a:p>
        </p:txBody>
      </p:sp>
      <p:sp>
        <p:nvSpPr>
          <p:cNvPr id="58" name="Line 3"/>
          <p:cNvSpPr/>
          <p:nvPr/>
        </p:nvSpPr>
        <p:spPr>
          <a:xfrm>
            <a:off x="533160" y="1234800"/>
            <a:ext cx="8077320" cy="44640"/>
          </a:xfrm>
          <a:prstGeom prst="line">
            <a:avLst/>
          </a:prstGeom>
          <a:ln w="88900">
            <a:solidFill>
              <a:srgbClr val="00468f"/>
            </a:solidFill>
            <a:miter/>
          </a:ln>
        </p:spPr>
        <p:style>
          <a:lnRef idx="0"/>
          <a:fillRef idx="0"/>
          <a:effectRef idx="0"/>
          <a:fontRef idx="minor"/>
        </p:style>
        <p:txBody>
          <a:bodyPr lIns="90000" rIns="90000" tIns="-360" bIns="-360" anchor="t">
            <a:noAutofit/>
          </a:bodyPr>
          <a:p>
            <a:endParaRPr b="0" lang="en-US" sz="2400" strike="noStrike" u="none">
              <a:solidFill>
                <a:schemeClr val="dk1"/>
              </a:solidFill>
              <a:effectLst/>
              <a:uFillTx/>
              <a:latin typeface="Arial"/>
              <a:ea typeface="ＭＳ Ｐゴシック"/>
            </a:endParaRPr>
          </a:p>
        </p:txBody>
      </p:sp>
      <p:sp>
        <p:nvSpPr>
          <p:cNvPr id="59" name="Text Box 4"/>
          <p:cNvSpPr/>
          <p:nvPr/>
        </p:nvSpPr>
        <p:spPr>
          <a:xfrm>
            <a:off x="685800" y="746280"/>
            <a:ext cx="6705360" cy="48852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1301"/>
              </a:spcBef>
            </a:pPr>
            <a:r>
              <a:rPr b="1" lang="en-US" sz="2600" strike="noStrike" u="none">
                <a:solidFill>
                  <a:schemeClr val="dk1"/>
                </a:solidFill>
                <a:effectLst/>
                <a:uFillTx/>
                <a:latin typeface="Arial"/>
                <a:ea typeface="ＭＳ Ｐゴシック"/>
              </a:rPr>
              <a:t>THE ANATOMY OF FACTOR MARKETS</a:t>
            </a:r>
            <a:endParaRPr b="0" lang="en-US" sz="2600" strike="noStrike" u="none">
              <a:solidFill>
                <a:srgbClr val="000000"/>
              </a:solidFill>
              <a:effectLst/>
              <a:uFillTx/>
              <a:latin typeface="Arial"/>
            </a:endParaRPr>
          </a:p>
        </p:txBody>
      </p:sp>
    </p:spTree>
  </p:cSld>
  <p:transition spd="slow">
    <p:wipe dir="r"/>
  </p:transition>
  <p:timing>
    <p:tnLst>
      <p:par>
        <p:cTn id="86" dur="indefinite" restart="never" nodeType="tmRoot">
          <p:childTnLst>
            <p:seq>
              <p:cTn id="87" dur="indefinite" nodeType="mainSeq">
                <p:childTnLst>
                  <p:par>
                    <p:cTn id="88" nodeType="clickEffect" fill="hold">
                      <p:stCondLst>
                        <p:cond delay="indefinite"/>
                      </p:stCondLst>
                      <p:childTnLst>
                        <p:par>
                          <p:cTn id="89" nodeType="withEffect" fill="hold">
                            <p:stCondLst>
                              <p:cond delay="0"/>
                            </p:stCondLst>
                            <p:childTnLst>
                              <p:par>
                                <p:cTn id="90" nodeType="clickEffect" fill="hold" presetClass="entr" presetID="22" presetSubtype="8">
                                  <p:stCondLst>
                                    <p:cond delay="0"/>
                                  </p:stCondLst>
                                  <p:childTnLst>
                                    <p:set>
                                      <p:cBhvr>
                                        <p:cTn id="91" dur="1" fill="hold">
                                          <p:stCondLst>
                                            <p:cond delay="0"/>
                                          </p:stCondLst>
                                        </p:cTn>
                                        <p:tgtEl>
                                          <p:spTgt spid="57">
                                            <p:txEl>
                                              <p:pRg st="1" end="1"/>
                                            </p:txEl>
                                          </p:spTgt>
                                        </p:tgtEl>
                                        <p:attrNameLst>
                                          <p:attrName>style.visibility</p:attrName>
                                        </p:attrNameLst>
                                      </p:cBhvr>
                                      <p:to>
                                        <p:strVal val="visible"/>
                                      </p:to>
                                    </p:set>
                                    <p:animEffect filter="wipe(left)" transition="in">
                                      <p:cBhvr additive="repl">
                                        <p:cTn id="92" dur="500"/>
                                        <p:tgtEl>
                                          <p:spTgt spid="57">
                                            <p:txEl>
                                              <p:pRg st="1" end="1"/>
                                            </p:txEl>
                                          </p:spTgt>
                                        </p:tgtEl>
                                      </p:cBhvr>
                                    </p:animEffect>
                                  </p:childTnLst>
                                </p:cTn>
                              </p:par>
                            </p:childTnLst>
                          </p:cTn>
                        </p:par>
                      </p:childTnLst>
                    </p:cTn>
                  </p:par>
                  <p:par>
                    <p:cTn id="93" nodeType="clickEffect" fill="hold">
                      <p:stCondLst>
                        <p:cond delay="indefinite"/>
                      </p:stCondLst>
                      <p:childTnLst>
                        <p:par>
                          <p:cTn id="94" nodeType="withEffect" fill="hold">
                            <p:stCondLst>
                              <p:cond delay="0"/>
                            </p:stCondLst>
                            <p:childTnLst>
                              <p:par>
                                <p:cTn id="95" nodeType="clickEffect" fill="hold" presetClass="entr" presetID="22" presetSubtype="8">
                                  <p:stCondLst>
                                    <p:cond delay="0"/>
                                  </p:stCondLst>
                                  <p:childTnLst>
                                    <p:set>
                                      <p:cBhvr>
                                        <p:cTn id="96" dur="1" fill="hold">
                                          <p:stCondLst>
                                            <p:cond delay="0"/>
                                          </p:stCondLst>
                                        </p:cTn>
                                        <p:tgtEl>
                                          <p:spTgt spid="57">
                                            <p:txEl>
                                              <p:pRg st="2" end="2"/>
                                            </p:txEl>
                                          </p:spTgt>
                                        </p:tgtEl>
                                        <p:attrNameLst>
                                          <p:attrName>style.visibility</p:attrName>
                                        </p:attrNameLst>
                                      </p:cBhvr>
                                      <p:to>
                                        <p:strVal val="visible"/>
                                      </p:to>
                                    </p:set>
                                    <p:animEffect filter="wipe(left)" transition="in">
                                      <p:cBhvr additive="repl">
                                        <p:cTn id="97" dur="500"/>
                                        <p:tgtEl>
                                          <p:spTgt spid="57">
                                            <p:txEl>
                                              <p:pRg st="2" end="2"/>
                                            </p:txEl>
                                          </p:spTgt>
                                        </p:tgtEl>
                                      </p:cBhvr>
                                    </p:animEffect>
                                  </p:childTnLst>
                                </p:cTn>
                              </p:par>
                            </p:childTnLst>
                          </p:cTn>
                        </p:par>
                      </p:childTnLst>
                    </p:cTn>
                  </p:par>
                  <p:par>
                    <p:cTn id="98" nodeType="clickEffect" fill="hold">
                      <p:stCondLst>
                        <p:cond delay="indefinite"/>
                      </p:stCondLst>
                      <p:childTnLst>
                        <p:par>
                          <p:cTn id="99" nodeType="withEffect" fill="hold">
                            <p:stCondLst>
                              <p:cond delay="0"/>
                            </p:stCondLst>
                            <p:childTnLst>
                              <p:par>
                                <p:cTn id="100" nodeType="clickEffect" fill="hold" presetClass="entr" presetID="22" presetSubtype="8">
                                  <p:stCondLst>
                                    <p:cond delay="0"/>
                                  </p:stCondLst>
                                  <p:childTnLst>
                                    <p:set>
                                      <p:cBhvr>
                                        <p:cTn id="101" dur="1" fill="hold">
                                          <p:stCondLst>
                                            <p:cond delay="0"/>
                                          </p:stCondLst>
                                        </p:cTn>
                                        <p:tgtEl>
                                          <p:spTgt spid="57">
                                            <p:txEl>
                                              <p:pRg st="3" end="3"/>
                                            </p:txEl>
                                          </p:spTgt>
                                        </p:tgtEl>
                                        <p:attrNameLst>
                                          <p:attrName>style.visibility</p:attrName>
                                        </p:attrNameLst>
                                      </p:cBhvr>
                                      <p:to>
                                        <p:strVal val="visible"/>
                                      </p:to>
                                    </p:set>
                                    <p:animEffect filter="wipe(left)" transition="in">
                                      <p:cBhvr additive="repl">
                                        <p:cTn id="102" dur="500"/>
                                        <p:tgtEl>
                                          <p:spTgt spid="57">
                                            <p:txEl>
                                              <p:pRg st="3" end="3"/>
                                            </p:txEl>
                                          </p:spTgt>
                                        </p:tgtEl>
                                      </p:cBhvr>
                                    </p:animEffect>
                                  </p:childTnLst>
                                </p:cTn>
                              </p:par>
                            </p:childTnLst>
                          </p:cTn>
                        </p:par>
                      </p:childTnLst>
                    </p:cTn>
                  </p:par>
                  <p:par>
                    <p:cTn id="103" nodeType="clickEffect" fill="hold">
                      <p:stCondLst>
                        <p:cond delay="indefinite"/>
                      </p:stCondLst>
                      <p:childTnLst>
                        <p:par>
                          <p:cTn id="104" nodeType="withEffect" fill="hold">
                            <p:stCondLst>
                              <p:cond delay="0"/>
                            </p:stCondLst>
                            <p:childTnLst>
                              <p:par>
                                <p:cTn id="105" nodeType="clickEffect" fill="hold" presetClass="entr" presetID="22" presetSubtype="8">
                                  <p:stCondLst>
                                    <p:cond delay="0"/>
                                  </p:stCondLst>
                                  <p:childTnLst>
                                    <p:set>
                                      <p:cBhvr>
                                        <p:cTn id="106" dur="1" fill="hold">
                                          <p:stCondLst>
                                            <p:cond delay="0"/>
                                          </p:stCondLst>
                                        </p:cTn>
                                        <p:tgtEl>
                                          <p:spTgt spid="57">
                                            <p:txEl>
                                              <p:pRg st="4" end="4"/>
                                            </p:txEl>
                                          </p:spTgt>
                                        </p:tgtEl>
                                        <p:attrNameLst>
                                          <p:attrName>style.visibility</p:attrName>
                                        </p:attrNameLst>
                                      </p:cBhvr>
                                      <p:to>
                                        <p:strVal val="visible"/>
                                      </p:to>
                                    </p:set>
                                    <p:animEffect filter="wipe(left)" transition="in">
                                      <p:cBhvr additive="repl">
                                        <p:cTn id="107" dur="500"/>
                                        <p:tgtEl>
                                          <p:spTgt spid="57">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19.1  DEMAND FOR A FACTOR OF PRODUCTION</a:t>
            </a:r>
            <a:endParaRPr b="0" lang="en-CA" sz="2600" strike="noStrike" u="none">
              <a:solidFill>
                <a:schemeClr val="dk1"/>
              </a:solidFill>
              <a:effectLst/>
              <a:uFillTx/>
              <a:latin typeface="Arial"/>
            </a:endParaRPr>
          </a:p>
        </p:txBody>
      </p:sp>
      <p:sp>
        <p:nvSpPr>
          <p:cNvPr id="61"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58920" indent="0">
              <a:lnSpc>
                <a:spcPct val="100000"/>
              </a:lnSpc>
              <a:spcBef>
                <a:spcPts val="601"/>
              </a:spcBef>
              <a:spcAft>
                <a:spcPts val="601"/>
              </a:spcAft>
              <a:buNone/>
            </a:pPr>
            <a:r>
              <a:rPr b="0" lang="en-CA" sz="2400" strike="noStrike" u="none">
                <a:solidFill>
                  <a:schemeClr val="dk1"/>
                </a:solidFill>
                <a:effectLst/>
                <a:uFillTx/>
                <a:latin typeface="Arial"/>
                <a:ea typeface="ＭＳ Ｐゴシック"/>
              </a:rPr>
              <a:t>The demand for a factor of production</a:t>
            </a:r>
            <a:r>
              <a:rPr b="0" lang="en-US" sz="2400" strike="noStrike" u="none">
                <a:solidFill>
                  <a:schemeClr val="dk1"/>
                </a:solidFill>
                <a:effectLst/>
                <a:uFillTx/>
                <a:latin typeface="Arial"/>
                <a:ea typeface="ＭＳ Ｐゴシック"/>
              </a:rPr>
              <a:t> is a </a:t>
            </a:r>
            <a:r>
              <a:rPr b="1" lang="en-US" sz="2400" strike="noStrike" u="none">
                <a:solidFill>
                  <a:srgbClr val="ff0000"/>
                </a:solidFill>
                <a:effectLst/>
                <a:uFillTx/>
                <a:latin typeface="Arial"/>
                <a:ea typeface="ＭＳ Ｐゴシック"/>
              </a:rPr>
              <a:t>derived demand</a:t>
            </a:r>
            <a:r>
              <a:rPr b="0" lang="en-US" sz="2400" strike="noStrike" u="none">
                <a:solidFill>
                  <a:schemeClr val="dk1"/>
                </a:solidFill>
                <a:effectLst/>
                <a:uFillTx/>
                <a:latin typeface="Arial"/>
                <a:ea typeface="ＭＳ Ｐゴシック"/>
              </a:rPr>
              <a:t>.</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It is derived from the demand for the goods and services the factor of production is used to produce.</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1" lang="en-US" sz="2400" strike="noStrike" u="none">
                <a:solidFill>
                  <a:srgbClr val="ff0000"/>
                </a:solidFill>
                <a:effectLst/>
                <a:uFillTx/>
                <a:latin typeface="Arial"/>
                <a:ea typeface="ＭＳ Ｐゴシック"/>
              </a:rPr>
              <a:t>Value of marginal product </a:t>
            </a:r>
            <a:r>
              <a:rPr b="0" lang="en-US" sz="2400" strike="noStrike" u="none">
                <a:solidFill>
                  <a:schemeClr val="dk1"/>
                </a:solidFill>
                <a:effectLst/>
                <a:uFillTx/>
                <a:latin typeface="Arial"/>
                <a:ea typeface="ＭＳ Ｐゴシック"/>
              </a:rPr>
              <a:t>is the value to a firm of hiring one more unit of a factor of production, which equals price of a unit of output multiplied by the marginal product of the factor of production.</a:t>
            </a:r>
            <a:endParaRPr b="1" lang="en-CA" sz="2400" strike="noStrike" u="none">
              <a:solidFill>
                <a:srgbClr val="00468f"/>
              </a:solidFill>
              <a:effectLst/>
              <a:uFillTx/>
              <a:latin typeface="Arial"/>
            </a:endParaRPr>
          </a:p>
        </p:txBody>
      </p:sp>
    </p:spTree>
  </p:cSld>
  <p:transition spd="slow">
    <p:wipe dir="r"/>
  </p:transition>
  <p:timing>
    <p:tnLst>
      <p:par>
        <p:cTn id="108" dur="indefinite" restart="never" nodeType="tmRoot">
          <p:childTnLst>
            <p:seq>
              <p:cTn id="109" dur="indefinite" nodeType="mainSeq">
                <p:childTnLst>
                  <p:par>
                    <p:cTn id="110" nodeType="clickEffect" fill="hold">
                      <p:stCondLst>
                        <p:cond delay="indefinite"/>
                      </p:stCondLst>
                      <p:childTnLst>
                        <p:par>
                          <p:cTn id="111" nodeType="withEffect" fill="hold">
                            <p:stCondLst>
                              <p:cond delay="0"/>
                            </p:stCondLst>
                            <p:childTnLst>
                              <p:par>
                                <p:cTn id="112" nodeType="clickEffect" fill="hold" presetClass="entr" presetID="22" presetSubtype="8">
                                  <p:stCondLst>
                                    <p:cond delay="0"/>
                                  </p:stCondLst>
                                  <p:childTnLst>
                                    <p:set>
                                      <p:cBhvr>
                                        <p:cTn id="113" dur="1" fill="hold">
                                          <p:stCondLst>
                                            <p:cond delay="0"/>
                                          </p:stCondLst>
                                        </p:cTn>
                                        <p:tgtEl>
                                          <p:spTgt spid="61">
                                            <p:txEl>
                                              <p:pRg st="1" end="1"/>
                                            </p:txEl>
                                          </p:spTgt>
                                        </p:tgtEl>
                                        <p:attrNameLst>
                                          <p:attrName>style.visibility</p:attrName>
                                        </p:attrNameLst>
                                      </p:cBhvr>
                                      <p:to>
                                        <p:strVal val="visible"/>
                                      </p:to>
                                    </p:set>
                                    <p:animEffect filter="wipe(left)" transition="in">
                                      <p:cBhvr additive="repl">
                                        <p:cTn id="114" dur="500"/>
                                        <p:tgtEl>
                                          <p:spTgt spid="61">
                                            <p:txEl>
                                              <p:pRg st="1" end="1"/>
                                            </p:txEl>
                                          </p:spTgt>
                                        </p:tgtEl>
                                      </p:cBhvr>
                                    </p:animEffect>
                                  </p:childTnLst>
                                </p:cTn>
                              </p:par>
                            </p:childTnLst>
                          </p:cTn>
                        </p:par>
                      </p:childTnLst>
                    </p:cTn>
                  </p:par>
                  <p:par>
                    <p:cTn id="115" nodeType="clickEffect" fill="hold">
                      <p:stCondLst>
                        <p:cond delay="indefinite"/>
                      </p:stCondLst>
                      <p:childTnLst>
                        <p:par>
                          <p:cTn id="116" nodeType="withEffect" fill="hold">
                            <p:stCondLst>
                              <p:cond delay="0"/>
                            </p:stCondLst>
                            <p:childTnLst>
                              <p:par>
                                <p:cTn id="117" nodeType="clickEffect" fill="hold" presetClass="entr" presetID="22" presetSubtype="8">
                                  <p:stCondLst>
                                    <p:cond delay="0"/>
                                  </p:stCondLst>
                                  <p:childTnLst>
                                    <p:set>
                                      <p:cBhvr>
                                        <p:cTn id="118" dur="1" fill="hold">
                                          <p:stCondLst>
                                            <p:cond delay="0"/>
                                          </p:stCondLst>
                                        </p:cTn>
                                        <p:tgtEl>
                                          <p:spTgt spid="61">
                                            <p:txEl>
                                              <p:pRg st="2" end="2"/>
                                            </p:txEl>
                                          </p:spTgt>
                                        </p:tgtEl>
                                        <p:attrNameLst>
                                          <p:attrName>style.visibility</p:attrName>
                                        </p:attrNameLst>
                                      </p:cBhvr>
                                      <p:to>
                                        <p:strVal val="visible"/>
                                      </p:to>
                                    </p:set>
                                    <p:animEffect filter="wipe(left)" transition="in">
                                      <p:cBhvr additive="repl">
                                        <p:cTn id="119" dur="500"/>
                                        <p:tgtEl>
                                          <p:spTgt spid="61">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19.1  DEMAND FOR A FACTOR OF PRODUCTION</a:t>
            </a:r>
            <a:endParaRPr b="0" lang="en-CA" sz="2600" strike="noStrike" u="none">
              <a:solidFill>
                <a:schemeClr val="dk1"/>
              </a:solidFill>
              <a:effectLst/>
              <a:uFillTx/>
              <a:latin typeface="Arial"/>
            </a:endParaRPr>
          </a:p>
        </p:txBody>
      </p:sp>
      <p:sp>
        <p:nvSpPr>
          <p:cNvPr id="63"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43080" indent="-343080">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ＭＳ Ｐゴシック"/>
              </a:rPr>
              <a:t>Value of Marginal Product</a:t>
            </a:r>
            <a:endParaRPr b="1" lang="en-CA" sz="28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Table 19.1 on the next slide walks you through the calculation of the value of marginal product.</a:t>
            </a:r>
            <a:endParaRPr b="1" lang="en-CA" sz="2400" strike="noStrike" u="none">
              <a:solidFill>
                <a:srgbClr val="00468f"/>
              </a:solidFill>
              <a:effectLst/>
              <a:uFillTx/>
              <a:latin typeface="Arial"/>
            </a:endParaRPr>
          </a:p>
        </p:txBody>
      </p:sp>
    </p:spTree>
  </p:cSld>
  <p:transition spd="slow">
    <p:wipe dir="r"/>
  </p:transition>
  <p:timing>
    <p:tnLst>
      <p:par>
        <p:cTn id="120" dur="indefinite" restart="never" nodeType="tmRoot">
          <p:childTnLst>
            <p:seq>
              <p:cTn id="121" dur="indefinite" nodeType="mainSeq">
                <p:childTnLst>
                  <p:par>
                    <p:cTn id="122" nodeType="clickEffect" fill="hold">
                      <p:stCondLst>
                        <p:cond delay="indefinite"/>
                      </p:stCondLst>
                      <p:childTnLst>
                        <p:par>
                          <p:cTn id="123" nodeType="withEffect" fill="hold">
                            <p:stCondLst>
                              <p:cond delay="0"/>
                            </p:stCondLst>
                            <p:childTnLst>
                              <p:par>
                                <p:cTn id="124" nodeType="clickEffect" fill="hold" presetClass="entr" presetID="22" presetSubtype="8">
                                  <p:stCondLst>
                                    <p:cond delay="0"/>
                                  </p:stCondLst>
                                  <p:childTnLst>
                                    <p:set>
                                      <p:cBhvr>
                                        <p:cTn id="125" dur="1" fill="hold">
                                          <p:stCondLst>
                                            <p:cond delay="0"/>
                                          </p:stCondLst>
                                        </p:cTn>
                                        <p:tgtEl>
                                          <p:spTgt spid="63">
                                            <p:txEl>
                                              <p:pRg st="1" end="1"/>
                                            </p:txEl>
                                          </p:spTgt>
                                        </p:tgtEl>
                                        <p:attrNameLst>
                                          <p:attrName>style.visibility</p:attrName>
                                        </p:attrNameLst>
                                      </p:cBhvr>
                                      <p:to>
                                        <p:strVal val="visible"/>
                                      </p:to>
                                    </p:set>
                                    <p:animEffect filter="wipe(left)" transition="in">
                                      <p:cBhvr additive="repl">
                                        <p:cTn id="126" dur="500"/>
                                        <p:tgtEl>
                                          <p:spTgt spid="63">
                                            <p:txEl>
                                              <p:pRg st="1" end="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19.1  DEMAND FOR A FACTOR OF PRODUCTION</a:t>
            </a:r>
            <a:endParaRPr b="0" lang="en-CA" sz="2600" strike="noStrike" u="none">
              <a:solidFill>
                <a:schemeClr val="dk1"/>
              </a:solidFill>
              <a:effectLst/>
              <a:uFillTx/>
              <a:latin typeface="Arial"/>
            </a:endParaRPr>
          </a:p>
        </p:txBody>
      </p:sp>
      <p:sp>
        <p:nvSpPr>
          <p:cNvPr id="65" name="PlaceHolder 2"/>
          <p:cNvSpPr>
            <a:spLocks noGrp="1"/>
          </p:cNvSpPr>
          <p:nvPr>
            <p:ph/>
          </p:nvPr>
        </p:nvSpPr>
        <p:spPr>
          <a:xfrm>
            <a:off x="360360" y="1440000"/>
            <a:ext cx="8300520" cy="428904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The first two columns of the table are the firm’s total product schedule.</a:t>
            </a:r>
            <a:endParaRPr b="1" lang="en-CA" sz="2400" strike="noStrike" u="none">
              <a:solidFill>
                <a:srgbClr val="00468f"/>
              </a:solidFill>
              <a:effectLst/>
              <a:uFillTx/>
              <a:latin typeface="Arial"/>
            </a:endParaRPr>
          </a:p>
        </p:txBody>
      </p:sp>
      <p:pic>
        <p:nvPicPr>
          <p:cNvPr id="66" name="Picture 4" descr=""/>
          <p:cNvPicPr/>
          <p:nvPr/>
        </p:nvPicPr>
        <p:blipFill>
          <a:blip r:embed="rId1"/>
          <a:stretch/>
        </p:blipFill>
        <p:spPr>
          <a:xfrm>
            <a:off x="1187280" y="2879640"/>
            <a:ext cx="6629040" cy="3593880"/>
          </a:xfrm>
          <a:prstGeom prst="rect">
            <a:avLst/>
          </a:prstGeom>
          <a:noFill/>
          <a:ln w="0">
            <a:noFill/>
          </a:ln>
        </p:spPr>
      </p:pic>
    </p:spTree>
  </p:cSld>
  <p:transition spd="slow">
    <p:wipe dir="r"/>
  </p:transition>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19.1  DEMAND FOR A FACTOR OF PRODUCTION</a:t>
            </a:r>
            <a:endParaRPr b="0" lang="en-CA" sz="2600" strike="noStrike" u="none">
              <a:solidFill>
                <a:schemeClr val="dk1"/>
              </a:solidFill>
              <a:effectLst/>
              <a:uFillTx/>
              <a:latin typeface="Arial"/>
            </a:endParaRPr>
          </a:p>
        </p:txBody>
      </p:sp>
      <p:sp>
        <p:nvSpPr>
          <p:cNvPr id="68" name="PlaceHolder 2"/>
          <p:cNvSpPr>
            <a:spLocks noGrp="1"/>
          </p:cNvSpPr>
          <p:nvPr>
            <p:ph/>
          </p:nvPr>
        </p:nvSpPr>
        <p:spPr>
          <a:xfrm>
            <a:off x="360360" y="1440000"/>
            <a:ext cx="8300520" cy="428904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To calculate marginal product, find the change in total product as the quantity of labor increases by 1 worker.</a:t>
            </a:r>
            <a:endParaRPr b="1" lang="en-CA" sz="2400" strike="noStrike" u="none">
              <a:solidFill>
                <a:srgbClr val="00468f"/>
              </a:solidFill>
              <a:effectLst/>
              <a:uFillTx/>
              <a:latin typeface="Arial"/>
            </a:endParaRPr>
          </a:p>
          <a:p>
            <a:pPr indent="0">
              <a:lnSpc>
                <a:spcPct val="100000"/>
              </a:lnSpc>
              <a:spcBef>
                <a:spcPts val="561"/>
              </a:spcBef>
              <a:buNone/>
              <a:tabLst>
                <a:tab algn="l" pos="0"/>
              </a:tabLst>
            </a:pPr>
            <a:endParaRPr b="1" lang="en-CA" sz="2800" strike="noStrike" u="none">
              <a:solidFill>
                <a:srgbClr val="00468f"/>
              </a:solidFill>
              <a:effectLst/>
              <a:uFillTx/>
              <a:latin typeface="Arial"/>
            </a:endParaRPr>
          </a:p>
        </p:txBody>
      </p:sp>
      <p:pic>
        <p:nvPicPr>
          <p:cNvPr id="69" name="Picture 5" descr=""/>
          <p:cNvPicPr/>
          <p:nvPr/>
        </p:nvPicPr>
        <p:blipFill>
          <a:blip r:embed="rId1"/>
          <a:stretch/>
        </p:blipFill>
        <p:spPr>
          <a:xfrm>
            <a:off x="1187280" y="2879640"/>
            <a:ext cx="6629040" cy="3593880"/>
          </a:xfrm>
          <a:prstGeom prst="rect">
            <a:avLst/>
          </a:prstGeom>
          <a:noFill/>
          <a:ln w="0">
            <a:noFill/>
          </a:ln>
        </p:spPr>
      </p:pic>
      <p:pic>
        <p:nvPicPr>
          <p:cNvPr id="70" name="Picture 6" descr=""/>
          <p:cNvPicPr/>
          <p:nvPr/>
        </p:nvPicPr>
        <p:blipFill>
          <a:blip r:embed="rId2"/>
          <a:stretch/>
        </p:blipFill>
        <p:spPr>
          <a:xfrm>
            <a:off x="1187280" y="2879640"/>
            <a:ext cx="6629040" cy="3593880"/>
          </a:xfrm>
          <a:prstGeom prst="rect">
            <a:avLst/>
          </a:prstGeom>
          <a:noFill/>
          <a:ln w="0">
            <a:noFill/>
          </a:ln>
        </p:spPr>
      </p:pic>
    </p:spTree>
  </p:cSld>
  <p:transition spd="slow">
    <p:wipe dir="r"/>
  </p:transition>
  <p:timing>
    <p:tnLst>
      <p:par>
        <p:cTn id="127" dur="indefinite" restart="never" nodeType="tmRoot">
          <p:childTnLst>
            <p:seq>
              <p:cTn id="128" dur="indefinite" nodeType="mainSeq">
                <p:childTnLst>
                  <p:par>
                    <p:cTn id="129" nodeType="clickEffect" fill="hold">
                      <p:stCondLst>
                        <p:cond delay="0"/>
                      </p:stCondLst>
                      <p:childTnLst>
                        <p:par>
                          <p:cTn id="130" nodeType="withEffect" fill="hold">
                            <p:stCondLst>
                              <p:cond delay="0"/>
                            </p:stCondLst>
                            <p:childTnLst>
                              <p:par>
                                <p:cTn id="131" nodeType="withEffect" fill="hold" presetClass="entr" presetID="22" presetSubtype="8">
                                  <p:stCondLst>
                                    <p:cond delay="0"/>
                                  </p:stCondLst>
                                  <p:childTnLst>
                                    <p:set>
                                      <p:cBhvr>
                                        <p:cTn id="132" dur="1" fill="hold">
                                          <p:stCondLst>
                                            <p:cond delay="0"/>
                                          </p:stCondLst>
                                        </p:cTn>
                                        <p:tgtEl>
                                          <p:spTgt spid="70"/>
                                        </p:tgtEl>
                                        <p:attrNameLst>
                                          <p:attrName>style.visibility</p:attrName>
                                        </p:attrNameLst>
                                      </p:cBhvr>
                                      <p:to>
                                        <p:strVal val="visible"/>
                                      </p:to>
                                    </p:set>
                                    <p:animEffect filter="wipe(left)" transition="in">
                                      <p:cBhvr additive="repl">
                                        <p:cTn id="133" dur="750"/>
                                        <p:tgtEl>
                                          <p:spTgt spid="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19.1  DEMAND FOR A FACTOR OF PRODUCTION</a:t>
            </a:r>
            <a:endParaRPr b="0" lang="en-CA" sz="2600" strike="noStrike" u="none">
              <a:solidFill>
                <a:schemeClr val="dk1"/>
              </a:solidFill>
              <a:effectLst/>
              <a:uFillTx/>
              <a:latin typeface="Arial"/>
            </a:endParaRPr>
          </a:p>
        </p:txBody>
      </p:sp>
      <p:sp>
        <p:nvSpPr>
          <p:cNvPr id="72" name="Text Box 1041"/>
          <p:cNvSpPr/>
          <p:nvPr/>
        </p:nvSpPr>
        <p:spPr>
          <a:xfrm>
            <a:off x="360360" y="1440000"/>
            <a:ext cx="8173800" cy="1199880"/>
          </a:xfrm>
          <a:prstGeom prst="rect">
            <a:avLst/>
          </a:prstGeom>
          <a:noFill/>
          <a:ln w="0">
            <a:noFill/>
          </a:ln>
        </p:spPr>
        <p:style>
          <a:lnRef idx="0"/>
          <a:fillRef idx="0"/>
          <a:effectRef idx="0"/>
          <a:fontRef idx="minor"/>
        </p:style>
        <p:txBody>
          <a:bodyPr lIns="90000" rIns="90000" tIns="45000" bIns="45000" anchor="t">
            <a:spAutoFit/>
          </a:bodyPr>
          <a:p>
            <a:pPr marL="360000">
              <a:lnSpc>
                <a:spcPct val="100000"/>
              </a:lnSpc>
              <a:spcBef>
                <a:spcPts val="601"/>
              </a:spcBef>
              <a:spcAft>
                <a:spcPts val="601"/>
              </a:spcAft>
            </a:pPr>
            <a:r>
              <a:rPr b="0" lang="en-US" sz="2400" strike="noStrike" u="none">
                <a:solidFill>
                  <a:schemeClr val="dk1"/>
                </a:solidFill>
                <a:effectLst/>
                <a:uFillTx/>
                <a:latin typeface="Arial"/>
                <a:ea typeface="ＭＳ Ｐゴシック"/>
              </a:rPr>
              <a:t>To calculate the value of marginal product, multiply the marginal product numbers by the price of a car wash, which in this example is $6.</a:t>
            </a:r>
            <a:endParaRPr b="0" lang="en-US" sz="2400" strike="noStrike" u="none">
              <a:solidFill>
                <a:srgbClr val="000000"/>
              </a:solidFill>
              <a:effectLst/>
              <a:uFillTx/>
              <a:latin typeface="Arial"/>
            </a:endParaRPr>
          </a:p>
        </p:txBody>
      </p:sp>
      <p:pic>
        <p:nvPicPr>
          <p:cNvPr id="73" name="Picture 6" descr=""/>
          <p:cNvPicPr/>
          <p:nvPr/>
        </p:nvPicPr>
        <p:blipFill>
          <a:blip r:embed="rId1"/>
          <a:stretch/>
        </p:blipFill>
        <p:spPr>
          <a:xfrm>
            <a:off x="1187280" y="2879640"/>
            <a:ext cx="6629040" cy="3593880"/>
          </a:xfrm>
          <a:prstGeom prst="rect">
            <a:avLst/>
          </a:prstGeom>
          <a:noFill/>
          <a:ln w="0">
            <a:noFill/>
          </a:ln>
        </p:spPr>
      </p:pic>
      <p:pic>
        <p:nvPicPr>
          <p:cNvPr id="74" name="Picture 7" descr=""/>
          <p:cNvPicPr/>
          <p:nvPr/>
        </p:nvPicPr>
        <p:blipFill>
          <a:blip r:embed="rId2"/>
          <a:stretch/>
        </p:blipFill>
        <p:spPr>
          <a:xfrm>
            <a:off x="1187280" y="2879640"/>
            <a:ext cx="6629040" cy="3593880"/>
          </a:xfrm>
          <a:prstGeom prst="rect">
            <a:avLst/>
          </a:prstGeom>
          <a:noFill/>
          <a:ln w="0">
            <a:noFill/>
          </a:ln>
        </p:spPr>
      </p:pic>
      <p:pic>
        <p:nvPicPr>
          <p:cNvPr id="75" name="Picture 8" descr=""/>
          <p:cNvPicPr/>
          <p:nvPr/>
        </p:nvPicPr>
        <p:blipFill>
          <a:blip r:embed="rId3"/>
          <a:stretch/>
        </p:blipFill>
        <p:spPr>
          <a:xfrm>
            <a:off x="1187280" y="2879640"/>
            <a:ext cx="6629040" cy="3593880"/>
          </a:xfrm>
          <a:prstGeom prst="rect">
            <a:avLst/>
          </a:prstGeom>
          <a:noFill/>
          <a:ln w="0">
            <a:noFill/>
          </a:ln>
        </p:spPr>
      </p:pic>
    </p:spTree>
  </p:cSld>
  <p:transition spd="slow">
    <p:wipe dir="r"/>
  </p:transition>
  <p:timing>
    <p:tnLst>
      <p:par>
        <p:cTn id="134" dur="indefinite" restart="never" nodeType="tmRoot">
          <p:childTnLst>
            <p:seq>
              <p:cTn id="135" dur="indefinite" nodeType="mainSeq">
                <p:childTnLst>
                  <p:par>
                    <p:cTn id="136" nodeType="clickEffect" fill="hold">
                      <p:stCondLst>
                        <p:cond delay="0"/>
                      </p:stCondLst>
                      <p:childTnLst>
                        <p:par>
                          <p:cTn id="137" nodeType="withEffect" fill="hold">
                            <p:stCondLst>
                              <p:cond delay="0"/>
                            </p:stCondLst>
                            <p:childTnLst>
                              <p:par>
                                <p:cTn id="138" nodeType="withEffect" fill="hold" presetClass="entr" presetID="22" presetSubtype="8">
                                  <p:stCondLst>
                                    <p:cond delay="0"/>
                                  </p:stCondLst>
                                  <p:childTnLst>
                                    <p:set>
                                      <p:cBhvr>
                                        <p:cTn id="139" dur="1" fill="hold">
                                          <p:stCondLst>
                                            <p:cond delay="0"/>
                                          </p:stCondLst>
                                        </p:cTn>
                                        <p:tgtEl>
                                          <p:spTgt spid="75"/>
                                        </p:tgtEl>
                                        <p:attrNameLst>
                                          <p:attrName>style.visibility</p:attrName>
                                        </p:attrNameLst>
                                      </p:cBhvr>
                                      <p:to>
                                        <p:strVal val="visible"/>
                                      </p:to>
                                    </p:set>
                                    <p:animEffect filter="wipe(left)" transition="in">
                                      <p:cBhvr additive="repl">
                                        <p:cTn id="140" dur="500"/>
                                        <p:tgtEl>
                                          <p:spTgt spid="7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sp>
        <p:nvSpPr>
          <p:cNvPr id="76" name="Rectangle 5"/>
          <p:cNvSpPr/>
          <p:nvPr/>
        </p:nvSpPr>
        <p:spPr>
          <a:xfrm>
            <a:off x="457200" y="609480"/>
            <a:ext cx="7848360" cy="837720"/>
          </a:xfrm>
          <a:prstGeom prst="rect">
            <a:avLst/>
          </a:prstGeom>
          <a:solidFill>
            <a:schemeClr val="bg1"/>
          </a:solidFill>
          <a:ln w="0">
            <a:noFill/>
          </a:ln>
        </p:spPr>
        <p:style>
          <a:lnRef idx="0"/>
          <a:fillRef idx="0"/>
          <a:effectRef idx="0"/>
          <a:fontRef idx="minor"/>
        </p:style>
        <p:txBody>
          <a:bodyPr wrap="none" lIns="90000" rIns="90000" tIns="45000" bIns="45000" anchor="ctr">
            <a:noAutofit/>
          </a:bodyPr>
          <a:p>
            <a:pPr>
              <a:lnSpc>
                <a:spcPct val="100000"/>
              </a:lnSpc>
            </a:pPr>
            <a:endParaRPr b="0" lang="en-US" sz="2400" strike="noStrike" u="none">
              <a:solidFill>
                <a:schemeClr val="dk1"/>
              </a:solidFill>
              <a:effectLst/>
              <a:uFillTx/>
              <a:latin typeface="Arial"/>
              <a:ea typeface="ＭＳ Ｐゴシック"/>
            </a:endParaRPr>
          </a:p>
        </p:txBody>
      </p:sp>
      <p:pic>
        <p:nvPicPr>
          <p:cNvPr id="77" name="Picture 5" descr=""/>
          <p:cNvPicPr/>
          <p:nvPr/>
        </p:nvPicPr>
        <p:blipFill>
          <a:blip r:embed="rId1"/>
          <a:stretch/>
        </p:blipFill>
        <p:spPr>
          <a:xfrm>
            <a:off x="1079640" y="1368360"/>
            <a:ext cx="6629040" cy="3593880"/>
          </a:xfrm>
          <a:prstGeom prst="rect">
            <a:avLst/>
          </a:prstGeom>
          <a:noFill/>
          <a:ln w="0">
            <a:noFill/>
          </a:ln>
        </p:spPr>
      </p:pic>
      <p:pic>
        <p:nvPicPr>
          <p:cNvPr id="78" name="Picture 6" descr=""/>
          <p:cNvPicPr/>
          <p:nvPr/>
        </p:nvPicPr>
        <p:blipFill>
          <a:blip r:embed="rId2"/>
          <a:stretch/>
        </p:blipFill>
        <p:spPr>
          <a:xfrm>
            <a:off x="1079640" y="1368360"/>
            <a:ext cx="6629040" cy="3593880"/>
          </a:xfrm>
          <a:prstGeom prst="rect">
            <a:avLst/>
          </a:prstGeom>
          <a:noFill/>
          <a:ln w="0">
            <a:noFill/>
          </a:ln>
        </p:spPr>
      </p:pic>
      <p:pic>
        <p:nvPicPr>
          <p:cNvPr id="79" name="Picture 7" descr=""/>
          <p:cNvPicPr/>
          <p:nvPr/>
        </p:nvPicPr>
        <p:blipFill>
          <a:blip r:embed="rId3"/>
          <a:stretch/>
        </p:blipFill>
        <p:spPr>
          <a:xfrm>
            <a:off x="1079640" y="1368360"/>
            <a:ext cx="6629040" cy="3593880"/>
          </a:xfrm>
          <a:prstGeom prst="rect">
            <a:avLst/>
          </a:prstGeom>
          <a:noFill/>
          <a:ln w="0">
            <a:noFill/>
          </a:ln>
        </p:spPr>
      </p:pic>
    </p:spTree>
  </p:cSld>
  <p:transition spd="slow">
    <p:wipe dir="r"/>
  </p:transition>
  <p:timing>
    <p:tnLst>
      <p:par>
        <p:cTn id="141" dur="indefinite" restart="never" nodeType="tmRoot">
          <p:childTnLst>
            <p:seq>
              <p:cTn id="142" dur="indefinite" nodeType="mainSeq">
                <p:childTnLst>
                  <p:par>
                    <p:cTn id="143" nodeType="clickEffect" fill="hold">
                      <p:stCondLst>
                        <p:cond delay="indefinite"/>
                      </p:stCondLst>
                      <p:childTnLst>
                        <p:par>
                          <p:cTn id="144" nodeType="withEffect" fill="hold">
                            <p:stCondLst>
                              <p:cond delay="0"/>
                            </p:stCondLst>
                            <p:childTnLst>
                              <p:par>
                                <p:cTn id="145" nodeType="clickEffect" fill="hold" presetClass="entr" presetID="22" presetSubtype="8">
                                  <p:stCondLst>
                                    <p:cond delay="0"/>
                                  </p:stCondLst>
                                  <p:childTnLst>
                                    <p:set>
                                      <p:cBhvr>
                                        <p:cTn id="146" dur="1" fill="hold">
                                          <p:stCondLst>
                                            <p:cond delay="0"/>
                                          </p:stCondLst>
                                        </p:cTn>
                                        <p:tgtEl>
                                          <p:spTgt spid="78"/>
                                        </p:tgtEl>
                                        <p:attrNameLst>
                                          <p:attrName>style.visibility</p:attrName>
                                        </p:attrNameLst>
                                      </p:cBhvr>
                                      <p:to>
                                        <p:strVal val="visible"/>
                                      </p:to>
                                    </p:set>
                                    <p:animEffect filter="wipe(left)" transition="in">
                                      <p:cBhvr additive="repl">
                                        <p:cTn id="147" dur="750"/>
                                        <p:tgtEl>
                                          <p:spTgt spid="78"/>
                                        </p:tgtEl>
                                      </p:cBhvr>
                                    </p:animEffect>
                                  </p:childTnLst>
                                </p:cTn>
                              </p:par>
                            </p:childTnLst>
                          </p:cTn>
                        </p:par>
                      </p:childTnLst>
                    </p:cTn>
                  </p:par>
                  <p:par>
                    <p:cTn id="148" nodeType="clickEffect" fill="hold">
                      <p:stCondLst>
                        <p:cond delay="indefinite"/>
                      </p:stCondLst>
                      <p:childTnLst>
                        <p:par>
                          <p:cTn id="149" nodeType="withEffect" fill="hold">
                            <p:stCondLst>
                              <p:cond delay="0"/>
                            </p:stCondLst>
                            <p:childTnLst>
                              <p:par>
                                <p:cTn id="150" nodeType="clickEffect" fill="hold" presetClass="entr" presetID="22" presetSubtype="8">
                                  <p:stCondLst>
                                    <p:cond delay="0"/>
                                  </p:stCondLst>
                                  <p:childTnLst>
                                    <p:set>
                                      <p:cBhvr>
                                        <p:cTn id="151" dur="1" fill="hold">
                                          <p:stCondLst>
                                            <p:cond delay="0"/>
                                          </p:stCondLst>
                                        </p:cTn>
                                        <p:tgtEl>
                                          <p:spTgt spid="79"/>
                                        </p:tgtEl>
                                        <p:attrNameLst>
                                          <p:attrName>style.visibility</p:attrName>
                                        </p:attrNameLst>
                                      </p:cBhvr>
                                      <p:to>
                                        <p:strVal val="visible"/>
                                      </p:to>
                                    </p:set>
                                    <p:animEffect filter="wipe(left)" transition="in">
                                      <p:cBhvr additive="repl">
                                        <p:cTn id="152" dur="500"/>
                                        <p:tgtEl>
                                          <p:spTgt spid="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19.1  DEMAND FOR A FACTOR OF PRODUCTION</a:t>
            </a:r>
            <a:endParaRPr b="0" lang="en-CA" sz="2600" strike="noStrike" u="none">
              <a:solidFill>
                <a:schemeClr val="dk1"/>
              </a:solidFill>
              <a:effectLst/>
              <a:uFillTx/>
              <a:latin typeface="Arial"/>
            </a:endParaRPr>
          </a:p>
        </p:txBody>
      </p:sp>
      <p:sp>
        <p:nvSpPr>
          <p:cNvPr id="81" name="PlaceHolder 2"/>
          <p:cNvSpPr>
            <a:spLocks noGrp="1"/>
          </p:cNvSpPr>
          <p:nvPr>
            <p:ph/>
          </p:nvPr>
        </p:nvSpPr>
        <p:spPr>
          <a:xfrm>
            <a:off x="360360" y="1440000"/>
            <a:ext cx="2854080" cy="464796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Figure 19.1  shows the value of the marginal product at Max’s Wash ’n’ Wax.</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The blue bars show the value of the marginal product of the labor that Max hires based on the numbers in the table.</a:t>
            </a:r>
            <a:endParaRPr b="1" lang="en-CA" sz="2400" strike="noStrike" u="none">
              <a:solidFill>
                <a:srgbClr val="00468f"/>
              </a:solidFill>
              <a:effectLst/>
              <a:uFillTx/>
              <a:latin typeface="Arial"/>
            </a:endParaRPr>
          </a:p>
        </p:txBody>
      </p:sp>
      <p:pic>
        <p:nvPicPr>
          <p:cNvPr id="82" name="Picture 1" descr=""/>
          <p:cNvPicPr/>
          <p:nvPr/>
        </p:nvPicPr>
        <p:blipFill>
          <a:blip r:embed="rId1"/>
          <a:stretch/>
        </p:blipFill>
        <p:spPr>
          <a:xfrm>
            <a:off x="3214800" y="1476360"/>
            <a:ext cx="5446440" cy="3633480"/>
          </a:xfrm>
          <a:prstGeom prst="rect">
            <a:avLst/>
          </a:prstGeom>
          <a:noFill/>
          <a:ln w="0">
            <a:noFill/>
          </a:ln>
        </p:spPr>
      </p:pic>
      <p:pic>
        <p:nvPicPr>
          <p:cNvPr id="83" name="Picture 11" descr=""/>
          <p:cNvPicPr/>
          <p:nvPr/>
        </p:nvPicPr>
        <p:blipFill>
          <a:blip r:embed="rId2"/>
          <a:stretch/>
        </p:blipFill>
        <p:spPr>
          <a:xfrm>
            <a:off x="3214800" y="1476360"/>
            <a:ext cx="5446440" cy="3633480"/>
          </a:xfrm>
          <a:prstGeom prst="rect">
            <a:avLst/>
          </a:prstGeom>
          <a:noFill/>
          <a:ln w="0">
            <a:noFill/>
          </a:ln>
        </p:spPr>
      </p:pic>
      <p:pic>
        <p:nvPicPr>
          <p:cNvPr id="84" name="Picture 12" descr=""/>
          <p:cNvPicPr/>
          <p:nvPr/>
        </p:nvPicPr>
        <p:blipFill>
          <a:blip r:embed="rId3"/>
          <a:stretch/>
        </p:blipFill>
        <p:spPr>
          <a:xfrm>
            <a:off x="3214800" y="1476360"/>
            <a:ext cx="5446440" cy="3633480"/>
          </a:xfrm>
          <a:prstGeom prst="rect">
            <a:avLst/>
          </a:prstGeom>
          <a:noFill/>
          <a:ln w="0">
            <a:noFill/>
          </a:ln>
        </p:spPr>
      </p:pic>
      <p:pic>
        <p:nvPicPr>
          <p:cNvPr id="85" name="Picture 18" descr=""/>
          <p:cNvPicPr/>
          <p:nvPr/>
        </p:nvPicPr>
        <p:blipFill>
          <a:blip r:embed="rId4"/>
          <a:stretch/>
        </p:blipFill>
        <p:spPr>
          <a:xfrm>
            <a:off x="3214800" y="1476360"/>
            <a:ext cx="5446440" cy="3633480"/>
          </a:xfrm>
          <a:prstGeom prst="rect">
            <a:avLst/>
          </a:prstGeom>
          <a:noFill/>
          <a:ln w="0">
            <a:noFill/>
          </a:ln>
        </p:spPr>
      </p:pic>
      <p:pic>
        <p:nvPicPr>
          <p:cNvPr id="86" name="Picture 19" descr=""/>
          <p:cNvPicPr/>
          <p:nvPr/>
        </p:nvPicPr>
        <p:blipFill>
          <a:blip r:embed="rId5"/>
          <a:stretch/>
        </p:blipFill>
        <p:spPr>
          <a:xfrm>
            <a:off x="3214800" y="1476360"/>
            <a:ext cx="5446440" cy="3633480"/>
          </a:xfrm>
          <a:prstGeom prst="rect">
            <a:avLst/>
          </a:prstGeom>
          <a:noFill/>
          <a:ln w="0">
            <a:noFill/>
          </a:ln>
        </p:spPr>
      </p:pic>
      <p:pic>
        <p:nvPicPr>
          <p:cNvPr id="87" name="Picture 20" descr=""/>
          <p:cNvPicPr/>
          <p:nvPr/>
        </p:nvPicPr>
        <p:blipFill>
          <a:blip r:embed="rId6"/>
          <a:stretch/>
        </p:blipFill>
        <p:spPr>
          <a:xfrm>
            <a:off x="3214800" y="1476360"/>
            <a:ext cx="5446440" cy="3633480"/>
          </a:xfrm>
          <a:prstGeom prst="rect">
            <a:avLst/>
          </a:prstGeom>
          <a:noFill/>
          <a:ln w="0">
            <a:noFill/>
          </a:ln>
        </p:spPr>
      </p:pic>
    </p:spTree>
  </p:cSld>
  <p:transition spd="slow">
    <p:wipe dir="r"/>
  </p:transition>
  <p:timing>
    <p:tnLst>
      <p:par>
        <p:cTn id="153" dur="indefinite" restart="never" nodeType="tmRoot">
          <p:childTnLst>
            <p:seq>
              <p:cTn id="154" dur="indefinite" nodeType="mainSeq">
                <p:childTnLst>
                  <p:par>
                    <p:cTn id="155" nodeType="clickEffect" fill="hold">
                      <p:stCondLst>
                        <p:cond delay="indefinite"/>
                      </p:stCondLst>
                      <p:childTnLst>
                        <p:par>
                          <p:cTn id="156" nodeType="withEffect" fill="hold">
                            <p:stCondLst>
                              <p:cond delay="0"/>
                            </p:stCondLst>
                            <p:childTnLst>
                              <p:par>
                                <p:cTn id="157" nodeType="clickEffect" fill="hold" presetClass="entr" presetID="22" presetSubtype="8">
                                  <p:stCondLst>
                                    <p:cond delay="0"/>
                                  </p:stCondLst>
                                  <p:childTnLst>
                                    <p:set>
                                      <p:cBhvr>
                                        <p:cTn id="158" dur="1" fill="hold">
                                          <p:stCondLst>
                                            <p:cond delay="0"/>
                                          </p:stCondLst>
                                        </p:cTn>
                                        <p:tgtEl>
                                          <p:spTgt spid="81">
                                            <p:txEl>
                                              <p:pRg st="1" end="1"/>
                                            </p:txEl>
                                          </p:spTgt>
                                        </p:tgtEl>
                                        <p:attrNameLst>
                                          <p:attrName>style.visibility</p:attrName>
                                        </p:attrNameLst>
                                      </p:cBhvr>
                                      <p:to>
                                        <p:strVal val="visible"/>
                                      </p:to>
                                    </p:set>
                                    <p:animEffect filter="wipe(left)" transition="in">
                                      <p:cBhvr additive="repl">
                                        <p:cTn id="159" dur="500"/>
                                        <p:tgtEl>
                                          <p:spTgt spid="81">
                                            <p:txEl>
                                              <p:pRg st="1" end="1"/>
                                            </p:txEl>
                                          </p:spTgt>
                                        </p:tgtEl>
                                      </p:cBhvr>
                                    </p:animEffect>
                                  </p:childTnLst>
                                </p:cTn>
                              </p:par>
                              <p:par>
                                <p:cTn id="160" nodeType="withEffect" fill="hold" presetClass="entr" presetID="22" presetSubtype="4">
                                  <p:stCondLst>
                                    <p:cond delay="0"/>
                                  </p:stCondLst>
                                  <p:childTnLst>
                                    <p:set>
                                      <p:cBhvr>
                                        <p:cTn id="161" dur="1" fill="hold">
                                          <p:stCondLst>
                                            <p:cond delay="0"/>
                                          </p:stCondLst>
                                        </p:cTn>
                                        <p:tgtEl>
                                          <p:spTgt spid="83"/>
                                        </p:tgtEl>
                                        <p:attrNameLst>
                                          <p:attrName>style.visibility</p:attrName>
                                        </p:attrNameLst>
                                      </p:cBhvr>
                                      <p:to>
                                        <p:strVal val="visible"/>
                                      </p:to>
                                    </p:set>
                                    <p:animEffect filter="wipe(down)" transition="in">
                                      <p:cBhvr additive="repl">
                                        <p:cTn id="162" dur="1000"/>
                                        <p:tgtEl>
                                          <p:spTgt spid="83"/>
                                        </p:tgtEl>
                                      </p:cBhvr>
                                    </p:animEffect>
                                  </p:childTnLst>
                                </p:cTn>
                              </p:par>
                              <p:par>
                                <p:cTn id="163" nodeType="withEffect" fill="hold" presetClass="entr" presetID="22" presetSubtype="4">
                                  <p:stCondLst>
                                    <p:cond delay="600"/>
                                  </p:stCondLst>
                                  <p:childTnLst>
                                    <p:set>
                                      <p:cBhvr>
                                        <p:cTn id="164" dur="1" fill="hold">
                                          <p:stCondLst>
                                            <p:cond delay="0"/>
                                          </p:stCondLst>
                                        </p:cTn>
                                        <p:tgtEl>
                                          <p:spTgt spid="84"/>
                                        </p:tgtEl>
                                        <p:attrNameLst>
                                          <p:attrName>style.visibility</p:attrName>
                                        </p:attrNameLst>
                                      </p:cBhvr>
                                      <p:to>
                                        <p:strVal val="visible"/>
                                      </p:to>
                                    </p:set>
                                    <p:animEffect filter="wipe(down)" transition="in">
                                      <p:cBhvr additive="repl">
                                        <p:cTn id="165" dur="1000"/>
                                        <p:tgtEl>
                                          <p:spTgt spid="84"/>
                                        </p:tgtEl>
                                      </p:cBhvr>
                                    </p:animEffect>
                                  </p:childTnLst>
                                </p:cTn>
                              </p:par>
                              <p:par>
                                <p:cTn id="166" nodeType="withEffect" fill="hold" presetClass="entr" presetID="22" presetSubtype="4">
                                  <p:stCondLst>
                                    <p:cond delay="1200"/>
                                  </p:stCondLst>
                                  <p:childTnLst>
                                    <p:set>
                                      <p:cBhvr>
                                        <p:cTn id="167" dur="1" fill="hold">
                                          <p:stCondLst>
                                            <p:cond delay="0"/>
                                          </p:stCondLst>
                                        </p:cTn>
                                        <p:tgtEl>
                                          <p:spTgt spid="85"/>
                                        </p:tgtEl>
                                        <p:attrNameLst>
                                          <p:attrName>style.visibility</p:attrName>
                                        </p:attrNameLst>
                                      </p:cBhvr>
                                      <p:to>
                                        <p:strVal val="visible"/>
                                      </p:to>
                                    </p:set>
                                    <p:animEffect filter="wipe(down)" transition="in">
                                      <p:cBhvr additive="repl">
                                        <p:cTn id="168" dur="1000"/>
                                        <p:tgtEl>
                                          <p:spTgt spid="85"/>
                                        </p:tgtEl>
                                      </p:cBhvr>
                                    </p:animEffect>
                                  </p:childTnLst>
                                </p:cTn>
                              </p:par>
                              <p:par>
                                <p:cTn id="169" nodeType="withEffect" fill="hold" presetClass="entr" presetID="22" presetSubtype="4">
                                  <p:stCondLst>
                                    <p:cond delay="1800"/>
                                  </p:stCondLst>
                                  <p:childTnLst>
                                    <p:set>
                                      <p:cBhvr>
                                        <p:cTn id="170" dur="1" fill="hold">
                                          <p:stCondLst>
                                            <p:cond delay="0"/>
                                          </p:stCondLst>
                                        </p:cTn>
                                        <p:tgtEl>
                                          <p:spTgt spid="86"/>
                                        </p:tgtEl>
                                        <p:attrNameLst>
                                          <p:attrName>style.visibility</p:attrName>
                                        </p:attrNameLst>
                                      </p:cBhvr>
                                      <p:to>
                                        <p:strVal val="visible"/>
                                      </p:to>
                                    </p:set>
                                    <p:animEffect filter="wipe(down)" transition="in">
                                      <p:cBhvr additive="repl">
                                        <p:cTn id="171" dur="1000"/>
                                        <p:tgtEl>
                                          <p:spTgt spid="86"/>
                                        </p:tgtEl>
                                      </p:cBhvr>
                                    </p:animEffect>
                                  </p:childTnLst>
                                </p:cTn>
                              </p:par>
                              <p:par>
                                <p:cTn id="172" nodeType="withEffect" fill="hold" presetClass="entr" presetID="22" presetSubtype="4">
                                  <p:stCondLst>
                                    <p:cond delay="2300"/>
                                  </p:stCondLst>
                                  <p:childTnLst>
                                    <p:set>
                                      <p:cBhvr>
                                        <p:cTn id="173" dur="1" fill="hold">
                                          <p:stCondLst>
                                            <p:cond delay="0"/>
                                          </p:stCondLst>
                                        </p:cTn>
                                        <p:tgtEl>
                                          <p:spTgt spid="87"/>
                                        </p:tgtEl>
                                        <p:attrNameLst>
                                          <p:attrName>style.visibility</p:attrName>
                                        </p:attrNameLst>
                                      </p:cBhvr>
                                      <p:to>
                                        <p:strVal val="visible"/>
                                      </p:to>
                                    </p:set>
                                    <p:animEffect filter="wipe(down)" transition="in">
                                      <p:cBhvr additive="repl">
                                        <p:cTn id="174" dur="1000"/>
                                        <p:tgtEl>
                                          <p:spTgt spid="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88" name="Picture 1" descr=""/>
          <p:cNvPicPr/>
          <p:nvPr/>
        </p:nvPicPr>
        <p:blipFill>
          <a:blip r:embed="rId1"/>
          <a:stretch/>
        </p:blipFill>
        <p:spPr>
          <a:xfrm>
            <a:off x="539640" y="701640"/>
            <a:ext cx="7781400" cy="5190840"/>
          </a:xfrm>
          <a:prstGeom prst="rect">
            <a:avLst/>
          </a:prstGeom>
          <a:noFill/>
          <a:ln w="0">
            <a:noFill/>
          </a:ln>
        </p:spPr>
      </p:pic>
      <p:pic>
        <p:nvPicPr>
          <p:cNvPr id="89" name="Picture 22" descr=""/>
          <p:cNvPicPr/>
          <p:nvPr/>
        </p:nvPicPr>
        <p:blipFill>
          <a:blip r:embed="rId2"/>
          <a:stretch/>
        </p:blipFill>
        <p:spPr>
          <a:xfrm>
            <a:off x="539640" y="701640"/>
            <a:ext cx="7781400" cy="5190840"/>
          </a:xfrm>
          <a:prstGeom prst="rect">
            <a:avLst/>
          </a:prstGeom>
          <a:noFill/>
          <a:ln w="0">
            <a:noFill/>
          </a:ln>
        </p:spPr>
      </p:pic>
      <p:pic>
        <p:nvPicPr>
          <p:cNvPr id="90" name="Picture 23" descr=""/>
          <p:cNvPicPr/>
          <p:nvPr/>
        </p:nvPicPr>
        <p:blipFill>
          <a:blip r:embed="rId3"/>
          <a:stretch/>
        </p:blipFill>
        <p:spPr>
          <a:xfrm>
            <a:off x="539640" y="701640"/>
            <a:ext cx="7781400" cy="5190840"/>
          </a:xfrm>
          <a:prstGeom prst="rect">
            <a:avLst/>
          </a:prstGeom>
          <a:noFill/>
          <a:ln w="0">
            <a:noFill/>
          </a:ln>
        </p:spPr>
      </p:pic>
      <p:pic>
        <p:nvPicPr>
          <p:cNvPr id="91" name="Picture 24" descr=""/>
          <p:cNvPicPr/>
          <p:nvPr/>
        </p:nvPicPr>
        <p:blipFill>
          <a:blip r:embed="rId4"/>
          <a:stretch/>
        </p:blipFill>
        <p:spPr>
          <a:xfrm>
            <a:off x="539640" y="701640"/>
            <a:ext cx="7781400" cy="5190840"/>
          </a:xfrm>
          <a:prstGeom prst="rect">
            <a:avLst/>
          </a:prstGeom>
          <a:noFill/>
          <a:ln w="0">
            <a:noFill/>
          </a:ln>
        </p:spPr>
      </p:pic>
      <p:pic>
        <p:nvPicPr>
          <p:cNvPr id="92" name="Picture 25" descr=""/>
          <p:cNvPicPr/>
          <p:nvPr/>
        </p:nvPicPr>
        <p:blipFill>
          <a:blip r:embed="rId5"/>
          <a:stretch/>
        </p:blipFill>
        <p:spPr>
          <a:xfrm>
            <a:off x="539640" y="701640"/>
            <a:ext cx="7781400" cy="5190840"/>
          </a:xfrm>
          <a:prstGeom prst="rect">
            <a:avLst/>
          </a:prstGeom>
          <a:noFill/>
          <a:ln w="0">
            <a:noFill/>
          </a:ln>
        </p:spPr>
      </p:pic>
      <p:pic>
        <p:nvPicPr>
          <p:cNvPr id="93" name="Picture 26" descr=""/>
          <p:cNvPicPr/>
          <p:nvPr/>
        </p:nvPicPr>
        <p:blipFill>
          <a:blip r:embed="rId6"/>
          <a:stretch/>
        </p:blipFill>
        <p:spPr>
          <a:xfrm>
            <a:off x="539640" y="701640"/>
            <a:ext cx="7781400" cy="5190840"/>
          </a:xfrm>
          <a:prstGeom prst="rect">
            <a:avLst/>
          </a:prstGeom>
          <a:noFill/>
          <a:ln w="0">
            <a:noFill/>
          </a:ln>
        </p:spPr>
      </p:pic>
      <p:pic>
        <p:nvPicPr>
          <p:cNvPr id="94" name="Picture 27" descr=""/>
          <p:cNvPicPr/>
          <p:nvPr/>
        </p:nvPicPr>
        <p:blipFill>
          <a:blip r:embed="rId7"/>
          <a:stretch/>
        </p:blipFill>
        <p:spPr>
          <a:xfrm>
            <a:off x="539640" y="701640"/>
            <a:ext cx="7781400" cy="5190840"/>
          </a:xfrm>
          <a:prstGeom prst="rect">
            <a:avLst/>
          </a:prstGeom>
          <a:noFill/>
          <a:ln w="0">
            <a:noFill/>
          </a:ln>
        </p:spPr>
      </p:pic>
    </p:spTree>
  </p:cSld>
  <p:transition spd="slow">
    <p:wipe dir="r"/>
  </p:transition>
  <p:timing>
    <p:tnLst>
      <p:par>
        <p:cTn id="175" dur="indefinite" restart="never" nodeType="tmRoot">
          <p:childTnLst>
            <p:seq>
              <p:cTn id="176" dur="indefinite" nodeType="mainSeq">
                <p:childTnLst>
                  <p:par>
                    <p:cTn id="177" nodeType="clickEffect" fill="hold">
                      <p:stCondLst>
                        <p:cond delay="indefinite"/>
                      </p:stCondLst>
                      <p:childTnLst>
                        <p:par>
                          <p:cTn id="178" nodeType="withEffect" fill="hold">
                            <p:stCondLst>
                              <p:cond delay="0"/>
                            </p:stCondLst>
                            <p:childTnLst>
                              <p:par>
                                <p:cTn id="179" nodeType="clickEffect" fill="hold" presetClass="entr" presetID="22" presetSubtype="4">
                                  <p:stCondLst>
                                    <p:cond delay="0"/>
                                  </p:stCondLst>
                                  <p:childTnLst>
                                    <p:set>
                                      <p:cBhvr>
                                        <p:cTn id="180" dur="1" fill="hold">
                                          <p:stCondLst>
                                            <p:cond delay="0"/>
                                          </p:stCondLst>
                                        </p:cTn>
                                        <p:tgtEl>
                                          <p:spTgt spid="89"/>
                                        </p:tgtEl>
                                        <p:attrNameLst>
                                          <p:attrName>style.visibility</p:attrName>
                                        </p:attrNameLst>
                                      </p:cBhvr>
                                      <p:to>
                                        <p:strVal val="visible"/>
                                      </p:to>
                                    </p:set>
                                    <p:animEffect filter="wipe(down)" transition="in">
                                      <p:cBhvr additive="repl">
                                        <p:cTn id="181" dur="1000"/>
                                        <p:tgtEl>
                                          <p:spTgt spid="89"/>
                                        </p:tgtEl>
                                      </p:cBhvr>
                                    </p:animEffect>
                                  </p:childTnLst>
                                </p:cTn>
                              </p:par>
                            </p:childTnLst>
                          </p:cTn>
                        </p:par>
                      </p:childTnLst>
                    </p:cTn>
                  </p:par>
                  <p:par>
                    <p:cTn id="182" nodeType="clickEffect" fill="hold">
                      <p:stCondLst>
                        <p:cond delay="indefinite"/>
                      </p:stCondLst>
                      <p:childTnLst>
                        <p:par>
                          <p:cTn id="183" nodeType="withEffect" fill="hold">
                            <p:stCondLst>
                              <p:cond delay="0"/>
                            </p:stCondLst>
                            <p:childTnLst>
                              <p:par>
                                <p:cTn id="184" nodeType="clickEffect" fill="hold" presetClass="entr" presetID="22" presetSubtype="4">
                                  <p:stCondLst>
                                    <p:cond delay="0"/>
                                  </p:stCondLst>
                                  <p:childTnLst>
                                    <p:set>
                                      <p:cBhvr>
                                        <p:cTn id="185" dur="1" fill="hold">
                                          <p:stCondLst>
                                            <p:cond delay="0"/>
                                          </p:stCondLst>
                                        </p:cTn>
                                        <p:tgtEl>
                                          <p:spTgt spid="90"/>
                                        </p:tgtEl>
                                        <p:attrNameLst>
                                          <p:attrName>style.visibility</p:attrName>
                                        </p:attrNameLst>
                                      </p:cBhvr>
                                      <p:to>
                                        <p:strVal val="visible"/>
                                      </p:to>
                                    </p:set>
                                    <p:animEffect filter="wipe(down)" transition="in">
                                      <p:cBhvr additive="repl">
                                        <p:cTn id="186" dur="1000"/>
                                        <p:tgtEl>
                                          <p:spTgt spid="90"/>
                                        </p:tgtEl>
                                      </p:cBhvr>
                                    </p:animEffect>
                                  </p:childTnLst>
                                </p:cTn>
                              </p:par>
                            </p:childTnLst>
                          </p:cTn>
                        </p:par>
                      </p:childTnLst>
                    </p:cTn>
                  </p:par>
                  <p:par>
                    <p:cTn id="187" nodeType="clickEffect" fill="hold">
                      <p:stCondLst>
                        <p:cond delay="indefinite"/>
                      </p:stCondLst>
                      <p:childTnLst>
                        <p:par>
                          <p:cTn id="188" nodeType="withEffect" fill="hold">
                            <p:stCondLst>
                              <p:cond delay="0"/>
                            </p:stCondLst>
                            <p:childTnLst>
                              <p:par>
                                <p:cTn id="189" nodeType="clickEffect" fill="hold" presetClass="entr" presetID="22" presetSubtype="4">
                                  <p:stCondLst>
                                    <p:cond delay="0"/>
                                  </p:stCondLst>
                                  <p:childTnLst>
                                    <p:set>
                                      <p:cBhvr>
                                        <p:cTn id="190" dur="1" fill="hold">
                                          <p:stCondLst>
                                            <p:cond delay="0"/>
                                          </p:stCondLst>
                                        </p:cTn>
                                        <p:tgtEl>
                                          <p:spTgt spid="91"/>
                                        </p:tgtEl>
                                        <p:attrNameLst>
                                          <p:attrName>style.visibility</p:attrName>
                                        </p:attrNameLst>
                                      </p:cBhvr>
                                      <p:to>
                                        <p:strVal val="visible"/>
                                      </p:to>
                                    </p:set>
                                    <p:animEffect filter="wipe(down)" transition="in">
                                      <p:cBhvr additive="repl">
                                        <p:cTn id="191" dur="1000"/>
                                        <p:tgtEl>
                                          <p:spTgt spid="91"/>
                                        </p:tgtEl>
                                      </p:cBhvr>
                                    </p:animEffect>
                                  </p:childTnLst>
                                </p:cTn>
                              </p:par>
                            </p:childTnLst>
                          </p:cTn>
                        </p:par>
                      </p:childTnLst>
                    </p:cTn>
                  </p:par>
                  <p:par>
                    <p:cTn id="192" nodeType="clickEffect" fill="hold">
                      <p:stCondLst>
                        <p:cond delay="indefinite"/>
                      </p:stCondLst>
                      <p:childTnLst>
                        <p:par>
                          <p:cTn id="193" nodeType="withEffect" fill="hold">
                            <p:stCondLst>
                              <p:cond delay="0"/>
                            </p:stCondLst>
                            <p:childTnLst>
                              <p:par>
                                <p:cTn id="194" nodeType="clickEffect" fill="hold" presetClass="entr" presetID="22" presetSubtype="4">
                                  <p:stCondLst>
                                    <p:cond delay="0"/>
                                  </p:stCondLst>
                                  <p:childTnLst>
                                    <p:set>
                                      <p:cBhvr>
                                        <p:cTn id="195" dur="1" fill="hold">
                                          <p:stCondLst>
                                            <p:cond delay="0"/>
                                          </p:stCondLst>
                                        </p:cTn>
                                        <p:tgtEl>
                                          <p:spTgt spid="92"/>
                                        </p:tgtEl>
                                        <p:attrNameLst>
                                          <p:attrName>style.visibility</p:attrName>
                                        </p:attrNameLst>
                                      </p:cBhvr>
                                      <p:to>
                                        <p:strVal val="visible"/>
                                      </p:to>
                                    </p:set>
                                    <p:animEffect filter="wipe(down)" transition="in">
                                      <p:cBhvr additive="repl">
                                        <p:cTn id="196" dur="1000"/>
                                        <p:tgtEl>
                                          <p:spTgt spid="92"/>
                                        </p:tgtEl>
                                      </p:cBhvr>
                                    </p:animEffect>
                                  </p:childTnLst>
                                </p:cTn>
                              </p:par>
                            </p:childTnLst>
                          </p:cTn>
                        </p:par>
                      </p:childTnLst>
                    </p:cTn>
                  </p:par>
                  <p:par>
                    <p:cTn id="197" nodeType="clickEffect" fill="hold">
                      <p:stCondLst>
                        <p:cond delay="indefinite"/>
                      </p:stCondLst>
                      <p:childTnLst>
                        <p:par>
                          <p:cTn id="198" nodeType="withEffect" fill="hold">
                            <p:stCondLst>
                              <p:cond delay="0"/>
                            </p:stCondLst>
                            <p:childTnLst>
                              <p:par>
                                <p:cTn id="199" nodeType="clickEffect" fill="hold" presetClass="entr" presetID="22" presetSubtype="4">
                                  <p:stCondLst>
                                    <p:cond delay="0"/>
                                  </p:stCondLst>
                                  <p:childTnLst>
                                    <p:set>
                                      <p:cBhvr>
                                        <p:cTn id="200" dur="1" fill="hold">
                                          <p:stCondLst>
                                            <p:cond delay="0"/>
                                          </p:stCondLst>
                                        </p:cTn>
                                        <p:tgtEl>
                                          <p:spTgt spid="93"/>
                                        </p:tgtEl>
                                        <p:attrNameLst>
                                          <p:attrName>style.visibility</p:attrName>
                                        </p:attrNameLst>
                                      </p:cBhvr>
                                      <p:to>
                                        <p:strVal val="visible"/>
                                      </p:to>
                                    </p:set>
                                    <p:animEffect filter="wipe(down)" transition="in">
                                      <p:cBhvr additive="repl">
                                        <p:cTn id="201" dur="1000"/>
                                        <p:tgtEl>
                                          <p:spTgt spid="93"/>
                                        </p:tgtEl>
                                      </p:cBhvr>
                                    </p:animEffect>
                                  </p:childTnLst>
                                </p:cTn>
                              </p:par>
                            </p:childTnLst>
                          </p:cTn>
                        </p:par>
                      </p:childTnLst>
                    </p:cTn>
                  </p:par>
                  <p:par>
                    <p:cTn id="202" nodeType="clickEffect" fill="hold">
                      <p:stCondLst>
                        <p:cond delay="indefinite"/>
                      </p:stCondLst>
                      <p:childTnLst>
                        <p:par>
                          <p:cTn id="203" nodeType="withEffect" fill="hold">
                            <p:stCondLst>
                              <p:cond delay="0"/>
                            </p:stCondLst>
                            <p:childTnLst>
                              <p:par>
                                <p:cTn id="204" nodeType="clickEffect" fill="hold" presetClass="entr" presetID="22" presetSubtype="8">
                                  <p:stCondLst>
                                    <p:cond delay="0"/>
                                  </p:stCondLst>
                                  <p:childTnLst>
                                    <p:set>
                                      <p:cBhvr>
                                        <p:cTn id="205" dur="1" fill="hold">
                                          <p:stCondLst>
                                            <p:cond delay="0"/>
                                          </p:stCondLst>
                                        </p:cTn>
                                        <p:tgtEl>
                                          <p:spTgt spid="94"/>
                                        </p:tgtEl>
                                        <p:attrNameLst>
                                          <p:attrName>style.visibility</p:attrName>
                                        </p:attrNameLst>
                                      </p:cBhvr>
                                      <p:to>
                                        <p:strVal val="visible"/>
                                      </p:to>
                                    </p:set>
                                    <p:animEffect filter="wipe(left)" transition="in">
                                      <p:cBhvr additive="repl">
                                        <p:cTn id="206" dur="1000"/>
                                        <p:tgtEl>
                                          <p:spTgt spid="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19.1  DEMAND FOR A FACTOR OF PRODUCTION</a:t>
            </a:r>
            <a:endParaRPr b="0" lang="en-CA" sz="2600" strike="noStrike" u="none">
              <a:solidFill>
                <a:schemeClr val="dk1"/>
              </a:solidFill>
              <a:effectLst/>
              <a:uFillTx/>
              <a:latin typeface="Arial"/>
            </a:endParaRPr>
          </a:p>
        </p:txBody>
      </p:sp>
      <p:sp>
        <p:nvSpPr>
          <p:cNvPr id="96" name="PlaceHolder 2"/>
          <p:cNvSpPr>
            <a:spLocks noGrp="1"/>
          </p:cNvSpPr>
          <p:nvPr>
            <p:ph/>
          </p:nvPr>
        </p:nvSpPr>
        <p:spPr>
          <a:xfrm>
            <a:off x="360360" y="1440000"/>
            <a:ext cx="2611080" cy="464796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The orange line is the firm’s value of the marginal product of labor curve.</a:t>
            </a:r>
            <a:endParaRPr b="1" lang="en-CA" sz="2400" strike="noStrike" u="none">
              <a:solidFill>
                <a:srgbClr val="00468f"/>
              </a:solidFill>
              <a:effectLst/>
              <a:uFillTx/>
              <a:latin typeface="Arial"/>
            </a:endParaRPr>
          </a:p>
        </p:txBody>
      </p:sp>
      <p:pic>
        <p:nvPicPr>
          <p:cNvPr id="97" name="Picture 1" descr=""/>
          <p:cNvPicPr/>
          <p:nvPr/>
        </p:nvPicPr>
        <p:blipFill>
          <a:blip r:embed="rId1"/>
          <a:stretch/>
        </p:blipFill>
        <p:spPr>
          <a:xfrm>
            <a:off x="3214800" y="1476360"/>
            <a:ext cx="5446440" cy="3633480"/>
          </a:xfrm>
          <a:prstGeom prst="rect">
            <a:avLst/>
          </a:prstGeom>
          <a:noFill/>
          <a:ln w="0">
            <a:noFill/>
          </a:ln>
        </p:spPr>
      </p:pic>
      <p:pic>
        <p:nvPicPr>
          <p:cNvPr id="98" name="Picture 11" descr=""/>
          <p:cNvPicPr/>
          <p:nvPr/>
        </p:nvPicPr>
        <p:blipFill>
          <a:blip r:embed="rId2"/>
          <a:stretch/>
        </p:blipFill>
        <p:spPr>
          <a:xfrm>
            <a:off x="3214800" y="1476360"/>
            <a:ext cx="5446440" cy="3633480"/>
          </a:xfrm>
          <a:prstGeom prst="rect">
            <a:avLst/>
          </a:prstGeom>
          <a:noFill/>
          <a:ln w="0">
            <a:noFill/>
          </a:ln>
        </p:spPr>
      </p:pic>
      <p:pic>
        <p:nvPicPr>
          <p:cNvPr id="99" name="Picture 12" descr=""/>
          <p:cNvPicPr/>
          <p:nvPr/>
        </p:nvPicPr>
        <p:blipFill>
          <a:blip r:embed="rId3"/>
          <a:stretch/>
        </p:blipFill>
        <p:spPr>
          <a:xfrm>
            <a:off x="3214800" y="1476360"/>
            <a:ext cx="5446440" cy="3633480"/>
          </a:xfrm>
          <a:prstGeom prst="rect">
            <a:avLst/>
          </a:prstGeom>
          <a:noFill/>
          <a:ln w="0">
            <a:noFill/>
          </a:ln>
        </p:spPr>
      </p:pic>
      <p:pic>
        <p:nvPicPr>
          <p:cNvPr id="100" name="Picture 13" descr=""/>
          <p:cNvPicPr/>
          <p:nvPr/>
        </p:nvPicPr>
        <p:blipFill>
          <a:blip r:embed="rId4"/>
          <a:stretch/>
        </p:blipFill>
        <p:spPr>
          <a:xfrm>
            <a:off x="3214800" y="1476360"/>
            <a:ext cx="5446440" cy="3633480"/>
          </a:xfrm>
          <a:prstGeom prst="rect">
            <a:avLst/>
          </a:prstGeom>
          <a:noFill/>
          <a:ln w="0">
            <a:noFill/>
          </a:ln>
        </p:spPr>
      </p:pic>
      <p:pic>
        <p:nvPicPr>
          <p:cNvPr id="101" name="Picture 14" descr=""/>
          <p:cNvPicPr/>
          <p:nvPr/>
        </p:nvPicPr>
        <p:blipFill>
          <a:blip r:embed="rId5"/>
          <a:stretch/>
        </p:blipFill>
        <p:spPr>
          <a:xfrm>
            <a:off x="3214800" y="1476360"/>
            <a:ext cx="5446440" cy="3633480"/>
          </a:xfrm>
          <a:prstGeom prst="rect">
            <a:avLst/>
          </a:prstGeom>
          <a:noFill/>
          <a:ln w="0">
            <a:noFill/>
          </a:ln>
        </p:spPr>
      </p:pic>
      <p:pic>
        <p:nvPicPr>
          <p:cNvPr id="102" name="Picture 15" descr=""/>
          <p:cNvPicPr/>
          <p:nvPr/>
        </p:nvPicPr>
        <p:blipFill>
          <a:blip r:embed="rId6"/>
          <a:stretch/>
        </p:blipFill>
        <p:spPr>
          <a:xfrm>
            <a:off x="3214800" y="1476360"/>
            <a:ext cx="5446440" cy="3633480"/>
          </a:xfrm>
          <a:prstGeom prst="rect">
            <a:avLst/>
          </a:prstGeom>
          <a:noFill/>
          <a:ln w="0">
            <a:noFill/>
          </a:ln>
        </p:spPr>
      </p:pic>
      <p:pic>
        <p:nvPicPr>
          <p:cNvPr id="103" name="Picture 16" descr=""/>
          <p:cNvPicPr/>
          <p:nvPr/>
        </p:nvPicPr>
        <p:blipFill>
          <a:blip r:embed="rId7"/>
          <a:stretch/>
        </p:blipFill>
        <p:spPr>
          <a:xfrm>
            <a:off x="3214800" y="1476360"/>
            <a:ext cx="5446440" cy="3633480"/>
          </a:xfrm>
          <a:prstGeom prst="rect">
            <a:avLst/>
          </a:prstGeom>
          <a:noFill/>
          <a:ln w="0">
            <a:noFill/>
          </a:ln>
        </p:spPr>
      </p:pic>
    </p:spTree>
  </p:cSld>
  <p:transition spd="slow">
    <p:wipe dir="r"/>
  </p:transition>
  <p:timing>
    <p:tnLst>
      <p:par>
        <p:cTn id="207" dur="indefinite" restart="never" nodeType="tmRoot">
          <p:childTnLst>
            <p:seq>
              <p:cTn id="208" dur="indefinite" nodeType="mainSeq">
                <p:childTnLst>
                  <p:par>
                    <p:cTn id="209" nodeType="clickEffect" fill="hold">
                      <p:stCondLst>
                        <p:cond delay="0"/>
                      </p:stCondLst>
                      <p:childTnLst>
                        <p:par>
                          <p:cTn id="210" nodeType="withEffect" fill="hold">
                            <p:stCondLst>
                              <p:cond delay="0"/>
                            </p:stCondLst>
                            <p:childTnLst>
                              <p:par>
                                <p:cTn id="211" nodeType="withEffect" fill="hold" presetClass="entr" presetID="22" presetSubtype="8">
                                  <p:stCondLst>
                                    <p:cond delay="0"/>
                                  </p:stCondLst>
                                  <p:childTnLst>
                                    <p:set>
                                      <p:cBhvr>
                                        <p:cTn id="212" dur="1" fill="hold">
                                          <p:stCondLst>
                                            <p:cond delay="0"/>
                                          </p:stCondLst>
                                        </p:cTn>
                                        <p:tgtEl>
                                          <p:spTgt spid="103"/>
                                        </p:tgtEl>
                                        <p:attrNameLst>
                                          <p:attrName>style.visibility</p:attrName>
                                        </p:attrNameLst>
                                      </p:cBhvr>
                                      <p:to>
                                        <p:strVal val="visible"/>
                                      </p:to>
                                    </p:set>
                                    <p:animEffect filter="wipe(left)" transition="in">
                                      <p:cBhvr additive="repl">
                                        <p:cTn id="213" dur="1000"/>
                                        <p:tgtEl>
                                          <p:spTgt spid="1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19.1  DEMAND FOR A FACTOR OF PRODUCTION</a:t>
            </a:r>
            <a:endParaRPr b="0" lang="en-CA" sz="2600" strike="noStrike" u="none">
              <a:solidFill>
                <a:schemeClr val="dk1"/>
              </a:solidFill>
              <a:effectLst/>
              <a:uFillTx/>
              <a:latin typeface="Arial"/>
            </a:endParaRPr>
          </a:p>
        </p:txBody>
      </p:sp>
      <p:sp>
        <p:nvSpPr>
          <p:cNvPr id="105"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43080" indent="-343080">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ＭＳ Ｐゴシック"/>
              </a:rPr>
              <a:t>A Firm’s Demand for Labor</a:t>
            </a:r>
            <a:endParaRPr b="1" lang="en-CA" sz="28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A firm hires labor up to the point at which the value of marginal product equals the wage rate.</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If the value of marginal product of labor exceeds the wage rate, a firm can increase its profit by employing one more worker.</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If the wage rate exceeds the value of marginal product of labor, a firm can increase its profit by employing one fewer worker.</a:t>
            </a:r>
            <a:endParaRPr b="1" lang="en-CA" sz="2400" strike="noStrike" u="none">
              <a:solidFill>
                <a:srgbClr val="00468f"/>
              </a:solidFill>
              <a:effectLst/>
              <a:uFillTx/>
              <a:latin typeface="Arial"/>
            </a:endParaRPr>
          </a:p>
        </p:txBody>
      </p:sp>
    </p:spTree>
  </p:cSld>
  <p:transition spd="slow">
    <p:wipe dir="r"/>
  </p:transition>
  <p:timing>
    <p:tnLst>
      <p:par>
        <p:cTn id="214" dur="indefinite" restart="never" nodeType="tmRoot">
          <p:childTnLst>
            <p:seq>
              <p:cTn id="215" dur="indefinite" nodeType="mainSeq">
                <p:childTnLst>
                  <p:par>
                    <p:cTn id="216" nodeType="clickEffect" fill="hold">
                      <p:stCondLst>
                        <p:cond delay="indefinite"/>
                      </p:stCondLst>
                      <p:childTnLst>
                        <p:par>
                          <p:cTn id="217" nodeType="withEffect" fill="hold">
                            <p:stCondLst>
                              <p:cond delay="0"/>
                            </p:stCondLst>
                            <p:childTnLst>
                              <p:par>
                                <p:cTn id="218" nodeType="clickEffect" fill="hold" presetClass="entr" presetID="22" presetSubtype="8">
                                  <p:stCondLst>
                                    <p:cond delay="0"/>
                                  </p:stCondLst>
                                  <p:childTnLst>
                                    <p:set>
                                      <p:cBhvr>
                                        <p:cTn id="219" dur="1" fill="hold">
                                          <p:stCondLst>
                                            <p:cond delay="0"/>
                                          </p:stCondLst>
                                        </p:cTn>
                                        <p:tgtEl>
                                          <p:spTgt spid="105">
                                            <p:txEl>
                                              <p:pRg st="1" end="1"/>
                                            </p:txEl>
                                          </p:spTgt>
                                        </p:tgtEl>
                                        <p:attrNameLst>
                                          <p:attrName>style.visibility</p:attrName>
                                        </p:attrNameLst>
                                      </p:cBhvr>
                                      <p:to>
                                        <p:strVal val="visible"/>
                                      </p:to>
                                    </p:set>
                                    <p:animEffect filter="wipe(left)" transition="in">
                                      <p:cBhvr additive="repl">
                                        <p:cTn id="220" dur="500"/>
                                        <p:tgtEl>
                                          <p:spTgt spid="105">
                                            <p:txEl>
                                              <p:pRg st="1" end="1"/>
                                            </p:txEl>
                                          </p:spTgt>
                                        </p:tgtEl>
                                      </p:cBhvr>
                                    </p:animEffect>
                                  </p:childTnLst>
                                </p:cTn>
                              </p:par>
                            </p:childTnLst>
                          </p:cTn>
                        </p:par>
                      </p:childTnLst>
                    </p:cTn>
                  </p:par>
                  <p:par>
                    <p:cTn id="221" nodeType="clickEffect" fill="hold">
                      <p:stCondLst>
                        <p:cond delay="indefinite"/>
                      </p:stCondLst>
                      <p:childTnLst>
                        <p:par>
                          <p:cTn id="222" nodeType="withEffect" fill="hold">
                            <p:stCondLst>
                              <p:cond delay="0"/>
                            </p:stCondLst>
                            <p:childTnLst>
                              <p:par>
                                <p:cTn id="223" nodeType="clickEffect" fill="hold" presetClass="entr" presetID="22" presetSubtype="8">
                                  <p:stCondLst>
                                    <p:cond delay="0"/>
                                  </p:stCondLst>
                                  <p:childTnLst>
                                    <p:set>
                                      <p:cBhvr>
                                        <p:cTn id="224" dur="1" fill="hold">
                                          <p:stCondLst>
                                            <p:cond delay="0"/>
                                          </p:stCondLst>
                                        </p:cTn>
                                        <p:tgtEl>
                                          <p:spTgt spid="105">
                                            <p:txEl>
                                              <p:pRg st="2" end="2"/>
                                            </p:txEl>
                                          </p:spTgt>
                                        </p:tgtEl>
                                        <p:attrNameLst>
                                          <p:attrName>style.visibility</p:attrName>
                                        </p:attrNameLst>
                                      </p:cBhvr>
                                      <p:to>
                                        <p:strVal val="visible"/>
                                      </p:to>
                                    </p:set>
                                    <p:animEffect filter="wipe(left)" transition="in">
                                      <p:cBhvr additive="repl">
                                        <p:cTn id="225" dur="500"/>
                                        <p:tgtEl>
                                          <p:spTgt spid="105">
                                            <p:txEl>
                                              <p:pRg st="2" end="2"/>
                                            </p:txEl>
                                          </p:spTgt>
                                        </p:tgtEl>
                                      </p:cBhvr>
                                    </p:animEffect>
                                  </p:childTnLst>
                                </p:cTn>
                              </p:par>
                            </p:childTnLst>
                          </p:cTn>
                        </p:par>
                      </p:childTnLst>
                    </p:cTn>
                  </p:par>
                  <p:par>
                    <p:cTn id="226" nodeType="clickEffect" fill="hold">
                      <p:stCondLst>
                        <p:cond delay="indefinite"/>
                      </p:stCondLst>
                      <p:childTnLst>
                        <p:par>
                          <p:cTn id="227" nodeType="withEffect" fill="hold">
                            <p:stCondLst>
                              <p:cond delay="0"/>
                            </p:stCondLst>
                            <p:childTnLst>
                              <p:par>
                                <p:cTn id="228" nodeType="clickEffect" fill="hold" presetClass="entr" presetID="22" presetSubtype="8">
                                  <p:stCondLst>
                                    <p:cond delay="0"/>
                                  </p:stCondLst>
                                  <p:childTnLst>
                                    <p:set>
                                      <p:cBhvr>
                                        <p:cTn id="229" dur="1" fill="hold">
                                          <p:stCondLst>
                                            <p:cond delay="0"/>
                                          </p:stCondLst>
                                        </p:cTn>
                                        <p:tgtEl>
                                          <p:spTgt spid="105">
                                            <p:txEl>
                                              <p:pRg st="3" end="3"/>
                                            </p:txEl>
                                          </p:spTgt>
                                        </p:tgtEl>
                                        <p:attrNameLst>
                                          <p:attrName>style.visibility</p:attrName>
                                        </p:attrNameLst>
                                      </p:cBhvr>
                                      <p:to>
                                        <p:strVal val="visible"/>
                                      </p:to>
                                    </p:set>
                                    <p:animEffect filter="wipe(left)" transition="in">
                                      <p:cBhvr additive="repl">
                                        <p:cTn id="230" dur="500"/>
                                        <p:tgtEl>
                                          <p:spTgt spid="105">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19.1  DEMAND FOR A FACTOR OF PRODUCTION</a:t>
            </a:r>
            <a:endParaRPr b="0" lang="en-CA" sz="2600" strike="noStrike" u="none">
              <a:solidFill>
                <a:schemeClr val="dk1"/>
              </a:solidFill>
              <a:effectLst/>
              <a:uFillTx/>
              <a:latin typeface="Arial"/>
            </a:endParaRPr>
          </a:p>
        </p:txBody>
      </p:sp>
      <p:sp>
        <p:nvSpPr>
          <p:cNvPr id="107"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42000" indent="-342000">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MS Mincho"/>
              </a:rPr>
              <a:t>A Firm’s Demand for Labor Curve</a:t>
            </a:r>
            <a:endParaRPr b="1" lang="en-CA" sz="28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chemeClr val="dk1"/>
                </a:solidFill>
                <a:effectLst/>
                <a:uFillTx/>
                <a:latin typeface="Arial"/>
                <a:ea typeface="MS Mincho"/>
              </a:rPr>
              <a:t>A firm’s demand for labor curve is also its value of marginal  product curve.</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chemeClr val="dk1"/>
                </a:solidFill>
                <a:effectLst/>
                <a:uFillTx/>
                <a:latin typeface="Arial"/>
                <a:ea typeface="MS Mincho"/>
              </a:rPr>
              <a:t>If the wage rate falls, a firm hires more workers.</a:t>
            </a:r>
            <a:endParaRPr b="1" lang="en-CA" sz="2400" strike="noStrike" u="none">
              <a:solidFill>
                <a:srgbClr val="00468f"/>
              </a:solidFill>
              <a:effectLst/>
              <a:uFillTx/>
              <a:latin typeface="Arial"/>
            </a:endParaRPr>
          </a:p>
        </p:txBody>
      </p:sp>
    </p:spTree>
  </p:cSld>
  <p:transition spd="slow">
    <p:wipe dir="r"/>
  </p:transition>
  <p:timing>
    <p:tnLst>
      <p:par>
        <p:cTn id="231" dur="indefinite" restart="never" nodeType="tmRoot">
          <p:childTnLst>
            <p:seq>
              <p:cTn id="232" dur="indefinite" nodeType="mainSeq">
                <p:childTnLst>
                  <p:par>
                    <p:cTn id="233" nodeType="clickEffect" fill="hold">
                      <p:stCondLst>
                        <p:cond delay="indefinite"/>
                      </p:stCondLst>
                      <p:childTnLst>
                        <p:par>
                          <p:cTn id="234" nodeType="withEffect" fill="hold">
                            <p:stCondLst>
                              <p:cond delay="0"/>
                            </p:stCondLst>
                            <p:childTnLst>
                              <p:par>
                                <p:cTn id="235" nodeType="clickEffect" fill="hold" presetClass="entr" presetID="22" presetSubtype="8">
                                  <p:stCondLst>
                                    <p:cond delay="0"/>
                                  </p:stCondLst>
                                  <p:childTnLst>
                                    <p:set>
                                      <p:cBhvr>
                                        <p:cTn id="236" dur="1" fill="hold">
                                          <p:stCondLst>
                                            <p:cond delay="0"/>
                                          </p:stCondLst>
                                        </p:cTn>
                                        <p:tgtEl>
                                          <p:spTgt spid="107">
                                            <p:txEl>
                                              <p:pRg st="1" end="1"/>
                                            </p:txEl>
                                          </p:spTgt>
                                        </p:tgtEl>
                                        <p:attrNameLst>
                                          <p:attrName>style.visibility</p:attrName>
                                        </p:attrNameLst>
                                      </p:cBhvr>
                                      <p:to>
                                        <p:strVal val="visible"/>
                                      </p:to>
                                    </p:set>
                                    <p:animEffect filter="wipe(left)" transition="in">
                                      <p:cBhvr additive="repl">
                                        <p:cTn id="237" dur="500"/>
                                        <p:tgtEl>
                                          <p:spTgt spid="107">
                                            <p:txEl>
                                              <p:pRg st="1" end="1"/>
                                            </p:txEl>
                                          </p:spTgt>
                                        </p:tgtEl>
                                      </p:cBhvr>
                                    </p:animEffect>
                                  </p:childTnLst>
                                </p:cTn>
                              </p:par>
                            </p:childTnLst>
                          </p:cTn>
                        </p:par>
                      </p:childTnLst>
                    </p:cTn>
                  </p:par>
                  <p:par>
                    <p:cTn id="238" nodeType="clickEffect" fill="hold">
                      <p:stCondLst>
                        <p:cond delay="indefinite"/>
                      </p:stCondLst>
                      <p:childTnLst>
                        <p:par>
                          <p:cTn id="239" nodeType="withEffect" fill="hold">
                            <p:stCondLst>
                              <p:cond delay="0"/>
                            </p:stCondLst>
                            <p:childTnLst>
                              <p:par>
                                <p:cTn id="240" nodeType="clickEffect" fill="hold" presetClass="entr" presetID="22" presetSubtype="8">
                                  <p:stCondLst>
                                    <p:cond delay="0"/>
                                  </p:stCondLst>
                                  <p:childTnLst>
                                    <p:set>
                                      <p:cBhvr>
                                        <p:cTn id="241" dur="1" fill="hold">
                                          <p:stCondLst>
                                            <p:cond delay="0"/>
                                          </p:stCondLst>
                                        </p:cTn>
                                        <p:tgtEl>
                                          <p:spTgt spid="107">
                                            <p:txEl>
                                              <p:pRg st="2" end="2"/>
                                            </p:txEl>
                                          </p:spTgt>
                                        </p:tgtEl>
                                        <p:attrNameLst>
                                          <p:attrName>style.visibility</p:attrName>
                                        </p:attrNameLst>
                                      </p:cBhvr>
                                      <p:to>
                                        <p:strVal val="visible"/>
                                      </p:to>
                                    </p:set>
                                    <p:animEffect filter="wipe(left)" transition="in">
                                      <p:cBhvr additive="repl">
                                        <p:cTn id="242" dur="500"/>
                                        <p:tgtEl>
                                          <p:spTgt spid="107">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19.1  DEMAND FOR A FACTOR OF PRODUCTION</a:t>
            </a:r>
            <a:endParaRPr b="0" lang="en-CA" sz="2600" strike="noStrike" u="none">
              <a:solidFill>
                <a:schemeClr val="dk1"/>
              </a:solidFill>
              <a:effectLst/>
              <a:uFillTx/>
              <a:latin typeface="Arial"/>
            </a:endParaRPr>
          </a:p>
        </p:txBody>
      </p:sp>
      <p:sp>
        <p:nvSpPr>
          <p:cNvPr id="109" name="PlaceHolder 2"/>
          <p:cNvSpPr>
            <a:spLocks noGrp="1"/>
          </p:cNvSpPr>
          <p:nvPr>
            <p:ph/>
          </p:nvPr>
        </p:nvSpPr>
        <p:spPr>
          <a:xfrm>
            <a:off x="360360" y="1440000"/>
            <a:ext cx="3982680" cy="464796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Figure 19.2  shows the demand for labor at Max’s Wash ’n’ Wax.</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At a wage rate of $15 an hour, Max makes a profit on the first 3 workers but would incur a loss on the fourth worker.</a:t>
            </a:r>
            <a:endParaRPr b="1" lang="en-CA" sz="2400" strike="noStrike" u="none">
              <a:solidFill>
                <a:srgbClr val="00468f"/>
              </a:solidFill>
              <a:effectLst/>
              <a:uFillTx/>
              <a:latin typeface="Arial"/>
            </a:endParaRPr>
          </a:p>
        </p:txBody>
      </p:sp>
      <p:pic>
        <p:nvPicPr>
          <p:cNvPr id="110" name="Picture 1" descr=""/>
          <p:cNvPicPr/>
          <p:nvPr/>
        </p:nvPicPr>
        <p:blipFill>
          <a:blip r:embed="rId1"/>
          <a:stretch/>
        </p:blipFill>
        <p:spPr>
          <a:xfrm>
            <a:off x="4321080" y="1476360"/>
            <a:ext cx="4206600" cy="4860720"/>
          </a:xfrm>
          <a:prstGeom prst="rect">
            <a:avLst/>
          </a:prstGeom>
          <a:noFill/>
          <a:ln w="0">
            <a:noFill/>
          </a:ln>
        </p:spPr>
      </p:pic>
      <p:pic>
        <p:nvPicPr>
          <p:cNvPr id="111" name="Picture 8" descr=""/>
          <p:cNvPicPr/>
          <p:nvPr/>
        </p:nvPicPr>
        <p:blipFill>
          <a:blip r:embed="rId2"/>
          <a:stretch/>
        </p:blipFill>
        <p:spPr>
          <a:xfrm>
            <a:off x="4321080" y="1476360"/>
            <a:ext cx="4206600" cy="4860720"/>
          </a:xfrm>
          <a:prstGeom prst="rect">
            <a:avLst/>
          </a:prstGeom>
          <a:noFill/>
          <a:ln w="0">
            <a:noFill/>
          </a:ln>
        </p:spPr>
      </p:pic>
      <p:pic>
        <p:nvPicPr>
          <p:cNvPr id="112" name="Picture 9" descr=""/>
          <p:cNvPicPr/>
          <p:nvPr/>
        </p:nvPicPr>
        <p:blipFill>
          <a:blip r:embed="rId3"/>
          <a:stretch/>
        </p:blipFill>
        <p:spPr>
          <a:xfrm>
            <a:off x="4321080" y="1476360"/>
            <a:ext cx="4206600" cy="4860720"/>
          </a:xfrm>
          <a:prstGeom prst="rect">
            <a:avLst/>
          </a:prstGeom>
          <a:noFill/>
          <a:ln w="0">
            <a:noFill/>
          </a:ln>
        </p:spPr>
      </p:pic>
    </p:spTree>
  </p:cSld>
  <p:transition spd="slow">
    <p:wipe dir="r"/>
  </p:transition>
  <p:timing>
    <p:tnLst>
      <p:par>
        <p:cTn id="243" dur="indefinite" restart="never" nodeType="tmRoot">
          <p:childTnLst>
            <p:seq>
              <p:cTn id="244" dur="indefinite" nodeType="mainSeq">
                <p:childTnLst>
                  <p:par>
                    <p:cTn id="245" nodeType="clickEffect" fill="hold">
                      <p:stCondLst>
                        <p:cond delay="indefinite"/>
                      </p:stCondLst>
                      <p:childTnLst>
                        <p:par>
                          <p:cTn id="246" nodeType="withEffect" fill="hold">
                            <p:stCondLst>
                              <p:cond delay="0"/>
                            </p:stCondLst>
                            <p:childTnLst>
                              <p:par>
                                <p:cTn id="247" nodeType="clickEffect" fill="hold" presetClass="entr" presetID="22" presetSubtype="8">
                                  <p:stCondLst>
                                    <p:cond delay="0"/>
                                  </p:stCondLst>
                                  <p:childTnLst>
                                    <p:set>
                                      <p:cBhvr>
                                        <p:cTn id="248" dur="1" fill="hold">
                                          <p:stCondLst>
                                            <p:cond delay="0"/>
                                          </p:stCondLst>
                                        </p:cTn>
                                        <p:tgtEl>
                                          <p:spTgt spid="109">
                                            <p:txEl>
                                              <p:pRg st="1" end="1"/>
                                            </p:txEl>
                                          </p:spTgt>
                                        </p:tgtEl>
                                        <p:attrNameLst>
                                          <p:attrName>style.visibility</p:attrName>
                                        </p:attrNameLst>
                                      </p:cBhvr>
                                      <p:to>
                                        <p:strVal val="visible"/>
                                      </p:to>
                                    </p:set>
                                    <p:animEffect filter="wipe(left)" transition="in">
                                      <p:cBhvr additive="repl">
                                        <p:cTn id="249" dur="500"/>
                                        <p:tgtEl>
                                          <p:spTgt spid="109">
                                            <p:txEl>
                                              <p:pRg st="1" end="1"/>
                                            </p:txEl>
                                          </p:spTgt>
                                        </p:tgtEl>
                                      </p:cBhvr>
                                    </p:animEffect>
                                  </p:childTnLst>
                                </p:cTn>
                              </p:par>
                              <p:par>
                                <p:cTn id="250" nodeType="withEffect" fill="hold" presetClass="entr" presetID="22" presetSubtype="8">
                                  <p:stCondLst>
                                    <p:cond delay="0"/>
                                  </p:stCondLst>
                                  <p:childTnLst>
                                    <p:set>
                                      <p:cBhvr>
                                        <p:cTn id="251" dur="1" fill="hold">
                                          <p:stCondLst>
                                            <p:cond delay="0"/>
                                          </p:stCondLst>
                                        </p:cTn>
                                        <p:tgtEl>
                                          <p:spTgt spid="111"/>
                                        </p:tgtEl>
                                        <p:attrNameLst>
                                          <p:attrName>style.visibility</p:attrName>
                                        </p:attrNameLst>
                                      </p:cBhvr>
                                      <p:to>
                                        <p:strVal val="visible"/>
                                      </p:to>
                                    </p:set>
                                    <p:animEffect filter="wipe(left)" transition="in">
                                      <p:cBhvr additive="repl">
                                        <p:cTn id="252" dur="1500"/>
                                        <p:tgtEl>
                                          <p:spTgt spid="111"/>
                                        </p:tgtEl>
                                      </p:cBhvr>
                                    </p:animEffect>
                                  </p:childTnLst>
                                </p:cTn>
                              </p:par>
                              <p:par>
                                <p:cTn id="253" nodeType="withEffect" fill="hold" presetClass="entr" presetID="10">
                                  <p:stCondLst>
                                    <p:cond delay="1000"/>
                                  </p:stCondLst>
                                  <p:childTnLst>
                                    <p:set>
                                      <p:cBhvr>
                                        <p:cTn id="254" dur="1" fill="hold">
                                          <p:stCondLst>
                                            <p:cond delay="0"/>
                                          </p:stCondLst>
                                        </p:cTn>
                                        <p:tgtEl>
                                          <p:spTgt spid="112"/>
                                        </p:tgtEl>
                                        <p:attrNameLst>
                                          <p:attrName>style.visibility</p:attrName>
                                        </p:attrNameLst>
                                      </p:cBhvr>
                                      <p:to>
                                        <p:strVal val="visible"/>
                                      </p:to>
                                    </p:set>
                                    <p:animEffect filter="fade" transition="in">
                                      <p:cBhvr additive="repl">
                                        <p:cTn id="255" dur="500"/>
                                        <p:tgtEl>
                                          <p:spTgt spid="1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113" name="Picture 1" descr=""/>
          <p:cNvPicPr/>
          <p:nvPr/>
        </p:nvPicPr>
        <p:blipFill>
          <a:blip r:embed="rId1"/>
          <a:stretch/>
        </p:blipFill>
        <p:spPr>
          <a:xfrm>
            <a:off x="1652760" y="125280"/>
            <a:ext cx="5409720" cy="6249600"/>
          </a:xfrm>
          <a:prstGeom prst="rect">
            <a:avLst/>
          </a:prstGeom>
          <a:noFill/>
          <a:ln w="0">
            <a:noFill/>
          </a:ln>
        </p:spPr>
      </p:pic>
      <p:pic>
        <p:nvPicPr>
          <p:cNvPr id="114" name="Picture 10" descr=""/>
          <p:cNvPicPr/>
          <p:nvPr/>
        </p:nvPicPr>
        <p:blipFill>
          <a:blip r:embed="rId2"/>
          <a:stretch/>
        </p:blipFill>
        <p:spPr>
          <a:xfrm>
            <a:off x="1652760" y="125280"/>
            <a:ext cx="5409720" cy="6249600"/>
          </a:xfrm>
          <a:prstGeom prst="rect">
            <a:avLst/>
          </a:prstGeom>
          <a:noFill/>
          <a:ln w="0">
            <a:noFill/>
          </a:ln>
        </p:spPr>
      </p:pic>
      <p:pic>
        <p:nvPicPr>
          <p:cNvPr id="115" name="Picture 11" descr=""/>
          <p:cNvPicPr/>
          <p:nvPr/>
        </p:nvPicPr>
        <p:blipFill>
          <a:blip r:embed="rId3"/>
          <a:stretch/>
        </p:blipFill>
        <p:spPr>
          <a:xfrm>
            <a:off x="1652760" y="125280"/>
            <a:ext cx="5409720" cy="6249600"/>
          </a:xfrm>
          <a:prstGeom prst="rect">
            <a:avLst/>
          </a:prstGeom>
          <a:noFill/>
          <a:ln w="0">
            <a:noFill/>
          </a:ln>
        </p:spPr>
      </p:pic>
      <p:pic>
        <p:nvPicPr>
          <p:cNvPr id="116" name="Picture 12" descr=""/>
          <p:cNvPicPr/>
          <p:nvPr/>
        </p:nvPicPr>
        <p:blipFill>
          <a:blip r:embed="rId4"/>
          <a:stretch/>
        </p:blipFill>
        <p:spPr>
          <a:xfrm>
            <a:off x="1652760" y="125280"/>
            <a:ext cx="5409720" cy="6249600"/>
          </a:xfrm>
          <a:prstGeom prst="rect">
            <a:avLst/>
          </a:prstGeom>
          <a:noFill/>
          <a:ln w="0">
            <a:noFill/>
          </a:ln>
        </p:spPr>
      </p:pic>
      <p:pic>
        <p:nvPicPr>
          <p:cNvPr id="117" name="Picture 13" descr=""/>
          <p:cNvPicPr/>
          <p:nvPr/>
        </p:nvPicPr>
        <p:blipFill>
          <a:blip r:embed="rId5"/>
          <a:stretch/>
        </p:blipFill>
        <p:spPr>
          <a:xfrm>
            <a:off x="1652760" y="125280"/>
            <a:ext cx="5409720" cy="6249600"/>
          </a:xfrm>
          <a:prstGeom prst="rect">
            <a:avLst/>
          </a:prstGeom>
          <a:noFill/>
          <a:ln w="0">
            <a:noFill/>
          </a:ln>
        </p:spPr>
      </p:pic>
    </p:spTree>
  </p:cSld>
  <p:transition spd="slow">
    <p:wipe dir="r"/>
  </p:transition>
  <p:timing>
    <p:tnLst>
      <p:par>
        <p:cTn id="256" dur="indefinite" restart="never" nodeType="tmRoot">
          <p:childTnLst>
            <p:seq>
              <p:cTn id="257" dur="indefinite" nodeType="mainSeq">
                <p:childTnLst>
                  <p:par>
                    <p:cTn id="258" nodeType="clickEffect" fill="hold">
                      <p:stCondLst>
                        <p:cond delay="indefinite"/>
                      </p:stCondLst>
                      <p:childTnLst>
                        <p:par>
                          <p:cTn id="259" nodeType="withEffect" fill="hold">
                            <p:stCondLst>
                              <p:cond delay="0"/>
                            </p:stCondLst>
                            <p:childTnLst>
                              <p:par>
                                <p:cTn id="260" nodeType="clickEffect" fill="hold" presetClass="entr" presetID="22" presetSubtype="8">
                                  <p:stCondLst>
                                    <p:cond delay="0"/>
                                  </p:stCondLst>
                                  <p:childTnLst>
                                    <p:set>
                                      <p:cBhvr>
                                        <p:cTn id="261" dur="1" fill="hold">
                                          <p:stCondLst>
                                            <p:cond delay="0"/>
                                          </p:stCondLst>
                                        </p:cTn>
                                        <p:tgtEl>
                                          <p:spTgt spid="114"/>
                                        </p:tgtEl>
                                        <p:attrNameLst>
                                          <p:attrName>style.visibility</p:attrName>
                                        </p:attrNameLst>
                                      </p:cBhvr>
                                      <p:to>
                                        <p:strVal val="visible"/>
                                      </p:to>
                                    </p:set>
                                    <p:animEffect filter="wipe(left)" transition="in">
                                      <p:cBhvr additive="repl">
                                        <p:cTn id="262" dur="1500"/>
                                        <p:tgtEl>
                                          <p:spTgt spid="114"/>
                                        </p:tgtEl>
                                      </p:cBhvr>
                                    </p:animEffect>
                                  </p:childTnLst>
                                </p:cTn>
                              </p:par>
                            </p:childTnLst>
                          </p:cTn>
                        </p:par>
                      </p:childTnLst>
                    </p:cTn>
                  </p:par>
                  <p:par>
                    <p:cTn id="263" nodeType="clickEffect" fill="hold">
                      <p:stCondLst>
                        <p:cond delay="indefinite"/>
                      </p:stCondLst>
                      <p:childTnLst>
                        <p:par>
                          <p:cTn id="264" nodeType="withEffect" fill="hold">
                            <p:stCondLst>
                              <p:cond delay="0"/>
                            </p:stCondLst>
                            <p:childTnLst>
                              <p:par>
                                <p:cTn id="265" nodeType="clickEffect" fill="hold" presetClass="entr" presetID="10">
                                  <p:stCondLst>
                                    <p:cond delay="0"/>
                                  </p:stCondLst>
                                  <p:childTnLst>
                                    <p:set>
                                      <p:cBhvr>
                                        <p:cTn id="266" dur="1" fill="hold">
                                          <p:stCondLst>
                                            <p:cond delay="0"/>
                                          </p:stCondLst>
                                        </p:cTn>
                                        <p:tgtEl>
                                          <p:spTgt spid="115"/>
                                        </p:tgtEl>
                                        <p:attrNameLst>
                                          <p:attrName>style.visibility</p:attrName>
                                        </p:attrNameLst>
                                      </p:cBhvr>
                                      <p:to>
                                        <p:strVal val="visible"/>
                                      </p:to>
                                    </p:set>
                                    <p:animEffect filter="fade" transition="in">
                                      <p:cBhvr additive="repl">
                                        <p:cTn id="267" dur="500"/>
                                        <p:tgtEl>
                                          <p:spTgt spid="115"/>
                                        </p:tgtEl>
                                      </p:cBhvr>
                                    </p:animEffect>
                                  </p:childTnLst>
                                </p:cTn>
                              </p:par>
                            </p:childTnLst>
                          </p:cTn>
                        </p:par>
                      </p:childTnLst>
                    </p:cTn>
                  </p:par>
                  <p:par>
                    <p:cTn id="268" nodeType="clickEffect" fill="hold">
                      <p:stCondLst>
                        <p:cond delay="indefinite"/>
                      </p:stCondLst>
                      <p:childTnLst>
                        <p:par>
                          <p:cTn id="269" nodeType="withEffect" fill="hold">
                            <p:stCondLst>
                              <p:cond delay="0"/>
                            </p:stCondLst>
                            <p:childTnLst>
                              <p:par>
                                <p:cTn id="270" nodeType="clickEffect" fill="hold" presetClass="entr" presetID="10">
                                  <p:stCondLst>
                                    <p:cond delay="0"/>
                                  </p:stCondLst>
                                  <p:childTnLst>
                                    <p:set>
                                      <p:cBhvr>
                                        <p:cTn id="271" dur="1" fill="hold">
                                          <p:stCondLst>
                                            <p:cond delay="0"/>
                                          </p:stCondLst>
                                        </p:cTn>
                                        <p:tgtEl>
                                          <p:spTgt spid="116"/>
                                        </p:tgtEl>
                                        <p:attrNameLst>
                                          <p:attrName>style.visibility</p:attrName>
                                        </p:attrNameLst>
                                      </p:cBhvr>
                                      <p:to>
                                        <p:strVal val="visible"/>
                                      </p:to>
                                    </p:set>
                                    <p:animEffect filter="fade" transition="in">
                                      <p:cBhvr additive="repl">
                                        <p:cTn id="272" dur="500"/>
                                        <p:tgtEl>
                                          <p:spTgt spid="116"/>
                                        </p:tgtEl>
                                      </p:cBhvr>
                                    </p:animEffect>
                                  </p:childTnLst>
                                </p:cTn>
                              </p:par>
                            </p:childTnLst>
                          </p:cTn>
                        </p:par>
                      </p:childTnLst>
                    </p:cTn>
                  </p:par>
                  <p:par>
                    <p:cTn id="273" nodeType="clickEffect" fill="hold">
                      <p:stCondLst>
                        <p:cond delay="indefinite"/>
                      </p:stCondLst>
                      <p:childTnLst>
                        <p:par>
                          <p:cTn id="274" nodeType="withEffect" fill="hold">
                            <p:stCondLst>
                              <p:cond delay="0"/>
                            </p:stCondLst>
                            <p:childTnLst>
                              <p:par>
                                <p:cTn id="275" nodeType="clickEffect" fill="hold" presetClass="entr" presetID="10">
                                  <p:stCondLst>
                                    <p:cond delay="0"/>
                                  </p:stCondLst>
                                  <p:childTnLst>
                                    <p:set>
                                      <p:cBhvr>
                                        <p:cTn id="276" dur="1" fill="hold">
                                          <p:stCondLst>
                                            <p:cond delay="0"/>
                                          </p:stCondLst>
                                        </p:cTn>
                                        <p:tgtEl>
                                          <p:spTgt spid="117"/>
                                        </p:tgtEl>
                                        <p:attrNameLst>
                                          <p:attrName>style.visibility</p:attrName>
                                        </p:attrNameLst>
                                      </p:cBhvr>
                                      <p:to>
                                        <p:strVal val="visible"/>
                                      </p:to>
                                    </p:set>
                                    <p:animEffect filter="fade" transition="in">
                                      <p:cBhvr additive="repl">
                                        <p:cTn id="277" dur="500"/>
                                        <p:tgtEl>
                                          <p:spTgt spid="1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19.1  DEMAND FOR A FACTOR OF PRODUCTION</a:t>
            </a:r>
            <a:endParaRPr b="0" lang="en-CA" sz="2600" strike="noStrike" u="none">
              <a:solidFill>
                <a:schemeClr val="dk1"/>
              </a:solidFill>
              <a:effectLst/>
              <a:uFillTx/>
              <a:latin typeface="Arial"/>
            </a:endParaRPr>
          </a:p>
        </p:txBody>
      </p:sp>
      <p:sp>
        <p:nvSpPr>
          <p:cNvPr id="119" name="PlaceHolder 2"/>
          <p:cNvSpPr>
            <a:spLocks noGrp="1"/>
          </p:cNvSpPr>
          <p:nvPr>
            <p:ph/>
          </p:nvPr>
        </p:nvSpPr>
        <p:spPr>
          <a:xfrm>
            <a:off x="360360" y="1440000"/>
            <a:ext cx="4114440" cy="464796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Max’s demand for labor curve is the same as the value of marginal product curve. </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At a wage rate of $15 an hour, Max makes a profit on the first 3 workers but would incur a loss on the fourth worker.</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So Max’s quantity of labor demanded is 3 workers.</a:t>
            </a:r>
            <a:endParaRPr b="1" lang="en-CA" sz="2400" strike="noStrike" u="none">
              <a:solidFill>
                <a:srgbClr val="00468f"/>
              </a:solidFill>
              <a:effectLst/>
              <a:uFillTx/>
              <a:latin typeface="Arial"/>
            </a:endParaRPr>
          </a:p>
        </p:txBody>
      </p:sp>
      <p:pic>
        <p:nvPicPr>
          <p:cNvPr id="120" name="Picture 1" descr=""/>
          <p:cNvPicPr/>
          <p:nvPr/>
        </p:nvPicPr>
        <p:blipFill>
          <a:blip r:embed="rId1"/>
          <a:stretch/>
        </p:blipFill>
        <p:spPr>
          <a:xfrm>
            <a:off x="4321080" y="1476360"/>
            <a:ext cx="4206600" cy="4860720"/>
          </a:xfrm>
          <a:prstGeom prst="rect">
            <a:avLst/>
          </a:prstGeom>
          <a:noFill/>
          <a:ln w="0">
            <a:noFill/>
          </a:ln>
        </p:spPr>
      </p:pic>
      <p:pic>
        <p:nvPicPr>
          <p:cNvPr id="121" name="Picture 12" descr=""/>
          <p:cNvPicPr/>
          <p:nvPr/>
        </p:nvPicPr>
        <p:blipFill>
          <a:blip r:embed="rId2"/>
          <a:stretch/>
        </p:blipFill>
        <p:spPr>
          <a:xfrm>
            <a:off x="4321080" y="1476360"/>
            <a:ext cx="4206600" cy="4860720"/>
          </a:xfrm>
          <a:prstGeom prst="rect">
            <a:avLst/>
          </a:prstGeom>
          <a:noFill/>
          <a:ln w="0">
            <a:noFill/>
          </a:ln>
        </p:spPr>
      </p:pic>
      <p:pic>
        <p:nvPicPr>
          <p:cNvPr id="122" name="Picture 13" descr=""/>
          <p:cNvPicPr/>
          <p:nvPr/>
        </p:nvPicPr>
        <p:blipFill>
          <a:blip r:embed="rId3"/>
          <a:stretch/>
        </p:blipFill>
        <p:spPr>
          <a:xfrm>
            <a:off x="4321080" y="1476360"/>
            <a:ext cx="4206600" cy="4860720"/>
          </a:xfrm>
          <a:prstGeom prst="rect">
            <a:avLst/>
          </a:prstGeom>
          <a:noFill/>
          <a:ln w="0">
            <a:noFill/>
          </a:ln>
        </p:spPr>
      </p:pic>
      <p:pic>
        <p:nvPicPr>
          <p:cNvPr id="123" name="Picture 14" descr=""/>
          <p:cNvPicPr/>
          <p:nvPr/>
        </p:nvPicPr>
        <p:blipFill>
          <a:blip r:embed="rId4"/>
          <a:stretch/>
        </p:blipFill>
        <p:spPr>
          <a:xfrm>
            <a:off x="4321080" y="1476360"/>
            <a:ext cx="4206600" cy="4860720"/>
          </a:xfrm>
          <a:prstGeom prst="rect">
            <a:avLst/>
          </a:prstGeom>
          <a:noFill/>
          <a:ln w="0">
            <a:noFill/>
          </a:ln>
        </p:spPr>
      </p:pic>
      <p:pic>
        <p:nvPicPr>
          <p:cNvPr id="124" name="Picture 16" descr=""/>
          <p:cNvPicPr/>
          <p:nvPr/>
        </p:nvPicPr>
        <p:blipFill>
          <a:blip r:embed="rId5"/>
          <a:stretch/>
        </p:blipFill>
        <p:spPr>
          <a:xfrm>
            <a:off x="4321080" y="1476360"/>
            <a:ext cx="4206600" cy="4860720"/>
          </a:xfrm>
          <a:prstGeom prst="rect">
            <a:avLst/>
          </a:prstGeom>
          <a:noFill/>
          <a:ln w="0">
            <a:noFill/>
          </a:ln>
        </p:spPr>
      </p:pic>
    </p:spTree>
  </p:cSld>
  <p:transition spd="slow">
    <p:wipe dir="r"/>
  </p:transition>
  <p:timing>
    <p:tnLst>
      <p:par>
        <p:cTn id="278" dur="indefinite" restart="never" nodeType="tmRoot">
          <p:childTnLst>
            <p:seq>
              <p:cTn id="279" dur="indefinite" nodeType="mainSeq">
                <p:childTnLst>
                  <p:par>
                    <p:cTn id="280" nodeType="clickEffect" fill="hold">
                      <p:stCondLst>
                        <p:cond delay="0"/>
                      </p:stCondLst>
                      <p:childTnLst>
                        <p:par>
                          <p:cTn id="281" nodeType="withEffect" fill="hold">
                            <p:stCondLst>
                              <p:cond delay="0"/>
                            </p:stCondLst>
                            <p:childTnLst>
                              <p:par>
                                <p:cTn id="282" nodeType="withEffect" fill="hold" presetClass="entr" presetID="10">
                                  <p:stCondLst>
                                    <p:cond delay="0"/>
                                  </p:stCondLst>
                                  <p:childTnLst>
                                    <p:set>
                                      <p:cBhvr>
                                        <p:cTn id="283" dur="1" fill="hold">
                                          <p:stCondLst>
                                            <p:cond delay="0"/>
                                          </p:stCondLst>
                                        </p:cTn>
                                        <p:tgtEl>
                                          <p:spTgt spid="123"/>
                                        </p:tgtEl>
                                        <p:attrNameLst>
                                          <p:attrName>style.visibility</p:attrName>
                                        </p:attrNameLst>
                                      </p:cBhvr>
                                      <p:to>
                                        <p:strVal val="visible"/>
                                      </p:to>
                                    </p:set>
                                    <p:animEffect filter="fade" transition="in">
                                      <p:cBhvr additive="repl">
                                        <p:cTn id="284" dur="500"/>
                                        <p:tgtEl>
                                          <p:spTgt spid="123"/>
                                        </p:tgtEl>
                                      </p:cBhvr>
                                    </p:animEffect>
                                  </p:childTnLst>
                                </p:cTn>
                              </p:par>
                            </p:childTnLst>
                          </p:cTn>
                        </p:par>
                      </p:childTnLst>
                    </p:cTn>
                  </p:par>
                  <p:par>
                    <p:cTn id="285" nodeType="clickEffect" fill="hold">
                      <p:stCondLst>
                        <p:cond delay="indefinite"/>
                      </p:stCondLst>
                      <p:childTnLst>
                        <p:par>
                          <p:cTn id="286" nodeType="withEffect" fill="hold">
                            <p:stCondLst>
                              <p:cond delay="0"/>
                            </p:stCondLst>
                            <p:childTnLst>
                              <p:par>
                                <p:cTn id="287" nodeType="clickEffect" fill="hold" presetClass="entr" presetID="22" presetSubtype="8">
                                  <p:stCondLst>
                                    <p:cond delay="0"/>
                                  </p:stCondLst>
                                  <p:childTnLst>
                                    <p:set>
                                      <p:cBhvr>
                                        <p:cTn id="288" dur="1" fill="hold">
                                          <p:stCondLst>
                                            <p:cond delay="0"/>
                                          </p:stCondLst>
                                        </p:cTn>
                                        <p:tgtEl>
                                          <p:spTgt spid="119">
                                            <p:txEl>
                                              <p:pRg st="1" end="1"/>
                                            </p:txEl>
                                          </p:spTgt>
                                        </p:tgtEl>
                                        <p:attrNameLst>
                                          <p:attrName>style.visibility</p:attrName>
                                        </p:attrNameLst>
                                      </p:cBhvr>
                                      <p:to>
                                        <p:strVal val="visible"/>
                                      </p:to>
                                    </p:set>
                                    <p:animEffect filter="wipe(left)" transition="in">
                                      <p:cBhvr additive="repl">
                                        <p:cTn id="289" dur="500"/>
                                        <p:tgtEl>
                                          <p:spTgt spid="119">
                                            <p:txEl>
                                              <p:pRg st="1" end="1"/>
                                            </p:txEl>
                                          </p:spTgt>
                                        </p:tgtEl>
                                      </p:cBhvr>
                                    </p:animEffect>
                                  </p:childTnLst>
                                </p:cTn>
                              </p:par>
                            </p:childTnLst>
                          </p:cTn>
                        </p:par>
                      </p:childTnLst>
                    </p:cTn>
                  </p:par>
                  <p:par>
                    <p:cTn id="290" nodeType="clickEffect" fill="hold">
                      <p:stCondLst>
                        <p:cond delay="indefinite"/>
                      </p:stCondLst>
                      <p:childTnLst>
                        <p:par>
                          <p:cTn id="291" nodeType="withEffect" fill="hold">
                            <p:stCondLst>
                              <p:cond delay="0"/>
                            </p:stCondLst>
                            <p:childTnLst>
                              <p:par>
                                <p:cTn id="292" nodeType="clickEffect" fill="hold" presetClass="entr" presetID="22" presetSubtype="8">
                                  <p:stCondLst>
                                    <p:cond delay="0"/>
                                  </p:stCondLst>
                                  <p:childTnLst>
                                    <p:set>
                                      <p:cBhvr>
                                        <p:cTn id="293" dur="1" fill="hold">
                                          <p:stCondLst>
                                            <p:cond delay="0"/>
                                          </p:stCondLst>
                                        </p:cTn>
                                        <p:tgtEl>
                                          <p:spTgt spid="119">
                                            <p:txEl>
                                              <p:pRg st="2" end="2"/>
                                            </p:txEl>
                                          </p:spTgt>
                                        </p:tgtEl>
                                        <p:attrNameLst>
                                          <p:attrName>style.visibility</p:attrName>
                                        </p:attrNameLst>
                                      </p:cBhvr>
                                      <p:to>
                                        <p:strVal val="visible"/>
                                      </p:to>
                                    </p:set>
                                    <p:animEffect filter="wipe(left)" transition="in">
                                      <p:cBhvr additive="repl">
                                        <p:cTn id="294" dur="500"/>
                                        <p:tgtEl>
                                          <p:spTgt spid="119">
                                            <p:txEl>
                                              <p:pRg st="2" end="2"/>
                                            </p:txEl>
                                          </p:spTgt>
                                        </p:tgtEl>
                                      </p:cBhvr>
                                    </p:animEffect>
                                  </p:childTnLst>
                                </p:cTn>
                              </p:par>
                              <p:par>
                                <p:cTn id="295" nodeType="withEffect" fill="hold" presetClass="entr" presetID="10">
                                  <p:stCondLst>
                                    <p:cond delay="0"/>
                                  </p:stCondLst>
                                  <p:childTnLst>
                                    <p:set>
                                      <p:cBhvr>
                                        <p:cTn id="296" dur="1" fill="hold">
                                          <p:stCondLst>
                                            <p:cond delay="0"/>
                                          </p:stCondLst>
                                        </p:cTn>
                                        <p:tgtEl>
                                          <p:spTgt spid="124"/>
                                        </p:tgtEl>
                                        <p:attrNameLst>
                                          <p:attrName>style.visibility</p:attrName>
                                        </p:attrNameLst>
                                      </p:cBhvr>
                                      <p:to>
                                        <p:strVal val="visible"/>
                                      </p:to>
                                    </p:set>
                                    <p:animEffect filter="fade" transition="in">
                                      <p:cBhvr additive="repl">
                                        <p:cTn id="297" dur="500"/>
                                        <p:tgtEl>
                                          <p:spTgt spid="1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19.1  DEMAND FOR A FACTOR OF PRODUCTION</a:t>
            </a:r>
            <a:endParaRPr b="0" lang="en-CA" sz="2600" strike="noStrike" u="none">
              <a:solidFill>
                <a:schemeClr val="dk1"/>
              </a:solidFill>
              <a:effectLst/>
              <a:uFillTx/>
              <a:latin typeface="Arial"/>
            </a:endParaRPr>
          </a:p>
        </p:txBody>
      </p:sp>
      <p:sp>
        <p:nvSpPr>
          <p:cNvPr id="126" name="PlaceHolder 2"/>
          <p:cNvSpPr>
            <a:spLocks noGrp="1"/>
          </p:cNvSpPr>
          <p:nvPr>
            <p:ph/>
          </p:nvPr>
        </p:nvSpPr>
        <p:spPr>
          <a:xfrm>
            <a:off x="360360" y="1440000"/>
            <a:ext cx="3960360" cy="464796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The demand for labor curve slopes downward because the value of the marginal product of labor diminishes as more labor is employed.</a:t>
            </a:r>
            <a:endParaRPr b="1" lang="en-CA" sz="2400" strike="noStrike" u="none">
              <a:solidFill>
                <a:srgbClr val="00468f"/>
              </a:solidFill>
              <a:effectLst/>
              <a:uFillTx/>
              <a:latin typeface="Arial"/>
            </a:endParaRPr>
          </a:p>
        </p:txBody>
      </p:sp>
      <p:pic>
        <p:nvPicPr>
          <p:cNvPr id="127" name="Picture 1" descr=""/>
          <p:cNvPicPr/>
          <p:nvPr/>
        </p:nvPicPr>
        <p:blipFill>
          <a:blip r:embed="rId1"/>
          <a:stretch/>
        </p:blipFill>
        <p:spPr>
          <a:xfrm>
            <a:off x="4321080" y="1476360"/>
            <a:ext cx="4206600" cy="4860720"/>
          </a:xfrm>
          <a:prstGeom prst="rect">
            <a:avLst/>
          </a:prstGeom>
          <a:noFill/>
          <a:ln w="0">
            <a:noFill/>
          </a:ln>
        </p:spPr>
      </p:pic>
      <p:pic>
        <p:nvPicPr>
          <p:cNvPr id="128" name="Picture 10" descr=""/>
          <p:cNvPicPr/>
          <p:nvPr/>
        </p:nvPicPr>
        <p:blipFill>
          <a:blip r:embed="rId2"/>
          <a:stretch/>
        </p:blipFill>
        <p:spPr>
          <a:xfrm>
            <a:off x="4321080" y="1476360"/>
            <a:ext cx="4206600" cy="4860720"/>
          </a:xfrm>
          <a:prstGeom prst="rect">
            <a:avLst/>
          </a:prstGeom>
          <a:noFill/>
          <a:ln w="0">
            <a:noFill/>
          </a:ln>
        </p:spPr>
      </p:pic>
      <p:pic>
        <p:nvPicPr>
          <p:cNvPr id="129" name="Picture 11" descr=""/>
          <p:cNvPicPr/>
          <p:nvPr/>
        </p:nvPicPr>
        <p:blipFill>
          <a:blip r:embed="rId3"/>
          <a:stretch/>
        </p:blipFill>
        <p:spPr>
          <a:xfrm>
            <a:off x="4321080" y="1476360"/>
            <a:ext cx="4206600" cy="4860720"/>
          </a:xfrm>
          <a:prstGeom prst="rect">
            <a:avLst/>
          </a:prstGeom>
          <a:noFill/>
          <a:ln w="0">
            <a:noFill/>
          </a:ln>
        </p:spPr>
      </p:pic>
      <p:pic>
        <p:nvPicPr>
          <p:cNvPr id="130" name="Picture 12" descr=""/>
          <p:cNvPicPr/>
          <p:nvPr/>
        </p:nvPicPr>
        <p:blipFill>
          <a:blip r:embed="rId4"/>
          <a:stretch/>
        </p:blipFill>
        <p:spPr>
          <a:xfrm>
            <a:off x="4321080" y="1476360"/>
            <a:ext cx="4206600" cy="4860720"/>
          </a:xfrm>
          <a:prstGeom prst="rect">
            <a:avLst/>
          </a:prstGeom>
          <a:noFill/>
          <a:ln w="0">
            <a:noFill/>
          </a:ln>
        </p:spPr>
      </p:pic>
      <p:pic>
        <p:nvPicPr>
          <p:cNvPr id="131" name="Picture 13" descr=""/>
          <p:cNvPicPr/>
          <p:nvPr/>
        </p:nvPicPr>
        <p:blipFill>
          <a:blip r:embed="rId5"/>
          <a:stretch/>
        </p:blipFill>
        <p:spPr>
          <a:xfrm>
            <a:off x="4321080" y="1476360"/>
            <a:ext cx="4206600" cy="4860720"/>
          </a:xfrm>
          <a:prstGeom prst="rect">
            <a:avLst/>
          </a:prstGeom>
          <a:noFill/>
          <a:ln w="0">
            <a:noFill/>
          </a:ln>
        </p:spPr>
      </p:pic>
    </p:spTree>
  </p:cSld>
  <p:transition spd="slow">
    <p:wipe dir="r"/>
  </p:transition>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19.1  DEMAND FOR A FACTOR OF PRODUCTION</a:t>
            </a:r>
            <a:endParaRPr b="0" lang="en-CA" sz="2600" strike="noStrike" u="none">
              <a:solidFill>
                <a:schemeClr val="dk1"/>
              </a:solidFill>
              <a:effectLst/>
              <a:uFillTx/>
              <a:latin typeface="Arial"/>
            </a:endParaRPr>
          </a:p>
        </p:txBody>
      </p:sp>
      <p:sp>
        <p:nvSpPr>
          <p:cNvPr id="133"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42000" indent="-342000">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MS Mincho"/>
              </a:rPr>
              <a:t>Changes in the Demand for Labor</a:t>
            </a:r>
            <a:r>
              <a:rPr b="0" lang="en-US" sz="2800" strike="noStrike" u="none">
                <a:solidFill>
                  <a:srgbClr val="00468f"/>
                </a:solidFill>
                <a:effectLst/>
                <a:uFillTx/>
                <a:latin typeface="Arial"/>
                <a:ea typeface="MS Mincho"/>
              </a:rPr>
              <a:t> </a:t>
            </a:r>
            <a:endParaRPr b="1" lang="en-CA" sz="28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chemeClr val="dk1"/>
                </a:solidFill>
                <a:effectLst/>
                <a:uFillTx/>
                <a:latin typeface="Arial"/>
                <a:ea typeface="MS Mincho"/>
              </a:rPr>
              <a:t>The demand for labor depends on</a:t>
            </a:r>
            <a:endParaRPr b="1" lang="en-CA" sz="2400" strike="noStrike" u="none">
              <a:solidFill>
                <a:srgbClr val="00468f"/>
              </a:solidFill>
              <a:effectLst/>
              <a:uFillTx/>
              <a:latin typeface="Arial"/>
            </a:endParaRPr>
          </a:p>
          <a:p>
            <a:pPr lvl="2" marL="703080" indent="-343080">
              <a:lnSpc>
                <a:spcPct val="100000"/>
              </a:lnSpc>
              <a:spcBef>
                <a:spcPts val="601"/>
              </a:spcBef>
              <a:spcAft>
                <a:spcPts val="601"/>
              </a:spcAft>
              <a:buClr>
                <a:srgbClr val="00468f"/>
              </a:buClr>
              <a:buFont typeface="Arial"/>
              <a:buChar char="•"/>
            </a:pPr>
            <a:r>
              <a:rPr b="0" lang="en-US" sz="2400" strike="noStrike" u="none">
                <a:solidFill>
                  <a:schemeClr val="dk1"/>
                </a:solidFill>
                <a:effectLst/>
                <a:uFillTx/>
                <a:latin typeface="Arial"/>
                <a:ea typeface="MS Mincho"/>
              </a:rPr>
              <a:t>The price of the firm’s output</a:t>
            </a:r>
            <a:endParaRPr b="0" lang="en-CA" sz="2400" strike="noStrike" u="none">
              <a:solidFill>
                <a:schemeClr val="dk1"/>
              </a:solidFill>
              <a:effectLst/>
              <a:uFillTx/>
              <a:latin typeface="Arial"/>
            </a:endParaRPr>
          </a:p>
          <a:p>
            <a:pPr lvl="2" marL="703080" indent="-343080">
              <a:lnSpc>
                <a:spcPct val="100000"/>
              </a:lnSpc>
              <a:spcBef>
                <a:spcPts val="601"/>
              </a:spcBef>
              <a:spcAft>
                <a:spcPts val="601"/>
              </a:spcAft>
              <a:buClr>
                <a:srgbClr val="00468f"/>
              </a:buClr>
              <a:buFont typeface="Arial"/>
              <a:buChar char="•"/>
            </a:pPr>
            <a:r>
              <a:rPr b="0" lang="en-US" sz="2400" strike="noStrike" u="none">
                <a:solidFill>
                  <a:schemeClr val="dk1"/>
                </a:solidFill>
                <a:effectLst/>
                <a:uFillTx/>
                <a:latin typeface="Arial"/>
                <a:ea typeface="MS Mincho"/>
              </a:rPr>
              <a:t>The prices of other factors of production</a:t>
            </a:r>
            <a:endParaRPr b="0" lang="en-CA" sz="2400" strike="noStrike" u="none">
              <a:solidFill>
                <a:schemeClr val="dk1"/>
              </a:solidFill>
              <a:effectLst/>
              <a:uFillTx/>
              <a:latin typeface="Arial"/>
            </a:endParaRPr>
          </a:p>
          <a:p>
            <a:pPr lvl="2" marL="703080" indent="-343080">
              <a:lnSpc>
                <a:spcPct val="100000"/>
              </a:lnSpc>
              <a:spcBef>
                <a:spcPts val="601"/>
              </a:spcBef>
              <a:spcAft>
                <a:spcPts val="601"/>
              </a:spcAft>
              <a:buClr>
                <a:srgbClr val="00468f"/>
              </a:buClr>
              <a:buFont typeface="Arial"/>
              <a:buChar char="•"/>
            </a:pPr>
            <a:r>
              <a:rPr b="0" lang="en-US" sz="2400" strike="noStrike" u="none">
                <a:solidFill>
                  <a:schemeClr val="dk1"/>
                </a:solidFill>
                <a:effectLst/>
                <a:uFillTx/>
                <a:latin typeface="Arial"/>
                <a:ea typeface="MS Mincho"/>
              </a:rPr>
              <a:t>Technology</a:t>
            </a:r>
            <a:endParaRPr b="0" lang="en-CA" sz="2400" strike="noStrike" u="none">
              <a:solidFill>
                <a:schemeClr val="dk1"/>
              </a:solidFill>
              <a:effectLst/>
              <a:uFillTx/>
              <a:latin typeface="Arial"/>
            </a:endParaRPr>
          </a:p>
        </p:txBody>
      </p:sp>
    </p:spTree>
  </p:cSld>
  <p:transition spd="slow">
    <p:wipe dir="r"/>
  </p:transition>
  <p:timing>
    <p:tnLst>
      <p:par>
        <p:cTn id="298" dur="indefinite" restart="never" nodeType="tmRoot">
          <p:childTnLst>
            <p:seq>
              <p:cTn id="299" dur="indefinite" nodeType="mainSeq">
                <p:childTnLst>
                  <p:par>
                    <p:cTn id="300" nodeType="clickEffect" fill="hold">
                      <p:stCondLst>
                        <p:cond delay="indefinite"/>
                      </p:stCondLst>
                      <p:childTnLst>
                        <p:par>
                          <p:cTn id="301" nodeType="withEffect" fill="hold">
                            <p:stCondLst>
                              <p:cond delay="0"/>
                            </p:stCondLst>
                            <p:childTnLst>
                              <p:par>
                                <p:cTn id="302" nodeType="clickEffect" fill="hold" presetClass="entr" presetID="22" presetSubtype="8">
                                  <p:stCondLst>
                                    <p:cond delay="0"/>
                                  </p:stCondLst>
                                  <p:childTnLst>
                                    <p:set>
                                      <p:cBhvr>
                                        <p:cTn id="303" dur="1" fill="hold">
                                          <p:stCondLst>
                                            <p:cond delay="0"/>
                                          </p:stCondLst>
                                        </p:cTn>
                                        <p:tgtEl>
                                          <p:spTgt spid="133">
                                            <p:txEl>
                                              <p:pRg st="1" end="1"/>
                                            </p:txEl>
                                          </p:spTgt>
                                        </p:tgtEl>
                                        <p:attrNameLst>
                                          <p:attrName>style.visibility</p:attrName>
                                        </p:attrNameLst>
                                      </p:cBhvr>
                                      <p:to>
                                        <p:strVal val="visible"/>
                                      </p:to>
                                    </p:set>
                                    <p:animEffect filter="wipe(left)" transition="in">
                                      <p:cBhvr additive="repl">
                                        <p:cTn id="304" dur="500"/>
                                        <p:tgtEl>
                                          <p:spTgt spid="133">
                                            <p:txEl>
                                              <p:pRg st="1" end="1"/>
                                            </p:txEl>
                                          </p:spTgt>
                                        </p:tgtEl>
                                      </p:cBhvr>
                                    </p:animEffect>
                                  </p:childTnLst>
                                </p:cTn>
                              </p:par>
                            </p:childTnLst>
                          </p:cTn>
                        </p:par>
                      </p:childTnLst>
                    </p:cTn>
                  </p:par>
                  <p:par>
                    <p:cTn id="305" nodeType="clickEffect" fill="hold">
                      <p:stCondLst>
                        <p:cond delay="indefinite"/>
                      </p:stCondLst>
                      <p:childTnLst>
                        <p:par>
                          <p:cTn id="306" nodeType="withEffect" fill="hold">
                            <p:stCondLst>
                              <p:cond delay="0"/>
                            </p:stCondLst>
                            <p:childTnLst>
                              <p:par>
                                <p:cTn id="307" nodeType="clickEffect" fill="hold" presetClass="entr" presetID="22" presetSubtype="8">
                                  <p:stCondLst>
                                    <p:cond delay="0"/>
                                  </p:stCondLst>
                                  <p:childTnLst>
                                    <p:set>
                                      <p:cBhvr>
                                        <p:cTn id="308" dur="1" fill="hold">
                                          <p:stCondLst>
                                            <p:cond delay="0"/>
                                          </p:stCondLst>
                                        </p:cTn>
                                        <p:tgtEl>
                                          <p:spTgt spid="133">
                                            <p:txEl>
                                              <p:pRg st="2" end="2"/>
                                            </p:txEl>
                                          </p:spTgt>
                                        </p:tgtEl>
                                        <p:attrNameLst>
                                          <p:attrName>style.visibility</p:attrName>
                                        </p:attrNameLst>
                                      </p:cBhvr>
                                      <p:to>
                                        <p:strVal val="visible"/>
                                      </p:to>
                                    </p:set>
                                    <p:animEffect filter="wipe(left)" transition="in">
                                      <p:cBhvr additive="repl">
                                        <p:cTn id="309" dur="500"/>
                                        <p:tgtEl>
                                          <p:spTgt spid="133">
                                            <p:txEl>
                                              <p:pRg st="2" end="2"/>
                                            </p:txEl>
                                          </p:spTgt>
                                        </p:tgtEl>
                                      </p:cBhvr>
                                    </p:animEffect>
                                  </p:childTnLst>
                                </p:cTn>
                              </p:par>
                            </p:childTnLst>
                          </p:cTn>
                        </p:par>
                      </p:childTnLst>
                    </p:cTn>
                  </p:par>
                  <p:par>
                    <p:cTn id="310" nodeType="clickEffect" fill="hold">
                      <p:stCondLst>
                        <p:cond delay="indefinite"/>
                      </p:stCondLst>
                      <p:childTnLst>
                        <p:par>
                          <p:cTn id="311" nodeType="withEffect" fill="hold">
                            <p:stCondLst>
                              <p:cond delay="0"/>
                            </p:stCondLst>
                            <p:childTnLst>
                              <p:par>
                                <p:cTn id="312" nodeType="clickEffect" fill="hold" presetClass="entr" presetID="22" presetSubtype="8">
                                  <p:stCondLst>
                                    <p:cond delay="0"/>
                                  </p:stCondLst>
                                  <p:childTnLst>
                                    <p:set>
                                      <p:cBhvr>
                                        <p:cTn id="313" dur="1" fill="hold">
                                          <p:stCondLst>
                                            <p:cond delay="0"/>
                                          </p:stCondLst>
                                        </p:cTn>
                                        <p:tgtEl>
                                          <p:spTgt spid="133">
                                            <p:txEl>
                                              <p:pRg st="3" end="3"/>
                                            </p:txEl>
                                          </p:spTgt>
                                        </p:tgtEl>
                                        <p:attrNameLst>
                                          <p:attrName>style.visibility</p:attrName>
                                        </p:attrNameLst>
                                      </p:cBhvr>
                                      <p:to>
                                        <p:strVal val="visible"/>
                                      </p:to>
                                    </p:set>
                                    <p:animEffect filter="wipe(left)" transition="in">
                                      <p:cBhvr additive="repl">
                                        <p:cTn id="314" dur="500"/>
                                        <p:tgtEl>
                                          <p:spTgt spid="133">
                                            <p:txEl>
                                              <p:pRg st="3" end="3"/>
                                            </p:txEl>
                                          </p:spTgt>
                                        </p:tgtEl>
                                      </p:cBhvr>
                                    </p:animEffect>
                                  </p:childTnLst>
                                </p:cTn>
                              </p:par>
                            </p:childTnLst>
                          </p:cTn>
                        </p:par>
                      </p:childTnLst>
                    </p:cTn>
                  </p:par>
                  <p:par>
                    <p:cTn id="315" nodeType="clickEffect" fill="hold">
                      <p:stCondLst>
                        <p:cond delay="indefinite"/>
                      </p:stCondLst>
                      <p:childTnLst>
                        <p:par>
                          <p:cTn id="316" nodeType="withEffect" fill="hold">
                            <p:stCondLst>
                              <p:cond delay="0"/>
                            </p:stCondLst>
                            <p:childTnLst>
                              <p:par>
                                <p:cTn id="317" nodeType="clickEffect" fill="hold" presetClass="entr" presetID="22" presetSubtype="8">
                                  <p:stCondLst>
                                    <p:cond delay="0"/>
                                  </p:stCondLst>
                                  <p:childTnLst>
                                    <p:set>
                                      <p:cBhvr>
                                        <p:cTn id="318" dur="1" fill="hold">
                                          <p:stCondLst>
                                            <p:cond delay="0"/>
                                          </p:stCondLst>
                                        </p:cTn>
                                        <p:tgtEl>
                                          <p:spTgt spid="133">
                                            <p:txEl>
                                              <p:pRg st="4" end="4"/>
                                            </p:txEl>
                                          </p:spTgt>
                                        </p:tgtEl>
                                        <p:attrNameLst>
                                          <p:attrName>style.visibility</p:attrName>
                                        </p:attrNameLst>
                                      </p:cBhvr>
                                      <p:to>
                                        <p:strVal val="visible"/>
                                      </p:to>
                                    </p:set>
                                    <p:animEffect filter="wipe(left)" transition="in">
                                      <p:cBhvr additive="repl">
                                        <p:cTn id="319" dur="500"/>
                                        <p:tgtEl>
                                          <p:spTgt spid="133">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19.1  DEMAND FOR A FACTOR OF PRODUCTION</a:t>
            </a:r>
            <a:endParaRPr b="0" lang="en-CA" sz="2600" strike="noStrike" u="none">
              <a:solidFill>
                <a:schemeClr val="dk1"/>
              </a:solidFill>
              <a:effectLst/>
              <a:uFillTx/>
              <a:latin typeface="Arial"/>
            </a:endParaRPr>
          </a:p>
        </p:txBody>
      </p:sp>
      <p:sp>
        <p:nvSpPr>
          <p:cNvPr id="135"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pPr>
            <a:r>
              <a:rPr b="1" lang="en-US" sz="2600" strike="noStrike" u="none">
                <a:solidFill>
                  <a:srgbClr val="00468f"/>
                </a:solidFill>
                <a:effectLst/>
                <a:uFillTx/>
                <a:latin typeface="Arial"/>
                <a:ea typeface="MS Mincho"/>
              </a:rPr>
              <a:t>The Price of the Firm’s Output </a:t>
            </a:r>
            <a:endParaRPr b="1" lang="en-CA" sz="26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chemeClr val="dk1"/>
                </a:solidFill>
                <a:effectLst/>
                <a:uFillTx/>
                <a:latin typeface="Arial"/>
                <a:ea typeface="MS Mincho"/>
              </a:rPr>
              <a:t>The higher the price of the good or service produced by the firm, the greater is the firm’s demand for labor.</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pPr>
            <a:r>
              <a:rPr b="1" lang="en-US" sz="2600" strike="noStrike" u="none">
                <a:solidFill>
                  <a:srgbClr val="00468f"/>
                </a:solidFill>
                <a:effectLst/>
                <a:uFillTx/>
                <a:latin typeface="Arial"/>
                <a:ea typeface="MS Mincho"/>
              </a:rPr>
              <a:t>The Prices of Other Factors of Production</a:t>
            </a:r>
            <a:r>
              <a:rPr b="1" lang="en-US" sz="2400" strike="noStrike" u="none">
                <a:solidFill>
                  <a:srgbClr val="00468f"/>
                </a:solidFill>
                <a:effectLst/>
                <a:uFillTx/>
                <a:latin typeface="Arial"/>
                <a:ea typeface="MS Mincho"/>
              </a:rPr>
              <a:t> </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chemeClr val="dk1"/>
                </a:solidFill>
                <a:effectLst/>
                <a:uFillTx/>
                <a:latin typeface="Arial"/>
                <a:ea typeface="MS Mincho"/>
              </a:rPr>
              <a:t>If the price of using capital decreases relative to the wage rate, a firm substitutes capital for labor and increases the quantity of capital it uses.</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chemeClr val="dk1"/>
                </a:solidFill>
                <a:effectLst/>
                <a:uFillTx/>
                <a:latin typeface="Arial"/>
                <a:ea typeface="MS Mincho"/>
              </a:rPr>
              <a:t>Usually, the demand for labor will decrease when the price of using capital falls.</a:t>
            </a:r>
            <a:endParaRPr b="1" lang="en-CA" sz="2400" strike="noStrike" u="none">
              <a:solidFill>
                <a:srgbClr val="00468f"/>
              </a:solidFill>
              <a:effectLst/>
              <a:uFillTx/>
              <a:latin typeface="Arial"/>
            </a:endParaRPr>
          </a:p>
        </p:txBody>
      </p:sp>
    </p:spTree>
  </p:cSld>
  <p:transition spd="slow">
    <p:wipe dir="r"/>
  </p:transition>
  <p:timing>
    <p:tnLst>
      <p:par>
        <p:cTn id="320" dur="indefinite" restart="never" nodeType="tmRoot">
          <p:childTnLst>
            <p:seq>
              <p:cTn id="321" dur="indefinite" nodeType="mainSeq">
                <p:childTnLst>
                  <p:par>
                    <p:cTn id="322" nodeType="clickEffect" fill="hold">
                      <p:stCondLst>
                        <p:cond delay="indefinite"/>
                      </p:stCondLst>
                      <p:childTnLst>
                        <p:par>
                          <p:cTn id="323" nodeType="withEffect" fill="hold">
                            <p:stCondLst>
                              <p:cond delay="0"/>
                            </p:stCondLst>
                            <p:childTnLst>
                              <p:par>
                                <p:cTn id="324" nodeType="clickEffect" fill="hold" presetClass="entr" presetID="22" presetSubtype="8">
                                  <p:stCondLst>
                                    <p:cond delay="0"/>
                                  </p:stCondLst>
                                  <p:childTnLst>
                                    <p:set>
                                      <p:cBhvr>
                                        <p:cTn id="325" dur="1" fill="hold">
                                          <p:stCondLst>
                                            <p:cond delay="0"/>
                                          </p:stCondLst>
                                        </p:cTn>
                                        <p:tgtEl>
                                          <p:spTgt spid="135">
                                            <p:txEl>
                                              <p:pRg st="1" end="1"/>
                                            </p:txEl>
                                          </p:spTgt>
                                        </p:tgtEl>
                                        <p:attrNameLst>
                                          <p:attrName>style.visibility</p:attrName>
                                        </p:attrNameLst>
                                      </p:cBhvr>
                                      <p:to>
                                        <p:strVal val="visible"/>
                                      </p:to>
                                    </p:set>
                                    <p:animEffect filter="wipe(left)" transition="in">
                                      <p:cBhvr additive="repl">
                                        <p:cTn id="326" dur="500"/>
                                        <p:tgtEl>
                                          <p:spTgt spid="135">
                                            <p:txEl>
                                              <p:pRg st="1" end="1"/>
                                            </p:txEl>
                                          </p:spTgt>
                                        </p:tgtEl>
                                      </p:cBhvr>
                                    </p:animEffect>
                                  </p:childTnLst>
                                </p:cTn>
                              </p:par>
                            </p:childTnLst>
                          </p:cTn>
                        </p:par>
                      </p:childTnLst>
                    </p:cTn>
                  </p:par>
                  <p:par>
                    <p:cTn id="327" nodeType="clickEffect" fill="hold">
                      <p:stCondLst>
                        <p:cond delay="indefinite"/>
                      </p:stCondLst>
                      <p:childTnLst>
                        <p:par>
                          <p:cTn id="328" nodeType="withEffect" fill="hold">
                            <p:stCondLst>
                              <p:cond delay="0"/>
                            </p:stCondLst>
                            <p:childTnLst>
                              <p:par>
                                <p:cTn id="329" nodeType="clickEffect" fill="hold" presetClass="entr" presetID="22" presetSubtype="8">
                                  <p:stCondLst>
                                    <p:cond delay="0"/>
                                  </p:stCondLst>
                                  <p:childTnLst>
                                    <p:set>
                                      <p:cBhvr>
                                        <p:cTn id="330" dur="1" fill="hold">
                                          <p:stCondLst>
                                            <p:cond delay="0"/>
                                          </p:stCondLst>
                                        </p:cTn>
                                        <p:tgtEl>
                                          <p:spTgt spid="135">
                                            <p:txEl>
                                              <p:pRg st="2" end="2"/>
                                            </p:txEl>
                                          </p:spTgt>
                                        </p:tgtEl>
                                        <p:attrNameLst>
                                          <p:attrName>style.visibility</p:attrName>
                                        </p:attrNameLst>
                                      </p:cBhvr>
                                      <p:to>
                                        <p:strVal val="visible"/>
                                      </p:to>
                                    </p:set>
                                    <p:animEffect filter="wipe(left)" transition="in">
                                      <p:cBhvr additive="repl">
                                        <p:cTn id="331" dur="500"/>
                                        <p:tgtEl>
                                          <p:spTgt spid="135">
                                            <p:txEl>
                                              <p:pRg st="2" end="2"/>
                                            </p:txEl>
                                          </p:spTgt>
                                        </p:tgtEl>
                                      </p:cBhvr>
                                    </p:animEffect>
                                  </p:childTnLst>
                                </p:cTn>
                              </p:par>
                            </p:childTnLst>
                          </p:cTn>
                        </p:par>
                      </p:childTnLst>
                    </p:cTn>
                  </p:par>
                  <p:par>
                    <p:cTn id="332" nodeType="clickEffect" fill="hold">
                      <p:stCondLst>
                        <p:cond delay="indefinite"/>
                      </p:stCondLst>
                      <p:childTnLst>
                        <p:par>
                          <p:cTn id="333" nodeType="withEffect" fill="hold">
                            <p:stCondLst>
                              <p:cond delay="0"/>
                            </p:stCondLst>
                            <p:childTnLst>
                              <p:par>
                                <p:cTn id="334" nodeType="clickEffect" fill="hold" presetClass="entr" presetID="22" presetSubtype="8">
                                  <p:stCondLst>
                                    <p:cond delay="0"/>
                                  </p:stCondLst>
                                  <p:childTnLst>
                                    <p:set>
                                      <p:cBhvr>
                                        <p:cTn id="335" dur="1" fill="hold">
                                          <p:stCondLst>
                                            <p:cond delay="0"/>
                                          </p:stCondLst>
                                        </p:cTn>
                                        <p:tgtEl>
                                          <p:spTgt spid="135">
                                            <p:txEl>
                                              <p:pRg st="3" end="3"/>
                                            </p:txEl>
                                          </p:spTgt>
                                        </p:tgtEl>
                                        <p:attrNameLst>
                                          <p:attrName>style.visibility</p:attrName>
                                        </p:attrNameLst>
                                      </p:cBhvr>
                                      <p:to>
                                        <p:strVal val="visible"/>
                                      </p:to>
                                    </p:set>
                                    <p:animEffect filter="wipe(left)" transition="in">
                                      <p:cBhvr additive="repl">
                                        <p:cTn id="336" dur="500"/>
                                        <p:tgtEl>
                                          <p:spTgt spid="135">
                                            <p:txEl>
                                              <p:pRg st="3" end="3"/>
                                            </p:txEl>
                                          </p:spTgt>
                                        </p:tgtEl>
                                      </p:cBhvr>
                                    </p:animEffect>
                                  </p:childTnLst>
                                </p:cTn>
                              </p:par>
                            </p:childTnLst>
                          </p:cTn>
                        </p:par>
                      </p:childTnLst>
                    </p:cTn>
                  </p:par>
                  <p:par>
                    <p:cTn id="337" nodeType="clickEffect" fill="hold">
                      <p:stCondLst>
                        <p:cond delay="indefinite"/>
                      </p:stCondLst>
                      <p:childTnLst>
                        <p:par>
                          <p:cTn id="338" nodeType="withEffect" fill="hold">
                            <p:stCondLst>
                              <p:cond delay="0"/>
                            </p:stCondLst>
                            <p:childTnLst>
                              <p:par>
                                <p:cTn id="339" nodeType="clickEffect" fill="hold" presetClass="entr" presetID="22" presetSubtype="8">
                                  <p:stCondLst>
                                    <p:cond delay="0"/>
                                  </p:stCondLst>
                                  <p:childTnLst>
                                    <p:set>
                                      <p:cBhvr>
                                        <p:cTn id="340" dur="1" fill="hold">
                                          <p:stCondLst>
                                            <p:cond delay="0"/>
                                          </p:stCondLst>
                                        </p:cTn>
                                        <p:tgtEl>
                                          <p:spTgt spid="135">
                                            <p:txEl>
                                              <p:pRg st="4" end="4"/>
                                            </p:txEl>
                                          </p:spTgt>
                                        </p:tgtEl>
                                        <p:attrNameLst>
                                          <p:attrName>style.visibility</p:attrName>
                                        </p:attrNameLst>
                                      </p:cBhvr>
                                      <p:to>
                                        <p:strVal val="visible"/>
                                      </p:to>
                                    </p:set>
                                    <p:animEffect filter="wipe(left)" transition="in">
                                      <p:cBhvr additive="repl">
                                        <p:cTn id="341" dur="500"/>
                                        <p:tgtEl>
                                          <p:spTgt spid="135">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19.1  DEMAND FOR A FACTOR OF PRODUCTION</a:t>
            </a:r>
            <a:endParaRPr b="0" lang="en-CA" sz="2600" strike="noStrike" u="none">
              <a:solidFill>
                <a:schemeClr val="dk1"/>
              </a:solidFill>
              <a:effectLst/>
              <a:uFillTx/>
              <a:latin typeface="Arial"/>
            </a:endParaRPr>
          </a:p>
        </p:txBody>
      </p:sp>
      <p:sp>
        <p:nvSpPr>
          <p:cNvPr id="137"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pPr>
            <a:r>
              <a:rPr b="1" lang="en-CA" sz="2600" strike="noStrike" u="none">
                <a:solidFill>
                  <a:srgbClr val="00468f"/>
                </a:solidFill>
                <a:effectLst/>
                <a:uFillTx/>
                <a:latin typeface="Arial"/>
                <a:ea typeface="MS Mincho"/>
              </a:rPr>
              <a:t>Technology</a:t>
            </a:r>
            <a:r>
              <a:rPr b="1" lang="en-CA" sz="2400" strike="noStrike" u="none">
                <a:solidFill>
                  <a:srgbClr val="00468f"/>
                </a:solidFill>
                <a:effectLst/>
                <a:uFillTx/>
                <a:latin typeface="Arial"/>
                <a:ea typeface="MS Mincho"/>
              </a:rPr>
              <a:t> </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pPr>
            <a:r>
              <a:rPr b="0" lang="en-CA" sz="2400" strike="noStrike" u="none">
                <a:solidFill>
                  <a:schemeClr val="dk1"/>
                </a:solidFill>
                <a:effectLst/>
                <a:uFillTx/>
                <a:latin typeface="Arial"/>
                <a:ea typeface="MS Mincho"/>
              </a:rPr>
              <a:t>New technologies decrease the demand for some types of labor and increase the demand for other types.</a:t>
            </a:r>
            <a:endParaRPr b="1" lang="en-CA" sz="2400" strike="noStrike" u="none">
              <a:solidFill>
                <a:srgbClr val="00468f"/>
              </a:solidFill>
              <a:effectLst/>
              <a:uFillTx/>
              <a:latin typeface="Arial"/>
            </a:endParaRPr>
          </a:p>
        </p:txBody>
      </p:sp>
    </p:spTree>
  </p:cSld>
  <p:transition spd="slow">
    <p:wipe dir="r"/>
  </p:transition>
  <p:timing>
    <p:tnLst>
      <p:par>
        <p:cTn id="342" dur="indefinite" restart="never" nodeType="tmRoot">
          <p:childTnLst>
            <p:seq>
              <p:cTn id="343" dur="indefinite" nodeType="mainSeq">
                <p:childTnLst>
                  <p:par>
                    <p:cTn id="344" nodeType="clickEffect" fill="hold">
                      <p:stCondLst>
                        <p:cond delay="indefinite"/>
                      </p:stCondLst>
                      <p:childTnLst>
                        <p:par>
                          <p:cTn id="345" nodeType="withEffect" fill="hold">
                            <p:stCondLst>
                              <p:cond delay="0"/>
                            </p:stCondLst>
                            <p:childTnLst>
                              <p:par>
                                <p:cTn id="346" nodeType="clickEffect" fill="hold" presetClass="entr" presetID="22" presetSubtype="8">
                                  <p:stCondLst>
                                    <p:cond delay="0"/>
                                  </p:stCondLst>
                                  <p:childTnLst>
                                    <p:set>
                                      <p:cBhvr>
                                        <p:cTn id="347" dur="1" fill="hold">
                                          <p:stCondLst>
                                            <p:cond delay="0"/>
                                          </p:stCondLst>
                                        </p:cTn>
                                        <p:tgtEl>
                                          <p:spTgt spid="137">
                                            <p:txEl>
                                              <p:pRg st="1" end="1"/>
                                            </p:txEl>
                                          </p:spTgt>
                                        </p:tgtEl>
                                        <p:attrNameLst>
                                          <p:attrName>style.visibility</p:attrName>
                                        </p:attrNameLst>
                                      </p:cBhvr>
                                      <p:to>
                                        <p:strVal val="visible"/>
                                      </p:to>
                                    </p:set>
                                    <p:animEffect filter="wipe(left)" transition="in">
                                      <p:cBhvr additive="repl">
                                        <p:cTn id="348" dur="500"/>
                                        <p:tgtEl>
                                          <p:spTgt spid="137">
                                            <p:txEl>
                                              <p:pRg st="1" end="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19.2  LABOR MARKETS</a:t>
            </a:r>
            <a:endParaRPr b="0" lang="en-CA" sz="2600" strike="noStrike" u="none">
              <a:solidFill>
                <a:schemeClr val="dk1"/>
              </a:solidFill>
              <a:effectLst/>
              <a:uFillTx/>
              <a:latin typeface="Arial"/>
            </a:endParaRPr>
          </a:p>
        </p:txBody>
      </p:sp>
      <p:sp>
        <p:nvSpPr>
          <p:cNvPr id="139"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43080" indent="-343080">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ＭＳ Ｐゴシック"/>
              </a:rPr>
              <a:t>The Supply of Labor </a:t>
            </a:r>
            <a:endParaRPr b="1" lang="en-CA" sz="28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People supply labor to earn an income. </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Many factors influence the quantity of labor that a person plans to provide, but the wage rate is a key factor.</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Figure 19.3  on the next slide shows an individual’s labor supply curve.</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endParaRPr b="1" lang="en-CA" sz="2400" strike="noStrike" u="none">
              <a:solidFill>
                <a:srgbClr val="00468f"/>
              </a:solidFill>
              <a:effectLst/>
              <a:uFillTx/>
              <a:latin typeface="Arial"/>
            </a:endParaRPr>
          </a:p>
        </p:txBody>
      </p:sp>
    </p:spTree>
  </p:cSld>
  <p:transition spd="slow">
    <p:wipe dir="r"/>
  </p:transition>
  <p:timing>
    <p:tnLst>
      <p:par>
        <p:cTn id="349" dur="indefinite" restart="never" nodeType="tmRoot">
          <p:childTnLst>
            <p:seq>
              <p:cTn id="350" dur="indefinite" nodeType="mainSeq">
                <p:childTnLst>
                  <p:par>
                    <p:cTn id="351" nodeType="clickEffect" fill="hold">
                      <p:stCondLst>
                        <p:cond delay="indefinite"/>
                      </p:stCondLst>
                      <p:childTnLst>
                        <p:par>
                          <p:cTn id="352" nodeType="withEffect" fill="hold">
                            <p:stCondLst>
                              <p:cond delay="0"/>
                            </p:stCondLst>
                            <p:childTnLst>
                              <p:par>
                                <p:cTn id="353" nodeType="clickEffect" fill="hold" presetClass="entr" presetID="22" presetSubtype="8">
                                  <p:stCondLst>
                                    <p:cond delay="0"/>
                                  </p:stCondLst>
                                  <p:childTnLst>
                                    <p:set>
                                      <p:cBhvr>
                                        <p:cTn id="354" dur="1" fill="hold">
                                          <p:stCondLst>
                                            <p:cond delay="0"/>
                                          </p:stCondLst>
                                        </p:cTn>
                                        <p:tgtEl>
                                          <p:spTgt spid="139">
                                            <p:txEl>
                                              <p:pRg st="1" end="1"/>
                                            </p:txEl>
                                          </p:spTgt>
                                        </p:tgtEl>
                                        <p:attrNameLst>
                                          <p:attrName>style.visibility</p:attrName>
                                        </p:attrNameLst>
                                      </p:cBhvr>
                                      <p:to>
                                        <p:strVal val="visible"/>
                                      </p:to>
                                    </p:set>
                                    <p:animEffect filter="wipe(left)" transition="in">
                                      <p:cBhvr additive="repl">
                                        <p:cTn id="355" dur="500"/>
                                        <p:tgtEl>
                                          <p:spTgt spid="139">
                                            <p:txEl>
                                              <p:pRg st="1" end="1"/>
                                            </p:txEl>
                                          </p:spTgt>
                                        </p:tgtEl>
                                      </p:cBhvr>
                                    </p:animEffect>
                                  </p:childTnLst>
                                </p:cTn>
                              </p:par>
                            </p:childTnLst>
                          </p:cTn>
                        </p:par>
                      </p:childTnLst>
                    </p:cTn>
                  </p:par>
                  <p:par>
                    <p:cTn id="356" nodeType="clickEffect" fill="hold">
                      <p:stCondLst>
                        <p:cond delay="indefinite"/>
                      </p:stCondLst>
                      <p:childTnLst>
                        <p:par>
                          <p:cTn id="357" nodeType="withEffect" fill="hold">
                            <p:stCondLst>
                              <p:cond delay="0"/>
                            </p:stCondLst>
                            <p:childTnLst>
                              <p:par>
                                <p:cTn id="358" nodeType="clickEffect" fill="hold" presetClass="entr" presetID="22" presetSubtype="8">
                                  <p:stCondLst>
                                    <p:cond delay="0"/>
                                  </p:stCondLst>
                                  <p:childTnLst>
                                    <p:set>
                                      <p:cBhvr>
                                        <p:cTn id="359" dur="1" fill="hold">
                                          <p:stCondLst>
                                            <p:cond delay="0"/>
                                          </p:stCondLst>
                                        </p:cTn>
                                        <p:tgtEl>
                                          <p:spTgt spid="139">
                                            <p:txEl>
                                              <p:pRg st="2" end="2"/>
                                            </p:txEl>
                                          </p:spTgt>
                                        </p:tgtEl>
                                        <p:attrNameLst>
                                          <p:attrName>style.visibility</p:attrName>
                                        </p:attrNameLst>
                                      </p:cBhvr>
                                      <p:to>
                                        <p:strVal val="visible"/>
                                      </p:to>
                                    </p:set>
                                    <p:animEffect filter="wipe(left)" transition="in">
                                      <p:cBhvr additive="repl">
                                        <p:cTn id="360" dur="500"/>
                                        <p:tgtEl>
                                          <p:spTgt spid="139">
                                            <p:txEl>
                                              <p:pRg st="2" end="2"/>
                                            </p:txEl>
                                          </p:spTgt>
                                        </p:tgtEl>
                                      </p:cBhvr>
                                    </p:animEffect>
                                  </p:childTnLst>
                                </p:cTn>
                              </p:par>
                            </p:childTnLst>
                          </p:cTn>
                        </p:par>
                      </p:childTnLst>
                    </p:cTn>
                  </p:par>
                  <p:par>
                    <p:cTn id="361" nodeType="clickEffect" fill="hold">
                      <p:stCondLst>
                        <p:cond delay="indefinite"/>
                      </p:stCondLst>
                      <p:childTnLst>
                        <p:par>
                          <p:cTn id="362" nodeType="withEffect" fill="hold">
                            <p:stCondLst>
                              <p:cond delay="0"/>
                            </p:stCondLst>
                            <p:childTnLst>
                              <p:par>
                                <p:cTn id="363" nodeType="clickEffect" fill="hold" presetClass="entr" presetID="22" presetSubtype="8">
                                  <p:stCondLst>
                                    <p:cond delay="0"/>
                                  </p:stCondLst>
                                  <p:childTnLst>
                                    <p:set>
                                      <p:cBhvr>
                                        <p:cTn id="364" dur="1" fill="hold">
                                          <p:stCondLst>
                                            <p:cond delay="0"/>
                                          </p:stCondLst>
                                        </p:cTn>
                                        <p:tgtEl>
                                          <p:spTgt spid="139">
                                            <p:txEl>
                                              <p:pRg st="3" end="3"/>
                                            </p:txEl>
                                          </p:spTgt>
                                        </p:tgtEl>
                                        <p:attrNameLst>
                                          <p:attrName>style.visibility</p:attrName>
                                        </p:attrNameLst>
                                      </p:cBhvr>
                                      <p:to>
                                        <p:strVal val="visible"/>
                                      </p:to>
                                    </p:set>
                                    <p:animEffect filter="wipe(left)" transition="in">
                                      <p:cBhvr additive="repl">
                                        <p:cTn id="365" dur="500"/>
                                        <p:tgtEl>
                                          <p:spTgt spid="139">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19.2  LABOR MARKETS</a:t>
            </a:r>
            <a:endParaRPr b="0" lang="en-CA" sz="2600" strike="noStrike" u="none">
              <a:solidFill>
                <a:schemeClr val="dk1"/>
              </a:solidFill>
              <a:effectLst/>
              <a:uFillTx/>
              <a:latin typeface="Arial"/>
            </a:endParaRPr>
          </a:p>
        </p:txBody>
      </p:sp>
      <p:sp>
        <p:nvSpPr>
          <p:cNvPr id="141" name="PlaceHolder 2"/>
          <p:cNvSpPr>
            <a:spLocks noGrp="1"/>
          </p:cNvSpPr>
          <p:nvPr>
            <p:ph/>
          </p:nvPr>
        </p:nvSpPr>
        <p:spPr>
          <a:xfrm>
            <a:off x="360360" y="1440000"/>
            <a:ext cx="2611080" cy="464796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The table shows Larry’s labor supply schedule …</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which is plotted in the figure as Larry’s labor supply curve. </a:t>
            </a:r>
            <a:endParaRPr b="1" lang="en-CA" sz="2400" strike="noStrike" u="none">
              <a:solidFill>
                <a:srgbClr val="00468f"/>
              </a:solidFill>
              <a:effectLst/>
              <a:uFillTx/>
              <a:latin typeface="Arial"/>
            </a:endParaRPr>
          </a:p>
        </p:txBody>
      </p:sp>
      <p:pic>
        <p:nvPicPr>
          <p:cNvPr id="142" name="Picture 1" descr=""/>
          <p:cNvPicPr/>
          <p:nvPr/>
        </p:nvPicPr>
        <p:blipFill>
          <a:blip r:embed="rId1"/>
          <a:stretch/>
        </p:blipFill>
        <p:spPr>
          <a:xfrm>
            <a:off x="2808360" y="1511280"/>
            <a:ext cx="5835240" cy="3893760"/>
          </a:xfrm>
          <a:prstGeom prst="rect">
            <a:avLst/>
          </a:prstGeom>
          <a:noFill/>
          <a:ln w="0">
            <a:noFill/>
          </a:ln>
        </p:spPr>
      </p:pic>
      <p:pic>
        <p:nvPicPr>
          <p:cNvPr id="143" name="Picture 15" descr=""/>
          <p:cNvPicPr/>
          <p:nvPr/>
        </p:nvPicPr>
        <p:blipFill>
          <a:blip r:embed="rId2"/>
          <a:stretch/>
        </p:blipFill>
        <p:spPr>
          <a:xfrm>
            <a:off x="2808360" y="1511280"/>
            <a:ext cx="5835240" cy="3893760"/>
          </a:xfrm>
          <a:prstGeom prst="rect">
            <a:avLst/>
          </a:prstGeom>
          <a:noFill/>
          <a:ln w="0">
            <a:noFill/>
          </a:ln>
        </p:spPr>
      </p:pic>
      <p:pic>
        <p:nvPicPr>
          <p:cNvPr id="144" name="Picture 16" descr=""/>
          <p:cNvPicPr/>
          <p:nvPr/>
        </p:nvPicPr>
        <p:blipFill>
          <a:blip r:embed="rId3"/>
          <a:stretch/>
        </p:blipFill>
        <p:spPr>
          <a:xfrm>
            <a:off x="2808360" y="1511280"/>
            <a:ext cx="5835240" cy="3893760"/>
          </a:xfrm>
          <a:prstGeom prst="rect">
            <a:avLst/>
          </a:prstGeom>
          <a:noFill/>
          <a:ln w="0">
            <a:noFill/>
          </a:ln>
        </p:spPr>
      </p:pic>
      <p:pic>
        <p:nvPicPr>
          <p:cNvPr id="145" name="Picture 17" descr=""/>
          <p:cNvPicPr/>
          <p:nvPr/>
        </p:nvPicPr>
        <p:blipFill>
          <a:blip r:embed="rId4"/>
          <a:stretch/>
        </p:blipFill>
        <p:spPr>
          <a:xfrm>
            <a:off x="2808360" y="1511280"/>
            <a:ext cx="5835240" cy="3893760"/>
          </a:xfrm>
          <a:prstGeom prst="rect">
            <a:avLst/>
          </a:prstGeom>
          <a:noFill/>
          <a:ln w="0">
            <a:noFill/>
          </a:ln>
        </p:spPr>
      </p:pic>
      <p:pic>
        <p:nvPicPr>
          <p:cNvPr id="146" name="Picture 18" descr=""/>
          <p:cNvPicPr/>
          <p:nvPr/>
        </p:nvPicPr>
        <p:blipFill>
          <a:blip r:embed="rId5"/>
          <a:stretch/>
        </p:blipFill>
        <p:spPr>
          <a:xfrm>
            <a:off x="2808360" y="1511280"/>
            <a:ext cx="5835240" cy="3893760"/>
          </a:xfrm>
          <a:prstGeom prst="rect">
            <a:avLst/>
          </a:prstGeom>
          <a:noFill/>
          <a:ln w="0">
            <a:noFill/>
          </a:ln>
        </p:spPr>
      </p:pic>
      <p:pic>
        <p:nvPicPr>
          <p:cNvPr id="147" name="Picture 19" descr=""/>
          <p:cNvPicPr/>
          <p:nvPr/>
        </p:nvPicPr>
        <p:blipFill>
          <a:blip r:embed="rId6"/>
          <a:stretch/>
        </p:blipFill>
        <p:spPr>
          <a:xfrm>
            <a:off x="2808360" y="1511280"/>
            <a:ext cx="5835240" cy="3893760"/>
          </a:xfrm>
          <a:prstGeom prst="rect">
            <a:avLst/>
          </a:prstGeom>
          <a:noFill/>
          <a:ln w="0">
            <a:noFill/>
          </a:ln>
        </p:spPr>
      </p:pic>
      <p:pic>
        <p:nvPicPr>
          <p:cNvPr id="148" name="Picture 20" descr=""/>
          <p:cNvPicPr/>
          <p:nvPr/>
        </p:nvPicPr>
        <p:blipFill>
          <a:blip r:embed="rId7"/>
          <a:stretch/>
        </p:blipFill>
        <p:spPr>
          <a:xfrm>
            <a:off x="2808360" y="1511280"/>
            <a:ext cx="5835240" cy="3893760"/>
          </a:xfrm>
          <a:prstGeom prst="rect">
            <a:avLst/>
          </a:prstGeom>
          <a:noFill/>
          <a:ln w="0">
            <a:noFill/>
          </a:ln>
        </p:spPr>
      </p:pic>
      <p:pic>
        <p:nvPicPr>
          <p:cNvPr id="149" name="Picture 30" descr=""/>
          <p:cNvPicPr/>
          <p:nvPr/>
        </p:nvPicPr>
        <p:blipFill>
          <a:blip r:embed="rId8"/>
          <a:stretch/>
        </p:blipFill>
        <p:spPr>
          <a:xfrm>
            <a:off x="2808360" y="1511280"/>
            <a:ext cx="5835240" cy="3893760"/>
          </a:xfrm>
          <a:prstGeom prst="rect">
            <a:avLst/>
          </a:prstGeom>
          <a:noFill/>
          <a:ln w="0">
            <a:noFill/>
          </a:ln>
        </p:spPr>
      </p:pic>
      <p:pic>
        <p:nvPicPr>
          <p:cNvPr id="150" name="Picture 31" descr=""/>
          <p:cNvPicPr/>
          <p:nvPr/>
        </p:nvPicPr>
        <p:blipFill>
          <a:blip r:embed="rId9"/>
          <a:stretch/>
        </p:blipFill>
        <p:spPr>
          <a:xfrm>
            <a:off x="2808360" y="1511280"/>
            <a:ext cx="5835240" cy="3893760"/>
          </a:xfrm>
          <a:prstGeom prst="rect">
            <a:avLst/>
          </a:prstGeom>
          <a:noFill/>
          <a:ln w="0">
            <a:noFill/>
          </a:ln>
        </p:spPr>
      </p:pic>
      <p:pic>
        <p:nvPicPr>
          <p:cNvPr id="151" name="Picture 32" descr=""/>
          <p:cNvPicPr/>
          <p:nvPr/>
        </p:nvPicPr>
        <p:blipFill>
          <a:blip r:embed="rId10"/>
          <a:stretch/>
        </p:blipFill>
        <p:spPr>
          <a:xfrm>
            <a:off x="2808360" y="1511280"/>
            <a:ext cx="5835240" cy="3893760"/>
          </a:xfrm>
          <a:prstGeom prst="rect">
            <a:avLst/>
          </a:prstGeom>
          <a:noFill/>
          <a:ln w="0">
            <a:noFill/>
          </a:ln>
        </p:spPr>
      </p:pic>
    </p:spTree>
  </p:cSld>
  <p:transition spd="slow">
    <p:wipe dir="r"/>
  </p:transition>
  <p:timing>
    <p:tnLst>
      <p:par>
        <p:cTn id="366" dur="indefinite" restart="never" nodeType="tmRoot">
          <p:childTnLst>
            <p:seq>
              <p:cTn id="367" dur="indefinite" nodeType="mainSeq">
                <p:childTnLst>
                  <p:par>
                    <p:cTn id="368" nodeType="clickEffect" fill="hold">
                      <p:stCondLst>
                        <p:cond delay="indefinite"/>
                      </p:stCondLst>
                      <p:childTnLst>
                        <p:par>
                          <p:cTn id="369" nodeType="withEffect" fill="hold">
                            <p:stCondLst>
                              <p:cond delay="0"/>
                            </p:stCondLst>
                            <p:childTnLst>
                              <p:par>
                                <p:cTn id="370" nodeType="clickEffect" fill="hold" presetClass="entr" presetID="10">
                                  <p:stCondLst>
                                    <p:cond delay="0"/>
                                  </p:stCondLst>
                                  <p:childTnLst>
                                    <p:set>
                                      <p:cBhvr>
                                        <p:cTn id="371" dur="1" fill="hold">
                                          <p:stCondLst>
                                            <p:cond delay="0"/>
                                          </p:stCondLst>
                                        </p:cTn>
                                        <p:tgtEl>
                                          <p:spTgt spid="143"/>
                                        </p:tgtEl>
                                        <p:attrNameLst>
                                          <p:attrName>style.visibility</p:attrName>
                                        </p:attrNameLst>
                                      </p:cBhvr>
                                      <p:to>
                                        <p:strVal val="visible"/>
                                      </p:to>
                                    </p:set>
                                    <p:animEffect filter="fade" transition="in">
                                      <p:cBhvr additive="repl">
                                        <p:cTn id="372" dur="500"/>
                                        <p:tgtEl>
                                          <p:spTgt spid="143"/>
                                        </p:tgtEl>
                                      </p:cBhvr>
                                    </p:animEffect>
                                  </p:childTnLst>
                                </p:cTn>
                              </p:par>
                              <p:par>
                                <p:cTn id="373" nodeType="withEffect" fill="hold" presetClass="entr" presetID="10">
                                  <p:stCondLst>
                                    <p:cond delay="200"/>
                                  </p:stCondLst>
                                  <p:childTnLst>
                                    <p:set>
                                      <p:cBhvr>
                                        <p:cTn id="374" dur="1" fill="hold">
                                          <p:stCondLst>
                                            <p:cond delay="0"/>
                                          </p:stCondLst>
                                        </p:cTn>
                                        <p:tgtEl>
                                          <p:spTgt spid="144"/>
                                        </p:tgtEl>
                                        <p:attrNameLst>
                                          <p:attrName>style.visibility</p:attrName>
                                        </p:attrNameLst>
                                      </p:cBhvr>
                                      <p:to>
                                        <p:strVal val="visible"/>
                                      </p:to>
                                    </p:set>
                                    <p:animEffect filter="fade" transition="in">
                                      <p:cBhvr additive="repl">
                                        <p:cTn id="375" dur="500"/>
                                        <p:tgtEl>
                                          <p:spTgt spid="144"/>
                                        </p:tgtEl>
                                      </p:cBhvr>
                                    </p:animEffect>
                                  </p:childTnLst>
                                </p:cTn>
                              </p:par>
                              <p:par>
                                <p:cTn id="376" nodeType="withEffect" fill="hold" presetClass="entr" presetID="10">
                                  <p:stCondLst>
                                    <p:cond delay="600"/>
                                  </p:stCondLst>
                                  <p:childTnLst>
                                    <p:set>
                                      <p:cBhvr>
                                        <p:cTn id="377" dur="1" fill="hold">
                                          <p:stCondLst>
                                            <p:cond delay="0"/>
                                          </p:stCondLst>
                                        </p:cTn>
                                        <p:tgtEl>
                                          <p:spTgt spid="145"/>
                                        </p:tgtEl>
                                        <p:attrNameLst>
                                          <p:attrName>style.visibility</p:attrName>
                                        </p:attrNameLst>
                                      </p:cBhvr>
                                      <p:to>
                                        <p:strVal val="visible"/>
                                      </p:to>
                                    </p:set>
                                    <p:animEffect filter="fade" transition="in">
                                      <p:cBhvr additive="repl">
                                        <p:cTn id="378" dur="500"/>
                                        <p:tgtEl>
                                          <p:spTgt spid="145"/>
                                        </p:tgtEl>
                                      </p:cBhvr>
                                    </p:animEffect>
                                  </p:childTnLst>
                                </p:cTn>
                              </p:par>
                              <p:par>
                                <p:cTn id="379" nodeType="withEffect" fill="hold" presetClass="entr" presetID="10">
                                  <p:stCondLst>
                                    <p:cond delay="1000"/>
                                  </p:stCondLst>
                                  <p:childTnLst>
                                    <p:set>
                                      <p:cBhvr>
                                        <p:cTn id="380" dur="1" fill="hold">
                                          <p:stCondLst>
                                            <p:cond delay="0"/>
                                          </p:stCondLst>
                                        </p:cTn>
                                        <p:tgtEl>
                                          <p:spTgt spid="146"/>
                                        </p:tgtEl>
                                        <p:attrNameLst>
                                          <p:attrName>style.visibility</p:attrName>
                                        </p:attrNameLst>
                                      </p:cBhvr>
                                      <p:to>
                                        <p:strVal val="visible"/>
                                      </p:to>
                                    </p:set>
                                    <p:animEffect filter="fade" transition="in">
                                      <p:cBhvr additive="repl">
                                        <p:cTn id="381" dur="500"/>
                                        <p:tgtEl>
                                          <p:spTgt spid="146"/>
                                        </p:tgtEl>
                                      </p:cBhvr>
                                    </p:animEffect>
                                  </p:childTnLst>
                                </p:cTn>
                              </p:par>
                              <p:par>
                                <p:cTn id="382" nodeType="withEffect" fill="hold" presetClass="entr" presetID="10">
                                  <p:stCondLst>
                                    <p:cond delay="1400"/>
                                  </p:stCondLst>
                                  <p:childTnLst>
                                    <p:set>
                                      <p:cBhvr>
                                        <p:cTn id="383" dur="1" fill="hold">
                                          <p:stCondLst>
                                            <p:cond delay="0"/>
                                          </p:stCondLst>
                                        </p:cTn>
                                        <p:tgtEl>
                                          <p:spTgt spid="147"/>
                                        </p:tgtEl>
                                        <p:attrNameLst>
                                          <p:attrName>style.visibility</p:attrName>
                                        </p:attrNameLst>
                                      </p:cBhvr>
                                      <p:to>
                                        <p:strVal val="visible"/>
                                      </p:to>
                                    </p:set>
                                    <p:animEffect filter="fade" transition="in">
                                      <p:cBhvr additive="repl">
                                        <p:cTn id="384" dur="500"/>
                                        <p:tgtEl>
                                          <p:spTgt spid="147"/>
                                        </p:tgtEl>
                                      </p:cBhvr>
                                    </p:animEffect>
                                  </p:childTnLst>
                                </p:cTn>
                              </p:par>
                              <p:par>
                                <p:cTn id="385" nodeType="withEffect" fill="hold" presetClass="entr" presetID="10">
                                  <p:stCondLst>
                                    <p:cond delay="1700"/>
                                  </p:stCondLst>
                                  <p:childTnLst>
                                    <p:set>
                                      <p:cBhvr>
                                        <p:cTn id="386" dur="1" fill="hold">
                                          <p:stCondLst>
                                            <p:cond delay="0"/>
                                          </p:stCondLst>
                                        </p:cTn>
                                        <p:tgtEl>
                                          <p:spTgt spid="148"/>
                                        </p:tgtEl>
                                        <p:attrNameLst>
                                          <p:attrName>style.visibility</p:attrName>
                                        </p:attrNameLst>
                                      </p:cBhvr>
                                      <p:to>
                                        <p:strVal val="visible"/>
                                      </p:to>
                                    </p:set>
                                    <p:animEffect filter="fade" transition="in">
                                      <p:cBhvr additive="repl">
                                        <p:cTn id="387" dur="500"/>
                                        <p:tgtEl>
                                          <p:spTgt spid="148"/>
                                        </p:tgtEl>
                                      </p:cBhvr>
                                    </p:animEffect>
                                  </p:childTnLst>
                                </p:cTn>
                              </p:par>
                              <p:par>
                                <p:cTn id="388" nodeType="withEffect" fill="hold" presetClass="entr" presetID="10">
                                  <p:stCondLst>
                                    <p:cond delay="2000"/>
                                  </p:stCondLst>
                                  <p:childTnLst>
                                    <p:set>
                                      <p:cBhvr>
                                        <p:cTn id="389" dur="1" fill="hold">
                                          <p:stCondLst>
                                            <p:cond delay="0"/>
                                          </p:stCondLst>
                                        </p:cTn>
                                        <p:tgtEl>
                                          <p:spTgt spid="149"/>
                                        </p:tgtEl>
                                        <p:attrNameLst>
                                          <p:attrName>style.visibility</p:attrName>
                                        </p:attrNameLst>
                                      </p:cBhvr>
                                      <p:to>
                                        <p:strVal val="visible"/>
                                      </p:to>
                                    </p:set>
                                    <p:animEffect filter="fade" transition="in">
                                      <p:cBhvr additive="repl">
                                        <p:cTn id="390" dur="500"/>
                                        <p:tgtEl>
                                          <p:spTgt spid="149"/>
                                        </p:tgtEl>
                                      </p:cBhvr>
                                    </p:animEffect>
                                  </p:childTnLst>
                                </p:cTn>
                              </p:par>
                              <p:par>
                                <p:cTn id="391" nodeType="withEffect" fill="hold" presetClass="entr" presetID="10">
                                  <p:stCondLst>
                                    <p:cond delay="2300"/>
                                  </p:stCondLst>
                                  <p:childTnLst>
                                    <p:set>
                                      <p:cBhvr>
                                        <p:cTn id="392" dur="1" fill="hold">
                                          <p:stCondLst>
                                            <p:cond delay="0"/>
                                          </p:stCondLst>
                                        </p:cTn>
                                        <p:tgtEl>
                                          <p:spTgt spid="150"/>
                                        </p:tgtEl>
                                        <p:attrNameLst>
                                          <p:attrName>style.visibility</p:attrName>
                                        </p:attrNameLst>
                                      </p:cBhvr>
                                      <p:to>
                                        <p:strVal val="visible"/>
                                      </p:to>
                                    </p:set>
                                    <p:animEffect filter="fade" transition="in">
                                      <p:cBhvr additive="repl">
                                        <p:cTn id="393" dur="500"/>
                                        <p:tgtEl>
                                          <p:spTgt spid="150"/>
                                        </p:tgtEl>
                                      </p:cBhvr>
                                    </p:animEffect>
                                  </p:childTnLst>
                                </p:cTn>
                              </p:par>
                            </p:childTnLst>
                          </p:cTn>
                        </p:par>
                      </p:childTnLst>
                    </p:cTn>
                  </p:par>
                  <p:par>
                    <p:cTn id="394" nodeType="clickEffect" fill="hold">
                      <p:stCondLst>
                        <p:cond delay="indefinite"/>
                      </p:stCondLst>
                      <p:childTnLst>
                        <p:par>
                          <p:cTn id="395" nodeType="withEffect" fill="hold">
                            <p:stCondLst>
                              <p:cond delay="0"/>
                            </p:stCondLst>
                            <p:childTnLst>
                              <p:par>
                                <p:cTn id="396" nodeType="clickEffect" fill="hold" presetClass="entr" presetID="22" presetSubtype="8">
                                  <p:stCondLst>
                                    <p:cond delay="0"/>
                                  </p:stCondLst>
                                  <p:childTnLst>
                                    <p:set>
                                      <p:cBhvr>
                                        <p:cTn id="397" dur="1" fill="hold">
                                          <p:stCondLst>
                                            <p:cond delay="0"/>
                                          </p:stCondLst>
                                        </p:cTn>
                                        <p:tgtEl>
                                          <p:spTgt spid="141">
                                            <p:txEl>
                                              <p:pRg st="1" end="1"/>
                                            </p:txEl>
                                          </p:spTgt>
                                        </p:tgtEl>
                                        <p:attrNameLst>
                                          <p:attrName>style.visibility</p:attrName>
                                        </p:attrNameLst>
                                      </p:cBhvr>
                                      <p:to>
                                        <p:strVal val="visible"/>
                                      </p:to>
                                    </p:set>
                                    <p:animEffect filter="wipe(left)" transition="in">
                                      <p:cBhvr additive="repl">
                                        <p:cTn id="398" dur="500"/>
                                        <p:tgtEl>
                                          <p:spTgt spid="141">
                                            <p:txEl>
                                              <p:pRg st="1" end="1"/>
                                            </p:txEl>
                                          </p:spTgt>
                                        </p:tgtEl>
                                      </p:cBhvr>
                                    </p:animEffect>
                                  </p:childTnLst>
                                </p:cTn>
                              </p:par>
                              <p:par>
                                <p:cTn id="399" nodeType="withEffect" fill="hold" presetClass="entr" presetID="22" presetSubtype="4">
                                  <p:stCondLst>
                                    <p:cond delay="0"/>
                                  </p:stCondLst>
                                  <p:childTnLst>
                                    <p:set>
                                      <p:cBhvr>
                                        <p:cTn id="400" dur="1" fill="hold">
                                          <p:stCondLst>
                                            <p:cond delay="0"/>
                                          </p:stCondLst>
                                        </p:cTn>
                                        <p:tgtEl>
                                          <p:spTgt spid="151"/>
                                        </p:tgtEl>
                                        <p:attrNameLst>
                                          <p:attrName>style.visibility</p:attrName>
                                        </p:attrNameLst>
                                      </p:cBhvr>
                                      <p:to>
                                        <p:strVal val="visible"/>
                                      </p:to>
                                    </p:set>
                                    <p:animEffect filter="wipe(down)" transition="in">
                                      <p:cBhvr additive="repl">
                                        <p:cTn id="401" dur="1000"/>
                                        <p:tgtEl>
                                          <p:spTgt spid="1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152" name="Picture 1" descr=""/>
          <p:cNvPicPr/>
          <p:nvPr/>
        </p:nvPicPr>
        <p:blipFill>
          <a:blip r:embed="rId1"/>
          <a:stretch/>
        </p:blipFill>
        <p:spPr>
          <a:xfrm>
            <a:off x="577800" y="741240"/>
            <a:ext cx="7781400" cy="5190840"/>
          </a:xfrm>
          <a:prstGeom prst="rect">
            <a:avLst/>
          </a:prstGeom>
          <a:noFill/>
          <a:ln w="0">
            <a:noFill/>
          </a:ln>
        </p:spPr>
      </p:pic>
      <p:pic>
        <p:nvPicPr>
          <p:cNvPr id="153" name="Picture 33" descr=""/>
          <p:cNvPicPr/>
          <p:nvPr/>
        </p:nvPicPr>
        <p:blipFill>
          <a:blip r:embed="rId2"/>
          <a:stretch/>
        </p:blipFill>
        <p:spPr>
          <a:xfrm>
            <a:off x="577800" y="741240"/>
            <a:ext cx="7781400" cy="5190840"/>
          </a:xfrm>
          <a:prstGeom prst="rect">
            <a:avLst/>
          </a:prstGeom>
          <a:noFill/>
          <a:ln w="0">
            <a:noFill/>
          </a:ln>
        </p:spPr>
      </p:pic>
      <p:pic>
        <p:nvPicPr>
          <p:cNvPr id="154" name="Picture 34" descr=""/>
          <p:cNvPicPr/>
          <p:nvPr/>
        </p:nvPicPr>
        <p:blipFill>
          <a:blip r:embed="rId3"/>
          <a:stretch/>
        </p:blipFill>
        <p:spPr>
          <a:xfrm>
            <a:off x="577800" y="741240"/>
            <a:ext cx="7781400" cy="5190840"/>
          </a:xfrm>
          <a:prstGeom prst="rect">
            <a:avLst/>
          </a:prstGeom>
          <a:noFill/>
          <a:ln w="0">
            <a:noFill/>
          </a:ln>
        </p:spPr>
      </p:pic>
      <p:pic>
        <p:nvPicPr>
          <p:cNvPr id="155" name="Picture 35" descr=""/>
          <p:cNvPicPr/>
          <p:nvPr/>
        </p:nvPicPr>
        <p:blipFill>
          <a:blip r:embed="rId4"/>
          <a:stretch/>
        </p:blipFill>
        <p:spPr>
          <a:xfrm>
            <a:off x="577800" y="741240"/>
            <a:ext cx="7781400" cy="5190840"/>
          </a:xfrm>
          <a:prstGeom prst="rect">
            <a:avLst/>
          </a:prstGeom>
          <a:noFill/>
          <a:ln w="0">
            <a:noFill/>
          </a:ln>
        </p:spPr>
      </p:pic>
      <p:pic>
        <p:nvPicPr>
          <p:cNvPr id="156" name="Picture 36" descr=""/>
          <p:cNvPicPr/>
          <p:nvPr/>
        </p:nvPicPr>
        <p:blipFill>
          <a:blip r:embed="rId5"/>
          <a:stretch/>
        </p:blipFill>
        <p:spPr>
          <a:xfrm>
            <a:off x="577800" y="741240"/>
            <a:ext cx="7781400" cy="5190840"/>
          </a:xfrm>
          <a:prstGeom prst="rect">
            <a:avLst/>
          </a:prstGeom>
          <a:noFill/>
          <a:ln w="0">
            <a:noFill/>
          </a:ln>
        </p:spPr>
      </p:pic>
      <p:pic>
        <p:nvPicPr>
          <p:cNvPr id="157" name="Picture 37" descr=""/>
          <p:cNvPicPr/>
          <p:nvPr/>
        </p:nvPicPr>
        <p:blipFill>
          <a:blip r:embed="rId6"/>
          <a:stretch/>
        </p:blipFill>
        <p:spPr>
          <a:xfrm>
            <a:off x="577800" y="741240"/>
            <a:ext cx="7781400" cy="5190840"/>
          </a:xfrm>
          <a:prstGeom prst="rect">
            <a:avLst/>
          </a:prstGeom>
          <a:noFill/>
          <a:ln w="0">
            <a:noFill/>
          </a:ln>
        </p:spPr>
      </p:pic>
      <p:pic>
        <p:nvPicPr>
          <p:cNvPr id="158" name="Picture 38" descr=""/>
          <p:cNvPicPr/>
          <p:nvPr/>
        </p:nvPicPr>
        <p:blipFill>
          <a:blip r:embed="rId7"/>
          <a:stretch/>
        </p:blipFill>
        <p:spPr>
          <a:xfrm>
            <a:off x="577800" y="741240"/>
            <a:ext cx="7781400" cy="5190840"/>
          </a:xfrm>
          <a:prstGeom prst="rect">
            <a:avLst/>
          </a:prstGeom>
          <a:noFill/>
          <a:ln w="0">
            <a:noFill/>
          </a:ln>
        </p:spPr>
      </p:pic>
      <p:pic>
        <p:nvPicPr>
          <p:cNvPr id="159" name="Picture 39" descr=""/>
          <p:cNvPicPr/>
          <p:nvPr/>
        </p:nvPicPr>
        <p:blipFill>
          <a:blip r:embed="rId8"/>
          <a:stretch/>
        </p:blipFill>
        <p:spPr>
          <a:xfrm>
            <a:off x="577800" y="741240"/>
            <a:ext cx="7781400" cy="5190840"/>
          </a:xfrm>
          <a:prstGeom prst="rect">
            <a:avLst/>
          </a:prstGeom>
          <a:noFill/>
          <a:ln w="0">
            <a:noFill/>
          </a:ln>
        </p:spPr>
      </p:pic>
      <p:pic>
        <p:nvPicPr>
          <p:cNvPr id="160" name="Picture 40" descr=""/>
          <p:cNvPicPr/>
          <p:nvPr/>
        </p:nvPicPr>
        <p:blipFill>
          <a:blip r:embed="rId9"/>
          <a:stretch/>
        </p:blipFill>
        <p:spPr>
          <a:xfrm>
            <a:off x="577800" y="741240"/>
            <a:ext cx="7781400" cy="5190840"/>
          </a:xfrm>
          <a:prstGeom prst="rect">
            <a:avLst/>
          </a:prstGeom>
          <a:noFill/>
          <a:ln w="0">
            <a:noFill/>
          </a:ln>
        </p:spPr>
      </p:pic>
      <p:pic>
        <p:nvPicPr>
          <p:cNvPr id="161" name="Picture 41" descr=""/>
          <p:cNvPicPr/>
          <p:nvPr/>
        </p:nvPicPr>
        <p:blipFill>
          <a:blip r:embed="rId10"/>
          <a:stretch/>
        </p:blipFill>
        <p:spPr>
          <a:xfrm>
            <a:off x="577800" y="741240"/>
            <a:ext cx="7781400" cy="5190840"/>
          </a:xfrm>
          <a:prstGeom prst="rect">
            <a:avLst/>
          </a:prstGeom>
          <a:noFill/>
          <a:ln w="0">
            <a:noFill/>
          </a:ln>
        </p:spPr>
      </p:pic>
      <p:pic>
        <p:nvPicPr>
          <p:cNvPr id="162" name="Picture 42" descr=""/>
          <p:cNvPicPr/>
          <p:nvPr/>
        </p:nvPicPr>
        <p:blipFill>
          <a:blip r:embed="rId11"/>
          <a:stretch/>
        </p:blipFill>
        <p:spPr>
          <a:xfrm>
            <a:off x="577800" y="741240"/>
            <a:ext cx="7781400" cy="5190840"/>
          </a:xfrm>
          <a:prstGeom prst="rect">
            <a:avLst/>
          </a:prstGeom>
          <a:noFill/>
          <a:ln w="0">
            <a:noFill/>
          </a:ln>
        </p:spPr>
      </p:pic>
      <p:pic>
        <p:nvPicPr>
          <p:cNvPr id="163" name="Picture 43" descr=""/>
          <p:cNvPicPr/>
          <p:nvPr/>
        </p:nvPicPr>
        <p:blipFill>
          <a:blip r:embed="rId12"/>
          <a:stretch/>
        </p:blipFill>
        <p:spPr>
          <a:xfrm>
            <a:off x="577800" y="741240"/>
            <a:ext cx="7781400" cy="5190840"/>
          </a:xfrm>
          <a:prstGeom prst="rect">
            <a:avLst/>
          </a:prstGeom>
          <a:noFill/>
          <a:ln w="0">
            <a:noFill/>
          </a:ln>
        </p:spPr>
      </p:pic>
      <p:pic>
        <p:nvPicPr>
          <p:cNvPr id="164" name="Picture 44" descr=""/>
          <p:cNvPicPr/>
          <p:nvPr/>
        </p:nvPicPr>
        <p:blipFill>
          <a:blip r:embed="rId13"/>
          <a:stretch/>
        </p:blipFill>
        <p:spPr>
          <a:xfrm>
            <a:off x="577800" y="741240"/>
            <a:ext cx="7781400" cy="5190840"/>
          </a:xfrm>
          <a:prstGeom prst="rect">
            <a:avLst/>
          </a:prstGeom>
          <a:noFill/>
          <a:ln w="0">
            <a:noFill/>
          </a:ln>
        </p:spPr>
      </p:pic>
      <p:pic>
        <p:nvPicPr>
          <p:cNvPr id="165" name="Picture 45" descr=""/>
          <p:cNvPicPr/>
          <p:nvPr/>
        </p:nvPicPr>
        <p:blipFill>
          <a:blip r:embed="rId14"/>
          <a:stretch/>
        </p:blipFill>
        <p:spPr>
          <a:xfrm>
            <a:off x="577800" y="741240"/>
            <a:ext cx="7781400" cy="5190840"/>
          </a:xfrm>
          <a:prstGeom prst="rect">
            <a:avLst/>
          </a:prstGeom>
          <a:noFill/>
          <a:ln w="0">
            <a:noFill/>
          </a:ln>
        </p:spPr>
      </p:pic>
      <p:pic>
        <p:nvPicPr>
          <p:cNvPr id="166" name="Picture 46" descr=""/>
          <p:cNvPicPr/>
          <p:nvPr/>
        </p:nvPicPr>
        <p:blipFill>
          <a:blip r:embed="rId15"/>
          <a:stretch/>
        </p:blipFill>
        <p:spPr>
          <a:xfrm>
            <a:off x="577800" y="741240"/>
            <a:ext cx="7781400" cy="5190840"/>
          </a:xfrm>
          <a:prstGeom prst="rect">
            <a:avLst/>
          </a:prstGeom>
          <a:noFill/>
          <a:ln w="0">
            <a:noFill/>
          </a:ln>
        </p:spPr>
      </p:pic>
      <p:pic>
        <p:nvPicPr>
          <p:cNvPr id="167" name="Picture 47" descr=""/>
          <p:cNvPicPr/>
          <p:nvPr/>
        </p:nvPicPr>
        <p:blipFill>
          <a:blip r:embed="rId16"/>
          <a:stretch/>
        </p:blipFill>
        <p:spPr>
          <a:xfrm>
            <a:off x="577800" y="741240"/>
            <a:ext cx="7781400" cy="5190840"/>
          </a:xfrm>
          <a:prstGeom prst="rect">
            <a:avLst/>
          </a:prstGeom>
          <a:noFill/>
          <a:ln w="0">
            <a:noFill/>
          </a:ln>
        </p:spPr>
      </p:pic>
    </p:spTree>
  </p:cSld>
  <p:transition spd="slow">
    <p:wipe dir="r"/>
  </p:transition>
  <p:timing>
    <p:tnLst>
      <p:par>
        <p:cTn id="402" dur="indefinite" restart="never" nodeType="tmRoot">
          <p:childTnLst>
            <p:seq>
              <p:cTn id="403" dur="indefinite" nodeType="mainSeq">
                <p:childTnLst>
                  <p:par>
                    <p:cTn id="404" nodeType="clickEffect" fill="hold">
                      <p:stCondLst>
                        <p:cond delay="indefinite"/>
                      </p:stCondLst>
                      <p:childTnLst>
                        <p:par>
                          <p:cTn id="405" nodeType="withEffect" fill="hold">
                            <p:stCondLst>
                              <p:cond delay="0"/>
                            </p:stCondLst>
                            <p:childTnLst>
                              <p:par>
                                <p:cTn id="406" nodeType="clickEffect" fill="hold" presetClass="entr" presetID="10">
                                  <p:stCondLst>
                                    <p:cond delay="0"/>
                                  </p:stCondLst>
                                  <p:childTnLst>
                                    <p:set>
                                      <p:cBhvr>
                                        <p:cTn id="407" dur="1" fill="hold">
                                          <p:stCondLst>
                                            <p:cond delay="0"/>
                                          </p:stCondLst>
                                        </p:cTn>
                                        <p:tgtEl>
                                          <p:spTgt spid="153"/>
                                        </p:tgtEl>
                                        <p:attrNameLst>
                                          <p:attrName>style.visibility</p:attrName>
                                        </p:attrNameLst>
                                      </p:cBhvr>
                                      <p:to>
                                        <p:strVal val="visible"/>
                                      </p:to>
                                    </p:set>
                                    <p:animEffect filter="fade" transition="in">
                                      <p:cBhvr additive="repl">
                                        <p:cTn id="408" dur="500"/>
                                        <p:tgtEl>
                                          <p:spTgt spid="153"/>
                                        </p:tgtEl>
                                      </p:cBhvr>
                                    </p:animEffect>
                                  </p:childTnLst>
                                </p:cTn>
                              </p:par>
                              <p:par>
                                <p:cTn id="409" nodeType="withEffect" fill="hold" presetClass="entr" presetID="10">
                                  <p:stCondLst>
                                    <p:cond delay="200"/>
                                  </p:stCondLst>
                                  <p:childTnLst>
                                    <p:set>
                                      <p:cBhvr>
                                        <p:cTn id="410" dur="1" fill="hold">
                                          <p:stCondLst>
                                            <p:cond delay="0"/>
                                          </p:stCondLst>
                                        </p:cTn>
                                        <p:tgtEl>
                                          <p:spTgt spid="154"/>
                                        </p:tgtEl>
                                        <p:attrNameLst>
                                          <p:attrName>style.visibility</p:attrName>
                                        </p:attrNameLst>
                                      </p:cBhvr>
                                      <p:to>
                                        <p:strVal val="visible"/>
                                      </p:to>
                                    </p:set>
                                    <p:animEffect filter="fade" transition="in">
                                      <p:cBhvr additive="repl">
                                        <p:cTn id="411" dur="500"/>
                                        <p:tgtEl>
                                          <p:spTgt spid="154"/>
                                        </p:tgtEl>
                                      </p:cBhvr>
                                    </p:animEffect>
                                  </p:childTnLst>
                                </p:cTn>
                              </p:par>
                              <p:par>
                                <p:cTn id="412" nodeType="withEffect" fill="hold" presetClass="entr" presetID="10">
                                  <p:stCondLst>
                                    <p:cond delay="600"/>
                                  </p:stCondLst>
                                  <p:childTnLst>
                                    <p:set>
                                      <p:cBhvr>
                                        <p:cTn id="413" dur="1" fill="hold">
                                          <p:stCondLst>
                                            <p:cond delay="0"/>
                                          </p:stCondLst>
                                        </p:cTn>
                                        <p:tgtEl>
                                          <p:spTgt spid="155"/>
                                        </p:tgtEl>
                                        <p:attrNameLst>
                                          <p:attrName>style.visibility</p:attrName>
                                        </p:attrNameLst>
                                      </p:cBhvr>
                                      <p:to>
                                        <p:strVal val="visible"/>
                                      </p:to>
                                    </p:set>
                                    <p:animEffect filter="fade" transition="in">
                                      <p:cBhvr additive="repl">
                                        <p:cTn id="414" dur="500"/>
                                        <p:tgtEl>
                                          <p:spTgt spid="155"/>
                                        </p:tgtEl>
                                      </p:cBhvr>
                                    </p:animEffect>
                                  </p:childTnLst>
                                </p:cTn>
                              </p:par>
                              <p:par>
                                <p:cTn id="415" nodeType="withEffect" fill="hold" presetClass="entr" presetID="10">
                                  <p:stCondLst>
                                    <p:cond delay="1000"/>
                                  </p:stCondLst>
                                  <p:childTnLst>
                                    <p:set>
                                      <p:cBhvr>
                                        <p:cTn id="416" dur="1" fill="hold">
                                          <p:stCondLst>
                                            <p:cond delay="0"/>
                                          </p:stCondLst>
                                        </p:cTn>
                                        <p:tgtEl>
                                          <p:spTgt spid="156"/>
                                        </p:tgtEl>
                                        <p:attrNameLst>
                                          <p:attrName>style.visibility</p:attrName>
                                        </p:attrNameLst>
                                      </p:cBhvr>
                                      <p:to>
                                        <p:strVal val="visible"/>
                                      </p:to>
                                    </p:set>
                                    <p:animEffect filter="fade" transition="in">
                                      <p:cBhvr additive="repl">
                                        <p:cTn id="417" dur="500"/>
                                        <p:tgtEl>
                                          <p:spTgt spid="156"/>
                                        </p:tgtEl>
                                      </p:cBhvr>
                                    </p:animEffect>
                                  </p:childTnLst>
                                </p:cTn>
                              </p:par>
                              <p:par>
                                <p:cTn id="418" nodeType="withEffect" fill="hold" presetClass="entr" presetID="10">
                                  <p:stCondLst>
                                    <p:cond delay="1400"/>
                                  </p:stCondLst>
                                  <p:childTnLst>
                                    <p:set>
                                      <p:cBhvr>
                                        <p:cTn id="419" dur="1" fill="hold">
                                          <p:stCondLst>
                                            <p:cond delay="0"/>
                                          </p:stCondLst>
                                        </p:cTn>
                                        <p:tgtEl>
                                          <p:spTgt spid="157"/>
                                        </p:tgtEl>
                                        <p:attrNameLst>
                                          <p:attrName>style.visibility</p:attrName>
                                        </p:attrNameLst>
                                      </p:cBhvr>
                                      <p:to>
                                        <p:strVal val="visible"/>
                                      </p:to>
                                    </p:set>
                                    <p:animEffect filter="fade" transition="in">
                                      <p:cBhvr additive="repl">
                                        <p:cTn id="420" dur="500"/>
                                        <p:tgtEl>
                                          <p:spTgt spid="157"/>
                                        </p:tgtEl>
                                      </p:cBhvr>
                                    </p:animEffect>
                                  </p:childTnLst>
                                </p:cTn>
                              </p:par>
                              <p:par>
                                <p:cTn id="421" nodeType="withEffect" fill="hold" presetClass="entr" presetID="10">
                                  <p:stCondLst>
                                    <p:cond delay="1700"/>
                                  </p:stCondLst>
                                  <p:childTnLst>
                                    <p:set>
                                      <p:cBhvr>
                                        <p:cTn id="422" dur="1" fill="hold">
                                          <p:stCondLst>
                                            <p:cond delay="0"/>
                                          </p:stCondLst>
                                        </p:cTn>
                                        <p:tgtEl>
                                          <p:spTgt spid="158"/>
                                        </p:tgtEl>
                                        <p:attrNameLst>
                                          <p:attrName>style.visibility</p:attrName>
                                        </p:attrNameLst>
                                      </p:cBhvr>
                                      <p:to>
                                        <p:strVal val="visible"/>
                                      </p:to>
                                    </p:set>
                                    <p:animEffect filter="fade" transition="in">
                                      <p:cBhvr additive="repl">
                                        <p:cTn id="423" dur="500"/>
                                        <p:tgtEl>
                                          <p:spTgt spid="158"/>
                                        </p:tgtEl>
                                      </p:cBhvr>
                                    </p:animEffect>
                                  </p:childTnLst>
                                </p:cTn>
                              </p:par>
                              <p:par>
                                <p:cTn id="424" nodeType="withEffect" fill="hold" presetClass="entr" presetID="10">
                                  <p:stCondLst>
                                    <p:cond delay="2000"/>
                                  </p:stCondLst>
                                  <p:childTnLst>
                                    <p:set>
                                      <p:cBhvr>
                                        <p:cTn id="425" dur="1" fill="hold">
                                          <p:stCondLst>
                                            <p:cond delay="0"/>
                                          </p:stCondLst>
                                        </p:cTn>
                                        <p:tgtEl>
                                          <p:spTgt spid="159"/>
                                        </p:tgtEl>
                                        <p:attrNameLst>
                                          <p:attrName>style.visibility</p:attrName>
                                        </p:attrNameLst>
                                      </p:cBhvr>
                                      <p:to>
                                        <p:strVal val="visible"/>
                                      </p:to>
                                    </p:set>
                                    <p:animEffect filter="fade" transition="in">
                                      <p:cBhvr additive="repl">
                                        <p:cTn id="426" dur="500"/>
                                        <p:tgtEl>
                                          <p:spTgt spid="159"/>
                                        </p:tgtEl>
                                      </p:cBhvr>
                                    </p:animEffect>
                                  </p:childTnLst>
                                </p:cTn>
                              </p:par>
                              <p:par>
                                <p:cTn id="427" nodeType="withEffect" fill="hold" presetClass="entr" presetID="10">
                                  <p:stCondLst>
                                    <p:cond delay="2300"/>
                                  </p:stCondLst>
                                  <p:childTnLst>
                                    <p:set>
                                      <p:cBhvr>
                                        <p:cTn id="428" dur="1" fill="hold">
                                          <p:stCondLst>
                                            <p:cond delay="0"/>
                                          </p:stCondLst>
                                        </p:cTn>
                                        <p:tgtEl>
                                          <p:spTgt spid="160"/>
                                        </p:tgtEl>
                                        <p:attrNameLst>
                                          <p:attrName>style.visibility</p:attrName>
                                        </p:attrNameLst>
                                      </p:cBhvr>
                                      <p:to>
                                        <p:strVal val="visible"/>
                                      </p:to>
                                    </p:set>
                                    <p:animEffect filter="fade" transition="in">
                                      <p:cBhvr additive="repl">
                                        <p:cTn id="429" dur="500"/>
                                        <p:tgtEl>
                                          <p:spTgt spid="160"/>
                                        </p:tgtEl>
                                      </p:cBhvr>
                                    </p:animEffect>
                                  </p:childTnLst>
                                </p:cTn>
                              </p:par>
                            </p:childTnLst>
                          </p:cTn>
                        </p:par>
                      </p:childTnLst>
                    </p:cTn>
                  </p:par>
                  <p:par>
                    <p:cTn id="430" nodeType="clickEffect" fill="hold">
                      <p:stCondLst>
                        <p:cond delay="indefinite"/>
                      </p:stCondLst>
                      <p:childTnLst>
                        <p:par>
                          <p:cTn id="431" nodeType="withEffect" fill="hold">
                            <p:stCondLst>
                              <p:cond delay="0"/>
                            </p:stCondLst>
                            <p:childTnLst>
                              <p:par>
                                <p:cTn id="432" nodeType="clickEffect" fill="hold" presetClass="entr" presetID="22" presetSubtype="4">
                                  <p:stCondLst>
                                    <p:cond delay="0"/>
                                  </p:stCondLst>
                                  <p:childTnLst>
                                    <p:set>
                                      <p:cBhvr>
                                        <p:cTn id="433" dur="1" fill="hold">
                                          <p:stCondLst>
                                            <p:cond delay="0"/>
                                          </p:stCondLst>
                                        </p:cTn>
                                        <p:tgtEl>
                                          <p:spTgt spid="161"/>
                                        </p:tgtEl>
                                        <p:attrNameLst>
                                          <p:attrName>style.visibility</p:attrName>
                                        </p:attrNameLst>
                                      </p:cBhvr>
                                      <p:to>
                                        <p:strVal val="visible"/>
                                      </p:to>
                                    </p:set>
                                    <p:animEffect filter="wipe(down)" transition="in">
                                      <p:cBhvr additive="repl">
                                        <p:cTn id="434" dur="1000"/>
                                        <p:tgtEl>
                                          <p:spTgt spid="161"/>
                                        </p:tgtEl>
                                      </p:cBhvr>
                                    </p:animEffect>
                                  </p:childTnLst>
                                </p:cTn>
                              </p:par>
                            </p:childTnLst>
                          </p:cTn>
                        </p:par>
                      </p:childTnLst>
                    </p:cTn>
                  </p:par>
                  <p:par>
                    <p:cTn id="435" nodeType="clickEffect" fill="hold">
                      <p:stCondLst>
                        <p:cond delay="indefinite"/>
                      </p:stCondLst>
                      <p:childTnLst>
                        <p:par>
                          <p:cTn id="436" nodeType="withEffect" fill="hold">
                            <p:stCondLst>
                              <p:cond delay="0"/>
                            </p:stCondLst>
                            <p:childTnLst>
                              <p:par>
                                <p:cTn id="437" nodeType="clickEffect" fill="hold" presetClass="entr" presetID="10">
                                  <p:stCondLst>
                                    <p:cond delay="0"/>
                                  </p:stCondLst>
                                  <p:childTnLst>
                                    <p:set>
                                      <p:cBhvr>
                                        <p:cTn id="438" dur="1" fill="hold">
                                          <p:stCondLst>
                                            <p:cond delay="0"/>
                                          </p:stCondLst>
                                        </p:cTn>
                                        <p:tgtEl>
                                          <p:spTgt spid="162"/>
                                        </p:tgtEl>
                                        <p:attrNameLst>
                                          <p:attrName>style.visibility</p:attrName>
                                        </p:attrNameLst>
                                      </p:cBhvr>
                                      <p:to>
                                        <p:strVal val="visible"/>
                                      </p:to>
                                    </p:set>
                                    <p:animEffect filter="fade" transition="in">
                                      <p:cBhvr additive="repl">
                                        <p:cTn id="439" dur="500"/>
                                        <p:tgtEl>
                                          <p:spTgt spid="162"/>
                                        </p:tgtEl>
                                      </p:cBhvr>
                                    </p:animEffect>
                                  </p:childTnLst>
                                </p:cTn>
                              </p:par>
                            </p:childTnLst>
                          </p:cTn>
                        </p:par>
                      </p:childTnLst>
                    </p:cTn>
                  </p:par>
                  <p:par>
                    <p:cTn id="440" nodeType="clickEffect" fill="hold">
                      <p:stCondLst>
                        <p:cond delay="indefinite"/>
                      </p:stCondLst>
                      <p:childTnLst>
                        <p:par>
                          <p:cTn id="441" nodeType="withEffect" fill="hold">
                            <p:stCondLst>
                              <p:cond delay="0"/>
                            </p:stCondLst>
                            <p:childTnLst>
                              <p:par>
                                <p:cTn id="442" nodeType="clickEffect" fill="hold" presetClass="entr" presetID="10">
                                  <p:stCondLst>
                                    <p:cond delay="0"/>
                                  </p:stCondLst>
                                  <p:childTnLst>
                                    <p:set>
                                      <p:cBhvr>
                                        <p:cTn id="443" dur="1" fill="hold">
                                          <p:stCondLst>
                                            <p:cond delay="0"/>
                                          </p:stCondLst>
                                        </p:cTn>
                                        <p:tgtEl>
                                          <p:spTgt spid="163"/>
                                        </p:tgtEl>
                                        <p:attrNameLst>
                                          <p:attrName>style.visibility</p:attrName>
                                        </p:attrNameLst>
                                      </p:cBhvr>
                                      <p:to>
                                        <p:strVal val="visible"/>
                                      </p:to>
                                    </p:set>
                                    <p:animEffect filter="fade" transition="in">
                                      <p:cBhvr additive="repl">
                                        <p:cTn id="444" dur="500"/>
                                        <p:tgtEl>
                                          <p:spTgt spid="163"/>
                                        </p:tgtEl>
                                      </p:cBhvr>
                                    </p:animEffect>
                                  </p:childTnLst>
                                </p:cTn>
                              </p:par>
                            </p:childTnLst>
                          </p:cTn>
                        </p:par>
                      </p:childTnLst>
                    </p:cTn>
                  </p:par>
                  <p:par>
                    <p:cTn id="445" nodeType="clickEffect" fill="hold">
                      <p:stCondLst>
                        <p:cond delay="indefinite"/>
                      </p:stCondLst>
                      <p:childTnLst>
                        <p:par>
                          <p:cTn id="446" nodeType="withEffect" fill="hold">
                            <p:stCondLst>
                              <p:cond delay="0"/>
                            </p:stCondLst>
                            <p:childTnLst>
                              <p:par>
                                <p:cTn id="447" nodeType="clickEffect" fill="hold" presetClass="entr" presetID="10">
                                  <p:stCondLst>
                                    <p:cond delay="0"/>
                                  </p:stCondLst>
                                  <p:childTnLst>
                                    <p:set>
                                      <p:cBhvr>
                                        <p:cTn id="448" dur="1" fill="hold">
                                          <p:stCondLst>
                                            <p:cond delay="0"/>
                                          </p:stCondLst>
                                        </p:cTn>
                                        <p:tgtEl>
                                          <p:spTgt spid="164"/>
                                        </p:tgtEl>
                                        <p:attrNameLst>
                                          <p:attrName>style.visibility</p:attrName>
                                        </p:attrNameLst>
                                      </p:cBhvr>
                                      <p:to>
                                        <p:strVal val="visible"/>
                                      </p:to>
                                    </p:set>
                                    <p:animEffect filter="fade" transition="in">
                                      <p:cBhvr additive="repl">
                                        <p:cTn id="449" dur="500"/>
                                        <p:tgtEl>
                                          <p:spTgt spid="164"/>
                                        </p:tgtEl>
                                      </p:cBhvr>
                                    </p:animEffect>
                                  </p:childTnLst>
                                </p:cTn>
                              </p:par>
                            </p:childTnLst>
                          </p:cTn>
                        </p:par>
                      </p:childTnLst>
                    </p:cTn>
                  </p:par>
                  <p:par>
                    <p:cTn id="450" nodeType="clickEffect" fill="hold">
                      <p:stCondLst>
                        <p:cond delay="indefinite"/>
                      </p:stCondLst>
                      <p:childTnLst>
                        <p:par>
                          <p:cTn id="451" nodeType="withEffect" fill="hold">
                            <p:stCondLst>
                              <p:cond delay="0"/>
                            </p:stCondLst>
                            <p:childTnLst>
                              <p:par>
                                <p:cTn id="452" nodeType="clickEffect" fill="hold" presetClass="entr" presetID="22" presetSubtype="4">
                                  <p:stCondLst>
                                    <p:cond delay="0"/>
                                  </p:stCondLst>
                                  <p:childTnLst>
                                    <p:set>
                                      <p:cBhvr>
                                        <p:cTn id="453" dur="1" fill="hold">
                                          <p:stCondLst>
                                            <p:cond delay="0"/>
                                          </p:stCondLst>
                                        </p:cTn>
                                        <p:tgtEl>
                                          <p:spTgt spid="165"/>
                                        </p:tgtEl>
                                        <p:attrNameLst>
                                          <p:attrName>style.visibility</p:attrName>
                                        </p:attrNameLst>
                                      </p:cBhvr>
                                      <p:to>
                                        <p:strVal val="visible"/>
                                      </p:to>
                                    </p:set>
                                    <p:animEffect filter="wipe(down)" transition="in">
                                      <p:cBhvr additive="repl">
                                        <p:cTn id="454" dur="1000"/>
                                        <p:tgtEl>
                                          <p:spTgt spid="165"/>
                                        </p:tgtEl>
                                      </p:cBhvr>
                                    </p:animEffect>
                                  </p:childTnLst>
                                </p:cTn>
                              </p:par>
                            </p:childTnLst>
                          </p:cTn>
                        </p:par>
                      </p:childTnLst>
                    </p:cTn>
                  </p:par>
                  <p:par>
                    <p:cTn id="455" nodeType="clickEffect" fill="hold">
                      <p:stCondLst>
                        <p:cond delay="indefinite"/>
                      </p:stCondLst>
                      <p:childTnLst>
                        <p:par>
                          <p:cTn id="456" nodeType="withEffect" fill="hold">
                            <p:stCondLst>
                              <p:cond delay="0"/>
                            </p:stCondLst>
                            <p:childTnLst>
                              <p:par>
                                <p:cTn id="457" nodeType="clickEffect" fill="hold" presetClass="entr" presetID="10">
                                  <p:stCondLst>
                                    <p:cond delay="0"/>
                                  </p:stCondLst>
                                  <p:childTnLst>
                                    <p:set>
                                      <p:cBhvr>
                                        <p:cTn id="458" dur="1" fill="hold">
                                          <p:stCondLst>
                                            <p:cond delay="0"/>
                                          </p:stCondLst>
                                        </p:cTn>
                                        <p:tgtEl>
                                          <p:spTgt spid="166"/>
                                        </p:tgtEl>
                                        <p:attrNameLst>
                                          <p:attrName>style.visibility</p:attrName>
                                        </p:attrNameLst>
                                      </p:cBhvr>
                                      <p:to>
                                        <p:strVal val="visible"/>
                                      </p:to>
                                    </p:set>
                                    <p:animEffect filter="fade" transition="in">
                                      <p:cBhvr additive="repl">
                                        <p:cTn id="459" dur="500"/>
                                        <p:tgtEl>
                                          <p:spTgt spid="166"/>
                                        </p:tgtEl>
                                      </p:cBhvr>
                                    </p:animEffect>
                                  </p:childTnLst>
                                </p:cTn>
                              </p:par>
                            </p:childTnLst>
                          </p:cTn>
                        </p:par>
                      </p:childTnLst>
                    </p:cTn>
                  </p:par>
                  <p:par>
                    <p:cTn id="460" nodeType="clickEffect" fill="hold">
                      <p:stCondLst>
                        <p:cond delay="indefinite"/>
                      </p:stCondLst>
                      <p:childTnLst>
                        <p:par>
                          <p:cTn id="461" nodeType="withEffect" fill="hold">
                            <p:stCondLst>
                              <p:cond delay="0"/>
                            </p:stCondLst>
                            <p:childTnLst>
                              <p:par>
                                <p:cTn id="462" nodeType="clickEffect" fill="hold" presetClass="entr" presetID="22" presetSubtype="4">
                                  <p:stCondLst>
                                    <p:cond delay="0"/>
                                  </p:stCondLst>
                                  <p:childTnLst>
                                    <p:set>
                                      <p:cBhvr>
                                        <p:cTn id="463" dur="1" fill="hold">
                                          <p:stCondLst>
                                            <p:cond delay="0"/>
                                          </p:stCondLst>
                                        </p:cTn>
                                        <p:tgtEl>
                                          <p:spTgt spid="167"/>
                                        </p:tgtEl>
                                        <p:attrNameLst>
                                          <p:attrName>style.visibility</p:attrName>
                                        </p:attrNameLst>
                                      </p:cBhvr>
                                      <p:to>
                                        <p:strVal val="visible"/>
                                      </p:to>
                                    </p:set>
                                    <p:animEffect filter="wipe(down)" transition="in">
                                      <p:cBhvr additive="repl">
                                        <p:cTn id="464" dur="1000"/>
                                        <p:tgtEl>
                                          <p:spTgt spid="1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19.2  LABOR MARKETS</a:t>
            </a:r>
            <a:endParaRPr b="0" lang="en-CA" sz="2600" strike="noStrike" u="none">
              <a:solidFill>
                <a:schemeClr val="dk1"/>
              </a:solidFill>
              <a:effectLst/>
              <a:uFillTx/>
              <a:latin typeface="Arial"/>
            </a:endParaRPr>
          </a:p>
        </p:txBody>
      </p:sp>
      <p:sp>
        <p:nvSpPr>
          <p:cNvPr id="169" name="PlaceHolder 2"/>
          <p:cNvSpPr>
            <a:spLocks noGrp="1"/>
          </p:cNvSpPr>
          <p:nvPr>
            <p:ph/>
          </p:nvPr>
        </p:nvSpPr>
        <p:spPr>
          <a:xfrm>
            <a:off x="360360" y="1440000"/>
            <a:ext cx="2447640" cy="4647960"/>
          </a:xfrm>
          <a:prstGeom prst="rect">
            <a:avLst/>
          </a:prstGeom>
          <a:noFill/>
          <a:ln w="0">
            <a:noFill/>
          </a:ln>
        </p:spPr>
        <p:txBody>
          <a:bodyPr numCol="1" spcCol="0" lIns="91440" rIns="91440" tIns="45720" bIns="45720" anchor="t">
            <a:noAutofit/>
          </a:bodyPr>
          <a:p>
            <a:pPr marL="817200" indent="-457200">
              <a:lnSpc>
                <a:spcPct val="100000"/>
              </a:lnSpc>
              <a:spcBef>
                <a:spcPts val="601"/>
              </a:spcBef>
              <a:spcAft>
                <a:spcPts val="601"/>
              </a:spcAft>
              <a:buClr>
                <a:srgbClr val="000000"/>
              </a:buClr>
              <a:buFont typeface="Arial"/>
              <a:buAutoNum type="arabicPeriod"/>
              <a:tabLst>
                <a:tab algn="l" pos="457200"/>
              </a:tabLst>
            </a:pPr>
            <a:r>
              <a:rPr b="0" lang="en-US" sz="2400" strike="noStrike" u="none">
                <a:solidFill>
                  <a:srgbClr val="000000"/>
                </a:solidFill>
                <a:effectLst/>
                <a:uFillTx/>
                <a:latin typeface="Arial"/>
                <a:ea typeface="ＭＳ Ｐゴシック"/>
              </a:rPr>
              <a:t>At a wage rate of $15 an hour, Larry …</a:t>
            </a:r>
            <a:endParaRPr b="1" lang="en-CA" sz="2400" strike="noStrike" u="none">
              <a:solidFill>
                <a:srgbClr val="00468f"/>
              </a:solidFill>
              <a:effectLst/>
              <a:uFillTx/>
              <a:latin typeface="Arial"/>
            </a:endParaRPr>
          </a:p>
          <a:p>
            <a:pPr marL="817200" indent="-457200">
              <a:lnSpc>
                <a:spcPct val="100000"/>
              </a:lnSpc>
              <a:spcBef>
                <a:spcPts val="601"/>
              </a:spcBef>
              <a:spcAft>
                <a:spcPts val="601"/>
              </a:spcAft>
              <a:buClr>
                <a:srgbClr val="000000"/>
              </a:buClr>
              <a:buFont typeface="Arial"/>
              <a:buAutoNum type="arabicPeriod"/>
              <a:tabLst>
                <a:tab algn="l" pos="457200"/>
              </a:tabLst>
            </a:pPr>
            <a:r>
              <a:rPr b="0" lang="en-US" sz="2400" strike="noStrike" u="none">
                <a:solidFill>
                  <a:srgbClr val="000000"/>
                </a:solidFill>
                <a:effectLst/>
                <a:uFillTx/>
                <a:latin typeface="Arial"/>
                <a:ea typeface="ＭＳ Ｐゴシック"/>
              </a:rPr>
              <a:t>supplies 30 hours of labor a week.</a:t>
            </a:r>
            <a:endParaRPr b="1" lang="en-CA" sz="2400" strike="noStrike" u="none">
              <a:solidFill>
                <a:srgbClr val="00468f"/>
              </a:solidFill>
              <a:effectLst/>
              <a:uFillTx/>
              <a:latin typeface="Arial"/>
            </a:endParaRPr>
          </a:p>
        </p:txBody>
      </p:sp>
      <p:pic>
        <p:nvPicPr>
          <p:cNvPr id="170" name="Picture 1" descr=""/>
          <p:cNvPicPr/>
          <p:nvPr/>
        </p:nvPicPr>
        <p:blipFill>
          <a:blip r:embed="rId1"/>
          <a:stretch/>
        </p:blipFill>
        <p:spPr>
          <a:xfrm>
            <a:off x="2808360" y="1511280"/>
            <a:ext cx="5835240" cy="3893760"/>
          </a:xfrm>
          <a:prstGeom prst="rect">
            <a:avLst/>
          </a:prstGeom>
          <a:noFill/>
          <a:ln w="0">
            <a:noFill/>
          </a:ln>
        </p:spPr>
      </p:pic>
      <p:pic>
        <p:nvPicPr>
          <p:cNvPr id="171" name="Picture 18" descr=""/>
          <p:cNvPicPr/>
          <p:nvPr/>
        </p:nvPicPr>
        <p:blipFill>
          <a:blip r:embed="rId2"/>
          <a:stretch/>
        </p:blipFill>
        <p:spPr>
          <a:xfrm>
            <a:off x="2808360" y="1511280"/>
            <a:ext cx="5835240" cy="3893760"/>
          </a:xfrm>
          <a:prstGeom prst="rect">
            <a:avLst/>
          </a:prstGeom>
          <a:noFill/>
          <a:ln w="0">
            <a:noFill/>
          </a:ln>
        </p:spPr>
      </p:pic>
      <p:pic>
        <p:nvPicPr>
          <p:cNvPr id="172" name="Picture 19" descr=""/>
          <p:cNvPicPr/>
          <p:nvPr/>
        </p:nvPicPr>
        <p:blipFill>
          <a:blip r:embed="rId3"/>
          <a:stretch/>
        </p:blipFill>
        <p:spPr>
          <a:xfrm>
            <a:off x="2808360" y="1511280"/>
            <a:ext cx="5835240" cy="3893760"/>
          </a:xfrm>
          <a:prstGeom prst="rect">
            <a:avLst/>
          </a:prstGeom>
          <a:noFill/>
          <a:ln w="0">
            <a:noFill/>
          </a:ln>
        </p:spPr>
      </p:pic>
      <p:pic>
        <p:nvPicPr>
          <p:cNvPr id="173" name="Picture 20" descr=""/>
          <p:cNvPicPr/>
          <p:nvPr/>
        </p:nvPicPr>
        <p:blipFill>
          <a:blip r:embed="rId4"/>
          <a:stretch/>
        </p:blipFill>
        <p:spPr>
          <a:xfrm>
            <a:off x="2808360" y="1511280"/>
            <a:ext cx="5835240" cy="3893760"/>
          </a:xfrm>
          <a:prstGeom prst="rect">
            <a:avLst/>
          </a:prstGeom>
          <a:noFill/>
          <a:ln w="0">
            <a:noFill/>
          </a:ln>
        </p:spPr>
      </p:pic>
      <p:pic>
        <p:nvPicPr>
          <p:cNvPr id="174" name="Picture 21" descr=""/>
          <p:cNvPicPr/>
          <p:nvPr/>
        </p:nvPicPr>
        <p:blipFill>
          <a:blip r:embed="rId5"/>
          <a:stretch/>
        </p:blipFill>
        <p:spPr>
          <a:xfrm>
            <a:off x="2808360" y="1511280"/>
            <a:ext cx="5835240" cy="3893760"/>
          </a:xfrm>
          <a:prstGeom prst="rect">
            <a:avLst/>
          </a:prstGeom>
          <a:noFill/>
          <a:ln w="0">
            <a:noFill/>
          </a:ln>
        </p:spPr>
      </p:pic>
      <p:pic>
        <p:nvPicPr>
          <p:cNvPr id="175" name="Picture 22" descr=""/>
          <p:cNvPicPr/>
          <p:nvPr/>
        </p:nvPicPr>
        <p:blipFill>
          <a:blip r:embed="rId6"/>
          <a:stretch/>
        </p:blipFill>
        <p:spPr>
          <a:xfrm>
            <a:off x="2808360" y="1511280"/>
            <a:ext cx="5835240" cy="3893760"/>
          </a:xfrm>
          <a:prstGeom prst="rect">
            <a:avLst/>
          </a:prstGeom>
          <a:noFill/>
          <a:ln w="0">
            <a:noFill/>
          </a:ln>
        </p:spPr>
      </p:pic>
      <p:pic>
        <p:nvPicPr>
          <p:cNvPr id="176" name="Picture 23" descr=""/>
          <p:cNvPicPr/>
          <p:nvPr/>
        </p:nvPicPr>
        <p:blipFill>
          <a:blip r:embed="rId7"/>
          <a:stretch/>
        </p:blipFill>
        <p:spPr>
          <a:xfrm>
            <a:off x="2808360" y="1511280"/>
            <a:ext cx="5835240" cy="3893760"/>
          </a:xfrm>
          <a:prstGeom prst="rect">
            <a:avLst/>
          </a:prstGeom>
          <a:noFill/>
          <a:ln w="0">
            <a:noFill/>
          </a:ln>
        </p:spPr>
      </p:pic>
      <p:pic>
        <p:nvPicPr>
          <p:cNvPr id="177" name="Picture 24" descr=""/>
          <p:cNvPicPr/>
          <p:nvPr/>
        </p:nvPicPr>
        <p:blipFill>
          <a:blip r:embed="rId8"/>
          <a:stretch/>
        </p:blipFill>
        <p:spPr>
          <a:xfrm>
            <a:off x="2808360" y="1511280"/>
            <a:ext cx="5835240" cy="3893760"/>
          </a:xfrm>
          <a:prstGeom prst="rect">
            <a:avLst/>
          </a:prstGeom>
          <a:noFill/>
          <a:ln w="0">
            <a:noFill/>
          </a:ln>
        </p:spPr>
      </p:pic>
      <p:pic>
        <p:nvPicPr>
          <p:cNvPr id="178" name="Picture 25" descr=""/>
          <p:cNvPicPr/>
          <p:nvPr/>
        </p:nvPicPr>
        <p:blipFill>
          <a:blip r:embed="rId9"/>
          <a:stretch/>
        </p:blipFill>
        <p:spPr>
          <a:xfrm>
            <a:off x="2808360" y="1511280"/>
            <a:ext cx="5835240" cy="3893760"/>
          </a:xfrm>
          <a:prstGeom prst="rect">
            <a:avLst/>
          </a:prstGeom>
          <a:noFill/>
          <a:ln w="0">
            <a:noFill/>
          </a:ln>
        </p:spPr>
      </p:pic>
      <p:pic>
        <p:nvPicPr>
          <p:cNvPr id="179" name="Picture 26" descr=""/>
          <p:cNvPicPr/>
          <p:nvPr/>
        </p:nvPicPr>
        <p:blipFill>
          <a:blip r:embed="rId10"/>
          <a:stretch/>
        </p:blipFill>
        <p:spPr>
          <a:xfrm>
            <a:off x="2808360" y="1511280"/>
            <a:ext cx="5835240" cy="3893760"/>
          </a:xfrm>
          <a:prstGeom prst="rect">
            <a:avLst/>
          </a:prstGeom>
          <a:noFill/>
          <a:ln w="0">
            <a:noFill/>
          </a:ln>
        </p:spPr>
      </p:pic>
      <p:pic>
        <p:nvPicPr>
          <p:cNvPr id="180" name="Picture 27" descr=""/>
          <p:cNvPicPr/>
          <p:nvPr/>
        </p:nvPicPr>
        <p:blipFill>
          <a:blip r:embed="rId11"/>
          <a:stretch/>
        </p:blipFill>
        <p:spPr>
          <a:xfrm>
            <a:off x="2808360" y="1511280"/>
            <a:ext cx="5835240" cy="3893760"/>
          </a:xfrm>
          <a:prstGeom prst="rect">
            <a:avLst/>
          </a:prstGeom>
          <a:noFill/>
          <a:ln w="0">
            <a:noFill/>
          </a:ln>
        </p:spPr>
      </p:pic>
      <p:pic>
        <p:nvPicPr>
          <p:cNvPr id="181" name="Picture 28" descr=""/>
          <p:cNvPicPr/>
          <p:nvPr/>
        </p:nvPicPr>
        <p:blipFill>
          <a:blip r:embed="rId12"/>
          <a:stretch/>
        </p:blipFill>
        <p:spPr>
          <a:xfrm>
            <a:off x="2808360" y="1511280"/>
            <a:ext cx="5835240" cy="3893760"/>
          </a:xfrm>
          <a:prstGeom prst="rect">
            <a:avLst/>
          </a:prstGeom>
          <a:noFill/>
          <a:ln w="0">
            <a:noFill/>
          </a:ln>
        </p:spPr>
      </p:pic>
    </p:spTree>
  </p:cSld>
  <p:transition spd="slow">
    <p:wipe dir="r"/>
  </p:transition>
  <p:timing>
    <p:tnLst>
      <p:par>
        <p:cTn id="465" dur="indefinite" restart="never" nodeType="tmRoot">
          <p:childTnLst>
            <p:seq>
              <p:cTn id="466" dur="indefinite" nodeType="mainSeq">
                <p:childTnLst>
                  <p:par>
                    <p:cTn id="467" nodeType="clickEffect" fill="hold">
                      <p:stCondLst>
                        <p:cond delay="0"/>
                      </p:stCondLst>
                      <p:childTnLst>
                        <p:par>
                          <p:cTn id="468" nodeType="withEffect" fill="hold">
                            <p:stCondLst>
                              <p:cond delay="0"/>
                            </p:stCondLst>
                            <p:childTnLst>
                              <p:par>
                                <p:cTn id="469" nodeType="withEffect" fill="hold" presetClass="entr" presetID="10">
                                  <p:stCondLst>
                                    <p:cond delay="0"/>
                                  </p:stCondLst>
                                  <p:childTnLst>
                                    <p:set>
                                      <p:cBhvr>
                                        <p:cTn id="470" dur="1" fill="hold">
                                          <p:stCondLst>
                                            <p:cond delay="0"/>
                                          </p:stCondLst>
                                        </p:cTn>
                                        <p:tgtEl>
                                          <p:spTgt spid="180"/>
                                        </p:tgtEl>
                                        <p:attrNameLst>
                                          <p:attrName>style.visibility</p:attrName>
                                        </p:attrNameLst>
                                      </p:cBhvr>
                                      <p:to>
                                        <p:strVal val="visible"/>
                                      </p:to>
                                    </p:set>
                                    <p:animEffect filter="fade" transition="in">
                                      <p:cBhvr additive="repl">
                                        <p:cTn id="471" dur="500"/>
                                        <p:tgtEl>
                                          <p:spTgt spid="180"/>
                                        </p:tgtEl>
                                      </p:cBhvr>
                                    </p:animEffect>
                                  </p:childTnLst>
                                </p:cTn>
                              </p:par>
                            </p:childTnLst>
                          </p:cTn>
                        </p:par>
                      </p:childTnLst>
                    </p:cTn>
                  </p:par>
                  <p:par>
                    <p:cTn id="472" nodeType="clickEffect" fill="hold">
                      <p:stCondLst>
                        <p:cond delay="indefinite"/>
                      </p:stCondLst>
                      <p:childTnLst>
                        <p:par>
                          <p:cTn id="473" nodeType="withEffect" fill="hold">
                            <p:stCondLst>
                              <p:cond delay="0"/>
                            </p:stCondLst>
                            <p:childTnLst>
                              <p:par>
                                <p:cTn id="474" nodeType="clickEffect" fill="hold" presetClass="entr" presetID="22" presetSubtype="8">
                                  <p:stCondLst>
                                    <p:cond delay="0"/>
                                  </p:stCondLst>
                                  <p:childTnLst>
                                    <p:set>
                                      <p:cBhvr>
                                        <p:cTn id="475" dur="1" fill="hold">
                                          <p:stCondLst>
                                            <p:cond delay="0"/>
                                          </p:stCondLst>
                                        </p:cTn>
                                        <p:tgtEl>
                                          <p:spTgt spid="169">
                                            <p:txEl>
                                              <p:pRg st="1" end="1"/>
                                            </p:txEl>
                                          </p:spTgt>
                                        </p:tgtEl>
                                        <p:attrNameLst>
                                          <p:attrName>style.visibility</p:attrName>
                                        </p:attrNameLst>
                                      </p:cBhvr>
                                      <p:to>
                                        <p:strVal val="visible"/>
                                      </p:to>
                                    </p:set>
                                    <p:animEffect filter="wipe(left)" transition="in">
                                      <p:cBhvr additive="repl">
                                        <p:cTn id="476" dur="500"/>
                                        <p:tgtEl>
                                          <p:spTgt spid="169">
                                            <p:txEl>
                                              <p:pRg st="1" end="1"/>
                                            </p:txEl>
                                          </p:spTgt>
                                        </p:tgtEl>
                                      </p:cBhvr>
                                    </p:animEffect>
                                  </p:childTnLst>
                                </p:cTn>
                              </p:par>
                              <p:par>
                                <p:cTn id="477" nodeType="withEffect" fill="hold" presetClass="entr" presetID="10">
                                  <p:stCondLst>
                                    <p:cond delay="0"/>
                                  </p:stCondLst>
                                  <p:childTnLst>
                                    <p:set>
                                      <p:cBhvr>
                                        <p:cTn id="478" dur="1" fill="hold">
                                          <p:stCondLst>
                                            <p:cond delay="0"/>
                                          </p:stCondLst>
                                        </p:cTn>
                                        <p:tgtEl>
                                          <p:spTgt spid="181"/>
                                        </p:tgtEl>
                                        <p:attrNameLst>
                                          <p:attrName>style.visibility</p:attrName>
                                        </p:attrNameLst>
                                      </p:cBhvr>
                                      <p:to>
                                        <p:strVal val="visible"/>
                                      </p:to>
                                    </p:set>
                                    <p:animEffect filter="fade" transition="in">
                                      <p:cBhvr additive="repl">
                                        <p:cTn id="479" dur="500"/>
                                        <p:tgtEl>
                                          <p:spTgt spid="1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2"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19.2  LABOR MARKETS</a:t>
            </a:r>
            <a:endParaRPr b="0" lang="en-CA" sz="2600" strike="noStrike" u="none">
              <a:solidFill>
                <a:schemeClr val="dk1"/>
              </a:solidFill>
              <a:effectLst/>
              <a:uFillTx/>
              <a:latin typeface="Arial"/>
            </a:endParaRPr>
          </a:p>
        </p:txBody>
      </p:sp>
      <p:sp>
        <p:nvSpPr>
          <p:cNvPr id="183" name="PlaceHolder 2"/>
          <p:cNvSpPr>
            <a:spLocks noGrp="1"/>
          </p:cNvSpPr>
          <p:nvPr>
            <p:ph/>
          </p:nvPr>
        </p:nvSpPr>
        <p:spPr>
          <a:xfrm>
            <a:off x="360360" y="1440000"/>
            <a:ext cx="2534760" cy="5036760"/>
          </a:xfrm>
          <a:prstGeom prst="rect">
            <a:avLst/>
          </a:prstGeom>
          <a:noFill/>
          <a:ln w="0">
            <a:noFill/>
          </a:ln>
        </p:spPr>
        <p:txBody>
          <a:bodyPr numCol="1" spcCol="0" lIns="91440" rIns="91440" tIns="45720" bIns="45720" anchor="t">
            <a:noAutofit/>
          </a:bodyPr>
          <a:p>
            <a:pPr marL="817200" indent="-457200">
              <a:lnSpc>
                <a:spcPct val="100000"/>
              </a:lnSpc>
              <a:spcBef>
                <a:spcPts val="601"/>
              </a:spcBef>
              <a:spcAft>
                <a:spcPts val="601"/>
              </a:spcAft>
              <a:buClr>
                <a:srgbClr val="000000"/>
              </a:buClr>
              <a:buFont typeface="Arial"/>
              <a:buAutoNum type="arabicPeriod" startAt="3"/>
            </a:pPr>
            <a:r>
              <a:rPr b="0" lang="en-US" sz="2400" strike="noStrike" u="none">
                <a:solidFill>
                  <a:srgbClr val="000000"/>
                </a:solidFill>
                <a:effectLst/>
                <a:uFillTx/>
                <a:latin typeface="Arial"/>
                <a:ea typeface="ＭＳ Ｐゴシック"/>
              </a:rPr>
              <a:t>As the wage rate rises, Larry’s quantity of labor supplied …</a:t>
            </a:r>
            <a:endParaRPr b="1" lang="en-CA" sz="2400" strike="noStrike" u="none">
              <a:solidFill>
                <a:srgbClr val="00468f"/>
              </a:solidFill>
              <a:effectLst/>
              <a:uFillTx/>
              <a:latin typeface="Arial"/>
            </a:endParaRPr>
          </a:p>
          <a:p>
            <a:pPr marL="817200" indent="-457200">
              <a:lnSpc>
                <a:spcPct val="100000"/>
              </a:lnSpc>
              <a:spcBef>
                <a:spcPts val="601"/>
              </a:spcBef>
              <a:spcAft>
                <a:spcPts val="601"/>
              </a:spcAft>
              <a:buClr>
                <a:srgbClr val="000000"/>
              </a:buClr>
              <a:buFont typeface="Arial"/>
              <a:buAutoNum type="arabicPeriod" startAt="3"/>
            </a:pPr>
            <a:r>
              <a:rPr b="0" lang="en-US" sz="2400" strike="noStrike" u="none">
                <a:solidFill>
                  <a:srgbClr val="000000"/>
                </a:solidFill>
                <a:effectLst/>
                <a:uFillTx/>
                <a:latin typeface="Arial"/>
                <a:ea typeface="ＭＳ Ｐゴシック"/>
              </a:rPr>
              <a:t>increases,</a:t>
            </a:r>
            <a:endParaRPr b="1" lang="en-CA" sz="2400" strike="noStrike" u="none">
              <a:solidFill>
                <a:srgbClr val="00468f"/>
              </a:solidFill>
              <a:effectLst/>
              <a:uFillTx/>
              <a:latin typeface="Arial"/>
            </a:endParaRPr>
          </a:p>
          <a:p>
            <a:pPr marL="817200" indent="-457200">
              <a:lnSpc>
                <a:spcPct val="100000"/>
              </a:lnSpc>
              <a:spcBef>
                <a:spcPts val="601"/>
              </a:spcBef>
              <a:spcAft>
                <a:spcPts val="601"/>
              </a:spcAft>
              <a:buClr>
                <a:srgbClr val="000000"/>
              </a:buClr>
              <a:buFont typeface="Arial"/>
              <a:buAutoNum type="arabicPeriod" startAt="3"/>
            </a:pPr>
            <a:r>
              <a:rPr b="0" lang="en-US" sz="2400" strike="noStrike" u="none">
                <a:solidFill>
                  <a:srgbClr val="000000"/>
                </a:solidFill>
                <a:effectLst/>
                <a:uFillTx/>
                <a:latin typeface="Arial"/>
                <a:ea typeface="ＭＳ Ｐゴシック"/>
              </a:rPr>
              <a:t>reaches a maximum, </a:t>
            </a:r>
            <a:endParaRPr b="1" lang="en-CA" sz="2400" strike="noStrike" u="none">
              <a:solidFill>
                <a:srgbClr val="00468f"/>
              </a:solidFill>
              <a:effectLst/>
              <a:uFillTx/>
              <a:latin typeface="Arial"/>
            </a:endParaRPr>
          </a:p>
          <a:p>
            <a:pPr marL="817200" indent="-457200">
              <a:lnSpc>
                <a:spcPct val="100000"/>
              </a:lnSpc>
              <a:spcBef>
                <a:spcPts val="601"/>
              </a:spcBef>
              <a:spcAft>
                <a:spcPts val="601"/>
              </a:spcAft>
              <a:buClr>
                <a:srgbClr val="000000"/>
              </a:buClr>
              <a:buFont typeface="Arial"/>
              <a:buAutoNum type="arabicPeriod" startAt="3"/>
            </a:pPr>
            <a:r>
              <a:rPr b="0" lang="en-US" sz="2400" strike="noStrike" u="none">
                <a:solidFill>
                  <a:srgbClr val="000000"/>
                </a:solidFill>
                <a:effectLst/>
                <a:uFillTx/>
                <a:latin typeface="Arial"/>
                <a:ea typeface="ＭＳ Ｐゴシック"/>
              </a:rPr>
              <a:t>then decreases.</a:t>
            </a:r>
            <a:endParaRPr b="1" lang="en-CA" sz="2400" strike="noStrike" u="none">
              <a:solidFill>
                <a:srgbClr val="00468f"/>
              </a:solidFill>
              <a:effectLst/>
              <a:uFillTx/>
              <a:latin typeface="Arial"/>
            </a:endParaRPr>
          </a:p>
        </p:txBody>
      </p:sp>
      <p:pic>
        <p:nvPicPr>
          <p:cNvPr id="184" name="Picture 1" descr=""/>
          <p:cNvPicPr/>
          <p:nvPr/>
        </p:nvPicPr>
        <p:blipFill>
          <a:blip r:embed="rId1"/>
          <a:stretch/>
        </p:blipFill>
        <p:spPr>
          <a:xfrm>
            <a:off x="2808360" y="1511280"/>
            <a:ext cx="5835240" cy="3893760"/>
          </a:xfrm>
          <a:prstGeom prst="rect">
            <a:avLst/>
          </a:prstGeom>
          <a:noFill/>
          <a:ln w="0">
            <a:noFill/>
          </a:ln>
        </p:spPr>
      </p:pic>
      <p:pic>
        <p:nvPicPr>
          <p:cNvPr id="185" name="Picture 24" descr=""/>
          <p:cNvPicPr/>
          <p:nvPr/>
        </p:nvPicPr>
        <p:blipFill>
          <a:blip r:embed="rId2"/>
          <a:stretch/>
        </p:blipFill>
        <p:spPr>
          <a:xfrm>
            <a:off x="2808360" y="1511280"/>
            <a:ext cx="5835240" cy="3893760"/>
          </a:xfrm>
          <a:prstGeom prst="rect">
            <a:avLst/>
          </a:prstGeom>
          <a:noFill/>
          <a:ln w="0">
            <a:noFill/>
          </a:ln>
        </p:spPr>
      </p:pic>
      <p:pic>
        <p:nvPicPr>
          <p:cNvPr id="186" name="Picture 25" descr=""/>
          <p:cNvPicPr/>
          <p:nvPr/>
        </p:nvPicPr>
        <p:blipFill>
          <a:blip r:embed="rId3"/>
          <a:stretch/>
        </p:blipFill>
        <p:spPr>
          <a:xfrm>
            <a:off x="2808360" y="1511280"/>
            <a:ext cx="5835240" cy="3893760"/>
          </a:xfrm>
          <a:prstGeom prst="rect">
            <a:avLst/>
          </a:prstGeom>
          <a:noFill/>
          <a:ln w="0">
            <a:noFill/>
          </a:ln>
        </p:spPr>
      </p:pic>
      <p:pic>
        <p:nvPicPr>
          <p:cNvPr id="187" name="Picture 26" descr=""/>
          <p:cNvPicPr/>
          <p:nvPr/>
        </p:nvPicPr>
        <p:blipFill>
          <a:blip r:embed="rId4"/>
          <a:stretch/>
        </p:blipFill>
        <p:spPr>
          <a:xfrm>
            <a:off x="2808360" y="1511280"/>
            <a:ext cx="5835240" cy="3893760"/>
          </a:xfrm>
          <a:prstGeom prst="rect">
            <a:avLst/>
          </a:prstGeom>
          <a:noFill/>
          <a:ln w="0">
            <a:noFill/>
          </a:ln>
        </p:spPr>
      </p:pic>
      <p:pic>
        <p:nvPicPr>
          <p:cNvPr id="188" name="Picture 27" descr=""/>
          <p:cNvPicPr/>
          <p:nvPr/>
        </p:nvPicPr>
        <p:blipFill>
          <a:blip r:embed="rId5"/>
          <a:stretch/>
        </p:blipFill>
        <p:spPr>
          <a:xfrm>
            <a:off x="2808360" y="1511280"/>
            <a:ext cx="5835240" cy="3893760"/>
          </a:xfrm>
          <a:prstGeom prst="rect">
            <a:avLst/>
          </a:prstGeom>
          <a:noFill/>
          <a:ln w="0">
            <a:noFill/>
          </a:ln>
        </p:spPr>
      </p:pic>
      <p:pic>
        <p:nvPicPr>
          <p:cNvPr id="189" name="Picture 28" descr=""/>
          <p:cNvPicPr/>
          <p:nvPr/>
        </p:nvPicPr>
        <p:blipFill>
          <a:blip r:embed="rId6"/>
          <a:stretch/>
        </p:blipFill>
        <p:spPr>
          <a:xfrm>
            <a:off x="2808360" y="1511280"/>
            <a:ext cx="5835240" cy="3893760"/>
          </a:xfrm>
          <a:prstGeom prst="rect">
            <a:avLst/>
          </a:prstGeom>
          <a:noFill/>
          <a:ln w="0">
            <a:noFill/>
          </a:ln>
        </p:spPr>
      </p:pic>
      <p:pic>
        <p:nvPicPr>
          <p:cNvPr id="190" name="Picture 29" descr=""/>
          <p:cNvPicPr/>
          <p:nvPr/>
        </p:nvPicPr>
        <p:blipFill>
          <a:blip r:embed="rId7"/>
          <a:stretch/>
        </p:blipFill>
        <p:spPr>
          <a:xfrm>
            <a:off x="2808360" y="1511280"/>
            <a:ext cx="5835240" cy="3893760"/>
          </a:xfrm>
          <a:prstGeom prst="rect">
            <a:avLst/>
          </a:prstGeom>
          <a:noFill/>
          <a:ln w="0">
            <a:noFill/>
          </a:ln>
        </p:spPr>
      </p:pic>
      <p:pic>
        <p:nvPicPr>
          <p:cNvPr id="191" name="Picture 30" descr=""/>
          <p:cNvPicPr/>
          <p:nvPr/>
        </p:nvPicPr>
        <p:blipFill>
          <a:blip r:embed="rId8"/>
          <a:stretch/>
        </p:blipFill>
        <p:spPr>
          <a:xfrm>
            <a:off x="2808360" y="1511280"/>
            <a:ext cx="5835240" cy="3893760"/>
          </a:xfrm>
          <a:prstGeom prst="rect">
            <a:avLst/>
          </a:prstGeom>
          <a:noFill/>
          <a:ln w="0">
            <a:noFill/>
          </a:ln>
        </p:spPr>
      </p:pic>
      <p:pic>
        <p:nvPicPr>
          <p:cNvPr id="192" name="Picture 31" descr=""/>
          <p:cNvPicPr/>
          <p:nvPr/>
        </p:nvPicPr>
        <p:blipFill>
          <a:blip r:embed="rId9"/>
          <a:stretch/>
        </p:blipFill>
        <p:spPr>
          <a:xfrm>
            <a:off x="2808360" y="1511280"/>
            <a:ext cx="5835240" cy="3893760"/>
          </a:xfrm>
          <a:prstGeom prst="rect">
            <a:avLst/>
          </a:prstGeom>
          <a:noFill/>
          <a:ln w="0">
            <a:noFill/>
          </a:ln>
        </p:spPr>
      </p:pic>
      <p:pic>
        <p:nvPicPr>
          <p:cNvPr id="193" name="Picture 36" descr=""/>
          <p:cNvPicPr/>
          <p:nvPr/>
        </p:nvPicPr>
        <p:blipFill>
          <a:blip r:embed="rId10"/>
          <a:stretch/>
        </p:blipFill>
        <p:spPr>
          <a:xfrm>
            <a:off x="2808360" y="1511280"/>
            <a:ext cx="5835240" cy="3893760"/>
          </a:xfrm>
          <a:prstGeom prst="rect">
            <a:avLst/>
          </a:prstGeom>
          <a:noFill/>
          <a:ln w="0">
            <a:noFill/>
          </a:ln>
        </p:spPr>
      </p:pic>
      <p:pic>
        <p:nvPicPr>
          <p:cNvPr id="194" name="Picture 37" descr=""/>
          <p:cNvPicPr/>
          <p:nvPr/>
        </p:nvPicPr>
        <p:blipFill>
          <a:blip r:embed="rId11"/>
          <a:stretch/>
        </p:blipFill>
        <p:spPr>
          <a:xfrm>
            <a:off x="2808360" y="1511280"/>
            <a:ext cx="5835240" cy="3893760"/>
          </a:xfrm>
          <a:prstGeom prst="rect">
            <a:avLst/>
          </a:prstGeom>
          <a:noFill/>
          <a:ln w="0">
            <a:noFill/>
          </a:ln>
        </p:spPr>
      </p:pic>
      <p:pic>
        <p:nvPicPr>
          <p:cNvPr id="195" name="Picture 38" descr=""/>
          <p:cNvPicPr/>
          <p:nvPr/>
        </p:nvPicPr>
        <p:blipFill>
          <a:blip r:embed="rId12"/>
          <a:stretch/>
        </p:blipFill>
        <p:spPr>
          <a:xfrm>
            <a:off x="2808360" y="1511280"/>
            <a:ext cx="5835240" cy="3893760"/>
          </a:xfrm>
          <a:prstGeom prst="rect">
            <a:avLst/>
          </a:prstGeom>
          <a:noFill/>
          <a:ln w="0">
            <a:noFill/>
          </a:ln>
        </p:spPr>
      </p:pic>
      <p:pic>
        <p:nvPicPr>
          <p:cNvPr id="196" name="Picture 39" descr=""/>
          <p:cNvPicPr/>
          <p:nvPr/>
        </p:nvPicPr>
        <p:blipFill>
          <a:blip r:embed="rId13"/>
          <a:stretch/>
        </p:blipFill>
        <p:spPr>
          <a:xfrm>
            <a:off x="2808360" y="1511280"/>
            <a:ext cx="5835240" cy="3893760"/>
          </a:xfrm>
          <a:prstGeom prst="rect">
            <a:avLst/>
          </a:prstGeom>
          <a:noFill/>
          <a:ln w="0">
            <a:noFill/>
          </a:ln>
        </p:spPr>
      </p:pic>
      <p:pic>
        <p:nvPicPr>
          <p:cNvPr id="197" name="Picture 40" descr=""/>
          <p:cNvPicPr/>
          <p:nvPr/>
        </p:nvPicPr>
        <p:blipFill>
          <a:blip r:embed="rId14"/>
          <a:stretch/>
        </p:blipFill>
        <p:spPr>
          <a:xfrm>
            <a:off x="2808360" y="1511280"/>
            <a:ext cx="5835240" cy="3893760"/>
          </a:xfrm>
          <a:prstGeom prst="rect">
            <a:avLst/>
          </a:prstGeom>
          <a:noFill/>
          <a:ln w="0">
            <a:noFill/>
          </a:ln>
        </p:spPr>
      </p:pic>
      <p:pic>
        <p:nvPicPr>
          <p:cNvPr id="198" name="Picture 41" descr=""/>
          <p:cNvPicPr/>
          <p:nvPr/>
        </p:nvPicPr>
        <p:blipFill>
          <a:blip r:embed="rId15"/>
          <a:stretch/>
        </p:blipFill>
        <p:spPr>
          <a:xfrm>
            <a:off x="2808360" y="1511280"/>
            <a:ext cx="5835240" cy="3893760"/>
          </a:xfrm>
          <a:prstGeom prst="rect">
            <a:avLst/>
          </a:prstGeom>
          <a:noFill/>
          <a:ln w="0">
            <a:noFill/>
          </a:ln>
        </p:spPr>
      </p:pic>
      <p:pic>
        <p:nvPicPr>
          <p:cNvPr id="199" name="Picture 42" descr=""/>
          <p:cNvPicPr/>
          <p:nvPr/>
        </p:nvPicPr>
        <p:blipFill>
          <a:blip r:embed="rId16"/>
          <a:stretch/>
        </p:blipFill>
        <p:spPr>
          <a:xfrm>
            <a:off x="2808360" y="1511280"/>
            <a:ext cx="5835240" cy="3893760"/>
          </a:xfrm>
          <a:prstGeom prst="rect">
            <a:avLst/>
          </a:prstGeom>
          <a:noFill/>
          <a:ln w="0">
            <a:noFill/>
          </a:ln>
        </p:spPr>
      </p:pic>
    </p:spTree>
  </p:cSld>
  <p:transition spd="slow">
    <p:wipe dir="r"/>
  </p:transition>
  <p:timing>
    <p:tnLst>
      <p:par>
        <p:cTn id="480" dur="indefinite" restart="never" nodeType="tmRoot">
          <p:childTnLst>
            <p:seq>
              <p:cTn id="481" dur="indefinite" nodeType="mainSeq">
                <p:childTnLst>
                  <p:par>
                    <p:cTn id="482" nodeType="clickEffect" fill="hold">
                      <p:stCondLst>
                        <p:cond delay="0"/>
                      </p:stCondLst>
                      <p:childTnLst>
                        <p:par>
                          <p:cTn id="483" nodeType="withEffect" fill="hold">
                            <p:stCondLst>
                              <p:cond delay="0"/>
                            </p:stCondLst>
                            <p:childTnLst>
                              <p:par>
                                <p:cTn id="484" nodeType="withEffect" fill="hold" presetClass="entr" presetID="10">
                                  <p:stCondLst>
                                    <p:cond delay="0"/>
                                  </p:stCondLst>
                                  <p:childTnLst>
                                    <p:set>
                                      <p:cBhvr>
                                        <p:cTn id="485" dur="1" fill="hold">
                                          <p:stCondLst>
                                            <p:cond delay="0"/>
                                          </p:stCondLst>
                                        </p:cTn>
                                        <p:tgtEl>
                                          <p:spTgt spid="196"/>
                                        </p:tgtEl>
                                        <p:attrNameLst>
                                          <p:attrName>style.visibility</p:attrName>
                                        </p:attrNameLst>
                                      </p:cBhvr>
                                      <p:to>
                                        <p:strVal val="visible"/>
                                      </p:to>
                                    </p:set>
                                    <p:animEffect filter="fade" transition="in">
                                      <p:cBhvr additive="repl">
                                        <p:cTn id="486" dur="500"/>
                                        <p:tgtEl>
                                          <p:spTgt spid="196"/>
                                        </p:tgtEl>
                                      </p:cBhvr>
                                    </p:animEffect>
                                  </p:childTnLst>
                                </p:cTn>
                              </p:par>
                            </p:childTnLst>
                          </p:cTn>
                        </p:par>
                      </p:childTnLst>
                    </p:cTn>
                  </p:par>
                  <p:par>
                    <p:cTn id="487" nodeType="clickEffect" fill="hold">
                      <p:stCondLst>
                        <p:cond delay="indefinite"/>
                      </p:stCondLst>
                      <p:childTnLst>
                        <p:par>
                          <p:cTn id="488" nodeType="withEffect" fill="hold">
                            <p:stCondLst>
                              <p:cond delay="0"/>
                            </p:stCondLst>
                            <p:childTnLst>
                              <p:par>
                                <p:cTn id="489" nodeType="clickEffect" fill="hold" presetClass="entr" presetID="22" presetSubtype="8">
                                  <p:stCondLst>
                                    <p:cond delay="0"/>
                                  </p:stCondLst>
                                  <p:childTnLst>
                                    <p:set>
                                      <p:cBhvr>
                                        <p:cTn id="490" dur="1" fill="hold">
                                          <p:stCondLst>
                                            <p:cond delay="0"/>
                                          </p:stCondLst>
                                        </p:cTn>
                                        <p:tgtEl>
                                          <p:spTgt spid="183">
                                            <p:txEl>
                                              <p:pRg st="1" end="1"/>
                                            </p:txEl>
                                          </p:spTgt>
                                        </p:tgtEl>
                                        <p:attrNameLst>
                                          <p:attrName>style.visibility</p:attrName>
                                        </p:attrNameLst>
                                      </p:cBhvr>
                                      <p:to>
                                        <p:strVal val="visible"/>
                                      </p:to>
                                    </p:set>
                                    <p:animEffect filter="wipe(left)" transition="in">
                                      <p:cBhvr additive="repl">
                                        <p:cTn id="491" dur="500"/>
                                        <p:tgtEl>
                                          <p:spTgt spid="183">
                                            <p:txEl>
                                              <p:pRg st="1" end="1"/>
                                            </p:txEl>
                                          </p:spTgt>
                                        </p:tgtEl>
                                      </p:cBhvr>
                                    </p:animEffect>
                                  </p:childTnLst>
                                </p:cTn>
                              </p:par>
                              <p:par>
                                <p:cTn id="492" nodeType="withEffect" fill="hold" presetClass="entr" presetID="22" presetSubtype="4">
                                  <p:stCondLst>
                                    <p:cond delay="0"/>
                                  </p:stCondLst>
                                  <p:childTnLst>
                                    <p:set>
                                      <p:cBhvr>
                                        <p:cTn id="493" dur="1" fill="hold">
                                          <p:stCondLst>
                                            <p:cond delay="0"/>
                                          </p:stCondLst>
                                        </p:cTn>
                                        <p:tgtEl>
                                          <p:spTgt spid="197"/>
                                        </p:tgtEl>
                                        <p:attrNameLst>
                                          <p:attrName>style.visibility</p:attrName>
                                        </p:attrNameLst>
                                      </p:cBhvr>
                                      <p:to>
                                        <p:strVal val="visible"/>
                                      </p:to>
                                    </p:set>
                                    <p:animEffect filter="wipe(down)" transition="in">
                                      <p:cBhvr additive="repl">
                                        <p:cTn id="494" dur="1000"/>
                                        <p:tgtEl>
                                          <p:spTgt spid="197"/>
                                        </p:tgtEl>
                                      </p:cBhvr>
                                    </p:animEffect>
                                  </p:childTnLst>
                                </p:cTn>
                              </p:par>
                            </p:childTnLst>
                          </p:cTn>
                        </p:par>
                      </p:childTnLst>
                    </p:cTn>
                  </p:par>
                  <p:par>
                    <p:cTn id="495" nodeType="clickEffect" fill="hold">
                      <p:stCondLst>
                        <p:cond delay="indefinite"/>
                      </p:stCondLst>
                      <p:childTnLst>
                        <p:par>
                          <p:cTn id="496" nodeType="withEffect" fill="hold">
                            <p:stCondLst>
                              <p:cond delay="0"/>
                            </p:stCondLst>
                            <p:childTnLst>
                              <p:par>
                                <p:cTn id="497" nodeType="clickEffect" fill="hold" presetClass="entr" presetID="22" presetSubtype="8">
                                  <p:stCondLst>
                                    <p:cond delay="0"/>
                                  </p:stCondLst>
                                  <p:childTnLst>
                                    <p:set>
                                      <p:cBhvr>
                                        <p:cTn id="498" dur="1" fill="hold">
                                          <p:stCondLst>
                                            <p:cond delay="0"/>
                                          </p:stCondLst>
                                        </p:cTn>
                                        <p:tgtEl>
                                          <p:spTgt spid="183">
                                            <p:txEl>
                                              <p:pRg st="2" end="2"/>
                                            </p:txEl>
                                          </p:spTgt>
                                        </p:tgtEl>
                                        <p:attrNameLst>
                                          <p:attrName>style.visibility</p:attrName>
                                        </p:attrNameLst>
                                      </p:cBhvr>
                                      <p:to>
                                        <p:strVal val="visible"/>
                                      </p:to>
                                    </p:set>
                                    <p:animEffect filter="wipe(left)" transition="in">
                                      <p:cBhvr additive="repl">
                                        <p:cTn id="499" dur="500"/>
                                        <p:tgtEl>
                                          <p:spTgt spid="183">
                                            <p:txEl>
                                              <p:pRg st="2" end="2"/>
                                            </p:txEl>
                                          </p:spTgt>
                                        </p:tgtEl>
                                      </p:cBhvr>
                                    </p:animEffect>
                                  </p:childTnLst>
                                </p:cTn>
                              </p:par>
                              <p:par>
                                <p:cTn id="500" nodeType="withEffect" fill="hold" presetClass="entr" presetID="10">
                                  <p:stCondLst>
                                    <p:cond delay="0"/>
                                  </p:stCondLst>
                                  <p:childTnLst>
                                    <p:set>
                                      <p:cBhvr>
                                        <p:cTn id="501" dur="1" fill="hold">
                                          <p:stCondLst>
                                            <p:cond delay="0"/>
                                          </p:stCondLst>
                                        </p:cTn>
                                        <p:tgtEl>
                                          <p:spTgt spid="198"/>
                                        </p:tgtEl>
                                        <p:attrNameLst>
                                          <p:attrName>style.visibility</p:attrName>
                                        </p:attrNameLst>
                                      </p:cBhvr>
                                      <p:to>
                                        <p:strVal val="visible"/>
                                      </p:to>
                                    </p:set>
                                    <p:animEffect filter="fade" transition="in">
                                      <p:cBhvr additive="repl">
                                        <p:cTn id="502" dur="500"/>
                                        <p:tgtEl>
                                          <p:spTgt spid="198"/>
                                        </p:tgtEl>
                                      </p:cBhvr>
                                    </p:animEffect>
                                  </p:childTnLst>
                                </p:cTn>
                              </p:par>
                            </p:childTnLst>
                          </p:cTn>
                        </p:par>
                      </p:childTnLst>
                    </p:cTn>
                  </p:par>
                  <p:par>
                    <p:cTn id="503" nodeType="clickEffect" fill="hold">
                      <p:stCondLst>
                        <p:cond delay="indefinite"/>
                      </p:stCondLst>
                      <p:childTnLst>
                        <p:par>
                          <p:cTn id="504" nodeType="withEffect" fill="hold">
                            <p:stCondLst>
                              <p:cond delay="0"/>
                            </p:stCondLst>
                            <p:childTnLst>
                              <p:par>
                                <p:cTn id="505" nodeType="clickEffect" fill="hold" presetClass="entr" presetID="22" presetSubtype="8">
                                  <p:stCondLst>
                                    <p:cond delay="0"/>
                                  </p:stCondLst>
                                  <p:childTnLst>
                                    <p:set>
                                      <p:cBhvr>
                                        <p:cTn id="506" dur="1" fill="hold">
                                          <p:stCondLst>
                                            <p:cond delay="0"/>
                                          </p:stCondLst>
                                        </p:cTn>
                                        <p:tgtEl>
                                          <p:spTgt spid="183">
                                            <p:txEl>
                                              <p:pRg st="3" end="3"/>
                                            </p:txEl>
                                          </p:spTgt>
                                        </p:tgtEl>
                                        <p:attrNameLst>
                                          <p:attrName>style.visibility</p:attrName>
                                        </p:attrNameLst>
                                      </p:cBhvr>
                                      <p:to>
                                        <p:strVal val="visible"/>
                                      </p:to>
                                    </p:set>
                                    <p:animEffect filter="wipe(left)" transition="in">
                                      <p:cBhvr additive="repl">
                                        <p:cTn id="507" dur="500"/>
                                        <p:tgtEl>
                                          <p:spTgt spid="183">
                                            <p:txEl>
                                              <p:pRg st="3" end="3"/>
                                            </p:txEl>
                                          </p:spTgt>
                                        </p:tgtEl>
                                      </p:cBhvr>
                                    </p:animEffect>
                                  </p:childTnLst>
                                </p:cTn>
                              </p:par>
                              <p:par>
                                <p:cTn id="508" nodeType="withEffect" fill="hold" presetClass="entr" presetID="22" presetSubtype="4">
                                  <p:stCondLst>
                                    <p:cond delay="0"/>
                                  </p:stCondLst>
                                  <p:childTnLst>
                                    <p:set>
                                      <p:cBhvr>
                                        <p:cTn id="509" dur="1" fill="hold">
                                          <p:stCondLst>
                                            <p:cond delay="0"/>
                                          </p:stCondLst>
                                        </p:cTn>
                                        <p:tgtEl>
                                          <p:spTgt spid="199"/>
                                        </p:tgtEl>
                                        <p:attrNameLst>
                                          <p:attrName>style.visibility</p:attrName>
                                        </p:attrNameLst>
                                      </p:cBhvr>
                                      <p:to>
                                        <p:strVal val="visible"/>
                                      </p:to>
                                    </p:set>
                                    <p:animEffect filter="wipe(down)" transition="in">
                                      <p:cBhvr additive="repl">
                                        <p:cTn id="510" dur="1000"/>
                                        <p:tgtEl>
                                          <p:spTgt spid="1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0"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19.2  LABOR MARKETS</a:t>
            </a:r>
            <a:endParaRPr b="0" lang="en-CA" sz="2600" strike="noStrike" u="none">
              <a:solidFill>
                <a:schemeClr val="dk1"/>
              </a:solidFill>
              <a:effectLst/>
              <a:uFillTx/>
              <a:latin typeface="Arial"/>
            </a:endParaRPr>
          </a:p>
        </p:txBody>
      </p:sp>
      <p:sp>
        <p:nvSpPr>
          <p:cNvPr id="201" name="PlaceHolder 2"/>
          <p:cNvSpPr>
            <a:spLocks noGrp="1"/>
          </p:cNvSpPr>
          <p:nvPr>
            <p:ph/>
          </p:nvPr>
        </p:nvSpPr>
        <p:spPr>
          <a:xfrm>
            <a:off x="360360" y="1440000"/>
            <a:ext cx="2230200" cy="464796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Larry’s labor supply curve eventually bends backward.</a:t>
            </a:r>
            <a:endParaRPr b="1" lang="en-CA" sz="2400" strike="noStrike" u="none">
              <a:solidFill>
                <a:srgbClr val="00468f"/>
              </a:solidFill>
              <a:effectLst/>
              <a:uFillTx/>
              <a:latin typeface="Arial"/>
            </a:endParaRPr>
          </a:p>
        </p:txBody>
      </p:sp>
      <p:pic>
        <p:nvPicPr>
          <p:cNvPr id="202" name="Picture 1" descr=""/>
          <p:cNvPicPr/>
          <p:nvPr/>
        </p:nvPicPr>
        <p:blipFill>
          <a:blip r:embed="rId1"/>
          <a:stretch/>
        </p:blipFill>
        <p:spPr>
          <a:xfrm>
            <a:off x="2808360" y="1511280"/>
            <a:ext cx="5835240" cy="3893760"/>
          </a:xfrm>
          <a:prstGeom prst="rect">
            <a:avLst/>
          </a:prstGeom>
          <a:noFill/>
          <a:ln w="0">
            <a:noFill/>
          </a:ln>
        </p:spPr>
      </p:pic>
      <p:pic>
        <p:nvPicPr>
          <p:cNvPr id="203" name="Picture 21" descr=""/>
          <p:cNvPicPr/>
          <p:nvPr/>
        </p:nvPicPr>
        <p:blipFill>
          <a:blip r:embed="rId2"/>
          <a:stretch/>
        </p:blipFill>
        <p:spPr>
          <a:xfrm>
            <a:off x="2808360" y="1511280"/>
            <a:ext cx="5835240" cy="3893760"/>
          </a:xfrm>
          <a:prstGeom prst="rect">
            <a:avLst/>
          </a:prstGeom>
          <a:noFill/>
          <a:ln w="0">
            <a:noFill/>
          </a:ln>
        </p:spPr>
      </p:pic>
      <p:pic>
        <p:nvPicPr>
          <p:cNvPr id="204" name="Picture 22" descr=""/>
          <p:cNvPicPr/>
          <p:nvPr/>
        </p:nvPicPr>
        <p:blipFill>
          <a:blip r:embed="rId3"/>
          <a:stretch/>
        </p:blipFill>
        <p:spPr>
          <a:xfrm>
            <a:off x="2808360" y="1511280"/>
            <a:ext cx="5835240" cy="3893760"/>
          </a:xfrm>
          <a:prstGeom prst="rect">
            <a:avLst/>
          </a:prstGeom>
          <a:noFill/>
          <a:ln w="0">
            <a:noFill/>
          </a:ln>
        </p:spPr>
      </p:pic>
      <p:pic>
        <p:nvPicPr>
          <p:cNvPr id="205" name="Picture 23" descr=""/>
          <p:cNvPicPr/>
          <p:nvPr/>
        </p:nvPicPr>
        <p:blipFill>
          <a:blip r:embed="rId4"/>
          <a:stretch/>
        </p:blipFill>
        <p:spPr>
          <a:xfrm>
            <a:off x="2808360" y="1511280"/>
            <a:ext cx="5835240" cy="3893760"/>
          </a:xfrm>
          <a:prstGeom prst="rect">
            <a:avLst/>
          </a:prstGeom>
          <a:noFill/>
          <a:ln w="0">
            <a:noFill/>
          </a:ln>
        </p:spPr>
      </p:pic>
      <p:pic>
        <p:nvPicPr>
          <p:cNvPr id="206" name="Picture 24" descr=""/>
          <p:cNvPicPr/>
          <p:nvPr/>
        </p:nvPicPr>
        <p:blipFill>
          <a:blip r:embed="rId5"/>
          <a:stretch/>
        </p:blipFill>
        <p:spPr>
          <a:xfrm>
            <a:off x="2808360" y="1511280"/>
            <a:ext cx="5835240" cy="3893760"/>
          </a:xfrm>
          <a:prstGeom prst="rect">
            <a:avLst/>
          </a:prstGeom>
          <a:noFill/>
          <a:ln w="0">
            <a:noFill/>
          </a:ln>
        </p:spPr>
      </p:pic>
      <p:pic>
        <p:nvPicPr>
          <p:cNvPr id="207" name="Picture 25" descr=""/>
          <p:cNvPicPr/>
          <p:nvPr/>
        </p:nvPicPr>
        <p:blipFill>
          <a:blip r:embed="rId6"/>
          <a:stretch/>
        </p:blipFill>
        <p:spPr>
          <a:xfrm>
            <a:off x="2808360" y="1511280"/>
            <a:ext cx="5835240" cy="3893760"/>
          </a:xfrm>
          <a:prstGeom prst="rect">
            <a:avLst/>
          </a:prstGeom>
          <a:noFill/>
          <a:ln w="0">
            <a:noFill/>
          </a:ln>
        </p:spPr>
      </p:pic>
      <p:pic>
        <p:nvPicPr>
          <p:cNvPr id="208" name="Picture 26" descr=""/>
          <p:cNvPicPr/>
          <p:nvPr/>
        </p:nvPicPr>
        <p:blipFill>
          <a:blip r:embed="rId7"/>
          <a:stretch/>
        </p:blipFill>
        <p:spPr>
          <a:xfrm>
            <a:off x="2808360" y="1511280"/>
            <a:ext cx="5835240" cy="3893760"/>
          </a:xfrm>
          <a:prstGeom prst="rect">
            <a:avLst/>
          </a:prstGeom>
          <a:noFill/>
          <a:ln w="0">
            <a:noFill/>
          </a:ln>
        </p:spPr>
      </p:pic>
      <p:pic>
        <p:nvPicPr>
          <p:cNvPr id="209" name="Picture 27" descr=""/>
          <p:cNvPicPr/>
          <p:nvPr/>
        </p:nvPicPr>
        <p:blipFill>
          <a:blip r:embed="rId8"/>
          <a:stretch/>
        </p:blipFill>
        <p:spPr>
          <a:xfrm>
            <a:off x="2808360" y="1511280"/>
            <a:ext cx="5835240" cy="3893760"/>
          </a:xfrm>
          <a:prstGeom prst="rect">
            <a:avLst/>
          </a:prstGeom>
          <a:noFill/>
          <a:ln w="0">
            <a:noFill/>
          </a:ln>
        </p:spPr>
      </p:pic>
      <p:pic>
        <p:nvPicPr>
          <p:cNvPr id="210" name="Picture 28" descr=""/>
          <p:cNvPicPr/>
          <p:nvPr/>
        </p:nvPicPr>
        <p:blipFill>
          <a:blip r:embed="rId9"/>
          <a:stretch/>
        </p:blipFill>
        <p:spPr>
          <a:xfrm>
            <a:off x="2808360" y="1511280"/>
            <a:ext cx="5835240" cy="3893760"/>
          </a:xfrm>
          <a:prstGeom prst="rect">
            <a:avLst/>
          </a:prstGeom>
          <a:noFill/>
          <a:ln w="0">
            <a:noFill/>
          </a:ln>
        </p:spPr>
      </p:pic>
      <p:pic>
        <p:nvPicPr>
          <p:cNvPr id="211" name="Picture 29" descr=""/>
          <p:cNvPicPr/>
          <p:nvPr/>
        </p:nvPicPr>
        <p:blipFill>
          <a:blip r:embed="rId10"/>
          <a:stretch/>
        </p:blipFill>
        <p:spPr>
          <a:xfrm>
            <a:off x="2808360" y="1511280"/>
            <a:ext cx="5835240" cy="3893760"/>
          </a:xfrm>
          <a:prstGeom prst="rect">
            <a:avLst/>
          </a:prstGeom>
          <a:noFill/>
          <a:ln w="0">
            <a:noFill/>
          </a:ln>
        </p:spPr>
      </p:pic>
      <p:pic>
        <p:nvPicPr>
          <p:cNvPr id="212" name="Picture 30" descr=""/>
          <p:cNvPicPr/>
          <p:nvPr/>
        </p:nvPicPr>
        <p:blipFill>
          <a:blip r:embed="rId11"/>
          <a:stretch/>
        </p:blipFill>
        <p:spPr>
          <a:xfrm>
            <a:off x="2808360" y="1511280"/>
            <a:ext cx="5835240" cy="3893760"/>
          </a:xfrm>
          <a:prstGeom prst="rect">
            <a:avLst/>
          </a:prstGeom>
          <a:noFill/>
          <a:ln w="0">
            <a:noFill/>
          </a:ln>
        </p:spPr>
      </p:pic>
      <p:pic>
        <p:nvPicPr>
          <p:cNvPr id="213" name="Picture 31" descr=""/>
          <p:cNvPicPr/>
          <p:nvPr/>
        </p:nvPicPr>
        <p:blipFill>
          <a:blip r:embed="rId12"/>
          <a:stretch/>
        </p:blipFill>
        <p:spPr>
          <a:xfrm>
            <a:off x="2808360" y="1511280"/>
            <a:ext cx="5835240" cy="3893760"/>
          </a:xfrm>
          <a:prstGeom prst="rect">
            <a:avLst/>
          </a:prstGeom>
          <a:noFill/>
          <a:ln w="0">
            <a:noFill/>
          </a:ln>
        </p:spPr>
      </p:pic>
      <p:pic>
        <p:nvPicPr>
          <p:cNvPr id="214" name="Picture 32" descr=""/>
          <p:cNvPicPr/>
          <p:nvPr/>
        </p:nvPicPr>
        <p:blipFill>
          <a:blip r:embed="rId13"/>
          <a:stretch/>
        </p:blipFill>
        <p:spPr>
          <a:xfrm>
            <a:off x="2808360" y="1511280"/>
            <a:ext cx="5835240" cy="3893760"/>
          </a:xfrm>
          <a:prstGeom prst="rect">
            <a:avLst/>
          </a:prstGeom>
          <a:noFill/>
          <a:ln w="0">
            <a:noFill/>
          </a:ln>
        </p:spPr>
      </p:pic>
      <p:pic>
        <p:nvPicPr>
          <p:cNvPr id="215" name="Picture 33" descr=""/>
          <p:cNvPicPr/>
          <p:nvPr/>
        </p:nvPicPr>
        <p:blipFill>
          <a:blip r:embed="rId14"/>
          <a:stretch/>
        </p:blipFill>
        <p:spPr>
          <a:xfrm>
            <a:off x="2808360" y="1511280"/>
            <a:ext cx="5835240" cy="3893760"/>
          </a:xfrm>
          <a:prstGeom prst="rect">
            <a:avLst/>
          </a:prstGeom>
          <a:noFill/>
          <a:ln w="0">
            <a:noFill/>
          </a:ln>
        </p:spPr>
      </p:pic>
      <p:pic>
        <p:nvPicPr>
          <p:cNvPr id="216" name="Picture 34" descr=""/>
          <p:cNvPicPr/>
          <p:nvPr/>
        </p:nvPicPr>
        <p:blipFill>
          <a:blip r:embed="rId15"/>
          <a:stretch/>
        </p:blipFill>
        <p:spPr>
          <a:xfrm>
            <a:off x="2808360" y="1511280"/>
            <a:ext cx="5835240" cy="3893760"/>
          </a:xfrm>
          <a:prstGeom prst="rect">
            <a:avLst/>
          </a:prstGeom>
          <a:noFill/>
          <a:ln w="0">
            <a:noFill/>
          </a:ln>
        </p:spPr>
      </p:pic>
      <p:pic>
        <p:nvPicPr>
          <p:cNvPr id="217" name="Picture 35" descr=""/>
          <p:cNvPicPr/>
          <p:nvPr/>
        </p:nvPicPr>
        <p:blipFill>
          <a:blip r:embed="rId16"/>
          <a:stretch/>
        </p:blipFill>
        <p:spPr>
          <a:xfrm>
            <a:off x="2808360" y="1511280"/>
            <a:ext cx="5835240" cy="3893760"/>
          </a:xfrm>
          <a:prstGeom prst="rect">
            <a:avLst/>
          </a:prstGeom>
          <a:noFill/>
          <a:ln w="0">
            <a:noFill/>
          </a:ln>
        </p:spPr>
      </p:pic>
    </p:spTree>
  </p:cSld>
  <p:transition spd="slow">
    <p:wipe dir="r"/>
  </p:transition>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8"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19.2  LABOR MARKETS</a:t>
            </a:r>
            <a:endParaRPr b="0" lang="en-CA" sz="2600" strike="noStrike" u="none">
              <a:solidFill>
                <a:schemeClr val="dk1"/>
              </a:solidFill>
              <a:effectLst/>
              <a:uFillTx/>
              <a:latin typeface="Arial"/>
            </a:endParaRPr>
          </a:p>
        </p:txBody>
      </p:sp>
      <p:sp>
        <p:nvSpPr>
          <p:cNvPr id="219"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pPr>
            <a:r>
              <a:rPr b="1" lang="en-CA" sz="2600" strike="noStrike" u="none">
                <a:solidFill>
                  <a:srgbClr val="00468f"/>
                </a:solidFill>
                <a:effectLst/>
                <a:uFillTx/>
                <a:latin typeface="Arial"/>
                <a:ea typeface="MS Mincho"/>
              </a:rPr>
              <a:t>Market Supply Curve </a:t>
            </a:r>
            <a:endParaRPr b="1" lang="en-CA" sz="2600" strike="noStrike" u="none">
              <a:solidFill>
                <a:srgbClr val="00468f"/>
              </a:solidFill>
              <a:effectLst/>
              <a:uFillTx/>
              <a:latin typeface="Arial"/>
            </a:endParaRPr>
          </a:p>
          <a:p>
            <a:pPr marL="360000" indent="0">
              <a:lnSpc>
                <a:spcPct val="100000"/>
              </a:lnSpc>
              <a:spcBef>
                <a:spcPts val="601"/>
              </a:spcBef>
              <a:spcAft>
                <a:spcPts val="601"/>
              </a:spcAft>
              <a:buNone/>
            </a:pPr>
            <a:r>
              <a:rPr b="0" lang="en-CA" sz="2400" strike="noStrike" u="none">
                <a:solidFill>
                  <a:schemeClr val="dk1"/>
                </a:solidFill>
                <a:effectLst/>
                <a:uFillTx/>
                <a:latin typeface="Arial"/>
                <a:ea typeface="MS Mincho"/>
              </a:rPr>
              <a:t>A market supply curve shows the quantity of labor supplied by all households in a particular job.</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pPr>
            <a:r>
              <a:rPr b="0" lang="en-CA" sz="2400" strike="noStrike" u="none">
                <a:solidFill>
                  <a:schemeClr val="dk1"/>
                </a:solidFill>
                <a:effectLst/>
                <a:uFillTx/>
                <a:latin typeface="Arial"/>
                <a:ea typeface="MS Mincho"/>
              </a:rPr>
              <a:t>It is found by adding together the quantities of labor supplied by all households at each wage rate</a:t>
            </a:r>
            <a:r>
              <a:rPr b="0" lang="en-US" sz="2400" strike="noStrike" u="none">
                <a:solidFill>
                  <a:schemeClr val="dk1"/>
                </a:solidFill>
                <a:effectLst/>
                <a:uFillTx/>
                <a:latin typeface="Arial"/>
                <a:ea typeface="MS Mincho"/>
              </a:rPr>
              <a:t>.</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Figure 19.4 on the next slide shows the supply of car wash workers.</a:t>
            </a:r>
            <a:endParaRPr b="1" lang="en-CA" sz="2400" strike="noStrike" u="none">
              <a:solidFill>
                <a:srgbClr val="00468f"/>
              </a:solidFill>
              <a:effectLst/>
              <a:uFillTx/>
              <a:latin typeface="Arial"/>
            </a:endParaRPr>
          </a:p>
          <a:p>
            <a:pPr marL="452520" indent="4680">
              <a:lnSpc>
                <a:spcPct val="100000"/>
              </a:lnSpc>
              <a:spcBef>
                <a:spcPts val="400"/>
              </a:spcBef>
              <a:spcAft>
                <a:spcPts val="601"/>
              </a:spcAft>
              <a:buNone/>
              <a:tabLst>
                <a:tab algn="l" pos="0"/>
              </a:tabLst>
            </a:pPr>
            <a:endParaRPr b="1" lang="en-CA" sz="2400" strike="noStrike" u="none">
              <a:solidFill>
                <a:srgbClr val="00468f"/>
              </a:solidFill>
              <a:effectLst/>
              <a:uFillTx/>
              <a:latin typeface="Arial"/>
            </a:endParaRPr>
          </a:p>
        </p:txBody>
      </p:sp>
    </p:spTree>
  </p:cSld>
  <p:transition spd="slow">
    <p:wipe dir="r"/>
  </p:transition>
  <p:timing>
    <p:tnLst>
      <p:par>
        <p:cTn id="511" dur="indefinite" restart="never" nodeType="tmRoot">
          <p:childTnLst>
            <p:seq>
              <p:cTn id="512" dur="indefinite" nodeType="mainSeq">
                <p:childTnLst>
                  <p:par>
                    <p:cTn id="513" nodeType="clickEffect" fill="hold">
                      <p:stCondLst>
                        <p:cond delay="indefinite"/>
                      </p:stCondLst>
                      <p:childTnLst>
                        <p:par>
                          <p:cTn id="514" nodeType="withEffect" fill="hold">
                            <p:stCondLst>
                              <p:cond delay="0"/>
                            </p:stCondLst>
                            <p:childTnLst>
                              <p:par>
                                <p:cTn id="515" nodeType="clickEffect" fill="hold" presetClass="entr" presetID="22" presetSubtype="8">
                                  <p:stCondLst>
                                    <p:cond delay="0"/>
                                  </p:stCondLst>
                                  <p:childTnLst>
                                    <p:set>
                                      <p:cBhvr>
                                        <p:cTn id="516" dur="1" fill="hold">
                                          <p:stCondLst>
                                            <p:cond delay="0"/>
                                          </p:stCondLst>
                                        </p:cTn>
                                        <p:tgtEl>
                                          <p:spTgt spid="219">
                                            <p:txEl>
                                              <p:pRg st="1" end="1"/>
                                            </p:txEl>
                                          </p:spTgt>
                                        </p:tgtEl>
                                        <p:attrNameLst>
                                          <p:attrName>style.visibility</p:attrName>
                                        </p:attrNameLst>
                                      </p:cBhvr>
                                      <p:to>
                                        <p:strVal val="visible"/>
                                      </p:to>
                                    </p:set>
                                    <p:animEffect filter="wipe(left)" transition="in">
                                      <p:cBhvr additive="repl">
                                        <p:cTn id="517" dur="500"/>
                                        <p:tgtEl>
                                          <p:spTgt spid="219">
                                            <p:txEl>
                                              <p:pRg st="1" end="1"/>
                                            </p:txEl>
                                          </p:spTgt>
                                        </p:tgtEl>
                                      </p:cBhvr>
                                    </p:animEffect>
                                  </p:childTnLst>
                                </p:cTn>
                              </p:par>
                            </p:childTnLst>
                          </p:cTn>
                        </p:par>
                      </p:childTnLst>
                    </p:cTn>
                  </p:par>
                  <p:par>
                    <p:cTn id="518" nodeType="clickEffect" fill="hold">
                      <p:stCondLst>
                        <p:cond delay="indefinite"/>
                      </p:stCondLst>
                      <p:childTnLst>
                        <p:par>
                          <p:cTn id="519" nodeType="withEffect" fill="hold">
                            <p:stCondLst>
                              <p:cond delay="0"/>
                            </p:stCondLst>
                            <p:childTnLst>
                              <p:par>
                                <p:cTn id="520" nodeType="clickEffect" fill="hold" presetClass="entr" presetID="22" presetSubtype="8">
                                  <p:stCondLst>
                                    <p:cond delay="0"/>
                                  </p:stCondLst>
                                  <p:childTnLst>
                                    <p:set>
                                      <p:cBhvr>
                                        <p:cTn id="521" dur="1" fill="hold">
                                          <p:stCondLst>
                                            <p:cond delay="0"/>
                                          </p:stCondLst>
                                        </p:cTn>
                                        <p:tgtEl>
                                          <p:spTgt spid="219">
                                            <p:txEl>
                                              <p:pRg st="2" end="2"/>
                                            </p:txEl>
                                          </p:spTgt>
                                        </p:tgtEl>
                                        <p:attrNameLst>
                                          <p:attrName>style.visibility</p:attrName>
                                        </p:attrNameLst>
                                      </p:cBhvr>
                                      <p:to>
                                        <p:strVal val="visible"/>
                                      </p:to>
                                    </p:set>
                                    <p:animEffect filter="wipe(left)" transition="in">
                                      <p:cBhvr additive="repl">
                                        <p:cTn id="522" dur="500"/>
                                        <p:tgtEl>
                                          <p:spTgt spid="219">
                                            <p:txEl>
                                              <p:pRg st="2" end="2"/>
                                            </p:txEl>
                                          </p:spTgt>
                                        </p:tgtEl>
                                      </p:cBhvr>
                                    </p:animEffect>
                                  </p:childTnLst>
                                </p:cTn>
                              </p:par>
                            </p:childTnLst>
                          </p:cTn>
                        </p:par>
                      </p:childTnLst>
                    </p:cTn>
                  </p:par>
                  <p:par>
                    <p:cTn id="523" nodeType="clickEffect" fill="hold">
                      <p:stCondLst>
                        <p:cond delay="indefinite"/>
                      </p:stCondLst>
                      <p:childTnLst>
                        <p:par>
                          <p:cTn id="524" nodeType="withEffect" fill="hold">
                            <p:stCondLst>
                              <p:cond delay="0"/>
                            </p:stCondLst>
                            <p:childTnLst>
                              <p:par>
                                <p:cTn id="525" nodeType="clickEffect" fill="hold" presetClass="entr" presetID="22" presetSubtype="8">
                                  <p:stCondLst>
                                    <p:cond delay="0"/>
                                  </p:stCondLst>
                                  <p:childTnLst>
                                    <p:set>
                                      <p:cBhvr>
                                        <p:cTn id="526" dur="1" fill="hold">
                                          <p:stCondLst>
                                            <p:cond delay="0"/>
                                          </p:stCondLst>
                                        </p:cTn>
                                        <p:tgtEl>
                                          <p:spTgt spid="219">
                                            <p:txEl>
                                              <p:pRg st="3" end="3"/>
                                            </p:txEl>
                                          </p:spTgt>
                                        </p:tgtEl>
                                        <p:attrNameLst>
                                          <p:attrName>style.visibility</p:attrName>
                                        </p:attrNameLst>
                                      </p:cBhvr>
                                      <p:to>
                                        <p:strVal val="visible"/>
                                      </p:to>
                                    </p:set>
                                    <p:animEffect filter="wipe(left)" transition="in">
                                      <p:cBhvr additive="repl">
                                        <p:cTn id="527" dur="500"/>
                                        <p:tgtEl>
                                          <p:spTgt spid="219">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0"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19.2  LABOR MARKETS</a:t>
            </a:r>
            <a:endParaRPr b="0" lang="en-CA" sz="2600" strike="noStrike" u="none">
              <a:solidFill>
                <a:schemeClr val="dk1"/>
              </a:solidFill>
              <a:effectLst/>
              <a:uFillTx/>
              <a:latin typeface="Arial"/>
            </a:endParaRPr>
          </a:p>
        </p:txBody>
      </p:sp>
      <p:sp>
        <p:nvSpPr>
          <p:cNvPr id="221" name="PlaceHolder 2"/>
          <p:cNvSpPr>
            <a:spLocks noGrp="1"/>
          </p:cNvSpPr>
          <p:nvPr>
            <p:ph/>
          </p:nvPr>
        </p:nvSpPr>
        <p:spPr>
          <a:xfrm>
            <a:off x="360360" y="1440000"/>
            <a:ext cx="2447640" cy="464796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This supply curve shows how the quantity of labor supplied changes when the wage rate changes, other things remaining the same.</a:t>
            </a:r>
            <a:endParaRPr b="1" lang="en-CA" sz="2400" strike="noStrike" u="none">
              <a:solidFill>
                <a:srgbClr val="00468f"/>
              </a:solidFill>
              <a:effectLst/>
              <a:uFillTx/>
              <a:latin typeface="Arial"/>
            </a:endParaRPr>
          </a:p>
        </p:txBody>
      </p:sp>
      <p:pic>
        <p:nvPicPr>
          <p:cNvPr id="222" name="Picture 1" descr=""/>
          <p:cNvPicPr/>
          <p:nvPr/>
        </p:nvPicPr>
        <p:blipFill>
          <a:blip r:embed="rId1"/>
          <a:stretch/>
        </p:blipFill>
        <p:spPr>
          <a:xfrm>
            <a:off x="2808360" y="1476360"/>
            <a:ext cx="5835240" cy="3892320"/>
          </a:xfrm>
          <a:prstGeom prst="rect">
            <a:avLst/>
          </a:prstGeom>
          <a:noFill/>
          <a:ln w="0">
            <a:noFill/>
          </a:ln>
        </p:spPr>
      </p:pic>
      <p:pic>
        <p:nvPicPr>
          <p:cNvPr id="223" name="Picture 12" descr=""/>
          <p:cNvPicPr/>
          <p:nvPr/>
        </p:nvPicPr>
        <p:blipFill>
          <a:blip r:embed="rId2"/>
          <a:stretch/>
        </p:blipFill>
        <p:spPr>
          <a:xfrm>
            <a:off x="2808360" y="1476360"/>
            <a:ext cx="5835240" cy="3892320"/>
          </a:xfrm>
          <a:prstGeom prst="rect">
            <a:avLst/>
          </a:prstGeom>
          <a:noFill/>
          <a:ln w="0">
            <a:noFill/>
          </a:ln>
        </p:spPr>
      </p:pic>
      <p:pic>
        <p:nvPicPr>
          <p:cNvPr id="224" name="Picture 19" descr=""/>
          <p:cNvPicPr/>
          <p:nvPr/>
        </p:nvPicPr>
        <p:blipFill>
          <a:blip r:embed="rId3"/>
          <a:stretch/>
        </p:blipFill>
        <p:spPr>
          <a:xfrm>
            <a:off x="2808360" y="1476360"/>
            <a:ext cx="5835240" cy="3892320"/>
          </a:xfrm>
          <a:prstGeom prst="rect">
            <a:avLst/>
          </a:prstGeom>
          <a:noFill/>
          <a:ln w="0">
            <a:noFill/>
          </a:ln>
        </p:spPr>
      </p:pic>
      <p:pic>
        <p:nvPicPr>
          <p:cNvPr id="225" name="Picture 20" descr=""/>
          <p:cNvPicPr/>
          <p:nvPr/>
        </p:nvPicPr>
        <p:blipFill>
          <a:blip r:embed="rId4"/>
          <a:stretch/>
        </p:blipFill>
        <p:spPr>
          <a:xfrm>
            <a:off x="2808360" y="1476360"/>
            <a:ext cx="5835240" cy="3892320"/>
          </a:xfrm>
          <a:prstGeom prst="rect">
            <a:avLst/>
          </a:prstGeom>
          <a:noFill/>
          <a:ln w="0">
            <a:noFill/>
          </a:ln>
        </p:spPr>
      </p:pic>
      <p:pic>
        <p:nvPicPr>
          <p:cNvPr id="226" name="Picture 21" descr=""/>
          <p:cNvPicPr/>
          <p:nvPr/>
        </p:nvPicPr>
        <p:blipFill>
          <a:blip r:embed="rId5"/>
          <a:stretch/>
        </p:blipFill>
        <p:spPr>
          <a:xfrm>
            <a:off x="2808360" y="1476360"/>
            <a:ext cx="5835240" cy="3892320"/>
          </a:xfrm>
          <a:prstGeom prst="rect">
            <a:avLst/>
          </a:prstGeom>
          <a:noFill/>
          <a:ln w="0">
            <a:noFill/>
          </a:ln>
        </p:spPr>
      </p:pic>
      <p:pic>
        <p:nvPicPr>
          <p:cNvPr id="227" name="Picture 22" descr=""/>
          <p:cNvPicPr/>
          <p:nvPr/>
        </p:nvPicPr>
        <p:blipFill>
          <a:blip r:embed="rId6"/>
          <a:stretch/>
        </p:blipFill>
        <p:spPr>
          <a:xfrm>
            <a:off x="2808360" y="1476360"/>
            <a:ext cx="5835240" cy="3892320"/>
          </a:xfrm>
          <a:prstGeom prst="rect">
            <a:avLst/>
          </a:prstGeom>
          <a:noFill/>
          <a:ln w="0">
            <a:noFill/>
          </a:ln>
        </p:spPr>
      </p:pic>
      <p:pic>
        <p:nvPicPr>
          <p:cNvPr id="228" name="Picture 23" descr=""/>
          <p:cNvPicPr/>
          <p:nvPr/>
        </p:nvPicPr>
        <p:blipFill>
          <a:blip r:embed="rId7"/>
          <a:stretch/>
        </p:blipFill>
        <p:spPr>
          <a:xfrm>
            <a:off x="2808360" y="1476360"/>
            <a:ext cx="5835240" cy="3892320"/>
          </a:xfrm>
          <a:prstGeom prst="rect">
            <a:avLst/>
          </a:prstGeom>
          <a:noFill/>
          <a:ln w="0">
            <a:noFill/>
          </a:ln>
        </p:spPr>
      </p:pic>
    </p:spTree>
  </p:cSld>
  <p:transition spd="slow">
    <p:wipe dir="r"/>
  </p:transition>
  <p:timing>
    <p:tnLst>
      <p:par>
        <p:cTn id="528" dur="indefinite" restart="never" nodeType="tmRoot">
          <p:childTnLst>
            <p:seq>
              <p:cTn id="529" dur="indefinite" nodeType="mainSeq">
                <p:childTnLst>
                  <p:par>
                    <p:cTn id="530" nodeType="clickEffect" fill="hold">
                      <p:stCondLst>
                        <p:cond delay="0"/>
                      </p:stCondLst>
                      <p:childTnLst>
                        <p:par>
                          <p:cTn id="531" nodeType="withEffect" fill="hold">
                            <p:stCondLst>
                              <p:cond delay="0"/>
                            </p:stCondLst>
                            <p:childTnLst>
                              <p:par>
                                <p:cTn id="532" nodeType="withEffect" fill="hold" presetClass="entr" presetID="10">
                                  <p:stCondLst>
                                    <p:cond delay="0"/>
                                  </p:stCondLst>
                                  <p:childTnLst>
                                    <p:set>
                                      <p:cBhvr>
                                        <p:cTn id="533" dur="1" fill="hold">
                                          <p:stCondLst>
                                            <p:cond delay="0"/>
                                          </p:stCondLst>
                                        </p:cTn>
                                        <p:tgtEl>
                                          <p:spTgt spid="223"/>
                                        </p:tgtEl>
                                        <p:attrNameLst>
                                          <p:attrName>style.visibility</p:attrName>
                                        </p:attrNameLst>
                                      </p:cBhvr>
                                      <p:to>
                                        <p:strVal val="visible"/>
                                      </p:to>
                                    </p:set>
                                    <p:animEffect filter="fade" transition="in">
                                      <p:cBhvr additive="repl">
                                        <p:cTn id="534" dur="500"/>
                                        <p:tgtEl>
                                          <p:spTgt spid="223"/>
                                        </p:tgtEl>
                                      </p:cBhvr>
                                    </p:animEffect>
                                  </p:childTnLst>
                                </p:cTn>
                              </p:par>
                              <p:par>
                                <p:cTn id="535" nodeType="withEffect" fill="hold" presetClass="entr" presetID="10">
                                  <p:stCondLst>
                                    <p:cond delay="400"/>
                                  </p:stCondLst>
                                  <p:childTnLst>
                                    <p:set>
                                      <p:cBhvr>
                                        <p:cTn id="536" dur="1" fill="hold">
                                          <p:stCondLst>
                                            <p:cond delay="0"/>
                                          </p:stCondLst>
                                        </p:cTn>
                                        <p:tgtEl>
                                          <p:spTgt spid="224"/>
                                        </p:tgtEl>
                                        <p:attrNameLst>
                                          <p:attrName>style.visibility</p:attrName>
                                        </p:attrNameLst>
                                      </p:cBhvr>
                                      <p:to>
                                        <p:strVal val="visible"/>
                                      </p:to>
                                    </p:set>
                                    <p:animEffect filter="fade" transition="in">
                                      <p:cBhvr additive="repl">
                                        <p:cTn id="537" dur="500"/>
                                        <p:tgtEl>
                                          <p:spTgt spid="224"/>
                                        </p:tgtEl>
                                      </p:cBhvr>
                                    </p:animEffect>
                                  </p:childTnLst>
                                </p:cTn>
                              </p:par>
                              <p:par>
                                <p:cTn id="538" nodeType="withEffect" fill="hold" presetClass="entr" presetID="10">
                                  <p:stCondLst>
                                    <p:cond delay="800"/>
                                  </p:stCondLst>
                                  <p:childTnLst>
                                    <p:set>
                                      <p:cBhvr>
                                        <p:cTn id="539" dur="1" fill="hold">
                                          <p:stCondLst>
                                            <p:cond delay="0"/>
                                          </p:stCondLst>
                                        </p:cTn>
                                        <p:tgtEl>
                                          <p:spTgt spid="225"/>
                                        </p:tgtEl>
                                        <p:attrNameLst>
                                          <p:attrName>style.visibility</p:attrName>
                                        </p:attrNameLst>
                                      </p:cBhvr>
                                      <p:to>
                                        <p:strVal val="visible"/>
                                      </p:to>
                                    </p:set>
                                    <p:animEffect filter="fade" transition="in">
                                      <p:cBhvr additive="repl">
                                        <p:cTn id="540" dur="500"/>
                                        <p:tgtEl>
                                          <p:spTgt spid="225"/>
                                        </p:tgtEl>
                                      </p:cBhvr>
                                    </p:animEffect>
                                  </p:childTnLst>
                                </p:cTn>
                              </p:par>
                              <p:par>
                                <p:cTn id="541" nodeType="withEffect" fill="hold" presetClass="entr" presetID="10">
                                  <p:stCondLst>
                                    <p:cond delay="1200"/>
                                  </p:stCondLst>
                                  <p:childTnLst>
                                    <p:set>
                                      <p:cBhvr>
                                        <p:cTn id="542" dur="1" fill="hold">
                                          <p:stCondLst>
                                            <p:cond delay="0"/>
                                          </p:stCondLst>
                                        </p:cTn>
                                        <p:tgtEl>
                                          <p:spTgt spid="226"/>
                                        </p:tgtEl>
                                        <p:attrNameLst>
                                          <p:attrName>style.visibility</p:attrName>
                                        </p:attrNameLst>
                                      </p:cBhvr>
                                      <p:to>
                                        <p:strVal val="visible"/>
                                      </p:to>
                                    </p:set>
                                    <p:animEffect filter="fade" transition="in">
                                      <p:cBhvr additive="repl">
                                        <p:cTn id="543" dur="500"/>
                                        <p:tgtEl>
                                          <p:spTgt spid="226"/>
                                        </p:tgtEl>
                                      </p:cBhvr>
                                    </p:animEffect>
                                  </p:childTnLst>
                                </p:cTn>
                              </p:par>
                              <p:par>
                                <p:cTn id="544" nodeType="withEffect" fill="hold" presetClass="entr" presetID="10">
                                  <p:stCondLst>
                                    <p:cond delay="1700"/>
                                  </p:stCondLst>
                                  <p:childTnLst>
                                    <p:set>
                                      <p:cBhvr>
                                        <p:cTn id="545" dur="1" fill="hold">
                                          <p:stCondLst>
                                            <p:cond delay="0"/>
                                          </p:stCondLst>
                                        </p:cTn>
                                        <p:tgtEl>
                                          <p:spTgt spid="227"/>
                                        </p:tgtEl>
                                        <p:attrNameLst>
                                          <p:attrName>style.visibility</p:attrName>
                                        </p:attrNameLst>
                                      </p:cBhvr>
                                      <p:to>
                                        <p:strVal val="visible"/>
                                      </p:to>
                                    </p:set>
                                    <p:animEffect filter="fade" transition="in">
                                      <p:cBhvr additive="repl">
                                        <p:cTn id="546" dur="500"/>
                                        <p:tgtEl>
                                          <p:spTgt spid="227"/>
                                        </p:tgtEl>
                                      </p:cBhvr>
                                    </p:animEffect>
                                  </p:childTnLst>
                                </p:cTn>
                              </p:par>
                              <p:par>
                                <p:cTn id="547" nodeType="withEffect" fill="hold" presetClass="entr" presetID="22" presetSubtype="4">
                                  <p:stCondLst>
                                    <p:cond delay="2600"/>
                                  </p:stCondLst>
                                  <p:childTnLst>
                                    <p:set>
                                      <p:cBhvr>
                                        <p:cTn id="548" dur="1" fill="hold">
                                          <p:stCondLst>
                                            <p:cond delay="0"/>
                                          </p:stCondLst>
                                        </p:cTn>
                                        <p:tgtEl>
                                          <p:spTgt spid="228"/>
                                        </p:tgtEl>
                                        <p:attrNameLst>
                                          <p:attrName>style.visibility</p:attrName>
                                        </p:attrNameLst>
                                      </p:cBhvr>
                                      <p:to>
                                        <p:strVal val="visible"/>
                                      </p:to>
                                    </p:set>
                                    <p:animEffect filter="wipe(down)" transition="in">
                                      <p:cBhvr additive="repl">
                                        <p:cTn id="549" dur="1000"/>
                                        <p:tgtEl>
                                          <p:spTgt spid="2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229" name="Picture 1" descr=""/>
          <p:cNvPicPr/>
          <p:nvPr/>
        </p:nvPicPr>
        <p:blipFill>
          <a:blip r:embed="rId1"/>
          <a:stretch/>
        </p:blipFill>
        <p:spPr>
          <a:xfrm>
            <a:off x="654120" y="779400"/>
            <a:ext cx="7781400" cy="5190840"/>
          </a:xfrm>
          <a:prstGeom prst="rect">
            <a:avLst/>
          </a:prstGeom>
          <a:noFill/>
          <a:ln w="0">
            <a:noFill/>
          </a:ln>
        </p:spPr>
      </p:pic>
      <p:pic>
        <p:nvPicPr>
          <p:cNvPr id="230" name="Picture 15" descr=""/>
          <p:cNvPicPr/>
          <p:nvPr/>
        </p:nvPicPr>
        <p:blipFill>
          <a:blip r:embed="rId2"/>
          <a:stretch/>
        </p:blipFill>
        <p:spPr>
          <a:xfrm>
            <a:off x="654120" y="779400"/>
            <a:ext cx="7781400" cy="5190840"/>
          </a:xfrm>
          <a:prstGeom prst="rect">
            <a:avLst/>
          </a:prstGeom>
          <a:noFill/>
          <a:ln w="0">
            <a:noFill/>
          </a:ln>
        </p:spPr>
      </p:pic>
      <p:pic>
        <p:nvPicPr>
          <p:cNvPr id="231" name="Picture 16" descr=""/>
          <p:cNvPicPr/>
          <p:nvPr/>
        </p:nvPicPr>
        <p:blipFill>
          <a:blip r:embed="rId3"/>
          <a:stretch/>
        </p:blipFill>
        <p:spPr>
          <a:xfrm>
            <a:off x="654120" y="779400"/>
            <a:ext cx="7781400" cy="5190840"/>
          </a:xfrm>
          <a:prstGeom prst="rect">
            <a:avLst/>
          </a:prstGeom>
          <a:noFill/>
          <a:ln w="0">
            <a:noFill/>
          </a:ln>
        </p:spPr>
      </p:pic>
      <p:pic>
        <p:nvPicPr>
          <p:cNvPr id="232" name="Picture 17" descr=""/>
          <p:cNvPicPr/>
          <p:nvPr/>
        </p:nvPicPr>
        <p:blipFill>
          <a:blip r:embed="rId4"/>
          <a:stretch/>
        </p:blipFill>
        <p:spPr>
          <a:xfrm>
            <a:off x="654120" y="779400"/>
            <a:ext cx="7781400" cy="5190840"/>
          </a:xfrm>
          <a:prstGeom prst="rect">
            <a:avLst/>
          </a:prstGeom>
          <a:noFill/>
          <a:ln w="0">
            <a:noFill/>
          </a:ln>
        </p:spPr>
      </p:pic>
      <p:pic>
        <p:nvPicPr>
          <p:cNvPr id="233" name="Picture 18" descr=""/>
          <p:cNvPicPr/>
          <p:nvPr/>
        </p:nvPicPr>
        <p:blipFill>
          <a:blip r:embed="rId5"/>
          <a:stretch/>
        </p:blipFill>
        <p:spPr>
          <a:xfrm>
            <a:off x="654120" y="779400"/>
            <a:ext cx="7781400" cy="5190840"/>
          </a:xfrm>
          <a:prstGeom prst="rect">
            <a:avLst/>
          </a:prstGeom>
          <a:noFill/>
          <a:ln w="0">
            <a:noFill/>
          </a:ln>
        </p:spPr>
      </p:pic>
      <p:pic>
        <p:nvPicPr>
          <p:cNvPr id="234" name="Picture 19" descr=""/>
          <p:cNvPicPr/>
          <p:nvPr/>
        </p:nvPicPr>
        <p:blipFill>
          <a:blip r:embed="rId6"/>
          <a:stretch/>
        </p:blipFill>
        <p:spPr>
          <a:xfrm>
            <a:off x="654120" y="779400"/>
            <a:ext cx="7781400" cy="5190840"/>
          </a:xfrm>
          <a:prstGeom prst="rect">
            <a:avLst/>
          </a:prstGeom>
          <a:noFill/>
          <a:ln w="0">
            <a:noFill/>
          </a:ln>
        </p:spPr>
      </p:pic>
      <p:pic>
        <p:nvPicPr>
          <p:cNvPr id="235" name="Picture 20" descr=""/>
          <p:cNvPicPr/>
          <p:nvPr/>
        </p:nvPicPr>
        <p:blipFill>
          <a:blip r:embed="rId7"/>
          <a:stretch/>
        </p:blipFill>
        <p:spPr>
          <a:xfrm>
            <a:off x="654120" y="779400"/>
            <a:ext cx="7781400" cy="5190840"/>
          </a:xfrm>
          <a:prstGeom prst="rect">
            <a:avLst/>
          </a:prstGeom>
          <a:noFill/>
          <a:ln w="0">
            <a:noFill/>
          </a:ln>
        </p:spPr>
      </p:pic>
    </p:spTree>
  </p:cSld>
  <p:transition spd="slow">
    <p:wipe dir="r"/>
  </p:transition>
  <p:timing>
    <p:tnLst>
      <p:par>
        <p:cTn id="550" dur="indefinite" restart="never" nodeType="tmRoot">
          <p:childTnLst>
            <p:seq>
              <p:cTn id="551" dur="indefinite" nodeType="mainSeq">
                <p:childTnLst>
                  <p:par>
                    <p:cTn id="552" nodeType="clickEffect" fill="hold">
                      <p:stCondLst>
                        <p:cond delay="indefinite"/>
                      </p:stCondLst>
                      <p:childTnLst>
                        <p:par>
                          <p:cTn id="553" nodeType="withEffect" fill="hold">
                            <p:stCondLst>
                              <p:cond delay="0"/>
                            </p:stCondLst>
                            <p:childTnLst>
                              <p:par>
                                <p:cTn id="554" nodeType="clickEffect" fill="hold" presetClass="entr" presetID="10">
                                  <p:stCondLst>
                                    <p:cond delay="0"/>
                                  </p:stCondLst>
                                  <p:childTnLst>
                                    <p:set>
                                      <p:cBhvr>
                                        <p:cTn id="555" dur="1" fill="hold">
                                          <p:stCondLst>
                                            <p:cond delay="0"/>
                                          </p:stCondLst>
                                        </p:cTn>
                                        <p:tgtEl>
                                          <p:spTgt spid="230"/>
                                        </p:tgtEl>
                                        <p:attrNameLst>
                                          <p:attrName>style.visibility</p:attrName>
                                        </p:attrNameLst>
                                      </p:cBhvr>
                                      <p:to>
                                        <p:strVal val="visible"/>
                                      </p:to>
                                    </p:set>
                                    <p:animEffect filter="fade" transition="in">
                                      <p:cBhvr additive="repl">
                                        <p:cTn id="556" dur="500"/>
                                        <p:tgtEl>
                                          <p:spTgt spid="230"/>
                                        </p:tgtEl>
                                      </p:cBhvr>
                                    </p:animEffect>
                                  </p:childTnLst>
                                </p:cTn>
                              </p:par>
                            </p:childTnLst>
                          </p:cTn>
                        </p:par>
                      </p:childTnLst>
                    </p:cTn>
                  </p:par>
                  <p:par>
                    <p:cTn id="557" nodeType="clickEffect" fill="hold">
                      <p:stCondLst>
                        <p:cond delay="indefinite"/>
                      </p:stCondLst>
                      <p:childTnLst>
                        <p:par>
                          <p:cTn id="558" nodeType="withEffect" fill="hold">
                            <p:stCondLst>
                              <p:cond delay="0"/>
                            </p:stCondLst>
                            <p:childTnLst>
                              <p:par>
                                <p:cTn id="559" nodeType="clickEffect" fill="hold" presetClass="entr" presetID="10">
                                  <p:stCondLst>
                                    <p:cond delay="0"/>
                                  </p:stCondLst>
                                  <p:childTnLst>
                                    <p:set>
                                      <p:cBhvr>
                                        <p:cTn id="560" dur="1" fill="hold">
                                          <p:stCondLst>
                                            <p:cond delay="0"/>
                                          </p:stCondLst>
                                        </p:cTn>
                                        <p:tgtEl>
                                          <p:spTgt spid="231"/>
                                        </p:tgtEl>
                                        <p:attrNameLst>
                                          <p:attrName>style.visibility</p:attrName>
                                        </p:attrNameLst>
                                      </p:cBhvr>
                                      <p:to>
                                        <p:strVal val="visible"/>
                                      </p:to>
                                    </p:set>
                                    <p:animEffect filter="fade" transition="in">
                                      <p:cBhvr additive="repl">
                                        <p:cTn id="561" dur="500"/>
                                        <p:tgtEl>
                                          <p:spTgt spid="231"/>
                                        </p:tgtEl>
                                      </p:cBhvr>
                                    </p:animEffect>
                                  </p:childTnLst>
                                </p:cTn>
                              </p:par>
                            </p:childTnLst>
                          </p:cTn>
                        </p:par>
                      </p:childTnLst>
                    </p:cTn>
                  </p:par>
                  <p:par>
                    <p:cTn id="562" nodeType="clickEffect" fill="hold">
                      <p:stCondLst>
                        <p:cond delay="indefinite"/>
                      </p:stCondLst>
                      <p:childTnLst>
                        <p:par>
                          <p:cTn id="563" nodeType="withEffect" fill="hold">
                            <p:stCondLst>
                              <p:cond delay="0"/>
                            </p:stCondLst>
                            <p:childTnLst>
                              <p:par>
                                <p:cTn id="564" nodeType="clickEffect" fill="hold" presetClass="entr" presetID="10">
                                  <p:stCondLst>
                                    <p:cond delay="0"/>
                                  </p:stCondLst>
                                  <p:childTnLst>
                                    <p:set>
                                      <p:cBhvr>
                                        <p:cTn id="565" dur="1" fill="hold">
                                          <p:stCondLst>
                                            <p:cond delay="0"/>
                                          </p:stCondLst>
                                        </p:cTn>
                                        <p:tgtEl>
                                          <p:spTgt spid="232"/>
                                        </p:tgtEl>
                                        <p:attrNameLst>
                                          <p:attrName>style.visibility</p:attrName>
                                        </p:attrNameLst>
                                      </p:cBhvr>
                                      <p:to>
                                        <p:strVal val="visible"/>
                                      </p:to>
                                    </p:set>
                                    <p:animEffect filter="fade" transition="in">
                                      <p:cBhvr additive="repl">
                                        <p:cTn id="566" dur="500"/>
                                        <p:tgtEl>
                                          <p:spTgt spid="232"/>
                                        </p:tgtEl>
                                      </p:cBhvr>
                                    </p:animEffect>
                                  </p:childTnLst>
                                </p:cTn>
                              </p:par>
                            </p:childTnLst>
                          </p:cTn>
                        </p:par>
                      </p:childTnLst>
                    </p:cTn>
                  </p:par>
                  <p:par>
                    <p:cTn id="567" nodeType="clickEffect" fill="hold">
                      <p:stCondLst>
                        <p:cond delay="indefinite"/>
                      </p:stCondLst>
                      <p:childTnLst>
                        <p:par>
                          <p:cTn id="568" nodeType="withEffect" fill="hold">
                            <p:stCondLst>
                              <p:cond delay="0"/>
                            </p:stCondLst>
                            <p:childTnLst>
                              <p:par>
                                <p:cTn id="569" nodeType="clickEffect" fill="hold" presetClass="entr" presetID="10">
                                  <p:stCondLst>
                                    <p:cond delay="0"/>
                                  </p:stCondLst>
                                  <p:childTnLst>
                                    <p:set>
                                      <p:cBhvr>
                                        <p:cTn id="570" dur="1" fill="hold">
                                          <p:stCondLst>
                                            <p:cond delay="0"/>
                                          </p:stCondLst>
                                        </p:cTn>
                                        <p:tgtEl>
                                          <p:spTgt spid="233"/>
                                        </p:tgtEl>
                                        <p:attrNameLst>
                                          <p:attrName>style.visibility</p:attrName>
                                        </p:attrNameLst>
                                      </p:cBhvr>
                                      <p:to>
                                        <p:strVal val="visible"/>
                                      </p:to>
                                    </p:set>
                                    <p:animEffect filter="fade" transition="in">
                                      <p:cBhvr additive="repl">
                                        <p:cTn id="571" dur="500"/>
                                        <p:tgtEl>
                                          <p:spTgt spid="233"/>
                                        </p:tgtEl>
                                      </p:cBhvr>
                                    </p:animEffect>
                                  </p:childTnLst>
                                </p:cTn>
                              </p:par>
                            </p:childTnLst>
                          </p:cTn>
                        </p:par>
                      </p:childTnLst>
                    </p:cTn>
                  </p:par>
                  <p:par>
                    <p:cTn id="572" nodeType="clickEffect" fill="hold">
                      <p:stCondLst>
                        <p:cond delay="indefinite"/>
                      </p:stCondLst>
                      <p:childTnLst>
                        <p:par>
                          <p:cTn id="573" nodeType="withEffect" fill="hold">
                            <p:stCondLst>
                              <p:cond delay="0"/>
                            </p:stCondLst>
                            <p:childTnLst>
                              <p:par>
                                <p:cTn id="574" nodeType="clickEffect" fill="hold" presetClass="entr" presetID="10">
                                  <p:stCondLst>
                                    <p:cond delay="0"/>
                                  </p:stCondLst>
                                  <p:childTnLst>
                                    <p:set>
                                      <p:cBhvr>
                                        <p:cTn id="575" dur="1" fill="hold">
                                          <p:stCondLst>
                                            <p:cond delay="0"/>
                                          </p:stCondLst>
                                        </p:cTn>
                                        <p:tgtEl>
                                          <p:spTgt spid="234"/>
                                        </p:tgtEl>
                                        <p:attrNameLst>
                                          <p:attrName>style.visibility</p:attrName>
                                        </p:attrNameLst>
                                      </p:cBhvr>
                                      <p:to>
                                        <p:strVal val="visible"/>
                                      </p:to>
                                    </p:set>
                                    <p:animEffect filter="fade" transition="in">
                                      <p:cBhvr additive="repl">
                                        <p:cTn id="576" dur="500"/>
                                        <p:tgtEl>
                                          <p:spTgt spid="234"/>
                                        </p:tgtEl>
                                      </p:cBhvr>
                                    </p:animEffect>
                                  </p:childTnLst>
                                </p:cTn>
                              </p:par>
                            </p:childTnLst>
                          </p:cTn>
                        </p:par>
                      </p:childTnLst>
                    </p:cTn>
                  </p:par>
                  <p:par>
                    <p:cTn id="577" nodeType="clickEffect" fill="hold">
                      <p:stCondLst>
                        <p:cond delay="indefinite"/>
                      </p:stCondLst>
                      <p:childTnLst>
                        <p:par>
                          <p:cTn id="578" nodeType="withEffect" fill="hold">
                            <p:stCondLst>
                              <p:cond delay="0"/>
                            </p:stCondLst>
                            <p:childTnLst>
                              <p:par>
                                <p:cTn id="579" nodeType="clickEffect" fill="hold" presetClass="entr" presetID="22" presetSubtype="4">
                                  <p:stCondLst>
                                    <p:cond delay="0"/>
                                  </p:stCondLst>
                                  <p:childTnLst>
                                    <p:set>
                                      <p:cBhvr>
                                        <p:cTn id="580" dur="1" fill="hold">
                                          <p:stCondLst>
                                            <p:cond delay="0"/>
                                          </p:stCondLst>
                                        </p:cTn>
                                        <p:tgtEl>
                                          <p:spTgt spid="235"/>
                                        </p:tgtEl>
                                        <p:attrNameLst>
                                          <p:attrName>style.visibility</p:attrName>
                                        </p:attrNameLst>
                                      </p:cBhvr>
                                      <p:to>
                                        <p:strVal val="visible"/>
                                      </p:to>
                                    </p:set>
                                    <p:animEffect filter="wipe(down)" transition="in">
                                      <p:cBhvr additive="repl">
                                        <p:cTn id="581" dur="1000"/>
                                        <p:tgtEl>
                                          <p:spTgt spid="2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6"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19.2  LABOR MARKETS</a:t>
            </a:r>
            <a:endParaRPr b="0" lang="en-CA" sz="2600" strike="noStrike" u="none">
              <a:solidFill>
                <a:schemeClr val="dk1"/>
              </a:solidFill>
              <a:effectLst/>
              <a:uFillTx/>
              <a:latin typeface="Arial"/>
            </a:endParaRPr>
          </a:p>
        </p:txBody>
      </p:sp>
      <p:sp>
        <p:nvSpPr>
          <p:cNvPr id="237" name="PlaceHolder 2"/>
          <p:cNvSpPr>
            <a:spLocks noGrp="1"/>
          </p:cNvSpPr>
          <p:nvPr>
            <p:ph/>
          </p:nvPr>
        </p:nvSpPr>
        <p:spPr>
          <a:xfrm>
            <a:off x="360360" y="1440000"/>
            <a:ext cx="2447640" cy="464796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In a market for a specific type of labor, the quantity supplied increases as the wage rate increases, other things remaining the same.</a:t>
            </a:r>
            <a:endParaRPr b="1" lang="en-CA" sz="2400" strike="noStrike" u="none">
              <a:solidFill>
                <a:srgbClr val="00468f"/>
              </a:solidFill>
              <a:effectLst/>
              <a:uFillTx/>
              <a:latin typeface="Arial"/>
            </a:endParaRPr>
          </a:p>
        </p:txBody>
      </p:sp>
      <p:pic>
        <p:nvPicPr>
          <p:cNvPr id="238" name="Picture 17" descr=""/>
          <p:cNvPicPr/>
          <p:nvPr/>
        </p:nvPicPr>
        <p:blipFill>
          <a:blip r:embed="rId1"/>
          <a:stretch/>
        </p:blipFill>
        <p:spPr>
          <a:xfrm>
            <a:off x="2808360" y="1476360"/>
            <a:ext cx="5835240" cy="3892320"/>
          </a:xfrm>
          <a:prstGeom prst="rect">
            <a:avLst/>
          </a:prstGeom>
          <a:noFill/>
          <a:ln w="0">
            <a:noFill/>
          </a:ln>
        </p:spPr>
      </p:pic>
    </p:spTree>
  </p:cSld>
  <p:transition spd="slow">
    <p:wipe dir="r"/>
  </p:transition>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9"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19.2  LABOR MARKETS</a:t>
            </a:r>
            <a:endParaRPr b="0" lang="en-CA" sz="2600" strike="noStrike" u="none">
              <a:solidFill>
                <a:schemeClr val="dk1"/>
              </a:solidFill>
              <a:effectLst/>
              <a:uFillTx/>
              <a:latin typeface="Arial"/>
            </a:endParaRPr>
          </a:p>
        </p:txBody>
      </p:sp>
      <p:sp>
        <p:nvSpPr>
          <p:cNvPr id="240"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43080" indent="-343080">
              <a:lnSpc>
                <a:spcPct val="100000"/>
              </a:lnSpc>
              <a:spcBef>
                <a:spcPts val="601"/>
              </a:spcBef>
              <a:spcAft>
                <a:spcPts val="601"/>
              </a:spcAft>
              <a:buClr>
                <a:srgbClr val="00468f"/>
              </a:buClr>
              <a:buFont typeface="Webdings" charset="2"/>
              <a:buChar char=""/>
            </a:pPr>
            <a:r>
              <a:rPr b="1" lang="en-CA" sz="2800" strike="noStrike" u="none">
                <a:solidFill>
                  <a:srgbClr val="00468f"/>
                </a:solidFill>
                <a:effectLst/>
                <a:uFillTx/>
                <a:latin typeface="Arial"/>
                <a:ea typeface="ＭＳ Ｐゴシック"/>
              </a:rPr>
              <a:t>Influences on the Supply of Labor </a:t>
            </a:r>
            <a:endParaRPr b="1" lang="en-CA" sz="28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Three key factors influence the supply of labor:</a:t>
            </a:r>
            <a:endParaRPr b="1" lang="en-CA" sz="2400" strike="noStrike" u="none">
              <a:solidFill>
                <a:srgbClr val="00468f"/>
              </a:solidFill>
              <a:effectLst/>
              <a:uFillTx/>
              <a:latin typeface="Arial"/>
            </a:endParaRPr>
          </a:p>
          <a:p>
            <a:pPr lvl="2" marL="703080" indent="-343080">
              <a:lnSpc>
                <a:spcPct val="100000"/>
              </a:lnSpc>
              <a:spcBef>
                <a:spcPts val="601"/>
              </a:spcBef>
              <a:spcAft>
                <a:spcPts val="601"/>
              </a:spcAft>
              <a:buClr>
                <a:srgbClr val="00468f"/>
              </a:buClr>
              <a:buFont typeface="Arial"/>
              <a:buChar char="•"/>
            </a:pPr>
            <a:r>
              <a:rPr b="0" lang="en-US" sz="2400" strike="noStrike" u="none">
                <a:solidFill>
                  <a:schemeClr val="dk1"/>
                </a:solidFill>
                <a:effectLst/>
                <a:uFillTx/>
                <a:latin typeface="Arial"/>
                <a:ea typeface="ＭＳ Ｐゴシック"/>
              </a:rPr>
              <a:t>Adult population</a:t>
            </a:r>
            <a:endParaRPr b="0" lang="en-CA" sz="2400" strike="noStrike" u="none">
              <a:solidFill>
                <a:schemeClr val="dk1"/>
              </a:solidFill>
              <a:effectLst/>
              <a:uFillTx/>
              <a:latin typeface="Arial"/>
            </a:endParaRPr>
          </a:p>
          <a:p>
            <a:pPr lvl="2" marL="703080" indent="-343080">
              <a:lnSpc>
                <a:spcPct val="100000"/>
              </a:lnSpc>
              <a:spcBef>
                <a:spcPts val="601"/>
              </a:spcBef>
              <a:spcAft>
                <a:spcPts val="601"/>
              </a:spcAft>
              <a:buClr>
                <a:srgbClr val="00468f"/>
              </a:buClr>
              <a:buFont typeface="Arial"/>
              <a:buChar char="•"/>
            </a:pPr>
            <a:r>
              <a:rPr b="0" lang="en-US" sz="2400" strike="noStrike" u="none">
                <a:solidFill>
                  <a:schemeClr val="dk1"/>
                </a:solidFill>
                <a:effectLst/>
                <a:uFillTx/>
                <a:latin typeface="Arial"/>
                <a:ea typeface="ＭＳ Ｐゴシック"/>
              </a:rPr>
              <a:t>Preferences</a:t>
            </a:r>
            <a:endParaRPr b="0" lang="en-CA" sz="2400" strike="noStrike" u="none">
              <a:solidFill>
                <a:schemeClr val="dk1"/>
              </a:solidFill>
              <a:effectLst/>
              <a:uFillTx/>
              <a:latin typeface="Arial"/>
            </a:endParaRPr>
          </a:p>
          <a:p>
            <a:pPr lvl="2" marL="703080" indent="-343080">
              <a:lnSpc>
                <a:spcPct val="100000"/>
              </a:lnSpc>
              <a:spcBef>
                <a:spcPts val="601"/>
              </a:spcBef>
              <a:spcAft>
                <a:spcPts val="601"/>
              </a:spcAft>
              <a:buClr>
                <a:srgbClr val="00468f"/>
              </a:buClr>
              <a:buFont typeface="Arial"/>
              <a:buChar char="•"/>
            </a:pPr>
            <a:r>
              <a:rPr b="0" lang="en-US" sz="2400" strike="noStrike" u="none">
                <a:solidFill>
                  <a:schemeClr val="dk1"/>
                </a:solidFill>
                <a:effectLst/>
                <a:uFillTx/>
                <a:latin typeface="Arial"/>
                <a:ea typeface="ＭＳ Ｐゴシック"/>
              </a:rPr>
              <a:t>Time in school and training</a:t>
            </a:r>
            <a:endParaRPr b="0" lang="en-CA" sz="2400" strike="noStrike" u="none">
              <a:solidFill>
                <a:schemeClr val="dk1"/>
              </a:solidFill>
              <a:effectLst/>
              <a:uFillTx/>
              <a:latin typeface="Arial"/>
            </a:endParaRPr>
          </a:p>
        </p:txBody>
      </p:sp>
    </p:spTree>
  </p:cSld>
  <p:transition spd="slow">
    <p:wipe dir="r"/>
  </p:transition>
  <p:timing>
    <p:tnLst>
      <p:par>
        <p:cTn id="582" dur="indefinite" restart="never" nodeType="tmRoot">
          <p:childTnLst>
            <p:seq>
              <p:cTn id="583" dur="indefinite" nodeType="mainSeq">
                <p:childTnLst>
                  <p:par>
                    <p:cTn id="584" nodeType="clickEffect" fill="hold">
                      <p:stCondLst>
                        <p:cond delay="indefinite"/>
                      </p:stCondLst>
                      <p:childTnLst>
                        <p:par>
                          <p:cTn id="585" nodeType="withEffect" fill="hold">
                            <p:stCondLst>
                              <p:cond delay="0"/>
                            </p:stCondLst>
                            <p:childTnLst>
                              <p:par>
                                <p:cTn id="586" nodeType="clickEffect" fill="hold" presetClass="entr" presetID="22" presetSubtype="8">
                                  <p:stCondLst>
                                    <p:cond delay="0"/>
                                  </p:stCondLst>
                                  <p:childTnLst>
                                    <p:set>
                                      <p:cBhvr>
                                        <p:cTn id="587" dur="1" fill="hold">
                                          <p:stCondLst>
                                            <p:cond delay="0"/>
                                          </p:stCondLst>
                                        </p:cTn>
                                        <p:tgtEl>
                                          <p:spTgt spid="240">
                                            <p:txEl>
                                              <p:pRg st="1" end="1"/>
                                            </p:txEl>
                                          </p:spTgt>
                                        </p:tgtEl>
                                        <p:attrNameLst>
                                          <p:attrName>style.visibility</p:attrName>
                                        </p:attrNameLst>
                                      </p:cBhvr>
                                      <p:to>
                                        <p:strVal val="visible"/>
                                      </p:to>
                                    </p:set>
                                    <p:animEffect filter="wipe(left)" transition="in">
                                      <p:cBhvr additive="repl">
                                        <p:cTn id="588" dur="500"/>
                                        <p:tgtEl>
                                          <p:spTgt spid="240">
                                            <p:txEl>
                                              <p:pRg st="1" end="1"/>
                                            </p:txEl>
                                          </p:spTgt>
                                        </p:tgtEl>
                                      </p:cBhvr>
                                    </p:animEffect>
                                  </p:childTnLst>
                                </p:cTn>
                              </p:par>
                            </p:childTnLst>
                          </p:cTn>
                        </p:par>
                      </p:childTnLst>
                    </p:cTn>
                  </p:par>
                  <p:par>
                    <p:cTn id="589" nodeType="clickEffect" fill="hold">
                      <p:stCondLst>
                        <p:cond delay="indefinite"/>
                      </p:stCondLst>
                      <p:childTnLst>
                        <p:par>
                          <p:cTn id="590" nodeType="withEffect" fill="hold">
                            <p:stCondLst>
                              <p:cond delay="0"/>
                            </p:stCondLst>
                            <p:childTnLst>
                              <p:par>
                                <p:cTn id="591" nodeType="clickEffect" fill="hold" presetClass="entr" presetID="22" presetSubtype="8">
                                  <p:stCondLst>
                                    <p:cond delay="0"/>
                                  </p:stCondLst>
                                  <p:childTnLst>
                                    <p:set>
                                      <p:cBhvr>
                                        <p:cTn id="592" dur="1" fill="hold">
                                          <p:stCondLst>
                                            <p:cond delay="0"/>
                                          </p:stCondLst>
                                        </p:cTn>
                                        <p:tgtEl>
                                          <p:spTgt spid="240">
                                            <p:txEl>
                                              <p:pRg st="2" end="2"/>
                                            </p:txEl>
                                          </p:spTgt>
                                        </p:tgtEl>
                                        <p:attrNameLst>
                                          <p:attrName>style.visibility</p:attrName>
                                        </p:attrNameLst>
                                      </p:cBhvr>
                                      <p:to>
                                        <p:strVal val="visible"/>
                                      </p:to>
                                    </p:set>
                                    <p:animEffect filter="wipe(left)" transition="in">
                                      <p:cBhvr additive="repl">
                                        <p:cTn id="593" dur="500"/>
                                        <p:tgtEl>
                                          <p:spTgt spid="240">
                                            <p:txEl>
                                              <p:pRg st="2" end="2"/>
                                            </p:txEl>
                                          </p:spTgt>
                                        </p:tgtEl>
                                      </p:cBhvr>
                                    </p:animEffect>
                                  </p:childTnLst>
                                </p:cTn>
                              </p:par>
                            </p:childTnLst>
                          </p:cTn>
                        </p:par>
                      </p:childTnLst>
                    </p:cTn>
                  </p:par>
                  <p:par>
                    <p:cTn id="594" nodeType="clickEffect" fill="hold">
                      <p:stCondLst>
                        <p:cond delay="indefinite"/>
                      </p:stCondLst>
                      <p:childTnLst>
                        <p:par>
                          <p:cTn id="595" nodeType="withEffect" fill="hold">
                            <p:stCondLst>
                              <p:cond delay="0"/>
                            </p:stCondLst>
                            <p:childTnLst>
                              <p:par>
                                <p:cTn id="596" nodeType="clickEffect" fill="hold" presetClass="entr" presetID="22" presetSubtype="8">
                                  <p:stCondLst>
                                    <p:cond delay="0"/>
                                  </p:stCondLst>
                                  <p:childTnLst>
                                    <p:set>
                                      <p:cBhvr>
                                        <p:cTn id="597" dur="1" fill="hold">
                                          <p:stCondLst>
                                            <p:cond delay="0"/>
                                          </p:stCondLst>
                                        </p:cTn>
                                        <p:tgtEl>
                                          <p:spTgt spid="240">
                                            <p:txEl>
                                              <p:pRg st="3" end="3"/>
                                            </p:txEl>
                                          </p:spTgt>
                                        </p:tgtEl>
                                        <p:attrNameLst>
                                          <p:attrName>style.visibility</p:attrName>
                                        </p:attrNameLst>
                                      </p:cBhvr>
                                      <p:to>
                                        <p:strVal val="visible"/>
                                      </p:to>
                                    </p:set>
                                    <p:animEffect filter="wipe(left)" transition="in">
                                      <p:cBhvr additive="repl">
                                        <p:cTn id="598" dur="500"/>
                                        <p:tgtEl>
                                          <p:spTgt spid="240">
                                            <p:txEl>
                                              <p:pRg st="3" end="3"/>
                                            </p:txEl>
                                          </p:spTgt>
                                        </p:tgtEl>
                                      </p:cBhvr>
                                    </p:animEffect>
                                  </p:childTnLst>
                                </p:cTn>
                              </p:par>
                            </p:childTnLst>
                          </p:cTn>
                        </p:par>
                      </p:childTnLst>
                    </p:cTn>
                  </p:par>
                  <p:par>
                    <p:cTn id="599" nodeType="clickEffect" fill="hold">
                      <p:stCondLst>
                        <p:cond delay="indefinite"/>
                      </p:stCondLst>
                      <p:childTnLst>
                        <p:par>
                          <p:cTn id="600" nodeType="withEffect" fill="hold">
                            <p:stCondLst>
                              <p:cond delay="0"/>
                            </p:stCondLst>
                            <p:childTnLst>
                              <p:par>
                                <p:cTn id="601" nodeType="clickEffect" fill="hold" presetClass="entr" presetID="22" presetSubtype="8">
                                  <p:stCondLst>
                                    <p:cond delay="0"/>
                                  </p:stCondLst>
                                  <p:childTnLst>
                                    <p:set>
                                      <p:cBhvr>
                                        <p:cTn id="602" dur="1" fill="hold">
                                          <p:stCondLst>
                                            <p:cond delay="0"/>
                                          </p:stCondLst>
                                        </p:cTn>
                                        <p:tgtEl>
                                          <p:spTgt spid="240">
                                            <p:txEl>
                                              <p:pRg st="4" end="4"/>
                                            </p:txEl>
                                          </p:spTgt>
                                        </p:tgtEl>
                                        <p:attrNameLst>
                                          <p:attrName>style.visibility</p:attrName>
                                        </p:attrNameLst>
                                      </p:cBhvr>
                                      <p:to>
                                        <p:strVal val="visible"/>
                                      </p:to>
                                    </p:set>
                                    <p:animEffect filter="wipe(left)" transition="in">
                                      <p:cBhvr additive="repl">
                                        <p:cTn id="603" dur="500"/>
                                        <p:tgtEl>
                                          <p:spTgt spid="240">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1"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19.2  LABOR MARKETS</a:t>
            </a:r>
            <a:endParaRPr b="0" lang="en-CA" sz="2600" strike="noStrike" u="none">
              <a:solidFill>
                <a:schemeClr val="dk1"/>
              </a:solidFill>
              <a:effectLst/>
              <a:uFillTx/>
              <a:latin typeface="Arial"/>
            </a:endParaRPr>
          </a:p>
        </p:txBody>
      </p:sp>
      <p:sp>
        <p:nvSpPr>
          <p:cNvPr id="242"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460440"/>
              </a:tabLst>
            </a:pPr>
            <a:r>
              <a:rPr b="1" lang="en-CA" sz="2600" strike="noStrike" u="none">
                <a:solidFill>
                  <a:srgbClr val="00468f"/>
                </a:solidFill>
                <a:effectLst/>
                <a:uFillTx/>
                <a:latin typeface="Arial"/>
                <a:ea typeface="MS Mincho"/>
              </a:rPr>
              <a:t>Adult Population</a:t>
            </a:r>
            <a:endParaRPr b="1" lang="en-CA" sz="2600" strike="noStrike" u="none">
              <a:solidFill>
                <a:srgbClr val="00468f"/>
              </a:solidFill>
              <a:effectLst/>
              <a:uFillTx/>
              <a:latin typeface="Arial"/>
            </a:endParaRPr>
          </a:p>
          <a:p>
            <a:pPr marL="360000" indent="0">
              <a:lnSpc>
                <a:spcPct val="100000"/>
              </a:lnSpc>
              <a:spcBef>
                <a:spcPts val="601"/>
              </a:spcBef>
              <a:spcAft>
                <a:spcPts val="601"/>
              </a:spcAft>
              <a:buNone/>
              <a:tabLst>
                <a:tab algn="l" pos="460440"/>
              </a:tabLst>
            </a:pPr>
            <a:r>
              <a:rPr b="0" lang="en-CA" sz="2400" strike="noStrike" u="none">
                <a:solidFill>
                  <a:schemeClr val="dk1"/>
                </a:solidFill>
                <a:effectLst/>
                <a:uFillTx/>
                <a:latin typeface="Arial"/>
                <a:ea typeface="MS Mincho"/>
              </a:rPr>
              <a:t>An increase in the adult population increases the supply of labor.</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460440"/>
              </a:tabLst>
            </a:pPr>
            <a:r>
              <a:rPr b="1" lang="en-CA" sz="2600" strike="noStrike" u="none">
                <a:solidFill>
                  <a:srgbClr val="00468f"/>
                </a:solidFill>
                <a:effectLst/>
                <a:uFillTx/>
                <a:latin typeface="Arial"/>
                <a:ea typeface="MS Mincho"/>
              </a:rPr>
              <a:t>Preferences</a:t>
            </a:r>
            <a:endParaRPr b="1" lang="en-CA" sz="2600" strike="noStrike" u="none">
              <a:solidFill>
                <a:srgbClr val="00468f"/>
              </a:solidFill>
              <a:effectLst/>
              <a:uFillTx/>
              <a:latin typeface="Arial"/>
            </a:endParaRPr>
          </a:p>
          <a:p>
            <a:pPr marL="360000" indent="0">
              <a:lnSpc>
                <a:spcPct val="100000"/>
              </a:lnSpc>
              <a:spcBef>
                <a:spcPts val="601"/>
              </a:spcBef>
              <a:spcAft>
                <a:spcPts val="601"/>
              </a:spcAft>
              <a:buNone/>
              <a:tabLst>
                <a:tab algn="l" pos="460440"/>
              </a:tabLst>
            </a:pPr>
            <a:r>
              <a:rPr b="0" lang="en-CA" sz="2400" strike="noStrike" u="none">
                <a:solidFill>
                  <a:schemeClr val="dk1"/>
                </a:solidFill>
                <a:effectLst/>
                <a:uFillTx/>
                <a:latin typeface="Arial"/>
                <a:ea typeface="MS Mincho"/>
              </a:rPr>
              <a:t>There has been a large increase in the supply of female labor since 1960.</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460440"/>
              </a:tabLst>
            </a:pPr>
            <a:r>
              <a:rPr b="0" lang="en-CA" sz="2400" strike="noStrike" u="none">
                <a:solidFill>
                  <a:schemeClr val="dk1"/>
                </a:solidFill>
                <a:effectLst/>
                <a:uFillTx/>
                <a:latin typeface="Arial"/>
                <a:ea typeface="MS Mincho"/>
              </a:rPr>
              <a:t>The percentage of men with jobs has shrunk slightly.</a:t>
            </a:r>
            <a:endParaRPr b="1" lang="en-CA" sz="2400" strike="noStrike" u="none">
              <a:solidFill>
                <a:srgbClr val="00468f"/>
              </a:solidFill>
              <a:effectLst/>
              <a:uFillTx/>
              <a:latin typeface="Arial"/>
            </a:endParaRPr>
          </a:p>
        </p:txBody>
      </p:sp>
    </p:spTree>
  </p:cSld>
  <p:transition spd="slow">
    <p:wipe dir="r"/>
  </p:transition>
  <p:timing>
    <p:tnLst>
      <p:par>
        <p:cTn id="604" dur="indefinite" restart="never" nodeType="tmRoot">
          <p:childTnLst>
            <p:seq>
              <p:cTn id="605" dur="indefinite" nodeType="mainSeq">
                <p:childTnLst>
                  <p:par>
                    <p:cTn id="606" nodeType="clickEffect" fill="hold">
                      <p:stCondLst>
                        <p:cond delay="indefinite"/>
                      </p:stCondLst>
                      <p:childTnLst>
                        <p:par>
                          <p:cTn id="607" nodeType="withEffect" fill="hold">
                            <p:stCondLst>
                              <p:cond delay="0"/>
                            </p:stCondLst>
                            <p:childTnLst>
                              <p:par>
                                <p:cTn id="608" nodeType="clickEffect" fill="hold" presetClass="entr" presetID="22" presetSubtype="8">
                                  <p:stCondLst>
                                    <p:cond delay="0"/>
                                  </p:stCondLst>
                                  <p:childTnLst>
                                    <p:set>
                                      <p:cBhvr>
                                        <p:cTn id="609" dur="1" fill="hold">
                                          <p:stCondLst>
                                            <p:cond delay="0"/>
                                          </p:stCondLst>
                                        </p:cTn>
                                        <p:tgtEl>
                                          <p:spTgt spid="242">
                                            <p:txEl>
                                              <p:pRg st="1" end="1"/>
                                            </p:txEl>
                                          </p:spTgt>
                                        </p:tgtEl>
                                        <p:attrNameLst>
                                          <p:attrName>style.visibility</p:attrName>
                                        </p:attrNameLst>
                                      </p:cBhvr>
                                      <p:to>
                                        <p:strVal val="visible"/>
                                      </p:to>
                                    </p:set>
                                    <p:animEffect filter="wipe(left)" transition="in">
                                      <p:cBhvr additive="repl">
                                        <p:cTn id="610" dur="500"/>
                                        <p:tgtEl>
                                          <p:spTgt spid="242">
                                            <p:txEl>
                                              <p:pRg st="1" end="1"/>
                                            </p:txEl>
                                          </p:spTgt>
                                        </p:tgtEl>
                                      </p:cBhvr>
                                    </p:animEffect>
                                  </p:childTnLst>
                                </p:cTn>
                              </p:par>
                            </p:childTnLst>
                          </p:cTn>
                        </p:par>
                      </p:childTnLst>
                    </p:cTn>
                  </p:par>
                  <p:par>
                    <p:cTn id="611" nodeType="clickEffect" fill="hold">
                      <p:stCondLst>
                        <p:cond delay="indefinite"/>
                      </p:stCondLst>
                      <p:childTnLst>
                        <p:par>
                          <p:cTn id="612" nodeType="withEffect" fill="hold">
                            <p:stCondLst>
                              <p:cond delay="0"/>
                            </p:stCondLst>
                            <p:childTnLst>
                              <p:par>
                                <p:cTn id="613" nodeType="clickEffect" fill="hold" presetClass="entr" presetID="22" presetSubtype="8">
                                  <p:stCondLst>
                                    <p:cond delay="0"/>
                                  </p:stCondLst>
                                  <p:childTnLst>
                                    <p:set>
                                      <p:cBhvr>
                                        <p:cTn id="614" dur="1" fill="hold">
                                          <p:stCondLst>
                                            <p:cond delay="0"/>
                                          </p:stCondLst>
                                        </p:cTn>
                                        <p:tgtEl>
                                          <p:spTgt spid="242">
                                            <p:txEl>
                                              <p:pRg st="2" end="2"/>
                                            </p:txEl>
                                          </p:spTgt>
                                        </p:tgtEl>
                                        <p:attrNameLst>
                                          <p:attrName>style.visibility</p:attrName>
                                        </p:attrNameLst>
                                      </p:cBhvr>
                                      <p:to>
                                        <p:strVal val="visible"/>
                                      </p:to>
                                    </p:set>
                                    <p:animEffect filter="wipe(left)" transition="in">
                                      <p:cBhvr additive="repl">
                                        <p:cTn id="615" dur="500"/>
                                        <p:tgtEl>
                                          <p:spTgt spid="242">
                                            <p:txEl>
                                              <p:pRg st="2" end="2"/>
                                            </p:txEl>
                                          </p:spTgt>
                                        </p:tgtEl>
                                      </p:cBhvr>
                                    </p:animEffect>
                                  </p:childTnLst>
                                </p:cTn>
                              </p:par>
                            </p:childTnLst>
                          </p:cTn>
                        </p:par>
                      </p:childTnLst>
                    </p:cTn>
                  </p:par>
                  <p:par>
                    <p:cTn id="616" nodeType="clickEffect" fill="hold">
                      <p:stCondLst>
                        <p:cond delay="indefinite"/>
                      </p:stCondLst>
                      <p:childTnLst>
                        <p:par>
                          <p:cTn id="617" nodeType="withEffect" fill="hold">
                            <p:stCondLst>
                              <p:cond delay="0"/>
                            </p:stCondLst>
                            <p:childTnLst>
                              <p:par>
                                <p:cTn id="618" nodeType="clickEffect" fill="hold" presetClass="entr" presetID="22" presetSubtype="8">
                                  <p:stCondLst>
                                    <p:cond delay="0"/>
                                  </p:stCondLst>
                                  <p:childTnLst>
                                    <p:set>
                                      <p:cBhvr>
                                        <p:cTn id="619" dur="1" fill="hold">
                                          <p:stCondLst>
                                            <p:cond delay="0"/>
                                          </p:stCondLst>
                                        </p:cTn>
                                        <p:tgtEl>
                                          <p:spTgt spid="242">
                                            <p:txEl>
                                              <p:pRg st="3" end="3"/>
                                            </p:txEl>
                                          </p:spTgt>
                                        </p:tgtEl>
                                        <p:attrNameLst>
                                          <p:attrName>style.visibility</p:attrName>
                                        </p:attrNameLst>
                                      </p:cBhvr>
                                      <p:to>
                                        <p:strVal val="visible"/>
                                      </p:to>
                                    </p:set>
                                    <p:animEffect filter="wipe(left)" transition="in">
                                      <p:cBhvr additive="repl">
                                        <p:cTn id="620" dur="500"/>
                                        <p:tgtEl>
                                          <p:spTgt spid="242">
                                            <p:txEl>
                                              <p:pRg st="3" end="3"/>
                                            </p:txEl>
                                          </p:spTgt>
                                        </p:tgtEl>
                                      </p:cBhvr>
                                    </p:animEffect>
                                  </p:childTnLst>
                                </p:cTn>
                              </p:par>
                            </p:childTnLst>
                          </p:cTn>
                        </p:par>
                      </p:childTnLst>
                    </p:cTn>
                  </p:par>
                  <p:par>
                    <p:cTn id="621" nodeType="clickEffect" fill="hold">
                      <p:stCondLst>
                        <p:cond delay="indefinite"/>
                      </p:stCondLst>
                      <p:childTnLst>
                        <p:par>
                          <p:cTn id="622" nodeType="withEffect" fill="hold">
                            <p:stCondLst>
                              <p:cond delay="0"/>
                            </p:stCondLst>
                            <p:childTnLst>
                              <p:par>
                                <p:cTn id="623" nodeType="clickEffect" fill="hold" presetClass="entr" presetID="22" presetSubtype="8">
                                  <p:stCondLst>
                                    <p:cond delay="0"/>
                                  </p:stCondLst>
                                  <p:childTnLst>
                                    <p:set>
                                      <p:cBhvr>
                                        <p:cTn id="624" dur="1" fill="hold">
                                          <p:stCondLst>
                                            <p:cond delay="0"/>
                                          </p:stCondLst>
                                        </p:cTn>
                                        <p:tgtEl>
                                          <p:spTgt spid="242">
                                            <p:txEl>
                                              <p:pRg st="4" end="4"/>
                                            </p:txEl>
                                          </p:spTgt>
                                        </p:tgtEl>
                                        <p:attrNameLst>
                                          <p:attrName>style.visibility</p:attrName>
                                        </p:attrNameLst>
                                      </p:cBhvr>
                                      <p:to>
                                        <p:strVal val="visible"/>
                                      </p:to>
                                    </p:set>
                                    <p:animEffect filter="wipe(left)" transition="in">
                                      <p:cBhvr additive="repl">
                                        <p:cTn id="625" dur="500"/>
                                        <p:tgtEl>
                                          <p:spTgt spid="242">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3"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19.2  LABOR MARKETS</a:t>
            </a:r>
            <a:endParaRPr b="0" lang="en-CA" sz="2600" strike="noStrike" u="none">
              <a:solidFill>
                <a:schemeClr val="dk1"/>
              </a:solidFill>
              <a:effectLst/>
              <a:uFillTx/>
              <a:latin typeface="Arial"/>
            </a:endParaRPr>
          </a:p>
        </p:txBody>
      </p:sp>
      <p:sp>
        <p:nvSpPr>
          <p:cNvPr id="244"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460440"/>
              </a:tabLst>
            </a:pPr>
            <a:r>
              <a:rPr b="1" lang="en-CA" sz="2600" strike="noStrike" u="none">
                <a:solidFill>
                  <a:srgbClr val="00468f"/>
                </a:solidFill>
                <a:effectLst/>
                <a:uFillTx/>
                <a:latin typeface="Arial"/>
                <a:ea typeface="MS Mincho"/>
              </a:rPr>
              <a:t>Time in School and Training</a:t>
            </a:r>
            <a:endParaRPr b="1" lang="en-CA" sz="2600" strike="noStrike" u="none">
              <a:solidFill>
                <a:srgbClr val="00468f"/>
              </a:solidFill>
              <a:effectLst/>
              <a:uFillTx/>
              <a:latin typeface="Arial"/>
            </a:endParaRPr>
          </a:p>
          <a:p>
            <a:pPr marL="360000" indent="0">
              <a:lnSpc>
                <a:spcPct val="100000"/>
              </a:lnSpc>
              <a:spcBef>
                <a:spcPts val="601"/>
              </a:spcBef>
              <a:spcAft>
                <a:spcPts val="601"/>
              </a:spcAft>
              <a:buNone/>
              <a:tabLst>
                <a:tab algn="l" pos="460440"/>
              </a:tabLst>
            </a:pPr>
            <a:r>
              <a:rPr b="0" lang="en-CA" sz="2400" strike="noStrike" u="none">
                <a:solidFill>
                  <a:schemeClr val="dk1"/>
                </a:solidFill>
                <a:effectLst/>
                <a:uFillTx/>
                <a:latin typeface="Arial"/>
                <a:ea typeface="MS Mincho"/>
              </a:rPr>
              <a:t>The more people who remain in school for full-time education and training, the smaller is the supply of low-skilled labor.</a:t>
            </a:r>
            <a:endParaRPr b="1" lang="en-CA" sz="2400" strike="noStrike" u="none">
              <a:solidFill>
                <a:srgbClr val="00468f"/>
              </a:solidFill>
              <a:effectLst/>
              <a:uFillTx/>
              <a:latin typeface="Arial"/>
            </a:endParaRPr>
          </a:p>
        </p:txBody>
      </p:sp>
    </p:spTree>
  </p:cSld>
  <p:transition spd="slow">
    <p:wipe dir="r"/>
  </p:transition>
  <p:timing>
    <p:tnLst>
      <p:par>
        <p:cTn id="626" dur="indefinite" restart="never" nodeType="tmRoot">
          <p:childTnLst>
            <p:seq>
              <p:cTn id="627" dur="indefinite" nodeType="mainSeq">
                <p:childTnLst>
                  <p:par>
                    <p:cTn id="628" nodeType="clickEffect" fill="hold">
                      <p:stCondLst>
                        <p:cond delay="indefinite"/>
                      </p:stCondLst>
                      <p:childTnLst>
                        <p:par>
                          <p:cTn id="629" nodeType="withEffect" fill="hold">
                            <p:stCondLst>
                              <p:cond delay="0"/>
                            </p:stCondLst>
                            <p:childTnLst>
                              <p:par>
                                <p:cTn id="630" nodeType="clickEffect" fill="hold" presetClass="entr" presetID="22" presetSubtype="8">
                                  <p:stCondLst>
                                    <p:cond delay="0"/>
                                  </p:stCondLst>
                                  <p:childTnLst>
                                    <p:set>
                                      <p:cBhvr>
                                        <p:cTn id="631" dur="1" fill="hold">
                                          <p:stCondLst>
                                            <p:cond delay="0"/>
                                          </p:stCondLst>
                                        </p:cTn>
                                        <p:tgtEl>
                                          <p:spTgt spid="244">
                                            <p:txEl>
                                              <p:pRg st="1" end="1"/>
                                            </p:txEl>
                                          </p:spTgt>
                                        </p:tgtEl>
                                        <p:attrNameLst>
                                          <p:attrName>style.visibility</p:attrName>
                                        </p:attrNameLst>
                                      </p:cBhvr>
                                      <p:to>
                                        <p:strVal val="visible"/>
                                      </p:to>
                                    </p:set>
                                    <p:animEffect filter="wipe(left)" transition="in">
                                      <p:cBhvr additive="repl">
                                        <p:cTn id="632" dur="500"/>
                                        <p:tgtEl>
                                          <p:spTgt spid="244">
                                            <p:txEl>
                                              <p:pRg st="1" end="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5"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19.2  LABOR MARKETS</a:t>
            </a:r>
            <a:endParaRPr b="0" lang="en-CA" sz="2600" strike="noStrike" u="none">
              <a:solidFill>
                <a:schemeClr val="dk1"/>
              </a:solidFill>
              <a:effectLst/>
              <a:uFillTx/>
              <a:latin typeface="Arial"/>
            </a:endParaRPr>
          </a:p>
        </p:txBody>
      </p:sp>
      <p:sp>
        <p:nvSpPr>
          <p:cNvPr id="246"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43080" indent="-343080">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ＭＳ Ｐゴシック"/>
              </a:rPr>
              <a:t>Competitive Labor Market Equilibrium</a:t>
            </a:r>
            <a:endParaRPr b="1" lang="en-CA" sz="28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Labor market equilibrium determines the wage rate and employment.</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Figure 19.5 on the next slide illustrates equilibrium in the market for car wash workers.</a:t>
            </a:r>
            <a:endParaRPr b="1" lang="en-CA" sz="2400" strike="noStrike" u="none">
              <a:solidFill>
                <a:srgbClr val="00468f"/>
              </a:solidFill>
              <a:effectLst/>
              <a:uFillTx/>
              <a:latin typeface="Arial"/>
            </a:endParaRPr>
          </a:p>
        </p:txBody>
      </p:sp>
    </p:spTree>
  </p:cSld>
  <p:transition spd="slow">
    <p:wipe dir="r"/>
  </p:transition>
  <p:timing>
    <p:tnLst>
      <p:par>
        <p:cTn id="633" dur="indefinite" restart="never" nodeType="tmRoot">
          <p:childTnLst>
            <p:seq>
              <p:cTn id="634" dur="indefinite" nodeType="mainSeq">
                <p:childTnLst>
                  <p:par>
                    <p:cTn id="635" nodeType="clickEffect" fill="hold">
                      <p:stCondLst>
                        <p:cond delay="indefinite"/>
                      </p:stCondLst>
                      <p:childTnLst>
                        <p:par>
                          <p:cTn id="636" nodeType="withEffect" fill="hold">
                            <p:stCondLst>
                              <p:cond delay="0"/>
                            </p:stCondLst>
                            <p:childTnLst>
                              <p:par>
                                <p:cTn id="637" nodeType="clickEffect" fill="hold" presetClass="entr" presetID="22" presetSubtype="8">
                                  <p:stCondLst>
                                    <p:cond delay="0"/>
                                  </p:stCondLst>
                                  <p:childTnLst>
                                    <p:set>
                                      <p:cBhvr>
                                        <p:cTn id="638" dur="1" fill="hold">
                                          <p:stCondLst>
                                            <p:cond delay="0"/>
                                          </p:stCondLst>
                                        </p:cTn>
                                        <p:tgtEl>
                                          <p:spTgt spid="246">
                                            <p:txEl>
                                              <p:pRg st="1" end="1"/>
                                            </p:txEl>
                                          </p:spTgt>
                                        </p:tgtEl>
                                        <p:attrNameLst>
                                          <p:attrName>style.visibility</p:attrName>
                                        </p:attrNameLst>
                                      </p:cBhvr>
                                      <p:to>
                                        <p:strVal val="visible"/>
                                      </p:to>
                                    </p:set>
                                    <p:animEffect filter="wipe(left)" transition="in">
                                      <p:cBhvr additive="repl">
                                        <p:cTn id="639" dur="500"/>
                                        <p:tgtEl>
                                          <p:spTgt spid="246">
                                            <p:txEl>
                                              <p:pRg st="1" end="1"/>
                                            </p:txEl>
                                          </p:spTgt>
                                        </p:tgtEl>
                                      </p:cBhvr>
                                    </p:animEffect>
                                  </p:childTnLst>
                                </p:cTn>
                              </p:par>
                            </p:childTnLst>
                          </p:cTn>
                        </p:par>
                      </p:childTnLst>
                    </p:cTn>
                  </p:par>
                  <p:par>
                    <p:cTn id="640" nodeType="clickEffect" fill="hold">
                      <p:stCondLst>
                        <p:cond delay="indefinite"/>
                      </p:stCondLst>
                      <p:childTnLst>
                        <p:par>
                          <p:cTn id="641" nodeType="withEffect" fill="hold">
                            <p:stCondLst>
                              <p:cond delay="0"/>
                            </p:stCondLst>
                            <p:childTnLst>
                              <p:par>
                                <p:cTn id="642" nodeType="clickEffect" fill="hold" presetClass="entr" presetID="22" presetSubtype="8">
                                  <p:stCondLst>
                                    <p:cond delay="0"/>
                                  </p:stCondLst>
                                  <p:childTnLst>
                                    <p:set>
                                      <p:cBhvr>
                                        <p:cTn id="643" dur="1" fill="hold">
                                          <p:stCondLst>
                                            <p:cond delay="0"/>
                                          </p:stCondLst>
                                        </p:cTn>
                                        <p:tgtEl>
                                          <p:spTgt spid="246">
                                            <p:txEl>
                                              <p:pRg st="2" end="2"/>
                                            </p:txEl>
                                          </p:spTgt>
                                        </p:tgtEl>
                                        <p:attrNameLst>
                                          <p:attrName>style.visibility</p:attrName>
                                        </p:attrNameLst>
                                      </p:cBhvr>
                                      <p:to>
                                        <p:strVal val="visible"/>
                                      </p:to>
                                    </p:set>
                                    <p:animEffect filter="wipe(left)" transition="in">
                                      <p:cBhvr additive="repl">
                                        <p:cTn id="644" dur="500"/>
                                        <p:tgtEl>
                                          <p:spTgt spid="246">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7"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19.2  LABOR MARKETS</a:t>
            </a:r>
            <a:endParaRPr b="0" lang="en-CA" sz="2600" strike="noStrike" u="none">
              <a:solidFill>
                <a:schemeClr val="dk1"/>
              </a:solidFill>
              <a:effectLst/>
              <a:uFillTx/>
              <a:latin typeface="Arial"/>
            </a:endParaRPr>
          </a:p>
        </p:txBody>
      </p:sp>
      <p:sp>
        <p:nvSpPr>
          <p:cNvPr id="248" name="PlaceHolder 2"/>
          <p:cNvSpPr>
            <a:spLocks noGrp="1"/>
          </p:cNvSpPr>
          <p:nvPr>
            <p:ph/>
          </p:nvPr>
        </p:nvSpPr>
        <p:spPr>
          <a:xfrm>
            <a:off x="360360" y="1440000"/>
            <a:ext cx="3449160" cy="4647960"/>
          </a:xfrm>
          <a:prstGeom prst="rect">
            <a:avLst/>
          </a:prstGeom>
          <a:noFill/>
          <a:ln w="0">
            <a:noFill/>
          </a:ln>
        </p:spPr>
        <p:txBody>
          <a:bodyPr numCol="1" spcCol="0" lIns="91440" rIns="91440" tIns="45720" bIns="45720" anchor="t">
            <a:noAutofit/>
          </a:bodyPr>
          <a:p>
            <a:pPr marL="817200" indent="-457200">
              <a:lnSpc>
                <a:spcPct val="100000"/>
              </a:lnSpc>
              <a:spcBef>
                <a:spcPts val="601"/>
              </a:spcBef>
              <a:spcAft>
                <a:spcPts val="601"/>
              </a:spcAft>
              <a:buClr>
                <a:srgbClr val="000000"/>
              </a:buClr>
              <a:buFont typeface="Arial"/>
              <a:buAutoNum type="arabicPeriod"/>
            </a:pPr>
            <a:r>
              <a:rPr b="0" lang="en-US" sz="2400" strike="noStrike" u="none">
                <a:solidFill>
                  <a:srgbClr val="000000"/>
                </a:solidFill>
                <a:effectLst/>
                <a:uFillTx/>
                <a:latin typeface="Arial"/>
                <a:ea typeface="ＭＳ Ｐゴシック"/>
              </a:rPr>
              <a:t>The equilibrium wage rate is $15 an hour.</a:t>
            </a:r>
            <a:endParaRPr b="1" lang="en-CA" sz="2400" strike="noStrike" u="none">
              <a:solidFill>
                <a:srgbClr val="00468f"/>
              </a:solidFill>
              <a:effectLst/>
              <a:uFillTx/>
              <a:latin typeface="Arial"/>
            </a:endParaRPr>
          </a:p>
          <a:p>
            <a:pPr marL="817200" indent="-457200">
              <a:lnSpc>
                <a:spcPct val="100000"/>
              </a:lnSpc>
              <a:spcBef>
                <a:spcPts val="601"/>
              </a:spcBef>
              <a:spcAft>
                <a:spcPts val="601"/>
              </a:spcAft>
              <a:buClr>
                <a:srgbClr val="000000"/>
              </a:buClr>
              <a:buFont typeface="Arial"/>
              <a:buAutoNum type="arabicPeriod"/>
            </a:pPr>
            <a:r>
              <a:rPr b="0" lang="en-US" sz="2400" strike="noStrike" u="none">
                <a:solidFill>
                  <a:srgbClr val="000000"/>
                </a:solidFill>
                <a:effectLst/>
                <a:uFillTx/>
                <a:latin typeface="Arial"/>
                <a:ea typeface="ＭＳ Ｐゴシック"/>
              </a:rPr>
              <a:t>The equilibrium quantity of labor is 300 workers.</a:t>
            </a:r>
            <a:endParaRPr b="1" lang="en-CA" sz="2400" strike="noStrike" u="none">
              <a:solidFill>
                <a:srgbClr val="00468f"/>
              </a:solidFill>
              <a:effectLst/>
              <a:uFillTx/>
              <a:latin typeface="Arial"/>
            </a:endParaRPr>
          </a:p>
        </p:txBody>
      </p:sp>
      <p:pic>
        <p:nvPicPr>
          <p:cNvPr id="249" name="Picture 1" descr=""/>
          <p:cNvPicPr/>
          <p:nvPr/>
        </p:nvPicPr>
        <p:blipFill>
          <a:blip r:embed="rId1"/>
          <a:stretch/>
        </p:blipFill>
        <p:spPr>
          <a:xfrm>
            <a:off x="4032360" y="1476360"/>
            <a:ext cx="4452480" cy="4412880"/>
          </a:xfrm>
          <a:prstGeom prst="rect">
            <a:avLst/>
          </a:prstGeom>
          <a:noFill/>
          <a:ln w="0">
            <a:noFill/>
          </a:ln>
        </p:spPr>
      </p:pic>
      <p:pic>
        <p:nvPicPr>
          <p:cNvPr id="250" name="Picture 11" descr=""/>
          <p:cNvPicPr/>
          <p:nvPr/>
        </p:nvPicPr>
        <p:blipFill>
          <a:blip r:embed="rId2"/>
          <a:stretch/>
        </p:blipFill>
        <p:spPr>
          <a:xfrm>
            <a:off x="4032360" y="1476360"/>
            <a:ext cx="4452480" cy="4412880"/>
          </a:xfrm>
          <a:prstGeom prst="rect">
            <a:avLst/>
          </a:prstGeom>
          <a:noFill/>
          <a:ln w="0">
            <a:noFill/>
          </a:ln>
        </p:spPr>
      </p:pic>
      <p:pic>
        <p:nvPicPr>
          <p:cNvPr id="251" name="Picture 12" descr=""/>
          <p:cNvPicPr/>
          <p:nvPr/>
        </p:nvPicPr>
        <p:blipFill>
          <a:blip r:embed="rId3"/>
          <a:stretch/>
        </p:blipFill>
        <p:spPr>
          <a:xfrm>
            <a:off x="4032360" y="1476360"/>
            <a:ext cx="4452480" cy="4412880"/>
          </a:xfrm>
          <a:prstGeom prst="rect">
            <a:avLst/>
          </a:prstGeom>
          <a:noFill/>
          <a:ln w="0">
            <a:noFill/>
          </a:ln>
        </p:spPr>
      </p:pic>
    </p:spTree>
  </p:cSld>
  <p:transition spd="slow">
    <p:wipe dir="r"/>
  </p:transition>
  <p:timing>
    <p:tnLst>
      <p:par>
        <p:cTn id="645" dur="indefinite" restart="never" nodeType="tmRoot">
          <p:childTnLst>
            <p:seq>
              <p:cTn id="646" dur="indefinite" nodeType="mainSeq">
                <p:childTnLst>
                  <p:par>
                    <p:cTn id="647" nodeType="clickEffect" fill="hold">
                      <p:stCondLst>
                        <p:cond delay="0"/>
                      </p:stCondLst>
                      <p:childTnLst>
                        <p:par>
                          <p:cTn id="648" nodeType="withEffect" fill="hold">
                            <p:stCondLst>
                              <p:cond delay="0"/>
                            </p:stCondLst>
                            <p:childTnLst>
                              <p:par>
                                <p:cTn id="649" nodeType="withEffect" fill="hold" presetClass="entr" presetID="10">
                                  <p:stCondLst>
                                    <p:cond delay="0"/>
                                  </p:stCondLst>
                                  <p:childTnLst>
                                    <p:set>
                                      <p:cBhvr>
                                        <p:cTn id="650" dur="1" fill="hold">
                                          <p:stCondLst>
                                            <p:cond delay="0"/>
                                          </p:stCondLst>
                                        </p:cTn>
                                        <p:tgtEl>
                                          <p:spTgt spid="250"/>
                                        </p:tgtEl>
                                        <p:attrNameLst>
                                          <p:attrName>style.visibility</p:attrName>
                                        </p:attrNameLst>
                                      </p:cBhvr>
                                      <p:to>
                                        <p:strVal val="visible"/>
                                      </p:to>
                                    </p:set>
                                    <p:animEffect filter="fade" transition="in">
                                      <p:cBhvr additive="repl">
                                        <p:cTn id="651" dur="500"/>
                                        <p:tgtEl>
                                          <p:spTgt spid="250"/>
                                        </p:tgtEl>
                                      </p:cBhvr>
                                    </p:animEffect>
                                  </p:childTnLst>
                                </p:cTn>
                              </p:par>
                            </p:childTnLst>
                          </p:cTn>
                        </p:par>
                      </p:childTnLst>
                    </p:cTn>
                  </p:par>
                  <p:par>
                    <p:cTn id="652" nodeType="clickEffect" fill="hold">
                      <p:stCondLst>
                        <p:cond delay="indefinite"/>
                      </p:stCondLst>
                      <p:childTnLst>
                        <p:par>
                          <p:cTn id="653" nodeType="withEffect" fill="hold">
                            <p:stCondLst>
                              <p:cond delay="0"/>
                            </p:stCondLst>
                            <p:childTnLst>
                              <p:par>
                                <p:cTn id="654" nodeType="clickEffect" fill="hold" presetClass="entr" presetID="22" presetSubtype="8">
                                  <p:stCondLst>
                                    <p:cond delay="0"/>
                                  </p:stCondLst>
                                  <p:childTnLst>
                                    <p:set>
                                      <p:cBhvr>
                                        <p:cTn id="655" dur="1" fill="hold">
                                          <p:stCondLst>
                                            <p:cond delay="0"/>
                                          </p:stCondLst>
                                        </p:cTn>
                                        <p:tgtEl>
                                          <p:spTgt spid="248">
                                            <p:txEl>
                                              <p:pRg st="1" end="1"/>
                                            </p:txEl>
                                          </p:spTgt>
                                        </p:tgtEl>
                                        <p:attrNameLst>
                                          <p:attrName>style.visibility</p:attrName>
                                        </p:attrNameLst>
                                      </p:cBhvr>
                                      <p:to>
                                        <p:strVal val="visible"/>
                                      </p:to>
                                    </p:set>
                                    <p:animEffect filter="wipe(left)" transition="in">
                                      <p:cBhvr additive="repl">
                                        <p:cTn id="656" dur="500"/>
                                        <p:tgtEl>
                                          <p:spTgt spid="248">
                                            <p:txEl>
                                              <p:pRg st="1" end="1"/>
                                            </p:txEl>
                                          </p:spTgt>
                                        </p:tgtEl>
                                      </p:cBhvr>
                                    </p:animEffect>
                                  </p:childTnLst>
                                </p:cTn>
                              </p:par>
                              <p:par>
                                <p:cTn id="657" nodeType="withEffect" fill="hold" presetClass="entr" presetID="10">
                                  <p:stCondLst>
                                    <p:cond delay="0"/>
                                  </p:stCondLst>
                                  <p:childTnLst>
                                    <p:set>
                                      <p:cBhvr>
                                        <p:cTn id="658" dur="1" fill="hold">
                                          <p:stCondLst>
                                            <p:cond delay="0"/>
                                          </p:stCondLst>
                                        </p:cTn>
                                        <p:tgtEl>
                                          <p:spTgt spid="251"/>
                                        </p:tgtEl>
                                        <p:attrNameLst>
                                          <p:attrName>style.visibility</p:attrName>
                                        </p:attrNameLst>
                                      </p:cBhvr>
                                      <p:to>
                                        <p:strVal val="visible"/>
                                      </p:to>
                                    </p:set>
                                    <p:animEffect filter="fade" transition="in">
                                      <p:cBhvr additive="repl">
                                        <p:cTn id="659" dur="500"/>
                                        <p:tgtEl>
                                          <p:spTgt spid="2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252" name="Picture 1" descr=""/>
          <p:cNvPicPr/>
          <p:nvPr/>
        </p:nvPicPr>
        <p:blipFill>
          <a:blip r:embed="rId1"/>
          <a:stretch/>
        </p:blipFill>
        <p:spPr>
          <a:xfrm>
            <a:off x="1547640" y="287280"/>
            <a:ext cx="5725800" cy="5675040"/>
          </a:xfrm>
          <a:prstGeom prst="rect">
            <a:avLst/>
          </a:prstGeom>
          <a:noFill/>
          <a:ln w="0">
            <a:noFill/>
          </a:ln>
        </p:spPr>
      </p:pic>
      <p:pic>
        <p:nvPicPr>
          <p:cNvPr id="253" name="Picture 7" descr=""/>
          <p:cNvPicPr/>
          <p:nvPr/>
        </p:nvPicPr>
        <p:blipFill>
          <a:blip r:embed="rId2"/>
          <a:stretch/>
        </p:blipFill>
        <p:spPr>
          <a:xfrm>
            <a:off x="1547640" y="287280"/>
            <a:ext cx="5725800" cy="5675040"/>
          </a:xfrm>
          <a:prstGeom prst="rect">
            <a:avLst/>
          </a:prstGeom>
          <a:noFill/>
          <a:ln w="0">
            <a:noFill/>
          </a:ln>
        </p:spPr>
      </p:pic>
      <p:pic>
        <p:nvPicPr>
          <p:cNvPr id="254" name="Picture 8" descr=""/>
          <p:cNvPicPr/>
          <p:nvPr/>
        </p:nvPicPr>
        <p:blipFill>
          <a:blip r:embed="rId3"/>
          <a:stretch/>
        </p:blipFill>
        <p:spPr>
          <a:xfrm>
            <a:off x="1547640" y="287280"/>
            <a:ext cx="5725800" cy="5675040"/>
          </a:xfrm>
          <a:prstGeom prst="rect">
            <a:avLst/>
          </a:prstGeom>
          <a:noFill/>
          <a:ln w="0">
            <a:noFill/>
          </a:ln>
        </p:spPr>
      </p:pic>
    </p:spTree>
  </p:cSld>
  <p:transition spd="slow">
    <p:wipe dir="r"/>
  </p:transition>
  <p:timing>
    <p:tnLst>
      <p:par>
        <p:cTn id="660" dur="indefinite" restart="never" nodeType="tmRoot">
          <p:childTnLst>
            <p:seq>
              <p:cTn id="661" dur="indefinite" nodeType="mainSeq">
                <p:childTnLst>
                  <p:par>
                    <p:cTn id="662" nodeType="clickEffect" fill="hold">
                      <p:stCondLst>
                        <p:cond delay="indefinite"/>
                      </p:stCondLst>
                      <p:childTnLst>
                        <p:par>
                          <p:cTn id="663" nodeType="withEffect" fill="hold">
                            <p:stCondLst>
                              <p:cond delay="0"/>
                            </p:stCondLst>
                            <p:childTnLst>
                              <p:par>
                                <p:cTn id="664" nodeType="clickEffect" fill="hold" presetClass="entr" presetID="10">
                                  <p:stCondLst>
                                    <p:cond delay="0"/>
                                  </p:stCondLst>
                                  <p:childTnLst>
                                    <p:set>
                                      <p:cBhvr>
                                        <p:cTn id="665" dur="1" fill="hold">
                                          <p:stCondLst>
                                            <p:cond delay="0"/>
                                          </p:stCondLst>
                                        </p:cTn>
                                        <p:tgtEl>
                                          <p:spTgt spid="253"/>
                                        </p:tgtEl>
                                        <p:attrNameLst>
                                          <p:attrName>style.visibility</p:attrName>
                                        </p:attrNameLst>
                                      </p:cBhvr>
                                      <p:to>
                                        <p:strVal val="visible"/>
                                      </p:to>
                                    </p:set>
                                    <p:animEffect filter="fade" transition="in">
                                      <p:cBhvr additive="repl">
                                        <p:cTn id="666" dur="500"/>
                                        <p:tgtEl>
                                          <p:spTgt spid="253"/>
                                        </p:tgtEl>
                                      </p:cBhvr>
                                    </p:animEffect>
                                  </p:childTnLst>
                                </p:cTn>
                              </p:par>
                            </p:childTnLst>
                          </p:cTn>
                        </p:par>
                      </p:childTnLst>
                    </p:cTn>
                  </p:par>
                  <p:par>
                    <p:cTn id="667" nodeType="clickEffect" fill="hold">
                      <p:stCondLst>
                        <p:cond delay="indefinite"/>
                      </p:stCondLst>
                      <p:childTnLst>
                        <p:par>
                          <p:cTn id="668" nodeType="withEffect" fill="hold">
                            <p:stCondLst>
                              <p:cond delay="0"/>
                            </p:stCondLst>
                            <p:childTnLst>
                              <p:par>
                                <p:cTn id="669" nodeType="clickEffect" fill="hold" presetClass="entr" presetID="10">
                                  <p:stCondLst>
                                    <p:cond delay="0"/>
                                  </p:stCondLst>
                                  <p:childTnLst>
                                    <p:set>
                                      <p:cBhvr>
                                        <p:cTn id="670" dur="1" fill="hold">
                                          <p:stCondLst>
                                            <p:cond delay="0"/>
                                          </p:stCondLst>
                                        </p:cTn>
                                        <p:tgtEl>
                                          <p:spTgt spid="254"/>
                                        </p:tgtEl>
                                        <p:attrNameLst>
                                          <p:attrName>style.visibility</p:attrName>
                                        </p:attrNameLst>
                                      </p:cBhvr>
                                      <p:to>
                                        <p:strVal val="visible"/>
                                      </p:to>
                                    </p:set>
                                    <p:animEffect filter="fade" transition="in">
                                      <p:cBhvr additive="repl">
                                        <p:cTn id="671" dur="500"/>
                                        <p:tgtEl>
                                          <p:spTgt spid="2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5"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19.2  LABOR MARKETS</a:t>
            </a:r>
            <a:endParaRPr b="0" lang="en-CA" sz="2600" strike="noStrike" u="none">
              <a:solidFill>
                <a:schemeClr val="dk1"/>
              </a:solidFill>
              <a:effectLst/>
              <a:uFillTx/>
              <a:latin typeface="Arial"/>
            </a:endParaRPr>
          </a:p>
        </p:txBody>
      </p:sp>
      <p:sp>
        <p:nvSpPr>
          <p:cNvPr id="256"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43080" indent="-343080">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ＭＳ Ｐゴシック"/>
              </a:rPr>
              <a:t>Labor Unions</a:t>
            </a:r>
            <a:endParaRPr b="1" lang="en-CA" sz="28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A </a:t>
            </a:r>
            <a:r>
              <a:rPr b="1" lang="en-US" sz="2400" strike="noStrike" u="none">
                <a:solidFill>
                  <a:srgbClr val="ff0000"/>
                </a:solidFill>
                <a:effectLst/>
                <a:uFillTx/>
                <a:latin typeface="Arial"/>
                <a:ea typeface="ＭＳ Ｐゴシック"/>
              </a:rPr>
              <a:t>labor union </a:t>
            </a:r>
            <a:r>
              <a:rPr b="0" lang="en-US" sz="2400" strike="noStrike" u="none">
                <a:solidFill>
                  <a:schemeClr val="dk1"/>
                </a:solidFill>
                <a:effectLst/>
                <a:uFillTx/>
                <a:latin typeface="Arial"/>
                <a:ea typeface="ＭＳ Ｐゴシック"/>
              </a:rPr>
              <a:t>is an organized group of workers that aims to increase wages and influence other job conditions. </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In some labor markets, labor unions have a powerful effect on the wage rate and employment.</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Figure 19.6 shows what happens when a union enters a competitive labor market.</a:t>
            </a:r>
            <a:endParaRPr b="1" lang="en-CA" sz="2400" strike="noStrike" u="none">
              <a:solidFill>
                <a:srgbClr val="00468f"/>
              </a:solidFill>
              <a:effectLst/>
              <a:uFillTx/>
              <a:latin typeface="Arial"/>
            </a:endParaRPr>
          </a:p>
        </p:txBody>
      </p:sp>
    </p:spTree>
  </p:cSld>
  <p:transition spd="slow">
    <p:wipe dir="r"/>
  </p:transition>
  <p:timing>
    <p:tnLst>
      <p:par>
        <p:cTn id="672" dur="indefinite" restart="never" nodeType="tmRoot">
          <p:childTnLst>
            <p:seq>
              <p:cTn id="673" dur="indefinite" nodeType="mainSeq">
                <p:childTnLst>
                  <p:par>
                    <p:cTn id="674" nodeType="clickEffect" fill="hold">
                      <p:stCondLst>
                        <p:cond delay="indefinite"/>
                      </p:stCondLst>
                      <p:childTnLst>
                        <p:par>
                          <p:cTn id="675" nodeType="withEffect" fill="hold">
                            <p:stCondLst>
                              <p:cond delay="0"/>
                            </p:stCondLst>
                            <p:childTnLst>
                              <p:par>
                                <p:cTn id="676" nodeType="clickEffect" fill="hold" presetClass="entr" presetID="22" presetSubtype="8">
                                  <p:stCondLst>
                                    <p:cond delay="0"/>
                                  </p:stCondLst>
                                  <p:childTnLst>
                                    <p:set>
                                      <p:cBhvr>
                                        <p:cTn id="677" dur="1" fill="hold">
                                          <p:stCondLst>
                                            <p:cond delay="0"/>
                                          </p:stCondLst>
                                        </p:cTn>
                                        <p:tgtEl>
                                          <p:spTgt spid="256">
                                            <p:txEl>
                                              <p:pRg st="1" end="1"/>
                                            </p:txEl>
                                          </p:spTgt>
                                        </p:tgtEl>
                                        <p:attrNameLst>
                                          <p:attrName>style.visibility</p:attrName>
                                        </p:attrNameLst>
                                      </p:cBhvr>
                                      <p:to>
                                        <p:strVal val="visible"/>
                                      </p:to>
                                    </p:set>
                                    <p:animEffect filter="wipe(left)" transition="in">
                                      <p:cBhvr additive="repl">
                                        <p:cTn id="678" dur="500"/>
                                        <p:tgtEl>
                                          <p:spTgt spid="256">
                                            <p:txEl>
                                              <p:pRg st="1" end="1"/>
                                            </p:txEl>
                                          </p:spTgt>
                                        </p:tgtEl>
                                      </p:cBhvr>
                                    </p:animEffect>
                                  </p:childTnLst>
                                </p:cTn>
                              </p:par>
                            </p:childTnLst>
                          </p:cTn>
                        </p:par>
                      </p:childTnLst>
                    </p:cTn>
                  </p:par>
                  <p:par>
                    <p:cTn id="679" nodeType="clickEffect" fill="hold">
                      <p:stCondLst>
                        <p:cond delay="indefinite"/>
                      </p:stCondLst>
                      <p:childTnLst>
                        <p:par>
                          <p:cTn id="680" nodeType="withEffect" fill="hold">
                            <p:stCondLst>
                              <p:cond delay="0"/>
                            </p:stCondLst>
                            <p:childTnLst>
                              <p:par>
                                <p:cTn id="681" nodeType="clickEffect" fill="hold" presetClass="entr" presetID="22" presetSubtype="8">
                                  <p:stCondLst>
                                    <p:cond delay="0"/>
                                  </p:stCondLst>
                                  <p:childTnLst>
                                    <p:set>
                                      <p:cBhvr>
                                        <p:cTn id="682" dur="1" fill="hold">
                                          <p:stCondLst>
                                            <p:cond delay="0"/>
                                          </p:stCondLst>
                                        </p:cTn>
                                        <p:tgtEl>
                                          <p:spTgt spid="256">
                                            <p:txEl>
                                              <p:pRg st="2" end="2"/>
                                            </p:txEl>
                                          </p:spTgt>
                                        </p:tgtEl>
                                        <p:attrNameLst>
                                          <p:attrName>style.visibility</p:attrName>
                                        </p:attrNameLst>
                                      </p:cBhvr>
                                      <p:to>
                                        <p:strVal val="visible"/>
                                      </p:to>
                                    </p:set>
                                    <p:animEffect filter="wipe(left)" transition="in">
                                      <p:cBhvr additive="repl">
                                        <p:cTn id="683" dur="500"/>
                                        <p:tgtEl>
                                          <p:spTgt spid="256">
                                            <p:txEl>
                                              <p:pRg st="2" end="2"/>
                                            </p:txEl>
                                          </p:spTgt>
                                        </p:tgtEl>
                                      </p:cBhvr>
                                    </p:animEffect>
                                  </p:childTnLst>
                                </p:cTn>
                              </p:par>
                            </p:childTnLst>
                          </p:cTn>
                        </p:par>
                      </p:childTnLst>
                    </p:cTn>
                  </p:par>
                  <p:par>
                    <p:cTn id="684" nodeType="clickEffect" fill="hold">
                      <p:stCondLst>
                        <p:cond delay="indefinite"/>
                      </p:stCondLst>
                      <p:childTnLst>
                        <p:par>
                          <p:cTn id="685" nodeType="withEffect" fill="hold">
                            <p:stCondLst>
                              <p:cond delay="0"/>
                            </p:stCondLst>
                            <p:childTnLst>
                              <p:par>
                                <p:cTn id="686" nodeType="clickEffect" fill="hold" presetClass="entr" presetID="22" presetSubtype="8">
                                  <p:stCondLst>
                                    <p:cond delay="0"/>
                                  </p:stCondLst>
                                  <p:childTnLst>
                                    <p:set>
                                      <p:cBhvr>
                                        <p:cTn id="687" dur="1" fill="hold">
                                          <p:stCondLst>
                                            <p:cond delay="0"/>
                                          </p:stCondLst>
                                        </p:cTn>
                                        <p:tgtEl>
                                          <p:spTgt spid="256">
                                            <p:txEl>
                                              <p:pRg st="3" end="3"/>
                                            </p:txEl>
                                          </p:spTgt>
                                        </p:tgtEl>
                                        <p:attrNameLst>
                                          <p:attrName>style.visibility</p:attrName>
                                        </p:attrNameLst>
                                      </p:cBhvr>
                                      <p:to>
                                        <p:strVal val="visible"/>
                                      </p:to>
                                    </p:set>
                                    <p:animEffect filter="wipe(left)" transition="in">
                                      <p:cBhvr additive="repl">
                                        <p:cTn id="688" dur="500"/>
                                        <p:tgtEl>
                                          <p:spTgt spid="256">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7"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19.2  LABOR MARKETS</a:t>
            </a:r>
            <a:endParaRPr b="0" lang="en-CA" sz="2600" strike="noStrike" u="none">
              <a:solidFill>
                <a:schemeClr val="dk1"/>
              </a:solidFill>
              <a:effectLst/>
              <a:uFillTx/>
              <a:latin typeface="Arial"/>
            </a:endParaRPr>
          </a:p>
        </p:txBody>
      </p:sp>
      <p:pic>
        <p:nvPicPr>
          <p:cNvPr id="258" name="Picture 1" descr=""/>
          <p:cNvPicPr/>
          <p:nvPr/>
        </p:nvPicPr>
        <p:blipFill>
          <a:blip r:embed="rId1"/>
          <a:stretch/>
        </p:blipFill>
        <p:spPr>
          <a:xfrm>
            <a:off x="4032360" y="1476360"/>
            <a:ext cx="4452480" cy="4412880"/>
          </a:xfrm>
          <a:prstGeom prst="rect">
            <a:avLst/>
          </a:prstGeom>
          <a:noFill/>
          <a:ln w="0">
            <a:noFill/>
          </a:ln>
        </p:spPr>
      </p:pic>
      <p:pic>
        <p:nvPicPr>
          <p:cNvPr id="259" name="Picture 6" descr=""/>
          <p:cNvPicPr/>
          <p:nvPr/>
        </p:nvPicPr>
        <p:blipFill>
          <a:blip r:embed="rId2"/>
          <a:stretch/>
        </p:blipFill>
        <p:spPr>
          <a:xfrm>
            <a:off x="4032360" y="1476360"/>
            <a:ext cx="4452480" cy="4412880"/>
          </a:xfrm>
          <a:prstGeom prst="rect">
            <a:avLst/>
          </a:prstGeom>
          <a:noFill/>
          <a:ln w="0">
            <a:noFill/>
          </a:ln>
        </p:spPr>
      </p:pic>
      <p:sp>
        <p:nvSpPr>
          <p:cNvPr id="260" name="PlaceHolder 2"/>
          <p:cNvSpPr>
            <a:spLocks noGrp="1"/>
          </p:cNvSpPr>
          <p:nvPr>
            <p:ph/>
          </p:nvPr>
        </p:nvSpPr>
        <p:spPr>
          <a:xfrm>
            <a:off x="360360" y="1440000"/>
            <a:ext cx="3754080" cy="4647960"/>
          </a:xfrm>
          <a:prstGeom prst="rect">
            <a:avLst/>
          </a:prstGeom>
          <a:noFill/>
          <a:ln w="0">
            <a:noFill/>
          </a:ln>
        </p:spPr>
        <p:txBody>
          <a:bodyPr numCol="1" spcCol="0" lIns="91440" rIns="91440" tIns="45720" bIns="45720" anchor="t">
            <a:noAutofit/>
          </a:bodyPr>
          <a:p>
            <a:pPr marL="358920" indent="0">
              <a:lnSpc>
                <a:spcPct val="100000"/>
              </a:lnSpc>
              <a:spcBef>
                <a:spcPts val="601"/>
              </a:spcBef>
              <a:spcAft>
                <a:spcPts val="601"/>
              </a:spcAft>
              <a:buNone/>
              <a:tabLst>
                <a:tab algn="l" pos="457200"/>
              </a:tabLst>
            </a:pPr>
            <a:r>
              <a:rPr b="1" lang="en-US" sz="2600" strike="noStrike" u="none">
                <a:solidFill>
                  <a:srgbClr val="00468f"/>
                </a:solidFill>
                <a:effectLst/>
                <a:uFillTx/>
                <a:latin typeface="Arial"/>
                <a:ea typeface="ＭＳ Ｐゴシック"/>
              </a:rPr>
              <a:t>A Union Enters a Competitive Labor Market</a:t>
            </a:r>
            <a:endParaRPr b="1" lang="en-CA" sz="2600" strike="noStrike" u="none">
              <a:solidFill>
                <a:srgbClr val="00468f"/>
              </a:solidFill>
              <a:effectLst/>
              <a:uFillTx/>
              <a:latin typeface="Arial"/>
            </a:endParaRPr>
          </a:p>
          <a:p>
            <a:pPr marL="358920" indent="0">
              <a:lnSpc>
                <a:spcPct val="100000"/>
              </a:lnSpc>
              <a:spcBef>
                <a:spcPts val="601"/>
              </a:spcBef>
              <a:spcAft>
                <a:spcPts val="601"/>
              </a:spcAft>
              <a:buNone/>
              <a:tabLst>
                <a:tab algn="l" pos="457200"/>
              </a:tabLst>
            </a:pPr>
            <a:r>
              <a:rPr b="0" lang="en-US" sz="2400" strike="noStrike" u="none">
                <a:solidFill>
                  <a:schemeClr val="dk1"/>
                </a:solidFill>
                <a:effectLst/>
                <a:uFillTx/>
                <a:latin typeface="Arial"/>
                <a:ea typeface="ＭＳ Ｐゴシック"/>
              </a:rPr>
              <a:t>In a competitive labor market, the demand for labor is </a:t>
            </a:r>
            <a:r>
              <a:rPr b="0" i="1" lang="en-US" sz="2400" strike="noStrike" u="none">
                <a:solidFill>
                  <a:schemeClr val="dk1"/>
                </a:solidFill>
                <a:effectLst/>
                <a:uFillTx/>
                <a:latin typeface="Arial"/>
                <a:ea typeface="ＭＳ Ｐゴシック"/>
              </a:rPr>
              <a:t>LD</a:t>
            </a:r>
            <a:r>
              <a:rPr b="0" lang="en-US" sz="2400" strike="noStrike" u="none" baseline="-25000">
                <a:solidFill>
                  <a:schemeClr val="dk1"/>
                </a:solidFill>
                <a:effectLst/>
                <a:uFillTx/>
                <a:latin typeface="Arial"/>
                <a:ea typeface="ＭＳ Ｐゴシック"/>
              </a:rPr>
              <a:t>0</a:t>
            </a:r>
            <a:r>
              <a:rPr b="0" lang="en-US" sz="2400" strike="noStrike" u="none">
                <a:solidFill>
                  <a:schemeClr val="dk1"/>
                </a:solidFill>
                <a:effectLst/>
                <a:uFillTx/>
                <a:latin typeface="Arial"/>
                <a:ea typeface="ＭＳ Ｐゴシック"/>
              </a:rPr>
              <a:t> and the supply of labor is </a:t>
            </a:r>
            <a:r>
              <a:rPr b="0" i="1" lang="en-US" sz="2400" strike="noStrike" u="none">
                <a:solidFill>
                  <a:schemeClr val="dk1"/>
                </a:solidFill>
                <a:effectLst/>
                <a:uFillTx/>
                <a:latin typeface="Arial"/>
                <a:ea typeface="ＭＳ Ｐゴシック"/>
              </a:rPr>
              <a:t>LS</a:t>
            </a:r>
            <a:r>
              <a:rPr b="0" lang="en-US" sz="2400" strike="noStrike" u="none" baseline="-25000">
                <a:solidFill>
                  <a:schemeClr val="dk1"/>
                </a:solidFill>
                <a:effectLst/>
                <a:uFillTx/>
                <a:latin typeface="Arial"/>
                <a:ea typeface="ＭＳ Ｐゴシック"/>
              </a:rPr>
              <a:t>0</a:t>
            </a:r>
            <a:r>
              <a:rPr b="0" lang="en-US" sz="2400" strike="noStrike" u="none">
                <a:solidFill>
                  <a:schemeClr val="dk1"/>
                </a:solidFill>
                <a:effectLst/>
                <a:uFillTx/>
                <a:latin typeface="Arial"/>
                <a:ea typeface="ＭＳ Ｐゴシック"/>
              </a:rPr>
              <a:t>, </a:t>
            </a:r>
            <a:endParaRPr b="1" lang="en-CA" sz="2400" strike="noStrike" u="none">
              <a:solidFill>
                <a:srgbClr val="00468f"/>
              </a:solidFill>
              <a:effectLst/>
              <a:uFillTx/>
              <a:latin typeface="Arial"/>
            </a:endParaRPr>
          </a:p>
          <a:p>
            <a:pPr lvl="1" marL="358920" indent="-324000">
              <a:lnSpc>
                <a:spcPct val="100000"/>
              </a:lnSpc>
              <a:spcBef>
                <a:spcPts val="601"/>
              </a:spcBef>
              <a:spcAft>
                <a:spcPts val="601"/>
              </a:spcAft>
              <a:buClr>
                <a:srgbClr val="000000"/>
              </a:buClr>
              <a:buFont typeface="OpenSymbol"/>
              <a:buAutoNum type="arabicPeriod"/>
              <a:tabLst>
                <a:tab algn="l" pos="457200"/>
              </a:tabLst>
            </a:pPr>
            <a:r>
              <a:rPr b="0" lang="en-US" sz="2400" strike="noStrike" u="none">
                <a:solidFill>
                  <a:schemeClr val="dk1"/>
                </a:solidFill>
                <a:effectLst/>
                <a:uFillTx/>
                <a:latin typeface="Arial"/>
                <a:ea typeface="ＭＳ Ｐゴシック"/>
              </a:rPr>
              <a:t>The equilibrium wage rate is $15 an hour and the equilibrium quantity of labor is 300 workers.</a:t>
            </a:r>
            <a:endParaRPr b="0" lang="en-CA" sz="2400" strike="noStrike" u="none">
              <a:solidFill>
                <a:schemeClr val="dk1"/>
              </a:solidFill>
              <a:effectLst/>
              <a:uFillTx/>
              <a:latin typeface="Arial"/>
            </a:endParaRPr>
          </a:p>
        </p:txBody>
      </p:sp>
    </p:spTree>
  </p:cSld>
  <p:transition spd="slow">
    <p:wipe dir="r"/>
  </p:transition>
  <p:timing>
    <p:tnLst>
      <p:par>
        <p:cTn id="689" dur="indefinite" restart="never" nodeType="tmRoot">
          <p:childTnLst>
            <p:seq>
              <p:cTn id="690" dur="indefinite" nodeType="mainSeq">
                <p:childTnLst>
                  <p:par>
                    <p:cTn id="691" nodeType="clickEffect" fill="hold">
                      <p:stCondLst>
                        <p:cond delay="indefinite"/>
                      </p:stCondLst>
                      <p:childTnLst>
                        <p:par>
                          <p:cTn id="692" nodeType="withEffect" fill="hold">
                            <p:stCondLst>
                              <p:cond delay="0"/>
                            </p:stCondLst>
                            <p:childTnLst>
                              <p:par>
                                <p:cTn id="693" nodeType="clickEffect" fill="hold" presetClass="entr" presetID="22" presetSubtype="8">
                                  <p:stCondLst>
                                    <p:cond delay="0"/>
                                  </p:stCondLst>
                                  <p:childTnLst>
                                    <p:set>
                                      <p:cBhvr>
                                        <p:cTn id="694" dur="1" fill="hold">
                                          <p:stCondLst>
                                            <p:cond delay="0"/>
                                          </p:stCondLst>
                                        </p:cTn>
                                        <p:tgtEl>
                                          <p:spTgt spid="260">
                                            <p:txEl>
                                              <p:pRg st="1" end="1"/>
                                            </p:txEl>
                                          </p:spTgt>
                                        </p:tgtEl>
                                        <p:attrNameLst>
                                          <p:attrName>style.visibility</p:attrName>
                                        </p:attrNameLst>
                                      </p:cBhvr>
                                      <p:to>
                                        <p:strVal val="visible"/>
                                      </p:to>
                                    </p:set>
                                    <p:animEffect filter="wipe(left)" transition="in">
                                      <p:cBhvr additive="repl">
                                        <p:cTn id="695" dur="1000"/>
                                        <p:tgtEl>
                                          <p:spTgt spid="260">
                                            <p:txEl>
                                              <p:pRg st="1" end="1"/>
                                            </p:txEl>
                                          </p:spTgt>
                                        </p:tgtEl>
                                      </p:cBhvr>
                                    </p:animEffect>
                                  </p:childTnLst>
                                </p:cTn>
                              </p:par>
                            </p:childTnLst>
                          </p:cTn>
                        </p:par>
                      </p:childTnLst>
                    </p:cTn>
                  </p:par>
                  <p:par>
                    <p:cTn id="696" nodeType="clickEffect" fill="hold">
                      <p:stCondLst>
                        <p:cond delay="indefinite"/>
                      </p:stCondLst>
                      <p:childTnLst>
                        <p:par>
                          <p:cTn id="697" nodeType="withEffect" fill="hold">
                            <p:stCondLst>
                              <p:cond delay="0"/>
                            </p:stCondLst>
                            <p:childTnLst>
                              <p:par>
                                <p:cTn id="698" nodeType="clickEffect" fill="hold" presetClass="entr" presetID="22" presetSubtype="8">
                                  <p:stCondLst>
                                    <p:cond delay="0"/>
                                  </p:stCondLst>
                                  <p:childTnLst>
                                    <p:set>
                                      <p:cBhvr>
                                        <p:cTn id="699" dur="1" fill="hold">
                                          <p:stCondLst>
                                            <p:cond delay="0"/>
                                          </p:stCondLst>
                                        </p:cTn>
                                        <p:tgtEl>
                                          <p:spTgt spid="260">
                                            <p:txEl>
                                              <p:pRg st="2" end="2"/>
                                            </p:txEl>
                                          </p:spTgt>
                                        </p:tgtEl>
                                        <p:attrNameLst>
                                          <p:attrName>style.visibility</p:attrName>
                                        </p:attrNameLst>
                                      </p:cBhvr>
                                      <p:to>
                                        <p:strVal val="visible"/>
                                      </p:to>
                                    </p:set>
                                    <p:animEffect filter="wipe(left)" transition="in">
                                      <p:cBhvr additive="repl">
                                        <p:cTn id="700" dur="1000"/>
                                        <p:tgtEl>
                                          <p:spTgt spid="260">
                                            <p:txEl>
                                              <p:pRg st="2" end="2"/>
                                            </p:txEl>
                                          </p:spTgt>
                                        </p:tgtEl>
                                      </p:cBhvr>
                                    </p:animEffect>
                                  </p:childTnLst>
                                </p:cTn>
                              </p:par>
                              <p:par>
                                <p:cTn id="701" nodeType="withEffect" fill="hold" presetClass="entr" presetID="10">
                                  <p:stCondLst>
                                    <p:cond delay="0"/>
                                  </p:stCondLst>
                                  <p:childTnLst>
                                    <p:set>
                                      <p:cBhvr>
                                        <p:cTn id="702" dur="1" fill="hold">
                                          <p:stCondLst>
                                            <p:cond delay="0"/>
                                          </p:stCondLst>
                                        </p:cTn>
                                        <p:tgtEl>
                                          <p:spTgt spid="259"/>
                                        </p:tgtEl>
                                        <p:attrNameLst>
                                          <p:attrName>style.visibility</p:attrName>
                                        </p:attrNameLst>
                                      </p:cBhvr>
                                      <p:to>
                                        <p:strVal val="visible"/>
                                      </p:to>
                                    </p:set>
                                    <p:animEffect filter="fade" transition="in">
                                      <p:cBhvr additive="repl">
                                        <p:cTn id="703" dur="500"/>
                                        <p:tgtEl>
                                          <p:spTgt spid="2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261" name="Picture 1" descr=""/>
          <p:cNvPicPr/>
          <p:nvPr/>
        </p:nvPicPr>
        <p:blipFill>
          <a:blip r:embed="rId1"/>
          <a:stretch/>
        </p:blipFill>
        <p:spPr>
          <a:xfrm>
            <a:off x="1547640" y="287280"/>
            <a:ext cx="5725800" cy="5675040"/>
          </a:xfrm>
          <a:prstGeom prst="rect">
            <a:avLst/>
          </a:prstGeom>
          <a:noFill/>
          <a:ln w="0">
            <a:noFill/>
          </a:ln>
        </p:spPr>
      </p:pic>
      <p:pic>
        <p:nvPicPr>
          <p:cNvPr id="262" name="Picture 8" descr=""/>
          <p:cNvPicPr/>
          <p:nvPr/>
        </p:nvPicPr>
        <p:blipFill>
          <a:blip r:embed="rId2"/>
          <a:stretch/>
        </p:blipFill>
        <p:spPr>
          <a:xfrm>
            <a:off x="1547640" y="287280"/>
            <a:ext cx="5725800" cy="5675040"/>
          </a:xfrm>
          <a:prstGeom prst="rect">
            <a:avLst/>
          </a:prstGeom>
          <a:noFill/>
          <a:ln w="0">
            <a:noFill/>
          </a:ln>
        </p:spPr>
      </p:pic>
      <p:pic>
        <p:nvPicPr>
          <p:cNvPr id="263" name="Picture 9" descr=""/>
          <p:cNvPicPr/>
          <p:nvPr/>
        </p:nvPicPr>
        <p:blipFill>
          <a:blip r:embed="rId3"/>
          <a:stretch/>
        </p:blipFill>
        <p:spPr>
          <a:xfrm>
            <a:off x="1547640" y="287280"/>
            <a:ext cx="5725800" cy="5675040"/>
          </a:xfrm>
          <a:prstGeom prst="rect">
            <a:avLst/>
          </a:prstGeom>
          <a:noFill/>
          <a:ln w="0">
            <a:noFill/>
          </a:ln>
        </p:spPr>
      </p:pic>
      <p:pic>
        <p:nvPicPr>
          <p:cNvPr id="264" name="Picture 10" descr=""/>
          <p:cNvPicPr/>
          <p:nvPr/>
        </p:nvPicPr>
        <p:blipFill>
          <a:blip r:embed="rId4"/>
          <a:stretch/>
        </p:blipFill>
        <p:spPr>
          <a:xfrm>
            <a:off x="1547640" y="287280"/>
            <a:ext cx="5725800" cy="5675040"/>
          </a:xfrm>
          <a:prstGeom prst="rect">
            <a:avLst/>
          </a:prstGeom>
          <a:noFill/>
          <a:ln w="0">
            <a:noFill/>
          </a:ln>
        </p:spPr>
      </p:pic>
      <p:pic>
        <p:nvPicPr>
          <p:cNvPr id="265" name="Picture 11" descr=""/>
          <p:cNvPicPr/>
          <p:nvPr/>
        </p:nvPicPr>
        <p:blipFill>
          <a:blip r:embed="rId5"/>
          <a:stretch/>
        </p:blipFill>
        <p:spPr>
          <a:xfrm>
            <a:off x="1547640" y="287280"/>
            <a:ext cx="5725800" cy="5675040"/>
          </a:xfrm>
          <a:prstGeom prst="rect">
            <a:avLst/>
          </a:prstGeom>
          <a:noFill/>
          <a:ln w="0">
            <a:noFill/>
          </a:ln>
        </p:spPr>
      </p:pic>
      <p:pic>
        <p:nvPicPr>
          <p:cNvPr id="266" name="Picture 12" descr=""/>
          <p:cNvPicPr/>
          <p:nvPr/>
        </p:nvPicPr>
        <p:blipFill>
          <a:blip r:embed="rId6"/>
          <a:stretch/>
        </p:blipFill>
        <p:spPr>
          <a:xfrm>
            <a:off x="1547640" y="287280"/>
            <a:ext cx="5725800" cy="5675040"/>
          </a:xfrm>
          <a:prstGeom prst="rect">
            <a:avLst/>
          </a:prstGeom>
          <a:noFill/>
          <a:ln w="0">
            <a:noFill/>
          </a:ln>
        </p:spPr>
      </p:pic>
    </p:spTree>
  </p:cSld>
  <p:transition spd="slow">
    <p:wipe dir="r"/>
  </p:transition>
  <p:timing>
    <p:tnLst>
      <p:par>
        <p:cTn id="704" dur="indefinite" restart="never" nodeType="tmRoot">
          <p:childTnLst>
            <p:seq>
              <p:cTn id="705" dur="indefinite" nodeType="mainSeq">
                <p:childTnLst>
                  <p:par>
                    <p:cTn id="706" nodeType="clickEffect" fill="hold">
                      <p:stCondLst>
                        <p:cond delay="indefinite"/>
                      </p:stCondLst>
                      <p:childTnLst>
                        <p:par>
                          <p:cTn id="707" nodeType="withEffect" fill="hold">
                            <p:stCondLst>
                              <p:cond delay="0"/>
                            </p:stCondLst>
                            <p:childTnLst>
                              <p:par>
                                <p:cTn id="708" nodeType="clickEffect" fill="hold" presetClass="entr" presetID="10">
                                  <p:stCondLst>
                                    <p:cond delay="0"/>
                                  </p:stCondLst>
                                  <p:childTnLst>
                                    <p:set>
                                      <p:cBhvr>
                                        <p:cTn id="709" dur="1" fill="hold">
                                          <p:stCondLst>
                                            <p:cond delay="0"/>
                                          </p:stCondLst>
                                        </p:cTn>
                                        <p:tgtEl>
                                          <p:spTgt spid="262"/>
                                        </p:tgtEl>
                                        <p:attrNameLst>
                                          <p:attrName>style.visibility</p:attrName>
                                        </p:attrNameLst>
                                      </p:cBhvr>
                                      <p:to>
                                        <p:strVal val="visible"/>
                                      </p:to>
                                    </p:set>
                                    <p:animEffect filter="fade" transition="in">
                                      <p:cBhvr additive="repl">
                                        <p:cTn id="710" dur="500"/>
                                        <p:tgtEl>
                                          <p:spTgt spid="262"/>
                                        </p:tgtEl>
                                      </p:cBhvr>
                                    </p:animEffect>
                                  </p:childTnLst>
                                </p:cTn>
                              </p:par>
                            </p:childTnLst>
                          </p:cTn>
                        </p:par>
                      </p:childTnLst>
                    </p:cTn>
                  </p:par>
                  <p:par>
                    <p:cTn id="711" nodeType="clickEffect" fill="hold">
                      <p:stCondLst>
                        <p:cond delay="indefinite"/>
                      </p:stCondLst>
                      <p:childTnLst>
                        <p:par>
                          <p:cTn id="712" nodeType="withEffect" fill="hold">
                            <p:stCondLst>
                              <p:cond delay="0"/>
                            </p:stCondLst>
                            <p:childTnLst>
                              <p:par>
                                <p:cTn id="713" nodeType="clickEffect" fill="hold" presetClass="entr" presetID="22" presetSubtype="2">
                                  <p:stCondLst>
                                    <p:cond delay="0"/>
                                  </p:stCondLst>
                                  <p:childTnLst>
                                    <p:set>
                                      <p:cBhvr>
                                        <p:cTn id="714" dur="1" fill="hold">
                                          <p:stCondLst>
                                            <p:cond delay="0"/>
                                          </p:stCondLst>
                                        </p:cTn>
                                        <p:tgtEl>
                                          <p:spTgt spid="263"/>
                                        </p:tgtEl>
                                        <p:attrNameLst>
                                          <p:attrName>style.visibility</p:attrName>
                                        </p:attrNameLst>
                                      </p:cBhvr>
                                      <p:to>
                                        <p:strVal val="visible"/>
                                      </p:to>
                                    </p:set>
                                    <p:animEffect filter="wipe(right)" transition="in">
                                      <p:cBhvr additive="repl">
                                        <p:cTn id="715" dur="1000"/>
                                        <p:tgtEl>
                                          <p:spTgt spid="263"/>
                                        </p:tgtEl>
                                      </p:cBhvr>
                                    </p:animEffect>
                                  </p:childTnLst>
                                </p:cTn>
                              </p:par>
                            </p:childTnLst>
                          </p:cTn>
                        </p:par>
                      </p:childTnLst>
                    </p:cTn>
                  </p:par>
                  <p:par>
                    <p:cTn id="716" nodeType="clickEffect" fill="hold">
                      <p:stCondLst>
                        <p:cond delay="indefinite"/>
                      </p:stCondLst>
                      <p:childTnLst>
                        <p:par>
                          <p:cTn id="717" nodeType="withEffect" fill="hold">
                            <p:stCondLst>
                              <p:cond delay="0"/>
                            </p:stCondLst>
                            <p:childTnLst>
                              <p:par>
                                <p:cTn id="718" nodeType="clickEffect" fill="hold" presetClass="entr" presetID="10">
                                  <p:stCondLst>
                                    <p:cond delay="0"/>
                                  </p:stCondLst>
                                  <p:childTnLst>
                                    <p:set>
                                      <p:cBhvr>
                                        <p:cTn id="719" dur="1" fill="hold">
                                          <p:stCondLst>
                                            <p:cond delay="0"/>
                                          </p:stCondLst>
                                        </p:cTn>
                                        <p:tgtEl>
                                          <p:spTgt spid="264"/>
                                        </p:tgtEl>
                                        <p:attrNameLst>
                                          <p:attrName>style.visibility</p:attrName>
                                        </p:attrNameLst>
                                      </p:cBhvr>
                                      <p:to>
                                        <p:strVal val="visible"/>
                                      </p:to>
                                    </p:set>
                                    <p:animEffect filter="fade" transition="in">
                                      <p:cBhvr additive="repl">
                                        <p:cTn id="720" dur="500"/>
                                        <p:tgtEl>
                                          <p:spTgt spid="264"/>
                                        </p:tgtEl>
                                      </p:cBhvr>
                                    </p:animEffect>
                                  </p:childTnLst>
                                </p:cTn>
                              </p:par>
                            </p:childTnLst>
                          </p:cTn>
                        </p:par>
                      </p:childTnLst>
                    </p:cTn>
                  </p:par>
                  <p:par>
                    <p:cTn id="721" nodeType="clickEffect" fill="hold">
                      <p:stCondLst>
                        <p:cond delay="indefinite"/>
                      </p:stCondLst>
                      <p:childTnLst>
                        <p:par>
                          <p:cTn id="722" nodeType="withEffect" fill="hold">
                            <p:stCondLst>
                              <p:cond delay="0"/>
                            </p:stCondLst>
                            <p:childTnLst>
                              <p:par>
                                <p:cTn id="723" nodeType="clickEffect" fill="hold" presetClass="entr" presetID="22" presetSubtype="8">
                                  <p:stCondLst>
                                    <p:cond delay="0"/>
                                  </p:stCondLst>
                                  <p:childTnLst>
                                    <p:set>
                                      <p:cBhvr>
                                        <p:cTn id="724" dur="1" fill="hold">
                                          <p:stCondLst>
                                            <p:cond delay="0"/>
                                          </p:stCondLst>
                                        </p:cTn>
                                        <p:tgtEl>
                                          <p:spTgt spid="265"/>
                                        </p:tgtEl>
                                        <p:attrNameLst>
                                          <p:attrName>style.visibility</p:attrName>
                                        </p:attrNameLst>
                                      </p:cBhvr>
                                      <p:to>
                                        <p:strVal val="visible"/>
                                      </p:to>
                                    </p:set>
                                    <p:animEffect filter="wipe(left)" transition="in">
                                      <p:cBhvr additive="repl">
                                        <p:cTn id="725" dur="1000"/>
                                        <p:tgtEl>
                                          <p:spTgt spid="265"/>
                                        </p:tgtEl>
                                      </p:cBhvr>
                                    </p:animEffect>
                                  </p:childTnLst>
                                </p:cTn>
                              </p:par>
                            </p:childTnLst>
                          </p:cTn>
                        </p:par>
                      </p:childTnLst>
                    </p:cTn>
                  </p:par>
                  <p:par>
                    <p:cTn id="726" nodeType="clickEffect" fill="hold">
                      <p:stCondLst>
                        <p:cond delay="indefinite"/>
                      </p:stCondLst>
                      <p:childTnLst>
                        <p:par>
                          <p:cTn id="727" nodeType="withEffect" fill="hold">
                            <p:stCondLst>
                              <p:cond delay="0"/>
                            </p:stCondLst>
                            <p:childTnLst>
                              <p:par>
                                <p:cTn id="728" nodeType="clickEffect" fill="hold" presetClass="entr" presetID="10">
                                  <p:stCondLst>
                                    <p:cond delay="0"/>
                                  </p:stCondLst>
                                  <p:childTnLst>
                                    <p:set>
                                      <p:cBhvr>
                                        <p:cTn id="729" dur="1" fill="hold">
                                          <p:stCondLst>
                                            <p:cond delay="0"/>
                                          </p:stCondLst>
                                        </p:cTn>
                                        <p:tgtEl>
                                          <p:spTgt spid="266"/>
                                        </p:tgtEl>
                                        <p:attrNameLst>
                                          <p:attrName>style.visibility</p:attrName>
                                        </p:attrNameLst>
                                      </p:cBhvr>
                                      <p:to>
                                        <p:strVal val="visible"/>
                                      </p:to>
                                    </p:set>
                                    <p:animEffect filter="fade" transition="in">
                                      <p:cBhvr additive="repl">
                                        <p:cTn id="730" dur="500"/>
                                        <p:tgtEl>
                                          <p:spTgt spid="26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7"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19.2  LABOR MARKETS</a:t>
            </a:r>
            <a:endParaRPr b="0" lang="en-CA" sz="2600" strike="noStrike" u="none">
              <a:solidFill>
                <a:schemeClr val="dk1"/>
              </a:solidFill>
              <a:effectLst/>
              <a:uFillTx/>
              <a:latin typeface="Arial"/>
            </a:endParaRPr>
          </a:p>
        </p:txBody>
      </p:sp>
      <p:sp>
        <p:nvSpPr>
          <p:cNvPr id="268" name="PlaceHolder 2"/>
          <p:cNvSpPr>
            <a:spLocks noGrp="1"/>
          </p:cNvSpPr>
          <p:nvPr>
            <p:ph/>
          </p:nvPr>
        </p:nvSpPr>
        <p:spPr>
          <a:xfrm>
            <a:off x="360360" y="1440000"/>
            <a:ext cx="3754080" cy="4647960"/>
          </a:xfrm>
          <a:prstGeom prst="rect">
            <a:avLst/>
          </a:prstGeom>
          <a:noFill/>
          <a:ln w="0">
            <a:noFill/>
          </a:ln>
        </p:spPr>
        <p:txBody>
          <a:bodyPr numCol="1" spcCol="0" lIns="91440" rIns="91440" tIns="45720" bIns="45720" anchor="t">
            <a:noAutofit/>
          </a:bodyPr>
          <a:p>
            <a:pPr lvl="1" marL="816120" indent="-457200">
              <a:lnSpc>
                <a:spcPct val="100000"/>
              </a:lnSpc>
              <a:spcBef>
                <a:spcPts val="601"/>
              </a:spcBef>
              <a:spcAft>
                <a:spcPts val="601"/>
              </a:spcAft>
              <a:buClr>
                <a:srgbClr val="000000"/>
              </a:buClr>
              <a:buFont typeface="OpenSymbol"/>
              <a:buAutoNum type="arabicPeriod" startAt="2"/>
              <a:tabLst>
                <a:tab algn="l" pos="457200"/>
              </a:tabLst>
            </a:pPr>
            <a:r>
              <a:rPr b="0" lang="en-US" sz="2400" strike="noStrike" u="none">
                <a:solidFill>
                  <a:schemeClr val="dk1"/>
                </a:solidFill>
                <a:effectLst/>
                <a:uFillTx/>
                <a:latin typeface="Arial"/>
                <a:ea typeface="ＭＳ Ｐゴシック"/>
              </a:rPr>
              <a:t>A labor union restricts the supply of labor and the supply of labor curve shifts  leftward to </a:t>
            </a:r>
            <a:r>
              <a:rPr b="0" i="1" lang="en-US" sz="2400" strike="noStrike" u="none">
                <a:solidFill>
                  <a:schemeClr val="dk1"/>
                </a:solidFill>
                <a:effectLst/>
                <a:uFillTx/>
                <a:latin typeface="Arial"/>
                <a:ea typeface="ＭＳ Ｐゴシック"/>
              </a:rPr>
              <a:t>LS</a:t>
            </a:r>
            <a:r>
              <a:rPr b="0" lang="en-US" sz="2400" strike="noStrike" u="none" baseline="-25000">
                <a:solidFill>
                  <a:schemeClr val="dk1"/>
                </a:solidFill>
                <a:effectLst/>
                <a:uFillTx/>
                <a:latin typeface="Arial"/>
                <a:ea typeface="ＭＳ Ｐゴシック"/>
              </a:rPr>
              <a:t>1</a:t>
            </a:r>
            <a:r>
              <a:rPr b="0" lang="en-US" sz="2400" strike="noStrike" u="none">
                <a:solidFill>
                  <a:schemeClr val="dk1"/>
                </a:solidFill>
                <a:effectLst/>
                <a:uFillTx/>
                <a:latin typeface="Arial"/>
                <a:ea typeface="ＭＳ Ｐゴシック"/>
              </a:rPr>
              <a:t>.</a:t>
            </a:r>
            <a:endParaRPr b="0" lang="en-CA" sz="2400" strike="noStrike" u="none">
              <a:solidFill>
                <a:schemeClr val="dk1"/>
              </a:solidFill>
              <a:effectLst/>
              <a:uFillTx/>
              <a:latin typeface="Arial"/>
            </a:endParaRPr>
          </a:p>
          <a:p>
            <a:pPr lvl="1" marL="816120" indent="-457200">
              <a:lnSpc>
                <a:spcPct val="100000"/>
              </a:lnSpc>
              <a:spcBef>
                <a:spcPts val="601"/>
              </a:spcBef>
              <a:spcAft>
                <a:spcPts val="601"/>
              </a:spcAft>
              <a:buClr>
                <a:srgbClr val="000000"/>
              </a:buClr>
              <a:buFont typeface="OpenSymbol"/>
              <a:buAutoNum type="arabicPeriod" startAt="2"/>
              <a:tabLst>
                <a:tab algn="l" pos="457200"/>
              </a:tabLst>
            </a:pPr>
            <a:r>
              <a:rPr b="0" lang="en-US" sz="2400" strike="noStrike" u="none">
                <a:solidFill>
                  <a:schemeClr val="dk1"/>
                </a:solidFill>
                <a:effectLst/>
                <a:uFillTx/>
                <a:latin typeface="Arial"/>
                <a:ea typeface="ＭＳ Ｐゴシック"/>
              </a:rPr>
              <a:t>The wage rate rises to $20 an hour, but employment decreases to 200 workers.</a:t>
            </a:r>
            <a:endParaRPr b="0" lang="en-CA" sz="2400" strike="noStrike" u="none">
              <a:solidFill>
                <a:schemeClr val="dk1"/>
              </a:solidFill>
              <a:effectLst/>
              <a:uFillTx/>
              <a:latin typeface="Arial"/>
            </a:endParaRPr>
          </a:p>
          <a:p>
            <a:pPr marL="816120" indent="-457200">
              <a:lnSpc>
                <a:spcPct val="100000"/>
              </a:lnSpc>
              <a:spcBef>
                <a:spcPts val="601"/>
              </a:spcBef>
              <a:spcAft>
                <a:spcPts val="601"/>
              </a:spcAft>
              <a:buNone/>
              <a:tabLst>
                <a:tab algn="l" pos="0"/>
              </a:tabLst>
            </a:pPr>
            <a:r>
              <a:rPr b="0" lang="en-US" sz="2400" strike="noStrike" u="none">
                <a:solidFill>
                  <a:schemeClr val="dk1"/>
                </a:solidFill>
                <a:effectLst/>
                <a:uFillTx/>
                <a:latin typeface="Arial"/>
                <a:ea typeface="ＭＳ Ｐゴシック"/>
              </a:rPr>
              <a:t>Jobs are traded off for a higher wage rate. </a:t>
            </a:r>
            <a:endParaRPr b="1" lang="en-CA" sz="2400" strike="noStrike" u="none">
              <a:solidFill>
                <a:srgbClr val="00468f"/>
              </a:solidFill>
              <a:effectLst/>
              <a:uFillTx/>
              <a:latin typeface="Arial"/>
            </a:endParaRPr>
          </a:p>
        </p:txBody>
      </p:sp>
      <p:pic>
        <p:nvPicPr>
          <p:cNvPr id="269" name="Picture 1" descr=""/>
          <p:cNvPicPr/>
          <p:nvPr/>
        </p:nvPicPr>
        <p:blipFill>
          <a:blip r:embed="rId1"/>
          <a:stretch/>
        </p:blipFill>
        <p:spPr>
          <a:xfrm>
            <a:off x="4032360" y="1476360"/>
            <a:ext cx="4452480" cy="4412880"/>
          </a:xfrm>
          <a:prstGeom prst="rect">
            <a:avLst/>
          </a:prstGeom>
          <a:noFill/>
          <a:ln w="0">
            <a:noFill/>
          </a:ln>
        </p:spPr>
      </p:pic>
      <p:pic>
        <p:nvPicPr>
          <p:cNvPr id="270" name="Picture 8" descr=""/>
          <p:cNvPicPr/>
          <p:nvPr/>
        </p:nvPicPr>
        <p:blipFill>
          <a:blip r:embed="rId2"/>
          <a:stretch/>
        </p:blipFill>
        <p:spPr>
          <a:xfrm>
            <a:off x="4032360" y="1476360"/>
            <a:ext cx="4452480" cy="4412880"/>
          </a:xfrm>
          <a:prstGeom prst="rect">
            <a:avLst/>
          </a:prstGeom>
          <a:noFill/>
          <a:ln w="0">
            <a:noFill/>
          </a:ln>
        </p:spPr>
      </p:pic>
      <p:pic>
        <p:nvPicPr>
          <p:cNvPr id="271" name="Picture 9" descr=""/>
          <p:cNvPicPr/>
          <p:nvPr/>
        </p:nvPicPr>
        <p:blipFill>
          <a:blip r:embed="rId3"/>
          <a:stretch/>
        </p:blipFill>
        <p:spPr>
          <a:xfrm>
            <a:off x="4032360" y="1476360"/>
            <a:ext cx="4452480" cy="4412880"/>
          </a:xfrm>
          <a:prstGeom prst="rect">
            <a:avLst/>
          </a:prstGeom>
          <a:noFill/>
          <a:ln w="0">
            <a:noFill/>
          </a:ln>
        </p:spPr>
      </p:pic>
      <p:pic>
        <p:nvPicPr>
          <p:cNvPr id="272" name="Picture 10" descr=""/>
          <p:cNvPicPr/>
          <p:nvPr/>
        </p:nvPicPr>
        <p:blipFill>
          <a:blip r:embed="rId4"/>
          <a:stretch/>
        </p:blipFill>
        <p:spPr>
          <a:xfrm>
            <a:off x="4032360" y="1476360"/>
            <a:ext cx="4452480" cy="4412880"/>
          </a:xfrm>
          <a:prstGeom prst="rect">
            <a:avLst/>
          </a:prstGeom>
          <a:noFill/>
          <a:ln w="0">
            <a:noFill/>
          </a:ln>
        </p:spPr>
      </p:pic>
    </p:spTree>
  </p:cSld>
  <p:transition spd="slow">
    <p:wipe dir="r"/>
  </p:transition>
  <p:timing>
    <p:tnLst>
      <p:par>
        <p:cTn id="731" dur="indefinite" restart="never" nodeType="tmRoot">
          <p:childTnLst>
            <p:seq>
              <p:cTn id="732" dur="indefinite" nodeType="mainSeq">
                <p:childTnLst>
                  <p:par>
                    <p:cTn id="733" nodeType="clickEffect" fill="hold">
                      <p:stCondLst>
                        <p:cond delay="0"/>
                      </p:stCondLst>
                      <p:childTnLst>
                        <p:par>
                          <p:cTn id="734" nodeType="withEffect" fill="hold">
                            <p:stCondLst>
                              <p:cond delay="0"/>
                            </p:stCondLst>
                            <p:childTnLst>
                              <p:par>
                                <p:cTn id="735" nodeType="withEffect" fill="hold" presetClass="entr" presetID="22" presetSubtype="2">
                                  <p:stCondLst>
                                    <p:cond delay="0"/>
                                  </p:stCondLst>
                                  <p:childTnLst>
                                    <p:set>
                                      <p:cBhvr>
                                        <p:cTn id="736" dur="1" fill="hold">
                                          <p:stCondLst>
                                            <p:cond delay="0"/>
                                          </p:stCondLst>
                                        </p:cTn>
                                        <p:tgtEl>
                                          <p:spTgt spid="271"/>
                                        </p:tgtEl>
                                        <p:attrNameLst>
                                          <p:attrName>style.visibility</p:attrName>
                                        </p:attrNameLst>
                                      </p:cBhvr>
                                      <p:to>
                                        <p:strVal val="visible"/>
                                      </p:to>
                                    </p:set>
                                    <p:animEffect filter="wipe(right)" transition="in">
                                      <p:cBhvr additive="repl">
                                        <p:cTn id="737" dur="1000"/>
                                        <p:tgtEl>
                                          <p:spTgt spid="271"/>
                                        </p:tgtEl>
                                      </p:cBhvr>
                                    </p:animEffect>
                                  </p:childTnLst>
                                </p:cTn>
                              </p:par>
                            </p:childTnLst>
                          </p:cTn>
                        </p:par>
                      </p:childTnLst>
                    </p:cTn>
                  </p:par>
                  <p:par>
                    <p:cTn id="738" nodeType="clickEffect" fill="hold">
                      <p:stCondLst>
                        <p:cond delay="indefinite"/>
                      </p:stCondLst>
                      <p:childTnLst>
                        <p:par>
                          <p:cTn id="739" nodeType="withEffect" fill="hold">
                            <p:stCondLst>
                              <p:cond delay="0"/>
                            </p:stCondLst>
                            <p:childTnLst>
                              <p:par>
                                <p:cTn id="740" nodeType="clickEffect" fill="hold" presetClass="entr" presetID="22" presetSubtype="8">
                                  <p:stCondLst>
                                    <p:cond delay="0"/>
                                  </p:stCondLst>
                                  <p:childTnLst>
                                    <p:set>
                                      <p:cBhvr>
                                        <p:cTn id="741" dur="1" fill="hold">
                                          <p:stCondLst>
                                            <p:cond delay="0"/>
                                          </p:stCondLst>
                                        </p:cTn>
                                        <p:tgtEl>
                                          <p:spTgt spid="268">
                                            <p:txEl>
                                              <p:pRg st="1" end="1"/>
                                            </p:txEl>
                                          </p:spTgt>
                                        </p:tgtEl>
                                        <p:attrNameLst>
                                          <p:attrName>style.visibility</p:attrName>
                                        </p:attrNameLst>
                                      </p:cBhvr>
                                      <p:to>
                                        <p:strVal val="visible"/>
                                      </p:to>
                                    </p:set>
                                    <p:animEffect filter="wipe(left)" transition="in">
                                      <p:cBhvr additive="repl">
                                        <p:cTn id="742" dur="1000"/>
                                        <p:tgtEl>
                                          <p:spTgt spid="268">
                                            <p:txEl>
                                              <p:pRg st="1" end="1"/>
                                            </p:txEl>
                                          </p:spTgt>
                                        </p:tgtEl>
                                      </p:cBhvr>
                                    </p:animEffect>
                                  </p:childTnLst>
                                </p:cTn>
                              </p:par>
                              <p:par>
                                <p:cTn id="743" nodeType="withEffect" fill="hold" presetClass="entr" presetID="10">
                                  <p:stCondLst>
                                    <p:cond delay="0"/>
                                  </p:stCondLst>
                                  <p:childTnLst>
                                    <p:set>
                                      <p:cBhvr>
                                        <p:cTn id="744" dur="1" fill="hold">
                                          <p:stCondLst>
                                            <p:cond delay="0"/>
                                          </p:stCondLst>
                                        </p:cTn>
                                        <p:tgtEl>
                                          <p:spTgt spid="272"/>
                                        </p:tgtEl>
                                        <p:attrNameLst>
                                          <p:attrName>style.visibility</p:attrName>
                                        </p:attrNameLst>
                                      </p:cBhvr>
                                      <p:to>
                                        <p:strVal val="visible"/>
                                      </p:to>
                                    </p:set>
                                    <p:animEffect filter="fade" transition="in">
                                      <p:cBhvr additive="repl">
                                        <p:cTn id="745" dur="500"/>
                                        <p:tgtEl>
                                          <p:spTgt spid="272"/>
                                        </p:tgtEl>
                                      </p:cBhvr>
                                    </p:animEffect>
                                  </p:childTnLst>
                                </p:cTn>
                              </p:par>
                            </p:childTnLst>
                          </p:cTn>
                        </p:par>
                      </p:childTnLst>
                    </p:cTn>
                  </p:par>
                  <p:par>
                    <p:cTn id="746" nodeType="clickEffect" fill="hold">
                      <p:stCondLst>
                        <p:cond delay="indefinite"/>
                      </p:stCondLst>
                      <p:childTnLst>
                        <p:par>
                          <p:cTn id="747" nodeType="withEffect" fill="hold">
                            <p:stCondLst>
                              <p:cond delay="0"/>
                            </p:stCondLst>
                            <p:childTnLst>
                              <p:par>
                                <p:cTn id="748" nodeType="clickEffect" fill="hold" presetClass="entr" presetID="22" presetSubtype="8">
                                  <p:stCondLst>
                                    <p:cond delay="0"/>
                                  </p:stCondLst>
                                  <p:childTnLst>
                                    <p:set>
                                      <p:cBhvr>
                                        <p:cTn id="749" dur="1" fill="hold">
                                          <p:stCondLst>
                                            <p:cond delay="0"/>
                                          </p:stCondLst>
                                        </p:cTn>
                                        <p:tgtEl>
                                          <p:spTgt spid="268">
                                            <p:txEl>
                                              <p:pRg st="2" end="2"/>
                                            </p:txEl>
                                          </p:spTgt>
                                        </p:tgtEl>
                                        <p:attrNameLst>
                                          <p:attrName>style.visibility</p:attrName>
                                        </p:attrNameLst>
                                      </p:cBhvr>
                                      <p:to>
                                        <p:strVal val="visible"/>
                                      </p:to>
                                    </p:set>
                                    <p:animEffect filter="wipe(left)" transition="in">
                                      <p:cBhvr additive="repl">
                                        <p:cTn id="750" dur="1000"/>
                                        <p:tgtEl>
                                          <p:spTgt spid="268">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3"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19.2  LABOR MARKETS</a:t>
            </a:r>
            <a:endParaRPr b="0" lang="en-CA" sz="2600" strike="noStrike" u="none">
              <a:solidFill>
                <a:schemeClr val="dk1"/>
              </a:solidFill>
              <a:effectLst/>
              <a:uFillTx/>
              <a:latin typeface="Arial"/>
            </a:endParaRPr>
          </a:p>
        </p:txBody>
      </p:sp>
      <p:sp>
        <p:nvSpPr>
          <p:cNvPr id="274" name="PlaceHolder 2"/>
          <p:cNvSpPr>
            <a:spLocks noGrp="1"/>
          </p:cNvSpPr>
          <p:nvPr>
            <p:ph/>
          </p:nvPr>
        </p:nvSpPr>
        <p:spPr>
          <a:xfrm>
            <a:off x="360360" y="1440000"/>
            <a:ext cx="3671640" cy="4647960"/>
          </a:xfrm>
          <a:prstGeom prst="rect">
            <a:avLst/>
          </a:prstGeom>
          <a:noFill/>
          <a:ln w="0">
            <a:noFill/>
          </a:ln>
        </p:spPr>
        <p:txBody>
          <a:bodyPr numCol="1" spcCol="0" lIns="91440" rIns="91440" tIns="45720" bIns="45720" anchor="t">
            <a:noAutofit/>
          </a:bodyPr>
          <a:p>
            <a:pPr lvl="1" marL="816120" indent="-457200">
              <a:lnSpc>
                <a:spcPct val="100000"/>
              </a:lnSpc>
              <a:spcBef>
                <a:spcPts val="601"/>
              </a:spcBef>
              <a:spcAft>
                <a:spcPts val="601"/>
              </a:spcAft>
              <a:buClr>
                <a:srgbClr val="000000"/>
              </a:buClr>
              <a:buFont typeface="OpenSymbol"/>
              <a:buAutoNum type="arabicPeriod" startAt="4"/>
              <a:tabLst>
                <a:tab algn="l" pos="457200"/>
              </a:tabLst>
            </a:pPr>
            <a:r>
              <a:rPr b="0" lang="en-US" sz="2400" strike="noStrike" u="none">
                <a:solidFill>
                  <a:schemeClr val="dk1"/>
                </a:solidFill>
                <a:effectLst/>
                <a:uFillTx/>
                <a:latin typeface="Arial"/>
                <a:ea typeface="ＭＳ Ｐゴシック"/>
              </a:rPr>
              <a:t>If union action increases labor productivity, the demand for union labor increases and the demand for labor curve shifts rightward to </a:t>
            </a:r>
            <a:r>
              <a:rPr b="0" i="1" lang="en-US" sz="2400" strike="noStrike" u="none">
                <a:solidFill>
                  <a:schemeClr val="dk1"/>
                </a:solidFill>
                <a:effectLst/>
                <a:uFillTx/>
                <a:latin typeface="Arial"/>
                <a:ea typeface="ＭＳ Ｐゴシック"/>
              </a:rPr>
              <a:t>LD</a:t>
            </a:r>
            <a:r>
              <a:rPr b="0" lang="en-US" sz="2400" strike="noStrike" u="none" baseline="-25000">
                <a:solidFill>
                  <a:schemeClr val="dk1"/>
                </a:solidFill>
                <a:effectLst/>
                <a:uFillTx/>
                <a:latin typeface="Arial"/>
                <a:ea typeface="ＭＳ Ｐゴシック"/>
              </a:rPr>
              <a:t>1</a:t>
            </a:r>
            <a:r>
              <a:rPr b="0" lang="en-US" sz="2400" strike="noStrike" u="none">
                <a:solidFill>
                  <a:schemeClr val="dk1"/>
                </a:solidFill>
                <a:effectLst/>
                <a:uFillTx/>
                <a:latin typeface="Arial"/>
                <a:ea typeface="ＭＳ Ｐゴシック"/>
              </a:rPr>
              <a:t>.</a:t>
            </a:r>
            <a:endParaRPr b="0" lang="en-CA" sz="2400" strike="noStrike" u="none">
              <a:solidFill>
                <a:schemeClr val="dk1"/>
              </a:solidFill>
              <a:effectLst/>
              <a:uFillTx/>
              <a:latin typeface="Arial"/>
            </a:endParaRPr>
          </a:p>
          <a:p>
            <a:pPr lvl="1" marL="816120" indent="-457200">
              <a:lnSpc>
                <a:spcPct val="100000"/>
              </a:lnSpc>
              <a:spcBef>
                <a:spcPts val="601"/>
              </a:spcBef>
              <a:spcAft>
                <a:spcPts val="601"/>
              </a:spcAft>
              <a:buClr>
                <a:srgbClr val="000000"/>
              </a:buClr>
              <a:buFont typeface="OpenSymbol"/>
              <a:buAutoNum type="arabicPeriod" startAt="4"/>
              <a:tabLst>
                <a:tab algn="l" pos="457200"/>
              </a:tabLst>
            </a:pPr>
            <a:r>
              <a:rPr b="0" lang="en-US" sz="2400" strike="noStrike" u="none">
                <a:solidFill>
                  <a:schemeClr val="dk1"/>
                </a:solidFill>
                <a:effectLst/>
                <a:uFillTx/>
                <a:latin typeface="Arial"/>
                <a:ea typeface="ＭＳ Ｐゴシック"/>
              </a:rPr>
              <a:t>The wage rate rises to $25 an hour and employment increases to 250 workers.</a:t>
            </a:r>
            <a:endParaRPr b="0" lang="en-CA" sz="2400" strike="noStrike" u="none">
              <a:solidFill>
                <a:schemeClr val="dk1"/>
              </a:solidFill>
              <a:effectLst/>
              <a:uFillTx/>
              <a:latin typeface="Arial"/>
            </a:endParaRPr>
          </a:p>
        </p:txBody>
      </p:sp>
      <p:pic>
        <p:nvPicPr>
          <p:cNvPr id="275" name="Picture 1" descr=""/>
          <p:cNvPicPr/>
          <p:nvPr/>
        </p:nvPicPr>
        <p:blipFill>
          <a:blip r:embed="rId1"/>
          <a:stretch/>
        </p:blipFill>
        <p:spPr>
          <a:xfrm>
            <a:off x="4032360" y="1476360"/>
            <a:ext cx="4452480" cy="4412880"/>
          </a:xfrm>
          <a:prstGeom prst="rect">
            <a:avLst/>
          </a:prstGeom>
          <a:noFill/>
          <a:ln w="0">
            <a:noFill/>
          </a:ln>
        </p:spPr>
      </p:pic>
      <p:pic>
        <p:nvPicPr>
          <p:cNvPr id="276" name="Picture 10" descr=""/>
          <p:cNvPicPr/>
          <p:nvPr/>
        </p:nvPicPr>
        <p:blipFill>
          <a:blip r:embed="rId2"/>
          <a:stretch/>
        </p:blipFill>
        <p:spPr>
          <a:xfrm>
            <a:off x="4032360" y="1476360"/>
            <a:ext cx="4452480" cy="4412880"/>
          </a:xfrm>
          <a:prstGeom prst="rect">
            <a:avLst/>
          </a:prstGeom>
          <a:noFill/>
          <a:ln w="0">
            <a:noFill/>
          </a:ln>
        </p:spPr>
      </p:pic>
      <p:pic>
        <p:nvPicPr>
          <p:cNvPr id="277" name="Picture 11" descr=""/>
          <p:cNvPicPr/>
          <p:nvPr/>
        </p:nvPicPr>
        <p:blipFill>
          <a:blip r:embed="rId3"/>
          <a:stretch/>
        </p:blipFill>
        <p:spPr>
          <a:xfrm>
            <a:off x="4032360" y="1476360"/>
            <a:ext cx="4452480" cy="4412880"/>
          </a:xfrm>
          <a:prstGeom prst="rect">
            <a:avLst/>
          </a:prstGeom>
          <a:noFill/>
          <a:ln w="0">
            <a:noFill/>
          </a:ln>
        </p:spPr>
      </p:pic>
      <p:pic>
        <p:nvPicPr>
          <p:cNvPr id="278" name="Picture 12" descr=""/>
          <p:cNvPicPr/>
          <p:nvPr/>
        </p:nvPicPr>
        <p:blipFill>
          <a:blip r:embed="rId4"/>
          <a:stretch/>
        </p:blipFill>
        <p:spPr>
          <a:xfrm>
            <a:off x="4032360" y="1476360"/>
            <a:ext cx="4452480" cy="4412880"/>
          </a:xfrm>
          <a:prstGeom prst="rect">
            <a:avLst/>
          </a:prstGeom>
          <a:noFill/>
          <a:ln w="0">
            <a:noFill/>
          </a:ln>
        </p:spPr>
      </p:pic>
      <p:pic>
        <p:nvPicPr>
          <p:cNvPr id="279" name="Picture 13" descr=""/>
          <p:cNvPicPr/>
          <p:nvPr/>
        </p:nvPicPr>
        <p:blipFill>
          <a:blip r:embed="rId5"/>
          <a:stretch/>
        </p:blipFill>
        <p:spPr>
          <a:xfrm>
            <a:off x="4032360" y="1476360"/>
            <a:ext cx="4452480" cy="4412880"/>
          </a:xfrm>
          <a:prstGeom prst="rect">
            <a:avLst/>
          </a:prstGeom>
          <a:noFill/>
          <a:ln w="0">
            <a:noFill/>
          </a:ln>
        </p:spPr>
      </p:pic>
      <p:pic>
        <p:nvPicPr>
          <p:cNvPr id="280" name="Picture 14" descr=""/>
          <p:cNvPicPr/>
          <p:nvPr/>
        </p:nvPicPr>
        <p:blipFill>
          <a:blip r:embed="rId6"/>
          <a:stretch/>
        </p:blipFill>
        <p:spPr>
          <a:xfrm>
            <a:off x="4032360" y="1476360"/>
            <a:ext cx="4452480" cy="4412880"/>
          </a:xfrm>
          <a:prstGeom prst="rect">
            <a:avLst/>
          </a:prstGeom>
          <a:noFill/>
          <a:ln w="0">
            <a:noFill/>
          </a:ln>
        </p:spPr>
      </p:pic>
    </p:spTree>
  </p:cSld>
  <p:transition spd="slow">
    <p:wipe dir="r"/>
  </p:transition>
  <p:timing>
    <p:tnLst>
      <p:par>
        <p:cTn id="751" dur="indefinite" restart="never" nodeType="tmRoot">
          <p:childTnLst>
            <p:seq>
              <p:cTn id="752" dur="indefinite" nodeType="mainSeq">
                <p:childTnLst>
                  <p:par>
                    <p:cTn id="753" nodeType="clickEffect" fill="hold">
                      <p:stCondLst>
                        <p:cond delay="0"/>
                      </p:stCondLst>
                      <p:childTnLst>
                        <p:par>
                          <p:cTn id="754" nodeType="withEffect" fill="hold">
                            <p:stCondLst>
                              <p:cond delay="0"/>
                            </p:stCondLst>
                            <p:childTnLst>
                              <p:par>
                                <p:cTn id="755" nodeType="withEffect" fill="hold" presetClass="entr" presetID="22" presetSubtype="8">
                                  <p:stCondLst>
                                    <p:cond delay="0"/>
                                  </p:stCondLst>
                                  <p:childTnLst>
                                    <p:set>
                                      <p:cBhvr>
                                        <p:cTn id="756" dur="1" fill="hold">
                                          <p:stCondLst>
                                            <p:cond delay="0"/>
                                          </p:stCondLst>
                                        </p:cTn>
                                        <p:tgtEl>
                                          <p:spTgt spid="279"/>
                                        </p:tgtEl>
                                        <p:attrNameLst>
                                          <p:attrName>style.visibility</p:attrName>
                                        </p:attrNameLst>
                                      </p:cBhvr>
                                      <p:to>
                                        <p:strVal val="visible"/>
                                      </p:to>
                                    </p:set>
                                    <p:animEffect filter="wipe(left)" transition="in">
                                      <p:cBhvr additive="repl">
                                        <p:cTn id="757" dur="1000"/>
                                        <p:tgtEl>
                                          <p:spTgt spid="279"/>
                                        </p:tgtEl>
                                      </p:cBhvr>
                                    </p:animEffect>
                                  </p:childTnLst>
                                </p:cTn>
                              </p:par>
                            </p:childTnLst>
                          </p:cTn>
                        </p:par>
                      </p:childTnLst>
                    </p:cTn>
                  </p:par>
                  <p:par>
                    <p:cTn id="758" nodeType="clickEffect" fill="hold">
                      <p:stCondLst>
                        <p:cond delay="indefinite"/>
                      </p:stCondLst>
                      <p:childTnLst>
                        <p:par>
                          <p:cTn id="759" nodeType="withEffect" fill="hold">
                            <p:stCondLst>
                              <p:cond delay="0"/>
                            </p:stCondLst>
                            <p:childTnLst>
                              <p:par>
                                <p:cTn id="760" nodeType="clickEffect" fill="hold" presetClass="entr" presetID="22" presetSubtype="8">
                                  <p:stCondLst>
                                    <p:cond delay="0"/>
                                  </p:stCondLst>
                                  <p:childTnLst>
                                    <p:set>
                                      <p:cBhvr>
                                        <p:cTn id="761" dur="1" fill="hold">
                                          <p:stCondLst>
                                            <p:cond delay="0"/>
                                          </p:stCondLst>
                                        </p:cTn>
                                        <p:tgtEl>
                                          <p:spTgt spid="274">
                                            <p:txEl>
                                              <p:pRg st="1" end="1"/>
                                            </p:txEl>
                                          </p:spTgt>
                                        </p:tgtEl>
                                        <p:attrNameLst>
                                          <p:attrName>style.visibility</p:attrName>
                                        </p:attrNameLst>
                                      </p:cBhvr>
                                      <p:to>
                                        <p:strVal val="visible"/>
                                      </p:to>
                                    </p:set>
                                    <p:animEffect filter="wipe(left)" transition="in">
                                      <p:cBhvr additive="repl">
                                        <p:cTn id="762" dur="1000"/>
                                        <p:tgtEl>
                                          <p:spTgt spid="274">
                                            <p:txEl>
                                              <p:pRg st="1" end="1"/>
                                            </p:txEl>
                                          </p:spTgt>
                                        </p:tgtEl>
                                      </p:cBhvr>
                                    </p:animEffect>
                                  </p:childTnLst>
                                </p:cTn>
                              </p:par>
                              <p:par>
                                <p:cTn id="763" nodeType="withEffect" fill="hold" presetClass="entr" presetID="10">
                                  <p:stCondLst>
                                    <p:cond delay="0"/>
                                  </p:stCondLst>
                                  <p:childTnLst>
                                    <p:set>
                                      <p:cBhvr>
                                        <p:cTn id="764" dur="1" fill="hold">
                                          <p:stCondLst>
                                            <p:cond delay="0"/>
                                          </p:stCondLst>
                                        </p:cTn>
                                        <p:tgtEl>
                                          <p:spTgt spid="280"/>
                                        </p:tgtEl>
                                        <p:attrNameLst>
                                          <p:attrName>style.visibility</p:attrName>
                                        </p:attrNameLst>
                                      </p:cBhvr>
                                      <p:to>
                                        <p:strVal val="visible"/>
                                      </p:to>
                                    </p:set>
                                    <p:animEffect filter="fade" transition="in">
                                      <p:cBhvr additive="repl">
                                        <p:cTn id="765" dur="500"/>
                                        <p:tgtEl>
                                          <p:spTgt spid="2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1"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19.2  LABOR MARKETS</a:t>
            </a:r>
            <a:endParaRPr b="0" lang="en-CA" sz="2600" strike="noStrike" u="none">
              <a:solidFill>
                <a:schemeClr val="dk1"/>
              </a:solidFill>
              <a:effectLst/>
              <a:uFillTx/>
              <a:latin typeface="Arial"/>
            </a:endParaRPr>
          </a:p>
        </p:txBody>
      </p:sp>
      <p:sp>
        <p:nvSpPr>
          <p:cNvPr id="282"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pPr>
            <a:r>
              <a:rPr b="1" lang="en-US" sz="2600" strike="noStrike" u="none">
                <a:solidFill>
                  <a:srgbClr val="00468f"/>
                </a:solidFill>
                <a:effectLst/>
                <a:uFillTx/>
                <a:latin typeface="Arial"/>
                <a:ea typeface="ＭＳ Ｐゴシック"/>
              </a:rPr>
              <a:t>How Labor Unions Try to Increase the Demand for Labor</a:t>
            </a:r>
            <a:endParaRPr b="1" lang="en-CA" sz="2600" strike="noStrike" u="none">
              <a:solidFill>
                <a:srgbClr val="00468f"/>
              </a:solidFill>
              <a:effectLst/>
              <a:uFillTx/>
              <a:latin typeface="Arial"/>
            </a:endParaRPr>
          </a:p>
          <a:p>
            <a:pPr marL="36000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Unions try to change the demand for labor by</a:t>
            </a:r>
            <a:endParaRPr b="1" lang="en-CA" sz="2400" strike="noStrike" u="none">
              <a:solidFill>
                <a:srgbClr val="00468f"/>
              </a:solidFill>
              <a:effectLst/>
              <a:uFillTx/>
              <a:latin typeface="Arial"/>
            </a:endParaRPr>
          </a:p>
          <a:p>
            <a:pPr lvl="1" marL="703080" indent="-343080">
              <a:lnSpc>
                <a:spcPct val="100000"/>
              </a:lnSpc>
              <a:spcBef>
                <a:spcPts val="601"/>
              </a:spcBef>
              <a:spcAft>
                <a:spcPts val="601"/>
              </a:spcAft>
              <a:buClr>
                <a:srgbClr val="00468f"/>
              </a:buClr>
              <a:buFont typeface="Arial"/>
              <a:buChar char="•"/>
            </a:pPr>
            <a:r>
              <a:rPr b="0" lang="en-US" sz="2400" strike="noStrike" u="none">
                <a:solidFill>
                  <a:schemeClr val="dk1"/>
                </a:solidFill>
                <a:effectLst/>
                <a:uFillTx/>
                <a:latin typeface="Arial"/>
                <a:ea typeface="ＭＳ Ｐゴシック"/>
              </a:rPr>
              <a:t>Increasing the value of marginal product of union members</a:t>
            </a:r>
            <a:endParaRPr b="0" lang="en-CA" sz="2400" strike="noStrike" u="none">
              <a:solidFill>
                <a:schemeClr val="dk1"/>
              </a:solidFill>
              <a:effectLst/>
              <a:uFillTx/>
              <a:latin typeface="Arial"/>
            </a:endParaRPr>
          </a:p>
          <a:p>
            <a:pPr lvl="1" marL="703080" indent="-343080">
              <a:lnSpc>
                <a:spcPct val="100000"/>
              </a:lnSpc>
              <a:spcBef>
                <a:spcPts val="601"/>
              </a:spcBef>
              <a:spcAft>
                <a:spcPts val="601"/>
              </a:spcAft>
              <a:buClr>
                <a:srgbClr val="00468f"/>
              </a:buClr>
              <a:buFont typeface="Arial"/>
              <a:buChar char="•"/>
            </a:pPr>
            <a:r>
              <a:rPr b="0" lang="en-US" sz="2400" strike="noStrike" u="none">
                <a:solidFill>
                  <a:schemeClr val="dk1"/>
                </a:solidFill>
                <a:effectLst/>
                <a:uFillTx/>
                <a:latin typeface="Arial"/>
                <a:ea typeface="ＭＳ Ｐゴシック"/>
              </a:rPr>
              <a:t>Supporting minimum wage laws</a:t>
            </a:r>
            <a:endParaRPr b="0" lang="en-CA" sz="2400" strike="noStrike" u="none">
              <a:solidFill>
                <a:schemeClr val="dk1"/>
              </a:solidFill>
              <a:effectLst/>
              <a:uFillTx/>
              <a:latin typeface="Arial"/>
            </a:endParaRPr>
          </a:p>
          <a:p>
            <a:pPr lvl="1" marL="703080" indent="-343080">
              <a:lnSpc>
                <a:spcPct val="100000"/>
              </a:lnSpc>
              <a:spcBef>
                <a:spcPts val="601"/>
              </a:spcBef>
              <a:spcAft>
                <a:spcPts val="601"/>
              </a:spcAft>
              <a:buClr>
                <a:srgbClr val="00468f"/>
              </a:buClr>
              <a:buFont typeface="Arial"/>
              <a:buChar char="•"/>
            </a:pPr>
            <a:r>
              <a:rPr b="0" lang="en-US" sz="2400" strike="noStrike" u="none">
                <a:solidFill>
                  <a:schemeClr val="dk1"/>
                </a:solidFill>
                <a:effectLst/>
                <a:uFillTx/>
                <a:latin typeface="Arial"/>
                <a:ea typeface="ＭＳ Ｐゴシック"/>
              </a:rPr>
              <a:t>Supporting immigration restrictions</a:t>
            </a:r>
            <a:endParaRPr b="0" lang="en-CA" sz="2400" strike="noStrike" u="none">
              <a:solidFill>
                <a:schemeClr val="dk1"/>
              </a:solidFill>
              <a:effectLst/>
              <a:uFillTx/>
              <a:latin typeface="Arial"/>
            </a:endParaRPr>
          </a:p>
          <a:p>
            <a:pPr lvl="1" marL="703080" indent="-343080">
              <a:lnSpc>
                <a:spcPct val="100000"/>
              </a:lnSpc>
              <a:spcBef>
                <a:spcPts val="601"/>
              </a:spcBef>
              <a:spcAft>
                <a:spcPts val="601"/>
              </a:spcAft>
              <a:buClr>
                <a:srgbClr val="00468f"/>
              </a:buClr>
              <a:buFont typeface="Arial"/>
              <a:buChar char="•"/>
            </a:pPr>
            <a:r>
              <a:rPr b="0" lang="en-US" sz="2400" strike="noStrike" u="none">
                <a:solidFill>
                  <a:schemeClr val="dk1"/>
                </a:solidFill>
                <a:effectLst/>
                <a:uFillTx/>
                <a:latin typeface="Arial"/>
                <a:ea typeface="ＭＳ Ｐゴシック"/>
              </a:rPr>
              <a:t>Supporting import restrictions</a:t>
            </a:r>
            <a:endParaRPr b="0" lang="en-CA" sz="2400" strike="noStrike" u="none">
              <a:solidFill>
                <a:schemeClr val="dk1"/>
              </a:solidFill>
              <a:effectLst/>
              <a:uFillTx/>
              <a:latin typeface="Arial"/>
            </a:endParaRPr>
          </a:p>
        </p:txBody>
      </p:sp>
    </p:spTree>
  </p:cSld>
  <p:transition spd="slow">
    <p:wipe dir="r"/>
  </p:transition>
  <p:timing>
    <p:tnLst>
      <p:par>
        <p:cTn id="766" dur="indefinite" restart="never" nodeType="tmRoot">
          <p:childTnLst>
            <p:seq>
              <p:cTn id="767" dur="indefinite" nodeType="mainSeq">
                <p:childTnLst>
                  <p:par>
                    <p:cTn id="768" nodeType="clickEffect" fill="hold">
                      <p:stCondLst>
                        <p:cond delay="indefinite"/>
                      </p:stCondLst>
                      <p:childTnLst>
                        <p:par>
                          <p:cTn id="769" nodeType="withEffect" fill="hold">
                            <p:stCondLst>
                              <p:cond delay="0"/>
                            </p:stCondLst>
                            <p:childTnLst>
                              <p:par>
                                <p:cTn id="770" nodeType="clickEffect" fill="hold" presetClass="entr" presetID="22" presetSubtype="8">
                                  <p:stCondLst>
                                    <p:cond delay="0"/>
                                  </p:stCondLst>
                                  <p:childTnLst>
                                    <p:set>
                                      <p:cBhvr>
                                        <p:cTn id="771" dur="1" fill="hold">
                                          <p:stCondLst>
                                            <p:cond delay="0"/>
                                          </p:stCondLst>
                                        </p:cTn>
                                        <p:tgtEl>
                                          <p:spTgt spid="282">
                                            <p:txEl>
                                              <p:pRg st="1" end="1"/>
                                            </p:txEl>
                                          </p:spTgt>
                                        </p:tgtEl>
                                        <p:attrNameLst>
                                          <p:attrName>style.visibility</p:attrName>
                                        </p:attrNameLst>
                                      </p:cBhvr>
                                      <p:to>
                                        <p:strVal val="visible"/>
                                      </p:to>
                                    </p:set>
                                    <p:animEffect filter="wipe(left)" transition="in">
                                      <p:cBhvr additive="repl">
                                        <p:cTn id="772" dur="500"/>
                                        <p:tgtEl>
                                          <p:spTgt spid="282">
                                            <p:txEl>
                                              <p:pRg st="1" end="1"/>
                                            </p:txEl>
                                          </p:spTgt>
                                        </p:tgtEl>
                                      </p:cBhvr>
                                    </p:animEffect>
                                  </p:childTnLst>
                                </p:cTn>
                              </p:par>
                            </p:childTnLst>
                          </p:cTn>
                        </p:par>
                      </p:childTnLst>
                    </p:cTn>
                  </p:par>
                  <p:par>
                    <p:cTn id="773" nodeType="clickEffect" fill="hold">
                      <p:stCondLst>
                        <p:cond delay="indefinite"/>
                      </p:stCondLst>
                      <p:childTnLst>
                        <p:par>
                          <p:cTn id="774" nodeType="withEffect" fill="hold">
                            <p:stCondLst>
                              <p:cond delay="0"/>
                            </p:stCondLst>
                            <p:childTnLst>
                              <p:par>
                                <p:cTn id="775" nodeType="clickEffect" fill="hold" presetClass="entr" presetID="22" presetSubtype="8">
                                  <p:stCondLst>
                                    <p:cond delay="0"/>
                                  </p:stCondLst>
                                  <p:childTnLst>
                                    <p:set>
                                      <p:cBhvr>
                                        <p:cTn id="776" dur="1" fill="hold">
                                          <p:stCondLst>
                                            <p:cond delay="0"/>
                                          </p:stCondLst>
                                        </p:cTn>
                                        <p:tgtEl>
                                          <p:spTgt spid="282">
                                            <p:txEl>
                                              <p:pRg st="2" end="2"/>
                                            </p:txEl>
                                          </p:spTgt>
                                        </p:tgtEl>
                                        <p:attrNameLst>
                                          <p:attrName>style.visibility</p:attrName>
                                        </p:attrNameLst>
                                      </p:cBhvr>
                                      <p:to>
                                        <p:strVal val="visible"/>
                                      </p:to>
                                    </p:set>
                                    <p:animEffect filter="wipe(left)" transition="in">
                                      <p:cBhvr additive="repl">
                                        <p:cTn id="777" dur="500"/>
                                        <p:tgtEl>
                                          <p:spTgt spid="282">
                                            <p:txEl>
                                              <p:pRg st="2" end="2"/>
                                            </p:txEl>
                                          </p:spTgt>
                                        </p:tgtEl>
                                      </p:cBhvr>
                                    </p:animEffect>
                                  </p:childTnLst>
                                </p:cTn>
                              </p:par>
                            </p:childTnLst>
                          </p:cTn>
                        </p:par>
                      </p:childTnLst>
                    </p:cTn>
                  </p:par>
                  <p:par>
                    <p:cTn id="778" nodeType="clickEffect" fill="hold">
                      <p:stCondLst>
                        <p:cond delay="indefinite"/>
                      </p:stCondLst>
                      <p:childTnLst>
                        <p:par>
                          <p:cTn id="779" nodeType="withEffect" fill="hold">
                            <p:stCondLst>
                              <p:cond delay="0"/>
                            </p:stCondLst>
                            <p:childTnLst>
                              <p:par>
                                <p:cTn id="780" nodeType="clickEffect" fill="hold" presetClass="entr" presetID="22" presetSubtype="8">
                                  <p:stCondLst>
                                    <p:cond delay="0"/>
                                  </p:stCondLst>
                                  <p:childTnLst>
                                    <p:set>
                                      <p:cBhvr>
                                        <p:cTn id="781" dur="1" fill="hold">
                                          <p:stCondLst>
                                            <p:cond delay="0"/>
                                          </p:stCondLst>
                                        </p:cTn>
                                        <p:tgtEl>
                                          <p:spTgt spid="282">
                                            <p:txEl>
                                              <p:pRg st="3" end="3"/>
                                            </p:txEl>
                                          </p:spTgt>
                                        </p:tgtEl>
                                        <p:attrNameLst>
                                          <p:attrName>style.visibility</p:attrName>
                                        </p:attrNameLst>
                                      </p:cBhvr>
                                      <p:to>
                                        <p:strVal val="visible"/>
                                      </p:to>
                                    </p:set>
                                    <p:animEffect filter="wipe(left)" transition="in">
                                      <p:cBhvr additive="repl">
                                        <p:cTn id="782" dur="500"/>
                                        <p:tgtEl>
                                          <p:spTgt spid="282">
                                            <p:txEl>
                                              <p:pRg st="3" end="3"/>
                                            </p:txEl>
                                          </p:spTgt>
                                        </p:tgtEl>
                                      </p:cBhvr>
                                    </p:animEffect>
                                  </p:childTnLst>
                                </p:cTn>
                              </p:par>
                            </p:childTnLst>
                          </p:cTn>
                        </p:par>
                      </p:childTnLst>
                    </p:cTn>
                  </p:par>
                  <p:par>
                    <p:cTn id="783" nodeType="clickEffect" fill="hold">
                      <p:stCondLst>
                        <p:cond delay="indefinite"/>
                      </p:stCondLst>
                      <p:childTnLst>
                        <p:par>
                          <p:cTn id="784" nodeType="withEffect" fill="hold">
                            <p:stCondLst>
                              <p:cond delay="0"/>
                            </p:stCondLst>
                            <p:childTnLst>
                              <p:par>
                                <p:cTn id="785" nodeType="clickEffect" fill="hold" presetClass="entr" presetID="22" presetSubtype="8">
                                  <p:stCondLst>
                                    <p:cond delay="0"/>
                                  </p:stCondLst>
                                  <p:childTnLst>
                                    <p:set>
                                      <p:cBhvr>
                                        <p:cTn id="786" dur="1" fill="hold">
                                          <p:stCondLst>
                                            <p:cond delay="0"/>
                                          </p:stCondLst>
                                        </p:cTn>
                                        <p:tgtEl>
                                          <p:spTgt spid="282">
                                            <p:txEl>
                                              <p:pRg st="4" end="4"/>
                                            </p:txEl>
                                          </p:spTgt>
                                        </p:tgtEl>
                                        <p:attrNameLst>
                                          <p:attrName>style.visibility</p:attrName>
                                        </p:attrNameLst>
                                      </p:cBhvr>
                                      <p:to>
                                        <p:strVal val="visible"/>
                                      </p:to>
                                    </p:set>
                                    <p:animEffect filter="wipe(left)" transition="in">
                                      <p:cBhvr additive="repl">
                                        <p:cTn id="787" dur="500"/>
                                        <p:tgtEl>
                                          <p:spTgt spid="282">
                                            <p:txEl>
                                              <p:pRg st="4" end="4"/>
                                            </p:txEl>
                                          </p:spTgt>
                                        </p:tgtEl>
                                      </p:cBhvr>
                                    </p:animEffect>
                                  </p:childTnLst>
                                </p:cTn>
                              </p:par>
                            </p:childTnLst>
                          </p:cTn>
                        </p:par>
                      </p:childTnLst>
                    </p:cTn>
                  </p:par>
                  <p:par>
                    <p:cTn id="788" nodeType="clickEffect" fill="hold">
                      <p:stCondLst>
                        <p:cond delay="indefinite"/>
                      </p:stCondLst>
                      <p:childTnLst>
                        <p:par>
                          <p:cTn id="789" nodeType="withEffect" fill="hold">
                            <p:stCondLst>
                              <p:cond delay="0"/>
                            </p:stCondLst>
                            <p:childTnLst>
                              <p:par>
                                <p:cTn id="790" nodeType="clickEffect" fill="hold" presetClass="entr" presetID="22" presetSubtype="8">
                                  <p:stCondLst>
                                    <p:cond delay="0"/>
                                  </p:stCondLst>
                                  <p:childTnLst>
                                    <p:set>
                                      <p:cBhvr>
                                        <p:cTn id="791" dur="1" fill="hold">
                                          <p:stCondLst>
                                            <p:cond delay="0"/>
                                          </p:stCondLst>
                                        </p:cTn>
                                        <p:tgtEl>
                                          <p:spTgt spid="282">
                                            <p:txEl>
                                              <p:pRg st="5" end="5"/>
                                            </p:txEl>
                                          </p:spTgt>
                                        </p:tgtEl>
                                        <p:attrNameLst>
                                          <p:attrName>style.visibility</p:attrName>
                                        </p:attrNameLst>
                                      </p:cBhvr>
                                      <p:to>
                                        <p:strVal val="visible"/>
                                      </p:to>
                                    </p:set>
                                    <p:animEffect filter="wipe(left)" transition="in">
                                      <p:cBhvr additive="repl">
                                        <p:cTn id="792" dur="500"/>
                                        <p:tgtEl>
                                          <p:spTgt spid="282">
                                            <p:txEl>
                                              <p:pRg st="5" end="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3"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19.2  LABOR MARKETS</a:t>
            </a:r>
            <a:endParaRPr b="0" lang="en-CA" sz="2600" strike="noStrike" u="none">
              <a:solidFill>
                <a:schemeClr val="dk1"/>
              </a:solidFill>
              <a:effectLst/>
              <a:uFillTx/>
              <a:latin typeface="Arial"/>
            </a:endParaRPr>
          </a:p>
        </p:txBody>
      </p:sp>
      <p:sp>
        <p:nvSpPr>
          <p:cNvPr id="284"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58920" indent="0">
              <a:lnSpc>
                <a:spcPct val="100000"/>
              </a:lnSpc>
              <a:spcBef>
                <a:spcPts val="601"/>
              </a:spcBef>
              <a:spcAft>
                <a:spcPts val="601"/>
              </a:spcAft>
              <a:buNone/>
            </a:pPr>
            <a:r>
              <a:rPr b="1" lang="en-US" sz="2600" strike="noStrike" u="none">
                <a:solidFill>
                  <a:srgbClr val="00468f"/>
                </a:solidFill>
                <a:effectLst/>
                <a:uFillTx/>
                <a:latin typeface="Arial"/>
                <a:ea typeface="ＭＳ Ｐゴシック"/>
              </a:rPr>
              <a:t>Can Unions Restrict the Supply of Labor?</a:t>
            </a:r>
            <a:r>
              <a:rPr b="0" lang="en-US" sz="2600" strike="noStrike" u="none">
                <a:solidFill>
                  <a:schemeClr val="dk1"/>
                </a:solidFill>
                <a:effectLst/>
                <a:uFillTx/>
                <a:latin typeface="Arial"/>
                <a:ea typeface="ＭＳ Ｐゴシック"/>
              </a:rPr>
              <a:t> </a:t>
            </a:r>
            <a:endParaRPr b="1" lang="en-CA" sz="26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The union’s ability to restrict the supply of labor is limited by how well it can prevent nonunion workers from offering their labor in the same market as union workers.</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It is difficult for unions to operate in markets where there is an abundant supply of willing nonunion workers.</a:t>
            </a:r>
            <a:endParaRPr b="1" lang="en-CA" sz="2400" strike="noStrike" u="none">
              <a:solidFill>
                <a:srgbClr val="00468f"/>
              </a:solidFill>
              <a:effectLst/>
              <a:uFillTx/>
              <a:latin typeface="Arial"/>
            </a:endParaRPr>
          </a:p>
        </p:txBody>
      </p:sp>
    </p:spTree>
  </p:cSld>
  <p:transition spd="slow">
    <p:wipe dir="r"/>
  </p:transition>
  <p:timing>
    <p:tnLst>
      <p:par>
        <p:cTn id="793" dur="indefinite" restart="never" nodeType="tmRoot">
          <p:childTnLst>
            <p:seq>
              <p:cTn id="794" dur="indefinite" nodeType="mainSeq">
                <p:childTnLst>
                  <p:par>
                    <p:cTn id="795" nodeType="clickEffect" fill="hold">
                      <p:stCondLst>
                        <p:cond delay="indefinite"/>
                      </p:stCondLst>
                      <p:childTnLst>
                        <p:par>
                          <p:cTn id="796" nodeType="withEffect" fill="hold">
                            <p:stCondLst>
                              <p:cond delay="0"/>
                            </p:stCondLst>
                            <p:childTnLst>
                              <p:par>
                                <p:cTn id="797" nodeType="clickEffect" fill="hold" presetClass="entr" presetID="22" presetSubtype="8">
                                  <p:stCondLst>
                                    <p:cond delay="0"/>
                                  </p:stCondLst>
                                  <p:childTnLst>
                                    <p:set>
                                      <p:cBhvr>
                                        <p:cTn id="798" dur="1" fill="hold">
                                          <p:stCondLst>
                                            <p:cond delay="0"/>
                                          </p:stCondLst>
                                        </p:cTn>
                                        <p:tgtEl>
                                          <p:spTgt spid="284">
                                            <p:txEl>
                                              <p:pRg st="1" end="1"/>
                                            </p:txEl>
                                          </p:spTgt>
                                        </p:tgtEl>
                                        <p:attrNameLst>
                                          <p:attrName>style.visibility</p:attrName>
                                        </p:attrNameLst>
                                      </p:cBhvr>
                                      <p:to>
                                        <p:strVal val="visible"/>
                                      </p:to>
                                    </p:set>
                                    <p:animEffect filter="wipe(left)" transition="in">
                                      <p:cBhvr additive="repl">
                                        <p:cTn id="799" dur="1000"/>
                                        <p:tgtEl>
                                          <p:spTgt spid="284">
                                            <p:txEl>
                                              <p:pRg st="1" end="1"/>
                                            </p:txEl>
                                          </p:spTgt>
                                        </p:tgtEl>
                                      </p:cBhvr>
                                    </p:animEffect>
                                  </p:childTnLst>
                                </p:cTn>
                              </p:par>
                            </p:childTnLst>
                          </p:cTn>
                        </p:par>
                      </p:childTnLst>
                    </p:cTn>
                  </p:par>
                  <p:par>
                    <p:cTn id="800" nodeType="clickEffect" fill="hold">
                      <p:stCondLst>
                        <p:cond delay="indefinite"/>
                      </p:stCondLst>
                      <p:childTnLst>
                        <p:par>
                          <p:cTn id="801" nodeType="withEffect" fill="hold">
                            <p:stCondLst>
                              <p:cond delay="0"/>
                            </p:stCondLst>
                            <p:childTnLst>
                              <p:par>
                                <p:cTn id="802" nodeType="clickEffect" fill="hold" presetClass="entr" presetID="22" presetSubtype="8">
                                  <p:stCondLst>
                                    <p:cond delay="0"/>
                                  </p:stCondLst>
                                  <p:childTnLst>
                                    <p:set>
                                      <p:cBhvr>
                                        <p:cTn id="803" dur="1" fill="hold">
                                          <p:stCondLst>
                                            <p:cond delay="0"/>
                                          </p:stCondLst>
                                        </p:cTn>
                                        <p:tgtEl>
                                          <p:spTgt spid="284">
                                            <p:txEl>
                                              <p:pRg st="2" end="2"/>
                                            </p:txEl>
                                          </p:spTgt>
                                        </p:tgtEl>
                                        <p:attrNameLst>
                                          <p:attrName>style.visibility</p:attrName>
                                        </p:attrNameLst>
                                      </p:cBhvr>
                                      <p:to>
                                        <p:strVal val="visible"/>
                                      </p:to>
                                    </p:set>
                                    <p:animEffect filter="wipe(left)" transition="in">
                                      <p:cBhvr additive="repl">
                                        <p:cTn id="804" dur="1000"/>
                                        <p:tgtEl>
                                          <p:spTgt spid="284">
                                            <p:txEl>
                                              <p:pRg st="2" end="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5"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600" strike="noStrike" u="none">
                <a:solidFill>
                  <a:schemeClr val="lt1"/>
                </a:solidFill>
                <a:effectLst/>
                <a:uFillTx/>
                <a:latin typeface="Arial"/>
                <a:ea typeface="ＭＳ Ｐゴシック"/>
              </a:rPr>
              <a:t>19.2  LABOR MARKETS</a:t>
            </a:r>
            <a:endParaRPr b="0" lang="en-CA" sz="2600" strike="noStrike" u="none">
              <a:solidFill>
                <a:schemeClr val="dk1"/>
              </a:solidFill>
              <a:effectLst/>
              <a:uFillTx/>
              <a:latin typeface="Arial"/>
            </a:endParaRPr>
          </a:p>
        </p:txBody>
      </p:sp>
      <p:sp>
        <p:nvSpPr>
          <p:cNvPr id="286"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58920" indent="0">
              <a:lnSpc>
                <a:spcPct val="100000"/>
              </a:lnSpc>
              <a:spcBef>
                <a:spcPts val="601"/>
              </a:spcBef>
              <a:spcAft>
                <a:spcPts val="601"/>
              </a:spcAft>
              <a:buNone/>
            </a:pPr>
            <a:r>
              <a:rPr b="1" lang="en-US" sz="2600" strike="noStrike" u="none">
                <a:solidFill>
                  <a:srgbClr val="00468f"/>
                </a:solidFill>
                <a:effectLst/>
                <a:uFillTx/>
                <a:latin typeface="Arial"/>
                <a:ea typeface="ＭＳ Ｐゴシック"/>
              </a:rPr>
              <a:t>The Scale of Union-Nonunion Wage Gap</a:t>
            </a:r>
            <a:endParaRPr b="1" lang="en-CA" sz="26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How much of a difference to wage rates do unions make? </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To answer this question, we must look at the wages of unionized and nonunionized workers who do similar work.</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The evidence suggests that after allowing for skill differences, the union-nonunion wage gap lies between 10 percent and 25 percent. </a:t>
            </a:r>
            <a:endParaRPr b="1" lang="en-CA" sz="2400" strike="noStrike" u="none">
              <a:solidFill>
                <a:srgbClr val="00468f"/>
              </a:solidFill>
              <a:effectLst/>
              <a:uFillTx/>
              <a:latin typeface="Arial"/>
            </a:endParaRPr>
          </a:p>
        </p:txBody>
      </p:sp>
    </p:spTree>
  </p:cSld>
  <p:transition spd="slow">
    <p:wipe dir="r"/>
  </p:transition>
  <p:timing>
    <p:tnLst>
      <p:par>
        <p:cTn id="805" dur="indefinite" restart="never" nodeType="tmRoot">
          <p:childTnLst>
            <p:seq>
              <p:cTn id="806" dur="indefinite" nodeType="mainSeq">
                <p:childTnLst>
                  <p:par>
                    <p:cTn id="807" nodeType="clickEffect" fill="hold">
                      <p:stCondLst>
                        <p:cond delay="indefinite"/>
                      </p:stCondLst>
                      <p:childTnLst>
                        <p:par>
                          <p:cTn id="808" nodeType="withEffect" fill="hold">
                            <p:stCondLst>
                              <p:cond delay="0"/>
                            </p:stCondLst>
                            <p:childTnLst>
                              <p:par>
                                <p:cTn id="809" nodeType="clickEffect" fill="hold" presetClass="entr" presetID="22" presetSubtype="8">
                                  <p:stCondLst>
                                    <p:cond delay="0"/>
                                  </p:stCondLst>
                                  <p:childTnLst>
                                    <p:set>
                                      <p:cBhvr>
                                        <p:cTn id="810" dur="1" fill="hold">
                                          <p:stCondLst>
                                            <p:cond delay="0"/>
                                          </p:stCondLst>
                                        </p:cTn>
                                        <p:tgtEl>
                                          <p:spTgt spid="286">
                                            <p:txEl>
                                              <p:pRg st="1" end="1"/>
                                            </p:txEl>
                                          </p:spTgt>
                                        </p:tgtEl>
                                        <p:attrNameLst>
                                          <p:attrName>style.visibility</p:attrName>
                                        </p:attrNameLst>
                                      </p:cBhvr>
                                      <p:to>
                                        <p:strVal val="visible"/>
                                      </p:to>
                                    </p:set>
                                    <p:animEffect filter="wipe(left)" transition="in">
                                      <p:cBhvr additive="repl">
                                        <p:cTn id="811" dur="500"/>
                                        <p:tgtEl>
                                          <p:spTgt spid="286">
                                            <p:txEl>
                                              <p:pRg st="1" end="1"/>
                                            </p:txEl>
                                          </p:spTgt>
                                        </p:tgtEl>
                                      </p:cBhvr>
                                    </p:animEffect>
                                  </p:childTnLst>
                                </p:cTn>
                              </p:par>
                            </p:childTnLst>
                          </p:cTn>
                        </p:par>
                      </p:childTnLst>
                    </p:cTn>
                  </p:par>
                  <p:par>
                    <p:cTn id="812" nodeType="clickEffect" fill="hold">
                      <p:stCondLst>
                        <p:cond delay="indefinite"/>
                      </p:stCondLst>
                      <p:childTnLst>
                        <p:par>
                          <p:cTn id="813" nodeType="withEffect" fill="hold">
                            <p:stCondLst>
                              <p:cond delay="0"/>
                            </p:stCondLst>
                            <p:childTnLst>
                              <p:par>
                                <p:cTn id="814" nodeType="clickEffect" fill="hold" presetClass="entr" presetID="22" presetSubtype="8">
                                  <p:stCondLst>
                                    <p:cond delay="0"/>
                                  </p:stCondLst>
                                  <p:childTnLst>
                                    <p:set>
                                      <p:cBhvr>
                                        <p:cTn id="815" dur="1" fill="hold">
                                          <p:stCondLst>
                                            <p:cond delay="0"/>
                                          </p:stCondLst>
                                        </p:cTn>
                                        <p:tgtEl>
                                          <p:spTgt spid="286">
                                            <p:txEl>
                                              <p:pRg st="2" end="2"/>
                                            </p:txEl>
                                          </p:spTgt>
                                        </p:tgtEl>
                                        <p:attrNameLst>
                                          <p:attrName>style.visibility</p:attrName>
                                        </p:attrNameLst>
                                      </p:cBhvr>
                                      <p:to>
                                        <p:strVal val="visible"/>
                                      </p:to>
                                    </p:set>
                                    <p:animEffect filter="wipe(left)" transition="in">
                                      <p:cBhvr additive="repl">
                                        <p:cTn id="816" dur="500"/>
                                        <p:tgtEl>
                                          <p:spTgt spid="286">
                                            <p:txEl>
                                              <p:pRg st="2" end="2"/>
                                            </p:txEl>
                                          </p:spTgt>
                                        </p:tgtEl>
                                      </p:cBhvr>
                                    </p:animEffect>
                                  </p:childTnLst>
                                </p:cTn>
                              </p:par>
                            </p:childTnLst>
                          </p:cTn>
                        </p:par>
                      </p:childTnLst>
                    </p:cTn>
                  </p:par>
                  <p:par>
                    <p:cTn id="817" nodeType="clickEffect" fill="hold">
                      <p:stCondLst>
                        <p:cond delay="indefinite"/>
                      </p:stCondLst>
                      <p:childTnLst>
                        <p:par>
                          <p:cTn id="818" nodeType="withEffect" fill="hold">
                            <p:stCondLst>
                              <p:cond delay="0"/>
                            </p:stCondLst>
                            <p:childTnLst>
                              <p:par>
                                <p:cTn id="819" nodeType="clickEffect" fill="hold" presetClass="entr" presetID="22" presetSubtype="8">
                                  <p:stCondLst>
                                    <p:cond delay="0"/>
                                  </p:stCondLst>
                                  <p:childTnLst>
                                    <p:set>
                                      <p:cBhvr>
                                        <p:cTn id="820" dur="1" fill="hold">
                                          <p:stCondLst>
                                            <p:cond delay="0"/>
                                          </p:stCondLst>
                                        </p:cTn>
                                        <p:tgtEl>
                                          <p:spTgt spid="286">
                                            <p:txEl>
                                              <p:pRg st="3" end="3"/>
                                            </p:txEl>
                                          </p:spTgt>
                                        </p:tgtEl>
                                        <p:attrNameLst>
                                          <p:attrName>style.visibility</p:attrName>
                                        </p:attrNameLst>
                                      </p:cBhvr>
                                      <p:to>
                                        <p:strVal val="visible"/>
                                      </p:to>
                                    </p:set>
                                    <p:animEffect filter="wipe(left)" transition="in">
                                      <p:cBhvr additive="repl">
                                        <p:cTn id="821" dur="500"/>
                                        <p:tgtEl>
                                          <p:spTgt spid="286">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7"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200" strike="noStrike" u="none">
                <a:solidFill>
                  <a:schemeClr val="lt1"/>
                </a:solidFill>
                <a:effectLst/>
                <a:uFillTx/>
                <a:latin typeface="Arial"/>
                <a:ea typeface="ＭＳ Ｐゴシック"/>
              </a:rPr>
              <a:t>19.3  CAPITAL AND NATURAL RESOURCE MARKETS</a:t>
            </a:r>
            <a:endParaRPr b="0" lang="en-CA" sz="2200" strike="noStrike" u="none">
              <a:solidFill>
                <a:schemeClr val="dk1"/>
              </a:solidFill>
              <a:effectLst/>
              <a:uFillTx/>
              <a:latin typeface="Arial"/>
            </a:endParaRPr>
          </a:p>
        </p:txBody>
      </p:sp>
      <p:sp>
        <p:nvSpPr>
          <p:cNvPr id="288"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43080" indent="-343080">
              <a:lnSpc>
                <a:spcPct val="100000"/>
              </a:lnSpc>
              <a:spcBef>
                <a:spcPts val="601"/>
              </a:spcBef>
              <a:spcAft>
                <a:spcPts val="601"/>
              </a:spcAft>
              <a:buClr>
                <a:srgbClr val="00468f"/>
              </a:buClr>
              <a:buFont typeface="Webdings" charset="2"/>
              <a:buChar char=""/>
            </a:pPr>
            <a:r>
              <a:rPr b="1" lang="en-CA" sz="2800" strike="noStrike" u="none">
                <a:solidFill>
                  <a:srgbClr val="00468f"/>
                </a:solidFill>
                <a:effectLst/>
                <a:uFillTx/>
                <a:latin typeface="Arial"/>
                <a:ea typeface="ＭＳ Ｐゴシック"/>
              </a:rPr>
              <a:t>Capital</a:t>
            </a:r>
            <a:r>
              <a:rPr b="1" lang="en-US" sz="2800" strike="noStrike" u="none">
                <a:solidFill>
                  <a:srgbClr val="00468f"/>
                </a:solidFill>
                <a:effectLst/>
                <a:uFillTx/>
                <a:latin typeface="Arial"/>
                <a:ea typeface="ＭＳ Ｐゴシック"/>
              </a:rPr>
              <a:t> Markets</a:t>
            </a:r>
            <a:endParaRPr b="1" lang="en-CA" sz="28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The demand for capital is based on the </a:t>
            </a:r>
            <a:r>
              <a:rPr b="0" i="1" lang="en-US" sz="2400" strike="noStrike" u="none">
                <a:solidFill>
                  <a:schemeClr val="dk1"/>
                </a:solidFill>
                <a:effectLst/>
                <a:uFillTx/>
                <a:latin typeface="Arial"/>
                <a:ea typeface="ＭＳ Ｐゴシック"/>
              </a:rPr>
              <a:t>value of marginal product of capital</a:t>
            </a:r>
            <a:r>
              <a:rPr b="0" lang="en-US" sz="2400" strike="noStrike" u="none">
                <a:solidFill>
                  <a:schemeClr val="dk1"/>
                </a:solidFill>
                <a:effectLst/>
                <a:uFillTx/>
                <a:latin typeface="Arial"/>
                <a:ea typeface="ＭＳ Ｐゴシック"/>
              </a:rPr>
              <a:t>.</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Profit-maximizing firms hire capital services up to the point at which the value of marginal product of capital equals the </a:t>
            </a:r>
            <a:r>
              <a:rPr b="0" i="1" lang="en-US" sz="2400" strike="noStrike" u="none">
                <a:solidFill>
                  <a:schemeClr val="dk1"/>
                </a:solidFill>
                <a:effectLst/>
                <a:uFillTx/>
                <a:latin typeface="Arial"/>
                <a:ea typeface="ＭＳ Ｐゴシック"/>
              </a:rPr>
              <a:t>rental rate of capital</a:t>
            </a:r>
            <a:r>
              <a:rPr b="0" lang="en-US" sz="2400" strike="noStrike" u="none">
                <a:solidFill>
                  <a:schemeClr val="dk1"/>
                </a:solidFill>
                <a:effectLst/>
                <a:uFillTx/>
                <a:latin typeface="Arial"/>
                <a:ea typeface="ＭＳ Ｐゴシック"/>
              </a:rPr>
              <a:t>.</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The </a:t>
            </a:r>
            <a:r>
              <a:rPr b="0" i="1" lang="en-US" sz="2400" strike="noStrike" u="none">
                <a:solidFill>
                  <a:schemeClr val="dk1"/>
                </a:solidFill>
                <a:effectLst/>
                <a:uFillTx/>
                <a:latin typeface="Arial"/>
                <a:ea typeface="ＭＳ Ｐゴシック"/>
              </a:rPr>
              <a:t>lower </a:t>
            </a:r>
            <a:r>
              <a:rPr b="0" lang="en-US" sz="2400" strike="noStrike" u="none">
                <a:solidFill>
                  <a:schemeClr val="dk1"/>
                </a:solidFill>
                <a:effectLst/>
                <a:uFillTx/>
                <a:latin typeface="Arial"/>
                <a:ea typeface="ＭＳ Ｐゴシック"/>
              </a:rPr>
              <a:t>the rental rate, other things remaining the same, the </a:t>
            </a:r>
            <a:r>
              <a:rPr b="0" i="1" lang="en-US" sz="2400" strike="noStrike" u="none">
                <a:solidFill>
                  <a:schemeClr val="dk1"/>
                </a:solidFill>
                <a:effectLst/>
                <a:uFillTx/>
                <a:latin typeface="Arial"/>
                <a:ea typeface="ＭＳ Ｐゴシック"/>
              </a:rPr>
              <a:t>greater </a:t>
            </a:r>
            <a:r>
              <a:rPr b="0" lang="en-US" sz="2400" strike="noStrike" u="none">
                <a:solidFill>
                  <a:schemeClr val="dk1"/>
                </a:solidFill>
                <a:effectLst/>
                <a:uFillTx/>
                <a:latin typeface="Arial"/>
                <a:ea typeface="ＭＳ Ｐゴシック"/>
              </a:rPr>
              <a:t>is the quantity of capital </a:t>
            </a:r>
            <a:r>
              <a:rPr b="0" i="1" lang="en-US" sz="2400" strike="noStrike" u="none">
                <a:solidFill>
                  <a:schemeClr val="dk1"/>
                </a:solidFill>
                <a:effectLst/>
                <a:uFillTx/>
                <a:latin typeface="Arial"/>
                <a:ea typeface="ＭＳ Ｐゴシック"/>
              </a:rPr>
              <a:t>demanded.</a:t>
            </a:r>
            <a:r>
              <a:rPr b="0" lang="en-US" sz="2400" strike="noStrike" u="none">
                <a:solidFill>
                  <a:schemeClr val="dk1"/>
                </a:solidFill>
                <a:effectLst/>
                <a:uFillTx/>
                <a:latin typeface="Arial"/>
                <a:ea typeface="ＭＳ Ｐゴシック"/>
              </a:rPr>
              <a:t> </a:t>
            </a:r>
            <a:endParaRPr b="1" lang="en-CA" sz="2400" strike="noStrike" u="none">
              <a:solidFill>
                <a:srgbClr val="00468f"/>
              </a:solidFill>
              <a:effectLst/>
              <a:uFillTx/>
              <a:latin typeface="Arial"/>
            </a:endParaRPr>
          </a:p>
        </p:txBody>
      </p:sp>
    </p:spTree>
  </p:cSld>
  <p:transition spd="slow">
    <p:wipe dir="r"/>
  </p:transition>
  <p:timing>
    <p:tnLst>
      <p:par>
        <p:cTn id="822" dur="indefinite" restart="never" nodeType="tmRoot">
          <p:childTnLst>
            <p:seq>
              <p:cTn id="823" dur="indefinite" nodeType="mainSeq">
                <p:childTnLst>
                  <p:par>
                    <p:cTn id="824" nodeType="clickEffect" fill="hold">
                      <p:stCondLst>
                        <p:cond delay="indefinite"/>
                      </p:stCondLst>
                      <p:childTnLst>
                        <p:par>
                          <p:cTn id="825" nodeType="withEffect" fill="hold">
                            <p:stCondLst>
                              <p:cond delay="0"/>
                            </p:stCondLst>
                            <p:childTnLst>
                              <p:par>
                                <p:cTn id="826" nodeType="clickEffect" fill="hold" presetClass="entr" presetID="22" presetSubtype="8">
                                  <p:stCondLst>
                                    <p:cond delay="0"/>
                                  </p:stCondLst>
                                  <p:childTnLst>
                                    <p:set>
                                      <p:cBhvr>
                                        <p:cTn id="827" dur="1" fill="hold">
                                          <p:stCondLst>
                                            <p:cond delay="0"/>
                                          </p:stCondLst>
                                        </p:cTn>
                                        <p:tgtEl>
                                          <p:spTgt spid="288">
                                            <p:txEl>
                                              <p:pRg st="1" end="1"/>
                                            </p:txEl>
                                          </p:spTgt>
                                        </p:tgtEl>
                                        <p:attrNameLst>
                                          <p:attrName>style.visibility</p:attrName>
                                        </p:attrNameLst>
                                      </p:cBhvr>
                                      <p:to>
                                        <p:strVal val="visible"/>
                                      </p:to>
                                    </p:set>
                                    <p:animEffect filter="wipe(left)" transition="in">
                                      <p:cBhvr additive="repl">
                                        <p:cTn id="828" dur="500"/>
                                        <p:tgtEl>
                                          <p:spTgt spid="288">
                                            <p:txEl>
                                              <p:pRg st="1" end="1"/>
                                            </p:txEl>
                                          </p:spTgt>
                                        </p:tgtEl>
                                      </p:cBhvr>
                                    </p:animEffect>
                                  </p:childTnLst>
                                </p:cTn>
                              </p:par>
                            </p:childTnLst>
                          </p:cTn>
                        </p:par>
                      </p:childTnLst>
                    </p:cTn>
                  </p:par>
                  <p:par>
                    <p:cTn id="829" nodeType="clickEffect" fill="hold">
                      <p:stCondLst>
                        <p:cond delay="indefinite"/>
                      </p:stCondLst>
                      <p:childTnLst>
                        <p:par>
                          <p:cTn id="830" nodeType="withEffect" fill="hold">
                            <p:stCondLst>
                              <p:cond delay="0"/>
                            </p:stCondLst>
                            <p:childTnLst>
                              <p:par>
                                <p:cTn id="831" nodeType="clickEffect" fill="hold" presetClass="entr" presetID="22" presetSubtype="8">
                                  <p:stCondLst>
                                    <p:cond delay="0"/>
                                  </p:stCondLst>
                                  <p:childTnLst>
                                    <p:set>
                                      <p:cBhvr>
                                        <p:cTn id="832" dur="1" fill="hold">
                                          <p:stCondLst>
                                            <p:cond delay="0"/>
                                          </p:stCondLst>
                                        </p:cTn>
                                        <p:tgtEl>
                                          <p:spTgt spid="288">
                                            <p:txEl>
                                              <p:pRg st="2" end="2"/>
                                            </p:txEl>
                                          </p:spTgt>
                                        </p:tgtEl>
                                        <p:attrNameLst>
                                          <p:attrName>style.visibility</p:attrName>
                                        </p:attrNameLst>
                                      </p:cBhvr>
                                      <p:to>
                                        <p:strVal val="visible"/>
                                      </p:to>
                                    </p:set>
                                    <p:animEffect filter="wipe(left)" transition="in">
                                      <p:cBhvr additive="repl">
                                        <p:cTn id="833" dur="500"/>
                                        <p:tgtEl>
                                          <p:spTgt spid="288">
                                            <p:txEl>
                                              <p:pRg st="2" end="2"/>
                                            </p:txEl>
                                          </p:spTgt>
                                        </p:tgtEl>
                                      </p:cBhvr>
                                    </p:animEffect>
                                  </p:childTnLst>
                                </p:cTn>
                              </p:par>
                            </p:childTnLst>
                          </p:cTn>
                        </p:par>
                      </p:childTnLst>
                    </p:cTn>
                  </p:par>
                  <p:par>
                    <p:cTn id="834" nodeType="clickEffect" fill="hold">
                      <p:stCondLst>
                        <p:cond delay="indefinite"/>
                      </p:stCondLst>
                      <p:childTnLst>
                        <p:par>
                          <p:cTn id="835" nodeType="withEffect" fill="hold">
                            <p:stCondLst>
                              <p:cond delay="0"/>
                            </p:stCondLst>
                            <p:childTnLst>
                              <p:par>
                                <p:cTn id="836" nodeType="clickEffect" fill="hold" presetClass="entr" presetID="22" presetSubtype="8">
                                  <p:stCondLst>
                                    <p:cond delay="0"/>
                                  </p:stCondLst>
                                  <p:childTnLst>
                                    <p:set>
                                      <p:cBhvr>
                                        <p:cTn id="837" dur="1" fill="hold">
                                          <p:stCondLst>
                                            <p:cond delay="0"/>
                                          </p:stCondLst>
                                        </p:cTn>
                                        <p:tgtEl>
                                          <p:spTgt spid="288">
                                            <p:txEl>
                                              <p:pRg st="3" end="3"/>
                                            </p:txEl>
                                          </p:spTgt>
                                        </p:tgtEl>
                                        <p:attrNameLst>
                                          <p:attrName>style.visibility</p:attrName>
                                        </p:attrNameLst>
                                      </p:cBhvr>
                                      <p:to>
                                        <p:strVal val="visible"/>
                                      </p:to>
                                    </p:set>
                                    <p:animEffect filter="wipe(left)" transition="in">
                                      <p:cBhvr additive="repl">
                                        <p:cTn id="838" dur="500"/>
                                        <p:tgtEl>
                                          <p:spTgt spid="288">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9"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200" strike="noStrike" u="none">
                <a:solidFill>
                  <a:schemeClr val="lt1"/>
                </a:solidFill>
                <a:effectLst/>
                <a:uFillTx/>
                <a:latin typeface="Arial"/>
                <a:ea typeface="ＭＳ Ｐゴシック"/>
              </a:rPr>
              <a:t>19.3  CAPITAL AND NATURAL RESOURCE MARKETS</a:t>
            </a:r>
            <a:endParaRPr b="0" lang="en-CA" sz="2200" strike="noStrike" u="none">
              <a:solidFill>
                <a:schemeClr val="dk1"/>
              </a:solidFill>
              <a:effectLst/>
              <a:uFillTx/>
              <a:latin typeface="Arial"/>
            </a:endParaRPr>
          </a:p>
        </p:txBody>
      </p:sp>
      <p:sp>
        <p:nvSpPr>
          <p:cNvPr id="290"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The supply of capital responds in the opposite way to the rental rate. </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The </a:t>
            </a:r>
            <a:r>
              <a:rPr b="0" i="1" lang="en-US" sz="2400" strike="noStrike" u="none">
                <a:solidFill>
                  <a:schemeClr val="dk1"/>
                </a:solidFill>
                <a:effectLst/>
                <a:uFillTx/>
                <a:latin typeface="Arial"/>
                <a:ea typeface="ＭＳ Ｐゴシック"/>
              </a:rPr>
              <a:t>higher </a:t>
            </a:r>
            <a:r>
              <a:rPr b="0" lang="en-US" sz="2400" strike="noStrike" u="none">
                <a:solidFill>
                  <a:schemeClr val="dk1"/>
                </a:solidFill>
                <a:effectLst/>
                <a:uFillTx/>
                <a:latin typeface="Arial"/>
                <a:ea typeface="ＭＳ Ｐゴシック"/>
              </a:rPr>
              <a:t>the rental rate, other things remaining the same, the </a:t>
            </a:r>
            <a:r>
              <a:rPr b="0" i="1" lang="en-US" sz="2400" strike="noStrike" u="none">
                <a:solidFill>
                  <a:schemeClr val="dk1"/>
                </a:solidFill>
                <a:effectLst/>
                <a:uFillTx/>
                <a:latin typeface="Arial"/>
                <a:ea typeface="ＭＳ Ｐゴシック"/>
              </a:rPr>
              <a:t>greater </a:t>
            </a:r>
            <a:r>
              <a:rPr b="0" lang="en-US" sz="2400" strike="noStrike" u="none">
                <a:solidFill>
                  <a:schemeClr val="dk1"/>
                </a:solidFill>
                <a:effectLst/>
                <a:uFillTx/>
                <a:latin typeface="Arial"/>
                <a:ea typeface="ＭＳ Ｐゴシック"/>
              </a:rPr>
              <a:t>is the quantity of capital </a:t>
            </a:r>
            <a:r>
              <a:rPr b="0" i="1" lang="en-US" sz="2400" strike="noStrike" u="none">
                <a:solidFill>
                  <a:schemeClr val="dk1"/>
                </a:solidFill>
                <a:effectLst/>
                <a:uFillTx/>
                <a:latin typeface="Arial"/>
                <a:ea typeface="ＭＳ Ｐゴシック"/>
              </a:rPr>
              <a:t>supplied</a:t>
            </a:r>
            <a:r>
              <a:rPr b="0" lang="en-US" sz="2400" strike="noStrike" u="none">
                <a:solidFill>
                  <a:schemeClr val="dk1"/>
                </a:solidFill>
                <a:effectLst/>
                <a:uFillTx/>
                <a:latin typeface="Arial"/>
                <a:ea typeface="ＭＳ Ｐゴシック"/>
              </a:rPr>
              <a:t>. </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The equilibrium rental rate makes the quantity of capital demanded equal to the quantity supplied.</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Figure 19.7 illustrates the market for the rental of tower cranes, capital used to construct high-rise buildings. </a:t>
            </a:r>
            <a:endParaRPr b="1" lang="en-CA" sz="2400" strike="noStrike" u="none">
              <a:solidFill>
                <a:srgbClr val="00468f"/>
              </a:solidFill>
              <a:effectLst/>
              <a:uFillTx/>
              <a:latin typeface="Arial"/>
            </a:endParaRPr>
          </a:p>
        </p:txBody>
      </p:sp>
    </p:spTree>
  </p:cSld>
  <p:transition spd="slow">
    <p:wipe dir="r"/>
  </p:transition>
  <p:timing>
    <p:tnLst>
      <p:par>
        <p:cTn id="839" dur="indefinite" restart="never" nodeType="tmRoot">
          <p:childTnLst>
            <p:seq>
              <p:cTn id="840" dur="indefinite" nodeType="mainSeq">
                <p:childTnLst>
                  <p:par>
                    <p:cTn id="841" nodeType="clickEffect" fill="hold">
                      <p:stCondLst>
                        <p:cond delay="indefinite"/>
                      </p:stCondLst>
                      <p:childTnLst>
                        <p:par>
                          <p:cTn id="842" nodeType="withEffect" fill="hold">
                            <p:stCondLst>
                              <p:cond delay="0"/>
                            </p:stCondLst>
                            <p:childTnLst>
                              <p:par>
                                <p:cTn id="843" nodeType="clickEffect" fill="hold" presetClass="entr" presetID="22" presetSubtype="8">
                                  <p:stCondLst>
                                    <p:cond delay="0"/>
                                  </p:stCondLst>
                                  <p:childTnLst>
                                    <p:set>
                                      <p:cBhvr>
                                        <p:cTn id="844" dur="1" fill="hold">
                                          <p:stCondLst>
                                            <p:cond delay="0"/>
                                          </p:stCondLst>
                                        </p:cTn>
                                        <p:tgtEl>
                                          <p:spTgt spid="290">
                                            <p:txEl>
                                              <p:pRg st="1" end="1"/>
                                            </p:txEl>
                                          </p:spTgt>
                                        </p:tgtEl>
                                        <p:attrNameLst>
                                          <p:attrName>style.visibility</p:attrName>
                                        </p:attrNameLst>
                                      </p:cBhvr>
                                      <p:to>
                                        <p:strVal val="visible"/>
                                      </p:to>
                                    </p:set>
                                    <p:animEffect filter="wipe(left)" transition="in">
                                      <p:cBhvr additive="repl">
                                        <p:cTn id="845" dur="500"/>
                                        <p:tgtEl>
                                          <p:spTgt spid="290">
                                            <p:txEl>
                                              <p:pRg st="1" end="1"/>
                                            </p:txEl>
                                          </p:spTgt>
                                        </p:tgtEl>
                                      </p:cBhvr>
                                    </p:animEffect>
                                  </p:childTnLst>
                                </p:cTn>
                              </p:par>
                            </p:childTnLst>
                          </p:cTn>
                        </p:par>
                      </p:childTnLst>
                    </p:cTn>
                  </p:par>
                  <p:par>
                    <p:cTn id="846" nodeType="clickEffect" fill="hold">
                      <p:stCondLst>
                        <p:cond delay="indefinite"/>
                      </p:stCondLst>
                      <p:childTnLst>
                        <p:par>
                          <p:cTn id="847" nodeType="withEffect" fill="hold">
                            <p:stCondLst>
                              <p:cond delay="0"/>
                            </p:stCondLst>
                            <p:childTnLst>
                              <p:par>
                                <p:cTn id="848" nodeType="clickEffect" fill="hold" presetClass="entr" presetID="22" presetSubtype="8">
                                  <p:stCondLst>
                                    <p:cond delay="0"/>
                                  </p:stCondLst>
                                  <p:childTnLst>
                                    <p:set>
                                      <p:cBhvr>
                                        <p:cTn id="849" dur="1" fill="hold">
                                          <p:stCondLst>
                                            <p:cond delay="0"/>
                                          </p:stCondLst>
                                        </p:cTn>
                                        <p:tgtEl>
                                          <p:spTgt spid="290">
                                            <p:txEl>
                                              <p:pRg st="2" end="2"/>
                                            </p:txEl>
                                          </p:spTgt>
                                        </p:tgtEl>
                                        <p:attrNameLst>
                                          <p:attrName>style.visibility</p:attrName>
                                        </p:attrNameLst>
                                      </p:cBhvr>
                                      <p:to>
                                        <p:strVal val="visible"/>
                                      </p:to>
                                    </p:set>
                                    <p:animEffect filter="wipe(left)" transition="in">
                                      <p:cBhvr additive="repl">
                                        <p:cTn id="850" dur="500"/>
                                        <p:tgtEl>
                                          <p:spTgt spid="290">
                                            <p:txEl>
                                              <p:pRg st="2" end="2"/>
                                            </p:txEl>
                                          </p:spTgt>
                                        </p:tgtEl>
                                      </p:cBhvr>
                                    </p:animEffect>
                                  </p:childTnLst>
                                </p:cTn>
                              </p:par>
                            </p:childTnLst>
                          </p:cTn>
                        </p:par>
                      </p:childTnLst>
                    </p:cTn>
                  </p:par>
                  <p:par>
                    <p:cTn id="851" nodeType="clickEffect" fill="hold">
                      <p:stCondLst>
                        <p:cond delay="indefinite"/>
                      </p:stCondLst>
                      <p:childTnLst>
                        <p:par>
                          <p:cTn id="852" nodeType="withEffect" fill="hold">
                            <p:stCondLst>
                              <p:cond delay="0"/>
                            </p:stCondLst>
                            <p:childTnLst>
                              <p:par>
                                <p:cTn id="853" nodeType="clickEffect" fill="hold" presetClass="entr" presetID="22" presetSubtype="8">
                                  <p:stCondLst>
                                    <p:cond delay="0"/>
                                  </p:stCondLst>
                                  <p:childTnLst>
                                    <p:set>
                                      <p:cBhvr>
                                        <p:cTn id="854" dur="1" fill="hold">
                                          <p:stCondLst>
                                            <p:cond delay="0"/>
                                          </p:stCondLst>
                                        </p:cTn>
                                        <p:tgtEl>
                                          <p:spTgt spid="290">
                                            <p:txEl>
                                              <p:pRg st="3" end="3"/>
                                            </p:txEl>
                                          </p:spTgt>
                                        </p:tgtEl>
                                        <p:attrNameLst>
                                          <p:attrName>style.visibility</p:attrName>
                                        </p:attrNameLst>
                                      </p:cBhvr>
                                      <p:to>
                                        <p:strVal val="visible"/>
                                      </p:to>
                                    </p:set>
                                    <p:animEffect filter="wipe(left)" transition="in">
                                      <p:cBhvr additive="repl">
                                        <p:cTn id="855" dur="500"/>
                                        <p:tgtEl>
                                          <p:spTgt spid="290">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1"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200" strike="noStrike" u="none">
                <a:solidFill>
                  <a:schemeClr val="lt1"/>
                </a:solidFill>
                <a:effectLst/>
                <a:uFillTx/>
                <a:latin typeface="Arial"/>
                <a:ea typeface="ＭＳ Ｐゴシック"/>
              </a:rPr>
              <a:t>19.3  CAPITAL AND NATURAL RESOURCE MARKETS</a:t>
            </a:r>
            <a:endParaRPr b="0" lang="en-CA" sz="2200" strike="noStrike" u="none">
              <a:solidFill>
                <a:schemeClr val="dk1"/>
              </a:solidFill>
              <a:effectLst/>
              <a:uFillTx/>
              <a:latin typeface="Arial"/>
            </a:endParaRPr>
          </a:p>
        </p:txBody>
      </p:sp>
      <p:sp>
        <p:nvSpPr>
          <p:cNvPr id="292" name="PlaceHolder 2"/>
          <p:cNvSpPr>
            <a:spLocks noGrp="1"/>
          </p:cNvSpPr>
          <p:nvPr>
            <p:ph/>
          </p:nvPr>
        </p:nvSpPr>
        <p:spPr>
          <a:xfrm>
            <a:off x="360360" y="1440000"/>
            <a:ext cx="3525480" cy="464796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pPr>
            <a:r>
              <a:rPr b="0" lang="en-US" sz="2400" strike="noStrike" u="none">
                <a:solidFill>
                  <a:srgbClr val="000000"/>
                </a:solidFill>
                <a:effectLst/>
                <a:uFillTx/>
                <a:latin typeface="Arial"/>
                <a:ea typeface="ＭＳ Ｐゴシック"/>
              </a:rPr>
              <a:t>The demand curve for capital is </a:t>
            </a:r>
            <a:r>
              <a:rPr b="0" i="1" lang="en-US" sz="2400" strike="noStrike" u="none">
                <a:solidFill>
                  <a:srgbClr val="000000"/>
                </a:solidFill>
                <a:effectLst/>
                <a:uFillTx/>
                <a:latin typeface="Arial"/>
                <a:ea typeface="ＭＳ Ｐゴシック"/>
              </a:rPr>
              <a:t>D </a:t>
            </a:r>
            <a:r>
              <a:rPr b="0" lang="en-US" sz="2400" strike="noStrike" u="none">
                <a:solidFill>
                  <a:srgbClr val="000000"/>
                </a:solidFill>
                <a:effectLst/>
                <a:uFillTx/>
                <a:latin typeface="Arial"/>
                <a:ea typeface="ＭＳ Ｐゴシック"/>
              </a:rPr>
              <a:t>and the supply curve is </a:t>
            </a:r>
            <a:r>
              <a:rPr b="0" i="1" lang="en-US" sz="2400" strike="noStrike" u="none">
                <a:solidFill>
                  <a:srgbClr val="000000"/>
                </a:solidFill>
                <a:effectLst/>
                <a:uFillTx/>
                <a:latin typeface="Arial"/>
                <a:ea typeface="ＭＳ Ｐゴシック"/>
              </a:rPr>
              <a:t>S.</a:t>
            </a:r>
            <a:endParaRPr b="1" lang="en-CA" sz="2400" strike="noStrike" u="none">
              <a:solidFill>
                <a:srgbClr val="00468f"/>
              </a:solidFill>
              <a:effectLst/>
              <a:uFillTx/>
              <a:latin typeface="Arial"/>
            </a:endParaRPr>
          </a:p>
          <a:p>
            <a:pPr marL="817200" indent="-457200">
              <a:lnSpc>
                <a:spcPct val="100000"/>
              </a:lnSpc>
              <a:spcBef>
                <a:spcPts val="601"/>
              </a:spcBef>
              <a:spcAft>
                <a:spcPts val="601"/>
              </a:spcAft>
              <a:buClr>
                <a:srgbClr val="000000"/>
              </a:buClr>
              <a:buFont typeface="Arial"/>
              <a:buAutoNum type="arabicPeriod"/>
            </a:pPr>
            <a:r>
              <a:rPr b="0" lang="en-US" sz="2400" strike="noStrike" u="none">
                <a:solidFill>
                  <a:srgbClr val="000000"/>
                </a:solidFill>
                <a:effectLst/>
                <a:uFillTx/>
                <a:latin typeface="Arial"/>
                <a:ea typeface="ＭＳ Ｐゴシック"/>
              </a:rPr>
              <a:t>The equilibrium rental rate is $1,000 per day.</a:t>
            </a:r>
            <a:endParaRPr b="1" lang="en-CA" sz="2400" strike="noStrike" u="none">
              <a:solidFill>
                <a:srgbClr val="00468f"/>
              </a:solidFill>
              <a:effectLst/>
              <a:uFillTx/>
              <a:latin typeface="Arial"/>
            </a:endParaRPr>
          </a:p>
          <a:p>
            <a:pPr marL="817200" indent="-457200">
              <a:lnSpc>
                <a:spcPct val="100000"/>
              </a:lnSpc>
              <a:spcBef>
                <a:spcPts val="601"/>
              </a:spcBef>
              <a:spcAft>
                <a:spcPts val="601"/>
              </a:spcAft>
              <a:buClr>
                <a:srgbClr val="000000"/>
              </a:buClr>
              <a:buFont typeface="Arial"/>
              <a:buAutoNum type="arabicPeriod"/>
            </a:pPr>
            <a:r>
              <a:rPr b="0" lang="en-US" sz="2400" strike="noStrike" u="none">
                <a:solidFill>
                  <a:srgbClr val="000000"/>
                </a:solidFill>
                <a:effectLst/>
                <a:uFillTx/>
                <a:latin typeface="Arial"/>
                <a:ea typeface="ＭＳ Ｐゴシック"/>
              </a:rPr>
              <a:t>The equilibrium quantity of capital rented is 100 tower cranes.</a:t>
            </a:r>
            <a:endParaRPr b="1" lang="en-CA" sz="2400" strike="noStrike" u="none">
              <a:solidFill>
                <a:srgbClr val="00468f"/>
              </a:solidFill>
              <a:effectLst/>
              <a:uFillTx/>
              <a:latin typeface="Arial"/>
            </a:endParaRPr>
          </a:p>
        </p:txBody>
      </p:sp>
      <p:pic>
        <p:nvPicPr>
          <p:cNvPr id="293" name="Picture 1" descr=""/>
          <p:cNvPicPr/>
          <p:nvPr/>
        </p:nvPicPr>
        <p:blipFill>
          <a:blip r:embed="rId1"/>
          <a:stretch/>
        </p:blipFill>
        <p:spPr>
          <a:xfrm>
            <a:off x="4032360" y="1476360"/>
            <a:ext cx="4419360" cy="4412880"/>
          </a:xfrm>
          <a:prstGeom prst="rect">
            <a:avLst/>
          </a:prstGeom>
          <a:noFill/>
          <a:ln w="0">
            <a:noFill/>
          </a:ln>
        </p:spPr>
      </p:pic>
      <p:pic>
        <p:nvPicPr>
          <p:cNvPr id="294" name="Picture 15" descr=""/>
          <p:cNvPicPr/>
          <p:nvPr/>
        </p:nvPicPr>
        <p:blipFill>
          <a:blip r:embed="rId2"/>
          <a:stretch/>
        </p:blipFill>
        <p:spPr>
          <a:xfrm>
            <a:off x="4032360" y="1476360"/>
            <a:ext cx="4419360" cy="4412880"/>
          </a:xfrm>
          <a:prstGeom prst="rect">
            <a:avLst/>
          </a:prstGeom>
          <a:noFill/>
          <a:ln w="0">
            <a:noFill/>
          </a:ln>
        </p:spPr>
      </p:pic>
      <p:pic>
        <p:nvPicPr>
          <p:cNvPr id="295" name="Picture 16" descr=""/>
          <p:cNvPicPr/>
          <p:nvPr/>
        </p:nvPicPr>
        <p:blipFill>
          <a:blip r:embed="rId3"/>
          <a:stretch/>
        </p:blipFill>
        <p:spPr>
          <a:xfrm>
            <a:off x="4032360" y="1476360"/>
            <a:ext cx="4419360" cy="4412880"/>
          </a:xfrm>
          <a:prstGeom prst="rect">
            <a:avLst/>
          </a:prstGeom>
          <a:noFill/>
          <a:ln w="0">
            <a:noFill/>
          </a:ln>
        </p:spPr>
      </p:pic>
    </p:spTree>
  </p:cSld>
  <p:transition spd="slow">
    <p:wipe dir="r"/>
  </p:transition>
  <p:timing>
    <p:tnLst>
      <p:par>
        <p:cTn id="856" dur="indefinite" restart="never" nodeType="tmRoot">
          <p:childTnLst>
            <p:seq>
              <p:cTn id="857" dur="indefinite" nodeType="mainSeq">
                <p:childTnLst>
                  <p:par>
                    <p:cTn id="858" nodeType="clickEffect" fill="hold">
                      <p:stCondLst>
                        <p:cond delay="indefinite"/>
                      </p:stCondLst>
                      <p:childTnLst>
                        <p:par>
                          <p:cTn id="859" nodeType="withEffect" fill="hold">
                            <p:stCondLst>
                              <p:cond delay="0"/>
                            </p:stCondLst>
                            <p:childTnLst>
                              <p:par>
                                <p:cTn id="860" nodeType="clickEffect" fill="hold" presetClass="entr" presetID="22" presetSubtype="8">
                                  <p:stCondLst>
                                    <p:cond delay="0"/>
                                  </p:stCondLst>
                                  <p:childTnLst>
                                    <p:set>
                                      <p:cBhvr>
                                        <p:cTn id="861" dur="1" fill="hold">
                                          <p:stCondLst>
                                            <p:cond delay="0"/>
                                          </p:stCondLst>
                                        </p:cTn>
                                        <p:tgtEl>
                                          <p:spTgt spid="292">
                                            <p:txEl>
                                              <p:pRg st="1" end="1"/>
                                            </p:txEl>
                                          </p:spTgt>
                                        </p:tgtEl>
                                        <p:attrNameLst>
                                          <p:attrName>style.visibility</p:attrName>
                                        </p:attrNameLst>
                                      </p:cBhvr>
                                      <p:to>
                                        <p:strVal val="visible"/>
                                      </p:to>
                                    </p:set>
                                    <p:animEffect filter="wipe(left)" transition="in">
                                      <p:cBhvr additive="repl">
                                        <p:cTn id="862" dur="500"/>
                                        <p:tgtEl>
                                          <p:spTgt spid="292">
                                            <p:txEl>
                                              <p:pRg st="1" end="1"/>
                                            </p:txEl>
                                          </p:spTgt>
                                        </p:tgtEl>
                                      </p:cBhvr>
                                    </p:animEffect>
                                  </p:childTnLst>
                                </p:cTn>
                              </p:par>
                              <p:par>
                                <p:cTn id="863" nodeType="withEffect" fill="hold" presetClass="entr" presetID="10">
                                  <p:stCondLst>
                                    <p:cond delay="0"/>
                                  </p:stCondLst>
                                  <p:childTnLst>
                                    <p:set>
                                      <p:cBhvr>
                                        <p:cTn id="864" dur="1" fill="hold">
                                          <p:stCondLst>
                                            <p:cond delay="0"/>
                                          </p:stCondLst>
                                        </p:cTn>
                                        <p:tgtEl>
                                          <p:spTgt spid="294"/>
                                        </p:tgtEl>
                                        <p:attrNameLst>
                                          <p:attrName>style.visibility</p:attrName>
                                        </p:attrNameLst>
                                      </p:cBhvr>
                                      <p:to>
                                        <p:strVal val="visible"/>
                                      </p:to>
                                    </p:set>
                                    <p:animEffect filter="fade" transition="in">
                                      <p:cBhvr additive="repl">
                                        <p:cTn id="865" dur="500"/>
                                        <p:tgtEl>
                                          <p:spTgt spid="294"/>
                                        </p:tgtEl>
                                      </p:cBhvr>
                                    </p:animEffect>
                                  </p:childTnLst>
                                </p:cTn>
                              </p:par>
                            </p:childTnLst>
                          </p:cTn>
                        </p:par>
                      </p:childTnLst>
                    </p:cTn>
                  </p:par>
                  <p:par>
                    <p:cTn id="866" nodeType="clickEffect" fill="hold">
                      <p:stCondLst>
                        <p:cond delay="indefinite"/>
                      </p:stCondLst>
                      <p:childTnLst>
                        <p:par>
                          <p:cTn id="867" nodeType="withEffect" fill="hold">
                            <p:stCondLst>
                              <p:cond delay="0"/>
                            </p:stCondLst>
                            <p:childTnLst>
                              <p:par>
                                <p:cTn id="868" nodeType="clickEffect" fill="hold" presetClass="entr" presetID="22" presetSubtype="8">
                                  <p:stCondLst>
                                    <p:cond delay="0"/>
                                  </p:stCondLst>
                                  <p:childTnLst>
                                    <p:set>
                                      <p:cBhvr>
                                        <p:cTn id="869" dur="1" fill="hold">
                                          <p:stCondLst>
                                            <p:cond delay="0"/>
                                          </p:stCondLst>
                                        </p:cTn>
                                        <p:tgtEl>
                                          <p:spTgt spid="292">
                                            <p:txEl>
                                              <p:pRg st="2" end="2"/>
                                            </p:txEl>
                                          </p:spTgt>
                                        </p:tgtEl>
                                        <p:attrNameLst>
                                          <p:attrName>style.visibility</p:attrName>
                                        </p:attrNameLst>
                                      </p:cBhvr>
                                      <p:to>
                                        <p:strVal val="visible"/>
                                      </p:to>
                                    </p:set>
                                    <p:animEffect filter="wipe(left)" transition="in">
                                      <p:cBhvr additive="repl">
                                        <p:cTn id="870" dur="500"/>
                                        <p:tgtEl>
                                          <p:spTgt spid="292">
                                            <p:txEl>
                                              <p:pRg st="2" end="2"/>
                                            </p:txEl>
                                          </p:spTgt>
                                        </p:tgtEl>
                                      </p:cBhvr>
                                    </p:animEffect>
                                  </p:childTnLst>
                                </p:cTn>
                              </p:par>
                              <p:par>
                                <p:cTn id="871" nodeType="withEffect" fill="hold" presetClass="entr" presetID="10">
                                  <p:stCondLst>
                                    <p:cond delay="0"/>
                                  </p:stCondLst>
                                  <p:childTnLst>
                                    <p:set>
                                      <p:cBhvr>
                                        <p:cTn id="872" dur="1" fill="hold">
                                          <p:stCondLst>
                                            <p:cond delay="0"/>
                                          </p:stCondLst>
                                        </p:cTn>
                                        <p:tgtEl>
                                          <p:spTgt spid="295"/>
                                        </p:tgtEl>
                                        <p:attrNameLst>
                                          <p:attrName>style.visibility</p:attrName>
                                        </p:attrNameLst>
                                      </p:cBhvr>
                                      <p:to>
                                        <p:strVal val="visible"/>
                                      </p:to>
                                    </p:set>
                                    <p:animEffect filter="fade" transition="in">
                                      <p:cBhvr additive="repl">
                                        <p:cTn id="873" dur="500"/>
                                        <p:tgtEl>
                                          <p:spTgt spid="29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296" name="Picture 1" descr=""/>
          <p:cNvPicPr/>
          <p:nvPr/>
        </p:nvPicPr>
        <p:blipFill>
          <a:blip r:embed="rId1"/>
          <a:stretch/>
        </p:blipFill>
        <p:spPr>
          <a:xfrm>
            <a:off x="1547640" y="287280"/>
            <a:ext cx="5682960" cy="5675040"/>
          </a:xfrm>
          <a:prstGeom prst="rect">
            <a:avLst/>
          </a:prstGeom>
          <a:noFill/>
          <a:ln w="0">
            <a:noFill/>
          </a:ln>
        </p:spPr>
      </p:pic>
      <p:pic>
        <p:nvPicPr>
          <p:cNvPr id="297" name="Picture 5" descr=""/>
          <p:cNvPicPr/>
          <p:nvPr/>
        </p:nvPicPr>
        <p:blipFill>
          <a:blip r:embed="rId2"/>
          <a:stretch/>
        </p:blipFill>
        <p:spPr>
          <a:xfrm>
            <a:off x="1547640" y="287280"/>
            <a:ext cx="5682960" cy="5675040"/>
          </a:xfrm>
          <a:prstGeom prst="rect">
            <a:avLst/>
          </a:prstGeom>
          <a:noFill/>
          <a:ln w="0">
            <a:noFill/>
          </a:ln>
        </p:spPr>
      </p:pic>
      <p:pic>
        <p:nvPicPr>
          <p:cNvPr id="298" name="Picture 6" descr=""/>
          <p:cNvPicPr/>
          <p:nvPr/>
        </p:nvPicPr>
        <p:blipFill>
          <a:blip r:embed="rId3"/>
          <a:stretch/>
        </p:blipFill>
        <p:spPr>
          <a:xfrm>
            <a:off x="1547640" y="287280"/>
            <a:ext cx="5682960" cy="5675040"/>
          </a:xfrm>
          <a:prstGeom prst="rect">
            <a:avLst/>
          </a:prstGeom>
          <a:noFill/>
          <a:ln w="0">
            <a:noFill/>
          </a:ln>
        </p:spPr>
      </p:pic>
    </p:spTree>
  </p:cSld>
  <p:transition spd="slow">
    <p:wipe dir="r"/>
  </p:transition>
  <p:timing>
    <p:tnLst>
      <p:par>
        <p:cTn id="874" dur="indefinite" restart="never" nodeType="tmRoot">
          <p:childTnLst>
            <p:seq>
              <p:cTn id="875" dur="indefinite" nodeType="mainSeq">
                <p:childTnLst>
                  <p:par>
                    <p:cTn id="876" nodeType="clickEffect" fill="hold">
                      <p:stCondLst>
                        <p:cond delay="indefinite"/>
                      </p:stCondLst>
                      <p:childTnLst>
                        <p:par>
                          <p:cTn id="877" nodeType="withEffect" fill="hold">
                            <p:stCondLst>
                              <p:cond delay="0"/>
                            </p:stCondLst>
                            <p:childTnLst>
                              <p:par>
                                <p:cTn id="878" nodeType="clickEffect" fill="hold" presetClass="entr" presetID="10">
                                  <p:stCondLst>
                                    <p:cond delay="0"/>
                                  </p:stCondLst>
                                  <p:childTnLst>
                                    <p:set>
                                      <p:cBhvr>
                                        <p:cTn id="879" dur="1" fill="hold">
                                          <p:stCondLst>
                                            <p:cond delay="0"/>
                                          </p:stCondLst>
                                        </p:cTn>
                                        <p:tgtEl>
                                          <p:spTgt spid="297"/>
                                        </p:tgtEl>
                                        <p:attrNameLst>
                                          <p:attrName>style.visibility</p:attrName>
                                        </p:attrNameLst>
                                      </p:cBhvr>
                                      <p:to>
                                        <p:strVal val="visible"/>
                                      </p:to>
                                    </p:set>
                                    <p:animEffect filter="fade" transition="in">
                                      <p:cBhvr additive="repl">
                                        <p:cTn id="880" dur="500"/>
                                        <p:tgtEl>
                                          <p:spTgt spid="297"/>
                                        </p:tgtEl>
                                      </p:cBhvr>
                                    </p:animEffect>
                                  </p:childTnLst>
                                </p:cTn>
                              </p:par>
                            </p:childTnLst>
                          </p:cTn>
                        </p:par>
                      </p:childTnLst>
                    </p:cTn>
                  </p:par>
                  <p:par>
                    <p:cTn id="881" nodeType="clickEffect" fill="hold">
                      <p:stCondLst>
                        <p:cond delay="indefinite"/>
                      </p:stCondLst>
                      <p:childTnLst>
                        <p:par>
                          <p:cTn id="882" nodeType="withEffect" fill="hold">
                            <p:stCondLst>
                              <p:cond delay="0"/>
                            </p:stCondLst>
                            <p:childTnLst>
                              <p:par>
                                <p:cTn id="883" nodeType="clickEffect" fill="hold" presetClass="entr" presetID="10">
                                  <p:stCondLst>
                                    <p:cond delay="0"/>
                                  </p:stCondLst>
                                  <p:childTnLst>
                                    <p:set>
                                      <p:cBhvr>
                                        <p:cTn id="884" dur="1" fill="hold">
                                          <p:stCondLst>
                                            <p:cond delay="0"/>
                                          </p:stCondLst>
                                        </p:cTn>
                                        <p:tgtEl>
                                          <p:spTgt spid="298"/>
                                        </p:tgtEl>
                                        <p:attrNameLst>
                                          <p:attrName>style.visibility</p:attrName>
                                        </p:attrNameLst>
                                      </p:cBhvr>
                                      <p:to>
                                        <p:strVal val="visible"/>
                                      </p:to>
                                    </p:set>
                                    <p:animEffect filter="fade" transition="in">
                                      <p:cBhvr additive="repl">
                                        <p:cTn id="885" dur="500"/>
                                        <p:tgtEl>
                                          <p:spTgt spid="2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9"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200" strike="noStrike" u="none">
                <a:solidFill>
                  <a:schemeClr val="lt1"/>
                </a:solidFill>
                <a:effectLst/>
                <a:uFillTx/>
                <a:latin typeface="Arial"/>
                <a:ea typeface="ＭＳ Ｐゴシック"/>
              </a:rPr>
              <a:t>19.3  CAPITAL AND NATURAL RESOURCE MARKETS</a:t>
            </a:r>
            <a:endParaRPr b="0" lang="en-CA" sz="2200" strike="noStrike" u="none">
              <a:solidFill>
                <a:schemeClr val="dk1"/>
              </a:solidFill>
              <a:effectLst/>
              <a:uFillTx/>
              <a:latin typeface="Arial"/>
            </a:endParaRPr>
          </a:p>
        </p:txBody>
      </p:sp>
      <p:sp>
        <p:nvSpPr>
          <p:cNvPr id="300"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43080" indent="-343080">
              <a:lnSpc>
                <a:spcPct val="100000"/>
              </a:lnSpc>
              <a:spcBef>
                <a:spcPts val="601"/>
              </a:spcBef>
              <a:spcAft>
                <a:spcPts val="601"/>
              </a:spcAft>
              <a:buClr>
                <a:srgbClr val="00468f"/>
              </a:buClr>
              <a:buFont typeface="Webdings" charset="2"/>
              <a:buChar char=""/>
            </a:pPr>
            <a:r>
              <a:rPr b="1" lang="en-US" sz="2800" strike="noStrike" u="none">
                <a:solidFill>
                  <a:srgbClr val="00468f"/>
                </a:solidFill>
                <a:effectLst/>
                <a:uFillTx/>
                <a:latin typeface="Arial"/>
                <a:ea typeface="ＭＳ Ｐゴシック"/>
              </a:rPr>
              <a:t>Land Markets</a:t>
            </a:r>
            <a:endParaRPr b="1" lang="en-CA" sz="28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The demand for land is based on the </a:t>
            </a:r>
            <a:r>
              <a:rPr b="0" i="1" lang="en-US" sz="2400" strike="noStrike" u="none">
                <a:solidFill>
                  <a:schemeClr val="dk1"/>
                </a:solidFill>
                <a:effectLst/>
                <a:uFillTx/>
                <a:latin typeface="Arial"/>
                <a:ea typeface="ＭＳ Ｐゴシック"/>
              </a:rPr>
              <a:t>value of marginal product of land</a:t>
            </a:r>
            <a:r>
              <a:rPr b="0" lang="en-US" sz="2400" strike="noStrike" u="none">
                <a:solidFill>
                  <a:schemeClr val="dk1"/>
                </a:solidFill>
                <a:effectLst/>
                <a:uFillTx/>
                <a:latin typeface="Arial"/>
                <a:ea typeface="ＭＳ Ｐゴシック"/>
              </a:rPr>
              <a:t>.</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Firms maximize profits by renting the quantity of land at which the value of marginal product of land equals the </a:t>
            </a:r>
            <a:r>
              <a:rPr b="0" i="1" lang="en-US" sz="2400" strike="noStrike" u="none">
                <a:solidFill>
                  <a:schemeClr val="dk1"/>
                </a:solidFill>
                <a:effectLst/>
                <a:uFillTx/>
                <a:latin typeface="Arial"/>
                <a:ea typeface="ＭＳ Ｐゴシック"/>
              </a:rPr>
              <a:t>rental rate of land</a:t>
            </a:r>
            <a:r>
              <a:rPr b="0" lang="en-US" sz="2400" strike="noStrike" u="none">
                <a:solidFill>
                  <a:schemeClr val="dk1"/>
                </a:solidFill>
                <a:effectLst/>
                <a:uFillTx/>
                <a:latin typeface="Arial"/>
                <a:ea typeface="ＭＳ Ｐゴシック"/>
              </a:rPr>
              <a:t>. </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The </a:t>
            </a:r>
            <a:r>
              <a:rPr b="0" i="1" lang="en-US" sz="2400" strike="noStrike" u="none">
                <a:solidFill>
                  <a:schemeClr val="dk1"/>
                </a:solidFill>
                <a:effectLst/>
                <a:uFillTx/>
                <a:latin typeface="Arial"/>
                <a:ea typeface="ＭＳ Ｐゴシック"/>
              </a:rPr>
              <a:t>lower </a:t>
            </a:r>
            <a:r>
              <a:rPr b="0" lang="en-US" sz="2400" strike="noStrike" u="none">
                <a:solidFill>
                  <a:schemeClr val="dk1"/>
                </a:solidFill>
                <a:effectLst/>
                <a:uFillTx/>
                <a:latin typeface="Arial"/>
                <a:ea typeface="ＭＳ Ｐゴシック"/>
              </a:rPr>
              <a:t>the rental rate, other things remaining the same, the </a:t>
            </a:r>
            <a:r>
              <a:rPr b="0" i="1" lang="en-US" sz="2400" strike="noStrike" u="none">
                <a:solidFill>
                  <a:schemeClr val="dk1"/>
                </a:solidFill>
                <a:effectLst/>
                <a:uFillTx/>
                <a:latin typeface="Arial"/>
                <a:ea typeface="ＭＳ Ｐゴシック"/>
              </a:rPr>
              <a:t>greater </a:t>
            </a:r>
            <a:r>
              <a:rPr b="0" lang="en-US" sz="2400" strike="noStrike" u="none">
                <a:solidFill>
                  <a:schemeClr val="dk1"/>
                </a:solidFill>
                <a:effectLst/>
                <a:uFillTx/>
                <a:latin typeface="Arial"/>
                <a:ea typeface="ＭＳ Ｐゴシック"/>
              </a:rPr>
              <a:t>is the quantity of land </a:t>
            </a:r>
            <a:r>
              <a:rPr b="0" i="1" lang="en-US" sz="2400" strike="noStrike" u="none">
                <a:solidFill>
                  <a:schemeClr val="dk1"/>
                </a:solidFill>
                <a:effectLst/>
                <a:uFillTx/>
                <a:latin typeface="Arial"/>
                <a:ea typeface="ＭＳ Ｐゴシック"/>
              </a:rPr>
              <a:t>demanded</a:t>
            </a:r>
            <a:r>
              <a:rPr b="0" lang="en-US" sz="2400" strike="noStrike" u="none">
                <a:solidFill>
                  <a:schemeClr val="dk1"/>
                </a:solidFill>
                <a:effectLst/>
                <a:uFillTx/>
                <a:latin typeface="Arial"/>
                <a:ea typeface="ＭＳ Ｐゴシック"/>
              </a:rPr>
              <a:t>.</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But the supply of land is special: The quantity is fixed. </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The supply of each block of land is </a:t>
            </a:r>
            <a:r>
              <a:rPr b="0" i="1" lang="en-US" sz="2400" strike="noStrike" u="none">
                <a:solidFill>
                  <a:schemeClr val="dk1"/>
                </a:solidFill>
                <a:effectLst/>
                <a:uFillTx/>
                <a:latin typeface="Arial"/>
                <a:ea typeface="ＭＳ Ｐゴシック"/>
              </a:rPr>
              <a:t>perfectly inelastic.</a:t>
            </a:r>
            <a:endParaRPr b="1" lang="en-CA" sz="2400" strike="noStrike" u="none">
              <a:solidFill>
                <a:srgbClr val="00468f"/>
              </a:solidFill>
              <a:effectLst/>
              <a:uFillTx/>
              <a:latin typeface="Arial"/>
            </a:endParaRPr>
          </a:p>
        </p:txBody>
      </p:sp>
    </p:spTree>
  </p:cSld>
  <p:transition spd="slow">
    <p:wipe dir="r"/>
  </p:transition>
  <p:timing>
    <p:tnLst>
      <p:par>
        <p:cTn id="886" dur="indefinite" restart="never" nodeType="tmRoot">
          <p:childTnLst>
            <p:seq>
              <p:cTn id="887" dur="indefinite" nodeType="mainSeq">
                <p:childTnLst>
                  <p:par>
                    <p:cTn id="888" nodeType="clickEffect" fill="hold">
                      <p:stCondLst>
                        <p:cond delay="indefinite"/>
                      </p:stCondLst>
                      <p:childTnLst>
                        <p:par>
                          <p:cTn id="889" nodeType="withEffect" fill="hold">
                            <p:stCondLst>
                              <p:cond delay="0"/>
                            </p:stCondLst>
                            <p:childTnLst>
                              <p:par>
                                <p:cTn id="890" nodeType="clickEffect" fill="hold" presetClass="entr" presetID="22" presetSubtype="8">
                                  <p:stCondLst>
                                    <p:cond delay="0"/>
                                  </p:stCondLst>
                                  <p:childTnLst>
                                    <p:set>
                                      <p:cBhvr>
                                        <p:cTn id="891" dur="1" fill="hold">
                                          <p:stCondLst>
                                            <p:cond delay="0"/>
                                          </p:stCondLst>
                                        </p:cTn>
                                        <p:tgtEl>
                                          <p:spTgt spid="300">
                                            <p:txEl>
                                              <p:pRg st="1" end="1"/>
                                            </p:txEl>
                                          </p:spTgt>
                                        </p:tgtEl>
                                        <p:attrNameLst>
                                          <p:attrName>style.visibility</p:attrName>
                                        </p:attrNameLst>
                                      </p:cBhvr>
                                      <p:to>
                                        <p:strVal val="visible"/>
                                      </p:to>
                                    </p:set>
                                    <p:animEffect filter="wipe(left)" transition="in">
                                      <p:cBhvr additive="repl">
                                        <p:cTn id="892" dur="500"/>
                                        <p:tgtEl>
                                          <p:spTgt spid="300">
                                            <p:txEl>
                                              <p:pRg st="1" end="1"/>
                                            </p:txEl>
                                          </p:spTgt>
                                        </p:tgtEl>
                                      </p:cBhvr>
                                    </p:animEffect>
                                  </p:childTnLst>
                                </p:cTn>
                              </p:par>
                            </p:childTnLst>
                          </p:cTn>
                        </p:par>
                      </p:childTnLst>
                    </p:cTn>
                  </p:par>
                  <p:par>
                    <p:cTn id="893" nodeType="clickEffect" fill="hold">
                      <p:stCondLst>
                        <p:cond delay="indefinite"/>
                      </p:stCondLst>
                      <p:childTnLst>
                        <p:par>
                          <p:cTn id="894" nodeType="withEffect" fill="hold">
                            <p:stCondLst>
                              <p:cond delay="0"/>
                            </p:stCondLst>
                            <p:childTnLst>
                              <p:par>
                                <p:cTn id="895" nodeType="clickEffect" fill="hold" presetClass="entr" presetID="22" presetSubtype="8">
                                  <p:stCondLst>
                                    <p:cond delay="0"/>
                                  </p:stCondLst>
                                  <p:childTnLst>
                                    <p:set>
                                      <p:cBhvr>
                                        <p:cTn id="896" dur="1" fill="hold">
                                          <p:stCondLst>
                                            <p:cond delay="0"/>
                                          </p:stCondLst>
                                        </p:cTn>
                                        <p:tgtEl>
                                          <p:spTgt spid="300">
                                            <p:txEl>
                                              <p:pRg st="2" end="2"/>
                                            </p:txEl>
                                          </p:spTgt>
                                        </p:tgtEl>
                                        <p:attrNameLst>
                                          <p:attrName>style.visibility</p:attrName>
                                        </p:attrNameLst>
                                      </p:cBhvr>
                                      <p:to>
                                        <p:strVal val="visible"/>
                                      </p:to>
                                    </p:set>
                                    <p:animEffect filter="wipe(left)" transition="in">
                                      <p:cBhvr additive="repl">
                                        <p:cTn id="897" dur="500"/>
                                        <p:tgtEl>
                                          <p:spTgt spid="300">
                                            <p:txEl>
                                              <p:pRg st="2" end="2"/>
                                            </p:txEl>
                                          </p:spTgt>
                                        </p:tgtEl>
                                      </p:cBhvr>
                                    </p:animEffect>
                                  </p:childTnLst>
                                </p:cTn>
                              </p:par>
                            </p:childTnLst>
                          </p:cTn>
                        </p:par>
                      </p:childTnLst>
                    </p:cTn>
                  </p:par>
                  <p:par>
                    <p:cTn id="898" nodeType="clickEffect" fill="hold">
                      <p:stCondLst>
                        <p:cond delay="indefinite"/>
                      </p:stCondLst>
                      <p:childTnLst>
                        <p:par>
                          <p:cTn id="899" nodeType="withEffect" fill="hold">
                            <p:stCondLst>
                              <p:cond delay="0"/>
                            </p:stCondLst>
                            <p:childTnLst>
                              <p:par>
                                <p:cTn id="900" nodeType="clickEffect" fill="hold" presetClass="entr" presetID="22" presetSubtype="8">
                                  <p:stCondLst>
                                    <p:cond delay="0"/>
                                  </p:stCondLst>
                                  <p:childTnLst>
                                    <p:set>
                                      <p:cBhvr>
                                        <p:cTn id="901" dur="1" fill="hold">
                                          <p:stCondLst>
                                            <p:cond delay="0"/>
                                          </p:stCondLst>
                                        </p:cTn>
                                        <p:tgtEl>
                                          <p:spTgt spid="300">
                                            <p:txEl>
                                              <p:pRg st="3" end="3"/>
                                            </p:txEl>
                                          </p:spTgt>
                                        </p:tgtEl>
                                        <p:attrNameLst>
                                          <p:attrName>style.visibility</p:attrName>
                                        </p:attrNameLst>
                                      </p:cBhvr>
                                      <p:to>
                                        <p:strVal val="visible"/>
                                      </p:to>
                                    </p:set>
                                    <p:animEffect filter="wipe(left)" transition="in">
                                      <p:cBhvr additive="repl">
                                        <p:cTn id="902" dur="500"/>
                                        <p:tgtEl>
                                          <p:spTgt spid="300">
                                            <p:txEl>
                                              <p:pRg st="3" end="3"/>
                                            </p:txEl>
                                          </p:spTgt>
                                        </p:tgtEl>
                                      </p:cBhvr>
                                    </p:animEffect>
                                  </p:childTnLst>
                                </p:cTn>
                              </p:par>
                            </p:childTnLst>
                          </p:cTn>
                        </p:par>
                      </p:childTnLst>
                    </p:cTn>
                  </p:par>
                  <p:par>
                    <p:cTn id="903" nodeType="clickEffect" fill="hold">
                      <p:stCondLst>
                        <p:cond delay="indefinite"/>
                      </p:stCondLst>
                      <p:childTnLst>
                        <p:par>
                          <p:cTn id="904" nodeType="withEffect" fill="hold">
                            <p:stCondLst>
                              <p:cond delay="0"/>
                            </p:stCondLst>
                            <p:childTnLst>
                              <p:par>
                                <p:cTn id="905" nodeType="clickEffect" fill="hold" presetClass="entr" presetID="22" presetSubtype="8">
                                  <p:stCondLst>
                                    <p:cond delay="0"/>
                                  </p:stCondLst>
                                  <p:childTnLst>
                                    <p:set>
                                      <p:cBhvr>
                                        <p:cTn id="906" dur="1" fill="hold">
                                          <p:stCondLst>
                                            <p:cond delay="0"/>
                                          </p:stCondLst>
                                        </p:cTn>
                                        <p:tgtEl>
                                          <p:spTgt spid="300">
                                            <p:txEl>
                                              <p:pRg st="4" end="4"/>
                                            </p:txEl>
                                          </p:spTgt>
                                        </p:tgtEl>
                                        <p:attrNameLst>
                                          <p:attrName>style.visibility</p:attrName>
                                        </p:attrNameLst>
                                      </p:cBhvr>
                                      <p:to>
                                        <p:strVal val="visible"/>
                                      </p:to>
                                    </p:set>
                                    <p:animEffect filter="wipe(left)" transition="in">
                                      <p:cBhvr additive="repl">
                                        <p:cTn id="907" dur="500"/>
                                        <p:tgtEl>
                                          <p:spTgt spid="300">
                                            <p:txEl>
                                              <p:pRg st="4" end="4"/>
                                            </p:txEl>
                                          </p:spTgt>
                                        </p:tgtEl>
                                      </p:cBhvr>
                                    </p:animEffect>
                                  </p:childTnLst>
                                </p:cTn>
                              </p:par>
                            </p:childTnLst>
                          </p:cTn>
                        </p:par>
                      </p:childTnLst>
                    </p:cTn>
                  </p:par>
                  <p:par>
                    <p:cTn id="908" nodeType="clickEffect" fill="hold">
                      <p:stCondLst>
                        <p:cond delay="indefinite"/>
                      </p:stCondLst>
                      <p:childTnLst>
                        <p:par>
                          <p:cTn id="909" nodeType="withEffect" fill="hold">
                            <p:stCondLst>
                              <p:cond delay="0"/>
                            </p:stCondLst>
                            <p:childTnLst>
                              <p:par>
                                <p:cTn id="910" nodeType="clickEffect" fill="hold" presetClass="entr" presetID="22" presetSubtype="8">
                                  <p:stCondLst>
                                    <p:cond delay="0"/>
                                  </p:stCondLst>
                                  <p:childTnLst>
                                    <p:set>
                                      <p:cBhvr>
                                        <p:cTn id="911" dur="1" fill="hold">
                                          <p:stCondLst>
                                            <p:cond delay="0"/>
                                          </p:stCondLst>
                                        </p:cTn>
                                        <p:tgtEl>
                                          <p:spTgt spid="300">
                                            <p:txEl>
                                              <p:pRg st="5" end="5"/>
                                            </p:txEl>
                                          </p:spTgt>
                                        </p:tgtEl>
                                        <p:attrNameLst>
                                          <p:attrName>style.visibility</p:attrName>
                                        </p:attrNameLst>
                                      </p:cBhvr>
                                      <p:to>
                                        <p:strVal val="visible"/>
                                      </p:to>
                                    </p:set>
                                    <p:animEffect filter="wipe(left)" transition="in">
                                      <p:cBhvr additive="repl">
                                        <p:cTn id="912" dur="500"/>
                                        <p:tgtEl>
                                          <p:spTgt spid="300">
                                            <p:txEl>
                                              <p:pRg st="5" end="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1" name="PlaceHolder 1"/>
          <p:cNvSpPr>
            <a:spLocks noGrp="1"/>
          </p:cNvSpPr>
          <p:nvPr>
            <p:ph/>
          </p:nvPr>
        </p:nvSpPr>
        <p:spPr>
          <a:xfrm>
            <a:off x="360360" y="1440000"/>
            <a:ext cx="3601800" cy="464796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Figure 19.8 illustrates the market for a given parcel of land, a 10-acre block on Manhattan’s 5</a:t>
            </a:r>
            <a:r>
              <a:rPr b="0" lang="en-US" sz="2400" strike="noStrike" u="none" baseline="30000">
                <a:solidFill>
                  <a:srgbClr val="000000"/>
                </a:solidFill>
                <a:effectLst/>
                <a:uFillTx/>
                <a:latin typeface="Arial"/>
                <a:ea typeface="ＭＳ Ｐゴシック"/>
              </a:rPr>
              <a:t>th</a:t>
            </a:r>
            <a:r>
              <a:rPr b="0" lang="en-US" sz="2400" strike="noStrike" u="none">
                <a:solidFill>
                  <a:srgbClr val="000000"/>
                </a:solidFill>
                <a:effectLst/>
                <a:uFillTx/>
                <a:latin typeface="Arial"/>
                <a:ea typeface="ＭＳ Ｐゴシック"/>
              </a:rPr>
              <a:t> Avenue.</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The quantity supplied is 10 acres regardless of the rent.</a:t>
            </a:r>
            <a:endParaRPr b="1" lang="en-CA" sz="2400" strike="noStrike" u="none">
              <a:solidFill>
                <a:srgbClr val="00468f"/>
              </a:solidFill>
              <a:effectLst/>
              <a:uFillTx/>
              <a:latin typeface="Arial"/>
            </a:endParaRPr>
          </a:p>
        </p:txBody>
      </p:sp>
      <p:sp>
        <p:nvSpPr>
          <p:cNvPr id="302" name="PlaceHolder 2"/>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200" strike="noStrike" u="none">
                <a:solidFill>
                  <a:schemeClr val="lt1"/>
                </a:solidFill>
                <a:effectLst/>
                <a:uFillTx/>
                <a:latin typeface="Arial"/>
                <a:ea typeface="ＭＳ Ｐゴシック"/>
              </a:rPr>
              <a:t>19.3  CAPITAL AND NATURAL RESOURCE MARKETS</a:t>
            </a:r>
            <a:endParaRPr b="0" lang="en-CA" sz="2200" strike="noStrike" u="none">
              <a:solidFill>
                <a:schemeClr val="dk1"/>
              </a:solidFill>
              <a:effectLst/>
              <a:uFillTx/>
              <a:latin typeface="Arial"/>
            </a:endParaRPr>
          </a:p>
        </p:txBody>
      </p:sp>
      <p:pic>
        <p:nvPicPr>
          <p:cNvPr id="303" name="Picture 1" descr=""/>
          <p:cNvPicPr/>
          <p:nvPr/>
        </p:nvPicPr>
        <p:blipFill>
          <a:blip r:embed="rId1"/>
          <a:stretch/>
        </p:blipFill>
        <p:spPr>
          <a:xfrm>
            <a:off x="4032360" y="1476360"/>
            <a:ext cx="4419360" cy="4412880"/>
          </a:xfrm>
          <a:prstGeom prst="rect">
            <a:avLst/>
          </a:prstGeom>
          <a:noFill/>
          <a:ln w="0">
            <a:noFill/>
          </a:ln>
        </p:spPr>
      </p:pic>
    </p:spTree>
  </p:cSld>
  <p:transition spd="slow">
    <p:wipe dir="r"/>
  </p:transition>
  <p:timing>
    <p:tnLst>
      <p:par>
        <p:cTn id="913" dur="indefinite" restart="never" nodeType="tmRoot">
          <p:childTnLst>
            <p:seq>
              <p:cTn id="914" dur="indefinite" nodeType="mainSeq">
                <p:childTnLst>
                  <p:par>
                    <p:cTn id="915" nodeType="clickEffect" fill="hold">
                      <p:stCondLst>
                        <p:cond delay="indefinite"/>
                      </p:stCondLst>
                      <p:childTnLst>
                        <p:par>
                          <p:cTn id="916" nodeType="withEffect" fill="hold">
                            <p:stCondLst>
                              <p:cond delay="0"/>
                            </p:stCondLst>
                            <p:childTnLst>
                              <p:par>
                                <p:cTn id="917" nodeType="clickEffect" fill="hold" presetClass="entr" presetID="22" presetSubtype="8">
                                  <p:stCondLst>
                                    <p:cond delay="0"/>
                                  </p:stCondLst>
                                  <p:childTnLst>
                                    <p:set>
                                      <p:cBhvr>
                                        <p:cTn id="918" dur="1" fill="hold">
                                          <p:stCondLst>
                                            <p:cond delay="0"/>
                                          </p:stCondLst>
                                        </p:cTn>
                                        <p:tgtEl>
                                          <p:spTgt spid="301">
                                            <p:txEl>
                                              <p:pRg st="1" end="1"/>
                                            </p:txEl>
                                          </p:spTgt>
                                        </p:tgtEl>
                                        <p:attrNameLst>
                                          <p:attrName>style.visibility</p:attrName>
                                        </p:attrNameLst>
                                      </p:cBhvr>
                                      <p:to>
                                        <p:strVal val="visible"/>
                                      </p:to>
                                    </p:set>
                                    <p:animEffect filter="wipe(left)" transition="in">
                                      <p:cBhvr additive="repl">
                                        <p:cTn id="919" dur="500"/>
                                        <p:tgtEl>
                                          <p:spTgt spid="301">
                                            <p:txEl>
                                              <p:pRg st="1" end="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pic>
        <p:nvPicPr>
          <p:cNvPr id="304" name="Picture 1" descr=""/>
          <p:cNvPicPr/>
          <p:nvPr/>
        </p:nvPicPr>
        <p:blipFill>
          <a:blip r:embed="rId1"/>
          <a:stretch/>
        </p:blipFill>
        <p:spPr>
          <a:xfrm>
            <a:off x="1547640" y="287280"/>
            <a:ext cx="5682960" cy="5675040"/>
          </a:xfrm>
          <a:prstGeom prst="rect">
            <a:avLst/>
          </a:prstGeom>
          <a:noFill/>
          <a:ln w="0">
            <a:noFill/>
          </a:ln>
        </p:spPr>
      </p:pic>
      <p:pic>
        <p:nvPicPr>
          <p:cNvPr id="305" name="Picture 4" descr=""/>
          <p:cNvPicPr/>
          <p:nvPr/>
        </p:nvPicPr>
        <p:blipFill>
          <a:blip r:embed="rId2"/>
          <a:stretch/>
        </p:blipFill>
        <p:spPr>
          <a:xfrm>
            <a:off x="1547640" y="287280"/>
            <a:ext cx="5682960" cy="5675040"/>
          </a:xfrm>
          <a:prstGeom prst="rect">
            <a:avLst/>
          </a:prstGeom>
          <a:noFill/>
          <a:ln w="0">
            <a:noFill/>
          </a:ln>
        </p:spPr>
      </p:pic>
    </p:spTree>
  </p:cSld>
  <p:transition spd="slow">
    <p:wipe dir="r"/>
  </p:transition>
  <p:timing>
    <p:tnLst>
      <p:par>
        <p:cTn id="920" dur="indefinite" restart="never" nodeType="tmRoot">
          <p:childTnLst>
            <p:seq>
              <p:cTn id="921" dur="indefinite" nodeType="mainSeq">
                <p:childTnLst>
                  <p:par>
                    <p:cTn id="922" nodeType="clickEffect" fill="hold">
                      <p:stCondLst>
                        <p:cond delay="indefinite"/>
                      </p:stCondLst>
                      <p:childTnLst>
                        <p:par>
                          <p:cTn id="923" nodeType="withEffect" fill="hold">
                            <p:stCondLst>
                              <p:cond delay="0"/>
                            </p:stCondLst>
                            <p:childTnLst>
                              <p:par>
                                <p:cTn id="924" nodeType="clickEffect" fill="hold" presetClass="entr" presetID="10">
                                  <p:stCondLst>
                                    <p:cond delay="0"/>
                                  </p:stCondLst>
                                  <p:childTnLst>
                                    <p:set>
                                      <p:cBhvr>
                                        <p:cTn id="925" dur="1" fill="hold">
                                          <p:stCondLst>
                                            <p:cond delay="0"/>
                                          </p:stCondLst>
                                        </p:cTn>
                                        <p:tgtEl>
                                          <p:spTgt spid="305"/>
                                        </p:tgtEl>
                                        <p:attrNameLst>
                                          <p:attrName>style.visibility</p:attrName>
                                        </p:attrNameLst>
                                      </p:cBhvr>
                                      <p:to>
                                        <p:strVal val="visible"/>
                                      </p:to>
                                    </p:set>
                                    <p:animEffect filter="fade" transition="in">
                                      <p:cBhvr additive="repl">
                                        <p:cTn id="926" dur="500"/>
                                        <p:tgtEl>
                                          <p:spTgt spid="3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6"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200" strike="noStrike" u="none">
                <a:solidFill>
                  <a:schemeClr val="lt1"/>
                </a:solidFill>
                <a:effectLst/>
                <a:uFillTx/>
                <a:latin typeface="Arial"/>
                <a:ea typeface="ＭＳ Ｐゴシック"/>
              </a:rPr>
              <a:t>19.3  CAPITAL AND NATURAL RESOURCE MARKETS</a:t>
            </a:r>
            <a:endParaRPr b="0" lang="en-CA" sz="2200" strike="noStrike" u="none">
              <a:solidFill>
                <a:schemeClr val="dk1"/>
              </a:solidFill>
              <a:effectLst/>
              <a:uFillTx/>
              <a:latin typeface="Arial"/>
            </a:endParaRPr>
          </a:p>
        </p:txBody>
      </p:sp>
      <p:sp>
        <p:nvSpPr>
          <p:cNvPr id="307" name="PlaceHolder 2"/>
          <p:cNvSpPr>
            <a:spLocks noGrp="1"/>
          </p:cNvSpPr>
          <p:nvPr>
            <p:ph/>
          </p:nvPr>
        </p:nvSpPr>
        <p:spPr>
          <a:xfrm>
            <a:off x="360360" y="1440000"/>
            <a:ext cx="3373200" cy="4647960"/>
          </a:xfrm>
          <a:prstGeom prst="rect">
            <a:avLst/>
          </a:prstGeom>
          <a:noFill/>
          <a:ln w="0">
            <a:noFill/>
          </a:ln>
        </p:spPr>
        <p:txBody>
          <a:bodyPr numCol="1" spcCol="0" lIns="91440" rIns="91440" tIns="45720" bIns="45720" anchor="t">
            <a:noAutofit/>
          </a:bodyPr>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The demand curve for a 10-acre block of land is </a:t>
            </a:r>
            <a:r>
              <a:rPr b="0" i="1" lang="en-US" sz="2400" strike="noStrike" u="none">
                <a:solidFill>
                  <a:srgbClr val="000000"/>
                </a:solidFill>
                <a:effectLst/>
                <a:uFillTx/>
                <a:latin typeface="Arial"/>
                <a:ea typeface="ＭＳ Ｐゴシック"/>
              </a:rPr>
              <a:t>D.</a:t>
            </a:r>
            <a:endParaRPr b="1" lang="en-CA" sz="2400" strike="noStrike" u="none">
              <a:solidFill>
                <a:srgbClr val="00468f"/>
              </a:solidFill>
              <a:effectLst/>
              <a:uFillTx/>
              <a:latin typeface="Arial"/>
            </a:endParaRPr>
          </a:p>
          <a:p>
            <a:pPr marL="360000" indent="0">
              <a:lnSpc>
                <a:spcPct val="100000"/>
              </a:lnSpc>
              <a:spcBef>
                <a:spcPts val="601"/>
              </a:spcBef>
              <a:spcAft>
                <a:spcPts val="601"/>
              </a:spcAft>
              <a:buNone/>
              <a:tabLst>
                <a:tab algn="l" pos="0"/>
              </a:tabLst>
            </a:pPr>
            <a:r>
              <a:rPr b="0" lang="en-US" sz="2400" strike="noStrike" u="none">
                <a:solidFill>
                  <a:srgbClr val="000000"/>
                </a:solidFill>
                <a:effectLst/>
                <a:uFillTx/>
                <a:latin typeface="Arial"/>
                <a:ea typeface="ＭＳ Ｐゴシック"/>
              </a:rPr>
              <a:t>Equilibrium rental rate is $1,000 an acre per day.</a:t>
            </a:r>
            <a:endParaRPr b="1" lang="en-CA" sz="2400" strike="noStrike" u="none">
              <a:solidFill>
                <a:srgbClr val="00468f"/>
              </a:solidFill>
              <a:effectLst/>
              <a:uFillTx/>
              <a:latin typeface="Arial"/>
            </a:endParaRPr>
          </a:p>
          <a:p>
            <a:pPr indent="0">
              <a:lnSpc>
                <a:spcPct val="100000"/>
              </a:lnSpc>
              <a:spcBef>
                <a:spcPts val="561"/>
              </a:spcBef>
              <a:buNone/>
              <a:tabLst>
                <a:tab algn="l" pos="0"/>
              </a:tabLst>
            </a:pPr>
            <a:endParaRPr b="1" lang="en-CA" sz="2800" strike="noStrike" u="none">
              <a:solidFill>
                <a:srgbClr val="00468f"/>
              </a:solidFill>
              <a:effectLst/>
              <a:uFillTx/>
              <a:latin typeface="Arial"/>
            </a:endParaRPr>
          </a:p>
        </p:txBody>
      </p:sp>
      <p:pic>
        <p:nvPicPr>
          <p:cNvPr id="308" name="Picture 1" descr=""/>
          <p:cNvPicPr/>
          <p:nvPr/>
        </p:nvPicPr>
        <p:blipFill>
          <a:blip r:embed="rId1"/>
          <a:stretch/>
        </p:blipFill>
        <p:spPr>
          <a:xfrm>
            <a:off x="4032360" y="1476360"/>
            <a:ext cx="4419360" cy="4412880"/>
          </a:xfrm>
          <a:prstGeom prst="rect">
            <a:avLst/>
          </a:prstGeom>
          <a:noFill/>
          <a:ln w="0">
            <a:noFill/>
          </a:ln>
        </p:spPr>
      </p:pic>
      <p:pic>
        <p:nvPicPr>
          <p:cNvPr id="309" name="Picture 12" descr=""/>
          <p:cNvPicPr/>
          <p:nvPr/>
        </p:nvPicPr>
        <p:blipFill>
          <a:blip r:embed="rId2"/>
          <a:stretch/>
        </p:blipFill>
        <p:spPr>
          <a:xfrm>
            <a:off x="4032360" y="1476360"/>
            <a:ext cx="4419360" cy="4412880"/>
          </a:xfrm>
          <a:prstGeom prst="rect">
            <a:avLst/>
          </a:prstGeom>
          <a:noFill/>
          <a:ln w="0">
            <a:noFill/>
          </a:ln>
        </p:spPr>
      </p:pic>
    </p:spTree>
  </p:cSld>
  <p:transition spd="slow">
    <p:wipe dir="r"/>
  </p:transition>
  <p:timing>
    <p:tnLst>
      <p:par>
        <p:cTn id="927" dur="indefinite" restart="never" nodeType="tmRoot">
          <p:childTnLst>
            <p:seq>
              <p:cTn id="928" dur="indefinite" nodeType="mainSeq">
                <p:childTnLst>
                  <p:par>
                    <p:cTn id="929" nodeType="clickEffect" fill="hold">
                      <p:stCondLst>
                        <p:cond delay="indefinite"/>
                      </p:stCondLst>
                      <p:childTnLst>
                        <p:par>
                          <p:cTn id="930" nodeType="withEffect" fill="hold">
                            <p:stCondLst>
                              <p:cond delay="0"/>
                            </p:stCondLst>
                            <p:childTnLst>
                              <p:par>
                                <p:cTn id="931" nodeType="clickEffect" fill="hold" presetClass="entr" presetID="22" presetSubtype="8">
                                  <p:stCondLst>
                                    <p:cond delay="0"/>
                                  </p:stCondLst>
                                  <p:childTnLst>
                                    <p:set>
                                      <p:cBhvr>
                                        <p:cTn id="932" dur="1" fill="hold">
                                          <p:stCondLst>
                                            <p:cond delay="0"/>
                                          </p:stCondLst>
                                        </p:cTn>
                                        <p:tgtEl>
                                          <p:spTgt spid="307">
                                            <p:txEl>
                                              <p:pRg st="1" end="1"/>
                                            </p:txEl>
                                          </p:spTgt>
                                        </p:tgtEl>
                                        <p:attrNameLst>
                                          <p:attrName>style.visibility</p:attrName>
                                        </p:attrNameLst>
                                      </p:cBhvr>
                                      <p:to>
                                        <p:strVal val="visible"/>
                                      </p:to>
                                    </p:set>
                                    <p:animEffect filter="wipe(left)" transition="in">
                                      <p:cBhvr additive="repl">
                                        <p:cTn id="933" dur="500"/>
                                        <p:tgtEl>
                                          <p:spTgt spid="307">
                                            <p:txEl>
                                              <p:pRg st="1" end="1"/>
                                            </p:txEl>
                                          </p:spTgt>
                                        </p:tgtEl>
                                      </p:cBhvr>
                                    </p:animEffect>
                                  </p:childTnLst>
                                </p:cTn>
                              </p:par>
                              <p:par>
                                <p:cTn id="934" nodeType="withEffect" fill="hold" presetClass="entr" presetID="10">
                                  <p:stCondLst>
                                    <p:cond delay="0"/>
                                  </p:stCondLst>
                                  <p:childTnLst>
                                    <p:set>
                                      <p:cBhvr>
                                        <p:cTn id="935" dur="1" fill="hold">
                                          <p:stCondLst>
                                            <p:cond delay="0"/>
                                          </p:stCondLst>
                                        </p:cTn>
                                        <p:tgtEl>
                                          <p:spTgt spid="309"/>
                                        </p:tgtEl>
                                        <p:attrNameLst>
                                          <p:attrName>style.visibility</p:attrName>
                                        </p:attrNameLst>
                                      </p:cBhvr>
                                      <p:to>
                                        <p:strVal val="visible"/>
                                      </p:to>
                                    </p:set>
                                    <p:animEffect filter="fade" transition="in">
                                      <p:cBhvr additive="repl">
                                        <p:cTn id="936" dur="500"/>
                                        <p:tgtEl>
                                          <p:spTgt spid="3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0"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200" strike="noStrike" u="none">
                <a:solidFill>
                  <a:schemeClr val="lt1"/>
                </a:solidFill>
                <a:effectLst/>
                <a:uFillTx/>
                <a:latin typeface="Arial"/>
                <a:ea typeface="ＭＳ Ｐゴシック"/>
              </a:rPr>
              <a:t>19.3  CAPITAL AND NATURAL RESOURCE MARKETS</a:t>
            </a:r>
            <a:endParaRPr b="0" lang="en-CA" sz="2200" strike="noStrike" u="none">
              <a:solidFill>
                <a:schemeClr val="dk1"/>
              </a:solidFill>
              <a:effectLst/>
              <a:uFillTx/>
              <a:latin typeface="Arial"/>
            </a:endParaRPr>
          </a:p>
        </p:txBody>
      </p:sp>
      <p:sp>
        <p:nvSpPr>
          <p:cNvPr id="311"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43080" indent="-343080">
              <a:lnSpc>
                <a:spcPct val="100000"/>
              </a:lnSpc>
              <a:spcBef>
                <a:spcPts val="601"/>
              </a:spcBef>
              <a:spcAft>
                <a:spcPts val="601"/>
              </a:spcAft>
              <a:buClr>
                <a:srgbClr val="00468f"/>
              </a:buClr>
              <a:buFont typeface="Webdings" charset="2"/>
              <a:buChar char=""/>
            </a:pPr>
            <a:r>
              <a:rPr b="1" lang="en-CA" sz="2800" strike="noStrike" u="none">
                <a:solidFill>
                  <a:srgbClr val="00468f"/>
                </a:solidFill>
                <a:effectLst/>
                <a:uFillTx/>
                <a:latin typeface="Arial"/>
                <a:ea typeface="ＭＳ Ｐゴシック"/>
              </a:rPr>
              <a:t>Nonrenewable </a:t>
            </a:r>
            <a:r>
              <a:rPr b="1" lang="en-US" sz="2800" strike="noStrike" u="none">
                <a:solidFill>
                  <a:srgbClr val="00468f"/>
                </a:solidFill>
                <a:effectLst/>
                <a:uFillTx/>
                <a:latin typeface="Arial"/>
                <a:ea typeface="ＭＳ Ｐゴシック"/>
              </a:rPr>
              <a:t>Natural Resource Markets</a:t>
            </a:r>
            <a:endParaRPr b="1" lang="en-CA" sz="28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The supply side of a nonrenewable natural resource market is special.</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Over time, the quantity of a nonrenewable resource decreases as it is used up. The </a:t>
            </a:r>
            <a:r>
              <a:rPr b="0" i="1" lang="en-US" sz="2400" strike="noStrike" u="none">
                <a:solidFill>
                  <a:schemeClr val="dk1"/>
                </a:solidFill>
                <a:effectLst/>
                <a:uFillTx/>
                <a:latin typeface="Arial"/>
                <a:ea typeface="ＭＳ Ｐゴシック"/>
              </a:rPr>
              <a:t>stock</a:t>
            </a:r>
            <a:r>
              <a:rPr b="0" lang="en-US" sz="2400" strike="noStrike" u="none">
                <a:solidFill>
                  <a:schemeClr val="dk1"/>
                </a:solidFill>
                <a:effectLst/>
                <a:uFillTx/>
                <a:latin typeface="Arial"/>
                <a:ea typeface="ＭＳ Ｐゴシック"/>
              </a:rPr>
              <a:t> decreases.</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But the </a:t>
            </a:r>
            <a:r>
              <a:rPr b="0" i="1" lang="en-US" sz="2400" strike="noStrike" u="none">
                <a:solidFill>
                  <a:schemeClr val="dk1"/>
                </a:solidFill>
                <a:effectLst/>
                <a:uFillTx/>
                <a:latin typeface="Arial"/>
                <a:ea typeface="ＭＳ Ｐゴシック"/>
              </a:rPr>
              <a:t>proven reserves</a:t>
            </a:r>
            <a:r>
              <a:rPr b="0" lang="en-US" sz="2400" strike="noStrike" u="none">
                <a:solidFill>
                  <a:schemeClr val="dk1"/>
                </a:solidFill>
                <a:effectLst/>
                <a:uFillTx/>
                <a:latin typeface="Arial"/>
                <a:ea typeface="ＭＳ Ｐゴシック"/>
              </a:rPr>
              <a:t> of a natural resource increase because advances in technology enable ever less accessible sources of the resource to be discovered.</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Using a natural resource decreases its supply and increases its price; new discoveries increase supply and decrease its price.</a:t>
            </a:r>
            <a:endParaRPr b="1" lang="en-CA" sz="2400" strike="noStrike" u="none">
              <a:solidFill>
                <a:srgbClr val="00468f"/>
              </a:solidFill>
              <a:effectLst/>
              <a:uFillTx/>
              <a:latin typeface="Arial"/>
            </a:endParaRPr>
          </a:p>
        </p:txBody>
      </p:sp>
    </p:spTree>
  </p:cSld>
  <p:transition spd="slow">
    <p:wipe dir="r"/>
  </p:transition>
  <p:timing>
    <p:tnLst>
      <p:par>
        <p:cTn id="937" dur="indefinite" restart="never" nodeType="tmRoot">
          <p:childTnLst>
            <p:seq>
              <p:cTn id="938" dur="indefinite" nodeType="mainSeq">
                <p:childTnLst>
                  <p:par>
                    <p:cTn id="939" nodeType="clickEffect" fill="hold">
                      <p:stCondLst>
                        <p:cond delay="indefinite"/>
                      </p:stCondLst>
                      <p:childTnLst>
                        <p:par>
                          <p:cTn id="940" nodeType="withEffect" fill="hold">
                            <p:stCondLst>
                              <p:cond delay="0"/>
                            </p:stCondLst>
                            <p:childTnLst>
                              <p:par>
                                <p:cTn id="941" nodeType="clickEffect" fill="hold" presetClass="entr" presetID="22" presetSubtype="8">
                                  <p:stCondLst>
                                    <p:cond delay="0"/>
                                  </p:stCondLst>
                                  <p:childTnLst>
                                    <p:set>
                                      <p:cBhvr>
                                        <p:cTn id="942" dur="1" fill="hold">
                                          <p:stCondLst>
                                            <p:cond delay="0"/>
                                          </p:stCondLst>
                                        </p:cTn>
                                        <p:tgtEl>
                                          <p:spTgt spid="311">
                                            <p:txEl>
                                              <p:pRg st="1" end="1"/>
                                            </p:txEl>
                                          </p:spTgt>
                                        </p:tgtEl>
                                        <p:attrNameLst>
                                          <p:attrName>style.visibility</p:attrName>
                                        </p:attrNameLst>
                                      </p:cBhvr>
                                      <p:to>
                                        <p:strVal val="visible"/>
                                      </p:to>
                                    </p:set>
                                    <p:animEffect filter="wipe(left)" transition="in">
                                      <p:cBhvr additive="repl">
                                        <p:cTn id="943" dur="500"/>
                                        <p:tgtEl>
                                          <p:spTgt spid="311">
                                            <p:txEl>
                                              <p:pRg st="1" end="1"/>
                                            </p:txEl>
                                          </p:spTgt>
                                        </p:tgtEl>
                                      </p:cBhvr>
                                    </p:animEffect>
                                  </p:childTnLst>
                                </p:cTn>
                              </p:par>
                            </p:childTnLst>
                          </p:cTn>
                        </p:par>
                      </p:childTnLst>
                    </p:cTn>
                  </p:par>
                  <p:par>
                    <p:cTn id="944" nodeType="clickEffect" fill="hold">
                      <p:stCondLst>
                        <p:cond delay="indefinite"/>
                      </p:stCondLst>
                      <p:childTnLst>
                        <p:par>
                          <p:cTn id="945" nodeType="withEffect" fill="hold">
                            <p:stCondLst>
                              <p:cond delay="0"/>
                            </p:stCondLst>
                            <p:childTnLst>
                              <p:par>
                                <p:cTn id="946" nodeType="clickEffect" fill="hold" presetClass="entr" presetID="22" presetSubtype="8">
                                  <p:stCondLst>
                                    <p:cond delay="0"/>
                                  </p:stCondLst>
                                  <p:childTnLst>
                                    <p:set>
                                      <p:cBhvr>
                                        <p:cTn id="947" dur="1" fill="hold">
                                          <p:stCondLst>
                                            <p:cond delay="0"/>
                                          </p:stCondLst>
                                        </p:cTn>
                                        <p:tgtEl>
                                          <p:spTgt spid="311">
                                            <p:txEl>
                                              <p:pRg st="2" end="2"/>
                                            </p:txEl>
                                          </p:spTgt>
                                        </p:tgtEl>
                                        <p:attrNameLst>
                                          <p:attrName>style.visibility</p:attrName>
                                        </p:attrNameLst>
                                      </p:cBhvr>
                                      <p:to>
                                        <p:strVal val="visible"/>
                                      </p:to>
                                    </p:set>
                                    <p:animEffect filter="wipe(left)" transition="in">
                                      <p:cBhvr additive="repl">
                                        <p:cTn id="948" dur="500"/>
                                        <p:tgtEl>
                                          <p:spTgt spid="311">
                                            <p:txEl>
                                              <p:pRg st="2" end="2"/>
                                            </p:txEl>
                                          </p:spTgt>
                                        </p:tgtEl>
                                      </p:cBhvr>
                                    </p:animEffect>
                                  </p:childTnLst>
                                </p:cTn>
                              </p:par>
                            </p:childTnLst>
                          </p:cTn>
                        </p:par>
                      </p:childTnLst>
                    </p:cTn>
                  </p:par>
                  <p:par>
                    <p:cTn id="949" nodeType="clickEffect" fill="hold">
                      <p:stCondLst>
                        <p:cond delay="indefinite"/>
                      </p:stCondLst>
                      <p:childTnLst>
                        <p:par>
                          <p:cTn id="950" nodeType="withEffect" fill="hold">
                            <p:stCondLst>
                              <p:cond delay="0"/>
                            </p:stCondLst>
                            <p:childTnLst>
                              <p:par>
                                <p:cTn id="951" nodeType="clickEffect" fill="hold" presetClass="entr" presetID="22" presetSubtype="8">
                                  <p:stCondLst>
                                    <p:cond delay="0"/>
                                  </p:stCondLst>
                                  <p:childTnLst>
                                    <p:set>
                                      <p:cBhvr>
                                        <p:cTn id="952" dur="1" fill="hold">
                                          <p:stCondLst>
                                            <p:cond delay="0"/>
                                          </p:stCondLst>
                                        </p:cTn>
                                        <p:tgtEl>
                                          <p:spTgt spid="311">
                                            <p:txEl>
                                              <p:pRg st="3" end="3"/>
                                            </p:txEl>
                                          </p:spTgt>
                                        </p:tgtEl>
                                        <p:attrNameLst>
                                          <p:attrName>style.visibility</p:attrName>
                                        </p:attrNameLst>
                                      </p:cBhvr>
                                      <p:to>
                                        <p:strVal val="visible"/>
                                      </p:to>
                                    </p:set>
                                    <p:animEffect filter="wipe(left)" transition="in">
                                      <p:cBhvr additive="repl">
                                        <p:cTn id="953" dur="500"/>
                                        <p:tgtEl>
                                          <p:spTgt spid="311">
                                            <p:txEl>
                                              <p:pRg st="3" end="3"/>
                                            </p:txEl>
                                          </p:spTgt>
                                        </p:tgtEl>
                                      </p:cBhvr>
                                    </p:animEffect>
                                  </p:childTnLst>
                                </p:cTn>
                              </p:par>
                            </p:childTnLst>
                          </p:cTn>
                        </p:par>
                      </p:childTnLst>
                    </p:cTn>
                  </p:par>
                  <p:par>
                    <p:cTn id="954" nodeType="clickEffect" fill="hold">
                      <p:stCondLst>
                        <p:cond delay="indefinite"/>
                      </p:stCondLst>
                      <p:childTnLst>
                        <p:par>
                          <p:cTn id="955" nodeType="withEffect" fill="hold">
                            <p:stCondLst>
                              <p:cond delay="0"/>
                            </p:stCondLst>
                            <p:childTnLst>
                              <p:par>
                                <p:cTn id="956" nodeType="clickEffect" fill="hold" presetClass="entr" presetID="22" presetSubtype="8">
                                  <p:stCondLst>
                                    <p:cond delay="0"/>
                                  </p:stCondLst>
                                  <p:childTnLst>
                                    <p:set>
                                      <p:cBhvr>
                                        <p:cTn id="957" dur="1" fill="hold">
                                          <p:stCondLst>
                                            <p:cond delay="0"/>
                                          </p:stCondLst>
                                        </p:cTn>
                                        <p:tgtEl>
                                          <p:spTgt spid="311">
                                            <p:txEl>
                                              <p:pRg st="4" end="4"/>
                                            </p:txEl>
                                          </p:spTgt>
                                        </p:tgtEl>
                                        <p:attrNameLst>
                                          <p:attrName>style.visibility</p:attrName>
                                        </p:attrNameLst>
                                      </p:cBhvr>
                                      <p:to>
                                        <p:strVal val="visible"/>
                                      </p:to>
                                    </p:set>
                                    <p:animEffect filter="wipe(left)" transition="in">
                                      <p:cBhvr additive="repl">
                                        <p:cTn id="958" dur="500"/>
                                        <p:tgtEl>
                                          <p:spTgt spid="311">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2"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200" strike="noStrike" u="none">
                <a:solidFill>
                  <a:schemeClr val="lt1"/>
                </a:solidFill>
                <a:effectLst/>
                <a:uFillTx/>
                <a:latin typeface="Arial"/>
                <a:ea typeface="ＭＳ Ｐゴシック"/>
              </a:rPr>
              <a:t>19.3  CAPITAL AND NATURAL RESOURCE MARKETS</a:t>
            </a:r>
            <a:endParaRPr b="0" lang="en-CA" sz="2200" strike="noStrike" u="none">
              <a:solidFill>
                <a:schemeClr val="dk1"/>
              </a:solidFill>
              <a:effectLst/>
              <a:uFillTx/>
              <a:latin typeface="Arial"/>
            </a:endParaRPr>
          </a:p>
        </p:txBody>
      </p:sp>
      <p:sp>
        <p:nvSpPr>
          <p:cNvPr id="313" name="PlaceHolder 2"/>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58920" indent="0">
              <a:lnSpc>
                <a:spcPct val="100000"/>
              </a:lnSpc>
              <a:spcBef>
                <a:spcPts val="601"/>
              </a:spcBef>
              <a:spcAft>
                <a:spcPts val="601"/>
              </a:spcAft>
              <a:buNone/>
            </a:pPr>
            <a:r>
              <a:rPr b="1" lang="en-US" sz="2600" strike="noStrike" u="none">
                <a:solidFill>
                  <a:srgbClr val="00468f"/>
                </a:solidFill>
                <a:effectLst/>
                <a:uFillTx/>
                <a:latin typeface="Arial"/>
                <a:ea typeface="ＭＳ Ｐゴシック"/>
              </a:rPr>
              <a:t>The Supply of a Nonrenewable Natural Resource</a:t>
            </a:r>
            <a:endParaRPr b="1" lang="en-CA" sz="26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The owner of a nonrenewable natural resource is willing to supply any quantity for the right price. </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But what </a:t>
            </a:r>
            <a:r>
              <a:rPr b="0" i="1" lang="en-US" sz="2400" strike="noStrike" u="none">
                <a:solidFill>
                  <a:schemeClr val="dk1"/>
                </a:solidFill>
                <a:effectLst/>
                <a:uFillTx/>
                <a:latin typeface="Arial"/>
                <a:ea typeface="ＭＳ Ｐゴシック"/>
              </a:rPr>
              <a:t>is </a:t>
            </a:r>
            <a:r>
              <a:rPr b="0" lang="en-US" sz="2400" strike="noStrike" u="none">
                <a:solidFill>
                  <a:schemeClr val="dk1"/>
                </a:solidFill>
                <a:effectLst/>
                <a:uFillTx/>
                <a:latin typeface="Arial"/>
                <a:ea typeface="ＭＳ Ｐゴシック"/>
              </a:rPr>
              <a:t>the right price? </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It is the price that gives the same expected profit from supplying the resource now as holding the resource and supplying it next year. </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This price is lower than the price expected next year by an amount determined by the interest rate.</a:t>
            </a:r>
            <a:endParaRPr b="1" lang="en-CA" sz="2400" strike="noStrike" u="none">
              <a:solidFill>
                <a:srgbClr val="00468f"/>
              </a:solidFill>
              <a:effectLst/>
              <a:uFillTx/>
              <a:latin typeface="Arial"/>
            </a:endParaRPr>
          </a:p>
        </p:txBody>
      </p:sp>
    </p:spTree>
  </p:cSld>
  <p:transition spd="slow">
    <p:wipe dir="r"/>
  </p:transition>
  <p:timing>
    <p:tnLst>
      <p:par>
        <p:cTn id="959" dur="indefinite" restart="never" nodeType="tmRoot">
          <p:childTnLst>
            <p:seq>
              <p:cTn id="960" dur="indefinite" nodeType="mainSeq">
                <p:childTnLst>
                  <p:par>
                    <p:cTn id="961" nodeType="clickEffect" fill="hold">
                      <p:stCondLst>
                        <p:cond delay="indefinite"/>
                      </p:stCondLst>
                      <p:childTnLst>
                        <p:par>
                          <p:cTn id="962" nodeType="withEffect" fill="hold">
                            <p:stCondLst>
                              <p:cond delay="0"/>
                            </p:stCondLst>
                            <p:childTnLst>
                              <p:par>
                                <p:cTn id="963" nodeType="clickEffect" fill="hold" presetClass="entr" presetID="22" presetSubtype="8">
                                  <p:stCondLst>
                                    <p:cond delay="0"/>
                                  </p:stCondLst>
                                  <p:childTnLst>
                                    <p:set>
                                      <p:cBhvr>
                                        <p:cTn id="964" dur="1" fill="hold">
                                          <p:stCondLst>
                                            <p:cond delay="0"/>
                                          </p:stCondLst>
                                        </p:cTn>
                                        <p:tgtEl>
                                          <p:spTgt spid="313">
                                            <p:txEl>
                                              <p:pRg st="1" end="1"/>
                                            </p:txEl>
                                          </p:spTgt>
                                        </p:tgtEl>
                                        <p:attrNameLst>
                                          <p:attrName>style.visibility</p:attrName>
                                        </p:attrNameLst>
                                      </p:cBhvr>
                                      <p:to>
                                        <p:strVal val="visible"/>
                                      </p:to>
                                    </p:set>
                                    <p:animEffect filter="wipe(left)" transition="in">
                                      <p:cBhvr additive="repl">
                                        <p:cTn id="965" dur="500"/>
                                        <p:tgtEl>
                                          <p:spTgt spid="313">
                                            <p:txEl>
                                              <p:pRg st="1" end="1"/>
                                            </p:txEl>
                                          </p:spTgt>
                                        </p:tgtEl>
                                      </p:cBhvr>
                                    </p:animEffect>
                                  </p:childTnLst>
                                </p:cTn>
                              </p:par>
                            </p:childTnLst>
                          </p:cTn>
                        </p:par>
                      </p:childTnLst>
                    </p:cTn>
                  </p:par>
                  <p:par>
                    <p:cTn id="966" nodeType="clickEffect" fill="hold">
                      <p:stCondLst>
                        <p:cond delay="indefinite"/>
                      </p:stCondLst>
                      <p:childTnLst>
                        <p:par>
                          <p:cTn id="967" nodeType="withEffect" fill="hold">
                            <p:stCondLst>
                              <p:cond delay="0"/>
                            </p:stCondLst>
                            <p:childTnLst>
                              <p:par>
                                <p:cTn id="968" nodeType="clickEffect" fill="hold" presetClass="entr" presetID="22" presetSubtype="8">
                                  <p:stCondLst>
                                    <p:cond delay="0"/>
                                  </p:stCondLst>
                                  <p:childTnLst>
                                    <p:set>
                                      <p:cBhvr>
                                        <p:cTn id="969" dur="1" fill="hold">
                                          <p:stCondLst>
                                            <p:cond delay="0"/>
                                          </p:stCondLst>
                                        </p:cTn>
                                        <p:tgtEl>
                                          <p:spTgt spid="313">
                                            <p:txEl>
                                              <p:pRg st="2" end="2"/>
                                            </p:txEl>
                                          </p:spTgt>
                                        </p:tgtEl>
                                        <p:attrNameLst>
                                          <p:attrName>style.visibility</p:attrName>
                                        </p:attrNameLst>
                                      </p:cBhvr>
                                      <p:to>
                                        <p:strVal val="visible"/>
                                      </p:to>
                                    </p:set>
                                    <p:animEffect filter="wipe(left)" transition="in">
                                      <p:cBhvr additive="repl">
                                        <p:cTn id="970" dur="500"/>
                                        <p:tgtEl>
                                          <p:spTgt spid="313">
                                            <p:txEl>
                                              <p:pRg st="2" end="2"/>
                                            </p:txEl>
                                          </p:spTgt>
                                        </p:tgtEl>
                                      </p:cBhvr>
                                    </p:animEffect>
                                  </p:childTnLst>
                                </p:cTn>
                              </p:par>
                            </p:childTnLst>
                          </p:cTn>
                        </p:par>
                      </p:childTnLst>
                    </p:cTn>
                  </p:par>
                  <p:par>
                    <p:cTn id="971" nodeType="clickEffect" fill="hold">
                      <p:stCondLst>
                        <p:cond delay="indefinite"/>
                      </p:stCondLst>
                      <p:childTnLst>
                        <p:par>
                          <p:cTn id="972" nodeType="withEffect" fill="hold">
                            <p:stCondLst>
                              <p:cond delay="0"/>
                            </p:stCondLst>
                            <p:childTnLst>
                              <p:par>
                                <p:cTn id="973" nodeType="clickEffect" fill="hold" presetClass="entr" presetID="22" presetSubtype="8">
                                  <p:stCondLst>
                                    <p:cond delay="0"/>
                                  </p:stCondLst>
                                  <p:childTnLst>
                                    <p:set>
                                      <p:cBhvr>
                                        <p:cTn id="974" dur="1" fill="hold">
                                          <p:stCondLst>
                                            <p:cond delay="0"/>
                                          </p:stCondLst>
                                        </p:cTn>
                                        <p:tgtEl>
                                          <p:spTgt spid="313">
                                            <p:txEl>
                                              <p:pRg st="3" end="3"/>
                                            </p:txEl>
                                          </p:spTgt>
                                        </p:tgtEl>
                                        <p:attrNameLst>
                                          <p:attrName>style.visibility</p:attrName>
                                        </p:attrNameLst>
                                      </p:cBhvr>
                                      <p:to>
                                        <p:strVal val="visible"/>
                                      </p:to>
                                    </p:set>
                                    <p:animEffect filter="wipe(left)" transition="in">
                                      <p:cBhvr additive="repl">
                                        <p:cTn id="975" dur="500"/>
                                        <p:tgtEl>
                                          <p:spTgt spid="313">
                                            <p:txEl>
                                              <p:pRg st="3" end="3"/>
                                            </p:txEl>
                                          </p:spTgt>
                                        </p:tgtEl>
                                      </p:cBhvr>
                                    </p:animEffect>
                                  </p:childTnLst>
                                </p:cTn>
                              </p:par>
                            </p:childTnLst>
                          </p:cTn>
                        </p:par>
                      </p:childTnLst>
                    </p:cTn>
                  </p:par>
                  <p:par>
                    <p:cTn id="976" nodeType="clickEffect" fill="hold">
                      <p:stCondLst>
                        <p:cond delay="indefinite"/>
                      </p:stCondLst>
                      <p:childTnLst>
                        <p:par>
                          <p:cTn id="977" nodeType="withEffect" fill="hold">
                            <p:stCondLst>
                              <p:cond delay="0"/>
                            </p:stCondLst>
                            <p:childTnLst>
                              <p:par>
                                <p:cTn id="978" nodeType="clickEffect" fill="hold" presetClass="entr" presetID="22" presetSubtype="8">
                                  <p:stCondLst>
                                    <p:cond delay="0"/>
                                  </p:stCondLst>
                                  <p:childTnLst>
                                    <p:set>
                                      <p:cBhvr>
                                        <p:cTn id="979" dur="1" fill="hold">
                                          <p:stCondLst>
                                            <p:cond delay="0"/>
                                          </p:stCondLst>
                                        </p:cTn>
                                        <p:tgtEl>
                                          <p:spTgt spid="313">
                                            <p:txEl>
                                              <p:pRg st="4" end="4"/>
                                            </p:txEl>
                                          </p:spTgt>
                                        </p:tgtEl>
                                        <p:attrNameLst>
                                          <p:attrName>style.visibility</p:attrName>
                                        </p:attrNameLst>
                                      </p:cBhvr>
                                      <p:to>
                                        <p:strVal val="visible"/>
                                      </p:to>
                                    </p:set>
                                    <p:animEffect filter="wipe(left)" transition="in">
                                      <p:cBhvr additive="repl">
                                        <p:cTn id="980" dur="500"/>
                                        <p:tgtEl>
                                          <p:spTgt spid="313">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4" name="PlaceHolder 1"/>
          <p:cNvSpPr>
            <a:spLocks noGrp="1"/>
          </p:cNvSpPr>
          <p:nvPr>
            <p:ph/>
          </p:nvPr>
        </p:nvSpPr>
        <p:spPr>
          <a:xfrm>
            <a:off x="360360" y="1440000"/>
            <a:ext cx="8229240" cy="4655880"/>
          </a:xfrm>
          <a:prstGeom prst="rect">
            <a:avLst/>
          </a:prstGeom>
          <a:noFill/>
          <a:ln w="0">
            <a:noFill/>
          </a:ln>
        </p:spPr>
        <p:txBody>
          <a:bodyPr numCol="1" spcCol="0" lIns="91440" rIns="91440" tIns="45720" bIns="45720" anchor="t">
            <a:noAutofit/>
          </a:bodyPr>
          <a:p>
            <a:pPr marL="358920" indent="0">
              <a:lnSpc>
                <a:spcPct val="100000"/>
              </a:lnSpc>
              <a:spcBef>
                <a:spcPts val="601"/>
              </a:spcBef>
              <a:spcAft>
                <a:spcPts val="601"/>
              </a:spcAft>
              <a:buNone/>
            </a:pPr>
            <a:r>
              <a:rPr b="1" lang="en-US" sz="2600" strike="noStrike" u="none">
                <a:solidFill>
                  <a:srgbClr val="00468f"/>
                </a:solidFill>
                <a:effectLst/>
                <a:uFillTx/>
                <a:latin typeface="Arial"/>
                <a:ea typeface="ＭＳ Ｐゴシック"/>
              </a:rPr>
              <a:t>Equilibrium in a Nonrenewable Natural Resource Market</a:t>
            </a:r>
            <a:endParaRPr b="1" lang="en-CA" sz="26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In a nonrenewable natural resource market, the equilibrium price is the one that gives suppliers an expected profit equal to the interest rate. </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The equilibrium quantity is the quantity demanded at </a:t>
            </a:r>
            <a:br>
              <a:rPr sz="2400"/>
            </a:br>
            <a:r>
              <a:rPr b="0" lang="en-US" sz="2400" strike="noStrike" u="none">
                <a:solidFill>
                  <a:schemeClr val="dk1"/>
                </a:solidFill>
                <a:effectLst/>
                <a:uFillTx/>
                <a:latin typeface="Arial"/>
                <a:ea typeface="ＭＳ Ｐゴシック"/>
              </a:rPr>
              <a:t>that price. </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Over time, the equilibrium quantity of a natural resource used changes as the demand for it changes. </a:t>
            </a:r>
            <a:endParaRPr b="1" lang="en-CA" sz="2400" strike="noStrike" u="none">
              <a:solidFill>
                <a:srgbClr val="00468f"/>
              </a:solidFill>
              <a:effectLst/>
              <a:uFillTx/>
              <a:latin typeface="Arial"/>
            </a:endParaRPr>
          </a:p>
          <a:p>
            <a:pPr marL="358920" indent="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The price of a natural resource also changes over time. </a:t>
            </a:r>
            <a:endParaRPr b="1" lang="en-CA" sz="2400" strike="noStrike" u="none">
              <a:solidFill>
                <a:srgbClr val="00468f"/>
              </a:solidFill>
              <a:effectLst/>
              <a:uFillTx/>
              <a:latin typeface="Arial"/>
            </a:endParaRPr>
          </a:p>
        </p:txBody>
      </p:sp>
      <p:sp>
        <p:nvSpPr>
          <p:cNvPr id="315" name="PlaceHolder 2"/>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200" strike="noStrike" u="none">
                <a:solidFill>
                  <a:schemeClr val="lt1"/>
                </a:solidFill>
                <a:effectLst/>
                <a:uFillTx/>
                <a:latin typeface="Arial"/>
                <a:ea typeface="ＭＳ Ｐゴシック"/>
              </a:rPr>
              <a:t>19.3  CAPITAL AND NATURAL RESOURCE MARKETS</a:t>
            </a:r>
            <a:endParaRPr b="0" lang="en-CA" sz="2200" strike="noStrike" u="none">
              <a:solidFill>
                <a:schemeClr val="dk1"/>
              </a:solidFill>
              <a:effectLst/>
              <a:uFillTx/>
              <a:latin typeface="Arial"/>
            </a:endParaRPr>
          </a:p>
        </p:txBody>
      </p:sp>
    </p:spTree>
  </p:cSld>
  <p:transition spd="slow">
    <p:wipe dir="r"/>
  </p:transition>
  <p:timing>
    <p:tnLst>
      <p:par>
        <p:cTn id="981" dur="indefinite" restart="never" nodeType="tmRoot">
          <p:childTnLst>
            <p:seq>
              <p:cTn id="982" dur="indefinite" nodeType="mainSeq">
                <p:childTnLst>
                  <p:par>
                    <p:cTn id="983" nodeType="clickEffect" fill="hold">
                      <p:stCondLst>
                        <p:cond delay="indefinite"/>
                      </p:stCondLst>
                      <p:childTnLst>
                        <p:par>
                          <p:cTn id="984" nodeType="withEffect" fill="hold">
                            <p:stCondLst>
                              <p:cond delay="0"/>
                            </p:stCondLst>
                            <p:childTnLst>
                              <p:par>
                                <p:cTn id="985" nodeType="clickEffect" fill="hold" presetClass="entr" presetID="22" presetSubtype="8">
                                  <p:stCondLst>
                                    <p:cond delay="0"/>
                                  </p:stCondLst>
                                  <p:childTnLst>
                                    <p:set>
                                      <p:cBhvr>
                                        <p:cTn id="986" dur="1" fill="hold">
                                          <p:stCondLst>
                                            <p:cond delay="0"/>
                                          </p:stCondLst>
                                        </p:cTn>
                                        <p:tgtEl>
                                          <p:spTgt spid="314">
                                            <p:txEl>
                                              <p:pRg st="1" end="1"/>
                                            </p:txEl>
                                          </p:spTgt>
                                        </p:tgtEl>
                                        <p:attrNameLst>
                                          <p:attrName>style.visibility</p:attrName>
                                        </p:attrNameLst>
                                      </p:cBhvr>
                                      <p:to>
                                        <p:strVal val="visible"/>
                                      </p:to>
                                    </p:set>
                                    <p:animEffect filter="wipe(left)" transition="in">
                                      <p:cBhvr additive="repl">
                                        <p:cTn id="987" dur="500"/>
                                        <p:tgtEl>
                                          <p:spTgt spid="314">
                                            <p:txEl>
                                              <p:pRg st="1" end="1"/>
                                            </p:txEl>
                                          </p:spTgt>
                                        </p:tgtEl>
                                      </p:cBhvr>
                                    </p:animEffect>
                                  </p:childTnLst>
                                </p:cTn>
                              </p:par>
                            </p:childTnLst>
                          </p:cTn>
                        </p:par>
                      </p:childTnLst>
                    </p:cTn>
                  </p:par>
                  <p:par>
                    <p:cTn id="988" nodeType="clickEffect" fill="hold">
                      <p:stCondLst>
                        <p:cond delay="indefinite"/>
                      </p:stCondLst>
                      <p:childTnLst>
                        <p:par>
                          <p:cTn id="989" nodeType="withEffect" fill="hold">
                            <p:stCondLst>
                              <p:cond delay="0"/>
                            </p:stCondLst>
                            <p:childTnLst>
                              <p:par>
                                <p:cTn id="990" nodeType="clickEffect" fill="hold" presetClass="entr" presetID="22" presetSubtype="8">
                                  <p:stCondLst>
                                    <p:cond delay="0"/>
                                  </p:stCondLst>
                                  <p:childTnLst>
                                    <p:set>
                                      <p:cBhvr>
                                        <p:cTn id="991" dur="1" fill="hold">
                                          <p:stCondLst>
                                            <p:cond delay="0"/>
                                          </p:stCondLst>
                                        </p:cTn>
                                        <p:tgtEl>
                                          <p:spTgt spid="314">
                                            <p:txEl>
                                              <p:pRg st="2" end="2"/>
                                            </p:txEl>
                                          </p:spTgt>
                                        </p:tgtEl>
                                        <p:attrNameLst>
                                          <p:attrName>style.visibility</p:attrName>
                                        </p:attrNameLst>
                                      </p:cBhvr>
                                      <p:to>
                                        <p:strVal val="visible"/>
                                      </p:to>
                                    </p:set>
                                    <p:animEffect filter="wipe(left)" transition="in">
                                      <p:cBhvr additive="repl">
                                        <p:cTn id="992" dur="500"/>
                                        <p:tgtEl>
                                          <p:spTgt spid="314">
                                            <p:txEl>
                                              <p:pRg st="2" end="2"/>
                                            </p:txEl>
                                          </p:spTgt>
                                        </p:tgtEl>
                                      </p:cBhvr>
                                    </p:animEffect>
                                  </p:childTnLst>
                                </p:cTn>
                              </p:par>
                            </p:childTnLst>
                          </p:cTn>
                        </p:par>
                      </p:childTnLst>
                    </p:cTn>
                  </p:par>
                  <p:par>
                    <p:cTn id="993" nodeType="clickEffect" fill="hold">
                      <p:stCondLst>
                        <p:cond delay="indefinite"/>
                      </p:stCondLst>
                      <p:childTnLst>
                        <p:par>
                          <p:cTn id="994" nodeType="withEffect" fill="hold">
                            <p:stCondLst>
                              <p:cond delay="0"/>
                            </p:stCondLst>
                            <p:childTnLst>
                              <p:par>
                                <p:cTn id="995" nodeType="clickEffect" fill="hold" presetClass="entr" presetID="22" presetSubtype="8">
                                  <p:stCondLst>
                                    <p:cond delay="0"/>
                                  </p:stCondLst>
                                  <p:childTnLst>
                                    <p:set>
                                      <p:cBhvr>
                                        <p:cTn id="996" dur="1" fill="hold">
                                          <p:stCondLst>
                                            <p:cond delay="0"/>
                                          </p:stCondLst>
                                        </p:cTn>
                                        <p:tgtEl>
                                          <p:spTgt spid="314">
                                            <p:txEl>
                                              <p:pRg st="3" end="3"/>
                                            </p:txEl>
                                          </p:spTgt>
                                        </p:tgtEl>
                                        <p:attrNameLst>
                                          <p:attrName>style.visibility</p:attrName>
                                        </p:attrNameLst>
                                      </p:cBhvr>
                                      <p:to>
                                        <p:strVal val="visible"/>
                                      </p:to>
                                    </p:set>
                                    <p:animEffect filter="wipe(left)" transition="in">
                                      <p:cBhvr additive="repl">
                                        <p:cTn id="997" dur="500"/>
                                        <p:tgtEl>
                                          <p:spTgt spid="314">
                                            <p:txEl>
                                              <p:pRg st="3" end="3"/>
                                            </p:txEl>
                                          </p:spTgt>
                                        </p:tgtEl>
                                      </p:cBhvr>
                                    </p:animEffect>
                                  </p:childTnLst>
                                </p:cTn>
                              </p:par>
                            </p:childTnLst>
                          </p:cTn>
                        </p:par>
                      </p:childTnLst>
                    </p:cTn>
                  </p:par>
                  <p:par>
                    <p:cTn id="998" nodeType="clickEffect" fill="hold">
                      <p:stCondLst>
                        <p:cond delay="indefinite"/>
                      </p:stCondLst>
                      <p:childTnLst>
                        <p:par>
                          <p:cTn id="999" nodeType="withEffect" fill="hold">
                            <p:stCondLst>
                              <p:cond delay="0"/>
                            </p:stCondLst>
                            <p:childTnLst>
                              <p:par>
                                <p:cTn id="1000" nodeType="clickEffect" fill="hold" presetClass="entr" presetID="22" presetSubtype="8">
                                  <p:stCondLst>
                                    <p:cond delay="0"/>
                                  </p:stCondLst>
                                  <p:childTnLst>
                                    <p:set>
                                      <p:cBhvr>
                                        <p:cTn id="1001" dur="1" fill="hold">
                                          <p:stCondLst>
                                            <p:cond delay="0"/>
                                          </p:stCondLst>
                                        </p:cTn>
                                        <p:tgtEl>
                                          <p:spTgt spid="314">
                                            <p:txEl>
                                              <p:pRg st="4" end="4"/>
                                            </p:txEl>
                                          </p:spTgt>
                                        </p:tgtEl>
                                        <p:attrNameLst>
                                          <p:attrName>style.visibility</p:attrName>
                                        </p:attrNameLst>
                                      </p:cBhvr>
                                      <p:to>
                                        <p:strVal val="visible"/>
                                      </p:to>
                                    </p:set>
                                    <p:animEffect filter="wipe(left)" transition="in">
                                      <p:cBhvr additive="repl">
                                        <p:cTn id="1002" dur="500"/>
                                        <p:tgtEl>
                                          <p:spTgt spid="314">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6" name="PlaceHolder 1"/>
          <p:cNvSpPr>
            <a:spLocks noGrp="1"/>
          </p:cNvSpPr>
          <p:nvPr>
            <p:ph/>
          </p:nvPr>
        </p:nvSpPr>
        <p:spPr>
          <a:xfrm>
            <a:off x="360360" y="1440000"/>
            <a:ext cx="8229240" cy="5036760"/>
          </a:xfrm>
          <a:prstGeom prst="rect">
            <a:avLst/>
          </a:prstGeom>
          <a:noFill/>
          <a:ln w="0">
            <a:noFill/>
          </a:ln>
        </p:spPr>
        <p:txBody>
          <a:bodyPr numCol="1" spcCol="0" lIns="91440" rIns="91440" tIns="45720" bIns="45720" anchor="t">
            <a:noAutofit/>
          </a:bodyPr>
          <a:p>
            <a:pPr marL="358920" indent="0" defTabSz="73980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The price changes over time for two reasons:</a:t>
            </a:r>
            <a:endParaRPr b="1" lang="en-CA" sz="2400" strike="noStrike" u="none">
              <a:solidFill>
                <a:srgbClr val="00468f"/>
              </a:solidFill>
              <a:effectLst/>
              <a:uFillTx/>
              <a:latin typeface="Arial"/>
            </a:endParaRPr>
          </a:p>
          <a:p>
            <a:pPr lvl="1" marL="358920" indent="-324000" defTabSz="739800">
              <a:lnSpc>
                <a:spcPct val="100000"/>
              </a:lnSpc>
              <a:spcBef>
                <a:spcPts val="601"/>
              </a:spcBef>
              <a:spcAft>
                <a:spcPts val="601"/>
              </a:spcAft>
              <a:buClr>
                <a:srgbClr val="000000"/>
              </a:buClr>
              <a:buFont typeface="OpenSymbol"/>
              <a:buAutoNum type="arabicPeriod"/>
            </a:pPr>
            <a:r>
              <a:rPr b="0" lang="en-US" sz="2400" strike="noStrike" u="none">
                <a:solidFill>
                  <a:schemeClr val="dk1"/>
                </a:solidFill>
                <a:effectLst/>
                <a:uFillTx/>
                <a:latin typeface="Arial"/>
                <a:ea typeface="ＭＳ Ｐゴシック"/>
              </a:rPr>
              <a:t> Expectations change.</a:t>
            </a:r>
            <a:endParaRPr b="0" lang="en-CA" sz="2400" strike="noStrike" u="none">
              <a:solidFill>
                <a:schemeClr val="dk1"/>
              </a:solidFill>
              <a:effectLst/>
              <a:uFillTx/>
              <a:latin typeface="Arial"/>
            </a:endParaRPr>
          </a:p>
          <a:p>
            <a:pPr lvl="1" marL="358920" indent="-324000" defTabSz="739800">
              <a:lnSpc>
                <a:spcPct val="100000"/>
              </a:lnSpc>
              <a:spcBef>
                <a:spcPts val="601"/>
              </a:spcBef>
              <a:spcAft>
                <a:spcPts val="601"/>
              </a:spcAft>
              <a:buClr>
                <a:srgbClr val="000000"/>
              </a:buClr>
              <a:buFont typeface="OpenSymbol"/>
              <a:buAutoNum type="arabicPeriod"/>
            </a:pPr>
            <a:r>
              <a:rPr b="0" lang="en-US" sz="2400" strike="noStrike" u="none">
                <a:solidFill>
                  <a:schemeClr val="dk1"/>
                </a:solidFill>
                <a:effectLst/>
                <a:uFillTx/>
                <a:latin typeface="Arial"/>
                <a:ea typeface="ＭＳ Ｐゴシック"/>
              </a:rPr>
              <a:t> Suppliers of a natural resource expect the price to rise     </a:t>
            </a:r>
            <a:r>
              <a:rPr b="0" lang="en-US" sz="2400" strike="noStrike" u="none">
                <a:solidFill>
                  <a:schemeClr val="dk1"/>
                </a:solidFill>
                <a:effectLst/>
                <a:uFillTx/>
                <a:latin typeface="Arial"/>
                <a:ea typeface="ＭＳ Ｐゴシック"/>
              </a:rPr>
              <a:t>	</a:t>
            </a:r>
            <a:r>
              <a:rPr b="0" lang="en-US" sz="2400" strike="noStrike" u="none">
                <a:solidFill>
                  <a:schemeClr val="dk1"/>
                </a:solidFill>
                <a:effectLst/>
                <a:uFillTx/>
                <a:latin typeface="Arial"/>
                <a:ea typeface="ＭＳ Ｐゴシック"/>
              </a:rPr>
              <a:t>by the same percentage as the interest rate.</a:t>
            </a:r>
            <a:endParaRPr b="0" lang="en-CA" sz="2400" strike="noStrike" u="none">
              <a:solidFill>
                <a:schemeClr val="dk1"/>
              </a:solidFill>
              <a:effectLst/>
              <a:uFillTx/>
              <a:latin typeface="Arial"/>
            </a:endParaRPr>
          </a:p>
          <a:p>
            <a:pPr marL="358920" indent="0" defTabSz="73980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The expected future price of a natural resource depends on the expected future rate of use and rate of discovery of new sources of supply. </a:t>
            </a:r>
            <a:endParaRPr b="1" lang="en-CA" sz="2400" strike="noStrike" u="none">
              <a:solidFill>
                <a:srgbClr val="00468f"/>
              </a:solidFill>
              <a:effectLst/>
              <a:uFillTx/>
              <a:latin typeface="Arial"/>
            </a:endParaRPr>
          </a:p>
          <a:p>
            <a:pPr marL="358920" indent="0" defTabSz="73980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But one person’s expectation about a future price also depends on guesses about other people’s expectations. </a:t>
            </a:r>
            <a:endParaRPr b="1" lang="en-CA" sz="2400" strike="noStrike" u="none">
              <a:solidFill>
                <a:srgbClr val="00468f"/>
              </a:solidFill>
              <a:effectLst/>
              <a:uFillTx/>
              <a:latin typeface="Arial"/>
            </a:endParaRPr>
          </a:p>
          <a:p>
            <a:pPr marL="358920" indent="0" defTabSz="73980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When the expected future price of a natural resource changes, its supply changes to reflect that expectation.</a:t>
            </a:r>
            <a:endParaRPr b="1" lang="en-CA" sz="2400" strike="noStrike" u="none">
              <a:solidFill>
                <a:srgbClr val="00468f"/>
              </a:solidFill>
              <a:effectLst/>
              <a:uFillTx/>
              <a:latin typeface="Arial"/>
            </a:endParaRPr>
          </a:p>
        </p:txBody>
      </p:sp>
      <p:sp>
        <p:nvSpPr>
          <p:cNvPr id="317" name="PlaceHolder 2"/>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200" strike="noStrike" u="none">
                <a:solidFill>
                  <a:schemeClr val="lt1"/>
                </a:solidFill>
                <a:effectLst/>
                <a:uFillTx/>
                <a:latin typeface="Arial"/>
                <a:ea typeface="ＭＳ Ｐゴシック"/>
              </a:rPr>
              <a:t>19.3  CAPITAL AND NATURAL RESOURCE MARKETS</a:t>
            </a:r>
            <a:endParaRPr b="0" lang="en-CA" sz="2200" strike="noStrike" u="none">
              <a:solidFill>
                <a:schemeClr val="dk1"/>
              </a:solidFill>
              <a:effectLst/>
              <a:uFillTx/>
              <a:latin typeface="Arial"/>
            </a:endParaRPr>
          </a:p>
        </p:txBody>
      </p:sp>
    </p:spTree>
  </p:cSld>
  <p:transition spd="slow">
    <p:wipe dir="r"/>
  </p:transition>
  <p:timing>
    <p:tnLst>
      <p:par>
        <p:cTn id="1003" dur="indefinite" restart="never" nodeType="tmRoot">
          <p:childTnLst>
            <p:seq>
              <p:cTn id="1004" dur="indefinite" nodeType="mainSeq">
                <p:childTnLst>
                  <p:par>
                    <p:cTn id="1005" nodeType="clickEffect" fill="hold">
                      <p:stCondLst>
                        <p:cond delay="indefinite"/>
                      </p:stCondLst>
                      <p:childTnLst>
                        <p:par>
                          <p:cTn id="1006" nodeType="withEffect" fill="hold">
                            <p:stCondLst>
                              <p:cond delay="0"/>
                            </p:stCondLst>
                            <p:childTnLst>
                              <p:par>
                                <p:cTn id="1007" nodeType="clickEffect" fill="hold" presetClass="entr" presetID="22" presetSubtype="8">
                                  <p:stCondLst>
                                    <p:cond delay="0"/>
                                  </p:stCondLst>
                                  <p:childTnLst>
                                    <p:set>
                                      <p:cBhvr>
                                        <p:cTn id="1008" dur="1" fill="hold">
                                          <p:stCondLst>
                                            <p:cond delay="0"/>
                                          </p:stCondLst>
                                        </p:cTn>
                                        <p:tgtEl>
                                          <p:spTgt spid="316">
                                            <p:txEl>
                                              <p:pRg st="1" end="1"/>
                                            </p:txEl>
                                          </p:spTgt>
                                        </p:tgtEl>
                                        <p:attrNameLst>
                                          <p:attrName>style.visibility</p:attrName>
                                        </p:attrNameLst>
                                      </p:cBhvr>
                                      <p:to>
                                        <p:strVal val="visible"/>
                                      </p:to>
                                    </p:set>
                                    <p:animEffect filter="wipe(left)" transition="in">
                                      <p:cBhvr additive="repl">
                                        <p:cTn id="1009" dur="500"/>
                                        <p:tgtEl>
                                          <p:spTgt spid="316">
                                            <p:txEl>
                                              <p:pRg st="1" end="1"/>
                                            </p:txEl>
                                          </p:spTgt>
                                        </p:tgtEl>
                                      </p:cBhvr>
                                    </p:animEffect>
                                  </p:childTnLst>
                                </p:cTn>
                              </p:par>
                            </p:childTnLst>
                          </p:cTn>
                        </p:par>
                      </p:childTnLst>
                    </p:cTn>
                  </p:par>
                  <p:par>
                    <p:cTn id="1010" nodeType="clickEffect" fill="hold">
                      <p:stCondLst>
                        <p:cond delay="indefinite"/>
                      </p:stCondLst>
                      <p:childTnLst>
                        <p:par>
                          <p:cTn id="1011" nodeType="withEffect" fill="hold">
                            <p:stCondLst>
                              <p:cond delay="0"/>
                            </p:stCondLst>
                            <p:childTnLst>
                              <p:par>
                                <p:cTn id="1012" nodeType="clickEffect" fill="hold" presetClass="entr" presetID="22" presetSubtype="8">
                                  <p:stCondLst>
                                    <p:cond delay="0"/>
                                  </p:stCondLst>
                                  <p:childTnLst>
                                    <p:set>
                                      <p:cBhvr>
                                        <p:cTn id="1013" dur="1" fill="hold">
                                          <p:stCondLst>
                                            <p:cond delay="0"/>
                                          </p:stCondLst>
                                        </p:cTn>
                                        <p:tgtEl>
                                          <p:spTgt spid="316">
                                            <p:txEl>
                                              <p:pRg st="2" end="2"/>
                                            </p:txEl>
                                          </p:spTgt>
                                        </p:tgtEl>
                                        <p:attrNameLst>
                                          <p:attrName>style.visibility</p:attrName>
                                        </p:attrNameLst>
                                      </p:cBhvr>
                                      <p:to>
                                        <p:strVal val="visible"/>
                                      </p:to>
                                    </p:set>
                                    <p:animEffect filter="wipe(left)" transition="in">
                                      <p:cBhvr additive="repl">
                                        <p:cTn id="1014" dur="500"/>
                                        <p:tgtEl>
                                          <p:spTgt spid="316">
                                            <p:txEl>
                                              <p:pRg st="2" end="2"/>
                                            </p:txEl>
                                          </p:spTgt>
                                        </p:tgtEl>
                                      </p:cBhvr>
                                    </p:animEffect>
                                  </p:childTnLst>
                                </p:cTn>
                              </p:par>
                            </p:childTnLst>
                          </p:cTn>
                        </p:par>
                      </p:childTnLst>
                    </p:cTn>
                  </p:par>
                  <p:par>
                    <p:cTn id="1015" nodeType="clickEffect" fill="hold">
                      <p:stCondLst>
                        <p:cond delay="indefinite"/>
                      </p:stCondLst>
                      <p:childTnLst>
                        <p:par>
                          <p:cTn id="1016" nodeType="withEffect" fill="hold">
                            <p:stCondLst>
                              <p:cond delay="0"/>
                            </p:stCondLst>
                            <p:childTnLst>
                              <p:par>
                                <p:cTn id="1017" nodeType="clickEffect" fill="hold" presetClass="entr" presetID="22" presetSubtype="8">
                                  <p:stCondLst>
                                    <p:cond delay="0"/>
                                  </p:stCondLst>
                                  <p:childTnLst>
                                    <p:set>
                                      <p:cBhvr>
                                        <p:cTn id="1018" dur="1" fill="hold">
                                          <p:stCondLst>
                                            <p:cond delay="0"/>
                                          </p:stCondLst>
                                        </p:cTn>
                                        <p:tgtEl>
                                          <p:spTgt spid="316">
                                            <p:txEl>
                                              <p:pRg st="3" end="3"/>
                                            </p:txEl>
                                          </p:spTgt>
                                        </p:tgtEl>
                                        <p:attrNameLst>
                                          <p:attrName>style.visibility</p:attrName>
                                        </p:attrNameLst>
                                      </p:cBhvr>
                                      <p:to>
                                        <p:strVal val="visible"/>
                                      </p:to>
                                    </p:set>
                                    <p:animEffect filter="wipe(left)" transition="in">
                                      <p:cBhvr additive="repl">
                                        <p:cTn id="1019" dur="500"/>
                                        <p:tgtEl>
                                          <p:spTgt spid="316">
                                            <p:txEl>
                                              <p:pRg st="3" end="3"/>
                                            </p:txEl>
                                          </p:spTgt>
                                        </p:tgtEl>
                                      </p:cBhvr>
                                    </p:animEffect>
                                  </p:childTnLst>
                                </p:cTn>
                              </p:par>
                            </p:childTnLst>
                          </p:cTn>
                        </p:par>
                      </p:childTnLst>
                    </p:cTn>
                  </p:par>
                  <p:par>
                    <p:cTn id="1020" nodeType="clickEffect" fill="hold">
                      <p:stCondLst>
                        <p:cond delay="indefinite"/>
                      </p:stCondLst>
                      <p:childTnLst>
                        <p:par>
                          <p:cTn id="1021" nodeType="withEffect" fill="hold">
                            <p:stCondLst>
                              <p:cond delay="0"/>
                            </p:stCondLst>
                            <p:childTnLst>
                              <p:par>
                                <p:cTn id="1022" nodeType="clickEffect" fill="hold" presetClass="entr" presetID="22" presetSubtype="8">
                                  <p:stCondLst>
                                    <p:cond delay="0"/>
                                  </p:stCondLst>
                                  <p:childTnLst>
                                    <p:set>
                                      <p:cBhvr>
                                        <p:cTn id="1023" dur="1" fill="hold">
                                          <p:stCondLst>
                                            <p:cond delay="0"/>
                                          </p:stCondLst>
                                        </p:cTn>
                                        <p:tgtEl>
                                          <p:spTgt spid="316">
                                            <p:txEl>
                                              <p:pRg st="4" end="4"/>
                                            </p:txEl>
                                          </p:spTgt>
                                        </p:tgtEl>
                                        <p:attrNameLst>
                                          <p:attrName>style.visibility</p:attrName>
                                        </p:attrNameLst>
                                      </p:cBhvr>
                                      <p:to>
                                        <p:strVal val="visible"/>
                                      </p:to>
                                    </p:set>
                                    <p:animEffect filter="wipe(left)" transition="in">
                                      <p:cBhvr additive="repl">
                                        <p:cTn id="1024" dur="500"/>
                                        <p:tgtEl>
                                          <p:spTgt spid="316">
                                            <p:txEl>
                                              <p:pRg st="4" end="4"/>
                                            </p:txEl>
                                          </p:spTgt>
                                        </p:tgtEl>
                                      </p:cBhvr>
                                    </p:animEffect>
                                  </p:childTnLst>
                                </p:cTn>
                              </p:par>
                            </p:childTnLst>
                          </p:cTn>
                        </p:par>
                      </p:childTnLst>
                    </p:cTn>
                  </p:par>
                  <p:par>
                    <p:cTn id="1025" nodeType="clickEffect" fill="hold">
                      <p:stCondLst>
                        <p:cond delay="indefinite"/>
                      </p:stCondLst>
                      <p:childTnLst>
                        <p:par>
                          <p:cTn id="1026" nodeType="withEffect" fill="hold">
                            <p:stCondLst>
                              <p:cond delay="0"/>
                            </p:stCondLst>
                            <p:childTnLst>
                              <p:par>
                                <p:cTn id="1027" nodeType="clickEffect" fill="hold" presetClass="entr" presetID="22" presetSubtype="8">
                                  <p:stCondLst>
                                    <p:cond delay="0"/>
                                  </p:stCondLst>
                                  <p:childTnLst>
                                    <p:set>
                                      <p:cBhvr>
                                        <p:cTn id="1028" dur="1" fill="hold">
                                          <p:stCondLst>
                                            <p:cond delay="0"/>
                                          </p:stCondLst>
                                        </p:cTn>
                                        <p:tgtEl>
                                          <p:spTgt spid="316">
                                            <p:txEl>
                                              <p:pRg st="5" end="5"/>
                                            </p:txEl>
                                          </p:spTgt>
                                        </p:tgtEl>
                                        <p:attrNameLst>
                                          <p:attrName>style.visibility</p:attrName>
                                        </p:attrNameLst>
                                      </p:cBhvr>
                                      <p:to>
                                        <p:strVal val="visible"/>
                                      </p:to>
                                    </p:set>
                                    <p:animEffect filter="wipe(left)" transition="in">
                                      <p:cBhvr additive="repl">
                                        <p:cTn id="1029" dur="500"/>
                                        <p:tgtEl>
                                          <p:spTgt spid="316">
                                            <p:txEl>
                                              <p:pRg st="5" end="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8" name="PlaceHolder 1"/>
          <p:cNvSpPr>
            <a:spLocks noGrp="1"/>
          </p:cNvSpPr>
          <p:nvPr>
            <p:ph/>
          </p:nvPr>
        </p:nvSpPr>
        <p:spPr>
          <a:xfrm>
            <a:off x="360360" y="1440000"/>
            <a:ext cx="8229240" cy="4289040"/>
          </a:xfrm>
          <a:prstGeom prst="rect">
            <a:avLst/>
          </a:prstGeom>
          <a:noFill/>
          <a:ln w="0">
            <a:noFill/>
          </a:ln>
        </p:spPr>
        <p:txBody>
          <a:bodyPr numCol="1" spcCol="0" lIns="91440" rIns="91440" tIns="45720" bIns="45720" anchor="t">
            <a:noAutofit/>
          </a:bodyPr>
          <a:p>
            <a:pPr marL="360000" indent="0" defTabSz="73980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Suppliers of a natural resource expect the price to rise by the same percentage as the interest rate. </a:t>
            </a:r>
            <a:endParaRPr b="1" lang="en-CA" sz="2400" strike="noStrike" u="none">
              <a:solidFill>
                <a:srgbClr val="00468f"/>
              </a:solidFill>
              <a:effectLst/>
              <a:uFillTx/>
              <a:latin typeface="Arial"/>
            </a:endParaRPr>
          </a:p>
          <a:p>
            <a:pPr marL="360000" indent="0" defTabSz="73980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If expectations are on the average correct and nothing happens to change expectations, the price </a:t>
            </a:r>
            <a:r>
              <a:rPr b="0" i="1" lang="en-US" sz="2400" strike="noStrike" u="none">
                <a:solidFill>
                  <a:schemeClr val="dk1"/>
                </a:solidFill>
                <a:effectLst/>
                <a:uFillTx/>
                <a:latin typeface="Arial"/>
                <a:ea typeface="ＭＳ Ｐゴシック"/>
              </a:rPr>
              <a:t>does </a:t>
            </a:r>
            <a:r>
              <a:rPr b="0" lang="en-US" sz="2400" strike="noStrike" u="none">
                <a:solidFill>
                  <a:schemeClr val="dk1"/>
                </a:solidFill>
                <a:effectLst/>
                <a:uFillTx/>
                <a:latin typeface="Arial"/>
                <a:ea typeface="ＭＳ Ｐゴシック"/>
              </a:rPr>
              <a:t>rise by the same percentage as the interest rate. </a:t>
            </a:r>
            <a:endParaRPr b="1" lang="en-CA" sz="2400" strike="noStrike" u="none">
              <a:solidFill>
                <a:srgbClr val="00468f"/>
              </a:solidFill>
              <a:effectLst/>
              <a:uFillTx/>
              <a:latin typeface="Arial"/>
            </a:endParaRPr>
          </a:p>
          <a:p>
            <a:pPr marL="360000" indent="0" defTabSz="73980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The proposition that the price of a nonrenewable natural resource is expected to rise at a rate equal to the interest rate is called the </a:t>
            </a:r>
            <a:r>
              <a:rPr b="0" i="1" lang="en-US" sz="2400" strike="noStrike" u="none">
                <a:solidFill>
                  <a:schemeClr val="dk1"/>
                </a:solidFill>
                <a:effectLst/>
                <a:uFillTx/>
                <a:latin typeface="Arial"/>
                <a:ea typeface="ＭＳ Ｐゴシック"/>
              </a:rPr>
              <a:t>Hotelling Principle</a:t>
            </a:r>
            <a:r>
              <a:rPr b="0" lang="en-US" sz="2400" strike="noStrike" u="none">
                <a:solidFill>
                  <a:schemeClr val="dk1"/>
                </a:solidFill>
                <a:effectLst/>
                <a:uFillTx/>
                <a:latin typeface="Arial"/>
                <a:ea typeface="ＭＳ Ｐゴシック"/>
              </a:rPr>
              <a:t>. </a:t>
            </a:r>
            <a:endParaRPr b="1" lang="en-CA" sz="2400" strike="noStrike" u="none">
              <a:solidFill>
                <a:srgbClr val="00468f"/>
              </a:solidFill>
              <a:effectLst/>
              <a:uFillTx/>
              <a:latin typeface="Arial"/>
            </a:endParaRPr>
          </a:p>
          <a:p>
            <a:pPr marL="360000" indent="0" defTabSz="739800">
              <a:lnSpc>
                <a:spcPct val="100000"/>
              </a:lnSpc>
              <a:spcBef>
                <a:spcPts val="601"/>
              </a:spcBef>
              <a:spcAft>
                <a:spcPts val="601"/>
              </a:spcAft>
              <a:buNone/>
            </a:pPr>
            <a:r>
              <a:rPr b="0" lang="en-US" sz="2400" strike="noStrike" u="none">
                <a:solidFill>
                  <a:schemeClr val="dk1"/>
                </a:solidFill>
                <a:effectLst/>
                <a:uFillTx/>
                <a:latin typeface="Arial"/>
                <a:ea typeface="ＭＳ Ｐゴシック"/>
              </a:rPr>
              <a:t>It was first realized by Harold Hotelling, an economist at Columbia University.</a:t>
            </a:r>
            <a:endParaRPr b="1" lang="en-CA" sz="2400" strike="noStrike" u="none">
              <a:solidFill>
                <a:srgbClr val="00468f"/>
              </a:solidFill>
              <a:effectLst/>
              <a:uFillTx/>
              <a:latin typeface="Arial"/>
            </a:endParaRPr>
          </a:p>
        </p:txBody>
      </p:sp>
      <p:sp>
        <p:nvSpPr>
          <p:cNvPr id="319" name="PlaceHolder 2"/>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numCol="1" spcCol="0" lIns="91440" rIns="91440" tIns="45720" bIns="45720" anchor="ctr">
            <a:noAutofit/>
          </a:bodyPr>
          <a:p>
            <a:pPr indent="0">
              <a:lnSpc>
                <a:spcPct val="100000"/>
              </a:lnSpc>
              <a:buNone/>
            </a:pPr>
            <a:r>
              <a:rPr b="1" lang="en-US" sz="2200" strike="noStrike" u="none">
                <a:solidFill>
                  <a:schemeClr val="lt1"/>
                </a:solidFill>
                <a:effectLst/>
                <a:uFillTx/>
                <a:latin typeface="Arial"/>
                <a:ea typeface="ＭＳ Ｐゴシック"/>
              </a:rPr>
              <a:t>19.3  CAPITAL AND NATURAL RESOURCE MARKETS</a:t>
            </a:r>
            <a:endParaRPr b="0" lang="en-CA" sz="2200" strike="noStrike" u="none">
              <a:solidFill>
                <a:schemeClr val="dk1"/>
              </a:solidFill>
              <a:effectLst/>
              <a:uFillTx/>
              <a:latin typeface="Arial"/>
            </a:endParaRPr>
          </a:p>
        </p:txBody>
      </p:sp>
    </p:spTree>
  </p:cSld>
  <p:transition spd="slow">
    <p:wipe dir="r"/>
  </p:transition>
  <p:timing>
    <p:tnLst>
      <p:par>
        <p:cTn id="1030" dur="indefinite" restart="never" nodeType="tmRoot">
          <p:childTnLst>
            <p:seq>
              <p:cTn id="1031" dur="indefinite" nodeType="mainSeq">
                <p:childTnLst>
                  <p:par>
                    <p:cTn id="1032" nodeType="clickEffect" fill="hold">
                      <p:stCondLst>
                        <p:cond delay="indefinite"/>
                      </p:stCondLst>
                      <p:childTnLst>
                        <p:par>
                          <p:cTn id="1033" nodeType="withEffect" fill="hold">
                            <p:stCondLst>
                              <p:cond delay="0"/>
                            </p:stCondLst>
                            <p:childTnLst>
                              <p:par>
                                <p:cTn id="1034" nodeType="clickEffect" fill="hold" presetClass="entr" presetID="22" presetSubtype="8">
                                  <p:stCondLst>
                                    <p:cond delay="0"/>
                                  </p:stCondLst>
                                  <p:childTnLst>
                                    <p:set>
                                      <p:cBhvr>
                                        <p:cTn id="1035" dur="1" fill="hold">
                                          <p:stCondLst>
                                            <p:cond delay="0"/>
                                          </p:stCondLst>
                                        </p:cTn>
                                        <p:tgtEl>
                                          <p:spTgt spid="318">
                                            <p:txEl>
                                              <p:pRg st="1" end="1"/>
                                            </p:txEl>
                                          </p:spTgt>
                                        </p:tgtEl>
                                        <p:attrNameLst>
                                          <p:attrName>style.visibility</p:attrName>
                                        </p:attrNameLst>
                                      </p:cBhvr>
                                      <p:to>
                                        <p:strVal val="visible"/>
                                      </p:to>
                                    </p:set>
                                    <p:animEffect filter="wipe(left)" transition="in">
                                      <p:cBhvr additive="repl">
                                        <p:cTn id="1036" dur="500"/>
                                        <p:tgtEl>
                                          <p:spTgt spid="318">
                                            <p:txEl>
                                              <p:pRg st="1" end="1"/>
                                            </p:txEl>
                                          </p:spTgt>
                                        </p:tgtEl>
                                      </p:cBhvr>
                                    </p:animEffect>
                                  </p:childTnLst>
                                </p:cTn>
                              </p:par>
                            </p:childTnLst>
                          </p:cTn>
                        </p:par>
                      </p:childTnLst>
                    </p:cTn>
                  </p:par>
                  <p:par>
                    <p:cTn id="1037" nodeType="clickEffect" fill="hold">
                      <p:stCondLst>
                        <p:cond delay="indefinite"/>
                      </p:stCondLst>
                      <p:childTnLst>
                        <p:par>
                          <p:cTn id="1038" nodeType="withEffect" fill="hold">
                            <p:stCondLst>
                              <p:cond delay="0"/>
                            </p:stCondLst>
                            <p:childTnLst>
                              <p:par>
                                <p:cTn id="1039" nodeType="clickEffect" fill="hold" presetClass="entr" presetID="22" presetSubtype="8">
                                  <p:stCondLst>
                                    <p:cond delay="0"/>
                                  </p:stCondLst>
                                  <p:childTnLst>
                                    <p:set>
                                      <p:cBhvr>
                                        <p:cTn id="1040" dur="1" fill="hold">
                                          <p:stCondLst>
                                            <p:cond delay="0"/>
                                          </p:stCondLst>
                                        </p:cTn>
                                        <p:tgtEl>
                                          <p:spTgt spid="318">
                                            <p:txEl>
                                              <p:pRg st="2" end="2"/>
                                            </p:txEl>
                                          </p:spTgt>
                                        </p:tgtEl>
                                        <p:attrNameLst>
                                          <p:attrName>style.visibility</p:attrName>
                                        </p:attrNameLst>
                                      </p:cBhvr>
                                      <p:to>
                                        <p:strVal val="visible"/>
                                      </p:to>
                                    </p:set>
                                    <p:animEffect filter="wipe(left)" transition="in">
                                      <p:cBhvr additive="repl">
                                        <p:cTn id="1041" dur="500"/>
                                        <p:tgtEl>
                                          <p:spTgt spid="318">
                                            <p:txEl>
                                              <p:pRg st="2" end="2"/>
                                            </p:txEl>
                                          </p:spTgt>
                                        </p:tgtEl>
                                      </p:cBhvr>
                                    </p:animEffect>
                                  </p:childTnLst>
                                </p:cTn>
                              </p:par>
                            </p:childTnLst>
                          </p:cTn>
                        </p:par>
                      </p:childTnLst>
                    </p:cTn>
                  </p:par>
                  <p:par>
                    <p:cTn id="1042" nodeType="clickEffect" fill="hold">
                      <p:stCondLst>
                        <p:cond delay="indefinite"/>
                      </p:stCondLst>
                      <p:childTnLst>
                        <p:par>
                          <p:cTn id="1043" nodeType="withEffect" fill="hold">
                            <p:stCondLst>
                              <p:cond delay="0"/>
                            </p:stCondLst>
                            <p:childTnLst>
                              <p:par>
                                <p:cTn id="1044" nodeType="clickEffect" fill="hold" presetClass="entr" presetID="22" presetSubtype="8">
                                  <p:stCondLst>
                                    <p:cond delay="0"/>
                                  </p:stCondLst>
                                  <p:childTnLst>
                                    <p:set>
                                      <p:cBhvr>
                                        <p:cTn id="1045" dur="1" fill="hold">
                                          <p:stCondLst>
                                            <p:cond delay="0"/>
                                          </p:stCondLst>
                                        </p:cTn>
                                        <p:tgtEl>
                                          <p:spTgt spid="318">
                                            <p:txEl>
                                              <p:pRg st="3" end="3"/>
                                            </p:txEl>
                                          </p:spTgt>
                                        </p:tgtEl>
                                        <p:attrNameLst>
                                          <p:attrName>style.visibility</p:attrName>
                                        </p:attrNameLst>
                                      </p:cBhvr>
                                      <p:to>
                                        <p:strVal val="visible"/>
                                      </p:to>
                                    </p:set>
                                    <p:animEffect filter="wipe(left)" transition="in">
                                      <p:cBhvr additive="repl">
                                        <p:cTn id="1046" dur="500"/>
                                        <p:tgtEl>
                                          <p:spTgt spid="318">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0" name="Rectangle 3"/>
          <p:cNvSpPr/>
          <p:nvPr/>
        </p:nvSpPr>
        <p:spPr>
          <a:xfrm>
            <a:off x="360360" y="1511280"/>
            <a:ext cx="8076960" cy="4723920"/>
          </a:xfrm>
          <a:prstGeom prst="rect">
            <a:avLst/>
          </a:prstGeom>
          <a:noFill/>
          <a:ln w="9525">
            <a:noFill/>
          </a:ln>
        </p:spPr>
        <p:style>
          <a:lnRef idx="0"/>
          <a:fillRef idx="0"/>
          <a:effectRef idx="0"/>
          <a:fontRef idx="minor"/>
        </p:style>
        <p:txBody>
          <a:bodyPr lIns="90000" rIns="90000" tIns="45000" bIns="45000" anchor="t">
            <a:noAutofit/>
          </a:bodyPr>
          <a:p>
            <a:pPr marL="108000">
              <a:lnSpc>
                <a:spcPct val="100000"/>
              </a:lnSpc>
              <a:spcBef>
                <a:spcPts val="601"/>
              </a:spcBef>
              <a:spcAft>
                <a:spcPts val="601"/>
              </a:spcAft>
            </a:pPr>
            <a:r>
              <a:rPr b="0" lang="en-US" sz="2400" strike="noStrike" u="none">
                <a:solidFill>
                  <a:srgbClr val="000000"/>
                </a:solidFill>
                <a:effectLst/>
                <a:uFillTx/>
                <a:latin typeface="Arial"/>
                <a:ea typeface="ＭＳ Ｐゴシック"/>
              </a:rPr>
              <a:t>Nick Saban, head coach of the Alabama Crimson Tide, earns $7 million a year</a:t>
            </a:r>
            <a:r>
              <a:rPr b="0" lang="en-US" sz="2400" strike="noStrike" u="none">
                <a:solidFill>
                  <a:srgbClr val="000000"/>
                </a:solidFill>
                <a:effectLst/>
                <a:uFillTx/>
                <a:latin typeface="Arial"/>
                <a:ea typeface="ＭＳ Ｐゴシック"/>
              </a:rPr>
              <a:t>, </a:t>
            </a:r>
            <a:r>
              <a:rPr b="0" lang="en-AU" sz="2400" strike="noStrike" u="none">
                <a:solidFill>
                  <a:srgbClr val="000000"/>
                </a:solidFill>
                <a:effectLst/>
                <a:uFillTx/>
                <a:latin typeface="Arial"/>
                <a:ea typeface="ＭＳ Ｐゴシック"/>
              </a:rPr>
              <a:t>70 times what the University of Alabama pays an average economics professor.</a:t>
            </a:r>
            <a:endParaRPr b="0" lang="en-US" sz="2400" strike="noStrike" u="none">
              <a:solidFill>
                <a:srgbClr val="000000"/>
              </a:solidFill>
              <a:effectLst/>
              <a:uFillTx/>
              <a:latin typeface="Arial"/>
            </a:endParaRPr>
          </a:p>
          <a:p>
            <a:pPr marL="108000">
              <a:lnSpc>
                <a:spcPct val="100000"/>
              </a:lnSpc>
              <a:spcBef>
                <a:spcPts val="601"/>
              </a:spcBef>
              <a:spcAft>
                <a:spcPts val="601"/>
              </a:spcAft>
            </a:pPr>
            <a:r>
              <a:rPr b="0" lang="en-AU" sz="2400" strike="noStrike" u="none">
                <a:solidFill>
                  <a:srgbClr val="000000"/>
                </a:solidFill>
                <a:effectLst/>
                <a:uFillTx/>
                <a:latin typeface="Arial"/>
                <a:ea typeface="ＭＳ Ｐゴシック"/>
              </a:rPr>
              <a:t>Why does the University of Alabama pay a football coach the same amount that it pays 70 professors</a:t>
            </a:r>
            <a:r>
              <a:rPr b="0" lang="en-US" sz="2400" strike="noStrike" u="none">
                <a:solidFill>
                  <a:srgbClr val="000000"/>
                </a:solidFill>
                <a:effectLst/>
                <a:uFillTx/>
                <a:latin typeface="Arial"/>
                <a:ea typeface="ＭＳ Ｐゴシック"/>
              </a:rPr>
              <a:t>?</a:t>
            </a:r>
            <a:endParaRPr b="0" lang="en-US" sz="2400" strike="noStrike" u="none">
              <a:solidFill>
                <a:srgbClr val="000000"/>
              </a:solidFill>
              <a:effectLst/>
              <a:uFillTx/>
              <a:latin typeface="Arial"/>
            </a:endParaRPr>
          </a:p>
          <a:p>
            <a:pPr marL="108000">
              <a:lnSpc>
                <a:spcPct val="100000"/>
              </a:lnSpc>
              <a:spcBef>
                <a:spcPts val="601"/>
              </a:spcBef>
              <a:spcAft>
                <a:spcPts val="601"/>
              </a:spcAft>
            </a:pPr>
            <a:r>
              <a:rPr b="0" lang="en-US" sz="2400" strike="noStrike" u="none">
                <a:solidFill>
                  <a:srgbClr val="000000"/>
                </a:solidFill>
                <a:effectLst/>
                <a:uFillTx/>
                <a:latin typeface="Arial"/>
                <a:ea typeface="ＭＳ Ｐゴシック"/>
              </a:rPr>
              <a:t>Nick Saban is worth 70 professors because his value of marginal product (</a:t>
            </a:r>
            <a:r>
              <a:rPr b="0" i="1" lang="en-US" sz="2400" strike="noStrike" u="none">
                <a:solidFill>
                  <a:srgbClr val="000000"/>
                </a:solidFill>
                <a:effectLst/>
                <a:uFillTx/>
                <a:latin typeface="Arial"/>
                <a:ea typeface="ＭＳ Ｐゴシック"/>
              </a:rPr>
              <a:t>VMP </a:t>
            </a:r>
            <a:r>
              <a:rPr b="0" lang="en-US" sz="2400" strike="noStrike" u="none">
                <a:solidFill>
                  <a:srgbClr val="000000"/>
                </a:solidFill>
                <a:effectLst/>
                <a:uFillTx/>
                <a:latin typeface="Arial"/>
                <a:ea typeface="ＭＳ Ｐゴシック"/>
              </a:rPr>
              <a:t>) to the University of Alabama is </a:t>
            </a:r>
            <a:br>
              <a:rPr sz="2400"/>
            </a:br>
            <a:r>
              <a:rPr b="0" lang="en-US" sz="2400" strike="noStrike" u="none">
                <a:solidFill>
                  <a:srgbClr val="000000"/>
                </a:solidFill>
                <a:effectLst/>
                <a:uFillTx/>
                <a:latin typeface="Arial"/>
                <a:ea typeface="ＭＳ Ｐゴシック"/>
              </a:rPr>
              <a:t>70 times that of a professor.</a:t>
            </a:r>
            <a:endParaRPr b="0" lang="en-US" sz="2400" strike="noStrike" u="none">
              <a:solidFill>
                <a:srgbClr val="000000"/>
              </a:solidFill>
              <a:effectLst/>
              <a:uFillTx/>
              <a:latin typeface="Arial"/>
            </a:endParaRPr>
          </a:p>
          <a:p>
            <a:pPr marL="108000">
              <a:lnSpc>
                <a:spcPct val="100000"/>
              </a:lnSpc>
              <a:spcBef>
                <a:spcPts val="601"/>
              </a:spcBef>
              <a:spcAft>
                <a:spcPts val="601"/>
              </a:spcAft>
            </a:pPr>
            <a:r>
              <a:rPr b="0" lang="en-AU" sz="2400" strike="noStrike" u="none">
                <a:solidFill>
                  <a:srgbClr val="000000"/>
                </a:solidFill>
                <a:effectLst/>
                <a:uFillTx/>
                <a:latin typeface="Arial"/>
                <a:ea typeface="ＭＳ Ｐゴシック"/>
              </a:rPr>
              <a:t>Few people have the talent and willingness to work hard and take the stress of being head coach of a topflight college football team.</a:t>
            </a:r>
            <a:endParaRPr b="0" lang="en-US" sz="2400" strike="noStrike" u="none">
              <a:solidFill>
                <a:srgbClr val="000000"/>
              </a:solidFill>
              <a:effectLst/>
              <a:uFillTx/>
              <a:latin typeface="Arial"/>
            </a:endParaRPr>
          </a:p>
          <a:p>
            <a:pPr marL="114480">
              <a:lnSpc>
                <a:spcPct val="100000"/>
              </a:lnSpc>
              <a:spcBef>
                <a:spcPts val="1400"/>
              </a:spcBef>
              <a:spcAft>
                <a:spcPts val="300"/>
              </a:spcAft>
            </a:pPr>
            <a:endParaRPr b="0" lang="en-US" sz="2400" strike="noStrike" u="none">
              <a:solidFill>
                <a:srgbClr val="000000"/>
              </a:solidFill>
              <a:effectLst/>
              <a:uFillTx/>
              <a:latin typeface="Arial"/>
            </a:endParaRPr>
          </a:p>
        </p:txBody>
      </p:sp>
      <p:pic>
        <p:nvPicPr>
          <p:cNvPr id="321" name="Picture 1" descr=""/>
          <p:cNvPicPr/>
          <p:nvPr/>
        </p:nvPicPr>
        <p:blipFill>
          <a:blip r:embed="rId1"/>
          <a:stretch/>
        </p:blipFill>
        <p:spPr>
          <a:xfrm>
            <a:off x="0" y="0"/>
            <a:ext cx="5563800" cy="1336320"/>
          </a:xfrm>
          <a:prstGeom prst="rect">
            <a:avLst/>
          </a:prstGeom>
          <a:noFill/>
          <a:ln w="0">
            <a:noFill/>
          </a:ln>
        </p:spPr>
      </p:pic>
    </p:spTree>
  </p:cSld>
  <p:transition spd="slow">
    <p:wipe dir="r"/>
  </p:transition>
  <p:timing>
    <p:tnLst>
      <p:par>
        <p:cTn id="1047" dur="indefinite" restart="never" nodeType="tmRoot">
          <p:childTnLst>
            <p:seq>
              <p:cTn id="1048" dur="indefinite" nodeType="mainSeq">
                <p:childTnLst>
                  <p:par>
                    <p:cTn id="1049" nodeType="clickEffect" fill="hold">
                      <p:stCondLst>
                        <p:cond delay="indefinite"/>
                      </p:stCondLst>
                      <p:childTnLst>
                        <p:par>
                          <p:cTn id="1050" nodeType="withEffect" fill="hold">
                            <p:stCondLst>
                              <p:cond delay="0"/>
                            </p:stCondLst>
                            <p:childTnLst>
                              <p:par>
                                <p:cTn id="1051" nodeType="clickEffect" fill="hold" presetClass="entr" presetID="22" presetSubtype="8">
                                  <p:stCondLst>
                                    <p:cond delay="0"/>
                                  </p:stCondLst>
                                  <p:childTnLst>
                                    <p:set>
                                      <p:cBhvr>
                                        <p:cTn id="1052" dur="1" fill="hold">
                                          <p:stCondLst>
                                            <p:cond delay="0"/>
                                          </p:stCondLst>
                                        </p:cTn>
                                        <p:tgtEl>
                                          <p:spTgt spid="320">
                                            <p:txEl>
                                              <p:pRg st="0" end="0"/>
                                            </p:txEl>
                                          </p:spTgt>
                                        </p:tgtEl>
                                        <p:attrNameLst>
                                          <p:attrName>style.visibility</p:attrName>
                                        </p:attrNameLst>
                                      </p:cBhvr>
                                      <p:to>
                                        <p:strVal val="visible"/>
                                      </p:to>
                                    </p:set>
                                    <p:animEffect filter="wipe(left)" transition="in">
                                      <p:cBhvr additive="repl">
                                        <p:cTn id="1053" dur="1000"/>
                                        <p:tgtEl>
                                          <p:spTgt spid="320">
                                            <p:txEl>
                                              <p:pRg st="0" end="0"/>
                                            </p:txEl>
                                          </p:spTgt>
                                        </p:tgtEl>
                                      </p:cBhvr>
                                    </p:animEffect>
                                  </p:childTnLst>
                                </p:cTn>
                              </p:par>
                            </p:childTnLst>
                          </p:cTn>
                        </p:par>
                      </p:childTnLst>
                    </p:cTn>
                  </p:par>
                  <p:par>
                    <p:cTn id="1054" nodeType="clickEffect" fill="hold">
                      <p:stCondLst>
                        <p:cond delay="indefinite"/>
                      </p:stCondLst>
                      <p:childTnLst>
                        <p:par>
                          <p:cTn id="1055" nodeType="withEffect" fill="hold">
                            <p:stCondLst>
                              <p:cond delay="0"/>
                            </p:stCondLst>
                            <p:childTnLst>
                              <p:par>
                                <p:cTn id="1056" nodeType="clickEffect" fill="hold" presetClass="entr" presetID="22" presetSubtype="8">
                                  <p:stCondLst>
                                    <p:cond delay="0"/>
                                  </p:stCondLst>
                                  <p:childTnLst>
                                    <p:set>
                                      <p:cBhvr>
                                        <p:cTn id="1057" dur="1" fill="hold">
                                          <p:stCondLst>
                                            <p:cond delay="0"/>
                                          </p:stCondLst>
                                        </p:cTn>
                                        <p:tgtEl>
                                          <p:spTgt spid="320">
                                            <p:txEl>
                                              <p:pRg st="1" end="1"/>
                                            </p:txEl>
                                          </p:spTgt>
                                        </p:tgtEl>
                                        <p:attrNameLst>
                                          <p:attrName>style.visibility</p:attrName>
                                        </p:attrNameLst>
                                      </p:cBhvr>
                                      <p:to>
                                        <p:strVal val="visible"/>
                                      </p:to>
                                    </p:set>
                                    <p:animEffect filter="wipe(left)" transition="in">
                                      <p:cBhvr additive="repl">
                                        <p:cTn id="1058" dur="1000"/>
                                        <p:tgtEl>
                                          <p:spTgt spid="320">
                                            <p:txEl>
                                              <p:pRg st="1" end="1"/>
                                            </p:txEl>
                                          </p:spTgt>
                                        </p:tgtEl>
                                      </p:cBhvr>
                                    </p:animEffect>
                                  </p:childTnLst>
                                </p:cTn>
                              </p:par>
                            </p:childTnLst>
                          </p:cTn>
                        </p:par>
                      </p:childTnLst>
                    </p:cTn>
                  </p:par>
                  <p:par>
                    <p:cTn id="1059" nodeType="clickEffect" fill="hold">
                      <p:stCondLst>
                        <p:cond delay="indefinite"/>
                      </p:stCondLst>
                      <p:childTnLst>
                        <p:par>
                          <p:cTn id="1060" nodeType="withEffect" fill="hold">
                            <p:stCondLst>
                              <p:cond delay="0"/>
                            </p:stCondLst>
                            <p:childTnLst>
                              <p:par>
                                <p:cTn id="1061" nodeType="clickEffect" fill="hold" presetClass="entr" presetID="22" presetSubtype="8">
                                  <p:stCondLst>
                                    <p:cond delay="0"/>
                                  </p:stCondLst>
                                  <p:childTnLst>
                                    <p:set>
                                      <p:cBhvr>
                                        <p:cTn id="1062" dur="1" fill="hold">
                                          <p:stCondLst>
                                            <p:cond delay="0"/>
                                          </p:stCondLst>
                                        </p:cTn>
                                        <p:tgtEl>
                                          <p:spTgt spid="320">
                                            <p:txEl>
                                              <p:pRg st="2" end="2"/>
                                            </p:txEl>
                                          </p:spTgt>
                                        </p:tgtEl>
                                        <p:attrNameLst>
                                          <p:attrName>style.visibility</p:attrName>
                                        </p:attrNameLst>
                                      </p:cBhvr>
                                      <p:to>
                                        <p:strVal val="visible"/>
                                      </p:to>
                                    </p:set>
                                    <p:animEffect filter="wipe(left)" transition="in">
                                      <p:cBhvr additive="repl">
                                        <p:cTn id="1063" dur="1000"/>
                                        <p:tgtEl>
                                          <p:spTgt spid="320">
                                            <p:txEl>
                                              <p:pRg st="2" end="2"/>
                                            </p:txEl>
                                          </p:spTgt>
                                        </p:tgtEl>
                                      </p:cBhvr>
                                    </p:animEffect>
                                  </p:childTnLst>
                                </p:cTn>
                              </p:par>
                            </p:childTnLst>
                          </p:cTn>
                        </p:par>
                      </p:childTnLst>
                    </p:cTn>
                  </p:par>
                  <p:par>
                    <p:cTn id="1064" nodeType="clickEffect" fill="hold">
                      <p:stCondLst>
                        <p:cond delay="indefinite"/>
                      </p:stCondLst>
                      <p:childTnLst>
                        <p:par>
                          <p:cTn id="1065" nodeType="withEffect" fill="hold">
                            <p:stCondLst>
                              <p:cond delay="0"/>
                            </p:stCondLst>
                            <p:childTnLst>
                              <p:par>
                                <p:cTn id="1066" nodeType="clickEffect" fill="hold" presetClass="entr" presetID="22" presetSubtype="8">
                                  <p:stCondLst>
                                    <p:cond delay="0"/>
                                  </p:stCondLst>
                                  <p:childTnLst>
                                    <p:set>
                                      <p:cBhvr>
                                        <p:cTn id="1067" dur="1" fill="hold">
                                          <p:stCondLst>
                                            <p:cond delay="0"/>
                                          </p:stCondLst>
                                        </p:cTn>
                                        <p:tgtEl>
                                          <p:spTgt spid="320">
                                            <p:txEl>
                                              <p:pRg st="3" end="3"/>
                                            </p:txEl>
                                          </p:spTgt>
                                        </p:tgtEl>
                                        <p:attrNameLst>
                                          <p:attrName>style.visibility</p:attrName>
                                        </p:attrNameLst>
                                      </p:cBhvr>
                                      <p:to>
                                        <p:strVal val="visible"/>
                                      </p:to>
                                    </p:set>
                                    <p:animEffect filter="wipe(left)" transition="in">
                                      <p:cBhvr additive="repl">
                                        <p:cTn id="1068" dur="1000"/>
                                        <p:tgtEl>
                                          <p:spTgt spid="320">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2" name="Rectangle 3"/>
          <p:cNvSpPr/>
          <p:nvPr/>
        </p:nvSpPr>
        <p:spPr>
          <a:xfrm>
            <a:off x="360360" y="1511280"/>
            <a:ext cx="8229240" cy="4876560"/>
          </a:xfrm>
          <a:prstGeom prst="rect">
            <a:avLst/>
          </a:prstGeom>
          <a:noFill/>
          <a:ln w="0">
            <a:noFill/>
          </a:ln>
        </p:spPr>
        <p:style>
          <a:lnRef idx="0"/>
          <a:fillRef idx="0"/>
          <a:effectRef idx="0"/>
          <a:fontRef idx="minor"/>
        </p:style>
        <p:txBody>
          <a:bodyPr lIns="90000" rIns="90000" tIns="45000" bIns="45000" anchor="t">
            <a:noAutofit/>
          </a:bodyPr>
          <a:p>
            <a:pPr marL="108000">
              <a:lnSpc>
                <a:spcPct val="100000"/>
              </a:lnSpc>
              <a:spcBef>
                <a:spcPts val="601"/>
              </a:spcBef>
              <a:spcAft>
                <a:spcPts val="601"/>
              </a:spcAft>
            </a:pPr>
            <a:r>
              <a:rPr b="0" lang="en-US" sz="2400" strike="noStrike" u="none">
                <a:solidFill>
                  <a:srgbClr val="000000"/>
                </a:solidFill>
                <a:effectLst/>
                <a:uFillTx/>
                <a:latin typeface="Arial"/>
                <a:ea typeface="ＭＳ Ｐゴシック"/>
              </a:rPr>
              <a:t>The supply of coaches like Nick Saban is small and inelastic.</a:t>
            </a:r>
            <a:endParaRPr b="0" lang="en-US" sz="2400" strike="noStrike" u="none">
              <a:solidFill>
                <a:srgbClr val="000000"/>
              </a:solidFill>
              <a:effectLst/>
              <a:uFillTx/>
              <a:latin typeface="Arial"/>
            </a:endParaRPr>
          </a:p>
          <a:p>
            <a:pPr marL="108000">
              <a:lnSpc>
                <a:spcPct val="100000"/>
              </a:lnSpc>
              <a:spcBef>
                <a:spcPts val="601"/>
              </a:spcBef>
              <a:spcAft>
                <a:spcPts val="601"/>
              </a:spcAft>
            </a:pPr>
            <a:r>
              <a:rPr b="0" lang="en-US" sz="2400" strike="noStrike" u="none">
                <a:solidFill>
                  <a:srgbClr val="000000"/>
                </a:solidFill>
                <a:effectLst/>
                <a:uFillTx/>
                <a:latin typeface="Arial"/>
                <a:ea typeface="ＭＳ Ｐゴシック"/>
              </a:rPr>
              <a:t>To hire a top coach, the University of Alabama must pay the market price and that price is determined by the small supply and a high </a:t>
            </a:r>
            <a:r>
              <a:rPr b="0" i="1" lang="en-US" sz="2400" strike="noStrike" u="none">
                <a:solidFill>
                  <a:srgbClr val="000000"/>
                </a:solidFill>
                <a:effectLst/>
                <a:uFillTx/>
                <a:latin typeface="Arial"/>
                <a:ea typeface="ＭＳ Ｐゴシック"/>
              </a:rPr>
              <a:t>VMP</a:t>
            </a:r>
            <a:r>
              <a:rPr b="0" lang="en-US" sz="2400" strike="noStrike" u="none">
                <a:solidFill>
                  <a:srgbClr val="000000"/>
                </a:solidFill>
                <a:effectLst/>
                <a:uFillTx/>
                <a:latin typeface="Arial"/>
                <a:ea typeface="ＭＳ Ｐゴシック"/>
              </a:rPr>
              <a:t>.</a:t>
            </a:r>
            <a:endParaRPr b="0" lang="en-US" sz="2400" strike="noStrike" u="none">
              <a:solidFill>
                <a:srgbClr val="000000"/>
              </a:solidFill>
              <a:effectLst/>
              <a:uFillTx/>
              <a:latin typeface="Arial"/>
            </a:endParaRPr>
          </a:p>
          <a:p>
            <a:pPr marL="108000">
              <a:lnSpc>
                <a:spcPct val="100000"/>
              </a:lnSpc>
              <a:spcBef>
                <a:spcPts val="601"/>
              </a:spcBef>
              <a:spcAft>
                <a:spcPts val="601"/>
              </a:spcAft>
            </a:pPr>
            <a:r>
              <a:rPr b="0" lang="en-US" sz="2400" strike="noStrike" u="none">
                <a:solidFill>
                  <a:srgbClr val="000000"/>
                </a:solidFill>
                <a:effectLst/>
                <a:uFillTx/>
                <a:latin typeface="Arial"/>
                <a:ea typeface="ＭＳ Ｐゴシック"/>
              </a:rPr>
              <a:t>The </a:t>
            </a:r>
            <a:r>
              <a:rPr b="0" i="1" lang="en-US" sz="2400" strike="noStrike" u="none">
                <a:solidFill>
                  <a:srgbClr val="000000"/>
                </a:solidFill>
                <a:effectLst/>
                <a:uFillTx/>
                <a:latin typeface="Arial"/>
                <a:ea typeface="ＭＳ Ｐゴシック"/>
              </a:rPr>
              <a:t>VMP</a:t>
            </a:r>
            <a:r>
              <a:rPr b="0" lang="en-US" sz="2400" strike="noStrike" u="none">
                <a:solidFill>
                  <a:srgbClr val="000000"/>
                </a:solidFill>
                <a:effectLst/>
                <a:uFillTx/>
                <a:latin typeface="Arial"/>
                <a:ea typeface="ＭＳ Ｐゴシック"/>
              </a:rPr>
              <a:t> of a football coach is high, because of the revenue that a successful football team generates.</a:t>
            </a:r>
            <a:endParaRPr b="0" lang="en-US" sz="2400" strike="noStrike" u="none">
              <a:solidFill>
                <a:srgbClr val="000000"/>
              </a:solidFill>
              <a:effectLst/>
              <a:uFillTx/>
              <a:latin typeface="Arial"/>
            </a:endParaRPr>
          </a:p>
          <a:p>
            <a:pPr marL="108000">
              <a:lnSpc>
                <a:spcPct val="100000"/>
              </a:lnSpc>
              <a:spcBef>
                <a:spcPts val="601"/>
              </a:spcBef>
              <a:spcAft>
                <a:spcPts val="601"/>
              </a:spcAft>
            </a:pPr>
            <a:r>
              <a:rPr b="0" lang="en-US" sz="2400" strike="noStrike" u="none">
                <a:solidFill>
                  <a:srgbClr val="000000"/>
                </a:solidFill>
                <a:effectLst/>
                <a:uFillTx/>
                <a:latin typeface="Arial"/>
                <a:ea typeface="ＭＳ Ｐゴシック"/>
              </a:rPr>
              <a:t>Most of the revenue comes from increased donations by alumni and wealthy local and national patrons.</a:t>
            </a:r>
            <a:endParaRPr b="0" lang="en-US" sz="2400" strike="noStrike" u="none">
              <a:solidFill>
                <a:srgbClr val="000000"/>
              </a:solidFill>
              <a:effectLst/>
              <a:uFillTx/>
              <a:latin typeface="Arial"/>
            </a:endParaRPr>
          </a:p>
          <a:p>
            <a:pPr marL="108000">
              <a:lnSpc>
                <a:spcPct val="100000"/>
              </a:lnSpc>
              <a:spcBef>
                <a:spcPts val="601"/>
              </a:spcBef>
              <a:spcAft>
                <a:spcPts val="601"/>
              </a:spcAft>
            </a:pPr>
            <a:r>
              <a:rPr b="0" lang="en-US" sz="2400" strike="noStrike" u="none">
                <a:solidFill>
                  <a:srgbClr val="000000"/>
                </a:solidFill>
                <a:effectLst/>
                <a:uFillTx/>
                <a:latin typeface="Arial"/>
                <a:ea typeface="ＭＳ Ｐゴシック"/>
              </a:rPr>
              <a:t>The better the coach, the better is the team’s performance and the greater is the revenue from these sources. </a:t>
            </a:r>
            <a:endParaRPr b="0" lang="en-US" sz="2400" strike="noStrike" u="none">
              <a:solidFill>
                <a:srgbClr val="000000"/>
              </a:solidFill>
              <a:effectLst/>
              <a:uFillTx/>
              <a:latin typeface="Arial"/>
            </a:endParaRPr>
          </a:p>
          <a:p>
            <a:pPr marL="114480">
              <a:lnSpc>
                <a:spcPct val="100000"/>
              </a:lnSpc>
              <a:spcBef>
                <a:spcPts val="1199"/>
              </a:spcBef>
              <a:spcAft>
                <a:spcPts val="300"/>
              </a:spcAft>
            </a:pPr>
            <a:endParaRPr b="0" lang="en-US" sz="2400" strike="noStrike" u="none">
              <a:solidFill>
                <a:srgbClr val="000000"/>
              </a:solidFill>
              <a:effectLst/>
              <a:uFillTx/>
              <a:latin typeface="Arial"/>
            </a:endParaRPr>
          </a:p>
        </p:txBody>
      </p:sp>
      <p:pic>
        <p:nvPicPr>
          <p:cNvPr id="323" name="Picture 3" descr=""/>
          <p:cNvPicPr/>
          <p:nvPr/>
        </p:nvPicPr>
        <p:blipFill>
          <a:blip r:embed="rId1"/>
          <a:stretch/>
        </p:blipFill>
        <p:spPr>
          <a:xfrm>
            <a:off x="0" y="0"/>
            <a:ext cx="5563800" cy="1336320"/>
          </a:xfrm>
          <a:prstGeom prst="rect">
            <a:avLst/>
          </a:prstGeom>
          <a:noFill/>
          <a:ln w="0">
            <a:noFill/>
          </a:ln>
        </p:spPr>
      </p:pic>
    </p:spTree>
  </p:cSld>
  <p:transition spd="slow">
    <p:wipe dir="r"/>
  </p:transition>
  <p:timing>
    <p:tnLst>
      <p:par>
        <p:cTn id="1069" dur="indefinite" restart="never" nodeType="tmRoot">
          <p:childTnLst>
            <p:seq>
              <p:cTn id="1070" dur="indefinite" nodeType="mainSeq">
                <p:childTnLst>
                  <p:par>
                    <p:cTn id="1071" nodeType="clickEffect" fill="hold">
                      <p:stCondLst>
                        <p:cond delay="indefinite"/>
                      </p:stCondLst>
                      <p:childTnLst>
                        <p:par>
                          <p:cTn id="1072" nodeType="withEffect" fill="hold">
                            <p:stCondLst>
                              <p:cond delay="0"/>
                            </p:stCondLst>
                            <p:childTnLst>
                              <p:par>
                                <p:cTn id="1073" nodeType="clickEffect" fill="hold" presetClass="entr" presetID="22" presetSubtype="8">
                                  <p:stCondLst>
                                    <p:cond delay="0"/>
                                  </p:stCondLst>
                                  <p:childTnLst>
                                    <p:set>
                                      <p:cBhvr>
                                        <p:cTn id="1074" dur="1" fill="hold">
                                          <p:stCondLst>
                                            <p:cond delay="0"/>
                                          </p:stCondLst>
                                        </p:cTn>
                                        <p:tgtEl>
                                          <p:spTgt spid="322">
                                            <p:txEl>
                                              <p:pRg st="1" end="1"/>
                                            </p:txEl>
                                          </p:spTgt>
                                        </p:tgtEl>
                                        <p:attrNameLst>
                                          <p:attrName>style.visibility</p:attrName>
                                        </p:attrNameLst>
                                      </p:cBhvr>
                                      <p:to>
                                        <p:strVal val="visible"/>
                                      </p:to>
                                    </p:set>
                                    <p:animEffect filter="wipe(left)" transition="in">
                                      <p:cBhvr additive="repl">
                                        <p:cTn id="1075" dur="500"/>
                                        <p:tgtEl>
                                          <p:spTgt spid="322">
                                            <p:txEl>
                                              <p:pRg st="1" end="1"/>
                                            </p:txEl>
                                          </p:spTgt>
                                        </p:tgtEl>
                                      </p:cBhvr>
                                    </p:animEffect>
                                  </p:childTnLst>
                                </p:cTn>
                              </p:par>
                            </p:childTnLst>
                          </p:cTn>
                        </p:par>
                      </p:childTnLst>
                    </p:cTn>
                  </p:par>
                  <p:par>
                    <p:cTn id="1076" nodeType="clickEffect" fill="hold">
                      <p:stCondLst>
                        <p:cond delay="indefinite"/>
                      </p:stCondLst>
                      <p:childTnLst>
                        <p:par>
                          <p:cTn id="1077" nodeType="withEffect" fill="hold">
                            <p:stCondLst>
                              <p:cond delay="0"/>
                            </p:stCondLst>
                            <p:childTnLst>
                              <p:par>
                                <p:cTn id="1078" nodeType="clickEffect" fill="hold" presetClass="entr" presetID="22" presetSubtype="8">
                                  <p:stCondLst>
                                    <p:cond delay="0"/>
                                  </p:stCondLst>
                                  <p:childTnLst>
                                    <p:set>
                                      <p:cBhvr>
                                        <p:cTn id="1079" dur="1" fill="hold">
                                          <p:stCondLst>
                                            <p:cond delay="0"/>
                                          </p:stCondLst>
                                        </p:cTn>
                                        <p:tgtEl>
                                          <p:spTgt spid="322">
                                            <p:txEl>
                                              <p:pRg st="2" end="2"/>
                                            </p:txEl>
                                          </p:spTgt>
                                        </p:tgtEl>
                                        <p:attrNameLst>
                                          <p:attrName>style.visibility</p:attrName>
                                        </p:attrNameLst>
                                      </p:cBhvr>
                                      <p:to>
                                        <p:strVal val="visible"/>
                                      </p:to>
                                    </p:set>
                                    <p:animEffect filter="wipe(left)" transition="in">
                                      <p:cBhvr additive="repl">
                                        <p:cTn id="1080" dur="500"/>
                                        <p:tgtEl>
                                          <p:spTgt spid="322">
                                            <p:txEl>
                                              <p:pRg st="2" end="2"/>
                                            </p:txEl>
                                          </p:spTgt>
                                        </p:tgtEl>
                                      </p:cBhvr>
                                    </p:animEffect>
                                  </p:childTnLst>
                                </p:cTn>
                              </p:par>
                            </p:childTnLst>
                          </p:cTn>
                        </p:par>
                      </p:childTnLst>
                    </p:cTn>
                  </p:par>
                  <p:par>
                    <p:cTn id="1081" nodeType="clickEffect" fill="hold">
                      <p:stCondLst>
                        <p:cond delay="indefinite"/>
                      </p:stCondLst>
                      <p:childTnLst>
                        <p:par>
                          <p:cTn id="1082" nodeType="withEffect" fill="hold">
                            <p:stCondLst>
                              <p:cond delay="0"/>
                            </p:stCondLst>
                            <p:childTnLst>
                              <p:par>
                                <p:cTn id="1083" nodeType="clickEffect" fill="hold" presetClass="entr" presetID="22" presetSubtype="8">
                                  <p:stCondLst>
                                    <p:cond delay="0"/>
                                  </p:stCondLst>
                                  <p:childTnLst>
                                    <p:set>
                                      <p:cBhvr>
                                        <p:cTn id="1084" dur="1" fill="hold">
                                          <p:stCondLst>
                                            <p:cond delay="0"/>
                                          </p:stCondLst>
                                        </p:cTn>
                                        <p:tgtEl>
                                          <p:spTgt spid="322">
                                            <p:txEl>
                                              <p:pRg st="3" end="3"/>
                                            </p:txEl>
                                          </p:spTgt>
                                        </p:tgtEl>
                                        <p:attrNameLst>
                                          <p:attrName>style.visibility</p:attrName>
                                        </p:attrNameLst>
                                      </p:cBhvr>
                                      <p:to>
                                        <p:strVal val="visible"/>
                                      </p:to>
                                    </p:set>
                                    <p:animEffect filter="wipe(left)" transition="in">
                                      <p:cBhvr additive="repl">
                                        <p:cTn id="1085" dur="1000"/>
                                        <p:tgtEl>
                                          <p:spTgt spid="322">
                                            <p:txEl>
                                              <p:pRg st="3" end="3"/>
                                            </p:txEl>
                                          </p:spTgt>
                                        </p:tgtEl>
                                      </p:cBhvr>
                                    </p:animEffect>
                                  </p:childTnLst>
                                </p:cTn>
                              </p:par>
                            </p:childTnLst>
                          </p:cTn>
                        </p:par>
                      </p:childTnLst>
                    </p:cTn>
                  </p:par>
                  <p:par>
                    <p:cTn id="1086" nodeType="clickEffect" fill="hold">
                      <p:stCondLst>
                        <p:cond delay="indefinite"/>
                      </p:stCondLst>
                      <p:childTnLst>
                        <p:par>
                          <p:cTn id="1087" nodeType="withEffect" fill="hold">
                            <p:stCondLst>
                              <p:cond delay="0"/>
                            </p:stCondLst>
                            <p:childTnLst>
                              <p:par>
                                <p:cTn id="1088" nodeType="clickEffect" fill="hold" presetClass="entr" presetID="22" presetSubtype="8">
                                  <p:stCondLst>
                                    <p:cond delay="0"/>
                                  </p:stCondLst>
                                  <p:childTnLst>
                                    <p:set>
                                      <p:cBhvr>
                                        <p:cTn id="1089" dur="1" fill="hold">
                                          <p:stCondLst>
                                            <p:cond delay="0"/>
                                          </p:stCondLst>
                                        </p:cTn>
                                        <p:tgtEl>
                                          <p:spTgt spid="322">
                                            <p:txEl>
                                              <p:pRg st="4" end="4"/>
                                            </p:txEl>
                                          </p:spTgt>
                                        </p:tgtEl>
                                        <p:attrNameLst>
                                          <p:attrName>style.visibility</p:attrName>
                                        </p:attrNameLst>
                                      </p:cBhvr>
                                      <p:to>
                                        <p:strVal val="visible"/>
                                      </p:to>
                                    </p:set>
                                    <p:animEffect filter="wipe(left)" transition="in">
                                      <p:cBhvr additive="repl">
                                        <p:cTn id="1090" dur="1000"/>
                                        <p:tgtEl>
                                          <p:spTgt spid="322">
                                            <p:txEl>
                                              <p:pRg st="4" end="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4" name="Rectangle 3"/>
          <p:cNvSpPr/>
          <p:nvPr/>
        </p:nvSpPr>
        <p:spPr>
          <a:xfrm>
            <a:off x="360360" y="1511280"/>
            <a:ext cx="8229240" cy="3885840"/>
          </a:xfrm>
          <a:prstGeom prst="rect">
            <a:avLst/>
          </a:prstGeom>
          <a:noFill/>
          <a:ln w="0">
            <a:noFill/>
          </a:ln>
        </p:spPr>
        <p:style>
          <a:lnRef idx="0"/>
          <a:fillRef idx="0"/>
          <a:effectRef idx="0"/>
          <a:fontRef idx="minor"/>
        </p:style>
        <p:txBody>
          <a:bodyPr lIns="90000" rIns="90000" tIns="45000" bIns="45000" anchor="t">
            <a:noAutofit/>
          </a:bodyPr>
          <a:p>
            <a:pPr marL="108000">
              <a:lnSpc>
                <a:spcPct val="100000"/>
              </a:lnSpc>
              <a:spcBef>
                <a:spcPts val="601"/>
              </a:spcBef>
              <a:spcAft>
                <a:spcPts val="601"/>
              </a:spcAft>
            </a:pPr>
            <a:r>
              <a:rPr b="0" lang="en-US" sz="2400" strike="noStrike" u="none">
                <a:solidFill>
                  <a:srgbClr val="000000"/>
                </a:solidFill>
                <a:effectLst/>
                <a:uFillTx/>
                <a:latin typeface="Arial"/>
                <a:ea typeface="ＭＳ Ｐゴシック"/>
              </a:rPr>
              <a:t>Nick Saban brings in at least $7 million a year to the University of Alabama.</a:t>
            </a:r>
            <a:endParaRPr b="0" lang="en-US" sz="2400" strike="noStrike" u="none">
              <a:solidFill>
                <a:srgbClr val="000000"/>
              </a:solidFill>
              <a:effectLst/>
              <a:uFillTx/>
              <a:latin typeface="Arial"/>
            </a:endParaRPr>
          </a:p>
          <a:p>
            <a:pPr marL="108000">
              <a:lnSpc>
                <a:spcPct val="100000"/>
              </a:lnSpc>
              <a:spcBef>
                <a:spcPts val="601"/>
              </a:spcBef>
              <a:spcAft>
                <a:spcPts val="601"/>
              </a:spcAft>
            </a:pPr>
            <a:r>
              <a:rPr b="0" lang="en-US" sz="2400" strike="noStrike" u="none">
                <a:solidFill>
                  <a:srgbClr val="000000"/>
                </a:solidFill>
                <a:effectLst/>
                <a:uFillTx/>
                <a:latin typeface="Arial"/>
                <a:ea typeface="ＭＳ Ｐゴシック"/>
              </a:rPr>
              <a:t>In contrast, a professor, even an outstanding one, generates a modest revenue for the University. </a:t>
            </a:r>
            <a:endParaRPr b="0" lang="en-US" sz="2400" strike="noStrike" u="none">
              <a:solidFill>
                <a:srgbClr val="000000"/>
              </a:solidFill>
              <a:effectLst/>
              <a:uFillTx/>
              <a:latin typeface="Arial"/>
            </a:endParaRPr>
          </a:p>
          <a:p>
            <a:pPr marL="108000">
              <a:lnSpc>
                <a:spcPct val="100000"/>
              </a:lnSpc>
              <a:spcBef>
                <a:spcPts val="601"/>
              </a:spcBef>
              <a:spcAft>
                <a:spcPts val="601"/>
              </a:spcAft>
            </a:pPr>
            <a:r>
              <a:rPr b="0" lang="en-US" sz="2400" strike="noStrike" u="none">
                <a:solidFill>
                  <a:srgbClr val="000000"/>
                </a:solidFill>
                <a:effectLst/>
                <a:uFillTx/>
                <a:latin typeface="Arial"/>
                <a:ea typeface="ＭＳ Ｐゴシック"/>
              </a:rPr>
              <a:t>He or she attracts a few students and obtains some research grant funds from the National Science Foundation or other private foundations. </a:t>
            </a:r>
            <a:endParaRPr b="0" lang="en-US" sz="2400" strike="noStrike" u="none">
              <a:solidFill>
                <a:srgbClr val="000000"/>
              </a:solidFill>
              <a:effectLst/>
              <a:uFillTx/>
              <a:latin typeface="Arial"/>
            </a:endParaRPr>
          </a:p>
          <a:p>
            <a:pPr marL="108000">
              <a:lnSpc>
                <a:spcPct val="100000"/>
              </a:lnSpc>
              <a:spcBef>
                <a:spcPts val="601"/>
              </a:spcBef>
              <a:spcAft>
                <a:spcPts val="601"/>
              </a:spcAft>
            </a:pPr>
            <a:r>
              <a:rPr b="0" lang="en-US" sz="2400" strike="noStrike" u="none">
                <a:solidFill>
                  <a:srgbClr val="000000"/>
                </a:solidFill>
                <a:effectLst/>
                <a:uFillTx/>
                <a:latin typeface="Arial"/>
                <a:ea typeface="ＭＳ Ｐゴシック"/>
              </a:rPr>
              <a:t>But the </a:t>
            </a:r>
            <a:r>
              <a:rPr b="0" i="1" lang="en-US" sz="2400" strike="noStrike" u="none">
                <a:solidFill>
                  <a:srgbClr val="000000"/>
                </a:solidFill>
                <a:effectLst/>
                <a:uFillTx/>
                <a:latin typeface="Arial"/>
                <a:ea typeface="ＭＳ Ｐゴシック"/>
              </a:rPr>
              <a:t>VMP</a:t>
            </a:r>
            <a:r>
              <a:rPr b="0" lang="en-US" sz="2400" strike="noStrike" u="none">
                <a:solidFill>
                  <a:srgbClr val="000000"/>
                </a:solidFill>
                <a:effectLst/>
                <a:uFillTx/>
                <a:latin typeface="Arial"/>
                <a:ea typeface="ＭＳ Ｐゴシック"/>
              </a:rPr>
              <a:t> of a professor is modest—around a 70th of the </a:t>
            </a:r>
            <a:r>
              <a:rPr b="0" i="1" lang="en-US" sz="2400" strike="noStrike" u="none">
                <a:solidFill>
                  <a:srgbClr val="000000"/>
                </a:solidFill>
                <a:effectLst/>
                <a:uFillTx/>
                <a:latin typeface="Arial"/>
                <a:ea typeface="ＭＳ Ｐゴシック"/>
              </a:rPr>
              <a:t>VMP</a:t>
            </a:r>
            <a:r>
              <a:rPr b="0" lang="en-US" sz="2400" strike="noStrike" u="none">
                <a:solidFill>
                  <a:srgbClr val="000000"/>
                </a:solidFill>
                <a:effectLst/>
                <a:uFillTx/>
                <a:latin typeface="Arial"/>
                <a:ea typeface="ＭＳ Ｐゴシック"/>
              </a:rPr>
              <a:t> of Nick Saban.</a:t>
            </a:r>
            <a:endParaRPr b="0" lang="en-US" sz="2400" strike="noStrike" u="none">
              <a:solidFill>
                <a:srgbClr val="000000"/>
              </a:solidFill>
              <a:effectLst/>
              <a:uFillTx/>
              <a:latin typeface="Arial"/>
            </a:endParaRPr>
          </a:p>
        </p:txBody>
      </p:sp>
      <p:pic>
        <p:nvPicPr>
          <p:cNvPr id="325" name="Picture 3" descr=""/>
          <p:cNvPicPr/>
          <p:nvPr/>
        </p:nvPicPr>
        <p:blipFill>
          <a:blip r:embed="rId1"/>
          <a:stretch/>
        </p:blipFill>
        <p:spPr>
          <a:xfrm>
            <a:off x="0" y="0"/>
            <a:ext cx="5563800" cy="1336320"/>
          </a:xfrm>
          <a:prstGeom prst="rect">
            <a:avLst/>
          </a:prstGeom>
          <a:noFill/>
          <a:ln w="0">
            <a:noFill/>
          </a:ln>
        </p:spPr>
      </p:pic>
    </p:spTree>
  </p:cSld>
  <p:transition spd="slow">
    <p:wipe dir="r"/>
  </p:transition>
  <p:timing>
    <p:tnLst>
      <p:par>
        <p:cTn id="1091" dur="indefinite" restart="never" nodeType="tmRoot">
          <p:childTnLst>
            <p:seq>
              <p:cTn id="1092" dur="indefinite" nodeType="mainSeq">
                <p:childTnLst>
                  <p:par>
                    <p:cTn id="1093" nodeType="clickEffect" fill="hold">
                      <p:stCondLst>
                        <p:cond delay="indefinite"/>
                      </p:stCondLst>
                      <p:childTnLst>
                        <p:par>
                          <p:cTn id="1094" nodeType="withEffect" fill="hold">
                            <p:stCondLst>
                              <p:cond delay="0"/>
                            </p:stCondLst>
                            <p:childTnLst>
                              <p:par>
                                <p:cTn id="1095" nodeType="clickEffect" fill="hold" presetClass="entr" presetID="22" presetSubtype="8">
                                  <p:stCondLst>
                                    <p:cond delay="0"/>
                                  </p:stCondLst>
                                  <p:childTnLst>
                                    <p:set>
                                      <p:cBhvr>
                                        <p:cTn id="1096" dur="1" fill="hold">
                                          <p:stCondLst>
                                            <p:cond delay="0"/>
                                          </p:stCondLst>
                                        </p:cTn>
                                        <p:tgtEl>
                                          <p:spTgt spid="324">
                                            <p:txEl>
                                              <p:pRg st="1" end="1"/>
                                            </p:txEl>
                                          </p:spTgt>
                                        </p:tgtEl>
                                        <p:attrNameLst>
                                          <p:attrName>style.visibility</p:attrName>
                                        </p:attrNameLst>
                                      </p:cBhvr>
                                      <p:to>
                                        <p:strVal val="visible"/>
                                      </p:to>
                                    </p:set>
                                    <p:animEffect filter="wipe(left)" transition="in">
                                      <p:cBhvr additive="repl">
                                        <p:cTn id="1097" dur="500"/>
                                        <p:tgtEl>
                                          <p:spTgt spid="324">
                                            <p:txEl>
                                              <p:pRg st="1" end="1"/>
                                            </p:txEl>
                                          </p:spTgt>
                                        </p:tgtEl>
                                      </p:cBhvr>
                                    </p:animEffect>
                                  </p:childTnLst>
                                </p:cTn>
                              </p:par>
                            </p:childTnLst>
                          </p:cTn>
                        </p:par>
                      </p:childTnLst>
                    </p:cTn>
                  </p:par>
                  <p:par>
                    <p:cTn id="1098" nodeType="clickEffect" fill="hold">
                      <p:stCondLst>
                        <p:cond delay="indefinite"/>
                      </p:stCondLst>
                      <p:childTnLst>
                        <p:par>
                          <p:cTn id="1099" nodeType="withEffect" fill="hold">
                            <p:stCondLst>
                              <p:cond delay="0"/>
                            </p:stCondLst>
                            <p:childTnLst>
                              <p:par>
                                <p:cTn id="1100" nodeType="clickEffect" fill="hold" presetClass="entr" presetID="22" presetSubtype="8">
                                  <p:stCondLst>
                                    <p:cond delay="0"/>
                                  </p:stCondLst>
                                  <p:childTnLst>
                                    <p:set>
                                      <p:cBhvr>
                                        <p:cTn id="1101" dur="1" fill="hold">
                                          <p:stCondLst>
                                            <p:cond delay="0"/>
                                          </p:stCondLst>
                                        </p:cTn>
                                        <p:tgtEl>
                                          <p:spTgt spid="324">
                                            <p:txEl>
                                              <p:pRg st="2" end="2"/>
                                            </p:txEl>
                                          </p:spTgt>
                                        </p:tgtEl>
                                        <p:attrNameLst>
                                          <p:attrName>style.visibility</p:attrName>
                                        </p:attrNameLst>
                                      </p:cBhvr>
                                      <p:to>
                                        <p:strVal val="visible"/>
                                      </p:to>
                                    </p:set>
                                    <p:animEffect filter="wipe(left)" transition="in">
                                      <p:cBhvr additive="repl">
                                        <p:cTn id="1102" dur="1000"/>
                                        <p:tgtEl>
                                          <p:spTgt spid="324">
                                            <p:txEl>
                                              <p:pRg st="2" end="2"/>
                                            </p:txEl>
                                          </p:spTgt>
                                        </p:tgtEl>
                                      </p:cBhvr>
                                    </p:animEffect>
                                  </p:childTnLst>
                                </p:cTn>
                              </p:par>
                            </p:childTnLst>
                          </p:cTn>
                        </p:par>
                      </p:childTnLst>
                    </p:cTn>
                  </p:par>
                  <p:par>
                    <p:cTn id="1103" nodeType="clickEffect" fill="hold">
                      <p:stCondLst>
                        <p:cond delay="indefinite"/>
                      </p:stCondLst>
                      <p:childTnLst>
                        <p:par>
                          <p:cTn id="1104" nodeType="withEffect" fill="hold">
                            <p:stCondLst>
                              <p:cond delay="0"/>
                            </p:stCondLst>
                            <p:childTnLst>
                              <p:par>
                                <p:cTn id="1105" nodeType="clickEffect" fill="hold" presetClass="entr" presetID="22" presetSubtype="8">
                                  <p:stCondLst>
                                    <p:cond delay="0"/>
                                  </p:stCondLst>
                                  <p:childTnLst>
                                    <p:set>
                                      <p:cBhvr>
                                        <p:cTn id="1106" dur="1" fill="hold">
                                          <p:stCondLst>
                                            <p:cond delay="0"/>
                                          </p:stCondLst>
                                        </p:cTn>
                                        <p:tgtEl>
                                          <p:spTgt spid="324">
                                            <p:txEl>
                                              <p:pRg st="3" end="3"/>
                                            </p:txEl>
                                          </p:spTgt>
                                        </p:tgtEl>
                                        <p:attrNameLst>
                                          <p:attrName>style.visibility</p:attrName>
                                        </p:attrNameLst>
                                      </p:cBhvr>
                                      <p:to>
                                        <p:strVal val="visible"/>
                                      </p:to>
                                    </p:set>
                                    <p:animEffect filter="wipe(left)" transition="in">
                                      <p:cBhvr additive="repl">
                                        <p:cTn id="1107" dur="1000"/>
                                        <p:tgtEl>
                                          <p:spTgt spid="324">
                                            <p:txEl>
                                              <p:pRg st="3" end="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6_Custom Design">
  <a:themeElements>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3_Custom Design">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9_newdesign">
  <a:themeElements>
    <a:clrScheme name="1_new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1_newdesign">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10_newdesign">
  <a:themeElements>
    <a:clrScheme name="3_new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3_newdesign">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11_newdesign">
  <a:themeElements>
    <a:clrScheme name="3_new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3_newdesign">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5_Custom Design">
  <a:themeElements>
    <a:clrScheme name="1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Custom Design">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9_foundations">
  <a:themeElements>
    <a:clrScheme name="9_foundations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9_foundations">
      <a:majorFont>
        <a:latin typeface="Arial" pitchFamily="0" charset="1"/>
        <a:ea typeface="ＭＳ Ｐゴシック" pitchFamily="0" charset="1"/>
        <a:cs typeface=""/>
      </a:majorFont>
      <a:minorFont>
        <a:latin typeface="Arial" pitchFamily="0" charset="1"/>
        <a:ea typeface="ＭＳ Ｐゴシック" pitchFamily="0" charset="1"/>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10_foundations">
  <a:themeElements>
    <a:clrScheme name="9_foundations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9_foundations">
      <a:majorFont>
        <a:latin typeface="Arial" pitchFamily="0" charset="1"/>
        <a:ea typeface="ＭＳ Ｐゴシック" pitchFamily="0" charset="1"/>
        <a:cs typeface=""/>
      </a:majorFont>
      <a:minorFont>
        <a:latin typeface="Arial" pitchFamily="0" charset="1"/>
        <a:ea typeface="ＭＳ Ｐゴシック" pitchFamily="0" charset="1"/>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Foundations 2e</Template>
  <TotalTime>17824</TotalTime>
  <Application>LibreOffice/25.2.3.2$MacOSX_AARCH64 LibreOffice_project/bbb074479178df812d175f709636b368952c2ce3</Application>
  <AppVersion>15.0000</AppVersion>
  <Words>3266</Words>
  <Paragraphs>314</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2000-11-24T17:02:06Z</dcterms:created>
  <dc:creator>Robin Bade and Michael Parkin</dc:creator>
  <dc:description/>
  <dc:language>en-US</dc:language>
  <cp:lastModifiedBy/>
  <dcterms:modified xsi:type="dcterms:W3CDTF">2025-07-29T07:29:17Z</dcterms:modified>
  <cp:revision>217</cp:revision>
  <dc:subject/>
  <dc:title>Chapter18</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HiddenSlides">
    <vt:i4>9</vt:i4>
  </property>
  <property fmtid="{D5CDD505-2E9C-101B-9397-08002B2CF9AE}" pid="3" name="Notes">
    <vt:i4>66</vt:i4>
  </property>
  <property fmtid="{D5CDD505-2E9C-101B-9397-08002B2CF9AE}" pid="4" name="PresentationFormat">
    <vt:lpwstr>On-screen Show (4:3)</vt:lpwstr>
  </property>
  <property fmtid="{D5CDD505-2E9C-101B-9397-08002B2CF9AE}" pid="5" name="Slides">
    <vt:i4>66</vt:i4>
  </property>
</Properties>
</file>