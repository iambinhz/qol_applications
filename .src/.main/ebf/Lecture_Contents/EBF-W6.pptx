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4.xml" ContentType="application/vnd.openxmlformats-officedocument.theme+xml"/>
  <Override PartName="/ppt/theme/theme9.xml" ContentType="application/vnd.openxmlformats-officedocument.them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7.xml" ContentType="application/vnd.openxmlformats-officedocument.presentationml.slideMaster+xml"/>
  <Override PartName="/ppt/notesMasters/_rels/notesMaster1.xml.rels" ContentType="application/vnd.openxmlformats-package.relationships+xml"/>
  <Override PartName="/ppt/notesMasters/notesMaster1.xml" ContentType="application/vnd.openxmlformats-officedocument.presentationml.notesMaster+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media/image17.png" ContentType="image/png"/>
  <Override PartName="/ppt/media/image92.png" ContentType="image/png"/>
  <Override PartName="/ppt/media/image37.png" ContentType="image/png"/>
  <Override PartName="/ppt/media/image21.png" ContentType="image/png"/>
  <Override PartName="/ppt/media/image35.png" ContentType="image/png"/>
  <Override PartName="/ppt/media/image1.jpeg" ContentType="image/jpeg"/>
  <Override PartName="/ppt/media/image116.png" ContentType="image/png"/>
  <Override PartName="/ppt/media/image83.png" ContentType="image/png"/>
  <Override PartName="/ppt/media/image41.png" ContentType="image/png"/>
  <Override PartName="/ppt/media/image11.png" ContentType="image/png"/>
  <Override PartName="/ppt/media/image36.png" ContentType="image/png"/>
  <Override PartName="/ppt/media/image12.png" ContentType="image/png"/>
  <Override PartName="/ppt/media/image13.png" ContentType="image/png"/>
  <Override PartName="/ppt/media/image38.png" ContentType="image/png"/>
  <Override PartName="/ppt/media/image14.png" ContentType="image/png"/>
  <Override PartName="/ppt/media/image39.png" ContentType="image/png"/>
  <Override PartName="/ppt/media/image16.png" ContentType="image/png"/>
  <Override PartName="/ppt/media/image91.png" ContentType="image/png"/>
  <Override PartName="/ppt/media/image10.png" ContentType="image/png"/>
  <Override PartName="/ppt/media/image69.png" ContentType="image/png"/>
  <Override PartName="/ppt/media/image18.png" ContentType="image/png"/>
  <Override PartName="/ppt/media/image2.jpeg" ContentType="image/jpeg"/>
  <Override PartName="/ppt/media/image93.png" ContentType="image/png"/>
  <Override PartName="/ppt/media/image100.png" ContentType="image/png"/>
  <Override PartName="/ppt/media/image19.png" ContentType="image/png"/>
  <Override PartName="/ppt/media/image94.png" ContentType="image/png"/>
  <Override PartName="/ppt/media/image101.png" ContentType="image/png"/>
  <Override PartName="/ppt/media/image20.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media/image27.png" ContentType="image/png"/>
  <Override PartName="/ppt/media/image28.png" ContentType="image/png"/>
  <Override PartName="/ppt/media/image29.png" ContentType="image/png"/>
  <Override PartName="/ppt/media/image30.png" ContentType="image/png"/>
  <Override PartName="/ppt/media/image89.png" ContentType="image/png"/>
  <Override PartName="/ppt/media/image31.png" ContentType="image/png"/>
  <Override PartName="/ppt/media/image32.png" ContentType="image/png"/>
  <Override PartName="/ppt/media/image33.png" ContentType="image/png"/>
  <Override PartName="/ppt/media/image34.png" ContentType="image/png"/>
  <Override PartName="/ppt/media/image42.png" ContentType="image/png"/>
  <Override PartName="/ppt/media/image43.png" ContentType="image/png"/>
  <Override PartName="/ppt/media/image44.png" ContentType="image/png"/>
  <Override PartName="/ppt/media/image45.png" ContentType="image/png"/>
  <Override PartName="/ppt/media/image46.png" ContentType="image/png"/>
  <Override PartName="/ppt/media/image47.png" ContentType="image/png"/>
  <Override PartName="/ppt/media/image48.png" ContentType="image/png"/>
  <Override PartName="/ppt/media/image49.png" ContentType="image/png"/>
  <Override PartName="/ppt/media/image119.png" ContentType="image/png"/>
  <Override PartName="/ppt/media/image50.png" ContentType="image/png"/>
  <Override PartName="/ppt/media/image51.png" ContentType="image/png"/>
  <Override PartName="/ppt/media/image52.png" ContentType="image/png"/>
  <Override PartName="/ppt/media/image53.png" ContentType="image/png"/>
  <Override PartName="/ppt/media/image54.png" ContentType="image/png"/>
  <Override PartName="/ppt/media/image55.png" ContentType="image/png"/>
  <Override PartName="/ppt/media/image56.png" ContentType="image/png"/>
  <Override PartName="/ppt/media/image60.png" ContentType="image/png"/>
  <Override PartName="/ppt/media/image61.png" ContentType="image/png"/>
  <Override PartName="/ppt/media/image62.png" ContentType="image/png"/>
  <Override PartName="/ppt/media/image63.png" ContentType="image/png"/>
  <Override PartName="/ppt/media/image64.png" ContentType="image/png"/>
  <Override PartName="/ppt/media/image70.png" ContentType="image/png"/>
  <Override PartName="/ppt/media/image71.png" ContentType="image/png"/>
  <Override PartName="/ppt/media/image3.png" ContentType="image/png"/>
  <Override PartName="/ppt/media/image72.png" ContentType="image/png"/>
  <Override PartName="/ppt/media/image73.png" ContentType="image/png"/>
  <Override PartName="/ppt/media/image4.png" ContentType="image/png"/>
  <Override PartName="/ppt/media/image74.png" ContentType="image/png"/>
  <Override PartName="/ppt/media/image5.png" ContentType="image/png"/>
  <Override PartName="/ppt/media/image123.png" ContentType="image/png"/>
  <Override PartName="/ppt/media/image9.png" ContentType="image/png"/>
  <Override PartName="/ppt/media/image78.png" ContentType="image/png"/>
  <Override PartName="/ppt/media/image84.png" ContentType="image/png"/>
  <Override PartName="/ppt/media/image85.png" ContentType="image/png"/>
  <Override PartName="/ppt/media/image114.png" ContentType="image/png"/>
  <Override PartName="/ppt/media/image88.png" ContentType="image/png"/>
  <Override PartName="/ppt/media/image102.png" ContentType="image/png"/>
  <Override PartName="/ppt/media/image95.png" ContentType="image/png"/>
  <Override PartName="/ppt/media/image117.png" ContentType="image/png"/>
  <Override PartName="/ppt/media/image75.png" ContentType="image/png"/>
  <Override PartName="/ppt/media/image6.png" ContentType="image/png"/>
  <Override PartName="/ppt/media/image57.png" ContentType="image/png"/>
  <Override PartName="/ppt/media/image103.png" ContentType="image/png"/>
  <Override PartName="/ppt/media/image96.png" ContentType="image/png"/>
  <Override PartName="/ppt/media/image104.png" ContentType="image/png"/>
  <Override PartName="/ppt/media/image97.png" ContentType="image/png"/>
  <Override PartName="/ppt/media/image15.png" ContentType="image/png"/>
  <Override PartName="/ppt/media/image90.png" ContentType="image/png"/>
  <Override PartName="/ppt/media/image77.png" ContentType="image/png"/>
  <Override PartName="/ppt/media/image8.png" ContentType="image/png"/>
  <Override PartName="/ppt/media/image59.png" ContentType="image/png"/>
  <Override PartName="/ppt/media/image105.png" ContentType="image/png"/>
  <Override PartName="/ppt/media/image98.png" ContentType="image/png"/>
  <Override PartName="/ppt/media/image118.png" ContentType="image/png"/>
  <Override PartName="/ppt/media/image76.png" ContentType="image/png"/>
  <Override PartName="/ppt/media/image7.png" ContentType="image/png"/>
  <Override PartName="/ppt/media/image58.png" ContentType="image/png"/>
  <Override PartName="/ppt/media/image109.png" ContentType="image/png"/>
  <Override PartName="/ppt/media/image40.png" ContentType="image/png"/>
  <Override PartName="/ppt/media/image106.png" ContentType="image/png"/>
  <Override PartName="/ppt/media/image99.png" ContentType="image/png"/>
  <Override PartName="/ppt/media/image65.png" ContentType="image/png"/>
  <Override PartName="/ppt/media/image110.png" ContentType="image/png"/>
  <Override PartName="/ppt/media/image80.png" ContentType="image/png"/>
  <Override PartName="/ppt/media/image66.png" ContentType="image/png"/>
  <Override PartName="/ppt/media/image111.png" ContentType="image/png"/>
  <Override PartName="/ppt/media/image81.png" ContentType="image/png"/>
  <Override PartName="/ppt/media/image67.png" ContentType="image/png"/>
  <Override PartName="/ppt/media/image112.png" ContentType="image/png"/>
  <Override PartName="/ppt/media/image82.png" ContentType="image/png"/>
  <Override PartName="/ppt/media/image68.png" ContentType="image/png"/>
  <Override PartName="/ppt/media/image113.png" ContentType="image/png"/>
  <Override PartName="/ppt/media/image86.png" ContentType="image/png"/>
  <Override PartName="/ppt/media/image87.png" ContentType="image/png"/>
  <Override PartName="/ppt/media/image115.jpeg" ContentType="image/jpeg"/>
  <Override PartName="/ppt/media/image120.png" ContentType="image/png"/>
  <Override PartName="/ppt/media/image121.png" ContentType="image/png"/>
  <Override PartName="/ppt/media/image107.png" ContentType="image/png"/>
  <Override PartName="/ppt/media/image122.png" ContentType="image/png"/>
  <Override PartName="/ppt/media/image108.png" ContentType="image/png"/>
  <Override PartName="/ppt/media/image79.png" ContentType="image/png"/>
  <Override PartName="/ppt/media/image124.png" ContentType="image/png"/>
  <Override PartName="/ppt/media/image125.png" ContentType="image/png"/>
  <Override PartName="/ppt/slides/slide16.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69.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20.xml" ContentType="application/vnd.openxmlformats-officedocument.presentationml.slide+xml"/>
  <Override PartName="/ppt/slides/slide7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37.xml" ContentType="application/vnd.openxmlformats-officedocument.presentationml.slide+xml"/>
  <Override PartName="/ppt/slides/slide70.xml" ContentType="application/vnd.openxmlformats-officedocument.presentationml.slide+xml"/>
  <Override PartName="/ppt/slides/slide38.xml" ContentType="application/vnd.openxmlformats-officedocument.presentationml.slide+xml"/>
  <Override PartName="/ppt/slides/slide71.xml" ContentType="application/vnd.openxmlformats-officedocument.presentationml.slide+xml"/>
  <Override PartName="/ppt/slides/_rels/slide85.xml.rels" ContentType="application/vnd.openxmlformats-package.relationships+xml"/>
  <Override PartName="/ppt/slides/_rels/slide84.xml.rels" ContentType="application/vnd.openxmlformats-package.relationships+xml"/>
  <Override PartName="/ppt/slides/_rels/slide78.xml.rels" ContentType="application/vnd.openxmlformats-package.relationships+xml"/>
  <Override PartName="/ppt/slides/_rels/slide83.xml.rels" ContentType="application/vnd.openxmlformats-package.relationships+xml"/>
  <Override PartName="/ppt/slides/_rels/slide68.xml.rels" ContentType="application/vnd.openxmlformats-package.relationships+xml"/>
  <Override PartName="/ppt/slides/_rels/slide77.xml.rels" ContentType="application/vnd.openxmlformats-package.relationships+xml"/>
  <Override PartName="/ppt/slides/_rels/slide82.xml.rels" ContentType="application/vnd.openxmlformats-package.relationships+xml"/>
  <Override PartName="/ppt/slides/_rels/slide49.xml.rels" ContentType="application/vnd.openxmlformats-package.relationships+xml"/>
  <Override PartName="/ppt/slides/_rels/slide9.xml.rels" ContentType="application/vnd.openxmlformats-package.relationships+xml"/>
  <Override PartName="/ppt/slides/_rels/slide67.xml.rels" ContentType="application/vnd.openxmlformats-package.relationships+xml"/>
  <Override PartName="/ppt/slides/_rels/slide76.xml.rels" ContentType="application/vnd.openxmlformats-package.relationships+xml"/>
  <Override PartName="/ppt/slides/_rels/slide81.xml.rels" ContentType="application/vnd.openxmlformats-package.relationships+xml"/>
  <Override PartName="/ppt/slides/_rels/slide48.xml.rels" ContentType="application/vnd.openxmlformats-package.relationships+xml"/>
  <Override PartName="/ppt/slides/_rels/slide8.xml.rels" ContentType="application/vnd.openxmlformats-package.relationships+xml"/>
  <Override PartName="/ppt/slides/_rels/slide66.xml.rels" ContentType="application/vnd.openxmlformats-package.relationships+xml"/>
  <Override PartName="/ppt/slides/_rels/slide75.xml.rels" ContentType="application/vnd.openxmlformats-package.relationships+xml"/>
  <Override PartName="/ppt/slides/_rels/slide80.xml.rels" ContentType="application/vnd.openxmlformats-package.relationships+xml"/>
  <Override PartName="/ppt/slides/_rels/slide47.xml.rels" ContentType="application/vnd.openxmlformats-package.relationships+xml"/>
  <Override PartName="/ppt/slides/_rels/slide7.xml.rels" ContentType="application/vnd.openxmlformats-package.relationships+xml"/>
  <Override PartName="/ppt/slides/_rels/slide65.xml.rels" ContentType="application/vnd.openxmlformats-package.relationships+xml"/>
  <Override PartName="/ppt/slides/_rels/slide74.xml.rels" ContentType="application/vnd.openxmlformats-package.relationships+xml"/>
  <Override PartName="/ppt/slides/_rels/slide73.xml.rels" ContentType="application/vnd.openxmlformats-package.relationships+xml"/>
  <Override PartName="/ppt/slides/_rels/slide72.xml.rels" ContentType="application/vnd.openxmlformats-package.relationships+xml"/>
  <Override PartName="/ppt/slides/_rels/slide39.xml.rels" ContentType="application/vnd.openxmlformats-package.relationships+xml"/>
  <Override PartName="/ppt/slides/_rels/slide71.xml.rels" ContentType="application/vnd.openxmlformats-package.relationships+xml"/>
  <Override PartName="/ppt/slides/_rels/slide38.xml.rels" ContentType="application/vnd.openxmlformats-package.relationships+xml"/>
  <Override PartName="/ppt/slides/_rels/slide70.xml.rels" ContentType="application/vnd.openxmlformats-package.relationships+xml"/>
  <Override PartName="/ppt/slides/_rels/slide37.xml.rels" ContentType="application/vnd.openxmlformats-package.relationships+xml"/>
  <Override PartName="/ppt/slides/_rels/slide64.xml.rels" ContentType="application/vnd.openxmlformats-package.relationships+xml"/>
  <Override PartName="/ppt/slides/_rels/slide63.xml.rels" ContentType="application/vnd.openxmlformats-package.relationships+xml"/>
  <Override PartName="/ppt/slides/_rels/slide62.xml.rels" ContentType="application/vnd.openxmlformats-package.relationships+xml"/>
  <Override PartName="/ppt/slides/_rels/slide61.xml.rels" ContentType="application/vnd.openxmlformats-package.relationships+xml"/>
  <Override PartName="/ppt/slides/_rels/slide60.xml.rels" ContentType="application/vnd.openxmlformats-package.relationships+xml"/>
  <Override PartName="/ppt/slides/_rels/slide59.xml.rels" ContentType="application/vnd.openxmlformats-package.relationships+xml"/>
  <Override PartName="/ppt/slides/_rels/slide58.xml.rels" ContentType="application/vnd.openxmlformats-package.relationships+xml"/>
  <Override PartName="/ppt/slides/_rels/slide57.xml.rels" ContentType="application/vnd.openxmlformats-package.relationships+xml"/>
  <Override PartName="/ppt/slides/_rels/slide56.xml.rels" ContentType="application/vnd.openxmlformats-package.relationships+xml"/>
  <Override PartName="/ppt/slides/_rels/slide55.xml.rels" ContentType="application/vnd.openxmlformats-package.relationships+xml"/>
  <Override PartName="/ppt/slides/_rels/slide54.xml.rels" ContentType="application/vnd.openxmlformats-package.relationships+xml"/>
  <Override PartName="/ppt/slides/_rels/slide53.xml.rels" ContentType="application/vnd.openxmlformats-package.relationships+xml"/>
  <Override PartName="/ppt/slides/_rels/slide5.xml.rels" ContentType="application/vnd.openxmlformats-package.relationships+xml"/>
  <Override PartName="/ppt/slides/_rels/slide45.xml.rels" ContentType="application/vnd.openxmlformats-package.relationships+xml"/>
  <Override PartName="/ppt/slides/_rels/slide44.xml.rels" ContentType="application/vnd.openxmlformats-package.relationships+xml"/>
  <Override PartName="/ppt/slides/_rels/slide4.xml.rels" ContentType="application/vnd.openxmlformats-package.relationships+xml"/>
  <Override PartName="/ppt/slides/_rels/slide43.xml.rels" ContentType="application/vnd.openxmlformats-package.relationships+xml"/>
  <Override PartName="/ppt/slides/_rels/slide3.xml.rels" ContentType="application/vnd.openxmlformats-package.relationships+xml"/>
  <Override PartName="/ppt/slides/_rels/slide42.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_rels/slide41.xml.rels" ContentType="application/vnd.openxmlformats-package.relationships+xml"/>
  <Override PartName="/ppt/slides/_rels/slide6.xml.rels" ContentType="application/vnd.openxmlformats-package.relationships+xml"/>
  <Override PartName="/ppt/slides/_rels/slide46.xml.rels" ContentType="application/vnd.openxmlformats-package.relationships+xml"/>
  <Override PartName="/ppt/slides/_rels/slide40.xml.rels" ContentType="application/vnd.openxmlformats-package.relationships+xml"/>
  <Override PartName="/ppt/slides/_rels/slide36.xml.rels" ContentType="application/vnd.openxmlformats-package.relationships+xml"/>
  <Override PartName="/ppt/slides/_rels/slide35.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8.xml.rels" ContentType="application/vnd.openxmlformats-package.relationships+xml"/>
  <Override PartName="/ppt/slides/_rels/slide27.xml.rels" ContentType="application/vnd.openxmlformats-package.relationships+xml"/>
  <Override PartName="/ppt/slides/_rels/slide20.xml.rels" ContentType="application/vnd.openxmlformats-package.relationships+xml"/>
  <Override PartName="/ppt/slides/_rels/slide79.xml.rels" ContentType="application/vnd.openxmlformats-package.relationships+xml"/>
  <Override PartName="/ppt/slides/_rels/slide26.xml.rels" ContentType="application/vnd.openxmlformats-package.relationships+xml"/>
  <Override PartName="/ppt/slides/_rels/slide25.xml.rels" ContentType="application/vnd.openxmlformats-package.relationships+xml"/>
  <Override PartName="/ppt/slides/_rels/slide24.xml.rels" ContentType="application/vnd.openxmlformats-package.relationships+xml"/>
  <Override PartName="/ppt/slides/_rels/slide23.xml.rels" ContentType="application/vnd.openxmlformats-package.relationships+xml"/>
  <Override PartName="/ppt/slides/_rels/slide22.xml.rels" ContentType="application/vnd.openxmlformats-package.relationships+xml"/>
  <Override PartName="/ppt/slides/_rels/slide21.xml.rels" ContentType="application/vnd.openxmlformats-package.relationships+xml"/>
  <Override PartName="/ppt/slides/_rels/slide30.xml.rels" ContentType="application/vnd.openxmlformats-package.relationships+xml"/>
  <Override PartName="/ppt/slides/_rels/slide15.xml.rels" ContentType="application/vnd.openxmlformats-package.relationships+xml"/>
  <Override PartName="/ppt/slides/_rels/slide14.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52.xml.rels" ContentType="application/vnd.openxmlformats-package.relationships+xml"/>
  <Override PartName="/ppt/slides/_rels/slide19.xml.rels" ContentType="application/vnd.openxmlformats-package.relationships+xml"/>
  <Override PartName="/ppt/slides/_rels/slide51.xml.rels" ContentType="application/vnd.openxmlformats-package.relationships+xml"/>
  <Override PartName="/ppt/slides/_rels/slide18.xml.rels" ContentType="application/vnd.openxmlformats-package.relationships+xml"/>
  <Override PartName="/ppt/slides/_rels/slide50.xml.rels" ContentType="application/vnd.openxmlformats-package.relationships+xml"/>
  <Override PartName="/ppt/slides/_rels/slide17.xml.rels" ContentType="application/vnd.openxmlformats-package.relationships+xml"/>
  <Override PartName="/ppt/slides/_rels/slide16.xml.rels" ContentType="application/vnd.openxmlformats-package.relationships+xml"/>
  <Override PartName="/ppt/slides/_rels/slide10.xml.rels" ContentType="application/vnd.openxmlformats-package.relationships+xml"/>
  <Override PartName="/ppt/slides/_rels/slide69.xml.rels" ContentType="application/vnd.openxmlformats-package.relationships+xml"/>
  <Override PartName="/ppt/slides/_rels/slide11.xml.rels" ContentType="application/vnd.openxmlformats-package.relationships+xml"/>
  <Override PartName="/ppt/slides/_rels/slide29.xml.rels" ContentType="application/vnd.openxmlformats-package.relationships+xml"/>
  <Override PartName="/ppt/slides/slide39.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65.xml" ContentType="application/vnd.openxmlformats-officedocument.presentationml.slide+xml"/>
  <Override PartName="/ppt/slides/slide47.xml" ContentType="application/vnd.openxmlformats-officedocument.presentationml.slide+xml"/>
  <Override PartName="/ppt/slides/slide80.xml" ContentType="application/vnd.openxmlformats-officedocument.presentationml.slide+xml"/>
  <Override PartName="/ppt/slides/slide75.xml" ContentType="application/vnd.openxmlformats-officedocument.presentationml.slide+xml"/>
  <Override PartName="/ppt/slides/slide66.xml" ContentType="application/vnd.openxmlformats-officedocument.presentationml.slide+xml"/>
  <Override PartName="/ppt/slides/slide48.xml" ContentType="application/vnd.openxmlformats-officedocument.presentationml.slide+xml"/>
  <Override PartName="/ppt/slides/slide81.xml" ContentType="application/vnd.openxmlformats-officedocument.presentationml.slide+xml"/>
  <Override PartName="/ppt/slides/slide76.xml" ContentType="application/vnd.openxmlformats-officedocument.presentationml.slide+xml"/>
  <Override PartName="/ppt/slides/slide67.xml" ContentType="application/vnd.openxmlformats-officedocument.presentationml.slide+xml"/>
  <Override PartName="/ppt/slides/slide49.xml" ContentType="application/vnd.openxmlformats-officedocument.presentationml.slide+xml"/>
  <Override PartName="/ppt/slides/slide82.xml" ContentType="application/vnd.openxmlformats-officedocument.presentationml.slide+xml"/>
  <Override PartName="/ppt/slides/slide77.xml" ContentType="application/vnd.openxmlformats-officedocument.presentationml.slide+xml"/>
  <Override PartName="/ppt/slides/slide68.xml" ContentType="application/vnd.openxmlformats-officedocument.presentationml.slide+xml"/>
  <Override PartName="/ppt/slides/slide83.xml" ContentType="application/vnd.openxmlformats-officedocument.presentationml.slide+xml"/>
  <Override PartName="/ppt/slides/slide78.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Slides/notesSlide37.xml" ContentType="application/vnd.openxmlformats-officedocument.presentationml.notesSlide+xml"/>
  <Override PartName="/ppt/notesSlides/notesSlide11.xml" ContentType="application/vnd.openxmlformats-officedocument.presentationml.notesSlide+xml"/>
  <Override PartName="/ppt/notesSlides/notesSlide38.xml" ContentType="application/vnd.openxmlformats-officedocument.presentationml.notesSlide+xml"/>
  <Override PartName="/ppt/notesSlides/notesSlide3.xml" ContentType="application/vnd.openxmlformats-officedocument.presentationml.notesSlide+xml"/>
  <Override PartName="/ppt/notesSlides/notesSlide39.xml" ContentType="application/vnd.openxmlformats-officedocument.presentationml.notesSlide+xml"/>
  <Override PartName="/ppt/notesSlides/notesSlide5.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10.xml" ContentType="application/vnd.openxmlformats-officedocument.presentationml.notesSlide+xml"/>
  <Override PartName="/ppt/notesSlides/notesSlide69.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79.xml" ContentType="application/vnd.openxmlformats-officedocument.presentationml.notesSlide+xml"/>
  <Override PartName="/ppt/notesSlides/notesSlide4.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7.xml" ContentType="application/vnd.openxmlformats-officedocument.presentationml.notesSlide+xml"/>
  <Override PartName="/ppt/notesSlides/notesSlide40.xml" ContentType="application/vnd.openxmlformats-officedocument.presentationml.notesSlide+xml"/>
  <Override PartName="/ppt/notesSlides/notesSlide8.xml" ContentType="application/vnd.openxmlformats-officedocument.presentationml.notesSlide+xml"/>
  <Override PartName="/ppt/notesSlides/notesSlide41.xml" ContentType="application/vnd.openxmlformats-officedocument.presentationml.notesSlide+xml"/>
  <Override PartName="/ppt/notesSlides/notesSlide9.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65.xml" ContentType="application/vnd.openxmlformats-officedocument.presentationml.notesSlide+xml"/>
  <Override PartName="/ppt/notesSlides/notesSlide47.xml" ContentType="application/vnd.openxmlformats-officedocument.presentationml.notesSlide+xml"/>
  <Override PartName="/ppt/notesSlides/notesSlide80.xml" ContentType="application/vnd.openxmlformats-officedocument.presentationml.notesSlide+xml"/>
  <Override PartName="/ppt/notesSlides/notesSlide75.xml" ContentType="application/vnd.openxmlformats-officedocument.presentationml.notesSlide+xml"/>
  <Override PartName="/ppt/notesSlides/notesSlide66.xml" ContentType="application/vnd.openxmlformats-officedocument.presentationml.notesSlide+xml"/>
  <Override PartName="/ppt/notesSlides/notesSlide48.xml" ContentType="application/vnd.openxmlformats-officedocument.presentationml.notesSlide+xml"/>
  <Override PartName="/ppt/notesSlides/_rels/notesSlide85.xml.rels" ContentType="application/vnd.openxmlformats-package.relationships+xml"/>
  <Override PartName="/ppt/notesSlides/_rels/notesSlide84.xml.rels" ContentType="application/vnd.openxmlformats-package.relationships+xml"/>
  <Override PartName="/ppt/notesSlides/_rels/notesSlide78.xml.rels" ContentType="application/vnd.openxmlformats-package.relationships+xml"/>
  <Override PartName="/ppt/notesSlides/_rels/notesSlide83.xml.rels" ContentType="application/vnd.openxmlformats-package.relationships+xml"/>
  <Override PartName="/ppt/notesSlides/_rels/notesSlide68.xml.rels" ContentType="application/vnd.openxmlformats-package.relationships+xml"/>
  <Override PartName="/ppt/notesSlides/_rels/notesSlide77.xml.rels" ContentType="application/vnd.openxmlformats-package.relationships+xml"/>
  <Override PartName="/ppt/notesSlides/_rels/notesSlide82.xml.rels" ContentType="application/vnd.openxmlformats-package.relationships+xml"/>
  <Override PartName="/ppt/notesSlides/_rels/notesSlide49.xml.rels" ContentType="application/vnd.openxmlformats-package.relationships+xml"/>
  <Override PartName="/ppt/notesSlides/_rels/notesSlide67.xml.rels" ContentType="application/vnd.openxmlformats-package.relationships+xml"/>
  <Override PartName="/ppt/notesSlides/_rels/notesSlide76.xml.rels" ContentType="application/vnd.openxmlformats-package.relationships+xml"/>
  <Override PartName="/ppt/notesSlides/_rels/notesSlide81.xml.rels" ContentType="application/vnd.openxmlformats-package.relationships+xml"/>
  <Override PartName="/ppt/notesSlides/_rels/notesSlide48.xml.rels" ContentType="application/vnd.openxmlformats-package.relationships+xml"/>
  <Override PartName="/ppt/notesSlides/_rels/notesSlide66.xml.rels" ContentType="application/vnd.openxmlformats-package.relationships+xml"/>
  <Override PartName="/ppt/notesSlides/_rels/notesSlide75.xml.rels" ContentType="application/vnd.openxmlformats-package.relationships+xml"/>
  <Override PartName="/ppt/notesSlides/_rels/notesSlide80.xml.rels" ContentType="application/vnd.openxmlformats-package.relationships+xml"/>
  <Override PartName="/ppt/notesSlides/_rels/notesSlide47.xml.rels" ContentType="application/vnd.openxmlformats-package.relationships+xml"/>
  <Override PartName="/ppt/notesSlides/_rels/notesSlide65.xml.rels" ContentType="application/vnd.openxmlformats-package.relationships+xml"/>
  <Override PartName="/ppt/notesSlides/_rels/notesSlide74.xml.rels" ContentType="application/vnd.openxmlformats-package.relationships+xml"/>
  <Override PartName="/ppt/notesSlides/_rels/notesSlide73.xml.rels" ContentType="application/vnd.openxmlformats-package.relationships+xml"/>
  <Override PartName="/ppt/notesSlides/_rels/notesSlide72.xml.rels" ContentType="application/vnd.openxmlformats-package.relationships+xml"/>
  <Override PartName="/ppt/notesSlides/_rels/notesSlide71.xml.rels" ContentType="application/vnd.openxmlformats-package.relationships+xml"/>
  <Override PartName="/ppt/notesSlides/_rels/notesSlide70.xml.rels" ContentType="application/vnd.openxmlformats-package.relationships+xml"/>
  <Override PartName="/ppt/notesSlides/_rels/notesSlide64.xml.rels" ContentType="application/vnd.openxmlformats-package.relationships+xml"/>
  <Override PartName="/ppt/notesSlides/_rels/notesSlide60.xml.rels" ContentType="application/vnd.openxmlformats-package.relationships+xml"/>
  <Override PartName="/ppt/notesSlides/_rels/notesSlide6.xml.rels" ContentType="application/vnd.openxmlformats-package.relationships+xml"/>
  <Override PartName="/ppt/notesSlides/_rels/notesSlide59.xml.rels" ContentType="application/vnd.openxmlformats-package.relationships+xml"/>
  <Override PartName="/ppt/notesSlides/_rels/notesSlide58.xml.rels" ContentType="application/vnd.openxmlformats-package.relationships+xml"/>
  <Override PartName="/ppt/notesSlides/_rels/notesSlide57.xml.rels" ContentType="application/vnd.openxmlformats-package.relationships+xml"/>
  <Override PartName="/ppt/notesSlides/_rels/notesSlide56.xml.rels" ContentType="application/vnd.openxmlformats-package.relationships+xml"/>
  <Override PartName="/ppt/notesSlides/_rels/notesSlide55.xml.rels" ContentType="application/vnd.openxmlformats-package.relationships+xml"/>
  <Override PartName="/ppt/notesSlides/_rels/notesSlide54.xml.rels" ContentType="application/vnd.openxmlformats-package.relationships+xml"/>
  <Override PartName="/ppt/notesSlides/_rels/notesSlide53.xml.rels" ContentType="application/vnd.openxmlformats-package.relationships+xml"/>
  <Override PartName="/ppt/notesSlides/_rels/notesSlide9.xml.rels" ContentType="application/vnd.openxmlformats-package.relationships+xml"/>
  <Override PartName="/ppt/notesSlides/_rels/notesSlide63.xml.rels" ContentType="application/vnd.openxmlformats-package.relationships+xml"/>
  <Override PartName="/ppt/notesSlides/_rels/notesSlide52.xml.rels" ContentType="application/vnd.openxmlformats-package.relationships+xml"/>
  <Override PartName="/ppt/notesSlides/_rels/notesSlide8.xml.rels" ContentType="application/vnd.openxmlformats-package.relationships+xml"/>
  <Override PartName="/ppt/notesSlides/_rels/notesSlide62.xml.rels" ContentType="application/vnd.openxmlformats-package.relationships+xml"/>
  <Override PartName="/ppt/notesSlides/_rels/notesSlide51.xml.rels" ContentType="application/vnd.openxmlformats-package.relationships+xml"/>
  <Override PartName="/ppt/notesSlides/_rels/notesSlide46.xml.rels" ContentType="application/vnd.openxmlformats-package.relationships+xml"/>
  <Override PartName="/ppt/notesSlides/_rels/notesSlide45.xml.rels" ContentType="application/vnd.openxmlformats-package.relationships+xml"/>
  <Override PartName="/ppt/notesSlides/_rels/notesSlide44.xml.rels" ContentType="application/vnd.openxmlformats-package.relationships+xml"/>
  <Override PartName="/ppt/notesSlides/_rels/notesSlide43.xml.rels" ContentType="application/vnd.openxmlformats-package.relationships+xml"/>
  <Override PartName="/ppt/notesSlides/_rels/notesSlide42.xml.rels" ContentType="application/vnd.openxmlformats-package.relationships+xml"/>
  <Override PartName="/ppt/notesSlides/_rels/notesSlide41.xml.rels" ContentType="application/vnd.openxmlformats-package.relationships+xml"/>
  <Override PartName="/ppt/notesSlides/_rels/notesSlide40.xml.rels" ContentType="application/vnd.openxmlformats-package.relationships+xml"/>
  <Override PartName="/ppt/notesSlides/_rels/notesSlide36.xml.rels" ContentType="application/vnd.openxmlformats-package.relationships+xml"/>
  <Override PartName="/ppt/notesSlides/_rels/notesSlide35.xml.rels" ContentType="application/vnd.openxmlformats-package.relationships+xml"/>
  <Override PartName="/ppt/notesSlides/_rels/notesSlide34.xml.rels" ContentType="application/vnd.openxmlformats-package.relationships+xml"/>
  <Override PartName="/ppt/notesSlides/_rels/notesSlide33.xml.rels" ContentType="application/vnd.openxmlformats-package.relationships+xml"/>
  <Override PartName="/ppt/notesSlides/_rels/notesSlide32.xml.rels" ContentType="application/vnd.openxmlformats-package.relationships+xml"/>
  <Override PartName="/ppt/notesSlides/_rels/notesSlide31.xml.rels" ContentType="application/vnd.openxmlformats-package.relationships+xml"/>
  <Override PartName="/ppt/notesSlides/_rels/notesSlide30.xml.rels" ContentType="application/vnd.openxmlformats-package.relationships+xml"/>
  <Override PartName="/ppt/notesSlides/_rels/notesSlide29.xml.rels" ContentType="application/vnd.openxmlformats-package.relationships+xml"/>
  <Override PartName="/ppt/notesSlides/_rels/notesSlide7.xml.rels" ContentType="application/vnd.openxmlformats-package.relationships+xml"/>
  <Override PartName="/ppt/notesSlides/_rels/notesSlide61.xml.rels" ContentType="application/vnd.openxmlformats-package.relationships+xml"/>
  <Override PartName="/ppt/notesSlides/_rels/notesSlide28.xml.rels" ContentType="application/vnd.openxmlformats-package.relationships+xml"/>
  <Override PartName="/ppt/notesSlides/_rels/notesSlide27.xml.rels" ContentType="application/vnd.openxmlformats-package.relationships+xml"/>
  <Override PartName="/ppt/notesSlides/_rels/notesSlide26.xml.rels" ContentType="application/vnd.openxmlformats-package.relationships+xml"/>
  <Override PartName="/ppt/notesSlides/_rels/notesSlide79.xml.rels" ContentType="application/vnd.openxmlformats-package.relationships+xml"/>
  <Override PartName="/ppt/notesSlides/_rels/notesSlide20.xml.rels" ContentType="application/vnd.openxmlformats-package.relationships+xml"/>
  <Override PartName="/ppt/notesSlides/_rels/notesSlide19.xml.rels" ContentType="application/vnd.openxmlformats-package.relationships+xml"/>
  <Override PartName="/ppt/notesSlides/_rels/notesSlide12.xml.rels" ContentType="application/vnd.openxmlformats-package.relationships+xml"/>
  <Override PartName="/ppt/notesSlides/_rels/notesSlide1.xml.rels" ContentType="application/vnd.openxmlformats-package.relationships+xml"/>
  <Override PartName="/ppt/notesSlides/_rels/notesSlide39.xml.rels" ContentType="application/vnd.openxmlformats-package.relationships+xml"/>
  <Override PartName="/ppt/notesSlides/_rels/notesSlide18.xml.rels" ContentType="application/vnd.openxmlformats-package.relationships+xml"/>
  <Override PartName="/ppt/notesSlides/_rels/notesSlide50.xml.rels" ContentType="application/vnd.openxmlformats-package.relationships+xml"/>
  <Override PartName="/ppt/notesSlides/_rels/notesSlide17.xml.rels" ContentType="application/vnd.openxmlformats-package.relationships+xml"/>
  <Override PartName="/ppt/notesSlides/_rels/notesSlide5.xml.rels" ContentType="application/vnd.openxmlformats-package.relationships+xml"/>
  <Override PartName="/ppt/notesSlides/_rels/notesSlide10.xml.rels" ContentType="application/vnd.openxmlformats-package.relationships+xml"/>
  <Override PartName="/ppt/notesSlides/_rels/notesSlide69.xml.rels" ContentType="application/vnd.openxmlformats-package.relationships+xml"/>
  <Override PartName="/ppt/notesSlides/_rels/notesSlide16.xml.rels" ContentType="application/vnd.openxmlformats-package.relationships+xml"/>
  <Override PartName="/ppt/notesSlides/_rels/notesSlide4.xml.rels" ContentType="application/vnd.openxmlformats-package.relationships+xml"/>
  <Override PartName="/ppt/notesSlides/_rels/notesSlide15.xml.rels" ContentType="application/vnd.openxmlformats-package.relationships+xml"/>
  <Override PartName="/ppt/notesSlides/_rels/notesSlide3.xml.rels" ContentType="application/vnd.openxmlformats-package.relationships+xml"/>
  <Override PartName="/ppt/notesSlides/_rels/notesSlide14.xml.rels" ContentType="application/vnd.openxmlformats-package.relationships+xml"/>
  <Override PartName="/ppt/notesSlides/_rels/notesSlide2.xml.rels" ContentType="application/vnd.openxmlformats-package.relationships+xml"/>
  <Override PartName="/ppt/notesSlides/_rels/notesSlide13.xml.rels" ContentType="application/vnd.openxmlformats-package.relationships+xml"/>
  <Override PartName="/ppt/notesSlides/_rels/notesSlide25.xml.rels" ContentType="application/vnd.openxmlformats-package.relationships+xml"/>
  <Override PartName="/ppt/notesSlides/_rels/notesSlide24.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1.xml.rels" ContentType="application/vnd.openxmlformats-package.relationships+xml"/>
  <Override PartName="/ppt/notesSlides/_rels/notesSlide38.xml.rels" ContentType="application/vnd.openxmlformats-package.relationships+xml"/>
  <Override PartName="/ppt/notesSlides/_rels/notesSlide11.xml.rels" ContentType="application/vnd.openxmlformats-package.relationships+xml"/>
  <Override PartName="/ppt/notesSlides/_rels/notesSlide37.xml.rels" ContentType="application/vnd.openxmlformats-package.relationships+xml"/>
  <Override PartName="/ppt/notesSlides/notesSlide81.xml" ContentType="application/vnd.openxmlformats-officedocument.presentationml.notesSlide+xml"/>
  <Override PartName="/ppt/notesSlides/notesSlide76.xml" ContentType="application/vnd.openxmlformats-officedocument.presentationml.notesSlide+xml"/>
  <Override PartName="/ppt/notesSlides/notesSlide67.xml" ContentType="application/vnd.openxmlformats-officedocument.presentationml.notesSlide+xml"/>
  <Override PartName="/ppt/notesSlides/notesSlide49.xml" ContentType="application/vnd.openxmlformats-officedocument.presentationml.notesSlide+xml"/>
  <Override PartName="/ppt/notesSlides/notesSlide82.xml" ContentType="application/vnd.openxmlformats-officedocument.presentationml.notesSlide+xml"/>
  <Override PartName="/ppt/notesSlides/notesSlide77.xml" ContentType="application/vnd.openxmlformats-officedocument.presentationml.notesSlide+xml"/>
  <Override PartName="/ppt/notesSlides/notesSlide68.xml" ContentType="application/vnd.openxmlformats-officedocument.presentationml.notesSlide+xml"/>
  <Override PartName="/ppt/notesSlides/notesSlide83.xml" ContentType="application/vnd.openxmlformats-officedocument.presentationml.notesSlide+xml"/>
  <Override PartName="/ppt/notesSlides/notesSlide78.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 id="319" r:id="rId73"/>
    <p:sldId id="320" r:id="rId74"/>
    <p:sldId id="321" r:id="rId75"/>
    <p:sldId id="322" r:id="rId76"/>
    <p:sldId id="323" r:id="rId77"/>
    <p:sldId id="324" r:id="rId78"/>
    <p:sldId id="325" r:id="rId79"/>
    <p:sldId id="326" r:id="rId80"/>
    <p:sldId id="327" r:id="rId81"/>
    <p:sldId id="328" r:id="rId82"/>
    <p:sldId id="329" r:id="rId83"/>
    <p:sldId id="330" r:id="rId84"/>
    <p:sldId id="331" r:id="rId85"/>
    <p:sldId id="332" r:id="rId86"/>
    <p:sldId id="333" r:id="rId87"/>
    <p:sldId id="334" r:id="rId88"/>
    <p:sldId id="335" r:id="rId89"/>
    <p:sldId id="336" r:id="rId90"/>
    <p:sldId id="337" r:id="rId91"/>
    <p:sldId id="338" r:id="rId92"/>
    <p:sldId id="339" r:id="rId93"/>
    <p:sldId id="340" r:id="rId94"/>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notesMaster" Target="notesMasters/notesMaster1.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 Id="rId65" Type="http://schemas.openxmlformats.org/officeDocument/2006/relationships/slide" Target="slides/slide56.xml"/><Relationship Id="rId66" Type="http://schemas.openxmlformats.org/officeDocument/2006/relationships/slide" Target="slides/slide57.xml"/><Relationship Id="rId67" Type="http://schemas.openxmlformats.org/officeDocument/2006/relationships/slide" Target="slides/slide58.xml"/><Relationship Id="rId68" Type="http://schemas.openxmlformats.org/officeDocument/2006/relationships/slide" Target="slides/slide59.xml"/><Relationship Id="rId69" Type="http://schemas.openxmlformats.org/officeDocument/2006/relationships/slide" Target="slides/slide60.xml"/><Relationship Id="rId70" Type="http://schemas.openxmlformats.org/officeDocument/2006/relationships/slide" Target="slides/slide61.xml"/><Relationship Id="rId71" Type="http://schemas.openxmlformats.org/officeDocument/2006/relationships/slide" Target="slides/slide62.xml"/><Relationship Id="rId72" Type="http://schemas.openxmlformats.org/officeDocument/2006/relationships/slide" Target="slides/slide63.xml"/><Relationship Id="rId73" Type="http://schemas.openxmlformats.org/officeDocument/2006/relationships/slide" Target="slides/slide64.xml"/><Relationship Id="rId74" Type="http://schemas.openxmlformats.org/officeDocument/2006/relationships/slide" Target="slides/slide65.xml"/><Relationship Id="rId75" Type="http://schemas.openxmlformats.org/officeDocument/2006/relationships/slide" Target="slides/slide66.xml"/><Relationship Id="rId76" Type="http://schemas.openxmlformats.org/officeDocument/2006/relationships/slide" Target="slides/slide67.xml"/><Relationship Id="rId77" Type="http://schemas.openxmlformats.org/officeDocument/2006/relationships/slide" Target="slides/slide68.xml"/><Relationship Id="rId78" Type="http://schemas.openxmlformats.org/officeDocument/2006/relationships/slide" Target="slides/slide69.xml"/><Relationship Id="rId79" Type="http://schemas.openxmlformats.org/officeDocument/2006/relationships/slide" Target="slides/slide70.xml"/><Relationship Id="rId80" Type="http://schemas.openxmlformats.org/officeDocument/2006/relationships/slide" Target="slides/slide71.xml"/><Relationship Id="rId81" Type="http://schemas.openxmlformats.org/officeDocument/2006/relationships/slide" Target="slides/slide72.xml"/><Relationship Id="rId82" Type="http://schemas.openxmlformats.org/officeDocument/2006/relationships/slide" Target="slides/slide73.xml"/><Relationship Id="rId83" Type="http://schemas.openxmlformats.org/officeDocument/2006/relationships/slide" Target="slides/slide74.xml"/><Relationship Id="rId84" Type="http://schemas.openxmlformats.org/officeDocument/2006/relationships/slide" Target="slides/slide75.xml"/><Relationship Id="rId85" Type="http://schemas.openxmlformats.org/officeDocument/2006/relationships/slide" Target="slides/slide76.xml"/><Relationship Id="rId86" Type="http://schemas.openxmlformats.org/officeDocument/2006/relationships/slide" Target="slides/slide77.xml"/><Relationship Id="rId87" Type="http://schemas.openxmlformats.org/officeDocument/2006/relationships/slide" Target="slides/slide78.xml"/><Relationship Id="rId88" Type="http://schemas.openxmlformats.org/officeDocument/2006/relationships/slide" Target="slides/slide79.xml"/><Relationship Id="rId89" Type="http://schemas.openxmlformats.org/officeDocument/2006/relationships/slide" Target="slides/slide80.xml"/><Relationship Id="rId90" Type="http://schemas.openxmlformats.org/officeDocument/2006/relationships/slide" Target="slides/slide81.xml"/><Relationship Id="rId91" Type="http://schemas.openxmlformats.org/officeDocument/2006/relationships/slide" Target="slides/slide82.xml"/><Relationship Id="rId92" Type="http://schemas.openxmlformats.org/officeDocument/2006/relationships/slide" Target="slides/slide83.xml"/><Relationship Id="rId93" Type="http://schemas.openxmlformats.org/officeDocument/2006/relationships/slide" Target="slides/slide84.xml"/><Relationship Id="rId94" Type="http://schemas.openxmlformats.org/officeDocument/2006/relationships/slide" Target="slides/slide85.xml"/><Relationship Id="rId9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9.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r>
              <a:rPr b="0" lang="en-US" sz="4400" strike="noStrike" u="none">
                <a:solidFill>
                  <a:srgbClr val="000000"/>
                </a:solidFill>
                <a:effectLst/>
                <a:uFillTx/>
                <a:latin typeface="Arial"/>
              </a:rPr>
              <a:t>Click to move the slide</a:t>
            </a:r>
            <a:endParaRPr b="0" lang="en-US" sz="4400" strike="noStrike" u="none">
              <a:solidFill>
                <a:srgbClr val="000000"/>
              </a:solidFill>
              <a:effectLst/>
              <a:uFillTx/>
              <a:latin typeface="Arial"/>
            </a:endParaRPr>
          </a:p>
        </p:txBody>
      </p:sp>
      <p:sp>
        <p:nvSpPr>
          <p:cNvPr id="36"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37"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38"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39"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0"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3FF2A901-2B82-4079-B77C-066B48F4FF3C}"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_rels/notesSlide73.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
</Relationships>
</file>

<file path=ppt/notesSlides/_rels/notesSlide74.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
</Relationships>
</file>

<file path=ppt/notesSlides/_rels/notesSlide75.xml.rels><?xml version="1.0" encoding="UTF-8"?>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
</Relationships>
</file>

<file path=ppt/notesSlides/_rels/notesSlide76.xml.rels><?xml version="1.0" encoding="UTF-8"?>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
</Relationships>
</file>

<file path=ppt/notesSlides/_rels/notesSlide77.xml.rels><?xml version="1.0" encoding="UTF-8"?>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
</Relationships>
</file>

<file path=ppt/notesSlides/_rels/notesSlide78.xml.rels><?xml version="1.0" encoding="UTF-8"?>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
</Relationships>
</file>

<file path=ppt/notesSlides/_rels/notesSlide79.xml.rels><?xml version="1.0" encoding="UTF-8"?>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
</Relationships>
</file>

<file path=ppt/notesSlides/_rels/notesSlide80.xml.rels><?xml version="1.0" encoding="UTF-8"?>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
</Relationships>
</file>

<file path=ppt/notesSlides/_rels/notesSlide81.xml.rels><?xml version="1.0" encoding="UTF-8"?>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
</Relationships>
</file>

<file path=ppt/notesSlides/_rels/notesSlide82.xml.rels><?xml version="1.0" encoding="UTF-8"?>
<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
</Relationships>
</file>

<file path=ppt/notesSlides/_rels/notesSlide83.xml.rels><?xml version="1.0" encoding="UTF-8"?>
<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
</Relationships>
</file>

<file path=ppt/notesSlides/_rels/notesSlide84.xml.rels><?xml version="1.0" encoding="UTF-8"?>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
</Relationships>
</file>

<file path=ppt/notesSlides/_rels/notesSlide85.xml.rels><?xml version="1.0" encoding="UTF-8"?>
<Relationships xmlns="http://schemas.openxmlformats.org/package/2006/relationships"><Relationship Id="rId1" Type="http://schemas.openxmlformats.org/officeDocument/2006/relationships/slide" Target="../slides/slide8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PlaceHolder 1"/>
          <p:cNvSpPr>
            <a:spLocks noGrp="1"/>
          </p:cNvSpPr>
          <p:nvPr>
            <p:ph type="sldNum" idx="4"/>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E4ACA90D-87D7-4C49-AC24-9BE4F2342B5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17" name="PlaceHolder 2"/>
          <p:cNvSpPr>
            <a:spLocks noGrp="1"/>
          </p:cNvSpPr>
          <p:nvPr>
            <p:ph type="sldImg"/>
          </p:nvPr>
        </p:nvSpPr>
        <p:spPr>
          <a:xfrm>
            <a:off x="1143000" y="685800"/>
            <a:ext cx="4571280" cy="3428280"/>
          </a:xfrm>
          <a:prstGeom prst="rect">
            <a:avLst/>
          </a:prstGeom>
          <a:ln w="0">
            <a:noFill/>
          </a:ln>
        </p:spPr>
      </p:sp>
      <p:sp>
        <p:nvSpPr>
          <p:cNvPr id="518"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lnSpc>
                <a:spcPct val="100000"/>
              </a:lnSpc>
              <a:buNone/>
              <a:tabLst>
                <a:tab algn="l" pos="0"/>
              </a:tabLst>
            </a:pPr>
            <a:r>
              <a:rPr b="0" lang="en-CA" sz="1600" strike="noStrike" u="none">
                <a:solidFill>
                  <a:srgbClr val="000000"/>
                </a:solidFill>
                <a:effectLst/>
                <a:uFillTx/>
                <a:latin typeface="Arial"/>
                <a:ea typeface="ＭＳ Ｐゴシック"/>
              </a:rPr>
              <a:t>Notes and teaching tips: </a:t>
            </a:r>
            <a:r>
              <a:rPr b="0" lang="en-GB" sz="1600" strike="noStrike" u="none">
                <a:solidFill>
                  <a:srgbClr val="000000"/>
                </a:solidFill>
                <a:effectLst/>
                <a:uFillTx/>
                <a:latin typeface="Arial"/>
                <a:ea typeface="ＭＳ Ｐゴシック"/>
              </a:rPr>
              <a:t>4, 5, 29, 41, 42, 64, 81, and 85. </a:t>
            </a:r>
            <a:endParaRPr b="0" lang="en-US" sz="1600" strike="noStrike" u="none">
              <a:solidFill>
                <a:srgbClr val="000000"/>
              </a:solidFill>
              <a:effectLst/>
              <a:uFillTx/>
              <a:latin typeface="Arial"/>
            </a:endParaRPr>
          </a:p>
          <a:p>
            <a:pPr indent="0">
              <a:lnSpc>
                <a:spcPct val="100000"/>
              </a:lnSpc>
              <a:buNone/>
              <a:tabLst>
                <a:tab algn="l" pos="0"/>
              </a:tabLst>
            </a:pPr>
            <a:r>
              <a:rPr b="0" lang="en-CA" sz="1600" strike="noStrike" u="none">
                <a:solidFill>
                  <a:srgbClr val="000000"/>
                </a:solidFill>
                <a:effectLst/>
                <a:uFillTx/>
                <a:latin typeface="Arial"/>
                <a:ea typeface="ＭＳ Ｐゴシック"/>
              </a:rPr>
              <a:t>To view a full-screen figure during a class, click the red “expand” button.</a:t>
            </a:r>
            <a:endParaRPr b="0" lang="en-US" sz="1600" strike="noStrike" u="none">
              <a:solidFill>
                <a:srgbClr val="000000"/>
              </a:solidFill>
              <a:effectLst/>
              <a:uFillTx/>
              <a:latin typeface="Arial"/>
            </a:endParaRPr>
          </a:p>
          <a:p>
            <a:pPr indent="0">
              <a:lnSpc>
                <a:spcPct val="100000"/>
              </a:lnSpc>
              <a:buNone/>
              <a:tabLst>
                <a:tab algn="l" pos="0"/>
              </a:tabLst>
            </a:pPr>
            <a:r>
              <a:rPr b="0" lang="en-CA" sz="1600" strike="noStrike" u="none">
                <a:solidFill>
                  <a:srgbClr val="000000"/>
                </a:solidFill>
                <a:effectLst/>
                <a:uFillTx/>
                <a:latin typeface="Arial"/>
                <a:ea typeface="ＭＳ Ｐゴシック"/>
              </a:rPr>
              <a:t>To return to the previous slide, click the red “shrink” button.</a:t>
            </a:r>
            <a:endParaRPr b="0" lang="en-US" sz="1600" strike="noStrike" u="none">
              <a:solidFill>
                <a:srgbClr val="000000"/>
              </a:solidFill>
              <a:effectLst/>
              <a:uFillTx/>
              <a:latin typeface="Arial"/>
            </a:endParaRPr>
          </a:p>
          <a:p>
            <a:pPr indent="0">
              <a:lnSpc>
                <a:spcPct val="100000"/>
              </a:lnSpc>
              <a:buNone/>
              <a:tabLst>
                <a:tab algn="l" pos="0"/>
              </a:tabLst>
            </a:pPr>
            <a:r>
              <a:rPr b="0" lang="en-CA" sz="1600" strike="noStrike" u="none">
                <a:solidFill>
                  <a:srgbClr val="000000"/>
                </a:solidFill>
                <a:effectLst/>
                <a:uFillTx/>
                <a:latin typeface="Arial"/>
                <a:ea typeface="ＭＳ Ｐゴシック"/>
              </a:rPr>
              <a:t>To advance to the next slide, click anywhere on the full screen figure.</a:t>
            </a:r>
            <a:endParaRPr b="0" lang="en-US" sz="1600" strike="noStrike" u="none">
              <a:solidFill>
                <a:srgbClr val="000000"/>
              </a:solidFill>
              <a:effectLst/>
              <a:uFillTx/>
              <a:latin typeface="Arial"/>
            </a:endParaRPr>
          </a:p>
          <a:p>
            <a:pPr indent="0">
              <a:lnSpc>
                <a:spcPct val="100000"/>
              </a:lnSpc>
              <a:buNone/>
              <a:tabLst>
                <a:tab algn="l" pos="0"/>
              </a:tabLst>
            </a:pPr>
            <a:r>
              <a:rPr b="0" lang="en-CA" sz="1600" strike="noStrike" u="none">
                <a:solidFill>
                  <a:srgbClr val="000000"/>
                </a:solidFill>
                <a:effectLst/>
                <a:uFillTx/>
                <a:latin typeface="Arial"/>
                <a:ea typeface="ＭＳ Ｐゴシック"/>
              </a:rPr>
              <a:t>To enhance your lecture, check out the Lecture Launchers, Land Mines, and Class Activities in the Instructor’s Manual.</a:t>
            </a:r>
            <a:r>
              <a:rPr b="0" lang="en-US" sz="1600" strike="noStrike" u="none">
                <a:solidFill>
                  <a:srgbClr val="000000"/>
                </a:solidFill>
                <a:effectLst/>
                <a:uFillTx/>
                <a:latin typeface="Arial"/>
                <a:ea typeface="ＭＳ Ｐゴシック"/>
              </a:rPr>
              <a:t> </a:t>
            </a:r>
            <a:endParaRPr b="0" lang="en-US" sz="1600" strike="noStrike" u="none">
              <a:solidFill>
                <a:srgbClr val="000000"/>
              </a:solidFill>
              <a:effectLst/>
              <a:uFillTx/>
              <a:latin typeface="Arial"/>
            </a:endParaRPr>
          </a:p>
          <a:p>
            <a:pPr indent="0">
              <a:lnSpc>
                <a:spcPct val="100000"/>
              </a:lnSpc>
              <a:buNone/>
              <a:tabLst>
                <a:tab algn="l" pos="0"/>
              </a:tabLst>
            </a:pPr>
            <a:endParaRPr b="0" lang="en-US" sz="1600" strike="noStrike" u="non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sldNum" idx="5"/>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6AE69018-95C9-45FD-BA77-E9B1B34F5D7D}"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20" name="PlaceHolder 2"/>
          <p:cNvSpPr>
            <a:spLocks noGrp="1"/>
          </p:cNvSpPr>
          <p:nvPr>
            <p:ph type="sldImg"/>
          </p:nvPr>
        </p:nvSpPr>
        <p:spPr>
          <a:xfrm>
            <a:off x="1143000" y="685800"/>
            <a:ext cx="4571280" cy="3428280"/>
          </a:xfrm>
          <a:prstGeom prst="rect">
            <a:avLst/>
          </a:prstGeom>
          <a:ln w="0">
            <a:noFill/>
          </a:ln>
        </p:spPr>
      </p:sp>
      <p:sp>
        <p:nvSpPr>
          <p:cNvPr id="521"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lnSpc>
                <a:spcPct val="100000"/>
              </a:lnSpc>
              <a:buNone/>
              <a:tabLst>
                <a:tab algn="l" pos="0"/>
              </a:tabLst>
            </a:pPr>
            <a:r>
              <a:rPr b="0" lang="en-AU" sz="1600" strike="noStrike" u="none">
                <a:solidFill>
                  <a:srgbClr val="000000"/>
                </a:solidFill>
                <a:effectLst/>
                <a:uFillTx/>
                <a:latin typeface="Arial"/>
                <a:ea typeface="ＭＳ Ｐゴシック"/>
              </a:rPr>
              <a:t>Students are introduced to another curve in this chapter, the budget line. Remind them that this line is not a demand curve nor a production possibilities frontier. Point out the differences: A demand curve is graphed in price/quantity space and shows how the quantity demanded of a product depends on its price; a budget line is graphed in good </a:t>
            </a:r>
            <a:r>
              <a:rPr b="0" i="1" lang="en-AU" sz="1600" strike="noStrike" u="none">
                <a:solidFill>
                  <a:srgbClr val="000000"/>
                </a:solidFill>
                <a:effectLst/>
                <a:uFillTx/>
                <a:latin typeface="Arial"/>
                <a:ea typeface="ＭＳ Ｐゴシック"/>
              </a:rPr>
              <a:t>A</a:t>
            </a:r>
            <a:r>
              <a:rPr b="0" lang="en-AU" sz="1600" strike="noStrike" u="none">
                <a:solidFill>
                  <a:srgbClr val="000000"/>
                </a:solidFill>
                <a:effectLst/>
                <a:uFillTx/>
                <a:latin typeface="Arial"/>
                <a:ea typeface="ＭＳ Ｐゴシック"/>
              </a:rPr>
              <a:t>/good </a:t>
            </a:r>
            <a:r>
              <a:rPr b="0" i="1" lang="en-AU" sz="1600" strike="noStrike" u="none">
                <a:solidFill>
                  <a:srgbClr val="000000"/>
                </a:solidFill>
                <a:effectLst/>
                <a:uFillTx/>
                <a:latin typeface="Arial"/>
                <a:ea typeface="ＭＳ Ｐゴシック"/>
              </a:rPr>
              <a:t>B </a:t>
            </a:r>
            <a:r>
              <a:rPr b="0" lang="en-AU" sz="1600" strike="noStrike" u="none">
                <a:solidFill>
                  <a:srgbClr val="000000"/>
                </a:solidFill>
                <a:effectLst/>
                <a:uFillTx/>
                <a:latin typeface="Arial"/>
                <a:ea typeface="ＭＳ Ｐゴシック"/>
              </a:rPr>
              <a:t>space and shows combinations that can be afforded; and although a </a:t>
            </a:r>
            <a:r>
              <a:rPr b="0" i="1" lang="en-AU" sz="1600" strike="noStrike" u="none">
                <a:solidFill>
                  <a:srgbClr val="000000"/>
                </a:solidFill>
                <a:effectLst/>
                <a:uFillTx/>
                <a:latin typeface="Arial"/>
                <a:ea typeface="ＭＳ Ｐゴシック"/>
              </a:rPr>
              <a:t>PPF </a:t>
            </a:r>
            <a:r>
              <a:rPr b="0" lang="en-AU" sz="1600" strike="noStrike" u="none">
                <a:solidFill>
                  <a:srgbClr val="000000"/>
                </a:solidFill>
                <a:effectLst/>
                <a:uFillTx/>
                <a:latin typeface="Arial"/>
                <a:ea typeface="ＭＳ Ｐゴシック"/>
              </a:rPr>
              <a:t>is also graphed in good </a:t>
            </a:r>
            <a:r>
              <a:rPr b="0" i="1" lang="en-AU" sz="1600" strike="noStrike" u="none">
                <a:solidFill>
                  <a:srgbClr val="000000"/>
                </a:solidFill>
                <a:effectLst/>
                <a:uFillTx/>
                <a:latin typeface="Arial"/>
                <a:ea typeface="ＭＳ Ｐゴシック"/>
              </a:rPr>
              <a:t>A</a:t>
            </a:r>
            <a:r>
              <a:rPr b="0" lang="en-AU" sz="1600" strike="noStrike" u="none">
                <a:solidFill>
                  <a:srgbClr val="000000"/>
                </a:solidFill>
                <a:effectLst/>
                <a:uFillTx/>
                <a:latin typeface="Arial"/>
                <a:ea typeface="ＭＳ Ｐゴシック"/>
              </a:rPr>
              <a:t>/good </a:t>
            </a:r>
            <a:r>
              <a:rPr b="0" i="1" lang="en-AU" sz="1600" strike="noStrike" u="none">
                <a:solidFill>
                  <a:srgbClr val="000000"/>
                </a:solidFill>
                <a:effectLst/>
                <a:uFillTx/>
                <a:latin typeface="Arial"/>
                <a:ea typeface="ＭＳ Ｐゴシック"/>
              </a:rPr>
              <a:t>B </a:t>
            </a:r>
            <a:r>
              <a:rPr b="0" lang="en-AU" sz="1600" strike="noStrike" u="none">
                <a:solidFill>
                  <a:srgbClr val="000000"/>
                </a:solidFill>
                <a:effectLst/>
                <a:uFillTx/>
                <a:latin typeface="Arial"/>
                <a:ea typeface="ＭＳ Ｐゴシック"/>
              </a:rPr>
              <a:t>space, it applies to a nation as whole and shows what can be produced. However, the budget line is similar to the </a:t>
            </a:r>
            <a:r>
              <a:rPr b="0" i="1" lang="en-AU" sz="1600" strike="noStrike" u="none">
                <a:solidFill>
                  <a:srgbClr val="000000"/>
                </a:solidFill>
                <a:effectLst/>
                <a:uFillTx/>
                <a:latin typeface="Arial"/>
                <a:ea typeface="ＭＳ Ｐゴシック"/>
              </a:rPr>
              <a:t>PPF </a:t>
            </a:r>
            <a:r>
              <a:rPr b="0" lang="en-AU" sz="1600" strike="noStrike" u="none">
                <a:solidFill>
                  <a:srgbClr val="000000"/>
                </a:solidFill>
                <a:effectLst/>
                <a:uFillTx/>
                <a:latin typeface="Arial"/>
                <a:ea typeface="ＭＳ Ｐゴシック"/>
              </a:rPr>
              <a:t>because both show limits.</a:t>
            </a:r>
            <a:r>
              <a:rPr b="0" lang="en-GB" sz="1600" strike="noStrike" u="none">
                <a:solidFill>
                  <a:srgbClr val="000000"/>
                </a:solidFill>
                <a:effectLst/>
                <a:uFillTx/>
                <a:latin typeface="Arial"/>
                <a:ea typeface="ＭＳ Ｐゴシック"/>
              </a:rPr>
              <a:t> </a:t>
            </a:r>
            <a:endParaRPr b="0" lang="en-US" sz="1600" strike="noStrike" u="non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2" name="PlaceHolder 1"/>
          <p:cNvSpPr>
            <a:spLocks noGrp="1"/>
          </p:cNvSpPr>
          <p:nvPr>
            <p:ph type="sldNum" idx="6"/>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4E329D52-88F0-45D7-BDB3-0FDCE5954367}"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23" name="PlaceHolder 2"/>
          <p:cNvSpPr>
            <a:spLocks noGrp="1"/>
          </p:cNvSpPr>
          <p:nvPr>
            <p:ph type="sldImg"/>
          </p:nvPr>
        </p:nvSpPr>
        <p:spPr>
          <a:xfrm>
            <a:off x="1143000" y="685800"/>
            <a:ext cx="4571280" cy="3428280"/>
          </a:xfrm>
          <a:prstGeom prst="rect">
            <a:avLst/>
          </a:prstGeom>
          <a:ln w="0">
            <a:noFill/>
          </a:ln>
        </p:spPr>
      </p:sp>
      <p:sp>
        <p:nvSpPr>
          <p:cNvPr id="524"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lnSpc>
                <a:spcPct val="80000"/>
              </a:lnSpc>
              <a:buNone/>
              <a:tabLst>
                <a:tab algn="l" pos="0"/>
              </a:tabLst>
            </a:pPr>
            <a:r>
              <a:rPr b="0" lang="en-AU" sz="1400" strike="noStrike" u="none">
                <a:solidFill>
                  <a:srgbClr val="000000"/>
                </a:solidFill>
                <a:effectLst/>
                <a:uFillTx/>
                <a:latin typeface="Arial"/>
                <a:ea typeface="ＭＳ Ｐゴシック"/>
              </a:rPr>
              <a:t>To help students remember how the budget line shifts when the prices of goods change, suggest they should assume they spend ALL of their income on either good. For example, suppose apples are on the </a:t>
            </a:r>
            <a:r>
              <a:rPr b="0" i="1" lang="en-AU" sz="1400" strike="noStrike" u="none">
                <a:solidFill>
                  <a:srgbClr val="000000"/>
                </a:solidFill>
                <a:effectLst/>
                <a:uFillTx/>
                <a:latin typeface="Arial"/>
                <a:ea typeface="ＭＳ Ｐゴシック"/>
              </a:rPr>
              <a:t>x</a:t>
            </a:r>
            <a:r>
              <a:rPr b="0" lang="en-AU" sz="1400" strike="noStrike" u="none">
                <a:solidFill>
                  <a:srgbClr val="000000"/>
                </a:solidFill>
                <a:effectLst/>
                <a:uFillTx/>
                <a:latin typeface="Arial"/>
                <a:ea typeface="ＭＳ Ｐゴシック"/>
              </a:rPr>
              <a:t>-axis, and oranges are on the </a:t>
            </a:r>
            <a:r>
              <a:rPr b="0" i="1" lang="en-AU" sz="1400" strike="noStrike" u="none">
                <a:solidFill>
                  <a:srgbClr val="000000"/>
                </a:solidFill>
                <a:effectLst/>
                <a:uFillTx/>
                <a:latin typeface="Arial"/>
                <a:ea typeface="ＭＳ Ｐゴシック"/>
              </a:rPr>
              <a:t>y</a:t>
            </a:r>
            <a:r>
              <a:rPr b="0" lang="en-AU" sz="1400" strike="noStrike" u="none">
                <a:solidFill>
                  <a:srgbClr val="000000"/>
                </a:solidFill>
                <a:effectLst/>
                <a:uFillTx/>
                <a:latin typeface="Arial"/>
                <a:ea typeface="ＭＳ Ｐゴシック"/>
              </a:rPr>
              <a:t>-axis. Ask students, “What happens if the price of apples increases?” Tell them to assume that they hate apples and regardless of the price of apples, they spend their entire budget on oranges. Because the price of oranges doesn’t change, ask how the change in the price of apples impacts the number of oranges they can buy. Point out the </a:t>
            </a:r>
            <a:r>
              <a:rPr b="0" i="1" lang="en-AU" sz="1400" strike="noStrike" u="none">
                <a:solidFill>
                  <a:srgbClr val="000000"/>
                </a:solidFill>
                <a:effectLst/>
                <a:uFillTx/>
                <a:latin typeface="Arial"/>
                <a:ea typeface="ＭＳ Ｐゴシック"/>
              </a:rPr>
              <a:t>y</a:t>
            </a:r>
            <a:r>
              <a:rPr b="0" lang="en-AU" sz="1400" strike="noStrike" u="none">
                <a:solidFill>
                  <a:srgbClr val="000000"/>
                </a:solidFill>
                <a:effectLst/>
                <a:uFillTx/>
                <a:latin typeface="Arial"/>
                <a:ea typeface="ＭＳ Ｐゴシック"/>
              </a:rPr>
              <a:t>-intercept and stress the fact that this is the consumption point at which </a:t>
            </a:r>
            <a:r>
              <a:rPr b="0" i="1" lang="en-AU" sz="1400" strike="noStrike" u="none">
                <a:solidFill>
                  <a:srgbClr val="000000"/>
                </a:solidFill>
                <a:effectLst/>
                <a:uFillTx/>
                <a:latin typeface="Arial"/>
                <a:ea typeface="ＭＳ Ｐゴシック"/>
              </a:rPr>
              <a:t>all </a:t>
            </a:r>
            <a:r>
              <a:rPr b="0" lang="en-AU" sz="1400" strike="noStrike" u="none">
                <a:solidFill>
                  <a:srgbClr val="000000"/>
                </a:solidFill>
                <a:effectLst/>
                <a:uFillTx/>
                <a:latin typeface="Arial"/>
                <a:ea typeface="ＭＳ Ｐゴシック"/>
              </a:rPr>
              <a:t>their budget is spent on oranges. Make it clear that this point does not change when the price of apples rises. Then turn to the </a:t>
            </a:r>
            <a:r>
              <a:rPr b="0" i="1" lang="en-AU" sz="1400" strike="noStrike" u="none">
                <a:solidFill>
                  <a:srgbClr val="000000"/>
                </a:solidFill>
                <a:effectLst/>
                <a:uFillTx/>
                <a:latin typeface="Arial"/>
                <a:ea typeface="ＭＳ Ｐゴシック"/>
              </a:rPr>
              <a:t>x</a:t>
            </a:r>
            <a:r>
              <a:rPr b="0" lang="en-AU" sz="1400" strike="noStrike" u="none">
                <a:solidFill>
                  <a:srgbClr val="000000"/>
                </a:solidFill>
                <a:effectLst/>
                <a:uFillTx/>
                <a:latin typeface="Arial"/>
                <a:ea typeface="ＭＳ Ｐゴシック"/>
              </a:rPr>
              <a:t>-axis and tell students that they now buy only apples and no oranges. Discuss with them that the </a:t>
            </a:r>
            <a:r>
              <a:rPr b="0" i="1" lang="en-AU" sz="1400" strike="noStrike" u="none">
                <a:solidFill>
                  <a:srgbClr val="000000"/>
                </a:solidFill>
                <a:effectLst/>
                <a:uFillTx/>
                <a:latin typeface="Arial"/>
                <a:ea typeface="ＭＳ Ｐゴシック"/>
              </a:rPr>
              <a:t>x</a:t>
            </a:r>
            <a:r>
              <a:rPr b="0" lang="en-AU" sz="1400" strike="noStrike" u="none">
                <a:solidFill>
                  <a:srgbClr val="000000"/>
                </a:solidFill>
                <a:effectLst/>
                <a:uFillTx/>
                <a:latin typeface="Arial"/>
                <a:ea typeface="ＭＳ Ｐゴシック"/>
              </a:rPr>
              <a:t>-intercept shows the maximum number of apples they can buy when they spend all their budget on apples. While pointing out the </a:t>
            </a:r>
            <a:r>
              <a:rPr b="0" i="1" lang="en-AU" sz="1400" strike="noStrike" u="none">
                <a:solidFill>
                  <a:srgbClr val="000000"/>
                </a:solidFill>
                <a:effectLst/>
                <a:uFillTx/>
                <a:latin typeface="Arial"/>
                <a:ea typeface="ＭＳ Ｐゴシック"/>
              </a:rPr>
              <a:t>x</a:t>
            </a:r>
            <a:r>
              <a:rPr b="0" lang="en-AU" sz="1400" strike="noStrike" u="none">
                <a:solidFill>
                  <a:srgbClr val="000000"/>
                </a:solidFill>
                <a:effectLst/>
                <a:uFillTx/>
                <a:latin typeface="Arial"/>
                <a:ea typeface="ＭＳ Ｐゴシック"/>
              </a:rPr>
              <a:t>-intercept, ask students what happens to the number of apples they can buy when the price of apples rises. When they answer “fewer apples,” move your finger leftward along the </a:t>
            </a:r>
            <a:r>
              <a:rPr b="0" i="1" lang="en-AU" sz="1400" strike="noStrike" u="none">
                <a:solidFill>
                  <a:srgbClr val="000000"/>
                </a:solidFill>
                <a:effectLst/>
                <a:uFillTx/>
                <a:latin typeface="Arial"/>
                <a:ea typeface="ＭＳ Ｐゴシック"/>
              </a:rPr>
              <a:t>x</a:t>
            </a:r>
            <a:r>
              <a:rPr b="0" lang="en-AU" sz="1400" strike="noStrike" u="none">
                <a:solidFill>
                  <a:srgbClr val="000000"/>
                </a:solidFill>
                <a:effectLst/>
                <a:uFillTx/>
                <a:latin typeface="Arial"/>
                <a:ea typeface="ＭＳ Ｐゴシック"/>
              </a:rPr>
              <a:t>-axis and make a mark. Then draw the new budget line: the </a:t>
            </a:r>
            <a:r>
              <a:rPr b="0" i="1" lang="en-AU" sz="1400" strike="noStrike" u="none">
                <a:solidFill>
                  <a:srgbClr val="000000"/>
                </a:solidFill>
                <a:effectLst/>
                <a:uFillTx/>
                <a:latin typeface="Arial"/>
                <a:ea typeface="ＭＳ Ｐゴシック"/>
              </a:rPr>
              <a:t>y</a:t>
            </a:r>
            <a:r>
              <a:rPr b="0" lang="en-AU" sz="1400" strike="noStrike" u="none">
                <a:solidFill>
                  <a:srgbClr val="000000"/>
                </a:solidFill>
                <a:effectLst/>
                <a:uFillTx/>
                <a:latin typeface="Arial"/>
                <a:ea typeface="ＭＳ Ｐゴシック"/>
              </a:rPr>
              <a:t>-intercept does not change while the </a:t>
            </a:r>
            <a:r>
              <a:rPr b="0" i="1" lang="en-AU" sz="1400" strike="noStrike" u="none">
                <a:solidFill>
                  <a:srgbClr val="000000"/>
                </a:solidFill>
                <a:effectLst/>
                <a:uFillTx/>
                <a:latin typeface="Arial"/>
                <a:ea typeface="ＭＳ Ｐゴシック"/>
              </a:rPr>
              <a:t>x</a:t>
            </a:r>
            <a:r>
              <a:rPr b="0" lang="en-AU" sz="1400" strike="noStrike" u="none">
                <a:solidFill>
                  <a:srgbClr val="000000"/>
                </a:solidFill>
                <a:effectLst/>
                <a:uFillTx/>
                <a:latin typeface="Arial"/>
                <a:ea typeface="ＭＳ Ｐゴシック"/>
              </a:rPr>
              <a:t>-intercept rotates inward, making the budget line steeper. The point of this exercise is to focus on the intercepts and not the slope. For many students, this is an easier method of determining the change in the budget line. To complete the exercise, let the price of oranges fall and go through the same mechanics.</a:t>
            </a:r>
            <a:r>
              <a:rPr b="0" lang="en-GB" sz="1400" strike="noStrike" u="none">
                <a:solidFill>
                  <a:srgbClr val="000000"/>
                </a:solidFill>
                <a:effectLst/>
                <a:uFillTx/>
                <a:latin typeface="Arial"/>
                <a:ea typeface="ＭＳ Ｐゴシック"/>
              </a:rPr>
              <a:t> </a:t>
            </a:r>
            <a:endParaRPr b="0" lang="en-US" sz="1400" strike="noStrike" u="non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PlaceHolder 1"/>
          <p:cNvSpPr>
            <a:spLocks noGrp="1"/>
          </p:cNvSpPr>
          <p:nvPr>
            <p:ph type="sldNum" idx="7"/>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09D9A867-D0ED-4AC7-8DEB-49B72D0F3A10}"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26" name="PlaceHolder 2"/>
          <p:cNvSpPr>
            <a:spLocks noGrp="1"/>
          </p:cNvSpPr>
          <p:nvPr>
            <p:ph type="sldImg"/>
          </p:nvPr>
        </p:nvSpPr>
        <p:spPr>
          <a:xfrm>
            <a:off x="1143000" y="685800"/>
            <a:ext cx="4571280" cy="3428280"/>
          </a:xfrm>
          <a:prstGeom prst="rect">
            <a:avLst/>
          </a:prstGeom>
          <a:ln w="0">
            <a:noFill/>
          </a:ln>
        </p:spPr>
      </p:sp>
      <p:sp>
        <p:nvSpPr>
          <p:cNvPr id="527"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PlaceHolder 1"/>
          <p:cNvSpPr>
            <a:spLocks noGrp="1"/>
          </p:cNvSpPr>
          <p:nvPr>
            <p:ph type="sldNum" idx="8"/>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1819B6D3-D2C0-4608-B735-D20399573D3A}"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29" name="PlaceHolder 2"/>
          <p:cNvSpPr>
            <a:spLocks noGrp="1"/>
          </p:cNvSpPr>
          <p:nvPr>
            <p:ph type="sldImg"/>
          </p:nvPr>
        </p:nvSpPr>
        <p:spPr>
          <a:xfrm>
            <a:off x="1143000" y="685800"/>
            <a:ext cx="4571280" cy="3428280"/>
          </a:xfrm>
          <a:prstGeom prst="rect">
            <a:avLst/>
          </a:prstGeom>
          <a:ln w="0">
            <a:noFill/>
          </a:ln>
        </p:spPr>
      </p:sp>
      <p:sp>
        <p:nvSpPr>
          <p:cNvPr id="530"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1" name="PlaceHolder 1"/>
          <p:cNvSpPr>
            <a:spLocks noGrp="1"/>
          </p:cNvSpPr>
          <p:nvPr>
            <p:ph type="sldNum" idx="9"/>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41E8F738-7C93-475B-A784-5A2D852433E8}"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32" name="PlaceHolder 2"/>
          <p:cNvSpPr>
            <a:spLocks noGrp="1"/>
          </p:cNvSpPr>
          <p:nvPr>
            <p:ph type="sldImg"/>
          </p:nvPr>
        </p:nvSpPr>
        <p:spPr>
          <a:xfrm>
            <a:off x="1143000" y="685800"/>
            <a:ext cx="4571280" cy="3428280"/>
          </a:xfrm>
          <a:prstGeom prst="rect">
            <a:avLst/>
          </a:prstGeom>
          <a:ln w="0">
            <a:noFill/>
          </a:ln>
        </p:spPr>
      </p:sp>
      <p:sp>
        <p:nvSpPr>
          <p:cNvPr id="533"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4" name="PlaceHolder 1"/>
          <p:cNvSpPr>
            <a:spLocks noGrp="1"/>
          </p:cNvSpPr>
          <p:nvPr>
            <p:ph type="sldNum" idx="10"/>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F9312B8A-C894-4B7B-8FB1-74B23D0F59CD}"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35" name="PlaceHolder 2"/>
          <p:cNvSpPr>
            <a:spLocks noGrp="1"/>
          </p:cNvSpPr>
          <p:nvPr>
            <p:ph type="sldImg"/>
          </p:nvPr>
        </p:nvSpPr>
        <p:spPr>
          <a:xfrm>
            <a:off x="1143000" y="685800"/>
            <a:ext cx="4571280" cy="3428280"/>
          </a:xfrm>
          <a:prstGeom prst="rect">
            <a:avLst/>
          </a:prstGeom>
          <a:ln w="0">
            <a:noFill/>
          </a:ln>
        </p:spPr>
      </p:sp>
      <p:sp>
        <p:nvSpPr>
          <p:cNvPr id="536"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7" name="PlaceHolder 1"/>
          <p:cNvSpPr>
            <a:spLocks noGrp="1"/>
          </p:cNvSpPr>
          <p:nvPr>
            <p:ph type="sldNum" idx="11"/>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6B74D4CB-DA58-47A9-B362-0BE6D3F7F23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38" name="PlaceHolder 2"/>
          <p:cNvSpPr>
            <a:spLocks noGrp="1"/>
          </p:cNvSpPr>
          <p:nvPr>
            <p:ph type="sldImg"/>
          </p:nvPr>
        </p:nvSpPr>
        <p:spPr>
          <a:xfrm>
            <a:off x="1143000" y="685800"/>
            <a:ext cx="4571280" cy="3428280"/>
          </a:xfrm>
          <a:prstGeom prst="rect">
            <a:avLst/>
          </a:prstGeom>
          <a:ln w="0">
            <a:noFill/>
          </a:ln>
        </p:spPr>
      </p:sp>
      <p:sp>
        <p:nvSpPr>
          <p:cNvPr id="539"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0" name="PlaceHolder 1"/>
          <p:cNvSpPr>
            <a:spLocks noGrp="1"/>
          </p:cNvSpPr>
          <p:nvPr>
            <p:ph type="sldNum" idx="12"/>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3121ED16-6663-440F-BA2B-C8BC129E0BE8}"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41" name="PlaceHolder 2"/>
          <p:cNvSpPr>
            <a:spLocks noGrp="1"/>
          </p:cNvSpPr>
          <p:nvPr>
            <p:ph type="sldImg"/>
          </p:nvPr>
        </p:nvSpPr>
        <p:spPr>
          <a:xfrm>
            <a:off x="1143000" y="685800"/>
            <a:ext cx="4571280" cy="3428280"/>
          </a:xfrm>
          <a:prstGeom prst="rect">
            <a:avLst/>
          </a:prstGeom>
          <a:ln w="0">
            <a:noFill/>
          </a:ln>
        </p:spPr>
      </p:sp>
      <p:sp>
        <p:nvSpPr>
          <p:cNvPr id="542"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3" name="PlaceHolder 1"/>
          <p:cNvSpPr>
            <a:spLocks noGrp="1"/>
          </p:cNvSpPr>
          <p:nvPr>
            <p:ph type="sldNum" idx="13"/>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4B6E7D60-330D-4E91-B431-F18DF317501B}"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44" name="PlaceHolder 2"/>
          <p:cNvSpPr>
            <a:spLocks noGrp="1"/>
          </p:cNvSpPr>
          <p:nvPr>
            <p:ph type="sldImg"/>
          </p:nvPr>
        </p:nvSpPr>
        <p:spPr>
          <a:xfrm>
            <a:off x="1143000" y="685800"/>
            <a:ext cx="4571280" cy="3428280"/>
          </a:xfrm>
          <a:prstGeom prst="rect">
            <a:avLst/>
          </a:prstGeom>
          <a:ln w="0">
            <a:noFill/>
          </a:ln>
        </p:spPr>
      </p:sp>
      <p:sp>
        <p:nvSpPr>
          <p:cNvPr id="545"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6" name="PlaceHolder 1"/>
          <p:cNvSpPr>
            <a:spLocks noGrp="1"/>
          </p:cNvSpPr>
          <p:nvPr>
            <p:ph type="sldNum" idx="14"/>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966CB8E5-3AD8-4E08-8C7F-984975873376}"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47" name="PlaceHolder 2"/>
          <p:cNvSpPr>
            <a:spLocks noGrp="1"/>
          </p:cNvSpPr>
          <p:nvPr>
            <p:ph type="sldImg"/>
          </p:nvPr>
        </p:nvSpPr>
        <p:spPr>
          <a:xfrm>
            <a:off x="1143000" y="685800"/>
            <a:ext cx="4571280" cy="3428280"/>
          </a:xfrm>
          <a:prstGeom prst="rect">
            <a:avLst/>
          </a:prstGeom>
          <a:ln w="0">
            <a:noFill/>
          </a:ln>
        </p:spPr>
      </p:sp>
      <p:sp>
        <p:nvSpPr>
          <p:cNvPr id="548"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9" name="PlaceHolder 1"/>
          <p:cNvSpPr>
            <a:spLocks noGrp="1"/>
          </p:cNvSpPr>
          <p:nvPr>
            <p:ph type="sldNum" idx="15"/>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A8E57A48-C803-4174-A7AB-1A93EC26367D}"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50" name="PlaceHolder 2"/>
          <p:cNvSpPr>
            <a:spLocks noGrp="1"/>
          </p:cNvSpPr>
          <p:nvPr>
            <p:ph type="sldImg"/>
          </p:nvPr>
        </p:nvSpPr>
        <p:spPr>
          <a:xfrm>
            <a:off x="1143000" y="685800"/>
            <a:ext cx="4571280" cy="3428280"/>
          </a:xfrm>
          <a:prstGeom prst="rect">
            <a:avLst/>
          </a:prstGeom>
          <a:ln w="0">
            <a:noFill/>
          </a:ln>
        </p:spPr>
      </p:sp>
      <p:sp>
        <p:nvSpPr>
          <p:cNvPr id="551"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2" name="PlaceHolder 1"/>
          <p:cNvSpPr>
            <a:spLocks noGrp="1"/>
          </p:cNvSpPr>
          <p:nvPr>
            <p:ph type="sldNum" idx="16"/>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5D9A7891-58FB-4C23-9BCE-9970DA11D92F}"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53" name="PlaceHolder 2"/>
          <p:cNvSpPr>
            <a:spLocks noGrp="1"/>
          </p:cNvSpPr>
          <p:nvPr>
            <p:ph type="sldImg"/>
          </p:nvPr>
        </p:nvSpPr>
        <p:spPr>
          <a:xfrm>
            <a:off x="1143000" y="685800"/>
            <a:ext cx="4571280" cy="3428280"/>
          </a:xfrm>
          <a:prstGeom prst="rect">
            <a:avLst/>
          </a:prstGeom>
          <a:ln w="0">
            <a:noFill/>
          </a:ln>
        </p:spPr>
      </p:sp>
      <p:sp>
        <p:nvSpPr>
          <p:cNvPr id="554"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5" name="PlaceHolder 1"/>
          <p:cNvSpPr>
            <a:spLocks noGrp="1"/>
          </p:cNvSpPr>
          <p:nvPr>
            <p:ph type="sldNum" idx="17"/>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525F5C18-2320-486C-956B-985D7AAE52F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56" name="PlaceHolder 2"/>
          <p:cNvSpPr>
            <a:spLocks noGrp="1"/>
          </p:cNvSpPr>
          <p:nvPr>
            <p:ph type="sldImg"/>
          </p:nvPr>
        </p:nvSpPr>
        <p:spPr>
          <a:xfrm>
            <a:off x="1143000" y="685800"/>
            <a:ext cx="4571280" cy="3428280"/>
          </a:xfrm>
          <a:prstGeom prst="rect">
            <a:avLst/>
          </a:prstGeom>
          <a:ln w="0">
            <a:noFill/>
          </a:ln>
        </p:spPr>
      </p:sp>
      <p:sp>
        <p:nvSpPr>
          <p:cNvPr id="557"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8" name="PlaceHolder 1"/>
          <p:cNvSpPr>
            <a:spLocks noGrp="1"/>
          </p:cNvSpPr>
          <p:nvPr>
            <p:ph type="sldNum" idx="18"/>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1C9C4175-0358-4974-9D38-A5CAC8F7952D}"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59" name="PlaceHolder 2"/>
          <p:cNvSpPr>
            <a:spLocks noGrp="1"/>
          </p:cNvSpPr>
          <p:nvPr>
            <p:ph type="sldImg"/>
          </p:nvPr>
        </p:nvSpPr>
        <p:spPr>
          <a:xfrm>
            <a:off x="1143000" y="685800"/>
            <a:ext cx="4571280" cy="3428280"/>
          </a:xfrm>
          <a:prstGeom prst="rect">
            <a:avLst/>
          </a:prstGeom>
          <a:ln w="0">
            <a:noFill/>
          </a:ln>
        </p:spPr>
      </p:sp>
      <p:sp>
        <p:nvSpPr>
          <p:cNvPr id="560"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1" name="PlaceHolder 1"/>
          <p:cNvSpPr>
            <a:spLocks noGrp="1"/>
          </p:cNvSpPr>
          <p:nvPr>
            <p:ph type="sldNum" idx="19"/>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791CD56E-B7EB-4DE3-9023-BD7BDA8EFB89}"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62" name="PlaceHolder 2"/>
          <p:cNvSpPr>
            <a:spLocks noGrp="1"/>
          </p:cNvSpPr>
          <p:nvPr>
            <p:ph type="sldImg"/>
          </p:nvPr>
        </p:nvSpPr>
        <p:spPr>
          <a:xfrm>
            <a:off x="1143000" y="685800"/>
            <a:ext cx="4571280" cy="3428280"/>
          </a:xfrm>
          <a:prstGeom prst="rect">
            <a:avLst/>
          </a:prstGeom>
          <a:ln w="0">
            <a:noFill/>
          </a:ln>
        </p:spPr>
      </p:sp>
      <p:sp>
        <p:nvSpPr>
          <p:cNvPr id="563"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4" name="PlaceHolder 1"/>
          <p:cNvSpPr>
            <a:spLocks noGrp="1"/>
          </p:cNvSpPr>
          <p:nvPr>
            <p:ph type="sldNum" idx="20"/>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1764A838-5ADE-43E9-BB6E-0BDA96BAE27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65" name="PlaceHolder 2"/>
          <p:cNvSpPr>
            <a:spLocks noGrp="1"/>
          </p:cNvSpPr>
          <p:nvPr>
            <p:ph type="sldImg"/>
          </p:nvPr>
        </p:nvSpPr>
        <p:spPr>
          <a:xfrm>
            <a:off x="1143000" y="685800"/>
            <a:ext cx="4571280" cy="3428280"/>
          </a:xfrm>
          <a:prstGeom prst="rect">
            <a:avLst/>
          </a:prstGeom>
          <a:ln w="0">
            <a:noFill/>
          </a:ln>
        </p:spPr>
      </p:sp>
      <p:sp>
        <p:nvSpPr>
          <p:cNvPr id="566"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7" name="PlaceHolder 1"/>
          <p:cNvSpPr>
            <a:spLocks noGrp="1"/>
          </p:cNvSpPr>
          <p:nvPr>
            <p:ph type="sldNum" idx="21"/>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B93C2309-BEF7-4FE9-BD0E-B61DD20D1E0E}"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68" name="PlaceHolder 2"/>
          <p:cNvSpPr>
            <a:spLocks noGrp="1"/>
          </p:cNvSpPr>
          <p:nvPr>
            <p:ph type="sldImg"/>
          </p:nvPr>
        </p:nvSpPr>
        <p:spPr>
          <a:xfrm>
            <a:off x="1143000" y="685800"/>
            <a:ext cx="4571280" cy="3428280"/>
          </a:xfrm>
          <a:prstGeom prst="rect">
            <a:avLst/>
          </a:prstGeom>
          <a:ln w="0">
            <a:noFill/>
          </a:ln>
        </p:spPr>
      </p:sp>
      <p:sp>
        <p:nvSpPr>
          <p:cNvPr id="569"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0" name="PlaceHolder 1"/>
          <p:cNvSpPr>
            <a:spLocks noGrp="1"/>
          </p:cNvSpPr>
          <p:nvPr>
            <p:ph type="sldNum" idx="22"/>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72E95A21-95B8-40FA-9271-8B09DD979FCF}"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71" name="PlaceHolder 2"/>
          <p:cNvSpPr>
            <a:spLocks noGrp="1"/>
          </p:cNvSpPr>
          <p:nvPr>
            <p:ph type="sldImg"/>
          </p:nvPr>
        </p:nvSpPr>
        <p:spPr>
          <a:xfrm>
            <a:off x="1143000" y="685800"/>
            <a:ext cx="4571280" cy="3428280"/>
          </a:xfrm>
          <a:prstGeom prst="rect">
            <a:avLst/>
          </a:prstGeom>
          <a:ln w="0">
            <a:noFill/>
          </a:ln>
        </p:spPr>
      </p:sp>
      <p:sp>
        <p:nvSpPr>
          <p:cNvPr id="572"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3" name="PlaceHolder 1"/>
          <p:cNvSpPr>
            <a:spLocks noGrp="1"/>
          </p:cNvSpPr>
          <p:nvPr>
            <p:ph type="sldNum" idx="23"/>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D8CB0147-50E8-4EA7-8EF9-870FEED8987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74" name="PlaceHolder 2"/>
          <p:cNvSpPr>
            <a:spLocks noGrp="1"/>
          </p:cNvSpPr>
          <p:nvPr>
            <p:ph type="sldImg"/>
          </p:nvPr>
        </p:nvSpPr>
        <p:spPr>
          <a:xfrm>
            <a:off x="1143000" y="685800"/>
            <a:ext cx="4571280" cy="3428280"/>
          </a:xfrm>
          <a:prstGeom prst="rect">
            <a:avLst/>
          </a:prstGeom>
          <a:ln w="0">
            <a:noFill/>
          </a:ln>
        </p:spPr>
      </p:sp>
      <p:sp>
        <p:nvSpPr>
          <p:cNvPr id="575"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6" name="PlaceHolder 1"/>
          <p:cNvSpPr>
            <a:spLocks noGrp="1"/>
          </p:cNvSpPr>
          <p:nvPr>
            <p:ph type="sldNum" idx="24"/>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D2893A5E-95FB-4853-B690-C3B2D8D2FCFE}"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77" name="PlaceHolder 2"/>
          <p:cNvSpPr>
            <a:spLocks noGrp="1"/>
          </p:cNvSpPr>
          <p:nvPr>
            <p:ph type="sldImg"/>
          </p:nvPr>
        </p:nvSpPr>
        <p:spPr>
          <a:xfrm>
            <a:off x="1143000" y="685800"/>
            <a:ext cx="4571280" cy="3428280"/>
          </a:xfrm>
          <a:prstGeom prst="rect">
            <a:avLst/>
          </a:prstGeom>
          <a:ln w="0">
            <a:noFill/>
          </a:ln>
        </p:spPr>
      </p:sp>
      <p:sp>
        <p:nvSpPr>
          <p:cNvPr id="578"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9" name="PlaceHolder 1"/>
          <p:cNvSpPr>
            <a:spLocks noGrp="1"/>
          </p:cNvSpPr>
          <p:nvPr>
            <p:ph type="sldNum" idx="25"/>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D3DC0C0B-6791-4FEC-B59B-DFDC37F4B609}"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80" name="PlaceHolder 2"/>
          <p:cNvSpPr>
            <a:spLocks noGrp="1"/>
          </p:cNvSpPr>
          <p:nvPr>
            <p:ph type="sldImg"/>
          </p:nvPr>
        </p:nvSpPr>
        <p:spPr>
          <a:xfrm>
            <a:off x="1143000" y="685800"/>
            <a:ext cx="4571280" cy="3428280"/>
          </a:xfrm>
          <a:prstGeom prst="rect">
            <a:avLst/>
          </a:prstGeom>
          <a:ln w="0">
            <a:noFill/>
          </a:ln>
        </p:spPr>
      </p:sp>
      <p:sp>
        <p:nvSpPr>
          <p:cNvPr id="581"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2" name="PlaceHolder 1"/>
          <p:cNvSpPr>
            <a:spLocks noGrp="1"/>
          </p:cNvSpPr>
          <p:nvPr>
            <p:ph type="sldNum" idx="26"/>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B2B450FE-12E4-4F0E-8F96-50CE8E2CC7CF}"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83" name="PlaceHolder 2"/>
          <p:cNvSpPr>
            <a:spLocks noGrp="1"/>
          </p:cNvSpPr>
          <p:nvPr>
            <p:ph type="sldImg"/>
          </p:nvPr>
        </p:nvSpPr>
        <p:spPr>
          <a:xfrm>
            <a:off x="1143000" y="685800"/>
            <a:ext cx="4571280" cy="3428280"/>
          </a:xfrm>
          <a:prstGeom prst="rect">
            <a:avLst/>
          </a:prstGeom>
          <a:ln w="0">
            <a:noFill/>
          </a:ln>
        </p:spPr>
      </p:sp>
      <p:sp>
        <p:nvSpPr>
          <p:cNvPr id="584"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5" name="PlaceHolder 1"/>
          <p:cNvSpPr>
            <a:spLocks noGrp="1"/>
          </p:cNvSpPr>
          <p:nvPr>
            <p:ph type="sldNum" idx="27"/>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2D75F65E-179B-43F9-B383-BA479C727AA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86" name="PlaceHolder 2"/>
          <p:cNvSpPr>
            <a:spLocks noGrp="1"/>
          </p:cNvSpPr>
          <p:nvPr>
            <p:ph type="sldImg"/>
          </p:nvPr>
        </p:nvSpPr>
        <p:spPr>
          <a:xfrm>
            <a:off x="1143000" y="685800"/>
            <a:ext cx="4571280" cy="3428280"/>
          </a:xfrm>
          <a:prstGeom prst="rect">
            <a:avLst/>
          </a:prstGeom>
          <a:ln w="0">
            <a:noFill/>
          </a:ln>
        </p:spPr>
      </p:sp>
      <p:sp>
        <p:nvSpPr>
          <p:cNvPr id="587"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8" name="PlaceHolder 1"/>
          <p:cNvSpPr>
            <a:spLocks noGrp="1"/>
          </p:cNvSpPr>
          <p:nvPr>
            <p:ph type="sldNum" idx="28"/>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9A0D275E-626F-43E9-AC32-939EA177EAB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89" name="PlaceHolder 2"/>
          <p:cNvSpPr>
            <a:spLocks noGrp="1"/>
          </p:cNvSpPr>
          <p:nvPr>
            <p:ph type="sldImg"/>
          </p:nvPr>
        </p:nvSpPr>
        <p:spPr>
          <a:xfrm>
            <a:off x="1143000" y="685800"/>
            <a:ext cx="4571280" cy="3428280"/>
          </a:xfrm>
          <a:prstGeom prst="rect">
            <a:avLst/>
          </a:prstGeom>
          <a:ln w="0">
            <a:noFill/>
          </a:ln>
        </p:spPr>
      </p:sp>
      <p:sp>
        <p:nvSpPr>
          <p:cNvPr id="590"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1" name="PlaceHolder 1"/>
          <p:cNvSpPr>
            <a:spLocks noGrp="1"/>
          </p:cNvSpPr>
          <p:nvPr>
            <p:ph type="sldNum" idx="29"/>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483C1670-514F-4874-B65C-05592737171B}"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92" name="PlaceHolder 2"/>
          <p:cNvSpPr>
            <a:spLocks noGrp="1"/>
          </p:cNvSpPr>
          <p:nvPr>
            <p:ph type="sldImg"/>
          </p:nvPr>
        </p:nvSpPr>
        <p:spPr>
          <a:xfrm>
            <a:off x="1143000" y="685800"/>
            <a:ext cx="4571280" cy="3428280"/>
          </a:xfrm>
          <a:prstGeom prst="rect">
            <a:avLst/>
          </a:prstGeom>
          <a:ln w="0">
            <a:noFill/>
          </a:ln>
        </p:spPr>
      </p:sp>
      <p:sp>
        <p:nvSpPr>
          <p:cNvPr id="593"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4" name="PlaceHolder 1"/>
          <p:cNvSpPr>
            <a:spLocks noGrp="1"/>
          </p:cNvSpPr>
          <p:nvPr>
            <p:ph type="sldNum" idx="30"/>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9E798A0D-1B76-4AA9-A898-51798AB4E03F}"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95" name="PlaceHolder 2"/>
          <p:cNvSpPr>
            <a:spLocks noGrp="1"/>
          </p:cNvSpPr>
          <p:nvPr>
            <p:ph type="sldImg"/>
          </p:nvPr>
        </p:nvSpPr>
        <p:spPr>
          <a:xfrm>
            <a:off x="1143000" y="685800"/>
            <a:ext cx="4571280" cy="3428280"/>
          </a:xfrm>
          <a:prstGeom prst="rect">
            <a:avLst/>
          </a:prstGeom>
          <a:ln w="0">
            <a:noFill/>
          </a:ln>
        </p:spPr>
      </p:sp>
      <p:sp>
        <p:nvSpPr>
          <p:cNvPr id="596"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lnSpc>
                <a:spcPct val="100000"/>
              </a:lnSpc>
              <a:buNone/>
              <a:tabLst>
                <a:tab algn="l" pos="0"/>
              </a:tabLst>
            </a:pPr>
            <a:r>
              <a:rPr b="0" lang="en-AU" sz="1600" strike="noStrike" u="none">
                <a:solidFill>
                  <a:srgbClr val="000000"/>
                </a:solidFill>
                <a:effectLst/>
                <a:uFillTx/>
                <a:latin typeface="Arial"/>
                <a:ea typeface="ＭＳ Ｐゴシック"/>
              </a:rPr>
              <a:t>Once you have introduced the idea of marginal utility, ask your students why a vending machine, which requires payment for each snack purchased, is used to sell snacks while a newspaper can be sold out of a box that allows anyone to take more than one paper. If students fail to respond using marginal utility analysis, prompt them by asking, “If snacks were sold using a newspaper style box, would some people take more than they paid for?” Then ask, “Why don’t people take more than one paper?” See if the students can discover diminishing marginal utility on their own. If not, explain why different sales techniques are used: Because the marginal utility of a paper diminishes so rapidly, there is little concern that people take more than one. When you have formally taught diminishing marginal utility, tie your lecture back into this example.</a:t>
            </a:r>
            <a:r>
              <a:rPr b="0" lang="en-GB" sz="1600" strike="noStrike" u="none">
                <a:solidFill>
                  <a:srgbClr val="000000"/>
                </a:solidFill>
                <a:effectLst/>
                <a:uFillTx/>
                <a:latin typeface="Arial"/>
                <a:ea typeface="ＭＳ Ｐゴシック"/>
              </a:rPr>
              <a:t> </a:t>
            </a:r>
            <a:endParaRPr b="0" lang="en-US" sz="1600" strike="noStrike" u="none">
              <a:solidFill>
                <a:srgbClr val="000000"/>
              </a:solidFill>
              <a:effectLst/>
              <a:uFillTx/>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7" name="PlaceHolder 1"/>
          <p:cNvSpPr>
            <a:spLocks noGrp="1"/>
          </p:cNvSpPr>
          <p:nvPr>
            <p:ph type="sldNum" idx="31"/>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0CA2F3F3-ABB1-4E8A-8895-8D1200AA556F}"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98" name="PlaceHolder 2"/>
          <p:cNvSpPr>
            <a:spLocks noGrp="1"/>
          </p:cNvSpPr>
          <p:nvPr>
            <p:ph type="sldImg"/>
          </p:nvPr>
        </p:nvSpPr>
        <p:spPr>
          <a:xfrm>
            <a:off x="1143000" y="685800"/>
            <a:ext cx="4571280" cy="3428280"/>
          </a:xfrm>
          <a:prstGeom prst="rect">
            <a:avLst/>
          </a:prstGeom>
          <a:ln w="0">
            <a:noFill/>
          </a:ln>
        </p:spPr>
      </p:sp>
      <p:sp>
        <p:nvSpPr>
          <p:cNvPr id="599"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0" name="PlaceHolder 1"/>
          <p:cNvSpPr>
            <a:spLocks noGrp="1"/>
          </p:cNvSpPr>
          <p:nvPr>
            <p:ph type="sldNum" idx="32"/>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36310964-204E-4C21-B6E5-B1A1B6466AA1}"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01" name="PlaceHolder 2"/>
          <p:cNvSpPr>
            <a:spLocks noGrp="1"/>
          </p:cNvSpPr>
          <p:nvPr>
            <p:ph type="sldImg"/>
          </p:nvPr>
        </p:nvSpPr>
        <p:spPr>
          <a:xfrm>
            <a:off x="1143000" y="685800"/>
            <a:ext cx="4571280" cy="3428280"/>
          </a:xfrm>
          <a:prstGeom prst="rect">
            <a:avLst/>
          </a:prstGeom>
          <a:ln w="0">
            <a:noFill/>
          </a:ln>
        </p:spPr>
      </p:sp>
      <p:sp>
        <p:nvSpPr>
          <p:cNvPr id="602"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3" name="PlaceHolder 1"/>
          <p:cNvSpPr>
            <a:spLocks noGrp="1"/>
          </p:cNvSpPr>
          <p:nvPr>
            <p:ph type="sldNum" idx="33"/>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FC49518E-7394-42A7-9219-F98FD476898D}"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04" name="PlaceHolder 2"/>
          <p:cNvSpPr>
            <a:spLocks noGrp="1"/>
          </p:cNvSpPr>
          <p:nvPr>
            <p:ph type="sldImg"/>
          </p:nvPr>
        </p:nvSpPr>
        <p:spPr>
          <a:xfrm>
            <a:off x="1143000" y="685800"/>
            <a:ext cx="4571280" cy="3428280"/>
          </a:xfrm>
          <a:prstGeom prst="rect">
            <a:avLst/>
          </a:prstGeom>
          <a:ln w="0">
            <a:noFill/>
          </a:ln>
        </p:spPr>
      </p:sp>
      <p:sp>
        <p:nvSpPr>
          <p:cNvPr id="605"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6" name="PlaceHolder 1"/>
          <p:cNvSpPr>
            <a:spLocks noGrp="1"/>
          </p:cNvSpPr>
          <p:nvPr>
            <p:ph type="sldNum" idx="34"/>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ECD42DF5-07F5-476B-BDF0-4E2B6BA4FF79}"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07" name="PlaceHolder 2"/>
          <p:cNvSpPr>
            <a:spLocks noGrp="1"/>
          </p:cNvSpPr>
          <p:nvPr>
            <p:ph type="sldImg"/>
          </p:nvPr>
        </p:nvSpPr>
        <p:spPr>
          <a:xfrm>
            <a:off x="1143000" y="685800"/>
            <a:ext cx="4571280" cy="3428280"/>
          </a:xfrm>
          <a:prstGeom prst="rect">
            <a:avLst/>
          </a:prstGeom>
          <a:ln w="0">
            <a:noFill/>
          </a:ln>
        </p:spPr>
      </p:sp>
      <p:sp>
        <p:nvSpPr>
          <p:cNvPr id="608"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9" name="PlaceHolder 1"/>
          <p:cNvSpPr>
            <a:spLocks noGrp="1"/>
          </p:cNvSpPr>
          <p:nvPr>
            <p:ph type="sldNum" idx="35"/>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1084678A-586F-4E20-ADFB-6147D6EBB553}"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10" name="PlaceHolder 2"/>
          <p:cNvSpPr>
            <a:spLocks noGrp="1"/>
          </p:cNvSpPr>
          <p:nvPr>
            <p:ph type="sldImg"/>
          </p:nvPr>
        </p:nvSpPr>
        <p:spPr>
          <a:xfrm>
            <a:off x="1143000" y="685800"/>
            <a:ext cx="4571280" cy="3428280"/>
          </a:xfrm>
          <a:prstGeom prst="rect">
            <a:avLst/>
          </a:prstGeom>
          <a:ln w="0">
            <a:noFill/>
          </a:ln>
        </p:spPr>
      </p:sp>
      <p:sp>
        <p:nvSpPr>
          <p:cNvPr id="611"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2" name="PlaceHolder 1"/>
          <p:cNvSpPr>
            <a:spLocks noGrp="1"/>
          </p:cNvSpPr>
          <p:nvPr>
            <p:ph type="sldNum" idx="36"/>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1C399705-1B69-4424-9F9A-AFE43A570C8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13" name="PlaceHolder 2"/>
          <p:cNvSpPr>
            <a:spLocks noGrp="1"/>
          </p:cNvSpPr>
          <p:nvPr>
            <p:ph type="sldImg"/>
          </p:nvPr>
        </p:nvSpPr>
        <p:spPr>
          <a:xfrm>
            <a:off x="1143000" y="685800"/>
            <a:ext cx="4571280" cy="3428280"/>
          </a:xfrm>
          <a:prstGeom prst="rect">
            <a:avLst/>
          </a:prstGeom>
          <a:ln w="0">
            <a:noFill/>
          </a:ln>
        </p:spPr>
      </p:sp>
      <p:sp>
        <p:nvSpPr>
          <p:cNvPr id="614"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5" name="PlaceHolder 1"/>
          <p:cNvSpPr>
            <a:spLocks noGrp="1"/>
          </p:cNvSpPr>
          <p:nvPr>
            <p:ph type="sldNum" idx="37"/>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619565C7-C9FE-4D95-92FA-37F38A493083}"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16" name="PlaceHolder 2"/>
          <p:cNvSpPr>
            <a:spLocks noGrp="1"/>
          </p:cNvSpPr>
          <p:nvPr>
            <p:ph type="sldImg"/>
          </p:nvPr>
        </p:nvSpPr>
        <p:spPr>
          <a:xfrm>
            <a:off x="1143000" y="685800"/>
            <a:ext cx="4571280" cy="3428280"/>
          </a:xfrm>
          <a:prstGeom prst="rect">
            <a:avLst/>
          </a:prstGeom>
          <a:ln w="0">
            <a:noFill/>
          </a:ln>
        </p:spPr>
      </p:sp>
      <p:sp>
        <p:nvSpPr>
          <p:cNvPr id="617"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8" name="PlaceHolder 1"/>
          <p:cNvSpPr>
            <a:spLocks noGrp="1"/>
          </p:cNvSpPr>
          <p:nvPr>
            <p:ph type="sldNum" idx="38"/>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859ADCC6-E2AB-4219-8E9D-04AB7D4F35C6}"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19" name="PlaceHolder 2"/>
          <p:cNvSpPr>
            <a:spLocks noGrp="1"/>
          </p:cNvSpPr>
          <p:nvPr>
            <p:ph type="sldImg"/>
          </p:nvPr>
        </p:nvSpPr>
        <p:spPr>
          <a:xfrm>
            <a:off x="1143000" y="685800"/>
            <a:ext cx="4571280" cy="3428280"/>
          </a:xfrm>
          <a:prstGeom prst="rect">
            <a:avLst/>
          </a:prstGeom>
          <a:ln w="0">
            <a:noFill/>
          </a:ln>
        </p:spPr>
      </p:sp>
      <p:sp>
        <p:nvSpPr>
          <p:cNvPr id="620"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1" name="PlaceHolder 1"/>
          <p:cNvSpPr>
            <a:spLocks noGrp="1"/>
          </p:cNvSpPr>
          <p:nvPr>
            <p:ph type="sldNum" idx="39"/>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57E4FE02-8116-4387-AD8E-7EAB315BAF10}"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22" name="PlaceHolder 2"/>
          <p:cNvSpPr>
            <a:spLocks noGrp="1"/>
          </p:cNvSpPr>
          <p:nvPr>
            <p:ph type="sldImg"/>
          </p:nvPr>
        </p:nvSpPr>
        <p:spPr>
          <a:xfrm>
            <a:off x="1143000" y="685800"/>
            <a:ext cx="4571280" cy="3428280"/>
          </a:xfrm>
          <a:prstGeom prst="rect">
            <a:avLst/>
          </a:prstGeom>
          <a:ln w="0">
            <a:noFill/>
          </a:ln>
        </p:spPr>
      </p:sp>
      <p:sp>
        <p:nvSpPr>
          <p:cNvPr id="623"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4" name="PlaceHolder 1"/>
          <p:cNvSpPr>
            <a:spLocks noGrp="1"/>
          </p:cNvSpPr>
          <p:nvPr>
            <p:ph type="sldNum" idx="40"/>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45CF78DF-F8A1-4C01-888A-C124F656F8A1}"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25" name="PlaceHolder 2"/>
          <p:cNvSpPr>
            <a:spLocks noGrp="1"/>
          </p:cNvSpPr>
          <p:nvPr>
            <p:ph type="sldImg"/>
          </p:nvPr>
        </p:nvSpPr>
        <p:spPr>
          <a:xfrm>
            <a:off x="1143000" y="685800"/>
            <a:ext cx="4571280" cy="3428280"/>
          </a:xfrm>
          <a:prstGeom prst="rect">
            <a:avLst/>
          </a:prstGeom>
          <a:ln w="0">
            <a:noFill/>
          </a:ln>
        </p:spPr>
      </p:sp>
      <p:sp>
        <p:nvSpPr>
          <p:cNvPr id="626"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7" name="PlaceHolder 1"/>
          <p:cNvSpPr>
            <a:spLocks noGrp="1"/>
          </p:cNvSpPr>
          <p:nvPr>
            <p:ph type="sldNum" idx="41"/>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F4D20F98-F5B1-474A-8B66-9AA122451A5A}"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28" name="PlaceHolder 2"/>
          <p:cNvSpPr>
            <a:spLocks noGrp="1"/>
          </p:cNvSpPr>
          <p:nvPr>
            <p:ph type="sldImg"/>
          </p:nvPr>
        </p:nvSpPr>
        <p:spPr>
          <a:xfrm>
            <a:off x="1143000" y="685800"/>
            <a:ext cx="4571280" cy="3428280"/>
          </a:xfrm>
          <a:prstGeom prst="rect">
            <a:avLst/>
          </a:prstGeom>
          <a:ln w="0">
            <a:noFill/>
          </a:ln>
        </p:spPr>
      </p:sp>
      <p:sp>
        <p:nvSpPr>
          <p:cNvPr id="629"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0" name="PlaceHolder 1"/>
          <p:cNvSpPr>
            <a:spLocks noGrp="1"/>
          </p:cNvSpPr>
          <p:nvPr>
            <p:ph type="sldNum" idx="42"/>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F13909A0-C998-4648-9BCC-D38E25D15DE4}"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31" name="PlaceHolder 2"/>
          <p:cNvSpPr>
            <a:spLocks noGrp="1"/>
          </p:cNvSpPr>
          <p:nvPr>
            <p:ph type="sldImg"/>
          </p:nvPr>
        </p:nvSpPr>
        <p:spPr>
          <a:xfrm>
            <a:off x="1143000" y="685800"/>
            <a:ext cx="4571280" cy="3428280"/>
          </a:xfrm>
          <a:prstGeom prst="rect">
            <a:avLst/>
          </a:prstGeom>
          <a:ln w="0">
            <a:noFill/>
          </a:ln>
        </p:spPr>
      </p:sp>
      <p:sp>
        <p:nvSpPr>
          <p:cNvPr id="632"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lnSpc>
                <a:spcPct val="80000"/>
              </a:lnSpc>
              <a:buNone/>
              <a:tabLst>
                <a:tab algn="l" pos="0"/>
              </a:tabLst>
            </a:pPr>
            <a:r>
              <a:rPr b="0" lang="en-AU" sz="1400" strike="noStrike" u="none">
                <a:solidFill>
                  <a:srgbClr val="000000"/>
                </a:solidFill>
                <a:effectLst/>
                <a:uFillTx/>
                <a:latin typeface="Arial"/>
                <a:ea typeface="ＭＳ Ｐゴシック"/>
              </a:rPr>
              <a:t>When you use the marginal utility per dollar approach to explain utility maximization, you should be prepared for students’ questioning the reality of the idea that they actually equate marginal utility per dollar before making a consumption decision. Some will say, “I’ve never calculated the marginal utility of any item I’ve ever purchased. This material doesn’t make any sense.” You should agree with your students that people don’t calculate and compare marginal utilities and prices but point out to them that the goal is to predict choices, not to describe the thought processes that make them. Indeed, one of the challenges in teaching the marginal utility theory is getting the students to appreciate the fundamental role of a model of choice. Gary Becker had a pertinent story you can use: Orel Hershiser [substitute a current pitcher] is a top baseball player. He effectively knows all the laws of motion, of eye and hand coordination, about the speed of the bat and ball, and so on. He’s in fact solving a complicated physics problem when he steps up to pitch, but obviously he doesn’t have to know physics to do that. Likewise, when people solve economic problems rationally they’re really not thinking that well, I have this budget and I read this textbook and I look at my marginal utility. They don’t do that, but it doesn’t mean they’re not being rational any more than Orel Hershiser is Albert Einstein.</a:t>
            </a:r>
            <a:r>
              <a:rPr b="0" lang="en-GB" sz="1400" strike="noStrike" u="none">
                <a:solidFill>
                  <a:srgbClr val="000000"/>
                </a:solidFill>
                <a:effectLst/>
                <a:uFillTx/>
                <a:latin typeface="Arial"/>
                <a:ea typeface="ＭＳ Ｐゴシック"/>
              </a:rPr>
              <a:t> </a:t>
            </a:r>
            <a:endParaRPr b="0" lang="en-US" sz="1400" strike="noStrike" u="none">
              <a:solidFill>
                <a:srgbClr val="000000"/>
              </a:solidFill>
              <a:effectLst/>
              <a:uFillTx/>
              <a:latin typeface="Arial"/>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3" name="PlaceHolder 1"/>
          <p:cNvSpPr>
            <a:spLocks noGrp="1"/>
          </p:cNvSpPr>
          <p:nvPr>
            <p:ph type="sldNum" idx="43"/>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1D2FEB90-1EBA-4FF6-B6ED-CDE1958918F6}"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34" name="PlaceHolder 2"/>
          <p:cNvSpPr>
            <a:spLocks noGrp="1"/>
          </p:cNvSpPr>
          <p:nvPr>
            <p:ph type="sldImg"/>
          </p:nvPr>
        </p:nvSpPr>
        <p:spPr>
          <a:xfrm>
            <a:off x="1143000" y="685800"/>
            <a:ext cx="4571280" cy="3428280"/>
          </a:xfrm>
          <a:prstGeom prst="rect">
            <a:avLst/>
          </a:prstGeom>
          <a:ln w="0">
            <a:noFill/>
          </a:ln>
        </p:spPr>
      </p:sp>
      <p:sp>
        <p:nvSpPr>
          <p:cNvPr id="635"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lnSpc>
                <a:spcPct val="100000"/>
              </a:lnSpc>
              <a:buNone/>
              <a:tabLst>
                <a:tab algn="l" pos="0"/>
              </a:tabLst>
            </a:pPr>
            <a:r>
              <a:rPr b="0" lang="en-AU" sz="2000" strike="noStrike" u="none">
                <a:solidFill>
                  <a:srgbClr val="000000"/>
                </a:solidFill>
                <a:effectLst/>
                <a:uFillTx/>
                <a:latin typeface="Arial"/>
                <a:ea typeface="ＭＳ Ｐゴシック"/>
              </a:rPr>
              <a:t>Students usually grasp the consumer must assess the marginal utility lost against the marginal utility gained as one good is substituted for another. Yet, students usually haven’t thought about how much of one good is available from forgoing some quantity of the other good. Point out that this is not known until the relative </a:t>
            </a:r>
            <a:r>
              <a:rPr b="0" i="1" lang="en-AU" sz="2000" strike="noStrike" u="none">
                <a:solidFill>
                  <a:srgbClr val="000000"/>
                </a:solidFill>
                <a:effectLst/>
                <a:uFillTx/>
                <a:latin typeface="Arial"/>
                <a:ea typeface="ＭＳ Ｐゴシック"/>
              </a:rPr>
              <a:t>prices </a:t>
            </a:r>
            <a:r>
              <a:rPr b="0" lang="en-AU" sz="2000" strike="noStrike" u="none">
                <a:solidFill>
                  <a:srgbClr val="000000"/>
                </a:solidFill>
                <a:effectLst/>
                <a:uFillTx/>
                <a:latin typeface="Arial"/>
                <a:ea typeface="ＭＳ Ｐゴシック"/>
              </a:rPr>
              <a:t>of the two goods are known, which is why the marginal utility is weighted by its price.</a:t>
            </a:r>
            <a:r>
              <a:rPr b="0" lang="en-GB" sz="2000" strike="noStrike" u="none">
                <a:solidFill>
                  <a:srgbClr val="000000"/>
                </a:solidFill>
                <a:effectLst/>
                <a:uFillTx/>
                <a:latin typeface="Arial"/>
                <a:ea typeface="ＭＳ Ｐゴシック"/>
              </a:rPr>
              <a:t> </a:t>
            </a:r>
            <a:endParaRPr b="0" lang="en-US" sz="2000" strike="noStrike" u="none">
              <a:solidFill>
                <a:srgbClr val="000000"/>
              </a:solidFill>
              <a:effectLst/>
              <a:uFillTx/>
              <a:latin typeface="Arial"/>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6" name="PlaceHolder 1"/>
          <p:cNvSpPr>
            <a:spLocks noGrp="1"/>
          </p:cNvSpPr>
          <p:nvPr>
            <p:ph type="sldNum" idx="44"/>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789F279C-2644-4065-9FD7-C6D1C36E7F91}"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37" name="PlaceHolder 2"/>
          <p:cNvSpPr>
            <a:spLocks noGrp="1"/>
          </p:cNvSpPr>
          <p:nvPr>
            <p:ph type="sldImg"/>
          </p:nvPr>
        </p:nvSpPr>
        <p:spPr>
          <a:xfrm>
            <a:off x="1143000" y="685800"/>
            <a:ext cx="4571280" cy="3428280"/>
          </a:xfrm>
          <a:prstGeom prst="rect">
            <a:avLst/>
          </a:prstGeom>
          <a:ln w="0">
            <a:noFill/>
          </a:ln>
        </p:spPr>
      </p:sp>
      <p:sp>
        <p:nvSpPr>
          <p:cNvPr id="638"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9" name="PlaceHolder 1"/>
          <p:cNvSpPr>
            <a:spLocks noGrp="1"/>
          </p:cNvSpPr>
          <p:nvPr>
            <p:ph type="sldNum" idx="45"/>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629A3108-F342-4594-9D68-76F858071FCF}"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40" name="PlaceHolder 2"/>
          <p:cNvSpPr>
            <a:spLocks noGrp="1"/>
          </p:cNvSpPr>
          <p:nvPr>
            <p:ph type="sldImg"/>
          </p:nvPr>
        </p:nvSpPr>
        <p:spPr>
          <a:xfrm>
            <a:off x="1143000" y="685800"/>
            <a:ext cx="4571280" cy="3428280"/>
          </a:xfrm>
          <a:prstGeom prst="rect">
            <a:avLst/>
          </a:prstGeom>
          <a:ln w="0">
            <a:noFill/>
          </a:ln>
        </p:spPr>
      </p:sp>
      <p:sp>
        <p:nvSpPr>
          <p:cNvPr id="641"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2" name="PlaceHolder 1"/>
          <p:cNvSpPr>
            <a:spLocks noGrp="1"/>
          </p:cNvSpPr>
          <p:nvPr>
            <p:ph type="sldNum" idx="46"/>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61C54EE8-8926-4C79-A535-02E73E121FFD}"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43" name="PlaceHolder 2"/>
          <p:cNvSpPr>
            <a:spLocks noGrp="1"/>
          </p:cNvSpPr>
          <p:nvPr>
            <p:ph type="sldImg"/>
          </p:nvPr>
        </p:nvSpPr>
        <p:spPr>
          <a:xfrm>
            <a:off x="1143000" y="685800"/>
            <a:ext cx="4571280" cy="3428280"/>
          </a:xfrm>
          <a:prstGeom prst="rect">
            <a:avLst/>
          </a:prstGeom>
          <a:ln w="0">
            <a:noFill/>
          </a:ln>
        </p:spPr>
      </p:sp>
      <p:sp>
        <p:nvSpPr>
          <p:cNvPr id="644"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5" name="PlaceHolder 1"/>
          <p:cNvSpPr>
            <a:spLocks noGrp="1"/>
          </p:cNvSpPr>
          <p:nvPr>
            <p:ph type="sldNum" idx="47"/>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87006B01-5C18-4385-85FE-3D27BF8D4B27}"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46" name="PlaceHolder 2"/>
          <p:cNvSpPr>
            <a:spLocks noGrp="1"/>
          </p:cNvSpPr>
          <p:nvPr>
            <p:ph type="sldImg"/>
          </p:nvPr>
        </p:nvSpPr>
        <p:spPr>
          <a:xfrm>
            <a:off x="1143000" y="685800"/>
            <a:ext cx="4571280" cy="3428280"/>
          </a:xfrm>
          <a:prstGeom prst="rect">
            <a:avLst/>
          </a:prstGeom>
          <a:ln w="0">
            <a:noFill/>
          </a:ln>
        </p:spPr>
      </p:sp>
      <p:sp>
        <p:nvSpPr>
          <p:cNvPr id="647"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8" name="PlaceHolder 1"/>
          <p:cNvSpPr>
            <a:spLocks noGrp="1"/>
          </p:cNvSpPr>
          <p:nvPr>
            <p:ph type="sldNum" idx="48"/>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E945E22C-8F63-4FDE-AB13-22233445804A}"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49" name="PlaceHolder 2"/>
          <p:cNvSpPr>
            <a:spLocks noGrp="1"/>
          </p:cNvSpPr>
          <p:nvPr>
            <p:ph type="sldImg"/>
          </p:nvPr>
        </p:nvSpPr>
        <p:spPr>
          <a:xfrm>
            <a:off x="1143000" y="685800"/>
            <a:ext cx="4571280" cy="3428280"/>
          </a:xfrm>
          <a:prstGeom prst="rect">
            <a:avLst/>
          </a:prstGeom>
          <a:ln w="0">
            <a:noFill/>
          </a:ln>
        </p:spPr>
      </p:sp>
      <p:sp>
        <p:nvSpPr>
          <p:cNvPr id="650"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1" name="PlaceHolder 1"/>
          <p:cNvSpPr>
            <a:spLocks noGrp="1"/>
          </p:cNvSpPr>
          <p:nvPr>
            <p:ph type="sldNum" idx="49"/>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63B50AD8-A37C-4251-B6AE-8EEAE296DD16}"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52" name="PlaceHolder 2"/>
          <p:cNvSpPr>
            <a:spLocks noGrp="1"/>
          </p:cNvSpPr>
          <p:nvPr>
            <p:ph type="sldImg"/>
          </p:nvPr>
        </p:nvSpPr>
        <p:spPr>
          <a:xfrm>
            <a:off x="1143000" y="685800"/>
            <a:ext cx="4571280" cy="3428280"/>
          </a:xfrm>
          <a:prstGeom prst="rect">
            <a:avLst/>
          </a:prstGeom>
          <a:ln w="0">
            <a:noFill/>
          </a:ln>
        </p:spPr>
      </p:sp>
      <p:sp>
        <p:nvSpPr>
          <p:cNvPr id="653"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4" name="PlaceHolder 1"/>
          <p:cNvSpPr>
            <a:spLocks noGrp="1"/>
          </p:cNvSpPr>
          <p:nvPr>
            <p:ph type="sldNum" idx="50"/>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4E420402-0D71-4606-8D07-3EFCA50E9B76}"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55" name="PlaceHolder 2"/>
          <p:cNvSpPr>
            <a:spLocks noGrp="1"/>
          </p:cNvSpPr>
          <p:nvPr>
            <p:ph type="sldImg"/>
          </p:nvPr>
        </p:nvSpPr>
        <p:spPr>
          <a:xfrm>
            <a:off x="1143000" y="685800"/>
            <a:ext cx="4571280" cy="3428280"/>
          </a:xfrm>
          <a:prstGeom prst="rect">
            <a:avLst/>
          </a:prstGeom>
          <a:ln w="0">
            <a:noFill/>
          </a:ln>
        </p:spPr>
      </p:sp>
      <p:sp>
        <p:nvSpPr>
          <p:cNvPr id="656"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7" name="PlaceHolder 1"/>
          <p:cNvSpPr>
            <a:spLocks noGrp="1"/>
          </p:cNvSpPr>
          <p:nvPr>
            <p:ph type="sldNum" idx="51"/>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6619406B-301E-4D88-ACDE-C29FFD161487}"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58" name="PlaceHolder 2"/>
          <p:cNvSpPr>
            <a:spLocks noGrp="1"/>
          </p:cNvSpPr>
          <p:nvPr>
            <p:ph type="sldImg"/>
          </p:nvPr>
        </p:nvSpPr>
        <p:spPr>
          <a:xfrm>
            <a:off x="1143000" y="685800"/>
            <a:ext cx="4571280" cy="3428280"/>
          </a:xfrm>
          <a:prstGeom prst="rect">
            <a:avLst/>
          </a:prstGeom>
          <a:ln w="0">
            <a:noFill/>
          </a:ln>
        </p:spPr>
      </p:sp>
      <p:sp>
        <p:nvSpPr>
          <p:cNvPr id="659"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0" name="PlaceHolder 1"/>
          <p:cNvSpPr>
            <a:spLocks noGrp="1"/>
          </p:cNvSpPr>
          <p:nvPr>
            <p:ph type="sldNum" idx="52"/>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5F482541-D11A-48A4-8EC2-EC4760D004C8}"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61" name="PlaceHolder 2"/>
          <p:cNvSpPr>
            <a:spLocks noGrp="1"/>
          </p:cNvSpPr>
          <p:nvPr>
            <p:ph type="sldImg"/>
          </p:nvPr>
        </p:nvSpPr>
        <p:spPr>
          <a:xfrm>
            <a:off x="1143000" y="685800"/>
            <a:ext cx="4571280" cy="3428280"/>
          </a:xfrm>
          <a:prstGeom prst="rect">
            <a:avLst/>
          </a:prstGeom>
          <a:ln w="0">
            <a:noFill/>
          </a:ln>
        </p:spPr>
      </p:sp>
      <p:sp>
        <p:nvSpPr>
          <p:cNvPr id="662"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lnSpc>
                <a:spcPct val="90000"/>
              </a:lnSpc>
              <a:buNone/>
              <a:tabLst>
                <a:tab algn="l" pos="0"/>
              </a:tabLst>
            </a:pPr>
            <a:r>
              <a:rPr b="0" lang="en-AU" sz="2000" strike="noStrike" u="none">
                <a:solidFill>
                  <a:srgbClr val="000000"/>
                </a:solidFill>
                <a:effectLst/>
                <a:uFillTx/>
                <a:latin typeface="Arial"/>
                <a:ea typeface="ＭＳ Ｐゴシック"/>
              </a:rPr>
              <a:t>Students need to be told why they are studying indifference curves. Indeed, many students think indifference curves impractical and so are less than eager to study them. Motivation is necessary! One way to motivate students is by pointing out that the material will be on their test. But that is perhaps not the best way. Launch your lecture on indifference curves by reminding students that economists are social scientists. As social scientists, we are interested in humans and their behavior. Tell your students that the indifference curve theory you will present is one way economists have of studying people’s behavior. Point out to them that indifference curves might not seem as “practical” as, say, elasticity, but not everything a scientist does has immediate practicality.</a:t>
            </a:r>
            <a:r>
              <a:rPr b="0" lang="en-GB" sz="2000" strike="noStrike" u="none">
                <a:solidFill>
                  <a:srgbClr val="000000"/>
                </a:solidFill>
                <a:effectLst/>
                <a:uFillTx/>
                <a:latin typeface="Arial"/>
                <a:ea typeface="ＭＳ Ｐゴシック"/>
              </a:rPr>
              <a:t> </a:t>
            </a:r>
            <a:endParaRPr b="0" lang="en-US" sz="2000" strike="noStrike" u="none">
              <a:solidFill>
                <a:srgbClr val="000000"/>
              </a:solidFill>
              <a:effectLst/>
              <a:uFillTx/>
              <a:latin typeface="Arial"/>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3" name="PlaceHolder 1"/>
          <p:cNvSpPr>
            <a:spLocks noGrp="1"/>
          </p:cNvSpPr>
          <p:nvPr>
            <p:ph type="sldNum" idx="53"/>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94D44CA3-2787-485E-AE81-85B16DACCE26}"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64" name="PlaceHolder 2"/>
          <p:cNvSpPr>
            <a:spLocks noGrp="1"/>
          </p:cNvSpPr>
          <p:nvPr>
            <p:ph type="sldImg"/>
          </p:nvPr>
        </p:nvSpPr>
        <p:spPr>
          <a:xfrm>
            <a:off x="1143000" y="685800"/>
            <a:ext cx="4571280" cy="3428280"/>
          </a:xfrm>
          <a:prstGeom prst="rect">
            <a:avLst/>
          </a:prstGeom>
          <a:ln w="0">
            <a:noFill/>
          </a:ln>
        </p:spPr>
      </p:sp>
      <p:sp>
        <p:nvSpPr>
          <p:cNvPr id="665"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6" name="PlaceHolder 1"/>
          <p:cNvSpPr>
            <a:spLocks noGrp="1"/>
          </p:cNvSpPr>
          <p:nvPr>
            <p:ph type="sldNum" idx="54"/>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C96CA128-46C3-415D-9F46-AF2BD4B3338D}"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67" name="PlaceHolder 2"/>
          <p:cNvSpPr>
            <a:spLocks noGrp="1"/>
          </p:cNvSpPr>
          <p:nvPr>
            <p:ph type="sldImg"/>
          </p:nvPr>
        </p:nvSpPr>
        <p:spPr>
          <a:xfrm>
            <a:off x="1143000" y="685800"/>
            <a:ext cx="4571280" cy="3428280"/>
          </a:xfrm>
          <a:prstGeom prst="rect">
            <a:avLst/>
          </a:prstGeom>
          <a:ln w="0">
            <a:noFill/>
          </a:ln>
        </p:spPr>
      </p:sp>
      <p:sp>
        <p:nvSpPr>
          <p:cNvPr id="668"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9" name="PlaceHolder 1"/>
          <p:cNvSpPr>
            <a:spLocks noGrp="1"/>
          </p:cNvSpPr>
          <p:nvPr>
            <p:ph type="sldNum" idx="55"/>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490332C5-9A8F-4246-A519-48DA471BD915}"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70" name="PlaceHolder 2"/>
          <p:cNvSpPr>
            <a:spLocks noGrp="1"/>
          </p:cNvSpPr>
          <p:nvPr>
            <p:ph type="sldImg"/>
          </p:nvPr>
        </p:nvSpPr>
        <p:spPr>
          <a:xfrm>
            <a:off x="1143000" y="685800"/>
            <a:ext cx="4571280" cy="3428280"/>
          </a:xfrm>
          <a:prstGeom prst="rect">
            <a:avLst/>
          </a:prstGeom>
          <a:ln w="0">
            <a:noFill/>
          </a:ln>
        </p:spPr>
      </p:sp>
      <p:sp>
        <p:nvSpPr>
          <p:cNvPr id="671"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2" name="PlaceHolder 1"/>
          <p:cNvSpPr>
            <a:spLocks noGrp="1"/>
          </p:cNvSpPr>
          <p:nvPr>
            <p:ph type="sldNum" idx="56"/>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3FB980F0-C6AF-4F07-96EB-0CD7F9AAFA84}"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73" name="PlaceHolder 2"/>
          <p:cNvSpPr>
            <a:spLocks noGrp="1"/>
          </p:cNvSpPr>
          <p:nvPr>
            <p:ph type="sldImg"/>
          </p:nvPr>
        </p:nvSpPr>
        <p:spPr>
          <a:xfrm>
            <a:off x="1143000" y="685800"/>
            <a:ext cx="4571280" cy="3428280"/>
          </a:xfrm>
          <a:prstGeom prst="rect">
            <a:avLst/>
          </a:prstGeom>
          <a:ln w="0">
            <a:noFill/>
          </a:ln>
        </p:spPr>
      </p:sp>
      <p:sp>
        <p:nvSpPr>
          <p:cNvPr id="674"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5" name="PlaceHolder 1"/>
          <p:cNvSpPr>
            <a:spLocks noGrp="1"/>
          </p:cNvSpPr>
          <p:nvPr>
            <p:ph type="sldNum" idx="57"/>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9715C887-EFBD-41B1-BC37-DA2BEB9291E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76" name="PlaceHolder 2"/>
          <p:cNvSpPr>
            <a:spLocks noGrp="1"/>
          </p:cNvSpPr>
          <p:nvPr>
            <p:ph type="sldImg"/>
          </p:nvPr>
        </p:nvSpPr>
        <p:spPr>
          <a:xfrm>
            <a:off x="1143000" y="685800"/>
            <a:ext cx="4571280" cy="3428280"/>
          </a:xfrm>
          <a:prstGeom prst="rect">
            <a:avLst/>
          </a:prstGeom>
          <a:ln w="0">
            <a:noFill/>
          </a:ln>
        </p:spPr>
      </p:sp>
      <p:sp>
        <p:nvSpPr>
          <p:cNvPr id="677"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8" name="PlaceHolder 1"/>
          <p:cNvSpPr>
            <a:spLocks noGrp="1"/>
          </p:cNvSpPr>
          <p:nvPr>
            <p:ph type="sldNum" idx="58"/>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557EE92B-78F5-4C73-BD8F-7E1710856804}"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79" name="PlaceHolder 2"/>
          <p:cNvSpPr>
            <a:spLocks noGrp="1"/>
          </p:cNvSpPr>
          <p:nvPr>
            <p:ph type="sldImg"/>
          </p:nvPr>
        </p:nvSpPr>
        <p:spPr>
          <a:xfrm>
            <a:off x="1143000" y="685800"/>
            <a:ext cx="4571280" cy="3428280"/>
          </a:xfrm>
          <a:prstGeom prst="rect">
            <a:avLst/>
          </a:prstGeom>
          <a:ln w="0">
            <a:noFill/>
          </a:ln>
        </p:spPr>
      </p:sp>
      <p:sp>
        <p:nvSpPr>
          <p:cNvPr id="680"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1" name="PlaceHolder 1"/>
          <p:cNvSpPr>
            <a:spLocks noGrp="1"/>
          </p:cNvSpPr>
          <p:nvPr>
            <p:ph type="sldNum" idx="59"/>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40324157-BA79-4241-899D-2ACA658970D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82" name="PlaceHolder 2"/>
          <p:cNvSpPr>
            <a:spLocks noGrp="1"/>
          </p:cNvSpPr>
          <p:nvPr>
            <p:ph type="sldImg"/>
          </p:nvPr>
        </p:nvSpPr>
        <p:spPr>
          <a:xfrm>
            <a:off x="1143000" y="685800"/>
            <a:ext cx="4571280" cy="3428280"/>
          </a:xfrm>
          <a:prstGeom prst="rect">
            <a:avLst/>
          </a:prstGeom>
          <a:ln w="0">
            <a:noFill/>
          </a:ln>
        </p:spPr>
      </p:sp>
      <p:sp>
        <p:nvSpPr>
          <p:cNvPr id="683"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4" name="PlaceHolder 1"/>
          <p:cNvSpPr>
            <a:spLocks noGrp="1"/>
          </p:cNvSpPr>
          <p:nvPr>
            <p:ph type="sldNum" idx="60"/>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64E0C01D-9FF8-4E86-9E36-B41C4A1C47CF}"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85" name="PlaceHolder 2"/>
          <p:cNvSpPr>
            <a:spLocks noGrp="1"/>
          </p:cNvSpPr>
          <p:nvPr>
            <p:ph type="sldImg"/>
          </p:nvPr>
        </p:nvSpPr>
        <p:spPr>
          <a:xfrm>
            <a:off x="1143000" y="685800"/>
            <a:ext cx="4571280" cy="3428280"/>
          </a:xfrm>
          <a:prstGeom prst="rect">
            <a:avLst/>
          </a:prstGeom>
          <a:ln w="0">
            <a:noFill/>
          </a:ln>
        </p:spPr>
      </p:sp>
      <p:sp>
        <p:nvSpPr>
          <p:cNvPr id="686"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7" name="PlaceHolder 1"/>
          <p:cNvSpPr>
            <a:spLocks noGrp="1"/>
          </p:cNvSpPr>
          <p:nvPr>
            <p:ph type="sldNum" idx="61"/>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752525FA-7A50-4880-84D9-F829B78B64F9}"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88" name="PlaceHolder 2"/>
          <p:cNvSpPr>
            <a:spLocks noGrp="1"/>
          </p:cNvSpPr>
          <p:nvPr>
            <p:ph type="sldImg"/>
          </p:nvPr>
        </p:nvSpPr>
        <p:spPr>
          <a:xfrm>
            <a:off x="1143000" y="685800"/>
            <a:ext cx="4571280" cy="3428280"/>
          </a:xfrm>
          <a:prstGeom prst="rect">
            <a:avLst/>
          </a:prstGeom>
          <a:ln w="0">
            <a:noFill/>
          </a:ln>
        </p:spPr>
      </p:sp>
      <p:sp>
        <p:nvSpPr>
          <p:cNvPr id="689"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0" name="PlaceHolder 1"/>
          <p:cNvSpPr>
            <a:spLocks noGrp="1"/>
          </p:cNvSpPr>
          <p:nvPr>
            <p:ph type="sldNum" idx="62"/>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90F98E6A-9188-4000-9B35-66AD0422A67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91" name="PlaceHolder 2"/>
          <p:cNvSpPr>
            <a:spLocks noGrp="1"/>
          </p:cNvSpPr>
          <p:nvPr>
            <p:ph type="sldImg"/>
          </p:nvPr>
        </p:nvSpPr>
        <p:spPr>
          <a:xfrm>
            <a:off x="1143000" y="685800"/>
            <a:ext cx="4571280" cy="3428280"/>
          </a:xfrm>
          <a:prstGeom prst="rect">
            <a:avLst/>
          </a:prstGeom>
          <a:ln w="0">
            <a:noFill/>
          </a:ln>
        </p:spPr>
      </p:sp>
      <p:sp>
        <p:nvSpPr>
          <p:cNvPr id="692"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3" name="PlaceHolder 1"/>
          <p:cNvSpPr>
            <a:spLocks noGrp="1"/>
          </p:cNvSpPr>
          <p:nvPr>
            <p:ph type="sldNum" idx="63"/>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630B6E85-2B6D-4ED7-8980-B307F253E0D3}"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94" name="PlaceHolder 2"/>
          <p:cNvSpPr>
            <a:spLocks noGrp="1"/>
          </p:cNvSpPr>
          <p:nvPr>
            <p:ph type="sldImg"/>
          </p:nvPr>
        </p:nvSpPr>
        <p:spPr>
          <a:xfrm>
            <a:off x="1143000" y="685800"/>
            <a:ext cx="4571280" cy="3428280"/>
          </a:xfrm>
          <a:prstGeom prst="rect">
            <a:avLst/>
          </a:prstGeom>
          <a:ln w="0">
            <a:noFill/>
          </a:ln>
        </p:spPr>
      </p:sp>
      <p:sp>
        <p:nvSpPr>
          <p:cNvPr id="695"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6" name="PlaceHolder 1"/>
          <p:cNvSpPr>
            <a:spLocks noGrp="1"/>
          </p:cNvSpPr>
          <p:nvPr>
            <p:ph type="sldNum" idx="64"/>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B3DC1142-7D3D-4138-A7AD-8E5D752D71B0}"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97" name="PlaceHolder 2"/>
          <p:cNvSpPr>
            <a:spLocks noGrp="1"/>
          </p:cNvSpPr>
          <p:nvPr>
            <p:ph type="sldImg"/>
          </p:nvPr>
        </p:nvSpPr>
        <p:spPr>
          <a:xfrm>
            <a:off x="1143000" y="685800"/>
            <a:ext cx="4571280" cy="3428280"/>
          </a:xfrm>
          <a:prstGeom prst="rect">
            <a:avLst/>
          </a:prstGeom>
          <a:ln w="0">
            <a:noFill/>
          </a:ln>
        </p:spPr>
      </p:sp>
      <p:sp>
        <p:nvSpPr>
          <p:cNvPr id="698"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9" name="PlaceHolder 1"/>
          <p:cNvSpPr>
            <a:spLocks noGrp="1"/>
          </p:cNvSpPr>
          <p:nvPr>
            <p:ph type="sldNum" idx="65"/>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F6CE764B-08F8-4D7C-9671-CCDFD708141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00" name="PlaceHolder 2"/>
          <p:cNvSpPr>
            <a:spLocks noGrp="1"/>
          </p:cNvSpPr>
          <p:nvPr>
            <p:ph type="sldImg"/>
          </p:nvPr>
        </p:nvSpPr>
        <p:spPr>
          <a:xfrm>
            <a:off x="1143000" y="685800"/>
            <a:ext cx="4571280" cy="3428280"/>
          </a:xfrm>
          <a:prstGeom prst="rect">
            <a:avLst/>
          </a:prstGeom>
          <a:ln w="0">
            <a:noFill/>
          </a:ln>
        </p:spPr>
      </p:sp>
      <p:sp>
        <p:nvSpPr>
          <p:cNvPr id="701"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2" name="PlaceHolder 1"/>
          <p:cNvSpPr>
            <a:spLocks noGrp="1"/>
          </p:cNvSpPr>
          <p:nvPr>
            <p:ph type="sldNum" idx="66"/>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D3B666F5-DC96-4D93-BBFA-D05155F8E0AA}"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03" name="PlaceHolder 2"/>
          <p:cNvSpPr>
            <a:spLocks noGrp="1"/>
          </p:cNvSpPr>
          <p:nvPr>
            <p:ph type="sldImg"/>
          </p:nvPr>
        </p:nvSpPr>
        <p:spPr>
          <a:xfrm>
            <a:off x="1143000" y="685800"/>
            <a:ext cx="4571280" cy="3428280"/>
          </a:xfrm>
          <a:prstGeom prst="rect">
            <a:avLst/>
          </a:prstGeom>
          <a:ln w="0">
            <a:noFill/>
          </a:ln>
        </p:spPr>
      </p:sp>
      <p:sp>
        <p:nvSpPr>
          <p:cNvPr id="704"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5" name="PlaceHolder 1"/>
          <p:cNvSpPr>
            <a:spLocks noGrp="1"/>
          </p:cNvSpPr>
          <p:nvPr>
            <p:ph type="sldNum" idx="67"/>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F30FB263-EAFD-4CD9-8FAB-8C1F241802B5}"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06" name="PlaceHolder 2"/>
          <p:cNvSpPr>
            <a:spLocks noGrp="1"/>
          </p:cNvSpPr>
          <p:nvPr>
            <p:ph type="sldImg"/>
          </p:nvPr>
        </p:nvSpPr>
        <p:spPr>
          <a:xfrm>
            <a:off x="1143000" y="685800"/>
            <a:ext cx="4571280" cy="3428280"/>
          </a:xfrm>
          <a:prstGeom prst="rect">
            <a:avLst/>
          </a:prstGeom>
          <a:ln w="0">
            <a:noFill/>
          </a:ln>
        </p:spPr>
      </p:sp>
      <p:sp>
        <p:nvSpPr>
          <p:cNvPr id="707"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8" name="PlaceHolder 1"/>
          <p:cNvSpPr>
            <a:spLocks noGrp="1"/>
          </p:cNvSpPr>
          <p:nvPr>
            <p:ph type="sldNum" idx="68"/>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DF1E1923-76AE-45A0-9580-0F8A66C17DFA}"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09" name="PlaceHolder 2"/>
          <p:cNvSpPr>
            <a:spLocks noGrp="1"/>
          </p:cNvSpPr>
          <p:nvPr>
            <p:ph type="sldImg"/>
          </p:nvPr>
        </p:nvSpPr>
        <p:spPr>
          <a:xfrm>
            <a:off x="1143000" y="685800"/>
            <a:ext cx="4571280" cy="3428280"/>
          </a:xfrm>
          <a:prstGeom prst="rect">
            <a:avLst/>
          </a:prstGeom>
          <a:ln w="0">
            <a:noFill/>
          </a:ln>
        </p:spPr>
      </p:sp>
      <p:sp>
        <p:nvSpPr>
          <p:cNvPr id="710"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1" name="PlaceHolder 1"/>
          <p:cNvSpPr>
            <a:spLocks noGrp="1"/>
          </p:cNvSpPr>
          <p:nvPr>
            <p:ph type="sldNum" idx="69"/>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4B7DA3F3-4019-44FA-8CC7-9925A46A085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12" name="PlaceHolder 2"/>
          <p:cNvSpPr>
            <a:spLocks noGrp="1"/>
          </p:cNvSpPr>
          <p:nvPr>
            <p:ph type="sldImg"/>
          </p:nvPr>
        </p:nvSpPr>
        <p:spPr>
          <a:xfrm>
            <a:off x="1143000" y="685800"/>
            <a:ext cx="4571280" cy="3428280"/>
          </a:xfrm>
          <a:prstGeom prst="rect">
            <a:avLst/>
          </a:prstGeom>
          <a:ln w="0">
            <a:noFill/>
          </a:ln>
        </p:spPr>
      </p:sp>
      <p:sp>
        <p:nvSpPr>
          <p:cNvPr id="713"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lnSpc>
                <a:spcPct val="100000"/>
              </a:lnSpc>
              <a:buNone/>
              <a:tabLst>
                <a:tab algn="l" pos="0"/>
              </a:tabLst>
            </a:pPr>
            <a:r>
              <a:rPr b="0" lang="en-GB" sz="1600" strike="noStrike" u="none">
                <a:solidFill>
                  <a:srgbClr val="000000"/>
                </a:solidFill>
                <a:effectLst/>
                <a:uFillTx/>
                <a:latin typeface="Arial"/>
                <a:ea typeface="ＭＳ Ｐゴシック"/>
              </a:rPr>
              <a:t>Emphasize to the students the </a:t>
            </a:r>
            <a:r>
              <a:rPr b="0" i="1" lang="en-GB" sz="1600" strike="noStrike" u="none">
                <a:solidFill>
                  <a:srgbClr val="000000"/>
                </a:solidFill>
                <a:effectLst/>
                <a:uFillTx/>
                <a:latin typeface="Arial"/>
                <a:ea typeface="ＭＳ Ｐゴシック"/>
              </a:rPr>
              <a:t>meaning </a:t>
            </a:r>
            <a:r>
              <a:rPr b="0" lang="en-GB" sz="1600" strike="noStrike" u="none">
                <a:solidFill>
                  <a:srgbClr val="000000"/>
                </a:solidFill>
                <a:effectLst/>
                <a:uFillTx/>
                <a:latin typeface="Arial"/>
                <a:ea typeface="ＭＳ Ｐゴシック"/>
              </a:rPr>
              <a:t>behind the tangency point between the indifference curve and the budget line:</a:t>
            </a:r>
            <a:endParaRPr b="0" lang="en-US" sz="1600" strike="noStrike" u="none">
              <a:solidFill>
                <a:srgbClr val="000000"/>
              </a:solidFill>
              <a:effectLst/>
              <a:uFillTx/>
              <a:latin typeface="Arial"/>
            </a:endParaRPr>
          </a:p>
          <a:p>
            <a:pPr indent="0">
              <a:lnSpc>
                <a:spcPct val="100000"/>
              </a:lnSpc>
              <a:buNone/>
              <a:tabLst>
                <a:tab algn="l" pos="0"/>
              </a:tabLst>
            </a:pPr>
            <a:r>
              <a:rPr b="0" lang="en-GB" sz="1600" strike="noStrike" u="none">
                <a:solidFill>
                  <a:srgbClr val="000000"/>
                </a:solidFill>
                <a:effectLst/>
                <a:uFillTx/>
                <a:latin typeface="Arial"/>
                <a:ea typeface="ＭＳ Ｐゴシック"/>
              </a:rPr>
              <a:t>The marginal rate of substitution (</a:t>
            </a:r>
            <a:r>
              <a:rPr b="0" i="1" lang="en-GB" sz="1600" strike="noStrike" u="none">
                <a:solidFill>
                  <a:srgbClr val="000000"/>
                </a:solidFill>
                <a:effectLst/>
                <a:uFillTx/>
                <a:latin typeface="Arial"/>
                <a:ea typeface="ＭＳ Ｐゴシック"/>
              </a:rPr>
              <a:t>MRS</a:t>
            </a:r>
            <a:r>
              <a:rPr b="0" lang="en-GB" sz="1600" strike="noStrike" u="none">
                <a:solidFill>
                  <a:srgbClr val="000000"/>
                </a:solidFill>
                <a:effectLst/>
                <a:uFillTx/>
                <a:latin typeface="Arial"/>
                <a:ea typeface="ＭＳ Ｐゴシック"/>
              </a:rPr>
              <a:t>) shows the consumer’s willingness to give up one good to get more of the other good.</a:t>
            </a:r>
            <a:endParaRPr b="0" lang="en-US" sz="1600" strike="noStrike" u="none">
              <a:solidFill>
                <a:srgbClr val="000000"/>
              </a:solidFill>
              <a:effectLst/>
              <a:uFillTx/>
              <a:latin typeface="Arial"/>
            </a:endParaRPr>
          </a:p>
          <a:p>
            <a:pPr indent="0">
              <a:lnSpc>
                <a:spcPct val="100000"/>
              </a:lnSpc>
              <a:buNone/>
              <a:tabLst>
                <a:tab algn="l" pos="0"/>
              </a:tabLst>
            </a:pPr>
            <a:r>
              <a:rPr b="0" lang="en-GB" sz="1600" strike="noStrike" u="none">
                <a:solidFill>
                  <a:srgbClr val="000000"/>
                </a:solidFill>
                <a:effectLst/>
                <a:uFillTx/>
                <a:latin typeface="Arial"/>
                <a:ea typeface="ＭＳ Ｐゴシック"/>
              </a:rPr>
              <a:t>The relative price of the two goods shows what the consumer must give up of one good to get more of the other good.</a:t>
            </a:r>
            <a:endParaRPr b="0" lang="en-US" sz="1600" strike="noStrike" u="none">
              <a:solidFill>
                <a:srgbClr val="000000"/>
              </a:solidFill>
              <a:effectLst/>
              <a:uFillTx/>
              <a:latin typeface="Arial"/>
            </a:endParaRPr>
          </a:p>
          <a:p>
            <a:pPr indent="0">
              <a:lnSpc>
                <a:spcPct val="100000"/>
              </a:lnSpc>
              <a:buNone/>
              <a:tabLst>
                <a:tab algn="l" pos="0"/>
              </a:tabLst>
            </a:pPr>
            <a:r>
              <a:rPr b="0" lang="en-GB" sz="1600" strike="noStrike" u="none">
                <a:solidFill>
                  <a:srgbClr val="000000"/>
                </a:solidFill>
                <a:effectLst/>
                <a:uFillTx/>
                <a:latin typeface="Arial"/>
                <a:ea typeface="ＭＳ Ｐゴシック"/>
              </a:rPr>
              <a:t>When a consumer equates the marginal rate of substitution (</a:t>
            </a:r>
            <a:r>
              <a:rPr b="0" i="1" lang="en-GB" sz="1600" strike="noStrike" u="none">
                <a:solidFill>
                  <a:srgbClr val="000000"/>
                </a:solidFill>
                <a:effectLst/>
                <a:uFillTx/>
                <a:latin typeface="Arial"/>
                <a:ea typeface="ＭＳ Ｐゴシック"/>
              </a:rPr>
              <a:t>MRS</a:t>
            </a:r>
            <a:r>
              <a:rPr b="0" lang="en-GB" sz="1600" strike="noStrike" u="none">
                <a:solidFill>
                  <a:srgbClr val="000000"/>
                </a:solidFill>
                <a:effectLst/>
                <a:uFillTx/>
                <a:latin typeface="Arial"/>
                <a:ea typeface="ＭＳ Ｐゴシック"/>
              </a:rPr>
              <a:t>) with the relative price ratio, he or she leaves no unrealized gains from substituting one good for another.</a:t>
            </a:r>
            <a:endParaRPr b="0" lang="en-US" sz="1600" strike="noStrike" u="none">
              <a:solidFill>
                <a:srgbClr val="000000"/>
              </a:solidFill>
              <a:effectLst/>
              <a:uFillTx/>
              <a:latin typeface="Arial"/>
            </a:endParaRPr>
          </a:p>
          <a:p>
            <a:pPr indent="0">
              <a:lnSpc>
                <a:spcPct val="100000"/>
              </a:lnSpc>
              <a:buNone/>
              <a:tabLst>
                <a:tab algn="l" pos="0"/>
              </a:tabLst>
            </a:pPr>
            <a:r>
              <a:rPr b="0" lang="en-AU" sz="1600" strike="noStrike" u="none">
                <a:solidFill>
                  <a:srgbClr val="000000"/>
                </a:solidFill>
                <a:effectLst/>
                <a:uFillTx/>
                <a:latin typeface="Arial"/>
                <a:ea typeface="ＭＳ Ｐゴシック"/>
              </a:rPr>
              <a:t>The consumer is just willing to give up what he or she must give up, and there are no unrealized gains from substituting one good for another.</a:t>
            </a:r>
            <a:r>
              <a:rPr b="0" lang="en-GB" sz="1600" strike="noStrike" u="none">
                <a:solidFill>
                  <a:srgbClr val="000000"/>
                </a:solidFill>
                <a:effectLst/>
                <a:uFillTx/>
                <a:latin typeface="Arial"/>
                <a:ea typeface="ＭＳ Ｐゴシック"/>
              </a:rPr>
              <a:t> </a:t>
            </a:r>
            <a:endParaRPr b="0" lang="en-US" sz="1600" strike="noStrike" u="none">
              <a:solidFill>
                <a:srgbClr val="000000"/>
              </a:solidFill>
              <a:effectLst/>
              <a:uFillTx/>
              <a:latin typeface="Arial"/>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4" name="PlaceHolder 1"/>
          <p:cNvSpPr>
            <a:spLocks noGrp="1"/>
          </p:cNvSpPr>
          <p:nvPr>
            <p:ph type="sldNum" idx="70"/>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4A18A34A-391D-4005-B895-DE45230C4414}"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15" name="PlaceHolder 2"/>
          <p:cNvSpPr>
            <a:spLocks noGrp="1"/>
          </p:cNvSpPr>
          <p:nvPr>
            <p:ph type="sldImg"/>
          </p:nvPr>
        </p:nvSpPr>
        <p:spPr>
          <a:xfrm>
            <a:off x="1143000" y="685800"/>
            <a:ext cx="4571280" cy="3428280"/>
          </a:xfrm>
          <a:prstGeom prst="rect">
            <a:avLst/>
          </a:prstGeom>
          <a:ln w="0">
            <a:noFill/>
          </a:ln>
        </p:spPr>
      </p:sp>
      <p:sp>
        <p:nvSpPr>
          <p:cNvPr id="716"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7" name="PlaceHolder 1"/>
          <p:cNvSpPr>
            <a:spLocks noGrp="1"/>
          </p:cNvSpPr>
          <p:nvPr>
            <p:ph type="sldNum" idx="71"/>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1EFCFB82-184E-4EAD-BFFF-F866B480F305}"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18" name="PlaceHolder 2"/>
          <p:cNvSpPr>
            <a:spLocks noGrp="1"/>
          </p:cNvSpPr>
          <p:nvPr>
            <p:ph type="sldImg"/>
          </p:nvPr>
        </p:nvSpPr>
        <p:spPr>
          <a:xfrm>
            <a:off x="1143000" y="685800"/>
            <a:ext cx="4571280" cy="3428280"/>
          </a:xfrm>
          <a:prstGeom prst="rect">
            <a:avLst/>
          </a:prstGeom>
          <a:ln w="0">
            <a:noFill/>
          </a:ln>
        </p:spPr>
      </p:sp>
      <p:sp>
        <p:nvSpPr>
          <p:cNvPr id="719"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0" name="PlaceHolder 1"/>
          <p:cNvSpPr>
            <a:spLocks noGrp="1"/>
          </p:cNvSpPr>
          <p:nvPr>
            <p:ph type="sldNum" idx="72"/>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B7131D2F-1C41-401A-BC5A-C919EA778B31}"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21" name="PlaceHolder 2"/>
          <p:cNvSpPr>
            <a:spLocks noGrp="1"/>
          </p:cNvSpPr>
          <p:nvPr>
            <p:ph type="sldImg"/>
          </p:nvPr>
        </p:nvSpPr>
        <p:spPr>
          <a:xfrm>
            <a:off x="1143000" y="685800"/>
            <a:ext cx="4571280" cy="3428280"/>
          </a:xfrm>
          <a:prstGeom prst="rect">
            <a:avLst/>
          </a:prstGeom>
          <a:ln w="0">
            <a:noFill/>
          </a:ln>
        </p:spPr>
      </p:sp>
      <p:sp>
        <p:nvSpPr>
          <p:cNvPr id="722"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 name="PlaceHolder 1"/>
          <p:cNvSpPr>
            <a:spLocks noGrp="1"/>
          </p:cNvSpPr>
          <p:nvPr>
            <p:ph type="sldNum" idx="73"/>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3B27E206-096B-4A09-A273-09F48C39A345}"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24" name="PlaceHolder 2"/>
          <p:cNvSpPr>
            <a:spLocks noGrp="1"/>
          </p:cNvSpPr>
          <p:nvPr>
            <p:ph type="sldImg"/>
          </p:nvPr>
        </p:nvSpPr>
        <p:spPr>
          <a:xfrm>
            <a:off x="1143000" y="685800"/>
            <a:ext cx="4571280" cy="3428280"/>
          </a:xfrm>
          <a:prstGeom prst="rect">
            <a:avLst/>
          </a:prstGeom>
          <a:ln w="0">
            <a:noFill/>
          </a:ln>
        </p:spPr>
      </p:sp>
      <p:sp>
        <p:nvSpPr>
          <p:cNvPr id="725"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lnSpc>
                <a:spcPct val="100000"/>
              </a:lnSpc>
              <a:buNone/>
              <a:tabLst>
                <a:tab algn="l" pos="0"/>
              </a:tabLst>
            </a:pPr>
            <a:r>
              <a:rPr b="0" lang="en-AU" sz="2000" strike="noStrike" u="none">
                <a:solidFill>
                  <a:srgbClr val="000000"/>
                </a:solidFill>
                <a:effectLst/>
                <a:uFillTx/>
                <a:latin typeface="Times New Roman"/>
              </a:rPr>
              <a:t>A common error that students can make is to confuse the indifference curve and the demand curve. Use this derivation of the demand curve to emphasize the distinction between the two concepts.</a:t>
            </a:r>
            <a:endParaRPr b="0" lang="en-US" sz="2000" strike="noStrike" u="none">
              <a:solidFill>
                <a:srgbClr val="000000"/>
              </a:solidFill>
              <a:effectLst/>
              <a:uFillTx/>
              <a:latin typeface="Arial"/>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6" name="PlaceHolder 1"/>
          <p:cNvSpPr>
            <a:spLocks noGrp="1"/>
          </p:cNvSpPr>
          <p:nvPr>
            <p:ph type="sldNum" idx="74"/>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E499C618-1B6F-4F3F-ACCC-4266CDA0087D}"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27" name="PlaceHolder 2"/>
          <p:cNvSpPr>
            <a:spLocks noGrp="1"/>
          </p:cNvSpPr>
          <p:nvPr>
            <p:ph type="sldImg"/>
          </p:nvPr>
        </p:nvSpPr>
        <p:spPr>
          <a:xfrm>
            <a:off x="1143000" y="685800"/>
            <a:ext cx="4571280" cy="3428280"/>
          </a:xfrm>
          <a:prstGeom prst="rect">
            <a:avLst/>
          </a:prstGeom>
          <a:ln w="0">
            <a:noFill/>
          </a:ln>
        </p:spPr>
      </p:sp>
      <p:sp>
        <p:nvSpPr>
          <p:cNvPr id="728"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9" name="PlaceHolder 1"/>
          <p:cNvSpPr>
            <a:spLocks noGrp="1"/>
          </p:cNvSpPr>
          <p:nvPr>
            <p:ph type="sldNum" idx="75"/>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1DAE32D0-5699-4C26-9E2D-61318C0180ED}"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30" name="PlaceHolder 2"/>
          <p:cNvSpPr>
            <a:spLocks noGrp="1"/>
          </p:cNvSpPr>
          <p:nvPr>
            <p:ph type="sldImg"/>
          </p:nvPr>
        </p:nvSpPr>
        <p:spPr>
          <a:xfrm>
            <a:off x="1143000" y="685800"/>
            <a:ext cx="4571280" cy="3428280"/>
          </a:xfrm>
          <a:prstGeom prst="rect">
            <a:avLst/>
          </a:prstGeom>
          <a:ln w="0">
            <a:noFill/>
          </a:ln>
        </p:spPr>
      </p:sp>
      <p:sp>
        <p:nvSpPr>
          <p:cNvPr id="731"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2" name="PlaceHolder 1"/>
          <p:cNvSpPr>
            <a:spLocks noGrp="1"/>
          </p:cNvSpPr>
          <p:nvPr>
            <p:ph type="sldNum" idx="76"/>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7E7C406F-CF24-40D6-84DC-81D11EC9ACFE}"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33" name="PlaceHolder 2"/>
          <p:cNvSpPr>
            <a:spLocks noGrp="1"/>
          </p:cNvSpPr>
          <p:nvPr>
            <p:ph type="sldImg"/>
          </p:nvPr>
        </p:nvSpPr>
        <p:spPr>
          <a:xfrm>
            <a:off x="1143000" y="685800"/>
            <a:ext cx="4571280" cy="3428280"/>
          </a:xfrm>
          <a:prstGeom prst="rect">
            <a:avLst/>
          </a:prstGeom>
          <a:ln w="0">
            <a:noFill/>
          </a:ln>
        </p:spPr>
      </p:sp>
      <p:sp>
        <p:nvSpPr>
          <p:cNvPr id="734"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 name="PlaceHolder 1"/>
          <p:cNvSpPr>
            <a:spLocks noGrp="1"/>
          </p:cNvSpPr>
          <p:nvPr>
            <p:ph type="sldNum" idx="77"/>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FC278A81-71BA-4FCE-B772-6110ECC9A4ED}"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36" name="PlaceHolder 2"/>
          <p:cNvSpPr>
            <a:spLocks noGrp="1"/>
          </p:cNvSpPr>
          <p:nvPr>
            <p:ph type="sldImg"/>
          </p:nvPr>
        </p:nvSpPr>
        <p:spPr>
          <a:xfrm>
            <a:off x="1143000" y="685800"/>
            <a:ext cx="4571280" cy="3428280"/>
          </a:xfrm>
          <a:prstGeom prst="rect">
            <a:avLst/>
          </a:prstGeom>
          <a:ln w="0">
            <a:noFill/>
          </a:ln>
        </p:spPr>
      </p:sp>
      <p:sp>
        <p:nvSpPr>
          <p:cNvPr id="737"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PlaceHolder 1"/>
          <p:cNvSpPr>
            <a:spLocks noGrp="1"/>
          </p:cNvSpPr>
          <p:nvPr>
            <p:ph type="sldNum" idx="78"/>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DBA7F23F-7D42-4BDF-9CE9-5F383A86A8A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39" name="PlaceHolder 2"/>
          <p:cNvSpPr>
            <a:spLocks noGrp="1"/>
          </p:cNvSpPr>
          <p:nvPr>
            <p:ph type="sldImg"/>
          </p:nvPr>
        </p:nvSpPr>
        <p:spPr>
          <a:xfrm>
            <a:off x="1143000" y="685800"/>
            <a:ext cx="4571280" cy="3428280"/>
          </a:xfrm>
          <a:prstGeom prst="rect">
            <a:avLst/>
          </a:prstGeom>
          <a:ln w="0">
            <a:noFill/>
          </a:ln>
        </p:spPr>
      </p:sp>
      <p:sp>
        <p:nvSpPr>
          <p:cNvPr id="740"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1" name="PlaceHolder 1"/>
          <p:cNvSpPr>
            <a:spLocks noGrp="1"/>
          </p:cNvSpPr>
          <p:nvPr>
            <p:ph type="sldNum" idx="79"/>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0B1AA5C4-77FE-44B3-BB2D-098AE40C4FAB}"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42" name="PlaceHolder 2"/>
          <p:cNvSpPr>
            <a:spLocks noGrp="1"/>
          </p:cNvSpPr>
          <p:nvPr>
            <p:ph type="sldImg"/>
          </p:nvPr>
        </p:nvSpPr>
        <p:spPr>
          <a:xfrm>
            <a:off x="1143000" y="685800"/>
            <a:ext cx="4571280" cy="3428280"/>
          </a:xfrm>
          <a:prstGeom prst="rect">
            <a:avLst/>
          </a:prstGeom>
          <a:ln w="0">
            <a:noFill/>
          </a:ln>
        </p:spPr>
      </p:sp>
      <p:sp>
        <p:nvSpPr>
          <p:cNvPr id="743"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4" name="PlaceHolder 1"/>
          <p:cNvSpPr>
            <a:spLocks noGrp="1"/>
          </p:cNvSpPr>
          <p:nvPr>
            <p:ph type="sldNum" idx="80"/>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DE4E26CA-E216-41B1-B5F6-A476768A8CFE}"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45" name="PlaceHolder 2"/>
          <p:cNvSpPr>
            <a:spLocks noGrp="1"/>
          </p:cNvSpPr>
          <p:nvPr>
            <p:ph type="sldImg"/>
          </p:nvPr>
        </p:nvSpPr>
        <p:spPr>
          <a:xfrm>
            <a:off x="1143000" y="685800"/>
            <a:ext cx="4571280" cy="3428280"/>
          </a:xfrm>
          <a:prstGeom prst="rect">
            <a:avLst/>
          </a:prstGeom>
          <a:ln w="0">
            <a:noFill/>
          </a:ln>
        </p:spPr>
      </p:sp>
      <p:sp>
        <p:nvSpPr>
          <p:cNvPr id="746"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7" name="PlaceHolder 1"/>
          <p:cNvSpPr>
            <a:spLocks noGrp="1"/>
          </p:cNvSpPr>
          <p:nvPr>
            <p:ph type="sldNum" idx="81"/>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5199D0AA-355A-4522-83CF-16B7F9E49CD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48" name="PlaceHolder 2"/>
          <p:cNvSpPr>
            <a:spLocks noGrp="1"/>
          </p:cNvSpPr>
          <p:nvPr>
            <p:ph type="sldImg"/>
          </p:nvPr>
        </p:nvSpPr>
        <p:spPr>
          <a:xfrm>
            <a:off x="1143000" y="685800"/>
            <a:ext cx="4571280" cy="3428280"/>
          </a:xfrm>
          <a:prstGeom prst="rect">
            <a:avLst/>
          </a:prstGeom>
          <a:ln w="0">
            <a:noFill/>
          </a:ln>
        </p:spPr>
      </p:sp>
      <p:sp>
        <p:nvSpPr>
          <p:cNvPr id="749"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0" name="PlaceHolder 1"/>
          <p:cNvSpPr>
            <a:spLocks noGrp="1"/>
          </p:cNvSpPr>
          <p:nvPr>
            <p:ph type="sldNum" idx="82"/>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6CEEE710-44F2-495A-A937-5A943CE9E6EB}"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51" name="PlaceHolder 2"/>
          <p:cNvSpPr>
            <a:spLocks noGrp="1"/>
          </p:cNvSpPr>
          <p:nvPr>
            <p:ph type="sldImg"/>
          </p:nvPr>
        </p:nvSpPr>
        <p:spPr>
          <a:xfrm>
            <a:off x="1143000" y="685800"/>
            <a:ext cx="4571280" cy="3428280"/>
          </a:xfrm>
          <a:prstGeom prst="rect">
            <a:avLst/>
          </a:prstGeom>
          <a:ln w="0">
            <a:noFill/>
          </a:ln>
        </p:spPr>
      </p:sp>
      <p:sp>
        <p:nvSpPr>
          <p:cNvPr id="752" name="PlaceHolder 3"/>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3" name="PlaceHolder 1"/>
          <p:cNvSpPr>
            <a:spLocks noGrp="1"/>
          </p:cNvSpPr>
          <p:nvPr>
            <p:ph type="sldImg"/>
          </p:nvPr>
        </p:nvSpPr>
        <p:spPr>
          <a:xfrm>
            <a:off x="1143000" y="685800"/>
            <a:ext cx="4571280" cy="3428280"/>
          </a:xfrm>
          <a:prstGeom prst="rect">
            <a:avLst/>
          </a:prstGeom>
          <a:ln w="0">
            <a:noFill/>
          </a:ln>
        </p:spPr>
      </p:sp>
      <p:sp>
        <p:nvSpPr>
          <p:cNvPr id="754" name="PlaceHolder 2"/>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
        <p:nvSpPr>
          <p:cNvPr id="755" name="PlaceHolder 3"/>
          <p:cNvSpPr>
            <a:spLocks noGrp="1"/>
          </p:cNvSpPr>
          <p:nvPr>
            <p:ph type="sldNum" idx="83"/>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6F177CF0-FDB1-4B5E-873C-3EC1F04EFD9B}"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Tree>
  </p:cSld>
</p:notes>
</file>

<file path=ppt/notesSlides/notesSlide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6" name="PlaceHolder 1"/>
          <p:cNvSpPr>
            <a:spLocks noGrp="1"/>
          </p:cNvSpPr>
          <p:nvPr>
            <p:ph type="sldImg"/>
          </p:nvPr>
        </p:nvSpPr>
        <p:spPr>
          <a:xfrm>
            <a:off x="1143000" y="685800"/>
            <a:ext cx="4571280" cy="3428280"/>
          </a:xfrm>
          <a:prstGeom prst="rect">
            <a:avLst/>
          </a:prstGeom>
          <a:ln w="0">
            <a:noFill/>
          </a:ln>
        </p:spPr>
      </p:sp>
      <p:sp>
        <p:nvSpPr>
          <p:cNvPr id="757" name="PlaceHolder 2"/>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
        <p:nvSpPr>
          <p:cNvPr id="758" name="PlaceHolder 3"/>
          <p:cNvSpPr>
            <a:spLocks noGrp="1"/>
          </p:cNvSpPr>
          <p:nvPr>
            <p:ph type="sldNum" idx="84"/>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53C643A9-A946-4D8E-AC48-F4D3B1824C83}"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Tree>
  </p:cSld>
</p:notes>
</file>

<file path=ppt/notesSlides/notesSlide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9" name="PlaceHolder 1"/>
          <p:cNvSpPr>
            <a:spLocks noGrp="1"/>
          </p:cNvSpPr>
          <p:nvPr>
            <p:ph type="sldImg"/>
          </p:nvPr>
        </p:nvSpPr>
        <p:spPr>
          <a:xfrm>
            <a:off x="1143000" y="685800"/>
            <a:ext cx="4571280" cy="3428280"/>
          </a:xfrm>
          <a:prstGeom prst="rect">
            <a:avLst/>
          </a:prstGeom>
          <a:ln w="0">
            <a:noFill/>
          </a:ln>
        </p:spPr>
      </p:sp>
      <p:sp>
        <p:nvSpPr>
          <p:cNvPr id="760" name="PlaceHolder 2"/>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
        <p:nvSpPr>
          <p:cNvPr id="761" name="PlaceHolder 3"/>
          <p:cNvSpPr>
            <a:spLocks noGrp="1"/>
          </p:cNvSpPr>
          <p:nvPr>
            <p:ph type="sldNum" idx="85"/>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91A46075-352D-4015-9D38-1CB973751300}"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Tree>
  </p:cSld>
</p:notes>
</file>

<file path=ppt/notesSlides/notesSlide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2" name="PlaceHolder 1"/>
          <p:cNvSpPr>
            <a:spLocks noGrp="1"/>
          </p:cNvSpPr>
          <p:nvPr>
            <p:ph type="sldImg"/>
          </p:nvPr>
        </p:nvSpPr>
        <p:spPr>
          <a:xfrm>
            <a:off x="1143000" y="685800"/>
            <a:ext cx="4571280" cy="3428280"/>
          </a:xfrm>
          <a:prstGeom prst="rect">
            <a:avLst/>
          </a:prstGeom>
          <a:ln w="0">
            <a:noFill/>
          </a:ln>
        </p:spPr>
      </p:sp>
      <p:sp>
        <p:nvSpPr>
          <p:cNvPr id="763" name="PlaceHolder 2"/>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
        <p:nvSpPr>
          <p:cNvPr id="764" name="PlaceHolder 3"/>
          <p:cNvSpPr>
            <a:spLocks noGrp="1"/>
          </p:cNvSpPr>
          <p:nvPr>
            <p:ph type="sldNum" idx="86"/>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9B0CE977-C2E4-48B8-8BD1-2DF46CCD4297}"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Tree>
  </p:cSld>
</p:notes>
</file>

<file path=ppt/notesSlides/notesSlide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5" name="PlaceHolder 1"/>
          <p:cNvSpPr>
            <a:spLocks noGrp="1"/>
          </p:cNvSpPr>
          <p:nvPr>
            <p:ph type="sldImg"/>
          </p:nvPr>
        </p:nvSpPr>
        <p:spPr>
          <a:xfrm>
            <a:off x="1143000" y="685800"/>
            <a:ext cx="4571280" cy="3428280"/>
          </a:xfrm>
          <a:prstGeom prst="rect">
            <a:avLst/>
          </a:prstGeom>
          <a:ln w="0">
            <a:noFill/>
          </a:ln>
        </p:spPr>
      </p:sp>
      <p:sp>
        <p:nvSpPr>
          <p:cNvPr id="766" name="PlaceHolder 2"/>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
        <p:nvSpPr>
          <p:cNvPr id="767" name="PlaceHolder 3"/>
          <p:cNvSpPr>
            <a:spLocks noGrp="1"/>
          </p:cNvSpPr>
          <p:nvPr>
            <p:ph type="sldNum" idx="87"/>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59AD5C9F-6527-4D23-8197-83404937276F}"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Tree>
  </p:cSld>
</p:notes>
</file>

<file path=ppt/notesSlides/notesSlide8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8" name="PlaceHolder 1"/>
          <p:cNvSpPr>
            <a:spLocks noGrp="1"/>
          </p:cNvSpPr>
          <p:nvPr>
            <p:ph type="sldImg"/>
          </p:nvPr>
        </p:nvSpPr>
        <p:spPr>
          <a:xfrm>
            <a:off x="1143000" y="685800"/>
            <a:ext cx="4571280" cy="3428280"/>
          </a:xfrm>
          <a:prstGeom prst="rect">
            <a:avLst/>
          </a:prstGeom>
          <a:ln w="0">
            <a:noFill/>
          </a:ln>
        </p:spPr>
      </p:sp>
      <p:sp>
        <p:nvSpPr>
          <p:cNvPr id="769" name="PlaceHolder 2"/>
          <p:cNvSpPr>
            <a:spLocks noGrp="1"/>
          </p:cNvSpPr>
          <p:nvPr>
            <p:ph type="body"/>
          </p:nvPr>
        </p:nvSpPr>
        <p:spPr>
          <a:xfrm>
            <a:off x="914400" y="4343400"/>
            <a:ext cx="5028480" cy="411408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
        <p:nvSpPr>
          <p:cNvPr id="770" name="PlaceHolder 3"/>
          <p:cNvSpPr>
            <a:spLocks noGrp="1"/>
          </p:cNvSpPr>
          <p:nvPr>
            <p:ph type="sldNum" idx="88"/>
          </p:nvPr>
        </p:nvSpPr>
        <p:spPr>
          <a:xfrm>
            <a:off x="3886200" y="868680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CA" sz="1200" strike="noStrike" u="none">
                <a:solidFill>
                  <a:schemeClr val="dk1"/>
                </a:solidFill>
                <a:effectLst/>
                <a:uFillTx/>
                <a:latin typeface="Tahoma"/>
                <a:ea typeface="ＭＳ Ｐゴシック"/>
              </a:defRPr>
            </a:lvl1pPr>
          </a:lstStyle>
          <a:p>
            <a:pPr indent="0" algn="r">
              <a:lnSpc>
                <a:spcPct val="100000"/>
              </a:lnSpc>
              <a:buNone/>
              <a:tabLst>
                <a:tab algn="l" pos="0"/>
              </a:tabLst>
            </a:pPr>
            <a:fld id="{60B0303F-1E5E-4DDF-A890-98DC530D634F}"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7"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12"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3600"/>
            <a:ext cx="8229240" cy="114480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18"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4">
    <p:bg>
      <p:bgPr>
        <a:solidFill>
          <a:schemeClr val="lt1"/>
        </a:solidFill>
      </p:bgPr>
    </p:bg>
    <p:spTree>
      <p:nvGrpSpPr>
        <p:cNvPr id="1" name=""/>
        <p:cNvGrpSpPr/>
        <p:nvPr/>
      </p:nvGrpSpPr>
      <p:grpSpPr>
        <a:xfrm>
          <a:off x="0" y="0"/>
          <a:ext cx="0" cy="0"/>
          <a:chOff x="0" y="0"/>
          <a:chExt cx="0" cy="0"/>
        </a:xfrm>
      </p:grpSpPr>
      <p:sp>
        <p:nvSpPr>
          <p:cNvPr id="25" name="Rectangle 2"/>
          <p:cNvSpPr/>
          <p:nvPr/>
        </p:nvSpPr>
        <p:spPr>
          <a:xfrm>
            <a:off x="3276720" y="914400"/>
            <a:ext cx="4114080" cy="5486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561"/>
              </a:spcBef>
            </a:pPr>
            <a:endParaRPr b="1" lang="en-CA" sz="2800" strike="noStrike" u="none">
              <a:solidFill>
                <a:srgbClr val="00468f"/>
              </a:solidFill>
              <a:effectLst/>
              <a:uFillTx/>
              <a:latin typeface="Arial"/>
              <a:ea typeface="ＭＳ Ｐゴシック"/>
            </a:endParaRPr>
          </a:p>
        </p:txBody>
      </p:sp>
      <p:sp>
        <p:nvSpPr>
          <p:cNvPr id="26" name="Text Box 3"/>
          <p:cNvSpPr/>
          <p:nvPr/>
        </p:nvSpPr>
        <p:spPr>
          <a:xfrm>
            <a:off x="3641760" y="6643800"/>
            <a:ext cx="1691640" cy="2134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 </a:t>
            </a:r>
            <a:endParaRPr b="0" lang="en-US" sz="800" strike="noStrike" u="none">
              <a:solidFill>
                <a:srgbClr val="000000"/>
              </a:solidFill>
              <a:effectLst/>
              <a:uFillTx/>
              <a:latin typeface="Arial"/>
            </a:endParaRPr>
          </a:p>
        </p:txBody>
      </p:sp>
      <p:sp>
        <p:nvSpPr>
          <p:cNvPr id="27" name="PlaceHolder 1"/>
          <p:cNvSpPr>
            <a:spLocks noGrp="1"/>
          </p:cNvSpPr>
          <p:nvPr>
            <p:ph type="title"/>
          </p:nvPr>
        </p:nvSpPr>
        <p:spPr>
          <a:xfrm>
            <a:off x="457200" y="708480"/>
            <a:ext cx="82288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8"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5">
    <p:bg>
      <p:bgPr>
        <a:solidFill>
          <a:schemeClr val="lt1"/>
        </a:solidFill>
      </p:bgPr>
    </p:bg>
    <p:spTree>
      <p:nvGrpSpPr>
        <p:cNvPr id="1" name=""/>
        <p:cNvGrpSpPr/>
        <p:nvPr/>
      </p:nvGrpSpPr>
      <p:grpSpPr>
        <a:xfrm>
          <a:off x="0" y="0"/>
          <a:ext cx="0" cy="0"/>
          <a:chOff x="0" y="0"/>
          <a:chExt cx="0" cy="0"/>
        </a:xfrm>
      </p:grpSpPr>
      <p:sp>
        <p:nvSpPr>
          <p:cNvPr id="29" name="Rectangle 2"/>
          <p:cNvSpPr/>
          <p:nvPr/>
        </p:nvSpPr>
        <p:spPr>
          <a:xfrm>
            <a:off x="3276720" y="914400"/>
            <a:ext cx="4114080" cy="5486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561"/>
              </a:spcBef>
            </a:pPr>
            <a:endParaRPr b="1" lang="en-CA" sz="2800" strike="noStrike" u="none">
              <a:solidFill>
                <a:srgbClr val="00468f"/>
              </a:solidFill>
              <a:effectLst/>
              <a:uFillTx/>
              <a:latin typeface="Arial"/>
              <a:ea typeface="ＭＳ Ｐゴシック"/>
            </a:endParaRPr>
          </a:p>
        </p:txBody>
      </p:sp>
      <p:sp>
        <p:nvSpPr>
          <p:cNvPr id="30" name="Text Box 3"/>
          <p:cNvSpPr/>
          <p:nvPr/>
        </p:nvSpPr>
        <p:spPr>
          <a:xfrm>
            <a:off x="3641760" y="6643800"/>
            <a:ext cx="1691640" cy="2134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 </a:t>
            </a:r>
            <a:endParaRPr b="0" lang="en-US" sz="800" strike="noStrike" u="none">
              <a:solidFill>
                <a:srgbClr val="000000"/>
              </a:solidFill>
              <a:effectLst/>
              <a:uFillTx/>
              <a:latin typeface="Arial"/>
            </a:endParaRPr>
          </a:p>
        </p:txBody>
      </p:sp>
      <p:sp>
        <p:nvSpPr>
          <p:cNvPr id="3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32"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
    <p:bg>
      <p:bgPr>
        <a:solidFill>
          <a:schemeClr val="lt1"/>
        </a:solidFill>
      </p:bgPr>
    </p:bg>
    <p:spTree>
      <p:nvGrpSpPr>
        <p:cNvPr id="1" name=""/>
        <p:cNvGrpSpPr/>
        <p:nvPr/>
      </p:nvGrpSpPr>
      <p:grpSpPr>
        <a:xfrm>
          <a:off x="0" y="0"/>
          <a:ext cx="0" cy="0"/>
          <a:chOff x="0" y="0"/>
          <a:chExt cx="0" cy="0"/>
        </a:xfrm>
      </p:grpSpPr>
      <p:sp>
        <p:nvSpPr>
          <p:cNvPr id="29" name="Rectangle 2"/>
          <p:cNvSpPr/>
          <p:nvPr/>
        </p:nvSpPr>
        <p:spPr>
          <a:xfrm>
            <a:off x="3276720" y="914400"/>
            <a:ext cx="4114080" cy="5486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561"/>
              </a:spcBef>
            </a:pPr>
            <a:endParaRPr b="1" lang="en-CA" sz="2800" strike="noStrike" u="none">
              <a:solidFill>
                <a:srgbClr val="00468f"/>
              </a:solidFill>
              <a:effectLst/>
              <a:uFillTx/>
              <a:latin typeface="Arial"/>
              <a:ea typeface="ＭＳ Ｐゴシック"/>
            </a:endParaRPr>
          </a:p>
        </p:txBody>
      </p:sp>
      <p:sp>
        <p:nvSpPr>
          <p:cNvPr id="30" name="Text Box 3"/>
          <p:cNvSpPr/>
          <p:nvPr/>
        </p:nvSpPr>
        <p:spPr>
          <a:xfrm>
            <a:off x="3641760" y="6643800"/>
            <a:ext cx="1691640" cy="2134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 </a:t>
            </a:r>
            <a:endParaRPr b="0" lang="en-US" sz="800" strike="noStrike" u="none">
              <a:solidFill>
                <a:srgbClr val="000000"/>
              </a:solidFill>
              <a:effectLst/>
              <a:uFillTx/>
              <a:latin typeface="Arial"/>
            </a:endParaRPr>
          </a:p>
        </p:txBody>
      </p:sp>
      <p:sp>
        <p:nvSpPr>
          <p:cNvPr id="3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34"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2.jpe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Text Box 2"/>
          <p:cNvSpPr/>
          <p:nvPr/>
        </p:nvSpPr>
        <p:spPr>
          <a:xfrm>
            <a:off x="3581280" y="6637320"/>
            <a:ext cx="1691640" cy="2134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2"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 name="Text Box 2"/>
          <p:cNvSpPr/>
          <p:nvPr/>
        </p:nvSpPr>
        <p:spPr>
          <a:xfrm>
            <a:off x="3581280" y="6637320"/>
            <a:ext cx="1691640" cy="2134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4" name="PlaceHolder 1"/>
          <p:cNvSpPr>
            <a:spLocks noGrp="1"/>
          </p:cNvSpPr>
          <p:nvPr>
            <p:ph type="title"/>
          </p:nvPr>
        </p:nvSpPr>
        <p:spPr>
          <a:xfrm>
            <a:off x="457200" y="708480"/>
            <a:ext cx="8228880" cy="274680"/>
          </a:xfrm>
          <a:prstGeom prst="rect">
            <a:avLst/>
          </a:prstGeom>
          <a:noFill/>
          <a:ln w="0">
            <a:noFill/>
          </a:ln>
        </p:spPr>
        <p:txBody>
          <a:bodyPr numCol="1" spcCol="0"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5" name="PlaceHolder 2"/>
          <p:cNvSpPr>
            <a:spLocks noGrp="1"/>
          </p:cNvSpPr>
          <p:nvPr>
            <p:ph type="body"/>
          </p:nvPr>
        </p:nvSpPr>
        <p:spPr>
          <a:xfrm>
            <a:off x="457200" y="1604520"/>
            <a:ext cx="8228880" cy="3976920"/>
          </a:xfrm>
          <a:prstGeom prst="rect">
            <a:avLst/>
          </a:prstGeom>
          <a:noFill/>
          <a:ln w="0">
            <a:noFill/>
          </a:ln>
        </p:spPr>
        <p:txBody>
          <a:bodyPr numCol="1" spcCol="0"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 name="Text Box 2"/>
          <p:cNvSpPr/>
          <p:nvPr/>
        </p:nvSpPr>
        <p:spPr>
          <a:xfrm>
            <a:off x="3581280" y="6637320"/>
            <a:ext cx="1691640" cy="2134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9" name="PlaceHolder 1"/>
          <p:cNvSpPr>
            <a:spLocks noGrp="1"/>
          </p:cNvSpPr>
          <p:nvPr>
            <p:ph type="title"/>
          </p:nvPr>
        </p:nvSpPr>
        <p:spPr>
          <a:xfrm>
            <a:off x="457200" y="708480"/>
            <a:ext cx="8228880" cy="274680"/>
          </a:xfrm>
          <a:prstGeom prst="rect">
            <a:avLst/>
          </a:prstGeom>
          <a:noFill/>
          <a:ln w="0">
            <a:noFill/>
          </a:ln>
        </p:spPr>
        <p:txBody>
          <a:bodyPr numCol="1" spcCol="0"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0" name="PlaceHolder 2"/>
          <p:cNvSpPr>
            <a:spLocks noGrp="1"/>
          </p:cNvSpPr>
          <p:nvPr>
            <p:ph type="body"/>
          </p:nvPr>
        </p:nvSpPr>
        <p:spPr>
          <a:xfrm>
            <a:off x="457200" y="1604520"/>
            <a:ext cx="8228880" cy="3976920"/>
          </a:xfrm>
          <a:prstGeom prst="rect">
            <a:avLst/>
          </a:prstGeom>
          <a:noFill/>
          <a:ln w="0">
            <a:noFill/>
          </a:ln>
        </p:spPr>
        <p:txBody>
          <a:bodyPr numCol="1" spcCol="0"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3" name="Picture 7" descr="">
            <a:hlinkClick r:id="" action="ppaction://hlinkshowjump?jump=nextslide"/>
          </p:cNvPr>
          <p:cNvPicPr/>
          <p:nvPr/>
        </p:nvPicPr>
        <p:blipFill>
          <a:blip r:embed="rId2"/>
          <a:stretch/>
        </p:blipFill>
        <p:spPr>
          <a:xfrm>
            <a:off x="8640720" y="6480000"/>
            <a:ext cx="221400" cy="221400"/>
          </a:xfrm>
          <a:prstGeom prst="rect">
            <a:avLst/>
          </a:prstGeom>
          <a:noFill/>
          <a:ln w="0">
            <a:noFill/>
          </a:ln>
        </p:spPr>
      </p:pic>
      <p:sp>
        <p:nvSpPr>
          <p:cNvPr id="14" name="Text Box 2"/>
          <p:cNvSpPr/>
          <p:nvPr/>
        </p:nvSpPr>
        <p:spPr>
          <a:xfrm>
            <a:off x="3581280" y="6637320"/>
            <a:ext cx="1691640" cy="2134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15" name="PlaceHolder 1"/>
          <p:cNvSpPr>
            <a:spLocks noGrp="1"/>
          </p:cNvSpPr>
          <p:nvPr>
            <p:ph type="title"/>
          </p:nvPr>
        </p:nvSpPr>
        <p:spPr>
          <a:xfrm>
            <a:off x="457200" y="708480"/>
            <a:ext cx="8228880" cy="274680"/>
          </a:xfrm>
          <a:prstGeom prst="rect">
            <a:avLst/>
          </a:prstGeom>
          <a:noFill/>
          <a:ln w="0">
            <a:noFill/>
          </a:ln>
        </p:spPr>
        <p:txBody>
          <a:bodyPr numCol="1" spcCol="0"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6" name="PlaceHolder 2"/>
          <p:cNvSpPr>
            <a:spLocks noGrp="1"/>
          </p:cNvSpPr>
          <p:nvPr>
            <p:ph type="body"/>
          </p:nvPr>
        </p:nvSpPr>
        <p:spPr>
          <a:xfrm>
            <a:off x="457200" y="1604520"/>
            <a:ext cx="8228880" cy="3976920"/>
          </a:xfrm>
          <a:prstGeom prst="rect">
            <a:avLst/>
          </a:prstGeom>
          <a:noFill/>
          <a:ln w="0">
            <a:noFill/>
          </a:ln>
        </p:spPr>
        <p:txBody>
          <a:bodyPr numCol="1" spcCol="0"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9" name="Picture 4" descr="">
            <a:hlinkClick r:id="" action="ppaction://hlinkshowjump?jump=previousslide"/>
          </p:cNvPr>
          <p:cNvPicPr/>
          <p:nvPr/>
        </p:nvPicPr>
        <p:blipFill>
          <a:blip r:embed="rId2"/>
          <a:stretch/>
        </p:blipFill>
        <p:spPr>
          <a:xfrm>
            <a:off x="8640720" y="6480000"/>
            <a:ext cx="221400" cy="221400"/>
          </a:xfrm>
          <a:prstGeom prst="rect">
            <a:avLst/>
          </a:prstGeom>
          <a:noFill/>
          <a:ln w="0">
            <a:noFill/>
          </a:ln>
        </p:spPr>
      </p:pic>
      <p:sp>
        <p:nvSpPr>
          <p:cNvPr id="20" name="Text Box 2"/>
          <p:cNvSpPr/>
          <p:nvPr/>
        </p:nvSpPr>
        <p:spPr>
          <a:xfrm>
            <a:off x="3581280" y="6637320"/>
            <a:ext cx="1691640" cy="2134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2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22"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3" name="Rectangle 2"/>
          <p:cNvSpPr/>
          <p:nvPr/>
        </p:nvSpPr>
        <p:spPr>
          <a:xfrm>
            <a:off x="3276720" y="914400"/>
            <a:ext cx="4114080" cy="5486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561"/>
              </a:spcBef>
            </a:pPr>
            <a:endParaRPr b="1" lang="en-CA" sz="2800" strike="noStrike" u="none">
              <a:solidFill>
                <a:srgbClr val="00468f"/>
              </a:solidFill>
              <a:effectLst/>
              <a:uFillTx/>
              <a:latin typeface="Arial"/>
              <a:ea typeface="ＭＳ Ｐゴシック"/>
            </a:endParaRPr>
          </a:p>
        </p:txBody>
      </p:sp>
      <p:sp>
        <p:nvSpPr>
          <p:cNvPr id="24" name="Text Box 2"/>
          <p:cNvSpPr/>
          <p:nvPr/>
        </p:nvSpPr>
        <p:spPr>
          <a:xfrm>
            <a:off x="3581280" y="6637320"/>
            <a:ext cx="1691640" cy="2134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2"/>
    <p:sldLayoutId id="2147483662" r:id="rId3"/>
    <p:sldLayoutId id="2147483663"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slideLayout" Target="../slideLayouts/slideLayout4.xml"/><Relationship Id="rId9"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slideLayout" Target="../slideLayouts/slideLayout5.xml"/><Relationship Id="rId11"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slideLayout" Target="../slideLayouts/slideLayout3.xml"/><Relationship Id="rId11"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slideLayout" Target="../slideLayouts/slideLayout4.xml"/><Relationship Id="rId5"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slideLayout" Target="../slideLayouts/slideLayout5.xml"/><Relationship Id="rId6"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slideLayout" Target="../slideLayouts/slideLayout3.xml"/><Relationship Id="rId6"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slideLayout" Target="../slideLayouts/slideLayout4.xml"/><Relationship Id="rId9"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slideLayout" Target="../slideLayouts/slideLayout5.xml"/><Relationship Id="rId10"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slideLayout" Target="../slideLayouts/slideLayout3.xml"/><Relationship Id="rId10"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slideLayout" Target="../slideLayouts/slideLayout4.xml"/><Relationship Id="rId9"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slideLayout" Target="../slideLayouts/slideLayout5.xml"/><Relationship Id="rId10"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slideLayout" Target="../slideLayouts/slideLayout3.xml"/><Relationship Id="rId10"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slideLayout" Target="../slideLayouts/slideLayout3.xml"/><Relationship Id="rId9"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0.png"/><Relationship Id="rId9" Type="http://schemas.openxmlformats.org/officeDocument/2006/relationships/slideLayout" Target="../slideLayouts/slideLayout4.xml"/><Relationship Id="rId10"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0.png"/><Relationship Id="rId9" Type="http://schemas.openxmlformats.org/officeDocument/2006/relationships/slideLayout" Target="../slideLayouts/slideLayout5.xml"/><Relationship Id="rId10"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4.xml"/><Relationship Id="rId10"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5.xml"/><Relationship Id="rId10"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slideLayout" Target="../slideLayouts/slideLayout2.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50.png"/><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52.png"/><Relationship Id="rId2" Type="http://schemas.openxmlformats.org/officeDocument/2006/relationships/image" Target="../media/image49.png"/><Relationship Id="rId3" Type="http://schemas.openxmlformats.org/officeDocument/2006/relationships/slideLayout" Target="../slideLayouts/slideLayout2.xml"/><Relationship Id="rId4"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53.png"/><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 Id="rId9" Type="http://schemas.openxmlformats.org/officeDocument/2006/relationships/image" Target="../media/image61.png"/><Relationship Id="rId10" Type="http://schemas.openxmlformats.org/officeDocument/2006/relationships/image" Target="../media/image62.png"/><Relationship Id="rId11" Type="http://schemas.openxmlformats.org/officeDocument/2006/relationships/image" Target="../media/image63.png"/><Relationship Id="rId12" Type="http://schemas.openxmlformats.org/officeDocument/2006/relationships/slideLayout" Target="../slideLayouts/slideLayout4.xml"/><Relationship Id="rId1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53.png"/><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 Id="rId9" Type="http://schemas.openxmlformats.org/officeDocument/2006/relationships/image" Target="../media/image61.png"/><Relationship Id="rId10" Type="http://schemas.openxmlformats.org/officeDocument/2006/relationships/image" Target="../media/image62.png"/><Relationship Id="rId11" Type="http://schemas.openxmlformats.org/officeDocument/2006/relationships/image" Target="../media/image63.png"/><Relationship Id="rId12" Type="http://schemas.openxmlformats.org/officeDocument/2006/relationships/image" Target="../media/image64.png"/><Relationship Id="rId13" Type="http://schemas.openxmlformats.org/officeDocument/2006/relationships/image" Target="../media/image65.png"/><Relationship Id="rId14" Type="http://schemas.openxmlformats.org/officeDocument/2006/relationships/image" Target="../media/image66.png"/><Relationship Id="rId15" Type="http://schemas.openxmlformats.org/officeDocument/2006/relationships/image" Target="../media/image67.png"/><Relationship Id="rId16" Type="http://schemas.openxmlformats.org/officeDocument/2006/relationships/image" Target="../media/image68.png"/><Relationship Id="rId17" Type="http://schemas.openxmlformats.org/officeDocument/2006/relationships/image" Target="../media/image69.png"/><Relationship Id="rId18" Type="http://schemas.openxmlformats.org/officeDocument/2006/relationships/image" Target="../media/image70.png"/><Relationship Id="rId19" Type="http://schemas.openxmlformats.org/officeDocument/2006/relationships/image" Target="../media/image71.png"/><Relationship Id="rId20" Type="http://schemas.openxmlformats.org/officeDocument/2006/relationships/image" Target="../media/image72.png"/><Relationship Id="rId21" Type="http://schemas.openxmlformats.org/officeDocument/2006/relationships/slideLayout" Target="../slideLayouts/slideLayout5.xml"/><Relationship Id="rId2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53.png"/><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 Id="rId9" Type="http://schemas.openxmlformats.org/officeDocument/2006/relationships/image" Target="../media/image61.png"/><Relationship Id="rId10" Type="http://schemas.openxmlformats.org/officeDocument/2006/relationships/image" Target="../media/image62.png"/><Relationship Id="rId11" Type="http://schemas.openxmlformats.org/officeDocument/2006/relationships/image" Target="../media/image63.png"/><Relationship Id="rId12" Type="http://schemas.openxmlformats.org/officeDocument/2006/relationships/image" Target="../media/image64.png"/><Relationship Id="rId13" Type="http://schemas.openxmlformats.org/officeDocument/2006/relationships/image" Target="../media/image65.png"/><Relationship Id="rId14" Type="http://schemas.openxmlformats.org/officeDocument/2006/relationships/image" Target="../media/image66.png"/><Relationship Id="rId15" Type="http://schemas.openxmlformats.org/officeDocument/2006/relationships/image" Target="../media/image67.png"/><Relationship Id="rId16" Type="http://schemas.openxmlformats.org/officeDocument/2006/relationships/image" Target="../media/image68.png"/><Relationship Id="rId17" Type="http://schemas.openxmlformats.org/officeDocument/2006/relationships/image" Target="../media/image69.png"/><Relationship Id="rId18" Type="http://schemas.openxmlformats.org/officeDocument/2006/relationships/image" Target="../media/image70.png"/><Relationship Id="rId19" Type="http://schemas.openxmlformats.org/officeDocument/2006/relationships/image" Target="../media/image71.png"/><Relationship Id="rId20" Type="http://schemas.openxmlformats.org/officeDocument/2006/relationships/image" Target="../media/image72.png"/><Relationship Id="rId21" Type="http://schemas.openxmlformats.org/officeDocument/2006/relationships/slideLayout" Target="../slideLayouts/slideLayout3.xml"/><Relationship Id="rId2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73.png"/><Relationship Id="rId2" Type="http://schemas.openxmlformats.org/officeDocument/2006/relationships/slideLayout" Target="../slideLayouts/slideLayout2.xml"/><Relationship Id="rId3"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74.png"/><Relationship Id="rId2" Type="http://schemas.openxmlformats.org/officeDocument/2006/relationships/slideLayout" Target="../slideLayouts/slideLayout2.xml"/><Relationship Id="rId3"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74.png"/><Relationship Id="rId2" Type="http://schemas.openxmlformats.org/officeDocument/2006/relationships/slideLayout" Target="../slideLayouts/slideLayout2.xml"/><Relationship Id="rId3"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75.png"/><Relationship Id="rId2" Type="http://schemas.openxmlformats.org/officeDocument/2006/relationships/slideLayout" Target="../slideLayouts/slideLayout2.xml"/><Relationship Id="rId3"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image" Target="../media/image75.png"/><Relationship Id="rId2" Type="http://schemas.openxmlformats.org/officeDocument/2006/relationships/slideLayout" Target="../slideLayouts/slideLayout2.xml"/><Relationship Id="rId3"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image" Target="../media/image76.png"/><Relationship Id="rId2" Type="http://schemas.openxmlformats.org/officeDocument/2006/relationships/image" Target="../media/image77.png"/><Relationship Id="rId3" Type="http://schemas.openxmlformats.org/officeDocument/2006/relationships/image" Target="../media/image78.png"/><Relationship Id="rId4" Type="http://schemas.openxmlformats.org/officeDocument/2006/relationships/image" Target="../media/image79.png"/><Relationship Id="rId5" Type="http://schemas.openxmlformats.org/officeDocument/2006/relationships/slideLayout" Target="../slideLayouts/slideLayout4.xml"/><Relationship Id="rId6"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image" Target="../media/image76.png"/><Relationship Id="rId2" Type="http://schemas.openxmlformats.org/officeDocument/2006/relationships/image" Target="../media/image77.png"/><Relationship Id="rId3" Type="http://schemas.openxmlformats.org/officeDocument/2006/relationships/image" Target="../media/image78.png"/><Relationship Id="rId4" Type="http://schemas.openxmlformats.org/officeDocument/2006/relationships/image" Target="../media/image79.png"/><Relationship Id="rId5" Type="http://schemas.openxmlformats.org/officeDocument/2006/relationships/slideLayout" Target="../slideLayouts/slideLayout5.xml"/><Relationship Id="rId6"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image" Target="../media/image80.png"/><Relationship Id="rId2" Type="http://schemas.openxmlformats.org/officeDocument/2006/relationships/slideLayout" Target="../slideLayouts/slideLayout4.xml"/><Relationship Id="rId3"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image" Target="../media/image80.png"/><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image" Target="../media/image86.png"/><Relationship Id="rId8" Type="http://schemas.openxmlformats.org/officeDocument/2006/relationships/image" Target="../media/image87.png"/><Relationship Id="rId9" Type="http://schemas.openxmlformats.org/officeDocument/2006/relationships/slideLayout" Target="../slideLayouts/slideLayout5.xml"/><Relationship Id="rId10"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image" Target="../media/image80.png"/><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image" Target="../media/image80.png"/><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slideLayout" Target="../slideLayouts/slideLayout2.xml"/><Relationship Id="rId5"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image" Target="../media/image80.png"/><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slideLayout" Target="../slideLayouts/slideLayout2.xml"/><Relationship Id="rId6"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image" Target="../media/image80.png"/><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slideLayout" Target="../slideLayouts/slideLayout2.xml"/><Relationship Id="rId7"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image" Target="../media/image80.png"/><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image" Target="../media/image86.png"/><Relationship Id="rId8" Type="http://schemas.openxmlformats.org/officeDocument/2006/relationships/image" Target="../media/image87.png"/><Relationship Id="rId9" Type="http://schemas.openxmlformats.org/officeDocument/2006/relationships/slideLayout" Target="../slideLayouts/slideLayout2.xml"/><Relationship Id="rId10"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image" Target="../media/image80.png"/><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image" Target="../media/image86.png"/><Relationship Id="rId8" Type="http://schemas.openxmlformats.org/officeDocument/2006/relationships/image" Target="../media/image87.png"/><Relationship Id="rId9" Type="http://schemas.openxmlformats.org/officeDocument/2006/relationships/slideLayout" Target="../slideLayouts/slideLayout2.xml"/><Relationship Id="rId10"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image" Target="../media/image80.png"/><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image" Target="../media/image86.png"/><Relationship Id="rId8" Type="http://schemas.openxmlformats.org/officeDocument/2006/relationships/image" Target="../media/image87.png"/><Relationship Id="rId9" Type="http://schemas.openxmlformats.org/officeDocument/2006/relationships/slideLayout" Target="../slideLayouts/slideLayout2.xml"/><Relationship Id="rId10"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image" Target="../media/image88.png"/><Relationship Id="rId2" Type="http://schemas.openxmlformats.org/officeDocument/2006/relationships/image" Target="../media/image89.png"/><Relationship Id="rId3" Type="http://schemas.openxmlformats.org/officeDocument/2006/relationships/slideLayout" Target="../slideLayouts/slideLayout4.xml"/><Relationship Id="rId4"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image" Target="../media/image88.png"/><Relationship Id="rId2" Type="http://schemas.openxmlformats.org/officeDocument/2006/relationships/image" Target="../media/image89.png"/><Relationship Id="rId3" Type="http://schemas.openxmlformats.org/officeDocument/2006/relationships/image" Target="../media/image90.png"/><Relationship Id="rId4" Type="http://schemas.openxmlformats.org/officeDocument/2006/relationships/image" Target="../media/image91.png"/><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image" Target="../media/image94.png"/><Relationship Id="rId8" Type="http://schemas.openxmlformats.org/officeDocument/2006/relationships/slideLayout" Target="../slideLayouts/slideLayout5.xml"/><Relationship Id="rId9"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image" Target="../media/image88.png"/><Relationship Id="rId2" Type="http://schemas.openxmlformats.org/officeDocument/2006/relationships/image" Target="../media/image89.png"/><Relationship Id="rId3" Type="http://schemas.openxmlformats.org/officeDocument/2006/relationships/image" Target="../media/image90.png"/><Relationship Id="rId4" Type="http://schemas.openxmlformats.org/officeDocument/2006/relationships/slideLayout" Target="../slideLayouts/slideLayout3.xml"/><Relationship Id="rId5"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image" Target="../media/image88.png"/><Relationship Id="rId2" Type="http://schemas.openxmlformats.org/officeDocument/2006/relationships/image" Target="../media/image89.png"/><Relationship Id="rId3" Type="http://schemas.openxmlformats.org/officeDocument/2006/relationships/image" Target="../media/image90.png"/><Relationship Id="rId4" Type="http://schemas.openxmlformats.org/officeDocument/2006/relationships/image" Target="../media/image91.png"/><Relationship Id="rId5" Type="http://schemas.openxmlformats.org/officeDocument/2006/relationships/slideLayout" Target="../slideLayouts/slideLayout3.xml"/><Relationship Id="rId6"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image" Target="../media/image88.png"/><Relationship Id="rId2" Type="http://schemas.openxmlformats.org/officeDocument/2006/relationships/image" Target="../media/image89.png"/><Relationship Id="rId3" Type="http://schemas.openxmlformats.org/officeDocument/2006/relationships/image" Target="../media/image90.png"/><Relationship Id="rId4" Type="http://schemas.openxmlformats.org/officeDocument/2006/relationships/image" Target="../media/image91.png"/><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image" Target="../media/image94.png"/><Relationship Id="rId8" Type="http://schemas.openxmlformats.org/officeDocument/2006/relationships/slideLayout" Target="../slideLayouts/slideLayout3.xml"/><Relationship Id="rId9"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image" Target="../media/image95.png"/><Relationship Id="rId2" Type="http://schemas.openxmlformats.org/officeDocument/2006/relationships/image" Target="../media/image96.png"/><Relationship Id="rId3" Type="http://schemas.openxmlformats.org/officeDocument/2006/relationships/image" Target="../media/image97.png"/><Relationship Id="rId4" Type="http://schemas.openxmlformats.org/officeDocument/2006/relationships/slideLayout" Target="../slideLayouts/slideLayout4.xml"/><Relationship Id="rId5"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image" Target="../media/image95.png"/><Relationship Id="rId2" Type="http://schemas.openxmlformats.org/officeDocument/2006/relationships/image" Target="../media/image96.png"/><Relationship Id="rId3" Type="http://schemas.openxmlformats.org/officeDocument/2006/relationships/image" Target="../media/image97.png"/><Relationship Id="rId4" Type="http://schemas.openxmlformats.org/officeDocument/2006/relationships/image" Target="../media/image98.png"/><Relationship Id="rId5" Type="http://schemas.openxmlformats.org/officeDocument/2006/relationships/image" Target="../media/image99.png"/><Relationship Id="rId6" Type="http://schemas.openxmlformats.org/officeDocument/2006/relationships/slideLayout" Target="../slideLayouts/slideLayout5.xml"/><Relationship Id="rId7"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image" Target="../media/image95.png"/><Relationship Id="rId2" Type="http://schemas.openxmlformats.org/officeDocument/2006/relationships/image" Target="../media/image96.png"/><Relationship Id="rId3" Type="http://schemas.openxmlformats.org/officeDocument/2006/relationships/image" Target="../media/image97.png"/><Relationship Id="rId4" Type="http://schemas.openxmlformats.org/officeDocument/2006/relationships/image" Target="../media/image98.png"/><Relationship Id="rId5" Type="http://schemas.openxmlformats.org/officeDocument/2006/relationships/image" Target="../media/image99.png"/><Relationship Id="rId6" Type="http://schemas.openxmlformats.org/officeDocument/2006/relationships/slideLayout" Target="../slideLayouts/slideLayout3.xml"/><Relationship Id="rId7"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image" Target="../media/image100.png"/><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slideLayout" Target="../slideLayouts/slideLayout4.xml"/><Relationship Id="rId7"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image" Target="../media/image100.png"/><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image" Target="../media/image105.png"/><Relationship Id="rId7" Type="http://schemas.openxmlformats.org/officeDocument/2006/relationships/image" Target="../media/image106.png"/><Relationship Id="rId8" Type="http://schemas.openxmlformats.org/officeDocument/2006/relationships/slideLayout" Target="../slideLayouts/slideLayout5.xml"/><Relationship Id="rId9"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image" Target="../media/image100.png"/><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image" Target="../media/image105.png"/><Relationship Id="rId7" Type="http://schemas.openxmlformats.org/officeDocument/2006/relationships/image" Target="../media/image106.png"/><Relationship Id="rId8" Type="http://schemas.openxmlformats.org/officeDocument/2006/relationships/slideLayout" Target="../slideLayouts/slideLayout3.xml"/><Relationship Id="rId9"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
</Relationships>
</file>

<file path=ppt/slides/_rels/slide76.xml.rels><?xml version="1.0" encoding="UTF-8"?>
<Relationships xmlns="http://schemas.openxmlformats.org/package/2006/relationships"><Relationship Id="rId1" Type="http://schemas.openxmlformats.org/officeDocument/2006/relationships/image" Target="../media/image107.png"/><Relationship Id="rId2" Type="http://schemas.openxmlformats.org/officeDocument/2006/relationships/image" Target="../media/image108.png"/><Relationship Id="rId3" Type="http://schemas.openxmlformats.org/officeDocument/2006/relationships/image" Target="../media/image109.png"/><Relationship Id="rId4" Type="http://schemas.openxmlformats.org/officeDocument/2006/relationships/image" Target="../media/image110.png"/><Relationship Id="rId5" Type="http://schemas.openxmlformats.org/officeDocument/2006/relationships/slideLayout" Target="../slideLayouts/slideLayout4.xml"/><Relationship Id="rId6" Type="http://schemas.openxmlformats.org/officeDocument/2006/relationships/notesSlide" Target="../notesSlides/notesSlide76.xml"/>
</Relationships>
</file>

<file path=ppt/slides/_rels/slide77.xml.rels><?xml version="1.0" encoding="UTF-8"?>
<Relationships xmlns="http://schemas.openxmlformats.org/package/2006/relationships"><Relationship Id="rId1" Type="http://schemas.openxmlformats.org/officeDocument/2006/relationships/image" Target="../media/image107.png"/><Relationship Id="rId2" Type="http://schemas.openxmlformats.org/officeDocument/2006/relationships/image" Target="../media/image108.png"/><Relationship Id="rId3" Type="http://schemas.openxmlformats.org/officeDocument/2006/relationships/image" Target="../media/image109.png"/><Relationship Id="rId4" Type="http://schemas.openxmlformats.org/officeDocument/2006/relationships/image" Target="../media/image110.png"/><Relationship Id="rId5" Type="http://schemas.openxmlformats.org/officeDocument/2006/relationships/slideLayout" Target="../slideLayouts/slideLayout5.xml"/><Relationship Id="rId6" Type="http://schemas.openxmlformats.org/officeDocument/2006/relationships/notesSlide" Target="../notesSlides/notesSlide77.xml"/>
</Relationships>
</file>

<file path=ppt/slides/_rels/slide78.xml.rels><?xml version="1.0" encoding="UTF-8"?>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4.xml"/><Relationship Id="rId6" Type="http://schemas.openxmlformats.org/officeDocument/2006/relationships/notesSlide" Target="../notesSlides/notesSlide78.xml"/>
</Relationships>
</file>

<file path=ppt/slides/_rels/slide79.xml.rels><?xml version="1.0" encoding="UTF-8"?>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5.xml"/><Relationship Id="rId6" Type="http://schemas.openxmlformats.org/officeDocument/2006/relationships/notesSlide" Target="../notesSlides/notesSlide79.xml"/>
</Relationships>
</file>

<file path=ppt/slides/_rels/slide80.xml.rels><?xml version="1.0" encoding="UTF-8"?>
<Relationships xmlns="http://schemas.openxmlformats.org/package/2006/relationships"><Relationship Id="rId1" Type="http://schemas.openxmlformats.org/officeDocument/2006/relationships/image" Target="../media/image115.jpeg"/><Relationship Id="rId2" Type="http://schemas.openxmlformats.org/officeDocument/2006/relationships/slideLayout" Target="../slideLayouts/slideLayout9.xml"/><Relationship Id="rId3" Type="http://schemas.openxmlformats.org/officeDocument/2006/relationships/notesSlide" Target="../notesSlides/notesSlide80.xml"/>
</Relationships>
</file>

<file path=ppt/slides/_rels/slide81.xml.rels><?xml version="1.0" encoding="UTF-8"?>
<Relationships xmlns="http://schemas.openxmlformats.org/package/2006/relationships"><Relationship Id="rId1" Type="http://schemas.openxmlformats.org/officeDocument/2006/relationships/image" Target="../media/image115.jpeg"/><Relationship Id="rId2" Type="http://schemas.openxmlformats.org/officeDocument/2006/relationships/slideLayout" Target="../slideLayouts/slideLayout9.xml"/><Relationship Id="rId3" Type="http://schemas.openxmlformats.org/officeDocument/2006/relationships/notesSlide" Target="../notesSlides/notesSlide81.xml"/>
</Relationships>
</file>

<file path=ppt/slides/_rels/slide82.xml.rels><?xml version="1.0" encoding="UTF-8"?>
<Relationships xmlns="http://schemas.openxmlformats.org/package/2006/relationships"><Relationship Id="rId1" Type="http://schemas.openxmlformats.org/officeDocument/2006/relationships/image" Target="../media/image115.jpeg"/><Relationship Id="rId2" Type="http://schemas.openxmlformats.org/officeDocument/2006/relationships/image" Target="../media/image116.png"/><Relationship Id="rId3" Type="http://schemas.openxmlformats.org/officeDocument/2006/relationships/image" Target="../media/image117.png"/><Relationship Id="rId4" Type="http://schemas.openxmlformats.org/officeDocument/2006/relationships/image" Target="../media/image118.png"/><Relationship Id="rId5" Type="http://schemas.openxmlformats.org/officeDocument/2006/relationships/image" Target="../media/image119.png"/><Relationship Id="rId6" Type="http://schemas.openxmlformats.org/officeDocument/2006/relationships/image" Target="../media/image120.png"/><Relationship Id="rId7" Type="http://schemas.openxmlformats.org/officeDocument/2006/relationships/slideLayout" Target="../slideLayouts/slideLayout9.xml"/><Relationship Id="rId8" Type="http://schemas.openxmlformats.org/officeDocument/2006/relationships/notesSlide" Target="../notesSlides/notesSlide82.xml"/>
</Relationships>
</file>

<file path=ppt/slides/_rels/slide83.xml.rels><?xml version="1.0" encoding="UTF-8"?>
<Relationships xmlns="http://schemas.openxmlformats.org/package/2006/relationships"><Relationship Id="rId1" Type="http://schemas.openxmlformats.org/officeDocument/2006/relationships/image" Target="../media/image115.jpeg"/><Relationship Id="rId2" Type="http://schemas.openxmlformats.org/officeDocument/2006/relationships/slideLayout" Target="../slideLayouts/slideLayout9.xml"/><Relationship Id="rId3" Type="http://schemas.openxmlformats.org/officeDocument/2006/relationships/notesSlide" Target="../notesSlides/notesSlide83.xml"/>
</Relationships>
</file>

<file path=ppt/slides/_rels/slide84.xml.rels><?xml version="1.0" encoding="UTF-8"?>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15.jpeg"/><Relationship Id="rId7" Type="http://schemas.openxmlformats.org/officeDocument/2006/relationships/slideLayout" Target="../slideLayouts/slideLayout9.xml"/><Relationship Id="rId8" Type="http://schemas.openxmlformats.org/officeDocument/2006/relationships/notesSlide" Target="../notesSlides/notesSlide84.xml"/>
</Relationships>
</file>

<file path=ppt/slides/_rels/slide85.xml.rels><?xml version="1.0" encoding="UTF-8"?>
<Relationships xmlns="http://schemas.openxmlformats.org/package/2006/relationships"><Relationship Id="rId1" Type="http://schemas.openxmlformats.org/officeDocument/2006/relationships/image" Target="../media/image115.jpeg"/><Relationship Id="rId2" Type="http://schemas.openxmlformats.org/officeDocument/2006/relationships/slideLayout" Target="../slideLayouts/slideLayout9.xml"/><Relationship Id="rId3" Type="http://schemas.openxmlformats.org/officeDocument/2006/relationships/notesSlide" Target="../notesSlides/notesSlide8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1" name="Picture 7" descr=""/>
          <p:cNvPicPr/>
          <p:nvPr/>
        </p:nvPicPr>
        <p:blipFill>
          <a:blip r:embed="rId1"/>
          <a:stretch/>
        </p:blipFill>
        <p:spPr>
          <a:xfrm>
            <a:off x="228600" y="380880"/>
            <a:ext cx="8682840" cy="2208960"/>
          </a:xfrm>
          <a:prstGeom prst="rect">
            <a:avLst/>
          </a:prstGeom>
          <a:noFill/>
          <a:ln w="0">
            <a:noFill/>
          </a:ln>
        </p:spPr>
      </p:pic>
      <p:sp>
        <p:nvSpPr>
          <p:cNvPr id="42" name="Text Box 3"/>
          <p:cNvSpPr/>
          <p:nvPr/>
        </p:nvSpPr>
        <p:spPr>
          <a:xfrm>
            <a:off x="225360" y="1143000"/>
            <a:ext cx="4421880" cy="983520"/>
          </a:xfrm>
          <a:prstGeom prst="rect">
            <a:avLst/>
          </a:prstGeom>
          <a:noFill/>
          <a:ln w="0">
            <a:noFill/>
          </a:ln>
        </p:spPr>
        <p:style>
          <a:lnRef idx="0"/>
          <a:fillRef idx="0"/>
          <a:effectRef idx="0"/>
          <a:fontRef idx="minor"/>
        </p:style>
        <p:txBody>
          <a:bodyPr lIns="0" rIns="90000" tIns="0" bIns="0" anchor="t">
            <a:spAutoFit/>
          </a:bodyPr>
          <a:p>
            <a:pPr>
              <a:lnSpc>
                <a:spcPct val="100000"/>
              </a:lnSpc>
              <a:spcBef>
                <a:spcPts val="1599"/>
              </a:spcBef>
            </a:pPr>
            <a:r>
              <a:rPr b="1" lang="en-US" sz="3200" strike="noStrike" u="none">
                <a:solidFill>
                  <a:schemeClr val="dk1"/>
                </a:solidFill>
                <a:effectLst/>
                <a:uFillTx/>
                <a:latin typeface="Arial"/>
              </a:rPr>
              <a:t>Consumer Choice </a:t>
            </a:r>
            <a:br>
              <a:rPr sz="3200"/>
            </a:br>
            <a:r>
              <a:rPr b="1" lang="en-US" sz="3200" strike="noStrike" u="none">
                <a:solidFill>
                  <a:schemeClr val="dk1"/>
                </a:solidFill>
                <a:effectLst/>
                <a:uFillTx/>
                <a:latin typeface="Arial"/>
              </a:rPr>
              <a:t>and Demand</a:t>
            </a:r>
            <a:endParaRPr b="0" lang="en-US" sz="3200" strike="noStrike" u="none">
              <a:solidFill>
                <a:srgbClr val="000000"/>
              </a:solidFill>
              <a:effectLst/>
              <a:uFillTx/>
              <a:latin typeface="Arial"/>
            </a:endParaRPr>
          </a:p>
        </p:txBody>
      </p:sp>
      <p:sp>
        <p:nvSpPr>
          <p:cNvPr id="43" name="Text Box 5"/>
          <p:cNvSpPr/>
          <p:nvPr/>
        </p:nvSpPr>
        <p:spPr>
          <a:xfrm>
            <a:off x="6172200" y="700200"/>
            <a:ext cx="1156680" cy="1097640"/>
          </a:xfrm>
          <a:prstGeom prst="rect">
            <a:avLst/>
          </a:prstGeom>
          <a:noFill/>
          <a:ln w="0">
            <a:noFill/>
          </a:ln>
        </p:spPr>
        <p:style>
          <a:lnRef idx="0"/>
          <a:fillRef idx="0"/>
          <a:effectRef idx="0"/>
          <a:fontRef idx="minor"/>
        </p:style>
        <p:txBody>
          <a:bodyPr lIns="0" rIns="0" tIns="0" bIns="0" anchor="b">
            <a:spAutoFit/>
          </a:bodyPr>
          <a:p>
            <a:pPr algn="ctr">
              <a:lnSpc>
                <a:spcPct val="100000"/>
              </a:lnSpc>
              <a:spcBef>
                <a:spcPts val="3600"/>
              </a:spcBef>
            </a:pPr>
            <a:r>
              <a:rPr b="1" lang="en-US" sz="7200" strike="noStrike" u="none">
                <a:solidFill>
                  <a:schemeClr val="lt1"/>
                </a:solidFill>
                <a:effectLst/>
                <a:uFillTx/>
                <a:latin typeface="Arial"/>
                <a:ea typeface="ＭＳ Ｐゴシック"/>
              </a:rPr>
              <a:t>8</a:t>
            </a:r>
            <a:endParaRPr b="0" lang="en-US" sz="7200" strike="noStrike" u="none">
              <a:solidFill>
                <a:srgbClr val="000000"/>
              </a:solidFill>
              <a:effectLst/>
              <a:uFillTx/>
              <a:latin typeface="Arial"/>
            </a:endParaRPr>
          </a:p>
        </p:txBody>
      </p:sp>
      <p:sp>
        <p:nvSpPr>
          <p:cNvPr id="44" name="TextBox 6"/>
          <p:cNvSpPr/>
          <p:nvPr/>
        </p:nvSpPr>
        <p:spPr>
          <a:xfrm>
            <a:off x="225360" y="2362320"/>
            <a:ext cx="6098400" cy="821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CA" sz="2400" strike="noStrike" u="none">
                <a:solidFill>
                  <a:schemeClr val="dk1"/>
                </a:solidFill>
                <a:effectLst/>
                <a:uFillTx/>
                <a:latin typeface="Arial"/>
                <a:ea typeface="ＭＳ Ｐゴシック"/>
              </a:rPr>
              <a:t>When you have completed your </a:t>
            </a:r>
            <a:br>
              <a:rPr sz="2400"/>
            </a:br>
            <a:r>
              <a:rPr b="1" lang="en-CA" sz="2400" strike="noStrike" u="none">
                <a:solidFill>
                  <a:schemeClr val="dk1"/>
                </a:solidFill>
                <a:effectLst/>
                <a:uFillTx/>
                <a:latin typeface="Arial"/>
                <a:ea typeface="ＭＳ Ｐゴシック"/>
              </a:rPr>
              <a:t>study of this chapter, you will be able to</a:t>
            </a:r>
            <a:endParaRPr b="0" lang="en-US" sz="2400" strike="noStrike" u="none">
              <a:solidFill>
                <a:srgbClr val="000000"/>
              </a:solidFill>
              <a:effectLst/>
              <a:uFillTx/>
              <a:latin typeface="Arial"/>
            </a:endParaRPr>
          </a:p>
        </p:txBody>
      </p:sp>
      <p:sp>
        <p:nvSpPr>
          <p:cNvPr id="45" name="TextBox 7"/>
          <p:cNvSpPr/>
          <p:nvPr/>
        </p:nvSpPr>
        <p:spPr>
          <a:xfrm>
            <a:off x="380880" y="3388680"/>
            <a:ext cx="8530560" cy="3158280"/>
          </a:xfrm>
          <a:prstGeom prst="rect">
            <a:avLst/>
          </a:prstGeom>
          <a:noFill/>
          <a:ln w="0">
            <a:noFill/>
          </a:ln>
        </p:spPr>
        <p:style>
          <a:lnRef idx="0"/>
          <a:fillRef idx="0"/>
          <a:effectRef idx="0"/>
          <a:fontRef idx="minor"/>
        </p:style>
        <p:txBody>
          <a:bodyPr lIns="90000" rIns="90000" tIns="45000" bIns="45000" anchor="t">
            <a:spAutoFit/>
          </a:bodyPr>
          <a:p>
            <a:pPr marL="114480" defTabSz="176040">
              <a:lnSpc>
                <a:spcPct val="100000"/>
              </a:lnSpc>
              <a:spcBef>
                <a:spcPts val="479"/>
              </a:spcBef>
              <a:spcAft>
                <a:spcPts val="1199"/>
              </a:spcAft>
              <a:tabLst>
                <a:tab algn="l" pos="457200"/>
              </a:tabLst>
            </a:pPr>
            <a:r>
              <a:rPr b="1" lang="en-US" sz="2400" strike="noStrike" u="none">
                <a:solidFill>
                  <a:srgbClr val="ff0000"/>
                </a:solidFill>
                <a:effectLst/>
                <a:uFillTx/>
                <a:latin typeface="Arial"/>
                <a:ea typeface="ＭＳ Ｐゴシック"/>
              </a:rPr>
              <a:t>1</a:t>
            </a:r>
            <a:r>
              <a:rPr b="1"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Calculate and graph a budget line that shows the limits to </a:t>
            </a: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a person’s consumption possibilities.</a:t>
            </a:r>
            <a:endParaRPr b="0" lang="en-US" sz="2400" strike="noStrike" u="none">
              <a:solidFill>
                <a:srgbClr val="000000"/>
              </a:solidFill>
              <a:effectLst/>
              <a:uFillTx/>
              <a:latin typeface="Arial"/>
            </a:endParaRPr>
          </a:p>
          <a:p>
            <a:pPr marL="114480" defTabSz="176040">
              <a:lnSpc>
                <a:spcPct val="100000"/>
              </a:lnSpc>
              <a:spcBef>
                <a:spcPts val="479"/>
              </a:spcBef>
              <a:spcAft>
                <a:spcPts val="1199"/>
              </a:spcAft>
              <a:tabLst>
                <a:tab algn="l" pos="457200"/>
              </a:tabLst>
            </a:pPr>
            <a:r>
              <a:rPr b="1" lang="en-US" sz="2400" strike="noStrike" u="none">
                <a:solidFill>
                  <a:srgbClr val="ff0000"/>
                </a:solidFill>
                <a:effectLst/>
                <a:uFillTx/>
                <a:latin typeface="Arial"/>
                <a:ea typeface="ＭＳ Ｐゴシック"/>
              </a:rPr>
              <a:t>2</a:t>
            </a:r>
            <a:r>
              <a:rPr b="1" lang="en-US" sz="2400" strike="noStrike" u="none">
                <a:solidFill>
                  <a:srgbClr val="ff0000"/>
                </a:solidFill>
                <a:effectLst/>
                <a:uFillTx/>
                <a:latin typeface="Arial"/>
                <a:ea typeface="ＭＳ Ｐゴシック"/>
              </a:rPr>
              <a:t>	</a:t>
            </a:r>
            <a:r>
              <a:rPr b="0" lang="en-US" sz="2400" strike="noStrike" u="none">
                <a:solidFill>
                  <a:schemeClr val="dk1"/>
                </a:solidFill>
                <a:effectLst/>
                <a:uFillTx/>
                <a:latin typeface="Arial"/>
                <a:ea typeface="ＭＳ Ｐゴシック"/>
              </a:rPr>
              <a:t>Explain the marginal utility theory and use it to derive a </a:t>
            </a: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consumer’s demand curve.</a:t>
            </a:r>
            <a:endParaRPr b="0" lang="en-US" sz="2400" strike="noStrike" u="none">
              <a:solidFill>
                <a:srgbClr val="000000"/>
              </a:solidFill>
              <a:effectLst/>
              <a:uFillTx/>
              <a:latin typeface="Arial"/>
            </a:endParaRPr>
          </a:p>
          <a:p>
            <a:pPr marL="114480" defTabSz="176040">
              <a:lnSpc>
                <a:spcPct val="100000"/>
              </a:lnSpc>
              <a:spcBef>
                <a:spcPts val="479"/>
              </a:spcBef>
              <a:spcAft>
                <a:spcPts val="1199"/>
              </a:spcAft>
              <a:tabLst>
                <a:tab algn="l" pos="457200"/>
              </a:tabLst>
            </a:pPr>
            <a:r>
              <a:rPr b="1" lang="en-US" sz="2400" strike="noStrike" u="none">
                <a:solidFill>
                  <a:srgbClr val="ff0000"/>
                </a:solidFill>
                <a:effectLst/>
                <a:uFillTx/>
                <a:latin typeface="Arial"/>
                <a:ea typeface="ＭＳ Ｐゴシック"/>
              </a:rPr>
              <a:t>3  </a:t>
            </a:r>
            <a:r>
              <a:rPr b="0" lang="en-US" sz="2400" strike="noStrike" u="none">
                <a:solidFill>
                  <a:schemeClr val="dk1"/>
                </a:solidFill>
                <a:effectLst/>
                <a:uFillTx/>
                <a:latin typeface="Arial"/>
                <a:ea typeface="ＭＳ Ｐゴシック"/>
              </a:rPr>
              <a:t>Use marginal utility theory to explain the paradox of value: </a:t>
            </a: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why water is vital but cheap while diamonds are relatively </a:t>
            </a: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useless but expensive.</a:t>
            </a:r>
            <a:endParaRPr b="0" lang="en-US" sz="2400" strike="noStrike" u="none">
              <a:solidFill>
                <a:srgbClr val="000000"/>
              </a:solidFill>
              <a:effectLst/>
              <a:uFillTx/>
              <a:latin typeface="Arial"/>
            </a:endParaRPr>
          </a:p>
        </p:txBody>
      </p:sp>
      <p:sp>
        <p:nvSpPr>
          <p:cNvPr id="46" name="TextBox 9"/>
          <p:cNvSpPr/>
          <p:nvPr/>
        </p:nvSpPr>
        <p:spPr>
          <a:xfrm>
            <a:off x="5843520" y="2192400"/>
            <a:ext cx="2971080" cy="335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1600" strike="noStrike" u="none">
                <a:solidFill>
                  <a:schemeClr val="lt1"/>
                </a:solidFill>
                <a:effectLst/>
                <a:uFillTx/>
                <a:latin typeface="Arial"/>
                <a:ea typeface="ＭＳ Ｐゴシック"/>
              </a:rPr>
              <a:t>CHAPTER CHECKLIST</a:t>
            </a:r>
            <a:endParaRPr b="0" lang="en-US" sz="1600" strike="noStrike" u="none">
              <a:solidFill>
                <a:srgbClr val="000000"/>
              </a:solidFill>
              <a:effectLst/>
              <a:uFillTx/>
              <a:latin typeface="Arial"/>
            </a:endParaRPr>
          </a:p>
        </p:txBody>
      </p:sp>
    </p:spTree>
  </p:cSld>
  <p:transition spd="slow">
    <p:wipe dir="r"/>
  </p:transition>
  <p:timing>
    <p:tnLst>
      <p:par>
        <p:cTn id="1" dur="indefinite" restart="never" nodeType="tmRoot">
          <p:childTnLst>
            <p:seq>
              <p:cTn id="2" dur="indefinite" nodeType="mainSeq">
                <p:childTnLst>
                  <p:par>
                    <p:cTn id="3" nodeType="clickEffect" fill="hold">
                      <p:stCondLst>
                        <p:cond delay="indefinite"/>
                      </p:stCondLst>
                      <p:childTnLst>
                        <p:par>
                          <p:cTn id="4" nodeType="withEffect" fill="hold">
                            <p:stCondLst>
                              <p:cond delay="0"/>
                            </p:stCondLst>
                            <p:childTnLst>
                              <p:par>
                                <p:cTn id="5" nodeType="clickEffect" fill="hold" presetClass="entr" presetID="22" presetSubtype="8">
                                  <p:stCondLst>
                                    <p:cond delay="0"/>
                                  </p:stCondLst>
                                  <p:childTnLst>
                                    <p:set>
                                      <p:cBhvr>
                                        <p:cTn id="6" dur="1" fill="hold">
                                          <p:stCondLst>
                                            <p:cond delay="0"/>
                                          </p:stCondLst>
                                        </p:cTn>
                                        <p:tgtEl>
                                          <p:spTgt spid="44"/>
                                        </p:tgtEl>
                                        <p:attrNameLst>
                                          <p:attrName>style.visibility</p:attrName>
                                        </p:attrNameLst>
                                      </p:cBhvr>
                                      <p:to>
                                        <p:strVal val="visible"/>
                                      </p:to>
                                    </p:set>
                                    <p:animEffect filter="wipe(left)" transition="in">
                                      <p:cBhvr additive="repl">
                                        <p:cTn id="7" dur="500"/>
                                        <p:tgtEl>
                                          <p:spTgt spid="44"/>
                                        </p:tgtEl>
                                      </p:cBhvr>
                                    </p:animEffect>
                                  </p:childTnLst>
                                </p:cTn>
                              </p:par>
                            </p:childTnLst>
                          </p:cTn>
                        </p:par>
                      </p:childTnLst>
                    </p:cTn>
                  </p:par>
                  <p:par>
                    <p:cTn id="8" nodeType="clickEffect" fill="hold">
                      <p:stCondLst>
                        <p:cond delay="indefinite"/>
                      </p:stCondLst>
                      <p:childTnLst>
                        <p:par>
                          <p:cTn id="9" nodeType="withEffect" fill="hold">
                            <p:stCondLst>
                              <p:cond delay="0"/>
                            </p:stCondLst>
                            <p:childTnLst>
                              <p:par>
                                <p:cTn id="10" nodeType="clickEffect" fill="hold" presetClass="entr" presetID="22" presetSubtype="8">
                                  <p:stCondLst>
                                    <p:cond delay="0"/>
                                  </p:stCondLst>
                                  <p:childTnLst>
                                    <p:set>
                                      <p:cBhvr>
                                        <p:cTn id="11" dur="1" fill="hold">
                                          <p:stCondLst>
                                            <p:cond delay="0"/>
                                          </p:stCondLst>
                                        </p:cTn>
                                        <p:tgtEl>
                                          <p:spTgt spid="45">
                                            <p:txEl>
                                              <p:pRg st="0" end="0"/>
                                            </p:txEl>
                                          </p:spTgt>
                                        </p:tgtEl>
                                        <p:attrNameLst>
                                          <p:attrName>style.visibility</p:attrName>
                                        </p:attrNameLst>
                                      </p:cBhvr>
                                      <p:to>
                                        <p:strVal val="visible"/>
                                      </p:to>
                                    </p:set>
                                    <p:animEffect filter="wipe(left)" transition="in">
                                      <p:cBhvr additive="repl">
                                        <p:cTn id="12" dur="1000"/>
                                        <p:tgtEl>
                                          <p:spTgt spid="45">
                                            <p:txEl>
                                              <p:pRg st="0" end="0"/>
                                            </p:txEl>
                                          </p:spTgt>
                                        </p:tgtEl>
                                      </p:cBhvr>
                                    </p:animEffect>
                                  </p:childTnLst>
                                </p:cTn>
                              </p:par>
                            </p:childTnLst>
                          </p:cTn>
                        </p:par>
                      </p:childTnLst>
                    </p:cTn>
                  </p:par>
                  <p:par>
                    <p:cTn id="13" nodeType="clickEffect" fill="hold">
                      <p:stCondLst>
                        <p:cond delay="indefinite"/>
                      </p:stCondLst>
                      <p:childTnLst>
                        <p:par>
                          <p:cTn id="14" nodeType="withEffect" fill="hold">
                            <p:stCondLst>
                              <p:cond delay="0"/>
                            </p:stCondLst>
                            <p:childTnLst>
                              <p:par>
                                <p:cTn id="15" nodeType="clickEffect" fill="hold" presetClass="entr" presetID="22" presetSubtype="8">
                                  <p:stCondLst>
                                    <p:cond delay="0"/>
                                  </p:stCondLst>
                                  <p:childTnLst>
                                    <p:set>
                                      <p:cBhvr>
                                        <p:cTn id="16" dur="1" fill="hold">
                                          <p:stCondLst>
                                            <p:cond delay="0"/>
                                          </p:stCondLst>
                                        </p:cTn>
                                        <p:tgtEl>
                                          <p:spTgt spid="45">
                                            <p:txEl>
                                              <p:pRg st="1" end="1"/>
                                            </p:txEl>
                                          </p:spTgt>
                                        </p:tgtEl>
                                        <p:attrNameLst>
                                          <p:attrName>style.visibility</p:attrName>
                                        </p:attrNameLst>
                                      </p:cBhvr>
                                      <p:to>
                                        <p:strVal val="visible"/>
                                      </p:to>
                                    </p:set>
                                    <p:animEffect filter="wipe(left)" transition="in">
                                      <p:cBhvr additive="repl">
                                        <p:cTn id="17" dur="1000"/>
                                        <p:tgtEl>
                                          <p:spTgt spid="45">
                                            <p:txEl>
                                              <p:pRg st="1" end="1"/>
                                            </p:txEl>
                                          </p:spTgt>
                                        </p:tgtEl>
                                      </p:cBhvr>
                                    </p:animEffect>
                                  </p:childTnLst>
                                </p:cTn>
                              </p:par>
                            </p:childTnLst>
                          </p:cTn>
                        </p:par>
                      </p:childTnLst>
                    </p:cTn>
                  </p:par>
                  <p:par>
                    <p:cTn id="18" nodeType="clickEffect" fill="hold">
                      <p:stCondLst>
                        <p:cond delay="indefinite"/>
                      </p:stCondLst>
                      <p:childTnLst>
                        <p:par>
                          <p:cTn id="19" nodeType="withEffect" fill="hold">
                            <p:stCondLst>
                              <p:cond delay="0"/>
                            </p:stCondLst>
                            <p:childTnLst>
                              <p:par>
                                <p:cTn id="20" nodeType="clickEffect" fill="hold" presetClass="entr" presetID="22" presetSubtype="8">
                                  <p:stCondLst>
                                    <p:cond delay="0"/>
                                  </p:stCondLst>
                                  <p:childTnLst>
                                    <p:set>
                                      <p:cBhvr>
                                        <p:cTn id="21" dur="1" fill="hold">
                                          <p:stCondLst>
                                            <p:cond delay="0"/>
                                          </p:stCondLst>
                                        </p:cTn>
                                        <p:tgtEl>
                                          <p:spTgt spid="45">
                                            <p:txEl>
                                              <p:pRg st="2" end="2"/>
                                            </p:txEl>
                                          </p:spTgt>
                                        </p:tgtEl>
                                        <p:attrNameLst>
                                          <p:attrName>style.visibility</p:attrName>
                                        </p:attrNameLst>
                                      </p:cBhvr>
                                      <p:to>
                                        <p:strVal val="visible"/>
                                      </p:to>
                                    </p:set>
                                    <p:animEffect filter="wipe(left)" transition="in">
                                      <p:cBhvr additive="repl">
                                        <p:cTn id="22" dur="1000"/>
                                        <p:tgtEl>
                                          <p:spTgt spid="45">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13.1  CONSUMPTION POSSIBILITIES</a:t>
            </a:r>
            <a:endParaRPr b="0" lang="en-US" sz="2600" strike="noStrike" u="none">
              <a:solidFill>
                <a:srgbClr val="000000"/>
              </a:solidFill>
              <a:effectLst/>
              <a:uFillTx/>
              <a:latin typeface="Arial"/>
            </a:endParaRPr>
          </a:p>
        </p:txBody>
      </p:sp>
      <p:sp>
        <p:nvSpPr>
          <p:cNvPr id="48"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The Budget Line</a:t>
            </a:r>
            <a:endParaRPr b="0" lang="en-US" sz="28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A </a:t>
            </a:r>
            <a:r>
              <a:rPr b="1" lang="en-US" sz="2600" strike="noStrike" u="none">
                <a:solidFill>
                  <a:srgbClr val="ff0000"/>
                </a:solidFill>
                <a:effectLst/>
                <a:uFillTx/>
                <a:latin typeface="Arial"/>
                <a:ea typeface="ＭＳ Ｐゴシック"/>
              </a:rPr>
              <a:t>budget line</a:t>
            </a:r>
            <a:r>
              <a:rPr b="0" lang="en-US" sz="2400" strike="noStrike" u="none">
                <a:solidFill>
                  <a:schemeClr val="dk1"/>
                </a:solidFill>
                <a:effectLst/>
                <a:uFillTx/>
                <a:latin typeface="Arial"/>
                <a:ea typeface="ＭＳ Ｐゴシック"/>
              </a:rPr>
              <a:t> describes the limits to consumption choices and depends on a consumer’s budget and the prices of goods and services.</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Let’s look at Tina’s budget line:</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Tina has $4 a day to spend on two goods: bottled water and gum.</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price of water is $1 a bottle.</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price of gum is 50¢ a pack.</a:t>
            </a:r>
            <a:endParaRPr b="0" lang="en-US" sz="2400" strike="noStrike" u="none">
              <a:solidFill>
                <a:srgbClr val="000000"/>
              </a:solidFill>
              <a:effectLst/>
              <a:uFillTx/>
              <a:latin typeface="Arial"/>
            </a:endParaRPr>
          </a:p>
        </p:txBody>
      </p:sp>
    </p:spTree>
  </p:cSld>
  <p:transition spd="slow">
    <p:wipe dir="r"/>
  </p:transition>
  <p:timing>
    <p:tnLst>
      <p:par>
        <p:cTn id="23" dur="indefinite" restart="never" nodeType="tmRoot">
          <p:childTnLst>
            <p:seq>
              <p:cTn id="24" dur="indefinite" nodeType="mainSeq">
                <p:childTnLst>
                  <p:par>
                    <p:cTn id="25" nodeType="clickEffect" fill="hold">
                      <p:stCondLst>
                        <p:cond delay="indefinite"/>
                      </p:stCondLst>
                      <p:childTnLst>
                        <p:par>
                          <p:cTn id="26" nodeType="withEffect" fill="hold">
                            <p:stCondLst>
                              <p:cond delay="0"/>
                            </p:stCondLst>
                            <p:childTnLst>
                              <p:par>
                                <p:cTn id="27" nodeType="clickEffect" fill="hold" presetClass="entr" presetID="22" presetSubtype="8">
                                  <p:stCondLst>
                                    <p:cond delay="0"/>
                                  </p:stCondLst>
                                  <p:childTnLst>
                                    <p:set>
                                      <p:cBhvr>
                                        <p:cTn id="28" dur="1" fill="hold">
                                          <p:stCondLst>
                                            <p:cond delay="0"/>
                                          </p:stCondLst>
                                        </p:cTn>
                                        <p:tgtEl>
                                          <p:spTgt spid="48">
                                            <p:txEl>
                                              <p:pRg st="1" end="1"/>
                                            </p:txEl>
                                          </p:spTgt>
                                        </p:tgtEl>
                                        <p:attrNameLst>
                                          <p:attrName>style.visibility</p:attrName>
                                        </p:attrNameLst>
                                      </p:cBhvr>
                                      <p:to>
                                        <p:strVal val="visible"/>
                                      </p:to>
                                    </p:set>
                                    <p:animEffect filter="wipe(left)" transition="in">
                                      <p:cBhvr additive="repl">
                                        <p:cTn id="29" dur="500"/>
                                        <p:tgtEl>
                                          <p:spTgt spid="48">
                                            <p:txEl>
                                              <p:pRg st="1" end="1"/>
                                            </p:txEl>
                                          </p:spTgt>
                                        </p:tgtEl>
                                      </p:cBhvr>
                                    </p:animEffect>
                                  </p:childTnLst>
                                </p:cTn>
                              </p:par>
                            </p:childTnLst>
                          </p:cTn>
                        </p:par>
                      </p:childTnLst>
                    </p:cTn>
                  </p:par>
                  <p:par>
                    <p:cTn id="30" nodeType="clickEffect" fill="hold">
                      <p:stCondLst>
                        <p:cond delay="indefinite"/>
                      </p:stCondLst>
                      <p:childTnLst>
                        <p:par>
                          <p:cTn id="31" nodeType="withEffect" fill="hold">
                            <p:stCondLst>
                              <p:cond delay="0"/>
                            </p:stCondLst>
                            <p:childTnLst>
                              <p:par>
                                <p:cTn id="32" nodeType="clickEffect" fill="hold" presetClass="entr" presetID="22" presetSubtype="8">
                                  <p:stCondLst>
                                    <p:cond delay="0"/>
                                  </p:stCondLst>
                                  <p:childTnLst>
                                    <p:set>
                                      <p:cBhvr>
                                        <p:cTn id="33" dur="1" fill="hold">
                                          <p:stCondLst>
                                            <p:cond delay="0"/>
                                          </p:stCondLst>
                                        </p:cTn>
                                        <p:tgtEl>
                                          <p:spTgt spid="48">
                                            <p:txEl>
                                              <p:pRg st="2" end="2"/>
                                            </p:txEl>
                                          </p:spTgt>
                                        </p:tgtEl>
                                        <p:attrNameLst>
                                          <p:attrName>style.visibility</p:attrName>
                                        </p:attrNameLst>
                                      </p:cBhvr>
                                      <p:to>
                                        <p:strVal val="visible"/>
                                      </p:to>
                                    </p:set>
                                    <p:animEffect filter="wipe(left)" transition="in">
                                      <p:cBhvr additive="repl">
                                        <p:cTn id="34" dur="500"/>
                                        <p:tgtEl>
                                          <p:spTgt spid="48">
                                            <p:txEl>
                                              <p:pRg st="2" end="2"/>
                                            </p:txEl>
                                          </p:spTgt>
                                        </p:tgtEl>
                                      </p:cBhvr>
                                    </p:animEffect>
                                  </p:childTnLst>
                                </p:cTn>
                              </p:par>
                            </p:childTnLst>
                          </p:cTn>
                        </p:par>
                      </p:childTnLst>
                    </p:cTn>
                  </p:par>
                  <p:par>
                    <p:cTn id="35" nodeType="clickEffect" fill="hold">
                      <p:stCondLst>
                        <p:cond delay="indefinite"/>
                      </p:stCondLst>
                      <p:childTnLst>
                        <p:par>
                          <p:cTn id="36" nodeType="withEffect" fill="hold">
                            <p:stCondLst>
                              <p:cond delay="0"/>
                            </p:stCondLst>
                            <p:childTnLst>
                              <p:par>
                                <p:cTn id="37" nodeType="clickEffect" fill="hold" presetClass="entr" presetID="22" presetSubtype="8">
                                  <p:stCondLst>
                                    <p:cond delay="0"/>
                                  </p:stCondLst>
                                  <p:childTnLst>
                                    <p:set>
                                      <p:cBhvr>
                                        <p:cTn id="38" dur="1" fill="hold">
                                          <p:stCondLst>
                                            <p:cond delay="0"/>
                                          </p:stCondLst>
                                        </p:cTn>
                                        <p:tgtEl>
                                          <p:spTgt spid="48">
                                            <p:txEl>
                                              <p:pRg st="3" end="3"/>
                                            </p:txEl>
                                          </p:spTgt>
                                        </p:tgtEl>
                                        <p:attrNameLst>
                                          <p:attrName>style.visibility</p:attrName>
                                        </p:attrNameLst>
                                      </p:cBhvr>
                                      <p:to>
                                        <p:strVal val="visible"/>
                                      </p:to>
                                    </p:set>
                                    <p:animEffect filter="wipe(left)" transition="in">
                                      <p:cBhvr additive="repl">
                                        <p:cTn id="39" dur="500"/>
                                        <p:tgtEl>
                                          <p:spTgt spid="48">
                                            <p:txEl>
                                              <p:pRg st="3" end="3"/>
                                            </p:txEl>
                                          </p:spTgt>
                                        </p:tgtEl>
                                      </p:cBhvr>
                                    </p:animEffect>
                                  </p:childTnLst>
                                </p:cTn>
                              </p:par>
                            </p:childTnLst>
                          </p:cTn>
                        </p:par>
                      </p:childTnLst>
                    </p:cTn>
                  </p:par>
                  <p:par>
                    <p:cTn id="40" nodeType="clickEffect" fill="hold">
                      <p:stCondLst>
                        <p:cond delay="indefinite"/>
                      </p:stCondLst>
                      <p:childTnLst>
                        <p:par>
                          <p:cTn id="41" nodeType="withEffect" fill="hold">
                            <p:stCondLst>
                              <p:cond delay="0"/>
                            </p:stCondLst>
                            <p:childTnLst>
                              <p:par>
                                <p:cTn id="42" nodeType="clickEffect" fill="hold" presetClass="entr" presetID="22" presetSubtype="8">
                                  <p:stCondLst>
                                    <p:cond delay="0"/>
                                  </p:stCondLst>
                                  <p:childTnLst>
                                    <p:set>
                                      <p:cBhvr>
                                        <p:cTn id="43" dur="1" fill="hold">
                                          <p:stCondLst>
                                            <p:cond delay="0"/>
                                          </p:stCondLst>
                                        </p:cTn>
                                        <p:tgtEl>
                                          <p:spTgt spid="48">
                                            <p:txEl>
                                              <p:pRg st="4" end="4"/>
                                            </p:txEl>
                                          </p:spTgt>
                                        </p:tgtEl>
                                        <p:attrNameLst>
                                          <p:attrName>style.visibility</p:attrName>
                                        </p:attrNameLst>
                                      </p:cBhvr>
                                      <p:to>
                                        <p:strVal val="visible"/>
                                      </p:to>
                                    </p:set>
                                    <p:animEffect filter="wipe(left)" transition="in">
                                      <p:cBhvr additive="repl">
                                        <p:cTn id="44" dur="500"/>
                                        <p:tgtEl>
                                          <p:spTgt spid="48">
                                            <p:txEl>
                                              <p:pRg st="4" end="4"/>
                                            </p:txEl>
                                          </p:spTgt>
                                        </p:tgtEl>
                                      </p:cBhvr>
                                    </p:animEffect>
                                  </p:childTnLst>
                                </p:cTn>
                              </p:par>
                            </p:childTnLst>
                          </p:cTn>
                        </p:par>
                      </p:childTnLst>
                    </p:cTn>
                  </p:par>
                  <p:par>
                    <p:cTn id="45" nodeType="clickEffect" fill="hold">
                      <p:stCondLst>
                        <p:cond delay="indefinite"/>
                      </p:stCondLst>
                      <p:childTnLst>
                        <p:par>
                          <p:cTn id="46" nodeType="withEffect" fill="hold">
                            <p:stCondLst>
                              <p:cond delay="0"/>
                            </p:stCondLst>
                            <p:childTnLst>
                              <p:par>
                                <p:cTn id="47" nodeType="clickEffect" fill="hold" presetClass="entr" presetID="22" presetSubtype="8">
                                  <p:stCondLst>
                                    <p:cond delay="0"/>
                                  </p:stCondLst>
                                  <p:childTnLst>
                                    <p:set>
                                      <p:cBhvr>
                                        <p:cTn id="48" dur="1" fill="hold">
                                          <p:stCondLst>
                                            <p:cond delay="0"/>
                                          </p:stCondLst>
                                        </p:cTn>
                                        <p:tgtEl>
                                          <p:spTgt spid="48">
                                            <p:txEl>
                                              <p:pRg st="5" end="5"/>
                                            </p:txEl>
                                          </p:spTgt>
                                        </p:tgtEl>
                                        <p:attrNameLst>
                                          <p:attrName>style.visibility</p:attrName>
                                        </p:attrNameLst>
                                      </p:cBhvr>
                                      <p:to>
                                        <p:strVal val="visible"/>
                                      </p:to>
                                    </p:set>
                                    <p:animEffect filter="wipe(left)" transition="in">
                                      <p:cBhvr additive="repl">
                                        <p:cTn id="49" dur="500"/>
                                        <p:tgtEl>
                                          <p:spTgt spid="48">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 name="Picture 1" descr="fig1201a.gif"/>
          <p:cNvPicPr/>
          <p:nvPr/>
        </p:nvPicPr>
        <p:blipFill>
          <a:blip r:embed="rId1"/>
          <a:stretch/>
        </p:blipFill>
        <p:spPr>
          <a:xfrm>
            <a:off x="2808360" y="2340000"/>
            <a:ext cx="5914440" cy="3879000"/>
          </a:xfrm>
          <a:prstGeom prst="rect">
            <a:avLst/>
          </a:prstGeom>
          <a:noFill/>
          <a:ln w="0">
            <a:noFill/>
          </a:ln>
        </p:spPr>
      </p:pic>
      <p:pic>
        <p:nvPicPr>
          <p:cNvPr id="50" name="Picture 2" descr="fig1201b.gif"/>
          <p:cNvPicPr/>
          <p:nvPr/>
        </p:nvPicPr>
        <p:blipFill>
          <a:blip r:embed="rId2"/>
          <a:stretch/>
        </p:blipFill>
        <p:spPr>
          <a:xfrm>
            <a:off x="2808360" y="2340000"/>
            <a:ext cx="5914440" cy="3879000"/>
          </a:xfrm>
          <a:prstGeom prst="rect">
            <a:avLst/>
          </a:prstGeom>
          <a:noFill/>
          <a:ln w="0">
            <a:noFill/>
          </a:ln>
        </p:spPr>
      </p:pic>
      <p:pic>
        <p:nvPicPr>
          <p:cNvPr id="51" name="Picture 3" descr="fig1201c.gif"/>
          <p:cNvPicPr/>
          <p:nvPr/>
        </p:nvPicPr>
        <p:blipFill>
          <a:blip r:embed="rId3"/>
          <a:stretch/>
        </p:blipFill>
        <p:spPr>
          <a:xfrm>
            <a:off x="2808360" y="2340000"/>
            <a:ext cx="5914440" cy="3879000"/>
          </a:xfrm>
          <a:prstGeom prst="rect">
            <a:avLst/>
          </a:prstGeom>
          <a:noFill/>
          <a:ln w="0">
            <a:noFill/>
          </a:ln>
        </p:spPr>
      </p:pic>
      <p:pic>
        <p:nvPicPr>
          <p:cNvPr id="52" name="Picture 4" descr="fig1201d.gif"/>
          <p:cNvPicPr/>
          <p:nvPr/>
        </p:nvPicPr>
        <p:blipFill>
          <a:blip r:embed="rId4"/>
          <a:stretch/>
        </p:blipFill>
        <p:spPr>
          <a:xfrm>
            <a:off x="2808360" y="2340000"/>
            <a:ext cx="5914440" cy="3879000"/>
          </a:xfrm>
          <a:prstGeom prst="rect">
            <a:avLst/>
          </a:prstGeom>
          <a:noFill/>
          <a:ln w="0">
            <a:noFill/>
          </a:ln>
        </p:spPr>
      </p:pic>
      <p:pic>
        <p:nvPicPr>
          <p:cNvPr id="53" name="Picture 5" descr="fig1201e.gif"/>
          <p:cNvPicPr/>
          <p:nvPr/>
        </p:nvPicPr>
        <p:blipFill>
          <a:blip r:embed="rId5"/>
          <a:stretch/>
        </p:blipFill>
        <p:spPr>
          <a:xfrm>
            <a:off x="2808360" y="2340000"/>
            <a:ext cx="5914440" cy="3879000"/>
          </a:xfrm>
          <a:prstGeom prst="rect">
            <a:avLst/>
          </a:prstGeom>
          <a:noFill/>
          <a:ln w="0">
            <a:noFill/>
          </a:ln>
        </p:spPr>
      </p:pic>
      <p:pic>
        <p:nvPicPr>
          <p:cNvPr id="54" name="Picture 6" descr="fig1201f.gif"/>
          <p:cNvPicPr/>
          <p:nvPr/>
        </p:nvPicPr>
        <p:blipFill>
          <a:blip r:embed="rId6"/>
          <a:stretch/>
        </p:blipFill>
        <p:spPr>
          <a:xfrm>
            <a:off x="2808360" y="2340000"/>
            <a:ext cx="5914440" cy="3879000"/>
          </a:xfrm>
          <a:prstGeom prst="rect">
            <a:avLst/>
          </a:prstGeom>
          <a:noFill/>
          <a:ln w="0">
            <a:noFill/>
          </a:ln>
        </p:spPr>
      </p:pic>
      <p:pic>
        <p:nvPicPr>
          <p:cNvPr id="55" name="Picture 7" descr="fig1201g.gif"/>
          <p:cNvPicPr/>
          <p:nvPr/>
        </p:nvPicPr>
        <p:blipFill>
          <a:blip r:embed="rId7"/>
          <a:stretch/>
        </p:blipFill>
        <p:spPr>
          <a:xfrm>
            <a:off x="2808360" y="2340000"/>
            <a:ext cx="5914440" cy="3879000"/>
          </a:xfrm>
          <a:prstGeom prst="rect">
            <a:avLst/>
          </a:prstGeom>
          <a:noFill/>
          <a:ln w="0">
            <a:noFill/>
          </a:ln>
        </p:spPr>
      </p:pic>
      <p:sp>
        <p:nvSpPr>
          <p:cNvPr id="56"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13.1  CONSUMPTION POSSIBILITIES</a:t>
            </a:r>
            <a:endParaRPr b="0" lang="en-US" sz="2600" strike="noStrike" u="none">
              <a:solidFill>
                <a:srgbClr val="000000"/>
              </a:solidFill>
              <a:effectLst/>
              <a:uFillTx/>
              <a:latin typeface="Arial"/>
            </a:endParaRPr>
          </a:p>
        </p:txBody>
      </p:sp>
      <p:sp>
        <p:nvSpPr>
          <p:cNvPr id="57" name="PlaceHolder 2"/>
          <p:cNvSpPr>
            <a:spLocks noGrp="1"/>
          </p:cNvSpPr>
          <p:nvPr>
            <p:ph/>
          </p:nvPr>
        </p:nvSpPr>
        <p:spPr>
          <a:xfrm>
            <a:off x="360360" y="1440000"/>
            <a:ext cx="809712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Figure 13.1 shows Tina’s consumption possibilities.</a:t>
            </a:r>
            <a:endParaRPr b="0" lang="en-US" sz="2400" strike="noStrike" u="none">
              <a:solidFill>
                <a:srgbClr val="000000"/>
              </a:solidFill>
              <a:effectLst/>
              <a:uFillTx/>
              <a:latin typeface="Arial"/>
            </a:endParaRPr>
          </a:p>
        </p:txBody>
      </p:sp>
      <p:sp>
        <p:nvSpPr>
          <p:cNvPr id="58" name="Rectangle 5"/>
          <p:cNvSpPr/>
          <p:nvPr/>
        </p:nvSpPr>
        <p:spPr>
          <a:xfrm>
            <a:off x="360360" y="2052720"/>
            <a:ext cx="2687040" cy="4118760"/>
          </a:xfrm>
          <a:prstGeom prst="rect">
            <a:avLst/>
          </a:prstGeom>
          <a:noFill/>
          <a:ln w="0">
            <a:noFill/>
          </a:ln>
        </p:spPr>
        <p:style>
          <a:lnRef idx="0"/>
          <a:fillRef idx="0"/>
          <a:effectRef idx="0"/>
          <a:fontRef idx="minor"/>
        </p:style>
        <p:txBody>
          <a:bodyPr lIns="90000" rIns="90000" tIns="45000" bIns="45000" anchor="t">
            <a:noAutofit/>
          </a:bodyPr>
          <a:p>
            <a:pPr marL="360000">
              <a:lnSpc>
                <a:spcPct val="100000"/>
              </a:lnSpc>
              <a:spcBef>
                <a:spcPts val="601"/>
              </a:spcBef>
              <a:spcAft>
                <a:spcPts val="601"/>
              </a:spcAft>
            </a:pPr>
            <a:r>
              <a:rPr b="0" lang="en-US" sz="2400" strike="noStrike" u="none">
                <a:solidFill>
                  <a:schemeClr val="dk1"/>
                </a:solidFill>
                <a:effectLst/>
                <a:uFillTx/>
                <a:latin typeface="Arial"/>
                <a:ea typeface="ＭＳ Ｐゴシック"/>
              </a:rPr>
              <a:t>Points </a:t>
            </a:r>
            <a:r>
              <a:rPr b="0" i="1" lang="en-US" sz="2400" strike="noStrike" u="none">
                <a:solidFill>
                  <a:schemeClr val="dk1"/>
                </a:solidFill>
                <a:effectLst/>
                <a:uFillTx/>
                <a:latin typeface="Arial"/>
                <a:ea typeface="ＭＳ Ｐゴシック"/>
              </a:rPr>
              <a:t>A</a:t>
            </a:r>
            <a:r>
              <a:rPr b="0" lang="en-US" sz="2400" strike="noStrike" u="none">
                <a:solidFill>
                  <a:schemeClr val="dk1"/>
                </a:solidFill>
                <a:effectLst/>
                <a:uFillTx/>
                <a:latin typeface="Arial"/>
                <a:ea typeface="ＭＳ Ｐゴシック"/>
              </a:rPr>
              <a:t> through </a:t>
            </a:r>
            <a:r>
              <a:rPr b="0" i="1" lang="en-US" sz="2400" strike="noStrike" u="none">
                <a:solidFill>
                  <a:schemeClr val="dk1"/>
                </a:solidFill>
                <a:effectLst/>
                <a:uFillTx/>
                <a:latin typeface="Arial"/>
                <a:ea typeface="ＭＳ Ｐゴシック"/>
              </a:rPr>
              <a:t>E</a:t>
            </a:r>
            <a:r>
              <a:rPr b="0" lang="en-US" sz="2400" strike="noStrike" u="none">
                <a:solidFill>
                  <a:schemeClr val="dk1"/>
                </a:solidFill>
                <a:effectLst/>
                <a:uFillTx/>
                <a:latin typeface="Arial"/>
                <a:ea typeface="ＭＳ Ｐゴシック"/>
              </a:rPr>
              <a:t> on the graph represent the rows of the table.</a:t>
            </a:r>
            <a:endParaRPr b="0" lang="en-US" sz="2400" strike="noStrike" u="none">
              <a:solidFill>
                <a:srgbClr val="000000"/>
              </a:solidFill>
              <a:effectLst/>
              <a:uFillTx/>
              <a:latin typeface="Arial"/>
            </a:endParaRPr>
          </a:p>
          <a:p>
            <a:pPr marL="360000">
              <a:lnSpc>
                <a:spcPct val="100000"/>
              </a:lnSpc>
              <a:spcBef>
                <a:spcPts val="601"/>
              </a:spcBef>
              <a:spcAft>
                <a:spcPts val="601"/>
              </a:spcAft>
            </a:pPr>
            <a:r>
              <a:rPr b="0" lang="en-US" sz="2400" strike="noStrike" u="none">
                <a:solidFill>
                  <a:schemeClr val="dk1"/>
                </a:solidFill>
                <a:effectLst/>
                <a:uFillTx/>
                <a:latin typeface="Arial"/>
                <a:ea typeface="ＭＳ Ｐゴシック"/>
              </a:rPr>
              <a:t>The line passing through the points is Tina’s budget line.</a:t>
            </a:r>
            <a:endParaRPr b="0" lang="en-US" sz="2400" strike="noStrike" u="none">
              <a:solidFill>
                <a:srgbClr val="000000"/>
              </a:solidFill>
              <a:effectLst/>
              <a:uFillTx/>
              <a:latin typeface="Arial"/>
            </a:endParaRPr>
          </a:p>
        </p:txBody>
      </p:sp>
    </p:spTree>
  </p:cSld>
  <p:transition spd="slow">
    <p:wipe dir="r"/>
  </p:transition>
  <p:timing>
    <p:tnLst>
      <p:par>
        <p:cTn id="50" dur="indefinite" restart="never" nodeType="tmRoot">
          <p:childTnLst>
            <p:seq>
              <p:cTn id="51" dur="indefinite" nodeType="mainSeq">
                <p:childTnLst>
                  <p:par>
                    <p:cTn id="52" nodeType="clickEffect" fill="hold">
                      <p:stCondLst>
                        <p:cond delay="indefinite"/>
                      </p:stCondLst>
                      <p:childTnLst>
                        <p:par>
                          <p:cTn id="53" nodeType="withEffect" fill="hold">
                            <p:stCondLst>
                              <p:cond delay="0"/>
                            </p:stCondLst>
                            <p:childTnLst>
                              <p:par>
                                <p:cTn id="54" nodeType="clickEffect" fill="hold" presetClass="entr" presetID="22" presetSubtype="8">
                                  <p:stCondLst>
                                    <p:cond delay="0"/>
                                  </p:stCondLst>
                                  <p:childTnLst>
                                    <p:set>
                                      <p:cBhvr>
                                        <p:cTn id="55" dur="1" fill="hold">
                                          <p:stCondLst>
                                            <p:cond delay="0"/>
                                          </p:stCondLst>
                                        </p:cTn>
                                        <p:tgtEl>
                                          <p:spTgt spid="58">
                                            <p:txEl>
                                              <p:pRg st="0" end="0"/>
                                            </p:txEl>
                                          </p:spTgt>
                                        </p:tgtEl>
                                        <p:attrNameLst>
                                          <p:attrName>style.visibility</p:attrName>
                                        </p:attrNameLst>
                                      </p:cBhvr>
                                      <p:to>
                                        <p:strVal val="visible"/>
                                      </p:to>
                                    </p:set>
                                    <p:animEffect filter="wipe(left)" transition="in">
                                      <p:cBhvr additive="repl">
                                        <p:cTn id="56" dur="500"/>
                                        <p:tgtEl>
                                          <p:spTgt spid="58">
                                            <p:txEl>
                                              <p:pRg st="0" end="0"/>
                                            </p:txEl>
                                          </p:spTgt>
                                        </p:tgtEl>
                                      </p:cBhvr>
                                    </p:animEffect>
                                  </p:childTnLst>
                                </p:cTn>
                              </p:par>
                              <p:par>
                                <p:cTn id="57" nodeType="withEffect" fill="hold" presetClass="entr" presetID="22" presetSubtype="8">
                                  <p:stCondLst>
                                    <p:cond delay="0"/>
                                  </p:stCondLst>
                                  <p:childTnLst>
                                    <p:set>
                                      <p:cBhvr>
                                        <p:cTn id="58" dur="1" fill="hold">
                                          <p:stCondLst>
                                            <p:cond delay="0"/>
                                          </p:stCondLst>
                                        </p:cTn>
                                        <p:tgtEl>
                                          <p:spTgt spid="50"/>
                                        </p:tgtEl>
                                        <p:attrNameLst>
                                          <p:attrName>style.visibility</p:attrName>
                                        </p:attrNameLst>
                                      </p:cBhvr>
                                      <p:to>
                                        <p:strVal val="visible"/>
                                      </p:to>
                                    </p:set>
                                    <p:animEffect filter="wipe(left)" transition="in">
                                      <p:cBhvr additive="repl">
                                        <p:cTn id="59" dur="1000"/>
                                        <p:tgtEl>
                                          <p:spTgt spid="50"/>
                                        </p:tgtEl>
                                      </p:cBhvr>
                                    </p:animEffect>
                                  </p:childTnLst>
                                </p:cTn>
                              </p:par>
                              <p:par>
                                <p:cTn id="60" nodeType="withEffect" fill="hold" presetClass="entr" presetID="22" presetSubtype="8">
                                  <p:stCondLst>
                                    <p:cond delay="600"/>
                                  </p:stCondLst>
                                  <p:childTnLst>
                                    <p:set>
                                      <p:cBhvr>
                                        <p:cTn id="61" dur="1" fill="hold">
                                          <p:stCondLst>
                                            <p:cond delay="0"/>
                                          </p:stCondLst>
                                        </p:cTn>
                                        <p:tgtEl>
                                          <p:spTgt spid="51"/>
                                        </p:tgtEl>
                                        <p:attrNameLst>
                                          <p:attrName>style.visibility</p:attrName>
                                        </p:attrNameLst>
                                      </p:cBhvr>
                                      <p:to>
                                        <p:strVal val="visible"/>
                                      </p:to>
                                    </p:set>
                                    <p:animEffect filter="wipe(left)" transition="in">
                                      <p:cBhvr additive="repl">
                                        <p:cTn id="62" dur="1000"/>
                                        <p:tgtEl>
                                          <p:spTgt spid="51"/>
                                        </p:tgtEl>
                                      </p:cBhvr>
                                    </p:animEffect>
                                  </p:childTnLst>
                                </p:cTn>
                              </p:par>
                              <p:par>
                                <p:cTn id="63" nodeType="withEffect" fill="hold" presetClass="entr" presetID="22" presetSubtype="8">
                                  <p:stCondLst>
                                    <p:cond delay="1200"/>
                                  </p:stCondLst>
                                  <p:childTnLst>
                                    <p:set>
                                      <p:cBhvr>
                                        <p:cTn id="64" dur="1" fill="hold">
                                          <p:stCondLst>
                                            <p:cond delay="0"/>
                                          </p:stCondLst>
                                        </p:cTn>
                                        <p:tgtEl>
                                          <p:spTgt spid="52"/>
                                        </p:tgtEl>
                                        <p:attrNameLst>
                                          <p:attrName>style.visibility</p:attrName>
                                        </p:attrNameLst>
                                      </p:cBhvr>
                                      <p:to>
                                        <p:strVal val="visible"/>
                                      </p:to>
                                    </p:set>
                                    <p:animEffect filter="wipe(left)" transition="in">
                                      <p:cBhvr additive="repl">
                                        <p:cTn id="65" dur="1000"/>
                                        <p:tgtEl>
                                          <p:spTgt spid="52"/>
                                        </p:tgtEl>
                                      </p:cBhvr>
                                    </p:animEffect>
                                  </p:childTnLst>
                                </p:cTn>
                              </p:par>
                              <p:par>
                                <p:cTn id="66" nodeType="withEffect" fill="hold" presetClass="entr" presetID="22" presetSubtype="8">
                                  <p:stCondLst>
                                    <p:cond delay="1700"/>
                                  </p:stCondLst>
                                  <p:childTnLst>
                                    <p:set>
                                      <p:cBhvr>
                                        <p:cTn id="67" dur="1" fill="hold">
                                          <p:stCondLst>
                                            <p:cond delay="0"/>
                                          </p:stCondLst>
                                        </p:cTn>
                                        <p:tgtEl>
                                          <p:spTgt spid="53"/>
                                        </p:tgtEl>
                                        <p:attrNameLst>
                                          <p:attrName>style.visibility</p:attrName>
                                        </p:attrNameLst>
                                      </p:cBhvr>
                                      <p:to>
                                        <p:strVal val="visible"/>
                                      </p:to>
                                    </p:set>
                                    <p:animEffect filter="wipe(left)" transition="in">
                                      <p:cBhvr additive="repl">
                                        <p:cTn id="68" dur="1000"/>
                                        <p:tgtEl>
                                          <p:spTgt spid="53"/>
                                        </p:tgtEl>
                                      </p:cBhvr>
                                    </p:animEffect>
                                  </p:childTnLst>
                                </p:cTn>
                              </p:par>
                              <p:par>
                                <p:cTn id="69" nodeType="withEffect" fill="hold" presetClass="entr" presetID="22" presetSubtype="8">
                                  <p:stCondLst>
                                    <p:cond delay="2200"/>
                                  </p:stCondLst>
                                  <p:childTnLst>
                                    <p:set>
                                      <p:cBhvr>
                                        <p:cTn id="70" dur="1" fill="hold">
                                          <p:stCondLst>
                                            <p:cond delay="0"/>
                                          </p:stCondLst>
                                        </p:cTn>
                                        <p:tgtEl>
                                          <p:spTgt spid="54"/>
                                        </p:tgtEl>
                                        <p:attrNameLst>
                                          <p:attrName>style.visibility</p:attrName>
                                        </p:attrNameLst>
                                      </p:cBhvr>
                                      <p:to>
                                        <p:strVal val="visible"/>
                                      </p:to>
                                    </p:set>
                                    <p:animEffect filter="wipe(left)" transition="in">
                                      <p:cBhvr additive="repl">
                                        <p:cTn id="71" dur="1000"/>
                                        <p:tgtEl>
                                          <p:spTgt spid="54"/>
                                        </p:tgtEl>
                                      </p:cBhvr>
                                    </p:animEffect>
                                  </p:childTnLst>
                                </p:cTn>
                              </p:par>
                            </p:childTnLst>
                          </p:cTn>
                        </p:par>
                      </p:childTnLst>
                    </p:cTn>
                  </p:par>
                  <p:par>
                    <p:cTn id="72" nodeType="clickEffect" fill="hold">
                      <p:stCondLst>
                        <p:cond delay="indefinite"/>
                      </p:stCondLst>
                      <p:childTnLst>
                        <p:par>
                          <p:cTn id="73" nodeType="withEffect" fill="hold">
                            <p:stCondLst>
                              <p:cond delay="0"/>
                            </p:stCondLst>
                            <p:childTnLst>
                              <p:par>
                                <p:cTn id="74" nodeType="clickEffect" fill="hold" presetClass="entr" presetID="22" presetSubtype="8">
                                  <p:stCondLst>
                                    <p:cond delay="0"/>
                                  </p:stCondLst>
                                  <p:childTnLst>
                                    <p:set>
                                      <p:cBhvr>
                                        <p:cTn id="75" dur="1" fill="hold">
                                          <p:stCondLst>
                                            <p:cond delay="0"/>
                                          </p:stCondLst>
                                        </p:cTn>
                                        <p:tgtEl>
                                          <p:spTgt spid="58">
                                            <p:txEl>
                                              <p:pRg st="1" end="1"/>
                                            </p:txEl>
                                          </p:spTgt>
                                        </p:tgtEl>
                                        <p:attrNameLst>
                                          <p:attrName>style.visibility</p:attrName>
                                        </p:attrNameLst>
                                      </p:cBhvr>
                                      <p:to>
                                        <p:strVal val="visible"/>
                                      </p:to>
                                    </p:set>
                                    <p:animEffect filter="wipe(left)" transition="in">
                                      <p:cBhvr additive="repl">
                                        <p:cTn id="76" dur="500"/>
                                        <p:tgtEl>
                                          <p:spTgt spid="58">
                                            <p:txEl>
                                              <p:pRg st="1" end="1"/>
                                            </p:txEl>
                                          </p:spTgt>
                                        </p:tgtEl>
                                      </p:cBhvr>
                                    </p:animEffect>
                                  </p:childTnLst>
                                </p:cTn>
                              </p:par>
                              <p:par>
                                <p:cTn id="77" nodeType="withEffect" fill="hold" presetClass="entr" presetID="22" presetSubtype="8">
                                  <p:stCondLst>
                                    <p:cond delay="0"/>
                                  </p:stCondLst>
                                  <p:childTnLst>
                                    <p:set>
                                      <p:cBhvr>
                                        <p:cTn id="78" dur="1" fill="hold">
                                          <p:stCondLst>
                                            <p:cond delay="0"/>
                                          </p:stCondLst>
                                        </p:cTn>
                                        <p:tgtEl>
                                          <p:spTgt spid="55"/>
                                        </p:tgtEl>
                                        <p:attrNameLst>
                                          <p:attrName>style.visibility</p:attrName>
                                        </p:attrNameLst>
                                      </p:cBhvr>
                                      <p:to>
                                        <p:strVal val="visible"/>
                                      </p:to>
                                    </p:set>
                                    <p:animEffect filter="wipe(left)" transition="in">
                                      <p:cBhvr additive="repl">
                                        <p:cTn id="79" dur="1000"/>
                                        <p:tgtEl>
                                          <p:spTgt spid="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59" name="Picture 1" descr="fig1201a.gif"/>
          <p:cNvPicPr/>
          <p:nvPr/>
        </p:nvPicPr>
        <p:blipFill>
          <a:blip r:embed="rId1"/>
          <a:stretch/>
        </p:blipFill>
        <p:spPr>
          <a:xfrm>
            <a:off x="228600" y="838080"/>
            <a:ext cx="8379720" cy="5496840"/>
          </a:xfrm>
          <a:prstGeom prst="rect">
            <a:avLst/>
          </a:prstGeom>
          <a:noFill/>
          <a:ln w="0">
            <a:noFill/>
          </a:ln>
        </p:spPr>
      </p:pic>
      <p:pic>
        <p:nvPicPr>
          <p:cNvPr id="60" name="Picture 2" descr="fig1201b.gif"/>
          <p:cNvPicPr/>
          <p:nvPr/>
        </p:nvPicPr>
        <p:blipFill>
          <a:blip r:embed="rId2"/>
          <a:stretch/>
        </p:blipFill>
        <p:spPr>
          <a:xfrm>
            <a:off x="228600" y="838080"/>
            <a:ext cx="8379720" cy="5496840"/>
          </a:xfrm>
          <a:prstGeom prst="rect">
            <a:avLst/>
          </a:prstGeom>
          <a:noFill/>
          <a:ln w="0">
            <a:noFill/>
          </a:ln>
        </p:spPr>
      </p:pic>
      <p:pic>
        <p:nvPicPr>
          <p:cNvPr id="61" name="Picture 3" descr="fig1201c.gif"/>
          <p:cNvPicPr/>
          <p:nvPr/>
        </p:nvPicPr>
        <p:blipFill>
          <a:blip r:embed="rId3"/>
          <a:stretch/>
        </p:blipFill>
        <p:spPr>
          <a:xfrm>
            <a:off x="228600" y="838080"/>
            <a:ext cx="8379720" cy="5496840"/>
          </a:xfrm>
          <a:prstGeom prst="rect">
            <a:avLst/>
          </a:prstGeom>
          <a:noFill/>
          <a:ln w="0">
            <a:noFill/>
          </a:ln>
        </p:spPr>
      </p:pic>
      <p:pic>
        <p:nvPicPr>
          <p:cNvPr id="62" name="Picture 4" descr="fig1201d.gif"/>
          <p:cNvPicPr/>
          <p:nvPr/>
        </p:nvPicPr>
        <p:blipFill>
          <a:blip r:embed="rId4"/>
          <a:stretch/>
        </p:blipFill>
        <p:spPr>
          <a:xfrm>
            <a:off x="228600" y="838080"/>
            <a:ext cx="8379720" cy="5496840"/>
          </a:xfrm>
          <a:prstGeom prst="rect">
            <a:avLst/>
          </a:prstGeom>
          <a:noFill/>
          <a:ln w="0">
            <a:noFill/>
          </a:ln>
        </p:spPr>
      </p:pic>
      <p:pic>
        <p:nvPicPr>
          <p:cNvPr id="63" name="Picture 5" descr="fig1201e.gif"/>
          <p:cNvPicPr/>
          <p:nvPr/>
        </p:nvPicPr>
        <p:blipFill>
          <a:blip r:embed="rId5"/>
          <a:stretch/>
        </p:blipFill>
        <p:spPr>
          <a:xfrm>
            <a:off x="228600" y="838080"/>
            <a:ext cx="8379720" cy="5496840"/>
          </a:xfrm>
          <a:prstGeom prst="rect">
            <a:avLst/>
          </a:prstGeom>
          <a:noFill/>
          <a:ln w="0">
            <a:noFill/>
          </a:ln>
        </p:spPr>
      </p:pic>
      <p:pic>
        <p:nvPicPr>
          <p:cNvPr id="64" name="Picture 6" descr="fig1201f.gif"/>
          <p:cNvPicPr/>
          <p:nvPr/>
        </p:nvPicPr>
        <p:blipFill>
          <a:blip r:embed="rId6"/>
          <a:stretch/>
        </p:blipFill>
        <p:spPr>
          <a:xfrm>
            <a:off x="228600" y="838080"/>
            <a:ext cx="8379720" cy="5496840"/>
          </a:xfrm>
          <a:prstGeom prst="rect">
            <a:avLst/>
          </a:prstGeom>
          <a:noFill/>
          <a:ln w="0">
            <a:noFill/>
          </a:ln>
        </p:spPr>
      </p:pic>
      <p:pic>
        <p:nvPicPr>
          <p:cNvPr id="65" name="Picture 7" descr="fig1201g.gif"/>
          <p:cNvPicPr/>
          <p:nvPr/>
        </p:nvPicPr>
        <p:blipFill>
          <a:blip r:embed="rId7"/>
          <a:stretch/>
        </p:blipFill>
        <p:spPr>
          <a:xfrm>
            <a:off x="228600" y="838080"/>
            <a:ext cx="8379720" cy="5496840"/>
          </a:xfrm>
          <a:prstGeom prst="rect">
            <a:avLst/>
          </a:prstGeom>
          <a:noFill/>
          <a:ln w="0">
            <a:noFill/>
          </a:ln>
        </p:spPr>
      </p:pic>
      <p:pic>
        <p:nvPicPr>
          <p:cNvPr id="66" name="Picture 8" descr="fig1201h.gif"/>
          <p:cNvPicPr/>
          <p:nvPr/>
        </p:nvPicPr>
        <p:blipFill>
          <a:blip r:embed="rId8"/>
          <a:stretch/>
        </p:blipFill>
        <p:spPr>
          <a:xfrm>
            <a:off x="228600" y="838080"/>
            <a:ext cx="8379720" cy="5496840"/>
          </a:xfrm>
          <a:prstGeom prst="rect">
            <a:avLst/>
          </a:prstGeom>
          <a:noFill/>
          <a:ln w="0">
            <a:noFill/>
          </a:ln>
        </p:spPr>
      </p:pic>
      <p:pic>
        <p:nvPicPr>
          <p:cNvPr id="67" name="Picture 9" descr="fig1201i.gif"/>
          <p:cNvPicPr/>
          <p:nvPr/>
        </p:nvPicPr>
        <p:blipFill>
          <a:blip r:embed="rId9"/>
          <a:stretch/>
        </p:blipFill>
        <p:spPr>
          <a:xfrm>
            <a:off x="228600" y="838080"/>
            <a:ext cx="8379720" cy="5496840"/>
          </a:xfrm>
          <a:prstGeom prst="rect">
            <a:avLst/>
          </a:prstGeom>
          <a:noFill/>
          <a:ln w="0">
            <a:noFill/>
          </a:ln>
        </p:spPr>
      </p:pic>
    </p:spTree>
  </p:cSld>
  <p:transition spd="slow">
    <p:wipe dir="r"/>
  </p:transition>
  <p:timing>
    <p:tnLst>
      <p:par>
        <p:cTn id="80" dur="indefinite" restart="never" nodeType="tmRoot">
          <p:childTnLst>
            <p:seq>
              <p:cTn id="81" dur="indefinite" nodeType="mainSeq">
                <p:childTnLst>
                  <p:par>
                    <p:cTn id="82" nodeType="clickEffect" fill="hold">
                      <p:stCondLst>
                        <p:cond delay="indefinite"/>
                      </p:stCondLst>
                      <p:childTnLst>
                        <p:par>
                          <p:cTn id="83" nodeType="withEffect" fill="hold">
                            <p:stCondLst>
                              <p:cond delay="0"/>
                            </p:stCondLst>
                            <p:childTnLst>
                              <p:par>
                                <p:cTn id="84" nodeType="clickEffect" fill="hold" presetClass="entr" presetID="22" presetSubtype="8">
                                  <p:stCondLst>
                                    <p:cond delay="0"/>
                                  </p:stCondLst>
                                  <p:childTnLst>
                                    <p:set>
                                      <p:cBhvr>
                                        <p:cTn id="85" dur="1" fill="hold">
                                          <p:stCondLst>
                                            <p:cond delay="0"/>
                                          </p:stCondLst>
                                        </p:cTn>
                                        <p:tgtEl>
                                          <p:spTgt spid="60"/>
                                        </p:tgtEl>
                                        <p:attrNameLst>
                                          <p:attrName>style.visibility</p:attrName>
                                        </p:attrNameLst>
                                      </p:cBhvr>
                                      <p:to>
                                        <p:strVal val="visible"/>
                                      </p:to>
                                    </p:set>
                                    <p:animEffect filter="wipe(left)" transition="in">
                                      <p:cBhvr additive="repl">
                                        <p:cTn id="86" dur="1000"/>
                                        <p:tgtEl>
                                          <p:spTgt spid="60"/>
                                        </p:tgtEl>
                                      </p:cBhvr>
                                    </p:animEffect>
                                  </p:childTnLst>
                                </p:cTn>
                              </p:par>
                            </p:childTnLst>
                          </p:cTn>
                        </p:par>
                      </p:childTnLst>
                    </p:cTn>
                  </p:par>
                  <p:par>
                    <p:cTn id="87" nodeType="clickEffect" fill="hold">
                      <p:stCondLst>
                        <p:cond delay="indefinite"/>
                      </p:stCondLst>
                      <p:childTnLst>
                        <p:par>
                          <p:cTn id="88" nodeType="withEffect" fill="hold">
                            <p:stCondLst>
                              <p:cond delay="0"/>
                            </p:stCondLst>
                            <p:childTnLst>
                              <p:par>
                                <p:cTn id="89" nodeType="clickEffect" fill="hold" presetClass="entr" presetID="22" presetSubtype="8">
                                  <p:stCondLst>
                                    <p:cond delay="0"/>
                                  </p:stCondLst>
                                  <p:childTnLst>
                                    <p:set>
                                      <p:cBhvr>
                                        <p:cTn id="90" dur="1" fill="hold">
                                          <p:stCondLst>
                                            <p:cond delay="0"/>
                                          </p:stCondLst>
                                        </p:cTn>
                                        <p:tgtEl>
                                          <p:spTgt spid="61"/>
                                        </p:tgtEl>
                                        <p:attrNameLst>
                                          <p:attrName>style.visibility</p:attrName>
                                        </p:attrNameLst>
                                      </p:cBhvr>
                                      <p:to>
                                        <p:strVal val="visible"/>
                                      </p:to>
                                    </p:set>
                                    <p:animEffect filter="wipe(left)" transition="in">
                                      <p:cBhvr additive="repl">
                                        <p:cTn id="91" dur="1000"/>
                                        <p:tgtEl>
                                          <p:spTgt spid="61"/>
                                        </p:tgtEl>
                                      </p:cBhvr>
                                    </p:animEffect>
                                  </p:childTnLst>
                                </p:cTn>
                              </p:par>
                            </p:childTnLst>
                          </p:cTn>
                        </p:par>
                      </p:childTnLst>
                    </p:cTn>
                  </p:par>
                  <p:par>
                    <p:cTn id="92" nodeType="clickEffect" fill="hold">
                      <p:stCondLst>
                        <p:cond delay="indefinite"/>
                      </p:stCondLst>
                      <p:childTnLst>
                        <p:par>
                          <p:cTn id="93" nodeType="withEffect" fill="hold">
                            <p:stCondLst>
                              <p:cond delay="0"/>
                            </p:stCondLst>
                            <p:childTnLst>
                              <p:par>
                                <p:cTn id="94" nodeType="clickEffect" fill="hold" presetClass="entr" presetID="22" presetSubtype="8">
                                  <p:stCondLst>
                                    <p:cond delay="0"/>
                                  </p:stCondLst>
                                  <p:childTnLst>
                                    <p:set>
                                      <p:cBhvr>
                                        <p:cTn id="95" dur="1" fill="hold">
                                          <p:stCondLst>
                                            <p:cond delay="0"/>
                                          </p:stCondLst>
                                        </p:cTn>
                                        <p:tgtEl>
                                          <p:spTgt spid="62"/>
                                        </p:tgtEl>
                                        <p:attrNameLst>
                                          <p:attrName>style.visibility</p:attrName>
                                        </p:attrNameLst>
                                      </p:cBhvr>
                                      <p:to>
                                        <p:strVal val="visible"/>
                                      </p:to>
                                    </p:set>
                                    <p:animEffect filter="wipe(left)" transition="in">
                                      <p:cBhvr additive="repl">
                                        <p:cTn id="96" dur="1000"/>
                                        <p:tgtEl>
                                          <p:spTgt spid="62"/>
                                        </p:tgtEl>
                                      </p:cBhvr>
                                    </p:animEffect>
                                  </p:childTnLst>
                                </p:cTn>
                              </p:par>
                            </p:childTnLst>
                          </p:cTn>
                        </p:par>
                      </p:childTnLst>
                    </p:cTn>
                  </p:par>
                  <p:par>
                    <p:cTn id="97" nodeType="clickEffect" fill="hold">
                      <p:stCondLst>
                        <p:cond delay="indefinite"/>
                      </p:stCondLst>
                      <p:childTnLst>
                        <p:par>
                          <p:cTn id="98" nodeType="withEffect" fill="hold">
                            <p:stCondLst>
                              <p:cond delay="0"/>
                            </p:stCondLst>
                            <p:childTnLst>
                              <p:par>
                                <p:cTn id="99" nodeType="clickEffect" fill="hold" presetClass="entr" presetID="22" presetSubtype="8">
                                  <p:stCondLst>
                                    <p:cond delay="0"/>
                                  </p:stCondLst>
                                  <p:childTnLst>
                                    <p:set>
                                      <p:cBhvr>
                                        <p:cTn id="100" dur="1" fill="hold">
                                          <p:stCondLst>
                                            <p:cond delay="0"/>
                                          </p:stCondLst>
                                        </p:cTn>
                                        <p:tgtEl>
                                          <p:spTgt spid="63"/>
                                        </p:tgtEl>
                                        <p:attrNameLst>
                                          <p:attrName>style.visibility</p:attrName>
                                        </p:attrNameLst>
                                      </p:cBhvr>
                                      <p:to>
                                        <p:strVal val="visible"/>
                                      </p:to>
                                    </p:set>
                                    <p:animEffect filter="wipe(left)" transition="in">
                                      <p:cBhvr additive="repl">
                                        <p:cTn id="101" dur="1000"/>
                                        <p:tgtEl>
                                          <p:spTgt spid="63"/>
                                        </p:tgtEl>
                                      </p:cBhvr>
                                    </p:animEffect>
                                  </p:childTnLst>
                                </p:cTn>
                              </p:par>
                            </p:childTnLst>
                          </p:cTn>
                        </p:par>
                      </p:childTnLst>
                    </p:cTn>
                  </p:par>
                  <p:par>
                    <p:cTn id="102" nodeType="clickEffect" fill="hold">
                      <p:stCondLst>
                        <p:cond delay="indefinite"/>
                      </p:stCondLst>
                      <p:childTnLst>
                        <p:par>
                          <p:cTn id="103" nodeType="withEffect" fill="hold">
                            <p:stCondLst>
                              <p:cond delay="0"/>
                            </p:stCondLst>
                            <p:childTnLst>
                              <p:par>
                                <p:cTn id="104" nodeType="clickEffect" fill="hold" presetClass="entr" presetID="22" presetSubtype="8">
                                  <p:stCondLst>
                                    <p:cond delay="0"/>
                                  </p:stCondLst>
                                  <p:childTnLst>
                                    <p:set>
                                      <p:cBhvr>
                                        <p:cTn id="105" dur="1" fill="hold">
                                          <p:stCondLst>
                                            <p:cond delay="0"/>
                                          </p:stCondLst>
                                        </p:cTn>
                                        <p:tgtEl>
                                          <p:spTgt spid="64"/>
                                        </p:tgtEl>
                                        <p:attrNameLst>
                                          <p:attrName>style.visibility</p:attrName>
                                        </p:attrNameLst>
                                      </p:cBhvr>
                                      <p:to>
                                        <p:strVal val="visible"/>
                                      </p:to>
                                    </p:set>
                                    <p:animEffect filter="wipe(left)" transition="in">
                                      <p:cBhvr additive="repl">
                                        <p:cTn id="106" dur="1000"/>
                                        <p:tgtEl>
                                          <p:spTgt spid="64"/>
                                        </p:tgtEl>
                                      </p:cBhvr>
                                    </p:animEffect>
                                  </p:childTnLst>
                                </p:cTn>
                              </p:par>
                            </p:childTnLst>
                          </p:cTn>
                        </p:par>
                      </p:childTnLst>
                    </p:cTn>
                  </p:par>
                  <p:par>
                    <p:cTn id="107" nodeType="clickEffect" fill="hold">
                      <p:stCondLst>
                        <p:cond delay="indefinite"/>
                      </p:stCondLst>
                      <p:childTnLst>
                        <p:par>
                          <p:cTn id="108" nodeType="withEffect" fill="hold">
                            <p:stCondLst>
                              <p:cond delay="0"/>
                            </p:stCondLst>
                            <p:childTnLst>
                              <p:par>
                                <p:cTn id="109" nodeType="clickEffect" fill="hold" presetClass="entr" presetID="22" presetSubtype="8">
                                  <p:stCondLst>
                                    <p:cond delay="0"/>
                                  </p:stCondLst>
                                  <p:childTnLst>
                                    <p:set>
                                      <p:cBhvr>
                                        <p:cTn id="110" dur="1" fill="hold">
                                          <p:stCondLst>
                                            <p:cond delay="0"/>
                                          </p:stCondLst>
                                        </p:cTn>
                                        <p:tgtEl>
                                          <p:spTgt spid="65"/>
                                        </p:tgtEl>
                                        <p:attrNameLst>
                                          <p:attrName>style.visibility</p:attrName>
                                        </p:attrNameLst>
                                      </p:cBhvr>
                                      <p:to>
                                        <p:strVal val="visible"/>
                                      </p:to>
                                    </p:set>
                                    <p:animEffect filter="wipe(left)" transition="in">
                                      <p:cBhvr additive="repl">
                                        <p:cTn id="111" dur="1000"/>
                                        <p:tgtEl>
                                          <p:spTgt spid="65"/>
                                        </p:tgtEl>
                                      </p:cBhvr>
                                    </p:animEffect>
                                  </p:childTnLst>
                                </p:cTn>
                              </p:par>
                            </p:childTnLst>
                          </p:cTn>
                        </p:par>
                      </p:childTnLst>
                    </p:cTn>
                  </p:par>
                  <p:par>
                    <p:cTn id="112" nodeType="clickEffect" fill="hold">
                      <p:stCondLst>
                        <p:cond delay="indefinite"/>
                      </p:stCondLst>
                      <p:childTnLst>
                        <p:par>
                          <p:cTn id="113" nodeType="withEffect" fill="hold">
                            <p:stCondLst>
                              <p:cond delay="0"/>
                            </p:stCondLst>
                            <p:childTnLst>
                              <p:par>
                                <p:cTn id="114" nodeType="clickEffect" fill="hold" presetClass="entr" presetID="10">
                                  <p:stCondLst>
                                    <p:cond delay="0"/>
                                  </p:stCondLst>
                                  <p:childTnLst>
                                    <p:set>
                                      <p:cBhvr>
                                        <p:cTn id="115" dur="1" fill="hold">
                                          <p:stCondLst>
                                            <p:cond delay="0"/>
                                          </p:stCondLst>
                                        </p:cTn>
                                        <p:tgtEl>
                                          <p:spTgt spid="66"/>
                                        </p:tgtEl>
                                        <p:attrNameLst>
                                          <p:attrName>style.visibility</p:attrName>
                                        </p:attrNameLst>
                                      </p:cBhvr>
                                      <p:to>
                                        <p:strVal val="visible"/>
                                      </p:to>
                                    </p:set>
                                    <p:animEffect filter="fade" transition="in">
                                      <p:cBhvr additive="repl">
                                        <p:cTn id="116" dur="500"/>
                                        <p:tgtEl>
                                          <p:spTgt spid="66"/>
                                        </p:tgtEl>
                                      </p:cBhvr>
                                    </p:animEffect>
                                  </p:childTnLst>
                                </p:cTn>
                              </p:par>
                            </p:childTnLst>
                          </p:cTn>
                        </p:par>
                      </p:childTnLst>
                    </p:cTn>
                  </p:par>
                  <p:par>
                    <p:cTn id="117" nodeType="clickEffect" fill="hold">
                      <p:stCondLst>
                        <p:cond delay="indefinite"/>
                      </p:stCondLst>
                      <p:childTnLst>
                        <p:par>
                          <p:cTn id="118" nodeType="withEffect" fill="hold">
                            <p:stCondLst>
                              <p:cond delay="0"/>
                            </p:stCondLst>
                            <p:childTnLst>
                              <p:par>
                                <p:cTn id="119" nodeType="clickEffect" fill="hold" presetClass="entr" presetID="10">
                                  <p:stCondLst>
                                    <p:cond delay="0"/>
                                  </p:stCondLst>
                                  <p:childTnLst>
                                    <p:set>
                                      <p:cBhvr>
                                        <p:cTn id="120" dur="1" fill="hold">
                                          <p:stCondLst>
                                            <p:cond delay="0"/>
                                          </p:stCondLst>
                                        </p:cTn>
                                        <p:tgtEl>
                                          <p:spTgt spid="67"/>
                                        </p:tgtEl>
                                        <p:attrNameLst>
                                          <p:attrName>style.visibility</p:attrName>
                                        </p:attrNameLst>
                                      </p:cBhvr>
                                      <p:to>
                                        <p:strVal val="visible"/>
                                      </p:to>
                                    </p:set>
                                    <p:animEffect filter="fade" transition="in">
                                      <p:cBhvr additive="repl">
                                        <p:cTn id="121" dur="500"/>
                                        <p:tgtEl>
                                          <p:spTgt spid="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13.1  CONSUMPTION POSSIBILITIES</a:t>
            </a:r>
            <a:endParaRPr b="0" lang="en-US" sz="2600" strike="noStrike" u="none">
              <a:solidFill>
                <a:srgbClr val="000000"/>
              </a:solidFill>
              <a:effectLst/>
              <a:uFillTx/>
              <a:latin typeface="Arial"/>
            </a:endParaRPr>
          </a:p>
        </p:txBody>
      </p:sp>
      <p:sp>
        <p:nvSpPr>
          <p:cNvPr id="69" name="PlaceHolder 2"/>
          <p:cNvSpPr>
            <a:spLocks noGrp="1"/>
          </p:cNvSpPr>
          <p:nvPr>
            <p:ph/>
          </p:nvPr>
        </p:nvSpPr>
        <p:spPr>
          <a:xfrm>
            <a:off x="360360" y="1440000"/>
            <a:ext cx="8554320" cy="4647600"/>
          </a:xfrm>
          <a:prstGeom prst="rect">
            <a:avLst/>
          </a:prstGeom>
          <a:noFill/>
          <a:ln w="0">
            <a:noFill/>
          </a:ln>
        </p:spPr>
        <p:txBody>
          <a:bodyPr numCol="1" spcCol="0" lIns="91440" rIns="91440" tIns="45720" bIns="45720" anchor="t">
            <a:noAutofit/>
          </a:bodyPr>
          <a:p>
            <a:pPr marL="360000" indent="0">
              <a:lnSpc>
                <a:spcPct val="100000"/>
              </a:lnSpc>
              <a:buNone/>
              <a:tabLst>
                <a:tab algn="l" pos="0"/>
              </a:tabLst>
            </a:pPr>
            <a:r>
              <a:rPr b="0" lang="en-US" sz="2400" strike="noStrike" u="none">
                <a:solidFill>
                  <a:srgbClr val="000000"/>
                </a:solidFill>
                <a:effectLst/>
                <a:uFillTx/>
                <a:latin typeface="Arial"/>
                <a:ea typeface="ＭＳ Ｐゴシック"/>
              </a:rPr>
              <a:t>The budget line separates combinations that are affordable</a:t>
            </a:r>
            <a:endParaRPr b="0" lang="en-US" sz="2400" strike="noStrike" u="none">
              <a:solidFill>
                <a:srgbClr val="000000"/>
              </a:solidFill>
              <a:effectLst/>
              <a:uFillTx/>
              <a:latin typeface="Arial"/>
            </a:endParaRPr>
          </a:p>
          <a:p>
            <a:pPr marL="360000" indent="0">
              <a:lnSpc>
                <a:spcPct val="100000"/>
              </a:lnSpc>
              <a:buNone/>
              <a:tabLst>
                <a:tab algn="l" pos="0"/>
              </a:tabLst>
            </a:pPr>
            <a:r>
              <a:rPr b="0" lang="en-US" sz="2400" strike="noStrike" u="none">
                <a:solidFill>
                  <a:schemeClr val="dk1"/>
                </a:solidFill>
                <a:effectLst/>
                <a:uFillTx/>
                <a:latin typeface="Arial"/>
                <a:ea typeface="ＭＳ Ｐゴシック"/>
              </a:rPr>
              <a:t>from combinations that are unaffordable.</a:t>
            </a:r>
            <a:r>
              <a:rPr b="0" lang="en-US" sz="2400" strike="noStrike" u="none">
                <a:solidFill>
                  <a:srgbClr val="000000"/>
                </a:solidFill>
                <a:effectLst/>
                <a:uFillTx/>
                <a:latin typeface="Arial"/>
                <a:ea typeface="ＭＳ Ｐゴシック"/>
              </a:rPr>
              <a:t> </a:t>
            </a:r>
            <a:endParaRPr b="0" lang="en-US" sz="2400" strike="noStrike" u="none">
              <a:solidFill>
                <a:srgbClr val="000000"/>
              </a:solidFill>
              <a:effectLst/>
              <a:uFillTx/>
              <a:latin typeface="Arial"/>
            </a:endParaRPr>
          </a:p>
          <a:p>
            <a:pPr marL="360000" indent="0">
              <a:lnSpc>
                <a:spcPct val="100000"/>
              </a:lnSpc>
              <a:spcBef>
                <a:spcPts val="561"/>
              </a:spcBef>
              <a:buNone/>
              <a:tabLst>
                <a:tab algn="l" pos="0"/>
              </a:tabLst>
            </a:pPr>
            <a:endParaRPr b="0" lang="en-US" sz="2800" strike="noStrike" u="none">
              <a:solidFill>
                <a:srgbClr val="000000"/>
              </a:solidFill>
              <a:effectLst/>
              <a:uFillTx/>
              <a:latin typeface="Arial"/>
            </a:endParaRPr>
          </a:p>
        </p:txBody>
      </p:sp>
      <p:pic>
        <p:nvPicPr>
          <p:cNvPr id="70" name="Picture 1" descr="fig1201a.gif"/>
          <p:cNvPicPr/>
          <p:nvPr/>
        </p:nvPicPr>
        <p:blipFill>
          <a:blip r:embed="rId1"/>
          <a:stretch/>
        </p:blipFill>
        <p:spPr>
          <a:xfrm>
            <a:off x="2808360" y="2340000"/>
            <a:ext cx="5914440" cy="3879000"/>
          </a:xfrm>
          <a:prstGeom prst="rect">
            <a:avLst/>
          </a:prstGeom>
          <a:noFill/>
          <a:ln w="0">
            <a:noFill/>
          </a:ln>
        </p:spPr>
      </p:pic>
      <p:pic>
        <p:nvPicPr>
          <p:cNvPr id="71" name="Picture 2" descr="fig1201b.gif"/>
          <p:cNvPicPr/>
          <p:nvPr/>
        </p:nvPicPr>
        <p:blipFill>
          <a:blip r:embed="rId2"/>
          <a:stretch/>
        </p:blipFill>
        <p:spPr>
          <a:xfrm>
            <a:off x="2808360" y="2340000"/>
            <a:ext cx="5914440" cy="3879000"/>
          </a:xfrm>
          <a:prstGeom prst="rect">
            <a:avLst/>
          </a:prstGeom>
          <a:noFill/>
          <a:ln w="0">
            <a:noFill/>
          </a:ln>
        </p:spPr>
      </p:pic>
      <p:pic>
        <p:nvPicPr>
          <p:cNvPr id="72" name="Picture 3" descr="fig1201c.gif"/>
          <p:cNvPicPr/>
          <p:nvPr/>
        </p:nvPicPr>
        <p:blipFill>
          <a:blip r:embed="rId3"/>
          <a:stretch/>
        </p:blipFill>
        <p:spPr>
          <a:xfrm>
            <a:off x="2808360" y="2340000"/>
            <a:ext cx="5914440" cy="3879000"/>
          </a:xfrm>
          <a:prstGeom prst="rect">
            <a:avLst/>
          </a:prstGeom>
          <a:noFill/>
          <a:ln w="0">
            <a:noFill/>
          </a:ln>
        </p:spPr>
      </p:pic>
      <p:pic>
        <p:nvPicPr>
          <p:cNvPr id="73" name="Picture 4" descr="fig1201d.gif"/>
          <p:cNvPicPr/>
          <p:nvPr/>
        </p:nvPicPr>
        <p:blipFill>
          <a:blip r:embed="rId4"/>
          <a:stretch/>
        </p:blipFill>
        <p:spPr>
          <a:xfrm>
            <a:off x="2808360" y="2340000"/>
            <a:ext cx="5914440" cy="3879000"/>
          </a:xfrm>
          <a:prstGeom prst="rect">
            <a:avLst/>
          </a:prstGeom>
          <a:noFill/>
          <a:ln w="0">
            <a:noFill/>
          </a:ln>
        </p:spPr>
      </p:pic>
      <p:pic>
        <p:nvPicPr>
          <p:cNvPr id="74" name="Picture 5" descr="fig1201e.gif"/>
          <p:cNvPicPr/>
          <p:nvPr/>
        </p:nvPicPr>
        <p:blipFill>
          <a:blip r:embed="rId5"/>
          <a:stretch/>
        </p:blipFill>
        <p:spPr>
          <a:xfrm>
            <a:off x="2808360" y="2340000"/>
            <a:ext cx="5914440" cy="3879000"/>
          </a:xfrm>
          <a:prstGeom prst="rect">
            <a:avLst/>
          </a:prstGeom>
          <a:noFill/>
          <a:ln w="0">
            <a:noFill/>
          </a:ln>
        </p:spPr>
      </p:pic>
      <p:pic>
        <p:nvPicPr>
          <p:cNvPr id="75" name="Picture 6" descr="fig1201f.gif"/>
          <p:cNvPicPr/>
          <p:nvPr/>
        </p:nvPicPr>
        <p:blipFill>
          <a:blip r:embed="rId6"/>
          <a:stretch/>
        </p:blipFill>
        <p:spPr>
          <a:xfrm>
            <a:off x="2808360" y="2340000"/>
            <a:ext cx="5914440" cy="3879000"/>
          </a:xfrm>
          <a:prstGeom prst="rect">
            <a:avLst/>
          </a:prstGeom>
          <a:noFill/>
          <a:ln w="0">
            <a:noFill/>
          </a:ln>
        </p:spPr>
      </p:pic>
      <p:pic>
        <p:nvPicPr>
          <p:cNvPr id="76" name="Picture 7" descr="fig1201g.gif"/>
          <p:cNvPicPr/>
          <p:nvPr/>
        </p:nvPicPr>
        <p:blipFill>
          <a:blip r:embed="rId7"/>
          <a:stretch/>
        </p:blipFill>
        <p:spPr>
          <a:xfrm>
            <a:off x="2808360" y="2340000"/>
            <a:ext cx="5914440" cy="3879000"/>
          </a:xfrm>
          <a:prstGeom prst="rect">
            <a:avLst/>
          </a:prstGeom>
          <a:noFill/>
          <a:ln w="0">
            <a:noFill/>
          </a:ln>
        </p:spPr>
      </p:pic>
      <p:pic>
        <p:nvPicPr>
          <p:cNvPr id="77" name="Picture 8" descr="fig1201h.gif"/>
          <p:cNvPicPr/>
          <p:nvPr/>
        </p:nvPicPr>
        <p:blipFill>
          <a:blip r:embed="rId8"/>
          <a:stretch/>
        </p:blipFill>
        <p:spPr>
          <a:xfrm>
            <a:off x="2808360" y="2340000"/>
            <a:ext cx="5914440" cy="3879000"/>
          </a:xfrm>
          <a:prstGeom prst="rect">
            <a:avLst/>
          </a:prstGeom>
          <a:noFill/>
          <a:ln w="0">
            <a:noFill/>
          </a:ln>
        </p:spPr>
      </p:pic>
      <p:pic>
        <p:nvPicPr>
          <p:cNvPr id="78" name="Picture 9" descr="fig1201i.gif"/>
          <p:cNvPicPr/>
          <p:nvPr/>
        </p:nvPicPr>
        <p:blipFill>
          <a:blip r:embed="rId9"/>
          <a:stretch/>
        </p:blipFill>
        <p:spPr>
          <a:xfrm>
            <a:off x="2808360" y="2340000"/>
            <a:ext cx="5914440" cy="3879000"/>
          </a:xfrm>
          <a:prstGeom prst="rect">
            <a:avLst/>
          </a:prstGeom>
          <a:noFill/>
          <a:ln w="0">
            <a:noFill/>
          </a:ln>
        </p:spPr>
      </p:pic>
    </p:spTree>
  </p:cSld>
  <p:transition spd="slow">
    <p:wipe dir="r"/>
  </p:transition>
  <p:timing>
    <p:tnLst>
      <p:par>
        <p:cTn id="122" dur="indefinite" restart="never" nodeType="tmRoot">
          <p:childTnLst>
            <p:seq>
              <p:cTn id="123" dur="indefinite" nodeType="mainSeq">
                <p:childTnLst>
                  <p:par>
                    <p:cTn id="124" nodeType="clickEffect" fill="hold">
                      <p:stCondLst>
                        <p:cond delay="0"/>
                      </p:stCondLst>
                      <p:childTnLst>
                        <p:par>
                          <p:cTn id="125" nodeType="withEffect" fill="hold">
                            <p:stCondLst>
                              <p:cond delay="0"/>
                            </p:stCondLst>
                            <p:childTnLst>
                              <p:par>
                                <p:cTn id="126" nodeType="withEffect" fill="hold" presetClass="entr" presetID="10">
                                  <p:stCondLst>
                                    <p:cond delay="0"/>
                                  </p:stCondLst>
                                  <p:childTnLst>
                                    <p:set>
                                      <p:cBhvr>
                                        <p:cTn id="127" dur="1" fill="hold">
                                          <p:stCondLst>
                                            <p:cond delay="0"/>
                                          </p:stCondLst>
                                        </p:cTn>
                                        <p:tgtEl>
                                          <p:spTgt spid="77"/>
                                        </p:tgtEl>
                                        <p:attrNameLst>
                                          <p:attrName>style.visibility</p:attrName>
                                        </p:attrNameLst>
                                      </p:cBhvr>
                                      <p:to>
                                        <p:strVal val="visible"/>
                                      </p:to>
                                    </p:set>
                                    <p:animEffect filter="fade" transition="in">
                                      <p:cBhvr additive="repl">
                                        <p:cTn id="128" dur="500"/>
                                        <p:tgtEl>
                                          <p:spTgt spid="77"/>
                                        </p:tgtEl>
                                      </p:cBhvr>
                                    </p:animEffect>
                                  </p:childTnLst>
                                </p:cTn>
                              </p:par>
                            </p:childTnLst>
                          </p:cTn>
                        </p:par>
                      </p:childTnLst>
                    </p:cTn>
                  </p:par>
                  <p:par>
                    <p:cTn id="129" nodeType="clickEffect" fill="hold">
                      <p:stCondLst>
                        <p:cond delay="indefinite"/>
                      </p:stCondLst>
                      <p:childTnLst>
                        <p:par>
                          <p:cTn id="130" nodeType="withEffect" fill="hold">
                            <p:stCondLst>
                              <p:cond delay="0"/>
                            </p:stCondLst>
                            <p:childTnLst>
                              <p:par>
                                <p:cTn id="131" nodeType="clickEffect" fill="hold" presetClass="entr" presetID="22" presetSubtype="8">
                                  <p:stCondLst>
                                    <p:cond delay="0"/>
                                  </p:stCondLst>
                                  <p:childTnLst>
                                    <p:set>
                                      <p:cBhvr>
                                        <p:cTn id="132" dur="1" fill="hold">
                                          <p:stCondLst>
                                            <p:cond delay="0"/>
                                          </p:stCondLst>
                                        </p:cTn>
                                        <p:tgtEl>
                                          <p:spTgt spid="69">
                                            <p:txEl>
                                              <p:pRg st="1" end="1"/>
                                            </p:txEl>
                                          </p:spTgt>
                                        </p:tgtEl>
                                        <p:attrNameLst>
                                          <p:attrName>style.visibility</p:attrName>
                                        </p:attrNameLst>
                                      </p:cBhvr>
                                      <p:to>
                                        <p:strVal val="visible"/>
                                      </p:to>
                                    </p:set>
                                    <p:animEffect filter="wipe(left)" transition="in">
                                      <p:cBhvr additive="repl">
                                        <p:cTn id="133" dur="500"/>
                                        <p:tgtEl>
                                          <p:spTgt spid="69">
                                            <p:txEl>
                                              <p:pRg st="1" end="1"/>
                                            </p:txEl>
                                          </p:spTgt>
                                        </p:tgtEl>
                                      </p:cBhvr>
                                    </p:animEffect>
                                  </p:childTnLst>
                                </p:cTn>
                              </p:par>
                              <p:par>
                                <p:cTn id="134" nodeType="withEffect" fill="hold" presetClass="entr" presetID="10">
                                  <p:stCondLst>
                                    <p:cond delay="0"/>
                                  </p:stCondLst>
                                  <p:childTnLst>
                                    <p:set>
                                      <p:cBhvr>
                                        <p:cTn id="135" dur="1" fill="hold">
                                          <p:stCondLst>
                                            <p:cond delay="0"/>
                                          </p:stCondLst>
                                        </p:cTn>
                                        <p:tgtEl>
                                          <p:spTgt spid="78"/>
                                        </p:tgtEl>
                                        <p:attrNameLst>
                                          <p:attrName>style.visibility</p:attrName>
                                        </p:attrNameLst>
                                      </p:cBhvr>
                                      <p:to>
                                        <p:strVal val="visible"/>
                                      </p:to>
                                    </p:set>
                                    <p:animEffect filter="fade" transition="in">
                                      <p:cBhvr additive="repl">
                                        <p:cTn id="136" dur="500"/>
                                        <p:tgtEl>
                                          <p:spTgt spid="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13.1  CONSUMPTION POSSIBILITIES</a:t>
            </a:r>
            <a:endParaRPr b="0" lang="en-US" sz="2600" strike="noStrike" u="none">
              <a:solidFill>
                <a:srgbClr val="000000"/>
              </a:solidFill>
              <a:effectLst/>
              <a:uFillTx/>
              <a:latin typeface="Arial"/>
            </a:endParaRPr>
          </a:p>
        </p:txBody>
      </p:sp>
      <p:sp>
        <p:nvSpPr>
          <p:cNvPr id="80"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A Change in the Budget</a:t>
            </a:r>
            <a:endParaRPr b="0" lang="en-US" sz="28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When a consumer’s budget increases, consumption possibilities expand.</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When a consumer’s budget decreases, consumption possibilities shrink.</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endParaRPr b="0" lang="en-US" sz="2400" strike="noStrike" u="none">
              <a:solidFill>
                <a:srgbClr val="000000"/>
              </a:solidFill>
              <a:effectLst/>
              <a:uFillTx/>
              <a:latin typeface="Arial"/>
            </a:endParaRPr>
          </a:p>
        </p:txBody>
      </p:sp>
    </p:spTree>
  </p:cSld>
  <p:transition spd="slow">
    <p:wipe dir="r"/>
  </p:transition>
  <p:timing>
    <p:tnLst>
      <p:par>
        <p:cTn id="137" dur="indefinite" restart="never" nodeType="tmRoot">
          <p:childTnLst>
            <p:seq>
              <p:cTn id="138" dur="indefinite" nodeType="mainSeq">
                <p:childTnLst>
                  <p:par>
                    <p:cTn id="139" nodeType="clickEffect" fill="hold">
                      <p:stCondLst>
                        <p:cond delay="indefinite"/>
                      </p:stCondLst>
                      <p:childTnLst>
                        <p:par>
                          <p:cTn id="140" nodeType="withEffect" fill="hold">
                            <p:stCondLst>
                              <p:cond delay="0"/>
                            </p:stCondLst>
                            <p:childTnLst>
                              <p:par>
                                <p:cTn id="141" nodeType="clickEffect" fill="hold" presetClass="entr" presetID="22" presetSubtype="8">
                                  <p:stCondLst>
                                    <p:cond delay="0"/>
                                  </p:stCondLst>
                                  <p:childTnLst>
                                    <p:set>
                                      <p:cBhvr>
                                        <p:cTn id="142" dur="1" fill="hold">
                                          <p:stCondLst>
                                            <p:cond delay="0"/>
                                          </p:stCondLst>
                                        </p:cTn>
                                        <p:tgtEl>
                                          <p:spTgt spid="80">
                                            <p:txEl>
                                              <p:pRg st="1" end="1"/>
                                            </p:txEl>
                                          </p:spTgt>
                                        </p:tgtEl>
                                        <p:attrNameLst>
                                          <p:attrName>style.visibility</p:attrName>
                                        </p:attrNameLst>
                                      </p:cBhvr>
                                      <p:to>
                                        <p:strVal val="visible"/>
                                      </p:to>
                                    </p:set>
                                    <p:animEffect filter="wipe(left)" transition="in">
                                      <p:cBhvr additive="repl">
                                        <p:cTn id="143" dur="500"/>
                                        <p:tgtEl>
                                          <p:spTgt spid="80">
                                            <p:txEl>
                                              <p:pRg st="1" end="1"/>
                                            </p:txEl>
                                          </p:spTgt>
                                        </p:tgtEl>
                                      </p:cBhvr>
                                    </p:animEffect>
                                  </p:childTnLst>
                                </p:cTn>
                              </p:par>
                            </p:childTnLst>
                          </p:cTn>
                        </p:par>
                      </p:childTnLst>
                    </p:cTn>
                  </p:par>
                  <p:par>
                    <p:cTn id="144" nodeType="clickEffect" fill="hold">
                      <p:stCondLst>
                        <p:cond delay="indefinite"/>
                      </p:stCondLst>
                      <p:childTnLst>
                        <p:par>
                          <p:cTn id="145" nodeType="withEffect" fill="hold">
                            <p:stCondLst>
                              <p:cond delay="0"/>
                            </p:stCondLst>
                            <p:childTnLst>
                              <p:par>
                                <p:cTn id="146" nodeType="clickEffect" fill="hold" presetClass="entr" presetID="22" presetSubtype="8">
                                  <p:stCondLst>
                                    <p:cond delay="0"/>
                                  </p:stCondLst>
                                  <p:childTnLst>
                                    <p:set>
                                      <p:cBhvr>
                                        <p:cTn id="147" dur="1" fill="hold">
                                          <p:stCondLst>
                                            <p:cond delay="0"/>
                                          </p:stCondLst>
                                        </p:cTn>
                                        <p:tgtEl>
                                          <p:spTgt spid="80">
                                            <p:txEl>
                                              <p:pRg st="2" end="2"/>
                                            </p:txEl>
                                          </p:spTgt>
                                        </p:tgtEl>
                                        <p:attrNameLst>
                                          <p:attrName>style.visibility</p:attrName>
                                        </p:attrNameLst>
                                      </p:cBhvr>
                                      <p:to>
                                        <p:strVal val="visible"/>
                                      </p:to>
                                    </p:set>
                                    <p:animEffect filter="wipe(left)" transition="in">
                                      <p:cBhvr additive="repl">
                                        <p:cTn id="148" dur="500"/>
                                        <p:tgtEl>
                                          <p:spTgt spid="80">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13.1  CONSUMPTION POSSIBILITIES</a:t>
            </a:r>
            <a:endParaRPr b="0" lang="en-US" sz="2600" strike="noStrike" u="none">
              <a:solidFill>
                <a:srgbClr val="000000"/>
              </a:solidFill>
              <a:effectLst/>
              <a:uFillTx/>
              <a:latin typeface="Arial"/>
            </a:endParaRPr>
          </a:p>
        </p:txBody>
      </p:sp>
      <p:sp>
        <p:nvSpPr>
          <p:cNvPr id="82" name="PlaceHolder 2"/>
          <p:cNvSpPr>
            <a:spLocks noGrp="1"/>
          </p:cNvSpPr>
          <p:nvPr>
            <p:ph/>
          </p:nvPr>
        </p:nvSpPr>
        <p:spPr>
          <a:xfrm>
            <a:off x="360360" y="1440000"/>
            <a:ext cx="383004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Figure 13.2 shows the effects of changes in a consumer’s budget.</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An decrease in the budget shifts the budget line leftward.</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slope of the budget line doesn’t change because prices have not changed.</a:t>
            </a:r>
            <a:endParaRPr b="0" lang="en-US" sz="2400" strike="noStrike" u="none">
              <a:solidFill>
                <a:srgbClr val="000000"/>
              </a:solidFill>
              <a:effectLst/>
              <a:uFillTx/>
              <a:latin typeface="Arial"/>
            </a:endParaRPr>
          </a:p>
        </p:txBody>
      </p:sp>
      <p:pic>
        <p:nvPicPr>
          <p:cNvPr id="83" name="Picture 1" descr="fig1202a.gif"/>
          <p:cNvPicPr/>
          <p:nvPr/>
        </p:nvPicPr>
        <p:blipFill>
          <a:blip r:embed="rId1"/>
          <a:stretch/>
        </p:blipFill>
        <p:spPr>
          <a:xfrm>
            <a:off x="4140360" y="1476360"/>
            <a:ext cx="4563360" cy="4728600"/>
          </a:xfrm>
          <a:prstGeom prst="rect">
            <a:avLst/>
          </a:prstGeom>
          <a:noFill/>
          <a:ln w="0">
            <a:noFill/>
          </a:ln>
        </p:spPr>
      </p:pic>
      <p:pic>
        <p:nvPicPr>
          <p:cNvPr id="84" name="Picture 2" descr="fig1202b.gif"/>
          <p:cNvPicPr/>
          <p:nvPr/>
        </p:nvPicPr>
        <p:blipFill>
          <a:blip r:embed="rId2"/>
          <a:stretch/>
        </p:blipFill>
        <p:spPr>
          <a:xfrm>
            <a:off x="4140360" y="1476360"/>
            <a:ext cx="4563360" cy="4728600"/>
          </a:xfrm>
          <a:prstGeom prst="rect">
            <a:avLst/>
          </a:prstGeom>
          <a:noFill/>
          <a:ln w="0">
            <a:noFill/>
          </a:ln>
        </p:spPr>
      </p:pic>
      <p:pic>
        <p:nvPicPr>
          <p:cNvPr id="85" name="Picture 3" descr="fig1202c.gif"/>
          <p:cNvPicPr/>
          <p:nvPr/>
        </p:nvPicPr>
        <p:blipFill>
          <a:blip r:embed="rId3"/>
          <a:stretch/>
        </p:blipFill>
        <p:spPr>
          <a:xfrm>
            <a:off x="4140360" y="1476360"/>
            <a:ext cx="4563360" cy="4728600"/>
          </a:xfrm>
          <a:prstGeom prst="rect">
            <a:avLst/>
          </a:prstGeom>
          <a:noFill/>
          <a:ln w="0">
            <a:noFill/>
          </a:ln>
        </p:spPr>
      </p:pic>
    </p:spTree>
  </p:cSld>
  <p:transition spd="slow">
    <p:wipe dir="r"/>
  </p:transition>
  <p:timing>
    <p:tnLst>
      <p:par>
        <p:cTn id="149" dur="indefinite" restart="never" nodeType="tmRoot">
          <p:childTnLst>
            <p:seq>
              <p:cTn id="150" dur="indefinite" nodeType="mainSeq">
                <p:childTnLst>
                  <p:par>
                    <p:cTn id="151" nodeType="clickEffect" fill="hold">
                      <p:stCondLst>
                        <p:cond delay="indefinite"/>
                      </p:stCondLst>
                      <p:childTnLst>
                        <p:par>
                          <p:cTn id="152" nodeType="withEffect" fill="hold">
                            <p:stCondLst>
                              <p:cond delay="0"/>
                            </p:stCondLst>
                            <p:childTnLst>
                              <p:par>
                                <p:cTn id="153" nodeType="clickEffect" fill="hold" presetClass="entr" presetID="22" presetSubtype="8">
                                  <p:stCondLst>
                                    <p:cond delay="0"/>
                                  </p:stCondLst>
                                  <p:childTnLst>
                                    <p:set>
                                      <p:cBhvr>
                                        <p:cTn id="154" dur="1" fill="hold">
                                          <p:stCondLst>
                                            <p:cond delay="0"/>
                                          </p:stCondLst>
                                        </p:cTn>
                                        <p:tgtEl>
                                          <p:spTgt spid="82">
                                            <p:txEl>
                                              <p:pRg st="1" end="1"/>
                                            </p:txEl>
                                          </p:spTgt>
                                        </p:tgtEl>
                                        <p:attrNameLst>
                                          <p:attrName>style.visibility</p:attrName>
                                        </p:attrNameLst>
                                      </p:cBhvr>
                                      <p:to>
                                        <p:strVal val="visible"/>
                                      </p:to>
                                    </p:set>
                                    <p:animEffect filter="wipe(left)" transition="in">
                                      <p:cBhvr additive="repl">
                                        <p:cTn id="155" dur="500"/>
                                        <p:tgtEl>
                                          <p:spTgt spid="82">
                                            <p:txEl>
                                              <p:pRg st="1" end="1"/>
                                            </p:txEl>
                                          </p:spTgt>
                                        </p:tgtEl>
                                      </p:cBhvr>
                                    </p:animEffect>
                                  </p:childTnLst>
                                </p:cTn>
                              </p:par>
                              <p:par>
                                <p:cTn id="156" nodeType="withEffect" fill="hold" presetClass="entr" presetID="22" presetSubtype="2">
                                  <p:stCondLst>
                                    <p:cond delay="0"/>
                                  </p:stCondLst>
                                  <p:childTnLst>
                                    <p:set>
                                      <p:cBhvr>
                                        <p:cTn id="157" dur="1" fill="hold">
                                          <p:stCondLst>
                                            <p:cond delay="0"/>
                                          </p:stCondLst>
                                        </p:cTn>
                                        <p:tgtEl>
                                          <p:spTgt spid="85"/>
                                        </p:tgtEl>
                                        <p:attrNameLst>
                                          <p:attrName>style.visibility</p:attrName>
                                        </p:attrNameLst>
                                      </p:cBhvr>
                                      <p:to>
                                        <p:strVal val="visible"/>
                                      </p:to>
                                    </p:set>
                                    <p:animEffect filter="wipe(right)" transition="in">
                                      <p:cBhvr additive="repl">
                                        <p:cTn id="158" dur="1000"/>
                                        <p:tgtEl>
                                          <p:spTgt spid="85"/>
                                        </p:tgtEl>
                                      </p:cBhvr>
                                    </p:animEffect>
                                  </p:childTnLst>
                                </p:cTn>
                              </p:par>
                            </p:childTnLst>
                          </p:cTn>
                        </p:par>
                      </p:childTnLst>
                    </p:cTn>
                  </p:par>
                  <p:par>
                    <p:cTn id="159" nodeType="clickEffect" fill="hold">
                      <p:stCondLst>
                        <p:cond delay="indefinite"/>
                      </p:stCondLst>
                      <p:childTnLst>
                        <p:par>
                          <p:cTn id="160" nodeType="withEffect" fill="hold">
                            <p:stCondLst>
                              <p:cond delay="0"/>
                            </p:stCondLst>
                            <p:childTnLst>
                              <p:par>
                                <p:cTn id="161" nodeType="clickEffect" fill="hold" presetClass="entr" presetID="22" presetSubtype="8">
                                  <p:stCondLst>
                                    <p:cond delay="0"/>
                                  </p:stCondLst>
                                  <p:childTnLst>
                                    <p:set>
                                      <p:cBhvr>
                                        <p:cTn id="162" dur="1" fill="hold">
                                          <p:stCondLst>
                                            <p:cond delay="0"/>
                                          </p:stCondLst>
                                        </p:cTn>
                                        <p:tgtEl>
                                          <p:spTgt spid="82">
                                            <p:txEl>
                                              <p:pRg st="2" end="2"/>
                                            </p:txEl>
                                          </p:spTgt>
                                        </p:tgtEl>
                                        <p:attrNameLst>
                                          <p:attrName>style.visibility</p:attrName>
                                        </p:attrNameLst>
                                      </p:cBhvr>
                                      <p:to>
                                        <p:strVal val="visible"/>
                                      </p:to>
                                    </p:set>
                                    <p:animEffect filter="wipe(left)" transition="in">
                                      <p:cBhvr additive="repl">
                                        <p:cTn id="163" dur="500"/>
                                        <p:tgtEl>
                                          <p:spTgt spid="82">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86" name="Picture 1" descr="fig1202a.gif"/>
          <p:cNvPicPr/>
          <p:nvPr/>
        </p:nvPicPr>
        <p:blipFill>
          <a:blip r:embed="rId1"/>
          <a:stretch/>
        </p:blipFill>
        <p:spPr>
          <a:xfrm>
            <a:off x="1905120" y="411120"/>
            <a:ext cx="5780880" cy="5988960"/>
          </a:xfrm>
          <a:prstGeom prst="rect">
            <a:avLst/>
          </a:prstGeom>
          <a:noFill/>
          <a:ln w="0">
            <a:noFill/>
          </a:ln>
        </p:spPr>
      </p:pic>
      <p:pic>
        <p:nvPicPr>
          <p:cNvPr id="87" name="Picture 2" descr="fig1202b.gif"/>
          <p:cNvPicPr/>
          <p:nvPr/>
        </p:nvPicPr>
        <p:blipFill>
          <a:blip r:embed="rId2"/>
          <a:stretch/>
        </p:blipFill>
        <p:spPr>
          <a:xfrm>
            <a:off x="1905120" y="411120"/>
            <a:ext cx="5780880" cy="5988960"/>
          </a:xfrm>
          <a:prstGeom prst="rect">
            <a:avLst/>
          </a:prstGeom>
          <a:noFill/>
          <a:ln w="0">
            <a:noFill/>
          </a:ln>
        </p:spPr>
      </p:pic>
      <p:pic>
        <p:nvPicPr>
          <p:cNvPr id="88" name="Picture 3" descr="fig1202c.gif"/>
          <p:cNvPicPr/>
          <p:nvPr/>
        </p:nvPicPr>
        <p:blipFill>
          <a:blip r:embed="rId3"/>
          <a:stretch/>
        </p:blipFill>
        <p:spPr>
          <a:xfrm>
            <a:off x="1905120" y="411120"/>
            <a:ext cx="5780880" cy="5988960"/>
          </a:xfrm>
          <a:prstGeom prst="rect">
            <a:avLst/>
          </a:prstGeom>
          <a:noFill/>
          <a:ln w="0">
            <a:noFill/>
          </a:ln>
        </p:spPr>
      </p:pic>
      <p:pic>
        <p:nvPicPr>
          <p:cNvPr id="89" name="Picture 4" descr="fig1202d.gif"/>
          <p:cNvPicPr/>
          <p:nvPr/>
        </p:nvPicPr>
        <p:blipFill>
          <a:blip r:embed="rId4"/>
          <a:stretch/>
        </p:blipFill>
        <p:spPr>
          <a:xfrm>
            <a:off x="1905120" y="411120"/>
            <a:ext cx="5780880" cy="5988960"/>
          </a:xfrm>
          <a:prstGeom prst="rect">
            <a:avLst/>
          </a:prstGeom>
          <a:noFill/>
          <a:ln w="0">
            <a:noFill/>
          </a:ln>
        </p:spPr>
      </p:pic>
    </p:spTree>
  </p:cSld>
  <p:transition spd="slow">
    <p:wipe dir="r"/>
  </p:transition>
  <p:timing>
    <p:tnLst>
      <p:par>
        <p:cTn id="164" dur="indefinite" restart="never" nodeType="tmRoot">
          <p:childTnLst>
            <p:seq>
              <p:cTn id="165" dur="indefinite" nodeType="mainSeq">
                <p:childTnLst>
                  <p:par>
                    <p:cTn id="166" nodeType="clickEffect" fill="hold">
                      <p:stCondLst>
                        <p:cond delay="indefinite"/>
                      </p:stCondLst>
                      <p:childTnLst>
                        <p:par>
                          <p:cTn id="167" nodeType="withEffect" fill="hold">
                            <p:stCondLst>
                              <p:cond delay="0"/>
                            </p:stCondLst>
                            <p:childTnLst>
                              <p:par>
                                <p:cTn id="168" nodeType="clickEffect" fill="hold" presetClass="entr" presetID="22" presetSubtype="8">
                                  <p:stCondLst>
                                    <p:cond delay="0"/>
                                  </p:stCondLst>
                                  <p:childTnLst>
                                    <p:set>
                                      <p:cBhvr>
                                        <p:cTn id="169" dur="1" fill="hold">
                                          <p:stCondLst>
                                            <p:cond delay="0"/>
                                          </p:stCondLst>
                                        </p:cTn>
                                        <p:tgtEl>
                                          <p:spTgt spid="87"/>
                                        </p:tgtEl>
                                        <p:attrNameLst>
                                          <p:attrName>style.visibility</p:attrName>
                                        </p:attrNameLst>
                                      </p:cBhvr>
                                      <p:to>
                                        <p:strVal val="visible"/>
                                      </p:to>
                                    </p:set>
                                    <p:animEffect filter="wipe(left)" transition="in">
                                      <p:cBhvr additive="repl">
                                        <p:cTn id="170" dur="1000"/>
                                        <p:tgtEl>
                                          <p:spTgt spid="87"/>
                                        </p:tgtEl>
                                      </p:cBhvr>
                                    </p:animEffect>
                                  </p:childTnLst>
                                </p:cTn>
                              </p:par>
                            </p:childTnLst>
                          </p:cTn>
                        </p:par>
                      </p:childTnLst>
                    </p:cTn>
                  </p:par>
                  <p:par>
                    <p:cTn id="171" nodeType="clickEffect" fill="hold">
                      <p:stCondLst>
                        <p:cond delay="indefinite"/>
                      </p:stCondLst>
                      <p:childTnLst>
                        <p:par>
                          <p:cTn id="172" nodeType="withEffect" fill="hold">
                            <p:stCondLst>
                              <p:cond delay="0"/>
                            </p:stCondLst>
                            <p:childTnLst>
                              <p:par>
                                <p:cTn id="173" nodeType="clickEffect" fill="hold" presetClass="entr" presetID="22" presetSubtype="2">
                                  <p:stCondLst>
                                    <p:cond delay="0"/>
                                  </p:stCondLst>
                                  <p:childTnLst>
                                    <p:set>
                                      <p:cBhvr>
                                        <p:cTn id="174" dur="1" fill="hold">
                                          <p:stCondLst>
                                            <p:cond delay="0"/>
                                          </p:stCondLst>
                                        </p:cTn>
                                        <p:tgtEl>
                                          <p:spTgt spid="88"/>
                                        </p:tgtEl>
                                        <p:attrNameLst>
                                          <p:attrName>style.visibility</p:attrName>
                                        </p:attrNameLst>
                                      </p:cBhvr>
                                      <p:to>
                                        <p:strVal val="visible"/>
                                      </p:to>
                                    </p:set>
                                    <p:animEffect filter="wipe(right)" transition="in">
                                      <p:cBhvr additive="repl">
                                        <p:cTn id="175" dur="1000"/>
                                        <p:tgtEl>
                                          <p:spTgt spid="88"/>
                                        </p:tgtEl>
                                      </p:cBhvr>
                                    </p:animEffect>
                                  </p:childTnLst>
                                </p:cTn>
                              </p:par>
                            </p:childTnLst>
                          </p:cTn>
                        </p:par>
                      </p:childTnLst>
                    </p:cTn>
                  </p:par>
                  <p:par>
                    <p:cTn id="176" nodeType="clickEffect" fill="hold">
                      <p:stCondLst>
                        <p:cond delay="indefinite"/>
                      </p:stCondLst>
                      <p:childTnLst>
                        <p:par>
                          <p:cTn id="177" nodeType="withEffect" fill="hold">
                            <p:stCondLst>
                              <p:cond delay="0"/>
                            </p:stCondLst>
                            <p:childTnLst>
                              <p:par>
                                <p:cTn id="178" nodeType="clickEffect" fill="hold" presetClass="entr" presetID="22" presetSubtype="8">
                                  <p:stCondLst>
                                    <p:cond delay="0"/>
                                  </p:stCondLst>
                                  <p:childTnLst>
                                    <p:set>
                                      <p:cBhvr>
                                        <p:cTn id="179" dur="1" fill="hold">
                                          <p:stCondLst>
                                            <p:cond delay="0"/>
                                          </p:stCondLst>
                                        </p:cTn>
                                        <p:tgtEl>
                                          <p:spTgt spid="89"/>
                                        </p:tgtEl>
                                        <p:attrNameLst>
                                          <p:attrName>style.visibility</p:attrName>
                                        </p:attrNameLst>
                                      </p:cBhvr>
                                      <p:to>
                                        <p:strVal val="visible"/>
                                      </p:to>
                                    </p:set>
                                    <p:animEffect filter="wipe(left)" transition="in">
                                      <p:cBhvr additive="repl">
                                        <p:cTn id="180" dur="1000"/>
                                        <p:tgtEl>
                                          <p:spTgt spid="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13.1  CONSUMPTION POSSIBILITIES</a:t>
            </a:r>
            <a:endParaRPr b="0" lang="en-US" sz="2600" strike="noStrike" u="none">
              <a:solidFill>
                <a:srgbClr val="000000"/>
              </a:solidFill>
              <a:effectLst/>
              <a:uFillTx/>
              <a:latin typeface="Arial"/>
            </a:endParaRPr>
          </a:p>
        </p:txBody>
      </p:sp>
      <p:sp>
        <p:nvSpPr>
          <p:cNvPr id="91" name="PlaceHolder 2"/>
          <p:cNvSpPr>
            <a:spLocks noGrp="1"/>
          </p:cNvSpPr>
          <p:nvPr>
            <p:ph/>
          </p:nvPr>
        </p:nvSpPr>
        <p:spPr>
          <a:xfrm>
            <a:off x="360360" y="1440000"/>
            <a:ext cx="352512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An increase in the budget shifts the budget line rightward.</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Again, the slope of the budget line doesn’t change because prices have not changed.</a:t>
            </a:r>
            <a:endParaRPr b="0" lang="en-US" sz="2400" strike="noStrike" u="none">
              <a:solidFill>
                <a:srgbClr val="000000"/>
              </a:solidFill>
              <a:effectLst/>
              <a:uFillTx/>
              <a:latin typeface="Arial"/>
            </a:endParaRPr>
          </a:p>
        </p:txBody>
      </p:sp>
      <p:pic>
        <p:nvPicPr>
          <p:cNvPr id="92" name="Picture 1" descr="fig1202a.gif"/>
          <p:cNvPicPr/>
          <p:nvPr/>
        </p:nvPicPr>
        <p:blipFill>
          <a:blip r:embed="rId1"/>
          <a:stretch/>
        </p:blipFill>
        <p:spPr>
          <a:xfrm>
            <a:off x="4140360" y="1476360"/>
            <a:ext cx="4563360" cy="4728600"/>
          </a:xfrm>
          <a:prstGeom prst="rect">
            <a:avLst/>
          </a:prstGeom>
          <a:noFill/>
          <a:ln w="0">
            <a:noFill/>
          </a:ln>
        </p:spPr>
      </p:pic>
      <p:pic>
        <p:nvPicPr>
          <p:cNvPr id="93" name="Picture 2" descr="fig1202b.gif"/>
          <p:cNvPicPr/>
          <p:nvPr/>
        </p:nvPicPr>
        <p:blipFill>
          <a:blip r:embed="rId2"/>
          <a:stretch/>
        </p:blipFill>
        <p:spPr>
          <a:xfrm>
            <a:off x="4140360" y="1476360"/>
            <a:ext cx="4563360" cy="4728600"/>
          </a:xfrm>
          <a:prstGeom prst="rect">
            <a:avLst/>
          </a:prstGeom>
          <a:noFill/>
          <a:ln w="0">
            <a:noFill/>
          </a:ln>
        </p:spPr>
      </p:pic>
      <p:pic>
        <p:nvPicPr>
          <p:cNvPr id="94" name="Picture 3" descr="fig1202c.gif"/>
          <p:cNvPicPr/>
          <p:nvPr/>
        </p:nvPicPr>
        <p:blipFill>
          <a:blip r:embed="rId3"/>
          <a:stretch/>
        </p:blipFill>
        <p:spPr>
          <a:xfrm>
            <a:off x="4140360" y="1476360"/>
            <a:ext cx="4563360" cy="4728600"/>
          </a:xfrm>
          <a:prstGeom prst="rect">
            <a:avLst/>
          </a:prstGeom>
          <a:noFill/>
          <a:ln w="0">
            <a:noFill/>
          </a:ln>
        </p:spPr>
      </p:pic>
      <p:pic>
        <p:nvPicPr>
          <p:cNvPr id="95" name="Picture 4" descr="fig1202d.gif"/>
          <p:cNvPicPr/>
          <p:nvPr/>
        </p:nvPicPr>
        <p:blipFill>
          <a:blip r:embed="rId4"/>
          <a:stretch/>
        </p:blipFill>
        <p:spPr>
          <a:xfrm>
            <a:off x="4140360" y="1476360"/>
            <a:ext cx="4563360" cy="4728600"/>
          </a:xfrm>
          <a:prstGeom prst="rect">
            <a:avLst/>
          </a:prstGeom>
          <a:noFill/>
          <a:ln w="0">
            <a:noFill/>
          </a:ln>
        </p:spPr>
      </p:pic>
    </p:spTree>
  </p:cSld>
  <p:transition spd="slow">
    <p:wipe dir="r"/>
  </p:transition>
  <p:timing>
    <p:tnLst>
      <p:par>
        <p:cTn id="181" dur="indefinite" restart="never" nodeType="tmRoot">
          <p:childTnLst>
            <p:seq>
              <p:cTn id="182" dur="indefinite" nodeType="mainSeq">
                <p:childTnLst>
                  <p:par>
                    <p:cTn id="183" nodeType="clickEffect" fill="hold">
                      <p:stCondLst>
                        <p:cond delay="0"/>
                      </p:stCondLst>
                      <p:childTnLst>
                        <p:par>
                          <p:cTn id="184" nodeType="withEffect" fill="hold">
                            <p:stCondLst>
                              <p:cond delay="0"/>
                            </p:stCondLst>
                            <p:childTnLst>
                              <p:par>
                                <p:cTn id="185" nodeType="withEffect" fill="hold" presetClass="entr" presetID="22" presetSubtype="8">
                                  <p:stCondLst>
                                    <p:cond delay="0"/>
                                  </p:stCondLst>
                                  <p:childTnLst>
                                    <p:set>
                                      <p:cBhvr>
                                        <p:cTn id="186" dur="1" fill="hold">
                                          <p:stCondLst>
                                            <p:cond delay="0"/>
                                          </p:stCondLst>
                                        </p:cTn>
                                        <p:tgtEl>
                                          <p:spTgt spid="95"/>
                                        </p:tgtEl>
                                        <p:attrNameLst>
                                          <p:attrName>style.visibility</p:attrName>
                                        </p:attrNameLst>
                                      </p:cBhvr>
                                      <p:to>
                                        <p:strVal val="visible"/>
                                      </p:to>
                                    </p:set>
                                    <p:animEffect filter="wipe(left)" transition="in">
                                      <p:cBhvr additive="repl">
                                        <p:cTn id="187" dur="1000"/>
                                        <p:tgtEl>
                                          <p:spTgt spid="95"/>
                                        </p:tgtEl>
                                      </p:cBhvr>
                                    </p:animEffect>
                                  </p:childTnLst>
                                </p:cTn>
                              </p:par>
                            </p:childTnLst>
                          </p:cTn>
                        </p:par>
                      </p:childTnLst>
                    </p:cTn>
                  </p:par>
                  <p:par>
                    <p:cTn id="188" nodeType="clickEffect" fill="hold">
                      <p:stCondLst>
                        <p:cond delay="indefinite"/>
                      </p:stCondLst>
                      <p:childTnLst>
                        <p:par>
                          <p:cTn id="189" nodeType="withEffect" fill="hold">
                            <p:stCondLst>
                              <p:cond delay="0"/>
                            </p:stCondLst>
                            <p:childTnLst>
                              <p:par>
                                <p:cTn id="190" nodeType="clickEffect" fill="hold" presetClass="entr" presetID="22" presetSubtype="8">
                                  <p:stCondLst>
                                    <p:cond delay="0"/>
                                  </p:stCondLst>
                                  <p:childTnLst>
                                    <p:set>
                                      <p:cBhvr>
                                        <p:cTn id="191" dur="1" fill="hold">
                                          <p:stCondLst>
                                            <p:cond delay="0"/>
                                          </p:stCondLst>
                                        </p:cTn>
                                        <p:tgtEl>
                                          <p:spTgt spid="91">
                                            <p:txEl>
                                              <p:pRg st="1" end="1"/>
                                            </p:txEl>
                                          </p:spTgt>
                                        </p:tgtEl>
                                        <p:attrNameLst>
                                          <p:attrName>style.visibility</p:attrName>
                                        </p:attrNameLst>
                                      </p:cBhvr>
                                      <p:to>
                                        <p:strVal val="visible"/>
                                      </p:to>
                                    </p:set>
                                    <p:animEffect filter="wipe(left)" transition="in">
                                      <p:cBhvr additive="repl">
                                        <p:cTn id="192" dur="500"/>
                                        <p:tgtEl>
                                          <p:spTgt spid="91">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13.1  CONSUMPTION POSSIBILITIES</a:t>
            </a:r>
            <a:endParaRPr b="0" lang="en-US" sz="2600" strike="noStrike" u="none">
              <a:solidFill>
                <a:srgbClr val="000000"/>
              </a:solidFill>
              <a:effectLst/>
              <a:uFillTx/>
              <a:latin typeface="Arial"/>
            </a:endParaRPr>
          </a:p>
        </p:txBody>
      </p:sp>
      <p:sp>
        <p:nvSpPr>
          <p:cNvPr id="97"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Changes in Prices</a:t>
            </a:r>
            <a:endParaRPr b="0" lang="en-US" sz="2800" strike="noStrike" u="none">
              <a:solidFill>
                <a:srgbClr val="000000"/>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If the price of one good rises when the prices of other goods and the budget remain the same, consumption possibilities shrink.</a:t>
            </a:r>
            <a:endParaRPr b="0" lang="en-US" sz="2400" strike="noStrike" u="none">
              <a:solidFill>
                <a:srgbClr val="000000"/>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If the price of one good falls when the prices of other goods and the budget remain the same, consumption possibilities expand.</a:t>
            </a:r>
            <a:endParaRPr b="0" lang="en-US" sz="2400" strike="noStrike" u="none">
              <a:solidFill>
                <a:srgbClr val="000000"/>
              </a:solidFill>
              <a:effectLst/>
              <a:uFillTx/>
              <a:latin typeface="Arial"/>
            </a:endParaRPr>
          </a:p>
        </p:txBody>
      </p:sp>
    </p:spTree>
  </p:cSld>
  <p:transition spd="slow">
    <p:wipe dir="r"/>
  </p:transition>
  <p:timing>
    <p:tnLst>
      <p:par>
        <p:cTn id="193" dur="indefinite" restart="never" nodeType="tmRoot">
          <p:childTnLst>
            <p:seq>
              <p:cTn id="194" dur="indefinite" nodeType="mainSeq">
                <p:childTnLst>
                  <p:par>
                    <p:cTn id="195" nodeType="clickEffect" fill="hold">
                      <p:stCondLst>
                        <p:cond delay="indefinite"/>
                      </p:stCondLst>
                      <p:childTnLst>
                        <p:par>
                          <p:cTn id="196" nodeType="withEffect" fill="hold">
                            <p:stCondLst>
                              <p:cond delay="0"/>
                            </p:stCondLst>
                            <p:childTnLst>
                              <p:par>
                                <p:cTn id="197" nodeType="clickEffect" fill="hold" presetClass="entr" presetID="22" presetSubtype="8">
                                  <p:stCondLst>
                                    <p:cond delay="0"/>
                                  </p:stCondLst>
                                  <p:childTnLst>
                                    <p:set>
                                      <p:cBhvr>
                                        <p:cTn id="198" dur="1" fill="hold">
                                          <p:stCondLst>
                                            <p:cond delay="0"/>
                                          </p:stCondLst>
                                        </p:cTn>
                                        <p:tgtEl>
                                          <p:spTgt spid="97">
                                            <p:txEl>
                                              <p:pRg st="1" end="1"/>
                                            </p:txEl>
                                          </p:spTgt>
                                        </p:tgtEl>
                                        <p:attrNameLst>
                                          <p:attrName>style.visibility</p:attrName>
                                        </p:attrNameLst>
                                      </p:cBhvr>
                                      <p:to>
                                        <p:strVal val="visible"/>
                                      </p:to>
                                    </p:set>
                                    <p:animEffect filter="wipe(left)" transition="in">
                                      <p:cBhvr additive="repl">
                                        <p:cTn id="199" dur="500"/>
                                        <p:tgtEl>
                                          <p:spTgt spid="97">
                                            <p:txEl>
                                              <p:pRg st="1" end="1"/>
                                            </p:txEl>
                                          </p:spTgt>
                                        </p:tgtEl>
                                      </p:cBhvr>
                                    </p:animEffect>
                                  </p:childTnLst>
                                </p:cTn>
                              </p:par>
                            </p:childTnLst>
                          </p:cTn>
                        </p:par>
                      </p:childTnLst>
                    </p:cTn>
                  </p:par>
                  <p:par>
                    <p:cTn id="200" nodeType="clickEffect" fill="hold">
                      <p:stCondLst>
                        <p:cond delay="indefinite"/>
                      </p:stCondLst>
                      <p:childTnLst>
                        <p:par>
                          <p:cTn id="201" nodeType="withEffect" fill="hold">
                            <p:stCondLst>
                              <p:cond delay="0"/>
                            </p:stCondLst>
                            <p:childTnLst>
                              <p:par>
                                <p:cTn id="202" nodeType="clickEffect" fill="hold" presetClass="entr" presetID="22" presetSubtype="8">
                                  <p:stCondLst>
                                    <p:cond delay="0"/>
                                  </p:stCondLst>
                                  <p:childTnLst>
                                    <p:set>
                                      <p:cBhvr>
                                        <p:cTn id="203" dur="1" fill="hold">
                                          <p:stCondLst>
                                            <p:cond delay="0"/>
                                          </p:stCondLst>
                                        </p:cTn>
                                        <p:tgtEl>
                                          <p:spTgt spid="97">
                                            <p:txEl>
                                              <p:pRg st="2" end="2"/>
                                            </p:txEl>
                                          </p:spTgt>
                                        </p:tgtEl>
                                        <p:attrNameLst>
                                          <p:attrName>style.visibility</p:attrName>
                                        </p:attrNameLst>
                                      </p:cBhvr>
                                      <p:to>
                                        <p:strVal val="visible"/>
                                      </p:to>
                                    </p:set>
                                    <p:animEffect filter="wipe(left)" transition="in">
                                      <p:cBhvr additive="repl">
                                        <p:cTn id="204" dur="500"/>
                                        <p:tgtEl>
                                          <p:spTgt spid="97">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13.1  CONSUMPTION POSSIBILITIES</a:t>
            </a:r>
            <a:endParaRPr b="0" lang="en-US" sz="2600" strike="noStrike" u="none">
              <a:solidFill>
                <a:srgbClr val="000000"/>
              </a:solidFill>
              <a:effectLst/>
              <a:uFillTx/>
              <a:latin typeface="Arial"/>
            </a:endParaRPr>
          </a:p>
        </p:txBody>
      </p:sp>
      <p:sp>
        <p:nvSpPr>
          <p:cNvPr id="99" name="PlaceHolder 2"/>
          <p:cNvSpPr>
            <a:spLocks noGrp="1"/>
          </p:cNvSpPr>
          <p:nvPr>
            <p:ph/>
          </p:nvPr>
        </p:nvSpPr>
        <p:spPr>
          <a:xfrm>
            <a:off x="360360" y="1440000"/>
            <a:ext cx="843372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Figure 13.3  shows the effect of a fall in the price of water.</a:t>
            </a:r>
            <a:endParaRPr b="0" lang="en-US" sz="2400" strike="noStrike" u="none">
              <a:solidFill>
                <a:srgbClr val="000000"/>
              </a:solidFill>
              <a:effectLst/>
              <a:uFillTx/>
              <a:latin typeface="Arial"/>
            </a:endParaRPr>
          </a:p>
        </p:txBody>
      </p:sp>
      <p:sp>
        <p:nvSpPr>
          <p:cNvPr id="100" name="Rectangle 5"/>
          <p:cNvSpPr/>
          <p:nvPr/>
        </p:nvSpPr>
        <p:spPr>
          <a:xfrm>
            <a:off x="360360" y="2052720"/>
            <a:ext cx="2610720" cy="2742480"/>
          </a:xfrm>
          <a:prstGeom prst="rect">
            <a:avLst/>
          </a:prstGeom>
          <a:noFill/>
          <a:ln w="0">
            <a:noFill/>
          </a:ln>
        </p:spPr>
        <p:style>
          <a:lnRef idx="0"/>
          <a:fillRef idx="0"/>
          <a:effectRef idx="0"/>
          <a:fontRef idx="minor"/>
        </p:style>
        <p:txBody>
          <a:bodyPr lIns="90000" rIns="90000" tIns="45000" bIns="45000" anchor="t">
            <a:noAutofit/>
          </a:bodyPr>
          <a:p>
            <a:pPr marL="360000">
              <a:lnSpc>
                <a:spcPct val="100000"/>
              </a:lnSpc>
              <a:spcBef>
                <a:spcPts val="601"/>
              </a:spcBef>
              <a:spcAft>
                <a:spcPts val="601"/>
              </a:spcAft>
            </a:pPr>
            <a:r>
              <a:rPr b="0" lang="en-US" sz="2400" strike="noStrike" u="none">
                <a:solidFill>
                  <a:schemeClr val="dk1"/>
                </a:solidFill>
                <a:effectLst/>
                <a:uFillTx/>
                <a:latin typeface="Arial"/>
                <a:ea typeface="ＭＳ Ｐゴシック"/>
              </a:rPr>
              <a:t>On the initial budget line, the price of water is $1 a bottle (and gum is 50¢ a pack), as before.</a:t>
            </a:r>
            <a:endParaRPr b="0" lang="en-US" sz="2400" strike="noStrike" u="none">
              <a:solidFill>
                <a:srgbClr val="000000"/>
              </a:solidFill>
              <a:effectLst/>
              <a:uFillTx/>
              <a:latin typeface="Arial"/>
            </a:endParaRPr>
          </a:p>
        </p:txBody>
      </p:sp>
      <p:pic>
        <p:nvPicPr>
          <p:cNvPr id="101" name="Picture 1" descr="fig1203a.gif"/>
          <p:cNvPicPr/>
          <p:nvPr/>
        </p:nvPicPr>
        <p:blipFill>
          <a:blip r:embed="rId1"/>
          <a:stretch/>
        </p:blipFill>
        <p:spPr>
          <a:xfrm>
            <a:off x="2879640" y="2124000"/>
            <a:ext cx="5914440" cy="3885480"/>
          </a:xfrm>
          <a:prstGeom prst="rect">
            <a:avLst/>
          </a:prstGeom>
          <a:noFill/>
          <a:ln w="0">
            <a:noFill/>
          </a:ln>
        </p:spPr>
      </p:pic>
      <p:pic>
        <p:nvPicPr>
          <p:cNvPr id="102" name="Picture 2" descr="fig1203b.gif"/>
          <p:cNvPicPr/>
          <p:nvPr/>
        </p:nvPicPr>
        <p:blipFill>
          <a:blip r:embed="rId2"/>
          <a:stretch/>
        </p:blipFill>
        <p:spPr>
          <a:xfrm>
            <a:off x="2879640" y="2124000"/>
            <a:ext cx="5914440" cy="3885480"/>
          </a:xfrm>
          <a:prstGeom prst="rect">
            <a:avLst/>
          </a:prstGeom>
          <a:noFill/>
          <a:ln w="0">
            <a:noFill/>
          </a:ln>
        </p:spPr>
      </p:pic>
      <p:pic>
        <p:nvPicPr>
          <p:cNvPr id="103" name="Picture 3" descr="fig1203c.gif"/>
          <p:cNvPicPr/>
          <p:nvPr/>
        </p:nvPicPr>
        <p:blipFill>
          <a:blip r:embed="rId3"/>
          <a:stretch/>
        </p:blipFill>
        <p:spPr>
          <a:xfrm>
            <a:off x="2879640" y="2124000"/>
            <a:ext cx="5914440" cy="3885480"/>
          </a:xfrm>
          <a:prstGeom prst="rect">
            <a:avLst/>
          </a:prstGeom>
          <a:noFill/>
          <a:ln w="0">
            <a:noFill/>
          </a:ln>
        </p:spPr>
      </p:pic>
      <p:pic>
        <p:nvPicPr>
          <p:cNvPr id="104" name="Picture 4" descr="fig1203d.gif"/>
          <p:cNvPicPr/>
          <p:nvPr/>
        </p:nvPicPr>
        <p:blipFill>
          <a:blip r:embed="rId4"/>
          <a:stretch/>
        </p:blipFill>
        <p:spPr>
          <a:xfrm>
            <a:off x="2879640" y="2124000"/>
            <a:ext cx="5914440" cy="3885480"/>
          </a:xfrm>
          <a:prstGeom prst="rect">
            <a:avLst/>
          </a:prstGeom>
          <a:noFill/>
          <a:ln w="0">
            <a:noFill/>
          </a:ln>
        </p:spPr>
      </p:pic>
      <p:pic>
        <p:nvPicPr>
          <p:cNvPr id="105" name="Picture 5" descr="fig1203e.gif"/>
          <p:cNvPicPr/>
          <p:nvPr/>
        </p:nvPicPr>
        <p:blipFill>
          <a:blip r:embed="rId5"/>
          <a:stretch/>
        </p:blipFill>
        <p:spPr>
          <a:xfrm>
            <a:off x="2879640" y="2124000"/>
            <a:ext cx="5914440" cy="3885480"/>
          </a:xfrm>
          <a:prstGeom prst="rect">
            <a:avLst/>
          </a:prstGeom>
          <a:noFill/>
          <a:ln w="0">
            <a:noFill/>
          </a:ln>
        </p:spPr>
      </p:pic>
      <p:pic>
        <p:nvPicPr>
          <p:cNvPr id="106" name="Picture 6" descr="fig1203f.gif"/>
          <p:cNvPicPr/>
          <p:nvPr/>
        </p:nvPicPr>
        <p:blipFill>
          <a:blip r:embed="rId6"/>
          <a:stretch/>
        </p:blipFill>
        <p:spPr>
          <a:xfrm>
            <a:off x="2879640" y="2124000"/>
            <a:ext cx="5914440" cy="3885480"/>
          </a:xfrm>
          <a:prstGeom prst="rect">
            <a:avLst/>
          </a:prstGeom>
          <a:noFill/>
          <a:ln w="0">
            <a:noFill/>
          </a:ln>
        </p:spPr>
      </p:pic>
      <p:pic>
        <p:nvPicPr>
          <p:cNvPr id="107" name="Picture 7" descr="fig1203g.gif"/>
          <p:cNvPicPr/>
          <p:nvPr/>
        </p:nvPicPr>
        <p:blipFill>
          <a:blip r:embed="rId7"/>
          <a:stretch/>
        </p:blipFill>
        <p:spPr>
          <a:xfrm>
            <a:off x="2879640" y="2124000"/>
            <a:ext cx="5914440" cy="3885480"/>
          </a:xfrm>
          <a:prstGeom prst="rect">
            <a:avLst/>
          </a:prstGeom>
          <a:noFill/>
          <a:ln w="0">
            <a:noFill/>
          </a:ln>
        </p:spPr>
      </p:pic>
    </p:spTree>
  </p:cSld>
  <p:transition spd="slow">
    <p:wipe dir="r"/>
  </p:transition>
  <p:timing>
    <p:tnLst>
      <p:par>
        <p:cTn id="205" dur="indefinite" restart="never" nodeType="tmRoot">
          <p:childTnLst>
            <p:seq>
              <p:cTn id="206" dur="indefinite" nodeType="mainSeq">
                <p:childTnLst>
                  <p:par>
                    <p:cTn id="207" nodeType="clickEffect" fill="hold">
                      <p:stCondLst>
                        <p:cond delay="indefinite"/>
                      </p:stCondLst>
                      <p:childTnLst>
                        <p:par>
                          <p:cTn id="208" nodeType="withEffect" fill="hold">
                            <p:stCondLst>
                              <p:cond delay="0"/>
                            </p:stCondLst>
                            <p:childTnLst>
                              <p:par>
                                <p:cTn id="209" nodeType="clickEffect" fill="hold" presetClass="entr" presetID="22" presetSubtype="8">
                                  <p:stCondLst>
                                    <p:cond delay="0"/>
                                  </p:stCondLst>
                                  <p:childTnLst>
                                    <p:set>
                                      <p:cBhvr>
                                        <p:cTn id="210" dur="1" fill="hold">
                                          <p:stCondLst>
                                            <p:cond delay="0"/>
                                          </p:stCondLst>
                                        </p:cTn>
                                        <p:tgtEl>
                                          <p:spTgt spid="100"/>
                                        </p:tgtEl>
                                        <p:attrNameLst>
                                          <p:attrName>style.visibility</p:attrName>
                                        </p:attrNameLst>
                                      </p:cBhvr>
                                      <p:to>
                                        <p:strVal val="visible"/>
                                      </p:to>
                                    </p:set>
                                    <p:animEffect filter="wipe(left)" transition="in">
                                      <p:cBhvr additive="repl">
                                        <p:cTn id="211" dur="500"/>
                                        <p:tgtEl>
                                          <p:spTgt spid="1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108" name="Picture 1" descr="fig1203a.gif"/>
          <p:cNvPicPr/>
          <p:nvPr/>
        </p:nvPicPr>
        <p:blipFill>
          <a:blip r:embed="rId1"/>
          <a:stretch/>
        </p:blipFill>
        <p:spPr>
          <a:xfrm>
            <a:off x="228600" y="838080"/>
            <a:ext cx="8379720" cy="5504760"/>
          </a:xfrm>
          <a:prstGeom prst="rect">
            <a:avLst/>
          </a:prstGeom>
          <a:noFill/>
          <a:ln w="0">
            <a:noFill/>
          </a:ln>
        </p:spPr>
      </p:pic>
      <p:pic>
        <p:nvPicPr>
          <p:cNvPr id="109" name="Picture 2" descr="fig1203b.gif"/>
          <p:cNvPicPr/>
          <p:nvPr/>
        </p:nvPicPr>
        <p:blipFill>
          <a:blip r:embed="rId2"/>
          <a:stretch/>
        </p:blipFill>
        <p:spPr>
          <a:xfrm>
            <a:off x="228600" y="838080"/>
            <a:ext cx="8379720" cy="5504760"/>
          </a:xfrm>
          <a:prstGeom prst="rect">
            <a:avLst/>
          </a:prstGeom>
          <a:noFill/>
          <a:ln w="0">
            <a:noFill/>
          </a:ln>
        </p:spPr>
      </p:pic>
      <p:pic>
        <p:nvPicPr>
          <p:cNvPr id="110" name="Picture 3" descr="fig1203c.gif"/>
          <p:cNvPicPr/>
          <p:nvPr/>
        </p:nvPicPr>
        <p:blipFill>
          <a:blip r:embed="rId3"/>
          <a:stretch/>
        </p:blipFill>
        <p:spPr>
          <a:xfrm>
            <a:off x="228600" y="838080"/>
            <a:ext cx="8379720" cy="5504760"/>
          </a:xfrm>
          <a:prstGeom prst="rect">
            <a:avLst/>
          </a:prstGeom>
          <a:noFill/>
          <a:ln w="0">
            <a:noFill/>
          </a:ln>
        </p:spPr>
      </p:pic>
      <p:pic>
        <p:nvPicPr>
          <p:cNvPr id="111" name="Picture 4" descr="fig1203d.gif"/>
          <p:cNvPicPr/>
          <p:nvPr/>
        </p:nvPicPr>
        <p:blipFill>
          <a:blip r:embed="rId4"/>
          <a:stretch/>
        </p:blipFill>
        <p:spPr>
          <a:xfrm>
            <a:off x="228600" y="838080"/>
            <a:ext cx="8379720" cy="5504760"/>
          </a:xfrm>
          <a:prstGeom prst="rect">
            <a:avLst/>
          </a:prstGeom>
          <a:noFill/>
          <a:ln w="0">
            <a:noFill/>
          </a:ln>
        </p:spPr>
      </p:pic>
      <p:pic>
        <p:nvPicPr>
          <p:cNvPr id="112" name="Picture 5" descr="fig1203e.gif"/>
          <p:cNvPicPr/>
          <p:nvPr/>
        </p:nvPicPr>
        <p:blipFill>
          <a:blip r:embed="rId5"/>
          <a:stretch/>
        </p:blipFill>
        <p:spPr>
          <a:xfrm>
            <a:off x="228600" y="838080"/>
            <a:ext cx="8379720" cy="5504760"/>
          </a:xfrm>
          <a:prstGeom prst="rect">
            <a:avLst/>
          </a:prstGeom>
          <a:noFill/>
          <a:ln w="0">
            <a:noFill/>
          </a:ln>
        </p:spPr>
      </p:pic>
      <p:pic>
        <p:nvPicPr>
          <p:cNvPr id="113" name="Picture 6" descr="fig1203f.gif"/>
          <p:cNvPicPr/>
          <p:nvPr/>
        </p:nvPicPr>
        <p:blipFill>
          <a:blip r:embed="rId6"/>
          <a:stretch/>
        </p:blipFill>
        <p:spPr>
          <a:xfrm>
            <a:off x="228600" y="838080"/>
            <a:ext cx="8379720" cy="5504760"/>
          </a:xfrm>
          <a:prstGeom prst="rect">
            <a:avLst/>
          </a:prstGeom>
          <a:noFill/>
          <a:ln w="0">
            <a:noFill/>
          </a:ln>
        </p:spPr>
      </p:pic>
      <p:pic>
        <p:nvPicPr>
          <p:cNvPr id="114" name="Picture 7" descr="fig1203g.gif"/>
          <p:cNvPicPr/>
          <p:nvPr/>
        </p:nvPicPr>
        <p:blipFill>
          <a:blip r:embed="rId7"/>
          <a:stretch/>
        </p:blipFill>
        <p:spPr>
          <a:xfrm>
            <a:off x="228600" y="838080"/>
            <a:ext cx="8379720" cy="5504760"/>
          </a:xfrm>
          <a:prstGeom prst="rect">
            <a:avLst/>
          </a:prstGeom>
          <a:noFill/>
          <a:ln w="0">
            <a:noFill/>
          </a:ln>
        </p:spPr>
      </p:pic>
      <p:pic>
        <p:nvPicPr>
          <p:cNvPr id="115" name="Picture 8" descr="fig1203h.gif"/>
          <p:cNvPicPr/>
          <p:nvPr/>
        </p:nvPicPr>
        <p:blipFill>
          <a:blip r:embed="rId8"/>
          <a:stretch/>
        </p:blipFill>
        <p:spPr>
          <a:xfrm>
            <a:off x="228600" y="838080"/>
            <a:ext cx="8379720" cy="5504760"/>
          </a:xfrm>
          <a:prstGeom prst="rect">
            <a:avLst/>
          </a:prstGeom>
          <a:noFill/>
          <a:ln w="0">
            <a:noFill/>
          </a:ln>
        </p:spPr>
      </p:pic>
    </p:spTree>
  </p:cSld>
  <p:transition spd="slow">
    <p:wipe dir="r"/>
  </p:transition>
  <p:timing>
    <p:tnLst>
      <p:par>
        <p:cTn id="212" dur="indefinite" restart="never" nodeType="tmRoot">
          <p:childTnLst>
            <p:seq>
              <p:cTn id="213" dur="indefinite" nodeType="mainSeq">
                <p:childTnLst>
                  <p:par>
                    <p:cTn id="214" nodeType="clickEffect" fill="hold">
                      <p:stCondLst>
                        <p:cond delay="indefinite"/>
                      </p:stCondLst>
                      <p:childTnLst>
                        <p:par>
                          <p:cTn id="215" nodeType="withEffect" fill="hold">
                            <p:stCondLst>
                              <p:cond delay="0"/>
                            </p:stCondLst>
                            <p:childTnLst>
                              <p:par>
                                <p:cTn id="216" nodeType="clickEffect" fill="hold" presetClass="entr" presetID="22" presetSubtype="8">
                                  <p:stCondLst>
                                    <p:cond delay="0"/>
                                  </p:stCondLst>
                                  <p:childTnLst>
                                    <p:set>
                                      <p:cBhvr>
                                        <p:cTn id="217" dur="1" fill="hold">
                                          <p:stCondLst>
                                            <p:cond delay="0"/>
                                          </p:stCondLst>
                                        </p:cTn>
                                        <p:tgtEl>
                                          <p:spTgt spid="109"/>
                                        </p:tgtEl>
                                        <p:attrNameLst>
                                          <p:attrName>style.visibility</p:attrName>
                                        </p:attrNameLst>
                                      </p:cBhvr>
                                      <p:to>
                                        <p:strVal val="visible"/>
                                      </p:to>
                                    </p:set>
                                    <p:animEffect filter="wipe(left)" transition="in">
                                      <p:cBhvr additive="repl">
                                        <p:cTn id="218" dur="1000"/>
                                        <p:tgtEl>
                                          <p:spTgt spid="109"/>
                                        </p:tgtEl>
                                      </p:cBhvr>
                                    </p:animEffect>
                                  </p:childTnLst>
                                </p:cTn>
                              </p:par>
                            </p:childTnLst>
                          </p:cTn>
                        </p:par>
                      </p:childTnLst>
                    </p:cTn>
                  </p:par>
                  <p:par>
                    <p:cTn id="219" nodeType="clickEffect" fill="hold">
                      <p:stCondLst>
                        <p:cond delay="indefinite"/>
                      </p:stCondLst>
                      <p:childTnLst>
                        <p:par>
                          <p:cTn id="220" nodeType="withEffect" fill="hold">
                            <p:stCondLst>
                              <p:cond delay="0"/>
                            </p:stCondLst>
                            <p:childTnLst>
                              <p:par>
                                <p:cTn id="221" nodeType="clickEffect" fill="hold" presetClass="entr" presetID="22" presetSubtype="8">
                                  <p:stCondLst>
                                    <p:cond delay="0"/>
                                  </p:stCondLst>
                                  <p:childTnLst>
                                    <p:set>
                                      <p:cBhvr>
                                        <p:cTn id="222" dur="1" fill="hold">
                                          <p:stCondLst>
                                            <p:cond delay="0"/>
                                          </p:stCondLst>
                                        </p:cTn>
                                        <p:tgtEl>
                                          <p:spTgt spid="110"/>
                                        </p:tgtEl>
                                        <p:attrNameLst>
                                          <p:attrName>style.visibility</p:attrName>
                                        </p:attrNameLst>
                                      </p:cBhvr>
                                      <p:to>
                                        <p:strVal val="visible"/>
                                      </p:to>
                                    </p:set>
                                    <p:animEffect filter="wipe(left)" transition="in">
                                      <p:cBhvr additive="repl">
                                        <p:cTn id="223" dur="1000"/>
                                        <p:tgtEl>
                                          <p:spTgt spid="110"/>
                                        </p:tgtEl>
                                      </p:cBhvr>
                                    </p:animEffect>
                                  </p:childTnLst>
                                </p:cTn>
                              </p:par>
                            </p:childTnLst>
                          </p:cTn>
                        </p:par>
                      </p:childTnLst>
                    </p:cTn>
                  </p:par>
                  <p:par>
                    <p:cTn id="224" nodeType="clickEffect" fill="hold">
                      <p:stCondLst>
                        <p:cond delay="indefinite"/>
                      </p:stCondLst>
                      <p:childTnLst>
                        <p:par>
                          <p:cTn id="225" nodeType="withEffect" fill="hold">
                            <p:stCondLst>
                              <p:cond delay="0"/>
                            </p:stCondLst>
                            <p:childTnLst>
                              <p:par>
                                <p:cTn id="226" nodeType="clickEffect" fill="hold" presetClass="entr" presetID="22" presetSubtype="8">
                                  <p:stCondLst>
                                    <p:cond delay="0"/>
                                  </p:stCondLst>
                                  <p:childTnLst>
                                    <p:set>
                                      <p:cBhvr>
                                        <p:cTn id="227" dur="1" fill="hold">
                                          <p:stCondLst>
                                            <p:cond delay="0"/>
                                          </p:stCondLst>
                                        </p:cTn>
                                        <p:tgtEl>
                                          <p:spTgt spid="111"/>
                                        </p:tgtEl>
                                        <p:attrNameLst>
                                          <p:attrName>style.visibility</p:attrName>
                                        </p:attrNameLst>
                                      </p:cBhvr>
                                      <p:to>
                                        <p:strVal val="visible"/>
                                      </p:to>
                                    </p:set>
                                    <p:animEffect filter="wipe(left)" transition="in">
                                      <p:cBhvr additive="repl">
                                        <p:cTn id="228" dur="1000"/>
                                        <p:tgtEl>
                                          <p:spTgt spid="111"/>
                                        </p:tgtEl>
                                      </p:cBhvr>
                                    </p:animEffect>
                                  </p:childTnLst>
                                </p:cTn>
                              </p:par>
                            </p:childTnLst>
                          </p:cTn>
                        </p:par>
                      </p:childTnLst>
                    </p:cTn>
                  </p:par>
                  <p:par>
                    <p:cTn id="229" nodeType="clickEffect" fill="hold">
                      <p:stCondLst>
                        <p:cond delay="indefinite"/>
                      </p:stCondLst>
                      <p:childTnLst>
                        <p:par>
                          <p:cTn id="230" nodeType="withEffect" fill="hold">
                            <p:stCondLst>
                              <p:cond delay="0"/>
                            </p:stCondLst>
                            <p:childTnLst>
                              <p:par>
                                <p:cTn id="231" nodeType="clickEffect" fill="hold" presetClass="entr" presetID="22" presetSubtype="8">
                                  <p:stCondLst>
                                    <p:cond delay="0"/>
                                  </p:stCondLst>
                                  <p:childTnLst>
                                    <p:set>
                                      <p:cBhvr>
                                        <p:cTn id="232" dur="1" fill="hold">
                                          <p:stCondLst>
                                            <p:cond delay="0"/>
                                          </p:stCondLst>
                                        </p:cTn>
                                        <p:tgtEl>
                                          <p:spTgt spid="112"/>
                                        </p:tgtEl>
                                        <p:attrNameLst>
                                          <p:attrName>style.visibility</p:attrName>
                                        </p:attrNameLst>
                                      </p:cBhvr>
                                      <p:to>
                                        <p:strVal val="visible"/>
                                      </p:to>
                                    </p:set>
                                    <p:animEffect filter="wipe(left)" transition="in">
                                      <p:cBhvr additive="repl">
                                        <p:cTn id="233" dur="1000"/>
                                        <p:tgtEl>
                                          <p:spTgt spid="112"/>
                                        </p:tgtEl>
                                      </p:cBhvr>
                                    </p:animEffect>
                                  </p:childTnLst>
                                </p:cTn>
                              </p:par>
                            </p:childTnLst>
                          </p:cTn>
                        </p:par>
                      </p:childTnLst>
                    </p:cTn>
                  </p:par>
                  <p:par>
                    <p:cTn id="234" nodeType="clickEffect" fill="hold">
                      <p:stCondLst>
                        <p:cond delay="indefinite"/>
                      </p:stCondLst>
                      <p:childTnLst>
                        <p:par>
                          <p:cTn id="235" nodeType="withEffect" fill="hold">
                            <p:stCondLst>
                              <p:cond delay="0"/>
                            </p:stCondLst>
                            <p:childTnLst>
                              <p:par>
                                <p:cTn id="236" nodeType="clickEffect" fill="hold" presetClass="entr" presetID="22" presetSubtype="8">
                                  <p:stCondLst>
                                    <p:cond delay="0"/>
                                  </p:stCondLst>
                                  <p:childTnLst>
                                    <p:set>
                                      <p:cBhvr>
                                        <p:cTn id="237" dur="1" fill="hold">
                                          <p:stCondLst>
                                            <p:cond delay="0"/>
                                          </p:stCondLst>
                                        </p:cTn>
                                        <p:tgtEl>
                                          <p:spTgt spid="113"/>
                                        </p:tgtEl>
                                        <p:attrNameLst>
                                          <p:attrName>style.visibility</p:attrName>
                                        </p:attrNameLst>
                                      </p:cBhvr>
                                      <p:to>
                                        <p:strVal val="visible"/>
                                      </p:to>
                                    </p:set>
                                    <p:animEffect filter="wipe(left)" transition="in">
                                      <p:cBhvr additive="repl">
                                        <p:cTn id="238" dur="1000"/>
                                        <p:tgtEl>
                                          <p:spTgt spid="113"/>
                                        </p:tgtEl>
                                      </p:cBhvr>
                                    </p:animEffect>
                                  </p:childTnLst>
                                </p:cTn>
                              </p:par>
                            </p:childTnLst>
                          </p:cTn>
                        </p:par>
                      </p:childTnLst>
                    </p:cTn>
                  </p:par>
                  <p:par>
                    <p:cTn id="239" nodeType="clickEffect" fill="hold">
                      <p:stCondLst>
                        <p:cond delay="indefinite"/>
                      </p:stCondLst>
                      <p:childTnLst>
                        <p:par>
                          <p:cTn id="240" nodeType="withEffect" fill="hold">
                            <p:stCondLst>
                              <p:cond delay="0"/>
                            </p:stCondLst>
                            <p:childTnLst>
                              <p:par>
                                <p:cTn id="241" nodeType="clickEffect" fill="hold" presetClass="entr" presetID="22" presetSubtype="8">
                                  <p:stCondLst>
                                    <p:cond delay="0"/>
                                  </p:stCondLst>
                                  <p:childTnLst>
                                    <p:set>
                                      <p:cBhvr>
                                        <p:cTn id="242" dur="1" fill="hold">
                                          <p:stCondLst>
                                            <p:cond delay="0"/>
                                          </p:stCondLst>
                                        </p:cTn>
                                        <p:tgtEl>
                                          <p:spTgt spid="114"/>
                                        </p:tgtEl>
                                        <p:attrNameLst>
                                          <p:attrName>style.visibility</p:attrName>
                                        </p:attrNameLst>
                                      </p:cBhvr>
                                      <p:to>
                                        <p:strVal val="visible"/>
                                      </p:to>
                                    </p:set>
                                    <p:animEffect filter="wipe(left)" transition="in">
                                      <p:cBhvr additive="repl">
                                        <p:cTn id="243" dur="1000"/>
                                        <p:tgtEl>
                                          <p:spTgt spid="114"/>
                                        </p:tgtEl>
                                      </p:cBhvr>
                                    </p:animEffect>
                                  </p:childTnLst>
                                </p:cTn>
                              </p:par>
                            </p:childTnLst>
                          </p:cTn>
                        </p:par>
                      </p:childTnLst>
                    </p:cTn>
                  </p:par>
                  <p:par>
                    <p:cTn id="244" nodeType="clickEffect" fill="hold">
                      <p:stCondLst>
                        <p:cond delay="indefinite"/>
                      </p:stCondLst>
                      <p:childTnLst>
                        <p:par>
                          <p:cTn id="245" nodeType="withEffect" fill="hold">
                            <p:stCondLst>
                              <p:cond delay="0"/>
                            </p:stCondLst>
                            <p:childTnLst>
                              <p:par>
                                <p:cTn id="246" nodeType="clickEffect" fill="hold" presetClass="entr" presetID="22" presetSubtype="8">
                                  <p:stCondLst>
                                    <p:cond delay="0"/>
                                  </p:stCondLst>
                                  <p:childTnLst>
                                    <p:set>
                                      <p:cBhvr>
                                        <p:cTn id="247" dur="1" fill="hold">
                                          <p:stCondLst>
                                            <p:cond delay="0"/>
                                          </p:stCondLst>
                                        </p:cTn>
                                        <p:tgtEl>
                                          <p:spTgt spid="115"/>
                                        </p:tgtEl>
                                        <p:attrNameLst>
                                          <p:attrName>style.visibility</p:attrName>
                                        </p:attrNameLst>
                                      </p:cBhvr>
                                      <p:to>
                                        <p:strVal val="visible"/>
                                      </p:to>
                                    </p:set>
                                    <p:animEffect filter="wipe(left)" transition="in">
                                      <p:cBhvr additive="repl">
                                        <p:cTn id="248" dur="1000"/>
                                        <p:tgtEl>
                                          <p:spTgt spid="1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13.1  CONSUMPTION POSSIBILITIES</a:t>
            </a:r>
            <a:endParaRPr b="0" lang="en-US" sz="2600" strike="noStrike" u="none">
              <a:solidFill>
                <a:srgbClr val="000000"/>
              </a:solidFill>
              <a:effectLst/>
              <a:uFillTx/>
              <a:latin typeface="Arial"/>
            </a:endParaRPr>
          </a:p>
        </p:txBody>
      </p:sp>
      <p:sp>
        <p:nvSpPr>
          <p:cNvPr id="117" name="PlaceHolder 2"/>
          <p:cNvSpPr>
            <a:spLocks noGrp="1"/>
          </p:cNvSpPr>
          <p:nvPr>
            <p:ph/>
          </p:nvPr>
        </p:nvSpPr>
        <p:spPr>
          <a:xfrm>
            <a:off x="360360" y="1440000"/>
            <a:ext cx="830016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When the price of water falls from $1 a bottle to 50¢ a bottle, </a:t>
            </a:r>
            <a:endParaRPr b="0" lang="en-US" sz="2400" strike="noStrike" u="none">
              <a:solidFill>
                <a:srgbClr val="000000"/>
              </a:solidFill>
              <a:effectLst/>
              <a:uFillTx/>
              <a:latin typeface="Arial"/>
            </a:endParaRPr>
          </a:p>
          <a:p>
            <a:pPr marL="360000" indent="0">
              <a:lnSpc>
                <a:spcPct val="100000"/>
              </a:lnSpc>
              <a:spcBef>
                <a:spcPts val="561"/>
              </a:spcBef>
              <a:buNone/>
              <a:tabLst>
                <a:tab algn="l" pos="0"/>
              </a:tabLst>
            </a:pPr>
            <a:endParaRPr b="0" lang="en-US" sz="2800" strike="noStrike" u="none">
              <a:solidFill>
                <a:srgbClr val="000000"/>
              </a:solidFill>
              <a:effectLst/>
              <a:uFillTx/>
              <a:latin typeface="Arial"/>
            </a:endParaRPr>
          </a:p>
        </p:txBody>
      </p:sp>
      <p:sp>
        <p:nvSpPr>
          <p:cNvPr id="118" name="Rectangle 1027"/>
          <p:cNvSpPr/>
          <p:nvPr/>
        </p:nvSpPr>
        <p:spPr>
          <a:xfrm>
            <a:off x="360360" y="2362320"/>
            <a:ext cx="2518560" cy="3504600"/>
          </a:xfrm>
          <a:prstGeom prst="rect">
            <a:avLst/>
          </a:prstGeom>
          <a:noFill/>
          <a:ln w="0">
            <a:noFill/>
          </a:ln>
        </p:spPr>
        <p:style>
          <a:lnRef idx="0"/>
          <a:fillRef idx="0"/>
          <a:effectRef idx="0"/>
          <a:fontRef idx="minor"/>
        </p:style>
        <p:txBody>
          <a:bodyPr lIns="90000" rIns="90000" tIns="45000" bIns="45000" anchor="t">
            <a:noAutofit/>
          </a:bodyPr>
          <a:p>
            <a:pPr marL="360000">
              <a:lnSpc>
                <a:spcPct val="100000"/>
              </a:lnSpc>
              <a:spcBef>
                <a:spcPts val="601"/>
              </a:spcBef>
              <a:spcAft>
                <a:spcPts val="601"/>
              </a:spcAft>
            </a:pPr>
            <a:r>
              <a:rPr b="0" lang="en-US" sz="2400" strike="noStrike" u="none">
                <a:solidFill>
                  <a:schemeClr val="dk1"/>
                </a:solidFill>
                <a:effectLst/>
                <a:uFillTx/>
                <a:latin typeface="Arial"/>
                <a:ea typeface="ＭＳ Ｐゴシック"/>
              </a:rPr>
              <a:t>the budget line rotates outward and becomes less steep.</a:t>
            </a:r>
            <a:endParaRPr b="0" lang="en-US" sz="2400" strike="noStrike" u="none">
              <a:solidFill>
                <a:srgbClr val="000000"/>
              </a:solidFill>
              <a:effectLst/>
              <a:uFillTx/>
              <a:latin typeface="Arial"/>
            </a:endParaRPr>
          </a:p>
        </p:txBody>
      </p:sp>
      <p:pic>
        <p:nvPicPr>
          <p:cNvPr id="119" name="Picture 1" descr="fig1203a.gif"/>
          <p:cNvPicPr/>
          <p:nvPr/>
        </p:nvPicPr>
        <p:blipFill>
          <a:blip r:embed="rId1"/>
          <a:stretch/>
        </p:blipFill>
        <p:spPr>
          <a:xfrm>
            <a:off x="2879640" y="2124000"/>
            <a:ext cx="5914440" cy="3885480"/>
          </a:xfrm>
          <a:prstGeom prst="rect">
            <a:avLst/>
          </a:prstGeom>
          <a:noFill/>
          <a:ln w="0">
            <a:noFill/>
          </a:ln>
        </p:spPr>
      </p:pic>
      <p:pic>
        <p:nvPicPr>
          <p:cNvPr id="120" name="Picture 2" descr="fig1203b.gif"/>
          <p:cNvPicPr/>
          <p:nvPr/>
        </p:nvPicPr>
        <p:blipFill>
          <a:blip r:embed="rId2"/>
          <a:stretch/>
        </p:blipFill>
        <p:spPr>
          <a:xfrm>
            <a:off x="2879640" y="2124000"/>
            <a:ext cx="5914440" cy="3885480"/>
          </a:xfrm>
          <a:prstGeom prst="rect">
            <a:avLst/>
          </a:prstGeom>
          <a:noFill/>
          <a:ln w="0">
            <a:noFill/>
          </a:ln>
        </p:spPr>
      </p:pic>
      <p:pic>
        <p:nvPicPr>
          <p:cNvPr id="121" name="Picture 3" descr="fig1203c.gif"/>
          <p:cNvPicPr/>
          <p:nvPr/>
        </p:nvPicPr>
        <p:blipFill>
          <a:blip r:embed="rId3"/>
          <a:stretch/>
        </p:blipFill>
        <p:spPr>
          <a:xfrm>
            <a:off x="2879640" y="2124000"/>
            <a:ext cx="5914440" cy="3885480"/>
          </a:xfrm>
          <a:prstGeom prst="rect">
            <a:avLst/>
          </a:prstGeom>
          <a:noFill/>
          <a:ln w="0">
            <a:noFill/>
          </a:ln>
        </p:spPr>
      </p:pic>
      <p:pic>
        <p:nvPicPr>
          <p:cNvPr id="122" name="Picture 4" descr="fig1203d.gif"/>
          <p:cNvPicPr/>
          <p:nvPr/>
        </p:nvPicPr>
        <p:blipFill>
          <a:blip r:embed="rId4"/>
          <a:stretch/>
        </p:blipFill>
        <p:spPr>
          <a:xfrm>
            <a:off x="2879640" y="2124000"/>
            <a:ext cx="5914440" cy="3885480"/>
          </a:xfrm>
          <a:prstGeom prst="rect">
            <a:avLst/>
          </a:prstGeom>
          <a:noFill/>
          <a:ln w="0">
            <a:noFill/>
          </a:ln>
        </p:spPr>
      </p:pic>
      <p:pic>
        <p:nvPicPr>
          <p:cNvPr id="123" name="Picture 5" descr="fig1203e.gif"/>
          <p:cNvPicPr/>
          <p:nvPr/>
        </p:nvPicPr>
        <p:blipFill>
          <a:blip r:embed="rId5"/>
          <a:stretch/>
        </p:blipFill>
        <p:spPr>
          <a:xfrm>
            <a:off x="2879640" y="2124000"/>
            <a:ext cx="5914440" cy="3885480"/>
          </a:xfrm>
          <a:prstGeom prst="rect">
            <a:avLst/>
          </a:prstGeom>
          <a:noFill/>
          <a:ln w="0">
            <a:noFill/>
          </a:ln>
        </p:spPr>
      </p:pic>
      <p:pic>
        <p:nvPicPr>
          <p:cNvPr id="124" name="Picture 6" descr="fig1203f.gif"/>
          <p:cNvPicPr/>
          <p:nvPr/>
        </p:nvPicPr>
        <p:blipFill>
          <a:blip r:embed="rId6"/>
          <a:stretch/>
        </p:blipFill>
        <p:spPr>
          <a:xfrm>
            <a:off x="2879640" y="2124000"/>
            <a:ext cx="5914440" cy="3885480"/>
          </a:xfrm>
          <a:prstGeom prst="rect">
            <a:avLst/>
          </a:prstGeom>
          <a:noFill/>
          <a:ln w="0">
            <a:noFill/>
          </a:ln>
        </p:spPr>
      </p:pic>
      <p:pic>
        <p:nvPicPr>
          <p:cNvPr id="125" name="Picture 7" descr="fig1203g.gif"/>
          <p:cNvPicPr/>
          <p:nvPr/>
        </p:nvPicPr>
        <p:blipFill>
          <a:blip r:embed="rId7"/>
          <a:stretch/>
        </p:blipFill>
        <p:spPr>
          <a:xfrm>
            <a:off x="2879640" y="2124000"/>
            <a:ext cx="5914440" cy="3885480"/>
          </a:xfrm>
          <a:prstGeom prst="rect">
            <a:avLst/>
          </a:prstGeom>
          <a:noFill/>
          <a:ln w="0">
            <a:noFill/>
          </a:ln>
        </p:spPr>
      </p:pic>
      <p:pic>
        <p:nvPicPr>
          <p:cNvPr id="126" name="Picture 8" descr="fig1203h.gif"/>
          <p:cNvPicPr/>
          <p:nvPr/>
        </p:nvPicPr>
        <p:blipFill>
          <a:blip r:embed="rId8"/>
          <a:stretch/>
        </p:blipFill>
        <p:spPr>
          <a:xfrm>
            <a:off x="2879640" y="2124000"/>
            <a:ext cx="5914440" cy="3885480"/>
          </a:xfrm>
          <a:prstGeom prst="rect">
            <a:avLst/>
          </a:prstGeom>
          <a:noFill/>
          <a:ln w="0">
            <a:noFill/>
          </a:ln>
        </p:spPr>
      </p:pic>
    </p:spTree>
  </p:cSld>
  <p:transition spd="slow">
    <p:wipe dir="r"/>
  </p:transition>
  <p:timing>
    <p:tnLst>
      <p:par>
        <p:cTn id="249" dur="indefinite" restart="never" nodeType="tmRoot">
          <p:childTnLst>
            <p:seq>
              <p:cTn id="250" dur="indefinite" nodeType="mainSeq">
                <p:childTnLst>
                  <p:par>
                    <p:cTn id="251" nodeType="clickEffect" fill="hold">
                      <p:stCondLst>
                        <p:cond delay="indefinite"/>
                      </p:stCondLst>
                      <p:childTnLst>
                        <p:par>
                          <p:cTn id="252" nodeType="withEffect" fill="hold">
                            <p:stCondLst>
                              <p:cond delay="0"/>
                            </p:stCondLst>
                            <p:childTnLst>
                              <p:par>
                                <p:cTn id="253" nodeType="clickEffect" fill="hold" presetClass="entr" presetID="22" presetSubtype="8">
                                  <p:stCondLst>
                                    <p:cond delay="0"/>
                                  </p:stCondLst>
                                  <p:childTnLst>
                                    <p:set>
                                      <p:cBhvr>
                                        <p:cTn id="254" dur="1" fill="hold">
                                          <p:stCondLst>
                                            <p:cond delay="0"/>
                                          </p:stCondLst>
                                        </p:cTn>
                                        <p:tgtEl>
                                          <p:spTgt spid="118">
                                            <p:txEl>
                                              <p:pRg st="0" end="0"/>
                                            </p:txEl>
                                          </p:spTgt>
                                        </p:tgtEl>
                                        <p:attrNameLst>
                                          <p:attrName>style.visibility</p:attrName>
                                        </p:attrNameLst>
                                      </p:cBhvr>
                                      <p:to>
                                        <p:strVal val="visible"/>
                                      </p:to>
                                    </p:set>
                                    <p:animEffect filter="wipe(left)" transition="in">
                                      <p:cBhvr additive="repl">
                                        <p:cTn id="255" dur="500"/>
                                        <p:tgtEl>
                                          <p:spTgt spid="118">
                                            <p:txEl>
                                              <p:pRg st="0" end="0"/>
                                            </p:txEl>
                                          </p:spTgt>
                                        </p:tgtEl>
                                      </p:cBhvr>
                                    </p:animEffect>
                                  </p:childTnLst>
                                </p:cTn>
                              </p:par>
                              <p:par>
                                <p:cTn id="256" nodeType="withEffect" fill="hold" presetClass="entr" presetID="22" presetSubtype="8">
                                  <p:stCondLst>
                                    <p:cond delay="0"/>
                                  </p:stCondLst>
                                  <p:childTnLst>
                                    <p:set>
                                      <p:cBhvr>
                                        <p:cTn id="257" dur="1" fill="hold">
                                          <p:stCondLst>
                                            <p:cond delay="0"/>
                                          </p:stCondLst>
                                        </p:cTn>
                                        <p:tgtEl>
                                          <p:spTgt spid="126"/>
                                        </p:tgtEl>
                                        <p:attrNameLst>
                                          <p:attrName>style.visibility</p:attrName>
                                        </p:attrNameLst>
                                      </p:cBhvr>
                                      <p:to>
                                        <p:strVal val="visible"/>
                                      </p:to>
                                    </p:set>
                                    <p:animEffect filter="wipe(left)" transition="in">
                                      <p:cBhvr additive="repl">
                                        <p:cTn id="258" dur="1000"/>
                                        <p:tgtEl>
                                          <p:spTgt spid="1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13.1  CONSUMPTION POSSIBILITIES</a:t>
            </a:r>
            <a:endParaRPr b="0" lang="en-US" sz="2600" strike="noStrike" u="none">
              <a:solidFill>
                <a:srgbClr val="000000"/>
              </a:solidFill>
              <a:effectLst/>
              <a:uFillTx/>
              <a:latin typeface="Arial"/>
            </a:endParaRPr>
          </a:p>
        </p:txBody>
      </p:sp>
      <p:sp>
        <p:nvSpPr>
          <p:cNvPr id="128" name="PlaceHolder 2"/>
          <p:cNvSpPr>
            <a:spLocks noGrp="1"/>
          </p:cNvSpPr>
          <p:nvPr>
            <p:ph/>
          </p:nvPr>
        </p:nvSpPr>
        <p:spPr>
          <a:xfrm>
            <a:off x="360360" y="1440000"/>
            <a:ext cx="840204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Figure 13.4 shows the effect of a rise in the price of water.</a:t>
            </a:r>
            <a:endParaRPr b="0" lang="en-US" sz="2400" strike="noStrike" u="none">
              <a:solidFill>
                <a:srgbClr val="000000"/>
              </a:solidFill>
              <a:effectLst/>
              <a:uFillTx/>
              <a:latin typeface="Arial"/>
            </a:endParaRPr>
          </a:p>
        </p:txBody>
      </p:sp>
      <p:sp>
        <p:nvSpPr>
          <p:cNvPr id="129" name="Rectangle 24"/>
          <p:cNvSpPr/>
          <p:nvPr/>
        </p:nvSpPr>
        <p:spPr>
          <a:xfrm>
            <a:off x="360360" y="2052720"/>
            <a:ext cx="2590200" cy="2742480"/>
          </a:xfrm>
          <a:prstGeom prst="rect">
            <a:avLst/>
          </a:prstGeom>
          <a:noFill/>
          <a:ln w="0">
            <a:noFill/>
          </a:ln>
        </p:spPr>
        <p:style>
          <a:lnRef idx="0"/>
          <a:fillRef idx="0"/>
          <a:effectRef idx="0"/>
          <a:fontRef idx="minor"/>
        </p:style>
        <p:txBody>
          <a:bodyPr lIns="90000" rIns="90000" tIns="45000" bIns="45000" anchor="t">
            <a:noAutofit/>
          </a:bodyPr>
          <a:p>
            <a:pPr marL="360000">
              <a:lnSpc>
                <a:spcPct val="100000"/>
              </a:lnSpc>
              <a:spcBef>
                <a:spcPts val="601"/>
              </a:spcBef>
              <a:spcAft>
                <a:spcPts val="601"/>
              </a:spcAft>
            </a:pPr>
            <a:r>
              <a:rPr b="0" lang="en-US" sz="2400" strike="noStrike" u="none">
                <a:solidFill>
                  <a:schemeClr val="dk1"/>
                </a:solidFill>
                <a:effectLst/>
                <a:uFillTx/>
                <a:latin typeface="Arial"/>
                <a:ea typeface="ＭＳ Ｐゴシック"/>
              </a:rPr>
              <a:t>Again, on the initial budget line, the price of water is $1 a bottle (and gum is 50¢ a pack), as before.</a:t>
            </a:r>
            <a:endParaRPr b="0" lang="en-US" sz="2400" strike="noStrike" u="none">
              <a:solidFill>
                <a:srgbClr val="000000"/>
              </a:solidFill>
              <a:effectLst/>
              <a:uFillTx/>
              <a:latin typeface="Arial"/>
            </a:endParaRPr>
          </a:p>
        </p:txBody>
      </p:sp>
      <p:pic>
        <p:nvPicPr>
          <p:cNvPr id="130" name="Picture 1" descr="fig1204a.gif"/>
          <p:cNvPicPr/>
          <p:nvPr/>
        </p:nvPicPr>
        <p:blipFill>
          <a:blip r:embed="rId1"/>
          <a:stretch/>
        </p:blipFill>
        <p:spPr>
          <a:xfrm>
            <a:off x="2879640" y="2124000"/>
            <a:ext cx="5914440" cy="3885480"/>
          </a:xfrm>
          <a:prstGeom prst="rect">
            <a:avLst/>
          </a:prstGeom>
          <a:noFill/>
          <a:ln w="0">
            <a:noFill/>
          </a:ln>
        </p:spPr>
      </p:pic>
      <p:pic>
        <p:nvPicPr>
          <p:cNvPr id="131" name="Picture 2" descr="fig1204b.gif"/>
          <p:cNvPicPr/>
          <p:nvPr/>
        </p:nvPicPr>
        <p:blipFill>
          <a:blip r:embed="rId2"/>
          <a:stretch/>
        </p:blipFill>
        <p:spPr>
          <a:xfrm>
            <a:off x="2879640" y="2124000"/>
            <a:ext cx="5914440" cy="3885480"/>
          </a:xfrm>
          <a:prstGeom prst="rect">
            <a:avLst/>
          </a:prstGeom>
          <a:noFill/>
          <a:ln w="0">
            <a:noFill/>
          </a:ln>
        </p:spPr>
      </p:pic>
      <p:pic>
        <p:nvPicPr>
          <p:cNvPr id="132" name="Picture 3" descr="fig1204c.gif"/>
          <p:cNvPicPr/>
          <p:nvPr/>
        </p:nvPicPr>
        <p:blipFill>
          <a:blip r:embed="rId3"/>
          <a:stretch/>
        </p:blipFill>
        <p:spPr>
          <a:xfrm>
            <a:off x="2879640" y="2124000"/>
            <a:ext cx="5914440" cy="3885480"/>
          </a:xfrm>
          <a:prstGeom prst="rect">
            <a:avLst/>
          </a:prstGeom>
          <a:noFill/>
          <a:ln w="0">
            <a:noFill/>
          </a:ln>
        </p:spPr>
      </p:pic>
      <p:pic>
        <p:nvPicPr>
          <p:cNvPr id="133" name="Picture 4" descr="fig1204d.gif"/>
          <p:cNvPicPr/>
          <p:nvPr/>
        </p:nvPicPr>
        <p:blipFill>
          <a:blip r:embed="rId4"/>
          <a:stretch/>
        </p:blipFill>
        <p:spPr>
          <a:xfrm>
            <a:off x="2879640" y="2124000"/>
            <a:ext cx="5914440" cy="3885480"/>
          </a:xfrm>
          <a:prstGeom prst="rect">
            <a:avLst/>
          </a:prstGeom>
          <a:noFill/>
          <a:ln w="0">
            <a:noFill/>
          </a:ln>
        </p:spPr>
      </p:pic>
      <p:pic>
        <p:nvPicPr>
          <p:cNvPr id="134" name="Picture 5" descr="fig1204e.gif"/>
          <p:cNvPicPr/>
          <p:nvPr/>
        </p:nvPicPr>
        <p:blipFill>
          <a:blip r:embed="rId5"/>
          <a:stretch/>
        </p:blipFill>
        <p:spPr>
          <a:xfrm>
            <a:off x="2879640" y="2124000"/>
            <a:ext cx="5914440" cy="3885480"/>
          </a:xfrm>
          <a:prstGeom prst="rect">
            <a:avLst/>
          </a:prstGeom>
          <a:noFill/>
          <a:ln w="0">
            <a:noFill/>
          </a:ln>
        </p:spPr>
      </p:pic>
      <p:pic>
        <p:nvPicPr>
          <p:cNvPr id="135" name="Picture 6" descr="fig1204f.gif"/>
          <p:cNvPicPr/>
          <p:nvPr/>
        </p:nvPicPr>
        <p:blipFill>
          <a:blip r:embed="rId6"/>
          <a:stretch/>
        </p:blipFill>
        <p:spPr>
          <a:xfrm>
            <a:off x="2879640" y="2124000"/>
            <a:ext cx="5914440" cy="3885480"/>
          </a:xfrm>
          <a:prstGeom prst="rect">
            <a:avLst/>
          </a:prstGeom>
          <a:noFill/>
          <a:ln w="0">
            <a:noFill/>
          </a:ln>
        </p:spPr>
      </p:pic>
      <p:pic>
        <p:nvPicPr>
          <p:cNvPr id="136" name="Picture 7" descr="fig1204g.gif"/>
          <p:cNvPicPr/>
          <p:nvPr/>
        </p:nvPicPr>
        <p:blipFill>
          <a:blip r:embed="rId7"/>
          <a:stretch/>
        </p:blipFill>
        <p:spPr>
          <a:xfrm>
            <a:off x="2879640" y="2124000"/>
            <a:ext cx="5914440" cy="3885480"/>
          </a:xfrm>
          <a:prstGeom prst="rect">
            <a:avLst/>
          </a:prstGeom>
          <a:noFill/>
          <a:ln w="0">
            <a:noFill/>
          </a:ln>
        </p:spPr>
      </p:pic>
    </p:spTree>
  </p:cSld>
  <p:transition spd="slow">
    <p:wipe dir="r"/>
  </p:transition>
  <p:timing>
    <p:tnLst>
      <p:par>
        <p:cTn id="259" dur="indefinite" restart="never" nodeType="tmRoot">
          <p:childTnLst>
            <p:seq>
              <p:cTn id="260" dur="indefinite" nodeType="mainSeq">
                <p:childTnLst>
                  <p:par>
                    <p:cTn id="261" nodeType="clickEffect" fill="hold">
                      <p:stCondLst>
                        <p:cond delay="indefinite"/>
                      </p:stCondLst>
                      <p:childTnLst>
                        <p:par>
                          <p:cTn id="262" nodeType="withEffect" fill="hold">
                            <p:stCondLst>
                              <p:cond delay="0"/>
                            </p:stCondLst>
                            <p:childTnLst>
                              <p:par>
                                <p:cTn id="263" nodeType="clickEffect" fill="hold" presetClass="entr" presetID="22" presetSubtype="8">
                                  <p:stCondLst>
                                    <p:cond delay="0"/>
                                  </p:stCondLst>
                                  <p:childTnLst>
                                    <p:set>
                                      <p:cBhvr>
                                        <p:cTn id="264" dur="1" fill="hold">
                                          <p:stCondLst>
                                            <p:cond delay="0"/>
                                          </p:stCondLst>
                                        </p:cTn>
                                        <p:tgtEl>
                                          <p:spTgt spid="129"/>
                                        </p:tgtEl>
                                        <p:attrNameLst>
                                          <p:attrName>style.visibility</p:attrName>
                                        </p:attrNameLst>
                                      </p:cBhvr>
                                      <p:to>
                                        <p:strVal val="visible"/>
                                      </p:to>
                                    </p:set>
                                    <p:animEffect filter="wipe(left)" transition="in">
                                      <p:cBhvr additive="repl">
                                        <p:cTn id="265" dur="500"/>
                                        <p:tgtEl>
                                          <p:spTgt spid="1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137" name="Picture 9" descr="fig1204a.gif"/>
          <p:cNvPicPr/>
          <p:nvPr/>
        </p:nvPicPr>
        <p:blipFill>
          <a:blip r:embed="rId1"/>
          <a:stretch/>
        </p:blipFill>
        <p:spPr>
          <a:xfrm>
            <a:off x="76320" y="838080"/>
            <a:ext cx="8379720" cy="5504760"/>
          </a:xfrm>
          <a:prstGeom prst="rect">
            <a:avLst/>
          </a:prstGeom>
          <a:noFill/>
          <a:ln w="0">
            <a:noFill/>
          </a:ln>
        </p:spPr>
      </p:pic>
      <p:pic>
        <p:nvPicPr>
          <p:cNvPr id="138" name="Picture 10" descr="fig1204b.gif"/>
          <p:cNvPicPr/>
          <p:nvPr/>
        </p:nvPicPr>
        <p:blipFill>
          <a:blip r:embed="rId2"/>
          <a:stretch/>
        </p:blipFill>
        <p:spPr>
          <a:xfrm>
            <a:off x="76320" y="838080"/>
            <a:ext cx="8379720" cy="5504760"/>
          </a:xfrm>
          <a:prstGeom prst="rect">
            <a:avLst/>
          </a:prstGeom>
          <a:noFill/>
          <a:ln w="0">
            <a:noFill/>
          </a:ln>
        </p:spPr>
      </p:pic>
      <p:pic>
        <p:nvPicPr>
          <p:cNvPr id="139" name="Picture 11" descr="fig1204c.gif"/>
          <p:cNvPicPr/>
          <p:nvPr/>
        </p:nvPicPr>
        <p:blipFill>
          <a:blip r:embed="rId3"/>
          <a:stretch/>
        </p:blipFill>
        <p:spPr>
          <a:xfrm>
            <a:off x="76320" y="838080"/>
            <a:ext cx="8379720" cy="5504760"/>
          </a:xfrm>
          <a:prstGeom prst="rect">
            <a:avLst/>
          </a:prstGeom>
          <a:noFill/>
          <a:ln w="0">
            <a:noFill/>
          </a:ln>
        </p:spPr>
      </p:pic>
      <p:pic>
        <p:nvPicPr>
          <p:cNvPr id="140" name="Picture 12" descr="fig1204d.gif"/>
          <p:cNvPicPr/>
          <p:nvPr/>
        </p:nvPicPr>
        <p:blipFill>
          <a:blip r:embed="rId4"/>
          <a:stretch/>
        </p:blipFill>
        <p:spPr>
          <a:xfrm>
            <a:off x="76320" y="838080"/>
            <a:ext cx="8379720" cy="5504760"/>
          </a:xfrm>
          <a:prstGeom prst="rect">
            <a:avLst/>
          </a:prstGeom>
          <a:noFill/>
          <a:ln w="0">
            <a:noFill/>
          </a:ln>
        </p:spPr>
      </p:pic>
      <p:pic>
        <p:nvPicPr>
          <p:cNvPr id="141" name="Picture 13" descr="fig1204e.gif"/>
          <p:cNvPicPr/>
          <p:nvPr/>
        </p:nvPicPr>
        <p:blipFill>
          <a:blip r:embed="rId5"/>
          <a:stretch/>
        </p:blipFill>
        <p:spPr>
          <a:xfrm>
            <a:off x="76320" y="838080"/>
            <a:ext cx="8379720" cy="5504760"/>
          </a:xfrm>
          <a:prstGeom prst="rect">
            <a:avLst/>
          </a:prstGeom>
          <a:noFill/>
          <a:ln w="0">
            <a:noFill/>
          </a:ln>
        </p:spPr>
      </p:pic>
      <p:pic>
        <p:nvPicPr>
          <p:cNvPr id="142" name="Picture 14" descr="fig1204f.gif"/>
          <p:cNvPicPr/>
          <p:nvPr/>
        </p:nvPicPr>
        <p:blipFill>
          <a:blip r:embed="rId6"/>
          <a:stretch/>
        </p:blipFill>
        <p:spPr>
          <a:xfrm>
            <a:off x="76320" y="838080"/>
            <a:ext cx="8379720" cy="5504760"/>
          </a:xfrm>
          <a:prstGeom prst="rect">
            <a:avLst/>
          </a:prstGeom>
          <a:noFill/>
          <a:ln w="0">
            <a:noFill/>
          </a:ln>
        </p:spPr>
      </p:pic>
      <p:pic>
        <p:nvPicPr>
          <p:cNvPr id="143" name="Picture 15" descr="fig1204g.gif"/>
          <p:cNvPicPr/>
          <p:nvPr/>
        </p:nvPicPr>
        <p:blipFill>
          <a:blip r:embed="rId7"/>
          <a:stretch/>
        </p:blipFill>
        <p:spPr>
          <a:xfrm>
            <a:off x="76320" y="838080"/>
            <a:ext cx="8379720" cy="5504760"/>
          </a:xfrm>
          <a:prstGeom prst="rect">
            <a:avLst/>
          </a:prstGeom>
          <a:noFill/>
          <a:ln w="0">
            <a:noFill/>
          </a:ln>
        </p:spPr>
      </p:pic>
      <p:pic>
        <p:nvPicPr>
          <p:cNvPr id="144" name="Picture 16" descr="fig1204h.gif"/>
          <p:cNvPicPr/>
          <p:nvPr/>
        </p:nvPicPr>
        <p:blipFill>
          <a:blip r:embed="rId8"/>
          <a:stretch/>
        </p:blipFill>
        <p:spPr>
          <a:xfrm>
            <a:off x="76320" y="838080"/>
            <a:ext cx="8379720" cy="5504760"/>
          </a:xfrm>
          <a:prstGeom prst="rect">
            <a:avLst/>
          </a:prstGeom>
          <a:noFill/>
          <a:ln w="0">
            <a:noFill/>
          </a:ln>
        </p:spPr>
      </p:pic>
    </p:spTree>
  </p:cSld>
  <p:transition spd="slow">
    <p:wipe dir="r"/>
  </p:transition>
  <p:timing>
    <p:tnLst>
      <p:par>
        <p:cTn id="266" dur="indefinite" restart="never" nodeType="tmRoot">
          <p:childTnLst>
            <p:seq>
              <p:cTn id="267" dur="indefinite" nodeType="mainSeq">
                <p:childTnLst>
                  <p:par>
                    <p:cTn id="268" nodeType="clickEffect" fill="hold">
                      <p:stCondLst>
                        <p:cond delay="indefinite"/>
                      </p:stCondLst>
                      <p:childTnLst>
                        <p:par>
                          <p:cTn id="269" nodeType="withEffect" fill="hold">
                            <p:stCondLst>
                              <p:cond delay="0"/>
                            </p:stCondLst>
                            <p:childTnLst>
                              <p:par>
                                <p:cTn id="270" nodeType="clickEffect" fill="hold" presetClass="entr" presetID="22" presetSubtype="8">
                                  <p:stCondLst>
                                    <p:cond delay="0"/>
                                  </p:stCondLst>
                                  <p:childTnLst>
                                    <p:set>
                                      <p:cBhvr>
                                        <p:cTn id="271" dur="1" fill="hold">
                                          <p:stCondLst>
                                            <p:cond delay="0"/>
                                          </p:stCondLst>
                                        </p:cTn>
                                        <p:tgtEl>
                                          <p:spTgt spid="138"/>
                                        </p:tgtEl>
                                        <p:attrNameLst>
                                          <p:attrName>style.visibility</p:attrName>
                                        </p:attrNameLst>
                                      </p:cBhvr>
                                      <p:to>
                                        <p:strVal val="visible"/>
                                      </p:to>
                                    </p:set>
                                    <p:animEffect filter="wipe(left)" transition="in">
                                      <p:cBhvr additive="repl">
                                        <p:cTn id="272" dur="1000"/>
                                        <p:tgtEl>
                                          <p:spTgt spid="138"/>
                                        </p:tgtEl>
                                      </p:cBhvr>
                                    </p:animEffect>
                                  </p:childTnLst>
                                </p:cTn>
                              </p:par>
                            </p:childTnLst>
                          </p:cTn>
                        </p:par>
                      </p:childTnLst>
                    </p:cTn>
                  </p:par>
                  <p:par>
                    <p:cTn id="273" nodeType="clickEffect" fill="hold">
                      <p:stCondLst>
                        <p:cond delay="indefinite"/>
                      </p:stCondLst>
                      <p:childTnLst>
                        <p:par>
                          <p:cTn id="274" nodeType="withEffect" fill="hold">
                            <p:stCondLst>
                              <p:cond delay="0"/>
                            </p:stCondLst>
                            <p:childTnLst>
                              <p:par>
                                <p:cTn id="275" nodeType="clickEffect" fill="hold" presetClass="entr" presetID="22" presetSubtype="8">
                                  <p:stCondLst>
                                    <p:cond delay="0"/>
                                  </p:stCondLst>
                                  <p:childTnLst>
                                    <p:set>
                                      <p:cBhvr>
                                        <p:cTn id="276" dur="1" fill="hold">
                                          <p:stCondLst>
                                            <p:cond delay="0"/>
                                          </p:stCondLst>
                                        </p:cTn>
                                        <p:tgtEl>
                                          <p:spTgt spid="139"/>
                                        </p:tgtEl>
                                        <p:attrNameLst>
                                          <p:attrName>style.visibility</p:attrName>
                                        </p:attrNameLst>
                                      </p:cBhvr>
                                      <p:to>
                                        <p:strVal val="visible"/>
                                      </p:to>
                                    </p:set>
                                    <p:animEffect filter="wipe(left)" transition="in">
                                      <p:cBhvr additive="repl">
                                        <p:cTn id="277" dur="1000"/>
                                        <p:tgtEl>
                                          <p:spTgt spid="139"/>
                                        </p:tgtEl>
                                      </p:cBhvr>
                                    </p:animEffect>
                                  </p:childTnLst>
                                </p:cTn>
                              </p:par>
                            </p:childTnLst>
                          </p:cTn>
                        </p:par>
                      </p:childTnLst>
                    </p:cTn>
                  </p:par>
                  <p:par>
                    <p:cTn id="278" nodeType="clickEffect" fill="hold">
                      <p:stCondLst>
                        <p:cond delay="indefinite"/>
                      </p:stCondLst>
                      <p:childTnLst>
                        <p:par>
                          <p:cTn id="279" nodeType="withEffect" fill="hold">
                            <p:stCondLst>
                              <p:cond delay="0"/>
                            </p:stCondLst>
                            <p:childTnLst>
                              <p:par>
                                <p:cTn id="280" nodeType="clickEffect" fill="hold" presetClass="entr" presetID="22" presetSubtype="8">
                                  <p:stCondLst>
                                    <p:cond delay="0"/>
                                  </p:stCondLst>
                                  <p:childTnLst>
                                    <p:set>
                                      <p:cBhvr>
                                        <p:cTn id="281" dur="1" fill="hold">
                                          <p:stCondLst>
                                            <p:cond delay="0"/>
                                          </p:stCondLst>
                                        </p:cTn>
                                        <p:tgtEl>
                                          <p:spTgt spid="140"/>
                                        </p:tgtEl>
                                        <p:attrNameLst>
                                          <p:attrName>style.visibility</p:attrName>
                                        </p:attrNameLst>
                                      </p:cBhvr>
                                      <p:to>
                                        <p:strVal val="visible"/>
                                      </p:to>
                                    </p:set>
                                    <p:animEffect filter="wipe(left)" transition="in">
                                      <p:cBhvr additive="repl">
                                        <p:cTn id="282" dur="1000"/>
                                        <p:tgtEl>
                                          <p:spTgt spid="140"/>
                                        </p:tgtEl>
                                      </p:cBhvr>
                                    </p:animEffect>
                                  </p:childTnLst>
                                </p:cTn>
                              </p:par>
                            </p:childTnLst>
                          </p:cTn>
                        </p:par>
                      </p:childTnLst>
                    </p:cTn>
                  </p:par>
                  <p:par>
                    <p:cTn id="283" nodeType="clickEffect" fill="hold">
                      <p:stCondLst>
                        <p:cond delay="indefinite"/>
                      </p:stCondLst>
                      <p:childTnLst>
                        <p:par>
                          <p:cTn id="284" nodeType="withEffect" fill="hold">
                            <p:stCondLst>
                              <p:cond delay="0"/>
                            </p:stCondLst>
                            <p:childTnLst>
                              <p:par>
                                <p:cTn id="285" nodeType="clickEffect" fill="hold" presetClass="entr" presetID="22" presetSubtype="8">
                                  <p:stCondLst>
                                    <p:cond delay="0"/>
                                  </p:stCondLst>
                                  <p:childTnLst>
                                    <p:set>
                                      <p:cBhvr>
                                        <p:cTn id="286" dur="1" fill="hold">
                                          <p:stCondLst>
                                            <p:cond delay="0"/>
                                          </p:stCondLst>
                                        </p:cTn>
                                        <p:tgtEl>
                                          <p:spTgt spid="141"/>
                                        </p:tgtEl>
                                        <p:attrNameLst>
                                          <p:attrName>style.visibility</p:attrName>
                                        </p:attrNameLst>
                                      </p:cBhvr>
                                      <p:to>
                                        <p:strVal val="visible"/>
                                      </p:to>
                                    </p:set>
                                    <p:animEffect filter="wipe(left)" transition="in">
                                      <p:cBhvr additive="repl">
                                        <p:cTn id="287" dur="1000"/>
                                        <p:tgtEl>
                                          <p:spTgt spid="141"/>
                                        </p:tgtEl>
                                      </p:cBhvr>
                                    </p:animEffect>
                                  </p:childTnLst>
                                </p:cTn>
                              </p:par>
                            </p:childTnLst>
                          </p:cTn>
                        </p:par>
                      </p:childTnLst>
                    </p:cTn>
                  </p:par>
                  <p:par>
                    <p:cTn id="288" nodeType="clickEffect" fill="hold">
                      <p:stCondLst>
                        <p:cond delay="indefinite"/>
                      </p:stCondLst>
                      <p:childTnLst>
                        <p:par>
                          <p:cTn id="289" nodeType="withEffect" fill="hold">
                            <p:stCondLst>
                              <p:cond delay="0"/>
                            </p:stCondLst>
                            <p:childTnLst>
                              <p:par>
                                <p:cTn id="290" nodeType="clickEffect" fill="hold" presetClass="entr" presetID="22" presetSubtype="8">
                                  <p:stCondLst>
                                    <p:cond delay="0"/>
                                  </p:stCondLst>
                                  <p:childTnLst>
                                    <p:set>
                                      <p:cBhvr>
                                        <p:cTn id="291" dur="1" fill="hold">
                                          <p:stCondLst>
                                            <p:cond delay="0"/>
                                          </p:stCondLst>
                                        </p:cTn>
                                        <p:tgtEl>
                                          <p:spTgt spid="142"/>
                                        </p:tgtEl>
                                        <p:attrNameLst>
                                          <p:attrName>style.visibility</p:attrName>
                                        </p:attrNameLst>
                                      </p:cBhvr>
                                      <p:to>
                                        <p:strVal val="visible"/>
                                      </p:to>
                                    </p:set>
                                    <p:animEffect filter="wipe(left)" transition="in">
                                      <p:cBhvr additive="repl">
                                        <p:cTn id="292" dur="1000"/>
                                        <p:tgtEl>
                                          <p:spTgt spid="142"/>
                                        </p:tgtEl>
                                      </p:cBhvr>
                                    </p:animEffect>
                                  </p:childTnLst>
                                </p:cTn>
                              </p:par>
                            </p:childTnLst>
                          </p:cTn>
                        </p:par>
                      </p:childTnLst>
                    </p:cTn>
                  </p:par>
                  <p:par>
                    <p:cTn id="293" nodeType="clickEffect" fill="hold">
                      <p:stCondLst>
                        <p:cond delay="indefinite"/>
                      </p:stCondLst>
                      <p:childTnLst>
                        <p:par>
                          <p:cTn id="294" nodeType="withEffect" fill="hold">
                            <p:stCondLst>
                              <p:cond delay="0"/>
                            </p:stCondLst>
                            <p:childTnLst>
                              <p:par>
                                <p:cTn id="295" nodeType="clickEffect" fill="hold" presetClass="entr" presetID="22" presetSubtype="8">
                                  <p:stCondLst>
                                    <p:cond delay="0"/>
                                  </p:stCondLst>
                                  <p:childTnLst>
                                    <p:set>
                                      <p:cBhvr>
                                        <p:cTn id="296" dur="1" fill="hold">
                                          <p:stCondLst>
                                            <p:cond delay="0"/>
                                          </p:stCondLst>
                                        </p:cTn>
                                        <p:tgtEl>
                                          <p:spTgt spid="143"/>
                                        </p:tgtEl>
                                        <p:attrNameLst>
                                          <p:attrName>style.visibility</p:attrName>
                                        </p:attrNameLst>
                                      </p:cBhvr>
                                      <p:to>
                                        <p:strVal val="visible"/>
                                      </p:to>
                                    </p:set>
                                    <p:animEffect filter="wipe(left)" transition="in">
                                      <p:cBhvr additive="repl">
                                        <p:cTn id="297" dur="1000"/>
                                        <p:tgtEl>
                                          <p:spTgt spid="143"/>
                                        </p:tgtEl>
                                      </p:cBhvr>
                                    </p:animEffect>
                                  </p:childTnLst>
                                </p:cTn>
                              </p:par>
                            </p:childTnLst>
                          </p:cTn>
                        </p:par>
                      </p:childTnLst>
                    </p:cTn>
                  </p:par>
                  <p:par>
                    <p:cTn id="298" nodeType="clickEffect" fill="hold">
                      <p:stCondLst>
                        <p:cond delay="indefinite"/>
                      </p:stCondLst>
                      <p:childTnLst>
                        <p:par>
                          <p:cTn id="299" nodeType="withEffect" fill="hold">
                            <p:stCondLst>
                              <p:cond delay="0"/>
                            </p:stCondLst>
                            <p:childTnLst>
                              <p:par>
                                <p:cTn id="300" nodeType="clickEffect" fill="hold" presetClass="entr" presetID="22" presetSubtype="2">
                                  <p:stCondLst>
                                    <p:cond delay="0"/>
                                  </p:stCondLst>
                                  <p:childTnLst>
                                    <p:set>
                                      <p:cBhvr>
                                        <p:cTn id="301" dur="1" fill="hold">
                                          <p:stCondLst>
                                            <p:cond delay="0"/>
                                          </p:stCondLst>
                                        </p:cTn>
                                        <p:tgtEl>
                                          <p:spTgt spid="144"/>
                                        </p:tgtEl>
                                        <p:attrNameLst>
                                          <p:attrName>style.visibility</p:attrName>
                                        </p:attrNameLst>
                                      </p:cBhvr>
                                      <p:to>
                                        <p:strVal val="visible"/>
                                      </p:to>
                                    </p:set>
                                    <p:animEffect filter="wipe(right)" transition="in">
                                      <p:cBhvr additive="repl">
                                        <p:cTn id="302" dur="1000"/>
                                        <p:tgtEl>
                                          <p:spTgt spid="1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13.1  CONSUMPTION POSSIBILITIES</a:t>
            </a:r>
            <a:endParaRPr b="0" lang="en-US" sz="2600" strike="noStrike" u="none">
              <a:solidFill>
                <a:srgbClr val="000000"/>
              </a:solidFill>
              <a:effectLst/>
              <a:uFillTx/>
              <a:latin typeface="Arial"/>
            </a:endParaRPr>
          </a:p>
        </p:txBody>
      </p:sp>
      <p:sp>
        <p:nvSpPr>
          <p:cNvPr id="146" name="PlaceHolder 2"/>
          <p:cNvSpPr>
            <a:spLocks noGrp="1"/>
          </p:cNvSpPr>
          <p:nvPr>
            <p:ph/>
          </p:nvPr>
        </p:nvSpPr>
        <p:spPr>
          <a:xfrm>
            <a:off x="360360" y="1440000"/>
            <a:ext cx="830016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When the price of water rises from $1 to $2 a bottle,</a:t>
            </a:r>
            <a:endParaRPr b="0" lang="en-US" sz="2400" strike="noStrike" u="none">
              <a:solidFill>
                <a:srgbClr val="000000"/>
              </a:solidFill>
              <a:effectLst/>
              <a:uFillTx/>
              <a:latin typeface="Arial"/>
            </a:endParaRPr>
          </a:p>
        </p:txBody>
      </p:sp>
      <p:sp>
        <p:nvSpPr>
          <p:cNvPr id="147" name="Rectangle 3"/>
          <p:cNvSpPr/>
          <p:nvPr/>
        </p:nvSpPr>
        <p:spPr>
          <a:xfrm>
            <a:off x="360360" y="2052720"/>
            <a:ext cx="2590200" cy="3123360"/>
          </a:xfrm>
          <a:prstGeom prst="rect">
            <a:avLst/>
          </a:prstGeom>
          <a:noFill/>
          <a:ln w="0">
            <a:noFill/>
          </a:ln>
        </p:spPr>
        <p:style>
          <a:lnRef idx="0"/>
          <a:fillRef idx="0"/>
          <a:effectRef idx="0"/>
          <a:fontRef idx="minor"/>
        </p:style>
        <p:txBody>
          <a:bodyPr lIns="90000" rIns="90000" tIns="45000" bIns="45000" anchor="t">
            <a:noAutofit/>
          </a:bodyPr>
          <a:p>
            <a:pPr marL="360000">
              <a:lnSpc>
                <a:spcPct val="100000"/>
              </a:lnSpc>
              <a:spcBef>
                <a:spcPts val="601"/>
              </a:spcBef>
              <a:spcAft>
                <a:spcPts val="601"/>
              </a:spcAft>
            </a:pPr>
            <a:r>
              <a:rPr b="0" lang="en-US" sz="2400" strike="noStrike" u="none">
                <a:solidFill>
                  <a:schemeClr val="dk1"/>
                </a:solidFill>
                <a:effectLst/>
                <a:uFillTx/>
                <a:latin typeface="Arial"/>
                <a:ea typeface="ＭＳ Ｐゴシック"/>
              </a:rPr>
              <a:t>the budget line rotates inward and becomes steeper.</a:t>
            </a:r>
            <a:endParaRPr b="0" lang="en-US" sz="2400" strike="noStrike" u="none">
              <a:solidFill>
                <a:srgbClr val="000000"/>
              </a:solidFill>
              <a:effectLst/>
              <a:uFillTx/>
              <a:latin typeface="Arial"/>
            </a:endParaRPr>
          </a:p>
        </p:txBody>
      </p:sp>
      <p:pic>
        <p:nvPicPr>
          <p:cNvPr id="148" name="Picture 1" descr="fig1204a.gif"/>
          <p:cNvPicPr/>
          <p:nvPr/>
        </p:nvPicPr>
        <p:blipFill>
          <a:blip r:embed="rId1"/>
          <a:stretch/>
        </p:blipFill>
        <p:spPr>
          <a:xfrm>
            <a:off x="2879640" y="2124000"/>
            <a:ext cx="5914440" cy="3885480"/>
          </a:xfrm>
          <a:prstGeom prst="rect">
            <a:avLst/>
          </a:prstGeom>
          <a:noFill/>
          <a:ln w="0">
            <a:noFill/>
          </a:ln>
        </p:spPr>
      </p:pic>
      <p:pic>
        <p:nvPicPr>
          <p:cNvPr id="149" name="Picture 2" descr="fig1204b.gif"/>
          <p:cNvPicPr/>
          <p:nvPr/>
        </p:nvPicPr>
        <p:blipFill>
          <a:blip r:embed="rId2"/>
          <a:stretch/>
        </p:blipFill>
        <p:spPr>
          <a:xfrm>
            <a:off x="2879640" y="2124000"/>
            <a:ext cx="5914440" cy="3885480"/>
          </a:xfrm>
          <a:prstGeom prst="rect">
            <a:avLst/>
          </a:prstGeom>
          <a:noFill/>
          <a:ln w="0">
            <a:noFill/>
          </a:ln>
        </p:spPr>
      </p:pic>
      <p:pic>
        <p:nvPicPr>
          <p:cNvPr id="150" name="Picture 3" descr="fig1204c.gif"/>
          <p:cNvPicPr/>
          <p:nvPr/>
        </p:nvPicPr>
        <p:blipFill>
          <a:blip r:embed="rId3"/>
          <a:stretch/>
        </p:blipFill>
        <p:spPr>
          <a:xfrm>
            <a:off x="2879640" y="2124000"/>
            <a:ext cx="5914440" cy="3885480"/>
          </a:xfrm>
          <a:prstGeom prst="rect">
            <a:avLst/>
          </a:prstGeom>
          <a:noFill/>
          <a:ln w="0">
            <a:noFill/>
          </a:ln>
        </p:spPr>
      </p:pic>
      <p:pic>
        <p:nvPicPr>
          <p:cNvPr id="151" name="Picture 4" descr="fig1204d.gif"/>
          <p:cNvPicPr/>
          <p:nvPr/>
        </p:nvPicPr>
        <p:blipFill>
          <a:blip r:embed="rId4"/>
          <a:stretch/>
        </p:blipFill>
        <p:spPr>
          <a:xfrm>
            <a:off x="2879640" y="2124000"/>
            <a:ext cx="5914440" cy="3885480"/>
          </a:xfrm>
          <a:prstGeom prst="rect">
            <a:avLst/>
          </a:prstGeom>
          <a:noFill/>
          <a:ln w="0">
            <a:noFill/>
          </a:ln>
        </p:spPr>
      </p:pic>
      <p:pic>
        <p:nvPicPr>
          <p:cNvPr id="152" name="Picture 5" descr="fig1204e.gif"/>
          <p:cNvPicPr/>
          <p:nvPr/>
        </p:nvPicPr>
        <p:blipFill>
          <a:blip r:embed="rId5"/>
          <a:stretch/>
        </p:blipFill>
        <p:spPr>
          <a:xfrm>
            <a:off x="2879640" y="2124000"/>
            <a:ext cx="5914440" cy="3885480"/>
          </a:xfrm>
          <a:prstGeom prst="rect">
            <a:avLst/>
          </a:prstGeom>
          <a:noFill/>
          <a:ln w="0">
            <a:noFill/>
          </a:ln>
        </p:spPr>
      </p:pic>
      <p:pic>
        <p:nvPicPr>
          <p:cNvPr id="153" name="Picture 6" descr="fig1204f.gif"/>
          <p:cNvPicPr/>
          <p:nvPr/>
        </p:nvPicPr>
        <p:blipFill>
          <a:blip r:embed="rId6"/>
          <a:stretch/>
        </p:blipFill>
        <p:spPr>
          <a:xfrm>
            <a:off x="2879640" y="2124000"/>
            <a:ext cx="5914440" cy="3885480"/>
          </a:xfrm>
          <a:prstGeom prst="rect">
            <a:avLst/>
          </a:prstGeom>
          <a:noFill/>
          <a:ln w="0">
            <a:noFill/>
          </a:ln>
        </p:spPr>
      </p:pic>
      <p:pic>
        <p:nvPicPr>
          <p:cNvPr id="154" name="Picture 7" descr="fig1204g.gif"/>
          <p:cNvPicPr/>
          <p:nvPr/>
        </p:nvPicPr>
        <p:blipFill>
          <a:blip r:embed="rId7"/>
          <a:stretch/>
        </p:blipFill>
        <p:spPr>
          <a:xfrm>
            <a:off x="2879640" y="2124000"/>
            <a:ext cx="5914440" cy="3885480"/>
          </a:xfrm>
          <a:prstGeom prst="rect">
            <a:avLst/>
          </a:prstGeom>
          <a:noFill/>
          <a:ln w="0">
            <a:noFill/>
          </a:ln>
        </p:spPr>
      </p:pic>
      <p:pic>
        <p:nvPicPr>
          <p:cNvPr id="155" name="Picture 8" descr="fig1204h.gif"/>
          <p:cNvPicPr/>
          <p:nvPr/>
        </p:nvPicPr>
        <p:blipFill>
          <a:blip r:embed="rId8"/>
          <a:stretch/>
        </p:blipFill>
        <p:spPr>
          <a:xfrm>
            <a:off x="2879640" y="2124000"/>
            <a:ext cx="5914440" cy="3885480"/>
          </a:xfrm>
          <a:prstGeom prst="rect">
            <a:avLst/>
          </a:prstGeom>
          <a:noFill/>
          <a:ln w="0">
            <a:noFill/>
          </a:ln>
        </p:spPr>
      </p:pic>
    </p:spTree>
  </p:cSld>
  <p:transition spd="slow">
    <p:wipe dir="r"/>
  </p:transition>
  <p:timing>
    <p:tnLst>
      <p:par>
        <p:cTn id="303" dur="indefinite" restart="never" nodeType="tmRoot">
          <p:childTnLst>
            <p:seq>
              <p:cTn id="304" dur="indefinite" nodeType="mainSeq">
                <p:childTnLst>
                  <p:par>
                    <p:cTn id="305" nodeType="clickEffect" fill="hold">
                      <p:stCondLst>
                        <p:cond delay="indefinite"/>
                      </p:stCondLst>
                      <p:childTnLst>
                        <p:par>
                          <p:cTn id="306" nodeType="withEffect" fill="hold">
                            <p:stCondLst>
                              <p:cond delay="0"/>
                            </p:stCondLst>
                            <p:childTnLst>
                              <p:par>
                                <p:cTn id="307" nodeType="clickEffect" fill="hold" presetClass="entr" presetID="22" presetSubtype="8">
                                  <p:stCondLst>
                                    <p:cond delay="0"/>
                                  </p:stCondLst>
                                  <p:childTnLst>
                                    <p:set>
                                      <p:cBhvr>
                                        <p:cTn id="308" dur="1" fill="hold">
                                          <p:stCondLst>
                                            <p:cond delay="0"/>
                                          </p:stCondLst>
                                        </p:cTn>
                                        <p:tgtEl>
                                          <p:spTgt spid="147">
                                            <p:txEl>
                                              <p:pRg st="0" end="0"/>
                                            </p:txEl>
                                          </p:spTgt>
                                        </p:tgtEl>
                                        <p:attrNameLst>
                                          <p:attrName>style.visibility</p:attrName>
                                        </p:attrNameLst>
                                      </p:cBhvr>
                                      <p:to>
                                        <p:strVal val="visible"/>
                                      </p:to>
                                    </p:set>
                                    <p:animEffect filter="wipe(left)" transition="in">
                                      <p:cBhvr additive="repl">
                                        <p:cTn id="309" dur="500"/>
                                        <p:tgtEl>
                                          <p:spTgt spid="147">
                                            <p:txEl>
                                              <p:pRg st="0" end="0"/>
                                            </p:txEl>
                                          </p:spTgt>
                                        </p:tgtEl>
                                      </p:cBhvr>
                                    </p:animEffect>
                                  </p:childTnLst>
                                </p:cTn>
                              </p:par>
                              <p:par>
                                <p:cTn id="310" nodeType="withEffect" fill="hold" presetClass="entr" presetID="22" presetSubtype="2">
                                  <p:stCondLst>
                                    <p:cond delay="0"/>
                                  </p:stCondLst>
                                  <p:childTnLst>
                                    <p:set>
                                      <p:cBhvr>
                                        <p:cTn id="311" dur="1" fill="hold">
                                          <p:stCondLst>
                                            <p:cond delay="0"/>
                                          </p:stCondLst>
                                        </p:cTn>
                                        <p:tgtEl>
                                          <p:spTgt spid="155"/>
                                        </p:tgtEl>
                                        <p:attrNameLst>
                                          <p:attrName>style.visibility</p:attrName>
                                        </p:attrNameLst>
                                      </p:cBhvr>
                                      <p:to>
                                        <p:strVal val="visible"/>
                                      </p:to>
                                    </p:set>
                                    <p:animEffect filter="wipe(right)" transition="in">
                                      <p:cBhvr additive="repl">
                                        <p:cTn id="312" dur="1000"/>
                                        <p:tgtEl>
                                          <p:spTgt spid="1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13.1  CONSUMPTION POSSIBILITIES</a:t>
            </a:r>
            <a:endParaRPr b="0" lang="en-US" sz="2600" strike="noStrike" u="none">
              <a:solidFill>
                <a:srgbClr val="000000"/>
              </a:solidFill>
              <a:effectLst/>
              <a:uFillTx/>
              <a:latin typeface="Arial"/>
            </a:endParaRPr>
          </a:p>
        </p:txBody>
      </p:sp>
      <p:sp>
        <p:nvSpPr>
          <p:cNvPr id="157"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Prices and the Slope of the Budget Line</a:t>
            </a:r>
            <a:endParaRPr b="0" lang="en-US" sz="28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You’ve just seen that when the price of one good changes and the price of the other good remains the same, the slope of the budget line changes.</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In Figure 13.3, when the price of water falls, the budget line becomes less steep.</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In Figure 13.4, when the price of water rises, the budget line becomes steeper.</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Recall that slope equals rise over run.</a:t>
            </a:r>
            <a:endParaRPr b="0" lang="en-US" sz="2400" strike="noStrike" u="none">
              <a:solidFill>
                <a:srgbClr val="000000"/>
              </a:solidFill>
              <a:effectLst/>
              <a:uFillTx/>
              <a:latin typeface="Arial"/>
            </a:endParaRPr>
          </a:p>
        </p:txBody>
      </p:sp>
    </p:spTree>
  </p:cSld>
  <p:transition spd="slow">
    <p:wipe dir="r"/>
  </p:transition>
  <p:timing>
    <p:tnLst>
      <p:par>
        <p:cTn id="313" dur="indefinite" restart="never" nodeType="tmRoot">
          <p:childTnLst>
            <p:seq>
              <p:cTn id="314" dur="indefinite" nodeType="mainSeq">
                <p:childTnLst>
                  <p:par>
                    <p:cTn id="315" nodeType="clickEffect" fill="hold">
                      <p:stCondLst>
                        <p:cond delay="indefinite"/>
                      </p:stCondLst>
                      <p:childTnLst>
                        <p:par>
                          <p:cTn id="316" nodeType="withEffect" fill="hold">
                            <p:stCondLst>
                              <p:cond delay="0"/>
                            </p:stCondLst>
                            <p:childTnLst>
                              <p:par>
                                <p:cTn id="317" nodeType="clickEffect" fill="hold" presetClass="entr" presetID="22" presetSubtype="8">
                                  <p:stCondLst>
                                    <p:cond delay="0"/>
                                  </p:stCondLst>
                                  <p:childTnLst>
                                    <p:set>
                                      <p:cBhvr>
                                        <p:cTn id="318" dur="1" fill="hold">
                                          <p:stCondLst>
                                            <p:cond delay="0"/>
                                          </p:stCondLst>
                                        </p:cTn>
                                        <p:tgtEl>
                                          <p:spTgt spid="157">
                                            <p:txEl>
                                              <p:pRg st="1" end="1"/>
                                            </p:txEl>
                                          </p:spTgt>
                                        </p:tgtEl>
                                        <p:attrNameLst>
                                          <p:attrName>style.visibility</p:attrName>
                                        </p:attrNameLst>
                                      </p:cBhvr>
                                      <p:to>
                                        <p:strVal val="visible"/>
                                      </p:to>
                                    </p:set>
                                    <p:animEffect filter="wipe(left)" transition="in">
                                      <p:cBhvr additive="repl">
                                        <p:cTn id="319" dur="500"/>
                                        <p:tgtEl>
                                          <p:spTgt spid="157">
                                            <p:txEl>
                                              <p:pRg st="1" end="1"/>
                                            </p:txEl>
                                          </p:spTgt>
                                        </p:tgtEl>
                                      </p:cBhvr>
                                    </p:animEffect>
                                  </p:childTnLst>
                                </p:cTn>
                              </p:par>
                            </p:childTnLst>
                          </p:cTn>
                        </p:par>
                      </p:childTnLst>
                    </p:cTn>
                  </p:par>
                  <p:par>
                    <p:cTn id="320" nodeType="clickEffect" fill="hold">
                      <p:stCondLst>
                        <p:cond delay="indefinite"/>
                      </p:stCondLst>
                      <p:childTnLst>
                        <p:par>
                          <p:cTn id="321" nodeType="withEffect" fill="hold">
                            <p:stCondLst>
                              <p:cond delay="0"/>
                            </p:stCondLst>
                            <p:childTnLst>
                              <p:par>
                                <p:cTn id="322" nodeType="clickEffect" fill="hold" presetClass="entr" presetID="22" presetSubtype="8">
                                  <p:stCondLst>
                                    <p:cond delay="0"/>
                                  </p:stCondLst>
                                  <p:childTnLst>
                                    <p:set>
                                      <p:cBhvr>
                                        <p:cTn id="323" dur="1" fill="hold">
                                          <p:stCondLst>
                                            <p:cond delay="0"/>
                                          </p:stCondLst>
                                        </p:cTn>
                                        <p:tgtEl>
                                          <p:spTgt spid="157">
                                            <p:txEl>
                                              <p:pRg st="2" end="2"/>
                                            </p:txEl>
                                          </p:spTgt>
                                        </p:tgtEl>
                                        <p:attrNameLst>
                                          <p:attrName>style.visibility</p:attrName>
                                        </p:attrNameLst>
                                      </p:cBhvr>
                                      <p:to>
                                        <p:strVal val="visible"/>
                                      </p:to>
                                    </p:set>
                                    <p:animEffect filter="wipe(left)" transition="in">
                                      <p:cBhvr additive="repl">
                                        <p:cTn id="324" dur="500"/>
                                        <p:tgtEl>
                                          <p:spTgt spid="157">
                                            <p:txEl>
                                              <p:pRg st="2" end="2"/>
                                            </p:txEl>
                                          </p:spTgt>
                                        </p:tgtEl>
                                      </p:cBhvr>
                                    </p:animEffect>
                                  </p:childTnLst>
                                </p:cTn>
                              </p:par>
                            </p:childTnLst>
                          </p:cTn>
                        </p:par>
                      </p:childTnLst>
                    </p:cTn>
                  </p:par>
                  <p:par>
                    <p:cTn id="325" nodeType="clickEffect" fill="hold">
                      <p:stCondLst>
                        <p:cond delay="indefinite"/>
                      </p:stCondLst>
                      <p:childTnLst>
                        <p:par>
                          <p:cTn id="326" nodeType="withEffect" fill="hold">
                            <p:stCondLst>
                              <p:cond delay="0"/>
                            </p:stCondLst>
                            <p:childTnLst>
                              <p:par>
                                <p:cTn id="327" nodeType="clickEffect" fill="hold" presetClass="entr" presetID="22" presetSubtype="8">
                                  <p:stCondLst>
                                    <p:cond delay="0"/>
                                  </p:stCondLst>
                                  <p:childTnLst>
                                    <p:set>
                                      <p:cBhvr>
                                        <p:cTn id="328" dur="1" fill="hold">
                                          <p:stCondLst>
                                            <p:cond delay="0"/>
                                          </p:stCondLst>
                                        </p:cTn>
                                        <p:tgtEl>
                                          <p:spTgt spid="157">
                                            <p:txEl>
                                              <p:pRg st="3" end="3"/>
                                            </p:txEl>
                                          </p:spTgt>
                                        </p:tgtEl>
                                        <p:attrNameLst>
                                          <p:attrName>style.visibility</p:attrName>
                                        </p:attrNameLst>
                                      </p:cBhvr>
                                      <p:to>
                                        <p:strVal val="visible"/>
                                      </p:to>
                                    </p:set>
                                    <p:animEffect filter="wipe(left)" transition="in">
                                      <p:cBhvr additive="repl">
                                        <p:cTn id="329" dur="500"/>
                                        <p:tgtEl>
                                          <p:spTgt spid="157">
                                            <p:txEl>
                                              <p:pRg st="3" end="3"/>
                                            </p:txEl>
                                          </p:spTgt>
                                        </p:tgtEl>
                                      </p:cBhvr>
                                    </p:animEffect>
                                  </p:childTnLst>
                                </p:cTn>
                              </p:par>
                            </p:childTnLst>
                          </p:cTn>
                        </p:par>
                      </p:childTnLst>
                    </p:cTn>
                  </p:par>
                  <p:par>
                    <p:cTn id="330" nodeType="clickEffect" fill="hold">
                      <p:stCondLst>
                        <p:cond delay="indefinite"/>
                      </p:stCondLst>
                      <p:childTnLst>
                        <p:par>
                          <p:cTn id="331" nodeType="withEffect" fill="hold">
                            <p:stCondLst>
                              <p:cond delay="0"/>
                            </p:stCondLst>
                            <p:childTnLst>
                              <p:par>
                                <p:cTn id="332" nodeType="clickEffect" fill="hold" presetClass="entr" presetID="22" presetSubtype="8">
                                  <p:stCondLst>
                                    <p:cond delay="0"/>
                                  </p:stCondLst>
                                  <p:childTnLst>
                                    <p:set>
                                      <p:cBhvr>
                                        <p:cTn id="333" dur="1" fill="hold">
                                          <p:stCondLst>
                                            <p:cond delay="0"/>
                                          </p:stCondLst>
                                        </p:cTn>
                                        <p:tgtEl>
                                          <p:spTgt spid="157">
                                            <p:txEl>
                                              <p:pRg st="4" end="4"/>
                                            </p:txEl>
                                          </p:spTgt>
                                        </p:tgtEl>
                                        <p:attrNameLst>
                                          <p:attrName>style.visibility</p:attrName>
                                        </p:attrNameLst>
                                      </p:cBhvr>
                                      <p:to>
                                        <p:strVal val="visible"/>
                                      </p:to>
                                    </p:set>
                                    <p:animEffect filter="wipe(left)" transition="in">
                                      <p:cBhvr additive="repl">
                                        <p:cTn id="334" dur="500"/>
                                        <p:tgtEl>
                                          <p:spTgt spid="157">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13.1  CONSUMPTION POSSIBILITIES</a:t>
            </a:r>
            <a:endParaRPr b="0" lang="en-US" sz="2600" strike="noStrike" u="none">
              <a:solidFill>
                <a:srgbClr val="000000"/>
              </a:solidFill>
              <a:effectLst/>
              <a:uFillTx/>
              <a:latin typeface="Arial"/>
            </a:endParaRPr>
          </a:p>
        </p:txBody>
      </p:sp>
      <p:sp>
        <p:nvSpPr>
          <p:cNvPr id="159" name="PlaceHolder 2"/>
          <p:cNvSpPr>
            <a:spLocks noGrp="1"/>
          </p:cNvSpPr>
          <p:nvPr>
            <p:ph/>
          </p:nvPr>
        </p:nvSpPr>
        <p:spPr>
          <a:xfrm>
            <a:off x="360360" y="1440000"/>
            <a:ext cx="411408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Let’s calculate the slope of the initial budget line.</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When the price of water is $1 a bottle: </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Slope equals 8 packs of gum divided by 4 bottles of water.</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Slope equals 2 packs per bottle.</a:t>
            </a:r>
            <a:endParaRPr b="0" lang="en-US" sz="2400" strike="noStrike" u="none">
              <a:solidFill>
                <a:srgbClr val="000000"/>
              </a:solidFill>
              <a:effectLst/>
              <a:uFillTx/>
              <a:latin typeface="Arial"/>
            </a:endParaRPr>
          </a:p>
        </p:txBody>
      </p:sp>
      <p:pic>
        <p:nvPicPr>
          <p:cNvPr id="160" name="Picture 9" descr="fig1203a.gif"/>
          <p:cNvPicPr/>
          <p:nvPr/>
        </p:nvPicPr>
        <p:blipFill>
          <a:blip r:embed="rId1"/>
          <a:stretch/>
        </p:blipFill>
        <p:spPr>
          <a:xfrm>
            <a:off x="4680000" y="1440000"/>
            <a:ext cx="3706200" cy="4747320"/>
          </a:xfrm>
          <a:prstGeom prst="rect">
            <a:avLst/>
          </a:prstGeom>
          <a:noFill/>
          <a:ln w="0">
            <a:noFill/>
          </a:ln>
        </p:spPr>
      </p:pic>
      <p:pic>
        <p:nvPicPr>
          <p:cNvPr id="161" name="Picture 10" descr="fig1203b.gif"/>
          <p:cNvPicPr/>
          <p:nvPr/>
        </p:nvPicPr>
        <p:blipFill>
          <a:blip r:embed="rId2"/>
          <a:stretch/>
        </p:blipFill>
        <p:spPr>
          <a:xfrm>
            <a:off x="4680000" y="1440000"/>
            <a:ext cx="3706200" cy="4747320"/>
          </a:xfrm>
          <a:prstGeom prst="rect">
            <a:avLst/>
          </a:prstGeom>
          <a:noFill/>
          <a:ln w="0">
            <a:noFill/>
          </a:ln>
        </p:spPr>
      </p:pic>
      <p:pic>
        <p:nvPicPr>
          <p:cNvPr id="162" name="Picture 11" descr="fig1203c.gif"/>
          <p:cNvPicPr/>
          <p:nvPr/>
        </p:nvPicPr>
        <p:blipFill>
          <a:blip r:embed="rId3"/>
          <a:stretch/>
        </p:blipFill>
        <p:spPr>
          <a:xfrm>
            <a:off x="4680000" y="1440000"/>
            <a:ext cx="3706200" cy="4747320"/>
          </a:xfrm>
          <a:prstGeom prst="rect">
            <a:avLst/>
          </a:prstGeom>
          <a:noFill/>
          <a:ln w="0">
            <a:noFill/>
          </a:ln>
        </p:spPr>
      </p:pic>
      <p:pic>
        <p:nvPicPr>
          <p:cNvPr id="163" name="Picture 12" descr="fig1203d.gif"/>
          <p:cNvPicPr/>
          <p:nvPr/>
        </p:nvPicPr>
        <p:blipFill>
          <a:blip r:embed="rId4"/>
          <a:stretch/>
        </p:blipFill>
        <p:spPr>
          <a:xfrm>
            <a:off x="4680000" y="1440000"/>
            <a:ext cx="3706200" cy="4747320"/>
          </a:xfrm>
          <a:prstGeom prst="rect">
            <a:avLst/>
          </a:prstGeom>
          <a:noFill/>
          <a:ln w="0">
            <a:noFill/>
          </a:ln>
        </p:spPr>
      </p:pic>
      <p:pic>
        <p:nvPicPr>
          <p:cNvPr id="164" name="Picture 13" descr="fig1203e.gif"/>
          <p:cNvPicPr/>
          <p:nvPr/>
        </p:nvPicPr>
        <p:blipFill>
          <a:blip r:embed="rId5"/>
          <a:stretch/>
        </p:blipFill>
        <p:spPr>
          <a:xfrm>
            <a:off x="4680000" y="1440000"/>
            <a:ext cx="3706200" cy="4747320"/>
          </a:xfrm>
          <a:prstGeom prst="rect">
            <a:avLst/>
          </a:prstGeom>
          <a:noFill/>
          <a:ln w="0">
            <a:noFill/>
          </a:ln>
        </p:spPr>
      </p:pic>
      <p:pic>
        <p:nvPicPr>
          <p:cNvPr id="165" name="Picture 14" descr="fig1203f.gif"/>
          <p:cNvPicPr/>
          <p:nvPr/>
        </p:nvPicPr>
        <p:blipFill>
          <a:blip r:embed="rId6"/>
          <a:stretch/>
        </p:blipFill>
        <p:spPr>
          <a:xfrm>
            <a:off x="4680000" y="1440000"/>
            <a:ext cx="3706200" cy="4747320"/>
          </a:xfrm>
          <a:prstGeom prst="rect">
            <a:avLst/>
          </a:prstGeom>
          <a:noFill/>
          <a:ln w="0">
            <a:noFill/>
          </a:ln>
        </p:spPr>
      </p:pic>
      <p:pic>
        <p:nvPicPr>
          <p:cNvPr id="166" name="Picture 15" descr="fig1203g.gif"/>
          <p:cNvPicPr/>
          <p:nvPr/>
        </p:nvPicPr>
        <p:blipFill>
          <a:blip r:embed="rId7"/>
          <a:stretch/>
        </p:blipFill>
        <p:spPr>
          <a:xfrm>
            <a:off x="4680000" y="1440000"/>
            <a:ext cx="3706200" cy="4747320"/>
          </a:xfrm>
          <a:prstGeom prst="rect">
            <a:avLst/>
          </a:prstGeom>
          <a:noFill/>
          <a:ln w="0">
            <a:noFill/>
          </a:ln>
        </p:spPr>
      </p:pic>
    </p:spTree>
  </p:cSld>
  <p:transition spd="slow">
    <p:wipe dir="r"/>
  </p:transition>
  <p:timing>
    <p:tnLst>
      <p:par>
        <p:cTn id="335" dur="indefinite" restart="never" nodeType="tmRoot">
          <p:childTnLst>
            <p:seq>
              <p:cTn id="336" dur="indefinite" nodeType="mainSeq">
                <p:childTnLst>
                  <p:par>
                    <p:cTn id="337" nodeType="clickEffect" fill="hold">
                      <p:stCondLst>
                        <p:cond delay="indefinite"/>
                      </p:stCondLst>
                      <p:childTnLst>
                        <p:par>
                          <p:cTn id="338" nodeType="withEffect" fill="hold">
                            <p:stCondLst>
                              <p:cond delay="0"/>
                            </p:stCondLst>
                            <p:childTnLst>
                              <p:par>
                                <p:cTn id="339" nodeType="clickEffect" fill="hold" presetClass="entr" presetID="22" presetSubtype="8">
                                  <p:stCondLst>
                                    <p:cond delay="0"/>
                                  </p:stCondLst>
                                  <p:childTnLst>
                                    <p:set>
                                      <p:cBhvr>
                                        <p:cTn id="340" dur="1" fill="hold">
                                          <p:stCondLst>
                                            <p:cond delay="0"/>
                                          </p:stCondLst>
                                        </p:cTn>
                                        <p:tgtEl>
                                          <p:spTgt spid="159">
                                            <p:txEl>
                                              <p:pRg st="1" end="1"/>
                                            </p:txEl>
                                          </p:spTgt>
                                        </p:tgtEl>
                                        <p:attrNameLst>
                                          <p:attrName>style.visibility</p:attrName>
                                        </p:attrNameLst>
                                      </p:cBhvr>
                                      <p:to>
                                        <p:strVal val="visible"/>
                                      </p:to>
                                    </p:set>
                                    <p:animEffect filter="wipe(left)" transition="in">
                                      <p:cBhvr additive="repl">
                                        <p:cTn id="341" dur="500"/>
                                        <p:tgtEl>
                                          <p:spTgt spid="159">
                                            <p:txEl>
                                              <p:pRg st="1" end="1"/>
                                            </p:txEl>
                                          </p:spTgt>
                                        </p:tgtEl>
                                      </p:cBhvr>
                                    </p:animEffect>
                                  </p:childTnLst>
                                </p:cTn>
                              </p:par>
                            </p:childTnLst>
                          </p:cTn>
                        </p:par>
                      </p:childTnLst>
                    </p:cTn>
                  </p:par>
                  <p:par>
                    <p:cTn id="342" nodeType="clickEffect" fill="hold">
                      <p:stCondLst>
                        <p:cond delay="indefinite"/>
                      </p:stCondLst>
                      <p:childTnLst>
                        <p:par>
                          <p:cTn id="343" nodeType="withEffect" fill="hold">
                            <p:stCondLst>
                              <p:cond delay="0"/>
                            </p:stCondLst>
                            <p:childTnLst>
                              <p:par>
                                <p:cTn id="344" nodeType="clickEffect" fill="hold" presetClass="entr" presetID="22" presetSubtype="8">
                                  <p:stCondLst>
                                    <p:cond delay="0"/>
                                  </p:stCondLst>
                                  <p:childTnLst>
                                    <p:set>
                                      <p:cBhvr>
                                        <p:cTn id="345" dur="1" fill="hold">
                                          <p:stCondLst>
                                            <p:cond delay="0"/>
                                          </p:stCondLst>
                                        </p:cTn>
                                        <p:tgtEl>
                                          <p:spTgt spid="159">
                                            <p:txEl>
                                              <p:pRg st="2" end="2"/>
                                            </p:txEl>
                                          </p:spTgt>
                                        </p:tgtEl>
                                        <p:attrNameLst>
                                          <p:attrName>style.visibility</p:attrName>
                                        </p:attrNameLst>
                                      </p:cBhvr>
                                      <p:to>
                                        <p:strVal val="visible"/>
                                      </p:to>
                                    </p:set>
                                    <p:animEffect filter="wipe(left)" transition="in">
                                      <p:cBhvr additive="repl">
                                        <p:cTn id="346" dur="500"/>
                                        <p:tgtEl>
                                          <p:spTgt spid="159">
                                            <p:txEl>
                                              <p:pRg st="2" end="2"/>
                                            </p:txEl>
                                          </p:spTgt>
                                        </p:tgtEl>
                                      </p:cBhvr>
                                    </p:animEffect>
                                  </p:childTnLst>
                                </p:cTn>
                              </p:par>
                            </p:childTnLst>
                          </p:cTn>
                        </p:par>
                      </p:childTnLst>
                    </p:cTn>
                  </p:par>
                  <p:par>
                    <p:cTn id="347" nodeType="clickEffect" fill="hold">
                      <p:stCondLst>
                        <p:cond delay="indefinite"/>
                      </p:stCondLst>
                      <p:childTnLst>
                        <p:par>
                          <p:cTn id="348" nodeType="withEffect" fill="hold">
                            <p:stCondLst>
                              <p:cond delay="0"/>
                            </p:stCondLst>
                            <p:childTnLst>
                              <p:par>
                                <p:cTn id="349" nodeType="clickEffect" fill="hold" presetClass="entr" presetID="22" presetSubtype="8">
                                  <p:stCondLst>
                                    <p:cond delay="0"/>
                                  </p:stCondLst>
                                  <p:childTnLst>
                                    <p:set>
                                      <p:cBhvr>
                                        <p:cTn id="350" dur="1" fill="hold">
                                          <p:stCondLst>
                                            <p:cond delay="0"/>
                                          </p:stCondLst>
                                        </p:cTn>
                                        <p:tgtEl>
                                          <p:spTgt spid="159">
                                            <p:txEl>
                                              <p:pRg st="3" end="3"/>
                                            </p:txEl>
                                          </p:spTgt>
                                        </p:tgtEl>
                                        <p:attrNameLst>
                                          <p:attrName>style.visibility</p:attrName>
                                        </p:attrNameLst>
                                      </p:cBhvr>
                                      <p:to>
                                        <p:strVal val="visible"/>
                                      </p:to>
                                    </p:set>
                                    <p:animEffect filter="wipe(left)" transition="in">
                                      <p:cBhvr additive="repl">
                                        <p:cTn id="351" dur="500"/>
                                        <p:tgtEl>
                                          <p:spTgt spid="159">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13.1  CONSUMPTION POSSIBILITIES</a:t>
            </a:r>
            <a:endParaRPr b="0" lang="en-US" sz="2600" strike="noStrike" u="none">
              <a:solidFill>
                <a:srgbClr val="000000"/>
              </a:solidFill>
              <a:effectLst/>
              <a:uFillTx/>
              <a:latin typeface="Arial"/>
            </a:endParaRPr>
          </a:p>
        </p:txBody>
      </p:sp>
      <p:sp>
        <p:nvSpPr>
          <p:cNvPr id="168" name="PlaceHolder 2"/>
          <p:cNvSpPr>
            <a:spLocks noGrp="1"/>
          </p:cNvSpPr>
          <p:nvPr>
            <p:ph/>
          </p:nvPr>
        </p:nvSpPr>
        <p:spPr>
          <a:xfrm>
            <a:off x="360360" y="1440000"/>
            <a:ext cx="411408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Next, calculate the slope of the budget line when water costs 50¢ a bottle.</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When the price of water is 50¢ a bottle:</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Slope equals 8 packs of gum divided by 8 bottles of water.</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Slope equals 1 pack per bottle.</a:t>
            </a:r>
            <a:endParaRPr b="0" lang="en-US" sz="2400" strike="noStrike" u="none">
              <a:solidFill>
                <a:srgbClr val="000000"/>
              </a:solidFill>
              <a:effectLst/>
              <a:uFillTx/>
              <a:latin typeface="Arial"/>
            </a:endParaRPr>
          </a:p>
        </p:txBody>
      </p:sp>
      <p:pic>
        <p:nvPicPr>
          <p:cNvPr id="169" name="Picture 9" descr="fig1203a.gif"/>
          <p:cNvPicPr/>
          <p:nvPr/>
        </p:nvPicPr>
        <p:blipFill>
          <a:blip r:embed="rId1"/>
          <a:stretch/>
        </p:blipFill>
        <p:spPr>
          <a:xfrm>
            <a:off x="4680000" y="1440000"/>
            <a:ext cx="3706200" cy="4747320"/>
          </a:xfrm>
          <a:prstGeom prst="rect">
            <a:avLst/>
          </a:prstGeom>
          <a:noFill/>
          <a:ln w="0">
            <a:noFill/>
          </a:ln>
        </p:spPr>
      </p:pic>
      <p:pic>
        <p:nvPicPr>
          <p:cNvPr id="170" name="Picture 10" descr="fig1203b.gif"/>
          <p:cNvPicPr/>
          <p:nvPr/>
        </p:nvPicPr>
        <p:blipFill>
          <a:blip r:embed="rId2"/>
          <a:stretch/>
        </p:blipFill>
        <p:spPr>
          <a:xfrm>
            <a:off x="4680000" y="1440000"/>
            <a:ext cx="3706200" cy="4747320"/>
          </a:xfrm>
          <a:prstGeom prst="rect">
            <a:avLst/>
          </a:prstGeom>
          <a:noFill/>
          <a:ln w="0">
            <a:noFill/>
          </a:ln>
        </p:spPr>
      </p:pic>
      <p:pic>
        <p:nvPicPr>
          <p:cNvPr id="171" name="Picture 11" descr="fig1203c.gif"/>
          <p:cNvPicPr/>
          <p:nvPr/>
        </p:nvPicPr>
        <p:blipFill>
          <a:blip r:embed="rId3"/>
          <a:stretch/>
        </p:blipFill>
        <p:spPr>
          <a:xfrm>
            <a:off x="4680000" y="1440000"/>
            <a:ext cx="3706200" cy="4747320"/>
          </a:xfrm>
          <a:prstGeom prst="rect">
            <a:avLst/>
          </a:prstGeom>
          <a:noFill/>
          <a:ln w="0">
            <a:noFill/>
          </a:ln>
        </p:spPr>
      </p:pic>
      <p:pic>
        <p:nvPicPr>
          <p:cNvPr id="172" name="Picture 12" descr="fig1203d.gif"/>
          <p:cNvPicPr/>
          <p:nvPr/>
        </p:nvPicPr>
        <p:blipFill>
          <a:blip r:embed="rId4"/>
          <a:stretch/>
        </p:blipFill>
        <p:spPr>
          <a:xfrm>
            <a:off x="4680000" y="1440000"/>
            <a:ext cx="3706200" cy="4747320"/>
          </a:xfrm>
          <a:prstGeom prst="rect">
            <a:avLst/>
          </a:prstGeom>
          <a:noFill/>
          <a:ln w="0">
            <a:noFill/>
          </a:ln>
        </p:spPr>
      </p:pic>
      <p:pic>
        <p:nvPicPr>
          <p:cNvPr id="173" name="Picture 13" descr="fig1203e.gif"/>
          <p:cNvPicPr/>
          <p:nvPr/>
        </p:nvPicPr>
        <p:blipFill>
          <a:blip r:embed="rId5"/>
          <a:stretch/>
        </p:blipFill>
        <p:spPr>
          <a:xfrm>
            <a:off x="4680000" y="1440000"/>
            <a:ext cx="3706200" cy="4747320"/>
          </a:xfrm>
          <a:prstGeom prst="rect">
            <a:avLst/>
          </a:prstGeom>
          <a:noFill/>
          <a:ln w="0">
            <a:noFill/>
          </a:ln>
        </p:spPr>
      </p:pic>
      <p:pic>
        <p:nvPicPr>
          <p:cNvPr id="174" name="Picture 14" descr="fig1203f.gif"/>
          <p:cNvPicPr/>
          <p:nvPr/>
        </p:nvPicPr>
        <p:blipFill>
          <a:blip r:embed="rId6"/>
          <a:stretch/>
        </p:blipFill>
        <p:spPr>
          <a:xfrm>
            <a:off x="4680000" y="1440000"/>
            <a:ext cx="3706200" cy="4747320"/>
          </a:xfrm>
          <a:prstGeom prst="rect">
            <a:avLst/>
          </a:prstGeom>
          <a:noFill/>
          <a:ln w="0">
            <a:noFill/>
          </a:ln>
        </p:spPr>
      </p:pic>
      <p:pic>
        <p:nvPicPr>
          <p:cNvPr id="175" name="Picture 15" descr="fig1203g.gif"/>
          <p:cNvPicPr/>
          <p:nvPr/>
        </p:nvPicPr>
        <p:blipFill>
          <a:blip r:embed="rId7"/>
          <a:stretch/>
        </p:blipFill>
        <p:spPr>
          <a:xfrm>
            <a:off x="4680000" y="1440000"/>
            <a:ext cx="3706200" cy="4747320"/>
          </a:xfrm>
          <a:prstGeom prst="rect">
            <a:avLst/>
          </a:prstGeom>
          <a:noFill/>
          <a:ln w="0">
            <a:noFill/>
          </a:ln>
        </p:spPr>
      </p:pic>
      <p:pic>
        <p:nvPicPr>
          <p:cNvPr id="176" name="Picture 16" descr="fig1203h.gif"/>
          <p:cNvPicPr/>
          <p:nvPr/>
        </p:nvPicPr>
        <p:blipFill>
          <a:blip r:embed="rId8"/>
          <a:stretch/>
        </p:blipFill>
        <p:spPr>
          <a:xfrm>
            <a:off x="4680000" y="1440000"/>
            <a:ext cx="3706200" cy="4747320"/>
          </a:xfrm>
          <a:prstGeom prst="rect">
            <a:avLst/>
          </a:prstGeom>
          <a:noFill/>
          <a:ln w="0">
            <a:noFill/>
          </a:ln>
        </p:spPr>
      </p:pic>
    </p:spTree>
  </p:cSld>
  <p:transition spd="slow">
    <p:wipe dir="r"/>
  </p:transition>
  <p:timing>
    <p:tnLst>
      <p:par>
        <p:cTn id="352" dur="indefinite" restart="never" nodeType="tmRoot">
          <p:childTnLst>
            <p:seq>
              <p:cTn id="353" dur="indefinite" nodeType="mainSeq">
                <p:childTnLst>
                  <p:par>
                    <p:cTn id="354" nodeType="clickEffect" fill="hold">
                      <p:stCondLst>
                        <p:cond delay="indefinite"/>
                      </p:stCondLst>
                      <p:childTnLst>
                        <p:par>
                          <p:cTn id="355" nodeType="withEffect" fill="hold">
                            <p:stCondLst>
                              <p:cond delay="0"/>
                            </p:stCondLst>
                            <p:childTnLst>
                              <p:par>
                                <p:cTn id="356" nodeType="clickEffect" fill="hold" presetClass="entr" presetID="22" presetSubtype="8">
                                  <p:stCondLst>
                                    <p:cond delay="0"/>
                                  </p:stCondLst>
                                  <p:childTnLst>
                                    <p:set>
                                      <p:cBhvr>
                                        <p:cTn id="357" dur="1" fill="hold">
                                          <p:stCondLst>
                                            <p:cond delay="0"/>
                                          </p:stCondLst>
                                        </p:cTn>
                                        <p:tgtEl>
                                          <p:spTgt spid="168">
                                            <p:txEl>
                                              <p:pRg st="1" end="1"/>
                                            </p:txEl>
                                          </p:spTgt>
                                        </p:tgtEl>
                                        <p:attrNameLst>
                                          <p:attrName>style.visibility</p:attrName>
                                        </p:attrNameLst>
                                      </p:cBhvr>
                                      <p:to>
                                        <p:strVal val="visible"/>
                                      </p:to>
                                    </p:set>
                                    <p:animEffect filter="wipe(left)" transition="in">
                                      <p:cBhvr additive="repl">
                                        <p:cTn id="358" dur="500"/>
                                        <p:tgtEl>
                                          <p:spTgt spid="168">
                                            <p:txEl>
                                              <p:pRg st="1" end="1"/>
                                            </p:txEl>
                                          </p:spTgt>
                                        </p:tgtEl>
                                      </p:cBhvr>
                                    </p:animEffect>
                                  </p:childTnLst>
                                </p:cTn>
                              </p:par>
                              <p:par>
                                <p:cTn id="359" nodeType="withEffect" fill="hold" presetClass="entr" presetID="22" presetSubtype="8">
                                  <p:stCondLst>
                                    <p:cond delay="0"/>
                                  </p:stCondLst>
                                  <p:childTnLst>
                                    <p:set>
                                      <p:cBhvr>
                                        <p:cTn id="360" dur="1" fill="hold">
                                          <p:stCondLst>
                                            <p:cond delay="0"/>
                                          </p:stCondLst>
                                        </p:cTn>
                                        <p:tgtEl>
                                          <p:spTgt spid="176"/>
                                        </p:tgtEl>
                                        <p:attrNameLst>
                                          <p:attrName>style.visibility</p:attrName>
                                        </p:attrNameLst>
                                      </p:cBhvr>
                                      <p:to>
                                        <p:strVal val="visible"/>
                                      </p:to>
                                    </p:set>
                                    <p:animEffect filter="wipe(left)" transition="in">
                                      <p:cBhvr additive="repl">
                                        <p:cTn id="361" dur="500"/>
                                        <p:tgtEl>
                                          <p:spTgt spid="176"/>
                                        </p:tgtEl>
                                      </p:cBhvr>
                                    </p:animEffect>
                                  </p:childTnLst>
                                </p:cTn>
                              </p:par>
                            </p:childTnLst>
                          </p:cTn>
                        </p:par>
                      </p:childTnLst>
                    </p:cTn>
                  </p:par>
                  <p:par>
                    <p:cTn id="362" nodeType="clickEffect" fill="hold">
                      <p:stCondLst>
                        <p:cond delay="indefinite"/>
                      </p:stCondLst>
                      <p:childTnLst>
                        <p:par>
                          <p:cTn id="363" nodeType="withEffect" fill="hold">
                            <p:stCondLst>
                              <p:cond delay="0"/>
                            </p:stCondLst>
                            <p:childTnLst>
                              <p:par>
                                <p:cTn id="364" nodeType="clickEffect" fill="hold" presetClass="entr" presetID="22" presetSubtype="8">
                                  <p:stCondLst>
                                    <p:cond delay="0"/>
                                  </p:stCondLst>
                                  <p:childTnLst>
                                    <p:set>
                                      <p:cBhvr>
                                        <p:cTn id="365" dur="1" fill="hold">
                                          <p:stCondLst>
                                            <p:cond delay="0"/>
                                          </p:stCondLst>
                                        </p:cTn>
                                        <p:tgtEl>
                                          <p:spTgt spid="168">
                                            <p:txEl>
                                              <p:pRg st="2" end="2"/>
                                            </p:txEl>
                                          </p:spTgt>
                                        </p:tgtEl>
                                        <p:attrNameLst>
                                          <p:attrName>style.visibility</p:attrName>
                                        </p:attrNameLst>
                                      </p:cBhvr>
                                      <p:to>
                                        <p:strVal val="visible"/>
                                      </p:to>
                                    </p:set>
                                    <p:animEffect filter="wipe(left)" transition="in">
                                      <p:cBhvr additive="repl">
                                        <p:cTn id="366" dur="500"/>
                                        <p:tgtEl>
                                          <p:spTgt spid="168">
                                            <p:txEl>
                                              <p:pRg st="2" end="2"/>
                                            </p:txEl>
                                          </p:spTgt>
                                        </p:tgtEl>
                                      </p:cBhvr>
                                    </p:animEffect>
                                  </p:childTnLst>
                                </p:cTn>
                              </p:par>
                            </p:childTnLst>
                          </p:cTn>
                        </p:par>
                      </p:childTnLst>
                    </p:cTn>
                  </p:par>
                  <p:par>
                    <p:cTn id="367" nodeType="clickEffect" fill="hold">
                      <p:stCondLst>
                        <p:cond delay="indefinite"/>
                      </p:stCondLst>
                      <p:childTnLst>
                        <p:par>
                          <p:cTn id="368" nodeType="withEffect" fill="hold">
                            <p:stCondLst>
                              <p:cond delay="0"/>
                            </p:stCondLst>
                            <p:childTnLst>
                              <p:par>
                                <p:cTn id="369" nodeType="clickEffect" fill="hold" presetClass="entr" presetID="22" presetSubtype="8">
                                  <p:stCondLst>
                                    <p:cond delay="0"/>
                                  </p:stCondLst>
                                  <p:childTnLst>
                                    <p:set>
                                      <p:cBhvr>
                                        <p:cTn id="370" dur="1" fill="hold">
                                          <p:stCondLst>
                                            <p:cond delay="0"/>
                                          </p:stCondLst>
                                        </p:cTn>
                                        <p:tgtEl>
                                          <p:spTgt spid="168">
                                            <p:txEl>
                                              <p:pRg st="3" end="3"/>
                                            </p:txEl>
                                          </p:spTgt>
                                        </p:tgtEl>
                                        <p:attrNameLst>
                                          <p:attrName>style.visibility</p:attrName>
                                        </p:attrNameLst>
                                      </p:cBhvr>
                                      <p:to>
                                        <p:strVal val="visible"/>
                                      </p:to>
                                    </p:set>
                                    <p:animEffect filter="wipe(left)" transition="in">
                                      <p:cBhvr additive="repl">
                                        <p:cTn id="371" dur="500"/>
                                        <p:tgtEl>
                                          <p:spTgt spid="168">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177" name="Picture 9" descr="fig1203a.gif"/>
          <p:cNvPicPr/>
          <p:nvPr/>
        </p:nvPicPr>
        <p:blipFill>
          <a:blip r:embed="rId1"/>
          <a:stretch/>
        </p:blipFill>
        <p:spPr>
          <a:xfrm>
            <a:off x="2378160" y="152280"/>
            <a:ext cx="4757040" cy="6095160"/>
          </a:xfrm>
          <a:prstGeom prst="rect">
            <a:avLst/>
          </a:prstGeom>
          <a:noFill/>
          <a:ln w="0">
            <a:noFill/>
          </a:ln>
        </p:spPr>
      </p:pic>
      <p:pic>
        <p:nvPicPr>
          <p:cNvPr id="178" name="Picture 10" descr="fig1203b.gif"/>
          <p:cNvPicPr/>
          <p:nvPr/>
        </p:nvPicPr>
        <p:blipFill>
          <a:blip r:embed="rId2"/>
          <a:stretch/>
        </p:blipFill>
        <p:spPr>
          <a:xfrm>
            <a:off x="2378160" y="152280"/>
            <a:ext cx="4757040" cy="6095160"/>
          </a:xfrm>
          <a:prstGeom prst="rect">
            <a:avLst/>
          </a:prstGeom>
          <a:noFill/>
          <a:ln w="0">
            <a:noFill/>
          </a:ln>
        </p:spPr>
      </p:pic>
      <p:pic>
        <p:nvPicPr>
          <p:cNvPr id="179" name="Picture 11" descr="fig1203c.gif"/>
          <p:cNvPicPr/>
          <p:nvPr/>
        </p:nvPicPr>
        <p:blipFill>
          <a:blip r:embed="rId3"/>
          <a:stretch/>
        </p:blipFill>
        <p:spPr>
          <a:xfrm>
            <a:off x="2378160" y="152280"/>
            <a:ext cx="4757040" cy="6095160"/>
          </a:xfrm>
          <a:prstGeom prst="rect">
            <a:avLst/>
          </a:prstGeom>
          <a:noFill/>
          <a:ln w="0">
            <a:noFill/>
          </a:ln>
        </p:spPr>
      </p:pic>
      <p:pic>
        <p:nvPicPr>
          <p:cNvPr id="180" name="Picture 12" descr="fig1203d.gif"/>
          <p:cNvPicPr/>
          <p:nvPr/>
        </p:nvPicPr>
        <p:blipFill>
          <a:blip r:embed="rId4"/>
          <a:stretch/>
        </p:blipFill>
        <p:spPr>
          <a:xfrm>
            <a:off x="2378160" y="152280"/>
            <a:ext cx="4757040" cy="6095160"/>
          </a:xfrm>
          <a:prstGeom prst="rect">
            <a:avLst/>
          </a:prstGeom>
          <a:noFill/>
          <a:ln w="0">
            <a:noFill/>
          </a:ln>
        </p:spPr>
      </p:pic>
      <p:pic>
        <p:nvPicPr>
          <p:cNvPr id="181" name="Picture 13" descr="fig1203e.gif"/>
          <p:cNvPicPr/>
          <p:nvPr/>
        </p:nvPicPr>
        <p:blipFill>
          <a:blip r:embed="rId5"/>
          <a:stretch/>
        </p:blipFill>
        <p:spPr>
          <a:xfrm>
            <a:off x="2378160" y="152280"/>
            <a:ext cx="4757040" cy="6095160"/>
          </a:xfrm>
          <a:prstGeom prst="rect">
            <a:avLst/>
          </a:prstGeom>
          <a:noFill/>
          <a:ln w="0">
            <a:noFill/>
          </a:ln>
        </p:spPr>
      </p:pic>
      <p:pic>
        <p:nvPicPr>
          <p:cNvPr id="182" name="Picture 14" descr="fig1203f.gif"/>
          <p:cNvPicPr/>
          <p:nvPr/>
        </p:nvPicPr>
        <p:blipFill>
          <a:blip r:embed="rId6"/>
          <a:stretch/>
        </p:blipFill>
        <p:spPr>
          <a:xfrm>
            <a:off x="2378160" y="152280"/>
            <a:ext cx="4757040" cy="6095160"/>
          </a:xfrm>
          <a:prstGeom prst="rect">
            <a:avLst/>
          </a:prstGeom>
          <a:noFill/>
          <a:ln w="0">
            <a:noFill/>
          </a:ln>
        </p:spPr>
      </p:pic>
      <p:pic>
        <p:nvPicPr>
          <p:cNvPr id="183" name="Picture 15" descr="fig1203g.gif"/>
          <p:cNvPicPr/>
          <p:nvPr/>
        </p:nvPicPr>
        <p:blipFill>
          <a:blip r:embed="rId7"/>
          <a:stretch/>
        </p:blipFill>
        <p:spPr>
          <a:xfrm>
            <a:off x="2378160" y="152280"/>
            <a:ext cx="4757040" cy="6095160"/>
          </a:xfrm>
          <a:prstGeom prst="rect">
            <a:avLst/>
          </a:prstGeom>
          <a:noFill/>
          <a:ln w="0">
            <a:noFill/>
          </a:ln>
        </p:spPr>
      </p:pic>
      <p:pic>
        <p:nvPicPr>
          <p:cNvPr id="184" name="Picture 16" descr="fig1203h.gif"/>
          <p:cNvPicPr/>
          <p:nvPr/>
        </p:nvPicPr>
        <p:blipFill>
          <a:blip r:embed="rId8"/>
          <a:stretch/>
        </p:blipFill>
        <p:spPr>
          <a:xfrm>
            <a:off x="2378160" y="152280"/>
            <a:ext cx="4757040" cy="6095160"/>
          </a:xfrm>
          <a:prstGeom prst="rect">
            <a:avLst/>
          </a:prstGeom>
          <a:noFill/>
          <a:ln w="0">
            <a:noFill/>
          </a:ln>
        </p:spPr>
      </p:pic>
    </p:spTree>
  </p:cSld>
  <p:transition spd="slow">
    <p:wipe dir="r"/>
  </p:transition>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13.1  CONSUMPTION POSSIBILITIES</a:t>
            </a:r>
            <a:endParaRPr b="0" lang="en-US" sz="2600" strike="noStrike" u="none">
              <a:solidFill>
                <a:srgbClr val="000000"/>
              </a:solidFill>
              <a:effectLst/>
              <a:uFillTx/>
              <a:latin typeface="Arial"/>
            </a:endParaRPr>
          </a:p>
        </p:txBody>
      </p:sp>
      <p:sp>
        <p:nvSpPr>
          <p:cNvPr id="186" name="PlaceHolder 2"/>
          <p:cNvSpPr>
            <a:spLocks noGrp="1"/>
          </p:cNvSpPr>
          <p:nvPr>
            <p:ph/>
          </p:nvPr>
        </p:nvSpPr>
        <p:spPr>
          <a:xfrm>
            <a:off x="360360" y="1440000"/>
            <a:ext cx="411408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Finally, calculate the slope of the budget line when water costs $2 a bottle.</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When the price of water is $2 a bottle:</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Slope equals 8 packs of gum divided by 2 bottles of water.</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Slope equals 4 packs per bottle.</a:t>
            </a:r>
            <a:endParaRPr b="0" lang="en-US" sz="2400" strike="noStrike" u="none">
              <a:solidFill>
                <a:srgbClr val="000000"/>
              </a:solidFill>
              <a:effectLst/>
              <a:uFillTx/>
              <a:latin typeface="Arial"/>
            </a:endParaRPr>
          </a:p>
        </p:txBody>
      </p:sp>
      <p:pic>
        <p:nvPicPr>
          <p:cNvPr id="187" name="Picture 9" descr="fig1204a.gif"/>
          <p:cNvPicPr/>
          <p:nvPr/>
        </p:nvPicPr>
        <p:blipFill>
          <a:blip r:embed="rId1"/>
          <a:stretch/>
        </p:blipFill>
        <p:spPr>
          <a:xfrm>
            <a:off x="4680000" y="1440000"/>
            <a:ext cx="3701160" cy="4742640"/>
          </a:xfrm>
          <a:prstGeom prst="rect">
            <a:avLst/>
          </a:prstGeom>
          <a:noFill/>
          <a:ln w="0">
            <a:noFill/>
          </a:ln>
        </p:spPr>
      </p:pic>
      <p:pic>
        <p:nvPicPr>
          <p:cNvPr id="188" name="Picture 10" descr="fig1204b.gif"/>
          <p:cNvPicPr/>
          <p:nvPr/>
        </p:nvPicPr>
        <p:blipFill>
          <a:blip r:embed="rId2"/>
          <a:stretch/>
        </p:blipFill>
        <p:spPr>
          <a:xfrm>
            <a:off x="4680000" y="1440000"/>
            <a:ext cx="3701160" cy="4742640"/>
          </a:xfrm>
          <a:prstGeom prst="rect">
            <a:avLst/>
          </a:prstGeom>
          <a:noFill/>
          <a:ln w="0">
            <a:noFill/>
          </a:ln>
        </p:spPr>
      </p:pic>
      <p:pic>
        <p:nvPicPr>
          <p:cNvPr id="189" name="Picture 11" descr="fig1204c.gif"/>
          <p:cNvPicPr/>
          <p:nvPr/>
        </p:nvPicPr>
        <p:blipFill>
          <a:blip r:embed="rId3"/>
          <a:stretch/>
        </p:blipFill>
        <p:spPr>
          <a:xfrm>
            <a:off x="4680000" y="1440000"/>
            <a:ext cx="3701160" cy="4742640"/>
          </a:xfrm>
          <a:prstGeom prst="rect">
            <a:avLst/>
          </a:prstGeom>
          <a:noFill/>
          <a:ln w="0">
            <a:noFill/>
          </a:ln>
        </p:spPr>
      </p:pic>
      <p:pic>
        <p:nvPicPr>
          <p:cNvPr id="190" name="Picture 12" descr="fig1204d.gif"/>
          <p:cNvPicPr/>
          <p:nvPr/>
        </p:nvPicPr>
        <p:blipFill>
          <a:blip r:embed="rId4"/>
          <a:stretch/>
        </p:blipFill>
        <p:spPr>
          <a:xfrm>
            <a:off x="4680000" y="1440000"/>
            <a:ext cx="3701160" cy="4742640"/>
          </a:xfrm>
          <a:prstGeom prst="rect">
            <a:avLst/>
          </a:prstGeom>
          <a:noFill/>
          <a:ln w="0">
            <a:noFill/>
          </a:ln>
        </p:spPr>
      </p:pic>
      <p:pic>
        <p:nvPicPr>
          <p:cNvPr id="191" name="Picture 13" descr="fig1204e.gif"/>
          <p:cNvPicPr/>
          <p:nvPr/>
        </p:nvPicPr>
        <p:blipFill>
          <a:blip r:embed="rId5"/>
          <a:stretch/>
        </p:blipFill>
        <p:spPr>
          <a:xfrm>
            <a:off x="4680000" y="1440000"/>
            <a:ext cx="3701160" cy="4742640"/>
          </a:xfrm>
          <a:prstGeom prst="rect">
            <a:avLst/>
          </a:prstGeom>
          <a:noFill/>
          <a:ln w="0">
            <a:noFill/>
          </a:ln>
        </p:spPr>
      </p:pic>
      <p:pic>
        <p:nvPicPr>
          <p:cNvPr id="192" name="Picture 14" descr="fig1204f.gif"/>
          <p:cNvPicPr/>
          <p:nvPr/>
        </p:nvPicPr>
        <p:blipFill>
          <a:blip r:embed="rId6"/>
          <a:stretch/>
        </p:blipFill>
        <p:spPr>
          <a:xfrm>
            <a:off x="4680000" y="1440000"/>
            <a:ext cx="3701160" cy="4742640"/>
          </a:xfrm>
          <a:prstGeom prst="rect">
            <a:avLst/>
          </a:prstGeom>
          <a:noFill/>
          <a:ln w="0">
            <a:noFill/>
          </a:ln>
        </p:spPr>
      </p:pic>
      <p:pic>
        <p:nvPicPr>
          <p:cNvPr id="193" name="Picture 15" descr="fig1204g.gif"/>
          <p:cNvPicPr/>
          <p:nvPr/>
        </p:nvPicPr>
        <p:blipFill>
          <a:blip r:embed="rId7"/>
          <a:stretch/>
        </p:blipFill>
        <p:spPr>
          <a:xfrm>
            <a:off x="4680000" y="1440000"/>
            <a:ext cx="3701160" cy="4742640"/>
          </a:xfrm>
          <a:prstGeom prst="rect">
            <a:avLst/>
          </a:prstGeom>
          <a:noFill/>
          <a:ln w="0">
            <a:noFill/>
          </a:ln>
        </p:spPr>
      </p:pic>
      <p:pic>
        <p:nvPicPr>
          <p:cNvPr id="194" name="Picture 16" descr="fig1204h.gif"/>
          <p:cNvPicPr/>
          <p:nvPr/>
        </p:nvPicPr>
        <p:blipFill>
          <a:blip r:embed="rId8"/>
          <a:stretch/>
        </p:blipFill>
        <p:spPr>
          <a:xfrm>
            <a:off x="4680000" y="1440000"/>
            <a:ext cx="3701160" cy="4742640"/>
          </a:xfrm>
          <a:prstGeom prst="rect">
            <a:avLst/>
          </a:prstGeom>
          <a:noFill/>
          <a:ln w="0">
            <a:noFill/>
          </a:ln>
        </p:spPr>
      </p:pic>
    </p:spTree>
  </p:cSld>
  <p:transition spd="slow">
    <p:wipe dir="r"/>
  </p:transition>
  <p:timing>
    <p:tnLst>
      <p:par>
        <p:cTn id="372" dur="indefinite" restart="never" nodeType="tmRoot">
          <p:childTnLst>
            <p:seq>
              <p:cTn id="373" dur="indefinite" nodeType="mainSeq">
                <p:childTnLst>
                  <p:par>
                    <p:cTn id="374" nodeType="clickEffect" fill="hold">
                      <p:stCondLst>
                        <p:cond delay="indefinite"/>
                      </p:stCondLst>
                      <p:childTnLst>
                        <p:par>
                          <p:cTn id="375" nodeType="withEffect" fill="hold">
                            <p:stCondLst>
                              <p:cond delay="0"/>
                            </p:stCondLst>
                            <p:childTnLst>
                              <p:par>
                                <p:cTn id="376" nodeType="clickEffect" fill="hold" presetClass="entr" presetID="22" presetSubtype="8">
                                  <p:stCondLst>
                                    <p:cond delay="0"/>
                                  </p:stCondLst>
                                  <p:childTnLst>
                                    <p:set>
                                      <p:cBhvr>
                                        <p:cTn id="377" dur="1" fill="hold">
                                          <p:stCondLst>
                                            <p:cond delay="0"/>
                                          </p:stCondLst>
                                        </p:cTn>
                                        <p:tgtEl>
                                          <p:spTgt spid="186">
                                            <p:txEl>
                                              <p:pRg st="1" end="1"/>
                                            </p:txEl>
                                          </p:spTgt>
                                        </p:tgtEl>
                                        <p:attrNameLst>
                                          <p:attrName>style.visibility</p:attrName>
                                        </p:attrNameLst>
                                      </p:cBhvr>
                                      <p:to>
                                        <p:strVal val="visible"/>
                                      </p:to>
                                    </p:set>
                                    <p:animEffect filter="wipe(left)" transition="in">
                                      <p:cBhvr additive="repl">
                                        <p:cTn id="378" dur="500"/>
                                        <p:tgtEl>
                                          <p:spTgt spid="186">
                                            <p:txEl>
                                              <p:pRg st="1" end="1"/>
                                            </p:txEl>
                                          </p:spTgt>
                                        </p:tgtEl>
                                      </p:cBhvr>
                                    </p:animEffect>
                                  </p:childTnLst>
                                </p:cTn>
                              </p:par>
                              <p:par>
                                <p:cTn id="379" nodeType="withEffect" fill="hold" presetClass="entr" presetID="22" presetSubtype="2">
                                  <p:stCondLst>
                                    <p:cond delay="0"/>
                                  </p:stCondLst>
                                  <p:childTnLst>
                                    <p:set>
                                      <p:cBhvr>
                                        <p:cTn id="380" dur="1" fill="hold">
                                          <p:stCondLst>
                                            <p:cond delay="0"/>
                                          </p:stCondLst>
                                        </p:cTn>
                                        <p:tgtEl>
                                          <p:spTgt spid="194"/>
                                        </p:tgtEl>
                                        <p:attrNameLst>
                                          <p:attrName>style.visibility</p:attrName>
                                        </p:attrNameLst>
                                      </p:cBhvr>
                                      <p:to>
                                        <p:strVal val="visible"/>
                                      </p:to>
                                    </p:set>
                                    <p:animEffect filter="wipe(right)" transition="in">
                                      <p:cBhvr additive="repl">
                                        <p:cTn id="381" dur="500"/>
                                        <p:tgtEl>
                                          <p:spTgt spid="194"/>
                                        </p:tgtEl>
                                      </p:cBhvr>
                                    </p:animEffect>
                                  </p:childTnLst>
                                </p:cTn>
                              </p:par>
                            </p:childTnLst>
                          </p:cTn>
                        </p:par>
                      </p:childTnLst>
                    </p:cTn>
                  </p:par>
                  <p:par>
                    <p:cTn id="382" nodeType="clickEffect" fill="hold">
                      <p:stCondLst>
                        <p:cond delay="indefinite"/>
                      </p:stCondLst>
                      <p:childTnLst>
                        <p:par>
                          <p:cTn id="383" nodeType="withEffect" fill="hold">
                            <p:stCondLst>
                              <p:cond delay="0"/>
                            </p:stCondLst>
                            <p:childTnLst>
                              <p:par>
                                <p:cTn id="384" nodeType="clickEffect" fill="hold" presetClass="entr" presetID="22" presetSubtype="8">
                                  <p:stCondLst>
                                    <p:cond delay="0"/>
                                  </p:stCondLst>
                                  <p:childTnLst>
                                    <p:set>
                                      <p:cBhvr>
                                        <p:cTn id="385" dur="1" fill="hold">
                                          <p:stCondLst>
                                            <p:cond delay="0"/>
                                          </p:stCondLst>
                                        </p:cTn>
                                        <p:tgtEl>
                                          <p:spTgt spid="186">
                                            <p:txEl>
                                              <p:pRg st="2" end="2"/>
                                            </p:txEl>
                                          </p:spTgt>
                                        </p:tgtEl>
                                        <p:attrNameLst>
                                          <p:attrName>style.visibility</p:attrName>
                                        </p:attrNameLst>
                                      </p:cBhvr>
                                      <p:to>
                                        <p:strVal val="visible"/>
                                      </p:to>
                                    </p:set>
                                    <p:animEffect filter="wipe(left)" transition="in">
                                      <p:cBhvr additive="repl">
                                        <p:cTn id="386" dur="500"/>
                                        <p:tgtEl>
                                          <p:spTgt spid="186">
                                            <p:txEl>
                                              <p:pRg st="2" end="2"/>
                                            </p:txEl>
                                          </p:spTgt>
                                        </p:tgtEl>
                                      </p:cBhvr>
                                    </p:animEffect>
                                  </p:childTnLst>
                                </p:cTn>
                              </p:par>
                            </p:childTnLst>
                          </p:cTn>
                        </p:par>
                      </p:childTnLst>
                    </p:cTn>
                  </p:par>
                  <p:par>
                    <p:cTn id="387" nodeType="clickEffect" fill="hold">
                      <p:stCondLst>
                        <p:cond delay="indefinite"/>
                      </p:stCondLst>
                      <p:childTnLst>
                        <p:par>
                          <p:cTn id="388" nodeType="withEffect" fill="hold">
                            <p:stCondLst>
                              <p:cond delay="0"/>
                            </p:stCondLst>
                            <p:childTnLst>
                              <p:par>
                                <p:cTn id="389" nodeType="clickEffect" fill="hold" presetClass="entr" presetID="22" presetSubtype="8">
                                  <p:stCondLst>
                                    <p:cond delay="0"/>
                                  </p:stCondLst>
                                  <p:childTnLst>
                                    <p:set>
                                      <p:cBhvr>
                                        <p:cTn id="390" dur="1" fill="hold">
                                          <p:stCondLst>
                                            <p:cond delay="0"/>
                                          </p:stCondLst>
                                        </p:cTn>
                                        <p:tgtEl>
                                          <p:spTgt spid="186">
                                            <p:txEl>
                                              <p:pRg st="3" end="3"/>
                                            </p:txEl>
                                          </p:spTgt>
                                        </p:tgtEl>
                                        <p:attrNameLst>
                                          <p:attrName>style.visibility</p:attrName>
                                        </p:attrNameLst>
                                      </p:cBhvr>
                                      <p:to>
                                        <p:strVal val="visible"/>
                                      </p:to>
                                    </p:set>
                                    <p:animEffect filter="wipe(left)" transition="in">
                                      <p:cBhvr additive="repl">
                                        <p:cTn id="391" dur="500"/>
                                        <p:tgtEl>
                                          <p:spTgt spid="186">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195" name="Picture 32" descr="fig1204a.gif"/>
          <p:cNvPicPr/>
          <p:nvPr/>
        </p:nvPicPr>
        <p:blipFill>
          <a:blip r:embed="rId1"/>
          <a:stretch/>
        </p:blipFill>
        <p:spPr>
          <a:xfrm>
            <a:off x="2363760" y="152280"/>
            <a:ext cx="4771440" cy="6114240"/>
          </a:xfrm>
          <a:prstGeom prst="rect">
            <a:avLst/>
          </a:prstGeom>
          <a:noFill/>
          <a:ln w="0">
            <a:noFill/>
          </a:ln>
        </p:spPr>
      </p:pic>
      <p:pic>
        <p:nvPicPr>
          <p:cNvPr id="196" name="Picture 33" descr="fig1204b.gif"/>
          <p:cNvPicPr/>
          <p:nvPr/>
        </p:nvPicPr>
        <p:blipFill>
          <a:blip r:embed="rId2"/>
          <a:stretch/>
        </p:blipFill>
        <p:spPr>
          <a:xfrm>
            <a:off x="2363760" y="152280"/>
            <a:ext cx="4771440" cy="6114240"/>
          </a:xfrm>
          <a:prstGeom prst="rect">
            <a:avLst/>
          </a:prstGeom>
          <a:noFill/>
          <a:ln w="0">
            <a:noFill/>
          </a:ln>
        </p:spPr>
      </p:pic>
      <p:pic>
        <p:nvPicPr>
          <p:cNvPr id="197" name="Picture 34" descr="fig1204c.gif"/>
          <p:cNvPicPr/>
          <p:nvPr/>
        </p:nvPicPr>
        <p:blipFill>
          <a:blip r:embed="rId3"/>
          <a:stretch/>
        </p:blipFill>
        <p:spPr>
          <a:xfrm>
            <a:off x="2363760" y="152280"/>
            <a:ext cx="4771440" cy="6114240"/>
          </a:xfrm>
          <a:prstGeom prst="rect">
            <a:avLst/>
          </a:prstGeom>
          <a:noFill/>
          <a:ln w="0">
            <a:noFill/>
          </a:ln>
        </p:spPr>
      </p:pic>
      <p:pic>
        <p:nvPicPr>
          <p:cNvPr id="198" name="Picture 35" descr="fig1204d.gif"/>
          <p:cNvPicPr/>
          <p:nvPr/>
        </p:nvPicPr>
        <p:blipFill>
          <a:blip r:embed="rId4"/>
          <a:stretch/>
        </p:blipFill>
        <p:spPr>
          <a:xfrm>
            <a:off x="2363760" y="152280"/>
            <a:ext cx="4771440" cy="6114240"/>
          </a:xfrm>
          <a:prstGeom prst="rect">
            <a:avLst/>
          </a:prstGeom>
          <a:noFill/>
          <a:ln w="0">
            <a:noFill/>
          </a:ln>
        </p:spPr>
      </p:pic>
      <p:pic>
        <p:nvPicPr>
          <p:cNvPr id="199" name="Picture 36" descr="fig1204e.gif"/>
          <p:cNvPicPr/>
          <p:nvPr/>
        </p:nvPicPr>
        <p:blipFill>
          <a:blip r:embed="rId5"/>
          <a:stretch/>
        </p:blipFill>
        <p:spPr>
          <a:xfrm>
            <a:off x="2363760" y="152280"/>
            <a:ext cx="4771440" cy="6114240"/>
          </a:xfrm>
          <a:prstGeom prst="rect">
            <a:avLst/>
          </a:prstGeom>
          <a:noFill/>
          <a:ln w="0">
            <a:noFill/>
          </a:ln>
        </p:spPr>
      </p:pic>
      <p:pic>
        <p:nvPicPr>
          <p:cNvPr id="200" name="Picture 37" descr="fig1204f.gif"/>
          <p:cNvPicPr/>
          <p:nvPr/>
        </p:nvPicPr>
        <p:blipFill>
          <a:blip r:embed="rId6"/>
          <a:stretch/>
        </p:blipFill>
        <p:spPr>
          <a:xfrm>
            <a:off x="2363760" y="152280"/>
            <a:ext cx="4771440" cy="6114240"/>
          </a:xfrm>
          <a:prstGeom prst="rect">
            <a:avLst/>
          </a:prstGeom>
          <a:noFill/>
          <a:ln w="0">
            <a:noFill/>
          </a:ln>
        </p:spPr>
      </p:pic>
      <p:pic>
        <p:nvPicPr>
          <p:cNvPr id="201" name="Picture 38" descr="fig1204g.gif"/>
          <p:cNvPicPr/>
          <p:nvPr/>
        </p:nvPicPr>
        <p:blipFill>
          <a:blip r:embed="rId7"/>
          <a:stretch/>
        </p:blipFill>
        <p:spPr>
          <a:xfrm>
            <a:off x="2363760" y="152280"/>
            <a:ext cx="4771440" cy="6114240"/>
          </a:xfrm>
          <a:prstGeom prst="rect">
            <a:avLst/>
          </a:prstGeom>
          <a:noFill/>
          <a:ln w="0">
            <a:noFill/>
          </a:ln>
        </p:spPr>
      </p:pic>
      <p:pic>
        <p:nvPicPr>
          <p:cNvPr id="202" name="Picture 39" descr="fig1204h.gif"/>
          <p:cNvPicPr/>
          <p:nvPr/>
        </p:nvPicPr>
        <p:blipFill>
          <a:blip r:embed="rId8"/>
          <a:stretch/>
        </p:blipFill>
        <p:spPr>
          <a:xfrm>
            <a:off x="2363760" y="152280"/>
            <a:ext cx="4771440" cy="6114240"/>
          </a:xfrm>
          <a:prstGeom prst="rect">
            <a:avLst/>
          </a:prstGeom>
          <a:noFill/>
          <a:ln w="0">
            <a:noFill/>
          </a:ln>
        </p:spPr>
      </p:pic>
    </p:spTree>
  </p:cSld>
  <p:transition spd="slow">
    <p:wipe dir="r"/>
  </p:transition>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13.1  CONSUMPTION POSSIBILITIES</a:t>
            </a:r>
            <a:endParaRPr b="0" lang="en-US" sz="2600" strike="noStrike" u="none">
              <a:solidFill>
                <a:srgbClr val="000000"/>
              </a:solidFill>
              <a:effectLst/>
              <a:uFillTx/>
              <a:latin typeface="Arial"/>
            </a:endParaRPr>
          </a:p>
        </p:txBody>
      </p:sp>
      <p:sp>
        <p:nvSpPr>
          <p:cNvPr id="204"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You can think of the slope of the budget line as an opportunity cost.</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slope tells us how many packs of gum a bottle of water costs.</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Another name for opportunity cost is </a:t>
            </a:r>
            <a:r>
              <a:rPr b="1" lang="en-US" sz="2400" strike="noStrike" u="none">
                <a:solidFill>
                  <a:srgbClr val="ff0000"/>
                </a:solidFill>
                <a:effectLst/>
                <a:uFillTx/>
                <a:latin typeface="Arial"/>
                <a:ea typeface="ＭＳ Ｐゴシック"/>
              </a:rPr>
              <a:t>relative price</a:t>
            </a:r>
            <a:r>
              <a:rPr b="0" lang="en-US" sz="2400" strike="noStrike" u="none">
                <a:solidFill>
                  <a:schemeClr val="dk1"/>
                </a:solidFill>
                <a:effectLst/>
                <a:uFillTx/>
                <a:latin typeface="Arial"/>
                <a:ea typeface="ＭＳ Ｐゴシック"/>
              </a:rPr>
              <a:t>, which is the price of one good in terms of another good.</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A relative price equals the price of one good divided by the price of another good and equals the slope of the budget line.</a:t>
            </a:r>
            <a:endParaRPr b="0" lang="en-US" sz="2400" strike="noStrike" u="none">
              <a:solidFill>
                <a:srgbClr val="000000"/>
              </a:solidFill>
              <a:effectLst/>
              <a:uFillTx/>
              <a:latin typeface="Arial"/>
            </a:endParaRPr>
          </a:p>
        </p:txBody>
      </p:sp>
    </p:spTree>
  </p:cSld>
  <p:transition spd="slow">
    <p:wipe dir="r"/>
  </p:transition>
  <p:timing>
    <p:tnLst>
      <p:par>
        <p:cTn id="392" dur="indefinite" restart="never" nodeType="tmRoot">
          <p:childTnLst>
            <p:seq>
              <p:cTn id="393" dur="indefinite" nodeType="mainSeq">
                <p:childTnLst>
                  <p:par>
                    <p:cTn id="394" nodeType="clickEffect" fill="hold">
                      <p:stCondLst>
                        <p:cond delay="indefinite"/>
                      </p:stCondLst>
                      <p:childTnLst>
                        <p:par>
                          <p:cTn id="395" nodeType="withEffect" fill="hold">
                            <p:stCondLst>
                              <p:cond delay="0"/>
                            </p:stCondLst>
                            <p:childTnLst>
                              <p:par>
                                <p:cTn id="396" nodeType="clickEffect" fill="hold" presetClass="entr" presetID="22" presetSubtype="8">
                                  <p:stCondLst>
                                    <p:cond delay="0"/>
                                  </p:stCondLst>
                                  <p:childTnLst>
                                    <p:set>
                                      <p:cBhvr>
                                        <p:cTn id="397" dur="1" fill="hold">
                                          <p:stCondLst>
                                            <p:cond delay="0"/>
                                          </p:stCondLst>
                                        </p:cTn>
                                        <p:tgtEl>
                                          <p:spTgt spid="204">
                                            <p:txEl>
                                              <p:pRg st="1" end="1"/>
                                            </p:txEl>
                                          </p:spTgt>
                                        </p:tgtEl>
                                        <p:attrNameLst>
                                          <p:attrName>style.visibility</p:attrName>
                                        </p:attrNameLst>
                                      </p:cBhvr>
                                      <p:to>
                                        <p:strVal val="visible"/>
                                      </p:to>
                                    </p:set>
                                    <p:animEffect filter="wipe(left)" transition="in">
                                      <p:cBhvr additive="repl">
                                        <p:cTn id="398" dur="500"/>
                                        <p:tgtEl>
                                          <p:spTgt spid="204">
                                            <p:txEl>
                                              <p:pRg st="1" end="1"/>
                                            </p:txEl>
                                          </p:spTgt>
                                        </p:tgtEl>
                                      </p:cBhvr>
                                    </p:animEffect>
                                  </p:childTnLst>
                                </p:cTn>
                              </p:par>
                            </p:childTnLst>
                          </p:cTn>
                        </p:par>
                      </p:childTnLst>
                    </p:cTn>
                  </p:par>
                  <p:par>
                    <p:cTn id="399" nodeType="clickEffect" fill="hold">
                      <p:stCondLst>
                        <p:cond delay="indefinite"/>
                      </p:stCondLst>
                      <p:childTnLst>
                        <p:par>
                          <p:cTn id="400" nodeType="withEffect" fill="hold">
                            <p:stCondLst>
                              <p:cond delay="0"/>
                            </p:stCondLst>
                            <p:childTnLst>
                              <p:par>
                                <p:cTn id="401" nodeType="clickEffect" fill="hold" presetClass="entr" presetID="22" presetSubtype="8">
                                  <p:stCondLst>
                                    <p:cond delay="0"/>
                                  </p:stCondLst>
                                  <p:childTnLst>
                                    <p:set>
                                      <p:cBhvr>
                                        <p:cTn id="402" dur="1" fill="hold">
                                          <p:stCondLst>
                                            <p:cond delay="0"/>
                                          </p:stCondLst>
                                        </p:cTn>
                                        <p:tgtEl>
                                          <p:spTgt spid="204">
                                            <p:txEl>
                                              <p:pRg st="2" end="2"/>
                                            </p:txEl>
                                          </p:spTgt>
                                        </p:tgtEl>
                                        <p:attrNameLst>
                                          <p:attrName>style.visibility</p:attrName>
                                        </p:attrNameLst>
                                      </p:cBhvr>
                                      <p:to>
                                        <p:strVal val="visible"/>
                                      </p:to>
                                    </p:set>
                                    <p:animEffect filter="wipe(left)" transition="in">
                                      <p:cBhvr additive="repl">
                                        <p:cTn id="403" dur="500"/>
                                        <p:tgtEl>
                                          <p:spTgt spid="204">
                                            <p:txEl>
                                              <p:pRg st="2" end="2"/>
                                            </p:txEl>
                                          </p:spTgt>
                                        </p:tgtEl>
                                      </p:cBhvr>
                                    </p:animEffect>
                                  </p:childTnLst>
                                </p:cTn>
                              </p:par>
                            </p:childTnLst>
                          </p:cTn>
                        </p:par>
                      </p:childTnLst>
                    </p:cTn>
                  </p:par>
                  <p:par>
                    <p:cTn id="404" nodeType="clickEffect" fill="hold">
                      <p:stCondLst>
                        <p:cond delay="indefinite"/>
                      </p:stCondLst>
                      <p:childTnLst>
                        <p:par>
                          <p:cTn id="405" nodeType="withEffect" fill="hold">
                            <p:stCondLst>
                              <p:cond delay="0"/>
                            </p:stCondLst>
                            <p:childTnLst>
                              <p:par>
                                <p:cTn id="406" nodeType="clickEffect" fill="hold" presetClass="entr" presetID="22" presetSubtype="8">
                                  <p:stCondLst>
                                    <p:cond delay="0"/>
                                  </p:stCondLst>
                                  <p:childTnLst>
                                    <p:set>
                                      <p:cBhvr>
                                        <p:cTn id="407" dur="1" fill="hold">
                                          <p:stCondLst>
                                            <p:cond delay="0"/>
                                          </p:stCondLst>
                                        </p:cTn>
                                        <p:tgtEl>
                                          <p:spTgt spid="204">
                                            <p:txEl>
                                              <p:pRg st="3" end="3"/>
                                            </p:txEl>
                                          </p:spTgt>
                                        </p:tgtEl>
                                        <p:attrNameLst>
                                          <p:attrName>style.visibility</p:attrName>
                                        </p:attrNameLst>
                                      </p:cBhvr>
                                      <p:to>
                                        <p:strVal val="visible"/>
                                      </p:to>
                                    </p:set>
                                    <p:animEffect filter="wipe(left)" transition="in">
                                      <p:cBhvr additive="repl">
                                        <p:cTn id="408" dur="500"/>
                                        <p:tgtEl>
                                          <p:spTgt spid="204">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13.2  MARGINAL UTILITY THEORY</a:t>
            </a:r>
            <a:endParaRPr b="0" lang="en-US" sz="2600" strike="noStrike" u="none">
              <a:solidFill>
                <a:srgbClr val="000000"/>
              </a:solidFill>
              <a:effectLst/>
              <a:uFillTx/>
              <a:latin typeface="Arial"/>
            </a:endParaRPr>
          </a:p>
        </p:txBody>
      </p:sp>
      <p:sp>
        <p:nvSpPr>
          <p:cNvPr id="206"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tabLst>
                <a:tab algn="l" pos="0"/>
              </a:tabLst>
            </a:pPr>
            <a:r>
              <a:rPr b="1" lang="en-US" sz="2400" strike="noStrike" u="none">
                <a:solidFill>
                  <a:srgbClr val="ff0000"/>
                </a:solidFill>
                <a:effectLst/>
                <a:uFillTx/>
                <a:latin typeface="Arial"/>
                <a:ea typeface="ＭＳ Ｐゴシック"/>
              </a:rPr>
              <a:t>Utility</a:t>
            </a:r>
            <a:r>
              <a:rPr b="0" lang="en-US" sz="2400" strike="noStrike" u="none">
                <a:solidFill>
                  <a:schemeClr val="dk1"/>
                </a:solidFill>
                <a:effectLst/>
                <a:uFillTx/>
                <a:latin typeface="Arial"/>
                <a:ea typeface="ＭＳ Ｐゴシック"/>
              </a:rPr>
              <a:t> is the benefit or satisfaction that a person gets from the consumption of a good or service.</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1" lang="en-US" sz="2400" strike="noStrike" u="none">
                <a:solidFill>
                  <a:schemeClr val="dk1"/>
                </a:solidFill>
                <a:effectLst/>
                <a:uFillTx/>
                <a:latin typeface="Arial"/>
                <a:ea typeface="ＭＳ Ｐゴシック"/>
              </a:rPr>
              <a:t>Temperature: An Analogy</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concept of utility helps us make predictions about consumption choices in much the same way that the concept of temperature helps us make predictions about physical phenomena.</a:t>
            </a:r>
            <a:endParaRPr b="0" lang="en-US" sz="2400" strike="noStrike" u="none">
              <a:solidFill>
                <a:srgbClr val="000000"/>
              </a:solidFill>
              <a:effectLst/>
              <a:uFillTx/>
              <a:latin typeface="Arial"/>
            </a:endParaRPr>
          </a:p>
        </p:txBody>
      </p:sp>
    </p:spTree>
  </p:cSld>
  <p:transition spd="slow">
    <p:wipe dir="r"/>
  </p:transition>
  <p:timing>
    <p:tnLst>
      <p:par>
        <p:cTn id="409" dur="indefinite" restart="never" nodeType="tmRoot">
          <p:childTnLst>
            <p:seq>
              <p:cTn id="410" dur="indefinite" nodeType="mainSeq">
                <p:childTnLst>
                  <p:par>
                    <p:cTn id="411" nodeType="clickEffect" fill="hold">
                      <p:stCondLst>
                        <p:cond delay="indefinite"/>
                      </p:stCondLst>
                      <p:childTnLst>
                        <p:par>
                          <p:cTn id="412" nodeType="withEffect" fill="hold">
                            <p:stCondLst>
                              <p:cond delay="0"/>
                            </p:stCondLst>
                            <p:childTnLst>
                              <p:par>
                                <p:cTn id="413" nodeType="clickEffect" fill="hold" presetClass="entr" presetID="22" presetSubtype="8">
                                  <p:stCondLst>
                                    <p:cond delay="0"/>
                                  </p:stCondLst>
                                  <p:childTnLst>
                                    <p:set>
                                      <p:cBhvr>
                                        <p:cTn id="414" dur="1" fill="hold">
                                          <p:stCondLst>
                                            <p:cond delay="0"/>
                                          </p:stCondLst>
                                        </p:cTn>
                                        <p:tgtEl>
                                          <p:spTgt spid="206">
                                            <p:txEl>
                                              <p:pRg st="1" end="1"/>
                                            </p:txEl>
                                          </p:spTgt>
                                        </p:tgtEl>
                                        <p:attrNameLst>
                                          <p:attrName>style.visibility</p:attrName>
                                        </p:attrNameLst>
                                      </p:cBhvr>
                                      <p:to>
                                        <p:strVal val="visible"/>
                                      </p:to>
                                    </p:set>
                                    <p:animEffect filter="wipe(left)" transition="in">
                                      <p:cBhvr additive="repl">
                                        <p:cTn id="415" dur="500"/>
                                        <p:tgtEl>
                                          <p:spTgt spid="206">
                                            <p:txEl>
                                              <p:pRg st="1" end="1"/>
                                            </p:txEl>
                                          </p:spTgt>
                                        </p:tgtEl>
                                      </p:cBhvr>
                                    </p:animEffect>
                                  </p:childTnLst>
                                </p:cTn>
                              </p:par>
                            </p:childTnLst>
                          </p:cTn>
                        </p:par>
                      </p:childTnLst>
                    </p:cTn>
                  </p:par>
                  <p:par>
                    <p:cTn id="416" nodeType="clickEffect" fill="hold">
                      <p:stCondLst>
                        <p:cond delay="indefinite"/>
                      </p:stCondLst>
                      <p:childTnLst>
                        <p:par>
                          <p:cTn id="417" nodeType="withEffect" fill="hold">
                            <p:stCondLst>
                              <p:cond delay="0"/>
                            </p:stCondLst>
                            <p:childTnLst>
                              <p:par>
                                <p:cTn id="418" nodeType="clickEffect" fill="hold" presetClass="entr" presetID="22" presetSubtype="8">
                                  <p:stCondLst>
                                    <p:cond delay="0"/>
                                  </p:stCondLst>
                                  <p:childTnLst>
                                    <p:set>
                                      <p:cBhvr>
                                        <p:cTn id="419" dur="1" fill="hold">
                                          <p:stCondLst>
                                            <p:cond delay="0"/>
                                          </p:stCondLst>
                                        </p:cTn>
                                        <p:tgtEl>
                                          <p:spTgt spid="206">
                                            <p:txEl>
                                              <p:pRg st="2" end="2"/>
                                            </p:txEl>
                                          </p:spTgt>
                                        </p:tgtEl>
                                        <p:attrNameLst>
                                          <p:attrName>style.visibility</p:attrName>
                                        </p:attrNameLst>
                                      </p:cBhvr>
                                      <p:to>
                                        <p:strVal val="visible"/>
                                      </p:to>
                                    </p:set>
                                    <p:animEffect filter="wipe(left)" transition="in">
                                      <p:cBhvr additive="repl">
                                        <p:cTn id="420" dur="500"/>
                                        <p:tgtEl>
                                          <p:spTgt spid="206">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13.2  MARGINAL UTILITY THEORY</a:t>
            </a:r>
            <a:endParaRPr b="0" lang="en-US" sz="2600" strike="noStrike" u="none">
              <a:solidFill>
                <a:srgbClr val="000000"/>
              </a:solidFill>
              <a:effectLst/>
              <a:uFillTx/>
              <a:latin typeface="Arial"/>
            </a:endParaRPr>
          </a:p>
        </p:txBody>
      </p:sp>
      <p:sp>
        <p:nvSpPr>
          <p:cNvPr id="208"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Total Utility</a:t>
            </a:r>
            <a:endParaRPr b="0" lang="en-US" sz="28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1" lang="en-US" sz="2400" strike="noStrike" u="none">
                <a:solidFill>
                  <a:srgbClr val="ff0000"/>
                </a:solidFill>
                <a:effectLst/>
                <a:uFillTx/>
                <a:latin typeface="Arial"/>
                <a:ea typeface="ＭＳ Ｐゴシック"/>
              </a:rPr>
              <a:t>Total utility</a:t>
            </a:r>
            <a:r>
              <a:rPr b="0" lang="en-US" sz="2400" strike="noStrike" u="none">
                <a:solidFill>
                  <a:schemeClr val="dk1"/>
                </a:solidFill>
                <a:effectLst/>
                <a:uFillTx/>
                <a:latin typeface="Arial"/>
                <a:ea typeface="ＭＳ Ｐゴシック"/>
              </a:rPr>
              <a:t> is the total benefit that a person gets from the consumption of a good or service. </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Total utility generally increases as the quantity consumed of a good increases.</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Table 13.1 shows an example of total utility from bottled water and chewing gum.</a:t>
            </a:r>
            <a:endParaRPr b="0" lang="en-US" sz="2400" strike="noStrike" u="none">
              <a:solidFill>
                <a:srgbClr val="000000"/>
              </a:solidFill>
              <a:effectLst/>
              <a:uFillTx/>
              <a:latin typeface="Arial"/>
            </a:endParaRPr>
          </a:p>
        </p:txBody>
      </p:sp>
    </p:spTree>
  </p:cSld>
  <p:transition spd="slow">
    <p:wipe dir="r"/>
  </p:transition>
  <p:timing>
    <p:tnLst>
      <p:par>
        <p:cTn id="421" dur="indefinite" restart="never" nodeType="tmRoot">
          <p:childTnLst>
            <p:seq>
              <p:cTn id="422" dur="indefinite" nodeType="mainSeq">
                <p:childTnLst>
                  <p:par>
                    <p:cTn id="423" nodeType="clickEffect" fill="hold">
                      <p:stCondLst>
                        <p:cond delay="indefinite"/>
                      </p:stCondLst>
                      <p:childTnLst>
                        <p:par>
                          <p:cTn id="424" nodeType="withEffect" fill="hold">
                            <p:stCondLst>
                              <p:cond delay="0"/>
                            </p:stCondLst>
                            <p:childTnLst>
                              <p:par>
                                <p:cTn id="425" nodeType="clickEffect" fill="hold" presetClass="entr" presetID="22" presetSubtype="8">
                                  <p:stCondLst>
                                    <p:cond delay="0"/>
                                  </p:stCondLst>
                                  <p:childTnLst>
                                    <p:set>
                                      <p:cBhvr>
                                        <p:cTn id="426" dur="1" fill="hold">
                                          <p:stCondLst>
                                            <p:cond delay="0"/>
                                          </p:stCondLst>
                                        </p:cTn>
                                        <p:tgtEl>
                                          <p:spTgt spid="208">
                                            <p:txEl>
                                              <p:pRg st="1" end="1"/>
                                            </p:txEl>
                                          </p:spTgt>
                                        </p:tgtEl>
                                        <p:attrNameLst>
                                          <p:attrName>style.visibility</p:attrName>
                                        </p:attrNameLst>
                                      </p:cBhvr>
                                      <p:to>
                                        <p:strVal val="visible"/>
                                      </p:to>
                                    </p:set>
                                    <p:animEffect filter="wipe(left)" transition="in">
                                      <p:cBhvr additive="repl">
                                        <p:cTn id="427" dur="500"/>
                                        <p:tgtEl>
                                          <p:spTgt spid="208">
                                            <p:txEl>
                                              <p:pRg st="1" end="1"/>
                                            </p:txEl>
                                          </p:spTgt>
                                        </p:tgtEl>
                                      </p:cBhvr>
                                    </p:animEffect>
                                  </p:childTnLst>
                                </p:cTn>
                              </p:par>
                            </p:childTnLst>
                          </p:cTn>
                        </p:par>
                      </p:childTnLst>
                    </p:cTn>
                  </p:par>
                  <p:par>
                    <p:cTn id="428" nodeType="clickEffect" fill="hold">
                      <p:stCondLst>
                        <p:cond delay="indefinite"/>
                      </p:stCondLst>
                      <p:childTnLst>
                        <p:par>
                          <p:cTn id="429" nodeType="withEffect" fill="hold">
                            <p:stCondLst>
                              <p:cond delay="0"/>
                            </p:stCondLst>
                            <p:childTnLst>
                              <p:par>
                                <p:cTn id="430" nodeType="clickEffect" fill="hold" presetClass="entr" presetID="22" presetSubtype="8">
                                  <p:stCondLst>
                                    <p:cond delay="0"/>
                                  </p:stCondLst>
                                  <p:childTnLst>
                                    <p:set>
                                      <p:cBhvr>
                                        <p:cTn id="431" dur="1" fill="hold">
                                          <p:stCondLst>
                                            <p:cond delay="0"/>
                                          </p:stCondLst>
                                        </p:cTn>
                                        <p:tgtEl>
                                          <p:spTgt spid="208">
                                            <p:txEl>
                                              <p:pRg st="2" end="2"/>
                                            </p:txEl>
                                          </p:spTgt>
                                        </p:tgtEl>
                                        <p:attrNameLst>
                                          <p:attrName>style.visibility</p:attrName>
                                        </p:attrNameLst>
                                      </p:cBhvr>
                                      <p:to>
                                        <p:strVal val="visible"/>
                                      </p:to>
                                    </p:set>
                                    <p:animEffect filter="wipe(left)" transition="in">
                                      <p:cBhvr additive="repl">
                                        <p:cTn id="432" dur="500"/>
                                        <p:tgtEl>
                                          <p:spTgt spid="208">
                                            <p:txEl>
                                              <p:pRg st="2" end="2"/>
                                            </p:txEl>
                                          </p:spTgt>
                                        </p:tgtEl>
                                      </p:cBhvr>
                                    </p:animEffect>
                                  </p:childTnLst>
                                </p:cTn>
                              </p:par>
                            </p:childTnLst>
                          </p:cTn>
                        </p:par>
                      </p:childTnLst>
                    </p:cTn>
                  </p:par>
                  <p:par>
                    <p:cTn id="433" nodeType="clickEffect" fill="hold">
                      <p:stCondLst>
                        <p:cond delay="indefinite"/>
                      </p:stCondLst>
                      <p:childTnLst>
                        <p:par>
                          <p:cTn id="434" nodeType="withEffect" fill="hold">
                            <p:stCondLst>
                              <p:cond delay="0"/>
                            </p:stCondLst>
                            <p:childTnLst>
                              <p:par>
                                <p:cTn id="435" nodeType="clickEffect" fill="hold" presetClass="entr" presetID="22" presetSubtype="8">
                                  <p:stCondLst>
                                    <p:cond delay="0"/>
                                  </p:stCondLst>
                                  <p:childTnLst>
                                    <p:set>
                                      <p:cBhvr>
                                        <p:cTn id="436" dur="1" fill="hold">
                                          <p:stCondLst>
                                            <p:cond delay="0"/>
                                          </p:stCondLst>
                                        </p:cTn>
                                        <p:tgtEl>
                                          <p:spTgt spid="208">
                                            <p:txEl>
                                              <p:pRg st="3" end="3"/>
                                            </p:txEl>
                                          </p:spTgt>
                                        </p:tgtEl>
                                        <p:attrNameLst>
                                          <p:attrName>style.visibility</p:attrName>
                                        </p:attrNameLst>
                                      </p:cBhvr>
                                      <p:to>
                                        <p:strVal val="visible"/>
                                      </p:to>
                                    </p:set>
                                    <p:animEffect filter="wipe(left)" transition="in">
                                      <p:cBhvr additive="repl">
                                        <p:cTn id="437" dur="500"/>
                                        <p:tgtEl>
                                          <p:spTgt spid="208">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13.2  MARGINAL UTILITY THEORY</a:t>
            </a:r>
            <a:endParaRPr b="0" lang="en-US" sz="2600" strike="noStrike" u="none">
              <a:solidFill>
                <a:srgbClr val="000000"/>
              </a:solidFill>
              <a:effectLst/>
              <a:uFillTx/>
              <a:latin typeface="Arial"/>
            </a:endParaRPr>
          </a:p>
        </p:txBody>
      </p:sp>
      <p:sp>
        <p:nvSpPr>
          <p:cNvPr id="210" name="Rectangle 4"/>
          <p:cNvSpPr/>
          <p:nvPr/>
        </p:nvSpPr>
        <p:spPr>
          <a:xfrm>
            <a:off x="1371600" y="1371600"/>
            <a:ext cx="6552360" cy="380160"/>
          </a:xfrm>
          <a:prstGeom prst="rect">
            <a:avLst/>
          </a:prstGeom>
          <a:solidFill>
            <a:schemeClr val="bg1"/>
          </a:solidFill>
          <a:ln w="0">
            <a:noFill/>
          </a:ln>
        </p:spPr>
        <p:style>
          <a:lnRef idx="0"/>
          <a:fillRef idx="0"/>
          <a:effectRef idx="0"/>
          <a:fontRef idx="minor"/>
        </p:style>
        <p:txBody>
          <a:bodyPr wrap="none" lIns="90000" rIns="90000" tIns="45000" bIns="45000" anchor="ctr">
            <a:noAutofit/>
          </a:bodyPr>
          <a:p>
            <a:pPr>
              <a:lnSpc>
                <a:spcPct val="100000"/>
              </a:lnSpc>
            </a:pPr>
            <a:endParaRPr b="0" lang="en-US" sz="2400" strike="noStrike" u="none">
              <a:solidFill>
                <a:schemeClr val="dk1"/>
              </a:solidFill>
              <a:effectLst/>
              <a:uFillTx/>
              <a:latin typeface="Arial"/>
              <a:ea typeface="ＭＳ Ｐゴシック"/>
            </a:endParaRPr>
          </a:p>
        </p:txBody>
      </p:sp>
      <p:pic>
        <p:nvPicPr>
          <p:cNvPr id="211" name="Picture 5" descr=""/>
          <p:cNvPicPr/>
          <p:nvPr/>
        </p:nvPicPr>
        <p:blipFill>
          <a:blip r:embed="rId1"/>
          <a:stretch/>
        </p:blipFill>
        <p:spPr>
          <a:xfrm>
            <a:off x="1440000" y="1547640"/>
            <a:ext cx="6035040" cy="4799880"/>
          </a:xfrm>
          <a:prstGeom prst="rect">
            <a:avLst/>
          </a:prstGeom>
          <a:noFill/>
          <a:ln w="0">
            <a:noFill/>
          </a:ln>
        </p:spPr>
      </p:pic>
    </p:spTree>
  </p:cSld>
  <p:transition spd="slow">
    <p:wipe dir="r"/>
  </p:transition>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13.2  MARGINAL UTILITY THEORY</a:t>
            </a:r>
            <a:endParaRPr b="0" lang="en-US" sz="2600" strike="noStrike" u="none">
              <a:solidFill>
                <a:srgbClr val="000000"/>
              </a:solidFill>
              <a:effectLst/>
              <a:uFillTx/>
              <a:latin typeface="Arial"/>
            </a:endParaRPr>
          </a:p>
        </p:txBody>
      </p:sp>
      <p:sp>
        <p:nvSpPr>
          <p:cNvPr id="213"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Marginal Utility</a:t>
            </a:r>
            <a:endParaRPr b="0" lang="en-US" sz="28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1" lang="en-US" sz="2400" strike="noStrike" u="none">
                <a:solidFill>
                  <a:srgbClr val="ff0000"/>
                </a:solidFill>
                <a:effectLst/>
                <a:uFillTx/>
                <a:latin typeface="Arial"/>
                <a:ea typeface="ＭＳ Ｐゴシック"/>
              </a:rPr>
              <a:t>Marginal utility</a:t>
            </a:r>
            <a:r>
              <a:rPr b="0" lang="en-US" sz="2400" strike="noStrike" u="none">
                <a:solidFill>
                  <a:schemeClr val="dk1"/>
                </a:solidFill>
                <a:effectLst/>
                <a:uFillTx/>
                <a:latin typeface="Arial"/>
                <a:ea typeface="ＭＳ Ｐゴシック"/>
              </a:rPr>
              <a:t> is the change in total utility that results from a one-unit increase in the quantity of a good consumed.</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To calculate marginal utility, we use the total utility numbers in Table 13.1.</a:t>
            </a:r>
            <a:endParaRPr b="0" lang="en-US" sz="2400" strike="noStrike" u="none">
              <a:solidFill>
                <a:srgbClr val="000000"/>
              </a:solidFill>
              <a:effectLst/>
              <a:uFillTx/>
              <a:latin typeface="Arial"/>
            </a:endParaRPr>
          </a:p>
        </p:txBody>
      </p:sp>
    </p:spTree>
  </p:cSld>
  <p:transition spd="slow">
    <p:wipe dir="r"/>
  </p:transition>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13.2  MARGINAL UTILITY THEORY</a:t>
            </a:r>
            <a:endParaRPr b="0" lang="en-US" sz="2600" strike="noStrike" u="none">
              <a:solidFill>
                <a:srgbClr val="000000"/>
              </a:solidFill>
              <a:effectLst/>
              <a:uFillTx/>
              <a:latin typeface="Arial"/>
            </a:endParaRPr>
          </a:p>
        </p:txBody>
      </p:sp>
      <p:sp>
        <p:nvSpPr>
          <p:cNvPr id="215" name="Text Box 1032"/>
          <p:cNvSpPr/>
          <p:nvPr/>
        </p:nvSpPr>
        <p:spPr>
          <a:xfrm>
            <a:off x="360360" y="1440000"/>
            <a:ext cx="3753720" cy="2569320"/>
          </a:xfrm>
          <a:prstGeom prst="rect">
            <a:avLst/>
          </a:prstGeom>
          <a:noFill/>
          <a:ln w="0">
            <a:noFill/>
          </a:ln>
        </p:spPr>
        <p:style>
          <a:lnRef idx="0"/>
          <a:fillRef idx="0"/>
          <a:effectRef idx="0"/>
          <a:fontRef idx="minor"/>
        </p:style>
        <p:txBody>
          <a:bodyPr lIns="90000" rIns="90000" tIns="45000" bIns="45000" anchor="t">
            <a:spAutoFit/>
          </a:bodyPr>
          <a:p>
            <a:pPr marL="360000">
              <a:lnSpc>
                <a:spcPct val="100000"/>
              </a:lnSpc>
              <a:spcBef>
                <a:spcPts val="601"/>
              </a:spcBef>
              <a:spcAft>
                <a:spcPts val="601"/>
              </a:spcAft>
            </a:pPr>
            <a:r>
              <a:rPr b="0" lang="en-US" sz="2400" strike="noStrike" u="none">
                <a:solidFill>
                  <a:schemeClr val="dk1"/>
                </a:solidFill>
                <a:effectLst/>
                <a:uFillTx/>
                <a:latin typeface="Arial"/>
                <a:ea typeface="ＭＳ Ｐゴシック"/>
              </a:rPr>
              <a:t>The marginal utility of the third bottle of water  is 36 units minus 27 units, which equals 9 units.</a:t>
            </a:r>
            <a:endParaRPr b="0" lang="en-US" sz="2400" strike="noStrike" u="none">
              <a:solidFill>
                <a:srgbClr val="000000"/>
              </a:solidFill>
              <a:effectLst/>
              <a:uFillTx/>
              <a:latin typeface="Arial"/>
            </a:endParaRPr>
          </a:p>
          <a:p>
            <a:pPr marL="360000">
              <a:lnSpc>
                <a:spcPct val="100000"/>
              </a:lnSpc>
              <a:spcBef>
                <a:spcPts val="1199"/>
              </a:spcBef>
            </a:pPr>
            <a:endParaRPr b="0" lang="en-US" sz="2400" strike="noStrike" u="none">
              <a:solidFill>
                <a:srgbClr val="000000"/>
              </a:solidFill>
              <a:effectLst/>
              <a:uFillTx/>
              <a:latin typeface="Arial"/>
            </a:endParaRPr>
          </a:p>
        </p:txBody>
      </p:sp>
      <p:pic>
        <p:nvPicPr>
          <p:cNvPr id="216" name="Picture 1" descr=""/>
          <p:cNvPicPr/>
          <p:nvPr/>
        </p:nvPicPr>
        <p:blipFill>
          <a:blip r:embed="rId1"/>
          <a:stretch/>
        </p:blipFill>
        <p:spPr>
          <a:xfrm>
            <a:off x="5105520" y="1371600"/>
            <a:ext cx="2785320" cy="5049000"/>
          </a:xfrm>
          <a:prstGeom prst="rect">
            <a:avLst/>
          </a:prstGeom>
          <a:noFill/>
          <a:ln w="0">
            <a:noFill/>
          </a:ln>
        </p:spPr>
      </p:pic>
      <p:pic>
        <p:nvPicPr>
          <p:cNvPr id="217" name="Picture 2" descr=""/>
          <p:cNvPicPr/>
          <p:nvPr/>
        </p:nvPicPr>
        <p:blipFill>
          <a:blip r:embed="rId2"/>
          <a:stretch/>
        </p:blipFill>
        <p:spPr>
          <a:xfrm>
            <a:off x="5105520" y="1371600"/>
            <a:ext cx="2785320" cy="5049000"/>
          </a:xfrm>
          <a:prstGeom prst="rect">
            <a:avLst/>
          </a:prstGeom>
          <a:noFill/>
          <a:ln w="0">
            <a:noFill/>
          </a:ln>
        </p:spPr>
      </p:pic>
    </p:spTree>
  </p:cSld>
  <p:transition spd="slow">
    <p:wipe dir="r"/>
  </p:transition>
  <p:timing>
    <p:tnLst>
      <p:par>
        <p:cTn id="438" dur="indefinite" restart="never" nodeType="tmRoot">
          <p:childTnLst>
            <p:seq>
              <p:cTn id="439" dur="indefinite" nodeType="mainSeq">
                <p:childTnLst>
                  <p:par>
                    <p:cTn id="440" nodeType="clickEffect" fill="hold">
                      <p:stCondLst>
                        <p:cond delay="0"/>
                      </p:stCondLst>
                      <p:childTnLst>
                        <p:par>
                          <p:cTn id="441" nodeType="withEffect" fill="hold">
                            <p:stCondLst>
                              <p:cond delay="0"/>
                            </p:stCondLst>
                            <p:childTnLst>
                              <p:par>
                                <p:cTn id="442" nodeType="afterEffect" fill="hold" presetClass="entr" presetID="22" presetSubtype="8">
                                  <p:stCondLst>
                                    <p:cond delay="0"/>
                                  </p:stCondLst>
                                  <p:childTnLst>
                                    <p:set>
                                      <p:cBhvr>
                                        <p:cTn id="443" dur="1" fill="hold">
                                          <p:stCondLst>
                                            <p:cond delay="0"/>
                                          </p:stCondLst>
                                        </p:cTn>
                                        <p:tgtEl>
                                          <p:spTgt spid="217"/>
                                        </p:tgtEl>
                                        <p:attrNameLst>
                                          <p:attrName>style.visibility</p:attrName>
                                        </p:attrNameLst>
                                      </p:cBhvr>
                                      <p:to>
                                        <p:strVal val="visible"/>
                                      </p:to>
                                    </p:set>
                                    <p:animEffect filter="wipe(left)" transition="in">
                                      <p:cBhvr additive="repl">
                                        <p:cTn id="444" dur="1250"/>
                                        <p:tgtEl>
                                          <p:spTgt spid="2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13.2  MARGINAL UTILITY THEORY</a:t>
            </a:r>
            <a:endParaRPr b="0" lang="en-US" sz="2600" strike="noStrike" u="none">
              <a:solidFill>
                <a:srgbClr val="000000"/>
              </a:solidFill>
              <a:effectLst/>
              <a:uFillTx/>
              <a:latin typeface="Arial"/>
            </a:endParaRPr>
          </a:p>
        </p:txBody>
      </p:sp>
      <p:sp>
        <p:nvSpPr>
          <p:cNvPr id="219"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We call the general tendency for marginal utility to decrease as the quantity of a good consumed increases the principle of </a:t>
            </a:r>
            <a:r>
              <a:rPr b="1" lang="en-US" sz="2400" strike="noStrike" u="none">
                <a:solidFill>
                  <a:srgbClr val="ff0000"/>
                </a:solidFill>
                <a:effectLst/>
                <a:uFillTx/>
                <a:latin typeface="Arial"/>
                <a:ea typeface="ＭＳ Ｐゴシック"/>
              </a:rPr>
              <a:t>diminishing marginal utility</a:t>
            </a:r>
            <a:r>
              <a:rPr b="0" lang="en-US" sz="2400" strike="noStrike" u="none">
                <a:solidFill>
                  <a:srgbClr val="000000"/>
                </a:solidFill>
                <a:effectLst/>
                <a:uFillTx/>
                <a:latin typeface="Arial"/>
                <a:ea typeface="ＭＳ Ｐゴシック"/>
              </a:rPr>
              <a:t>.</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Think about your own marginal utility from the things that you consume.</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numbers in Table 13.1 display diminishing marginal utility.</a:t>
            </a:r>
            <a:endParaRPr b="0" lang="en-US" sz="2400" strike="noStrike" u="none">
              <a:solidFill>
                <a:srgbClr val="000000"/>
              </a:solidFill>
              <a:effectLst/>
              <a:uFillTx/>
              <a:latin typeface="Arial"/>
            </a:endParaRPr>
          </a:p>
          <a:p>
            <a:pPr marL="358920" indent="0">
              <a:lnSpc>
                <a:spcPct val="100000"/>
              </a:lnSpc>
              <a:spcBef>
                <a:spcPts val="561"/>
              </a:spcBef>
              <a:buNone/>
              <a:tabLst>
                <a:tab algn="l" pos="0"/>
              </a:tabLst>
            </a:pPr>
            <a:endParaRPr b="0" lang="en-US" sz="2800" strike="noStrike" u="none">
              <a:solidFill>
                <a:srgbClr val="000000"/>
              </a:solidFill>
              <a:effectLst/>
              <a:uFillTx/>
              <a:latin typeface="Arial"/>
            </a:endParaRPr>
          </a:p>
        </p:txBody>
      </p:sp>
    </p:spTree>
  </p:cSld>
  <p:transition spd="slow">
    <p:wipe dir="r"/>
  </p:transition>
  <p:timing>
    <p:tnLst>
      <p:par>
        <p:cTn id="445" dur="indefinite" restart="never" nodeType="tmRoot">
          <p:childTnLst>
            <p:seq>
              <p:cTn id="446" dur="indefinite" nodeType="mainSeq">
                <p:childTnLst>
                  <p:par>
                    <p:cTn id="447" nodeType="clickEffect" fill="hold">
                      <p:stCondLst>
                        <p:cond delay="indefinite"/>
                      </p:stCondLst>
                      <p:childTnLst>
                        <p:par>
                          <p:cTn id="448" nodeType="withEffect" fill="hold">
                            <p:stCondLst>
                              <p:cond delay="0"/>
                            </p:stCondLst>
                            <p:childTnLst>
                              <p:par>
                                <p:cTn id="449" nodeType="clickEffect" fill="hold" presetClass="entr" presetID="22" presetSubtype="8">
                                  <p:stCondLst>
                                    <p:cond delay="0"/>
                                  </p:stCondLst>
                                  <p:childTnLst>
                                    <p:set>
                                      <p:cBhvr>
                                        <p:cTn id="450" dur="1" fill="hold">
                                          <p:stCondLst>
                                            <p:cond delay="0"/>
                                          </p:stCondLst>
                                        </p:cTn>
                                        <p:tgtEl>
                                          <p:spTgt spid="219">
                                            <p:txEl>
                                              <p:pRg st="1" end="1"/>
                                            </p:txEl>
                                          </p:spTgt>
                                        </p:tgtEl>
                                        <p:attrNameLst>
                                          <p:attrName>style.visibility</p:attrName>
                                        </p:attrNameLst>
                                      </p:cBhvr>
                                      <p:to>
                                        <p:strVal val="visible"/>
                                      </p:to>
                                    </p:set>
                                    <p:animEffect filter="wipe(left)" transition="in">
                                      <p:cBhvr additive="repl">
                                        <p:cTn id="451" dur="500"/>
                                        <p:tgtEl>
                                          <p:spTgt spid="219">
                                            <p:txEl>
                                              <p:pRg st="1" end="1"/>
                                            </p:txEl>
                                          </p:spTgt>
                                        </p:tgtEl>
                                      </p:cBhvr>
                                    </p:animEffect>
                                  </p:childTnLst>
                                </p:cTn>
                              </p:par>
                            </p:childTnLst>
                          </p:cTn>
                        </p:par>
                      </p:childTnLst>
                    </p:cTn>
                  </p:par>
                  <p:par>
                    <p:cTn id="452" nodeType="clickEffect" fill="hold">
                      <p:stCondLst>
                        <p:cond delay="indefinite"/>
                      </p:stCondLst>
                      <p:childTnLst>
                        <p:par>
                          <p:cTn id="453" nodeType="withEffect" fill="hold">
                            <p:stCondLst>
                              <p:cond delay="0"/>
                            </p:stCondLst>
                            <p:childTnLst>
                              <p:par>
                                <p:cTn id="454" nodeType="clickEffect" fill="hold" presetClass="entr" presetID="22" presetSubtype="8">
                                  <p:stCondLst>
                                    <p:cond delay="0"/>
                                  </p:stCondLst>
                                  <p:childTnLst>
                                    <p:set>
                                      <p:cBhvr>
                                        <p:cTn id="455" dur="1" fill="hold">
                                          <p:stCondLst>
                                            <p:cond delay="0"/>
                                          </p:stCondLst>
                                        </p:cTn>
                                        <p:tgtEl>
                                          <p:spTgt spid="219">
                                            <p:txEl>
                                              <p:pRg st="2" end="2"/>
                                            </p:txEl>
                                          </p:spTgt>
                                        </p:tgtEl>
                                        <p:attrNameLst>
                                          <p:attrName>style.visibility</p:attrName>
                                        </p:attrNameLst>
                                      </p:cBhvr>
                                      <p:to>
                                        <p:strVal val="visible"/>
                                      </p:to>
                                    </p:set>
                                    <p:animEffect filter="wipe(left)" transition="in">
                                      <p:cBhvr additive="repl">
                                        <p:cTn id="456" dur="500"/>
                                        <p:tgtEl>
                                          <p:spTgt spid="219">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13.2  MARGINAL UTILITY THEORY</a:t>
            </a:r>
            <a:endParaRPr b="0" lang="en-US" sz="2600" strike="noStrike" u="none">
              <a:solidFill>
                <a:srgbClr val="000000"/>
              </a:solidFill>
              <a:effectLst/>
              <a:uFillTx/>
              <a:latin typeface="Arial"/>
            </a:endParaRPr>
          </a:p>
        </p:txBody>
      </p:sp>
      <p:pic>
        <p:nvPicPr>
          <p:cNvPr id="221" name="Picture 1" descr=""/>
          <p:cNvPicPr/>
          <p:nvPr/>
        </p:nvPicPr>
        <p:blipFill>
          <a:blip r:embed="rId1"/>
          <a:stretch/>
        </p:blipFill>
        <p:spPr>
          <a:xfrm>
            <a:off x="1440000" y="1547640"/>
            <a:ext cx="6035040" cy="4799880"/>
          </a:xfrm>
          <a:prstGeom prst="rect">
            <a:avLst/>
          </a:prstGeom>
          <a:noFill/>
          <a:ln w="0">
            <a:noFill/>
          </a:ln>
        </p:spPr>
      </p:pic>
      <p:pic>
        <p:nvPicPr>
          <p:cNvPr id="222" name="Picture 3" descr=""/>
          <p:cNvPicPr/>
          <p:nvPr/>
        </p:nvPicPr>
        <p:blipFill>
          <a:blip r:embed="rId2"/>
          <a:stretch/>
        </p:blipFill>
        <p:spPr>
          <a:xfrm>
            <a:off x="1440000" y="1547640"/>
            <a:ext cx="6035040" cy="4799880"/>
          </a:xfrm>
          <a:prstGeom prst="rect">
            <a:avLst/>
          </a:prstGeom>
          <a:noFill/>
          <a:ln w="0">
            <a:noFill/>
          </a:ln>
        </p:spPr>
      </p:pic>
    </p:spTree>
  </p:cSld>
  <p:transition spd="slow">
    <p:wipe dir="r"/>
  </p:transition>
  <p:timing>
    <p:tnLst>
      <p:par>
        <p:cTn id="457" dur="indefinite" restart="never" nodeType="tmRoot">
          <p:childTnLst>
            <p:seq>
              <p:cTn id="458" dur="indefinite" nodeType="mainSeq">
                <p:childTnLst>
                  <p:par>
                    <p:cTn id="459" nodeType="clickEffect" fill="hold">
                      <p:stCondLst>
                        <p:cond delay="indefinite"/>
                      </p:stCondLst>
                      <p:childTnLst>
                        <p:par>
                          <p:cTn id="460" nodeType="withEffect" fill="hold">
                            <p:stCondLst>
                              <p:cond delay="0"/>
                            </p:stCondLst>
                            <p:childTnLst>
                              <p:par>
                                <p:cTn id="461" nodeType="clickEffect" fill="hold" presetClass="entr" presetID="22" presetSubtype="1">
                                  <p:stCondLst>
                                    <p:cond delay="0"/>
                                  </p:stCondLst>
                                  <p:childTnLst>
                                    <p:set>
                                      <p:cBhvr>
                                        <p:cTn id="462" dur="1" fill="hold">
                                          <p:stCondLst>
                                            <p:cond delay="0"/>
                                          </p:stCondLst>
                                        </p:cTn>
                                        <p:tgtEl>
                                          <p:spTgt spid="222"/>
                                        </p:tgtEl>
                                        <p:attrNameLst>
                                          <p:attrName>style.visibility</p:attrName>
                                        </p:attrNameLst>
                                      </p:cBhvr>
                                      <p:to>
                                        <p:strVal val="visible"/>
                                      </p:to>
                                    </p:set>
                                    <p:animEffect filter="wipe(up)" transition="in">
                                      <p:cBhvr additive="repl">
                                        <p:cTn id="463" dur="1000"/>
                                        <p:tgtEl>
                                          <p:spTgt spid="2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13.2  MARGINAL UTILITY THEORY</a:t>
            </a:r>
            <a:endParaRPr b="0" lang="en-US" sz="2600" strike="noStrike" u="none">
              <a:solidFill>
                <a:srgbClr val="000000"/>
              </a:solidFill>
              <a:effectLst/>
              <a:uFillTx/>
              <a:latin typeface="Arial"/>
            </a:endParaRPr>
          </a:p>
        </p:txBody>
      </p:sp>
      <p:sp>
        <p:nvSpPr>
          <p:cNvPr id="224" name="PlaceHolder 2"/>
          <p:cNvSpPr>
            <a:spLocks noGrp="1"/>
          </p:cNvSpPr>
          <p:nvPr>
            <p:ph/>
          </p:nvPr>
        </p:nvSpPr>
        <p:spPr>
          <a:xfrm>
            <a:off x="360360" y="1440000"/>
            <a:ext cx="4591800" cy="4647600"/>
          </a:xfrm>
          <a:prstGeom prst="rect">
            <a:avLst/>
          </a:prstGeom>
          <a:noFill/>
          <a:ln w="0">
            <a:noFill/>
          </a:ln>
        </p:spPr>
        <p:txBody>
          <a:bodyPr numCol="1" spcCol="0" lIns="91440" rIns="91440" tIns="45720" bIns="45720" anchor="t">
            <a:noAutofit/>
          </a:bodyPr>
          <a:p>
            <a:pPr marL="360000" indent="0">
              <a:lnSpc>
                <a:spcPct val="100000"/>
              </a:lnSpc>
              <a:spcBef>
                <a:spcPts val="601"/>
              </a:spcBef>
              <a:buNone/>
              <a:tabLst>
                <a:tab algn="l" pos="0"/>
              </a:tabLst>
            </a:pPr>
            <a:r>
              <a:rPr b="0" lang="en-US" sz="2400" strike="noStrike" u="none">
                <a:solidFill>
                  <a:schemeClr val="dk1"/>
                </a:solidFill>
                <a:effectLst/>
                <a:uFillTx/>
                <a:latin typeface="Arial"/>
                <a:ea typeface="ＭＳ Ｐゴシック"/>
              </a:rPr>
              <a:t>Figure 13.5 shows total utility and marginal utility.</a:t>
            </a:r>
            <a:endParaRPr b="0" lang="en-US" sz="2400" strike="noStrike" u="none">
              <a:solidFill>
                <a:srgbClr val="000000"/>
              </a:solidFill>
              <a:effectLst/>
              <a:uFillTx/>
              <a:latin typeface="Arial"/>
            </a:endParaRPr>
          </a:p>
          <a:p>
            <a:pPr marL="360000" indent="0">
              <a:lnSpc>
                <a:spcPct val="100000"/>
              </a:lnSpc>
              <a:spcBef>
                <a:spcPts val="601"/>
              </a:spcBef>
              <a:buNone/>
              <a:tabLst>
                <a:tab algn="l" pos="0"/>
              </a:tabLst>
            </a:pPr>
            <a:r>
              <a:rPr b="0" lang="en-US" sz="2400" strike="noStrike" u="none">
                <a:solidFill>
                  <a:srgbClr val="000000"/>
                </a:solidFill>
                <a:effectLst/>
                <a:uFillTx/>
                <a:latin typeface="Arial"/>
                <a:ea typeface="ＭＳ Ｐゴシック"/>
              </a:rPr>
              <a:t>Part (a) graphs Tina’s total utility from bottled water.</a:t>
            </a:r>
            <a:endParaRPr b="0" lang="en-US" sz="2400" strike="noStrike" u="none">
              <a:solidFill>
                <a:srgbClr val="000000"/>
              </a:solidFill>
              <a:effectLst/>
              <a:uFillTx/>
              <a:latin typeface="Arial"/>
            </a:endParaRPr>
          </a:p>
          <a:p>
            <a:pPr marL="360000" indent="0">
              <a:lnSpc>
                <a:spcPct val="100000"/>
              </a:lnSpc>
              <a:spcBef>
                <a:spcPts val="601"/>
              </a:spcBef>
              <a:buNone/>
              <a:tabLst>
                <a:tab algn="l" pos="0"/>
              </a:tabLst>
            </a:pPr>
            <a:r>
              <a:rPr b="0" lang="en-US" sz="2400" strike="noStrike" u="none">
                <a:solidFill>
                  <a:srgbClr val="000000"/>
                </a:solidFill>
                <a:effectLst/>
                <a:uFillTx/>
                <a:latin typeface="Arial"/>
                <a:ea typeface="ＭＳ Ｐゴシック"/>
              </a:rPr>
              <a:t>Each bar shows the extra total utility she gains from each additional bottle of water—her marginal utility.</a:t>
            </a:r>
            <a:endParaRPr b="0" lang="en-US" sz="2400" strike="noStrike" u="none">
              <a:solidFill>
                <a:srgbClr val="000000"/>
              </a:solidFill>
              <a:effectLst/>
              <a:uFillTx/>
              <a:latin typeface="Arial"/>
            </a:endParaRPr>
          </a:p>
          <a:p>
            <a:pPr marL="360000" indent="0">
              <a:lnSpc>
                <a:spcPct val="100000"/>
              </a:lnSpc>
              <a:spcBef>
                <a:spcPts val="601"/>
              </a:spcBef>
              <a:buNone/>
              <a:tabLst>
                <a:tab algn="l" pos="0"/>
              </a:tabLst>
            </a:pPr>
            <a:r>
              <a:rPr b="0" lang="en-US" sz="2400" strike="noStrike" u="none">
                <a:solidFill>
                  <a:srgbClr val="000000"/>
                </a:solidFill>
                <a:effectLst/>
                <a:uFillTx/>
                <a:latin typeface="Arial"/>
                <a:ea typeface="ＭＳ Ｐゴシック"/>
              </a:rPr>
              <a:t>The blue line is Tina’s total utility curve.</a:t>
            </a:r>
            <a:endParaRPr b="0" lang="en-US" sz="2400" strike="noStrike" u="none">
              <a:solidFill>
                <a:srgbClr val="000000"/>
              </a:solidFill>
              <a:effectLst/>
              <a:uFillTx/>
              <a:latin typeface="Arial"/>
            </a:endParaRPr>
          </a:p>
        </p:txBody>
      </p:sp>
      <p:pic>
        <p:nvPicPr>
          <p:cNvPr id="225" name="Picture 1" descr="fig1205a.gif"/>
          <p:cNvPicPr/>
          <p:nvPr/>
        </p:nvPicPr>
        <p:blipFill>
          <a:blip r:embed="rId1"/>
          <a:stretch/>
        </p:blipFill>
        <p:spPr>
          <a:xfrm>
            <a:off x="5040360" y="1152360"/>
            <a:ext cx="3358440" cy="5562000"/>
          </a:xfrm>
          <a:prstGeom prst="rect">
            <a:avLst/>
          </a:prstGeom>
          <a:noFill/>
          <a:ln w="0">
            <a:noFill/>
          </a:ln>
        </p:spPr>
      </p:pic>
      <p:pic>
        <p:nvPicPr>
          <p:cNvPr id="226" name="Picture 2" descr="fig1205b.gif"/>
          <p:cNvPicPr/>
          <p:nvPr/>
        </p:nvPicPr>
        <p:blipFill>
          <a:blip r:embed="rId2"/>
          <a:stretch/>
        </p:blipFill>
        <p:spPr>
          <a:xfrm>
            <a:off x="5040360" y="1152360"/>
            <a:ext cx="3358440" cy="5562000"/>
          </a:xfrm>
          <a:prstGeom prst="rect">
            <a:avLst/>
          </a:prstGeom>
          <a:noFill/>
          <a:ln w="0">
            <a:noFill/>
          </a:ln>
        </p:spPr>
      </p:pic>
      <p:pic>
        <p:nvPicPr>
          <p:cNvPr id="227" name="Picture 3" descr="fig1205c.gif"/>
          <p:cNvPicPr/>
          <p:nvPr/>
        </p:nvPicPr>
        <p:blipFill>
          <a:blip r:embed="rId3"/>
          <a:stretch/>
        </p:blipFill>
        <p:spPr>
          <a:xfrm>
            <a:off x="5040360" y="1152360"/>
            <a:ext cx="3358440" cy="5562000"/>
          </a:xfrm>
          <a:prstGeom prst="rect">
            <a:avLst/>
          </a:prstGeom>
          <a:noFill/>
          <a:ln w="0">
            <a:noFill/>
          </a:ln>
        </p:spPr>
      </p:pic>
      <p:pic>
        <p:nvPicPr>
          <p:cNvPr id="228" name="Picture 4" descr="fig1205d.gif"/>
          <p:cNvPicPr/>
          <p:nvPr/>
        </p:nvPicPr>
        <p:blipFill>
          <a:blip r:embed="rId4"/>
          <a:stretch/>
        </p:blipFill>
        <p:spPr>
          <a:xfrm>
            <a:off x="5040360" y="1152360"/>
            <a:ext cx="3358440" cy="5562000"/>
          </a:xfrm>
          <a:prstGeom prst="rect">
            <a:avLst/>
          </a:prstGeom>
          <a:noFill/>
          <a:ln w="0">
            <a:noFill/>
          </a:ln>
        </p:spPr>
      </p:pic>
      <p:pic>
        <p:nvPicPr>
          <p:cNvPr id="229" name="Picture 5" descr="fig1205e.gif"/>
          <p:cNvPicPr/>
          <p:nvPr/>
        </p:nvPicPr>
        <p:blipFill>
          <a:blip r:embed="rId5"/>
          <a:stretch/>
        </p:blipFill>
        <p:spPr>
          <a:xfrm>
            <a:off x="5040360" y="1152360"/>
            <a:ext cx="3358440" cy="5562000"/>
          </a:xfrm>
          <a:prstGeom prst="rect">
            <a:avLst/>
          </a:prstGeom>
          <a:noFill/>
          <a:ln w="0">
            <a:noFill/>
          </a:ln>
        </p:spPr>
      </p:pic>
      <p:pic>
        <p:nvPicPr>
          <p:cNvPr id="230" name="Picture 6" descr="fig1205f.gif"/>
          <p:cNvPicPr/>
          <p:nvPr/>
        </p:nvPicPr>
        <p:blipFill>
          <a:blip r:embed="rId6"/>
          <a:stretch/>
        </p:blipFill>
        <p:spPr>
          <a:xfrm>
            <a:off x="5040360" y="1152360"/>
            <a:ext cx="3358440" cy="5562000"/>
          </a:xfrm>
          <a:prstGeom prst="rect">
            <a:avLst/>
          </a:prstGeom>
          <a:noFill/>
          <a:ln w="0">
            <a:noFill/>
          </a:ln>
        </p:spPr>
      </p:pic>
      <p:pic>
        <p:nvPicPr>
          <p:cNvPr id="231" name="Picture 7" descr="fig1205g.gif"/>
          <p:cNvPicPr/>
          <p:nvPr/>
        </p:nvPicPr>
        <p:blipFill>
          <a:blip r:embed="rId7"/>
          <a:stretch/>
        </p:blipFill>
        <p:spPr>
          <a:xfrm>
            <a:off x="5040360" y="1152360"/>
            <a:ext cx="3358440" cy="5562000"/>
          </a:xfrm>
          <a:prstGeom prst="rect">
            <a:avLst/>
          </a:prstGeom>
          <a:noFill/>
          <a:ln w="0">
            <a:noFill/>
          </a:ln>
        </p:spPr>
      </p:pic>
      <p:pic>
        <p:nvPicPr>
          <p:cNvPr id="232" name="Picture 8" descr="fig1205h.gif"/>
          <p:cNvPicPr/>
          <p:nvPr/>
        </p:nvPicPr>
        <p:blipFill>
          <a:blip r:embed="rId8"/>
          <a:stretch/>
        </p:blipFill>
        <p:spPr>
          <a:xfrm>
            <a:off x="5040360" y="1152360"/>
            <a:ext cx="3358440" cy="5562000"/>
          </a:xfrm>
          <a:prstGeom prst="rect">
            <a:avLst/>
          </a:prstGeom>
          <a:noFill/>
          <a:ln w="0">
            <a:noFill/>
          </a:ln>
        </p:spPr>
      </p:pic>
      <p:pic>
        <p:nvPicPr>
          <p:cNvPr id="233" name="Picture 9" descr="fig1205i.gif"/>
          <p:cNvPicPr/>
          <p:nvPr/>
        </p:nvPicPr>
        <p:blipFill>
          <a:blip r:embed="rId9"/>
          <a:stretch/>
        </p:blipFill>
        <p:spPr>
          <a:xfrm>
            <a:off x="5040360" y="1152360"/>
            <a:ext cx="3358440" cy="5562000"/>
          </a:xfrm>
          <a:prstGeom prst="rect">
            <a:avLst/>
          </a:prstGeom>
          <a:noFill/>
          <a:ln w="0">
            <a:noFill/>
          </a:ln>
        </p:spPr>
      </p:pic>
      <p:pic>
        <p:nvPicPr>
          <p:cNvPr id="234" name="Picture 10" descr="fig1205j.gif"/>
          <p:cNvPicPr/>
          <p:nvPr/>
        </p:nvPicPr>
        <p:blipFill>
          <a:blip r:embed="rId10"/>
          <a:stretch/>
        </p:blipFill>
        <p:spPr>
          <a:xfrm>
            <a:off x="5040360" y="1152360"/>
            <a:ext cx="3358440" cy="5562000"/>
          </a:xfrm>
          <a:prstGeom prst="rect">
            <a:avLst/>
          </a:prstGeom>
          <a:noFill/>
          <a:ln w="0">
            <a:noFill/>
          </a:ln>
        </p:spPr>
      </p:pic>
      <p:pic>
        <p:nvPicPr>
          <p:cNvPr id="235" name="Picture 11" descr="fig1205k.gif"/>
          <p:cNvPicPr/>
          <p:nvPr/>
        </p:nvPicPr>
        <p:blipFill>
          <a:blip r:embed="rId11"/>
          <a:stretch/>
        </p:blipFill>
        <p:spPr>
          <a:xfrm>
            <a:off x="5040360" y="1152360"/>
            <a:ext cx="3358440" cy="5562000"/>
          </a:xfrm>
          <a:prstGeom prst="rect">
            <a:avLst/>
          </a:prstGeom>
          <a:noFill/>
          <a:ln w="0">
            <a:noFill/>
          </a:ln>
        </p:spPr>
      </p:pic>
    </p:spTree>
  </p:cSld>
  <p:transition spd="slow">
    <p:wipe dir="r"/>
  </p:transition>
  <p:timing>
    <p:tnLst>
      <p:par>
        <p:cTn id="464" dur="indefinite" restart="never" nodeType="tmRoot">
          <p:childTnLst>
            <p:seq>
              <p:cTn id="465" dur="indefinite" nodeType="mainSeq">
                <p:childTnLst>
                  <p:par>
                    <p:cTn id="466" nodeType="clickEffect" fill="hold">
                      <p:stCondLst>
                        <p:cond delay="indefinite"/>
                      </p:stCondLst>
                      <p:childTnLst>
                        <p:par>
                          <p:cTn id="467" nodeType="withEffect" fill="hold">
                            <p:stCondLst>
                              <p:cond delay="0"/>
                            </p:stCondLst>
                            <p:childTnLst>
                              <p:par>
                                <p:cTn id="468" nodeType="clickEffect" fill="hold" presetClass="entr" presetID="22" presetSubtype="8">
                                  <p:stCondLst>
                                    <p:cond delay="0"/>
                                  </p:stCondLst>
                                  <p:childTnLst>
                                    <p:set>
                                      <p:cBhvr>
                                        <p:cTn id="469" dur="1" fill="hold">
                                          <p:stCondLst>
                                            <p:cond delay="0"/>
                                          </p:stCondLst>
                                        </p:cTn>
                                        <p:tgtEl>
                                          <p:spTgt spid="224">
                                            <p:txEl>
                                              <p:pRg st="1" end="1"/>
                                            </p:txEl>
                                          </p:spTgt>
                                        </p:tgtEl>
                                        <p:attrNameLst>
                                          <p:attrName>style.visibility</p:attrName>
                                        </p:attrNameLst>
                                      </p:cBhvr>
                                      <p:to>
                                        <p:strVal val="visible"/>
                                      </p:to>
                                    </p:set>
                                    <p:animEffect filter="wipe(left)" transition="in">
                                      <p:cBhvr additive="repl">
                                        <p:cTn id="470" dur="500"/>
                                        <p:tgtEl>
                                          <p:spTgt spid="224">
                                            <p:txEl>
                                              <p:pRg st="1" end="1"/>
                                            </p:txEl>
                                          </p:spTgt>
                                        </p:tgtEl>
                                      </p:cBhvr>
                                    </p:animEffect>
                                  </p:childTnLst>
                                </p:cTn>
                              </p:par>
                            </p:childTnLst>
                          </p:cTn>
                        </p:par>
                      </p:childTnLst>
                    </p:cTn>
                  </p:par>
                  <p:par>
                    <p:cTn id="471" nodeType="clickEffect" fill="hold">
                      <p:stCondLst>
                        <p:cond delay="indefinite"/>
                      </p:stCondLst>
                      <p:childTnLst>
                        <p:par>
                          <p:cTn id="472" nodeType="withEffect" fill="hold">
                            <p:stCondLst>
                              <p:cond delay="0"/>
                            </p:stCondLst>
                            <p:childTnLst>
                              <p:par>
                                <p:cTn id="473" nodeType="clickEffect" fill="hold" presetClass="entr" presetID="22" presetSubtype="8">
                                  <p:stCondLst>
                                    <p:cond delay="0"/>
                                  </p:stCondLst>
                                  <p:childTnLst>
                                    <p:set>
                                      <p:cBhvr>
                                        <p:cTn id="474" dur="1" fill="hold">
                                          <p:stCondLst>
                                            <p:cond delay="0"/>
                                          </p:stCondLst>
                                        </p:cTn>
                                        <p:tgtEl>
                                          <p:spTgt spid="224">
                                            <p:txEl>
                                              <p:pRg st="2" end="2"/>
                                            </p:txEl>
                                          </p:spTgt>
                                        </p:tgtEl>
                                        <p:attrNameLst>
                                          <p:attrName>style.visibility</p:attrName>
                                        </p:attrNameLst>
                                      </p:cBhvr>
                                      <p:to>
                                        <p:strVal val="visible"/>
                                      </p:to>
                                    </p:set>
                                    <p:animEffect filter="wipe(left)" transition="in">
                                      <p:cBhvr additive="repl">
                                        <p:cTn id="475" dur="500"/>
                                        <p:tgtEl>
                                          <p:spTgt spid="224">
                                            <p:txEl>
                                              <p:pRg st="2" end="2"/>
                                            </p:txEl>
                                          </p:spTgt>
                                        </p:tgtEl>
                                      </p:cBhvr>
                                    </p:animEffect>
                                  </p:childTnLst>
                                </p:cTn>
                              </p:par>
                              <p:par>
                                <p:cTn id="476" nodeType="withEffect" fill="hold" presetClass="entr" presetID="22" presetSubtype="4">
                                  <p:stCondLst>
                                    <p:cond delay="0"/>
                                  </p:stCondLst>
                                  <p:childTnLst>
                                    <p:set>
                                      <p:cBhvr>
                                        <p:cTn id="477" dur="1" fill="hold">
                                          <p:stCondLst>
                                            <p:cond delay="0"/>
                                          </p:stCondLst>
                                        </p:cTn>
                                        <p:tgtEl>
                                          <p:spTgt spid="226"/>
                                        </p:tgtEl>
                                        <p:attrNameLst>
                                          <p:attrName>style.visibility</p:attrName>
                                        </p:attrNameLst>
                                      </p:cBhvr>
                                      <p:to>
                                        <p:strVal val="visible"/>
                                      </p:to>
                                    </p:set>
                                    <p:animEffect filter="wipe(down)" transition="in">
                                      <p:cBhvr additive="repl">
                                        <p:cTn id="478" dur="1000"/>
                                        <p:tgtEl>
                                          <p:spTgt spid="226"/>
                                        </p:tgtEl>
                                      </p:cBhvr>
                                    </p:animEffect>
                                  </p:childTnLst>
                                </p:cTn>
                              </p:par>
                              <p:par>
                                <p:cTn id="479" nodeType="withEffect" fill="hold" presetClass="entr" presetID="22" presetSubtype="4">
                                  <p:stCondLst>
                                    <p:cond delay="300"/>
                                  </p:stCondLst>
                                  <p:childTnLst>
                                    <p:set>
                                      <p:cBhvr>
                                        <p:cTn id="480" dur="1" fill="hold">
                                          <p:stCondLst>
                                            <p:cond delay="0"/>
                                          </p:stCondLst>
                                        </p:cTn>
                                        <p:tgtEl>
                                          <p:spTgt spid="227"/>
                                        </p:tgtEl>
                                        <p:attrNameLst>
                                          <p:attrName>style.visibility</p:attrName>
                                        </p:attrNameLst>
                                      </p:cBhvr>
                                      <p:to>
                                        <p:strVal val="visible"/>
                                      </p:to>
                                    </p:set>
                                    <p:animEffect filter="wipe(down)" transition="in">
                                      <p:cBhvr additive="repl">
                                        <p:cTn id="481" dur="1000"/>
                                        <p:tgtEl>
                                          <p:spTgt spid="227"/>
                                        </p:tgtEl>
                                      </p:cBhvr>
                                    </p:animEffect>
                                  </p:childTnLst>
                                </p:cTn>
                              </p:par>
                              <p:par>
                                <p:cTn id="482" nodeType="withEffect" fill="hold" presetClass="entr" presetID="22" presetSubtype="4">
                                  <p:stCondLst>
                                    <p:cond delay="700"/>
                                  </p:stCondLst>
                                  <p:childTnLst>
                                    <p:set>
                                      <p:cBhvr>
                                        <p:cTn id="483" dur="1" fill="hold">
                                          <p:stCondLst>
                                            <p:cond delay="0"/>
                                          </p:stCondLst>
                                        </p:cTn>
                                        <p:tgtEl>
                                          <p:spTgt spid="228"/>
                                        </p:tgtEl>
                                        <p:attrNameLst>
                                          <p:attrName>style.visibility</p:attrName>
                                        </p:attrNameLst>
                                      </p:cBhvr>
                                      <p:to>
                                        <p:strVal val="visible"/>
                                      </p:to>
                                    </p:set>
                                    <p:animEffect filter="wipe(down)" transition="in">
                                      <p:cBhvr additive="repl">
                                        <p:cTn id="484" dur="1000"/>
                                        <p:tgtEl>
                                          <p:spTgt spid="228"/>
                                        </p:tgtEl>
                                      </p:cBhvr>
                                    </p:animEffect>
                                  </p:childTnLst>
                                </p:cTn>
                              </p:par>
                              <p:par>
                                <p:cTn id="485" nodeType="withEffect" fill="hold" presetClass="entr" presetID="22" presetSubtype="4">
                                  <p:stCondLst>
                                    <p:cond delay="1100"/>
                                  </p:stCondLst>
                                  <p:childTnLst>
                                    <p:set>
                                      <p:cBhvr>
                                        <p:cTn id="486" dur="1" fill="hold">
                                          <p:stCondLst>
                                            <p:cond delay="0"/>
                                          </p:stCondLst>
                                        </p:cTn>
                                        <p:tgtEl>
                                          <p:spTgt spid="229"/>
                                        </p:tgtEl>
                                        <p:attrNameLst>
                                          <p:attrName>style.visibility</p:attrName>
                                        </p:attrNameLst>
                                      </p:cBhvr>
                                      <p:to>
                                        <p:strVal val="visible"/>
                                      </p:to>
                                    </p:set>
                                    <p:animEffect filter="wipe(down)" transition="in">
                                      <p:cBhvr additive="repl">
                                        <p:cTn id="487" dur="1000"/>
                                        <p:tgtEl>
                                          <p:spTgt spid="229"/>
                                        </p:tgtEl>
                                      </p:cBhvr>
                                    </p:animEffect>
                                  </p:childTnLst>
                                </p:cTn>
                              </p:par>
                              <p:par>
                                <p:cTn id="488" nodeType="withEffect" fill="hold" presetClass="entr" presetID="22" presetSubtype="4">
                                  <p:stCondLst>
                                    <p:cond delay="1500"/>
                                  </p:stCondLst>
                                  <p:childTnLst>
                                    <p:set>
                                      <p:cBhvr>
                                        <p:cTn id="489" dur="1" fill="hold">
                                          <p:stCondLst>
                                            <p:cond delay="0"/>
                                          </p:stCondLst>
                                        </p:cTn>
                                        <p:tgtEl>
                                          <p:spTgt spid="230"/>
                                        </p:tgtEl>
                                        <p:attrNameLst>
                                          <p:attrName>style.visibility</p:attrName>
                                        </p:attrNameLst>
                                      </p:cBhvr>
                                      <p:to>
                                        <p:strVal val="visible"/>
                                      </p:to>
                                    </p:set>
                                    <p:animEffect filter="wipe(down)" transition="in">
                                      <p:cBhvr additive="repl">
                                        <p:cTn id="490" dur="1000"/>
                                        <p:tgtEl>
                                          <p:spTgt spid="230"/>
                                        </p:tgtEl>
                                      </p:cBhvr>
                                    </p:animEffect>
                                  </p:childTnLst>
                                </p:cTn>
                              </p:par>
                              <p:par>
                                <p:cTn id="491" nodeType="withEffect" fill="hold" presetClass="entr" presetID="22" presetSubtype="4">
                                  <p:stCondLst>
                                    <p:cond delay="2000"/>
                                  </p:stCondLst>
                                  <p:childTnLst>
                                    <p:set>
                                      <p:cBhvr>
                                        <p:cTn id="492" dur="1" fill="hold">
                                          <p:stCondLst>
                                            <p:cond delay="0"/>
                                          </p:stCondLst>
                                        </p:cTn>
                                        <p:tgtEl>
                                          <p:spTgt spid="231"/>
                                        </p:tgtEl>
                                        <p:attrNameLst>
                                          <p:attrName>style.visibility</p:attrName>
                                        </p:attrNameLst>
                                      </p:cBhvr>
                                      <p:to>
                                        <p:strVal val="visible"/>
                                      </p:to>
                                    </p:set>
                                    <p:animEffect filter="wipe(down)" transition="in">
                                      <p:cBhvr additive="repl">
                                        <p:cTn id="493" dur="1000"/>
                                        <p:tgtEl>
                                          <p:spTgt spid="231"/>
                                        </p:tgtEl>
                                      </p:cBhvr>
                                    </p:animEffect>
                                  </p:childTnLst>
                                </p:cTn>
                              </p:par>
                              <p:par>
                                <p:cTn id="494" nodeType="withEffect" fill="hold" presetClass="entr" presetID="22" presetSubtype="4">
                                  <p:stCondLst>
                                    <p:cond delay="2300"/>
                                  </p:stCondLst>
                                  <p:childTnLst>
                                    <p:set>
                                      <p:cBhvr>
                                        <p:cTn id="495" dur="1" fill="hold">
                                          <p:stCondLst>
                                            <p:cond delay="0"/>
                                          </p:stCondLst>
                                        </p:cTn>
                                        <p:tgtEl>
                                          <p:spTgt spid="232"/>
                                        </p:tgtEl>
                                        <p:attrNameLst>
                                          <p:attrName>style.visibility</p:attrName>
                                        </p:attrNameLst>
                                      </p:cBhvr>
                                      <p:to>
                                        <p:strVal val="visible"/>
                                      </p:to>
                                    </p:set>
                                    <p:animEffect filter="wipe(down)" transition="in">
                                      <p:cBhvr additive="repl">
                                        <p:cTn id="496" dur="1000"/>
                                        <p:tgtEl>
                                          <p:spTgt spid="232"/>
                                        </p:tgtEl>
                                      </p:cBhvr>
                                    </p:animEffect>
                                  </p:childTnLst>
                                </p:cTn>
                              </p:par>
                              <p:par>
                                <p:cTn id="497" nodeType="withEffect" fill="hold" presetClass="entr" presetID="22" presetSubtype="4">
                                  <p:stCondLst>
                                    <p:cond delay="2600"/>
                                  </p:stCondLst>
                                  <p:childTnLst>
                                    <p:set>
                                      <p:cBhvr>
                                        <p:cTn id="498" dur="1" fill="hold">
                                          <p:stCondLst>
                                            <p:cond delay="0"/>
                                          </p:stCondLst>
                                        </p:cTn>
                                        <p:tgtEl>
                                          <p:spTgt spid="233"/>
                                        </p:tgtEl>
                                        <p:attrNameLst>
                                          <p:attrName>style.visibility</p:attrName>
                                        </p:attrNameLst>
                                      </p:cBhvr>
                                      <p:to>
                                        <p:strVal val="visible"/>
                                      </p:to>
                                    </p:set>
                                    <p:animEffect filter="wipe(down)" transition="in">
                                      <p:cBhvr additive="repl">
                                        <p:cTn id="499" dur="1000"/>
                                        <p:tgtEl>
                                          <p:spTgt spid="233"/>
                                        </p:tgtEl>
                                      </p:cBhvr>
                                    </p:animEffect>
                                  </p:childTnLst>
                                </p:cTn>
                              </p:par>
                              <p:par>
                                <p:cTn id="500" nodeType="withEffect" fill="hold" presetClass="entr" presetID="22" presetSubtype="4">
                                  <p:stCondLst>
                                    <p:cond delay="2900"/>
                                  </p:stCondLst>
                                  <p:childTnLst>
                                    <p:set>
                                      <p:cBhvr>
                                        <p:cTn id="501" dur="1" fill="hold">
                                          <p:stCondLst>
                                            <p:cond delay="0"/>
                                          </p:stCondLst>
                                        </p:cTn>
                                        <p:tgtEl>
                                          <p:spTgt spid="234"/>
                                        </p:tgtEl>
                                        <p:attrNameLst>
                                          <p:attrName>style.visibility</p:attrName>
                                        </p:attrNameLst>
                                      </p:cBhvr>
                                      <p:to>
                                        <p:strVal val="visible"/>
                                      </p:to>
                                    </p:set>
                                    <p:animEffect filter="wipe(down)" transition="in">
                                      <p:cBhvr additive="repl">
                                        <p:cTn id="502" dur="1000"/>
                                        <p:tgtEl>
                                          <p:spTgt spid="234"/>
                                        </p:tgtEl>
                                      </p:cBhvr>
                                    </p:animEffect>
                                  </p:childTnLst>
                                </p:cTn>
                              </p:par>
                            </p:childTnLst>
                          </p:cTn>
                        </p:par>
                      </p:childTnLst>
                    </p:cTn>
                  </p:par>
                  <p:par>
                    <p:cTn id="503" nodeType="clickEffect" fill="hold">
                      <p:stCondLst>
                        <p:cond delay="indefinite"/>
                      </p:stCondLst>
                      <p:childTnLst>
                        <p:par>
                          <p:cTn id="504" nodeType="withEffect" fill="hold">
                            <p:stCondLst>
                              <p:cond delay="0"/>
                            </p:stCondLst>
                            <p:childTnLst>
                              <p:par>
                                <p:cTn id="505" nodeType="clickEffect" fill="hold" presetClass="entr" presetID="22" presetSubtype="8">
                                  <p:stCondLst>
                                    <p:cond delay="0"/>
                                  </p:stCondLst>
                                  <p:childTnLst>
                                    <p:set>
                                      <p:cBhvr>
                                        <p:cTn id="506" dur="1" fill="hold">
                                          <p:stCondLst>
                                            <p:cond delay="0"/>
                                          </p:stCondLst>
                                        </p:cTn>
                                        <p:tgtEl>
                                          <p:spTgt spid="224">
                                            <p:txEl>
                                              <p:pRg st="3" end="3"/>
                                            </p:txEl>
                                          </p:spTgt>
                                        </p:tgtEl>
                                        <p:attrNameLst>
                                          <p:attrName>style.visibility</p:attrName>
                                        </p:attrNameLst>
                                      </p:cBhvr>
                                      <p:to>
                                        <p:strVal val="visible"/>
                                      </p:to>
                                    </p:set>
                                    <p:animEffect filter="wipe(left)" transition="in">
                                      <p:cBhvr additive="repl">
                                        <p:cTn id="507" dur="500"/>
                                        <p:tgtEl>
                                          <p:spTgt spid="224">
                                            <p:txEl>
                                              <p:pRg st="3" end="3"/>
                                            </p:txEl>
                                          </p:spTgt>
                                        </p:tgtEl>
                                      </p:cBhvr>
                                    </p:animEffect>
                                  </p:childTnLst>
                                </p:cTn>
                              </p:par>
                              <p:par>
                                <p:cTn id="508" nodeType="withEffect" fill="hold" presetClass="entr" presetID="22" presetSubtype="4">
                                  <p:stCondLst>
                                    <p:cond delay="0"/>
                                  </p:stCondLst>
                                  <p:childTnLst>
                                    <p:set>
                                      <p:cBhvr>
                                        <p:cTn id="509" dur="1" fill="hold">
                                          <p:stCondLst>
                                            <p:cond delay="0"/>
                                          </p:stCondLst>
                                        </p:cTn>
                                        <p:tgtEl>
                                          <p:spTgt spid="235"/>
                                        </p:tgtEl>
                                        <p:attrNameLst>
                                          <p:attrName>style.visibility</p:attrName>
                                        </p:attrNameLst>
                                      </p:cBhvr>
                                      <p:to>
                                        <p:strVal val="visible"/>
                                      </p:to>
                                    </p:set>
                                    <p:animEffect filter="wipe(down)" transition="in">
                                      <p:cBhvr additive="repl">
                                        <p:cTn id="510" dur="1000"/>
                                        <p:tgtEl>
                                          <p:spTgt spid="2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236" name="Picture 1" descr="fig1205a.gif"/>
          <p:cNvPicPr/>
          <p:nvPr/>
        </p:nvPicPr>
        <p:blipFill>
          <a:blip r:embed="rId1"/>
          <a:stretch/>
        </p:blipFill>
        <p:spPr>
          <a:xfrm>
            <a:off x="2362320" y="152280"/>
            <a:ext cx="3807720" cy="6306480"/>
          </a:xfrm>
          <a:prstGeom prst="rect">
            <a:avLst/>
          </a:prstGeom>
          <a:noFill/>
          <a:ln w="0">
            <a:noFill/>
          </a:ln>
        </p:spPr>
      </p:pic>
      <p:pic>
        <p:nvPicPr>
          <p:cNvPr id="237" name="Picture 2" descr="fig1205b.gif"/>
          <p:cNvPicPr/>
          <p:nvPr/>
        </p:nvPicPr>
        <p:blipFill>
          <a:blip r:embed="rId2"/>
          <a:stretch/>
        </p:blipFill>
        <p:spPr>
          <a:xfrm>
            <a:off x="2362320" y="152280"/>
            <a:ext cx="3807720" cy="6306480"/>
          </a:xfrm>
          <a:prstGeom prst="rect">
            <a:avLst/>
          </a:prstGeom>
          <a:noFill/>
          <a:ln w="0">
            <a:noFill/>
          </a:ln>
        </p:spPr>
      </p:pic>
      <p:pic>
        <p:nvPicPr>
          <p:cNvPr id="238" name="Picture 3" descr="fig1205c.gif"/>
          <p:cNvPicPr/>
          <p:nvPr/>
        </p:nvPicPr>
        <p:blipFill>
          <a:blip r:embed="rId3"/>
          <a:stretch/>
        </p:blipFill>
        <p:spPr>
          <a:xfrm>
            <a:off x="2362320" y="152280"/>
            <a:ext cx="3807720" cy="6306480"/>
          </a:xfrm>
          <a:prstGeom prst="rect">
            <a:avLst/>
          </a:prstGeom>
          <a:noFill/>
          <a:ln w="0">
            <a:noFill/>
          </a:ln>
        </p:spPr>
      </p:pic>
      <p:pic>
        <p:nvPicPr>
          <p:cNvPr id="239" name="Picture 4" descr="fig1205d.gif"/>
          <p:cNvPicPr/>
          <p:nvPr/>
        </p:nvPicPr>
        <p:blipFill>
          <a:blip r:embed="rId4"/>
          <a:stretch/>
        </p:blipFill>
        <p:spPr>
          <a:xfrm>
            <a:off x="2362320" y="152280"/>
            <a:ext cx="3807720" cy="6306480"/>
          </a:xfrm>
          <a:prstGeom prst="rect">
            <a:avLst/>
          </a:prstGeom>
          <a:noFill/>
          <a:ln w="0">
            <a:noFill/>
          </a:ln>
        </p:spPr>
      </p:pic>
      <p:pic>
        <p:nvPicPr>
          <p:cNvPr id="240" name="Picture 5" descr="fig1205e.gif"/>
          <p:cNvPicPr/>
          <p:nvPr/>
        </p:nvPicPr>
        <p:blipFill>
          <a:blip r:embed="rId5"/>
          <a:stretch/>
        </p:blipFill>
        <p:spPr>
          <a:xfrm>
            <a:off x="2362320" y="152280"/>
            <a:ext cx="3807720" cy="6306480"/>
          </a:xfrm>
          <a:prstGeom prst="rect">
            <a:avLst/>
          </a:prstGeom>
          <a:noFill/>
          <a:ln w="0">
            <a:noFill/>
          </a:ln>
        </p:spPr>
      </p:pic>
      <p:pic>
        <p:nvPicPr>
          <p:cNvPr id="241" name="Picture 6" descr="fig1205f.gif"/>
          <p:cNvPicPr/>
          <p:nvPr/>
        </p:nvPicPr>
        <p:blipFill>
          <a:blip r:embed="rId6"/>
          <a:stretch/>
        </p:blipFill>
        <p:spPr>
          <a:xfrm>
            <a:off x="2362320" y="152280"/>
            <a:ext cx="3807720" cy="6306480"/>
          </a:xfrm>
          <a:prstGeom prst="rect">
            <a:avLst/>
          </a:prstGeom>
          <a:noFill/>
          <a:ln w="0">
            <a:noFill/>
          </a:ln>
        </p:spPr>
      </p:pic>
      <p:pic>
        <p:nvPicPr>
          <p:cNvPr id="242" name="Picture 7" descr="fig1205g.gif"/>
          <p:cNvPicPr/>
          <p:nvPr/>
        </p:nvPicPr>
        <p:blipFill>
          <a:blip r:embed="rId7"/>
          <a:stretch/>
        </p:blipFill>
        <p:spPr>
          <a:xfrm>
            <a:off x="2362320" y="152280"/>
            <a:ext cx="3807720" cy="6306480"/>
          </a:xfrm>
          <a:prstGeom prst="rect">
            <a:avLst/>
          </a:prstGeom>
          <a:noFill/>
          <a:ln w="0">
            <a:noFill/>
          </a:ln>
        </p:spPr>
      </p:pic>
      <p:pic>
        <p:nvPicPr>
          <p:cNvPr id="243" name="Picture 8" descr="fig1205h.gif"/>
          <p:cNvPicPr/>
          <p:nvPr/>
        </p:nvPicPr>
        <p:blipFill>
          <a:blip r:embed="rId8"/>
          <a:stretch/>
        </p:blipFill>
        <p:spPr>
          <a:xfrm>
            <a:off x="2362320" y="152280"/>
            <a:ext cx="3807720" cy="6306480"/>
          </a:xfrm>
          <a:prstGeom prst="rect">
            <a:avLst/>
          </a:prstGeom>
          <a:noFill/>
          <a:ln w="0">
            <a:noFill/>
          </a:ln>
        </p:spPr>
      </p:pic>
      <p:pic>
        <p:nvPicPr>
          <p:cNvPr id="244" name="Picture 9" descr="fig1205i.gif"/>
          <p:cNvPicPr/>
          <p:nvPr/>
        </p:nvPicPr>
        <p:blipFill>
          <a:blip r:embed="rId9"/>
          <a:stretch/>
        </p:blipFill>
        <p:spPr>
          <a:xfrm>
            <a:off x="2362320" y="152280"/>
            <a:ext cx="3807720" cy="6306480"/>
          </a:xfrm>
          <a:prstGeom prst="rect">
            <a:avLst/>
          </a:prstGeom>
          <a:noFill/>
          <a:ln w="0">
            <a:noFill/>
          </a:ln>
        </p:spPr>
      </p:pic>
      <p:pic>
        <p:nvPicPr>
          <p:cNvPr id="245" name="Picture 10" descr="fig1205j.gif"/>
          <p:cNvPicPr/>
          <p:nvPr/>
        </p:nvPicPr>
        <p:blipFill>
          <a:blip r:embed="rId10"/>
          <a:stretch/>
        </p:blipFill>
        <p:spPr>
          <a:xfrm>
            <a:off x="2362320" y="152280"/>
            <a:ext cx="3807720" cy="6306480"/>
          </a:xfrm>
          <a:prstGeom prst="rect">
            <a:avLst/>
          </a:prstGeom>
          <a:noFill/>
          <a:ln w="0">
            <a:noFill/>
          </a:ln>
        </p:spPr>
      </p:pic>
      <p:pic>
        <p:nvPicPr>
          <p:cNvPr id="246" name="Picture 11" descr="fig1205k.gif"/>
          <p:cNvPicPr/>
          <p:nvPr/>
        </p:nvPicPr>
        <p:blipFill>
          <a:blip r:embed="rId11"/>
          <a:stretch/>
        </p:blipFill>
        <p:spPr>
          <a:xfrm>
            <a:off x="2362320" y="152280"/>
            <a:ext cx="3807720" cy="6306480"/>
          </a:xfrm>
          <a:prstGeom prst="rect">
            <a:avLst/>
          </a:prstGeom>
          <a:noFill/>
          <a:ln w="0">
            <a:noFill/>
          </a:ln>
        </p:spPr>
      </p:pic>
      <p:pic>
        <p:nvPicPr>
          <p:cNvPr id="247" name="Picture 12" descr="fig1205l.gif"/>
          <p:cNvPicPr/>
          <p:nvPr/>
        </p:nvPicPr>
        <p:blipFill>
          <a:blip r:embed="rId12"/>
          <a:stretch/>
        </p:blipFill>
        <p:spPr>
          <a:xfrm>
            <a:off x="2362320" y="152280"/>
            <a:ext cx="3807720" cy="6306480"/>
          </a:xfrm>
          <a:prstGeom prst="rect">
            <a:avLst/>
          </a:prstGeom>
          <a:noFill/>
          <a:ln w="0">
            <a:noFill/>
          </a:ln>
        </p:spPr>
      </p:pic>
      <p:pic>
        <p:nvPicPr>
          <p:cNvPr id="248" name="Picture 13" descr="fig1205m.gif"/>
          <p:cNvPicPr/>
          <p:nvPr/>
        </p:nvPicPr>
        <p:blipFill>
          <a:blip r:embed="rId13"/>
          <a:stretch/>
        </p:blipFill>
        <p:spPr>
          <a:xfrm>
            <a:off x="2362320" y="152280"/>
            <a:ext cx="3807720" cy="6306480"/>
          </a:xfrm>
          <a:prstGeom prst="rect">
            <a:avLst/>
          </a:prstGeom>
          <a:noFill/>
          <a:ln w="0">
            <a:noFill/>
          </a:ln>
        </p:spPr>
      </p:pic>
      <p:pic>
        <p:nvPicPr>
          <p:cNvPr id="249" name="Picture 14" descr="fig1205n.gif"/>
          <p:cNvPicPr/>
          <p:nvPr/>
        </p:nvPicPr>
        <p:blipFill>
          <a:blip r:embed="rId14"/>
          <a:stretch/>
        </p:blipFill>
        <p:spPr>
          <a:xfrm>
            <a:off x="2362320" y="152280"/>
            <a:ext cx="3807720" cy="6306480"/>
          </a:xfrm>
          <a:prstGeom prst="rect">
            <a:avLst/>
          </a:prstGeom>
          <a:noFill/>
          <a:ln w="0">
            <a:noFill/>
          </a:ln>
        </p:spPr>
      </p:pic>
      <p:pic>
        <p:nvPicPr>
          <p:cNvPr id="250" name="Picture 15" descr="fig1205o.gif"/>
          <p:cNvPicPr/>
          <p:nvPr/>
        </p:nvPicPr>
        <p:blipFill>
          <a:blip r:embed="rId15"/>
          <a:stretch/>
        </p:blipFill>
        <p:spPr>
          <a:xfrm>
            <a:off x="2362320" y="152280"/>
            <a:ext cx="3807720" cy="6306480"/>
          </a:xfrm>
          <a:prstGeom prst="rect">
            <a:avLst/>
          </a:prstGeom>
          <a:noFill/>
          <a:ln w="0">
            <a:noFill/>
          </a:ln>
        </p:spPr>
      </p:pic>
      <p:pic>
        <p:nvPicPr>
          <p:cNvPr id="251" name="Picture 16" descr="fig1205p.gif"/>
          <p:cNvPicPr/>
          <p:nvPr/>
        </p:nvPicPr>
        <p:blipFill>
          <a:blip r:embed="rId16"/>
          <a:stretch/>
        </p:blipFill>
        <p:spPr>
          <a:xfrm>
            <a:off x="2362320" y="152280"/>
            <a:ext cx="3807720" cy="6306480"/>
          </a:xfrm>
          <a:prstGeom prst="rect">
            <a:avLst/>
          </a:prstGeom>
          <a:noFill/>
          <a:ln w="0">
            <a:noFill/>
          </a:ln>
        </p:spPr>
      </p:pic>
      <p:pic>
        <p:nvPicPr>
          <p:cNvPr id="252" name="Picture 17" descr="fig1205q.gif"/>
          <p:cNvPicPr/>
          <p:nvPr/>
        </p:nvPicPr>
        <p:blipFill>
          <a:blip r:embed="rId17"/>
          <a:stretch/>
        </p:blipFill>
        <p:spPr>
          <a:xfrm>
            <a:off x="2362320" y="152280"/>
            <a:ext cx="3807720" cy="6306480"/>
          </a:xfrm>
          <a:prstGeom prst="rect">
            <a:avLst/>
          </a:prstGeom>
          <a:noFill/>
          <a:ln w="0">
            <a:noFill/>
          </a:ln>
        </p:spPr>
      </p:pic>
      <p:pic>
        <p:nvPicPr>
          <p:cNvPr id="253" name="Picture 18" descr="fig1205r.gif"/>
          <p:cNvPicPr/>
          <p:nvPr/>
        </p:nvPicPr>
        <p:blipFill>
          <a:blip r:embed="rId18"/>
          <a:stretch/>
        </p:blipFill>
        <p:spPr>
          <a:xfrm>
            <a:off x="2362320" y="152280"/>
            <a:ext cx="3807720" cy="6306480"/>
          </a:xfrm>
          <a:prstGeom prst="rect">
            <a:avLst/>
          </a:prstGeom>
          <a:noFill/>
          <a:ln w="0">
            <a:noFill/>
          </a:ln>
        </p:spPr>
      </p:pic>
      <p:pic>
        <p:nvPicPr>
          <p:cNvPr id="254" name="Picture 19" descr="fig1205s.gif"/>
          <p:cNvPicPr/>
          <p:nvPr/>
        </p:nvPicPr>
        <p:blipFill>
          <a:blip r:embed="rId19"/>
          <a:stretch/>
        </p:blipFill>
        <p:spPr>
          <a:xfrm>
            <a:off x="2362320" y="152280"/>
            <a:ext cx="3807720" cy="6306480"/>
          </a:xfrm>
          <a:prstGeom prst="rect">
            <a:avLst/>
          </a:prstGeom>
          <a:noFill/>
          <a:ln w="0">
            <a:noFill/>
          </a:ln>
        </p:spPr>
      </p:pic>
      <p:pic>
        <p:nvPicPr>
          <p:cNvPr id="255" name="Picture 20" descr="fig1205t.gif"/>
          <p:cNvPicPr/>
          <p:nvPr/>
        </p:nvPicPr>
        <p:blipFill>
          <a:blip r:embed="rId20"/>
          <a:stretch/>
        </p:blipFill>
        <p:spPr>
          <a:xfrm>
            <a:off x="2362320" y="152280"/>
            <a:ext cx="3807720" cy="6306480"/>
          </a:xfrm>
          <a:prstGeom prst="rect">
            <a:avLst/>
          </a:prstGeom>
          <a:noFill/>
          <a:ln w="0">
            <a:noFill/>
          </a:ln>
        </p:spPr>
      </p:pic>
    </p:spTree>
  </p:cSld>
  <p:transition spd="slow">
    <p:wipe dir="r"/>
  </p:transition>
  <p:timing>
    <p:tnLst>
      <p:par>
        <p:cTn id="511" dur="indefinite" restart="never" nodeType="tmRoot">
          <p:childTnLst>
            <p:seq>
              <p:cTn id="512" dur="indefinite" nodeType="mainSeq">
                <p:childTnLst>
                  <p:par>
                    <p:cTn id="513" nodeType="clickEffect" fill="hold">
                      <p:stCondLst>
                        <p:cond delay="indefinite"/>
                      </p:stCondLst>
                      <p:childTnLst>
                        <p:par>
                          <p:cTn id="514" nodeType="withEffect" fill="hold">
                            <p:stCondLst>
                              <p:cond delay="0"/>
                            </p:stCondLst>
                            <p:childTnLst>
                              <p:par>
                                <p:cTn id="515" nodeType="clickEffect" fill="hold" presetClass="entr" presetID="22" presetSubtype="4">
                                  <p:stCondLst>
                                    <p:cond delay="0"/>
                                  </p:stCondLst>
                                  <p:childTnLst>
                                    <p:set>
                                      <p:cBhvr>
                                        <p:cTn id="516" dur="1" fill="hold">
                                          <p:stCondLst>
                                            <p:cond delay="0"/>
                                          </p:stCondLst>
                                        </p:cTn>
                                        <p:tgtEl>
                                          <p:spTgt spid="237"/>
                                        </p:tgtEl>
                                        <p:attrNameLst>
                                          <p:attrName>style.visibility</p:attrName>
                                        </p:attrNameLst>
                                      </p:cBhvr>
                                      <p:to>
                                        <p:strVal val="visible"/>
                                      </p:to>
                                    </p:set>
                                    <p:animEffect filter="wipe(down)" transition="in">
                                      <p:cBhvr additive="repl">
                                        <p:cTn id="517" dur="1000"/>
                                        <p:tgtEl>
                                          <p:spTgt spid="237"/>
                                        </p:tgtEl>
                                      </p:cBhvr>
                                    </p:animEffect>
                                  </p:childTnLst>
                                </p:cTn>
                              </p:par>
                            </p:childTnLst>
                          </p:cTn>
                        </p:par>
                      </p:childTnLst>
                    </p:cTn>
                  </p:par>
                  <p:par>
                    <p:cTn id="518" nodeType="clickEffect" fill="hold">
                      <p:stCondLst>
                        <p:cond delay="indefinite"/>
                      </p:stCondLst>
                      <p:childTnLst>
                        <p:par>
                          <p:cTn id="519" nodeType="withEffect" fill="hold">
                            <p:stCondLst>
                              <p:cond delay="0"/>
                            </p:stCondLst>
                            <p:childTnLst>
                              <p:par>
                                <p:cTn id="520" nodeType="clickEffect" fill="hold" presetClass="entr" presetID="22" presetSubtype="4">
                                  <p:stCondLst>
                                    <p:cond delay="0"/>
                                  </p:stCondLst>
                                  <p:childTnLst>
                                    <p:set>
                                      <p:cBhvr>
                                        <p:cTn id="521" dur="1" fill="hold">
                                          <p:stCondLst>
                                            <p:cond delay="0"/>
                                          </p:stCondLst>
                                        </p:cTn>
                                        <p:tgtEl>
                                          <p:spTgt spid="238"/>
                                        </p:tgtEl>
                                        <p:attrNameLst>
                                          <p:attrName>style.visibility</p:attrName>
                                        </p:attrNameLst>
                                      </p:cBhvr>
                                      <p:to>
                                        <p:strVal val="visible"/>
                                      </p:to>
                                    </p:set>
                                    <p:animEffect filter="wipe(down)" transition="in">
                                      <p:cBhvr additive="repl">
                                        <p:cTn id="522" dur="1000"/>
                                        <p:tgtEl>
                                          <p:spTgt spid="238"/>
                                        </p:tgtEl>
                                      </p:cBhvr>
                                    </p:animEffect>
                                  </p:childTnLst>
                                </p:cTn>
                              </p:par>
                            </p:childTnLst>
                          </p:cTn>
                        </p:par>
                      </p:childTnLst>
                    </p:cTn>
                  </p:par>
                  <p:par>
                    <p:cTn id="523" nodeType="clickEffect" fill="hold">
                      <p:stCondLst>
                        <p:cond delay="indefinite"/>
                      </p:stCondLst>
                      <p:childTnLst>
                        <p:par>
                          <p:cTn id="524" nodeType="withEffect" fill="hold">
                            <p:stCondLst>
                              <p:cond delay="0"/>
                            </p:stCondLst>
                            <p:childTnLst>
                              <p:par>
                                <p:cTn id="525" nodeType="clickEffect" fill="hold" presetClass="entr" presetID="22" presetSubtype="4">
                                  <p:stCondLst>
                                    <p:cond delay="0"/>
                                  </p:stCondLst>
                                  <p:childTnLst>
                                    <p:set>
                                      <p:cBhvr>
                                        <p:cTn id="526" dur="1" fill="hold">
                                          <p:stCondLst>
                                            <p:cond delay="0"/>
                                          </p:stCondLst>
                                        </p:cTn>
                                        <p:tgtEl>
                                          <p:spTgt spid="239"/>
                                        </p:tgtEl>
                                        <p:attrNameLst>
                                          <p:attrName>style.visibility</p:attrName>
                                        </p:attrNameLst>
                                      </p:cBhvr>
                                      <p:to>
                                        <p:strVal val="visible"/>
                                      </p:to>
                                    </p:set>
                                    <p:animEffect filter="wipe(down)" transition="in">
                                      <p:cBhvr additive="repl">
                                        <p:cTn id="527" dur="1000"/>
                                        <p:tgtEl>
                                          <p:spTgt spid="239"/>
                                        </p:tgtEl>
                                      </p:cBhvr>
                                    </p:animEffect>
                                  </p:childTnLst>
                                </p:cTn>
                              </p:par>
                            </p:childTnLst>
                          </p:cTn>
                        </p:par>
                      </p:childTnLst>
                    </p:cTn>
                  </p:par>
                  <p:par>
                    <p:cTn id="528" nodeType="clickEffect" fill="hold">
                      <p:stCondLst>
                        <p:cond delay="indefinite"/>
                      </p:stCondLst>
                      <p:childTnLst>
                        <p:par>
                          <p:cTn id="529" nodeType="withEffect" fill="hold">
                            <p:stCondLst>
                              <p:cond delay="0"/>
                            </p:stCondLst>
                            <p:childTnLst>
                              <p:par>
                                <p:cTn id="530" nodeType="clickEffect" fill="hold" presetClass="entr" presetID="22" presetSubtype="4">
                                  <p:stCondLst>
                                    <p:cond delay="0"/>
                                  </p:stCondLst>
                                  <p:childTnLst>
                                    <p:set>
                                      <p:cBhvr>
                                        <p:cTn id="531" dur="1" fill="hold">
                                          <p:stCondLst>
                                            <p:cond delay="0"/>
                                          </p:stCondLst>
                                        </p:cTn>
                                        <p:tgtEl>
                                          <p:spTgt spid="240"/>
                                        </p:tgtEl>
                                        <p:attrNameLst>
                                          <p:attrName>style.visibility</p:attrName>
                                        </p:attrNameLst>
                                      </p:cBhvr>
                                      <p:to>
                                        <p:strVal val="visible"/>
                                      </p:to>
                                    </p:set>
                                    <p:animEffect filter="wipe(down)" transition="in">
                                      <p:cBhvr additive="repl">
                                        <p:cTn id="532" dur="1000"/>
                                        <p:tgtEl>
                                          <p:spTgt spid="240"/>
                                        </p:tgtEl>
                                      </p:cBhvr>
                                    </p:animEffect>
                                  </p:childTnLst>
                                </p:cTn>
                              </p:par>
                            </p:childTnLst>
                          </p:cTn>
                        </p:par>
                      </p:childTnLst>
                    </p:cTn>
                  </p:par>
                  <p:par>
                    <p:cTn id="533" nodeType="clickEffect" fill="hold">
                      <p:stCondLst>
                        <p:cond delay="indefinite"/>
                      </p:stCondLst>
                      <p:childTnLst>
                        <p:par>
                          <p:cTn id="534" nodeType="withEffect" fill="hold">
                            <p:stCondLst>
                              <p:cond delay="0"/>
                            </p:stCondLst>
                            <p:childTnLst>
                              <p:par>
                                <p:cTn id="535" nodeType="clickEffect" fill="hold" presetClass="entr" presetID="22" presetSubtype="4">
                                  <p:stCondLst>
                                    <p:cond delay="0"/>
                                  </p:stCondLst>
                                  <p:childTnLst>
                                    <p:set>
                                      <p:cBhvr>
                                        <p:cTn id="536" dur="1" fill="hold">
                                          <p:stCondLst>
                                            <p:cond delay="0"/>
                                          </p:stCondLst>
                                        </p:cTn>
                                        <p:tgtEl>
                                          <p:spTgt spid="241"/>
                                        </p:tgtEl>
                                        <p:attrNameLst>
                                          <p:attrName>style.visibility</p:attrName>
                                        </p:attrNameLst>
                                      </p:cBhvr>
                                      <p:to>
                                        <p:strVal val="visible"/>
                                      </p:to>
                                    </p:set>
                                    <p:animEffect filter="wipe(down)" transition="in">
                                      <p:cBhvr additive="repl">
                                        <p:cTn id="537" dur="1000"/>
                                        <p:tgtEl>
                                          <p:spTgt spid="241"/>
                                        </p:tgtEl>
                                      </p:cBhvr>
                                    </p:animEffect>
                                  </p:childTnLst>
                                </p:cTn>
                              </p:par>
                            </p:childTnLst>
                          </p:cTn>
                        </p:par>
                      </p:childTnLst>
                    </p:cTn>
                  </p:par>
                  <p:par>
                    <p:cTn id="538" nodeType="clickEffect" fill="hold">
                      <p:stCondLst>
                        <p:cond delay="indefinite"/>
                      </p:stCondLst>
                      <p:childTnLst>
                        <p:par>
                          <p:cTn id="539" nodeType="withEffect" fill="hold">
                            <p:stCondLst>
                              <p:cond delay="0"/>
                            </p:stCondLst>
                            <p:childTnLst>
                              <p:par>
                                <p:cTn id="540" nodeType="clickEffect" fill="hold" presetClass="entr" presetID="22" presetSubtype="4">
                                  <p:stCondLst>
                                    <p:cond delay="0"/>
                                  </p:stCondLst>
                                  <p:childTnLst>
                                    <p:set>
                                      <p:cBhvr>
                                        <p:cTn id="541" dur="1" fill="hold">
                                          <p:stCondLst>
                                            <p:cond delay="0"/>
                                          </p:stCondLst>
                                        </p:cTn>
                                        <p:tgtEl>
                                          <p:spTgt spid="242"/>
                                        </p:tgtEl>
                                        <p:attrNameLst>
                                          <p:attrName>style.visibility</p:attrName>
                                        </p:attrNameLst>
                                      </p:cBhvr>
                                      <p:to>
                                        <p:strVal val="visible"/>
                                      </p:to>
                                    </p:set>
                                    <p:animEffect filter="wipe(down)" transition="in">
                                      <p:cBhvr additive="repl">
                                        <p:cTn id="542" dur="1000"/>
                                        <p:tgtEl>
                                          <p:spTgt spid="242"/>
                                        </p:tgtEl>
                                      </p:cBhvr>
                                    </p:animEffect>
                                  </p:childTnLst>
                                </p:cTn>
                              </p:par>
                            </p:childTnLst>
                          </p:cTn>
                        </p:par>
                      </p:childTnLst>
                    </p:cTn>
                  </p:par>
                  <p:par>
                    <p:cTn id="543" nodeType="clickEffect" fill="hold">
                      <p:stCondLst>
                        <p:cond delay="indefinite"/>
                      </p:stCondLst>
                      <p:childTnLst>
                        <p:par>
                          <p:cTn id="544" nodeType="withEffect" fill="hold">
                            <p:stCondLst>
                              <p:cond delay="0"/>
                            </p:stCondLst>
                            <p:childTnLst>
                              <p:par>
                                <p:cTn id="545" nodeType="clickEffect" fill="hold" presetClass="entr" presetID="22" presetSubtype="4">
                                  <p:stCondLst>
                                    <p:cond delay="0"/>
                                  </p:stCondLst>
                                  <p:childTnLst>
                                    <p:set>
                                      <p:cBhvr>
                                        <p:cTn id="546" dur="1" fill="hold">
                                          <p:stCondLst>
                                            <p:cond delay="0"/>
                                          </p:stCondLst>
                                        </p:cTn>
                                        <p:tgtEl>
                                          <p:spTgt spid="243"/>
                                        </p:tgtEl>
                                        <p:attrNameLst>
                                          <p:attrName>style.visibility</p:attrName>
                                        </p:attrNameLst>
                                      </p:cBhvr>
                                      <p:to>
                                        <p:strVal val="visible"/>
                                      </p:to>
                                    </p:set>
                                    <p:animEffect filter="wipe(down)" transition="in">
                                      <p:cBhvr additive="repl">
                                        <p:cTn id="547" dur="1000"/>
                                        <p:tgtEl>
                                          <p:spTgt spid="243"/>
                                        </p:tgtEl>
                                      </p:cBhvr>
                                    </p:animEffect>
                                  </p:childTnLst>
                                </p:cTn>
                              </p:par>
                            </p:childTnLst>
                          </p:cTn>
                        </p:par>
                      </p:childTnLst>
                    </p:cTn>
                  </p:par>
                  <p:par>
                    <p:cTn id="548" nodeType="clickEffect" fill="hold">
                      <p:stCondLst>
                        <p:cond delay="indefinite"/>
                      </p:stCondLst>
                      <p:childTnLst>
                        <p:par>
                          <p:cTn id="549" nodeType="withEffect" fill="hold">
                            <p:stCondLst>
                              <p:cond delay="0"/>
                            </p:stCondLst>
                            <p:childTnLst>
                              <p:par>
                                <p:cTn id="550" nodeType="clickEffect" fill="hold" presetClass="entr" presetID="22" presetSubtype="4">
                                  <p:stCondLst>
                                    <p:cond delay="0"/>
                                  </p:stCondLst>
                                  <p:childTnLst>
                                    <p:set>
                                      <p:cBhvr>
                                        <p:cTn id="551" dur="1" fill="hold">
                                          <p:stCondLst>
                                            <p:cond delay="0"/>
                                          </p:stCondLst>
                                        </p:cTn>
                                        <p:tgtEl>
                                          <p:spTgt spid="244"/>
                                        </p:tgtEl>
                                        <p:attrNameLst>
                                          <p:attrName>style.visibility</p:attrName>
                                        </p:attrNameLst>
                                      </p:cBhvr>
                                      <p:to>
                                        <p:strVal val="visible"/>
                                      </p:to>
                                    </p:set>
                                    <p:animEffect filter="wipe(down)" transition="in">
                                      <p:cBhvr additive="repl">
                                        <p:cTn id="552" dur="1000"/>
                                        <p:tgtEl>
                                          <p:spTgt spid="244"/>
                                        </p:tgtEl>
                                      </p:cBhvr>
                                    </p:animEffect>
                                  </p:childTnLst>
                                </p:cTn>
                              </p:par>
                            </p:childTnLst>
                          </p:cTn>
                        </p:par>
                      </p:childTnLst>
                    </p:cTn>
                  </p:par>
                  <p:par>
                    <p:cTn id="553" nodeType="clickEffect" fill="hold">
                      <p:stCondLst>
                        <p:cond delay="indefinite"/>
                      </p:stCondLst>
                      <p:childTnLst>
                        <p:par>
                          <p:cTn id="554" nodeType="withEffect" fill="hold">
                            <p:stCondLst>
                              <p:cond delay="0"/>
                            </p:stCondLst>
                            <p:childTnLst>
                              <p:par>
                                <p:cTn id="555" nodeType="clickEffect" fill="hold" presetClass="entr" presetID="22" presetSubtype="4">
                                  <p:stCondLst>
                                    <p:cond delay="0"/>
                                  </p:stCondLst>
                                  <p:childTnLst>
                                    <p:set>
                                      <p:cBhvr>
                                        <p:cTn id="556" dur="1" fill="hold">
                                          <p:stCondLst>
                                            <p:cond delay="0"/>
                                          </p:stCondLst>
                                        </p:cTn>
                                        <p:tgtEl>
                                          <p:spTgt spid="245"/>
                                        </p:tgtEl>
                                        <p:attrNameLst>
                                          <p:attrName>style.visibility</p:attrName>
                                        </p:attrNameLst>
                                      </p:cBhvr>
                                      <p:to>
                                        <p:strVal val="visible"/>
                                      </p:to>
                                    </p:set>
                                    <p:animEffect filter="wipe(down)" transition="in">
                                      <p:cBhvr additive="repl">
                                        <p:cTn id="557" dur="1000"/>
                                        <p:tgtEl>
                                          <p:spTgt spid="245"/>
                                        </p:tgtEl>
                                      </p:cBhvr>
                                    </p:animEffect>
                                  </p:childTnLst>
                                </p:cTn>
                              </p:par>
                            </p:childTnLst>
                          </p:cTn>
                        </p:par>
                      </p:childTnLst>
                    </p:cTn>
                  </p:par>
                  <p:par>
                    <p:cTn id="558" nodeType="clickEffect" fill="hold">
                      <p:stCondLst>
                        <p:cond delay="indefinite"/>
                      </p:stCondLst>
                      <p:childTnLst>
                        <p:par>
                          <p:cTn id="559" nodeType="withEffect" fill="hold">
                            <p:stCondLst>
                              <p:cond delay="0"/>
                            </p:stCondLst>
                            <p:childTnLst>
                              <p:par>
                                <p:cTn id="560" nodeType="clickEffect" fill="hold" presetClass="entr" presetID="22" presetSubtype="4">
                                  <p:stCondLst>
                                    <p:cond delay="0"/>
                                  </p:stCondLst>
                                  <p:childTnLst>
                                    <p:set>
                                      <p:cBhvr>
                                        <p:cTn id="561" dur="1" fill="hold">
                                          <p:stCondLst>
                                            <p:cond delay="0"/>
                                          </p:stCondLst>
                                        </p:cTn>
                                        <p:tgtEl>
                                          <p:spTgt spid="246"/>
                                        </p:tgtEl>
                                        <p:attrNameLst>
                                          <p:attrName>style.visibility</p:attrName>
                                        </p:attrNameLst>
                                      </p:cBhvr>
                                      <p:to>
                                        <p:strVal val="visible"/>
                                      </p:to>
                                    </p:set>
                                    <p:animEffect filter="wipe(down)" transition="in">
                                      <p:cBhvr additive="repl">
                                        <p:cTn id="562" dur="1000"/>
                                        <p:tgtEl>
                                          <p:spTgt spid="246"/>
                                        </p:tgtEl>
                                      </p:cBhvr>
                                    </p:animEffect>
                                  </p:childTnLst>
                                </p:cTn>
                              </p:par>
                            </p:childTnLst>
                          </p:cTn>
                        </p:par>
                      </p:childTnLst>
                    </p:cTn>
                  </p:par>
                  <p:par>
                    <p:cTn id="563" nodeType="clickEffect" fill="hold">
                      <p:stCondLst>
                        <p:cond delay="indefinite"/>
                      </p:stCondLst>
                      <p:childTnLst>
                        <p:par>
                          <p:cTn id="564" nodeType="withEffect" fill="hold">
                            <p:stCondLst>
                              <p:cond delay="0"/>
                            </p:stCondLst>
                            <p:childTnLst>
                              <p:par>
                                <p:cTn id="565" nodeType="clickEffect" fill="hold" presetClass="entr" presetID="22" presetSubtype="4">
                                  <p:stCondLst>
                                    <p:cond delay="0"/>
                                  </p:stCondLst>
                                  <p:childTnLst>
                                    <p:set>
                                      <p:cBhvr>
                                        <p:cTn id="566" dur="1" fill="hold">
                                          <p:stCondLst>
                                            <p:cond delay="0"/>
                                          </p:stCondLst>
                                        </p:cTn>
                                        <p:tgtEl>
                                          <p:spTgt spid="247"/>
                                        </p:tgtEl>
                                        <p:attrNameLst>
                                          <p:attrName>style.visibility</p:attrName>
                                        </p:attrNameLst>
                                      </p:cBhvr>
                                      <p:to>
                                        <p:strVal val="visible"/>
                                      </p:to>
                                    </p:set>
                                    <p:animEffect filter="wipe(down)" transition="in">
                                      <p:cBhvr additive="repl">
                                        <p:cTn id="567" dur="1000"/>
                                        <p:tgtEl>
                                          <p:spTgt spid="247"/>
                                        </p:tgtEl>
                                      </p:cBhvr>
                                    </p:animEffect>
                                  </p:childTnLst>
                                </p:cTn>
                              </p:par>
                            </p:childTnLst>
                          </p:cTn>
                        </p:par>
                      </p:childTnLst>
                    </p:cTn>
                  </p:par>
                  <p:par>
                    <p:cTn id="568" nodeType="clickEffect" fill="hold">
                      <p:stCondLst>
                        <p:cond delay="indefinite"/>
                      </p:stCondLst>
                      <p:childTnLst>
                        <p:par>
                          <p:cTn id="569" nodeType="withEffect" fill="hold">
                            <p:stCondLst>
                              <p:cond delay="0"/>
                            </p:stCondLst>
                            <p:childTnLst>
                              <p:par>
                                <p:cTn id="570" nodeType="clickEffect" fill="hold" presetClass="entr" presetID="22" presetSubtype="4">
                                  <p:stCondLst>
                                    <p:cond delay="0"/>
                                  </p:stCondLst>
                                  <p:childTnLst>
                                    <p:set>
                                      <p:cBhvr>
                                        <p:cTn id="571" dur="1" fill="hold">
                                          <p:stCondLst>
                                            <p:cond delay="0"/>
                                          </p:stCondLst>
                                        </p:cTn>
                                        <p:tgtEl>
                                          <p:spTgt spid="248"/>
                                        </p:tgtEl>
                                        <p:attrNameLst>
                                          <p:attrName>style.visibility</p:attrName>
                                        </p:attrNameLst>
                                      </p:cBhvr>
                                      <p:to>
                                        <p:strVal val="visible"/>
                                      </p:to>
                                    </p:set>
                                    <p:animEffect filter="wipe(down)" transition="in">
                                      <p:cBhvr additive="repl">
                                        <p:cTn id="572" dur="1000"/>
                                        <p:tgtEl>
                                          <p:spTgt spid="248"/>
                                        </p:tgtEl>
                                      </p:cBhvr>
                                    </p:animEffect>
                                  </p:childTnLst>
                                </p:cTn>
                              </p:par>
                            </p:childTnLst>
                          </p:cTn>
                        </p:par>
                      </p:childTnLst>
                    </p:cTn>
                  </p:par>
                  <p:par>
                    <p:cTn id="573" nodeType="clickEffect" fill="hold">
                      <p:stCondLst>
                        <p:cond delay="indefinite"/>
                      </p:stCondLst>
                      <p:childTnLst>
                        <p:par>
                          <p:cTn id="574" nodeType="withEffect" fill="hold">
                            <p:stCondLst>
                              <p:cond delay="0"/>
                            </p:stCondLst>
                            <p:childTnLst>
                              <p:par>
                                <p:cTn id="575" nodeType="clickEffect" fill="hold" presetClass="entr" presetID="22" presetSubtype="4">
                                  <p:stCondLst>
                                    <p:cond delay="0"/>
                                  </p:stCondLst>
                                  <p:childTnLst>
                                    <p:set>
                                      <p:cBhvr>
                                        <p:cTn id="576" dur="1" fill="hold">
                                          <p:stCondLst>
                                            <p:cond delay="0"/>
                                          </p:stCondLst>
                                        </p:cTn>
                                        <p:tgtEl>
                                          <p:spTgt spid="249"/>
                                        </p:tgtEl>
                                        <p:attrNameLst>
                                          <p:attrName>style.visibility</p:attrName>
                                        </p:attrNameLst>
                                      </p:cBhvr>
                                      <p:to>
                                        <p:strVal val="visible"/>
                                      </p:to>
                                    </p:set>
                                    <p:animEffect filter="wipe(down)" transition="in">
                                      <p:cBhvr additive="repl">
                                        <p:cTn id="577" dur="1000"/>
                                        <p:tgtEl>
                                          <p:spTgt spid="249"/>
                                        </p:tgtEl>
                                      </p:cBhvr>
                                    </p:animEffect>
                                  </p:childTnLst>
                                </p:cTn>
                              </p:par>
                            </p:childTnLst>
                          </p:cTn>
                        </p:par>
                      </p:childTnLst>
                    </p:cTn>
                  </p:par>
                  <p:par>
                    <p:cTn id="578" nodeType="clickEffect" fill="hold">
                      <p:stCondLst>
                        <p:cond delay="indefinite"/>
                      </p:stCondLst>
                      <p:childTnLst>
                        <p:par>
                          <p:cTn id="579" nodeType="withEffect" fill="hold">
                            <p:stCondLst>
                              <p:cond delay="0"/>
                            </p:stCondLst>
                            <p:childTnLst>
                              <p:par>
                                <p:cTn id="580" nodeType="clickEffect" fill="hold" presetClass="entr" presetID="22" presetSubtype="4">
                                  <p:stCondLst>
                                    <p:cond delay="0"/>
                                  </p:stCondLst>
                                  <p:childTnLst>
                                    <p:set>
                                      <p:cBhvr>
                                        <p:cTn id="581" dur="1" fill="hold">
                                          <p:stCondLst>
                                            <p:cond delay="0"/>
                                          </p:stCondLst>
                                        </p:cTn>
                                        <p:tgtEl>
                                          <p:spTgt spid="250"/>
                                        </p:tgtEl>
                                        <p:attrNameLst>
                                          <p:attrName>style.visibility</p:attrName>
                                        </p:attrNameLst>
                                      </p:cBhvr>
                                      <p:to>
                                        <p:strVal val="visible"/>
                                      </p:to>
                                    </p:set>
                                    <p:animEffect filter="wipe(down)" transition="in">
                                      <p:cBhvr additive="repl">
                                        <p:cTn id="582" dur="1000"/>
                                        <p:tgtEl>
                                          <p:spTgt spid="250"/>
                                        </p:tgtEl>
                                      </p:cBhvr>
                                    </p:animEffect>
                                  </p:childTnLst>
                                </p:cTn>
                              </p:par>
                            </p:childTnLst>
                          </p:cTn>
                        </p:par>
                      </p:childTnLst>
                    </p:cTn>
                  </p:par>
                  <p:par>
                    <p:cTn id="583" nodeType="clickEffect" fill="hold">
                      <p:stCondLst>
                        <p:cond delay="indefinite"/>
                      </p:stCondLst>
                      <p:childTnLst>
                        <p:par>
                          <p:cTn id="584" nodeType="withEffect" fill="hold">
                            <p:stCondLst>
                              <p:cond delay="0"/>
                            </p:stCondLst>
                            <p:childTnLst>
                              <p:par>
                                <p:cTn id="585" nodeType="clickEffect" fill="hold" presetClass="entr" presetID="22" presetSubtype="4">
                                  <p:stCondLst>
                                    <p:cond delay="0"/>
                                  </p:stCondLst>
                                  <p:childTnLst>
                                    <p:set>
                                      <p:cBhvr>
                                        <p:cTn id="586" dur="1" fill="hold">
                                          <p:stCondLst>
                                            <p:cond delay="0"/>
                                          </p:stCondLst>
                                        </p:cTn>
                                        <p:tgtEl>
                                          <p:spTgt spid="251"/>
                                        </p:tgtEl>
                                        <p:attrNameLst>
                                          <p:attrName>style.visibility</p:attrName>
                                        </p:attrNameLst>
                                      </p:cBhvr>
                                      <p:to>
                                        <p:strVal val="visible"/>
                                      </p:to>
                                    </p:set>
                                    <p:animEffect filter="wipe(down)" transition="in">
                                      <p:cBhvr additive="repl">
                                        <p:cTn id="587" dur="1000"/>
                                        <p:tgtEl>
                                          <p:spTgt spid="251"/>
                                        </p:tgtEl>
                                      </p:cBhvr>
                                    </p:animEffect>
                                  </p:childTnLst>
                                </p:cTn>
                              </p:par>
                            </p:childTnLst>
                          </p:cTn>
                        </p:par>
                      </p:childTnLst>
                    </p:cTn>
                  </p:par>
                  <p:par>
                    <p:cTn id="588" nodeType="clickEffect" fill="hold">
                      <p:stCondLst>
                        <p:cond delay="indefinite"/>
                      </p:stCondLst>
                      <p:childTnLst>
                        <p:par>
                          <p:cTn id="589" nodeType="withEffect" fill="hold">
                            <p:stCondLst>
                              <p:cond delay="0"/>
                            </p:stCondLst>
                            <p:childTnLst>
                              <p:par>
                                <p:cTn id="590" nodeType="clickEffect" fill="hold" presetClass="entr" presetID="22" presetSubtype="4">
                                  <p:stCondLst>
                                    <p:cond delay="0"/>
                                  </p:stCondLst>
                                  <p:childTnLst>
                                    <p:set>
                                      <p:cBhvr>
                                        <p:cTn id="591" dur="1" fill="hold">
                                          <p:stCondLst>
                                            <p:cond delay="0"/>
                                          </p:stCondLst>
                                        </p:cTn>
                                        <p:tgtEl>
                                          <p:spTgt spid="252"/>
                                        </p:tgtEl>
                                        <p:attrNameLst>
                                          <p:attrName>style.visibility</p:attrName>
                                        </p:attrNameLst>
                                      </p:cBhvr>
                                      <p:to>
                                        <p:strVal val="visible"/>
                                      </p:to>
                                    </p:set>
                                    <p:animEffect filter="wipe(down)" transition="in">
                                      <p:cBhvr additive="repl">
                                        <p:cTn id="592" dur="1000"/>
                                        <p:tgtEl>
                                          <p:spTgt spid="252"/>
                                        </p:tgtEl>
                                      </p:cBhvr>
                                    </p:animEffect>
                                  </p:childTnLst>
                                </p:cTn>
                              </p:par>
                            </p:childTnLst>
                          </p:cTn>
                        </p:par>
                      </p:childTnLst>
                    </p:cTn>
                  </p:par>
                  <p:par>
                    <p:cTn id="593" nodeType="clickEffect" fill="hold">
                      <p:stCondLst>
                        <p:cond delay="indefinite"/>
                      </p:stCondLst>
                      <p:childTnLst>
                        <p:par>
                          <p:cTn id="594" nodeType="withEffect" fill="hold">
                            <p:stCondLst>
                              <p:cond delay="0"/>
                            </p:stCondLst>
                            <p:childTnLst>
                              <p:par>
                                <p:cTn id="595" nodeType="clickEffect" fill="hold" presetClass="entr" presetID="22" presetSubtype="4">
                                  <p:stCondLst>
                                    <p:cond delay="0"/>
                                  </p:stCondLst>
                                  <p:childTnLst>
                                    <p:set>
                                      <p:cBhvr>
                                        <p:cTn id="596" dur="1" fill="hold">
                                          <p:stCondLst>
                                            <p:cond delay="0"/>
                                          </p:stCondLst>
                                        </p:cTn>
                                        <p:tgtEl>
                                          <p:spTgt spid="253"/>
                                        </p:tgtEl>
                                        <p:attrNameLst>
                                          <p:attrName>style.visibility</p:attrName>
                                        </p:attrNameLst>
                                      </p:cBhvr>
                                      <p:to>
                                        <p:strVal val="visible"/>
                                      </p:to>
                                    </p:set>
                                    <p:animEffect filter="wipe(down)" transition="in">
                                      <p:cBhvr additive="repl">
                                        <p:cTn id="597" dur="1000"/>
                                        <p:tgtEl>
                                          <p:spTgt spid="253"/>
                                        </p:tgtEl>
                                      </p:cBhvr>
                                    </p:animEffect>
                                  </p:childTnLst>
                                </p:cTn>
                              </p:par>
                            </p:childTnLst>
                          </p:cTn>
                        </p:par>
                      </p:childTnLst>
                    </p:cTn>
                  </p:par>
                  <p:par>
                    <p:cTn id="598" nodeType="clickEffect" fill="hold">
                      <p:stCondLst>
                        <p:cond delay="indefinite"/>
                      </p:stCondLst>
                      <p:childTnLst>
                        <p:par>
                          <p:cTn id="599" nodeType="withEffect" fill="hold">
                            <p:stCondLst>
                              <p:cond delay="0"/>
                            </p:stCondLst>
                            <p:childTnLst>
                              <p:par>
                                <p:cTn id="600" nodeType="clickEffect" fill="hold" presetClass="entr" presetID="22" presetSubtype="4">
                                  <p:stCondLst>
                                    <p:cond delay="0"/>
                                  </p:stCondLst>
                                  <p:childTnLst>
                                    <p:set>
                                      <p:cBhvr>
                                        <p:cTn id="601" dur="1" fill="hold">
                                          <p:stCondLst>
                                            <p:cond delay="0"/>
                                          </p:stCondLst>
                                        </p:cTn>
                                        <p:tgtEl>
                                          <p:spTgt spid="254"/>
                                        </p:tgtEl>
                                        <p:attrNameLst>
                                          <p:attrName>style.visibility</p:attrName>
                                        </p:attrNameLst>
                                      </p:cBhvr>
                                      <p:to>
                                        <p:strVal val="visible"/>
                                      </p:to>
                                    </p:set>
                                    <p:animEffect filter="wipe(down)" transition="in">
                                      <p:cBhvr additive="repl">
                                        <p:cTn id="602" dur="1000"/>
                                        <p:tgtEl>
                                          <p:spTgt spid="254"/>
                                        </p:tgtEl>
                                      </p:cBhvr>
                                    </p:animEffect>
                                  </p:childTnLst>
                                </p:cTn>
                              </p:par>
                            </p:childTnLst>
                          </p:cTn>
                        </p:par>
                      </p:childTnLst>
                    </p:cTn>
                  </p:par>
                  <p:par>
                    <p:cTn id="603" nodeType="clickEffect" fill="hold">
                      <p:stCondLst>
                        <p:cond delay="indefinite"/>
                      </p:stCondLst>
                      <p:childTnLst>
                        <p:par>
                          <p:cTn id="604" nodeType="withEffect" fill="hold">
                            <p:stCondLst>
                              <p:cond delay="0"/>
                            </p:stCondLst>
                            <p:childTnLst>
                              <p:par>
                                <p:cTn id="605" nodeType="clickEffect" fill="hold" presetClass="entr" presetID="22" presetSubtype="8">
                                  <p:stCondLst>
                                    <p:cond delay="0"/>
                                  </p:stCondLst>
                                  <p:childTnLst>
                                    <p:set>
                                      <p:cBhvr>
                                        <p:cTn id="606" dur="1" fill="hold">
                                          <p:stCondLst>
                                            <p:cond delay="0"/>
                                          </p:stCondLst>
                                        </p:cTn>
                                        <p:tgtEl>
                                          <p:spTgt spid="255"/>
                                        </p:tgtEl>
                                        <p:attrNameLst>
                                          <p:attrName>style.visibility</p:attrName>
                                        </p:attrNameLst>
                                      </p:cBhvr>
                                      <p:to>
                                        <p:strVal val="visible"/>
                                      </p:to>
                                    </p:set>
                                    <p:animEffect filter="wipe(left)" transition="in">
                                      <p:cBhvr additive="repl">
                                        <p:cTn id="607" dur="1000"/>
                                        <p:tgtEl>
                                          <p:spTgt spid="2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6" name="Picture 1" descr="fig1205a.gif"/>
          <p:cNvPicPr/>
          <p:nvPr/>
        </p:nvPicPr>
        <p:blipFill>
          <a:blip r:embed="rId1"/>
          <a:stretch/>
        </p:blipFill>
        <p:spPr>
          <a:xfrm>
            <a:off x="5040360" y="1152360"/>
            <a:ext cx="3358440" cy="5562000"/>
          </a:xfrm>
          <a:prstGeom prst="rect">
            <a:avLst/>
          </a:prstGeom>
          <a:noFill/>
          <a:ln w="0">
            <a:noFill/>
          </a:ln>
        </p:spPr>
      </p:pic>
      <p:pic>
        <p:nvPicPr>
          <p:cNvPr id="257" name="Picture 2" descr="fig1205b.gif"/>
          <p:cNvPicPr/>
          <p:nvPr/>
        </p:nvPicPr>
        <p:blipFill>
          <a:blip r:embed="rId2"/>
          <a:stretch/>
        </p:blipFill>
        <p:spPr>
          <a:xfrm>
            <a:off x="5040360" y="1152360"/>
            <a:ext cx="3358440" cy="5562000"/>
          </a:xfrm>
          <a:prstGeom prst="rect">
            <a:avLst/>
          </a:prstGeom>
          <a:noFill/>
          <a:ln w="0">
            <a:noFill/>
          </a:ln>
        </p:spPr>
      </p:pic>
      <p:pic>
        <p:nvPicPr>
          <p:cNvPr id="258" name="Picture 3" descr="fig1205c.gif"/>
          <p:cNvPicPr/>
          <p:nvPr/>
        </p:nvPicPr>
        <p:blipFill>
          <a:blip r:embed="rId3"/>
          <a:stretch/>
        </p:blipFill>
        <p:spPr>
          <a:xfrm>
            <a:off x="5040360" y="1152360"/>
            <a:ext cx="3358440" cy="5562000"/>
          </a:xfrm>
          <a:prstGeom prst="rect">
            <a:avLst/>
          </a:prstGeom>
          <a:noFill/>
          <a:ln w="0">
            <a:noFill/>
          </a:ln>
        </p:spPr>
      </p:pic>
      <p:pic>
        <p:nvPicPr>
          <p:cNvPr id="259" name="Picture 4" descr="fig1205d.gif"/>
          <p:cNvPicPr/>
          <p:nvPr/>
        </p:nvPicPr>
        <p:blipFill>
          <a:blip r:embed="rId4"/>
          <a:stretch/>
        </p:blipFill>
        <p:spPr>
          <a:xfrm>
            <a:off x="5040360" y="1152360"/>
            <a:ext cx="3358440" cy="5562000"/>
          </a:xfrm>
          <a:prstGeom prst="rect">
            <a:avLst/>
          </a:prstGeom>
          <a:noFill/>
          <a:ln w="0">
            <a:noFill/>
          </a:ln>
        </p:spPr>
      </p:pic>
      <p:pic>
        <p:nvPicPr>
          <p:cNvPr id="260" name="Picture 5" descr="fig1205e.gif"/>
          <p:cNvPicPr/>
          <p:nvPr/>
        </p:nvPicPr>
        <p:blipFill>
          <a:blip r:embed="rId5"/>
          <a:stretch/>
        </p:blipFill>
        <p:spPr>
          <a:xfrm>
            <a:off x="5040360" y="1152360"/>
            <a:ext cx="3358440" cy="5562000"/>
          </a:xfrm>
          <a:prstGeom prst="rect">
            <a:avLst/>
          </a:prstGeom>
          <a:noFill/>
          <a:ln w="0">
            <a:noFill/>
          </a:ln>
        </p:spPr>
      </p:pic>
      <p:pic>
        <p:nvPicPr>
          <p:cNvPr id="261" name="Picture 6" descr="fig1205f.gif"/>
          <p:cNvPicPr/>
          <p:nvPr/>
        </p:nvPicPr>
        <p:blipFill>
          <a:blip r:embed="rId6"/>
          <a:stretch/>
        </p:blipFill>
        <p:spPr>
          <a:xfrm>
            <a:off x="5040360" y="1152360"/>
            <a:ext cx="3358440" cy="5562000"/>
          </a:xfrm>
          <a:prstGeom prst="rect">
            <a:avLst/>
          </a:prstGeom>
          <a:noFill/>
          <a:ln w="0">
            <a:noFill/>
          </a:ln>
        </p:spPr>
      </p:pic>
      <p:pic>
        <p:nvPicPr>
          <p:cNvPr id="262" name="Picture 7" descr="fig1205g.gif"/>
          <p:cNvPicPr/>
          <p:nvPr/>
        </p:nvPicPr>
        <p:blipFill>
          <a:blip r:embed="rId7"/>
          <a:stretch/>
        </p:blipFill>
        <p:spPr>
          <a:xfrm>
            <a:off x="5040360" y="1152360"/>
            <a:ext cx="3358440" cy="5562000"/>
          </a:xfrm>
          <a:prstGeom prst="rect">
            <a:avLst/>
          </a:prstGeom>
          <a:noFill/>
          <a:ln w="0">
            <a:noFill/>
          </a:ln>
        </p:spPr>
      </p:pic>
      <p:pic>
        <p:nvPicPr>
          <p:cNvPr id="263" name="Picture 8" descr="fig1205h.gif"/>
          <p:cNvPicPr/>
          <p:nvPr/>
        </p:nvPicPr>
        <p:blipFill>
          <a:blip r:embed="rId8"/>
          <a:stretch/>
        </p:blipFill>
        <p:spPr>
          <a:xfrm>
            <a:off x="5040360" y="1152360"/>
            <a:ext cx="3358440" cy="5562000"/>
          </a:xfrm>
          <a:prstGeom prst="rect">
            <a:avLst/>
          </a:prstGeom>
          <a:noFill/>
          <a:ln w="0">
            <a:noFill/>
          </a:ln>
        </p:spPr>
      </p:pic>
      <p:pic>
        <p:nvPicPr>
          <p:cNvPr id="264" name="Picture 9" descr="fig1205i.gif"/>
          <p:cNvPicPr/>
          <p:nvPr/>
        </p:nvPicPr>
        <p:blipFill>
          <a:blip r:embed="rId9"/>
          <a:stretch/>
        </p:blipFill>
        <p:spPr>
          <a:xfrm>
            <a:off x="5040360" y="1152360"/>
            <a:ext cx="3358440" cy="5562000"/>
          </a:xfrm>
          <a:prstGeom prst="rect">
            <a:avLst/>
          </a:prstGeom>
          <a:noFill/>
          <a:ln w="0">
            <a:noFill/>
          </a:ln>
        </p:spPr>
      </p:pic>
      <p:pic>
        <p:nvPicPr>
          <p:cNvPr id="265" name="Picture 10" descr="fig1205j.gif"/>
          <p:cNvPicPr/>
          <p:nvPr/>
        </p:nvPicPr>
        <p:blipFill>
          <a:blip r:embed="rId10"/>
          <a:stretch/>
        </p:blipFill>
        <p:spPr>
          <a:xfrm>
            <a:off x="5040360" y="1152360"/>
            <a:ext cx="3358440" cy="5562000"/>
          </a:xfrm>
          <a:prstGeom prst="rect">
            <a:avLst/>
          </a:prstGeom>
          <a:noFill/>
          <a:ln w="0">
            <a:noFill/>
          </a:ln>
        </p:spPr>
      </p:pic>
      <p:pic>
        <p:nvPicPr>
          <p:cNvPr id="266" name="Picture 11" descr="fig1205k.gif"/>
          <p:cNvPicPr/>
          <p:nvPr/>
        </p:nvPicPr>
        <p:blipFill>
          <a:blip r:embed="rId11"/>
          <a:stretch/>
        </p:blipFill>
        <p:spPr>
          <a:xfrm>
            <a:off x="5040360" y="1152360"/>
            <a:ext cx="3358440" cy="5562000"/>
          </a:xfrm>
          <a:prstGeom prst="rect">
            <a:avLst/>
          </a:prstGeom>
          <a:noFill/>
          <a:ln w="0">
            <a:noFill/>
          </a:ln>
        </p:spPr>
      </p:pic>
      <p:pic>
        <p:nvPicPr>
          <p:cNvPr id="267" name="Picture 12" descr="fig1205l.gif"/>
          <p:cNvPicPr/>
          <p:nvPr/>
        </p:nvPicPr>
        <p:blipFill>
          <a:blip r:embed="rId12"/>
          <a:stretch/>
        </p:blipFill>
        <p:spPr>
          <a:xfrm>
            <a:off x="5040360" y="1152360"/>
            <a:ext cx="3358440" cy="5562000"/>
          </a:xfrm>
          <a:prstGeom prst="rect">
            <a:avLst/>
          </a:prstGeom>
          <a:noFill/>
          <a:ln w="0">
            <a:noFill/>
          </a:ln>
        </p:spPr>
      </p:pic>
      <p:pic>
        <p:nvPicPr>
          <p:cNvPr id="268" name="Picture 13" descr="fig1205m.gif"/>
          <p:cNvPicPr/>
          <p:nvPr/>
        </p:nvPicPr>
        <p:blipFill>
          <a:blip r:embed="rId13"/>
          <a:stretch/>
        </p:blipFill>
        <p:spPr>
          <a:xfrm>
            <a:off x="5040360" y="1152360"/>
            <a:ext cx="3358440" cy="5562000"/>
          </a:xfrm>
          <a:prstGeom prst="rect">
            <a:avLst/>
          </a:prstGeom>
          <a:noFill/>
          <a:ln w="0">
            <a:noFill/>
          </a:ln>
        </p:spPr>
      </p:pic>
      <p:pic>
        <p:nvPicPr>
          <p:cNvPr id="269" name="Picture 14" descr="fig1205n.gif"/>
          <p:cNvPicPr/>
          <p:nvPr/>
        </p:nvPicPr>
        <p:blipFill>
          <a:blip r:embed="rId14"/>
          <a:stretch/>
        </p:blipFill>
        <p:spPr>
          <a:xfrm>
            <a:off x="5040360" y="1152360"/>
            <a:ext cx="3358440" cy="5562000"/>
          </a:xfrm>
          <a:prstGeom prst="rect">
            <a:avLst/>
          </a:prstGeom>
          <a:noFill/>
          <a:ln w="0">
            <a:noFill/>
          </a:ln>
        </p:spPr>
      </p:pic>
      <p:pic>
        <p:nvPicPr>
          <p:cNvPr id="270" name="Picture 15" descr="fig1205o.gif"/>
          <p:cNvPicPr/>
          <p:nvPr/>
        </p:nvPicPr>
        <p:blipFill>
          <a:blip r:embed="rId15"/>
          <a:stretch/>
        </p:blipFill>
        <p:spPr>
          <a:xfrm>
            <a:off x="5040360" y="1152360"/>
            <a:ext cx="3358440" cy="5562000"/>
          </a:xfrm>
          <a:prstGeom prst="rect">
            <a:avLst/>
          </a:prstGeom>
          <a:noFill/>
          <a:ln w="0">
            <a:noFill/>
          </a:ln>
        </p:spPr>
      </p:pic>
      <p:pic>
        <p:nvPicPr>
          <p:cNvPr id="271" name="Picture 16" descr="fig1205p.gif"/>
          <p:cNvPicPr/>
          <p:nvPr/>
        </p:nvPicPr>
        <p:blipFill>
          <a:blip r:embed="rId16"/>
          <a:stretch/>
        </p:blipFill>
        <p:spPr>
          <a:xfrm>
            <a:off x="5040360" y="1152360"/>
            <a:ext cx="3358440" cy="5562000"/>
          </a:xfrm>
          <a:prstGeom prst="rect">
            <a:avLst/>
          </a:prstGeom>
          <a:noFill/>
          <a:ln w="0">
            <a:noFill/>
          </a:ln>
        </p:spPr>
      </p:pic>
      <p:pic>
        <p:nvPicPr>
          <p:cNvPr id="272" name="Picture 17" descr="fig1205q.gif"/>
          <p:cNvPicPr/>
          <p:nvPr/>
        </p:nvPicPr>
        <p:blipFill>
          <a:blip r:embed="rId17"/>
          <a:stretch/>
        </p:blipFill>
        <p:spPr>
          <a:xfrm>
            <a:off x="5040360" y="1152360"/>
            <a:ext cx="3358440" cy="5562000"/>
          </a:xfrm>
          <a:prstGeom prst="rect">
            <a:avLst/>
          </a:prstGeom>
          <a:noFill/>
          <a:ln w="0">
            <a:noFill/>
          </a:ln>
        </p:spPr>
      </p:pic>
      <p:pic>
        <p:nvPicPr>
          <p:cNvPr id="273" name="Picture 18" descr="fig1205r.gif"/>
          <p:cNvPicPr/>
          <p:nvPr/>
        </p:nvPicPr>
        <p:blipFill>
          <a:blip r:embed="rId18"/>
          <a:stretch/>
        </p:blipFill>
        <p:spPr>
          <a:xfrm>
            <a:off x="5040360" y="1152360"/>
            <a:ext cx="3358440" cy="5562000"/>
          </a:xfrm>
          <a:prstGeom prst="rect">
            <a:avLst/>
          </a:prstGeom>
          <a:noFill/>
          <a:ln w="0">
            <a:noFill/>
          </a:ln>
        </p:spPr>
      </p:pic>
      <p:pic>
        <p:nvPicPr>
          <p:cNvPr id="274" name="Picture 19" descr="fig1205s.gif"/>
          <p:cNvPicPr/>
          <p:nvPr/>
        </p:nvPicPr>
        <p:blipFill>
          <a:blip r:embed="rId19"/>
          <a:stretch/>
        </p:blipFill>
        <p:spPr>
          <a:xfrm>
            <a:off x="5040360" y="1152360"/>
            <a:ext cx="3358440" cy="5562000"/>
          </a:xfrm>
          <a:prstGeom prst="rect">
            <a:avLst/>
          </a:prstGeom>
          <a:noFill/>
          <a:ln w="0">
            <a:noFill/>
          </a:ln>
        </p:spPr>
      </p:pic>
      <p:pic>
        <p:nvPicPr>
          <p:cNvPr id="275" name="Picture 20" descr="fig1205t.gif"/>
          <p:cNvPicPr/>
          <p:nvPr/>
        </p:nvPicPr>
        <p:blipFill>
          <a:blip r:embed="rId20"/>
          <a:stretch/>
        </p:blipFill>
        <p:spPr>
          <a:xfrm>
            <a:off x="5040360" y="1152360"/>
            <a:ext cx="3358440" cy="5562000"/>
          </a:xfrm>
          <a:prstGeom prst="rect">
            <a:avLst/>
          </a:prstGeom>
          <a:noFill/>
          <a:ln w="0">
            <a:noFill/>
          </a:ln>
        </p:spPr>
      </p:pic>
      <p:sp>
        <p:nvSpPr>
          <p:cNvPr id="276"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13.2  MARGINAL UTILITY THEORY</a:t>
            </a:r>
            <a:endParaRPr b="0" lang="en-US" sz="2600" strike="noStrike" u="none">
              <a:solidFill>
                <a:srgbClr val="000000"/>
              </a:solidFill>
              <a:effectLst/>
              <a:uFillTx/>
              <a:latin typeface="Arial"/>
            </a:endParaRPr>
          </a:p>
        </p:txBody>
      </p:sp>
      <p:sp>
        <p:nvSpPr>
          <p:cNvPr id="277" name="PlaceHolder 2"/>
          <p:cNvSpPr>
            <a:spLocks noGrp="1"/>
          </p:cNvSpPr>
          <p:nvPr>
            <p:ph/>
          </p:nvPr>
        </p:nvSpPr>
        <p:spPr>
          <a:xfrm>
            <a:off x="360360" y="1440000"/>
            <a:ext cx="443952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Part (b) shows how Tina’s marginal utility from bottled water diminishes by placing the bars shown in part (a) side by side as a series of declining steps.</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downward sloping blue line is Tina’s marginal utility curve.</a:t>
            </a:r>
            <a:endParaRPr b="0" lang="en-US" sz="2400" strike="noStrike" u="none">
              <a:solidFill>
                <a:srgbClr val="000000"/>
              </a:solidFill>
              <a:effectLst/>
              <a:uFillTx/>
              <a:latin typeface="Arial"/>
            </a:endParaRPr>
          </a:p>
        </p:txBody>
      </p:sp>
    </p:spTree>
  </p:cSld>
  <p:transition spd="slow">
    <p:wipe dir="r"/>
  </p:transition>
  <p:timing>
    <p:tnLst>
      <p:par>
        <p:cTn id="608" dur="indefinite" restart="never" nodeType="tmRoot">
          <p:childTnLst>
            <p:seq>
              <p:cTn id="609" dur="indefinite" nodeType="mainSeq">
                <p:childTnLst>
                  <p:par>
                    <p:cTn id="610" nodeType="clickEffect" fill="hold">
                      <p:stCondLst>
                        <p:cond delay="0"/>
                      </p:stCondLst>
                      <p:childTnLst>
                        <p:par>
                          <p:cTn id="611" nodeType="withEffect" fill="hold">
                            <p:stCondLst>
                              <p:cond delay="0"/>
                            </p:stCondLst>
                            <p:childTnLst>
                              <p:par>
                                <p:cTn id="612" nodeType="withEffect" fill="hold" presetClass="entr" presetID="22" presetSubtype="4">
                                  <p:stCondLst>
                                    <p:cond delay="0"/>
                                  </p:stCondLst>
                                  <p:childTnLst>
                                    <p:set>
                                      <p:cBhvr>
                                        <p:cTn id="613" dur="1" fill="hold">
                                          <p:stCondLst>
                                            <p:cond delay="0"/>
                                          </p:stCondLst>
                                        </p:cTn>
                                        <p:tgtEl>
                                          <p:spTgt spid="267"/>
                                        </p:tgtEl>
                                        <p:attrNameLst>
                                          <p:attrName>style.visibility</p:attrName>
                                        </p:attrNameLst>
                                      </p:cBhvr>
                                      <p:to>
                                        <p:strVal val="visible"/>
                                      </p:to>
                                    </p:set>
                                    <p:animEffect filter="wipe(down)" transition="in">
                                      <p:cBhvr additive="repl">
                                        <p:cTn id="614" dur="1000"/>
                                        <p:tgtEl>
                                          <p:spTgt spid="267"/>
                                        </p:tgtEl>
                                      </p:cBhvr>
                                    </p:animEffect>
                                  </p:childTnLst>
                                </p:cTn>
                              </p:par>
                              <p:par>
                                <p:cTn id="615" nodeType="withEffect" fill="hold" presetClass="entr" presetID="22" presetSubtype="4">
                                  <p:stCondLst>
                                    <p:cond delay="600"/>
                                  </p:stCondLst>
                                  <p:childTnLst>
                                    <p:set>
                                      <p:cBhvr>
                                        <p:cTn id="616" dur="1" fill="hold">
                                          <p:stCondLst>
                                            <p:cond delay="0"/>
                                          </p:stCondLst>
                                        </p:cTn>
                                        <p:tgtEl>
                                          <p:spTgt spid="268"/>
                                        </p:tgtEl>
                                        <p:attrNameLst>
                                          <p:attrName>style.visibility</p:attrName>
                                        </p:attrNameLst>
                                      </p:cBhvr>
                                      <p:to>
                                        <p:strVal val="visible"/>
                                      </p:to>
                                    </p:set>
                                    <p:animEffect filter="wipe(down)" transition="in">
                                      <p:cBhvr additive="repl">
                                        <p:cTn id="617" dur="1000"/>
                                        <p:tgtEl>
                                          <p:spTgt spid="268"/>
                                        </p:tgtEl>
                                      </p:cBhvr>
                                    </p:animEffect>
                                  </p:childTnLst>
                                </p:cTn>
                              </p:par>
                              <p:par>
                                <p:cTn id="618" nodeType="withEffect" fill="hold" presetClass="entr" presetID="22" presetSubtype="4">
                                  <p:stCondLst>
                                    <p:cond delay="1100"/>
                                  </p:stCondLst>
                                  <p:childTnLst>
                                    <p:set>
                                      <p:cBhvr>
                                        <p:cTn id="619" dur="1" fill="hold">
                                          <p:stCondLst>
                                            <p:cond delay="0"/>
                                          </p:stCondLst>
                                        </p:cTn>
                                        <p:tgtEl>
                                          <p:spTgt spid="269"/>
                                        </p:tgtEl>
                                        <p:attrNameLst>
                                          <p:attrName>style.visibility</p:attrName>
                                        </p:attrNameLst>
                                      </p:cBhvr>
                                      <p:to>
                                        <p:strVal val="visible"/>
                                      </p:to>
                                    </p:set>
                                    <p:animEffect filter="wipe(down)" transition="in">
                                      <p:cBhvr additive="repl">
                                        <p:cTn id="620" dur="1000"/>
                                        <p:tgtEl>
                                          <p:spTgt spid="269"/>
                                        </p:tgtEl>
                                      </p:cBhvr>
                                    </p:animEffect>
                                  </p:childTnLst>
                                </p:cTn>
                              </p:par>
                              <p:par>
                                <p:cTn id="621" nodeType="withEffect" fill="hold" presetClass="entr" presetID="22" presetSubtype="4">
                                  <p:stCondLst>
                                    <p:cond delay="1700"/>
                                  </p:stCondLst>
                                  <p:childTnLst>
                                    <p:set>
                                      <p:cBhvr>
                                        <p:cTn id="622" dur="1" fill="hold">
                                          <p:stCondLst>
                                            <p:cond delay="0"/>
                                          </p:stCondLst>
                                        </p:cTn>
                                        <p:tgtEl>
                                          <p:spTgt spid="270"/>
                                        </p:tgtEl>
                                        <p:attrNameLst>
                                          <p:attrName>style.visibility</p:attrName>
                                        </p:attrNameLst>
                                      </p:cBhvr>
                                      <p:to>
                                        <p:strVal val="visible"/>
                                      </p:to>
                                    </p:set>
                                    <p:animEffect filter="wipe(down)" transition="in">
                                      <p:cBhvr additive="repl">
                                        <p:cTn id="623" dur="1000"/>
                                        <p:tgtEl>
                                          <p:spTgt spid="270"/>
                                        </p:tgtEl>
                                      </p:cBhvr>
                                    </p:animEffect>
                                  </p:childTnLst>
                                </p:cTn>
                              </p:par>
                              <p:par>
                                <p:cTn id="624" nodeType="withEffect" fill="hold" presetClass="entr" presetID="22" presetSubtype="4">
                                  <p:stCondLst>
                                    <p:cond delay="2300"/>
                                  </p:stCondLst>
                                  <p:childTnLst>
                                    <p:set>
                                      <p:cBhvr>
                                        <p:cTn id="625" dur="1" fill="hold">
                                          <p:stCondLst>
                                            <p:cond delay="0"/>
                                          </p:stCondLst>
                                        </p:cTn>
                                        <p:tgtEl>
                                          <p:spTgt spid="271"/>
                                        </p:tgtEl>
                                        <p:attrNameLst>
                                          <p:attrName>style.visibility</p:attrName>
                                        </p:attrNameLst>
                                      </p:cBhvr>
                                      <p:to>
                                        <p:strVal val="visible"/>
                                      </p:to>
                                    </p:set>
                                    <p:animEffect filter="wipe(down)" transition="in">
                                      <p:cBhvr additive="repl">
                                        <p:cTn id="626" dur="1000"/>
                                        <p:tgtEl>
                                          <p:spTgt spid="271"/>
                                        </p:tgtEl>
                                      </p:cBhvr>
                                    </p:animEffect>
                                  </p:childTnLst>
                                </p:cTn>
                              </p:par>
                              <p:par>
                                <p:cTn id="627" nodeType="withEffect" fill="hold" presetClass="entr" presetID="22" presetSubtype="4">
                                  <p:stCondLst>
                                    <p:cond delay="2900"/>
                                  </p:stCondLst>
                                  <p:childTnLst>
                                    <p:set>
                                      <p:cBhvr>
                                        <p:cTn id="628" dur="1" fill="hold">
                                          <p:stCondLst>
                                            <p:cond delay="0"/>
                                          </p:stCondLst>
                                        </p:cTn>
                                        <p:tgtEl>
                                          <p:spTgt spid="272"/>
                                        </p:tgtEl>
                                        <p:attrNameLst>
                                          <p:attrName>style.visibility</p:attrName>
                                        </p:attrNameLst>
                                      </p:cBhvr>
                                      <p:to>
                                        <p:strVal val="visible"/>
                                      </p:to>
                                    </p:set>
                                    <p:animEffect filter="wipe(down)" transition="in">
                                      <p:cBhvr additive="repl">
                                        <p:cTn id="629" dur="1000"/>
                                        <p:tgtEl>
                                          <p:spTgt spid="272"/>
                                        </p:tgtEl>
                                      </p:cBhvr>
                                    </p:animEffect>
                                  </p:childTnLst>
                                </p:cTn>
                              </p:par>
                              <p:par>
                                <p:cTn id="630" nodeType="withEffect" fill="hold" presetClass="entr" presetID="22" presetSubtype="4">
                                  <p:stCondLst>
                                    <p:cond delay="3500"/>
                                  </p:stCondLst>
                                  <p:childTnLst>
                                    <p:set>
                                      <p:cBhvr>
                                        <p:cTn id="631" dur="1" fill="hold">
                                          <p:stCondLst>
                                            <p:cond delay="0"/>
                                          </p:stCondLst>
                                        </p:cTn>
                                        <p:tgtEl>
                                          <p:spTgt spid="273"/>
                                        </p:tgtEl>
                                        <p:attrNameLst>
                                          <p:attrName>style.visibility</p:attrName>
                                        </p:attrNameLst>
                                      </p:cBhvr>
                                      <p:to>
                                        <p:strVal val="visible"/>
                                      </p:to>
                                    </p:set>
                                    <p:animEffect filter="wipe(down)" transition="in">
                                      <p:cBhvr additive="repl">
                                        <p:cTn id="632" dur="1000"/>
                                        <p:tgtEl>
                                          <p:spTgt spid="273"/>
                                        </p:tgtEl>
                                      </p:cBhvr>
                                    </p:animEffect>
                                  </p:childTnLst>
                                </p:cTn>
                              </p:par>
                              <p:par>
                                <p:cTn id="633" nodeType="withEffect" fill="hold" presetClass="entr" presetID="22" presetSubtype="4">
                                  <p:stCondLst>
                                    <p:cond delay="4100"/>
                                  </p:stCondLst>
                                  <p:childTnLst>
                                    <p:set>
                                      <p:cBhvr>
                                        <p:cTn id="634" dur="1" fill="hold">
                                          <p:stCondLst>
                                            <p:cond delay="0"/>
                                          </p:stCondLst>
                                        </p:cTn>
                                        <p:tgtEl>
                                          <p:spTgt spid="274"/>
                                        </p:tgtEl>
                                        <p:attrNameLst>
                                          <p:attrName>style.visibility</p:attrName>
                                        </p:attrNameLst>
                                      </p:cBhvr>
                                      <p:to>
                                        <p:strVal val="visible"/>
                                      </p:to>
                                    </p:set>
                                    <p:animEffect filter="wipe(down)" transition="in">
                                      <p:cBhvr additive="repl">
                                        <p:cTn id="635" dur="1000"/>
                                        <p:tgtEl>
                                          <p:spTgt spid="274"/>
                                        </p:tgtEl>
                                      </p:cBhvr>
                                    </p:animEffect>
                                  </p:childTnLst>
                                </p:cTn>
                              </p:par>
                            </p:childTnLst>
                          </p:cTn>
                        </p:par>
                      </p:childTnLst>
                    </p:cTn>
                  </p:par>
                  <p:par>
                    <p:cTn id="636" nodeType="clickEffect" fill="hold">
                      <p:stCondLst>
                        <p:cond delay="indefinite"/>
                      </p:stCondLst>
                      <p:childTnLst>
                        <p:par>
                          <p:cTn id="637" nodeType="withEffect" fill="hold">
                            <p:stCondLst>
                              <p:cond delay="0"/>
                            </p:stCondLst>
                            <p:childTnLst>
                              <p:par>
                                <p:cTn id="638" nodeType="clickEffect" fill="hold" presetClass="entr" presetID="22" presetSubtype="8">
                                  <p:stCondLst>
                                    <p:cond delay="0"/>
                                  </p:stCondLst>
                                  <p:childTnLst>
                                    <p:set>
                                      <p:cBhvr>
                                        <p:cTn id="639" dur="1" fill="hold">
                                          <p:stCondLst>
                                            <p:cond delay="0"/>
                                          </p:stCondLst>
                                        </p:cTn>
                                        <p:tgtEl>
                                          <p:spTgt spid="277">
                                            <p:txEl>
                                              <p:pRg st="1" end="1"/>
                                            </p:txEl>
                                          </p:spTgt>
                                        </p:tgtEl>
                                        <p:attrNameLst>
                                          <p:attrName>style.visibility</p:attrName>
                                        </p:attrNameLst>
                                      </p:cBhvr>
                                      <p:to>
                                        <p:strVal val="visible"/>
                                      </p:to>
                                    </p:set>
                                    <p:animEffect filter="wipe(left)" transition="in">
                                      <p:cBhvr additive="repl">
                                        <p:cTn id="640" dur="500"/>
                                        <p:tgtEl>
                                          <p:spTgt spid="277">
                                            <p:txEl>
                                              <p:pRg st="1" end="1"/>
                                            </p:txEl>
                                          </p:spTgt>
                                        </p:tgtEl>
                                      </p:cBhvr>
                                    </p:animEffect>
                                  </p:childTnLst>
                                </p:cTn>
                              </p:par>
                              <p:par>
                                <p:cTn id="641" nodeType="withEffect" fill="hold" presetClass="entr" presetID="22" presetSubtype="8">
                                  <p:stCondLst>
                                    <p:cond delay="0"/>
                                  </p:stCondLst>
                                  <p:childTnLst>
                                    <p:set>
                                      <p:cBhvr>
                                        <p:cTn id="642" dur="1" fill="hold">
                                          <p:stCondLst>
                                            <p:cond delay="0"/>
                                          </p:stCondLst>
                                        </p:cTn>
                                        <p:tgtEl>
                                          <p:spTgt spid="275"/>
                                        </p:tgtEl>
                                        <p:attrNameLst>
                                          <p:attrName>style.visibility</p:attrName>
                                        </p:attrNameLst>
                                      </p:cBhvr>
                                      <p:to>
                                        <p:strVal val="visible"/>
                                      </p:to>
                                    </p:set>
                                    <p:animEffect filter="wipe(left)" transition="in">
                                      <p:cBhvr additive="repl">
                                        <p:cTn id="643" dur="1000"/>
                                        <p:tgtEl>
                                          <p:spTgt spid="2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13.2  MARGINAL UTILITY THEORY</a:t>
            </a:r>
            <a:endParaRPr b="0" lang="en-US" sz="2600" strike="noStrike" u="none">
              <a:solidFill>
                <a:srgbClr val="000000"/>
              </a:solidFill>
              <a:effectLst/>
              <a:uFillTx/>
              <a:latin typeface="Arial"/>
            </a:endParaRPr>
          </a:p>
        </p:txBody>
      </p:sp>
      <p:sp>
        <p:nvSpPr>
          <p:cNvPr id="279"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Maximizing Total Utility </a:t>
            </a:r>
            <a:endParaRPr b="0" lang="en-US" sz="28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goal of a consumer is to allocate the available budget in a way that maximizes total utility. </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consumer achieves this goal by choosing the point on the budget line at which the sum</a:t>
            </a:r>
            <a:r>
              <a:rPr b="0" lang="en-US" sz="2400" strike="noStrike" u="none">
                <a:solidFill>
                  <a:srgbClr val="000000"/>
                </a:solidFill>
                <a:effectLst/>
                <a:uFillTx/>
                <a:latin typeface="Palatino-Roman"/>
                <a:ea typeface="ＭＳ Ｐゴシック"/>
              </a:rPr>
              <a:t> </a:t>
            </a:r>
            <a:r>
              <a:rPr b="0" lang="en-US" sz="2400" strike="noStrike" u="none">
                <a:solidFill>
                  <a:srgbClr val="000000"/>
                </a:solidFill>
                <a:effectLst/>
                <a:uFillTx/>
                <a:latin typeface="Arial"/>
                <a:ea typeface="ＭＳ Ｐゴシック"/>
              </a:rPr>
              <a:t>of the utilities obtained from all goods is as large as possible.</a:t>
            </a:r>
            <a:endParaRPr b="0" lang="en-US" sz="2400" strike="noStrike" u="none">
              <a:solidFill>
                <a:srgbClr val="000000"/>
              </a:solidFill>
              <a:effectLst/>
              <a:uFillTx/>
              <a:latin typeface="Arial"/>
            </a:endParaRPr>
          </a:p>
        </p:txBody>
      </p:sp>
    </p:spTree>
  </p:cSld>
  <p:transition spd="slow">
    <p:wipe dir="r"/>
  </p:transition>
  <p:timing>
    <p:tnLst>
      <p:par>
        <p:cTn id="644" dur="indefinite" restart="never" nodeType="tmRoot">
          <p:childTnLst>
            <p:seq>
              <p:cTn id="645" dur="indefinite" nodeType="mainSeq">
                <p:childTnLst>
                  <p:par>
                    <p:cTn id="646" nodeType="clickEffect" fill="hold">
                      <p:stCondLst>
                        <p:cond delay="indefinite"/>
                      </p:stCondLst>
                      <p:childTnLst>
                        <p:par>
                          <p:cTn id="647" nodeType="withEffect" fill="hold">
                            <p:stCondLst>
                              <p:cond delay="0"/>
                            </p:stCondLst>
                            <p:childTnLst>
                              <p:par>
                                <p:cTn id="648" nodeType="clickEffect" fill="hold" presetClass="entr" presetID="22" presetSubtype="8">
                                  <p:stCondLst>
                                    <p:cond delay="0"/>
                                  </p:stCondLst>
                                  <p:childTnLst>
                                    <p:set>
                                      <p:cBhvr>
                                        <p:cTn id="649" dur="1" fill="hold">
                                          <p:stCondLst>
                                            <p:cond delay="0"/>
                                          </p:stCondLst>
                                        </p:cTn>
                                        <p:tgtEl>
                                          <p:spTgt spid="279">
                                            <p:txEl>
                                              <p:pRg st="1" end="1"/>
                                            </p:txEl>
                                          </p:spTgt>
                                        </p:tgtEl>
                                        <p:attrNameLst>
                                          <p:attrName>style.visibility</p:attrName>
                                        </p:attrNameLst>
                                      </p:cBhvr>
                                      <p:to>
                                        <p:strVal val="visible"/>
                                      </p:to>
                                    </p:set>
                                    <p:animEffect filter="wipe(left)" transition="in">
                                      <p:cBhvr additive="repl">
                                        <p:cTn id="650" dur="500"/>
                                        <p:tgtEl>
                                          <p:spTgt spid="279">
                                            <p:txEl>
                                              <p:pRg st="1" end="1"/>
                                            </p:txEl>
                                          </p:spTgt>
                                        </p:tgtEl>
                                      </p:cBhvr>
                                    </p:animEffect>
                                  </p:childTnLst>
                                </p:cTn>
                              </p:par>
                            </p:childTnLst>
                          </p:cTn>
                        </p:par>
                      </p:childTnLst>
                    </p:cTn>
                  </p:par>
                  <p:par>
                    <p:cTn id="651" nodeType="clickEffect" fill="hold">
                      <p:stCondLst>
                        <p:cond delay="indefinite"/>
                      </p:stCondLst>
                      <p:childTnLst>
                        <p:par>
                          <p:cTn id="652" nodeType="withEffect" fill="hold">
                            <p:stCondLst>
                              <p:cond delay="0"/>
                            </p:stCondLst>
                            <p:childTnLst>
                              <p:par>
                                <p:cTn id="653" nodeType="clickEffect" fill="hold" presetClass="entr" presetID="22" presetSubtype="8">
                                  <p:stCondLst>
                                    <p:cond delay="0"/>
                                  </p:stCondLst>
                                  <p:childTnLst>
                                    <p:set>
                                      <p:cBhvr>
                                        <p:cTn id="654" dur="1" fill="hold">
                                          <p:stCondLst>
                                            <p:cond delay="0"/>
                                          </p:stCondLst>
                                        </p:cTn>
                                        <p:tgtEl>
                                          <p:spTgt spid="279">
                                            <p:txEl>
                                              <p:pRg st="2" end="2"/>
                                            </p:txEl>
                                          </p:spTgt>
                                        </p:tgtEl>
                                        <p:attrNameLst>
                                          <p:attrName>style.visibility</p:attrName>
                                        </p:attrNameLst>
                                      </p:cBhvr>
                                      <p:to>
                                        <p:strVal val="visible"/>
                                      </p:to>
                                    </p:set>
                                    <p:animEffect filter="wipe(left)" transition="in">
                                      <p:cBhvr additive="repl">
                                        <p:cTn id="655" dur="500"/>
                                        <p:tgtEl>
                                          <p:spTgt spid="279">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13.2  MARGINAL UTILITY THEORY</a:t>
            </a:r>
            <a:endParaRPr b="0" lang="en-US" sz="2600" strike="noStrike" u="none">
              <a:solidFill>
                <a:srgbClr val="000000"/>
              </a:solidFill>
              <a:effectLst/>
              <a:uFillTx/>
              <a:latin typeface="Arial"/>
            </a:endParaRPr>
          </a:p>
        </p:txBody>
      </p:sp>
      <p:sp>
        <p:nvSpPr>
          <p:cNvPr id="281"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best budget allocation occurs when a person follows the </a:t>
            </a:r>
            <a:r>
              <a:rPr b="1" lang="en-US" sz="2400" strike="noStrike" u="none">
                <a:solidFill>
                  <a:srgbClr val="ff0000"/>
                </a:solidFill>
                <a:effectLst/>
                <a:uFillTx/>
                <a:latin typeface="Arial"/>
                <a:ea typeface="ＭＳ Ｐゴシック"/>
              </a:rPr>
              <a:t>utility-maximizing rule</a:t>
            </a:r>
            <a:r>
              <a:rPr b="0" lang="en-US" sz="2400" strike="noStrike" u="none">
                <a:solidFill>
                  <a:srgbClr val="000000"/>
                </a:solidFill>
                <a:effectLst/>
                <a:uFillTx/>
                <a:latin typeface="Arial"/>
                <a:ea typeface="ＭＳ Ｐゴシック"/>
              </a:rPr>
              <a:t>:</a:t>
            </a:r>
            <a:endParaRPr b="0" lang="en-US" sz="2400" strike="noStrike" u="none">
              <a:solidFill>
                <a:srgbClr val="000000"/>
              </a:solidFill>
              <a:effectLst/>
              <a:uFillTx/>
              <a:latin typeface="Arial"/>
            </a:endParaRPr>
          </a:p>
          <a:p>
            <a:pPr lvl="1" marL="816120" indent="-457200">
              <a:lnSpc>
                <a:spcPct val="100000"/>
              </a:lnSpc>
              <a:spcBef>
                <a:spcPts val="601"/>
              </a:spcBef>
              <a:spcAft>
                <a:spcPts val="601"/>
              </a:spcAft>
              <a:buClr>
                <a:srgbClr val="000000"/>
              </a:buClr>
              <a:buFont typeface="OpenSymbol"/>
              <a:buAutoNum type="arabicPeriod"/>
              <a:tabLst>
                <a:tab algn="l" pos="0"/>
              </a:tabLst>
            </a:pPr>
            <a:r>
              <a:rPr b="0" lang="en-US" sz="2400" strike="noStrike" u="none">
                <a:solidFill>
                  <a:srgbClr val="000000"/>
                </a:solidFill>
                <a:effectLst/>
                <a:uFillTx/>
                <a:latin typeface="Arial"/>
                <a:ea typeface="ＭＳ Ｐゴシック"/>
              </a:rPr>
              <a:t>Allocate the entire available budget.</a:t>
            </a:r>
            <a:endParaRPr b="0" lang="en-US" sz="2400" strike="noStrike" u="none">
              <a:solidFill>
                <a:srgbClr val="000000"/>
              </a:solidFill>
              <a:effectLst/>
              <a:uFillTx/>
              <a:latin typeface="Arial"/>
            </a:endParaRPr>
          </a:p>
          <a:p>
            <a:pPr lvl="1" marL="816120" indent="-457200">
              <a:lnSpc>
                <a:spcPct val="100000"/>
              </a:lnSpc>
              <a:spcBef>
                <a:spcPts val="601"/>
              </a:spcBef>
              <a:spcAft>
                <a:spcPts val="601"/>
              </a:spcAft>
              <a:buClr>
                <a:srgbClr val="000000"/>
              </a:buClr>
              <a:buFont typeface="OpenSymbol"/>
              <a:buAutoNum type="arabicPeriod"/>
              <a:tabLst>
                <a:tab algn="l" pos="0"/>
              </a:tabLst>
            </a:pPr>
            <a:r>
              <a:rPr b="0" lang="en-US" sz="2400" strike="noStrike" u="none">
                <a:solidFill>
                  <a:srgbClr val="000000"/>
                </a:solidFill>
                <a:effectLst/>
                <a:uFillTx/>
                <a:latin typeface="Arial"/>
                <a:ea typeface="ＭＳ Ｐゴシック"/>
              </a:rPr>
              <a:t>Make the marginal utility per dollar equal for all goods.</a:t>
            </a:r>
            <a:endParaRPr b="0" lang="en-US" sz="2400" strike="noStrike" u="none">
              <a:solidFill>
                <a:srgbClr val="000000"/>
              </a:solidFill>
              <a:effectLst/>
              <a:uFillTx/>
              <a:latin typeface="Arial"/>
            </a:endParaRPr>
          </a:p>
        </p:txBody>
      </p:sp>
    </p:spTree>
  </p:cSld>
  <p:transition spd="slow">
    <p:wipe dir="r"/>
  </p:transition>
  <p:timing>
    <p:tnLst>
      <p:par>
        <p:cTn id="656" dur="indefinite" restart="never" nodeType="tmRoot">
          <p:childTnLst>
            <p:seq>
              <p:cTn id="657" dur="indefinite" nodeType="mainSeq">
                <p:childTnLst>
                  <p:par>
                    <p:cTn id="658" nodeType="clickEffect" fill="hold">
                      <p:stCondLst>
                        <p:cond delay="indefinite"/>
                      </p:stCondLst>
                      <p:childTnLst>
                        <p:par>
                          <p:cTn id="659" nodeType="withEffect" fill="hold">
                            <p:stCondLst>
                              <p:cond delay="0"/>
                            </p:stCondLst>
                            <p:childTnLst>
                              <p:par>
                                <p:cTn id="660" nodeType="clickEffect" fill="hold" presetClass="entr" presetID="22" presetSubtype="8">
                                  <p:stCondLst>
                                    <p:cond delay="0"/>
                                  </p:stCondLst>
                                  <p:childTnLst>
                                    <p:set>
                                      <p:cBhvr>
                                        <p:cTn id="661" dur="1" fill="hold">
                                          <p:stCondLst>
                                            <p:cond delay="0"/>
                                          </p:stCondLst>
                                        </p:cTn>
                                        <p:tgtEl>
                                          <p:spTgt spid="281">
                                            <p:txEl>
                                              <p:pRg st="1" end="1"/>
                                            </p:txEl>
                                          </p:spTgt>
                                        </p:tgtEl>
                                        <p:attrNameLst>
                                          <p:attrName>style.visibility</p:attrName>
                                        </p:attrNameLst>
                                      </p:cBhvr>
                                      <p:to>
                                        <p:strVal val="visible"/>
                                      </p:to>
                                    </p:set>
                                    <p:animEffect filter="wipe(left)" transition="in">
                                      <p:cBhvr additive="repl">
                                        <p:cTn id="662" dur="500"/>
                                        <p:tgtEl>
                                          <p:spTgt spid="281">
                                            <p:txEl>
                                              <p:pRg st="1" end="1"/>
                                            </p:txEl>
                                          </p:spTgt>
                                        </p:tgtEl>
                                      </p:cBhvr>
                                    </p:animEffect>
                                  </p:childTnLst>
                                </p:cTn>
                              </p:par>
                            </p:childTnLst>
                          </p:cTn>
                        </p:par>
                      </p:childTnLst>
                    </p:cTn>
                  </p:par>
                  <p:par>
                    <p:cTn id="663" nodeType="clickEffect" fill="hold">
                      <p:stCondLst>
                        <p:cond delay="indefinite"/>
                      </p:stCondLst>
                      <p:childTnLst>
                        <p:par>
                          <p:cTn id="664" nodeType="withEffect" fill="hold">
                            <p:stCondLst>
                              <p:cond delay="0"/>
                            </p:stCondLst>
                            <p:childTnLst>
                              <p:par>
                                <p:cTn id="665" nodeType="clickEffect" fill="hold" presetClass="entr" presetID="22" presetSubtype="8">
                                  <p:stCondLst>
                                    <p:cond delay="0"/>
                                  </p:stCondLst>
                                  <p:childTnLst>
                                    <p:set>
                                      <p:cBhvr>
                                        <p:cTn id="666" dur="1" fill="hold">
                                          <p:stCondLst>
                                            <p:cond delay="0"/>
                                          </p:stCondLst>
                                        </p:cTn>
                                        <p:tgtEl>
                                          <p:spTgt spid="281">
                                            <p:txEl>
                                              <p:pRg st="2" end="2"/>
                                            </p:txEl>
                                          </p:spTgt>
                                        </p:tgtEl>
                                        <p:attrNameLst>
                                          <p:attrName>style.visibility</p:attrName>
                                        </p:attrNameLst>
                                      </p:cBhvr>
                                      <p:to>
                                        <p:strVal val="visible"/>
                                      </p:to>
                                    </p:set>
                                    <p:animEffect filter="wipe(left)" transition="in">
                                      <p:cBhvr additive="repl">
                                        <p:cTn id="667" dur="500"/>
                                        <p:tgtEl>
                                          <p:spTgt spid="281">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13.2  MARGINAL UTILITY THEORY</a:t>
            </a:r>
            <a:endParaRPr b="0" lang="en-US" sz="2600" strike="noStrike" u="none">
              <a:solidFill>
                <a:srgbClr val="000000"/>
              </a:solidFill>
              <a:effectLst/>
              <a:uFillTx/>
              <a:latin typeface="Arial"/>
            </a:endParaRPr>
          </a:p>
        </p:txBody>
      </p:sp>
      <p:sp>
        <p:nvSpPr>
          <p:cNvPr id="283"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tabLst>
                <a:tab algn="l" pos="0"/>
              </a:tabLst>
            </a:pPr>
            <a:r>
              <a:rPr b="1" lang="en-US" sz="2600" strike="noStrike" u="none">
                <a:solidFill>
                  <a:srgbClr val="00468f"/>
                </a:solidFill>
                <a:effectLst/>
                <a:uFillTx/>
                <a:latin typeface="Arial"/>
                <a:ea typeface="ＭＳ Ｐゴシック"/>
              </a:rPr>
              <a:t>Allocate the Available Budget</a:t>
            </a:r>
            <a:endParaRPr b="0" lang="en-US" sz="26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available budget is the amount available after choosing how much to save and how much to spend on other items.</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Tina has already committed most of her income to other goods and saving. Tina has an available budget of $4 a day for water and chewing gum.</a:t>
            </a:r>
            <a:endParaRPr b="0" lang="en-US" sz="2400" strike="noStrike" u="none">
              <a:solidFill>
                <a:srgbClr val="000000"/>
              </a:solidFill>
              <a:effectLst/>
              <a:uFillTx/>
              <a:latin typeface="Arial"/>
            </a:endParaRPr>
          </a:p>
        </p:txBody>
      </p:sp>
    </p:spTree>
  </p:cSld>
  <p:transition spd="slow">
    <p:wipe dir="r"/>
  </p:transition>
  <p:timing>
    <p:tnLst>
      <p:par>
        <p:cTn id="668" dur="indefinite" restart="never" nodeType="tmRoot">
          <p:childTnLst>
            <p:seq>
              <p:cTn id="669" dur="indefinite" nodeType="mainSeq">
                <p:childTnLst>
                  <p:par>
                    <p:cTn id="670" nodeType="clickEffect" fill="hold">
                      <p:stCondLst>
                        <p:cond delay="indefinite"/>
                      </p:stCondLst>
                      <p:childTnLst>
                        <p:par>
                          <p:cTn id="671" nodeType="withEffect" fill="hold">
                            <p:stCondLst>
                              <p:cond delay="0"/>
                            </p:stCondLst>
                            <p:childTnLst>
                              <p:par>
                                <p:cTn id="672" nodeType="clickEffect" fill="hold" presetClass="entr" presetID="22" presetSubtype="8">
                                  <p:stCondLst>
                                    <p:cond delay="0"/>
                                  </p:stCondLst>
                                  <p:childTnLst>
                                    <p:set>
                                      <p:cBhvr>
                                        <p:cTn id="673" dur="1" fill="hold">
                                          <p:stCondLst>
                                            <p:cond delay="0"/>
                                          </p:stCondLst>
                                        </p:cTn>
                                        <p:tgtEl>
                                          <p:spTgt spid="283">
                                            <p:txEl>
                                              <p:pRg st="1" end="1"/>
                                            </p:txEl>
                                          </p:spTgt>
                                        </p:tgtEl>
                                        <p:attrNameLst>
                                          <p:attrName>style.visibility</p:attrName>
                                        </p:attrNameLst>
                                      </p:cBhvr>
                                      <p:to>
                                        <p:strVal val="visible"/>
                                      </p:to>
                                    </p:set>
                                    <p:animEffect filter="wipe(left)" transition="in">
                                      <p:cBhvr additive="repl">
                                        <p:cTn id="674" dur="500"/>
                                        <p:tgtEl>
                                          <p:spTgt spid="283">
                                            <p:txEl>
                                              <p:pRg st="1" end="1"/>
                                            </p:txEl>
                                          </p:spTgt>
                                        </p:tgtEl>
                                      </p:cBhvr>
                                    </p:animEffect>
                                  </p:childTnLst>
                                </p:cTn>
                              </p:par>
                            </p:childTnLst>
                          </p:cTn>
                        </p:par>
                      </p:childTnLst>
                    </p:cTn>
                  </p:par>
                  <p:par>
                    <p:cTn id="675" nodeType="clickEffect" fill="hold">
                      <p:stCondLst>
                        <p:cond delay="indefinite"/>
                      </p:stCondLst>
                      <p:childTnLst>
                        <p:par>
                          <p:cTn id="676" nodeType="withEffect" fill="hold">
                            <p:stCondLst>
                              <p:cond delay="0"/>
                            </p:stCondLst>
                            <p:childTnLst>
                              <p:par>
                                <p:cTn id="677" nodeType="clickEffect" fill="hold" presetClass="entr" presetID="22" presetSubtype="8">
                                  <p:stCondLst>
                                    <p:cond delay="0"/>
                                  </p:stCondLst>
                                  <p:childTnLst>
                                    <p:set>
                                      <p:cBhvr>
                                        <p:cTn id="678" dur="1" fill="hold">
                                          <p:stCondLst>
                                            <p:cond delay="0"/>
                                          </p:stCondLst>
                                        </p:cTn>
                                        <p:tgtEl>
                                          <p:spTgt spid="283">
                                            <p:txEl>
                                              <p:pRg st="2" end="2"/>
                                            </p:txEl>
                                          </p:spTgt>
                                        </p:tgtEl>
                                        <p:attrNameLst>
                                          <p:attrName>style.visibility</p:attrName>
                                        </p:attrNameLst>
                                      </p:cBhvr>
                                      <p:to>
                                        <p:strVal val="visible"/>
                                      </p:to>
                                    </p:set>
                                    <p:animEffect filter="wipe(left)" transition="in">
                                      <p:cBhvr additive="repl">
                                        <p:cTn id="679" dur="500"/>
                                        <p:tgtEl>
                                          <p:spTgt spid="283">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84" name="Picture 4" descr="tab1102"/>
          <p:cNvPicPr/>
          <p:nvPr/>
        </p:nvPicPr>
        <p:blipFill>
          <a:blip r:embed="rId1"/>
          <a:stretch/>
        </p:blipFill>
        <p:spPr>
          <a:xfrm>
            <a:off x="1143000" y="2771640"/>
            <a:ext cx="6895440" cy="3304440"/>
          </a:xfrm>
          <a:prstGeom prst="rect">
            <a:avLst/>
          </a:prstGeom>
          <a:noFill/>
          <a:ln w="0">
            <a:noFill/>
          </a:ln>
        </p:spPr>
      </p:pic>
      <p:sp>
        <p:nvSpPr>
          <p:cNvPr id="285" name="Rectangle 5"/>
          <p:cNvSpPr/>
          <p:nvPr/>
        </p:nvSpPr>
        <p:spPr>
          <a:xfrm>
            <a:off x="1143000" y="2695680"/>
            <a:ext cx="7009560" cy="380160"/>
          </a:xfrm>
          <a:prstGeom prst="rect">
            <a:avLst/>
          </a:prstGeom>
          <a:solidFill>
            <a:schemeClr val="bg1"/>
          </a:solidFill>
          <a:ln w="0">
            <a:noFill/>
          </a:ln>
        </p:spPr>
        <p:style>
          <a:lnRef idx="0"/>
          <a:fillRef idx="0"/>
          <a:effectRef idx="0"/>
          <a:fontRef idx="minor"/>
        </p:style>
        <p:txBody>
          <a:bodyPr wrap="none" lIns="90000" rIns="90000" tIns="45000" bIns="45000" anchor="ctr">
            <a:noAutofit/>
          </a:bodyPr>
          <a:p>
            <a:pPr>
              <a:lnSpc>
                <a:spcPct val="100000"/>
              </a:lnSpc>
            </a:pPr>
            <a:endParaRPr b="0" lang="en-US" sz="2400" strike="noStrike" u="none">
              <a:solidFill>
                <a:schemeClr val="dk1"/>
              </a:solidFill>
              <a:effectLst/>
              <a:uFillTx/>
              <a:latin typeface="Arial"/>
              <a:ea typeface="ＭＳ Ｐゴシック"/>
            </a:endParaRPr>
          </a:p>
        </p:txBody>
      </p:sp>
      <p:sp>
        <p:nvSpPr>
          <p:cNvPr id="286"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13.2  MARGINAL UTILITY THEORY</a:t>
            </a:r>
            <a:endParaRPr b="0" lang="en-US" sz="2600" strike="noStrike" u="none">
              <a:solidFill>
                <a:srgbClr val="000000"/>
              </a:solidFill>
              <a:effectLst/>
              <a:uFillTx/>
              <a:latin typeface="Arial"/>
            </a:endParaRPr>
          </a:p>
        </p:txBody>
      </p:sp>
      <p:sp>
        <p:nvSpPr>
          <p:cNvPr id="287"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Step 1: Make a table that shows the quantities of the two goods that use the entire budget. </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Each row shows an affordable combination.</a:t>
            </a:r>
            <a:endParaRPr b="0" lang="en-US" sz="2400" strike="noStrike" u="none">
              <a:solidFill>
                <a:srgbClr val="000000"/>
              </a:solidFill>
              <a:effectLst/>
              <a:uFillTx/>
              <a:latin typeface="Arial"/>
            </a:endParaRPr>
          </a:p>
        </p:txBody>
      </p:sp>
    </p:spTree>
  </p:cSld>
  <p:transition spd="slow">
    <p:wipe dir="r"/>
  </p:transition>
  <p:timing>
    <p:tnLst>
      <p:par>
        <p:cTn id="680" dur="indefinite" restart="never" nodeType="tmRoot">
          <p:childTnLst>
            <p:seq>
              <p:cTn id="681" dur="indefinite" nodeType="mainSeq">
                <p:childTnLst>
                  <p:par>
                    <p:cTn id="682" nodeType="clickEffect" fill="hold">
                      <p:stCondLst>
                        <p:cond delay="indefinite"/>
                      </p:stCondLst>
                      <p:childTnLst>
                        <p:par>
                          <p:cTn id="683" nodeType="withEffect" fill="hold">
                            <p:stCondLst>
                              <p:cond delay="0"/>
                            </p:stCondLst>
                            <p:childTnLst>
                              <p:par>
                                <p:cTn id="684" nodeType="clickEffect" fill="hold" presetClass="entr" presetID="22" presetSubtype="8">
                                  <p:stCondLst>
                                    <p:cond delay="0"/>
                                  </p:stCondLst>
                                  <p:childTnLst>
                                    <p:set>
                                      <p:cBhvr>
                                        <p:cTn id="685" dur="1" fill="hold">
                                          <p:stCondLst>
                                            <p:cond delay="0"/>
                                          </p:stCondLst>
                                        </p:cTn>
                                        <p:tgtEl>
                                          <p:spTgt spid="287">
                                            <p:txEl>
                                              <p:pRg st="1" end="1"/>
                                            </p:txEl>
                                          </p:spTgt>
                                        </p:tgtEl>
                                        <p:attrNameLst>
                                          <p:attrName>style.visibility</p:attrName>
                                        </p:attrNameLst>
                                      </p:cBhvr>
                                      <p:to>
                                        <p:strVal val="visible"/>
                                      </p:to>
                                    </p:set>
                                    <p:animEffect filter="wipe(left)" transition="in">
                                      <p:cBhvr additive="repl">
                                        <p:cTn id="686" dur="500"/>
                                        <p:tgtEl>
                                          <p:spTgt spid="287">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13.2  MARGINAL UTILITY THEORY</a:t>
            </a:r>
            <a:endParaRPr b="0" lang="en-US" sz="2600" strike="noStrike" u="none">
              <a:solidFill>
                <a:srgbClr val="000000"/>
              </a:solidFill>
              <a:effectLst/>
              <a:uFillTx/>
              <a:latin typeface="Arial"/>
            </a:endParaRPr>
          </a:p>
        </p:txBody>
      </p:sp>
      <p:sp>
        <p:nvSpPr>
          <p:cNvPr id="289"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tabLst>
                <a:tab algn="l" pos="0"/>
              </a:tabLst>
            </a:pPr>
            <a:r>
              <a:rPr b="1" lang="en-US" sz="2600" strike="noStrike" u="none">
                <a:solidFill>
                  <a:srgbClr val="00468f"/>
                </a:solidFill>
                <a:effectLst/>
                <a:uFillTx/>
                <a:latin typeface="Arial"/>
                <a:ea typeface="ＭＳ Ｐゴシック"/>
              </a:rPr>
              <a:t>Equalize the Marginal Utility Per Dollar</a:t>
            </a:r>
            <a:endParaRPr b="0" lang="en-US" sz="26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Step 2: Make the marginal utility per dollar equal for both goods.</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1" lang="en-US" sz="2400" strike="noStrike" u="none">
                <a:solidFill>
                  <a:srgbClr val="ff0000"/>
                </a:solidFill>
                <a:effectLst/>
                <a:uFillTx/>
                <a:latin typeface="Arial"/>
                <a:ea typeface="ＭＳ Ｐゴシック"/>
              </a:rPr>
              <a:t>Marginal utility per dollar </a:t>
            </a:r>
            <a:r>
              <a:rPr b="0" lang="en-US" sz="2400" strike="noStrike" u="none">
                <a:solidFill>
                  <a:srgbClr val="000000"/>
                </a:solidFill>
                <a:effectLst/>
                <a:uFillTx/>
                <a:latin typeface="Arial"/>
                <a:ea typeface="ＭＳ Ｐゴシック"/>
              </a:rPr>
              <a:t>is the marginal utility from a good relative to the price paid for the good.</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endParaRPr b="0" lang="en-US" sz="2400" strike="noStrike" u="none">
              <a:solidFill>
                <a:srgbClr val="000000"/>
              </a:solidFill>
              <a:effectLst/>
              <a:uFillTx/>
              <a:latin typeface="Arial"/>
            </a:endParaRPr>
          </a:p>
        </p:txBody>
      </p:sp>
    </p:spTree>
  </p:cSld>
  <p:transition spd="slow">
    <p:wipe dir="r"/>
  </p:transition>
  <p:timing>
    <p:tnLst>
      <p:par>
        <p:cTn id="687" dur="indefinite" restart="never" nodeType="tmRoot">
          <p:childTnLst>
            <p:seq>
              <p:cTn id="688" dur="indefinite" nodeType="mainSeq">
                <p:childTnLst>
                  <p:par>
                    <p:cTn id="689" nodeType="clickEffect" fill="hold">
                      <p:stCondLst>
                        <p:cond delay="indefinite"/>
                      </p:stCondLst>
                      <p:childTnLst>
                        <p:par>
                          <p:cTn id="690" nodeType="withEffect" fill="hold">
                            <p:stCondLst>
                              <p:cond delay="0"/>
                            </p:stCondLst>
                            <p:childTnLst>
                              <p:par>
                                <p:cTn id="691" nodeType="clickEffect" fill="hold" presetClass="entr" presetID="22" presetSubtype="8">
                                  <p:stCondLst>
                                    <p:cond delay="0"/>
                                  </p:stCondLst>
                                  <p:childTnLst>
                                    <p:set>
                                      <p:cBhvr>
                                        <p:cTn id="692" dur="1" fill="hold">
                                          <p:stCondLst>
                                            <p:cond delay="0"/>
                                          </p:stCondLst>
                                        </p:cTn>
                                        <p:tgtEl>
                                          <p:spTgt spid="289">
                                            <p:txEl>
                                              <p:pRg st="1" end="1"/>
                                            </p:txEl>
                                          </p:spTgt>
                                        </p:tgtEl>
                                        <p:attrNameLst>
                                          <p:attrName>style.visibility</p:attrName>
                                        </p:attrNameLst>
                                      </p:cBhvr>
                                      <p:to>
                                        <p:strVal val="visible"/>
                                      </p:to>
                                    </p:set>
                                    <p:animEffect filter="wipe(left)" transition="in">
                                      <p:cBhvr additive="repl">
                                        <p:cTn id="693" dur="500"/>
                                        <p:tgtEl>
                                          <p:spTgt spid="289">
                                            <p:txEl>
                                              <p:pRg st="1" end="1"/>
                                            </p:txEl>
                                          </p:spTgt>
                                        </p:tgtEl>
                                      </p:cBhvr>
                                    </p:animEffect>
                                  </p:childTnLst>
                                </p:cTn>
                              </p:par>
                            </p:childTnLst>
                          </p:cTn>
                        </p:par>
                      </p:childTnLst>
                    </p:cTn>
                  </p:par>
                  <p:par>
                    <p:cTn id="694" nodeType="clickEffect" fill="hold">
                      <p:stCondLst>
                        <p:cond delay="indefinite"/>
                      </p:stCondLst>
                      <p:childTnLst>
                        <p:par>
                          <p:cTn id="695" nodeType="withEffect" fill="hold">
                            <p:stCondLst>
                              <p:cond delay="0"/>
                            </p:stCondLst>
                            <p:childTnLst>
                              <p:par>
                                <p:cTn id="696" nodeType="clickEffect" fill="hold" presetClass="entr" presetID="22" presetSubtype="8">
                                  <p:stCondLst>
                                    <p:cond delay="0"/>
                                  </p:stCondLst>
                                  <p:childTnLst>
                                    <p:set>
                                      <p:cBhvr>
                                        <p:cTn id="697" dur="1" fill="hold">
                                          <p:stCondLst>
                                            <p:cond delay="0"/>
                                          </p:stCondLst>
                                        </p:cTn>
                                        <p:tgtEl>
                                          <p:spTgt spid="289">
                                            <p:txEl>
                                              <p:pRg st="2" end="2"/>
                                            </p:txEl>
                                          </p:spTgt>
                                        </p:tgtEl>
                                        <p:attrNameLst>
                                          <p:attrName>style.visibility</p:attrName>
                                        </p:attrNameLst>
                                      </p:cBhvr>
                                      <p:to>
                                        <p:strVal val="visible"/>
                                      </p:to>
                                    </p:set>
                                    <p:animEffect filter="wipe(left)" transition="in">
                                      <p:cBhvr additive="repl">
                                        <p:cTn id="698" dur="500"/>
                                        <p:tgtEl>
                                          <p:spTgt spid="289">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13.2  MARGINAL UTILITY THEORY</a:t>
            </a:r>
            <a:endParaRPr b="0" lang="en-US" sz="2600" strike="noStrike" u="none">
              <a:solidFill>
                <a:srgbClr val="000000"/>
              </a:solidFill>
              <a:effectLst/>
              <a:uFillTx/>
              <a:latin typeface="Arial"/>
            </a:endParaRPr>
          </a:p>
        </p:txBody>
      </p:sp>
      <p:sp>
        <p:nvSpPr>
          <p:cNvPr id="291"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To calculate marginal utility per dollar, we divide the marginal utility from a good by its price.</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For example, at $1 a bottle, Tina buys 1 bottle of water and her marginal utility from bottled water is 15 units.</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So Tina’s marginal utility per dollar from bottled water is 15 units divided by $1, which equals 15 units per dollar.</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endParaRPr b="0" lang="en-US" sz="2400" strike="noStrike" u="none">
              <a:solidFill>
                <a:srgbClr val="000000"/>
              </a:solidFill>
              <a:effectLst/>
              <a:uFillTx/>
              <a:latin typeface="Arial"/>
            </a:endParaRPr>
          </a:p>
        </p:txBody>
      </p:sp>
    </p:spTree>
  </p:cSld>
  <p:transition spd="slow">
    <p:wipe dir="r"/>
  </p:transition>
  <p:timing>
    <p:tnLst>
      <p:par>
        <p:cTn id="699" dur="indefinite" restart="never" nodeType="tmRoot">
          <p:childTnLst>
            <p:seq>
              <p:cTn id="700" dur="indefinite" nodeType="mainSeq">
                <p:childTnLst>
                  <p:par>
                    <p:cTn id="701" nodeType="clickEffect" fill="hold">
                      <p:stCondLst>
                        <p:cond delay="indefinite"/>
                      </p:stCondLst>
                      <p:childTnLst>
                        <p:par>
                          <p:cTn id="702" nodeType="withEffect" fill="hold">
                            <p:stCondLst>
                              <p:cond delay="0"/>
                            </p:stCondLst>
                            <p:childTnLst>
                              <p:par>
                                <p:cTn id="703" nodeType="clickEffect" fill="hold" presetClass="entr" presetID="22" presetSubtype="8">
                                  <p:stCondLst>
                                    <p:cond delay="0"/>
                                  </p:stCondLst>
                                  <p:childTnLst>
                                    <p:set>
                                      <p:cBhvr>
                                        <p:cTn id="704" dur="1" fill="hold">
                                          <p:stCondLst>
                                            <p:cond delay="0"/>
                                          </p:stCondLst>
                                        </p:cTn>
                                        <p:tgtEl>
                                          <p:spTgt spid="291">
                                            <p:txEl>
                                              <p:pRg st="1" end="1"/>
                                            </p:txEl>
                                          </p:spTgt>
                                        </p:tgtEl>
                                        <p:attrNameLst>
                                          <p:attrName>style.visibility</p:attrName>
                                        </p:attrNameLst>
                                      </p:cBhvr>
                                      <p:to>
                                        <p:strVal val="visible"/>
                                      </p:to>
                                    </p:set>
                                    <p:animEffect filter="wipe(left)" transition="in">
                                      <p:cBhvr additive="repl">
                                        <p:cTn id="705" dur="500"/>
                                        <p:tgtEl>
                                          <p:spTgt spid="291">
                                            <p:txEl>
                                              <p:pRg st="1" end="1"/>
                                            </p:txEl>
                                          </p:spTgt>
                                        </p:tgtEl>
                                      </p:cBhvr>
                                    </p:animEffect>
                                  </p:childTnLst>
                                </p:cTn>
                              </p:par>
                            </p:childTnLst>
                          </p:cTn>
                        </p:par>
                      </p:childTnLst>
                    </p:cTn>
                  </p:par>
                  <p:par>
                    <p:cTn id="706" nodeType="clickEffect" fill="hold">
                      <p:stCondLst>
                        <p:cond delay="indefinite"/>
                      </p:stCondLst>
                      <p:childTnLst>
                        <p:par>
                          <p:cTn id="707" nodeType="withEffect" fill="hold">
                            <p:stCondLst>
                              <p:cond delay="0"/>
                            </p:stCondLst>
                            <p:childTnLst>
                              <p:par>
                                <p:cTn id="708" nodeType="clickEffect" fill="hold" presetClass="entr" presetID="22" presetSubtype="8">
                                  <p:stCondLst>
                                    <p:cond delay="0"/>
                                  </p:stCondLst>
                                  <p:childTnLst>
                                    <p:set>
                                      <p:cBhvr>
                                        <p:cTn id="709" dur="1" fill="hold">
                                          <p:stCondLst>
                                            <p:cond delay="0"/>
                                          </p:stCondLst>
                                        </p:cTn>
                                        <p:tgtEl>
                                          <p:spTgt spid="291">
                                            <p:txEl>
                                              <p:pRg st="2" end="2"/>
                                            </p:txEl>
                                          </p:spTgt>
                                        </p:tgtEl>
                                        <p:attrNameLst>
                                          <p:attrName>style.visibility</p:attrName>
                                        </p:attrNameLst>
                                      </p:cBhvr>
                                      <p:to>
                                        <p:strVal val="visible"/>
                                      </p:to>
                                    </p:set>
                                    <p:animEffect filter="wipe(left)" transition="in">
                                      <p:cBhvr additive="repl">
                                        <p:cTn id="710" dur="500"/>
                                        <p:tgtEl>
                                          <p:spTgt spid="291">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13.2  MARGINAL UTILITY THEORY</a:t>
            </a:r>
            <a:endParaRPr b="0" lang="en-US" sz="2600" strike="noStrike" u="none">
              <a:solidFill>
                <a:srgbClr val="000000"/>
              </a:solidFill>
              <a:effectLst/>
              <a:uFillTx/>
              <a:latin typeface="Arial"/>
            </a:endParaRPr>
          </a:p>
        </p:txBody>
      </p:sp>
      <p:sp>
        <p:nvSpPr>
          <p:cNvPr id="293"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Suppose that Tina allocates her budget such that the marginal utility per dollar from gum is greater than her marginal utility per dollar from water.</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CA" sz="2400" strike="noStrike" u="none">
                <a:solidFill>
                  <a:schemeClr val="dk1"/>
                </a:solidFill>
                <a:effectLst/>
                <a:uFillTx/>
                <a:latin typeface="Arial"/>
                <a:ea typeface="ＭＳ Ｐゴシック"/>
              </a:rPr>
              <a:t>Is Tina maximizing her total utility?</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No. She is not maximizing total utility.</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If Tina buys more gum and less water, her marginal utility from gum will decrease and her marginal utility from water will increase.</a:t>
            </a:r>
            <a:endParaRPr b="0" lang="en-US" sz="2400" strike="noStrike" u="none">
              <a:solidFill>
                <a:srgbClr val="000000"/>
              </a:solidFill>
              <a:effectLst/>
              <a:uFillTx/>
              <a:latin typeface="Arial"/>
            </a:endParaRPr>
          </a:p>
          <a:p>
            <a:pPr marL="114480" indent="0">
              <a:lnSpc>
                <a:spcPct val="100000"/>
              </a:lnSpc>
              <a:spcBef>
                <a:spcPts val="601"/>
              </a:spcBef>
              <a:spcAft>
                <a:spcPts val="601"/>
              </a:spcAft>
              <a:buNone/>
              <a:tabLst>
                <a:tab algn="l" pos="0"/>
              </a:tabLst>
            </a:pPr>
            <a:endParaRPr b="0" lang="en-US" sz="2400" strike="noStrike" u="none">
              <a:solidFill>
                <a:srgbClr val="000000"/>
              </a:solidFill>
              <a:effectLst/>
              <a:uFillTx/>
              <a:latin typeface="Arial"/>
            </a:endParaRPr>
          </a:p>
        </p:txBody>
      </p:sp>
    </p:spTree>
  </p:cSld>
  <p:transition spd="slow">
    <p:wipe dir="r"/>
  </p:transition>
  <p:timing>
    <p:tnLst>
      <p:par>
        <p:cTn id="711" dur="indefinite" restart="never" nodeType="tmRoot">
          <p:childTnLst>
            <p:seq>
              <p:cTn id="712" dur="indefinite" nodeType="mainSeq">
                <p:childTnLst>
                  <p:par>
                    <p:cTn id="713" nodeType="clickEffect" fill="hold">
                      <p:stCondLst>
                        <p:cond delay="indefinite"/>
                      </p:stCondLst>
                      <p:childTnLst>
                        <p:par>
                          <p:cTn id="714" nodeType="withEffect" fill="hold">
                            <p:stCondLst>
                              <p:cond delay="0"/>
                            </p:stCondLst>
                            <p:childTnLst>
                              <p:par>
                                <p:cTn id="715" nodeType="clickEffect" fill="hold" presetClass="entr" presetID="22" presetSubtype="8">
                                  <p:stCondLst>
                                    <p:cond delay="0"/>
                                  </p:stCondLst>
                                  <p:childTnLst>
                                    <p:set>
                                      <p:cBhvr>
                                        <p:cTn id="716" dur="1" fill="hold">
                                          <p:stCondLst>
                                            <p:cond delay="0"/>
                                          </p:stCondLst>
                                        </p:cTn>
                                        <p:tgtEl>
                                          <p:spTgt spid="293">
                                            <p:txEl>
                                              <p:pRg st="1" end="1"/>
                                            </p:txEl>
                                          </p:spTgt>
                                        </p:tgtEl>
                                        <p:attrNameLst>
                                          <p:attrName>style.visibility</p:attrName>
                                        </p:attrNameLst>
                                      </p:cBhvr>
                                      <p:to>
                                        <p:strVal val="visible"/>
                                      </p:to>
                                    </p:set>
                                    <p:animEffect filter="wipe(left)" transition="in">
                                      <p:cBhvr additive="repl">
                                        <p:cTn id="717" dur="500"/>
                                        <p:tgtEl>
                                          <p:spTgt spid="293">
                                            <p:txEl>
                                              <p:pRg st="1" end="1"/>
                                            </p:txEl>
                                          </p:spTgt>
                                        </p:tgtEl>
                                      </p:cBhvr>
                                    </p:animEffect>
                                  </p:childTnLst>
                                </p:cTn>
                              </p:par>
                            </p:childTnLst>
                          </p:cTn>
                        </p:par>
                      </p:childTnLst>
                    </p:cTn>
                  </p:par>
                  <p:par>
                    <p:cTn id="718" nodeType="clickEffect" fill="hold">
                      <p:stCondLst>
                        <p:cond delay="indefinite"/>
                      </p:stCondLst>
                      <p:childTnLst>
                        <p:par>
                          <p:cTn id="719" nodeType="withEffect" fill="hold">
                            <p:stCondLst>
                              <p:cond delay="0"/>
                            </p:stCondLst>
                            <p:childTnLst>
                              <p:par>
                                <p:cTn id="720" nodeType="clickEffect" fill="hold" presetClass="entr" presetID="22" presetSubtype="8">
                                  <p:stCondLst>
                                    <p:cond delay="0"/>
                                  </p:stCondLst>
                                  <p:childTnLst>
                                    <p:set>
                                      <p:cBhvr>
                                        <p:cTn id="721" dur="1" fill="hold">
                                          <p:stCondLst>
                                            <p:cond delay="0"/>
                                          </p:stCondLst>
                                        </p:cTn>
                                        <p:tgtEl>
                                          <p:spTgt spid="293">
                                            <p:txEl>
                                              <p:pRg st="2" end="2"/>
                                            </p:txEl>
                                          </p:spTgt>
                                        </p:tgtEl>
                                        <p:attrNameLst>
                                          <p:attrName>style.visibility</p:attrName>
                                        </p:attrNameLst>
                                      </p:cBhvr>
                                      <p:to>
                                        <p:strVal val="visible"/>
                                      </p:to>
                                    </p:set>
                                    <p:animEffect filter="wipe(left)" transition="in">
                                      <p:cBhvr additive="repl">
                                        <p:cTn id="722" dur="500"/>
                                        <p:tgtEl>
                                          <p:spTgt spid="293">
                                            <p:txEl>
                                              <p:pRg st="2" end="2"/>
                                            </p:txEl>
                                          </p:spTgt>
                                        </p:tgtEl>
                                      </p:cBhvr>
                                    </p:animEffect>
                                  </p:childTnLst>
                                </p:cTn>
                              </p:par>
                            </p:childTnLst>
                          </p:cTn>
                        </p:par>
                      </p:childTnLst>
                    </p:cTn>
                  </p:par>
                  <p:par>
                    <p:cTn id="723" nodeType="clickEffect" fill="hold">
                      <p:stCondLst>
                        <p:cond delay="indefinite"/>
                      </p:stCondLst>
                      <p:childTnLst>
                        <p:par>
                          <p:cTn id="724" nodeType="withEffect" fill="hold">
                            <p:stCondLst>
                              <p:cond delay="0"/>
                            </p:stCondLst>
                            <p:childTnLst>
                              <p:par>
                                <p:cTn id="725" nodeType="clickEffect" fill="hold" presetClass="entr" presetID="22" presetSubtype="8">
                                  <p:stCondLst>
                                    <p:cond delay="0"/>
                                  </p:stCondLst>
                                  <p:childTnLst>
                                    <p:set>
                                      <p:cBhvr>
                                        <p:cTn id="726" dur="1" fill="hold">
                                          <p:stCondLst>
                                            <p:cond delay="0"/>
                                          </p:stCondLst>
                                        </p:cTn>
                                        <p:tgtEl>
                                          <p:spTgt spid="293">
                                            <p:txEl>
                                              <p:pRg st="3" end="3"/>
                                            </p:txEl>
                                          </p:spTgt>
                                        </p:tgtEl>
                                        <p:attrNameLst>
                                          <p:attrName>style.visibility</p:attrName>
                                        </p:attrNameLst>
                                      </p:cBhvr>
                                      <p:to>
                                        <p:strVal val="visible"/>
                                      </p:to>
                                    </p:set>
                                    <p:animEffect filter="wipe(left)" transition="in">
                                      <p:cBhvr additive="repl">
                                        <p:cTn id="727" dur="500"/>
                                        <p:tgtEl>
                                          <p:spTgt spid="293">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13.2  MARGINAL UTILITY THEORY</a:t>
            </a:r>
            <a:endParaRPr b="0" lang="en-US" sz="2600" strike="noStrike" u="none">
              <a:solidFill>
                <a:srgbClr val="000000"/>
              </a:solidFill>
              <a:effectLst/>
              <a:uFillTx/>
              <a:latin typeface="Arial"/>
            </a:endParaRPr>
          </a:p>
        </p:txBody>
      </p:sp>
      <p:sp>
        <p:nvSpPr>
          <p:cNvPr id="295"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If Tina increases the amount of gum she buys and decreases the amount of water she buys until her marginal utility per dollar for gum equals her marginal utility per dollar for water, she will maximize her total utility.</a:t>
            </a:r>
            <a:endParaRPr b="0" lang="en-US" sz="2400" strike="noStrike" u="none">
              <a:solidFill>
                <a:srgbClr val="000000"/>
              </a:solidFill>
              <a:effectLst/>
              <a:uFillTx/>
              <a:latin typeface="Arial"/>
            </a:endParaRPr>
          </a:p>
        </p:txBody>
      </p:sp>
    </p:spTree>
  </p:cSld>
  <p:transition spd="slow">
    <p:wipe dir="r"/>
  </p:transition>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13.2  MARGINAL UTILITY THEORY</a:t>
            </a:r>
            <a:endParaRPr b="0" lang="en-US" sz="2600" strike="noStrike" u="none">
              <a:solidFill>
                <a:srgbClr val="000000"/>
              </a:solidFill>
              <a:effectLst/>
              <a:uFillTx/>
              <a:latin typeface="Arial"/>
            </a:endParaRPr>
          </a:p>
        </p:txBody>
      </p:sp>
      <p:sp>
        <p:nvSpPr>
          <p:cNvPr id="297"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Step 3: Make a table that shows the marginal utility per dollar for the two goods for each affordable combination.</a:t>
            </a:r>
            <a:endParaRPr b="0" lang="en-US" sz="2400" strike="noStrike" u="none">
              <a:solidFill>
                <a:srgbClr val="000000"/>
              </a:solidFill>
              <a:effectLst/>
              <a:uFillTx/>
              <a:latin typeface="Arial"/>
            </a:endParaRPr>
          </a:p>
        </p:txBody>
      </p:sp>
      <p:sp>
        <p:nvSpPr>
          <p:cNvPr id="298" name="Rectangle 6"/>
          <p:cNvSpPr/>
          <p:nvPr/>
        </p:nvSpPr>
        <p:spPr>
          <a:xfrm>
            <a:off x="1066680" y="2438280"/>
            <a:ext cx="7009560" cy="456480"/>
          </a:xfrm>
          <a:prstGeom prst="rect">
            <a:avLst/>
          </a:prstGeom>
          <a:solidFill>
            <a:schemeClr val="bg1"/>
          </a:solidFill>
          <a:ln w="0">
            <a:noFill/>
          </a:ln>
        </p:spPr>
        <p:style>
          <a:lnRef idx="0"/>
          <a:fillRef idx="0"/>
          <a:effectRef idx="0"/>
          <a:fontRef idx="minor"/>
        </p:style>
        <p:txBody>
          <a:bodyPr wrap="none" lIns="90000" rIns="90000" tIns="45000" bIns="45000" anchor="ctr">
            <a:noAutofit/>
          </a:bodyPr>
          <a:p>
            <a:pPr>
              <a:lnSpc>
                <a:spcPct val="100000"/>
              </a:lnSpc>
            </a:pPr>
            <a:endParaRPr b="0" lang="en-US" sz="2400" strike="noStrike" u="none">
              <a:solidFill>
                <a:schemeClr val="dk1"/>
              </a:solidFill>
              <a:effectLst/>
              <a:uFillTx/>
              <a:latin typeface="Arial"/>
              <a:ea typeface="ＭＳ Ｐゴシック"/>
            </a:endParaRPr>
          </a:p>
        </p:txBody>
      </p:sp>
      <p:sp>
        <p:nvSpPr>
          <p:cNvPr id="299" name="Rectangle 1"/>
          <p:cNvSpPr/>
          <p:nvPr/>
        </p:nvSpPr>
        <p:spPr>
          <a:xfrm>
            <a:off x="1219320" y="2509920"/>
            <a:ext cx="1447200" cy="385200"/>
          </a:xfrm>
          <a:prstGeom prst="rect">
            <a:avLst/>
          </a:prstGeom>
          <a:solidFill>
            <a:schemeClr val="bg1"/>
          </a:solidFill>
          <a:ln w="0">
            <a:noFill/>
          </a:ln>
        </p:spPr>
        <p:style>
          <a:lnRef idx="0"/>
          <a:fillRef idx="0"/>
          <a:effectRef idx="0"/>
          <a:fontRef idx="minor"/>
        </p:style>
        <p:txBody>
          <a:bodyPr wrap="none" lIns="90000" rIns="90000" tIns="45000" bIns="45000" anchor="t">
            <a:noAutofit/>
          </a:bodyPr>
          <a:p>
            <a:pPr>
              <a:lnSpc>
                <a:spcPct val="100000"/>
              </a:lnSpc>
            </a:pPr>
            <a:endParaRPr b="0" lang="en-US" sz="2400" strike="noStrike" u="none">
              <a:solidFill>
                <a:schemeClr val="dk1"/>
              </a:solidFill>
              <a:effectLst/>
              <a:uFillTx/>
              <a:latin typeface="Arial"/>
              <a:ea typeface="ＭＳ Ｐゴシック"/>
            </a:endParaRPr>
          </a:p>
        </p:txBody>
      </p:sp>
      <p:pic>
        <p:nvPicPr>
          <p:cNvPr id="300" name="Picture 2" descr=""/>
          <p:cNvPicPr/>
          <p:nvPr/>
        </p:nvPicPr>
        <p:blipFill>
          <a:blip r:embed="rId1"/>
          <a:stretch/>
        </p:blipFill>
        <p:spPr>
          <a:xfrm>
            <a:off x="955800" y="2516040"/>
            <a:ext cx="7038360" cy="3985560"/>
          </a:xfrm>
          <a:prstGeom prst="rect">
            <a:avLst/>
          </a:prstGeom>
          <a:noFill/>
          <a:ln w="0">
            <a:noFill/>
          </a:ln>
        </p:spPr>
      </p:pic>
    </p:spTree>
  </p:cSld>
  <p:transition spd="slow">
    <p:wipe dir="r"/>
  </p:transition>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13.2  MARGINAL UTILITY THEORY</a:t>
            </a:r>
            <a:endParaRPr b="0" lang="en-US" sz="2600" strike="noStrike" u="none">
              <a:solidFill>
                <a:srgbClr val="000000"/>
              </a:solidFill>
              <a:effectLst/>
              <a:uFillTx/>
              <a:latin typeface="Arial"/>
            </a:endParaRPr>
          </a:p>
        </p:txBody>
      </p:sp>
      <p:sp>
        <p:nvSpPr>
          <p:cNvPr id="302" name="PlaceHolder 2"/>
          <p:cNvSpPr>
            <a:spLocks noGrp="1"/>
          </p:cNvSpPr>
          <p:nvPr>
            <p:ph/>
          </p:nvPr>
        </p:nvSpPr>
        <p:spPr>
          <a:xfrm>
            <a:off x="360360" y="1440000"/>
            <a:ext cx="779220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200" strike="noStrike" u="none">
                <a:solidFill>
                  <a:srgbClr val="000000"/>
                </a:solidFill>
                <a:effectLst/>
                <a:uFillTx/>
                <a:latin typeface="Arial"/>
                <a:ea typeface="ＭＳ Ｐゴシック"/>
              </a:rPr>
              <a:t>Row </a:t>
            </a:r>
            <a:r>
              <a:rPr b="0" i="1" lang="en-US" sz="2200" strike="noStrike" u="none">
                <a:solidFill>
                  <a:srgbClr val="000000"/>
                </a:solidFill>
                <a:effectLst/>
                <a:uFillTx/>
                <a:latin typeface="Arial"/>
                <a:ea typeface="ＭＳ Ｐゴシック"/>
              </a:rPr>
              <a:t>C</a:t>
            </a:r>
            <a:r>
              <a:rPr b="0" lang="en-US" sz="2200" strike="noStrike" u="none">
                <a:solidFill>
                  <a:srgbClr val="000000"/>
                </a:solidFill>
                <a:effectLst/>
                <a:uFillTx/>
                <a:latin typeface="Arial"/>
                <a:ea typeface="ＭＳ Ｐゴシック"/>
              </a:rPr>
              <a:t> shows the utility-maximizing quantities of water and gum.</a:t>
            </a:r>
            <a:endParaRPr b="0" lang="en-US" sz="2200" strike="noStrike" u="none">
              <a:solidFill>
                <a:srgbClr val="000000"/>
              </a:solidFill>
              <a:effectLst/>
              <a:uFillTx/>
              <a:latin typeface="Arial"/>
            </a:endParaRPr>
          </a:p>
          <a:p>
            <a:pPr marL="360000" indent="0">
              <a:lnSpc>
                <a:spcPct val="100000"/>
              </a:lnSpc>
              <a:spcBef>
                <a:spcPts val="561"/>
              </a:spcBef>
              <a:buNone/>
              <a:tabLst>
                <a:tab algn="l" pos="0"/>
              </a:tabLst>
            </a:pPr>
            <a:endParaRPr b="0" lang="en-US" sz="2800" strike="noStrike" u="none">
              <a:solidFill>
                <a:srgbClr val="000000"/>
              </a:solidFill>
              <a:effectLst/>
              <a:uFillTx/>
              <a:latin typeface="Arial"/>
            </a:endParaRPr>
          </a:p>
        </p:txBody>
      </p:sp>
      <p:sp>
        <p:nvSpPr>
          <p:cNvPr id="303" name="Rectangle 7"/>
          <p:cNvSpPr/>
          <p:nvPr/>
        </p:nvSpPr>
        <p:spPr>
          <a:xfrm>
            <a:off x="1066680" y="2438280"/>
            <a:ext cx="7009560" cy="456480"/>
          </a:xfrm>
          <a:prstGeom prst="rect">
            <a:avLst/>
          </a:prstGeom>
          <a:solidFill>
            <a:schemeClr val="bg1"/>
          </a:solidFill>
          <a:ln w="0">
            <a:noFill/>
          </a:ln>
        </p:spPr>
        <p:style>
          <a:lnRef idx="0"/>
          <a:fillRef idx="0"/>
          <a:effectRef idx="0"/>
          <a:fontRef idx="minor"/>
        </p:style>
        <p:txBody>
          <a:bodyPr wrap="none" lIns="90000" rIns="90000" tIns="45000" bIns="45000" anchor="ctr">
            <a:noAutofit/>
          </a:bodyPr>
          <a:p>
            <a:pPr>
              <a:lnSpc>
                <a:spcPct val="100000"/>
              </a:lnSpc>
            </a:pPr>
            <a:endParaRPr b="0" lang="en-US" sz="2400" strike="noStrike" u="none">
              <a:solidFill>
                <a:schemeClr val="dk1"/>
              </a:solidFill>
              <a:effectLst/>
              <a:uFillTx/>
              <a:latin typeface="Arial"/>
              <a:ea typeface="ＭＳ Ｐゴシック"/>
            </a:endParaRPr>
          </a:p>
        </p:txBody>
      </p:sp>
      <p:sp>
        <p:nvSpPr>
          <p:cNvPr id="304" name="Rectangle 1"/>
          <p:cNvSpPr/>
          <p:nvPr/>
        </p:nvSpPr>
        <p:spPr>
          <a:xfrm>
            <a:off x="1066680" y="2509920"/>
            <a:ext cx="1599480" cy="461160"/>
          </a:xfrm>
          <a:prstGeom prst="rect">
            <a:avLst/>
          </a:prstGeom>
          <a:solidFill>
            <a:schemeClr val="bg1"/>
          </a:solidFill>
          <a:ln w="0">
            <a:noFill/>
          </a:ln>
        </p:spPr>
        <p:style>
          <a:lnRef idx="0"/>
          <a:fillRef idx="0"/>
          <a:effectRef idx="0"/>
          <a:fontRef idx="minor"/>
        </p:style>
        <p:txBody>
          <a:bodyPr wrap="none" lIns="90000" rIns="90000" tIns="45000" bIns="45000" anchor="t">
            <a:noAutofit/>
          </a:bodyPr>
          <a:p>
            <a:pPr>
              <a:lnSpc>
                <a:spcPct val="100000"/>
              </a:lnSpc>
            </a:pPr>
            <a:endParaRPr b="0" lang="en-US" sz="2400" strike="noStrike" u="none">
              <a:solidFill>
                <a:schemeClr val="dk1"/>
              </a:solidFill>
              <a:effectLst/>
              <a:uFillTx/>
              <a:latin typeface="Arial"/>
              <a:ea typeface="ＭＳ Ｐゴシック"/>
            </a:endParaRPr>
          </a:p>
        </p:txBody>
      </p:sp>
      <p:pic>
        <p:nvPicPr>
          <p:cNvPr id="305" name="Picture 6" descr=""/>
          <p:cNvPicPr/>
          <p:nvPr/>
        </p:nvPicPr>
        <p:blipFill>
          <a:blip r:embed="rId1"/>
          <a:stretch/>
        </p:blipFill>
        <p:spPr>
          <a:xfrm>
            <a:off x="955800" y="2516040"/>
            <a:ext cx="7038360" cy="3985560"/>
          </a:xfrm>
          <a:prstGeom prst="rect">
            <a:avLst/>
          </a:prstGeom>
          <a:noFill/>
          <a:ln w="0">
            <a:noFill/>
          </a:ln>
        </p:spPr>
      </p:pic>
    </p:spTree>
  </p:cSld>
  <p:transition spd="slow">
    <p:wipe dir="r"/>
  </p:transition>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13.2  MARGINAL UTILITY THEORY</a:t>
            </a:r>
            <a:endParaRPr b="0" lang="en-US" sz="2600" strike="noStrike" u="none">
              <a:solidFill>
                <a:srgbClr val="000000"/>
              </a:solidFill>
              <a:effectLst/>
              <a:uFillTx/>
              <a:latin typeface="Arial"/>
            </a:endParaRPr>
          </a:p>
        </p:txBody>
      </p:sp>
      <p:sp>
        <p:nvSpPr>
          <p:cNvPr id="307"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432000" indent="-32400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Finding an Individual Demand Curve</a:t>
            </a:r>
            <a:endParaRPr b="0" lang="en-US" sz="28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We have found one point on Tina’s demand curve for water:</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When her budget is $4 a day, water is $1 a bottle and gum is 50¢ a pack, Tina buys 2 bottles of water.</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To find another point on her demand curve for water, let’s change the price of water to 50¢ a bottle.</a:t>
            </a:r>
            <a:endParaRPr b="0" lang="en-US" sz="2400" strike="noStrike" u="none">
              <a:solidFill>
                <a:srgbClr val="000000"/>
              </a:solidFill>
              <a:effectLst/>
              <a:uFillTx/>
              <a:latin typeface="Arial"/>
            </a:endParaRPr>
          </a:p>
        </p:txBody>
      </p:sp>
    </p:spTree>
  </p:cSld>
  <p:transition spd="slow">
    <p:wipe dir="r"/>
  </p:transition>
  <p:timing>
    <p:tnLst>
      <p:par>
        <p:cTn id="728" dur="indefinite" restart="never" nodeType="tmRoot">
          <p:childTnLst>
            <p:seq>
              <p:cTn id="729" dur="indefinite" nodeType="mainSeq">
                <p:childTnLst>
                  <p:par>
                    <p:cTn id="730" nodeType="clickEffect" fill="hold">
                      <p:stCondLst>
                        <p:cond delay="indefinite"/>
                      </p:stCondLst>
                      <p:childTnLst>
                        <p:par>
                          <p:cTn id="731" nodeType="withEffect" fill="hold">
                            <p:stCondLst>
                              <p:cond delay="0"/>
                            </p:stCondLst>
                            <p:childTnLst>
                              <p:par>
                                <p:cTn id="732" nodeType="clickEffect" fill="hold" presetClass="entr" presetID="22" presetSubtype="8">
                                  <p:stCondLst>
                                    <p:cond delay="0"/>
                                  </p:stCondLst>
                                  <p:childTnLst>
                                    <p:set>
                                      <p:cBhvr>
                                        <p:cTn id="733" dur="1" fill="hold">
                                          <p:stCondLst>
                                            <p:cond delay="0"/>
                                          </p:stCondLst>
                                        </p:cTn>
                                        <p:tgtEl>
                                          <p:spTgt spid="307">
                                            <p:txEl>
                                              <p:pRg st="1" end="1"/>
                                            </p:txEl>
                                          </p:spTgt>
                                        </p:tgtEl>
                                        <p:attrNameLst>
                                          <p:attrName>style.visibility</p:attrName>
                                        </p:attrNameLst>
                                      </p:cBhvr>
                                      <p:to>
                                        <p:strVal val="visible"/>
                                      </p:to>
                                    </p:set>
                                    <p:animEffect filter="wipe(left)" transition="in">
                                      <p:cBhvr additive="repl">
                                        <p:cTn id="734" dur="500"/>
                                        <p:tgtEl>
                                          <p:spTgt spid="307">
                                            <p:txEl>
                                              <p:pRg st="1" end="1"/>
                                            </p:txEl>
                                          </p:spTgt>
                                        </p:tgtEl>
                                      </p:cBhvr>
                                    </p:animEffect>
                                  </p:childTnLst>
                                </p:cTn>
                              </p:par>
                            </p:childTnLst>
                          </p:cTn>
                        </p:par>
                      </p:childTnLst>
                    </p:cTn>
                  </p:par>
                  <p:par>
                    <p:cTn id="735" nodeType="clickEffect" fill="hold">
                      <p:stCondLst>
                        <p:cond delay="indefinite"/>
                      </p:stCondLst>
                      <p:childTnLst>
                        <p:par>
                          <p:cTn id="736" nodeType="withEffect" fill="hold">
                            <p:stCondLst>
                              <p:cond delay="0"/>
                            </p:stCondLst>
                            <p:childTnLst>
                              <p:par>
                                <p:cTn id="737" nodeType="clickEffect" fill="hold" presetClass="entr" presetID="22" presetSubtype="8">
                                  <p:stCondLst>
                                    <p:cond delay="0"/>
                                  </p:stCondLst>
                                  <p:childTnLst>
                                    <p:set>
                                      <p:cBhvr>
                                        <p:cTn id="738" dur="1" fill="hold">
                                          <p:stCondLst>
                                            <p:cond delay="0"/>
                                          </p:stCondLst>
                                        </p:cTn>
                                        <p:tgtEl>
                                          <p:spTgt spid="307">
                                            <p:txEl>
                                              <p:pRg st="2" end="2"/>
                                            </p:txEl>
                                          </p:spTgt>
                                        </p:tgtEl>
                                        <p:attrNameLst>
                                          <p:attrName>style.visibility</p:attrName>
                                        </p:attrNameLst>
                                      </p:cBhvr>
                                      <p:to>
                                        <p:strVal val="visible"/>
                                      </p:to>
                                    </p:set>
                                    <p:animEffect filter="wipe(left)" transition="in">
                                      <p:cBhvr additive="repl">
                                        <p:cTn id="739" dur="500"/>
                                        <p:tgtEl>
                                          <p:spTgt spid="307">
                                            <p:txEl>
                                              <p:pRg st="2" end="2"/>
                                            </p:txEl>
                                          </p:spTgt>
                                        </p:tgtEl>
                                      </p:cBhvr>
                                    </p:animEffect>
                                  </p:childTnLst>
                                </p:cTn>
                              </p:par>
                            </p:childTnLst>
                          </p:cTn>
                        </p:par>
                      </p:childTnLst>
                    </p:cTn>
                  </p:par>
                  <p:par>
                    <p:cTn id="740" nodeType="clickEffect" fill="hold">
                      <p:stCondLst>
                        <p:cond delay="indefinite"/>
                      </p:stCondLst>
                      <p:childTnLst>
                        <p:par>
                          <p:cTn id="741" nodeType="withEffect" fill="hold">
                            <p:stCondLst>
                              <p:cond delay="0"/>
                            </p:stCondLst>
                            <p:childTnLst>
                              <p:par>
                                <p:cTn id="742" nodeType="clickEffect" fill="hold" presetClass="entr" presetID="22" presetSubtype="8">
                                  <p:stCondLst>
                                    <p:cond delay="0"/>
                                  </p:stCondLst>
                                  <p:childTnLst>
                                    <p:set>
                                      <p:cBhvr>
                                        <p:cTn id="743" dur="1" fill="hold">
                                          <p:stCondLst>
                                            <p:cond delay="0"/>
                                          </p:stCondLst>
                                        </p:cTn>
                                        <p:tgtEl>
                                          <p:spTgt spid="307">
                                            <p:txEl>
                                              <p:pRg st="3" end="3"/>
                                            </p:txEl>
                                          </p:spTgt>
                                        </p:tgtEl>
                                        <p:attrNameLst>
                                          <p:attrName>style.visibility</p:attrName>
                                        </p:attrNameLst>
                                      </p:cBhvr>
                                      <p:to>
                                        <p:strVal val="visible"/>
                                      </p:to>
                                    </p:set>
                                    <p:animEffect filter="wipe(left)" transition="in">
                                      <p:cBhvr additive="repl">
                                        <p:cTn id="744" dur="500"/>
                                        <p:tgtEl>
                                          <p:spTgt spid="307">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13.2  MARGINAL UTILITY THEORY</a:t>
            </a:r>
            <a:endParaRPr b="0" lang="en-US" sz="2600" strike="noStrike" u="none">
              <a:solidFill>
                <a:srgbClr val="000000"/>
              </a:solidFill>
              <a:effectLst/>
              <a:uFillTx/>
              <a:latin typeface="Arial"/>
            </a:endParaRPr>
          </a:p>
        </p:txBody>
      </p:sp>
      <p:sp>
        <p:nvSpPr>
          <p:cNvPr id="309"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buNone/>
              <a:tabLst>
                <a:tab algn="l" pos="0"/>
              </a:tabLst>
            </a:pPr>
            <a:r>
              <a:rPr b="0" lang="en-US" sz="2400" strike="noStrike" u="none">
                <a:solidFill>
                  <a:srgbClr val="000000"/>
                </a:solidFill>
                <a:effectLst/>
                <a:uFillTx/>
                <a:latin typeface="Arial"/>
                <a:ea typeface="ＭＳ Ｐゴシック"/>
              </a:rPr>
              <a:t>A fall in the price of water increases the marginal utility per dollar from water, so Tina buys more water.</a:t>
            </a:r>
            <a:endParaRPr b="0" lang="en-US" sz="2400" strike="noStrike" u="none">
              <a:solidFill>
                <a:srgbClr val="000000"/>
              </a:solidFill>
              <a:effectLst/>
              <a:uFillTx/>
              <a:latin typeface="Arial"/>
            </a:endParaRPr>
          </a:p>
          <a:p>
            <a:pPr marL="360000" indent="0">
              <a:lnSpc>
                <a:spcPct val="100000"/>
              </a:lnSpc>
              <a:spcBef>
                <a:spcPts val="601"/>
              </a:spcBef>
              <a:buNone/>
              <a:tabLst>
                <a:tab algn="l" pos="0"/>
              </a:tabLst>
            </a:pPr>
            <a:r>
              <a:rPr b="0" lang="en-US" sz="2400" strike="noStrike" u="none">
                <a:solidFill>
                  <a:srgbClr val="000000"/>
                </a:solidFill>
                <a:effectLst/>
                <a:uFillTx/>
                <a:latin typeface="Arial"/>
                <a:ea typeface="ＭＳ Ｐゴシック"/>
              </a:rPr>
              <a:t>Table 13.3 shows Tina’s affordable combinations of water and gum when water is 50¢ a bottle.</a:t>
            </a:r>
            <a:endParaRPr b="0" lang="en-US" sz="2400" strike="noStrike" u="none">
              <a:solidFill>
                <a:srgbClr val="000000"/>
              </a:solidFill>
              <a:effectLst/>
              <a:uFillTx/>
              <a:latin typeface="Arial"/>
            </a:endParaRPr>
          </a:p>
        </p:txBody>
      </p:sp>
      <p:sp>
        <p:nvSpPr>
          <p:cNvPr id="310" name="Rectangle 1"/>
          <p:cNvSpPr/>
          <p:nvPr/>
        </p:nvSpPr>
        <p:spPr>
          <a:xfrm>
            <a:off x="838080" y="3048120"/>
            <a:ext cx="1675800" cy="380160"/>
          </a:xfrm>
          <a:prstGeom prst="rect">
            <a:avLst/>
          </a:prstGeom>
          <a:solidFill>
            <a:schemeClr val="bg1"/>
          </a:solidFill>
          <a:ln w="0">
            <a:noFill/>
          </a:ln>
        </p:spPr>
        <p:style>
          <a:lnRef idx="0"/>
          <a:fillRef idx="0"/>
          <a:effectRef idx="0"/>
          <a:fontRef idx="minor"/>
        </p:style>
        <p:txBody>
          <a:bodyPr wrap="none" lIns="90000" rIns="90000" tIns="45000" bIns="45000" anchor="t">
            <a:noAutofit/>
          </a:bodyPr>
          <a:p>
            <a:pPr>
              <a:lnSpc>
                <a:spcPct val="100000"/>
              </a:lnSpc>
            </a:pPr>
            <a:endParaRPr b="0" lang="en-US" sz="2400" strike="noStrike" u="none">
              <a:solidFill>
                <a:schemeClr val="dk1"/>
              </a:solidFill>
              <a:effectLst/>
              <a:uFillTx/>
              <a:latin typeface="Arial"/>
              <a:ea typeface="ＭＳ Ｐゴシック"/>
            </a:endParaRPr>
          </a:p>
        </p:txBody>
      </p:sp>
      <p:pic>
        <p:nvPicPr>
          <p:cNvPr id="311" name="Picture 2" descr=""/>
          <p:cNvPicPr/>
          <p:nvPr/>
        </p:nvPicPr>
        <p:blipFill>
          <a:blip r:embed="rId1"/>
          <a:stretch/>
        </p:blipFill>
        <p:spPr>
          <a:xfrm>
            <a:off x="955800" y="3220920"/>
            <a:ext cx="7038360" cy="3394800"/>
          </a:xfrm>
          <a:prstGeom prst="rect">
            <a:avLst/>
          </a:prstGeom>
          <a:noFill/>
          <a:ln w="0">
            <a:noFill/>
          </a:ln>
        </p:spPr>
      </p:pic>
    </p:spTree>
  </p:cSld>
  <p:transition spd="slow">
    <p:wipe dir="r"/>
  </p:transition>
  <p:timing>
    <p:tnLst>
      <p:par>
        <p:cTn id="745" dur="indefinite" restart="never" nodeType="tmRoot">
          <p:childTnLst>
            <p:seq>
              <p:cTn id="746" dur="indefinite" nodeType="mainSeq">
                <p:childTnLst>
                  <p:par>
                    <p:cTn id="747" nodeType="clickEffect" fill="hold">
                      <p:stCondLst>
                        <p:cond delay="indefinite"/>
                      </p:stCondLst>
                      <p:childTnLst>
                        <p:par>
                          <p:cTn id="748" nodeType="withEffect" fill="hold">
                            <p:stCondLst>
                              <p:cond delay="0"/>
                            </p:stCondLst>
                            <p:childTnLst>
                              <p:par>
                                <p:cTn id="749" nodeType="clickEffect" fill="hold" presetClass="entr" presetID="22" presetSubtype="8">
                                  <p:stCondLst>
                                    <p:cond delay="0"/>
                                  </p:stCondLst>
                                  <p:childTnLst>
                                    <p:set>
                                      <p:cBhvr>
                                        <p:cTn id="750" dur="1" fill="hold">
                                          <p:stCondLst>
                                            <p:cond delay="0"/>
                                          </p:stCondLst>
                                        </p:cTn>
                                        <p:tgtEl>
                                          <p:spTgt spid="309">
                                            <p:txEl>
                                              <p:pRg st="1" end="1"/>
                                            </p:txEl>
                                          </p:spTgt>
                                        </p:tgtEl>
                                        <p:attrNameLst>
                                          <p:attrName>style.visibility</p:attrName>
                                        </p:attrNameLst>
                                      </p:cBhvr>
                                      <p:to>
                                        <p:strVal val="visible"/>
                                      </p:to>
                                    </p:set>
                                    <p:animEffect filter="wipe(left)" transition="in">
                                      <p:cBhvr additive="repl">
                                        <p:cTn id="751" dur="500"/>
                                        <p:tgtEl>
                                          <p:spTgt spid="309">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13.2  MARGINAL UTILITY THEORY</a:t>
            </a:r>
            <a:endParaRPr b="0" lang="en-US" sz="2600" strike="noStrike" u="none">
              <a:solidFill>
                <a:srgbClr val="000000"/>
              </a:solidFill>
              <a:effectLst/>
              <a:uFillTx/>
              <a:latin typeface="Arial"/>
            </a:endParaRPr>
          </a:p>
        </p:txBody>
      </p:sp>
      <p:sp>
        <p:nvSpPr>
          <p:cNvPr id="313"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Row </a:t>
            </a:r>
            <a:r>
              <a:rPr b="0" i="1" lang="en-US" sz="2400" strike="noStrike" u="none">
                <a:solidFill>
                  <a:srgbClr val="000000"/>
                </a:solidFill>
                <a:effectLst/>
                <a:uFillTx/>
                <a:latin typeface="Arial"/>
                <a:ea typeface="ＭＳ Ｐゴシック"/>
              </a:rPr>
              <a:t>E</a:t>
            </a:r>
            <a:r>
              <a:rPr b="0" lang="en-US" sz="2400" strike="noStrike" u="none">
                <a:solidFill>
                  <a:srgbClr val="000000"/>
                </a:solidFill>
                <a:effectLst/>
                <a:uFillTx/>
                <a:latin typeface="Arial"/>
                <a:ea typeface="ＭＳ Ｐゴシック"/>
              </a:rPr>
              <a:t> shows Tina’s utility-maximizing quantities of water and gum.</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That is, when water is 50¢ a bottle (budget is $4 a day and gum is 50¢ a pack), Tina buys 4 bottles of water.</a:t>
            </a:r>
            <a:endParaRPr b="0" lang="en-US" sz="2400" strike="noStrike" u="none">
              <a:solidFill>
                <a:srgbClr val="000000"/>
              </a:solidFill>
              <a:effectLst/>
              <a:uFillTx/>
              <a:latin typeface="Arial"/>
            </a:endParaRPr>
          </a:p>
        </p:txBody>
      </p:sp>
      <p:sp>
        <p:nvSpPr>
          <p:cNvPr id="314" name="Rectangle 1"/>
          <p:cNvSpPr/>
          <p:nvPr/>
        </p:nvSpPr>
        <p:spPr>
          <a:xfrm>
            <a:off x="835200" y="3124080"/>
            <a:ext cx="1675800" cy="304200"/>
          </a:xfrm>
          <a:prstGeom prst="rect">
            <a:avLst/>
          </a:prstGeom>
          <a:solidFill>
            <a:schemeClr val="bg1"/>
          </a:solidFill>
          <a:ln w="0">
            <a:noFill/>
          </a:ln>
        </p:spPr>
        <p:style>
          <a:lnRef idx="0"/>
          <a:fillRef idx="0"/>
          <a:effectRef idx="0"/>
          <a:fontRef idx="minor"/>
        </p:style>
        <p:txBody>
          <a:bodyPr wrap="none" lIns="90000" rIns="90000" tIns="45000" bIns="45000" anchor="t">
            <a:noAutofit/>
          </a:bodyPr>
          <a:p>
            <a:pPr>
              <a:lnSpc>
                <a:spcPct val="100000"/>
              </a:lnSpc>
            </a:pPr>
            <a:endParaRPr b="0" lang="en-US" sz="2400" strike="noStrike" u="none">
              <a:solidFill>
                <a:schemeClr val="dk1"/>
              </a:solidFill>
              <a:effectLst/>
              <a:uFillTx/>
              <a:latin typeface="Arial"/>
              <a:ea typeface="ＭＳ Ｐゴシック"/>
            </a:endParaRPr>
          </a:p>
        </p:txBody>
      </p:sp>
      <p:pic>
        <p:nvPicPr>
          <p:cNvPr id="315" name="Picture 5" descr=""/>
          <p:cNvPicPr/>
          <p:nvPr/>
        </p:nvPicPr>
        <p:blipFill>
          <a:blip r:embed="rId1"/>
          <a:stretch/>
        </p:blipFill>
        <p:spPr>
          <a:xfrm>
            <a:off x="955800" y="3220920"/>
            <a:ext cx="7038360" cy="3394800"/>
          </a:xfrm>
          <a:prstGeom prst="rect">
            <a:avLst/>
          </a:prstGeom>
          <a:noFill/>
          <a:ln w="0">
            <a:noFill/>
          </a:ln>
        </p:spPr>
      </p:pic>
    </p:spTree>
  </p:cSld>
  <p:transition spd="slow">
    <p:wipe dir="r"/>
  </p:transition>
  <p:timing>
    <p:tnLst>
      <p:par>
        <p:cTn id="752" dur="indefinite" restart="never" nodeType="tmRoot">
          <p:childTnLst>
            <p:seq>
              <p:cTn id="753" dur="indefinite" nodeType="mainSeq">
                <p:childTnLst>
                  <p:par>
                    <p:cTn id="754" nodeType="clickEffect" fill="hold">
                      <p:stCondLst>
                        <p:cond delay="indefinite"/>
                      </p:stCondLst>
                      <p:childTnLst>
                        <p:par>
                          <p:cTn id="755" nodeType="withEffect" fill="hold">
                            <p:stCondLst>
                              <p:cond delay="0"/>
                            </p:stCondLst>
                            <p:childTnLst>
                              <p:par>
                                <p:cTn id="756" nodeType="clickEffect" fill="hold" presetClass="entr" presetID="22" presetSubtype="8">
                                  <p:stCondLst>
                                    <p:cond delay="0"/>
                                  </p:stCondLst>
                                  <p:childTnLst>
                                    <p:set>
                                      <p:cBhvr>
                                        <p:cTn id="757" dur="1" fill="hold">
                                          <p:stCondLst>
                                            <p:cond delay="0"/>
                                          </p:stCondLst>
                                        </p:cTn>
                                        <p:tgtEl>
                                          <p:spTgt spid="313">
                                            <p:txEl>
                                              <p:pRg st="1" end="1"/>
                                            </p:txEl>
                                          </p:spTgt>
                                        </p:tgtEl>
                                        <p:attrNameLst>
                                          <p:attrName>style.visibility</p:attrName>
                                        </p:attrNameLst>
                                      </p:cBhvr>
                                      <p:to>
                                        <p:strVal val="visible"/>
                                      </p:to>
                                    </p:set>
                                    <p:animEffect filter="wipe(left)" transition="in">
                                      <p:cBhvr additive="repl">
                                        <p:cTn id="758" dur="500"/>
                                        <p:tgtEl>
                                          <p:spTgt spid="313">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13.2  MARGINAL UTILITY THEORY</a:t>
            </a:r>
            <a:endParaRPr b="0" lang="en-US" sz="2600" strike="noStrike" u="none">
              <a:solidFill>
                <a:srgbClr val="000000"/>
              </a:solidFill>
              <a:effectLst/>
              <a:uFillTx/>
              <a:latin typeface="Arial"/>
            </a:endParaRPr>
          </a:p>
        </p:txBody>
      </p:sp>
      <p:sp>
        <p:nvSpPr>
          <p:cNvPr id="317" name="PlaceHolder 2"/>
          <p:cNvSpPr>
            <a:spLocks noGrp="1"/>
          </p:cNvSpPr>
          <p:nvPr>
            <p:ph/>
          </p:nvPr>
        </p:nvSpPr>
        <p:spPr>
          <a:xfrm>
            <a:off x="360360" y="1440000"/>
            <a:ext cx="383004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Figure 13.6 shows Tina’s demand curve for bottled water when her budget is $4 a day and gum is 50¢ a pack.</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When water is $1 a bottle, Tina buys 2 bottles and is at point </a:t>
            </a:r>
            <a:r>
              <a:rPr b="0" i="1" lang="en-US" sz="2400" strike="noStrike" u="none">
                <a:solidFill>
                  <a:srgbClr val="000000"/>
                </a:solidFill>
                <a:effectLst/>
                <a:uFillTx/>
                <a:latin typeface="Arial"/>
                <a:ea typeface="ＭＳ Ｐゴシック"/>
              </a:rPr>
              <a:t>C</a:t>
            </a:r>
            <a:r>
              <a:rPr b="0" lang="en-US" sz="2400" strike="noStrike" u="none">
                <a:solidFill>
                  <a:srgbClr val="000000"/>
                </a:solidFill>
                <a:effectLst/>
                <a:uFillTx/>
                <a:latin typeface="Arial"/>
                <a:ea typeface="ＭＳ Ｐゴシック"/>
              </a:rPr>
              <a:t>.</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When water falls to 50¢ a bottle, Tina buys 4 bottles and moves to point </a:t>
            </a:r>
            <a:r>
              <a:rPr b="0" i="1" lang="en-US" sz="2400" strike="noStrike" u="none">
                <a:solidFill>
                  <a:srgbClr val="000000"/>
                </a:solidFill>
                <a:effectLst/>
                <a:uFillTx/>
                <a:latin typeface="Arial"/>
                <a:ea typeface="ＭＳ Ｐゴシック"/>
              </a:rPr>
              <a:t>E</a:t>
            </a:r>
            <a:r>
              <a:rPr b="0" lang="en-US" sz="2400" strike="noStrike" u="none">
                <a:solidFill>
                  <a:srgbClr val="000000"/>
                </a:solidFill>
                <a:effectLst/>
                <a:uFillTx/>
                <a:latin typeface="Arial"/>
                <a:ea typeface="ＭＳ Ｐゴシック"/>
              </a:rPr>
              <a:t>.</a:t>
            </a:r>
            <a:endParaRPr b="0" lang="en-US" sz="2400" strike="noStrike" u="none">
              <a:solidFill>
                <a:srgbClr val="000000"/>
              </a:solidFill>
              <a:effectLst/>
              <a:uFillTx/>
              <a:latin typeface="Arial"/>
            </a:endParaRPr>
          </a:p>
        </p:txBody>
      </p:sp>
      <p:pic>
        <p:nvPicPr>
          <p:cNvPr id="318" name="Picture 1" descr="fig1206a.gif"/>
          <p:cNvPicPr/>
          <p:nvPr/>
        </p:nvPicPr>
        <p:blipFill>
          <a:blip r:embed="rId1"/>
          <a:stretch/>
        </p:blipFill>
        <p:spPr>
          <a:xfrm>
            <a:off x="4248000" y="1440000"/>
            <a:ext cx="4412520" cy="4512600"/>
          </a:xfrm>
          <a:prstGeom prst="rect">
            <a:avLst/>
          </a:prstGeom>
          <a:noFill/>
          <a:ln w="0">
            <a:noFill/>
          </a:ln>
        </p:spPr>
      </p:pic>
      <p:pic>
        <p:nvPicPr>
          <p:cNvPr id="319" name="Picture 2" descr="fig1206b.gif"/>
          <p:cNvPicPr/>
          <p:nvPr/>
        </p:nvPicPr>
        <p:blipFill>
          <a:blip r:embed="rId2"/>
          <a:stretch/>
        </p:blipFill>
        <p:spPr>
          <a:xfrm>
            <a:off x="4248000" y="1440000"/>
            <a:ext cx="4412520" cy="4512600"/>
          </a:xfrm>
          <a:prstGeom prst="rect">
            <a:avLst/>
          </a:prstGeom>
          <a:noFill/>
          <a:ln w="0">
            <a:noFill/>
          </a:ln>
        </p:spPr>
      </p:pic>
      <p:pic>
        <p:nvPicPr>
          <p:cNvPr id="320" name="Picture 3" descr="fig1206c.gif"/>
          <p:cNvPicPr/>
          <p:nvPr/>
        </p:nvPicPr>
        <p:blipFill>
          <a:blip r:embed="rId3"/>
          <a:stretch/>
        </p:blipFill>
        <p:spPr>
          <a:xfrm>
            <a:off x="4248000" y="1440000"/>
            <a:ext cx="4412520" cy="4512600"/>
          </a:xfrm>
          <a:prstGeom prst="rect">
            <a:avLst/>
          </a:prstGeom>
          <a:noFill/>
          <a:ln w="0">
            <a:noFill/>
          </a:ln>
        </p:spPr>
      </p:pic>
      <p:pic>
        <p:nvPicPr>
          <p:cNvPr id="321" name="Picture 4" descr="fig1206d.gif"/>
          <p:cNvPicPr/>
          <p:nvPr/>
        </p:nvPicPr>
        <p:blipFill>
          <a:blip r:embed="rId4"/>
          <a:stretch/>
        </p:blipFill>
        <p:spPr>
          <a:xfrm>
            <a:off x="4248000" y="1440000"/>
            <a:ext cx="4412520" cy="4512600"/>
          </a:xfrm>
          <a:prstGeom prst="rect">
            <a:avLst/>
          </a:prstGeom>
          <a:noFill/>
          <a:ln w="0">
            <a:noFill/>
          </a:ln>
        </p:spPr>
      </p:pic>
    </p:spTree>
  </p:cSld>
  <p:transition spd="slow">
    <p:wipe dir="r"/>
  </p:transition>
  <p:timing>
    <p:tnLst>
      <p:par>
        <p:cTn id="759" dur="indefinite" restart="never" nodeType="tmRoot">
          <p:childTnLst>
            <p:seq>
              <p:cTn id="760" dur="indefinite" nodeType="mainSeq">
                <p:childTnLst>
                  <p:par>
                    <p:cTn id="761" nodeType="clickEffect" fill="hold">
                      <p:stCondLst>
                        <p:cond delay="indefinite"/>
                      </p:stCondLst>
                      <p:childTnLst>
                        <p:par>
                          <p:cTn id="762" nodeType="withEffect" fill="hold">
                            <p:stCondLst>
                              <p:cond delay="0"/>
                            </p:stCondLst>
                            <p:childTnLst>
                              <p:par>
                                <p:cTn id="763" nodeType="clickEffect" fill="hold" presetClass="entr" presetID="22" presetSubtype="8">
                                  <p:stCondLst>
                                    <p:cond delay="0"/>
                                  </p:stCondLst>
                                  <p:childTnLst>
                                    <p:set>
                                      <p:cBhvr>
                                        <p:cTn id="764" dur="1" fill="hold">
                                          <p:stCondLst>
                                            <p:cond delay="0"/>
                                          </p:stCondLst>
                                        </p:cTn>
                                        <p:tgtEl>
                                          <p:spTgt spid="317">
                                            <p:txEl>
                                              <p:pRg st="1" end="1"/>
                                            </p:txEl>
                                          </p:spTgt>
                                        </p:tgtEl>
                                        <p:attrNameLst>
                                          <p:attrName>style.visibility</p:attrName>
                                        </p:attrNameLst>
                                      </p:cBhvr>
                                      <p:to>
                                        <p:strVal val="visible"/>
                                      </p:to>
                                    </p:set>
                                    <p:animEffect filter="wipe(left)" transition="in">
                                      <p:cBhvr additive="repl">
                                        <p:cTn id="765" dur="500"/>
                                        <p:tgtEl>
                                          <p:spTgt spid="317">
                                            <p:txEl>
                                              <p:pRg st="1" end="1"/>
                                            </p:txEl>
                                          </p:spTgt>
                                        </p:tgtEl>
                                      </p:cBhvr>
                                    </p:animEffect>
                                  </p:childTnLst>
                                </p:cTn>
                              </p:par>
                              <p:par>
                                <p:cTn id="766" nodeType="withEffect" fill="hold" presetClass="entr" presetID="10">
                                  <p:stCondLst>
                                    <p:cond delay="0"/>
                                  </p:stCondLst>
                                  <p:childTnLst>
                                    <p:set>
                                      <p:cBhvr>
                                        <p:cTn id="767" dur="1" fill="hold">
                                          <p:stCondLst>
                                            <p:cond delay="0"/>
                                          </p:stCondLst>
                                        </p:cTn>
                                        <p:tgtEl>
                                          <p:spTgt spid="319"/>
                                        </p:tgtEl>
                                        <p:attrNameLst>
                                          <p:attrName>style.visibility</p:attrName>
                                        </p:attrNameLst>
                                      </p:cBhvr>
                                      <p:to>
                                        <p:strVal val="visible"/>
                                      </p:to>
                                    </p:set>
                                    <p:animEffect filter="fade" transition="in">
                                      <p:cBhvr additive="repl">
                                        <p:cTn id="768" dur="500"/>
                                        <p:tgtEl>
                                          <p:spTgt spid="319"/>
                                        </p:tgtEl>
                                      </p:cBhvr>
                                    </p:animEffect>
                                  </p:childTnLst>
                                </p:cTn>
                              </p:par>
                            </p:childTnLst>
                          </p:cTn>
                        </p:par>
                      </p:childTnLst>
                    </p:cTn>
                  </p:par>
                  <p:par>
                    <p:cTn id="769" nodeType="clickEffect" fill="hold">
                      <p:stCondLst>
                        <p:cond delay="indefinite"/>
                      </p:stCondLst>
                      <p:childTnLst>
                        <p:par>
                          <p:cTn id="770" nodeType="withEffect" fill="hold">
                            <p:stCondLst>
                              <p:cond delay="0"/>
                            </p:stCondLst>
                            <p:childTnLst>
                              <p:par>
                                <p:cTn id="771" nodeType="clickEffect" fill="hold" presetClass="entr" presetID="22" presetSubtype="8">
                                  <p:stCondLst>
                                    <p:cond delay="0"/>
                                  </p:stCondLst>
                                  <p:childTnLst>
                                    <p:set>
                                      <p:cBhvr>
                                        <p:cTn id="772" dur="1" fill="hold">
                                          <p:stCondLst>
                                            <p:cond delay="0"/>
                                          </p:stCondLst>
                                        </p:cTn>
                                        <p:tgtEl>
                                          <p:spTgt spid="317">
                                            <p:txEl>
                                              <p:pRg st="2" end="2"/>
                                            </p:txEl>
                                          </p:spTgt>
                                        </p:tgtEl>
                                        <p:attrNameLst>
                                          <p:attrName>style.visibility</p:attrName>
                                        </p:attrNameLst>
                                      </p:cBhvr>
                                      <p:to>
                                        <p:strVal val="visible"/>
                                      </p:to>
                                    </p:set>
                                    <p:animEffect filter="wipe(left)" transition="in">
                                      <p:cBhvr additive="repl">
                                        <p:cTn id="773" dur="500"/>
                                        <p:tgtEl>
                                          <p:spTgt spid="317">
                                            <p:txEl>
                                              <p:pRg st="2" end="2"/>
                                            </p:txEl>
                                          </p:spTgt>
                                        </p:tgtEl>
                                      </p:cBhvr>
                                    </p:animEffect>
                                  </p:childTnLst>
                                </p:cTn>
                              </p:par>
                              <p:par>
                                <p:cTn id="774" nodeType="withEffect" fill="hold" presetClass="entr" presetID="10">
                                  <p:stCondLst>
                                    <p:cond delay="0"/>
                                  </p:stCondLst>
                                  <p:childTnLst>
                                    <p:set>
                                      <p:cBhvr>
                                        <p:cTn id="775" dur="1" fill="hold">
                                          <p:stCondLst>
                                            <p:cond delay="0"/>
                                          </p:stCondLst>
                                        </p:cTn>
                                        <p:tgtEl>
                                          <p:spTgt spid="320"/>
                                        </p:tgtEl>
                                        <p:attrNameLst>
                                          <p:attrName>style.visibility</p:attrName>
                                        </p:attrNameLst>
                                      </p:cBhvr>
                                      <p:to>
                                        <p:strVal val="visible"/>
                                      </p:to>
                                    </p:set>
                                    <p:animEffect filter="fade" transition="in">
                                      <p:cBhvr additive="repl">
                                        <p:cTn id="776" dur="500"/>
                                        <p:tgtEl>
                                          <p:spTgt spid="320"/>
                                        </p:tgtEl>
                                      </p:cBhvr>
                                    </p:animEffect>
                                  </p:childTnLst>
                                </p:cTn>
                              </p:par>
                              <p:par>
                                <p:cTn id="777" nodeType="withEffect" fill="hold" presetClass="entr" presetID="22" presetSubtype="8">
                                  <p:stCondLst>
                                    <p:cond delay="300"/>
                                  </p:stCondLst>
                                  <p:childTnLst>
                                    <p:set>
                                      <p:cBhvr>
                                        <p:cTn id="778" dur="1" fill="hold">
                                          <p:stCondLst>
                                            <p:cond delay="0"/>
                                          </p:stCondLst>
                                        </p:cTn>
                                        <p:tgtEl>
                                          <p:spTgt spid="321"/>
                                        </p:tgtEl>
                                        <p:attrNameLst>
                                          <p:attrName>style.visibility</p:attrName>
                                        </p:attrNameLst>
                                      </p:cBhvr>
                                      <p:to>
                                        <p:strVal val="visible"/>
                                      </p:to>
                                    </p:set>
                                    <p:animEffect filter="wipe(left)" transition="in">
                                      <p:cBhvr additive="repl">
                                        <p:cTn id="779" dur="1000"/>
                                        <p:tgtEl>
                                          <p:spTgt spid="3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322" name="Picture 1" descr="fig1206a.gif"/>
          <p:cNvPicPr/>
          <p:nvPr/>
        </p:nvPicPr>
        <p:blipFill>
          <a:blip r:embed="rId1"/>
          <a:stretch/>
        </p:blipFill>
        <p:spPr>
          <a:xfrm>
            <a:off x="1676520" y="228600"/>
            <a:ext cx="5988960" cy="6125400"/>
          </a:xfrm>
          <a:prstGeom prst="rect">
            <a:avLst/>
          </a:prstGeom>
          <a:noFill/>
          <a:ln w="0">
            <a:noFill/>
          </a:ln>
        </p:spPr>
      </p:pic>
      <p:pic>
        <p:nvPicPr>
          <p:cNvPr id="323" name="Picture 2" descr="fig1206b.gif"/>
          <p:cNvPicPr/>
          <p:nvPr/>
        </p:nvPicPr>
        <p:blipFill>
          <a:blip r:embed="rId2"/>
          <a:stretch/>
        </p:blipFill>
        <p:spPr>
          <a:xfrm>
            <a:off x="1676520" y="228600"/>
            <a:ext cx="5988960" cy="6125400"/>
          </a:xfrm>
          <a:prstGeom prst="rect">
            <a:avLst/>
          </a:prstGeom>
          <a:noFill/>
          <a:ln w="0">
            <a:noFill/>
          </a:ln>
        </p:spPr>
      </p:pic>
      <p:pic>
        <p:nvPicPr>
          <p:cNvPr id="324" name="Picture 3" descr="fig1206c.gif"/>
          <p:cNvPicPr/>
          <p:nvPr/>
        </p:nvPicPr>
        <p:blipFill>
          <a:blip r:embed="rId3"/>
          <a:stretch/>
        </p:blipFill>
        <p:spPr>
          <a:xfrm>
            <a:off x="1676520" y="228600"/>
            <a:ext cx="5988960" cy="6125400"/>
          </a:xfrm>
          <a:prstGeom prst="rect">
            <a:avLst/>
          </a:prstGeom>
          <a:noFill/>
          <a:ln w="0">
            <a:noFill/>
          </a:ln>
        </p:spPr>
      </p:pic>
      <p:pic>
        <p:nvPicPr>
          <p:cNvPr id="325" name="Picture 4" descr="fig1206d.gif"/>
          <p:cNvPicPr/>
          <p:nvPr/>
        </p:nvPicPr>
        <p:blipFill>
          <a:blip r:embed="rId4"/>
          <a:stretch/>
        </p:blipFill>
        <p:spPr>
          <a:xfrm>
            <a:off x="1676520" y="228600"/>
            <a:ext cx="5988960" cy="6125400"/>
          </a:xfrm>
          <a:prstGeom prst="rect">
            <a:avLst/>
          </a:prstGeom>
          <a:noFill/>
          <a:ln w="0">
            <a:noFill/>
          </a:ln>
        </p:spPr>
      </p:pic>
    </p:spTree>
  </p:cSld>
  <p:transition spd="slow">
    <p:wipe dir="r"/>
  </p:transition>
  <p:timing>
    <p:tnLst>
      <p:par>
        <p:cTn id="780" dur="indefinite" restart="never" nodeType="tmRoot">
          <p:childTnLst>
            <p:seq>
              <p:cTn id="781" dur="indefinite" nodeType="mainSeq">
                <p:childTnLst>
                  <p:par>
                    <p:cTn id="782" nodeType="clickEffect" fill="hold">
                      <p:stCondLst>
                        <p:cond delay="indefinite"/>
                      </p:stCondLst>
                      <p:childTnLst>
                        <p:par>
                          <p:cTn id="783" nodeType="withEffect" fill="hold">
                            <p:stCondLst>
                              <p:cond delay="0"/>
                            </p:stCondLst>
                            <p:childTnLst>
                              <p:par>
                                <p:cTn id="784" nodeType="clickEffect" fill="hold" presetClass="entr" presetID="10">
                                  <p:stCondLst>
                                    <p:cond delay="0"/>
                                  </p:stCondLst>
                                  <p:childTnLst>
                                    <p:set>
                                      <p:cBhvr>
                                        <p:cTn id="785" dur="1" fill="hold">
                                          <p:stCondLst>
                                            <p:cond delay="0"/>
                                          </p:stCondLst>
                                        </p:cTn>
                                        <p:tgtEl>
                                          <p:spTgt spid="323"/>
                                        </p:tgtEl>
                                        <p:attrNameLst>
                                          <p:attrName>style.visibility</p:attrName>
                                        </p:attrNameLst>
                                      </p:cBhvr>
                                      <p:to>
                                        <p:strVal val="visible"/>
                                      </p:to>
                                    </p:set>
                                    <p:animEffect filter="fade" transition="in">
                                      <p:cBhvr additive="repl">
                                        <p:cTn id="786" dur="500"/>
                                        <p:tgtEl>
                                          <p:spTgt spid="323"/>
                                        </p:tgtEl>
                                      </p:cBhvr>
                                    </p:animEffect>
                                  </p:childTnLst>
                                </p:cTn>
                              </p:par>
                            </p:childTnLst>
                          </p:cTn>
                        </p:par>
                      </p:childTnLst>
                    </p:cTn>
                  </p:par>
                  <p:par>
                    <p:cTn id="787" nodeType="clickEffect" fill="hold">
                      <p:stCondLst>
                        <p:cond delay="indefinite"/>
                      </p:stCondLst>
                      <p:childTnLst>
                        <p:par>
                          <p:cTn id="788" nodeType="withEffect" fill="hold">
                            <p:stCondLst>
                              <p:cond delay="0"/>
                            </p:stCondLst>
                            <p:childTnLst>
                              <p:par>
                                <p:cTn id="789" nodeType="clickEffect" fill="hold" presetClass="entr" presetID="10">
                                  <p:stCondLst>
                                    <p:cond delay="0"/>
                                  </p:stCondLst>
                                  <p:childTnLst>
                                    <p:set>
                                      <p:cBhvr>
                                        <p:cTn id="790" dur="1" fill="hold">
                                          <p:stCondLst>
                                            <p:cond delay="0"/>
                                          </p:stCondLst>
                                        </p:cTn>
                                        <p:tgtEl>
                                          <p:spTgt spid="324"/>
                                        </p:tgtEl>
                                        <p:attrNameLst>
                                          <p:attrName>style.visibility</p:attrName>
                                        </p:attrNameLst>
                                      </p:cBhvr>
                                      <p:to>
                                        <p:strVal val="visible"/>
                                      </p:to>
                                    </p:set>
                                    <p:animEffect filter="fade" transition="in">
                                      <p:cBhvr additive="repl">
                                        <p:cTn id="791" dur="500"/>
                                        <p:tgtEl>
                                          <p:spTgt spid="324"/>
                                        </p:tgtEl>
                                      </p:cBhvr>
                                    </p:animEffect>
                                  </p:childTnLst>
                                </p:cTn>
                              </p:par>
                            </p:childTnLst>
                          </p:cTn>
                        </p:par>
                      </p:childTnLst>
                    </p:cTn>
                  </p:par>
                  <p:par>
                    <p:cTn id="792" nodeType="clickEffect" fill="hold">
                      <p:stCondLst>
                        <p:cond delay="indefinite"/>
                      </p:stCondLst>
                      <p:childTnLst>
                        <p:par>
                          <p:cTn id="793" nodeType="withEffect" fill="hold">
                            <p:stCondLst>
                              <p:cond delay="0"/>
                            </p:stCondLst>
                            <p:childTnLst>
                              <p:par>
                                <p:cTn id="794" nodeType="clickEffect" fill="hold" presetClass="entr" presetID="22" presetSubtype="8">
                                  <p:stCondLst>
                                    <p:cond delay="0"/>
                                  </p:stCondLst>
                                  <p:childTnLst>
                                    <p:set>
                                      <p:cBhvr>
                                        <p:cTn id="795" dur="1" fill="hold">
                                          <p:stCondLst>
                                            <p:cond delay="0"/>
                                          </p:stCondLst>
                                        </p:cTn>
                                        <p:tgtEl>
                                          <p:spTgt spid="325"/>
                                        </p:tgtEl>
                                        <p:attrNameLst>
                                          <p:attrName>style.visibility</p:attrName>
                                        </p:attrNameLst>
                                      </p:cBhvr>
                                      <p:to>
                                        <p:strVal val="visible"/>
                                      </p:to>
                                    </p:set>
                                    <p:animEffect filter="wipe(left)" transition="in">
                                      <p:cBhvr additive="repl">
                                        <p:cTn id="796" dur="1000"/>
                                        <p:tgtEl>
                                          <p:spTgt spid="3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APPENDIX: INDIFFERENCE CURVES</a:t>
            </a:r>
            <a:endParaRPr b="0" lang="en-US" sz="2600" strike="noStrike" u="none">
              <a:solidFill>
                <a:srgbClr val="000000"/>
              </a:solidFill>
              <a:effectLst/>
              <a:uFillTx/>
              <a:latin typeface="Arial"/>
            </a:endParaRPr>
          </a:p>
        </p:txBody>
      </p:sp>
      <p:sp>
        <p:nvSpPr>
          <p:cNvPr id="327"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An Indifference Curve</a:t>
            </a:r>
            <a:endParaRPr b="0" lang="en-US" sz="28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An </a:t>
            </a:r>
            <a:r>
              <a:rPr b="1" lang="en-US" sz="2400" strike="noStrike" u="none">
                <a:solidFill>
                  <a:srgbClr val="ff0000"/>
                </a:solidFill>
                <a:effectLst/>
                <a:uFillTx/>
                <a:latin typeface="Arial"/>
                <a:ea typeface="ＭＳ Ｐゴシック"/>
              </a:rPr>
              <a:t>indifference curve</a:t>
            </a:r>
            <a:r>
              <a:rPr b="0" lang="en-US" sz="2400" strike="noStrike" u="none">
                <a:solidFill>
                  <a:srgbClr val="000000"/>
                </a:solidFill>
                <a:effectLst/>
                <a:uFillTx/>
                <a:latin typeface="Arial"/>
                <a:ea typeface="ＭＳ Ｐゴシック"/>
              </a:rPr>
              <a:t> is a line that shows combinations of goods among which a consumer is indifferent.</a:t>
            </a:r>
            <a:endParaRPr b="0" lang="en-US" sz="2400" strike="noStrike" u="none">
              <a:solidFill>
                <a:srgbClr val="000000"/>
              </a:solidFill>
              <a:effectLst/>
              <a:uFillTx/>
              <a:latin typeface="Arial"/>
            </a:endParaRPr>
          </a:p>
        </p:txBody>
      </p:sp>
    </p:spTree>
  </p:cSld>
  <p:transition spd="slow">
    <p:wipe dir="r"/>
  </p:transition>
  <p:timing>
    <p:tnLst>
      <p:par>
        <p:cTn id="797" dur="indefinite" restart="never" nodeType="tmRoot">
          <p:childTnLst>
            <p:seq>
              <p:cTn id="798" dur="indefinite" nodeType="mainSeq">
                <p:childTnLst>
                  <p:par>
                    <p:cTn id="799" nodeType="clickEffect" fill="hold">
                      <p:stCondLst>
                        <p:cond delay="indefinite"/>
                      </p:stCondLst>
                      <p:childTnLst>
                        <p:par>
                          <p:cTn id="800" nodeType="withEffect" fill="hold">
                            <p:stCondLst>
                              <p:cond delay="0"/>
                            </p:stCondLst>
                            <p:childTnLst>
                              <p:par>
                                <p:cTn id="801" nodeType="clickEffect" fill="hold" presetClass="entr" presetID="22" presetSubtype="8">
                                  <p:stCondLst>
                                    <p:cond delay="0"/>
                                  </p:stCondLst>
                                  <p:childTnLst>
                                    <p:set>
                                      <p:cBhvr>
                                        <p:cTn id="802" dur="1" fill="hold">
                                          <p:stCondLst>
                                            <p:cond delay="0"/>
                                          </p:stCondLst>
                                        </p:cTn>
                                        <p:tgtEl>
                                          <p:spTgt spid="327">
                                            <p:txEl>
                                              <p:pRg st="1" end="1"/>
                                            </p:txEl>
                                          </p:spTgt>
                                        </p:tgtEl>
                                        <p:attrNameLst>
                                          <p:attrName>style.visibility</p:attrName>
                                        </p:attrNameLst>
                                      </p:cBhvr>
                                      <p:to>
                                        <p:strVal val="visible"/>
                                      </p:to>
                                    </p:set>
                                    <p:animEffect filter="wipe(left)" transition="in">
                                      <p:cBhvr additive="repl">
                                        <p:cTn id="803" dur="500"/>
                                        <p:tgtEl>
                                          <p:spTgt spid="327">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APPENDIX: INDIFFERENCE CURVES</a:t>
            </a:r>
            <a:endParaRPr b="0" lang="en-US" sz="2600" strike="noStrike" u="none">
              <a:solidFill>
                <a:srgbClr val="000000"/>
              </a:solidFill>
              <a:effectLst/>
              <a:uFillTx/>
              <a:latin typeface="Arial"/>
            </a:endParaRPr>
          </a:p>
        </p:txBody>
      </p:sp>
      <p:sp>
        <p:nvSpPr>
          <p:cNvPr id="329" name="PlaceHolder 2"/>
          <p:cNvSpPr>
            <a:spLocks noGrp="1"/>
          </p:cNvSpPr>
          <p:nvPr>
            <p:ph/>
          </p:nvPr>
        </p:nvSpPr>
        <p:spPr>
          <a:xfrm>
            <a:off x="360360" y="1440000"/>
            <a:ext cx="817344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Figure A13.1 shows Tina’s indifference curve and Tina’s preference map. </a:t>
            </a:r>
            <a:endParaRPr b="0" lang="en-US" sz="2400" strike="noStrike" u="none">
              <a:solidFill>
                <a:srgbClr val="000000"/>
              </a:solidFill>
              <a:effectLst/>
              <a:uFillTx/>
              <a:latin typeface="Arial"/>
            </a:endParaRPr>
          </a:p>
        </p:txBody>
      </p:sp>
      <p:pic>
        <p:nvPicPr>
          <p:cNvPr id="330" name="Picture 21" descr="apx1201a.gif"/>
          <p:cNvPicPr/>
          <p:nvPr/>
        </p:nvPicPr>
        <p:blipFill>
          <a:blip r:embed="rId1"/>
          <a:stretch/>
        </p:blipFill>
        <p:spPr>
          <a:xfrm>
            <a:off x="1224000" y="2519280"/>
            <a:ext cx="6627240" cy="3841200"/>
          </a:xfrm>
          <a:prstGeom prst="rect">
            <a:avLst/>
          </a:prstGeom>
          <a:noFill/>
          <a:ln w="0">
            <a:noFill/>
          </a:ln>
        </p:spPr>
      </p:pic>
    </p:spTree>
  </p:cSld>
  <p:transition spd="med">
    <p:wipe dir="r"/>
  </p:transition>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331" name="Picture 22" descr="apx1201a.gif"/>
          <p:cNvPicPr/>
          <p:nvPr/>
        </p:nvPicPr>
        <p:blipFill>
          <a:blip r:embed="rId1"/>
          <a:stretch/>
        </p:blipFill>
        <p:spPr>
          <a:xfrm>
            <a:off x="1440" y="990720"/>
            <a:ext cx="8379720" cy="4857120"/>
          </a:xfrm>
          <a:prstGeom prst="rect">
            <a:avLst/>
          </a:prstGeom>
          <a:noFill/>
          <a:ln w="0">
            <a:noFill/>
          </a:ln>
        </p:spPr>
      </p:pic>
      <p:pic>
        <p:nvPicPr>
          <p:cNvPr id="332" name="Picture 23" descr="apx1201b.gif"/>
          <p:cNvPicPr/>
          <p:nvPr/>
        </p:nvPicPr>
        <p:blipFill>
          <a:blip r:embed="rId2"/>
          <a:stretch/>
        </p:blipFill>
        <p:spPr>
          <a:xfrm>
            <a:off x="1440" y="990720"/>
            <a:ext cx="8379720" cy="4857120"/>
          </a:xfrm>
          <a:prstGeom prst="rect">
            <a:avLst/>
          </a:prstGeom>
          <a:noFill/>
          <a:ln w="0">
            <a:noFill/>
          </a:ln>
        </p:spPr>
      </p:pic>
      <p:pic>
        <p:nvPicPr>
          <p:cNvPr id="333" name="Picture 24" descr="apx1201c.gif"/>
          <p:cNvPicPr/>
          <p:nvPr/>
        </p:nvPicPr>
        <p:blipFill>
          <a:blip r:embed="rId3"/>
          <a:stretch/>
        </p:blipFill>
        <p:spPr>
          <a:xfrm>
            <a:off x="1440" y="990720"/>
            <a:ext cx="8379720" cy="4857120"/>
          </a:xfrm>
          <a:prstGeom prst="rect">
            <a:avLst/>
          </a:prstGeom>
          <a:noFill/>
          <a:ln w="0">
            <a:noFill/>
          </a:ln>
        </p:spPr>
      </p:pic>
      <p:pic>
        <p:nvPicPr>
          <p:cNvPr id="334" name="Picture 25" descr="apx1201d.gif"/>
          <p:cNvPicPr/>
          <p:nvPr/>
        </p:nvPicPr>
        <p:blipFill>
          <a:blip r:embed="rId4"/>
          <a:stretch/>
        </p:blipFill>
        <p:spPr>
          <a:xfrm>
            <a:off x="1440" y="990720"/>
            <a:ext cx="8379720" cy="4857120"/>
          </a:xfrm>
          <a:prstGeom prst="rect">
            <a:avLst/>
          </a:prstGeom>
          <a:noFill/>
          <a:ln w="0">
            <a:noFill/>
          </a:ln>
        </p:spPr>
      </p:pic>
      <p:pic>
        <p:nvPicPr>
          <p:cNvPr id="335" name="Picture 26" descr="apx1201e.gif"/>
          <p:cNvPicPr/>
          <p:nvPr/>
        </p:nvPicPr>
        <p:blipFill>
          <a:blip r:embed="rId5"/>
          <a:stretch/>
        </p:blipFill>
        <p:spPr>
          <a:xfrm>
            <a:off x="1440" y="990720"/>
            <a:ext cx="8379720" cy="4857120"/>
          </a:xfrm>
          <a:prstGeom prst="rect">
            <a:avLst/>
          </a:prstGeom>
          <a:noFill/>
          <a:ln w="0">
            <a:noFill/>
          </a:ln>
        </p:spPr>
      </p:pic>
      <p:pic>
        <p:nvPicPr>
          <p:cNvPr id="336" name="Picture 27" descr="apx1201f.gif"/>
          <p:cNvPicPr/>
          <p:nvPr/>
        </p:nvPicPr>
        <p:blipFill>
          <a:blip r:embed="rId6"/>
          <a:stretch/>
        </p:blipFill>
        <p:spPr>
          <a:xfrm>
            <a:off x="1440" y="990720"/>
            <a:ext cx="8379720" cy="4857120"/>
          </a:xfrm>
          <a:prstGeom prst="rect">
            <a:avLst/>
          </a:prstGeom>
          <a:noFill/>
          <a:ln w="0">
            <a:noFill/>
          </a:ln>
        </p:spPr>
      </p:pic>
      <p:pic>
        <p:nvPicPr>
          <p:cNvPr id="337" name="Picture 28" descr="apx1201g.gif"/>
          <p:cNvPicPr/>
          <p:nvPr/>
        </p:nvPicPr>
        <p:blipFill>
          <a:blip r:embed="rId7"/>
          <a:stretch/>
        </p:blipFill>
        <p:spPr>
          <a:xfrm>
            <a:off x="1440" y="990720"/>
            <a:ext cx="8379720" cy="4857120"/>
          </a:xfrm>
          <a:prstGeom prst="rect">
            <a:avLst/>
          </a:prstGeom>
          <a:noFill/>
          <a:ln w="0">
            <a:noFill/>
          </a:ln>
        </p:spPr>
      </p:pic>
      <p:pic>
        <p:nvPicPr>
          <p:cNvPr id="338" name="Picture 29" descr="apx1201h.gif"/>
          <p:cNvPicPr/>
          <p:nvPr/>
        </p:nvPicPr>
        <p:blipFill>
          <a:blip r:embed="rId8"/>
          <a:stretch/>
        </p:blipFill>
        <p:spPr>
          <a:xfrm>
            <a:off x="1440" y="990720"/>
            <a:ext cx="8379720" cy="4857120"/>
          </a:xfrm>
          <a:prstGeom prst="rect">
            <a:avLst/>
          </a:prstGeom>
          <a:noFill/>
          <a:ln w="0">
            <a:noFill/>
          </a:ln>
        </p:spPr>
      </p:pic>
    </p:spTree>
  </p:cSld>
  <p:transition spd="slow">
    <p:wipe dir="r"/>
  </p:transition>
  <p:timing>
    <p:tnLst>
      <p:par>
        <p:cTn id="804" dur="indefinite" restart="never" nodeType="tmRoot">
          <p:childTnLst>
            <p:seq>
              <p:cTn id="805" dur="indefinite" nodeType="mainSeq">
                <p:childTnLst>
                  <p:par>
                    <p:cTn id="806" nodeType="clickEffect" fill="hold">
                      <p:stCondLst>
                        <p:cond delay="indefinite"/>
                      </p:stCondLst>
                      <p:childTnLst>
                        <p:par>
                          <p:cTn id="807" nodeType="withEffect" fill="hold">
                            <p:stCondLst>
                              <p:cond delay="0"/>
                            </p:stCondLst>
                            <p:childTnLst>
                              <p:par>
                                <p:cTn id="808" nodeType="clickEffect" fill="hold" presetClass="entr" presetID="22" presetSubtype="8">
                                  <p:stCondLst>
                                    <p:cond delay="0"/>
                                  </p:stCondLst>
                                  <p:childTnLst>
                                    <p:set>
                                      <p:cBhvr>
                                        <p:cTn id="809" dur="1" fill="hold">
                                          <p:stCondLst>
                                            <p:cond delay="0"/>
                                          </p:stCondLst>
                                        </p:cTn>
                                        <p:tgtEl>
                                          <p:spTgt spid="332"/>
                                        </p:tgtEl>
                                        <p:attrNameLst>
                                          <p:attrName>style.visibility</p:attrName>
                                        </p:attrNameLst>
                                      </p:cBhvr>
                                      <p:to>
                                        <p:strVal val="visible"/>
                                      </p:to>
                                    </p:set>
                                    <p:animEffect filter="wipe(left)" transition="in">
                                      <p:cBhvr additive="repl">
                                        <p:cTn id="810" dur="1000"/>
                                        <p:tgtEl>
                                          <p:spTgt spid="332"/>
                                        </p:tgtEl>
                                      </p:cBhvr>
                                    </p:animEffect>
                                  </p:childTnLst>
                                </p:cTn>
                              </p:par>
                            </p:childTnLst>
                          </p:cTn>
                        </p:par>
                      </p:childTnLst>
                    </p:cTn>
                  </p:par>
                  <p:par>
                    <p:cTn id="811" nodeType="clickEffect" fill="hold">
                      <p:stCondLst>
                        <p:cond delay="indefinite"/>
                      </p:stCondLst>
                      <p:childTnLst>
                        <p:par>
                          <p:cTn id="812" nodeType="withEffect" fill="hold">
                            <p:stCondLst>
                              <p:cond delay="0"/>
                            </p:stCondLst>
                            <p:childTnLst>
                              <p:par>
                                <p:cTn id="813" nodeType="clickEffect" fill="hold" presetClass="entr" presetID="10">
                                  <p:stCondLst>
                                    <p:cond delay="0"/>
                                  </p:stCondLst>
                                  <p:childTnLst>
                                    <p:set>
                                      <p:cBhvr>
                                        <p:cTn id="814" dur="1" fill="hold">
                                          <p:stCondLst>
                                            <p:cond delay="0"/>
                                          </p:stCondLst>
                                        </p:cTn>
                                        <p:tgtEl>
                                          <p:spTgt spid="333"/>
                                        </p:tgtEl>
                                        <p:attrNameLst>
                                          <p:attrName>style.visibility</p:attrName>
                                        </p:attrNameLst>
                                      </p:cBhvr>
                                      <p:to>
                                        <p:strVal val="visible"/>
                                      </p:to>
                                    </p:set>
                                    <p:animEffect filter="fade" transition="in">
                                      <p:cBhvr additive="repl">
                                        <p:cTn id="815" dur="500"/>
                                        <p:tgtEl>
                                          <p:spTgt spid="333"/>
                                        </p:tgtEl>
                                      </p:cBhvr>
                                    </p:animEffect>
                                  </p:childTnLst>
                                </p:cTn>
                              </p:par>
                            </p:childTnLst>
                          </p:cTn>
                        </p:par>
                      </p:childTnLst>
                    </p:cTn>
                  </p:par>
                  <p:par>
                    <p:cTn id="816" nodeType="clickEffect" fill="hold">
                      <p:stCondLst>
                        <p:cond delay="indefinite"/>
                      </p:stCondLst>
                      <p:childTnLst>
                        <p:par>
                          <p:cTn id="817" nodeType="withEffect" fill="hold">
                            <p:stCondLst>
                              <p:cond delay="0"/>
                            </p:stCondLst>
                            <p:childTnLst>
                              <p:par>
                                <p:cTn id="818" nodeType="clickEffect" fill="hold" presetClass="entr" presetID="10">
                                  <p:stCondLst>
                                    <p:cond delay="0"/>
                                  </p:stCondLst>
                                  <p:childTnLst>
                                    <p:set>
                                      <p:cBhvr>
                                        <p:cTn id="819" dur="1" fill="hold">
                                          <p:stCondLst>
                                            <p:cond delay="0"/>
                                          </p:stCondLst>
                                        </p:cTn>
                                        <p:tgtEl>
                                          <p:spTgt spid="334"/>
                                        </p:tgtEl>
                                        <p:attrNameLst>
                                          <p:attrName>style.visibility</p:attrName>
                                        </p:attrNameLst>
                                      </p:cBhvr>
                                      <p:to>
                                        <p:strVal val="visible"/>
                                      </p:to>
                                    </p:set>
                                    <p:animEffect filter="fade" transition="in">
                                      <p:cBhvr additive="repl">
                                        <p:cTn id="820" dur="500"/>
                                        <p:tgtEl>
                                          <p:spTgt spid="334"/>
                                        </p:tgtEl>
                                      </p:cBhvr>
                                    </p:animEffect>
                                  </p:childTnLst>
                                </p:cTn>
                              </p:par>
                            </p:childTnLst>
                          </p:cTn>
                        </p:par>
                      </p:childTnLst>
                    </p:cTn>
                  </p:par>
                  <p:par>
                    <p:cTn id="821" nodeType="clickEffect" fill="hold">
                      <p:stCondLst>
                        <p:cond delay="indefinite"/>
                      </p:stCondLst>
                      <p:childTnLst>
                        <p:par>
                          <p:cTn id="822" nodeType="withEffect" fill="hold">
                            <p:stCondLst>
                              <p:cond delay="0"/>
                            </p:stCondLst>
                            <p:childTnLst>
                              <p:par>
                                <p:cTn id="823" nodeType="clickEffect" fill="hold" presetClass="entr" presetID="10">
                                  <p:stCondLst>
                                    <p:cond delay="0"/>
                                  </p:stCondLst>
                                  <p:childTnLst>
                                    <p:set>
                                      <p:cBhvr>
                                        <p:cTn id="824" dur="1" fill="hold">
                                          <p:stCondLst>
                                            <p:cond delay="0"/>
                                          </p:stCondLst>
                                        </p:cTn>
                                        <p:tgtEl>
                                          <p:spTgt spid="335"/>
                                        </p:tgtEl>
                                        <p:attrNameLst>
                                          <p:attrName>style.visibility</p:attrName>
                                        </p:attrNameLst>
                                      </p:cBhvr>
                                      <p:to>
                                        <p:strVal val="visible"/>
                                      </p:to>
                                    </p:set>
                                    <p:animEffect filter="fade" transition="in">
                                      <p:cBhvr additive="repl">
                                        <p:cTn id="825" dur="500"/>
                                        <p:tgtEl>
                                          <p:spTgt spid="335"/>
                                        </p:tgtEl>
                                      </p:cBhvr>
                                    </p:animEffect>
                                  </p:childTnLst>
                                </p:cTn>
                              </p:par>
                            </p:childTnLst>
                          </p:cTn>
                        </p:par>
                      </p:childTnLst>
                    </p:cTn>
                  </p:par>
                  <p:par>
                    <p:cTn id="826" nodeType="clickEffect" fill="hold">
                      <p:stCondLst>
                        <p:cond delay="indefinite"/>
                      </p:stCondLst>
                      <p:childTnLst>
                        <p:par>
                          <p:cTn id="827" nodeType="withEffect" fill="hold">
                            <p:stCondLst>
                              <p:cond delay="0"/>
                            </p:stCondLst>
                            <p:childTnLst>
                              <p:par>
                                <p:cTn id="828" nodeType="clickEffect" fill="hold" presetClass="entr" presetID="22" presetSubtype="8">
                                  <p:stCondLst>
                                    <p:cond delay="0"/>
                                  </p:stCondLst>
                                  <p:childTnLst>
                                    <p:set>
                                      <p:cBhvr>
                                        <p:cTn id="829" dur="1" fill="hold">
                                          <p:stCondLst>
                                            <p:cond delay="0"/>
                                          </p:stCondLst>
                                        </p:cTn>
                                        <p:tgtEl>
                                          <p:spTgt spid="336"/>
                                        </p:tgtEl>
                                        <p:attrNameLst>
                                          <p:attrName>style.visibility</p:attrName>
                                        </p:attrNameLst>
                                      </p:cBhvr>
                                      <p:to>
                                        <p:strVal val="visible"/>
                                      </p:to>
                                    </p:set>
                                    <p:animEffect filter="wipe(left)" transition="in">
                                      <p:cBhvr additive="repl">
                                        <p:cTn id="830" dur="1000"/>
                                        <p:tgtEl>
                                          <p:spTgt spid="336"/>
                                        </p:tgtEl>
                                      </p:cBhvr>
                                    </p:animEffect>
                                  </p:childTnLst>
                                </p:cTn>
                              </p:par>
                            </p:childTnLst>
                          </p:cTn>
                        </p:par>
                      </p:childTnLst>
                    </p:cTn>
                  </p:par>
                  <p:par>
                    <p:cTn id="831" nodeType="clickEffect" fill="hold">
                      <p:stCondLst>
                        <p:cond delay="indefinite"/>
                      </p:stCondLst>
                      <p:childTnLst>
                        <p:par>
                          <p:cTn id="832" nodeType="withEffect" fill="hold">
                            <p:stCondLst>
                              <p:cond delay="0"/>
                            </p:stCondLst>
                            <p:childTnLst>
                              <p:par>
                                <p:cTn id="833" nodeType="clickEffect" fill="hold" presetClass="entr" presetID="22" presetSubtype="8">
                                  <p:stCondLst>
                                    <p:cond delay="0"/>
                                  </p:stCondLst>
                                  <p:childTnLst>
                                    <p:set>
                                      <p:cBhvr>
                                        <p:cTn id="834" dur="1" fill="hold">
                                          <p:stCondLst>
                                            <p:cond delay="0"/>
                                          </p:stCondLst>
                                        </p:cTn>
                                        <p:tgtEl>
                                          <p:spTgt spid="337"/>
                                        </p:tgtEl>
                                        <p:attrNameLst>
                                          <p:attrName>style.visibility</p:attrName>
                                        </p:attrNameLst>
                                      </p:cBhvr>
                                      <p:to>
                                        <p:strVal val="visible"/>
                                      </p:to>
                                    </p:set>
                                    <p:animEffect filter="wipe(left)" transition="in">
                                      <p:cBhvr additive="repl">
                                        <p:cTn id="835" dur="1000"/>
                                        <p:tgtEl>
                                          <p:spTgt spid="337"/>
                                        </p:tgtEl>
                                      </p:cBhvr>
                                    </p:animEffect>
                                  </p:childTnLst>
                                </p:cTn>
                              </p:par>
                            </p:childTnLst>
                          </p:cTn>
                        </p:par>
                      </p:childTnLst>
                    </p:cTn>
                  </p:par>
                  <p:par>
                    <p:cTn id="836" nodeType="clickEffect" fill="hold">
                      <p:stCondLst>
                        <p:cond delay="indefinite"/>
                      </p:stCondLst>
                      <p:childTnLst>
                        <p:par>
                          <p:cTn id="837" nodeType="withEffect" fill="hold">
                            <p:stCondLst>
                              <p:cond delay="0"/>
                            </p:stCondLst>
                            <p:childTnLst>
                              <p:par>
                                <p:cTn id="838" nodeType="clickEffect" fill="hold" presetClass="entr" presetID="22" presetSubtype="8">
                                  <p:stCondLst>
                                    <p:cond delay="0"/>
                                  </p:stCondLst>
                                  <p:childTnLst>
                                    <p:set>
                                      <p:cBhvr>
                                        <p:cTn id="839" dur="1" fill="hold">
                                          <p:stCondLst>
                                            <p:cond delay="0"/>
                                          </p:stCondLst>
                                        </p:cTn>
                                        <p:tgtEl>
                                          <p:spTgt spid="338"/>
                                        </p:tgtEl>
                                        <p:attrNameLst>
                                          <p:attrName>style.visibility</p:attrName>
                                        </p:attrNameLst>
                                      </p:cBhvr>
                                      <p:to>
                                        <p:strVal val="visible"/>
                                      </p:to>
                                    </p:set>
                                    <p:animEffect filter="wipe(left)" transition="in">
                                      <p:cBhvr additive="repl">
                                        <p:cTn id="840" dur="1000"/>
                                        <p:tgtEl>
                                          <p:spTgt spid="3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APPENDIX: INDIFFERENCE CURVES</a:t>
            </a:r>
            <a:endParaRPr b="0" lang="en-US" sz="2600" strike="noStrike" u="none">
              <a:solidFill>
                <a:srgbClr val="000000"/>
              </a:solidFill>
              <a:effectLst/>
              <a:uFillTx/>
              <a:latin typeface="Arial"/>
            </a:endParaRPr>
          </a:p>
        </p:txBody>
      </p:sp>
      <p:sp>
        <p:nvSpPr>
          <p:cNvPr id="340"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In part (a), Tina is equally happy consuming at any point along the green indifference curve.</a:t>
            </a:r>
            <a:endParaRPr b="0" lang="en-US" sz="2400" strike="noStrike" u="none">
              <a:solidFill>
                <a:srgbClr val="000000"/>
              </a:solidFill>
              <a:effectLst/>
              <a:uFillTx/>
              <a:latin typeface="Arial"/>
            </a:endParaRPr>
          </a:p>
        </p:txBody>
      </p:sp>
      <p:pic>
        <p:nvPicPr>
          <p:cNvPr id="341" name="Picture 30" descr="apx1201a.gif"/>
          <p:cNvPicPr/>
          <p:nvPr/>
        </p:nvPicPr>
        <p:blipFill>
          <a:blip r:embed="rId1"/>
          <a:stretch/>
        </p:blipFill>
        <p:spPr>
          <a:xfrm>
            <a:off x="1224000" y="2519280"/>
            <a:ext cx="6627240" cy="3841200"/>
          </a:xfrm>
          <a:prstGeom prst="rect">
            <a:avLst/>
          </a:prstGeom>
          <a:noFill/>
          <a:ln w="0">
            <a:noFill/>
          </a:ln>
        </p:spPr>
      </p:pic>
      <p:pic>
        <p:nvPicPr>
          <p:cNvPr id="342" name="Picture 31" descr="apx1201b.gif"/>
          <p:cNvPicPr/>
          <p:nvPr/>
        </p:nvPicPr>
        <p:blipFill>
          <a:blip r:embed="rId2"/>
          <a:stretch/>
        </p:blipFill>
        <p:spPr>
          <a:xfrm>
            <a:off x="1224000" y="2519280"/>
            <a:ext cx="6627240" cy="3841200"/>
          </a:xfrm>
          <a:prstGeom prst="rect">
            <a:avLst/>
          </a:prstGeom>
          <a:noFill/>
          <a:ln w="0">
            <a:noFill/>
          </a:ln>
        </p:spPr>
      </p:pic>
    </p:spTree>
  </p:cSld>
  <p:transition spd="slow">
    <p:wipe dir="r"/>
  </p:transition>
  <p:timing>
    <p:tnLst>
      <p:par>
        <p:cTn id="841" dur="indefinite" restart="never" nodeType="tmRoot">
          <p:childTnLst>
            <p:seq>
              <p:cTn id="842" dur="indefinite" nodeType="mainSeq">
                <p:childTnLst>
                  <p:par>
                    <p:cTn id="843" nodeType="clickEffect" fill="hold">
                      <p:stCondLst>
                        <p:cond delay="0"/>
                      </p:stCondLst>
                      <p:childTnLst>
                        <p:par>
                          <p:cTn id="844" nodeType="withEffect" fill="hold">
                            <p:stCondLst>
                              <p:cond delay="0"/>
                            </p:stCondLst>
                            <p:childTnLst>
                              <p:par>
                                <p:cTn id="845" nodeType="afterEffect" fill="hold" presetClass="entr" presetID="22" presetSubtype="8">
                                  <p:stCondLst>
                                    <p:cond delay="0"/>
                                  </p:stCondLst>
                                  <p:childTnLst>
                                    <p:set>
                                      <p:cBhvr>
                                        <p:cTn id="846" dur="1" fill="hold">
                                          <p:stCondLst>
                                            <p:cond delay="0"/>
                                          </p:stCondLst>
                                        </p:cTn>
                                        <p:tgtEl>
                                          <p:spTgt spid="342"/>
                                        </p:tgtEl>
                                        <p:attrNameLst>
                                          <p:attrName>style.visibility</p:attrName>
                                        </p:attrNameLst>
                                      </p:cBhvr>
                                      <p:to>
                                        <p:strVal val="visible"/>
                                      </p:to>
                                    </p:set>
                                    <p:animEffect filter="wipe(left)" transition="in">
                                      <p:cBhvr additive="repl">
                                        <p:cTn id="847" dur="1000"/>
                                        <p:tgtEl>
                                          <p:spTgt spid="3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APPENDIX: INDIFFERENCE CURVES</a:t>
            </a:r>
            <a:endParaRPr b="0" lang="en-US" sz="2600" strike="noStrike" u="none">
              <a:solidFill>
                <a:srgbClr val="000000"/>
              </a:solidFill>
              <a:effectLst/>
              <a:uFillTx/>
              <a:latin typeface="Arial"/>
            </a:endParaRPr>
          </a:p>
        </p:txBody>
      </p:sp>
      <p:sp>
        <p:nvSpPr>
          <p:cNvPr id="344"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Point </a:t>
            </a:r>
            <a:r>
              <a:rPr b="0" i="1" lang="en-US" sz="2400" strike="noStrike" u="none">
                <a:solidFill>
                  <a:srgbClr val="000000"/>
                </a:solidFill>
                <a:effectLst/>
                <a:uFillTx/>
                <a:latin typeface="Arial"/>
                <a:ea typeface="ＭＳ Ｐゴシック"/>
              </a:rPr>
              <a:t>C</a:t>
            </a:r>
            <a:r>
              <a:rPr b="0" lang="en-US" sz="2400" strike="noStrike" u="none">
                <a:solidFill>
                  <a:srgbClr val="000000"/>
                </a:solidFill>
                <a:effectLst/>
                <a:uFillTx/>
                <a:latin typeface="Arial"/>
                <a:ea typeface="ＭＳ Ｐゴシック"/>
              </a:rPr>
              <a:t> is neither better nor worse than any other point along the indifference curve.</a:t>
            </a:r>
            <a:endParaRPr b="0" lang="en-US" sz="2400" strike="noStrike" u="none">
              <a:solidFill>
                <a:srgbClr val="000000"/>
              </a:solidFill>
              <a:effectLst/>
              <a:uFillTx/>
              <a:latin typeface="Arial"/>
            </a:endParaRPr>
          </a:p>
        </p:txBody>
      </p:sp>
      <p:pic>
        <p:nvPicPr>
          <p:cNvPr id="345" name="Picture 40" descr="apx1201a.gif"/>
          <p:cNvPicPr/>
          <p:nvPr/>
        </p:nvPicPr>
        <p:blipFill>
          <a:blip r:embed="rId1"/>
          <a:stretch/>
        </p:blipFill>
        <p:spPr>
          <a:xfrm>
            <a:off x="1224000" y="2519280"/>
            <a:ext cx="6627240" cy="3841200"/>
          </a:xfrm>
          <a:prstGeom prst="rect">
            <a:avLst/>
          </a:prstGeom>
          <a:noFill/>
          <a:ln w="0">
            <a:noFill/>
          </a:ln>
        </p:spPr>
      </p:pic>
      <p:pic>
        <p:nvPicPr>
          <p:cNvPr id="346" name="Picture 41" descr="apx1201b.gif"/>
          <p:cNvPicPr/>
          <p:nvPr/>
        </p:nvPicPr>
        <p:blipFill>
          <a:blip r:embed="rId2"/>
          <a:stretch/>
        </p:blipFill>
        <p:spPr>
          <a:xfrm>
            <a:off x="1224000" y="2519280"/>
            <a:ext cx="6627240" cy="3841200"/>
          </a:xfrm>
          <a:prstGeom prst="rect">
            <a:avLst/>
          </a:prstGeom>
          <a:noFill/>
          <a:ln w="0">
            <a:noFill/>
          </a:ln>
        </p:spPr>
      </p:pic>
      <p:pic>
        <p:nvPicPr>
          <p:cNvPr id="347" name="Picture 42" descr="apx1201c.gif"/>
          <p:cNvPicPr/>
          <p:nvPr/>
        </p:nvPicPr>
        <p:blipFill>
          <a:blip r:embed="rId3"/>
          <a:stretch/>
        </p:blipFill>
        <p:spPr>
          <a:xfrm>
            <a:off x="1224000" y="2519280"/>
            <a:ext cx="6627240" cy="3841200"/>
          </a:xfrm>
          <a:prstGeom prst="rect">
            <a:avLst/>
          </a:prstGeom>
          <a:noFill/>
          <a:ln w="0">
            <a:noFill/>
          </a:ln>
        </p:spPr>
      </p:pic>
    </p:spTree>
  </p:cSld>
  <p:transition spd="slow">
    <p:wipe dir="r"/>
  </p:transition>
  <p:timing>
    <p:tnLst>
      <p:par>
        <p:cTn id="848" dur="indefinite" restart="never" nodeType="tmRoot">
          <p:childTnLst>
            <p:seq>
              <p:cTn id="849" dur="indefinite" nodeType="mainSeq">
                <p:childTnLst>
                  <p:par>
                    <p:cTn id="850" nodeType="clickEffect" fill="hold">
                      <p:stCondLst>
                        <p:cond delay="0"/>
                      </p:stCondLst>
                      <p:childTnLst>
                        <p:par>
                          <p:cTn id="851" nodeType="withEffect" fill="hold">
                            <p:stCondLst>
                              <p:cond delay="0"/>
                            </p:stCondLst>
                            <p:childTnLst>
                              <p:par>
                                <p:cTn id="852" nodeType="afterEffect" fill="hold" presetClass="entr" presetID="10">
                                  <p:stCondLst>
                                    <p:cond delay="0"/>
                                  </p:stCondLst>
                                  <p:childTnLst>
                                    <p:set>
                                      <p:cBhvr>
                                        <p:cTn id="853" dur="1" fill="hold">
                                          <p:stCondLst>
                                            <p:cond delay="0"/>
                                          </p:stCondLst>
                                        </p:cTn>
                                        <p:tgtEl>
                                          <p:spTgt spid="347"/>
                                        </p:tgtEl>
                                        <p:attrNameLst>
                                          <p:attrName>style.visibility</p:attrName>
                                        </p:attrNameLst>
                                      </p:cBhvr>
                                      <p:to>
                                        <p:strVal val="visible"/>
                                      </p:to>
                                    </p:set>
                                    <p:animEffect filter="fade" transition="in">
                                      <p:cBhvr additive="repl">
                                        <p:cTn id="854" dur="500"/>
                                        <p:tgtEl>
                                          <p:spTgt spid="3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APPENDIX: INDIFFERENCE CURVES</a:t>
            </a:r>
            <a:endParaRPr b="0" lang="en-US" sz="2600" strike="noStrike" u="none">
              <a:solidFill>
                <a:srgbClr val="000000"/>
              </a:solidFill>
              <a:effectLst/>
              <a:uFillTx/>
              <a:latin typeface="Arial"/>
            </a:endParaRPr>
          </a:p>
        </p:txBody>
      </p:sp>
      <p:sp>
        <p:nvSpPr>
          <p:cNvPr id="349"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Points below the indifference curve are worse than points on the indifference curve—are not preferred.</a:t>
            </a:r>
            <a:endParaRPr b="0" lang="en-US" sz="2400" strike="noStrike" u="none">
              <a:solidFill>
                <a:srgbClr val="000000"/>
              </a:solidFill>
              <a:effectLst/>
              <a:uFillTx/>
              <a:latin typeface="Arial"/>
            </a:endParaRPr>
          </a:p>
        </p:txBody>
      </p:sp>
      <p:pic>
        <p:nvPicPr>
          <p:cNvPr id="350" name="Picture 43" descr="apx1201a.gif"/>
          <p:cNvPicPr/>
          <p:nvPr/>
        </p:nvPicPr>
        <p:blipFill>
          <a:blip r:embed="rId1"/>
          <a:stretch/>
        </p:blipFill>
        <p:spPr>
          <a:xfrm>
            <a:off x="1224000" y="2519280"/>
            <a:ext cx="6627240" cy="3841200"/>
          </a:xfrm>
          <a:prstGeom prst="rect">
            <a:avLst/>
          </a:prstGeom>
          <a:noFill/>
          <a:ln w="0">
            <a:noFill/>
          </a:ln>
        </p:spPr>
      </p:pic>
      <p:pic>
        <p:nvPicPr>
          <p:cNvPr id="351" name="Picture 44" descr="apx1201b.gif"/>
          <p:cNvPicPr/>
          <p:nvPr/>
        </p:nvPicPr>
        <p:blipFill>
          <a:blip r:embed="rId2"/>
          <a:stretch/>
        </p:blipFill>
        <p:spPr>
          <a:xfrm>
            <a:off x="1224000" y="2519280"/>
            <a:ext cx="6627240" cy="3841200"/>
          </a:xfrm>
          <a:prstGeom prst="rect">
            <a:avLst/>
          </a:prstGeom>
          <a:noFill/>
          <a:ln w="0">
            <a:noFill/>
          </a:ln>
        </p:spPr>
      </p:pic>
      <p:pic>
        <p:nvPicPr>
          <p:cNvPr id="352" name="Picture 45" descr="apx1201c.gif"/>
          <p:cNvPicPr/>
          <p:nvPr/>
        </p:nvPicPr>
        <p:blipFill>
          <a:blip r:embed="rId3"/>
          <a:stretch/>
        </p:blipFill>
        <p:spPr>
          <a:xfrm>
            <a:off x="1224000" y="2519280"/>
            <a:ext cx="6627240" cy="3841200"/>
          </a:xfrm>
          <a:prstGeom prst="rect">
            <a:avLst/>
          </a:prstGeom>
          <a:noFill/>
          <a:ln w="0">
            <a:noFill/>
          </a:ln>
        </p:spPr>
      </p:pic>
      <p:pic>
        <p:nvPicPr>
          <p:cNvPr id="353" name="Picture 46" descr="apx1201d.gif"/>
          <p:cNvPicPr/>
          <p:nvPr/>
        </p:nvPicPr>
        <p:blipFill>
          <a:blip r:embed="rId4"/>
          <a:stretch/>
        </p:blipFill>
        <p:spPr>
          <a:xfrm>
            <a:off x="1224000" y="2519280"/>
            <a:ext cx="6627240" cy="3841200"/>
          </a:xfrm>
          <a:prstGeom prst="rect">
            <a:avLst/>
          </a:prstGeom>
          <a:noFill/>
          <a:ln w="0">
            <a:noFill/>
          </a:ln>
        </p:spPr>
      </p:pic>
    </p:spTree>
  </p:cSld>
  <p:transition spd="slow">
    <p:wipe dir="r"/>
  </p:transition>
  <p:timing>
    <p:tnLst>
      <p:par>
        <p:cTn id="855" dur="indefinite" restart="never" nodeType="tmRoot">
          <p:childTnLst>
            <p:seq>
              <p:cTn id="856" dur="indefinite" nodeType="mainSeq">
                <p:childTnLst>
                  <p:par>
                    <p:cTn id="857" nodeType="clickEffect" fill="hold">
                      <p:stCondLst>
                        <p:cond delay="0"/>
                      </p:stCondLst>
                      <p:childTnLst>
                        <p:par>
                          <p:cTn id="858" nodeType="withEffect" fill="hold">
                            <p:stCondLst>
                              <p:cond delay="0"/>
                            </p:stCondLst>
                            <p:childTnLst>
                              <p:par>
                                <p:cTn id="859" nodeType="afterEffect" fill="hold" presetClass="entr" presetID="10">
                                  <p:stCondLst>
                                    <p:cond delay="0"/>
                                  </p:stCondLst>
                                  <p:childTnLst>
                                    <p:set>
                                      <p:cBhvr>
                                        <p:cTn id="860" dur="1" fill="hold">
                                          <p:stCondLst>
                                            <p:cond delay="0"/>
                                          </p:stCondLst>
                                        </p:cTn>
                                        <p:tgtEl>
                                          <p:spTgt spid="353"/>
                                        </p:tgtEl>
                                        <p:attrNameLst>
                                          <p:attrName>style.visibility</p:attrName>
                                        </p:attrNameLst>
                                      </p:cBhvr>
                                      <p:to>
                                        <p:strVal val="visible"/>
                                      </p:to>
                                    </p:set>
                                    <p:animEffect filter="fade" transition="in">
                                      <p:cBhvr additive="repl">
                                        <p:cTn id="861" dur="500"/>
                                        <p:tgtEl>
                                          <p:spTgt spid="3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APPENDIX: INDIFFERENCE CURVES</a:t>
            </a:r>
            <a:endParaRPr b="0" lang="en-US" sz="2600" strike="noStrike" u="none">
              <a:solidFill>
                <a:srgbClr val="000000"/>
              </a:solidFill>
              <a:effectLst/>
              <a:uFillTx/>
              <a:latin typeface="Arial"/>
            </a:endParaRPr>
          </a:p>
        </p:txBody>
      </p:sp>
      <p:sp>
        <p:nvSpPr>
          <p:cNvPr id="355"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Points above the indifference curve are better than points on the indifference curve—are preferred.</a:t>
            </a:r>
            <a:endParaRPr b="0" lang="en-US" sz="2400" strike="noStrike" u="none">
              <a:solidFill>
                <a:srgbClr val="000000"/>
              </a:solidFill>
              <a:effectLst/>
              <a:uFillTx/>
              <a:latin typeface="Arial"/>
            </a:endParaRPr>
          </a:p>
        </p:txBody>
      </p:sp>
      <p:pic>
        <p:nvPicPr>
          <p:cNvPr id="356" name="Picture 47" descr="apx1201a.gif"/>
          <p:cNvPicPr/>
          <p:nvPr/>
        </p:nvPicPr>
        <p:blipFill>
          <a:blip r:embed="rId1"/>
          <a:stretch/>
        </p:blipFill>
        <p:spPr>
          <a:xfrm>
            <a:off x="1224000" y="2519280"/>
            <a:ext cx="6627240" cy="3841200"/>
          </a:xfrm>
          <a:prstGeom prst="rect">
            <a:avLst/>
          </a:prstGeom>
          <a:noFill/>
          <a:ln w="0">
            <a:noFill/>
          </a:ln>
        </p:spPr>
      </p:pic>
      <p:pic>
        <p:nvPicPr>
          <p:cNvPr id="357" name="Picture 48" descr="apx1201b.gif"/>
          <p:cNvPicPr/>
          <p:nvPr/>
        </p:nvPicPr>
        <p:blipFill>
          <a:blip r:embed="rId2"/>
          <a:stretch/>
        </p:blipFill>
        <p:spPr>
          <a:xfrm>
            <a:off x="1224000" y="2519280"/>
            <a:ext cx="6627240" cy="3841200"/>
          </a:xfrm>
          <a:prstGeom prst="rect">
            <a:avLst/>
          </a:prstGeom>
          <a:noFill/>
          <a:ln w="0">
            <a:noFill/>
          </a:ln>
        </p:spPr>
      </p:pic>
      <p:pic>
        <p:nvPicPr>
          <p:cNvPr id="358" name="Picture 49" descr="apx1201c.gif"/>
          <p:cNvPicPr/>
          <p:nvPr/>
        </p:nvPicPr>
        <p:blipFill>
          <a:blip r:embed="rId3"/>
          <a:stretch/>
        </p:blipFill>
        <p:spPr>
          <a:xfrm>
            <a:off x="1224000" y="2519280"/>
            <a:ext cx="6627240" cy="3841200"/>
          </a:xfrm>
          <a:prstGeom prst="rect">
            <a:avLst/>
          </a:prstGeom>
          <a:noFill/>
          <a:ln w="0">
            <a:noFill/>
          </a:ln>
        </p:spPr>
      </p:pic>
      <p:pic>
        <p:nvPicPr>
          <p:cNvPr id="359" name="Picture 50" descr="apx1201d.gif"/>
          <p:cNvPicPr/>
          <p:nvPr/>
        </p:nvPicPr>
        <p:blipFill>
          <a:blip r:embed="rId4"/>
          <a:stretch/>
        </p:blipFill>
        <p:spPr>
          <a:xfrm>
            <a:off x="1224000" y="2519280"/>
            <a:ext cx="6627240" cy="3841200"/>
          </a:xfrm>
          <a:prstGeom prst="rect">
            <a:avLst/>
          </a:prstGeom>
          <a:noFill/>
          <a:ln w="0">
            <a:noFill/>
          </a:ln>
        </p:spPr>
      </p:pic>
      <p:pic>
        <p:nvPicPr>
          <p:cNvPr id="360" name="Picture 51" descr="apx1201e.gif"/>
          <p:cNvPicPr/>
          <p:nvPr/>
        </p:nvPicPr>
        <p:blipFill>
          <a:blip r:embed="rId5"/>
          <a:stretch/>
        </p:blipFill>
        <p:spPr>
          <a:xfrm>
            <a:off x="1224000" y="2519280"/>
            <a:ext cx="6627240" cy="3841200"/>
          </a:xfrm>
          <a:prstGeom prst="rect">
            <a:avLst/>
          </a:prstGeom>
          <a:noFill/>
          <a:ln w="0">
            <a:noFill/>
          </a:ln>
        </p:spPr>
      </p:pic>
    </p:spTree>
  </p:cSld>
  <p:transition spd="slow">
    <p:wipe dir="r"/>
  </p:transition>
  <p:timing>
    <p:tnLst>
      <p:par>
        <p:cTn id="862" dur="indefinite" restart="never" nodeType="tmRoot">
          <p:childTnLst>
            <p:seq>
              <p:cTn id="863" dur="indefinite" nodeType="mainSeq">
                <p:childTnLst>
                  <p:par>
                    <p:cTn id="864" nodeType="clickEffect" fill="hold">
                      <p:stCondLst>
                        <p:cond delay="0"/>
                      </p:stCondLst>
                      <p:childTnLst>
                        <p:par>
                          <p:cTn id="865" nodeType="withEffect" fill="hold">
                            <p:stCondLst>
                              <p:cond delay="0"/>
                            </p:stCondLst>
                            <p:childTnLst>
                              <p:par>
                                <p:cTn id="866" nodeType="afterEffect" fill="hold" presetClass="entr" presetID="10">
                                  <p:stCondLst>
                                    <p:cond delay="0"/>
                                  </p:stCondLst>
                                  <p:childTnLst>
                                    <p:set>
                                      <p:cBhvr>
                                        <p:cTn id="867" dur="1" fill="hold">
                                          <p:stCondLst>
                                            <p:cond delay="0"/>
                                          </p:stCondLst>
                                        </p:cTn>
                                        <p:tgtEl>
                                          <p:spTgt spid="360"/>
                                        </p:tgtEl>
                                        <p:attrNameLst>
                                          <p:attrName>style.visibility</p:attrName>
                                        </p:attrNameLst>
                                      </p:cBhvr>
                                      <p:to>
                                        <p:strVal val="visible"/>
                                      </p:to>
                                    </p:set>
                                    <p:animEffect filter="fade" transition="in">
                                      <p:cBhvr additive="repl">
                                        <p:cTn id="868" dur="500"/>
                                        <p:tgtEl>
                                          <p:spTgt spid="3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APPENDIX: INDIFFERENCE CURVES</a:t>
            </a:r>
            <a:endParaRPr b="0" lang="en-US" sz="2600" strike="noStrike" u="none">
              <a:solidFill>
                <a:srgbClr val="000000"/>
              </a:solidFill>
              <a:effectLst/>
              <a:uFillTx/>
              <a:latin typeface="Arial"/>
            </a:endParaRPr>
          </a:p>
        </p:txBody>
      </p:sp>
      <p:sp>
        <p:nvSpPr>
          <p:cNvPr id="362"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Part (b) shows three indifference curves—</a:t>
            </a:r>
            <a:r>
              <a:rPr b="0" i="1" lang="en-US" sz="2400" strike="noStrike" u="none">
                <a:solidFill>
                  <a:srgbClr val="000000"/>
                </a:solidFill>
                <a:effectLst/>
                <a:uFillTx/>
                <a:latin typeface="Arial"/>
                <a:ea typeface="ＭＳ Ｐゴシック"/>
              </a:rPr>
              <a:t>I</a:t>
            </a:r>
            <a:r>
              <a:rPr b="0" lang="en-US" sz="2400" strike="noStrike" u="none" baseline="-25000">
                <a:solidFill>
                  <a:srgbClr val="000000"/>
                </a:solidFill>
                <a:effectLst/>
                <a:uFillTx/>
                <a:latin typeface="Arial"/>
                <a:ea typeface="ＭＳ Ｐゴシック"/>
              </a:rPr>
              <a:t>0</a:t>
            </a:r>
            <a:r>
              <a:rPr b="0" lang="en-US" sz="2400" strike="noStrike" u="none">
                <a:solidFill>
                  <a:srgbClr val="000000"/>
                </a:solidFill>
                <a:effectLst/>
                <a:uFillTx/>
                <a:latin typeface="Arial"/>
                <a:ea typeface="ＭＳ Ｐゴシック"/>
              </a:rPr>
              <a:t>, </a:t>
            </a:r>
            <a:r>
              <a:rPr b="0" i="1" lang="en-US" sz="2400" strike="noStrike" u="none">
                <a:solidFill>
                  <a:srgbClr val="000000"/>
                </a:solidFill>
                <a:effectLst/>
                <a:uFillTx/>
                <a:latin typeface="Arial"/>
                <a:ea typeface="ＭＳ Ｐゴシック"/>
              </a:rPr>
              <a:t>I</a:t>
            </a:r>
            <a:r>
              <a:rPr b="0" lang="en-US" sz="2400" strike="noStrike" u="none" baseline="-25000">
                <a:solidFill>
                  <a:srgbClr val="000000"/>
                </a:solidFill>
                <a:effectLst/>
                <a:uFillTx/>
                <a:latin typeface="Arial"/>
                <a:ea typeface="ＭＳ Ｐゴシック"/>
              </a:rPr>
              <a:t>1</a:t>
            </a:r>
            <a:r>
              <a:rPr b="0" lang="en-US" sz="2400" strike="noStrike" u="none">
                <a:solidFill>
                  <a:srgbClr val="000000"/>
                </a:solidFill>
                <a:effectLst/>
                <a:uFillTx/>
                <a:latin typeface="Arial"/>
                <a:ea typeface="ＭＳ Ｐゴシック"/>
              </a:rPr>
              <a:t>, and </a:t>
            </a:r>
            <a:r>
              <a:rPr b="0" i="1" lang="en-US" sz="2400" strike="noStrike" u="none">
                <a:solidFill>
                  <a:srgbClr val="000000"/>
                </a:solidFill>
                <a:effectLst/>
                <a:uFillTx/>
                <a:latin typeface="Arial"/>
                <a:ea typeface="ＭＳ Ｐゴシック"/>
              </a:rPr>
              <a:t>I</a:t>
            </a:r>
            <a:r>
              <a:rPr b="0" lang="en-US" sz="2400" strike="noStrike" u="none" baseline="-25000">
                <a:solidFill>
                  <a:srgbClr val="000000"/>
                </a:solidFill>
                <a:effectLst/>
                <a:uFillTx/>
                <a:latin typeface="Arial"/>
                <a:ea typeface="ＭＳ Ｐゴシック"/>
              </a:rPr>
              <a:t>2</a:t>
            </a:r>
            <a:r>
              <a:rPr b="0" lang="en-US" sz="2400" strike="noStrike" u="none">
                <a:solidFill>
                  <a:srgbClr val="000000"/>
                </a:solidFill>
                <a:effectLst/>
                <a:uFillTx/>
                <a:latin typeface="Arial"/>
                <a:ea typeface="ＭＳ Ｐゴシック"/>
              </a:rPr>
              <a:t>—that are part of Tina’s preference map. </a:t>
            </a:r>
            <a:endParaRPr b="0" lang="en-US" sz="2400" strike="noStrike" u="none">
              <a:solidFill>
                <a:srgbClr val="000000"/>
              </a:solidFill>
              <a:effectLst/>
              <a:uFillTx/>
              <a:latin typeface="Arial"/>
            </a:endParaRPr>
          </a:p>
        </p:txBody>
      </p:sp>
      <p:pic>
        <p:nvPicPr>
          <p:cNvPr id="363" name="Picture 52" descr="apx1201a.gif"/>
          <p:cNvPicPr/>
          <p:nvPr/>
        </p:nvPicPr>
        <p:blipFill>
          <a:blip r:embed="rId1"/>
          <a:stretch/>
        </p:blipFill>
        <p:spPr>
          <a:xfrm>
            <a:off x="1224000" y="2519280"/>
            <a:ext cx="6627240" cy="3841200"/>
          </a:xfrm>
          <a:prstGeom prst="rect">
            <a:avLst/>
          </a:prstGeom>
          <a:noFill/>
          <a:ln w="0">
            <a:noFill/>
          </a:ln>
        </p:spPr>
      </p:pic>
      <p:pic>
        <p:nvPicPr>
          <p:cNvPr id="364" name="Picture 53" descr="apx1201b.gif"/>
          <p:cNvPicPr/>
          <p:nvPr/>
        </p:nvPicPr>
        <p:blipFill>
          <a:blip r:embed="rId2"/>
          <a:stretch/>
        </p:blipFill>
        <p:spPr>
          <a:xfrm>
            <a:off x="1224000" y="2519280"/>
            <a:ext cx="6627240" cy="3841200"/>
          </a:xfrm>
          <a:prstGeom prst="rect">
            <a:avLst/>
          </a:prstGeom>
          <a:noFill/>
          <a:ln w="0">
            <a:noFill/>
          </a:ln>
        </p:spPr>
      </p:pic>
      <p:pic>
        <p:nvPicPr>
          <p:cNvPr id="365" name="Picture 54" descr="apx1201c.gif"/>
          <p:cNvPicPr/>
          <p:nvPr/>
        </p:nvPicPr>
        <p:blipFill>
          <a:blip r:embed="rId3"/>
          <a:stretch/>
        </p:blipFill>
        <p:spPr>
          <a:xfrm>
            <a:off x="1224000" y="2519280"/>
            <a:ext cx="6627240" cy="3841200"/>
          </a:xfrm>
          <a:prstGeom prst="rect">
            <a:avLst/>
          </a:prstGeom>
          <a:noFill/>
          <a:ln w="0">
            <a:noFill/>
          </a:ln>
        </p:spPr>
      </p:pic>
      <p:pic>
        <p:nvPicPr>
          <p:cNvPr id="366" name="Picture 55" descr="apx1201d.gif"/>
          <p:cNvPicPr/>
          <p:nvPr/>
        </p:nvPicPr>
        <p:blipFill>
          <a:blip r:embed="rId4"/>
          <a:stretch/>
        </p:blipFill>
        <p:spPr>
          <a:xfrm>
            <a:off x="1224000" y="2519280"/>
            <a:ext cx="6627240" cy="3841200"/>
          </a:xfrm>
          <a:prstGeom prst="rect">
            <a:avLst/>
          </a:prstGeom>
          <a:noFill/>
          <a:ln w="0">
            <a:noFill/>
          </a:ln>
        </p:spPr>
      </p:pic>
      <p:pic>
        <p:nvPicPr>
          <p:cNvPr id="367" name="Picture 56" descr="apx1201e.gif"/>
          <p:cNvPicPr/>
          <p:nvPr/>
        </p:nvPicPr>
        <p:blipFill>
          <a:blip r:embed="rId5"/>
          <a:stretch/>
        </p:blipFill>
        <p:spPr>
          <a:xfrm>
            <a:off x="1224000" y="2519280"/>
            <a:ext cx="6627240" cy="3841200"/>
          </a:xfrm>
          <a:prstGeom prst="rect">
            <a:avLst/>
          </a:prstGeom>
          <a:noFill/>
          <a:ln w="0">
            <a:noFill/>
          </a:ln>
        </p:spPr>
      </p:pic>
      <p:pic>
        <p:nvPicPr>
          <p:cNvPr id="368" name="Picture 57" descr="apx1201f.gif"/>
          <p:cNvPicPr/>
          <p:nvPr/>
        </p:nvPicPr>
        <p:blipFill>
          <a:blip r:embed="rId6"/>
          <a:stretch/>
        </p:blipFill>
        <p:spPr>
          <a:xfrm>
            <a:off x="1224000" y="2519280"/>
            <a:ext cx="6627240" cy="3841200"/>
          </a:xfrm>
          <a:prstGeom prst="rect">
            <a:avLst/>
          </a:prstGeom>
          <a:noFill/>
          <a:ln w="0">
            <a:noFill/>
          </a:ln>
        </p:spPr>
      </p:pic>
      <p:pic>
        <p:nvPicPr>
          <p:cNvPr id="369" name="Picture 58" descr="apx1201g.gif"/>
          <p:cNvPicPr/>
          <p:nvPr/>
        </p:nvPicPr>
        <p:blipFill>
          <a:blip r:embed="rId7"/>
          <a:stretch/>
        </p:blipFill>
        <p:spPr>
          <a:xfrm>
            <a:off x="1224000" y="2519280"/>
            <a:ext cx="6627240" cy="3841200"/>
          </a:xfrm>
          <a:prstGeom prst="rect">
            <a:avLst/>
          </a:prstGeom>
          <a:noFill/>
          <a:ln w="0">
            <a:noFill/>
          </a:ln>
        </p:spPr>
      </p:pic>
      <p:pic>
        <p:nvPicPr>
          <p:cNvPr id="370" name="Picture 59" descr="apx1201h.gif"/>
          <p:cNvPicPr/>
          <p:nvPr/>
        </p:nvPicPr>
        <p:blipFill>
          <a:blip r:embed="rId8"/>
          <a:stretch/>
        </p:blipFill>
        <p:spPr>
          <a:xfrm>
            <a:off x="1224000" y="2519280"/>
            <a:ext cx="6627240" cy="3841200"/>
          </a:xfrm>
          <a:prstGeom prst="rect">
            <a:avLst/>
          </a:prstGeom>
          <a:noFill/>
          <a:ln w="0">
            <a:noFill/>
          </a:ln>
        </p:spPr>
      </p:pic>
    </p:spTree>
  </p:cSld>
  <p:transition spd="slow">
    <p:wipe dir="r"/>
  </p:transition>
  <p:timing>
    <p:tnLst>
      <p:par>
        <p:cTn id="869" dur="indefinite" restart="never" nodeType="tmRoot">
          <p:childTnLst>
            <p:seq>
              <p:cTn id="870" dur="indefinite" nodeType="mainSeq">
                <p:childTnLst>
                  <p:par>
                    <p:cTn id="871" nodeType="clickEffect" fill="hold">
                      <p:stCondLst>
                        <p:cond delay="0"/>
                      </p:stCondLst>
                      <p:childTnLst>
                        <p:par>
                          <p:cTn id="872" nodeType="withEffect" fill="hold">
                            <p:stCondLst>
                              <p:cond delay="0"/>
                            </p:stCondLst>
                            <p:childTnLst>
                              <p:par>
                                <p:cTn id="873" nodeType="afterEffect" fill="hold" presetClass="entr" presetID="22" presetSubtype="8">
                                  <p:stCondLst>
                                    <p:cond delay="0"/>
                                  </p:stCondLst>
                                  <p:childTnLst>
                                    <p:set>
                                      <p:cBhvr>
                                        <p:cTn id="874" dur="1" fill="hold">
                                          <p:stCondLst>
                                            <p:cond delay="0"/>
                                          </p:stCondLst>
                                        </p:cTn>
                                        <p:tgtEl>
                                          <p:spTgt spid="368"/>
                                        </p:tgtEl>
                                        <p:attrNameLst>
                                          <p:attrName>style.visibility</p:attrName>
                                        </p:attrNameLst>
                                      </p:cBhvr>
                                      <p:to>
                                        <p:strVal val="visible"/>
                                      </p:to>
                                    </p:set>
                                    <p:animEffect filter="wipe(left)" transition="in">
                                      <p:cBhvr additive="repl">
                                        <p:cTn id="875" dur="1000"/>
                                        <p:tgtEl>
                                          <p:spTgt spid="368"/>
                                        </p:tgtEl>
                                      </p:cBhvr>
                                    </p:animEffect>
                                  </p:childTnLst>
                                </p:cTn>
                              </p:par>
                            </p:childTnLst>
                          </p:cTn>
                        </p:par>
                        <p:par>
                          <p:cTn id="876" nodeType="afterEffect" fill="hold">
                            <p:stCondLst>
                              <p:cond delay="1000"/>
                            </p:stCondLst>
                            <p:childTnLst>
                              <p:par>
                                <p:cTn id="877" nodeType="afterEffect" fill="hold" presetClass="entr" presetID="22" presetSubtype="8">
                                  <p:stCondLst>
                                    <p:cond delay="0"/>
                                  </p:stCondLst>
                                  <p:childTnLst>
                                    <p:set>
                                      <p:cBhvr>
                                        <p:cTn id="878" dur="1" fill="hold">
                                          <p:stCondLst>
                                            <p:cond delay="0"/>
                                          </p:stCondLst>
                                        </p:cTn>
                                        <p:tgtEl>
                                          <p:spTgt spid="369"/>
                                        </p:tgtEl>
                                        <p:attrNameLst>
                                          <p:attrName>style.visibility</p:attrName>
                                        </p:attrNameLst>
                                      </p:cBhvr>
                                      <p:to>
                                        <p:strVal val="visible"/>
                                      </p:to>
                                    </p:set>
                                    <p:animEffect filter="wipe(left)" transition="in">
                                      <p:cBhvr additive="repl">
                                        <p:cTn id="879" dur="1000"/>
                                        <p:tgtEl>
                                          <p:spTgt spid="369"/>
                                        </p:tgtEl>
                                      </p:cBhvr>
                                    </p:animEffect>
                                  </p:childTnLst>
                                </p:cTn>
                              </p:par>
                            </p:childTnLst>
                          </p:cTn>
                        </p:par>
                        <p:par>
                          <p:cTn id="880" nodeType="afterEffect" fill="hold">
                            <p:stCondLst>
                              <p:cond delay="2000"/>
                            </p:stCondLst>
                            <p:childTnLst>
                              <p:par>
                                <p:cTn id="881" nodeType="afterEffect" fill="hold" presetClass="entr" presetID="22" presetSubtype="8">
                                  <p:stCondLst>
                                    <p:cond delay="0"/>
                                  </p:stCondLst>
                                  <p:childTnLst>
                                    <p:set>
                                      <p:cBhvr>
                                        <p:cTn id="882" dur="1" fill="hold">
                                          <p:stCondLst>
                                            <p:cond delay="0"/>
                                          </p:stCondLst>
                                        </p:cTn>
                                        <p:tgtEl>
                                          <p:spTgt spid="370"/>
                                        </p:tgtEl>
                                        <p:attrNameLst>
                                          <p:attrName>style.visibility</p:attrName>
                                        </p:attrNameLst>
                                      </p:cBhvr>
                                      <p:to>
                                        <p:strVal val="visible"/>
                                      </p:to>
                                    </p:set>
                                    <p:animEffect filter="wipe(left)" transition="in">
                                      <p:cBhvr additive="repl">
                                        <p:cTn id="883" dur="1000"/>
                                        <p:tgtEl>
                                          <p:spTgt spid="3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APPENDIX: INDIFFERENCE CURVES</a:t>
            </a:r>
            <a:endParaRPr b="0" lang="en-US" sz="2600" strike="noStrike" u="none">
              <a:solidFill>
                <a:srgbClr val="000000"/>
              </a:solidFill>
              <a:effectLst/>
              <a:uFillTx/>
              <a:latin typeface="Arial"/>
            </a:endParaRPr>
          </a:p>
        </p:txBody>
      </p:sp>
      <p:sp>
        <p:nvSpPr>
          <p:cNvPr id="372"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indifference curve in part (a) is curve </a:t>
            </a:r>
            <a:r>
              <a:rPr b="0" i="1" lang="en-US" sz="2400" strike="noStrike" u="none">
                <a:solidFill>
                  <a:srgbClr val="000000"/>
                </a:solidFill>
                <a:effectLst/>
                <a:uFillTx/>
                <a:latin typeface="Arial"/>
                <a:ea typeface="ＭＳ Ｐゴシック"/>
              </a:rPr>
              <a:t>I</a:t>
            </a:r>
            <a:r>
              <a:rPr b="0" lang="en-US" sz="2400" strike="noStrike" u="none" baseline="-25000">
                <a:solidFill>
                  <a:srgbClr val="000000"/>
                </a:solidFill>
                <a:effectLst/>
                <a:uFillTx/>
                <a:latin typeface="Arial"/>
                <a:ea typeface="ＭＳ Ｐゴシック"/>
              </a:rPr>
              <a:t>1</a:t>
            </a:r>
            <a:r>
              <a:rPr b="0" lang="en-US" sz="2400" strike="noStrike" u="none">
                <a:solidFill>
                  <a:srgbClr val="000000"/>
                </a:solidFill>
                <a:effectLst/>
                <a:uFillTx/>
                <a:latin typeface="Arial"/>
                <a:ea typeface="ＭＳ Ｐゴシック"/>
              </a:rPr>
              <a:t> in part (b). Tina is indifferent between points </a:t>
            </a:r>
            <a:r>
              <a:rPr b="0" i="1" lang="en-US" sz="2400" strike="noStrike" u="none">
                <a:solidFill>
                  <a:srgbClr val="000000"/>
                </a:solidFill>
                <a:effectLst/>
                <a:uFillTx/>
                <a:latin typeface="Arial"/>
                <a:ea typeface="ＭＳ Ｐゴシック"/>
              </a:rPr>
              <a:t>C</a:t>
            </a:r>
            <a:r>
              <a:rPr b="0" lang="en-US" sz="2400" strike="noStrike" u="none">
                <a:solidFill>
                  <a:srgbClr val="000000"/>
                </a:solidFill>
                <a:effectLst/>
                <a:uFillTx/>
                <a:latin typeface="Arial"/>
                <a:ea typeface="ＭＳ Ｐゴシック"/>
              </a:rPr>
              <a:t> and </a:t>
            </a:r>
            <a:r>
              <a:rPr b="0" i="1" lang="en-US" sz="2400" strike="noStrike" u="none">
                <a:solidFill>
                  <a:srgbClr val="000000"/>
                </a:solidFill>
                <a:effectLst/>
                <a:uFillTx/>
                <a:latin typeface="Arial"/>
                <a:ea typeface="ＭＳ Ｐゴシック"/>
              </a:rPr>
              <a:t>G</a:t>
            </a:r>
            <a:r>
              <a:rPr b="0" lang="en-US" sz="2400" strike="noStrike" u="none">
                <a:solidFill>
                  <a:srgbClr val="000000"/>
                </a:solidFill>
                <a:effectLst/>
                <a:uFillTx/>
                <a:latin typeface="Arial"/>
                <a:ea typeface="ＭＳ Ｐゴシック"/>
              </a:rPr>
              <a:t>.</a:t>
            </a:r>
            <a:endParaRPr b="0" lang="en-US" sz="2400" strike="noStrike" u="none">
              <a:solidFill>
                <a:srgbClr val="000000"/>
              </a:solidFill>
              <a:effectLst/>
              <a:uFillTx/>
              <a:latin typeface="Arial"/>
            </a:endParaRPr>
          </a:p>
        </p:txBody>
      </p:sp>
      <p:pic>
        <p:nvPicPr>
          <p:cNvPr id="373" name="Picture 60" descr="apx1201a.gif"/>
          <p:cNvPicPr/>
          <p:nvPr/>
        </p:nvPicPr>
        <p:blipFill>
          <a:blip r:embed="rId1"/>
          <a:stretch/>
        </p:blipFill>
        <p:spPr>
          <a:xfrm>
            <a:off x="1224000" y="2519280"/>
            <a:ext cx="6627240" cy="3841200"/>
          </a:xfrm>
          <a:prstGeom prst="rect">
            <a:avLst/>
          </a:prstGeom>
          <a:noFill/>
          <a:ln w="0">
            <a:noFill/>
          </a:ln>
        </p:spPr>
      </p:pic>
      <p:pic>
        <p:nvPicPr>
          <p:cNvPr id="374" name="Picture 61" descr="apx1201b.gif"/>
          <p:cNvPicPr/>
          <p:nvPr/>
        </p:nvPicPr>
        <p:blipFill>
          <a:blip r:embed="rId2"/>
          <a:stretch/>
        </p:blipFill>
        <p:spPr>
          <a:xfrm>
            <a:off x="1224000" y="2519280"/>
            <a:ext cx="6627240" cy="3841200"/>
          </a:xfrm>
          <a:prstGeom prst="rect">
            <a:avLst/>
          </a:prstGeom>
          <a:noFill/>
          <a:ln w="0">
            <a:noFill/>
          </a:ln>
        </p:spPr>
      </p:pic>
      <p:pic>
        <p:nvPicPr>
          <p:cNvPr id="375" name="Picture 62" descr="apx1201c.gif"/>
          <p:cNvPicPr/>
          <p:nvPr/>
        </p:nvPicPr>
        <p:blipFill>
          <a:blip r:embed="rId3"/>
          <a:stretch/>
        </p:blipFill>
        <p:spPr>
          <a:xfrm>
            <a:off x="1224000" y="2519280"/>
            <a:ext cx="6627240" cy="3841200"/>
          </a:xfrm>
          <a:prstGeom prst="rect">
            <a:avLst/>
          </a:prstGeom>
          <a:noFill/>
          <a:ln w="0">
            <a:noFill/>
          </a:ln>
        </p:spPr>
      </p:pic>
      <p:pic>
        <p:nvPicPr>
          <p:cNvPr id="376" name="Picture 63" descr="apx1201d.gif"/>
          <p:cNvPicPr/>
          <p:nvPr/>
        </p:nvPicPr>
        <p:blipFill>
          <a:blip r:embed="rId4"/>
          <a:stretch/>
        </p:blipFill>
        <p:spPr>
          <a:xfrm>
            <a:off x="1224000" y="2519280"/>
            <a:ext cx="6627240" cy="3841200"/>
          </a:xfrm>
          <a:prstGeom prst="rect">
            <a:avLst/>
          </a:prstGeom>
          <a:noFill/>
          <a:ln w="0">
            <a:noFill/>
          </a:ln>
        </p:spPr>
      </p:pic>
      <p:pic>
        <p:nvPicPr>
          <p:cNvPr id="377" name="Picture 64" descr="apx1201e.gif"/>
          <p:cNvPicPr/>
          <p:nvPr/>
        </p:nvPicPr>
        <p:blipFill>
          <a:blip r:embed="rId5"/>
          <a:stretch/>
        </p:blipFill>
        <p:spPr>
          <a:xfrm>
            <a:off x="1224000" y="2519280"/>
            <a:ext cx="6627240" cy="3841200"/>
          </a:xfrm>
          <a:prstGeom prst="rect">
            <a:avLst/>
          </a:prstGeom>
          <a:noFill/>
          <a:ln w="0">
            <a:noFill/>
          </a:ln>
        </p:spPr>
      </p:pic>
      <p:pic>
        <p:nvPicPr>
          <p:cNvPr id="378" name="Picture 65" descr="apx1201f.gif"/>
          <p:cNvPicPr/>
          <p:nvPr/>
        </p:nvPicPr>
        <p:blipFill>
          <a:blip r:embed="rId6"/>
          <a:stretch/>
        </p:blipFill>
        <p:spPr>
          <a:xfrm>
            <a:off x="1224000" y="2519280"/>
            <a:ext cx="6627240" cy="3841200"/>
          </a:xfrm>
          <a:prstGeom prst="rect">
            <a:avLst/>
          </a:prstGeom>
          <a:noFill/>
          <a:ln w="0">
            <a:noFill/>
          </a:ln>
        </p:spPr>
      </p:pic>
      <p:pic>
        <p:nvPicPr>
          <p:cNvPr id="379" name="Picture 66" descr="apx1201g.gif"/>
          <p:cNvPicPr/>
          <p:nvPr/>
        </p:nvPicPr>
        <p:blipFill>
          <a:blip r:embed="rId7"/>
          <a:stretch/>
        </p:blipFill>
        <p:spPr>
          <a:xfrm>
            <a:off x="1224000" y="2519280"/>
            <a:ext cx="6627240" cy="3841200"/>
          </a:xfrm>
          <a:prstGeom prst="rect">
            <a:avLst/>
          </a:prstGeom>
          <a:noFill/>
          <a:ln w="0">
            <a:noFill/>
          </a:ln>
        </p:spPr>
      </p:pic>
      <p:pic>
        <p:nvPicPr>
          <p:cNvPr id="380" name="Picture 67" descr="apx1201h.gif"/>
          <p:cNvPicPr/>
          <p:nvPr/>
        </p:nvPicPr>
        <p:blipFill>
          <a:blip r:embed="rId8"/>
          <a:stretch/>
        </p:blipFill>
        <p:spPr>
          <a:xfrm>
            <a:off x="1224000" y="2519280"/>
            <a:ext cx="6627240" cy="3841200"/>
          </a:xfrm>
          <a:prstGeom prst="rect">
            <a:avLst/>
          </a:prstGeom>
          <a:noFill/>
          <a:ln w="0">
            <a:noFill/>
          </a:ln>
        </p:spPr>
      </p:pic>
    </p:spTree>
  </p:cSld>
  <p:transition spd="slow">
    <p:wipe dir="r"/>
  </p:transition>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APPENDIX: INDIFFERENCE CURVES</a:t>
            </a:r>
            <a:endParaRPr b="0" lang="en-US" sz="2600" strike="noStrike" u="none">
              <a:solidFill>
                <a:srgbClr val="000000"/>
              </a:solidFill>
              <a:effectLst/>
              <a:uFillTx/>
              <a:latin typeface="Arial"/>
            </a:endParaRPr>
          </a:p>
        </p:txBody>
      </p:sp>
      <p:sp>
        <p:nvSpPr>
          <p:cNvPr id="382"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Tina prefers point </a:t>
            </a:r>
            <a:r>
              <a:rPr b="0" i="1" lang="en-US" sz="2400" strike="noStrike" u="none">
                <a:solidFill>
                  <a:srgbClr val="000000"/>
                </a:solidFill>
                <a:effectLst/>
                <a:uFillTx/>
                <a:latin typeface="Arial"/>
                <a:ea typeface="ＭＳ Ｐゴシック"/>
              </a:rPr>
              <a:t>J </a:t>
            </a:r>
            <a:r>
              <a:rPr b="0" lang="en-US" sz="2400" strike="noStrike" u="none">
                <a:solidFill>
                  <a:srgbClr val="000000"/>
                </a:solidFill>
                <a:effectLst/>
                <a:uFillTx/>
                <a:latin typeface="Arial"/>
                <a:ea typeface="ＭＳ Ｐゴシック"/>
              </a:rPr>
              <a:t>to point </a:t>
            </a:r>
            <a:r>
              <a:rPr b="0" i="1" lang="en-US" sz="2400" strike="noStrike" u="none">
                <a:solidFill>
                  <a:srgbClr val="000000"/>
                </a:solidFill>
                <a:effectLst/>
                <a:uFillTx/>
                <a:latin typeface="Arial"/>
                <a:ea typeface="ＭＳ Ｐゴシック"/>
              </a:rPr>
              <a:t>C</a:t>
            </a:r>
            <a:r>
              <a:rPr b="0" lang="en-US" sz="2400" strike="noStrike" u="none">
                <a:solidFill>
                  <a:srgbClr val="000000"/>
                </a:solidFill>
                <a:effectLst/>
                <a:uFillTx/>
                <a:latin typeface="Arial"/>
                <a:ea typeface="ＭＳ Ｐゴシック"/>
              </a:rPr>
              <a:t> or point </a:t>
            </a:r>
            <a:r>
              <a:rPr b="0" i="1" lang="en-US" sz="2400" strike="noStrike" u="none">
                <a:solidFill>
                  <a:srgbClr val="000000"/>
                </a:solidFill>
                <a:effectLst/>
                <a:uFillTx/>
                <a:latin typeface="Arial"/>
                <a:ea typeface="ＭＳ Ｐゴシック"/>
              </a:rPr>
              <a:t>G</a:t>
            </a:r>
            <a:r>
              <a:rPr b="0" lang="en-US" sz="2400" strike="noStrike" u="none">
                <a:solidFill>
                  <a:srgbClr val="000000"/>
                </a:solidFill>
                <a:effectLst/>
                <a:uFillTx/>
                <a:latin typeface="Arial"/>
                <a:ea typeface="ＭＳ Ｐゴシック"/>
              </a:rPr>
              <a:t>. And she prefers either point </a:t>
            </a:r>
            <a:r>
              <a:rPr b="0" i="1" lang="en-US" sz="2400" strike="noStrike" u="none">
                <a:solidFill>
                  <a:srgbClr val="000000"/>
                </a:solidFill>
                <a:effectLst/>
                <a:uFillTx/>
                <a:latin typeface="Arial"/>
                <a:ea typeface="ＭＳ Ｐゴシック"/>
              </a:rPr>
              <a:t>C</a:t>
            </a:r>
            <a:r>
              <a:rPr b="0" lang="en-US" sz="2400" strike="noStrike" u="none">
                <a:solidFill>
                  <a:srgbClr val="000000"/>
                </a:solidFill>
                <a:effectLst/>
                <a:uFillTx/>
                <a:latin typeface="Arial"/>
                <a:ea typeface="ＭＳ Ｐゴシック"/>
              </a:rPr>
              <a:t> or point </a:t>
            </a:r>
            <a:r>
              <a:rPr b="0" i="1" lang="en-US" sz="2400" strike="noStrike" u="none">
                <a:solidFill>
                  <a:srgbClr val="000000"/>
                </a:solidFill>
                <a:effectLst/>
                <a:uFillTx/>
                <a:latin typeface="Arial"/>
                <a:ea typeface="ＭＳ Ｐゴシック"/>
              </a:rPr>
              <a:t>G</a:t>
            </a:r>
            <a:r>
              <a:rPr b="0" lang="en-US" sz="2400" strike="noStrike" u="none">
                <a:solidFill>
                  <a:srgbClr val="000000"/>
                </a:solidFill>
                <a:effectLst/>
                <a:uFillTx/>
                <a:latin typeface="Arial"/>
                <a:ea typeface="ＭＳ Ｐゴシック"/>
              </a:rPr>
              <a:t> to any point on curve </a:t>
            </a:r>
            <a:r>
              <a:rPr b="0" i="1" lang="en-US" sz="2400" strike="noStrike" u="none">
                <a:solidFill>
                  <a:srgbClr val="000000"/>
                </a:solidFill>
                <a:effectLst/>
                <a:uFillTx/>
                <a:latin typeface="Arial"/>
                <a:ea typeface="ＭＳ Ｐゴシック"/>
              </a:rPr>
              <a:t>I</a:t>
            </a:r>
            <a:r>
              <a:rPr b="0" lang="en-US" sz="2400" strike="noStrike" u="none" baseline="-25000">
                <a:solidFill>
                  <a:srgbClr val="000000"/>
                </a:solidFill>
                <a:effectLst/>
                <a:uFillTx/>
                <a:latin typeface="Arial"/>
                <a:ea typeface="ＭＳ Ｐゴシック"/>
              </a:rPr>
              <a:t>0</a:t>
            </a:r>
            <a:r>
              <a:rPr b="0" lang="en-US" sz="2400" strike="noStrike" u="none">
                <a:solidFill>
                  <a:srgbClr val="000000"/>
                </a:solidFill>
                <a:effectLst/>
                <a:uFillTx/>
                <a:latin typeface="Arial"/>
                <a:ea typeface="ＭＳ Ｐゴシック"/>
              </a:rPr>
              <a:t>.</a:t>
            </a:r>
            <a:endParaRPr b="0" lang="en-US" sz="2400" strike="noStrike" u="none">
              <a:solidFill>
                <a:srgbClr val="000000"/>
              </a:solidFill>
              <a:effectLst/>
              <a:uFillTx/>
              <a:latin typeface="Arial"/>
            </a:endParaRPr>
          </a:p>
        </p:txBody>
      </p:sp>
      <p:pic>
        <p:nvPicPr>
          <p:cNvPr id="383" name="Picture 68" descr="apx1201a.gif"/>
          <p:cNvPicPr/>
          <p:nvPr/>
        </p:nvPicPr>
        <p:blipFill>
          <a:blip r:embed="rId1"/>
          <a:stretch/>
        </p:blipFill>
        <p:spPr>
          <a:xfrm>
            <a:off x="1224000" y="2519280"/>
            <a:ext cx="6627240" cy="3841200"/>
          </a:xfrm>
          <a:prstGeom prst="rect">
            <a:avLst/>
          </a:prstGeom>
          <a:noFill/>
          <a:ln w="0">
            <a:noFill/>
          </a:ln>
        </p:spPr>
      </p:pic>
      <p:pic>
        <p:nvPicPr>
          <p:cNvPr id="384" name="Picture 69" descr="apx1201b.gif"/>
          <p:cNvPicPr/>
          <p:nvPr/>
        </p:nvPicPr>
        <p:blipFill>
          <a:blip r:embed="rId2"/>
          <a:stretch/>
        </p:blipFill>
        <p:spPr>
          <a:xfrm>
            <a:off x="1224000" y="2519280"/>
            <a:ext cx="6627240" cy="3841200"/>
          </a:xfrm>
          <a:prstGeom prst="rect">
            <a:avLst/>
          </a:prstGeom>
          <a:noFill/>
          <a:ln w="0">
            <a:noFill/>
          </a:ln>
        </p:spPr>
      </p:pic>
      <p:pic>
        <p:nvPicPr>
          <p:cNvPr id="385" name="Picture 70" descr="apx1201c.gif"/>
          <p:cNvPicPr/>
          <p:nvPr/>
        </p:nvPicPr>
        <p:blipFill>
          <a:blip r:embed="rId3"/>
          <a:stretch/>
        </p:blipFill>
        <p:spPr>
          <a:xfrm>
            <a:off x="1224000" y="2519280"/>
            <a:ext cx="6627240" cy="3841200"/>
          </a:xfrm>
          <a:prstGeom prst="rect">
            <a:avLst/>
          </a:prstGeom>
          <a:noFill/>
          <a:ln w="0">
            <a:noFill/>
          </a:ln>
        </p:spPr>
      </p:pic>
      <p:pic>
        <p:nvPicPr>
          <p:cNvPr id="386" name="Picture 71" descr="apx1201d.gif"/>
          <p:cNvPicPr/>
          <p:nvPr/>
        </p:nvPicPr>
        <p:blipFill>
          <a:blip r:embed="rId4"/>
          <a:stretch/>
        </p:blipFill>
        <p:spPr>
          <a:xfrm>
            <a:off x="1224000" y="2519280"/>
            <a:ext cx="6627240" cy="3841200"/>
          </a:xfrm>
          <a:prstGeom prst="rect">
            <a:avLst/>
          </a:prstGeom>
          <a:noFill/>
          <a:ln w="0">
            <a:noFill/>
          </a:ln>
        </p:spPr>
      </p:pic>
      <p:pic>
        <p:nvPicPr>
          <p:cNvPr id="387" name="Picture 72" descr="apx1201e.gif"/>
          <p:cNvPicPr/>
          <p:nvPr/>
        </p:nvPicPr>
        <p:blipFill>
          <a:blip r:embed="rId5"/>
          <a:stretch/>
        </p:blipFill>
        <p:spPr>
          <a:xfrm>
            <a:off x="1224000" y="2519280"/>
            <a:ext cx="6627240" cy="3841200"/>
          </a:xfrm>
          <a:prstGeom prst="rect">
            <a:avLst/>
          </a:prstGeom>
          <a:noFill/>
          <a:ln w="0">
            <a:noFill/>
          </a:ln>
        </p:spPr>
      </p:pic>
      <p:pic>
        <p:nvPicPr>
          <p:cNvPr id="388" name="Picture 73" descr="apx1201f.gif"/>
          <p:cNvPicPr/>
          <p:nvPr/>
        </p:nvPicPr>
        <p:blipFill>
          <a:blip r:embed="rId6"/>
          <a:stretch/>
        </p:blipFill>
        <p:spPr>
          <a:xfrm>
            <a:off x="1224000" y="2519280"/>
            <a:ext cx="6627240" cy="3841200"/>
          </a:xfrm>
          <a:prstGeom prst="rect">
            <a:avLst/>
          </a:prstGeom>
          <a:noFill/>
          <a:ln w="0">
            <a:noFill/>
          </a:ln>
        </p:spPr>
      </p:pic>
      <p:pic>
        <p:nvPicPr>
          <p:cNvPr id="389" name="Picture 74" descr="apx1201g.gif"/>
          <p:cNvPicPr/>
          <p:nvPr/>
        </p:nvPicPr>
        <p:blipFill>
          <a:blip r:embed="rId7"/>
          <a:stretch/>
        </p:blipFill>
        <p:spPr>
          <a:xfrm>
            <a:off x="1224000" y="2519280"/>
            <a:ext cx="6627240" cy="3841200"/>
          </a:xfrm>
          <a:prstGeom prst="rect">
            <a:avLst/>
          </a:prstGeom>
          <a:noFill/>
          <a:ln w="0">
            <a:noFill/>
          </a:ln>
        </p:spPr>
      </p:pic>
      <p:pic>
        <p:nvPicPr>
          <p:cNvPr id="390" name="Picture 75" descr="apx1201h.gif"/>
          <p:cNvPicPr/>
          <p:nvPr/>
        </p:nvPicPr>
        <p:blipFill>
          <a:blip r:embed="rId8"/>
          <a:stretch/>
        </p:blipFill>
        <p:spPr>
          <a:xfrm>
            <a:off x="1224000" y="2519280"/>
            <a:ext cx="6627240" cy="3841200"/>
          </a:xfrm>
          <a:prstGeom prst="rect">
            <a:avLst/>
          </a:prstGeom>
          <a:noFill/>
          <a:ln w="0">
            <a:noFill/>
          </a:ln>
        </p:spPr>
      </p:pic>
    </p:spTree>
  </p:cSld>
  <p:transition spd="slow">
    <p:wipe dir="r"/>
  </p:transition>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APPENDIX: INDIFFERENCE CURVES</a:t>
            </a:r>
            <a:endParaRPr b="0" lang="en-US" sz="2600" strike="noStrike" u="none">
              <a:solidFill>
                <a:srgbClr val="000000"/>
              </a:solidFill>
              <a:effectLst/>
              <a:uFillTx/>
              <a:latin typeface="Arial"/>
            </a:endParaRPr>
          </a:p>
        </p:txBody>
      </p:sp>
      <p:sp>
        <p:nvSpPr>
          <p:cNvPr id="392"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Marginal Rate of Substitution</a:t>
            </a:r>
            <a:endParaRPr b="0" lang="en-US" sz="28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a:t>
            </a:r>
            <a:r>
              <a:rPr b="1" lang="en-US" sz="2400" strike="noStrike" u="none">
                <a:solidFill>
                  <a:srgbClr val="ff0000"/>
                </a:solidFill>
                <a:effectLst/>
                <a:uFillTx/>
                <a:latin typeface="Arial"/>
                <a:ea typeface="ＭＳ Ｐゴシック"/>
              </a:rPr>
              <a:t>marginal rate of substitution</a:t>
            </a:r>
            <a:r>
              <a:rPr b="0" lang="en-US" sz="2400" strike="noStrike" u="none">
                <a:solidFill>
                  <a:schemeClr val="dk1"/>
                </a:solidFill>
                <a:effectLst/>
                <a:uFillTx/>
                <a:latin typeface="Arial"/>
                <a:ea typeface="ＭＳ Ｐゴシック"/>
              </a:rPr>
              <a:t> is the rate at which a person will give up good </a:t>
            </a:r>
            <a:r>
              <a:rPr b="0" i="1" lang="en-US" sz="2400" strike="noStrike" u="none">
                <a:solidFill>
                  <a:schemeClr val="dk1"/>
                </a:solidFill>
                <a:effectLst/>
                <a:uFillTx/>
                <a:latin typeface="Arial"/>
                <a:ea typeface="ＭＳ Ｐゴシック"/>
              </a:rPr>
              <a:t>y</a:t>
            </a:r>
            <a:r>
              <a:rPr b="0" lang="en-US" sz="2400" strike="noStrike" u="none">
                <a:solidFill>
                  <a:schemeClr val="dk1"/>
                </a:solidFill>
                <a:effectLst/>
                <a:uFillTx/>
                <a:latin typeface="Arial"/>
                <a:ea typeface="ＭＳ Ｐゴシック"/>
              </a:rPr>
              <a:t> (the good measured on the </a:t>
            </a:r>
            <a:r>
              <a:rPr b="0" i="1" lang="en-US" sz="2400" strike="noStrike" u="none">
                <a:solidFill>
                  <a:schemeClr val="dk1"/>
                </a:solidFill>
                <a:effectLst/>
                <a:uFillTx/>
                <a:latin typeface="Arial"/>
                <a:ea typeface="ＭＳ Ｐゴシック"/>
              </a:rPr>
              <a:t>y</a:t>
            </a:r>
            <a:r>
              <a:rPr b="0" lang="en-US" sz="2400" strike="noStrike" u="none">
                <a:solidFill>
                  <a:schemeClr val="dk1"/>
                </a:solidFill>
                <a:effectLst/>
                <a:uFillTx/>
                <a:latin typeface="Arial"/>
                <a:ea typeface="ＭＳ Ｐゴシック"/>
              </a:rPr>
              <a:t>-axis) to get more of good </a:t>
            </a:r>
            <a:r>
              <a:rPr b="0" i="1" lang="en-US" sz="2400" strike="noStrike" u="none">
                <a:solidFill>
                  <a:schemeClr val="dk1"/>
                </a:solidFill>
                <a:effectLst/>
                <a:uFillTx/>
                <a:latin typeface="Arial"/>
                <a:ea typeface="ＭＳ Ｐゴシック"/>
              </a:rPr>
              <a:t>x</a:t>
            </a:r>
            <a:r>
              <a:rPr b="0" lang="en-US" sz="2400" strike="noStrike" u="none">
                <a:solidFill>
                  <a:schemeClr val="dk1"/>
                </a:solidFill>
                <a:effectLst/>
                <a:uFillTx/>
                <a:latin typeface="Arial"/>
                <a:ea typeface="ＭＳ Ｐゴシック"/>
              </a:rPr>
              <a:t> (the good measured on the </a:t>
            </a:r>
            <a:r>
              <a:rPr b="0" i="1" lang="en-US" sz="2400" strike="noStrike" u="none">
                <a:solidFill>
                  <a:schemeClr val="dk1"/>
                </a:solidFill>
                <a:effectLst/>
                <a:uFillTx/>
                <a:latin typeface="Arial"/>
                <a:ea typeface="ＭＳ Ｐゴシック"/>
              </a:rPr>
              <a:t>x</a:t>
            </a:r>
            <a:r>
              <a:rPr b="0" lang="en-US" sz="2400" strike="noStrike" u="none">
                <a:solidFill>
                  <a:schemeClr val="dk1"/>
                </a:solidFill>
                <a:effectLst/>
                <a:uFillTx/>
                <a:latin typeface="Arial"/>
                <a:ea typeface="ＭＳ Ｐゴシック"/>
              </a:rPr>
              <a:t>-axis) and at the same time remain on the same indifference curve.</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1" lang="en-US" sz="2400" strike="noStrike" u="none">
                <a:solidFill>
                  <a:srgbClr val="ff0000"/>
                </a:solidFill>
                <a:effectLst/>
                <a:uFillTx/>
                <a:latin typeface="Arial"/>
                <a:ea typeface="ＭＳ Ｐゴシック"/>
              </a:rPr>
              <a:t>Diminishing marginal rate of substitution </a:t>
            </a:r>
            <a:r>
              <a:rPr b="0" lang="en-US" sz="2400" strike="noStrike" u="none">
                <a:solidFill>
                  <a:srgbClr val="000000"/>
                </a:solidFill>
                <a:effectLst/>
                <a:uFillTx/>
                <a:latin typeface="Arial"/>
                <a:ea typeface="ＭＳ Ｐゴシック"/>
              </a:rPr>
              <a:t>is the general tendency for the marginal rate of substitution to decrease as the consumer moves down along the indifference curve, increasing consumption of good </a:t>
            </a:r>
            <a:r>
              <a:rPr b="0" i="1" lang="en-US" sz="2400" strike="noStrike" u="none">
                <a:solidFill>
                  <a:srgbClr val="000000"/>
                </a:solidFill>
                <a:effectLst/>
                <a:uFillTx/>
                <a:latin typeface="Arial"/>
                <a:ea typeface="ＭＳ Ｐゴシック"/>
              </a:rPr>
              <a:t>x</a:t>
            </a:r>
            <a:r>
              <a:rPr b="0" lang="en-US" sz="2400" strike="noStrike" u="none">
                <a:solidFill>
                  <a:srgbClr val="000000"/>
                </a:solidFill>
                <a:effectLst/>
                <a:uFillTx/>
                <a:latin typeface="Arial"/>
                <a:ea typeface="ＭＳ Ｐゴシック"/>
              </a:rPr>
              <a:t> and decreasing consumption of good </a:t>
            </a:r>
            <a:r>
              <a:rPr b="0" i="1" lang="en-US" sz="2400" strike="noStrike" u="none">
                <a:solidFill>
                  <a:srgbClr val="000000"/>
                </a:solidFill>
                <a:effectLst/>
                <a:uFillTx/>
                <a:latin typeface="Arial"/>
                <a:ea typeface="ＭＳ Ｐゴシック"/>
              </a:rPr>
              <a:t>y</a:t>
            </a:r>
            <a:r>
              <a:rPr b="0" lang="en-US" sz="2400" strike="noStrike" u="none">
                <a:solidFill>
                  <a:srgbClr val="000000"/>
                </a:solidFill>
                <a:effectLst/>
                <a:uFillTx/>
                <a:latin typeface="Arial"/>
                <a:ea typeface="ＭＳ Ｐゴシック"/>
              </a:rPr>
              <a:t>.</a:t>
            </a:r>
            <a:endParaRPr b="0" lang="en-US" sz="2400" strike="noStrike" u="none">
              <a:solidFill>
                <a:srgbClr val="000000"/>
              </a:solidFill>
              <a:effectLst/>
              <a:uFillTx/>
              <a:latin typeface="Arial"/>
            </a:endParaRPr>
          </a:p>
        </p:txBody>
      </p:sp>
    </p:spTree>
  </p:cSld>
  <p:transition spd="slow">
    <p:wipe dir="r"/>
  </p:transition>
  <p:timing>
    <p:tnLst>
      <p:par>
        <p:cTn id="884" dur="indefinite" restart="never" nodeType="tmRoot">
          <p:childTnLst>
            <p:seq>
              <p:cTn id="885" dur="indefinite" nodeType="mainSeq">
                <p:childTnLst>
                  <p:par>
                    <p:cTn id="886" nodeType="clickEffect" fill="hold">
                      <p:stCondLst>
                        <p:cond delay="indefinite"/>
                      </p:stCondLst>
                      <p:childTnLst>
                        <p:par>
                          <p:cTn id="887" nodeType="withEffect" fill="hold">
                            <p:stCondLst>
                              <p:cond delay="0"/>
                            </p:stCondLst>
                            <p:childTnLst>
                              <p:par>
                                <p:cTn id="888" nodeType="clickEffect" fill="hold" presetClass="entr" presetID="22" presetSubtype="8">
                                  <p:stCondLst>
                                    <p:cond delay="0"/>
                                  </p:stCondLst>
                                  <p:childTnLst>
                                    <p:set>
                                      <p:cBhvr>
                                        <p:cTn id="889" dur="1" fill="hold">
                                          <p:stCondLst>
                                            <p:cond delay="0"/>
                                          </p:stCondLst>
                                        </p:cTn>
                                        <p:tgtEl>
                                          <p:spTgt spid="392">
                                            <p:txEl>
                                              <p:pRg st="1" end="1"/>
                                            </p:txEl>
                                          </p:spTgt>
                                        </p:tgtEl>
                                        <p:attrNameLst>
                                          <p:attrName>style.visibility</p:attrName>
                                        </p:attrNameLst>
                                      </p:cBhvr>
                                      <p:to>
                                        <p:strVal val="visible"/>
                                      </p:to>
                                    </p:set>
                                    <p:animEffect filter="wipe(left)" transition="in">
                                      <p:cBhvr additive="repl">
                                        <p:cTn id="890" dur="500"/>
                                        <p:tgtEl>
                                          <p:spTgt spid="392">
                                            <p:txEl>
                                              <p:pRg st="1" end="1"/>
                                            </p:txEl>
                                          </p:spTgt>
                                        </p:tgtEl>
                                      </p:cBhvr>
                                    </p:animEffect>
                                  </p:childTnLst>
                                </p:cTn>
                              </p:par>
                            </p:childTnLst>
                          </p:cTn>
                        </p:par>
                      </p:childTnLst>
                    </p:cTn>
                  </p:par>
                  <p:par>
                    <p:cTn id="891" nodeType="clickEffect" fill="hold">
                      <p:stCondLst>
                        <p:cond delay="indefinite"/>
                      </p:stCondLst>
                      <p:childTnLst>
                        <p:par>
                          <p:cTn id="892" nodeType="withEffect" fill="hold">
                            <p:stCondLst>
                              <p:cond delay="0"/>
                            </p:stCondLst>
                            <p:childTnLst>
                              <p:par>
                                <p:cTn id="893" nodeType="clickEffect" fill="hold" presetClass="entr" presetID="22" presetSubtype="8">
                                  <p:stCondLst>
                                    <p:cond delay="0"/>
                                  </p:stCondLst>
                                  <p:childTnLst>
                                    <p:set>
                                      <p:cBhvr>
                                        <p:cTn id="894" dur="1" fill="hold">
                                          <p:stCondLst>
                                            <p:cond delay="0"/>
                                          </p:stCondLst>
                                        </p:cTn>
                                        <p:tgtEl>
                                          <p:spTgt spid="392">
                                            <p:txEl>
                                              <p:pRg st="2" end="2"/>
                                            </p:txEl>
                                          </p:spTgt>
                                        </p:tgtEl>
                                        <p:attrNameLst>
                                          <p:attrName>style.visibility</p:attrName>
                                        </p:attrNameLst>
                                      </p:cBhvr>
                                      <p:to>
                                        <p:strVal val="visible"/>
                                      </p:to>
                                    </p:set>
                                    <p:animEffect filter="wipe(left)" transition="in">
                                      <p:cBhvr additive="repl">
                                        <p:cTn id="895" dur="500"/>
                                        <p:tgtEl>
                                          <p:spTgt spid="392">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93" name="Picture 76" descr="apx1202a.gif"/>
          <p:cNvPicPr/>
          <p:nvPr/>
        </p:nvPicPr>
        <p:blipFill>
          <a:blip r:embed="rId1"/>
          <a:stretch/>
        </p:blipFill>
        <p:spPr>
          <a:xfrm>
            <a:off x="4319640" y="1476360"/>
            <a:ext cx="4357080" cy="4647600"/>
          </a:xfrm>
          <a:prstGeom prst="rect">
            <a:avLst/>
          </a:prstGeom>
          <a:noFill/>
          <a:ln w="0">
            <a:noFill/>
          </a:ln>
        </p:spPr>
      </p:pic>
      <p:pic>
        <p:nvPicPr>
          <p:cNvPr id="394" name="Picture 77" descr="apx1202b.gif"/>
          <p:cNvPicPr/>
          <p:nvPr/>
        </p:nvPicPr>
        <p:blipFill>
          <a:blip r:embed="rId2"/>
          <a:stretch/>
        </p:blipFill>
        <p:spPr>
          <a:xfrm>
            <a:off x="4319640" y="1476360"/>
            <a:ext cx="4357080" cy="4647600"/>
          </a:xfrm>
          <a:prstGeom prst="rect">
            <a:avLst/>
          </a:prstGeom>
          <a:noFill/>
          <a:ln w="0">
            <a:noFill/>
          </a:ln>
        </p:spPr>
      </p:pic>
      <p:sp>
        <p:nvSpPr>
          <p:cNvPr id="395"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APPENDIX: INDIFFERENCE CURVES</a:t>
            </a:r>
            <a:endParaRPr b="0" lang="en-US" sz="2600" strike="noStrike" u="none">
              <a:solidFill>
                <a:srgbClr val="000000"/>
              </a:solidFill>
              <a:effectLst/>
              <a:uFillTx/>
              <a:latin typeface="Arial"/>
            </a:endParaRPr>
          </a:p>
        </p:txBody>
      </p:sp>
      <p:sp>
        <p:nvSpPr>
          <p:cNvPr id="396" name="PlaceHolder 2"/>
          <p:cNvSpPr>
            <a:spLocks noGrp="1"/>
          </p:cNvSpPr>
          <p:nvPr>
            <p:ph/>
          </p:nvPr>
        </p:nvSpPr>
        <p:spPr>
          <a:xfrm>
            <a:off x="360360" y="1440000"/>
            <a:ext cx="367740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Figure A13.2 shows the calculation of the marginal rate of substitution.</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marginal rate of substitution (</a:t>
            </a:r>
            <a:r>
              <a:rPr b="0" i="1" lang="en-US" sz="2400" strike="noStrike" u="none">
                <a:solidFill>
                  <a:srgbClr val="000000"/>
                </a:solidFill>
                <a:effectLst/>
                <a:uFillTx/>
                <a:latin typeface="Arial"/>
                <a:ea typeface="ＭＳ Ｐゴシック"/>
              </a:rPr>
              <a:t>MRS</a:t>
            </a:r>
            <a:r>
              <a:rPr b="0" lang="en-US" sz="2400" strike="noStrike" u="none">
                <a:solidFill>
                  <a:srgbClr val="000000"/>
                </a:solidFill>
                <a:effectLst/>
                <a:uFillTx/>
                <a:latin typeface="Arial"/>
                <a:ea typeface="ＭＳ Ｐゴシック"/>
              </a:rPr>
              <a:t>) is the magnitude of the slope of an indifference curve.</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First, we’ll calculate the </a:t>
            </a:r>
            <a:r>
              <a:rPr b="0" i="1" lang="en-US" sz="2400" strike="noStrike" u="none">
                <a:solidFill>
                  <a:srgbClr val="000000"/>
                </a:solidFill>
                <a:effectLst/>
                <a:uFillTx/>
                <a:latin typeface="Arial"/>
                <a:ea typeface="ＭＳ Ｐゴシック"/>
              </a:rPr>
              <a:t>MRS</a:t>
            </a:r>
            <a:r>
              <a:rPr b="0" lang="en-US" sz="2400" strike="noStrike" u="none">
                <a:solidFill>
                  <a:srgbClr val="000000"/>
                </a:solidFill>
                <a:effectLst/>
                <a:uFillTx/>
                <a:latin typeface="Arial"/>
                <a:ea typeface="ＭＳ Ｐゴシック"/>
              </a:rPr>
              <a:t> at point </a:t>
            </a:r>
            <a:r>
              <a:rPr b="0" i="1" lang="en-US" sz="2400" strike="noStrike" u="none">
                <a:solidFill>
                  <a:srgbClr val="000000"/>
                </a:solidFill>
                <a:effectLst/>
                <a:uFillTx/>
                <a:latin typeface="Arial"/>
                <a:ea typeface="ＭＳ Ｐゴシック"/>
              </a:rPr>
              <a:t>C</a:t>
            </a:r>
            <a:r>
              <a:rPr b="0" lang="en-US" sz="2400" strike="noStrike" u="none">
                <a:solidFill>
                  <a:srgbClr val="000000"/>
                </a:solidFill>
                <a:effectLst/>
                <a:uFillTx/>
                <a:latin typeface="Arial"/>
                <a:ea typeface="ＭＳ Ｐゴシック"/>
              </a:rPr>
              <a:t>.</a:t>
            </a:r>
            <a:endParaRPr b="0" lang="en-US" sz="2400" strike="noStrike" u="none">
              <a:solidFill>
                <a:srgbClr val="000000"/>
              </a:solidFill>
              <a:effectLst/>
              <a:uFillTx/>
              <a:latin typeface="Arial"/>
            </a:endParaRPr>
          </a:p>
        </p:txBody>
      </p:sp>
    </p:spTree>
  </p:cSld>
  <p:transition spd="slow">
    <p:wipe dir="r"/>
  </p:transition>
  <p:timing>
    <p:tnLst>
      <p:par>
        <p:cTn id="896" dur="indefinite" restart="never" nodeType="tmRoot">
          <p:childTnLst>
            <p:seq>
              <p:cTn id="897" dur="indefinite" nodeType="mainSeq">
                <p:childTnLst>
                  <p:par>
                    <p:cTn id="898" nodeType="clickEffect" fill="hold">
                      <p:stCondLst>
                        <p:cond delay="indefinite"/>
                      </p:stCondLst>
                      <p:childTnLst>
                        <p:par>
                          <p:cTn id="899" nodeType="withEffect" fill="hold">
                            <p:stCondLst>
                              <p:cond delay="0"/>
                            </p:stCondLst>
                            <p:childTnLst>
                              <p:par>
                                <p:cTn id="900" nodeType="clickEffect" fill="hold" presetClass="entr" presetID="22" presetSubtype="8">
                                  <p:stCondLst>
                                    <p:cond delay="0"/>
                                  </p:stCondLst>
                                  <p:childTnLst>
                                    <p:set>
                                      <p:cBhvr>
                                        <p:cTn id="901" dur="1" fill="hold">
                                          <p:stCondLst>
                                            <p:cond delay="0"/>
                                          </p:stCondLst>
                                        </p:cTn>
                                        <p:tgtEl>
                                          <p:spTgt spid="396">
                                            <p:txEl>
                                              <p:pRg st="1" end="1"/>
                                            </p:txEl>
                                          </p:spTgt>
                                        </p:tgtEl>
                                        <p:attrNameLst>
                                          <p:attrName>style.visibility</p:attrName>
                                        </p:attrNameLst>
                                      </p:cBhvr>
                                      <p:to>
                                        <p:strVal val="visible"/>
                                      </p:to>
                                    </p:set>
                                    <p:animEffect filter="wipe(left)" transition="in">
                                      <p:cBhvr additive="repl">
                                        <p:cTn id="902" dur="500"/>
                                        <p:tgtEl>
                                          <p:spTgt spid="396">
                                            <p:txEl>
                                              <p:pRg st="1" end="1"/>
                                            </p:txEl>
                                          </p:spTgt>
                                        </p:tgtEl>
                                      </p:cBhvr>
                                    </p:animEffect>
                                  </p:childTnLst>
                                </p:cTn>
                              </p:par>
                            </p:childTnLst>
                          </p:cTn>
                        </p:par>
                      </p:childTnLst>
                    </p:cTn>
                  </p:par>
                  <p:par>
                    <p:cTn id="903" nodeType="clickEffect" fill="hold">
                      <p:stCondLst>
                        <p:cond delay="indefinite"/>
                      </p:stCondLst>
                      <p:childTnLst>
                        <p:par>
                          <p:cTn id="904" nodeType="withEffect" fill="hold">
                            <p:stCondLst>
                              <p:cond delay="0"/>
                            </p:stCondLst>
                            <p:childTnLst>
                              <p:par>
                                <p:cTn id="905" nodeType="clickEffect" fill="hold" presetClass="entr" presetID="22" presetSubtype="8">
                                  <p:stCondLst>
                                    <p:cond delay="0"/>
                                  </p:stCondLst>
                                  <p:childTnLst>
                                    <p:set>
                                      <p:cBhvr>
                                        <p:cTn id="906" dur="1" fill="hold">
                                          <p:stCondLst>
                                            <p:cond delay="0"/>
                                          </p:stCondLst>
                                        </p:cTn>
                                        <p:tgtEl>
                                          <p:spTgt spid="396">
                                            <p:txEl>
                                              <p:pRg st="2" end="2"/>
                                            </p:txEl>
                                          </p:spTgt>
                                        </p:tgtEl>
                                        <p:attrNameLst>
                                          <p:attrName>style.visibility</p:attrName>
                                        </p:attrNameLst>
                                      </p:cBhvr>
                                      <p:to>
                                        <p:strVal val="visible"/>
                                      </p:to>
                                    </p:set>
                                    <p:animEffect filter="wipe(left)" transition="in">
                                      <p:cBhvr additive="repl">
                                        <p:cTn id="907" dur="500"/>
                                        <p:tgtEl>
                                          <p:spTgt spid="396">
                                            <p:txEl>
                                              <p:pRg st="2" end="2"/>
                                            </p:txEl>
                                          </p:spTgt>
                                        </p:tgtEl>
                                      </p:cBhvr>
                                    </p:animEffect>
                                  </p:childTnLst>
                                </p:cTn>
                              </p:par>
                              <p:par>
                                <p:cTn id="908" nodeType="withEffect" fill="hold" presetClass="entr" presetID="10">
                                  <p:stCondLst>
                                    <p:cond delay="0"/>
                                  </p:stCondLst>
                                  <p:childTnLst>
                                    <p:set>
                                      <p:cBhvr>
                                        <p:cTn id="909" dur="1" fill="hold">
                                          <p:stCondLst>
                                            <p:cond delay="0"/>
                                          </p:stCondLst>
                                        </p:cTn>
                                        <p:tgtEl>
                                          <p:spTgt spid="394"/>
                                        </p:tgtEl>
                                        <p:attrNameLst>
                                          <p:attrName>style.visibility</p:attrName>
                                        </p:attrNameLst>
                                      </p:cBhvr>
                                      <p:to>
                                        <p:strVal val="visible"/>
                                      </p:to>
                                    </p:set>
                                    <p:animEffect filter="fade" transition="in">
                                      <p:cBhvr additive="repl">
                                        <p:cTn id="910" dur="500"/>
                                        <p:tgtEl>
                                          <p:spTgt spid="3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397" name="Picture 78" descr="apx1202a.gif"/>
          <p:cNvPicPr/>
          <p:nvPr/>
        </p:nvPicPr>
        <p:blipFill>
          <a:blip r:embed="rId1"/>
          <a:stretch/>
        </p:blipFill>
        <p:spPr>
          <a:xfrm>
            <a:off x="1905120" y="619200"/>
            <a:ext cx="5419080" cy="5780880"/>
          </a:xfrm>
          <a:prstGeom prst="rect">
            <a:avLst/>
          </a:prstGeom>
          <a:noFill/>
          <a:ln w="0">
            <a:noFill/>
          </a:ln>
        </p:spPr>
      </p:pic>
      <p:pic>
        <p:nvPicPr>
          <p:cNvPr id="398" name="Picture 79" descr="apx1202b.gif"/>
          <p:cNvPicPr/>
          <p:nvPr/>
        </p:nvPicPr>
        <p:blipFill>
          <a:blip r:embed="rId2"/>
          <a:stretch/>
        </p:blipFill>
        <p:spPr>
          <a:xfrm>
            <a:off x="1905120" y="619200"/>
            <a:ext cx="5419080" cy="5780880"/>
          </a:xfrm>
          <a:prstGeom prst="rect">
            <a:avLst/>
          </a:prstGeom>
          <a:noFill/>
          <a:ln w="0">
            <a:noFill/>
          </a:ln>
        </p:spPr>
      </p:pic>
      <p:pic>
        <p:nvPicPr>
          <p:cNvPr id="399" name="Picture 80" descr="apx1202c.gif"/>
          <p:cNvPicPr/>
          <p:nvPr/>
        </p:nvPicPr>
        <p:blipFill>
          <a:blip r:embed="rId3"/>
          <a:stretch/>
        </p:blipFill>
        <p:spPr>
          <a:xfrm>
            <a:off x="1905120" y="619200"/>
            <a:ext cx="5419080" cy="5780880"/>
          </a:xfrm>
          <a:prstGeom prst="rect">
            <a:avLst/>
          </a:prstGeom>
          <a:noFill/>
          <a:ln w="0">
            <a:noFill/>
          </a:ln>
        </p:spPr>
      </p:pic>
      <p:pic>
        <p:nvPicPr>
          <p:cNvPr id="400" name="Picture 81" descr="apx1202d.gif"/>
          <p:cNvPicPr/>
          <p:nvPr/>
        </p:nvPicPr>
        <p:blipFill>
          <a:blip r:embed="rId4"/>
          <a:stretch/>
        </p:blipFill>
        <p:spPr>
          <a:xfrm>
            <a:off x="1905120" y="619200"/>
            <a:ext cx="5419080" cy="5780880"/>
          </a:xfrm>
          <a:prstGeom prst="rect">
            <a:avLst/>
          </a:prstGeom>
          <a:noFill/>
          <a:ln w="0">
            <a:noFill/>
          </a:ln>
        </p:spPr>
      </p:pic>
      <p:pic>
        <p:nvPicPr>
          <p:cNvPr id="401" name="Picture 82" descr="apx1202e.gif"/>
          <p:cNvPicPr/>
          <p:nvPr/>
        </p:nvPicPr>
        <p:blipFill>
          <a:blip r:embed="rId5"/>
          <a:stretch/>
        </p:blipFill>
        <p:spPr>
          <a:xfrm>
            <a:off x="1905120" y="619200"/>
            <a:ext cx="5419080" cy="5780880"/>
          </a:xfrm>
          <a:prstGeom prst="rect">
            <a:avLst/>
          </a:prstGeom>
          <a:noFill/>
          <a:ln w="0">
            <a:noFill/>
          </a:ln>
        </p:spPr>
      </p:pic>
      <p:pic>
        <p:nvPicPr>
          <p:cNvPr id="402" name="Picture 83" descr="apx1202f.gif"/>
          <p:cNvPicPr/>
          <p:nvPr/>
        </p:nvPicPr>
        <p:blipFill>
          <a:blip r:embed="rId6"/>
          <a:stretch/>
        </p:blipFill>
        <p:spPr>
          <a:xfrm>
            <a:off x="1905120" y="619200"/>
            <a:ext cx="5419080" cy="5780880"/>
          </a:xfrm>
          <a:prstGeom prst="rect">
            <a:avLst/>
          </a:prstGeom>
          <a:noFill/>
          <a:ln w="0">
            <a:noFill/>
          </a:ln>
        </p:spPr>
      </p:pic>
      <p:pic>
        <p:nvPicPr>
          <p:cNvPr id="403" name="Picture 84" descr="apx1202g.gif"/>
          <p:cNvPicPr/>
          <p:nvPr/>
        </p:nvPicPr>
        <p:blipFill>
          <a:blip r:embed="rId7"/>
          <a:stretch/>
        </p:blipFill>
        <p:spPr>
          <a:xfrm>
            <a:off x="1905120" y="619200"/>
            <a:ext cx="5419080" cy="5780880"/>
          </a:xfrm>
          <a:prstGeom prst="rect">
            <a:avLst/>
          </a:prstGeom>
          <a:noFill/>
          <a:ln w="0">
            <a:noFill/>
          </a:ln>
        </p:spPr>
      </p:pic>
    </p:spTree>
  </p:cSld>
  <p:transition spd="slow">
    <p:wipe dir="r"/>
  </p:transition>
  <p:timing>
    <p:tnLst>
      <p:par>
        <p:cTn id="911" dur="indefinite" restart="never" nodeType="tmRoot">
          <p:childTnLst>
            <p:seq>
              <p:cTn id="912" dur="indefinite" nodeType="mainSeq">
                <p:childTnLst>
                  <p:par>
                    <p:cTn id="913" nodeType="clickEffect" fill="hold">
                      <p:stCondLst>
                        <p:cond delay="indefinite"/>
                      </p:stCondLst>
                      <p:childTnLst>
                        <p:par>
                          <p:cTn id="914" nodeType="withEffect" fill="hold">
                            <p:stCondLst>
                              <p:cond delay="0"/>
                            </p:stCondLst>
                            <p:childTnLst>
                              <p:par>
                                <p:cTn id="915" nodeType="clickEffect" fill="hold" presetClass="entr" presetID="10">
                                  <p:stCondLst>
                                    <p:cond delay="0"/>
                                  </p:stCondLst>
                                  <p:childTnLst>
                                    <p:set>
                                      <p:cBhvr>
                                        <p:cTn id="916" dur="1" fill="hold">
                                          <p:stCondLst>
                                            <p:cond delay="0"/>
                                          </p:stCondLst>
                                        </p:cTn>
                                        <p:tgtEl>
                                          <p:spTgt spid="398"/>
                                        </p:tgtEl>
                                        <p:attrNameLst>
                                          <p:attrName>style.visibility</p:attrName>
                                        </p:attrNameLst>
                                      </p:cBhvr>
                                      <p:to>
                                        <p:strVal val="visible"/>
                                      </p:to>
                                    </p:set>
                                    <p:animEffect filter="fade" transition="in">
                                      <p:cBhvr additive="repl">
                                        <p:cTn id="917" dur="500"/>
                                        <p:tgtEl>
                                          <p:spTgt spid="398"/>
                                        </p:tgtEl>
                                      </p:cBhvr>
                                    </p:animEffect>
                                  </p:childTnLst>
                                </p:cTn>
                              </p:par>
                            </p:childTnLst>
                          </p:cTn>
                        </p:par>
                      </p:childTnLst>
                    </p:cTn>
                  </p:par>
                  <p:par>
                    <p:cTn id="918" nodeType="clickEffect" fill="hold">
                      <p:stCondLst>
                        <p:cond delay="indefinite"/>
                      </p:stCondLst>
                      <p:childTnLst>
                        <p:par>
                          <p:cTn id="919" nodeType="withEffect" fill="hold">
                            <p:stCondLst>
                              <p:cond delay="0"/>
                            </p:stCondLst>
                            <p:childTnLst>
                              <p:par>
                                <p:cTn id="920" nodeType="clickEffect" fill="hold" presetClass="entr" presetID="22" presetSubtype="8">
                                  <p:stCondLst>
                                    <p:cond delay="0"/>
                                  </p:stCondLst>
                                  <p:childTnLst>
                                    <p:set>
                                      <p:cBhvr>
                                        <p:cTn id="921" dur="1" fill="hold">
                                          <p:stCondLst>
                                            <p:cond delay="0"/>
                                          </p:stCondLst>
                                        </p:cTn>
                                        <p:tgtEl>
                                          <p:spTgt spid="399"/>
                                        </p:tgtEl>
                                        <p:attrNameLst>
                                          <p:attrName>style.visibility</p:attrName>
                                        </p:attrNameLst>
                                      </p:cBhvr>
                                      <p:to>
                                        <p:strVal val="visible"/>
                                      </p:to>
                                    </p:set>
                                    <p:animEffect filter="wipe(left)" transition="in">
                                      <p:cBhvr additive="repl">
                                        <p:cTn id="922" dur="1000"/>
                                        <p:tgtEl>
                                          <p:spTgt spid="399"/>
                                        </p:tgtEl>
                                      </p:cBhvr>
                                    </p:animEffect>
                                  </p:childTnLst>
                                </p:cTn>
                              </p:par>
                            </p:childTnLst>
                          </p:cTn>
                        </p:par>
                      </p:childTnLst>
                    </p:cTn>
                  </p:par>
                  <p:par>
                    <p:cTn id="923" nodeType="clickEffect" fill="hold">
                      <p:stCondLst>
                        <p:cond delay="indefinite"/>
                      </p:stCondLst>
                      <p:childTnLst>
                        <p:par>
                          <p:cTn id="924" nodeType="withEffect" fill="hold">
                            <p:stCondLst>
                              <p:cond delay="0"/>
                            </p:stCondLst>
                            <p:childTnLst>
                              <p:par>
                                <p:cTn id="925" nodeType="clickEffect" fill="hold" presetClass="entr" presetID="10">
                                  <p:stCondLst>
                                    <p:cond delay="0"/>
                                  </p:stCondLst>
                                  <p:childTnLst>
                                    <p:set>
                                      <p:cBhvr>
                                        <p:cTn id="926" dur="1" fill="hold">
                                          <p:stCondLst>
                                            <p:cond delay="0"/>
                                          </p:stCondLst>
                                        </p:cTn>
                                        <p:tgtEl>
                                          <p:spTgt spid="400"/>
                                        </p:tgtEl>
                                        <p:attrNameLst>
                                          <p:attrName>style.visibility</p:attrName>
                                        </p:attrNameLst>
                                      </p:cBhvr>
                                      <p:to>
                                        <p:strVal val="visible"/>
                                      </p:to>
                                    </p:set>
                                    <p:animEffect filter="fade" transition="in">
                                      <p:cBhvr additive="repl">
                                        <p:cTn id="927" dur="500"/>
                                        <p:tgtEl>
                                          <p:spTgt spid="400"/>
                                        </p:tgtEl>
                                      </p:cBhvr>
                                    </p:animEffect>
                                  </p:childTnLst>
                                </p:cTn>
                              </p:par>
                            </p:childTnLst>
                          </p:cTn>
                        </p:par>
                      </p:childTnLst>
                    </p:cTn>
                  </p:par>
                  <p:par>
                    <p:cTn id="928" nodeType="clickEffect" fill="hold">
                      <p:stCondLst>
                        <p:cond delay="indefinite"/>
                      </p:stCondLst>
                      <p:childTnLst>
                        <p:par>
                          <p:cTn id="929" nodeType="withEffect" fill="hold">
                            <p:stCondLst>
                              <p:cond delay="0"/>
                            </p:stCondLst>
                            <p:childTnLst>
                              <p:par>
                                <p:cTn id="930" nodeType="clickEffect" fill="hold" presetClass="entr" presetID="10">
                                  <p:stCondLst>
                                    <p:cond delay="0"/>
                                  </p:stCondLst>
                                  <p:childTnLst>
                                    <p:set>
                                      <p:cBhvr>
                                        <p:cTn id="931" dur="1" fill="hold">
                                          <p:stCondLst>
                                            <p:cond delay="0"/>
                                          </p:stCondLst>
                                        </p:cTn>
                                        <p:tgtEl>
                                          <p:spTgt spid="401"/>
                                        </p:tgtEl>
                                        <p:attrNameLst>
                                          <p:attrName>style.visibility</p:attrName>
                                        </p:attrNameLst>
                                      </p:cBhvr>
                                      <p:to>
                                        <p:strVal val="visible"/>
                                      </p:to>
                                    </p:set>
                                    <p:animEffect filter="fade" transition="in">
                                      <p:cBhvr additive="repl">
                                        <p:cTn id="932" dur="500"/>
                                        <p:tgtEl>
                                          <p:spTgt spid="401"/>
                                        </p:tgtEl>
                                      </p:cBhvr>
                                    </p:animEffect>
                                  </p:childTnLst>
                                </p:cTn>
                              </p:par>
                            </p:childTnLst>
                          </p:cTn>
                        </p:par>
                      </p:childTnLst>
                    </p:cTn>
                  </p:par>
                  <p:par>
                    <p:cTn id="933" nodeType="clickEffect" fill="hold">
                      <p:stCondLst>
                        <p:cond delay="indefinite"/>
                      </p:stCondLst>
                      <p:childTnLst>
                        <p:par>
                          <p:cTn id="934" nodeType="withEffect" fill="hold">
                            <p:stCondLst>
                              <p:cond delay="0"/>
                            </p:stCondLst>
                            <p:childTnLst>
                              <p:par>
                                <p:cTn id="935" nodeType="clickEffect" fill="hold" presetClass="entr" presetID="22" presetSubtype="8">
                                  <p:stCondLst>
                                    <p:cond delay="0"/>
                                  </p:stCondLst>
                                  <p:childTnLst>
                                    <p:set>
                                      <p:cBhvr>
                                        <p:cTn id="936" dur="1" fill="hold">
                                          <p:stCondLst>
                                            <p:cond delay="0"/>
                                          </p:stCondLst>
                                        </p:cTn>
                                        <p:tgtEl>
                                          <p:spTgt spid="402"/>
                                        </p:tgtEl>
                                        <p:attrNameLst>
                                          <p:attrName>style.visibility</p:attrName>
                                        </p:attrNameLst>
                                      </p:cBhvr>
                                      <p:to>
                                        <p:strVal val="visible"/>
                                      </p:to>
                                    </p:set>
                                    <p:animEffect filter="wipe(left)" transition="in">
                                      <p:cBhvr additive="repl">
                                        <p:cTn id="937" dur="1000"/>
                                        <p:tgtEl>
                                          <p:spTgt spid="402"/>
                                        </p:tgtEl>
                                      </p:cBhvr>
                                    </p:animEffect>
                                  </p:childTnLst>
                                </p:cTn>
                              </p:par>
                            </p:childTnLst>
                          </p:cTn>
                        </p:par>
                      </p:childTnLst>
                    </p:cTn>
                  </p:par>
                  <p:par>
                    <p:cTn id="938" nodeType="clickEffect" fill="hold">
                      <p:stCondLst>
                        <p:cond delay="indefinite"/>
                      </p:stCondLst>
                      <p:childTnLst>
                        <p:par>
                          <p:cTn id="939" nodeType="withEffect" fill="hold">
                            <p:stCondLst>
                              <p:cond delay="0"/>
                            </p:stCondLst>
                            <p:childTnLst>
                              <p:par>
                                <p:cTn id="940" nodeType="clickEffect" fill="hold" presetClass="entr" presetID="10">
                                  <p:stCondLst>
                                    <p:cond delay="0"/>
                                  </p:stCondLst>
                                  <p:childTnLst>
                                    <p:set>
                                      <p:cBhvr>
                                        <p:cTn id="941" dur="1" fill="hold">
                                          <p:stCondLst>
                                            <p:cond delay="0"/>
                                          </p:stCondLst>
                                        </p:cTn>
                                        <p:tgtEl>
                                          <p:spTgt spid="403"/>
                                        </p:tgtEl>
                                        <p:attrNameLst>
                                          <p:attrName>style.visibility</p:attrName>
                                        </p:attrNameLst>
                                      </p:cBhvr>
                                      <p:to>
                                        <p:strVal val="visible"/>
                                      </p:to>
                                    </p:set>
                                    <p:animEffect filter="fade" transition="in">
                                      <p:cBhvr additive="repl">
                                        <p:cTn id="942" dur="500"/>
                                        <p:tgtEl>
                                          <p:spTgt spid="4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APPENDIX: INDIFFERENCE CURVES</a:t>
            </a:r>
            <a:endParaRPr b="0" lang="en-US" sz="2600" strike="noStrike" u="none">
              <a:solidFill>
                <a:srgbClr val="000000"/>
              </a:solidFill>
              <a:effectLst/>
              <a:uFillTx/>
              <a:latin typeface="Arial"/>
            </a:endParaRPr>
          </a:p>
        </p:txBody>
      </p:sp>
      <p:sp>
        <p:nvSpPr>
          <p:cNvPr id="405" name="PlaceHolder 2"/>
          <p:cNvSpPr>
            <a:spLocks noGrp="1"/>
          </p:cNvSpPr>
          <p:nvPr>
            <p:ph/>
          </p:nvPr>
        </p:nvSpPr>
        <p:spPr>
          <a:xfrm>
            <a:off x="360360" y="1440000"/>
            <a:ext cx="383004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Draw a straight line with the same slope as the indifference curve at point </a:t>
            </a:r>
            <a:r>
              <a:rPr b="0" i="1" lang="en-US" sz="2400" strike="noStrike" u="none">
                <a:solidFill>
                  <a:schemeClr val="dk1"/>
                </a:solidFill>
                <a:effectLst/>
                <a:uFillTx/>
                <a:latin typeface="Arial"/>
                <a:ea typeface="ＭＳ Ｐゴシック"/>
              </a:rPr>
              <a:t>C</a:t>
            </a:r>
            <a:r>
              <a:rPr b="0" lang="en-US" sz="2400" strike="noStrike" u="none">
                <a:solidFill>
                  <a:schemeClr val="dk1"/>
                </a:solidFill>
                <a:effectLst/>
                <a:uFillTx/>
                <a:latin typeface="Arial"/>
                <a:ea typeface="ＭＳ Ｐゴシック"/>
              </a:rPr>
              <a:t>.</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slope of this red line is 8 packs of gum divided by 4 bottles of water, which equals 2 packs of gum per bottle of water. </a:t>
            </a:r>
            <a:endParaRPr b="0" lang="en-US" sz="2400" strike="noStrike" u="none">
              <a:solidFill>
                <a:srgbClr val="000000"/>
              </a:solidFill>
              <a:effectLst/>
              <a:uFillTx/>
              <a:latin typeface="Arial"/>
            </a:endParaRPr>
          </a:p>
        </p:txBody>
      </p:sp>
      <p:pic>
        <p:nvPicPr>
          <p:cNvPr id="406" name="Picture 85" descr="apx1202a.gif"/>
          <p:cNvPicPr/>
          <p:nvPr/>
        </p:nvPicPr>
        <p:blipFill>
          <a:blip r:embed="rId1"/>
          <a:stretch/>
        </p:blipFill>
        <p:spPr>
          <a:xfrm>
            <a:off x="4319640" y="1476360"/>
            <a:ext cx="4357080" cy="4647600"/>
          </a:xfrm>
          <a:prstGeom prst="rect">
            <a:avLst/>
          </a:prstGeom>
          <a:noFill/>
          <a:ln w="0">
            <a:noFill/>
          </a:ln>
        </p:spPr>
      </p:pic>
      <p:pic>
        <p:nvPicPr>
          <p:cNvPr id="407" name="Picture 86" descr="apx1202b.gif"/>
          <p:cNvPicPr/>
          <p:nvPr/>
        </p:nvPicPr>
        <p:blipFill>
          <a:blip r:embed="rId2"/>
          <a:stretch/>
        </p:blipFill>
        <p:spPr>
          <a:xfrm>
            <a:off x="4319640" y="1476360"/>
            <a:ext cx="4357080" cy="4647600"/>
          </a:xfrm>
          <a:prstGeom prst="rect">
            <a:avLst/>
          </a:prstGeom>
          <a:noFill/>
          <a:ln w="0">
            <a:noFill/>
          </a:ln>
        </p:spPr>
      </p:pic>
      <p:pic>
        <p:nvPicPr>
          <p:cNvPr id="408" name="Picture 87" descr="apx1202c.gif"/>
          <p:cNvPicPr/>
          <p:nvPr/>
        </p:nvPicPr>
        <p:blipFill>
          <a:blip r:embed="rId3"/>
          <a:stretch/>
        </p:blipFill>
        <p:spPr>
          <a:xfrm>
            <a:off x="4319640" y="1476360"/>
            <a:ext cx="4357080" cy="4647600"/>
          </a:xfrm>
          <a:prstGeom prst="rect">
            <a:avLst/>
          </a:prstGeom>
          <a:noFill/>
          <a:ln w="0">
            <a:noFill/>
          </a:ln>
        </p:spPr>
      </p:pic>
    </p:spTree>
  </p:cSld>
  <p:transition spd="slow">
    <p:wipe dir="r"/>
  </p:transition>
  <p:timing>
    <p:tnLst>
      <p:par>
        <p:cTn id="943" dur="indefinite" restart="never" nodeType="tmRoot">
          <p:childTnLst>
            <p:seq>
              <p:cTn id="944" dur="indefinite" nodeType="mainSeq">
                <p:childTnLst>
                  <p:par>
                    <p:cTn id="945" nodeType="clickEffect" fill="hold">
                      <p:stCondLst>
                        <p:cond delay="0"/>
                      </p:stCondLst>
                      <p:childTnLst>
                        <p:par>
                          <p:cTn id="946" nodeType="withEffect" fill="hold">
                            <p:stCondLst>
                              <p:cond delay="0"/>
                            </p:stCondLst>
                            <p:childTnLst>
                              <p:par>
                                <p:cTn id="947" nodeType="withEffect" fill="hold" presetClass="entr" presetID="22" presetSubtype="8">
                                  <p:stCondLst>
                                    <p:cond delay="0"/>
                                  </p:stCondLst>
                                  <p:childTnLst>
                                    <p:set>
                                      <p:cBhvr>
                                        <p:cTn id="948" dur="1" fill="hold">
                                          <p:stCondLst>
                                            <p:cond delay="0"/>
                                          </p:stCondLst>
                                        </p:cTn>
                                        <p:tgtEl>
                                          <p:spTgt spid="408"/>
                                        </p:tgtEl>
                                        <p:attrNameLst>
                                          <p:attrName>style.visibility</p:attrName>
                                        </p:attrNameLst>
                                      </p:cBhvr>
                                      <p:to>
                                        <p:strVal val="visible"/>
                                      </p:to>
                                    </p:set>
                                    <p:animEffect filter="wipe(left)" transition="in">
                                      <p:cBhvr additive="repl">
                                        <p:cTn id="949" dur="1000"/>
                                        <p:tgtEl>
                                          <p:spTgt spid="408"/>
                                        </p:tgtEl>
                                      </p:cBhvr>
                                    </p:animEffect>
                                  </p:childTnLst>
                                </p:cTn>
                              </p:par>
                            </p:childTnLst>
                          </p:cTn>
                        </p:par>
                      </p:childTnLst>
                    </p:cTn>
                  </p:par>
                  <p:par>
                    <p:cTn id="950" nodeType="clickEffect" fill="hold">
                      <p:stCondLst>
                        <p:cond delay="indefinite"/>
                      </p:stCondLst>
                      <p:childTnLst>
                        <p:par>
                          <p:cTn id="951" nodeType="withEffect" fill="hold">
                            <p:stCondLst>
                              <p:cond delay="0"/>
                            </p:stCondLst>
                            <p:childTnLst>
                              <p:par>
                                <p:cTn id="952" nodeType="clickEffect" fill="hold" presetClass="entr" presetID="22" presetSubtype="8">
                                  <p:stCondLst>
                                    <p:cond delay="0"/>
                                  </p:stCondLst>
                                  <p:childTnLst>
                                    <p:set>
                                      <p:cBhvr>
                                        <p:cTn id="953" dur="1" fill="hold">
                                          <p:stCondLst>
                                            <p:cond delay="0"/>
                                          </p:stCondLst>
                                        </p:cTn>
                                        <p:tgtEl>
                                          <p:spTgt spid="405">
                                            <p:txEl>
                                              <p:pRg st="1" end="1"/>
                                            </p:txEl>
                                          </p:spTgt>
                                        </p:tgtEl>
                                        <p:attrNameLst>
                                          <p:attrName>style.visibility</p:attrName>
                                        </p:attrNameLst>
                                      </p:cBhvr>
                                      <p:to>
                                        <p:strVal val="visible"/>
                                      </p:to>
                                    </p:set>
                                    <p:animEffect filter="wipe(left)" transition="in">
                                      <p:cBhvr additive="repl">
                                        <p:cTn id="954" dur="500"/>
                                        <p:tgtEl>
                                          <p:spTgt spid="405">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APPENDIX: INDIFFERENCE CURVES</a:t>
            </a:r>
            <a:endParaRPr b="0" lang="en-US" sz="2600" strike="noStrike" u="none">
              <a:solidFill>
                <a:srgbClr val="000000"/>
              </a:solidFill>
              <a:effectLst/>
              <a:uFillTx/>
              <a:latin typeface="Arial"/>
            </a:endParaRPr>
          </a:p>
        </p:txBody>
      </p:sp>
      <p:sp>
        <p:nvSpPr>
          <p:cNvPr id="410" name="PlaceHolder 2"/>
          <p:cNvSpPr>
            <a:spLocks noGrp="1"/>
          </p:cNvSpPr>
          <p:nvPr>
            <p:ph/>
          </p:nvPr>
        </p:nvSpPr>
        <p:spPr>
          <a:xfrm>
            <a:off x="360360" y="1440000"/>
            <a:ext cx="411408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This number is Tina’s marginal rate of substitution. Her </a:t>
            </a:r>
            <a:r>
              <a:rPr b="0" i="1" lang="en-US" sz="2400" strike="noStrike" u="none">
                <a:solidFill>
                  <a:srgbClr val="000000"/>
                </a:solidFill>
                <a:effectLst/>
                <a:uFillTx/>
                <a:latin typeface="Arial"/>
                <a:ea typeface="ＭＳ Ｐゴシック"/>
              </a:rPr>
              <a:t>MRS</a:t>
            </a:r>
            <a:r>
              <a:rPr b="0" lang="en-US" sz="2400" strike="noStrike" u="none">
                <a:solidFill>
                  <a:srgbClr val="000000"/>
                </a:solidFill>
                <a:effectLst/>
                <a:uFillTx/>
                <a:latin typeface="Arial"/>
                <a:ea typeface="ＭＳ Ｐゴシック"/>
              </a:rPr>
              <a:t> = 2.</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At point </a:t>
            </a:r>
            <a:r>
              <a:rPr b="0" i="1" lang="en-US" sz="2400" strike="noStrike" u="none">
                <a:solidFill>
                  <a:srgbClr val="000000"/>
                </a:solidFill>
                <a:effectLst/>
                <a:uFillTx/>
                <a:latin typeface="Arial"/>
                <a:ea typeface="ＭＳ Ｐゴシック"/>
              </a:rPr>
              <a:t>C,</a:t>
            </a:r>
            <a:r>
              <a:rPr b="0" lang="en-US" sz="2400" strike="noStrike" u="none">
                <a:solidFill>
                  <a:srgbClr val="000000"/>
                </a:solidFill>
                <a:effectLst/>
                <a:uFillTx/>
                <a:latin typeface="Arial"/>
                <a:ea typeface="ＭＳ Ｐゴシック"/>
              </a:rPr>
              <a:t> when she consumes 2 bottles of water and 4 packs of gum, Tina is willing to give up gum for water at the rate of 2 packs of gum per bottle of water.</a:t>
            </a:r>
            <a:endParaRPr b="0" lang="en-US" sz="2400" strike="noStrike" u="none">
              <a:solidFill>
                <a:srgbClr val="000000"/>
              </a:solidFill>
              <a:effectLst/>
              <a:uFillTx/>
              <a:latin typeface="Arial"/>
            </a:endParaRPr>
          </a:p>
        </p:txBody>
      </p:sp>
      <p:pic>
        <p:nvPicPr>
          <p:cNvPr id="411" name="Picture 88" descr="apx1202a.gif"/>
          <p:cNvPicPr/>
          <p:nvPr/>
        </p:nvPicPr>
        <p:blipFill>
          <a:blip r:embed="rId1"/>
          <a:stretch/>
        </p:blipFill>
        <p:spPr>
          <a:xfrm>
            <a:off x="4319640" y="1476360"/>
            <a:ext cx="4357080" cy="4647600"/>
          </a:xfrm>
          <a:prstGeom prst="rect">
            <a:avLst/>
          </a:prstGeom>
          <a:noFill/>
          <a:ln w="0">
            <a:noFill/>
          </a:ln>
        </p:spPr>
      </p:pic>
      <p:pic>
        <p:nvPicPr>
          <p:cNvPr id="412" name="Picture 89" descr="apx1202b.gif"/>
          <p:cNvPicPr/>
          <p:nvPr/>
        </p:nvPicPr>
        <p:blipFill>
          <a:blip r:embed="rId2"/>
          <a:stretch/>
        </p:blipFill>
        <p:spPr>
          <a:xfrm>
            <a:off x="4319640" y="1476360"/>
            <a:ext cx="4357080" cy="4647600"/>
          </a:xfrm>
          <a:prstGeom prst="rect">
            <a:avLst/>
          </a:prstGeom>
          <a:noFill/>
          <a:ln w="0">
            <a:noFill/>
          </a:ln>
        </p:spPr>
      </p:pic>
      <p:pic>
        <p:nvPicPr>
          <p:cNvPr id="413" name="Picture 90" descr="apx1202c.gif"/>
          <p:cNvPicPr/>
          <p:nvPr/>
        </p:nvPicPr>
        <p:blipFill>
          <a:blip r:embed="rId3"/>
          <a:stretch/>
        </p:blipFill>
        <p:spPr>
          <a:xfrm>
            <a:off x="4319640" y="1476360"/>
            <a:ext cx="4357080" cy="4647600"/>
          </a:xfrm>
          <a:prstGeom prst="rect">
            <a:avLst/>
          </a:prstGeom>
          <a:noFill/>
          <a:ln w="0">
            <a:noFill/>
          </a:ln>
        </p:spPr>
      </p:pic>
      <p:pic>
        <p:nvPicPr>
          <p:cNvPr id="414" name="Picture 91" descr="apx1202d.gif"/>
          <p:cNvPicPr/>
          <p:nvPr/>
        </p:nvPicPr>
        <p:blipFill>
          <a:blip r:embed="rId4"/>
          <a:stretch/>
        </p:blipFill>
        <p:spPr>
          <a:xfrm>
            <a:off x="4319640" y="1476360"/>
            <a:ext cx="4357080" cy="4647600"/>
          </a:xfrm>
          <a:prstGeom prst="rect">
            <a:avLst/>
          </a:prstGeom>
          <a:noFill/>
          <a:ln w="0">
            <a:noFill/>
          </a:ln>
        </p:spPr>
      </p:pic>
    </p:spTree>
  </p:cSld>
  <p:transition spd="slow">
    <p:wipe dir="r"/>
  </p:transition>
  <p:timing>
    <p:tnLst>
      <p:par>
        <p:cTn id="955" dur="indefinite" restart="never" nodeType="tmRoot">
          <p:childTnLst>
            <p:seq>
              <p:cTn id="956" dur="indefinite" nodeType="mainSeq">
                <p:childTnLst>
                  <p:par>
                    <p:cTn id="957" nodeType="clickEffect" fill="hold">
                      <p:stCondLst>
                        <p:cond delay="0"/>
                      </p:stCondLst>
                      <p:childTnLst>
                        <p:par>
                          <p:cTn id="958" nodeType="withEffect" fill="hold">
                            <p:stCondLst>
                              <p:cond delay="0"/>
                            </p:stCondLst>
                            <p:childTnLst>
                              <p:par>
                                <p:cTn id="959" nodeType="withEffect" fill="hold" presetClass="entr" presetID="10">
                                  <p:stCondLst>
                                    <p:cond delay="0"/>
                                  </p:stCondLst>
                                  <p:childTnLst>
                                    <p:set>
                                      <p:cBhvr>
                                        <p:cTn id="960" dur="1" fill="hold">
                                          <p:stCondLst>
                                            <p:cond delay="0"/>
                                          </p:stCondLst>
                                        </p:cTn>
                                        <p:tgtEl>
                                          <p:spTgt spid="414"/>
                                        </p:tgtEl>
                                        <p:attrNameLst>
                                          <p:attrName>style.visibility</p:attrName>
                                        </p:attrNameLst>
                                      </p:cBhvr>
                                      <p:to>
                                        <p:strVal val="visible"/>
                                      </p:to>
                                    </p:set>
                                    <p:animEffect filter="fade" transition="in">
                                      <p:cBhvr additive="repl">
                                        <p:cTn id="961" dur="500"/>
                                        <p:tgtEl>
                                          <p:spTgt spid="414"/>
                                        </p:tgtEl>
                                      </p:cBhvr>
                                    </p:animEffect>
                                  </p:childTnLst>
                                </p:cTn>
                              </p:par>
                            </p:childTnLst>
                          </p:cTn>
                        </p:par>
                      </p:childTnLst>
                    </p:cTn>
                  </p:par>
                  <p:par>
                    <p:cTn id="962" nodeType="clickEffect" fill="hold">
                      <p:stCondLst>
                        <p:cond delay="indefinite"/>
                      </p:stCondLst>
                      <p:childTnLst>
                        <p:par>
                          <p:cTn id="963" nodeType="withEffect" fill="hold">
                            <p:stCondLst>
                              <p:cond delay="0"/>
                            </p:stCondLst>
                            <p:childTnLst>
                              <p:par>
                                <p:cTn id="964" nodeType="clickEffect" fill="hold" presetClass="entr" presetID="22" presetSubtype="8">
                                  <p:stCondLst>
                                    <p:cond delay="0"/>
                                  </p:stCondLst>
                                  <p:childTnLst>
                                    <p:set>
                                      <p:cBhvr>
                                        <p:cTn id="965" dur="1" fill="hold">
                                          <p:stCondLst>
                                            <p:cond delay="0"/>
                                          </p:stCondLst>
                                        </p:cTn>
                                        <p:tgtEl>
                                          <p:spTgt spid="410">
                                            <p:txEl>
                                              <p:pRg st="1" end="1"/>
                                            </p:txEl>
                                          </p:spTgt>
                                        </p:tgtEl>
                                        <p:attrNameLst>
                                          <p:attrName>style.visibility</p:attrName>
                                        </p:attrNameLst>
                                      </p:cBhvr>
                                      <p:to>
                                        <p:strVal val="visible"/>
                                      </p:to>
                                    </p:set>
                                    <p:animEffect filter="wipe(left)" transition="in">
                                      <p:cBhvr additive="repl">
                                        <p:cTn id="966" dur="500"/>
                                        <p:tgtEl>
                                          <p:spTgt spid="410">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APPENDIX: INDIFFERENCE CURVES</a:t>
            </a:r>
            <a:endParaRPr b="0" lang="en-US" sz="2600" strike="noStrike" u="none">
              <a:solidFill>
                <a:srgbClr val="000000"/>
              </a:solidFill>
              <a:effectLst/>
              <a:uFillTx/>
              <a:latin typeface="Arial"/>
            </a:endParaRPr>
          </a:p>
        </p:txBody>
      </p:sp>
      <p:sp>
        <p:nvSpPr>
          <p:cNvPr id="416" name="PlaceHolder 2"/>
          <p:cNvSpPr>
            <a:spLocks noGrp="1"/>
          </p:cNvSpPr>
          <p:nvPr>
            <p:ph/>
          </p:nvPr>
        </p:nvSpPr>
        <p:spPr>
          <a:xfrm>
            <a:off x="360360" y="1440000"/>
            <a:ext cx="411408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Now calculate Tina’s </a:t>
            </a:r>
            <a:r>
              <a:rPr b="0" i="1" lang="en-US" sz="2400" strike="noStrike" u="none">
                <a:solidFill>
                  <a:srgbClr val="000000"/>
                </a:solidFill>
                <a:effectLst/>
                <a:uFillTx/>
                <a:latin typeface="Arial"/>
                <a:ea typeface="ＭＳ Ｐゴシック"/>
              </a:rPr>
              <a:t>MRS</a:t>
            </a:r>
            <a:r>
              <a:rPr b="0" lang="en-US" sz="2400" strike="noStrike" u="none">
                <a:solidFill>
                  <a:srgbClr val="000000"/>
                </a:solidFill>
                <a:effectLst/>
                <a:uFillTx/>
                <a:latin typeface="Arial"/>
                <a:ea typeface="ＭＳ Ｐゴシック"/>
              </a:rPr>
              <a:t> at point </a:t>
            </a:r>
            <a:r>
              <a:rPr b="0" i="1" lang="en-US" sz="2400" strike="noStrike" u="none">
                <a:solidFill>
                  <a:srgbClr val="000000"/>
                </a:solidFill>
                <a:effectLst/>
                <a:uFillTx/>
                <a:latin typeface="Arial"/>
                <a:ea typeface="ＭＳ Ｐゴシック"/>
              </a:rPr>
              <a:t>G</a:t>
            </a:r>
            <a:r>
              <a:rPr b="0" lang="en-US" sz="2400" strike="noStrike" u="none">
                <a:solidFill>
                  <a:srgbClr val="000000"/>
                </a:solidFill>
                <a:effectLst/>
                <a:uFillTx/>
                <a:latin typeface="Arial"/>
                <a:ea typeface="ＭＳ Ｐゴシック"/>
              </a:rPr>
              <a:t>.</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red line at point </a:t>
            </a:r>
            <a:r>
              <a:rPr b="0" i="1" lang="en-US" sz="2400" strike="noStrike" u="none">
                <a:solidFill>
                  <a:schemeClr val="dk1"/>
                </a:solidFill>
                <a:effectLst/>
                <a:uFillTx/>
                <a:latin typeface="Arial"/>
                <a:ea typeface="ＭＳ Ｐゴシック"/>
              </a:rPr>
              <a:t>G</a:t>
            </a:r>
            <a:r>
              <a:rPr b="0" lang="en-US" sz="2400" strike="noStrike" u="none">
                <a:solidFill>
                  <a:schemeClr val="dk1"/>
                </a:solidFill>
                <a:effectLst/>
                <a:uFillTx/>
                <a:latin typeface="Arial"/>
                <a:ea typeface="ＭＳ Ｐゴシック"/>
              </a:rPr>
              <a:t> tells us that Tina is willing to give up 4 packs of gum to get 8 bottles of water.</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Her marginal rate of substitution at point </a:t>
            </a:r>
            <a:r>
              <a:rPr b="0" i="1" lang="en-US" sz="2400" strike="noStrike" u="none">
                <a:solidFill>
                  <a:srgbClr val="000000"/>
                </a:solidFill>
                <a:effectLst/>
                <a:uFillTx/>
                <a:latin typeface="Arial"/>
                <a:ea typeface="ＭＳ Ｐゴシック"/>
              </a:rPr>
              <a:t>G</a:t>
            </a:r>
            <a:r>
              <a:rPr b="0" lang="en-US" sz="2400" strike="noStrike" u="none">
                <a:solidFill>
                  <a:srgbClr val="000000"/>
                </a:solidFill>
                <a:effectLst/>
                <a:uFillTx/>
                <a:latin typeface="Arial"/>
                <a:ea typeface="ＭＳ Ｐゴシック"/>
              </a:rPr>
              <a:t> is 4 divided by 8, which equals 1/2.</a:t>
            </a:r>
            <a:endParaRPr b="0" lang="en-US" sz="2400" strike="noStrike" u="none">
              <a:solidFill>
                <a:srgbClr val="000000"/>
              </a:solidFill>
              <a:effectLst/>
              <a:uFillTx/>
              <a:latin typeface="Arial"/>
            </a:endParaRPr>
          </a:p>
        </p:txBody>
      </p:sp>
      <p:pic>
        <p:nvPicPr>
          <p:cNvPr id="417" name="Picture 92" descr="apx1202a.gif"/>
          <p:cNvPicPr/>
          <p:nvPr/>
        </p:nvPicPr>
        <p:blipFill>
          <a:blip r:embed="rId1"/>
          <a:stretch/>
        </p:blipFill>
        <p:spPr>
          <a:xfrm>
            <a:off x="4319640" y="1476360"/>
            <a:ext cx="4357080" cy="4647600"/>
          </a:xfrm>
          <a:prstGeom prst="rect">
            <a:avLst/>
          </a:prstGeom>
          <a:noFill/>
          <a:ln w="0">
            <a:noFill/>
          </a:ln>
        </p:spPr>
      </p:pic>
      <p:pic>
        <p:nvPicPr>
          <p:cNvPr id="418" name="Picture 93" descr="apx1202b.gif"/>
          <p:cNvPicPr/>
          <p:nvPr/>
        </p:nvPicPr>
        <p:blipFill>
          <a:blip r:embed="rId2"/>
          <a:stretch/>
        </p:blipFill>
        <p:spPr>
          <a:xfrm>
            <a:off x="4319640" y="1476360"/>
            <a:ext cx="4357080" cy="4647600"/>
          </a:xfrm>
          <a:prstGeom prst="rect">
            <a:avLst/>
          </a:prstGeom>
          <a:noFill/>
          <a:ln w="0">
            <a:noFill/>
          </a:ln>
        </p:spPr>
      </p:pic>
      <p:pic>
        <p:nvPicPr>
          <p:cNvPr id="419" name="Picture 94" descr="apx1202c.gif"/>
          <p:cNvPicPr/>
          <p:nvPr/>
        </p:nvPicPr>
        <p:blipFill>
          <a:blip r:embed="rId3"/>
          <a:stretch/>
        </p:blipFill>
        <p:spPr>
          <a:xfrm>
            <a:off x="4319640" y="1476360"/>
            <a:ext cx="4357080" cy="4647600"/>
          </a:xfrm>
          <a:prstGeom prst="rect">
            <a:avLst/>
          </a:prstGeom>
          <a:noFill/>
          <a:ln w="0">
            <a:noFill/>
          </a:ln>
        </p:spPr>
      </p:pic>
      <p:pic>
        <p:nvPicPr>
          <p:cNvPr id="420" name="Picture 95" descr="apx1202d.gif"/>
          <p:cNvPicPr/>
          <p:nvPr/>
        </p:nvPicPr>
        <p:blipFill>
          <a:blip r:embed="rId4"/>
          <a:stretch/>
        </p:blipFill>
        <p:spPr>
          <a:xfrm>
            <a:off x="4319640" y="1476360"/>
            <a:ext cx="4357080" cy="4647600"/>
          </a:xfrm>
          <a:prstGeom prst="rect">
            <a:avLst/>
          </a:prstGeom>
          <a:noFill/>
          <a:ln w="0">
            <a:noFill/>
          </a:ln>
        </p:spPr>
      </p:pic>
      <p:pic>
        <p:nvPicPr>
          <p:cNvPr id="421" name="Picture 96" descr="apx1202e.gif"/>
          <p:cNvPicPr/>
          <p:nvPr/>
        </p:nvPicPr>
        <p:blipFill>
          <a:blip r:embed="rId5"/>
          <a:stretch/>
        </p:blipFill>
        <p:spPr>
          <a:xfrm>
            <a:off x="4319640" y="1476360"/>
            <a:ext cx="4357080" cy="4647600"/>
          </a:xfrm>
          <a:prstGeom prst="rect">
            <a:avLst/>
          </a:prstGeom>
          <a:noFill/>
          <a:ln w="0">
            <a:noFill/>
          </a:ln>
        </p:spPr>
      </p:pic>
      <p:pic>
        <p:nvPicPr>
          <p:cNvPr id="422" name="Picture 97" descr="apx1202f.gif"/>
          <p:cNvPicPr/>
          <p:nvPr/>
        </p:nvPicPr>
        <p:blipFill>
          <a:blip r:embed="rId6"/>
          <a:stretch/>
        </p:blipFill>
        <p:spPr>
          <a:xfrm>
            <a:off x="4319640" y="1476360"/>
            <a:ext cx="4357080" cy="4647600"/>
          </a:xfrm>
          <a:prstGeom prst="rect">
            <a:avLst/>
          </a:prstGeom>
          <a:noFill/>
          <a:ln w="0">
            <a:noFill/>
          </a:ln>
        </p:spPr>
      </p:pic>
      <p:pic>
        <p:nvPicPr>
          <p:cNvPr id="423" name="Picture 98" descr="apx1202g.gif"/>
          <p:cNvPicPr/>
          <p:nvPr/>
        </p:nvPicPr>
        <p:blipFill>
          <a:blip r:embed="rId7"/>
          <a:stretch/>
        </p:blipFill>
        <p:spPr>
          <a:xfrm>
            <a:off x="4319640" y="1476360"/>
            <a:ext cx="4357080" cy="4647600"/>
          </a:xfrm>
          <a:prstGeom prst="rect">
            <a:avLst/>
          </a:prstGeom>
          <a:noFill/>
          <a:ln w="0">
            <a:noFill/>
          </a:ln>
        </p:spPr>
      </p:pic>
    </p:spTree>
  </p:cSld>
  <p:transition spd="slow">
    <p:wipe dir="r"/>
  </p:transition>
  <p:timing>
    <p:tnLst>
      <p:par>
        <p:cTn id="967" dur="indefinite" restart="never" nodeType="tmRoot">
          <p:childTnLst>
            <p:seq>
              <p:cTn id="968" dur="indefinite" nodeType="mainSeq">
                <p:childTnLst>
                  <p:par>
                    <p:cTn id="969" nodeType="clickEffect" fill="hold">
                      <p:stCondLst>
                        <p:cond delay="0"/>
                      </p:stCondLst>
                      <p:childTnLst>
                        <p:par>
                          <p:cTn id="970" nodeType="withEffect" fill="hold">
                            <p:stCondLst>
                              <p:cond delay="0"/>
                            </p:stCondLst>
                            <p:childTnLst>
                              <p:par>
                                <p:cTn id="971" nodeType="withEffect" fill="hold" presetClass="entr" presetID="10">
                                  <p:stCondLst>
                                    <p:cond delay="0"/>
                                  </p:stCondLst>
                                  <p:childTnLst>
                                    <p:set>
                                      <p:cBhvr>
                                        <p:cTn id="972" dur="1" fill="hold">
                                          <p:stCondLst>
                                            <p:cond delay="0"/>
                                          </p:stCondLst>
                                        </p:cTn>
                                        <p:tgtEl>
                                          <p:spTgt spid="421"/>
                                        </p:tgtEl>
                                        <p:attrNameLst>
                                          <p:attrName>style.visibility</p:attrName>
                                        </p:attrNameLst>
                                      </p:cBhvr>
                                      <p:to>
                                        <p:strVal val="visible"/>
                                      </p:to>
                                    </p:set>
                                    <p:animEffect filter="fade" transition="in">
                                      <p:cBhvr additive="repl">
                                        <p:cTn id="973" dur="500"/>
                                        <p:tgtEl>
                                          <p:spTgt spid="421"/>
                                        </p:tgtEl>
                                      </p:cBhvr>
                                    </p:animEffect>
                                  </p:childTnLst>
                                </p:cTn>
                              </p:par>
                            </p:childTnLst>
                          </p:cTn>
                        </p:par>
                      </p:childTnLst>
                    </p:cTn>
                  </p:par>
                  <p:par>
                    <p:cTn id="974" nodeType="clickEffect" fill="hold">
                      <p:stCondLst>
                        <p:cond delay="indefinite"/>
                      </p:stCondLst>
                      <p:childTnLst>
                        <p:par>
                          <p:cTn id="975" nodeType="withEffect" fill="hold">
                            <p:stCondLst>
                              <p:cond delay="0"/>
                            </p:stCondLst>
                            <p:childTnLst>
                              <p:par>
                                <p:cTn id="976" nodeType="clickEffect" fill="hold" presetClass="entr" presetID="22" presetSubtype="8">
                                  <p:stCondLst>
                                    <p:cond delay="0"/>
                                  </p:stCondLst>
                                  <p:childTnLst>
                                    <p:set>
                                      <p:cBhvr>
                                        <p:cTn id="977" dur="1" fill="hold">
                                          <p:stCondLst>
                                            <p:cond delay="0"/>
                                          </p:stCondLst>
                                        </p:cTn>
                                        <p:tgtEl>
                                          <p:spTgt spid="416">
                                            <p:txEl>
                                              <p:pRg st="1" end="1"/>
                                            </p:txEl>
                                          </p:spTgt>
                                        </p:tgtEl>
                                        <p:attrNameLst>
                                          <p:attrName>style.visibility</p:attrName>
                                        </p:attrNameLst>
                                      </p:cBhvr>
                                      <p:to>
                                        <p:strVal val="visible"/>
                                      </p:to>
                                    </p:set>
                                    <p:animEffect filter="wipe(left)" transition="in">
                                      <p:cBhvr additive="repl">
                                        <p:cTn id="978" dur="500"/>
                                        <p:tgtEl>
                                          <p:spTgt spid="416">
                                            <p:txEl>
                                              <p:pRg st="1" end="1"/>
                                            </p:txEl>
                                          </p:spTgt>
                                        </p:tgtEl>
                                      </p:cBhvr>
                                    </p:animEffect>
                                  </p:childTnLst>
                                </p:cTn>
                              </p:par>
                              <p:par>
                                <p:cTn id="979" nodeType="withEffect" fill="hold" presetClass="entr" presetID="22" presetSubtype="8">
                                  <p:stCondLst>
                                    <p:cond delay="0"/>
                                  </p:stCondLst>
                                  <p:childTnLst>
                                    <p:set>
                                      <p:cBhvr>
                                        <p:cTn id="980" dur="1" fill="hold">
                                          <p:stCondLst>
                                            <p:cond delay="0"/>
                                          </p:stCondLst>
                                        </p:cTn>
                                        <p:tgtEl>
                                          <p:spTgt spid="422"/>
                                        </p:tgtEl>
                                        <p:attrNameLst>
                                          <p:attrName>style.visibility</p:attrName>
                                        </p:attrNameLst>
                                      </p:cBhvr>
                                      <p:to>
                                        <p:strVal val="visible"/>
                                      </p:to>
                                    </p:set>
                                    <p:animEffect filter="wipe(left)" transition="in">
                                      <p:cBhvr additive="repl">
                                        <p:cTn id="981" dur="1000"/>
                                        <p:tgtEl>
                                          <p:spTgt spid="422"/>
                                        </p:tgtEl>
                                      </p:cBhvr>
                                    </p:animEffect>
                                  </p:childTnLst>
                                </p:cTn>
                              </p:par>
                            </p:childTnLst>
                          </p:cTn>
                        </p:par>
                      </p:childTnLst>
                    </p:cTn>
                  </p:par>
                  <p:par>
                    <p:cTn id="982" nodeType="clickEffect" fill="hold">
                      <p:stCondLst>
                        <p:cond delay="indefinite"/>
                      </p:stCondLst>
                      <p:childTnLst>
                        <p:par>
                          <p:cTn id="983" nodeType="withEffect" fill="hold">
                            <p:stCondLst>
                              <p:cond delay="0"/>
                            </p:stCondLst>
                            <p:childTnLst>
                              <p:par>
                                <p:cTn id="984" nodeType="clickEffect" fill="hold" presetClass="entr" presetID="22" presetSubtype="8">
                                  <p:stCondLst>
                                    <p:cond delay="0"/>
                                  </p:stCondLst>
                                  <p:childTnLst>
                                    <p:set>
                                      <p:cBhvr>
                                        <p:cTn id="985" dur="1" fill="hold">
                                          <p:stCondLst>
                                            <p:cond delay="0"/>
                                          </p:stCondLst>
                                        </p:cTn>
                                        <p:tgtEl>
                                          <p:spTgt spid="416">
                                            <p:txEl>
                                              <p:pRg st="2" end="2"/>
                                            </p:txEl>
                                          </p:spTgt>
                                        </p:tgtEl>
                                        <p:attrNameLst>
                                          <p:attrName>style.visibility</p:attrName>
                                        </p:attrNameLst>
                                      </p:cBhvr>
                                      <p:to>
                                        <p:strVal val="visible"/>
                                      </p:to>
                                    </p:set>
                                    <p:animEffect filter="wipe(left)" transition="in">
                                      <p:cBhvr additive="repl">
                                        <p:cTn id="986" dur="500"/>
                                        <p:tgtEl>
                                          <p:spTgt spid="416">
                                            <p:txEl>
                                              <p:pRg st="2" end="2"/>
                                            </p:txEl>
                                          </p:spTgt>
                                        </p:tgtEl>
                                      </p:cBhvr>
                                    </p:animEffect>
                                  </p:childTnLst>
                                </p:cTn>
                              </p:par>
                              <p:par>
                                <p:cTn id="987" nodeType="withEffect" fill="hold" presetClass="entr" presetID="10">
                                  <p:stCondLst>
                                    <p:cond delay="0"/>
                                  </p:stCondLst>
                                  <p:childTnLst>
                                    <p:set>
                                      <p:cBhvr>
                                        <p:cTn id="988" dur="1" fill="hold">
                                          <p:stCondLst>
                                            <p:cond delay="0"/>
                                          </p:stCondLst>
                                        </p:cTn>
                                        <p:tgtEl>
                                          <p:spTgt spid="423"/>
                                        </p:tgtEl>
                                        <p:attrNameLst>
                                          <p:attrName>style.visibility</p:attrName>
                                        </p:attrNameLst>
                                      </p:cBhvr>
                                      <p:to>
                                        <p:strVal val="visible"/>
                                      </p:to>
                                    </p:set>
                                    <p:animEffect filter="fade" transition="in">
                                      <p:cBhvr additive="repl">
                                        <p:cTn id="989" dur="500"/>
                                        <p:tgtEl>
                                          <p:spTgt spid="4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APPENDIX: INDIFFERENCE CURVES</a:t>
            </a:r>
            <a:endParaRPr b="0" lang="en-US" sz="2600" strike="noStrike" u="none">
              <a:solidFill>
                <a:srgbClr val="000000"/>
              </a:solidFill>
              <a:effectLst/>
              <a:uFillTx/>
              <a:latin typeface="Arial"/>
            </a:endParaRPr>
          </a:p>
        </p:txBody>
      </p:sp>
      <p:sp>
        <p:nvSpPr>
          <p:cNvPr id="425"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Consumer Equilibrium</a:t>
            </a:r>
            <a:endParaRPr b="0" lang="en-US" sz="28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goal of the consumer is to buy the affordable quantities of goods that make the consumer as well off as possible.</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consumer’s preference map describe the way a consumer values different combinations of goods. </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consumer’s budget and the prices of the goods limit the consumer’s choices.</a:t>
            </a:r>
            <a:endParaRPr b="0" lang="en-US" sz="2400" strike="noStrike" u="none">
              <a:solidFill>
                <a:srgbClr val="000000"/>
              </a:solidFill>
              <a:effectLst/>
              <a:uFillTx/>
              <a:latin typeface="Arial"/>
            </a:endParaRPr>
          </a:p>
        </p:txBody>
      </p:sp>
    </p:spTree>
  </p:cSld>
  <p:transition spd="slow">
    <p:wipe dir="r"/>
  </p:transition>
  <p:timing>
    <p:tnLst>
      <p:par>
        <p:cTn id="990" dur="indefinite" restart="never" nodeType="tmRoot">
          <p:childTnLst>
            <p:seq>
              <p:cTn id="991" dur="indefinite" nodeType="mainSeq">
                <p:childTnLst>
                  <p:par>
                    <p:cTn id="992" nodeType="clickEffect" fill="hold">
                      <p:stCondLst>
                        <p:cond delay="indefinite"/>
                      </p:stCondLst>
                      <p:childTnLst>
                        <p:par>
                          <p:cTn id="993" nodeType="withEffect" fill="hold">
                            <p:stCondLst>
                              <p:cond delay="0"/>
                            </p:stCondLst>
                            <p:childTnLst>
                              <p:par>
                                <p:cTn id="994" nodeType="clickEffect" fill="hold" presetClass="entr" presetID="22" presetSubtype="8">
                                  <p:stCondLst>
                                    <p:cond delay="0"/>
                                  </p:stCondLst>
                                  <p:childTnLst>
                                    <p:set>
                                      <p:cBhvr>
                                        <p:cTn id="995" dur="1" fill="hold">
                                          <p:stCondLst>
                                            <p:cond delay="0"/>
                                          </p:stCondLst>
                                        </p:cTn>
                                        <p:tgtEl>
                                          <p:spTgt spid="425">
                                            <p:txEl>
                                              <p:pRg st="1" end="1"/>
                                            </p:txEl>
                                          </p:spTgt>
                                        </p:tgtEl>
                                        <p:attrNameLst>
                                          <p:attrName>style.visibility</p:attrName>
                                        </p:attrNameLst>
                                      </p:cBhvr>
                                      <p:to>
                                        <p:strVal val="visible"/>
                                      </p:to>
                                    </p:set>
                                    <p:animEffect filter="wipe(left)" transition="in">
                                      <p:cBhvr additive="repl">
                                        <p:cTn id="996" dur="500"/>
                                        <p:tgtEl>
                                          <p:spTgt spid="425">
                                            <p:txEl>
                                              <p:pRg st="1" end="1"/>
                                            </p:txEl>
                                          </p:spTgt>
                                        </p:tgtEl>
                                      </p:cBhvr>
                                    </p:animEffect>
                                  </p:childTnLst>
                                </p:cTn>
                              </p:par>
                            </p:childTnLst>
                          </p:cTn>
                        </p:par>
                      </p:childTnLst>
                    </p:cTn>
                  </p:par>
                  <p:par>
                    <p:cTn id="997" nodeType="clickEffect" fill="hold">
                      <p:stCondLst>
                        <p:cond delay="indefinite"/>
                      </p:stCondLst>
                      <p:childTnLst>
                        <p:par>
                          <p:cTn id="998" nodeType="withEffect" fill="hold">
                            <p:stCondLst>
                              <p:cond delay="0"/>
                            </p:stCondLst>
                            <p:childTnLst>
                              <p:par>
                                <p:cTn id="999" nodeType="clickEffect" fill="hold" presetClass="entr" presetID="22" presetSubtype="8">
                                  <p:stCondLst>
                                    <p:cond delay="0"/>
                                  </p:stCondLst>
                                  <p:childTnLst>
                                    <p:set>
                                      <p:cBhvr>
                                        <p:cTn id="1000" dur="1" fill="hold">
                                          <p:stCondLst>
                                            <p:cond delay="0"/>
                                          </p:stCondLst>
                                        </p:cTn>
                                        <p:tgtEl>
                                          <p:spTgt spid="425">
                                            <p:txEl>
                                              <p:pRg st="2" end="2"/>
                                            </p:txEl>
                                          </p:spTgt>
                                        </p:tgtEl>
                                        <p:attrNameLst>
                                          <p:attrName>style.visibility</p:attrName>
                                        </p:attrNameLst>
                                      </p:cBhvr>
                                      <p:to>
                                        <p:strVal val="visible"/>
                                      </p:to>
                                    </p:set>
                                    <p:animEffect filter="wipe(left)" transition="in">
                                      <p:cBhvr additive="repl">
                                        <p:cTn id="1001" dur="500"/>
                                        <p:tgtEl>
                                          <p:spTgt spid="425">
                                            <p:txEl>
                                              <p:pRg st="2" end="2"/>
                                            </p:txEl>
                                          </p:spTgt>
                                        </p:tgtEl>
                                      </p:cBhvr>
                                    </p:animEffect>
                                  </p:childTnLst>
                                </p:cTn>
                              </p:par>
                            </p:childTnLst>
                          </p:cTn>
                        </p:par>
                      </p:childTnLst>
                    </p:cTn>
                  </p:par>
                  <p:par>
                    <p:cTn id="1002" nodeType="clickEffect" fill="hold">
                      <p:stCondLst>
                        <p:cond delay="indefinite"/>
                      </p:stCondLst>
                      <p:childTnLst>
                        <p:par>
                          <p:cTn id="1003" nodeType="withEffect" fill="hold">
                            <p:stCondLst>
                              <p:cond delay="0"/>
                            </p:stCondLst>
                            <p:childTnLst>
                              <p:par>
                                <p:cTn id="1004" nodeType="clickEffect" fill="hold" presetClass="entr" presetID="22" presetSubtype="8">
                                  <p:stCondLst>
                                    <p:cond delay="0"/>
                                  </p:stCondLst>
                                  <p:childTnLst>
                                    <p:set>
                                      <p:cBhvr>
                                        <p:cTn id="1005" dur="1" fill="hold">
                                          <p:stCondLst>
                                            <p:cond delay="0"/>
                                          </p:stCondLst>
                                        </p:cTn>
                                        <p:tgtEl>
                                          <p:spTgt spid="425">
                                            <p:txEl>
                                              <p:pRg st="3" end="3"/>
                                            </p:txEl>
                                          </p:spTgt>
                                        </p:tgtEl>
                                        <p:attrNameLst>
                                          <p:attrName>style.visibility</p:attrName>
                                        </p:attrNameLst>
                                      </p:cBhvr>
                                      <p:to>
                                        <p:strVal val="visible"/>
                                      </p:to>
                                    </p:set>
                                    <p:animEffect filter="wipe(left)" transition="in">
                                      <p:cBhvr additive="repl">
                                        <p:cTn id="1006" dur="500"/>
                                        <p:tgtEl>
                                          <p:spTgt spid="425">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APPENDIX: INDIFFERENCE CURVES</a:t>
            </a:r>
            <a:endParaRPr b="0" lang="en-US" sz="2600" strike="noStrike" u="none">
              <a:solidFill>
                <a:srgbClr val="000000"/>
              </a:solidFill>
              <a:effectLst/>
              <a:uFillTx/>
              <a:latin typeface="Arial"/>
            </a:endParaRPr>
          </a:p>
        </p:txBody>
      </p:sp>
      <p:pic>
        <p:nvPicPr>
          <p:cNvPr id="427" name="Picture 99" descr="apx1203a.gif"/>
          <p:cNvPicPr/>
          <p:nvPr/>
        </p:nvPicPr>
        <p:blipFill>
          <a:blip r:embed="rId1"/>
          <a:stretch/>
        </p:blipFill>
        <p:spPr>
          <a:xfrm>
            <a:off x="4319640" y="1476360"/>
            <a:ext cx="4417200" cy="4647600"/>
          </a:xfrm>
          <a:prstGeom prst="rect">
            <a:avLst/>
          </a:prstGeom>
          <a:noFill/>
          <a:ln w="0">
            <a:noFill/>
          </a:ln>
        </p:spPr>
      </p:pic>
      <p:pic>
        <p:nvPicPr>
          <p:cNvPr id="428" name="Picture 100" descr="apx1203b.gif"/>
          <p:cNvPicPr/>
          <p:nvPr/>
        </p:nvPicPr>
        <p:blipFill>
          <a:blip r:embed="rId2"/>
          <a:stretch/>
        </p:blipFill>
        <p:spPr>
          <a:xfrm>
            <a:off x="4319640" y="1476360"/>
            <a:ext cx="4417200" cy="4647600"/>
          </a:xfrm>
          <a:prstGeom prst="rect">
            <a:avLst/>
          </a:prstGeom>
          <a:noFill/>
          <a:ln w="0">
            <a:noFill/>
          </a:ln>
        </p:spPr>
      </p:pic>
      <p:pic>
        <p:nvPicPr>
          <p:cNvPr id="429" name="Picture 101" descr="apx1203c.gif"/>
          <p:cNvPicPr/>
          <p:nvPr/>
        </p:nvPicPr>
        <p:blipFill>
          <a:blip r:embed="rId3"/>
          <a:stretch/>
        </p:blipFill>
        <p:spPr>
          <a:xfrm>
            <a:off x="4319640" y="1476360"/>
            <a:ext cx="4417200" cy="4647600"/>
          </a:xfrm>
          <a:prstGeom prst="rect">
            <a:avLst/>
          </a:prstGeom>
          <a:noFill/>
          <a:ln w="0">
            <a:noFill/>
          </a:ln>
        </p:spPr>
      </p:pic>
      <p:sp>
        <p:nvSpPr>
          <p:cNvPr id="430" name="PlaceHolder 2"/>
          <p:cNvSpPr>
            <a:spLocks noGrp="1"/>
          </p:cNvSpPr>
          <p:nvPr>
            <p:ph/>
          </p:nvPr>
        </p:nvSpPr>
        <p:spPr>
          <a:xfrm>
            <a:off x="360360" y="1440000"/>
            <a:ext cx="421092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Figure A13.3 shows consumer equilibrium.</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Tina’s indifference curves describe her preferences.</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Tina’s budget line describes the limits on   her choice.</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Tina’s best affordable  point is </a:t>
            </a:r>
            <a:r>
              <a:rPr b="0" i="1" lang="en-US" sz="2400" strike="noStrike" u="none">
                <a:solidFill>
                  <a:srgbClr val="000000"/>
                </a:solidFill>
                <a:effectLst/>
                <a:uFillTx/>
                <a:latin typeface="Arial"/>
                <a:ea typeface="ＭＳ Ｐゴシック"/>
              </a:rPr>
              <a:t>C</a:t>
            </a:r>
            <a:r>
              <a:rPr b="0" lang="en-US" sz="2400" strike="noStrike" u="none">
                <a:solidFill>
                  <a:srgbClr val="000000"/>
                </a:solidFill>
                <a:effectLst/>
                <a:uFillTx/>
                <a:latin typeface="Arial"/>
                <a:ea typeface="ＭＳ Ｐゴシック"/>
              </a:rPr>
              <a:t>. At point </a:t>
            </a:r>
            <a:r>
              <a:rPr b="0" i="1" lang="en-US" sz="2400" strike="noStrike" u="none">
                <a:solidFill>
                  <a:srgbClr val="000000"/>
                </a:solidFill>
                <a:effectLst/>
                <a:uFillTx/>
                <a:latin typeface="Arial"/>
                <a:ea typeface="ＭＳ Ｐゴシック"/>
              </a:rPr>
              <a:t>C</a:t>
            </a:r>
            <a:r>
              <a:rPr b="0" lang="en-US" sz="2400" strike="noStrike" u="none">
                <a:solidFill>
                  <a:srgbClr val="000000"/>
                </a:solidFill>
                <a:effectLst/>
                <a:uFillTx/>
                <a:latin typeface="Arial"/>
                <a:ea typeface="ＭＳ Ｐゴシック"/>
              </a:rPr>
              <a:t>, she is on her budget line and also on the highest attainable indifference curve.</a:t>
            </a:r>
            <a:endParaRPr b="0" lang="en-US" sz="2400" strike="noStrike" u="none">
              <a:solidFill>
                <a:srgbClr val="000000"/>
              </a:solidFill>
              <a:effectLst/>
              <a:uFillTx/>
              <a:latin typeface="Arial"/>
            </a:endParaRPr>
          </a:p>
          <a:p>
            <a:pPr marL="360000" indent="0">
              <a:lnSpc>
                <a:spcPct val="100000"/>
              </a:lnSpc>
              <a:buNone/>
              <a:tabLst>
                <a:tab algn="l" pos="0"/>
              </a:tabLst>
            </a:pPr>
            <a:endParaRPr b="0" lang="en-US" sz="2400" strike="noStrike" u="none">
              <a:solidFill>
                <a:srgbClr val="000000"/>
              </a:solidFill>
              <a:effectLst/>
              <a:uFillTx/>
              <a:latin typeface="Arial"/>
            </a:endParaRPr>
          </a:p>
        </p:txBody>
      </p:sp>
    </p:spTree>
  </p:cSld>
  <p:transition spd="slow">
    <p:wipe dir="r"/>
  </p:transition>
  <p:timing>
    <p:tnLst>
      <p:par>
        <p:cTn id="1007" dur="indefinite" restart="never" nodeType="tmRoot">
          <p:childTnLst>
            <p:seq>
              <p:cTn id="1008" dur="indefinite" nodeType="mainSeq">
                <p:childTnLst>
                  <p:par>
                    <p:cTn id="1009" nodeType="clickEffect" fill="hold">
                      <p:stCondLst>
                        <p:cond delay="indefinite"/>
                      </p:stCondLst>
                      <p:childTnLst>
                        <p:par>
                          <p:cTn id="1010" nodeType="withEffect" fill="hold">
                            <p:stCondLst>
                              <p:cond delay="0"/>
                            </p:stCondLst>
                            <p:childTnLst>
                              <p:par>
                                <p:cTn id="1011" nodeType="clickEffect" fill="hold" presetClass="entr" presetID="22" presetSubtype="8">
                                  <p:stCondLst>
                                    <p:cond delay="0"/>
                                  </p:stCondLst>
                                  <p:childTnLst>
                                    <p:set>
                                      <p:cBhvr>
                                        <p:cTn id="1012" dur="1" fill="hold">
                                          <p:stCondLst>
                                            <p:cond delay="0"/>
                                          </p:stCondLst>
                                        </p:cTn>
                                        <p:tgtEl>
                                          <p:spTgt spid="430">
                                            <p:txEl>
                                              <p:pRg st="1" end="1"/>
                                            </p:txEl>
                                          </p:spTgt>
                                        </p:tgtEl>
                                        <p:attrNameLst>
                                          <p:attrName>style.visibility</p:attrName>
                                        </p:attrNameLst>
                                      </p:cBhvr>
                                      <p:to>
                                        <p:strVal val="visible"/>
                                      </p:to>
                                    </p:set>
                                    <p:animEffect filter="wipe(left)" transition="in">
                                      <p:cBhvr additive="repl">
                                        <p:cTn id="1013" dur="500"/>
                                        <p:tgtEl>
                                          <p:spTgt spid="430">
                                            <p:txEl>
                                              <p:pRg st="1" end="1"/>
                                            </p:txEl>
                                          </p:spTgt>
                                        </p:tgtEl>
                                      </p:cBhvr>
                                    </p:animEffect>
                                  </p:childTnLst>
                                </p:cTn>
                              </p:par>
                            </p:childTnLst>
                          </p:cTn>
                        </p:par>
                      </p:childTnLst>
                    </p:cTn>
                  </p:par>
                  <p:par>
                    <p:cTn id="1014" nodeType="clickEffect" fill="hold">
                      <p:stCondLst>
                        <p:cond delay="indefinite"/>
                      </p:stCondLst>
                      <p:childTnLst>
                        <p:par>
                          <p:cTn id="1015" nodeType="withEffect" fill="hold">
                            <p:stCondLst>
                              <p:cond delay="0"/>
                            </p:stCondLst>
                            <p:childTnLst>
                              <p:par>
                                <p:cTn id="1016" nodeType="clickEffect" fill="hold" presetClass="entr" presetID="22" presetSubtype="8">
                                  <p:stCondLst>
                                    <p:cond delay="0"/>
                                  </p:stCondLst>
                                  <p:childTnLst>
                                    <p:set>
                                      <p:cBhvr>
                                        <p:cTn id="1017" dur="1" fill="hold">
                                          <p:stCondLst>
                                            <p:cond delay="0"/>
                                          </p:stCondLst>
                                        </p:cTn>
                                        <p:tgtEl>
                                          <p:spTgt spid="430">
                                            <p:txEl>
                                              <p:pRg st="2" end="2"/>
                                            </p:txEl>
                                          </p:spTgt>
                                        </p:tgtEl>
                                        <p:attrNameLst>
                                          <p:attrName>style.visibility</p:attrName>
                                        </p:attrNameLst>
                                      </p:cBhvr>
                                      <p:to>
                                        <p:strVal val="visible"/>
                                      </p:to>
                                    </p:set>
                                    <p:animEffect filter="wipe(left)" transition="in">
                                      <p:cBhvr additive="repl">
                                        <p:cTn id="1018" dur="500"/>
                                        <p:tgtEl>
                                          <p:spTgt spid="430">
                                            <p:txEl>
                                              <p:pRg st="2" end="2"/>
                                            </p:txEl>
                                          </p:spTgt>
                                        </p:tgtEl>
                                      </p:cBhvr>
                                    </p:animEffect>
                                  </p:childTnLst>
                                </p:cTn>
                              </p:par>
                              <p:par>
                                <p:cTn id="1019" nodeType="withEffect" fill="hold" presetClass="entr" presetID="22" presetSubtype="8">
                                  <p:stCondLst>
                                    <p:cond delay="0"/>
                                  </p:stCondLst>
                                  <p:childTnLst>
                                    <p:set>
                                      <p:cBhvr>
                                        <p:cTn id="1020" dur="1" fill="hold">
                                          <p:stCondLst>
                                            <p:cond delay="0"/>
                                          </p:stCondLst>
                                        </p:cTn>
                                        <p:tgtEl>
                                          <p:spTgt spid="428"/>
                                        </p:tgtEl>
                                        <p:attrNameLst>
                                          <p:attrName>style.visibility</p:attrName>
                                        </p:attrNameLst>
                                      </p:cBhvr>
                                      <p:to>
                                        <p:strVal val="visible"/>
                                      </p:to>
                                    </p:set>
                                    <p:animEffect filter="wipe(left)" transition="in">
                                      <p:cBhvr additive="repl">
                                        <p:cTn id="1021" dur="1000"/>
                                        <p:tgtEl>
                                          <p:spTgt spid="428"/>
                                        </p:tgtEl>
                                      </p:cBhvr>
                                    </p:animEffect>
                                  </p:childTnLst>
                                </p:cTn>
                              </p:par>
                            </p:childTnLst>
                          </p:cTn>
                        </p:par>
                      </p:childTnLst>
                    </p:cTn>
                  </p:par>
                  <p:par>
                    <p:cTn id="1022" nodeType="clickEffect" fill="hold">
                      <p:stCondLst>
                        <p:cond delay="indefinite"/>
                      </p:stCondLst>
                      <p:childTnLst>
                        <p:par>
                          <p:cTn id="1023" nodeType="withEffect" fill="hold">
                            <p:stCondLst>
                              <p:cond delay="0"/>
                            </p:stCondLst>
                            <p:childTnLst>
                              <p:par>
                                <p:cTn id="1024" nodeType="clickEffect" fill="hold" presetClass="entr" presetID="22" presetSubtype="8">
                                  <p:stCondLst>
                                    <p:cond delay="0"/>
                                  </p:stCondLst>
                                  <p:childTnLst>
                                    <p:set>
                                      <p:cBhvr>
                                        <p:cTn id="1025" dur="1" fill="hold">
                                          <p:stCondLst>
                                            <p:cond delay="0"/>
                                          </p:stCondLst>
                                        </p:cTn>
                                        <p:tgtEl>
                                          <p:spTgt spid="430">
                                            <p:txEl>
                                              <p:pRg st="3" end="3"/>
                                            </p:txEl>
                                          </p:spTgt>
                                        </p:tgtEl>
                                        <p:attrNameLst>
                                          <p:attrName>style.visibility</p:attrName>
                                        </p:attrNameLst>
                                      </p:cBhvr>
                                      <p:to>
                                        <p:strVal val="visible"/>
                                      </p:to>
                                    </p:set>
                                    <p:animEffect filter="wipe(left)" transition="in">
                                      <p:cBhvr additive="repl">
                                        <p:cTn id="1026" dur="500"/>
                                        <p:tgtEl>
                                          <p:spTgt spid="430">
                                            <p:txEl>
                                              <p:pRg st="3" end="3"/>
                                            </p:txEl>
                                          </p:spTgt>
                                        </p:tgtEl>
                                      </p:cBhvr>
                                    </p:animEffect>
                                  </p:childTnLst>
                                </p:cTn>
                              </p:par>
                              <p:par>
                                <p:cTn id="1027" nodeType="withEffect" fill="hold" presetClass="entr" presetID="10">
                                  <p:stCondLst>
                                    <p:cond delay="0"/>
                                  </p:stCondLst>
                                  <p:childTnLst>
                                    <p:set>
                                      <p:cBhvr>
                                        <p:cTn id="1028" dur="1" fill="hold">
                                          <p:stCondLst>
                                            <p:cond delay="0"/>
                                          </p:stCondLst>
                                        </p:cTn>
                                        <p:tgtEl>
                                          <p:spTgt spid="429"/>
                                        </p:tgtEl>
                                        <p:attrNameLst>
                                          <p:attrName>style.visibility</p:attrName>
                                        </p:attrNameLst>
                                      </p:cBhvr>
                                      <p:to>
                                        <p:strVal val="visible"/>
                                      </p:to>
                                    </p:set>
                                    <p:animEffect filter="fade" transition="in">
                                      <p:cBhvr additive="repl">
                                        <p:cTn id="1029" dur="500"/>
                                        <p:tgtEl>
                                          <p:spTgt spid="4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431" name="Picture 102" descr="apx1203a.gif"/>
          <p:cNvPicPr/>
          <p:nvPr/>
        </p:nvPicPr>
        <p:blipFill>
          <a:blip r:embed="rId1"/>
          <a:stretch/>
        </p:blipFill>
        <p:spPr>
          <a:xfrm>
            <a:off x="1905120" y="542880"/>
            <a:ext cx="5495040" cy="5780880"/>
          </a:xfrm>
          <a:prstGeom prst="rect">
            <a:avLst/>
          </a:prstGeom>
          <a:noFill/>
          <a:ln w="0">
            <a:noFill/>
          </a:ln>
        </p:spPr>
      </p:pic>
      <p:pic>
        <p:nvPicPr>
          <p:cNvPr id="432" name="Picture 103" descr="apx1203b.gif"/>
          <p:cNvPicPr/>
          <p:nvPr/>
        </p:nvPicPr>
        <p:blipFill>
          <a:blip r:embed="rId2"/>
          <a:stretch/>
        </p:blipFill>
        <p:spPr>
          <a:xfrm>
            <a:off x="1905120" y="542880"/>
            <a:ext cx="5495040" cy="5780880"/>
          </a:xfrm>
          <a:prstGeom prst="rect">
            <a:avLst/>
          </a:prstGeom>
          <a:noFill/>
          <a:ln w="0">
            <a:noFill/>
          </a:ln>
        </p:spPr>
      </p:pic>
      <p:pic>
        <p:nvPicPr>
          <p:cNvPr id="433" name="Picture 104" descr="apx1203c.gif"/>
          <p:cNvPicPr/>
          <p:nvPr/>
        </p:nvPicPr>
        <p:blipFill>
          <a:blip r:embed="rId3"/>
          <a:stretch/>
        </p:blipFill>
        <p:spPr>
          <a:xfrm>
            <a:off x="1905120" y="542880"/>
            <a:ext cx="5495040" cy="5780880"/>
          </a:xfrm>
          <a:prstGeom prst="rect">
            <a:avLst/>
          </a:prstGeom>
          <a:noFill/>
          <a:ln w="0">
            <a:noFill/>
          </a:ln>
        </p:spPr>
      </p:pic>
      <p:pic>
        <p:nvPicPr>
          <p:cNvPr id="434" name="Picture 105" descr="apx1203d.gif"/>
          <p:cNvPicPr/>
          <p:nvPr/>
        </p:nvPicPr>
        <p:blipFill>
          <a:blip r:embed="rId4"/>
          <a:stretch/>
        </p:blipFill>
        <p:spPr>
          <a:xfrm>
            <a:off x="1905120" y="542880"/>
            <a:ext cx="5495040" cy="5780880"/>
          </a:xfrm>
          <a:prstGeom prst="rect">
            <a:avLst/>
          </a:prstGeom>
          <a:noFill/>
          <a:ln w="0">
            <a:noFill/>
          </a:ln>
        </p:spPr>
      </p:pic>
      <p:pic>
        <p:nvPicPr>
          <p:cNvPr id="435" name="Picture 106" descr="apx1203e.gif"/>
          <p:cNvPicPr/>
          <p:nvPr/>
        </p:nvPicPr>
        <p:blipFill>
          <a:blip r:embed="rId5"/>
          <a:stretch/>
        </p:blipFill>
        <p:spPr>
          <a:xfrm>
            <a:off x="1905120" y="542880"/>
            <a:ext cx="5495040" cy="5780880"/>
          </a:xfrm>
          <a:prstGeom prst="rect">
            <a:avLst/>
          </a:prstGeom>
          <a:noFill/>
          <a:ln w="0">
            <a:noFill/>
          </a:ln>
        </p:spPr>
      </p:pic>
    </p:spTree>
  </p:cSld>
  <p:transition spd="slow">
    <p:wipe dir="r"/>
  </p:transition>
  <p:timing>
    <p:tnLst>
      <p:par>
        <p:cTn id="1030" dur="indefinite" restart="never" nodeType="tmRoot">
          <p:childTnLst>
            <p:seq>
              <p:cTn id="1031" dur="indefinite" nodeType="mainSeq">
                <p:childTnLst>
                  <p:par>
                    <p:cTn id="1032" nodeType="clickEffect" fill="hold">
                      <p:stCondLst>
                        <p:cond delay="indefinite"/>
                      </p:stCondLst>
                      <p:childTnLst>
                        <p:par>
                          <p:cTn id="1033" nodeType="withEffect" fill="hold">
                            <p:stCondLst>
                              <p:cond delay="0"/>
                            </p:stCondLst>
                            <p:childTnLst>
                              <p:par>
                                <p:cTn id="1034" nodeType="clickEffect" fill="hold" presetClass="entr" presetID="22" presetSubtype="8">
                                  <p:stCondLst>
                                    <p:cond delay="0"/>
                                  </p:stCondLst>
                                  <p:childTnLst>
                                    <p:set>
                                      <p:cBhvr>
                                        <p:cTn id="1035" dur="1" fill="hold">
                                          <p:stCondLst>
                                            <p:cond delay="0"/>
                                          </p:stCondLst>
                                        </p:cTn>
                                        <p:tgtEl>
                                          <p:spTgt spid="432"/>
                                        </p:tgtEl>
                                        <p:attrNameLst>
                                          <p:attrName>style.visibility</p:attrName>
                                        </p:attrNameLst>
                                      </p:cBhvr>
                                      <p:to>
                                        <p:strVal val="visible"/>
                                      </p:to>
                                    </p:set>
                                    <p:animEffect filter="wipe(left)" transition="in">
                                      <p:cBhvr additive="repl">
                                        <p:cTn id="1036" dur="1000"/>
                                        <p:tgtEl>
                                          <p:spTgt spid="432"/>
                                        </p:tgtEl>
                                      </p:cBhvr>
                                    </p:animEffect>
                                  </p:childTnLst>
                                </p:cTn>
                              </p:par>
                            </p:childTnLst>
                          </p:cTn>
                        </p:par>
                      </p:childTnLst>
                    </p:cTn>
                  </p:par>
                  <p:par>
                    <p:cTn id="1037" nodeType="clickEffect" fill="hold">
                      <p:stCondLst>
                        <p:cond delay="indefinite"/>
                      </p:stCondLst>
                      <p:childTnLst>
                        <p:par>
                          <p:cTn id="1038" nodeType="withEffect" fill="hold">
                            <p:stCondLst>
                              <p:cond delay="0"/>
                            </p:stCondLst>
                            <p:childTnLst>
                              <p:par>
                                <p:cTn id="1039" nodeType="clickEffect" fill="hold" presetClass="entr" presetID="10">
                                  <p:stCondLst>
                                    <p:cond delay="0"/>
                                  </p:stCondLst>
                                  <p:childTnLst>
                                    <p:set>
                                      <p:cBhvr>
                                        <p:cTn id="1040" dur="1" fill="hold">
                                          <p:stCondLst>
                                            <p:cond delay="0"/>
                                          </p:stCondLst>
                                        </p:cTn>
                                        <p:tgtEl>
                                          <p:spTgt spid="433"/>
                                        </p:tgtEl>
                                        <p:attrNameLst>
                                          <p:attrName>style.visibility</p:attrName>
                                        </p:attrNameLst>
                                      </p:cBhvr>
                                      <p:to>
                                        <p:strVal val="visible"/>
                                      </p:to>
                                    </p:set>
                                    <p:animEffect filter="fade" transition="in">
                                      <p:cBhvr additive="repl">
                                        <p:cTn id="1041" dur="500"/>
                                        <p:tgtEl>
                                          <p:spTgt spid="433"/>
                                        </p:tgtEl>
                                      </p:cBhvr>
                                    </p:animEffect>
                                  </p:childTnLst>
                                </p:cTn>
                              </p:par>
                            </p:childTnLst>
                          </p:cTn>
                        </p:par>
                      </p:childTnLst>
                    </p:cTn>
                  </p:par>
                  <p:par>
                    <p:cTn id="1042" nodeType="clickEffect" fill="hold">
                      <p:stCondLst>
                        <p:cond delay="indefinite"/>
                      </p:stCondLst>
                      <p:childTnLst>
                        <p:par>
                          <p:cTn id="1043" nodeType="withEffect" fill="hold">
                            <p:stCondLst>
                              <p:cond delay="0"/>
                            </p:stCondLst>
                            <p:childTnLst>
                              <p:par>
                                <p:cTn id="1044" nodeType="clickEffect" fill="hold" presetClass="entr" presetID="10">
                                  <p:stCondLst>
                                    <p:cond delay="0"/>
                                  </p:stCondLst>
                                  <p:childTnLst>
                                    <p:set>
                                      <p:cBhvr>
                                        <p:cTn id="1045" dur="1" fill="hold">
                                          <p:stCondLst>
                                            <p:cond delay="0"/>
                                          </p:stCondLst>
                                        </p:cTn>
                                        <p:tgtEl>
                                          <p:spTgt spid="434"/>
                                        </p:tgtEl>
                                        <p:attrNameLst>
                                          <p:attrName>style.visibility</p:attrName>
                                        </p:attrNameLst>
                                      </p:cBhvr>
                                      <p:to>
                                        <p:strVal val="visible"/>
                                      </p:to>
                                    </p:set>
                                    <p:animEffect filter="fade" transition="in">
                                      <p:cBhvr additive="repl">
                                        <p:cTn id="1046" dur="500"/>
                                        <p:tgtEl>
                                          <p:spTgt spid="434"/>
                                        </p:tgtEl>
                                      </p:cBhvr>
                                    </p:animEffect>
                                  </p:childTnLst>
                                </p:cTn>
                              </p:par>
                            </p:childTnLst>
                          </p:cTn>
                        </p:par>
                      </p:childTnLst>
                    </p:cTn>
                  </p:par>
                  <p:par>
                    <p:cTn id="1047" nodeType="clickEffect" fill="hold">
                      <p:stCondLst>
                        <p:cond delay="indefinite"/>
                      </p:stCondLst>
                      <p:childTnLst>
                        <p:par>
                          <p:cTn id="1048" nodeType="withEffect" fill="hold">
                            <p:stCondLst>
                              <p:cond delay="0"/>
                            </p:stCondLst>
                            <p:childTnLst>
                              <p:par>
                                <p:cTn id="1049" nodeType="clickEffect" fill="hold" presetClass="entr" presetID="10">
                                  <p:stCondLst>
                                    <p:cond delay="0"/>
                                  </p:stCondLst>
                                  <p:childTnLst>
                                    <p:set>
                                      <p:cBhvr>
                                        <p:cTn id="1050" dur="1" fill="hold">
                                          <p:stCondLst>
                                            <p:cond delay="0"/>
                                          </p:stCondLst>
                                        </p:cTn>
                                        <p:tgtEl>
                                          <p:spTgt spid="435"/>
                                        </p:tgtEl>
                                        <p:attrNameLst>
                                          <p:attrName>style.visibility</p:attrName>
                                        </p:attrNameLst>
                                      </p:cBhvr>
                                      <p:to>
                                        <p:strVal val="visible"/>
                                      </p:to>
                                    </p:set>
                                    <p:animEffect filter="fade" transition="in">
                                      <p:cBhvr additive="repl">
                                        <p:cTn id="1051" dur="500"/>
                                        <p:tgtEl>
                                          <p:spTgt spid="4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6"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APPENDIX: INDIFFERENCE CURVES</a:t>
            </a:r>
            <a:endParaRPr b="0" lang="en-US" sz="2600" strike="noStrike" u="none">
              <a:solidFill>
                <a:srgbClr val="000000"/>
              </a:solidFill>
              <a:effectLst/>
              <a:uFillTx/>
              <a:latin typeface="Arial"/>
            </a:endParaRPr>
          </a:p>
        </p:txBody>
      </p:sp>
      <p:pic>
        <p:nvPicPr>
          <p:cNvPr id="437" name="Picture 107" descr="apx1203a.gif"/>
          <p:cNvPicPr/>
          <p:nvPr/>
        </p:nvPicPr>
        <p:blipFill>
          <a:blip r:embed="rId1"/>
          <a:stretch/>
        </p:blipFill>
        <p:spPr>
          <a:xfrm>
            <a:off x="4319640" y="1476360"/>
            <a:ext cx="4417200" cy="4647600"/>
          </a:xfrm>
          <a:prstGeom prst="rect">
            <a:avLst/>
          </a:prstGeom>
          <a:noFill/>
          <a:ln w="0">
            <a:noFill/>
          </a:ln>
        </p:spPr>
      </p:pic>
      <p:pic>
        <p:nvPicPr>
          <p:cNvPr id="438" name="Picture 108" descr="apx1203b.gif"/>
          <p:cNvPicPr/>
          <p:nvPr/>
        </p:nvPicPr>
        <p:blipFill>
          <a:blip r:embed="rId2"/>
          <a:stretch/>
        </p:blipFill>
        <p:spPr>
          <a:xfrm>
            <a:off x="4319640" y="1476360"/>
            <a:ext cx="4417200" cy="4647600"/>
          </a:xfrm>
          <a:prstGeom prst="rect">
            <a:avLst/>
          </a:prstGeom>
          <a:noFill/>
          <a:ln w="0">
            <a:noFill/>
          </a:ln>
        </p:spPr>
      </p:pic>
      <p:pic>
        <p:nvPicPr>
          <p:cNvPr id="439" name="Picture 109" descr="apx1203c.gif"/>
          <p:cNvPicPr/>
          <p:nvPr/>
        </p:nvPicPr>
        <p:blipFill>
          <a:blip r:embed="rId3"/>
          <a:stretch/>
        </p:blipFill>
        <p:spPr>
          <a:xfrm>
            <a:off x="4319640" y="1476360"/>
            <a:ext cx="4417200" cy="4647600"/>
          </a:xfrm>
          <a:prstGeom prst="rect">
            <a:avLst/>
          </a:prstGeom>
          <a:noFill/>
          <a:ln w="0">
            <a:noFill/>
          </a:ln>
        </p:spPr>
      </p:pic>
      <p:pic>
        <p:nvPicPr>
          <p:cNvPr id="440" name="Picture 110" descr="apx1203d.gif"/>
          <p:cNvPicPr/>
          <p:nvPr/>
        </p:nvPicPr>
        <p:blipFill>
          <a:blip r:embed="rId4"/>
          <a:stretch/>
        </p:blipFill>
        <p:spPr>
          <a:xfrm>
            <a:off x="4319640" y="1476360"/>
            <a:ext cx="4417200" cy="4647600"/>
          </a:xfrm>
          <a:prstGeom prst="rect">
            <a:avLst/>
          </a:prstGeom>
          <a:noFill/>
          <a:ln w="0">
            <a:noFill/>
          </a:ln>
        </p:spPr>
      </p:pic>
      <p:pic>
        <p:nvPicPr>
          <p:cNvPr id="441" name="Picture 111" descr="apx1203e.gif"/>
          <p:cNvPicPr/>
          <p:nvPr/>
        </p:nvPicPr>
        <p:blipFill>
          <a:blip r:embed="rId5"/>
          <a:stretch/>
        </p:blipFill>
        <p:spPr>
          <a:xfrm>
            <a:off x="4319640" y="1476360"/>
            <a:ext cx="4417200" cy="4647600"/>
          </a:xfrm>
          <a:prstGeom prst="rect">
            <a:avLst/>
          </a:prstGeom>
          <a:noFill/>
          <a:ln w="0">
            <a:noFill/>
          </a:ln>
        </p:spPr>
      </p:pic>
      <p:sp>
        <p:nvSpPr>
          <p:cNvPr id="442" name="PlaceHolder 2"/>
          <p:cNvSpPr>
            <a:spLocks noGrp="1"/>
          </p:cNvSpPr>
          <p:nvPr>
            <p:ph/>
          </p:nvPr>
        </p:nvSpPr>
        <p:spPr>
          <a:xfrm>
            <a:off x="360360" y="1440000"/>
            <a:ext cx="428724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Tina can consume the same quantity of water at point </a:t>
            </a:r>
            <a:r>
              <a:rPr b="0" i="1" lang="en-US" sz="2400" strike="noStrike" u="none">
                <a:solidFill>
                  <a:schemeClr val="dk1"/>
                </a:solidFill>
                <a:effectLst/>
                <a:uFillTx/>
                <a:latin typeface="Arial"/>
                <a:ea typeface="ＭＳ Ｐゴシック"/>
              </a:rPr>
              <a:t>L </a:t>
            </a:r>
            <a:r>
              <a:rPr b="0" lang="en-US" sz="2400" strike="noStrike" u="none">
                <a:solidFill>
                  <a:schemeClr val="dk1"/>
                </a:solidFill>
                <a:effectLst/>
                <a:uFillTx/>
                <a:latin typeface="Arial"/>
                <a:ea typeface="ＭＳ Ｐゴシック"/>
              </a:rPr>
              <a:t>but less gum.  </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She prefers </a:t>
            </a:r>
            <a:r>
              <a:rPr b="0" i="1" lang="en-US" sz="2400" strike="noStrike" u="none">
                <a:solidFill>
                  <a:schemeClr val="dk1"/>
                </a:solidFill>
                <a:effectLst/>
                <a:uFillTx/>
                <a:latin typeface="Arial"/>
                <a:ea typeface="ＭＳ Ｐゴシック"/>
              </a:rPr>
              <a:t>C</a:t>
            </a:r>
            <a:r>
              <a:rPr b="0" lang="en-US" sz="2400" strike="noStrike" u="none">
                <a:solidFill>
                  <a:schemeClr val="dk1"/>
                </a:solidFill>
                <a:effectLst/>
                <a:uFillTx/>
                <a:latin typeface="Arial"/>
                <a:ea typeface="ＭＳ Ｐゴシック"/>
              </a:rPr>
              <a:t> to </a:t>
            </a:r>
            <a:r>
              <a:rPr b="0" i="1" lang="en-US" sz="2400" strike="noStrike" u="none">
                <a:solidFill>
                  <a:schemeClr val="dk1"/>
                </a:solidFill>
                <a:effectLst/>
                <a:uFillTx/>
                <a:latin typeface="Arial"/>
                <a:ea typeface="ＭＳ Ｐゴシック"/>
              </a:rPr>
              <a:t>L</a:t>
            </a:r>
            <a:r>
              <a:rPr b="0" lang="en-US" sz="2400" strike="noStrike" u="none">
                <a:solidFill>
                  <a:schemeClr val="dk1"/>
                </a:solidFill>
                <a:effectLst/>
                <a:uFillTx/>
                <a:latin typeface="Arial"/>
                <a:ea typeface="ＭＳ Ｐゴシック"/>
              </a:rPr>
              <a:t>.</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Point </a:t>
            </a:r>
            <a:r>
              <a:rPr b="0" i="1" lang="en-US" sz="2400" strike="noStrike" u="none">
                <a:solidFill>
                  <a:srgbClr val="000000"/>
                </a:solidFill>
                <a:effectLst/>
                <a:uFillTx/>
                <a:latin typeface="Arial"/>
                <a:ea typeface="ＭＳ Ｐゴシック"/>
              </a:rPr>
              <a:t>L</a:t>
            </a:r>
            <a:r>
              <a:rPr b="0" lang="en-US" sz="2400" strike="noStrike" u="none">
                <a:solidFill>
                  <a:srgbClr val="000000"/>
                </a:solidFill>
                <a:effectLst/>
                <a:uFillTx/>
                <a:latin typeface="Arial"/>
                <a:ea typeface="ＭＳ Ｐゴシック"/>
              </a:rPr>
              <a:t> is equally preferred to points </a:t>
            </a:r>
            <a:r>
              <a:rPr b="0" i="1" lang="en-US" sz="2400" strike="noStrike" u="none">
                <a:solidFill>
                  <a:srgbClr val="000000"/>
                </a:solidFill>
                <a:effectLst/>
                <a:uFillTx/>
                <a:latin typeface="Arial"/>
                <a:ea typeface="ＭＳ Ｐゴシック"/>
              </a:rPr>
              <a:t>F</a:t>
            </a:r>
            <a:r>
              <a:rPr b="0" lang="en-US" sz="2400" strike="noStrike" u="none">
                <a:solidFill>
                  <a:srgbClr val="000000"/>
                </a:solidFill>
                <a:effectLst/>
                <a:uFillTx/>
                <a:latin typeface="Arial"/>
                <a:ea typeface="ＭＳ Ｐゴシック"/>
              </a:rPr>
              <a:t> and </a:t>
            </a:r>
            <a:r>
              <a:rPr b="0" i="1" lang="en-US" sz="2400" strike="noStrike" u="none">
                <a:solidFill>
                  <a:srgbClr val="000000"/>
                </a:solidFill>
                <a:effectLst/>
                <a:uFillTx/>
                <a:latin typeface="Arial"/>
                <a:ea typeface="ＭＳ Ｐゴシック"/>
              </a:rPr>
              <a:t>H, </a:t>
            </a:r>
            <a:r>
              <a:rPr b="0" lang="en-US" sz="2400" strike="noStrike" u="none">
                <a:solidFill>
                  <a:srgbClr val="000000"/>
                </a:solidFill>
                <a:effectLst/>
                <a:uFillTx/>
                <a:latin typeface="Arial"/>
                <a:ea typeface="ＭＳ Ｐゴシック"/>
              </a:rPr>
              <a:t>which Tina can also afford.</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Points on the budget line between </a:t>
            </a:r>
            <a:r>
              <a:rPr b="0" i="1" lang="en-US" sz="2400" strike="noStrike" u="none">
                <a:solidFill>
                  <a:srgbClr val="000000"/>
                </a:solidFill>
                <a:effectLst/>
                <a:uFillTx/>
                <a:latin typeface="Arial"/>
                <a:ea typeface="ＭＳ Ｐゴシック"/>
              </a:rPr>
              <a:t>F</a:t>
            </a:r>
            <a:r>
              <a:rPr b="0" lang="en-US" sz="2400" strike="noStrike" u="none">
                <a:solidFill>
                  <a:srgbClr val="000000"/>
                </a:solidFill>
                <a:effectLst/>
                <a:uFillTx/>
                <a:latin typeface="Arial"/>
                <a:ea typeface="ＭＳ Ｐゴシック"/>
              </a:rPr>
              <a:t> and </a:t>
            </a:r>
            <a:r>
              <a:rPr b="0" i="1" lang="en-US" sz="2400" strike="noStrike" u="none">
                <a:solidFill>
                  <a:srgbClr val="000000"/>
                </a:solidFill>
                <a:effectLst/>
                <a:uFillTx/>
                <a:latin typeface="Arial"/>
                <a:ea typeface="ＭＳ Ｐゴシック"/>
              </a:rPr>
              <a:t>H</a:t>
            </a:r>
            <a:r>
              <a:rPr b="0" lang="en-US" sz="2400" strike="noStrike" u="none">
                <a:solidFill>
                  <a:srgbClr val="000000"/>
                </a:solidFill>
                <a:effectLst/>
                <a:uFillTx/>
                <a:latin typeface="Arial"/>
                <a:ea typeface="ＭＳ Ｐゴシック"/>
              </a:rPr>
              <a:t> are preferred to </a:t>
            </a:r>
            <a:r>
              <a:rPr b="0" i="1" lang="en-US" sz="2400" strike="noStrike" u="none">
                <a:solidFill>
                  <a:srgbClr val="000000"/>
                </a:solidFill>
                <a:effectLst/>
                <a:uFillTx/>
                <a:latin typeface="Arial"/>
                <a:ea typeface="ＭＳ Ｐゴシック"/>
              </a:rPr>
              <a:t>F</a:t>
            </a:r>
            <a:r>
              <a:rPr b="0" lang="en-US" sz="2400" strike="noStrike" u="none">
                <a:solidFill>
                  <a:srgbClr val="000000"/>
                </a:solidFill>
                <a:effectLst/>
                <a:uFillTx/>
                <a:latin typeface="Arial"/>
                <a:ea typeface="ＭＳ Ｐゴシック"/>
              </a:rPr>
              <a:t> and </a:t>
            </a:r>
            <a:r>
              <a:rPr b="0" i="1" lang="en-US" sz="2400" strike="noStrike" u="none">
                <a:solidFill>
                  <a:srgbClr val="000000"/>
                </a:solidFill>
                <a:effectLst/>
                <a:uFillTx/>
                <a:latin typeface="Arial"/>
                <a:ea typeface="ＭＳ Ｐゴシック"/>
              </a:rPr>
              <a:t>H</a:t>
            </a:r>
            <a:r>
              <a:rPr b="0" lang="en-US" sz="2400" strike="noStrike" u="none">
                <a:solidFill>
                  <a:srgbClr val="000000"/>
                </a:solidFill>
                <a:effectLst/>
                <a:uFillTx/>
                <a:latin typeface="Arial"/>
                <a:ea typeface="ＭＳ Ｐゴシック"/>
              </a:rPr>
              <a:t>. And of all those points, </a:t>
            </a:r>
            <a:r>
              <a:rPr b="0" i="1" lang="en-US" sz="2400" strike="noStrike" u="none">
                <a:solidFill>
                  <a:srgbClr val="000000"/>
                </a:solidFill>
                <a:effectLst/>
                <a:uFillTx/>
                <a:latin typeface="Arial"/>
                <a:ea typeface="ＭＳ Ｐゴシック"/>
              </a:rPr>
              <a:t>C</a:t>
            </a:r>
            <a:r>
              <a:rPr b="0" lang="en-US" sz="2400" strike="noStrike" u="none">
                <a:solidFill>
                  <a:srgbClr val="000000"/>
                </a:solidFill>
                <a:effectLst/>
                <a:uFillTx/>
                <a:latin typeface="Arial"/>
                <a:ea typeface="ＭＳ Ｐゴシック"/>
              </a:rPr>
              <a:t> is the best affordable point for Tina.</a:t>
            </a:r>
            <a:endParaRPr b="0" lang="en-US" sz="2400" strike="noStrike" u="none">
              <a:solidFill>
                <a:srgbClr val="000000"/>
              </a:solidFill>
              <a:effectLst/>
              <a:uFillTx/>
              <a:latin typeface="Arial"/>
            </a:endParaRPr>
          </a:p>
        </p:txBody>
      </p:sp>
    </p:spTree>
  </p:cSld>
  <p:transition spd="slow">
    <p:wipe dir="r"/>
  </p:transition>
  <p:timing>
    <p:tnLst>
      <p:par>
        <p:cTn id="1052" dur="indefinite" restart="never" nodeType="tmRoot">
          <p:childTnLst>
            <p:seq>
              <p:cTn id="1053" dur="indefinite" nodeType="mainSeq">
                <p:childTnLst>
                  <p:par>
                    <p:cTn id="1054" nodeType="clickEffect" fill="hold">
                      <p:stCondLst>
                        <p:cond delay="indefinite"/>
                      </p:stCondLst>
                      <p:childTnLst>
                        <p:par>
                          <p:cTn id="1055" nodeType="withEffect" fill="hold">
                            <p:stCondLst>
                              <p:cond delay="0"/>
                            </p:stCondLst>
                            <p:childTnLst>
                              <p:par>
                                <p:cTn id="1056" nodeType="clickEffect" fill="hold" presetClass="entr" presetID="22" presetSubtype="8">
                                  <p:stCondLst>
                                    <p:cond delay="0"/>
                                  </p:stCondLst>
                                  <p:childTnLst>
                                    <p:set>
                                      <p:cBhvr>
                                        <p:cTn id="1057" dur="1" fill="hold">
                                          <p:stCondLst>
                                            <p:cond delay="0"/>
                                          </p:stCondLst>
                                        </p:cTn>
                                        <p:tgtEl>
                                          <p:spTgt spid="442">
                                            <p:txEl>
                                              <p:pRg st="1" end="1"/>
                                            </p:txEl>
                                          </p:spTgt>
                                        </p:tgtEl>
                                        <p:attrNameLst>
                                          <p:attrName>style.visibility</p:attrName>
                                        </p:attrNameLst>
                                      </p:cBhvr>
                                      <p:to>
                                        <p:strVal val="visible"/>
                                      </p:to>
                                    </p:set>
                                    <p:animEffect filter="wipe(left)" transition="in">
                                      <p:cBhvr additive="repl">
                                        <p:cTn id="1058" dur="500"/>
                                        <p:tgtEl>
                                          <p:spTgt spid="442">
                                            <p:txEl>
                                              <p:pRg st="1" end="1"/>
                                            </p:txEl>
                                          </p:spTgt>
                                        </p:tgtEl>
                                      </p:cBhvr>
                                    </p:animEffect>
                                  </p:childTnLst>
                                </p:cTn>
                              </p:par>
                              <p:par>
                                <p:cTn id="1059" nodeType="withEffect" fill="hold" presetClass="entr" presetID="10">
                                  <p:stCondLst>
                                    <p:cond delay="0"/>
                                  </p:stCondLst>
                                  <p:childTnLst>
                                    <p:set>
                                      <p:cBhvr>
                                        <p:cTn id="1060" dur="1" fill="hold">
                                          <p:stCondLst>
                                            <p:cond delay="0"/>
                                          </p:stCondLst>
                                        </p:cTn>
                                        <p:tgtEl>
                                          <p:spTgt spid="440"/>
                                        </p:tgtEl>
                                        <p:attrNameLst>
                                          <p:attrName>style.visibility</p:attrName>
                                        </p:attrNameLst>
                                      </p:cBhvr>
                                      <p:to>
                                        <p:strVal val="visible"/>
                                      </p:to>
                                    </p:set>
                                    <p:animEffect filter="fade" transition="in">
                                      <p:cBhvr additive="repl">
                                        <p:cTn id="1061" dur="500"/>
                                        <p:tgtEl>
                                          <p:spTgt spid="440"/>
                                        </p:tgtEl>
                                      </p:cBhvr>
                                    </p:animEffect>
                                  </p:childTnLst>
                                </p:cTn>
                              </p:par>
                            </p:childTnLst>
                          </p:cTn>
                        </p:par>
                      </p:childTnLst>
                    </p:cTn>
                  </p:par>
                  <p:par>
                    <p:cTn id="1062" nodeType="clickEffect" fill="hold">
                      <p:stCondLst>
                        <p:cond delay="indefinite"/>
                      </p:stCondLst>
                      <p:childTnLst>
                        <p:par>
                          <p:cTn id="1063" nodeType="withEffect" fill="hold">
                            <p:stCondLst>
                              <p:cond delay="0"/>
                            </p:stCondLst>
                            <p:childTnLst>
                              <p:par>
                                <p:cTn id="1064" nodeType="clickEffect" fill="hold" presetClass="entr" presetID="22" presetSubtype="8">
                                  <p:stCondLst>
                                    <p:cond delay="0"/>
                                  </p:stCondLst>
                                  <p:childTnLst>
                                    <p:set>
                                      <p:cBhvr>
                                        <p:cTn id="1065" dur="1" fill="hold">
                                          <p:stCondLst>
                                            <p:cond delay="0"/>
                                          </p:stCondLst>
                                        </p:cTn>
                                        <p:tgtEl>
                                          <p:spTgt spid="442">
                                            <p:txEl>
                                              <p:pRg st="2" end="2"/>
                                            </p:txEl>
                                          </p:spTgt>
                                        </p:tgtEl>
                                        <p:attrNameLst>
                                          <p:attrName>style.visibility</p:attrName>
                                        </p:attrNameLst>
                                      </p:cBhvr>
                                      <p:to>
                                        <p:strVal val="visible"/>
                                      </p:to>
                                    </p:set>
                                    <p:animEffect filter="wipe(left)" transition="in">
                                      <p:cBhvr additive="repl">
                                        <p:cTn id="1066" dur="500"/>
                                        <p:tgtEl>
                                          <p:spTgt spid="442">
                                            <p:txEl>
                                              <p:pRg st="2" end="2"/>
                                            </p:txEl>
                                          </p:spTgt>
                                        </p:tgtEl>
                                      </p:cBhvr>
                                    </p:animEffect>
                                  </p:childTnLst>
                                </p:cTn>
                              </p:par>
                              <p:par>
                                <p:cTn id="1067" nodeType="withEffect" fill="hold" presetClass="entr" presetID="10">
                                  <p:stCondLst>
                                    <p:cond delay="0"/>
                                  </p:stCondLst>
                                  <p:childTnLst>
                                    <p:set>
                                      <p:cBhvr>
                                        <p:cTn id="1068" dur="1" fill="hold">
                                          <p:stCondLst>
                                            <p:cond delay="0"/>
                                          </p:stCondLst>
                                        </p:cTn>
                                        <p:tgtEl>
                                          <p:spTgt spid="441"/>
                                        </p:tgtEl>
                                        <p:attrNameLst>
                                          <p:attrName>style.visibility</p:attrName>
                                        </p:attrNameLst>
                                      </p:cBhvr>
                                      <p:to>
                                        <p:strVal val="visible"/>
                                      </p:to>
                                    </p:set>
                                    <p:animEffect filter="fade" transition="in">
                                      <p:cBhvr additive="repl">
                                        <p:cTn id="1069" dur="500"/>
                                        <p:tgtEl>
                                          <p:spTgt spid="441"/>
                                        </p:tgtEl>
                                      </p:cBhvr>
                                    </p:animEffect>
                                  </p:childTnLst>
                                </p:cTn>
                              </p:par>
                            </p:childTnLst>
                          </p:cTn>
                        </p:par>
                      </p:childTnLst>
                    </p:cTn>
                  </p:par>
                  <p:par>
                    <p:cTn id="1070" nodeType="clickEffect" fill="hold">
                      <p:stCondLst>
                        <p:cond delay="indefinite"/>
                      </p:stCondLst>
                      <p:childTnLst>
                        <p:par>
                          <p:cTn id="1071" nodeType="withEffect" fill="hold">
                            <p:stCondLst>
                              <p:cond delay="0"/>
                            </p:stCondLst>
                            <p:childTnLst>
                              <p:par>
                                <p:cTn id="1072" nodeType="clickEffect" fill="hold" presetClass="entr" presetID="22" presetSubtype="8">
                                  <p:stCondLst>
                                    <p:cond delay="0"/>
                                  </p:stCondLst>
                                  <p:childTnLst>
                                    <p:set>
                                      <p:cBhvr>
                                        <p:cTn id="1073" dur="1" fill="hold">
                                          <p:stCondLst>
                                            <p:cond delay="0"/>
                                          </p:stCondLst>
                                        </p:cTn>
                                        <p:tgtEl>
                                          <p:spTgt spid="442">
                                            <p:txEl>
                                              <p:pRg st="3" end="3"/>
                                            </p:txEl>
                                          </p:spTgt>
                                        </p:tgtEl>
                                        <p:attrNameLst>
                                          <p:attrName>style.visibility</p:attrName>
                                        </p:attrNameLst>
                                      </p:cBhvr>
                                      <p:to>
                                        <p:strVal val="visible"/>
                                      </p:to>
                                    </p:set>
                                    <p:animEffect filter="wipe(left)" transition="in">
                                      <p:cBhvr additive="repl">
                                        <p:cTn id="1074" dur="500"/>
                                        <p:tgtEl>
                                          <p:spTgt spid="442">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APPENDIX: INDIFFERENCE CURVES</a:t>
            </a:r>
            <a:endParaRPr b="0" lang="en-US" sz="2600" strike="noStrike" u="none">
              <a:solidFill>
                <a:srgbClr val="000000"/>
              </a:solidFill>
              <a:effectLst/>
              <a:uFillTx/>
              <a:latin typeface="Arial"/>
            </a:endParaRPr>
          </a:p>
        </p:txBody>
      </p:sp>
      <p:sp>
        <p:nvSpPr>
          <p:cNvPr id="444"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Deriving the Demand Curve</a:t>
            </a:r>
            <a:endParaRPr b="0" lang="en-US" sz="28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To derive Tina’s demand curve for bottled water:</a:t>
            </a:r>
            <a:endParaRPr b="0" lang="en-US" sz="2400" strike="noStrike" u="none">
              <a:solidFill>
                <a:srgbClr val="000000"/>
              </a:solidFill>
              <a:effectLst/>
              <a:uFillTx/>
              <a:latin typeface="Arial"/>
            </a:endParaRPr>
          </a:p>
          <a:p>
            <a:pPr lvl="2" marL="703080" indent="-343080">
              <a:lnSpc>
                <a:spcPct val="100000"/>
              </a:lnSpc>
              <a:spcBef>
                <a:spcPts val="601"/>
              </a:spcBef>
              <a:spcAft>
                <a:spcPts val="601"/>
              </a:spcAft>
              <a:buClr>
                <a:srgbClr val="00468f"/>
              </a:buClr>
              <a:buFont typeface="Arial"/>
              <a:buChar char="•"/>
              <a:tabLst>
                <a:tab algn="l" pos="0"/>
              </a:tabLst>
            </a:pPr>
            <a:r>
              <a:rPr b="0" lang="en-US" sz="2400" strike="noStrike" u="none">
                <a:solidFill>
                  <a:schemeClr val="dk1"/>
                </a:solidFill>
                <a:effectLst/>
                <a:uFillTx/>
                <a:latin typeface="Arial"/>
                <a:ea typeface="ＭＳ Ｐゴシック"/>
              </a:rPr>
              <a:t>Change the price of water</a:t>
            </a:r>
            <a:endParaRPr b="0" lang="en-US" sz="2400" strike="noStrike" u="none">
              <a:solidFill>
                <a:srgbClr val="000000"/>
              </a:solidFill>
              <a:effectLst/>
              <a:uFillTx/>
              <a:latin typeface="Arial"/>
            </a:endParaRPr>
          </a:p>
          <a:p>
            <a:pPr lvl="2" marL="703080" indent="-343080">
              <a:lnSpc>
                <a:spcPct val="100000"/>
              </a:lnSpc>
              <a:spcBef>
                <a:spcPts val="601"/>
              </a:spcBef>
              <a:spcAft>
                <a:spcPts val="601"/>
              </a:spcAft>
              <a:buClr>
                <a:srgbClr val="00468f"/>
              </a:buClr>
              <a:buFont typeface="Arial"/>
              <a:buChar char="•"/>
              <a:tabLst>
                <a:tab algn="l" pos="0"/>
              </a:tabLst>
            </a:pPr>
            <a:r>
              <a:rPr b="0" lang="en-US" sz="2400" strike="noStrike" u="none">
                <a:solidFill>
                  <a:schemeClr val="dk1"/>
                </a:solidFill>
                <a:effectLst/>
                <a:uFillTx/>
                <a:latin typeface="Arial"/>
                <a:ea typeface="ＭＳ Ｐゴシック"/>
              </a:rPr>
              <a:t>Shift the budget line</a:t>
            </a:r>
            <a:endParaRPr b="0" lang="en-US" sz="2400" strike="noStrike" u="none">
              <a:solidFill>
                <a:srgbClr val="000000"/>
              </a:solidFill>
              <a:effectLst/>
              <a:uFillTx/>
              <a:latin typeface="Arial"/>
            </a:endParaRPr>
          </a:p>
          <a:p>
            <a:pPr lvl="2" marL="703080" indent="-343080">
              <a:lnSpc>
                <a:spcPct val="100000"/>
              </a:lnSpc>
              <a:spcBef>
                <a:spcPts val="601"/>
              </a:spcBef>
              <a:spcAft>
                <a:spcPts val="601"/>
              </a:spcAft>
              <a:buClr>
                <a:srgbClr val="00468f"/>
              </a:buClr>
              <a:buFont typeface="Arial"/>
              <a:buChar char="•"/>
              <a:tabLst>
                <a:tab algn="l" pos="0"/>
              </a:tabLst>
            </a:pPr>
            <a:r>
              <a:rPr b="0" lang="en-US" sz="2400" strike="noStrike" u="none">
                <a:solidFill>
                  <a:schemeClr val="dk1"/>
                </a:solidFill>
                <a:effectLst/>
                <a:uFillTx/>
                <a:latin typeface="Arial"/>
                <a:ea typeface="ＭＳ Ｐゴシック"/>
              </a:rPr>
              <a:t>Work out the new best affordable point</a:t>
            </a:r>
            <a:endParaRPr b="0" lang="en-US" sz="2400" strike="noStrike" u="none">
              <a:solidFill>
                <a:srgbClr val="000000"/>
              </a:solidFill>
              <a:effectLst/>
              <a:uFillTx/>
              <a:latin typeface="Arial"/>
            </a:endParaRPr>
          </a:p>
        </p:txBody>
      </p:sp>
    </p:spTree>
  </p:cSld>
  <p:transition spd="slow">
    <p:wipe dir="r"/>
  </p:transition>
  <p:timing>
    <p:tnLst>
      <p:par>
        <p:cTn id="1075" dur="indefinite" restart="never" nodeType="tmRoot">
          <p:childTnLst>
            <p:seq>
              <p:cTn id="1076" dur="indefinite" nodeType="mainSeq">
                <p:childTnLst>
                  <p:par>
                    <p:cTn id="1077" nodeType="clickEffect" fill="hold">
                      <p:stCondLst>
                        <p:cond delay="indefinite"/>
                      </p:stCondLst>
                      <p:childTnLst>
                        <p:par>
                          <p:cTn id="1078" nodeType="withEffect" fill="hold">
                            <p:stCondLst>
                              <p:cond delay="0"/>
                            </p:stCondLst>
                            <p:childTnLst>
                              <p:par>
                                <p:cTn id="1079" nodeType="clickEffect" fill="hold" presetClass="entr" presetID="22" presetSubtype="8">
                                  <p:stCondLst>
                                    <p:cond delay="0"/>
                                  </p:stCondLst>
                                  <p:childTnLst>
                                    <p:set>
                                      <p:cBhvr>
                                        <p:cTn id="1080" dur="1" fill="hold">
                                          <p:stCondLst>
                                            <p:cond delay="0"/>
                                          </p:stCondLst>
                                        </p:cTn>
                                        <p:tgtEl>
                                          <p:spTgt spid="444">
                                            <p:txEl>
                                              <p:pRg st="1" end="1"/>
                                            </p:txEl>
                                          </p:spTgt>
                                        </p:tgtEl>
                                        <p:attrNameLst>
                                          <p:attrName>style.visibility</p:attrName>
                                        </p:attrNameLst>
                                      </p:cBhvr>
                                      <p:to>
                                        <p:strVal val="visible"/>
                                      </p:to>
                                    </p:set>
                                    <p:animEffect filter="wipe(left)" transition="in">
                                      <p:cBhvr additive="repl">
                                        <p:cTn id="1081" dur="500"/>
                                        <p:tgtEl>
                                          <p:spTgt spid="444">
                                            <p:txEl>
                                              <p:pRg st="1" end="1"/>
                                            </p:txEl>
                                          </p:spTgt>
                                        </p:tgtEl>
                                      </p:cBhvr>
                                    </p:animEffect>
                                  </p:childTnLst>
                                </p:cTn>
                              </p:par>
                            </p:childTnLst>
                          </p:cTn>
                        </p:par>
                      </p:childTnLst>
                    </p:cTn>
                  </p:par>
                  <p:par>
                    <p:cTn id="1082" nodeType="clickEffect" fill="hold">
                      <p:stCondLst>
                        <p:cond delay="indefinite"/>
                      </p:stCondLst>
                      <p:childTnLst>
                        <p:par>
                          <p:cTn id="1083" nodeType="withEffect" fill="hold">
                            <p:stCondLst>
                              <p:cond delay="0"/>
                            </p:stCondLst>
                            <p:childTnLst>
                              <p:par>
                                <p:cTn id="1084" nodeType="clickEffect" fill="hold" presetClass="entr" presetID="22" presetSubtype="8">
                                  <p:stCondLst>
                                    <p:cond delay="0"/>
                                  </p:stCondLst>
                                  <p:childTnLst>
                                    <p:set>
                                      <p:cBhvr>
                                        <p:cTn id="1085" dur="1" fill="hold">
                                          <p:stCondLst>
                                            <p:cond delay="0"/>
                                          </p:stCondLst>
                                        </p:cTn>
                                        <p:tgtEl>
                                          <p:spTgt spid="444">
                                            <p:txEl>
                                              <p:pRg st="2" end="2"/>
                                            </p:txEl>
                                          </p:spTgt>
                                        </p:tgtEl>
                                        <p:attrNameLst>
                                          <p:attrName>style.visibility</p:attrName>
                                        </p:attrNameLst>
                                      </p:cBhvr>
                                      <p:to>
                                        <p:strVal val="visible"/>
                                      </p:to>
                                    </p:set>
                                    <p:animEffect filter="wipe(left)" transition="in">
                                      <p:cBhvr additive="repl">
                                        <p:cTn id="1086" dur="500"/>
                                        <p:tgtEl>
                                          <p:spTgt spid="444">
                                            <p:txEl>
                                              <p:pRg st="2" end="2"/>
                                            </p:txEl>
                                          </p:spTgt>
                                        </p:tgtEl>
                                      </p:cBhvr>
                                    </p:animEffect>
                                  </p:childTnLst>
                                </p:cTn>
                              </p:par>
                            </p:childTnLst>
                          </p:cTn>
                        </p:par>
                      </p:childTnLst>
                    </p:cTn>
                  </p:par>
                  <p:par>
                    <p:cTn id="1087" nodeType="clickEffect" fill="hold">
                      <p:stCondLst>
                        <p:cond delay="indefinite"/>
                      </p:stCondLst>
                      <p:childTnLst>
                        <p:par>
                          <p:cTn id="1088" nodeType="withEffect" fill="hold">
                            <p:stCondLst>
                              <p:cond delay="0"/>
                            </p:stCondLst>
                            <p:childTnLst>
                              <p:par>
                                <p:cTn id="1089" nodeType="clickEffect" fill="hold" presetClass="entr" presetID="22" presetSubtype="8">
                                  <p:stCondLst>
                                    <p:cond delay="0"/>
                                  </p:stCondLst>
                                  <p:childTnLst>
                                    <p:set>
                                      <p:cBhvr>
                                        <p:cTn id="1090" dur="1" fill="hold">
                                          <p:stCondLst>
                                            <p:cond delay="0"/>
                                          </p:stCondLst>
                                        </p:cTn>
                                        <p:tgtEl>
                                          <p:spTgt spid="444">
                                            <p:txEl>
                                              <p:pRg st="3" end="3"/>
                                            </p:txEl>
                                          </p:spTgt>
                                        </p:tgtEl>
                                        <p:attrNameLst>
                                          <p:attrName>style.visibility</p:attrName>
                                        </p:attrNameLst>
                                      </p:cBhvr>
                                      <p:to>
                                        <p:strVal val="visible"/>
                                      </p:to>
                                    </p:set>
                                    <p:animEffect filter="wipe(left)" transition="in">
                                      <p:cBhvr additive="repl">
                                        <p:cTn id="1091" dur="500"/>
                                        <p:tgtEl>
                                          <p:spTgt spid="444">
                                            <p:txEl>
                                              <p:pRg st="3" end="3"/>
                                            </p:txEl>
                                          </p:spTgt>
                                        </p:tgtEl>
                                      </p:cBhvr>
                                    </p:animEffect>
                                  </p:childTnLst>
                                </p:cTn>
                              </p:par>
                            </p:childTnLst>
                          </p:cTn>
                        </p:par>
                      </p:childTnLst>
                    </p:cTn>
                  </p:par>
                  <p:par>
                    <p:cTn id="1092" nodeType="clickEffect" fill="hold">
                      <p:stCondLst>
                        <p:cond delay="indefinite"/>
                      </p:stCondLst>
                      <p:childTnLst>
                        <p:par>
                          <p:cTn id="1093" nodeType="withEffect" fill="hold">
                            <p:stCondLst>
                              <p:cond delay="0"/>
                            </p:stCondLst>
                            <p:childTnLst>
                              <p:par>
                                <p:cTn id="1094" nodeType="clickEffect" fill="hold" presetClass="entr" presetID="22" presetSubtype="8">
                                  <p:stCondLst>
                                    <p:cond delay="0"/>
                                  </p:stCondLst>
                                  <p:childTnLst>
                                    <p:set>
                                      <p:cBhvr>
                                        <p:cTn id="1095" dur="1" fill="hold">
                                          <p:stCondLst>
                                            <p:cond delay="0"/>
                                          </p:stCondLst>
                                        </p:cTn>
                                        <p:tgtEl>
                                          <p:spTgt spid="444">
                                            <p:txEl>
                                              <p:pRg st="4" end="4"/>
                                            </p:txEl>
                                          </p:spTgt>
                                        </p:tgtEl>
                                        <p:attrNameLst>
                                          <p:attrName>style.visibility</p:attrName>
                                        </p:attrNameLst>
                                      </p:cBhvr>
                                      <p:to>
                                        <p:strVal val="visible"/>
                                      </p:to>
                                    </p:set>
                                    <p:animEffect filter="wipe(left)" transition="in">
                                      <p:cBhvr additive="repl">
                                        <p:cTn id="1096" dur="500"/>
                                        <p:tgtEl>
                                          <p:spTgt spid="444">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5"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APPENDIX: INDIFFERENCE</a:t>
            </a:r>
            <a:endParaRPr b="0" lang="en-US" sz="2600" strike="noStrike" u="none">
              <a:solidFill>
                <a:srgbClr val="000000"/>
              </a:solidFill>
              <a:effectLst/>
              <a:uFillTx/>
              <a:latin typeface="Arial"/>
            </a:endParaRPr>
          </a:p>
        </p:txBody>
      </p:sp>
      <p:sp>
        <p:nvSpPr>
          <p:cNvPr id="446" name="PlaceHolder 2"/>
          <p:cNvSpPr>
            <a:spLocks noGrp="1"/>
          </p:cNvSpPr>
          <p:nvPr>
            <p:ph/>
          </p:nvPr>
        </p:nvSpPr>
        <p:spPr>
          <a:xfrm>
            <a:off x="360360" y="1440000"/>
            <a:ext cx="459180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Figure A13.4 shows how to derive Tina’s demand curve.</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When the price of water is $1 a bottle, Tina’s best affordable point is </a:t>
            </a:r>
            <a:r>
              <a:rPr b="0" i="1" lang="en-US" sz="2400" strike="noStrike" u="none">
                <a:solidFill>
                  <a:srgbClr val="000000"/>
                </a:solidFill>
                <a:effectLst/>
                <a:uFillTx/>
                <a:latin typeface="Arial"/>
                <a:ea typeface="ＭＳ Ｐゴシック"/>
              </a:rPr>
              <a:t>C</a:t>
            </a:r>
            <a:r>
              <a:rPr b="0" lang="en-US" sz="2400" strike="noStrike" u="none">
                <a:solidFill>
                  <a:srgbClr val="000000"/>
                </a:solidFill>
                <a:effectLst/>
                <a:uFillTx/>
                <a:latin typeface="Arial"/>
                <a:ea typeface="ＭＳ Ｐゴシック"/>
              </a:rPr>
              <a:t> in part (a) and at point </a:t>
            </a:r>
            <a:r>
              <a:rPr b="0" i="1" lang="en-US" sz="2400" strike="noStrike" u="none">
                <a:solidFill>
                  <a:srgbClr val="000000"/>
                </a:solidFill>
                <a:effectLst/>
                <a:uFillTx/>
                <a:latin typeface="Arial"/>
                <a:ea typeface="ＭＳ Ｐゴシック"/>
              </a:rPr>
              <a:t>A</a:t>
            </a:r>
            <a:r>
              <a:rPr b="0" lang="en-US" sz="2400" strike="noStrike" u="none">
                <a:solidFill>
                  <a:srgbClr val="000000"/>
                </a:solidFill>
                <a:effectLst/>
                <a:uFillTx/>
                <a:latin typeface="Arial"/>
                <a:ea typeface="ＭＳ Ｐゴシック"/>
              </a:rPr>
              <a:t> on her demand curve in part (b).</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When the price of water is 50¢ a bottle, Tina’s best affordable point is </a:t>
            </a:r>
            <a:r>
              <a:rPr b="0" i="1" lang="en-US" sz="2400" strike="noStrike" u="none">
                <a:solidFill>
                  <a:srgbClr val="000000"/>
                </a:solidFill>
                <a:effectLst/>
                <a:uFillTx/>
                <a:latin typeface="Arial"/>
                <a:ea typeface="ＭＳ Ｐゴシック"/>
              </a:rPr>
              <a:t>K</a:t>
            </a:r>
            <a:r>
              <a:rPr b="0" lang="en-US" sz="2400" strike="noStrike" u="none">
                <a:solidFill>
                  <a:srgbClr val="000000"/>
                </a:solidFill>
                <a:effectLst/>
                <a:uFillTx/>
                <a:latin typeface="Arial"/>
                <a:ea typeface="ＭＳ Ｐゴシック"/>
              </a:rPr>
              <a:t> in part (a) and at point </a:t>
            </a:r>
            <a:r>
              <a:rPr b="0" i="1" lang="en-US" sz="2400" strike="noStrike" u="none">
                <a:solidFill>
                  <a:srgbClr val="000000"/>
                </a:solidFill>
                <a:effectLst/>
                <a:uFillTx/>
                <a:latin typeface="Arial"/>
                <a:ea typeface="ＭＳ Ｐゴシック"/>
              </a:rPr>
              <a:t>B</a:t>
            </a:r>
            <a:r>
              <a:rPr b="0" lang="en-US" sz="2400" strike="noStrike" u="none">
                <a:solidFill>
                  <a:srgbClr val="000000"/>
                </a:solidFill>
                <a:effectLst/>
                <a:uFillTx/>
                <a:latin typeface="Arial"/>
                <a:ea typeface="ＭＳ Ｐゴシック"/>
              </a:rPr>
              <a:t> on her demand curve in part (b).</a:t>
            </a:r>
            <a:endParaRPr b="0" lang="en-US" sz="2400" strike="noStrike" u="none">
              <a:solidFill>
                <a:srgbClr val="000000"/>
              </a:solidFill>
              <a:effectLst/>
              <a:uFillTx/>
              <a:latin typeface="Arial"/>
            </a:endParaRPr>
          </a:p>
        </p:txBody>
      </p:sp>
      <p:pic>
        <p:nvPicPr>
          <p:cNvPr id="447" name="Picture 112" descr="apx1204a.gif"/>
          <p:cNvPicPr/>
          <p:nvPr/>
        </p:nvPicPr>
        <p:blipFill>
          <a:blip r:embed="rId1"/>
          <a:stretch/>
        </p:blipFill>
        <p:spPr>
          <a:xfrm>
            <a:off x="5400720" y="1152360"/>
            <a:ext cx="2928240" cy="5562000"/>
          </a:xfrm>
          <a:prstGeom prst="rect">
            <a:avLst/>
          </a:prstGeom>
          <a:noFill/>
          <a:ln w="0">
            <a:noFill/>
          </a:ln>
        </p:spPr>
      </p:pic>
      <p:pic>
        <p:nvPicPr>
          <p:cNvPr id="448" name="Picture 113" descr="apx1204b.gif"/>
          <p:cNvPicPr/>
          <p:nvPr/>
        </p:nvPicPr>
        <p:blipFill>
          <a:blip r:embed="rId2"/>
          <a:stretch/>
        </p:blipFill>
        <p:spPr>
          <a:xfrm>
            <a:off x="5400720" y="1152360"/>
            <a:ext cx="2928240" cy="5562000"/>
          </a:xfrm>
          <a:prstGeom prst="rect">
            <a:avLst/>
          </a:prstGeom>
          <a:noFill/>
          <a:ln w="0">
            <a:noFill/>
          </a:ln>
        </p:spPr>
      </p:pic>
      <p:pic>
        <p:nvPicPr>
          <p:cNvPr id="449" name="Picture 114" descr="apx1204c.gif"/>
          <p:cNvPicPr/>
          <p:nvPr/>
        </p:nvPicPr>
        <p:blipFill>
          <a:blip r:embed="rId3"/>
          <a:stretch/>
        </p:blipFill>
        <p:spPr>
          <a:xfrm>
            <a:off x="5400720" y="1152360"/>
            <a:ext cx="2928240" cy="5562000"/>
          </a:xfrm>
          <a:prstGeom prst="rect">
            <a:avLst/>
          </a:prstGeom>
          <a:noFill/>
          <a:ln w="0">
            <a:noFill/>
          </a:ln>
        </p:spPr>
      </p:pic>
      <p:pic>
        <p:nvPicPr>
          <p:cNvPr id="450" name="Picture 115" descr="apx1204d.gif"/>
          <p:cNvPicPr/>
          <p:nvPr/>
        </p:nvPicPr>
        <p:blipFill>
          <a:blip r:embed="rId4"/>
          <a:stretch/>
        </p:blipFill>
        <p:spPr>
          <a:xfrm>
            <a:off x="5400720" y="1152360"/>
            <a:ext cx="2928240" cy="5562000"/>
          </a:xfrm>
          <a:prstGeom prst="rect">
            <a:avLst/>
          </a:prstGeom>
          <a:noFill/>
          <a:ln w="0">
            <a:noFill/>
          </a:ln>
        </p:spPr>
      </p:pic>
      <p:pic>
        <p:nvPicPr>
          <p:cNvPr id="451" name="Picture 116" descr="apx1204e.gif"/>
          <p:cNvPicPr/>
          <p:nvPr/>
        </p:nvPicPr>
        <p:blipFill>
          <a:blip r:embed="rId5"/>
          <a:stretch/>
        </p:blipFill>
        <p:spPr>
          <a:xfrm>
            <a:off x="5400720" y="1152360"/>
            <a:ext cx="2928240" cy="5562000"/>
          </a:xfrm>
          <a:prstGeom prst="rect">
            <a:avLst/>
          </a:prstGeom>
          <a:noFill/>
          <a:ln w="0">
            <a:noFill/>
          </a:ln>
        </p:spPr>
      </p:pic>
    </p:spTree>
  </p:cSld>
  <p:transition spd="slow">
    <p:wipe dir="r"/>
  </p:transition>
  <p:timing>
    <p:tnLst>
      <p:par>
        <p:cTn id="1097" dur="indefinite" restart="never" nodeType="tmRoot">
          <p:childTnLst>
            <p:seq>
              <p:cTn id="1098" dur="indefinite" nodeType="mainSeq">
                <p:childTnLst>
                  <p:par>
                    <p:cTn id="1099" nodeType="clickEffect" fill="hold">
                      <p:stCondLst>
                        <p:cond delay="indefinite"/>
                      </p:stCondLst>
                      <p:childTnLst>
                        <p:par>
                          <p:cTn id="1100" nodeType="withEffect" fill="hold">
                            <p:stCondLst>
                              <p:cond delay="0"/>
                            </p:stCondLst>
                            <p:childTnLst>
                              <p:par>
                                <p:cTn id="1101" nodeType="clickEffect" fill="hold" presetClass="entr" presetID="22" presetSubtype="8">
                                  <p:stCondLst>
                                    <p:cond delay="0"/>
                                  </p:stCondLst>
                                  <p:childTnLst>
                                    <p:set>
                                      <p:cBhvr>
                                        <p:cTn id="1102" dur="1" fill="hold">
                                          <p:stCondLst>
                                            <p:cond delay="0"/>
                                          </p:stCondLst>
                                        </p:cTn>
                                        <p:tgtEl>
                                          <p:spTgt spid="446">
                                            <p:txEl>
                                              <p:pRg st="1" end="1"/>
                                            </p:txEl>
                                          </p:spTgt>
                                        </p:tgtEl>
                                        <p:attrNameLst>
                                          <p:attrName>style.visibility</p:attrName>
                                        </p:attrNameLst>
                                      </p:cBhvr>
                                      <p:to>
                                        <p:strVal val="visible"/>
                                      </p:to>
                                    </p:set>
                                    <p:animEffect filter="wipe(left)" transition="in">
                                      <p:cBhvr additive="repl">
                                        <p:cTn id="1103" dur="500"/>
                                        <p:tgtEl>
                                          <p:spTgt spid="446">
                                            <p:txEl>
                                              <p:pRg st="1" end="1"/>
                                            </p:txEl>
                                          </p:spTgt>
                                        </p:tgtEl>
                                      </p:cBhvr>
                                    </p:animEffect>
                                  </p:childTnLst>
                                </p:cTn>
                              </p:par>
                              <p:par>
                                <p:cTn id="1104" nodeType="withEffect" fill="hold" presetClass="entr" presetID="22" presetSubtype="8">
                                  <p:stCondLst>
                                    <p:cond delay="0"/>
                                  </p:stCondLst>
                                  <p:childTnLst>
                                    <p:set>
                                      <p:cBhvr>
                                        <p:cTn id="1105" dur="1" fill="hold">
                                          <p:stCondLst>
                                            <p:cond delay="0"/>
                                          </p:stCondLst>
                                        </p:cTn>
                                        <p:tgtEl>
                                          <p:spTgt spid="448"/>
                                        </p:tgtEl>
                                        <p:attrNameLst>
                                          <p:attrName>style.visibility</p:attrName>
                                        </p:attrNameLst>
                                      </p:cBhvr>
                                      <p:to>
                                        <p:strVal val="visible"/>
                                      </p:to>
                                    </p:set>
                                    <p:animEffect filter="wipe(left)" transition="in">
                                      <p:cBhvr additive="repl">
                                        <p:cTn id="1106" dur="1000"/>
                                        <p:tgtEl>
                                          <p:spTgt spid="448"/>
                                        </p:tgtEl>
                                      </p:cBhvr>
                                    </p:animEffect>
                                  </p:childTnLst>
                                </p:cTn>
                              </p:par>
                              <p:par>
                                <p:cTn id="1107" nodeType="withEffect" fill="hold" presetClass="entr" presetID="22" presetSubtype="8">
                                  <p:stCondLst>
                                    <p:cond delay="700"/>
                                  </p:stCondLst>
                                  <p:childTnLst>
                                    <p:set>
                                      <p:cBhvr>
                                        <p:cTn id="1108" dur="1" fill="hold">
                                          <p:stCondLst>
                                            <p:cond delay="0"/>
                                          </p:stCondLst>
                                        </p:cTn>
                                        <p:tgtEl>
                                          <p:spTgt spid="449"/>
                                        </p:tgtEl>
                                        <p:attrNameLst>
                                          <p:attrName>style.visibility</p:attrName>
                                        </p:attrNameLst>
                                      </p:cBhvr>
                                      <p:to>
                                        <p:strVal val="visible"/>
                                      </p:to>
                                    </p:set>
                                    <p:animEffect filter="wipe(left)" transition="in">
                                      <p:cBhvr additive="repl">
                                        <p:cTn id="1109" dur="1000"/>
                                        <p:tgtEl>
                                          <p:spTgt spid="449"/>
                                        </p:tgtEl>
                                      </p:cBhvr>
                                    </p:animEffect>
                                  </p:childTnLst>
                                </p:cTn>
                              </p:par>
                            </p:childTnLst>
                          </p:cTn>
                        </p:par>
                      </p:childTnLst>
                    </p:cTn>
                  </p:par>
                  <p:par>
                    <p:cTn id="1110" nodeType="clickEffect" fill="hold">
                      <p:stCondLst>
                        <p:cond delay="indefinite"/>
                      </p:stCondLst>
                      <p:childTnLst>
                        <p:par>
                          <p:cTn id="1111" nodeType="withEffect" fill="hold">
                            <p:stCondLst>
                              <p:cond delay="0"/>
                            </p:stCondLst>
                            <p:childTnLst>
                              <p:par>
                                <p:cTn id="1112" nodeType="clickEffect" fill="hold" presetClass="entr" presetID="22" presetSubtype="8">
                                  <p:stCondLst>
                                    <p:cond delay="0"/>
                                  </p:stCondLst>
                                  <p:childTnLst>
                                    <p:set>
                                      <p:cBhvr>
                                        <p:cTn id="1113" dur="1" fill="hold">
                                          <p:stCondLst>
                                            <p:cond delay="0"/>
                                          </p:stCondLst>
                                        </p:cTn>
                                        <p:tgtEl>
                                          <p:spTgt spid="446">
                                            <p:txEl>
                                              <p:pRg st="2" end="2"/>
                                            </p:txEl>
                                          </p:spTgt>
                                        </p:tgtEl>
                                        <p:attrNameLst>
                                          <p:attrName>style.visibility</p:attrName>
                                        </p:attrNameLst>
                                      </p:cBhvr>
                                      <p:to>
                                        <p:strVal val="visible"/>
                                      </p:to>
                                    </p:set>
                                    <p:animEffect filter="wipe(left)" transition="in">
                                      <p:cBhvr additive="repl">
                                        <p:cTn id="1114" dur="500"/>
                                        <p:tgtEl>
                                          <p:spTgt spid="446">
                                            <p:txEl>
                                              <p:pRg st="2" end="2"/>
                                            </p:txEl>
                                          </p:spTgt>
                                        </p:tgtEl>
                                      </p:cBhvr>
                                    </p:animEffect>
                                  </p:childTnLst>
                                </p:cTn>
                              </p:par>
                              <p:par>
                                <p:cTn id="1115" nodeType="withEffect" fill="hold" presetClass="entr" presetID="22" presetSubtype="8">
                                  <p:stCondLst>
                                    <p:cond delay="0"/>
                                  </p:stCondLst>
                                  <p:childTnLst>
                                    <p:set>
                                      <p:cBhvr>
                                        <p:cTn id="1116" dur="1" fill="hold">
                                          <p:stCondLst>
                                            <p:cond delay="0"/>
                                          </p:stCondLst>
                                        </p:cTn>
                                        <p:tgtEl>
                                          <p:spTgt spid="450"/>
                                        </p:tgtEl>
                                        <p:attrNameLst>
                                          <p:attrName>style.visibility</p:attrName>
                                        </p:attrNameLst>
                                      </p:cBhvr>
                                      <p:to>
                                        <p:strVal val="visible"/>
                                      </p:to>
                                    </p:set>
                                    <p:animEffect filter="wipe(left)" transition="in">
                                      <p:cBhvr additive="repl">
                                        <p:cTn id="1117" dur="1000"/>
                                        <p:tgtEl>
                                          <p:spTgt spid="450"/>
                                        </p:tgtEl>
                                      </p:cBhvr>
                                    </p:animEffect>
                                  </p:childTnLst>
                                </p:cTn>
                              </p:par>
                              <p:par>
                                <p:cTn id="1118" nodeType="withEffect" fill="hold" presetClass="entr" presetID="22" presetSubtype="8">
                                  <p:stCondLst>
                                    <p:cond delay="600"/>
                                  </p:stCondLst>
                                  <p:childTnLst>
                                    <p:set>
                                      <p:cBhvr>
                                        <p:cTn id="1119" dur="1" fill="hold">
                                          <p:stCondLst>
                                            <p:cond delay="0"/>
                                          </p:stCondLst>
                                        </p:cTn>
                                        <p:tgtEl>
                                          <p:spTgt spid="451"/>
                                        </p:tgtEl>
                                        <p:attrNameLst>
                                          <p:attrName>style.visibility</p:attrName>
                                        </p:attrNameLst>
                                      </p:cBhvr>
                                      <p:to>
                                        <p:strVal val="visible"/>
                                      </p:to>
                                    </p:set>
                                    <p:animEffect filter="wipe(left)" transition="in">
                                      <p:cBhvr additive="repl">
                                        <p:cTn id="1120" dur="1000"/>
                                        <p:tgtEl>
                                          <p:spTgt spid="4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452" name="Picture 117" descr="apx1204a.gif"/>
          <p:cNvPicPr/>
          <p:nvPr/>
        </p:nvPicPr>
        <p:blipFill>
          <a:blip r:embed="rId1"/>
          <a:stretch/>
        </p:blipFill>
        <p:spPr>
          <a:xfrm>
            <a:off x="3048120" y="152280"/>
            <a:ext cx="3409200" cy="6476400"/>
          </a:xfrm>
          <a:prstGeom prst="rect">
            <a:avLst/>
          </a:prstGeom>
          <a:noFill/>
          <a:ln w="0">
            <a:noFill/>
          </a:ln>
        </p:spPr>
      </p:pic>
      <p:pic>
        <p:nvPicPr>
          <p:cNvPr id="453" name="Picture 118" descr="apx1204b.gif"/>
          <p:cNvPicPr/>
          <p:nvPr/>
        </p:nvPicPr>
        <p:blipFill>
          <a:blip r:embed="rId2"/>
          <a:stretch/>
        </p:blipFill>
        <p:spPr>
          <a:xfrm>
            <a:off x="3048120" y="152280"/>
            <a:ext cx="3409200" cy="6476400"/>
          </a:xfrm>
          <a:prstGeom prst="rect">
            <a:avLst/>
          </a:prstGeom>
          <a:noFill/>
          <a:ln w="0">
            <a:noFill/>
          </a:ln>
        </p:spPr>
      </p:pic>
      <p:pic>
        <p:nvPicPr>
          <p:cNvPr id="454" name="Picture 119" descr="apx1204c.gif"/>
          <p:cNvPicPr/>
          <p:nvPr/>
        </p:nvPicPr>
        <p:blipFill>
          <a:blip r:embed="rId3"/>
          <a:stretch/>
        </p:blipFill>
        <p:spPr>
          <a:xfrm>
            <a:off x="3048120" y="152280"/>
            <a:ext cx="3409200" cy="6476400"/>
          </a:xfrm>
          <a:prstGeom prst="rect">
            <a:avLst/>
          </a:prstGeom>
          <a:noFill/>
          <a:ln w="0">
            <a:noFill/>
          </a:ln>
        </p:spPr>
      </p:pic>
      <p:pic>
        <p:nvPicPr>
          <p:cNvPr id="455" name="Picture 120" descr="apx1204d.gif"/>
          <p:cNvPicPr/>
          <p:nvPr/>
        </p:nvPicPr>
        <p:blipFill>
          <a:blip r:embed="rId4"/>
          <a:stretch/>
        </p:blipFill>
        <p:spPr>
          <a:xfrm>
            <a:off x="3048120" y="152280"/>
            <a:ext cx="3409200" cy="6476400"/>
          </a:xfrm>
          <a:prstGeom prst="rect">
            <a:avLst/>
          </a:prstGeom>
          <a:noFill/>
          <a:ln w="0">
            <a:noFill/>
          </a:ln>
        </p:spPr>
      </p:pic>
      <p:pic>
        <p:nvPicPr>
          <p:cNvPr id="456" name="Picture 121" descr="apx1204e.gif"/>
          <p:cNvPicPr/>
          <p:nvPr/>
        </p:nvPicPr>
        <p:blipFill>
          <a:blip r:embed="rId5"/>
          <a:stretch/>
        </p:blipFill>
        <p:spPr>
          <a:xfrm>
            <a:off x="3048120" y="152280"/>
            <a:ext cx="3409200" cy="6476400"/>
          </a:xfrm>
          <a:prstGeom prst="rect">
            <a:avLst/>
          </a:prstGeom>
          <a:noFill/>
          <a:ln w="0">
            <a:noFill/>
          </a:ln>
        </p:spPr>
      </p:pic>
      <p:pic>
        <p:nvPicPr>
          <p:cNvPr id="457" name="Picture 122" descr="apx1204f.gif"/>
          <p:cNvPicPr/>
          <p:nvPr/>
        </p:nvPicPr>
        <p:blipFill>
          <a:blip r:embed="rId6"/>
          <a:stretch/>
        </p:blipFill>
        <p:spPr>
          <a:xfrm>
            <a:off x="3048120" y="152280"/>
            <a:ext cx="3409200" cy="6476400"/>
          </a:xfrm>
          <a:prstGeom prst="rect">
            <a:avLst/>
          </a:prstGeom>
          <a:noFill/>
          <a:ln w="0">
            <a:noFill/>
          </a:ln>
        </p:spPr>
      </p:pic>
      <p:pic>
        <p:nvPicPr>
          <p:cNvPr id="458" name="Picture 123" descr="apx1204g.gif"/>
          <p:cNvPicPr/>
          <p:nvPr/>
        </p:nvPicPr>
        <p:blipFill>
          <a:blip r:embed="rId7"/>
          <a:stretch/>
        </p:blipFill>
        <p:spPr>
          <a:xfrm>
            <a:off x="3048120" y="152280"/>
            <a:ext cx="3409200" cy="6476400"/>
          </a:xfrm>
          <a:prstGeom prst="rect">
            <a:avLst/>
          </a:prstGeom>
          <a:noFill/>
          <a:ln w="0">
            <a:noFill/>
          </a:ln>
        </p:spPr>
      </p:pic>
    </p:spTree>
  </p:cSld>
  <p:transition spd="slow">
    <p:wipe dir="r"/>
  </p:transition>
  <p:timing>
    <p:tnLst>
      <p:par>
        <p:cTn id="1121" dur="indefinite" restart="never" nodeType="tmRoot">
          <p:childTnLst>
            <p:seq>
              <p:cTn id="1122" dur="indefinite" nodeType="mainSeq">
                <p:childTnLst>
                  <p:par>
                    <p:cTn id="1123" nodeType="clickEffect" fill="hold">
                      <p:stCondLst>
                        <p:cond delay="indefinite"/>
                      </p:stCondLst>
                      <p:childTnLst>
                        <p:par>
                          <p:cTn id="1124" nodeType="withEffect" fill="hold">
                            <p:stCondLst>
                              <p:cond delay="0"/>
                            </p:stCondLst>
                            <p:childTnLst>
                              <p:par>
                                <p:cTn id="1125" nodeType="clickEffect" fill="hold" presetClass="entr" presetID="22" presetSubtype="8">
                                  <p:stCondLst>
                                    <p:cond delay="0"/>
                                  </p:stCondLst>
                                  <p:childTnLst>
                                    <p:set>
                                      <p:cBhvr>
                                        <p:cTn id="1126" dur="1" fill="hold">
                                          <p:stCondLst>
                                            <p:cond delay="0"/>
                                          </p:stCondLst>
                                        </p:cTn>
                                        <p:tgtEl>
                                          <p:spTgt spid="453"/>
                                        </p:tgtEl>
                                        <p:attrNameLst>
                                          <p:attrName>style.visibility</p:attrName>
                                        </p:attrNameLst>
                                      </p:cBhvr>
                                      <p:to>
                                        <p:strVal val="visible"/>
                                      </p:to>
                                    </p:set>
                                    <p:animEffect filter="wipe(left)" transition="in">
                                      <p:cBhvr additive="repl">
                                        <p:cTn id="1127" dur="1000"/>
                                        <p:tgtEl>
                                          <p:spTgt spid="453"/>
                                        </p:tgtEl>
                                      </p:cBhvr>
                                    </p:animEffect>
                                  </p:childTnLst>
                                </p:cTn>
                              </p:par>
                            </p:childTnLst>
                          </p:cTn>
                        </p:par>
                      </p:childTnLst>
                    </p:cTn>
                  </p:par>
                  <p:par>
                    <p:cTn id="1128" nodeType="clickEffect" fill="hold">
                      <p:stCondLst>
                        <p:cond delay="indefinite"/>
                      </p:stCondLst>
                      <p:childTnLst>
                        <p:par>
                          <p:cTn id="1129" nodeType="withEffect" fill="hold">
                            <p:stCondLst>
                              <p:cond delay="0"/>
                            </p:stCondLst>
                            <p:childTnLst>
                              <p:par>
                                <p:cTn id="1130" nodeType="clickEffect" fill="hold" presetClass="entr" presetID="22" presetSubtype="8">
                                  <p:stCondLst>
                                    <p:cond delay="0"/>
                                  </p:stCondLst>
                                  <p:childTnLst>
                                    <p:set>
                                      <p:cBhvr>
                                        <p:cTn id="1131" dur="1" fill="hold">
                                          <p:stCondLst>
                                            <p:cond delay="0"/>
                                          </p:stCondLst>
                                        </p:cTn>
                                        <p:tgtEl>
                                          <p:spTgt spid="454"/>
                                        </p:tgtEl>
                                        <p:attrNameLst>
                                          <p:attrName>style.visibility</p:attrName>
                                        </p:attrNameLst>
                                      </p:cBhvr>
                                      <p:to>
                                        <p:strVal val="visible"/>
                                      </p:to>
                                    </p:set>
                                    <p:animEffect filter="wipe(left)" transition="in">
                                      <p:cBhvr additive="repl">
                                        <p:cTn id="1132" dur="1000"/>
                                        <p:tgtEl>
                                          <p:spTgt spid="454"/>
                                        </p:tgtEl>
                                      </p:cBhvr>
                                    </p:animEffect>
                                  </p:childTnLst>
                                </p:cTn>
                              </p:par>
                            </p:childTnLst>
                          </p:cTn>
                        </p:par>
                      </p:childTnLst>
                    </p:cTn>
                  </p:par>
                  <p:par>
                    <p:cTn id="1133" nodeType="clickEffect" fill="hold">
                      <p:stCondLst>
                        <p:cond delay="indefinite"/>
                      </p:stCondLst>
                      <p:childTnLst>
                        <p:par>
                          <p:cTn id="1134" nodeType="withEffect" fill="hold">
                            <p:stCondLst>
                              <p:cond delay="0"/>
                            </p:stCondLst>
                            <p:childTnLst>
                              <p:par>
                                <p:cTn id="1135" nodeType="clickEffect" fill="hold" presetClass="entr" presetID="22" presetSubtype="8">
                                  <p:stCondLst>
                                    <p:cond delay="0"/>
                                  </p:stCondLst>
                                  <p:childTnLst>
                                    <p:set>
                                      <p:cBhvr>
                                        <p:cTn id="1136" dur="1" fill="hold">
                                          <p:stCondLst>
                                            <p:cond delay="0"/>
                                          </p:stCondLst>
                                        </p:cTn>
                                        <p:tgtEl>
                                          <p:spTgt spid="455"/>
                                        </p:tgtEl>
                                        <p:attrNameLst>
                                          <p:attrName>style.visibility</p:attrName>
                                        </p:attrNameLst>
                                      </p:cBhvr>
                                      <p:to>
                                        <p:strVal val="visible"/>
                                      </p:to>
                                    </p:set>
                                    <p:animEffect filter="wipe(left)" transition="in">
                                      <p:cBhvr additive="repl">
                                        <p:cTn id="1137" dur="1000"/>
                                        <p:tgtEl>
                                          <p:spTgt spid="455"/>
                                        </p:tgtEl>
                                      </p:cBhvr>
                                    </p:animEffect>
                                  </p:childTnLst>
                                </p:cTn>
                              </p:par>
                            </p:childTnLst>
                          </p:cTn>
                        </p:par>
                      </p:childTnLst>
                    </p:cTn>
                  </p:par>
                  <p:par>
                    <p:cTn id="1138" nodeType="clickEffect" fill="hold">
                      <p:stCondLst>
                        <p:cond delay="indefinite"/>
                      </p:stCondLst>
                      <p:childTnLst>
                        <p:par>
                          <p:cTn id="1139" nodeType="withEffect" fill="hold">
                            <p:stCondLst>
                              <p:cond delay="0"/>
                            </p:stCondLst>
                            <p:childTnLst>
                              <p:par>
                                <p:cTn id="1140" nodeType="clickEffect" fill="hold" presetClass="entr" presetID="22" presetSubtype="8">
                                  <p:stCondLst>
                                    <p:cond delay="0"/>
                                  </p:stCondLst>
                                  <p:childTnLst>
                                    <p:set>
                                      <p:cBhvr>
                                        <p:cTn id="1141" dur="1" fill="hold">
                                          <p:stCondLst>
                                            <p:cond delay="0"/>
                                          </p:stCondLst>
                                        </p:cTn>
                                        <p:tgtEl>
                                          <p:spTgt spid="456"/>
                                        </p:tgtEl>
                                        <p:attrNameLst>
                                          <p:attrName>style.visibility</p:attrName>
                                        </p:attrNameLst>
                                      </p:cBhvr>
                                      <p:to>
                                        <p:strVal val="visible"/>
                                      </p:to>
                                    </p:set>
                                    <p:animEffect filter="wipe(left)" transition="in">
                                      <p:cBhvr additive="repl">
                                        <p:cTn id="1142" dur="1000"/>
                                        <p:tgtEl>
                                          <p:spTgt spid="456"/>
                                        </p:tgtEl>
                                      </p:cBhvr>
                                    </p:animEffect>
                                  </p:childTnLst>
                                </p:cTn>
                              </p:par>
                            </p:childTnLst>
                          </p:cTn>
                        </p:par>
                      </p:childTnLst>
                    </p:cTn>
                  </p:par>
                  <p:par>
                    <p:cTn id="1143" nodeType="clickEffect" fill="hold">
                      <p:stCondLst>
                        <p:cond delay="indefinite"/>
                      </p:stCondLst>
                      <p:childTnLst>
                        <p:par>
                          <p:cTn id="1144" nodeType="withEffect" fill="hold">
                            <p:stCondLst>
                              <p:cond delay="0"/>
                            </p:stCondLst>
                            <p:childTnLst>
                              <p:par>
                                <p:cTn id="1145" nodeType="clickEffect" fill="hold" presetClass="entr" presetID="22" presetSubtype="8">
                                  <p:stCondLst>
                                    <p:cond delay="0"/>
                                  </p:stCondLst>
                                  <p:childTnLst>
                                    <p:set>
                                      <p:cBhvr>
                                        <p:cTn id="1146" dur="1" fill="hold">
                                          <p:stCondLst>
                                            <p:cond delay="0"/>
                                          </p:stCondLst>
                                        </p:cTn>
                                        <p:tgtEl>
                                          <p:spTgt spid="457"/>
                                        </p:tgtEl>
                                        <p:attrNameLst>
                                          <p:attrName>style.visibility</p:attrName>
                                        </p:attrNameLst>
                                      </p:cBhvr>
                                      <p:to>
                                        <p:strVal val="visible"/>
                                      </p:to>
                                    </p:set>
                                    <p:animEffect filter="wipe(left)" transition="in">
                                      <p:cBhvr additive="repl">
                                        <p:cTn id="1147" dur="1000"/>
                                        <p:tgtEl>
                                          <p:spTgt spid="457"/>
                                        </p:tgtEl>
                                      </p:cBhvr>
                                    </p:animEffect>
                                  </p:childTnLst>
                                </p:cTn>
                              </p:par>
                            </p:childTnLst>
                          </p:cTn>
                        </p:par>
                      </p:childTnLst>
                    </p:cTn>
                  </p:par>
                  <p:par>
                    <p:cTn id="1148" nodeType="clickEffect" fill="hold">
                      <p:stCondLst>
                        <p:cond delay="indefinite"/>
                      </p:stCondLst>
                      <p:childTnLst>
                        <p:par>
                          <p:cTn id="1149" nodeType="withEffect" fill="hold">
                            <p:stCondLst>
                              <p:cond delay="0"/>
                            </p:stCondLst>
                            <p:childTnLst>
                              <p:par>
                                <p:cTn id="1150" nodeType="clickEffect" fill="hold" presetClass="entr" presetID="22" presetSubtype="8">
                                  <p:stCondLst>
                                    <p:cond delay="0"/>
                                  </p:stCondLst>
                                  <p:childTnLst>
                                    <p:set>
                                      <p:cBhvr>
                                        <p:cTn id="1151" dur="1" fill="hold">
                                          <p:stCondLst>
                                            <p:cond delay="0"/>
                                          </p:stCondLst>
                                        </p:cTn>
                                        <p:tgtEl>
                                          <p:spTgt spid="458"/>
                                        </p:tgtEl>
                                        <p:attrNameLst>
                                          <p:attrName>style.visibility</p:attrName>
                                        </p:attrNameLst>
                                      </p:cBhvr>
                                      <p:to>
                                        <p:strVal val="visible"/>
                                      </p:to>
                                    </p:set>
                                    <p:animEffect filter="wipe(left)" transition="in">
                                      <p:cBhvr additive="repl">
                                        <p:cTn id="1152" dur="1000"/>
                                        <p:tgtEl>
                                          <p:spTgt spid="4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9"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APPENDIX: INDIFFERENCE</a:t>
            </a:r>
            <a:endParaRPr b="0" lang="en-US" sz="2600" strike="noStrike" u="none">
              <a:solidFill>
                <a:srgbClr val="000000"/>
              </a:solidFill>
              <a:effectLst/>
              <a:uFillTx/>
              <a:latin typeface="Arial"/>
            </a:endParaRPr>
          </a:p>
        </p:txBody>
      </p:sp>
      <p:sp>
        <p:nvSpPr>
          <p:cNvPr id="460" name="PlaceHolder 2"/>
          <p:cNvSpPr>
            <a:spLocks noGrp="1"/>
          </p:cNvSpPr>
          <p:nvPr>
            <p:ph/>
          </p:nvPr>
        </p:nvSpPr>
        <p:spPr>
          <a:xfrm>
            <a:off x="360360" y="1440000"/>
            <a:ext cx="411408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Tina’s demand curve in part (b) passes through points </a:t>
            </a:r>
            <a:r>
              <a:rPr b="0" i="1" lang="en-US" sz="2400" strike="noStrike" u="none">
                <a:solidFill>
                  <a:srgbClr val="000000"/>
                </a:solidFill>
                <a:effectLst/>
                <a:uFillTx/>
                <a:latin typeface="Arial"/>
                <a:ea typeface="ＭＳ Ｐゴシック"/>
              </a:rPr>
              <a:t>A</a:t>
            </a:r>
            <a:r>
              <a:rPr b="0" lang="en-US" sz="2400" strike="noStrike" u="none">
                <a:solidFill>
                  <a:srgbClr val="000000"/>
                </a:solidFill>
                <a:effectLst/>
                <a:uFillTx/>
                <a:latin typeface="Arial"/>
                <a:ea typeface="ＭＳ Ｐゴシック"/>
              </a:rPr>
              <a:t> and </a:t>
            </a:r>
            <a:r>
              <a:rPr b="0" i="1" lang="en-US" sz="2400" strike="noStrike" u="none">
                <a:solidFill>
                  <a:srgbClr val="000000"/>
                </a:solidFill>
                <a:effectLst/>
                <a:uFillTx/>
                <a:latin typeface="Arial"/>
                <a:ea typeface="ＭＳ Ｐゴシック"/>
              </a:rPr>
              <a:t>B</a:t>
            </a:r>
            <a:r>
              <a:rPr b="0" lang="en-US" sz="2400" strike="noStrike" u="none">
                <a:solidFill>
                  <a:srgbClr val="000000"/>
                </a:solidFill>
                <a:effectLst/>
                <a:uFillTx/>
                <a:latin typeface="Arial"/>
                <a:ea typeface="ＭＳ Ｐゴシック"/>
              </a:rPr>
              <a:t>.</a:t>
            </a:r>
            <a:endParaRPr b="0" lang="en-US" sz="2400" strike="noStrike" u="none">
              <a:solidFill>
                <a:srgbClr val="000000"/>
              </a:solidFill>
              <a:effectLst/>
              <a:uFillTx/>
              <a:latin typeface="Arial"/>
            </a:endParaRPr>
          </a:p>
        </p:txBody>
      </p:sp>
      <p:pic>
        <p:nvPicPr>
          <p:cNvPr id="461" name="Picture 124" descr="apx1204a.gif"/>
          <p:cNvPicPr/>
          <p:nvPr/>
        </p:nvPicPr>
        <p:blipFill>
          <a:blip r:embed="rId1"/>
          <a:stretch/>
        </p:blipFill>
        <p:spPr>
          <a:xfrm>
            <a:off x="5400720" y="1152360"/>
            <a:ext cx="2928240" cy="5562000"/>
          </a:xfrm>
          <a:prstGeom prst="rect">
            <a:avLst/>
          </a:prstGeom>
          <a:noFill/>
          <a:ln w="0">
            <a:noFill/>
          </a:ln>
        </p:spPr>
      </p:pic>
      <p:pic>
        <p:nvPicPr>
          <p:cNvPr id="462" name="Picture 125" descr="apx1204b.gif"/>
          <p:cNvPicPr/>
          <p:nvPr/>
        </p:nvPicPr>
        <p:blipFill>
          <a:blip r:embed="rId2"/>
          <a:stretch/>
        </p:blipFill>
        <p:spPr>
          <a:xfrm>
            <a:off x="5400720" y="1152360"/>
            <a:ext cx="2928240" cy="5562000"/>
          </a:xfrm>
          <a:prstGeom prst="rect">
            <a:avLst/>
          </a:prstGeom>
          <a:noFill/>
          <a:ln w="0">
            <a:noFill/>
          </a:ln>
        </p:spPr>
      </p:pic>
      <p:pic>
        <p:nvPicPr>
          <p:cNvPr id="463" name="Picture 126" descr="apx1204c.gif"/>
          <p:cNvPicPr/>
          <p:nvPr/>
        </p:nvPicPr>
        <p:blipFill>
          <a:blip r:embed="rId3"/>
          <a:stretch/>
        </p:blipFill>
        <p:spPr>
          <a:xfrm>
            <a:off x="5400720" y="1152360"/>
            <a:ext cx="2928240" cy="5562000"/>
          </a:xfrm>
          <a:prstGeom prst="rect">
            <a:avLst/>
          </a:prstGeom>
          <a:noFill/>
          <a:ln w="0">
            <a:noFill/>
          </a:ln>
        </p:spPr>
      </p:pic>
      <p:pic>
        <p:nvPicPr>
          <p:cNvPr id="464" name="Picture 127" descr="apx1204d.gif"/>
          <p:cNvPicPr/>
          <p:nvPr/>
        </p:nvPicPr>
        <p:blipFill>
          <a:blip r:embed="rId4"/>
          <a:stretch/>
        </p:blipFill>
        <p:spPr>
          <a:xfrm>
            <a:off x="5400720" y="1152360"/>
            <a:ext cx="2928240" cy="5562000"/>
          </a:xfrm>
          <a:prstGeom prst="rect">
            <a:avLst/>
          </a:prstGeom>
          <a:noFill/>
          <a:ln w="0">
            <a:noFill/>
          </a:ln>
        </p:spPr>
      </p:pic>
      <p:pic>
        <p:nvPicPr>
          <p:cNvPr id="465" name="Picture 128" descr="apx1204e.gif"/>
          <p:cNvPicPr/>
          <p:nvPr/>
        </p:nvPicPr>
        <p:blipFill>
          <a:blip r:embed="rId5"/>
          <a:stretch/>
        </p:blipFill>
        <p:spPr>
          <a:xfrm>
            <a:off x="5400720" y="1152360"/>
            <a:ext cx="2928240" cy="5562000"/>
          </a:xfrm>
          <a:prstGeom prst="rect">
            <a:avLst/>
          </a:prstGeom>
          <a:noFill/>
          <a:ln w="0">
            <a:noFill/>
          </a:ln>
        </p:spPr>
      </p:pic>
      <p:pic>
        <p:nvPicPr>
          <p:cNvPr id="466" name="Picture 129" descr="apx1204f.gif"/>
          <p:cNvPicPr/>
          <p:nvPr/>
        </p:nvPicPr>
        <p:blipFill>
          <a:blip r:embed="rId6"/>
          <a:stretch/>
        </p:blipFill>
        <p:spPr>
          <a:xfrm>
            <a:off x="5400720" y="1152360"/>
            <a:ext cx="2928240" cy="5562000"/>
          </a:xfrm>
          <a:prstGeom prst="rect">
            <a:avLst/>
          </a:prstGeom>
          <a:noFill/>
          <a:ln w="0">
            <a:noFill/>
          </a:ln>
        </p:spPr>
      </p:pic>
      <p:pic>
        <p:nvPicPr>
          <p:cNvPr id="467" name="Picture 130" descr="apx1204g.gif"/>
          <p:cNvPicPr/>
          <p:nvPr/>
        </p:nvPicPr>
        <p:blipFill>
          <a:blip r:embed="rId7"/>
          <a:stretch/>
        </p:blipFill>
        <p:spPr>
          <a:xfrm>
            <a:off x="5400720" y="1152360"/>
            <a:ext cx="2928240" cy="5562000"/>
          </a:xfrm>
          <a:prstGeom prst="rect">
            <a:avLst/>
          </a:prstGeom>
          <a:noFill/>
          <a:ln w="0">
            <a:noFill/>
          </a:ln>
        </p:spPr>
      </p:pic>
    </p:spTree>
  </p:cSld>
  <p:transition spd="slow">
    <p:wipe dir="r"/>
  </p:transition>
  <p:timing>
    <p:tnLst>
      <p:par>
        <p:cTn id="1153" dur="indefinite" restart="never" nodeType="tmRoot">
          <p:childTnLst>
            <p:seq>
              <p:cTn id="1154" dur="indefinite" nodeType="mainSeq">
                <p:childTnLst>
                  <p:par>
                    <p:cTn id="1155" nodeType="clickEffect" fill="hold">
                      <p:stCondLst>
                        <p:cond delay="indefinite"/>
                      </p:stCondLst>
                      <p:childTnLst>
                        <p:par>
                          <p:cTn id="1156" nodeType="withEffect" fill="hold">
                            <p:stCondLst>
                              <p:cond delay="0"/>
                            </p:stCondLst>
                            <p:childTnLst>
                              <p:par>
                                <p:cTn id="1157" nodeType="clickEffect" fill="hold" presetClass="entr" presetID="22" presetSubtype="8">
                                  <p:stCondLst>
                                    <p:cond delay="0"/>
                                  </p:stCondLst>
                                  <p:childTnLst>
                                    <p:set>
                                      <p:cBhvr>
                                        <p:cTn id="1158" dur="1" fill="hold">
                                          <p:stCondLst>
                                            <p:cond delay="0"/>
                                          </p:stCondLst>
                                        </p:cTn>
                                        <p:tgtEl>
                                          <p:spTgt spid="466"/>
                                        </p:tgtEl>
                                        <p:attrNameLst>
                                          <p:attrName>style.visibility</p:attrName>
                                        </p:attrNameLst>
                                      </p:cBhvr>
                                      <p:to>
                                        <p:strVal val="visible"/>
                                      </p:to>
                                    </p:set>
                                    <p:animEffect filter="wipe(left)" transition="in">
                                      <p:cBhvr additive="repl">
                                        <p:cTn id="1159" dur="1000"/>
                                        <p:tgtEl>
                                          <p:spTgt spid="466"/>
                                        </p:tgtEl>
                                      </p:cBhvr>
                                    </p:animEffect>
                                  </p:childTnLst>
                                </p:cTn>
                              </p:par>
                              <p:par>
                                <p:cTn id="1160" nodeType="withEffect" fill="hold" presetClass="entr" presetID="22" presetSubtype="8">
                                  <p:stCondLst>
                                    <p:cond delay="300"/>
                                  </p:stCondLst>
                                  <p:childTnLst>
                                    <p:set>
                                      <p:cBhvr>
                                        <p:cTn id="1161" dur="1" fill="hold">
                                          <p:stCondLst>
                                            <p:cond delay="0"/>
                                          </p:stCondLst>
                                        </p:cTn>
                                        <p:tgtEl>
                                          <p:spTgt spid="467"/>
                                        </p:tgtEl>
                                        <p:attrNameLst>
                                          <p:attrName>style.visibility</p:attrName>
                                        </p:attrNameLst>
                                      </p:cBhvr>
                                      <p:to>
                                        <p:strVal val="visible"/>
                                      </p:to>
                                    </p:set>
                                    <p:animEffect filter="wipe(left)" transition="in">
                                      <p:cBhvr additive="repl">
                                        <p:cTn id="1162" dur="1000"/>
                                        <p:tgtEl>
                                          <p:spTgt spid="4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8"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13.3  EFFICIENCY, PRICE, AND VALUE</a:t>
            </a:r>
            <a:endParaRPr b="0" lang="en-US" sz="2600" strike="noStrike" u="none">
              <a:solidFill>
                <a:srgbClr val="000000"/>
              </a:solidFill>
              <a:effectLst/>
              <a:uFillTx/>
              <a:latin typeface="Arial"/>
            </a:endParaRPr>
          </a:p>
        </p:txBody>
      </p:sp>
      <p:sp>
        <p:nvSpPr>
          <p:cNvPr id="469"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Consumer Efficiency</a:t>
            </a:r>
            <a:endParaRPr b="0" lang="en-US" sz="28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When a consumer maximizes utility, the consumer is using her or his resources efficiently.</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Using what you’ve learned, you can now give the concept of marginal benefit a deeper meaning.</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1" lang="en-US" sz="2400" strike="noStrike" u="none">
                <a:solidFill>
                  <a:srgbClr val="00468f"/>
                </a:solidFill>
                <a:effectLst/>
                <a:uFillTx/>
                <a:latin typeface="Arial"/>
                <a:ea typeface="ＭＳ Ｐゴシック"/>
              </a:rPr>
              <a:t>Marginal benefit is the maximum price a consumer is willing to pay for an extra unit of a good or service when total utility is maximized.</a:t>
            </a:r>
            <a:endParaRPr b="0" lang="en-US" sz="2400" strike="noStrike" u="none">
              <a:solidFill>
                <a:srgbClr val="000000"/>
              </a:solidFill>
              <a:effectLst/>
              <a:uFillTx/>
              <a:latin typeface="Arial"/>
            </a:endParaRPr>
          </a:p>
        </p:txBody>
      </p:sp>
    </p:spTree>
  </p:cSld>
  <p:transition spd="slow">
    <p:wipe dir="r"/>
  </p:transition>
  <p:timing>
    <p:tnLst>
      <p:par>
        <p:cTn id="1163" dur="indefinite" restart="never" nodeType="tmRoot">
          <p:childTnLst>
            <p:seq>
              <p:cTn id="1164" dur="indefinite" nodeType="mainSeq">
                <p:childTnLst>
                  <p:par>
                    <p:cTn id="1165" nodeType="clickEffect" fill="hold">
                      <p:stCondLst>
                        <p:cond delay="indefinite"/>
                      </p:stCondLst>
                      <p:childTnLst>
                        <p:par>
                          <p:cTn id="1166" nodeType="withEffect" fill="hold">
                            <p:stCondLst>
                              <p:cond delay="0"/>
                            </p:stCondLst>
                            <p:childTnLst>
                              <p:par>
                                <p:cTn id="1167" nodeType="clickEffect" fill="hold" presetClass="entr" presetID="22" presetSubtype="8">
                                  <p:stCondLst>
                                    <p:cond delay="0"/>
                                  </p:stCondLst>
                                  <p:childTnLst>
                                    <p:set>
                                      <p:cBhvr>
                                        <p:cTn id="1168" dur="1" fill="hold">
                                          <p:stCondLst>
                                            <p:cond delay="0"/>
                                          </p:stCondLst>
                                        </p:cTn>
                                        <p:tgtEl>
                                          <p:spTgt spid="469">
                                            <p:txEl>
                                              <p:pRg st="1" end="1"/>
                                            </p:txEl>
                                          </p:spTgt>
                                        </p:tgtEl>
                                        <p:attrNameLst>
                                          <p:attrName>style.visibility</p:attrName>
                                        </p:attrNameLst>
                                      </p:cBhvr>
                                      <p:to>
                                        <p:strVal val="visible"/>
                                      </p:to>
                                    </p:set>
                                    <p:animEffect filter="wipe(left)" transition="in">
                                      <p:cBhvr additive="repl">
                                        <p:cTn id="1169" dur="500"/>
                                        <p:tgtEl>
                                          <p:spTgt spid="469">
                                            <p:txEl>
                                              <p:pRg st="1" end="1"/>
                                            </p:txEl>
                                          </p:spTgt>
                                        </p:tgtEl>
                                      </p:cBhvr>
                                    </p:animEffect>
                                  </p:childTnLst>
                                </p:cTn>
                              </p:par>
                            </p:childTnLst>
                          </p:cTn>
                        </p:par>
                      </p:childTnLst>
                    </p:cTn>
                  </p:par>
                  <p:par>
                    <p:cTn id="1170" nodeType="clickEffect" fill="hold">
                      <p:stCondLst>
                        <p:cond delay="indefinite"/>
                      </p:stCondLst>
                      <p:childTnLst>
                        <p:par>
                          <p:cTn id="1171" nodeType="withEffect" fill="hold">
                            <p:stCondLst>
                              <p:cond delay="0"/>
                            </p:stCondLst>
                            <p:childTnLst>
                              <p:par>
                                <p:cTn id="1172" nodeType="clickEffect" fill="hold" presetClass="entr" presetID="22" presetSubtype="8">
                                  <p:stCondLst>
                                    <p:cond delay="0"/>
                                  </p:stCondLst>
                                  <p:childTnLst>
                                    <p:set>
                                      <p:cBhvr>
                                        <p:cTn id="1173" dur="1" fill="hold">
                                          <p:stCondLst>
                                            <p:cond delay="0"/>
                                          </p:stCondLst>
                                        </p:cTn>
                                        <p:tgtEl>
                                          <p:spTgt spid="469">
                                            <p:txEl>
                                              <p:pRg st="2" end="2"/>
                                            </p:txEl>
                                          </p:spTgt>
                                        </p:tgtEl>
                                        <p:attrNameLst>
                                          <p:attrName>style.visibility</p:attrName>
                                        </p:attrNameLst>
                                      </p:cBhvr>
                                      <p:to>
                                        <p:strVal val="visible"/>
                                      </p:to>
                                    </p:set>
                                    <p:animEffect filter="wipe(left)" transition="in">
                                      <p:cBhvr additive="repl">
                                        <p:cTn id="1174" dur="500"/>
                                        <p:tgtEl>
                                          <p:spTgt spid="469">
                                            <p:txEl>
                                              <p:pRg st="2" end="2"/>
                                            </p:txEl>
                                          </p:spTgt>
                                        </p:tgtEl>
                                      </p:cBhvr>
                                    </p:animEffect>
                                  </p:childTnLst>
                                </p:cTn>
                              </p:par>
                            </p:childTnLst>
                          </p:cTn>
                        </p:par>
                      </p:childTnLst>
                    </p:cTn>
                  </p:par>
                  <p:par>
                    <p:cTn id="1175" nodeType="clickEffect" fill="hold">
                      <p:stCondLst>
                        <p:cond delay="indefinite"/>
                      </p:stCondLst>
                      <p:childTnLst>
                        <p:par>
                          <p:cTn id="1176" nodeType="withEffect" fill="hold">
                            <p:stCondLst>
                              <p:cond delay="0"/>
                            </p:stCondLst>
                            <p:childTnLst>
                              <p:par>
                                <p:cTn id="1177" nodeType="clickEffect" fill="hold" presetClass="entr" presetID="22" presetSubtype="8">
                                  <p:stCondLst>
                                    <p:cond delay="0"/>
                                  </p:stCondLst>
                                  <p:childTnLst>
                                    <p:set>
                                      <p:cBhvr>
                                        <p:cTn id="1178" dur="1" fill="hold">
                                          <p:stCondLst>
                                            <p:cond delay="0"/>
                                          </p:stCondLst>
                                        </p:cTn>
                                        <p:tgtEl>
                                          <p:spTgt spid="469">
                                            <p:txEl>
                                              <p:pRg st="3" end="3"/>
                                            </p:txEl>
                                          </p:spTgt>
                                        </p:tgtEl>
                                        <p:attrNameLst>
                                          <p:attrName>style.visibility</p:attrName>
                                        </p:attrNameLst>
                                      </p:cBhvr>
                                      <p:to>
                                        <p:strVal val="visible"/>
                                      </p:to>
                                    </p:set>
                                    <p:animEffect filter="wipe(left)" transition="in">
                                      <p:cBhvr additive="repl">
                                        <p:cTn id="1179" dur="500"/>
                                        <p:tgtEl>
                                          <p:spTgt spid="469">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13.3  EFFICIENCY, PRICE, AND VALUE</a:t>
            </a:r>
            <a:endParaRPr b="0" lang="en-US" sz="2600" strike="noStrike" u="none">
              <a:solidFill>
                <a:srgbClr val="000000"/>
              </a:solidFill>
              <a:effectLst/>
              <a:uFillTx/>
              <a:latin typeface="Arial"/>
            </a:endParaRPr>
          </a:p>
        </p:txBody>
      </p:sp>
      <p:sp>
        <p:nvSpPr>
          <p:cNvPr id="471"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The Paradox of Value</a:t>
            </a:r>
            <a:endParaRPr b="0" lang="en-US" sz="28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For centuries, philosophers have been puzzled by the fact that water is vital for life but cheap while diamonds are used only for decoration yet are very expensive.</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You can solve this puzzle by distinguishing between total utility and marginal utility. </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Total utility tells us about relative value; marginal utility tells us about relative price.</a:t>
            </a:r>
            <a:endParaRPr b="0" lang="en-US" sz="2400" strike="noStrike" u="none">
              <a:solidFill>
                <a:srgbClr val="000000"/>
              </a:solidFill>
              <a:effectLst/>
              <a:uFillTx/>
              <a:latin typeface="Arial"/>
            </a:endParaRPr>
          </a:p>
        </p:txBody>
      </p:sp>
    </p:spTree>
  </p:cSld>
  <p:transition spd="slow">
    <p:wipe dir="r"/>
  </p:transition>
  <p:timing>
    <p:tnLst>
      <p:par>
        <p:cTn id="1180" dur="indefinite" restart="never" nodeType="tmRoot">
          <p:childTnLst>
            <p:seq>
              <p:cTn id="1181" dur="indefinite" nodeType="mainSeq">
                <p:childTnLst>
                  <p:par>
                    <p:cTn id="1182" nodeType="clickEffect" fill="hold">
                      <p:stCondLst>
                        <p:cond delay="indefinite"/>
                      </p:stCondLst>
                      <p:childTnLst>
                        <p:par>
                          <p:cTn id="1183" nodeType="withEffect" fill="hold">
                            <p:stCondLst>
                              <p:cond delay="0"/>
                            </p:stCondLst>
                            <p:childTnLst>
                              <p:par>
                                <p:cTn id="1184" nodeType="clickEffect" fill="hold" presetClass="entr" presetID="22" presetSubtype="8">
                                  <p:stCondLst>
                                    <p:cond delay="0"/>
                                  </p:stCondLst>
                                  <p:childTnLst>
                                    <p:set>
                                      <p:cBhvr>
                                        <p:cTn id="1185" dur="1" fill="hold">
                                          <p:stCondLst>
                                            <p:cond delay="0"/>
                                          </p:stCondLst>
                                        </p:cTn>
                                        <p:tgtEl>
                                          <p:spTgt spid="471">
                                            <p:txEl>
                                              <p:pRg st="1" end="1"/>
                                            </p:txEl>
                                          </p:spTgt>
                                        </p:tgtEl>
                                        <p:attrNameLst>
                                          <p:attrName>style.visibility</p:attrName>
                                        </p:attrNameLst>
                                      </p:cBhvr>
                                      <p:to>
                                        <p:strVal val="visible"/>
                                      </p:to>
                                    </p:set>
                                    <p:animEffect filter="wipe(left)" transition="in">
                                      <p:cBhvr additive="repl">
                                        <p:cTn id="1186" dur="500"/>
                                        <p:tgtEl>
                                          <p:spTgt spid="471">
                                            <p:txEl>
                                              <p:pRg st="1" end="1"/>
                                            </p:txEl>
                                          </p:spTgt>
                                        </p:tgtEl>
                                      </p:cBhvr>
                                    </p:animEffect>
                                  </p:childTnLst>
                                </p:cTn>
                              </p:par>
                            </p:childTnLst>
                          </p:cTn>
                        </p:par>
                      </p:childTnLst>
                    </p:cTn>
                  </p:par>
                  <p:par>
                    <p:cTn id="1187" nodeType="clickEffect" fill="hold">
                      <p:stCondLst>
                        <p:cond delay="indefinite"/>
                      </p:stCondLst>
                      <p:childTnLst>
                        <p:par>
                          <p:cTn id="1188" nodeType="withEffect" fill="hold">
                            <p:stCondLst>
                              <p:cond delay="0"/>
                            </p:stCondLst>
                            <p:childTnLst>
                              <p:par>
                                <p:cTn id="1189" nodeType="clickEffect" fill="hold" presetClass="entr" presetID="22" presetSubtype="8">
                                  <p:stCondLst>
                                    <p:cond delay="0"/>
                                  </p:stCondLst>
                                  <p:childTnLst>
                                    <p:set>
                                      <p:cBhvr>
                                        <p:cTn id="1190" dur="1" fill="hold">
                                          <p:stCondLst>
                                            <p:cond delay="0"/>
                                          </p:stCondLst>
                                        </p:cTn>
                                        <p:tgtEl>
                                          <p:spTgt spid="471">
                                            <p:txEl>
                                              <p:pRg st="2" end="2"/>
                                            </p:txEl>
                                          </p:spTgt>
                                        </p:tgtEl>
                                        <p:attrNameLst>
                                          <p:attrName>style.visibility</p:attrName>
                                        </p:attrNameLst>
                                      </p:cBhvr>
                                      <p:to>
                                        <p:strVal val="visible"/>
                                      </p:to>
                                    </p:set>
                                    <p:animEffect filter="wipe(left)" transition="in">
                                      <p:cBhvr additive="repl">
                                        <p:cTn id="1191" dur="500"/>
                                        <p:tgtEl>
                                          <p:spTgt spid="471">
                                            <p:txEl>
                                              <p:pRg st="2" end="2"/>
                                            </p:txEl>
                                          </p:spTgt>
                                        </p:tgtEl>
                                      </p:cBhvr>
                                    </p:animEffect>
                                  </p:childTnLst>
                                </p:cTn>
                              </p:par>
                            </p:childTnLst>
                          </p:cTn>
                        </p:par>
                      </p:childTnLst>
                    </p:cTn>
                  </p:par>
                  <p:par>
                    <p:cTn id="1192" nodeType="clickEffect" fill="hold">
                      <p:stCondLst>
                        <p:cond delay="indefinite"/>
                      </p:stCondLst>
                      <p:childTnLst>
                        <p:par>
                          <p:cTn id="1193" nodeType="withEffect" fill="hold">
                            <p:stCondLst>
                              <p:cond delay="0"/>
                            </p:stCondLst>
                            <p:childTnLst>
                              <p:par>
                                <p:cTn id="1194" nodeType="clickEffect" fill="hold" presetClass="entr" presetID="22" presetSubtype="8">
                                  <p:stCondLst>
                                    <p:cond delay="0"/>
                                  </p:stCondLst>
                                  <p:childTnLst>
                                    <p:set>
                                      <p:cBhvr>
                                        <p:cTn id="1195" dur="1" fill="hold">
                                          <p:stCondLst>
                                            <p:cond delay="0"/>
                                          </p:stCondLst>
                                        </p:cTn>
                                        <p:tgtEl>
                                          <p:spTgt spid="471">
                                            <p:txEl>
                                              <p:pRg st="3" end="3"/>
                                            </p:txEl>
                                          </p:spTgt>
                                        </p:tgtEl>
                                        <p:attrNameLst>
                                          <p:attrName>style.visibility</p:attrName>
                                        </p:attrNameLst>
                                      </p:cBhvr>
                                      <p:to>
                                        <p:strVal val="visible"/>
                                      </p:to>
                                    </p:set>
                                    <p:animEffect filter="wipe(left)" transition="in">
                                      <p:cBhvr additive="repl">
                                        <p:cTn id="1196" dur="500"/>
                                        <p:tgtEl>
                                          <p:spTgt spid="471">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13.3  EFFICIENCY, PRICE, AND VALUE</a:t>
            </a:r>
            <a:endParaRPr b="0" lang="en-US" sz="2600" strike="noStrike" u="none">
              <a:solidFill>
                <a:srgbClr val="000000"/>
              </a:solidFill>
              <a:effectLst/>
              <a:uFillTx/>
              <a:latin typeface="Arial"/>
            </a:endParaRPr>
          </a:p>
        </p:txBody>
      </p:sp>
      <p:sp>
        <p:nvSpPr>
          <p:cNvPr id="473" name="PlaceHolder 2"/>
          <p:cNvSpPr>
            <a:spLocks noGrp="1"/>
          </p:cNvSpPr>
          <p:nvPr>
            <p:ph/>
          </p:nvPr>
        </p:nvSpPr>
        <p:spPr>
          <a:xfrm>
            <a:off x="360360" y="1440000"/>
            <a:ext cx="8228880" cy="428868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When the high marginal utility of diamonds is divided by the high price of a diamond, the result is a number that equals the low marginal utility of water divided by the low price of water. </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marginal utility per dollar spent is the same for diamonds as for water.</a:t>
            </a:r>
            <a:endParaRPr b="0" lang="en-US" sz="24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1" lang="en-US" sz="2600" strike="noStrike" u="none">
                <a:solidFill>
                  <a:srgbClr val="00468f"/>
                </a:solidFill>
                <a:effectLst/>
                <a:uFillTx/>
                <a:latin typeface="Arial"/>
                <a:ea typeface="ＭＳ Ｐゴシック"/>
              </a:rPr>
              <a:t>Consumer Surplus</a:t>
            </a:r>
            <a:endParaRPr b="0" lang="en-US" sz="2600" strike="noStrike" u="none">
              <a:solidFill>
                <a:srgbClr val="000000"/>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Consumer surplus measures value in excess of the amount paid.</a:t>
            </a:r>
            <a:endParaRPr b="0" lang="en-US" sz="2400" strike="noStrike" u="none">
              <a:solidFill>
                <a:srgbClr val="000000"/>
              </a:solidFill>
              <a:effectLst/>
              <a:uFillTx/>
              <a:latin typeface="Arial"/>
            </a:endParaRPr>
          </a:p>
        </p:txBody>
      </p:sp>
    </p:spTree>
  </p:cSld>
  <p:transition spd="slow">
    <p:wipe dir="r"/>
  </p:transition>
  <p:timing>
    <p:tnLst>
      <p:par>
        <p:cTn id="1197" dur="indefinite" restart="never" nodeType="tmRoot">
          <p:childTnLst>
            <p:seq>
              <p:cTn id="1198" dur="indefinite" nodeType="mainSeq">
                <p:childTnLst>
                  <p:par>
                    <p:cTn id="1199" nodeType="clickEffect" fill="hold">
                      <p:stCondLst>
                        <p:cond delay="indefinite"/>
                      </p:stCondLst>
                      <p:childTnLst>
                        <p:par>
                          <p:cTn id="1200" nodeType="withEffect" fill="hold">
                            <p:stCondLst>
                              <p:cond delay="0"/>
                            </p:stCondLst>
                            <p:childTnLst>
                              <p:par>
                                <p:cTn id="1201" nodeType="clickEffect" fill="hold" presetClass="entr" presetID="22" presetSubtype="8">
                                  <p:stCondLst>
                                    <p:cond delay="0"/>
                                  </p:stCondLst>
                                  <p:childTnLst>
                                    <p:set>
                                      <p:cBhvr>
                                        <p:cTn id="1202" dur="1" fill="hold">
                                          <p:stCondLst>
                                            <p:cond delay="0"/>
                                          </p:stCondLst>
                                        </p:cTn>
                                        <p:tgtEl>
                                          <p:spTgt spid="473">
                                            <p:txEl>
                                              <p:pRg st="1" end="1"/>
                                            </p:txEl>
                                          </p:spTgt>
                                        </p:tgtEl>
                                        <p:attrNameLst>
                                          <p:attrName>style.visibility</p:attrName>
                                        </p:attrNameLst>
                                      </p:cBhvr>
                                      <p:to>
                                        <p:strVal val="visible"/>
                                      </p:to>
                                    </p:set>
                                    <p:animEffect filter="wipe(left)" transition="in">
                                      <p:cBhvr additive="repl">
                                        <p:cTn id="1203" dur="500"/>
                                        <p:tgtEl>
                                          <p:spTgt spid="473">
                                            <p:txEl>
                                              <p:pRg st="1" end="1"/>
                                            </p:txEl>
                                          </p:spTgt>
                                        </p:tgtEl>
                                      </p:cBhvr>
                                    </p:animEffect>
                                  </p:childTnLst>
                                </p:cTn>
                              </p:par>
                            </p:childTnLst>
                          </p:cTn>
                        </p:par>
                      </p:childTnLst>
                    </p:cTn>
                  </p:par>
                  <p:par>
                    <p:cTn id="1204" nodeType="clickEffect" fill="hold">
                      <p:stCondLst>
                        <p:cond delay="indefinite"/>
                      </p:stCondLst>
                      <p:childTnLst>
                        <p:par>
                          <p:cTn id="1205" nodeType="withEffect" fill="hold">
                            <p:stCondLst>
                              <p:cond delay="0"/>
                            </p:stCondLst>
                            <p:childTnLst>
                              <p:par>
                                <p:cTn id="1206" nodeType="clickEffect" fill="hold" presetClass="entr" presetID="22" presetSubtype="8">
                                  <p:stCondLst>
                                    <p:cond delay="0"/>
                                  </p:stCondLst>
                                  <p:childTnLst>
                                    <p:set>
                                      <p:cBhvr>
                                        <p:cTn id="1207" dur="1" fill="hold">
                                          <p:stCondLst>
                                            <p:cond delay="0"/>
                                          </p:stCondLst>
                                        </p:cTn>
                                        <p:tgtEl>
                                          <p:spTgt spid="473">
                                            <p:txEl>
                                              <p:pRg st="2" end="2"/>
                                            </p:txEl>
                                          </p:spTgt>
                                        </p:tgtEl>
                                        <p:attrNameLst>
                                          <p:attrName>style.visibility</p:attrName>
                                        </p:attrNameLst>
                                      </p:cBhvr>
                                      <p:to>
                                        <p:strVal val="visible"/>
                                      </p:to>
                                    </p:set>
                                    <p:animEffect filter="wipe(left)" transition="in">
                                      <p:cBhvr additive="repl">
                                        <p:cTn id="1208" dur="500"/>
                                        <p:tgtEl>
                                          <p:spTgt spid="473">
                                            <p:txEl>
                                              <p:pRg st="2" end="2"/>
                                            </p:txEl>
                                          </p:spTgt>
                                        </p:tgtEl>
                                      </p:cBhvr>
                                    </p:animEffect>
                                  </p:childTnLst>
                                </p:cTn>
                              </p:par>
                            </p:childTnLst>
                          </p:cTn>
                        </p:par>
                      </p:childTnLst>
                    </p:cTn>
                  </p:par>
                  <p:par>
                    <p:cTn id="1209" nodeType="clickEffect" fill="hold">
                      <p:stCondLst>
                        <p:cond delay="indefinite"/>
                      </p:stCondLst>
                      <p:childTnLst>
                        <p:par>
                          <p:cTn id="1210" nodeType="withEffect" fill="hold">
                            <p:stCondLst>
                              <p:cond delay="0"/>
                            </p:stCondLst>
                            <p:childTnLst>
                              <p:par>
                                <p:cTn id="1211" nodeType="clickEffect" fill="hold" presetClass="entr" presetID="22" presetSubtype="8">
                                  <p:stCondLst>
                                    <p:cond delay="0"/>
                                  </p:stCondLst>
                                  <p:childTnLst>
                                    <p:set>
                                      <p:cBhvr>
                                        <p:cTn id="1212" dur="1" fill="hold">
                                          <p:stCondLst>
                                            <p:cond delay="0"/>
                                          </p:stCondLst>
                                        </p:cTn>
                                        <p:tgtEl>
                                          <p:spTgt spid="473">
                                            <p:txEl>
                                              <p:pRg st="3" end="3"/>
                                            </p:txEl>
                                          </p:spTgt>
                                        </p:tgtEl>
                                        <p:attrNameLst>
                                          <p:attrName>style.visibility</p:attrName>
                                        </p:attrNameLst>
                                      </p:cBhvr>
                                      <p:to>
                                        <p:strVal val="visible"/>
                                      </p:to>
                                    </p:set>
                                    <p:animEffect filter="wipe(left)" transition="in">
                                      <p:cBhvr additive="repl">
                                        <p:cTn id="1213" dur="500"/>
                                        <p:tgtEl>
                                          <p:spTgt spid="473">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4"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13.3  EFFICIENCY, PRICE, AND VALUE</a:t>
            </a:r>
            <a:endParaRPr b="0" lang="en-US" sz="2600" strike="noStrike" u="none">
              <a:solidFill>
                <a:srgbClr val="000000"/>
              </a:solidFill>
              <a:effectLst/>
              <a:uFillTx/>
              <a:latin typeface="Arial"/>
            </a:endParaRPr>
          </a:p>
        </p:txBody>
      </p:sp>
      <p:sp>
        <p:nvSpPr>
          <p:cNvPr id="475" name="PlaceHolder 2"/>
          <p:cNvSpPr>
            <a:spLocks noGrp="1"/>
          </p:cNvSpPr>
          <p:nvPr>
            <p:ph/>
          </p:nvPr>
        </p:nvSpPr>
        <p:spPr>
          <a:xfrm>
            <a:off x="360360" y="1440000"/>
            <a:ext cx="436320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Figure 13.7 shows the paradox of value.</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demand curve </a:t>
            </a:r>
            <a:r>
              <a:rPr b="0" i="1" lang="en-US" sz="2400" strike="noStrike" u="none">
                <a:solidFill>
                  <a:srgbClr val="000000"/>
                </a:solidFill>
                <a:effectLst/>
                <a:uFillTx/>
                <a:latin typeface="Arial"/>
                <a:ea typeface="ＭＳ Ｐゴシック"/>
              </a:rPr>
              <a:t>D</a:t>
            </a:r>
            <a:r>
              <a:rPr b="0" lang="en-US" sz="2400" strike="noStrike" u="none">
                <a:solidFill>
                  <a:srgbClr val="000000"/>
                </a:solidFill>
                <a:effectLst/>
                <a:uFillTx/>
                <a:latin typeface="Arial"/>
                <a:ea typeface="ＭＳ Ｐゴシック"/>
              </a:rPr>
              <a:t> shows the demand for water.</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demand curve and the supply curve </a:t>
            </a:r>
            <a:r>
              <a:rPr b="0" i="1" lang="en-US" sz="2400" strike="noStrike" u="none">
                <a:solidFill>
                  <a:srgbClr val="000000"/>
                </a:solidFill>
                <a:effectLst/>
                <a:uFillTx/>
                <a:latin typeface="Arial"/>
                <a:ea typeface="ＭＳ Ｐゴシック"/>
              </a:rPr>
              <a:t>S</a:t>
            </a:r>
            <a:r>
              <a:rPr b="0" lang="en-US" sz="2400" strike="noStrike" u="none">
                <a:solidFill>
                  <a:srgbClr val="000000"/>
                </a:solidFill>
                <a:effectLst/>
                <a:uFillTx/>
                <a:latin typeface="Arial"/>
                <a:ea typeface="ＭＳ Ｐゴシック"/>
              </a:rPr>
              <a:t> determine the price of water at </a:t>
            </a:r>
            <a:r>
              <a:rPr b="0" i="1" lang="en-US" sz="2400" strike="noStrike" u="none">
                <a:solidFill>
                  <a:srgbClr val="000000"/>
                </a:solidFill>
                <a:effectLst/>
                <a:uFillTx/>
                <a:latin typeface="Arial"/>
                <a:ea typeface="ＭＳ Ｐゴシック"/>
              </a:rPr>
              <a:t>P</a:t>
            </a:r>
            <a:r>
              <a:rPr b="0" i="1" lang="en-US" sz="2400" strike="noStrike" u="none" baseline="-25000">
                <a:solidFill>
                  <a:srgbClr val="000000"/>
                </a:solidFill>
                <a:effectLst/>
                <a:uFillTx/>
                <a:latin typeface="Arial"/>
                <a:ea typeface="ＭＳ Ｐゴシック"/>
              </a:rPr>
              <a:t>W</a:t>
            </a:r>
            <a:r>
              <a:rPr b="0" lang="en-US" sz="2400" strike="noStrike" u="none">
                <a:solidFill>
                  <a:srgbClr val="000000"/>
                </a:solidFill>
                <a:effectLst/>
                <a:uFillTx/>
                <a:latin typeface="Arial"/>
                <a:ea typeface="ＭＳ Ｐゴシック"/>
              </a:rPr>
              <a:t> and the quantity at </a:t>
            </a:r>
            <a:r>
              <a:rPr b="0" i="1" lang="en-US" sz="2400" strike="noStrike" u="none">
                <a:solidFill>
                  <a:srgbClr val="000000"/>
                </a:solidFill>
                <a:effectLst/>
                <a:uFillTx/>
                <a:latin typeface="Arial"/>
                <a:ea typeface="ＭＳ Ｐゴシック"/>
              </a:rPr>
              <a:t>Q</a:t>
            </a:r>
            <a:r>
              <a:rPr b="0" i="1" lang="en-US" sz="2400" strike="noStrike" u="none" baseline="-25000">
                <a:solidFill>
                  <a:srgbClr val="000000"/>
                </a:solidFill>
                <a:effectLst/>
                <a:uFillTx/>
                <a:latin typeface="Arial"/>
                <a:ea typeface="ＭＳ Ｐゴシック"/>
              </a:rPr>
              <a:t>W</a:t>
            </a:r>
            <a:r>
              <a:rPr b="0" lang="en-US" sz="2400" strike="noStrike" u="none">
                <a:solidFill>
                  <a:srgbClr val="000000"/>
                </a:solidFill>
                <a:effectLst/>
                <a:uFillTx/>
                <a:latin typeface="Arial"/>
                <a:ea typeface="ＭＳ Ｐゴシック"/>
              </a:rPr>
              <a:t>. </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consumer surplus from water is the area of the large green triangle.</a:t>
            </a:r>
            <a:endParaRPr b="0" lang="en-US" sz="2400" strike="noStrike" u="none">
              <a:solidFill>
                <a:srgbClr val="000000"/>
              </a:solidFill>
              <a:effectLst/>
              <a:uFillTx/>
              <a:latin typeface="Arial"/>
            </a:endParaRPr>
          </a:p>
        </p:txBody>
      </p:sp>
      <p:pic>
        <p:nvPicPr>
          <p:cNvPr id="476" name="Picture 1" descr="fig1207aa.gif"/>
          <p:cNvPicPr/>
          <p:nvPr/>
        </p:nvPicPr>
        <p:blipFill>
          <a:blip r:embed="rId1"/>
          <a:stretch/>
        </p:blipFill>
        <p:spPr>
          <a:xfrm>
            <a:off x="4967280" y="1440000"/>
            <a:ext cx="3648960" cy="4500000"/>
          </a:xfrm>
          <a:prstGeom prst="rect">
            <a:avLst/>
          </a:prstGeom>
          <a:noFill/>
          <a:ln w="0">
            <a:noFill/>
          </a:ln>
        </p:spPr>
      </p:pic>
      <p:pic>
        <p:nvPicPr>
          <p:cNvPr id="477" name="Picture 2" descr="fig1207ab.gif"/>
          <p:cNvPicPr/>
          <p:nvPr/>
        </p:nvPicPr>
        <p:blipFill>
          <a:blip r:embed="rId2"/>
          <a:stretch/>
        </p:blipFill>
        <p:spPr>
          <a:xfrm>
            <a:off x="4967280" y="1440000"/>
            <a:ext cx="3648960" cy="4500000"/>
          </a:xfrm>
          <a:prstGeom prst="rect">
            <a:avLst/>
          </a:prstGeom>
          <a:noFill/>
          <a:ln w="0">
            <a:noFill/>
          </a:ln>
        </p:spPr>
      </p:pic>
      <p:pic>
        <p:nvPicPr>
          <p:cNvPr id="478" name="Picture 3" descr="fig1207ac.gif"/>
          <p:cNvPicPr/>
          <p:nvPr/>
        </p:nvPicPr>
        <p:blipFill>
          <a:blip r:embed="rId3"/>
          <a:stretch/>
        </p:blipFill>
        <p:spPr>
          <a:xfrm>
            <a:off x="4967280" y="1440000"/>
            <a:ext cx="3648960" cy="4500000"/>
          </a:xfrm>
          <a:prstGeom prst="rect">
            <a:avLst/>
          </a:prstGeom>
          <a:noFill/>
          <a:ln w="0">
            <a:noFill/>
          </a:ln>
        </p:spPr>
      </p:pic>
      <p:pic>
        <p:nvPicPr>
          <p:cNvPr id="479" name="Picture 4" descr="fig1207ad.gif"/>
          <p:cNvPicPr/>
          <p:nvPr/>
        </p:nvPicPr>
        <p:blipFill>
          <a:blip r:embed="rId4"/>
          <a:stretch/>
        </p:blipFill>
        <p:spPr>
          <a:xfrm>
            <a:off x="4967280" y="1440000"/>
            <a:ext cx="3648960" cy="4500000"/>
          </a:xfrm>
          <a:prstGeom prst="rect">
            <a:avLst/>
          </a:prstGeom>
          <a:noFill/>
          <a:ln w="0">
            <a:noFill/>
          </a:ln>
        </p:spPr>
      </p:pic>
    </p:spTree>
  </p:cSld>
  <p:transition spd="slow">
    <p:wipe dir="r"/>
  </p:transition>
  <p:timing>
    <p:tnLst>
      <p:par>
        <p:cTn id="1214" dur="indefinite" restart="never" nodeType="tmRoot">
          <p:childTnLst>
            <p:seq>
              <p:cTn id="1215" dur="indefinite" nodeType="mainSeq">
                <p:childTnLst>
                  <p:par>
                    <p:cTn id="1216" nodeType="clickEffect" fill="hold">
                      <p:stCondLst>
                        <p:cond delay="indefinite"/>
                      </p:stCondLst>
                      <p:childTnLst>
                        <p:par>
                          <p:cTn id="1217" nodeType="withEffect" fill="hold">
                            <p:stCondLst>
                              <p:cond delay="0"/>
                            </p:stCondLst>
                            <p:childTnLst>
                              <p:par>
                                <p:cTn id="1218" nodeType="clickEffect" fill="hold" presetClass="entr" presetID="22" presetSubtype="8">
                                  <p:stCondLst>
                                    <p:cond delay="0"/>
                                  </p:stCondLst>
                                  <p:childTnLst>
                                    <p:set>
                                      <p:cBhvr>
                                        <p:cTn id="1219" dur="1" fill="hold">
                                          <p:stCondLst>
                                            <p:cond delay="0"/>
                                          </p:stCondLst>
                                        </p:cTn>
                                        <p:tgtEl>
                                          <p:spTgt spid="475">
                                            <p:txEl>
                                              <p:pRg st="1" end="1"/>
                                            </p:txEl>
                                          </p:spTgt>
                                        </p:tgtEl>
                                        <p:attrNameLst>
                                          <p:attrName>style.visibility</p:attrName>
                                        </p:attrNameLst>
                                      </p:cBhvr>
                                      <p:to>
                                        <p:strVal val="visible"/>
                                      </p:to>
                                    </p:set>
                                    <p:animEffect filter="wipe(left)" transition="in">
                                      <p:cBhvr additive="repl">
                                        <p:cTn id="1220" dur="500"/>
                                        <p:tgtEl>
                                          <p:spTgt spid="475">
                                            <p:txEl>
                                              <p:pRg st="1" end="1"/>
                                            </p:txEl>
                                          </p:spTgt>
                                        </p:tgtEl>
                                      </p:cBhvr>
                                    </p:animEffect>
                                  </p:childTnLst>
                                </p:cTn>
                              </p:par>
                              <p:par>
                                <p:cTn id="1221" nodeType="withEffect" fill="hold" presetClass="entr" presetID="22" presetSubtype="8">
                                  <p:stCondLst>
                                    <p:cond delay="0"/>
                                  </p:stCondLst>
                                  <p:childTnLst>
                                    <p:set>
                                      <p:cBhvr>
                                        <p:cTn id="1222" dur="1" fill="hold">
                                          <p:stCondLst>
                                            <p:cond delay="0"/>
                                          </p:stCondLst>
                                        </p:cTn>
                                        <p:tgtEl>
                                          <p:spTgt spid="477"/>
                                        </p:tgtEl>
                                        <p:attrNameLst>
                                          <p:attrName>style.visibility</p:attrName>
                                        </p:attrNameLst>
                                      </p:cBhvr>
                                      <p:to>
                                        <p:strVal val="visible"/>
                                      </p:to>
                                    </p:set>
                                    <p:animEffect filter="wipe(left)" transition="in">
                                      <p:cBhvr additive="repl">
                                        <p:cTn id="1223" dur="1000"/>
                                        <p:tgtEl>
                                          <p:spTgt spid="477"/>
                                        </p:tgtEl>
                                      </p:cBhvr>
                                    </p:animEffect>
                                  </p:childTnLst>
                                </p:cTn>
                              </p:par>
                            </p:childTnLst>
                          </p:cTn>
                        </p:par>
                      </p:childTnLst>
                    </p:cTn>
                  </p:par>
                  <p:par>
                    <p:cTn id="1224" nodeType="clickEffect" fill="hold">
                      <p:stCondLst>
                        <p:cond delay="indefinite"/>
                      </p:stCondLst>
                      <p:childTnLst>
                        <p:par>
                          <p:cTn id="1225" nodeType="withEffect" fill="hold">
                            <p:stCondLst>
                              <p:cond delay="0"/>
                            </p:stCondLst>
                            <p:childTnLst>
                              <p:par>
                                <p:cTn id="1226" nodeType="clickEffect" fill="hold" presetClass="entr" presetID="22" presetSubtype="8">
                                  <p:stCondLst>
                                    <p:cond delay="0"/>
                                  </p:stCondLst>
                                  <p:childTnLst>
                                    <p:set>
                                      <p:cBhvr>
                                        <p:cTn id="1227" dur="1" fill="hold">
                                          <p:stCondLst>
                                            <p:cond delay="0"/>
                                          </p:stCondLst>
                                        </p:cTn>
                                        <p:tgtEl>
                                          <p:spTgt spid="475">
                                            <p:txEl>
                                              <p:pRg st="2" end="2"/>
                                            </p:txEl>
                                          </p:spTgt>
                                        </p:tgtEl>
                                        <p:attrNameLst>
                                          <p:attrName>style.visibility</p:attrName>
                                        </p:attrNameLst>
                                      </p:cBhvr>
                                      <p:to>
                                        <p:strVal val="visible"/>
                                      </p:to>
                                    </p:set>
                                    <p:animEffect filter="wipe(left)" transition="in">
                                      <p:cBhvr additive="repl">
                                        <p:cTn id="1228" dur="500"/>
                                        <p:tgtEl>
                                          <p:spTgt spid="475">
                                            <p:txEl>
                                              <p:pRg st="2" end="2"/>
                                            </p:txEl>
                                          </p:spTgt>
                                        </p:tgtEl>
                                      </p:cBhvr>
                                    </p:animEffect>
                                  </p:childTnLst>
                                </p:cTn>
                              </p:par>
                              <p:par>
                                <p:cTn id="1229" nodeType="withEffect" fill="hold" presetClass="entr" presetID="22" presetSubtype="8">
                                  <p:stCondLst>
                                    <p:cond delay="0"/>
                                  </p:stCondLst>
                                  <p:childTnLst>
                                    <p:set>
                                      <p:cBhvr>
                                        <p:cTn id="1230" dur="1" fill="hold">
                                          <p:stCondLst>
                                            <p:cond delay="0"/>
                                          </p:stCondLst>
                                        </p:cTn>
                                        <p:tgtEl>
                                          <p:spTgt spid="478"/>
                                        </p:tgtEl>
                                        <p:attrNameLst>
                                          <p:attrName>style.visibility</p:attrName>
                                        </p:attrNameLst>
                                      </p:cBhvr>
                                      <p:to>
                                        <p:strVal val="visible"/>
                                      </p:to>
                                    </p:set>
                                    <p:animEffect filter="wipe(left)" transition="in">
                                      <p:cBhvr additive="repl">
                                        <p:cTn id="1231" dur="1000"/>
                                        <p:tgtEl>
                                          <p:spTgt spid="478"/>
                                        </p:tgtEl>
                                      </p:cBhvr>
                                    </p:animEffect>
                                  </p:childTnLst>
                                </p:cTn>
                              </p:par>
                            </p:childTnLst>
                          </p:cTn>
                        </p:par>
                      </p:childTnLst>
                    </p:cTn>
                  </p:par>
                  <p:par>
                    <p:cTn id="1232" nodeType="clickEffect" fill="hold">
                      <p:stCondLst>
                        <p:cond delay="indefinite"/>
                      </p:stCondLst>
                      <p:childTnLst>
                        <p:par>
                          <p:cTn id="1233" nodeType="withEffect" fill="hold">
                            <p:stCondLst>
                              <p:cond delay="0"/>
                            </p:stCondLst>
                            <p:childTnLst>
                              <p:par>
                                <p:cTn id="1234" nodeType="clickEffect" fill="hold" presetClass="entr" presetID="22" presetSubtype="8">
                                  <p:stCondLst>
                                    <p:cond delay="0"/>
                                  </p:stCondLst>
                                  <p:childTnLst>
                                    <p:set>
                                      <p:cBhvr>
                                        <p:cTn id="1235" dur="1" fill="hold">
                                          <p:stCondLst>
                                            <p:cond delay="0"/>
                                          </p:stCondLst>
                                        </p:cTn>
                                        <p:tgtEl>
                                          <p:spTgt spid="475">
                                            <p:txEl>
                                              <p:pRg st="3" end="3"/>
                                            </p:txEl>
                                          </p:spTgt>
                                        </p:tgtEl>
                                        <p:attrNameLst>
                                          <p:attrName>style.visibility</p:attrName>
                                        </p:attrNameLst>
                                      </p:cBhvr>
                                      <p:to>
                                        <p:strVal val="visible"/>
                                      </p:to>
                                    </p:set>
                                    <p:animEffect filter="wipe(left)" transition="in">
                                      <p:cBhvr additive="repl">
                                        <p:cTn id="1236" dur="500"/>
                                        <p:tgtEl>
                                          <p:spTgt spid="475">
                                            <p:txEl>
                                              <p:pRg st="3" end="3"/>
                                            </p:txEl>
                                          </p:spTgt>
                                        </p:tgtEl>
                                      </p:cBhvr>
                                    </p:animEffect>
                                  </p:childTnLst>
                                </p:cTn>
                              </p:par>
                              <p:par>
                                <p:cTn id="1237" nodeType="withEffect" fill="hold" presetClass="entr" presetID="10">
                                  <p:stCondLst>
                                    <p:cond delay="0"/>
                                  </p:stCondLst>
                                  <p:childTnLst>
                                    <p:set>
                                      <p:cBhvr>
                                        <p:cTn id="1238" dur="1" fill="hold">
                                          <p:stCondLst>
                                            <p:cond delay="0"/>
                                          </p:stCondLst>
                                        </p:cTn>
                                        <p:tgtEl>
                                          <p:spTgt spid="479"/>
                                        </p:tgtEl>
                                        <p:attrNameLst>
                                          <p:attrName>style.visibility</p:attrName>
                                        </p:attrNameLst>
                                      </p:cBhvr>
                                      <p:to>
                                        <p:strVal val="visible"/>
                                      </p:to>
                                    </p:set>
                                    <p:animEffect filter="fade" transition="in">
                                      <p:cBhvr additive="repl">
                                        <p:cTn id="1239" dur="500"/>
                                        <p:tgtEl>
                                          <p:spTgt spid="4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480" name="Picture 1" descr="fig1207aa.gif"/>
          <p:cNvPicPr/>
          <p:nvPr/>
        </p:nvPicPr>
        <p:blipFill>
          <a:blip r:embed="rId1"/>
          <a:stretch/>
        </p:blipFill>
        <p:spPr>
          <a:xfrm>
            <a:off x="2362320" y="304920"/>
            <a:ext cx="4866480" cy="6000120"/>
          </a:xfrm>
          <a:prstGeom prst="rect">
            <a:avLst/>
          </a:prstGeom>
          <a:noFill/>
          <a:ln w="0">
            <a:noFill/>
          </a:ln>
        </p:spPr>
      </p:pic>
      <p:pic>
        <p:nvPicPr>
          <p:cNvPr id="481" name="Picture 2" descr="fig1207ab.gif"/>
          <p:cNvPicPr/>
          <p:nvPr/>
        </p:nvPicPr>
        <p:blipFill>
          <a:blip r:embed="rId2"/>
          <a:stretch/>
        </p:blipFill>
        <p:spPr>
          <a:xfrm>
            <a:off x="2362320" y="304920"/>
            <a:ext cx="4866480" cy="6000120"/>
          </a:xfrm>
          <a:prstGeom prst="rect">
            <a:avLst/>
          </a:prstGeom>
          <a:noFill/>
          <a:ln w="0">
            <a:noFill/>
          </a:ln>
        </p:spPr>
      </p:pic>
      <p:pic>
        <p:nvPicPr>
          <p:cNvPr id="482" name="Picture 3" descr="fig1207ac.gif"/>
          <p:cNvPicPr/>
          <p:nvPr/>
        </p:nvPicPr>
        <p:blipFill>
          <a:blip r:embed="rId3"/>
          <a:stretch/>
        </p:blipFill>
        <p:spPr>
          <a:xfrm>
            <a:off x="2362320" y="304920"/>
            <a:ext cx="4866480" cy="6000120"/>
          </a:xfrm>
          <a:prstGeom prst="rect">
            <a:avLst/>
          </a:prstGeom>
          <a:noFill/>
          <a:ln w="0">
            <a:noFill/>
          </a:ln>
        </p:spPr>
      </p:pic>
      <p:pic>
        <p:nvPicPr>
          <p:cNvPr id="483" name="Picture 4" descr="fig1207ad.gif"/>
          <p:cNvPicPr/>
          <p:nvPr/>
        </p:nvPicPr>
        <p:blipFill>
          <a:blip r:embed="rId4"/>
          <a:stretch/>
        </p:blipFill>
        <p:spPr>
          <a:xfrm>
            <a:off x="2362320" y="304920"/>
            <a:ext cx="4866480" cy="6000120"/>
          </a:xfrm>
          <a:prstGeom prst="rect">
            <a:avLst/>
          </a:prstGeom>
          <a:noFill/>
          <a:ln w="0">
            <a:noFill/>
          </a:ln>
        </p:spPr>
      </p:pic>
    </p:spTree>
  </p:cSld>
  <p:transition spd="slow">
    <p:wipe dir="r"/>
  </p:transition>
  <p:timing>
    <p:tnLst>
      <p:par>
        <p:cTn id="1240" dur="indefinite" restart="never" nodeType="tmRoot">
          <p:childTnLst>
            <p:seq>
              <p:cTn id="1241" dur="indefinite" nodeType="mainSeq">
                <p:childTnLst>
                  <p:par>
                    <p:cTn id="1242" nodeType="clickEffect" fill="hold">
                      <p:stCondLst>
                        <p:cond delay="indefinite"/>
                      </p:stCondLst>
                      <p:childTnLst>
                        <p:par>
                          <p:cTn id="1243" nodeType="withEffect" fill="hold">
                            <p:stCondLst>
                              <p:cond delay="0"/>
                            </p:stCondLst>
                            <p:childTnLst>
                              <p:par>
                                <p:cTn id="1244" nodeType="clickEffect" fill="hold" presetClass="entr" presetID="22" presetSubtype="8">
                                  <p:stCondLst>
                                    <p:cond delay="0"/>
                                  </p:stCondLst>
                                  <p:childTnLst>
                                    <p:set>
                                      <p:cBhvr>
                                        <p:cTn id="1245" dur="1" fill="hold">
                                          <p:stCondLst>
                                            <p:cond delay="0"/>
                                          </p:stCondLst>
                                        </p:cTn>
                                        <p:tgtEl>
                                          <p:spTgt spid="481"/>
                                        </p:tgtEl>
                                        <p:attrNameLst>
                                          <p:attrName>style.visibility</p:attrName>
                                        </p:attrNameLst>
                                      </p:cBhvr>
                                      <p:to>
                                        <p:strVal val="visible"/>
                                      </p:to>
                                    </p:set>
                                    <p:animEffect filter="wipe(left)" transition="in">
                                      <p:cBhvr additive="repl">
                                        <p:cTn id="1246" dur="1000"/>
                                        <p:tgtEl>
                                          <p:spTgt spid="481"/>
                                        </p:tgtEl>
                                      </p:cBhvr>
                                    </p:animEffect>
                                  </p:childTnLst>
                                </p:cTn>
                              </p:par>
                            </p:childTnLst>
                          </p:cTn>
                        </p:par>
                      </p:childTnLst>
                    </p:cTn>
                  </p:par>
                  <p:par>
                    <p:cTn id="1247" nodeType="clickEffect" fill="hold">
                      <p:stCondLst>
                        <p:cond delay="indefinite"/>
                      </p:stCondLst>
                      <p:childTnLst>
                        <p:par>
                          <p:cTn id="1248" nodeType="withEffect" fill="hold">
                            <p:stCondLst>
                              <p:cond delay="0"/>
                            </p:stCondLst>
                            <p:childTnLst>
                              <p:par>
                                <p:cTn id="1249" nodeType="clickEffect" fill="hold" presetClass="entr" presetID="22" presetSubtype="8">
                                  <p:stCondLst>
                                    <p:cond delay="0"/>
                                  </p:stCondLst>
                                  <p:childTnLst>
                                    <p:set>
                                      <p:cBhvr>
                                        <p:cTn id="1250" dur="1" fill="hold">
                                          <p:stCondLst>
                                            <p:cond delay="0"/>
                                          </p:stCondLst>
                                        </p:cTn>
                                        <p:tgtEl>
                                          <p:spTgt spid="482"/>
                                        </p:tgtEl>
                                        <p:attrNameLst>
                                          <p:attrName>style.visibility</p:attrName>
                                        </p:attrNameLst>
                                      </p:cBhvr>
                                      <p:to>
                                        <p:strVal val="visible"/>
                                      </p:to>
                                    </p:set>
                                    <p:animEffect filter="wipe(left)" transition="in">
                                      <p:cBhvr additive="repl">
                                        <p:cTn id="1251" dur="1000"/>
                                        <p:tgtEl>
                                          <p:spTgt spid="482"/>
                                        </p:tgtEl>
                                      </p:cBhvr>
                                    </p:animEffect>
                                  </p:childTnLst>
                                </p:cTn>
                              </p:par>
                            </p:childTnLst>
                          </p:cTn>
                        </p:par>
                      </p:childTnLst>
                    </p:cTn>
                  </p:par>
                  <p:par>
                    <p:cTn id="1252" nodeType="clickEffect" fill="hold">
                      <p:stCondLst>
                        <p:cond delay="indefinite"/>
                      </p:stCondLst>
                      <p:childTnLst>
                        <p:par>
                          <p:cTn id="1253" nodeType="withEffect" fill="hold">
                            <p:stCondLst>
                              <p:cond delay="0"/>
                            </p:stCondLst>
                            <p:childTnLst>
                              <p:par>
                                <p:cTn id="1254" nodeType="clickEffect" fill="hold" presetClass="entr" presetID="10">
                                  <p:stCondLst>
                                    <p:cond delay="0"/>
                                  </p:stCondLst>
                                  <p:childTnLst>
                                    <p:set>
                                      <p:cBhvr>
                                        <p:cTn id="1255" dur="1" fill="hold">
                                          <p:stCondLst>
                                            <p:cond delay="0"/>
                                          </p:stCondLst>
                                        </p:cTn>
                                        <p:tgtEl>
                                          <p:spTgt spid="483"/>
                                        </p:tgtEl>
                                        <p:attrNameLst>
                                          <p:attrName>style.visibility</p:attrName>
                                        </p:attrNameLst>
                                      </p:cBhvr>
                                      <p:to>
                                        <p:strVal val="visible"/>
                                      </p:to>
                                    </p:set>
                                    <p:animEffect filter="fade" transition="in">
                                      <p:cBhvr additive="repl">
                                        <p:cTn id="1256" dur="500"/>
                                        <p:tgtEl>
                                          <p:spTgt spid="4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4" name="PlaceHolder 1"/>
          <p:cNvSpPr>
            <a:spLocks noGrp="1"/>
          </p:cNvSpPr>
          <p:nvPr>
            <p:ph type="title"/>
          </p:nvPr>
        </p:nvSpPr>
        <p:spPr>
          <a:xfrm>
            <a:off x="431640" y="539640"/>
            <a:ext cx="8228880" cy="53280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tabLst>
                <a:tab algn="l" pos="0"/>
              </a:tabLst>
            </a:pPr>
            <a:r>
              <a:rPr b="1" lang="en-US" sz="2600" strike="noStrike" u="none">
                <a:solidFill>
                  <a:schemeClr val="lt1"/>
                </a:solidFill>
                <a:effectLst/>
                <a:uFillTx/>
                <a:latin typeface="Arial"/>
                <a:ea typeface="ＭＳ Ｐゴシック"/>
              </a:rPr>
              <a:t>13.3  EFFICIENCY, PRICE, AND VALUE</a:t>
            </a:r>
            <a:endParaRPr b="0" lang="en-US" sz="2600" strike="noStrike" u="none">
              <a:solidFill>
                <a:srgbClr val="000000"/>
              </a:solidFill>
              <a:effectLst/>
              <a:uFillTx/>
              <a:latin typeface="Arial"/>
            </a:endParaRPr>
          </a:p>
        </p:txBody>
      </p:sp>
      <p:sp>
        <p:nvSpPr>
          <p:cNvPr id="485" name="PlaceHolder 2"/>
          <p:cNvSpPr>
            <a:spLocks noGrp="1"/>
          </p:cNvSpPr>
          <p:nvPr>
            <p:ph/>
          </p:nvPr>
        </p:nvSpPr>
        <p:spPr>
          <a:xfrm>
            <a:off x="360360" y="1440000"/>
            <a:ext cx="4287240" cy="464760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In this figure, the demand curve </a:t>
            </a:r>
            <a:r>
              <a:rPr b="0" i="1" lang="en-US" sz="2400" strike="noStrike" u="none">
                <a:solidFill>
                  <a:schemeClr val="dk1"/>
                </a:solidFill>
                <a:effectLst/>
                <a:uFillTx/>
                <a:latin typeface="Arial"/>
                <a:ea typeface="ＭＳ Ｐゴシック"/>
              </a:rPr>
              <a:t>D</a:t>
            </a:r>
            <a:r>
              <a:rPr b="0" lang="en-US" sz="2400" strike="noStrike" u="none">
                <a:solidFill>
                  <a:schemeClr val="dk1"/>
                </a:solidFill>
                <a:effectLst/>
                <a:uFillTx/>
                <a:latin typeface="Arial"/>
                <a:ea typeface="ＭＳ Ｐゴシック"/>
              </a:rPr>
              <a:t> is the demand for diamonds.</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demand curve and the supply curve </a:t>
            </a:r>
            <a:r>
              <a:rPr b="0" i="1" lang="en-US" sz="2400" strike="noStrike" u="none">
                <a:solidFill>
                  <a:srgbClr val="000000"/>
                </a:solidFill>
                <a:effectLst/>
                <a:uFillTx/>
                <a:latin typeface="Arial"/>
                <a:ea typeface="ＭＳ Ｐゴシック"/>
              </a:rPr>
              <a:t>S</a:t>
            </a:r>
            <a:r>
              <a:rPr b="0" lang="en-US" sz="2400" strike="noStrike" u="none">
                <a:solidFill>
                  <a:srgbClr val="000000"/>
                </a:solidFill>
                <a:effectLst/>
                <a:uFillTx/>
                <a:latin typeface="Arial"/>
                <a:ea typeface="ＭＳ Ｐゴシック"/>
              </a:rPr>
              <a:t> determine the price of a diamond at </a:t>
            </a:r>
            <a:r>
              <a:rPr b="0" i="1" lang="en-US" sz="2400" strike="noStrike" u="none">
                <a:solidFill>
                  <a:srgbClr val="000000"/>
                </a:solidFill>
                <a:effectLst/>
                <a:uFillTx/>
                <a:latin typeface="Arial"/>
                <a:ea typeface="ＭＳ Ｐゴシック"/>
              </a:rPr>
              <a:t>P</a:t>
            </a:r>
            <a:r>
              <a:rPr b="0" i="1" lang="en-US" sz="2400" strike="noStrike" u="none" baseline="-25000">
                <a:solidFill>
                  <a:srgbClr val="000000"/>
                </a:solidFill>
                <a:effectLst/>
                <a:uFillTx/>
                <a:latin typeface="Arial"/>
                <a:ea typeface="ＭＳ Ｐゴシック"/>
              </a:rPr>
              <a:t>D</a:t>
            </a:r>
            <a:r>
              <a:rPr b="0" lang="en-US" sz="2400" strike="noStrike" u="none">
                <a:solidFill>
                  <a:srgbClr val="000000"/>
                </a:solidFill>
                <a:effectLst/>
                <a:uFillTx/>
                <a:latin typeface="Arial"/>
                <a:ea typeface="ＭＳ Ｐゴシック"/>
              </a:rPr>
              <a:t> and the quantity at </a:t>
            </a:r>
            <a:r>
              <a:rPr b="0" i="1" lang="en-US" sz="2400" strike="noStrike" u="none">
                <a:solidFill>
                  <a:srgbClr val="000000"/>
                </a:solidFill>
                <a:effectLst/>
                <a:uFillTx/>
                <a:latin typeface="Arial"/>
                <a:ea typeface="ＭＳ Ｐゴシック"/>
              </a:rPr>
              <a:t>Q</a:t>
            </a:r>
            <a:r>
              <a:rPr b="0" i="1" lang="en-US" sz="2400" strike="noStrike" u="none" baseline="-25000">
                <a:solidFill>
                  <a:srgbClr val="000000"/>
                </a:solidFill>
                <a:effectLst/>
                <a:uFillTx/>
                <a:latin typeface="Arial"/>
                <a:ea typeface="ＭＳ Ｐゴシック"/>
              </a:rPr>
              <a:t>D</a:t>
            </a:r>
            <a:r>
              <a:rPr b="0" lang="en-US" sz="2400" strike="noStrike" u="none">
                <a:solidFill>
                  <a:srgbClr val="000000"/>
                </a:solidFill>
                <a:effectLst/>
                <a:uFillTx/>
                <a:latin typeface="Arial"/>
                <a:ea typeface="ＭＳ Ｐゴシック"/>
              </a:rPr>
              <a:t>.</a:t>
            </a:r>
            <a:endParaRPr b="0" lang="en-US" sz="2400" strike="noStrike" u="none">
              <a:solidFill>
                <a:srgbClr val="000000"/>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consumer surplus from diamonds is the area of the small green triangle.</a:t>
            </a:r>
            <a:endParaRPr b="0" lang="en-US" sz="2400" strike="noStrike" u="none">
              <a:solidFill>
                <a:srgbClr val="000000"/>
              </a:solidFill>
              <a:effectLst/>
              <a:uFillTx/>
              <a:latin typeface="Arial"/>
            </a:endParaRPr>
          </a:p>
          <a:p>
            <a:pPr marL="360000" indent="0">
              <a:lnSpc>
                <a:spcPct val="90000"/>
              </a:lnSpc>
              <a:buNone/>
              <a:tabLst>
                <a:tab algn="l" pos="0"/>
              </a:tabLst>
            </a:pPr>
            <a:r>
              <a:rPr b="0" lang="en-US" sz="2400" strike="noStrike" u="none">
                <a:solidFill>
                  <a:schemeClr val="dk1"/>
                </a:solidFill>
                <a:effectLst/>
                <a:uFillTx/>
                <a:latin typeface="Arial"/>
                <a:ea typeface="ＭＳ Ｐゴシック"/>
              </a:rPr>
              <a:t> </a:t>
            </a:r>
            <a:endParaRPr b="0" lang="en-US" sz="2400" strike="noStrike" u="none">
              <a:solidFill>
                <a:srgbClr val="000000"/>
              </a:solidFill>
              <a:effectLst/>
              <a:uFillTx/>
              <a:latin typeface="Arial"/>
            </a:endParaRPr>
          </a:p>
        </p:txBody>
      </p:sp>
      <p:pic>
        <p:nvPicPr>
          <p:cNvPr id="486" name="Picture 1" descr="fig1207ba.gif"/>
          <p:cNvPicPr/>
          <p:nvPr/>
        </p:nvPicPr>
        <p:blipFill>
          <a:blip r:embed="rId1"/>
          <a:stretch/>
        </p:blipFill>
        <p:spPr>
          <a:xfrm>
            <a:off x="4967280" y="1440000"/>
            <a:ext cx="3648960" cy="4500000"/>
          </a:xfrm>
          <a:prstGeom prst="rect">
            <a:avLst/>
          </a:prstGeom>
          <a:noFill/>
          <a:ln w="0">
            <a:noFill/>
          </a:ln>
        </p:spPr>
      </p:pic>
      <p:pic>
        <p:nvPicPr>
          <p:cNvPr id="487" name="Picture 2" descr="fig1207bb.gif"/>
          <p:cNvPicPr/>
          <p:nvPr/>
        </p:nvPicPr>
        <p:blipFill>
          <a:blip r:embed="rId2"/>
          <a:stretch/>
        </p:blipFill>
        <p:spPr>
          <a:xfrm>
            <a:off x="4967280" y="1440000"/>
            <a:ext cx="3648960" cy="4500000"/>
          </a:xfrm>
          <a:prstGeom prst="rect">
            <a:avLst/>
          </a:prstGeom>
          <a:noFill/>
          <a:ln w="0">
            <a:noFill/>
          </a:ln>
        </p:spPr>
      </p:pic>
      <p:pic>
        <p:nvPicPr>
          <p:cNvPr id="488" name="Picture 3" descr="fig1207bc.gif"/>
          <p:cNvPicPr/>
          <p:nvPr/>
        </p:nvPicPr>
        <p:blipFill>
          <a:blip r:embed="rId3"/>
          <a:stretch/>
        </p:blipFill>
        <p:spPr>
          <a:xfrm>
            <a:off x="4967280" y="1440000"/>
            <a:ext cx="3648960" cy="4500000"/>
          </a:xfrm>
          <a:prstGeom prst="rect">
            <a:avLst/>
          </a:prstGeom>
          <a:noFill/>
          <a:ln w="0">
            <a:noFill/>
          </a:ln>
        </p:spPr>
      </p:pic>
      <p:pic>
        <p:nvPicPr>
          <p:cNvPr id="489" name="Picture 4" descr="fig1207bd.gif"/>
          <p:cNvPicPr/>
          <p:nvPr/>
        </p:nvPicPr>
        <p:blipFill>
          <a:blip r:embed="rId4"/>
          <a:stretch/>
        </p:blipFill>
        <p:spPr>
          <a:xfrm>
            <a:off x="4967280" y="1440000"/>
            <a:ext cx="3648960" cy="4500000"/>
          </a:xfrm>
          <a:prstGeom prst="rect">
            <a:avLst/>
          </a:prstGeom>
          <a:noFill/>
          <a:ln w="0">
            <a:noFill/>
          </a:ln>
        </p:spPr>
      </p:pic>
    </p:spTree>
  </p:cSld>
  <p:transition spd="slow">
    <p:wipe dir="r"/>
  </p:transition>
  <p:timing>
    <p:tnLst>
      <p:par>
        <p:cTn id="1257" dur="indefinite" restart="never" nodeType="tmRoot">
          <p:childTnLst>
            <p:seq>
              <p:cTn id="1258" dur="indefinite" nodeType="mainSeq">
                <p:childTnLst>
                  <p:par>
                    <p:cTn id="1259" nodeType="clickEffect" fill="hold">
                      <p:stCondLst>
                        <p:cond delay="0"/>
                      </p:stCondLst>
                      <p:childTnLst>
                        <p:par>
                          <p:cTn id="1260" nodeType="withEffect" fill="hold">
                            <p:stCondLst>
                              <p:cond delay="0"/>
                            </p:stCondLst>
                            <p:childTnLst>
                              <p:par>
                                <p:cTn id="1261" nodeType="withEffect" fill="hold" presetClass="entr" presetID="22" presetSubtype="8">
                                  <p:stCondLst>
                                    <p:cond delay="0"/>
                                  </p:stCondLst>
                                  <p:childTnLst>
                                    <p:set>
                                      <p:cBhvr>
                                        <p:cTn id="1262" dur="1" fill="hold">
                                          <p:stCondLst>
                                            <p:cond delay="0"/>
                                          </p:stCondLst>
                                        </p:cTn>
                                        <p:tgtEl>
                                          <p:spTgt spid="487"/>
                                        </p:tgtEl>
                                        <p:attrNameLst>
                                          <p:attrName>style.visibility</p:attrName>
                                        </p:attrNameLst>
                                      </p:cBhvr>
                                      <p:to>
                                        <p:strVal val="visible"/>
                                      </p:to>
                                    </p:set>
                                    <p:animEffect filter="wipe(left)" transition="in">
                                      <p:cBhvr additive="repl">
                                        <p:cTn id="1263" dur="1000"/>
                                        <p:tgtEl>
                                          <p:spTgt spid="487"/>
                                        </p:tgtEl>
                                      </p:cBhvr>
                                    </p:animEffect>
                                  </p:childTnLst>
                                </p:cTn>
                              </p:par>
                            </p:childTnLst>
                          </p:cTn>
                        </p:par>
                      </p:childTnLst>
                    </p:cTn>
                  </p:par>
                  <p:par>
                    <p:cTn id="1264" nodeType="clickEffect" fill="hold">
                      <p:stCondLst>
                        <p:cond delay="indefinite"/>
                      </p:stCondLst>
                      <p:childTnLst>
                        <p:par>
                          <p:cTn id="1265" nodeType="withEffect" fill="hold">
                            <p:stCondLst>
                              <p:cond delay="0"/>
                            </p:stCondLst>
                            <p:childTnLst>
                              <p:par>
                                <p:cTn id="1266" nodeType="clickEffect" fill="hold" presetClass="entr" presetID="22" presetSubtype="8">
                                  <p:stCondLst>
                                    <p:cond delay="0"/>
                                  </p:stCondLst>
                                  <p:childTnLst>
                                    <p:set>
                                      <p:cBhvr>
                                        <p:cTn id="1267" dur="1" fill="hold">
                                          <p:stCondLst>
                                            <p:cond delay="0"/>
                                          </p:stCondLst>
                                        </p:cTn>
                                        <p:tgtEl>
                                          <p:spTgt spid="485">
                                            <p:txEl>
                                              <p:pRg st="1" end="1"/>
                                            </p:txEl>
                                          </p:spTgt>
                                        </p:tgtEl>
                                        <p:attrNameLst>
                                          <p:attrName>style.visibility</p:attrName>
                                        </p:attrNameLst>
                                      </p:cBhvr>
                                      <p:to>
                                        <p:strVal val="visible"/>
                                      </p:to>
                                    </p:set>
                                    <p:animEffect filter="wipe(left)" transition="in">
                                      <p:cBhvr additive="repl">
                                        <p:cTn id="1268" dur="500"/>
                                        <p:tgtEl>
                                          <p:spTgt spid="485">
                                            <p:txEl>
                                              <p:pRg st="1" end="1"/>
                                            </p:txEl>
                                          </p:spTgt>
                                        </p:tgtEl>
                                      </p:cBhvr>
                                    </p:animEffect>
                                  </p:childTnLst>
                                </p:cTn>
                              </p:par>
                              <p:par>
                                <p:cTn id="1269" nodeType="withEffect" fill="hold" presetClass="entr" presetID="22" presetSubtype="4">
                                  <p:stCondLst>
                                    <p:cond delay="0"/>
                                  </p:stCondLst>
                                  <p:childTnLst>
                                    <p:set>
                                      <p:cBhvr>
                                        <p:cTn id="1270" dur="1" fill="hold">
                                          <p:stCondLst>
                                            <p:cond delay="0"/>
                                          </p:stCondLst>
                                        </p:cTn>
                                        <p:tgtEl>
                                          <p:spTgt spid="488"/>
                                        </p:tgtEl>
                                        <p:attrNameLst>
                                          <p:attrName>style.visibility</p:attrName>
                                        </p:attrNameLst>
                                      </p:cBhvr>
                                      <p:to>
                                        <p:strVal val="visible"/>
                                      </p:to>
                                    </p:set>
                                    <p:animEffect filter="wipe(down)" transition="in">
                                      <p:cBhvr additive="repl">
                                        <p:cTn id="1271" dur="1000"/>
                                        <p:tgtEl>
                                          <p:spTgt spid="488"/>
                                        </p:tgtEl>
                                      </p:cBhvr>
                                    </p:animEffect>
                                  </p:childTnLst>
                                </p:cTn>
                              </p:par>
                            </p:childTnLst>
                          </p:cTn>
                        </p:par>
                      </p:childTnLst>
                    </p:cTn>
                  </p:par>
                  <p:par>
                    <p:cTn id="1272" nodeType="clickEffect" fill="hold">
                      <p:stCondLst>
                        <p:cond delay="indefinite"/>
                      </p:stCondLst>
                      <p:childTnLst>
                        <p:par>
                          <p:cTn id="1273" nodeType="withEffect" fill="hold">
                            <p:stCondLst>
                              <p:cond delay="0"/>
                            </p:stCondLst>
                            <p:childTnLst>
                              <p:par>
                                <p:cTn id="1274" nodeType="clickEffect" fill="hold" presetClass="entr" presetID="22" presetSubtype="8">
                                  <p:stCondLst>
                                    <p:cond delay="0"/>
                                  </p:stCondLst>
                                  <p:childTnLst>
                                    <p:set>
                                      <p:cBhvr>
                                        <p:cTn id="1275" dur="1" fill="hold">
                                          <p:stCondLst>
                                            <p:cond delay="0"/>
                                          </p:stCondLst>
                                        </p:cTn>
                                        <p:tgtEl>
                                          <p:spTgt spid="485">
                                            <p:txEl>
                                              <p:pRg st="2" end="2"/>
                                            </p:txEl>
                                          </p:spTgt>
                                        </p:tgtEl>
                                        <p:attrNameLst>
                                          <p:attrName>style.visibility</p:attrName>
                                        </p:attrNameLst>
                                      </p:cBhvr>
                                      <p:to>
                                        <p:strVal val="visible"/>
                                      </p:to>
                                    </p:set>
                                    <p:animEffect filter="wipe(left)" transition="in">
                                      <p:cBhvr additive="repl">
                                        <p:cTn id="1276" dur="500"/>
                                        <p:tgtEl>
                                          <p:spTgt spid="485">
                                            <p:txEl>
                                              <p:pRg st="2" end="2"/>
                                            </p:txEl>
                                          </p:spTgt>
                                        </p:tgtEl>
                                      </p:cBhvr>
                                    </p:animEffect>
                                  </p:childTnLst>
                                </p:cTn>
                              </p:par>
                              <p:par>
                                <p:cTn id="1277" nodeType="withEffect" fill="hold" presetClass="entr" presetID="10">
                                  <p:stCondLst>
                                    <p:cond delay="0"/>
                                  </p:stCondLst>
                                  <p:childTnLst>
                                    <p:set>
                                      <p:cBhvr>
                                        <p:cTn id="1278" dur="1" fill="hold">
                                          <p:stCondLst>
                                            <p:cond delay="0"/>
                                          </p:stCondLst>
                                        </p:cTn>
                                        <p:tgtEl>
                                          <p:spTgt spid="489"/>
                                        </p:tgtEl>
                                        <p:attrNameLst>
                                          <p:attrName>style.visibility</p:attrName>
                                        </p:attrNameLst>
                                      </p:cBhvr>
                                      <p:to>
                                        <p:strVal val="visible"/>
                                      </p:to>
                                    </p:set>
                                    <p:animEffect filter="fade" transition="in">
                                      <p:cBhvr additive="repl">
                                        <p:cTn id="1279" dur="500"/>
                                        <p:tgtEl>
                                          <p:spTgt spid="4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490" name="Picture 5" descr="fig1207ba.gif"/>
          <p:cNvPicPr/>
          <p:nvPr/>
        </p:nvPicPr>
        <p:blipFill>
          <a:blip r:embed="rId1"/>
          <a:stretch/>
        </p:blipFill>
        <p:spPr>
          <a:xfrm>
            <a:off x="2362320" y="304920"/>
            <a:ext cx="4866480" cy="6000120"/>
          </a:xfrm>
          <a:prstGeom prst="rect">
            <a:avLst/>
          </a:prstGeom>
          <a:noFill/>
          <a:ln w="0">
            <a:noFill/>
          </a:ln>
        </p:spPr>
      </p:pic>
      <p:pic>
        <p:nvPicPr>
          <p:cNvPr id="491" name="Picture 6" descr="fig1207bb.gif"/>
          <p:cNvPicPr/>
          <p:nvPr/>
        </p:nvPicPr>
        <p:blipFill>
          <a:blip r:embed="rId2"/>
          <a:stretch/>
        </p:blipFill>
        <p:spPr>
          <a:xfrm>
            <a:off x="2362320" y="304920"/>
            <a:ext cx="4866480" cy="6000120"/>
          </a:xfrm>
          <a:prstGeom prst="rect">
            <a:avLst/>
          </a:prstGeom>
          <a:noFill/>
          <a:ln w="0">
            <a:noFill/>
          </a:ln>
        </p:spPr>
      </p:pic>
      <p:pic>
        <p:nvPicPr>
          <p:cNvPr id="492" name="Picture 7" descr="fig1207bc.gif"/>
          <p:cNvPicPr/>
          <p:nvPr/>
        </p:nvPicPr>
        <p:blipFill>
          <a:blip r:embed="rId3"/>
          <a:stretch/>
        </p:blipFill>
        <p:spPr>
          <a:xfrm>
            <a:off x="2362320" y="304920"/>
            <a:ext cx="4866480" cy="6000120"/>
          </a:xfrm>
          <a:prstGeom prst="rect">
            <a:avLst/>
          </a:prstGeom>
          <a:noFill/>
          <a:ln w="0">
            <a:noFill/>
          </a:ln>
        </p:spPr>
      </p:pic>
      <p:pic>
        <p:nvPicPr>
          <p:cNvPr id="493" name="Picture 8" descr="fig1207bd.gif"/>
          <p:cNvPicPr/>
          <p:nvPr/>
        </p:nvPicPr>
        <p:blipFill>
          <a:blip r:embed="rId4"/>
          <a:stretch/>
        </p:blipFill>
        <p:spPr>
          <a:xfrm>
            <a:off x="2362320" y="304920"/>
            <a:ext cx="4866480" cy="6000120"/>
          </a:xfrm>
          <a:prstGeom prst="rect">
            <a:avLst/>
          </a:prstGeom>
          <a:noFill/>
          <a:ln w="0">
            <a:noFill/>
          </a:ln>
        </p:spPr>
      </p:pic>
    </p:spTree>
  </p:cSld>
  <p:transition spd="slow">
    <p:wipe dir="r"/>
  </p:transition>
  <p:timing>
    <p:tnLst>
      <p:par>
        <p:cTn id="1280" dur="indefinite" restart="never" nodeType="tmRoot">
          <p:childTnLst>
            <p:seq>
              <p:cTn id="1281" dur="indefinite" nodeType="mainSeq">
                <p:childTnLst>
                  <p:par>
                    <p:cTn id="1282" nodeType="clickEffect" fill="hold">
                      <p:stCondLst>
                        <p:cond delay="indefinite"/>
                      </p:stCondLst>
                      <p:childTnLst>
                        <p:par>
                          <p:cTn id="1283" nodeType="withEffect" fill="hold">
                            <p:stCondLst>
                              <p:cond delay="0"/>
                            </p:stCondLst>
                            <p:childTnLst>
                              <p:par>
                                <p:cTn id="1284" nodeType="clickEffect" fill="hold" presetClass="entr" presetID="22" presetSubtype="8">
                                  <p:stCondLst>
                                    <p:cond delay="0"/>
                                  </p:stCondLst>
                                  <p:childTnLst>
                                    <p:set>
                                      <p:cBhvr>
                                        <p:cTn id="1285" dur="1" fill="hold">
                                          <p:stCondLst>
                                            <p:cond delay="0"/>
                                          </p:stCondLst>
                                        </p:cTn>
                                        <p:tgtEl>
                                          <p:spTgt spid="491"/>
                                        </p:tgtEl>
                                        <p:attrNameLst>
                                          <p:attrName>style.visibility</p:attrName>
                                        </p:attrNameLst>
                                      </p:cBhvr>
                                      <p:to>
                                        <p:strVal val="visible"/>
                                      </p:to>
                                    </p:set>
                                    <p:animEffect filter="wipe(left)" transition="in">
                                      <p:cBhvr additive="repl">
                                        <p:cTn id="1286" dur="1000"/>
                                        <p:tgtEl>
                                          <p:spTgt spid="491"/>
                                        </p:tgtEl>
                                      </p:cBhvr>
                                    </p:animEffect>
                                  </p:childTnLst>
                                </p:cTn>
                              </p:par>
                            </p:childTnLst>
                          </p:cTn>
                        </p:par>
                      </p:childTnLst>
                    </p:cTn>
                  </p:par>
                  <p:par>
                    <p:cTn id="1287" nodeType="clickEffect" fill="hold">
                      <p:stCondLst>
                        <p:cond delay="indefinite"/>
                      </p:stCondLst>
                      <p:childTnLst>
                        <p:par>
                          <p:cTn id="1288" nodeType="withEffect" fill="hold">
                            <p:stCondLst>
                              <p:cond delay="0"/>
                            </p:stCondLst>
                            <p:childTnLst>
                              <p:par>
                                <p:cTn id="1289" nodeType="clickEffect" fill="hold" presetClass="entr" presetID="22" presetSubtype="4">
                                  <p:stCondLst>
                                    <p:cond delay="0"/>
                                  </p:stCondLst>
                                  <p:childTnLst>
                                    <p:set>
                                      <p:cBhvr>
                                        <p:cTn id="1290" dur="1" fill="hold">
                                          <p:stCondLst>
                                            <p:cond delay="0"/>
                                          </p:stCondLst>
                                        </p:cTn>
                                        <p:tgtEl>
                                          <p:spTgt spid="492"/>
                                        </p:tgtEl>
                                        <p:attrNameLst>
                                          <p:attrName>style.visibility</p:attrName>
                                        </p:attrNameLst>
                                      </p:cBhvr>
                                      <p:to>
                                        <p:strVal val="visible"/>
                                      </p:to>
                                    </p:set>
                                    <p:animEffect filter="wipe(down)" transition="in">
                                      <p:cBhvr additive="repl">
                                        <p:cTn id="1291" dur="1000"/>
                                        <p:tgtEl>
                                          <p:spTgt spid="492"/>
                                        </p:tgtEl>
                                      </p:cBhvr>
                                    </p:animEffect>
                                  </p:childTnLst>
                                </p:cTn>
                              </p:par>
                            </p:childTnLst>
                          </p:cTn>
                        </p:par>
                      </p:childTnLst>
                    </p:cTn>
                  </p:par>
                  <p:par>
                    <p:cTn id="1292" nodeType="clickEffect" fill="hold">
                      <p:stCondLst>
                        <p:cond delay="indefinite"/>
                      </p:stCondLst>
                      <p:childTnLst>
                        <p:par>
                          <p:cTn id="1293" nodeType="withEffect" fill="hold">
                            <p:stCondLst>
                              <p:cond delay="0"/>
                            </p:stCondLst>
                            <p:childTnLst>
                              <p:par>
                                <p:cTn id="1294" nodeType="clickEffect" fill="hold" presetClass="entr" presetID="10">
                                  <p:stCondLst>
                                    <p:cond delay="0"/>
                                  </p:stCondLst>
                                  <p:childTnLst>
                                    <p:set>
                                      <p:cBhvr>
                                        <p:cTn id="1295" dur="1" fill="hold">
                                          <p:stCondLst>
                                            <p:cond delay="0"/>
                                          </p:stCondLst>
                                        </p:cTn>
                                        <p:tgtEl>
                                          <p:spTgt spid="493"/>
                                        </p:tgtEl>
                                        <p:attrNameLst>
                                          <p:attrName>style.visibility</p:attrName>
                                        </p:attrNameLst>
                                      </p:cBhvr>
                                      <p:to>
                                        <p:strVal val="visible"/>
                                      </p:to>
                                    </p:set>
                                    <p:animEffect filter="fade" transition="in">
                                      <p:cBhvr additive="repl">
                                        <p:cTn id="1296" dur="500"/>
                                        <p:tgtEl>
                                          <p:spTgt spid="4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4" name="Rectangle 5"/>
          <p:cNvSpPr/>
          <p:nvPr/>
        </p:nvSpPr>
        <p:spPr>
          <a:xfrm>
            <a:off x="360360" y="1511280"/>
            <a:ext cx="7923960" cy="4342680"/>
          </a:xfrm>
          <a:prstGeom prst="rect">
            <a:avLst/>
          </a:prstGeom>
          <a:noFill/>
          <a:ln w="0">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You might say that you</a:t>
            </a:r>
            <a:r>
              <a:rPr b="0" lang="en-CA" sz="2400" strike="noStrike" u="none">
                <a:solidFill>
                  <a:srgbClr val="000000"/>
                </a:solidFill>
                <a:effectLst/>
                <a:uFillTx/>
                <a:latin typeface="Arial"/>
                <a:ea typeface="ＭＳ Ｐゴシック"/>
              </a:rPr>
              <a:t>’</a:t>
            </a:r>
            <a:r>
              <a:rPr b="0" lang="en-US" sz="2400" strike="noStrike" u="none">
                <a:solidFill>
                  <a:srgbClr val="000000"/>
                </a:solidFill>
                <a:effectLst/>
                <a:uFillTx/>
                <a:latin typeface="Arial"/>
                <a:ea typeface="ＭＳ Ｐゴシック"/>
              </a:rPr>
              <a:t>re willing to pay only 99¢ for a song, but that</a:t>
            </a:r>
            <a:r>
              <a:rPr b="0" lang="en-CA" sz="2400" strike="noStrike" u="none">
                <a:solidFill>
                  <a:srgbClr val="000000"/>
                </a:solidFill>
                <a:effectLst/>
                <a:uFillTx/>
                <a:latin typeface="Arial"/>
                <a:ea typeface="ＭＳ Ｐゴシック"/>
              </a:rPr>
              <a:t>’</a:t>
            </a:r>
            <a:r>
              <a:rPr b="0" lang="en-US" sz="2400" strike="noStrike" u="none">
                <a:solidFill>
                  <a:srgbClr val="000000"/>
                </a:solidFill>
                <a:effectLst/>
                <a:uFillTx/>
                <a:latin typeface="Arial"/>
                <a:ea typeface="ＭＳ Ｐゴシック"/>
              </a:rPr>
              <a:t>s not the answer of the average consumer.</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And it is probably not really your answer either. It is also not what the answer would have been just a few years ago.</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We can work out what people are willing to pay for a song by finding the demand curve for songs</a:t>
            </a:r>
            <a:r>
              <a:rPr b="0" lang="en-US" sz="2400" strike="noStrike" u="none">
                <a:solidFill>
                  <a:srgbClr val="00468f"/>
                </a:solidFill>
                <a:effectLst/>
                <a:uFillTx/>
                <a:latin typeface="Arial"/>
                <a:ea typeface="ＭＳ Ｐゴシック"/>
              </a:rPr>
              <a:t> </a:t>
            </a:r>
            <a:r>
              <a:rPr b="0" lang="en-US" sz="2400" strike="noStrike" u="none">
                <a:solidFill>
                  <a:srgbClr val="000000"/>
                </a:solidFill>
                <a:effectLst/>
                <a:uFillTx/>
                <a:latin typeface="Arial"/>
                <a:ea typeface="ＭＳ Ｐゴシック"/>
              </a:rPr>
              <a:t>and then finding the consumer surplus.</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To find the demand curve, we need to look at the prices and quantities in the market for songs.</a:t>
            </a:r>
            <a:endParaRPr b="0" lang="en-US" sz="2400" strike="noStrike" u="none">
              <a:solidFill>
                <a:srgbClr val="000000"/>
              </a:solidFill>
              <a:effectLst/>
              <a:uFillTx/>
              <a:latin typeface="Arial"/>
            </a:endParaRPr>
          </a:p>
        </p:txBody>
      </p:sp>
      <p:pic>
        <p:nvPicPr>
          <p:cNvPr id="495" name="Picture 1" descr=""/>
          <p:cNvPicPr/>
          <p:nvPr/>
        </p:nvPicPr>
        <p:blipFill>
          <a:blip r:embed="rId1"/>
          <a:stretch/>
        </p:blipFill>
        <p:spPr>
          <a:xfrm>
            <a:off x="0" y="0"/>
            <a:ext cx="9143280" cy="1193040"/>
          </a:xfrm>
          <a:prstGeom prst="rect">
            <a:avLst/>
          </a:prstGeom>
          <a:noFill/>
          <a:ln w="0">
            <a:noFill/>
          </a:ln>
        </p:spPr>
      </p:pic>
    </p:spTree>
  </p:cSld>
  <p:transition spd="slow">
    <p:wipe dir="r"/>
  </p:transition>
  <p:timing>
    <p:tnLst>
      <p:par>
        <p:cTn id="1297" dur="indefinite" restart="never" nodeType="tmRoot">
          <p:childTnLst>
            <p:seq>
              <p:cTn id="1298" dur="indefinite" nodeType="mainSeq">
                <p:childTnLst>
                  <p:par>
                    <p:cTn id="1299" nodeType="clickEffect" fill="hold">
                      <p:stCondLst>
                        <p:cond delay="indefinite"/>
                      </p:stCondLst>
                      <p:childTnLst>
                        <p:par>
                          <p:cTn id="1300" nodeType="withEffect" fill="hold">
                            <p:stCondLst>
                              <p:cond delay="0"/>
                            </p:stCondLst>
                            <p:childTnLst>
                              <p:par>
                                <p:cTn id="1301" nodeType="clickEffect" fill="hold" presetClass="entr" presetID="22" presetSubtype="8">
                                  <p:stCondLst>
                                    <p:cond delay="0"/>
                                  </p:stCondLst>
                                  <p:childTnLst>
                                    <p:set>
                                      <p:cBhvr>
                                        <p:cTn id="1302" dur="1" fill="hold">
                                          <p:stCondLst>
                                            <p:cond delay="0"/>
                                          </p:stCondLst>
                                        </p:cTn>
                                        <p:tgtEl>
                                          <p:spTgt spid="494">
                                            <p:txEl>
                                              <p:pRg st="0" end="0"/>
                                            </p:txEl>
                                          </p:spTgt>
                                        </p:tgtEl>
                                        <p:attrNameLst>
                                          <p:attrName>style.visibility</p:attrName>
                                        </p:attrNameLst>
                                      </p:cBhvr>
                                      <p:to>
                                        <p:strVal val="visible"/>
                                      </p:to>
                                    </p:set>
                                    <p:animEffect filter="wipe(left)" transition="in">
                                      <p:cBhvr additive="repl">
                                        <p:cTn id="1303" dur="500"/>
                                        <p:tgtEl>
                                          <p:spTgt spid="494">
                                            <p:txEl>
                                              <p:pRg st="0" end="0"/>
                                            </p:txEl>
                                          </p:spTgt>
                                        </p:tgtEl>
                                      </p:cBhvr>
                                    </p:animEffect>
                                  </p:childTnLst>
                                </p:cTn>
                              </p:par>
                            </p:childTnLst>
                          </p:cTn>
                        </p:par>
                      </p:childTnLst>
                    </p:cTn>
                  </p:par>
                  <p:par>
                    <p:cTn id="1304" nodeType="clickEffect" fill="hold">
                      <p:stCondLst>
                        <p:cond delay="indefinite"/>
                      </p:stCondLst>
                      <p:childTnLst>
                        <p:par>
                          <p:cTn id="1305" nodeType="withEffect" fill="hold">
                            <p:stCondLst>
                              <p:cond delay="0"/>
                            </p:stCondLst>
                            <p:childTnLst>
                              <p:par>
                                <p:cTn id="1306" nodeType="clickEffect" fill="hold" presetClass="entr" presetID="22" presetSubtype="8">
                                  <p:stCondLst>
                                    <p:cond delay="0"/>
                                  </p:stCondLst>
                                  <p:childTnLst>
                                    <p:set>
                                      <p:cBhvr>
                                        <p:cTn id="1307" dur="1" fill="hold">
                                          <p:stCondLst>
                                            <p:cond delay="0"/>
                                          </p:stCondLst>
                                        </p:cTn>
                                        <p:tgtEl>
                                          <p:spTgt spid="494">
                                            <p:txEl>
                                              <p:pRg st="1" end="1"/>
                                            </p:txEl>
                                          </p:spTgt>
                                        </p:tgtEl>
                                        <p:attrNameLst>
                                          <p:attrName>style.visibility</p:attrName>
                                        </p:attrNameLst>
                                      </p:cBhvr>
                                      <p:to>
                                        <p:strVal val="visible"/>
                                      </p:to>
                                    </p:set>
                                    <p:animEffect filter="wipe(left)" transition="in">
                                      <p:cBhvr additive="repl">
                                        <p:cTn id="1308" dur="500"/>
                                        <p:tgtEl>
                                          <p:spTgt spid="494">
                                            <p:txEl>
                                              <p:pRg st="1" end="1"/>
                                            </p:txEl>
                                          </p:spTgt>
                                        </p:tgtEl>
                                      </p:cBhvr>
                                    </p:animEffect>
                                  </p:childTnLst>
                                </p:cTn>
                              </p:par>
                            </p:childTnLst>
                          </p:cTn>
                        </p:par>
                      </p:childTnLst>
                    </p:cTn>
                  </p:par>
                  <p:par>
                    <p:cTn id="1309" nodeType="clickEffect" fill="hold">
                      <p:stCondLst>
                        <p:cond delay="indefinite"/>
                      </p:stCondLst>
                      <p:childTnLst>
                        <p:par>
                          <p:cTn id="1310" nodeType="withEffect" fill="hold">
                            <p:stCondLst>
                              <p:cond delay="0"/>
                            </p:stCondLst>
                            <p:childTnLst>
                              <p:par>
                                <p:cTn id="1311" nodeType="clickEffect" fill="hold" presetClass="entr" presetID="22" presetSubtype="8">
                                  <p:stCondLst>
                                    <p:cond delay="0"/>
                                  </p:stCondLst>
                                  <p:childTnLst>
                                    <p:set>
                                      <p:cBhvr>
                                        <p:cTn id="1312" dur="1" fill="hold">
                                          <p:stCondLst>
                                            <p:cond delay="0"/>
                                          </p:stCondLst>
                                        </p:cTn>
                                        <p:tgtEl>
                                          <p:spTgt spid="494">
                                            <p:txEl>
                                              <p:pRg st="2" end="2"/>
                                            </p:txEl>
                                          </p:spTgt>
                                        </p:tgtEl>
                                        <p:attrNameLst>
                                          <p:attrName>style.visibility</p:attrName>
                                        </p:attrNameLst>
                                      </p:cBhvr>
                                      <p:to>
                                        <p:strVal val="visible"/>
                                      </p:to>
                                    </p:set>
                                    <p:animEffect filter="wipe(left)" transition="in">
                                      <p:cBhvr additive="repl">
                                        <p:cTn id="1313" dur="500"/>
                                        <p:tgtEl>
                                          <p:spTgt spid="494">
                                            <p:txEl>
                                              <p:pRg st="2" end="2"/>
                                            </p:txEl>
                                          </p:spTgt>
                                        </p:tgtEl>
                                      </p:cBhvr>
                                    </p:animEffect>
                                  </p:childTnLst>
                                </p:cTn>
                              </p:par>
                            </p:childTnLst>
                          </p:cTn>
                        </p:par>
                      </p:childTnLst>
                    </p:cTn>
                  </p:par>
                  <p:par>
                    <p:cTn id="1314" nodeType="clickEffect" fill="hold">
                      <p:stCondLst>
                        <p:cond delay="indefinite"/>
                      </p:stCondLst>
                      <p:childTnLst>
                        <p:par>
                          <p:cTn id="1315" nodeType="withEffect" fill="hold">
                            <p:stCondLst>
                              <p:cond delay="0"/>
                            </p:stCondLst>
                            <p:childTnLst>
                              <p:par>
                                <p:cTn id="1316" nodeType="clickEffect" fill="hold" presetClass="entr" presetID="22" presetSubtype="8">
                                  <p:stCondLst>
                                    <p:cond delay="0"/>
                                  </p:stCondLst>
                                  <p:childTnLst>
                                    <p:set>
                                      <p:cBhvr>
                                        <p:cTn id="1317" dur="1" fill="hold">
                                          <p:stCondLst>
                                            <p:cond delay="0"/>
                                          </p:stCondLst>
                                        </p:cTn>
                                        <p:tgtEl>
                                          <p:spTgt spid="494">
                                            <p:txEl>
                                              <p:pRg st="3" end="3"/>
                                            </p:txEl>
                                          </p:spTgt>
                                        </p:tgtEl>
                                        <p:attrNameLst>
                                          <p:attrName>style.visibility</p:attrName>
                                        </p:attrNameLst>
                                      </p:cBhvr>
                                      <p:to>
                                        <p:strVal val="visible"/>
                                      </p:to>
                                    </p:set>
                                    <p:animEffect filter="wipe(left)" transition="in">
                                      <p:cBhvr additive="repl">
                                        <p:cTn id="1318" dur="500"/>
                                        <p:tgtEl>
                                          <p:spTgt spid="494">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Rectangle 5"/>
          <p:cNvSpPr/>
          <p:nvPr/>
        </p:nvSpPr>
        <p:spPr>
          <a:xfrm>
            <a:off x="360360" y="1511280"/>
            <a:ext cx="8076600" cy="4876200"/>
          </a:xfrm>
          <a:prstGeom prst="rect">
            <a:avLst/>
          </a:prstGeom>
          <a:noFill/>
          <a:ln w="0">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In 2015, Americans spent $6.3 billion on all forms of recorded music, down from $14 billion in 2000. </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But the combined quantity of discs and downloads bought </a:t>
            </a:r>
            <a:r>
              <a:rPr b="0" i="1" lang="en-US" sz="2400" strike="noStrike" u="none">
                <a:solidFill>
                  <a:srgbClr val="000000"/>
                </a:solidFill>
                <a:effectLst/>
                <a:uFillTx/>
                <a:latin typeface="Arial"/>
                <a:ea typeface="ＭＳ Ｐゴシック"/>
              </a:rPr>
              <a:t>increased </a:t>
            </a:r>
            <a:r>
              <a:rPr b="0" lang="en-US" sz="2400" strike="noStrike" u="none">
                <a:solidFill>
                  <a:srgbClr val="000000"/>
                </a:solidFill>
                <a:effectLst/>
                <a:uFillTx/>
                <a:latin typeface="Arial"/>
                <a:ea typeface="ＭＳ Ｐゴシック"/>
              </a:rPr>
              <a:t>from 1 billion in 2000 to 1.5 billion in 2015.</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And the average price of a unit of recorded music fell from $14 to $4.28. </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The average price fell because the mix of formats changed dramatically.</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In 2000, we bought 900 million CDs; in 2015, we bought only 98 million CDs </a:t>
            </a:r>
            <a:r>
              <a:rPr b="0" lang="en-AU" sz="2400" strike="noStrike" u="none">
                <a:solidFill>
                  <a:srgbClr val="000000"/>
                </a:solidFill>
                <a:effectLst/>
                <a:uFillTx/>
                <a:latin typeface="Arial"/>
                <a:ea typeface="ＭＳ Ｐゴシック"/>
              </a:rPr>
              <a:t>and downloaded 1.3 billion music files and paid 16 million streaming subscriptions</a:t>
            </a:r>
            <a:r>
              <a:rPr b="0" lang="en-US" sz="2400" strike="noStrike" u="none">
                <a:solidFill>
                  <a:srgbClr val="000000"/>
                </a:solidFill>
                <a:effectLst/>
                <a:uFillTx/>
                <a:latin typeface="Arial"/>
                <a:ea typeface="ＭＳ Ｐゴシック"/>
              </a:rPr>
              <a:t>.</a:t>
            </a:r>
            <a:endParaRPr b="0" lang="en-US" sz="2400" strike="noStrike" u="none">
              <a:solidFill>
                <a:srgbClr val="000000"/>
              </a:solidFill>
              <a:effectLst/>
              <a:uFillTx/>
              <a:latin typeface="Arial"/>
            </a:endParaRPr>
          </a:p>
          <a:p>
            <a:pPr marL="108000">
              <a:lnSpc>
                <a:spcPct val="100000"/>
              </a:lnSpc>
            </a:pPr>
            <a:endParaRPr b="0" lang="en-US" sz="2400" strike="noStrike" u="none">
              <a:solidFill>
                <a:srgbClr val="000000"/>
              </a:solidFill>
              <a:effectLst/>
              <a:uFillTx/>
              <a:latin typeface="Arial"/>
            </a:endParaRPr>
          </a:p>
        </p:txBody>
      </p:sp>
      <p:pic>
        <p:nvPicPr>
          <p:cNvPr id="497" name="Picture 4" descr=""/>
          <p:cNvPicPr/>
          <p:nvPr/>
        </p:nvPicPr>
        <p:blipFill>
          <a:blip r:embed="rId1"/>
          <a:stretch/>
        </p:blipFill>
        <p:spPr>
          <a:xfrm>
            <a:off x="0" y="0"/>
            <a:ext cx="9143280" cy="1193040"/>
          </a:xfrm>
          <a:prstGeom prst="rect">
            <a:avLst/>
          </a:prstGeom>
          <a:noFill/>
          <a:ln w="0">
            <a:noFill/>
          </a:ln>
        </p:spPr>
      </p:pic>
    </p:spTree>
  </p:cSld>
  <p:transition spd="slow">
    <p:wipe dir="r"/>
  </p:transition>
  <p:timing>
    <p:tnLst>
      <p:par>
        <p:cTn id="1319" dur="indefinite" restart="never" nodeType="tmRoot">
          <p:childTnLst>
            <p:seq>
              <p:cTn id="1320" dur="indefinite" nodeType="mainSeq">
                <p:childTnLst>
                  <p:par>
                    <p:cTn id="1321" nodeType="clickEffect" fill="hold">
                      <p:stCondLst>
                        <p:cond delay="indefinite"/>
                      </p:stCondLst>
                      <p:childTnLst>
                        <p:par>
                          <p:cTn id="1322" nodeType="withEffect" fill="hold">
                            <p:stCondLst>
                              <p:cond delay="0"/>
                            </p:stCondLst>
                            <p:childTnLst>
                              <p:par>
                                <p:cTn id="1323" nodeType="clickEffect" fill="hold" presetClass="entr" presetID="22" presetSubtype="8">
                                  <p:stCondLst>
                                    <p:cond delay="0"/>
                                  </p:stCondLst>
                                  <p:childTnLst>
                                    <p:set>
                                      <p:cBhvr>
                                        <p:cTn id="1324" dur="1" fill="hold">
                                          <p:stCondLst>
                                            <p:cond delay="0"/>
                                          </p:stCondLst>
                                        </p:cTn>
                                        <p:tgtEl>
                                          <p:spTgt spid="496">
                                            <p:txEl>
                                              <p:pRg st="1" end="1"/>
                                            </p:txEl>
                                          </p:spTgt>
                                        </p:tgtEl>
                                        <p:attrNameLst>
                                          <p:attrName>style.visibility</p:attrName>
                                        </p:attrNameLst>
                                      </p:cBhvr>
                                      <p:to>
                                        <p:strVal val="visible"/>
                                      </p:to>
                                    </p:set>
                                    <p:animEffect filter="wipe(left)" transition="in">
                                      <p:cBhvr additive="repl">
                                        <p:cTn id="1325" dur="500"/>
                                        <p:tgtEl>
                                          <p:spTgt spid="496">
                                            <p:txEl>
                                              <p:pRg st="1" end="1"/>
                                            </p:txEl>
                                          </p:spTgt>
                                        </p:tgtEl>
                                      </p:cBhvr>
                                    </p:animEffect>
                                  </p:childTnLst>
                                </p:cTn>
                              </p:par>
                            </p:childTnLst>
                          </p:cTn>
                        </p:par>
                      </p:childTnLst>
                    </p:cTn>
                  </p:par>
                  <p:par>
                    <p:cTn id="1326" nodeType="clickEffect" fill="hold">
                      <p:stCondLst>
                        <p:cond delay="indefinite"/>
                      </p:stCondLst>
                      <p:childTnLst>
                        <p:par>
                          <p:cTn id="1327" nodeType="withEffect" fill="hold">
                            <p:stCondLst>
                              <p:cond delay="0"/>
                            </p:stCondLst>
                            <p:childTnLst>
                              <p:par>
                                <p:cTn id="1328" nodeType="clickEffect" fill="hold" presetClass="entr" presetID="22" presetSubtype="8">
                                  <p:stCondLst>
                                    <p:cond delay="0"/>
                                  </p:stCondLst>
                                  <p:childTnLst>
                                    <p:set>
                                      <p:cBhvr>
                                        <p:cTn id="1329" dur="1" fill="hold">
                                          <p:stCondLst>
                                            <p:cond delay="0"/>
                                          </p:stCondLst>
                                        </p:cTn>
                                        <p:tgtEl>
                                          <p:spTgt spid="496">
                                            <p:txEl>
                                              <p:pRg st="2" end="2"/>
                                            </p:txEl>
                                          </p:spTgt>
                                        </p:tgtEl>
                                        <p:attrNameLst>
                                          <p:attrName>style.visibility</p:attrName>
                                        </p:attrNameLst>
                                      </p:cBhvr>
                                      <p:to>
                                        <p:strVal val="visible"/>
                                      </p:to>
                                    </p:set>
                                    <p:animEffect filter="wipe(left)" transition="in">
                                      <p:cBhvr additive="repl">
                                        <p:cTn id="1330" dur="500"/>
                                        <p:tgtEl>
                                          <p:spTgt spid="496">
                                            <p:txEl>
                                              <p:pRg st="2" end="2"/>
                                            </p:txEl>
                                          </p:spTgt>
                                        </p:tgtEl>
                                      </p:cBhvr>
                                    </p:animEffect>
                                  </p:childTnLst>
                                </p:cTn>
                              </p:par>
                            </p:childTnLst>
                          </p:cTn>
                        </p:par>
                      </p:childTnLst>
                    </p:cTn>
                  </p:par>
                  <p:par>
                    <p:cTn id="1331" nodeType="clickEffect" fill="hold">
                      <p:stCondLst>
                        <p:cond delay="indefinite"/>
                      </p:stCondLst>
                      <p:childTnLst>
                        <p:par>
                          <p:cTn id="1332" nodeType="withEffect" fill="hold">
                            <p:stCondLst>
                              <p:cond delay="0"/>
                            </p:stCondLst>
                            <p:childTnLst>
                              <p:par>
                                <p:cTn id="1333" nodeType="clickEffect" fill="hold" presetClass="entr" presetID="22" presetSubtype="8">
                                  <p:stCondLst>
                                    <p:cond delay="0"/>
                                  </p:stCondLst>
                                  <p:childTnLst>
                                    <p:set>
                                      <p:cBhvr>
                                        <p:cTn id="1334" dur="1" fill="hold">
                                          <p:stCondLst>
                                            <p:cond delay="0"/>
                                          </p:stCondLst>
                                        </p:cTn>
                                        <p:tgtEl>
                                          <p:spTgt spid="496">
                                            <p:txEl>
                                              <p:pRg st="3" end="3"/>
                                            </p:txEl>
                                          </p:spTgt>
                                        </p:tgtEl>
                                        <p:attrNameLst>
                                          <p:attrName>style.visibility</p:attrName>
                                        </p:attrNameLst>
                                      </p:cBhvr>
                                      <p:to>
                                        <p:strVal val="visible"/>
                                      </p:to>
                                    </p:set>
                                    <p:animEffect filter="wipe(left)" transition="in">
                                      <p:cBhvr additive="repl">
                                        <p:cTn id="1335" dur="500"/>
                                        <p:tgtEl>
                                          <p:spTgt spid="496">
                                            <p:txEl>
                                              <p:pRg st="3" end="3"/>
                                            </p:txEl>
                                          </p:spTgt>
                                        </p:tgtEl>
                                      </p:cBhvr>
                                    </p:animEffect>
                                  </p:childTnLst>
                                </p:cTn>
                              </p:par>
                            </p:childTnLst>
                          </p:cTn>
                        </p:par>
                      </p:childTnLst>
                    </p:cTn>
                  </p:par>
                  <p:par>
                    <p:cTn id="1336" nodeType="clickEffect" fill="hold">
                      <p:stCondLst>
                        <p:cond delay="indefinite"/>
                      </p:stCondLst>
                      <p:childTnLst>
                        <p:par>
                          <p:cTn id="1337" nodeType="withEffect" fill="hold">
                            <p:stCondLst>
                              <p:cond delay="0"/>
                            </p:stCondLst>
                            <p:childTnLst>
                              <p:par>
                                <p:cTn id="1338" nodeType="clickEffect" fill="hold" presetClass="entr" presetID="22" presetSubtype="8">
                                  <p:stCondLst>
                                    <p:cond delay="0"/>
                                  </p:stCondLst>
                                  <p:childTnLst>
                                    <p:set>
                                      <p:cBhvr>
                                        <p:cTn id="1339" dur="1" fill="hold">
                                          <p:stCondLst>
                                            <p:cond delay="0"/>
                                          </p:stCondLst>
                                        </p:cTn>
                                        <p:tgtEl>
                                          <p:spTgt spid="496">
                                            <p:txEl>
                                              <p:pRg st="4" end="4"/>
                                            </p:txEl>
                                          </p:spTgt>
                                        </p:tgtEl>
                                        <p:attrNameLst>
                                          <p:attrName>style.visibility</p:attrName>
                                        </p:attrNameLst>
                                      </p:cBhvr>
                                      <p:to>
                                        <p:strVal val="visible"/>
                                      </p:to>
                                    </p:set>
                                    <p:animEffect filter="wipe(left)" transition="in">
                                      <p:cBhvr additive="repl">
                                        <p:cTn id="1340" dur="500"/>
                                        <p:tgtEl>
                                          <p:spTgt spid="496">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8" name="Rectangle 5"/>
          <p:cNvSpPr/>
          <p:nvPr/>
        </p:nvSpPr>
        <p:spPr>
          <a:xfrm>
            <a:off x="360360" y="1511280"/>
            <a:ext cx="8152560" cy="913680"/>
          </a:xfrm>
          <a:prstGeom prst="rect">
            <a:avLst/>
          </a:prstGeom>
          <a:noFill/>
          <a:ln w="0">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Figure 1 shows the longer history of the changing formats of recorded music.</a:t>
            </a:r>
            <a:endParaRPr b="0" lang="en-US" sz="2400" strike="noStrike" u="none">
              <a:solidFill>
                <a:srgbClr val="000000"/>
              </a:solidFill>
              <a:effectLst/>
              <a:uFillTx/>
              <a:latin typeface="Arial"/>
            </a:endParaRPr>
          </a:p>
        </p:txBody>
      </p:sp>
      <p:pic>
        <p:nvPicPr>
          <p:cNvPr id="499" name="Picture 8" descr=""/>
          <p:cNvPicPr/>
          <p:nvPr/>
        </p:nvPicPr>
        <p:blipFill>
          <a:blip r:embed="rId1"/>
          <a:stretch/>
        </p:blipFill>
        <p:spPr>
          <a:xfrm>
            <a:off x="0" y="0"/>
            <a:ext cx="9143280" cy="1193040"/>
          </a:xfrm>
          <a:prstGeom prst="rect">
            <a:avLst/>
          </a:prstGeom>
          <a:noFill/>
          <a:ln w="0">
            <a:noFill/>
          </a:ln>
        </p:spPr>
      </p:pic>
      <p:pic>
        <p:nvPicPr>
          <p:cNvPr id="500" name="Picture 8" descr=""/>
          <p:cNvPicPr/>
          <p:nvPr/>
        </p:nvPicPr>
        <p:blipFill>
          <a:blip r:embed="rId2"/>
          <a:stretch/>
        </p:blipFill>
        <p:spPr>
          <a:xfrm>
            <a:off x="1692360" y="2340000"/>
            <a:ext cx="5676120" cy="4188600"/>
          </a:xfrm>
          <a:prstGeom prst="rect">
            <a:avLst/>
          </a:prstGeom>
          <a:noFill/>
          <a:ln w="0">
            <a:noFill/>
          </a:ln>
        </p:spPr>
      </p:pic>
      <p:pic>
        <p:nvPicPr>
          <p:cNvPr id="501" name="Picture 11" descr=""/>
          <p:cNvPicPr/>
          <p:nvPr/>
        </p:nvPicPr>
        <p:blipFill>
          <a:blip r:embed="rId3"/>
          <a:stretch/>
        </p:blipFill>
        <p:spPr>
          <a:xfrm>
            <a:off x="1692360" y="2340000"/>
            <a:ext cx="5676120" cy="4188600"/>
          </a:xfrm>
          <a:prstGeom prst="rect">
            <a:avLst/>
          </a:prstGeom>
          <a:noFill/>
          <a:ln w="0">
            <a:noFill/>
          </a:ln>
        </p:spPr>
      </p:pic>
      <p:pic>
        <p:nvPicPr>
          <p:cNvPr id="502" name="Picture 12" descr=""/>
          <p:cNvPicPr/>
          <p:nvPr/>
        </p:nvPicPr>
        <p:blipFill>
          <a:blip r:embed="rId4"/>
          <a:stretch/>
        </p:blipFill>
        <p:spPr>
          <a:xfrm>
            <a:off x="1692360" y="2340000"/>
            <a:ext cx="5676120" cy="4188600"/>
          </a:xfrm>
          <a:prstGeom prst="rect">
            <a:avLst/>
          </a:prstGeom>
          <a:noFill/>
          <a:ln w="0">
            <a:noFill/>
          </a:ln>
        </p:spPr>
      </p:pic>
      <p:pic>
        <p:nvPicPr>
          <p:cNvPr id="503" name="Picture 13" descr=""/>
          <p:cNvPicPr/>
          <p:nvPr/>
        </p:nvPicPr>
        <p:blipFill>
          <a:blip r:embed="rId5"/>
          <a:stretch/>
        </p:blipFill>
        <p:spPr>
          <a:xfrm>
            <a:off x="1692360" y="2340000"/>
            <a:ext cx="5676120" cy="4188600"/>
          </a:xfrm>
          <a:prstGeom prst="rect">
            <a:avLst/>
          </a:prstGeom>
          <a:noFill/>
          <a:ln w="0">
            <a:noFill/>
          </a:ln>
        </p:spPr>
      </p:pic>
      <p:pic>
        <p:nvPicPr>
          <p:cNvPr id="504" name="Picture 14" descr=""/>
          <p:cNvPicPr/>
          <p:nvPr/>
        </p:nvPicPr>
        <p:blipFill>
          <a:blip r:embed="rId6"/>
          <a:stretch/>
        </p:blipFill>
        <p:spPr>
          <a:xfrm>
            <a:off x="1692360" y="2340000"/>
            <a:ext cx="5676120" cy="4188600"/>
          </a:xfrm>
          <a:prstGeom prst="rect">
            <a:avLst/>
          </a:prstGeom>
          <a:noFill/>
          <a:ln w="0">
            <a:noFill/>
          </a:ln>
        </p:spPr>
      </p:pic>
    </p:spTree>
  </p:cSld>
  <p:transition spd="slow">
    <p:wipe dir="r"/>
  </p:transition>
  <p:timing>
    <p:tnLst>
      <p:par>
        <p:cTn id="1341" dur="indefinite" restart="never" nodeType="tmRoot">
          <p:childTnLst>
            <p:seq>
              <p:cTn id="1342" dur="indefinite" nodeType="mainSeq">
                <p:childTnLst>
                  <p:par>
                    <p:cTn id="1343" fill="hold">
                      <p:stCondLst>
                        <p:cond delay="0"/>
                      </p:stCondLst>
                      <p:childTnLst>
                        <p:par>
                          <p:cTn id="1344" fill="hold">
                            <p:stCondLst>
                              <p:cond delay="0"/>
                            </p:stCondLst>
                            <p:childTnLst>
                              <p:par>
                                <p:cTn id="1345" nodeType="afterEffect" fill="hold" presetClass="entr" presetID="22" presetSubtype="8">
                                  <p:stCondLst>
                                    <p:cond delay="0"/>
                                  </p:stCondLst>
                                  <p:childTnLst>
                                    <p:set>
                                      <p:cBhvr>
                                        <p:cTn id="1346" dur="1" fill="hold">
                                          <p:stCondLst>
                                            <p:cond delay="0"/>
                                          </p:stCondLst>
                                        </p:cTn>
                                        <p:tgtEl>
                                          <p:spTgt spid="501"/>
                                        </p:tgtEl>
                                        <p:attrNameLst>
                                          <p:attrName>style.visibility</p:attrName>
                                        </p:attrNameLst>
                                      </p:cBhvr>
                                      <p:to>
                                        <p:strVal val="visible"/>
                                      </p:to>
                                    </p:set>
                                    <p:animEffect filter="wipe(left)" transition="in">
                                      <p:cBhvr additive="repl">
                                        <p:cTn id="1347" dur="1500"/>
                                        <p:tgtEl>
                                          <p:spTgt spid="501"/>
                                        </p:tgtEl>
                                      </p:cBhvr>
                                    </p:animEffect>
                                  </p:childTnLst>
                                </p:cTn>
                              </p:par>
                            </p:childTnLst>
                          </p:cTn>
                        </p:par>
                        <p:par>
                          <p:cTn id="1348" fill="hold">
                            <p:stCondLst>
                              <p:cond delay="1500"/>
                            </p:stCondLst>
                            <p:childTnLst>
                              <p:par>
                                <p:cTn id="1349" nodeType="afterEffect" fill="hold" presetClass="entr" presetID="22" presetSubtype="8">
                                  <p:stCondLst>
                                    <p:cond delay="250"/>
                                  </p:stCondLst>
                                  <p:childTnLst>
                                    <p:set>
                                      <p:cBhvr>
                                        <p:cTn id="1350" dur="1" fill="hold">
                                          <p:stCondLst>
                                            <p:cond delay="0"/>
                                          </p:stCondLst>
                                        </p:cTn>
                                        <p:tgtEl>
                                          <p:spTgt spid="502"/>
                                        </p:tgtEl>
                                        <p:attrNameLst>
                                          <p:attrName>style.visibility</p:attrName>
                                        </p:attrNameLst>
                                      </p:cBhvr>
                                      <p:to>
                                        <p:strVal val="visible"/>
                                      </p:to>
                                    </p:set>
                                    <p:animEffect filter="wipe(left)" transition="in">
                                      <p:cBhvr additive="repl">
                                        <p:cTn id="1351" dur="1500"/>
                                        <p:tgtEl>
                                          <p:spTgt spid="502"/>
                                        </p:tgtEl>
                                      </p:cBhvr>
                                    </p:animEffect>
                                  </p:childTnLst>
                                </p:cTn>
                              </p:par>
                            </p:childTnLst>
                          </p:cTn>
                        </p:par>
                        <p:par>
                          <p:cTn id="1352" fill="hold">
                            <p:stCondLst>
                              <p:cond delay="3250"/>
                            </p:stCondLst>
                            <p:childTnLst>
                              <p:par>
                                <p:cTn id="1353" nodeType="afterEffect" fill="hold" presetClass="entr" presetID="22" presetSubtype="8">
                                  <p:stCondLst>
                                    <p:cond delay="250"/>
                                  </p:stCondLst>
                                  <p:childTnLst>
                                    <p:set>
                                      <p:cBhvr>
                                        <p:cTn id="1354" dur="1" fill="hold">
                                          <p:stCondLst>
                                            <p:cond delay="0"/>
                                          </p:stCondLst>
                                        </p:cTn>
                                        <p:tgtEl>
                                          <p:spTgt spid="503"/>
                                        </p:tgtEl>
                                        <p:attrNameLst>
                                          <p:attrName>style.visibility</p:attrName>
                                        </p:attrNameLst>
                                      </p:cBhvr>
                                      <p:to>
                                        <p:strVal val="visible"/>
                                      </p:to>
                                    </p:set>
                                    <p:animEffect filter="wipe(left)" transition="in">
                                      <p:cBhvr additive="repl">
                                        <p:cTn id="1355" dur="1500"/>
                                        <p:tgtEl>
                                          <p:spTgt spid="503"/>
                                        </p:tgtEl>
                                      </p:cBhvr>
                                    </p:animEffect>
                                  </p:childTnLst>
                                </p:cTn>
                              </p:par>
                            </p:childTnLst>
                          </p:cTn>
                        </p:par>
                        <p:par>
                          <p:cTn id="1356" fill="hold">
                            <p:stCondLst>
                              <p:cond delay="5000"/>
                            </p:stCondLst>
                            <p:childTnLst>
                              <p:par>
                                <p:cTn id="1357" nodeType="afterEffect" fill="hold" presetClass="entr" presetID="22" presetSubtype="8">
                                  <p:stCondLst>
                                    <p:cond delay="250"/>
                                  </p:stCondLst>
                                  <p:childTnLst>
                                    <p:set>
                                      <p:cBhvr>
                                        <p:cTn id="1358" dur="1" fill="hold">
                                          <p:stCondLst>
                                            <p:cond delay="0"/>
                                          </p:stCondLst>
                                        </p:cTn>
                                        <p:tgtEl>
                                          <p:spTgt spid="504"/>
                                        </p:tgtEl>
                                        <p:attrNameLst>
                                          <p:attrName>style.visibility</p:attrName>
                                        </p:attrNameLst>
                                      </p:cBhvr>
                                      <p:to>
                                        <p:strVal val="visible"/>
                                      </p:to>
                                    </p:set>
                                    <p:animEffect filter="wipe(left)" transition="in">
                                      <p:cBhvr additive="repl">
                                        <p:cTn id="1359" dur="1500"/>
                                        <p:tgtEl>
                                          <p:spTgt spid="5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Rectangle 5"/>
          <p:cNvSpPr/>
          <p:nvPr/>
        </p:nvSpPr>
        <p:spPr>
          <a:xfrm>
            <a:off x="360360" y="1511280"/>
            <a:ext cx="7923960" cy="4342680"/>
          </a:xfrm>
          <a:prstGeom prst="rect">
            <a:avLst/>
          </a:prstGeom>
          <a:noFill/>
          <a:ln w="0">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The music that we buy isn’t just one good—it is several different goods.</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We</a:t>
            </a:r>
            <a:r>
              <a:rPr b="0" lang="en-AU" sz="2400" strike="noStrike" u="none">
                <a:solidFill>
                  <a:srgbClr val="000000"/>
                </a:solidFill>
                <a:effectLst/>
                <a:uFillTx/>
                <a:latin typeface="Arial"/>
                <a:ea typeface="ＭＳ Ｐゴシック"/>
              </a:rPr>
              <a:t>’</a:t>
            </a:r>
            <a:r>
              <a:rPr b="0" lang="en-US" sz="2400" strike="noStrike" u="none">
                <a:solidFill>
                  <a:srgbClr val="000000"/>
                </a:solidFill>
                <a:effectLst/>
                <a:uFillTx/>
                <a:latin typeface="Arial"/>
                <a:ea typeface="ＭＳ Ｐゴシック"/>
              </a:rPr>
              <a:t>ll distinguish singles from albums and focus on the demand for singles.</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In 2000, we bought 100 million singles and paid an average price of $5.00. </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In 2015, we downloaded </a:t>
            </a:r>
            <a:r>
              <a:rPr b="0" lang="en-AU" sz="2400" strike="noStrike" u="none">
                <a:solidFill>
                  <a:srgbClr val="000000"/>
                </a:solidFill>
                <a:effectLst/>
                <a:uFillTx/>
                <a:latin typeface="Arial"/>
                <a:ea typeface="ＭＳ Ｐゴシック"/>
              </a:rPr>
              <a:t>1,500 million singles files and paid an average price of $1.20 each</a:t>
            </a:r>
            <a:r>
              <a:rPr b="0" lang="en-US" sz="2400" strike="noStrike" u="none">
                <a:solidFill>
                  <a:srgbClr val="000000"/>
                </a:solidFill>
                <a:effectLst/>
                <a:uFillTx/>
                <a:latin typeface="Arial"/>
                <a:ea typeface="ＭＳ Ｐゴシック"/>
              </a:rPr>
              <a:t>.</a:t>
            </a:r>
            <a:endParaRPr b="0" lang="en-US" sz="2400" strike="noStrike" u="none">
              <a:solidFill>
                <a:srgbClr val="000000"/>
              </a:solidFill>
              <a:effectLst/>
              <a:uFillTx/>
              <a:latin typeface="Arial"/>
            </a:endParaRPr>
          </a:p>
        </p:txBody>
      </p:sp>
      <p:pic>
        <p:nvPicPr>
          <p:cNvPr id="506" name="Picture 4" descr=""/>
          <p:cNvPicPr/>
          <p:nvPr/>
        </p:nvPicPr>
        <p:blipFill>
          <a:blip r:embed="rId1"/>
          <a:stretch/>
        </p:blipFill>
        <p:spPr>
          <a:xfrm>
            <a:off x="0" y="0"/>
            <a:ext cx="9143280" cy="1193040"/>
          </a:xfrm>
          <a:prstGeom prst="rect">
            <a:avLst/>
          </a:prstGeom>
          <a:noFill/>
          <a:ln w="0">
            <a:noFill/>
          </a:ln>
        </p:spPr>
      </p:pic>
    </p:spTree>
  </p:cSld>
  <p:transition spd="slow">
    <p:wipe dir="r"/>
  </p:transition>
  <p:timing>
    <p:tnLst>
      <p:par>
        <p:cTn id="1360" dur="indefinite" restart="never" nodeType="tmRoot">
          <p:childTnLst>
            <p:seq>
              <p:cTn id="1361" dur="indefinite" nodeType="mainSeq">
                <p:childTnLst>
                  <p:par>
                    <p:cTn id="1362" nodeType="clickEffect" fill="hold">
                      <p:stCondLst>
                        <p:cond delay="indefinite"/>
                      </p:stCondLst>
                      <p:childTnLst>
                        <p:par>
                          <p:cTn id="1363" nodeType="withEffect" fill="hold">
                            <p:stCondLst>
                              <p:cond delay="0"/>
                            </p:stCondLst>
                            <p:childTnLst>
                              <p:par>
                                <p:cTn id="1364" nodeType="clickEffect" fill="hold" presetClass="entr" presetID="22" presetSubtype="8">
                                  <p:stCondLst>
                                    <p:cond delay="0"/>
                                  </p:stCondLst>
                                  <p:childTnLst>
                                    <p:set>
                                      <p:cBhvr>
                                        <p:cTn id="1365" dur="1" fill="hold">
                                          <p:stCondLst>
                                            <p:cond delay="0"/>
                                          </p:stCondLst>
                                        </p:cTn>
                                        <p:tgtEl>
                                          <p:spTgt spid="505">
                                            <p:txEl>
                                              <p:pRg st="1" end="1"/>
                                            </p:txEl>
                                          </p:spTgt>
                                        </p:tgtEl>
                                        <p:attrNameLst>
                                          <p:attrName>style.visibility</p:attrName>
                                        </p:attrNameLst>
                                      </p:cBhvr>
                                      <p:to>
                                        <p:strVal val="visible"/>
                                      </p:to>
                                    </p:set>
                                    <p:animEffect filter="wipe(left)" transition="in">
                                      <p:cBhvr additive="repl">
                                        <p:cTn id="1366" dur="500"/>
                                        <p:tgtEl>
                                          <p:spTgt spid="505">
                                            <p:txEl>
                                              <p:pRg st="1" end="1"/>
                                            </p:txEl>
                                          </p:spTgt>
                                        </p:tgtEl>
                                      </p:cBhvr>
                                    </p:animEffect>
                                  </p:childTnLst>
                                </p:cTn>
                              </p:par>
                            </p:childTnLst>
                          </p:cTn>
                        </p:par>
                      </p:childTnLst>
                    </p:cTn>
                  </p:par>
                  <p:par>
                    <p:cTn id="1367" nodeType="clickEffect" fill="hold">
                      <p:stCondLst>
                        <p:cond delay="indefinite"/>
                      </p:stCondLst>
                      <p:childTnLst>
                        <p:par>
                          <p:cTn id="1368" nodeType="withEffect" fill="hold">
                            <p:stCondLst>
                              <p:cond delay="0"/>
                            </p:stCondLst>
                            <p:childTnLst>
                              <p:par>
                                <p:cTn id="1369" nodeType="clickEffect" fill="hold" presetClass="entr" presetID="22" presetSubtype="8">
                                  <p:stCondLst>
                                    <p:cond delay="0"/>
                                  </p:stCondLst>
                                  <p:childTnLst>
                                    <p:set>
                                      <p:cBhvr>
                                        <p:cTn id="1370" dur="1" fill="hold">
                                          <p:stCondLst>
                                            <p:cond delay="0"/>
                                          </p:stCondLst>
                                        </p:cTn>
                                        <p:tgtEl>
                                          <p:spTgt spid="505">
                                            <p:txEl>
                                              <p:pRg st="2" end="2"/>
                                            </p:txEl>
                                          </p:spTgt>
                                        </p:tgtEl>
                                        <p:attrNameLst>
                                          <p:attrName>style.visibility</p:attrName>
                                        </p:attrNameLst>
                                      </p:cBhvr>
                                      <p:to>
                                        <p:strVal val="visible"/>
                                      </p:to>
                                    </p:set>
                                    <p:animEffect filter="wipe(left)" transition="in">
                                      <p:cBhvr additive="repl">
                                        <p:cTn id="1371" dur="500"/>
                                        <p:tgtEl>
                                          <p:spTgt spid="505">
                                            <p:txEl>
                                              <p:pRg st="2" end="2"/>
                                            </p:txEl>
                                          </p:spTgt>
                                        </p:tgtEl>
                                      </p:cBhvr>
                                    </p:animEffect>
                                  </p:childTnLst>
                                </p:cTn>
                              </p:par>
                            </p:childTnLst>
                          </p:cTn>
                        </p:par>
                      </p:childTnLst>
                    </p:cTn>
                  </p:par>
                  <p:par>
                    <p:cTn id="1372" nodeType="clickEffect" fill="hold">
                      <p:stCondLst>
                        <p:cond delay="indefinite"/>
                      </p:stCondLst>
                      <p:childTnLst>
                        <p:par>
                          <p:cTn id="1373" nodeType="withEffect" fill="hold">
                            <p:stCondLst>
                              <p:cond delay="0"/>
                            </p:stCondLst>
                            <p:childTnLst>
                              <p:par>
                                <p:cTn id="1374" nodeType="clickEffect" fill="hold" presetClass="entr" presetID="22" presetSubtype="8">
                                  <p:stCondLst>
                                    <p:cond delay="0"/>
                                  </p:stCondLst>
                                  <p:childTnLst>
                                    <p:set>
                                      <p:cBhvr>
                                        <p:cTn id="1375" dur="1" fill="hold">
                                          <p:stCondLst>
                                            <p:cond delay="0"/>
                                          </p:stCondLst>
                                        </p:cTn>
                                        <p:tgtEl>
                                          <p:spTgt spid="505">
                                            <p:txEl>
                                              <p:pRg st="3" end="3"/>
                                            </p:txEl>
                                          </p:spTgt>
                                        </p:tgtEl>
                                        <p:attrNameLst>
                                          <p:attrName>style.visibility</p:attrName>
                                        </p:attrNameLst>
                                      </p:cBhvr>
                                      <p:to>
                                        <p:strVal val="visible"/>
                                      </p:to>
                                    </p:set>
                                    <p:animEffect filter="wipe(left)" transition="in">
                                      <p:cBhvr additive="repl">
                                        <p:cTn id="1376" dur="500"/>
                                        <p:tgtEl>
                                          <p:spTgt spid="505">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7" name="Picture 8" descr=""/>
          <p:cNvPicPr/>
          <p:nvPr/>
        </p:nvPicPr>
        <p:blipFill>
          <a:blip r:embed="rId1"/>
          <a:stretch/>
        </p:blipFill>
        <p:spPr>
          <a:xfrm>
            <a:off x="4356000" y="1584360"/>
            <a:ext cx="4380840" cy="4533120"/>
          </a:xfrm>
          <a:prstGeom prst="rect">
            <a:avLst/>
          </a:prstGeom>
          <a:noFill/>
          <a:ln w="0">
            <a:noFill/>
          </a:ln>
        </p:spPr>
      </p:pic>
      <p:pic>
        <p:nvPicPr>
          <p:cNvPr id="508" name="Picture 9" descr=""/>
          <p:cNvPicPr/>
          <p:nvPr/>
        </p:nvPicPr>
        <p:blipFill>
          <a:blip r:embed="rId2"/>
          <a:stretch/>
        </p:blipFill>
        <p:spPr>
          <a:xfrm>
            <a:off x="4356000" y="1584360"/>
            <a:ext cx="4380840" cy="4533120"/>
          </a:xfrm>
          <a:prstGeom prst="rect">
            <a:avLst/>
          </a:prstGeom>
          <a:noFill/>
          <a:ln w="0">
            <a:noFill/>
          </a:ln>
        </p:spPr>
      </p:pic>
      <p:pic>
        <p:nvPicPr>
          <p:cNvPr id="509" name="Picture 10" descr=""/>
          <p:cNvPicPr/>
          <p:nvPr/>
        </p:nvPicPr>
        <p:blipFill>
          <a:blip r:embed="rId3"/>
          <a:stretch/>
        </p:blipFill>
        <p:spPr>
          <a:xfrm>
            <a:off x="4356000" y="1584360"/>
            <a:ext cx="4380840" cy="4533120"/>
          </a:xfrm>
          <a:prstGeom prst="rect">
            <a:avLst/>
          </a:prstGeom>
          <a:noFill/>
          <a:ln w="0">
            <a:noFill/>
          </a:ln>
        </p:spPr>
      </p:pic>
      <p:pic>
        <p:nvPicPr>
          <p:cNvPr id="510" name="Picture 15" descr=""/>
          <p:cNvPicPr/>
          <p:nvPr/>
        </p:nvPicPr>
        <p:blipFill>
          <a:blip r:embed="rId4"/>
          <a:stretch/>
        </p:blipFill>
        <p:spPr>
          <a:xfrm>
            <a:off x="4356000" y="1584360"/>
            <a:ext cx="4380840" cy="4533120"/>
          </a:xfrm>
          <a:prstGeom prst="rect">
            <a:avLst/>
          </a:prstGeom>
          <a:noFill/>
          <a:ln w="0">
            <a:noFill/>
          </a:ln>
        </p:spPr>
      </p:pic>
      <p:pic>
        <p:nvPicPr>
          <p:cNvPr id="511" name="Picture 16" descr=""/>
          <p:cNvPicPr/>
          <p:nvPr/>
        </p:nvPicPr>
        <p:blipFill>
          <a:blip r:embed="rId5"/>
          <a:stretch/>
        </p:blipFill>
        <p:spPr>
          <a:xfrm>
            <a:off x="4356000" y="1584360"/>
            <a:ext cx="4380840" cy="4533120"/>
          </a:xfrm>
          <a:prstGeom prst="rect">
            <a:avLst/>
          </a:prstGeom>
          <a:noFill/>
          <a:ln w="0">
            <a:noFill/>
          </a:ln>
        </p:spPr>
      </p:pic>
      <p:sp>
        <p:nvSpPr>
          <p:cNvPr id="512" name="Rectangle 5"/>
          <p:cNvSpPr/>
          <p:nvPr/>
        </p:nvSpPr>
        <p:spPr>
          <a:xfrm>
            <a:off x="360360" y="1511280"/>
            <a:ext cx="4120560" cy="4995000"/>
          </a:xfrm>
          <a:prstGeom prst="rect">
            <a:avLst/>
          </a:prstGeom>
          <a:noFill/>
          <a:ln w="0">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Figure 2 shows the demand curve for singles.</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In 2000, 100 million singles were bought at an average price of $5.00.</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In 2015, </a:t>
            </a:r>
            <a:r>
              <a:rPr b="0" lang="en-AU" sz="2400" strike="noStrike" u="none">
                <a:solidFill>
                  <a:srgbClr val="000000"/>
                </a:solidFill>
                <a:effectLst/>
                <a:uFillTx/>
                <a:latin typeface="Arial"/>
                <a:ea typeface="ＭＳ Ｐゴシック"/>
              </a:rPr>
              <a:t>1,200 million singles were download at an average price of $1.20.</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The green area shows the increase in consumer surplus, which </a:t>
            </a:r>
            <a:r>
              <a:rPr b="0" lang="en-AU" sz="2400" strike="noStrike" u="none">
                <a:solidFill>
                  <a:srgbClr val="000000"/>
                </a:solidFill>
                <a:effectLst/>
                <a:uFillTx/>
                <a:latin typeface="Arial"/>
                <a:ea typeface="ＭＳ Ｐゴシック"/>
              </a:rPr>
              <a:t>is $2 billion or $1.40 per single.</a:t>
            </a:r>
            <a:endParaRPr b="0" lang="en-US" sz="2400" strike="noStrike" u="none">
              <a:solidFill>
                <a:srgbClr val="000000"/>
              </a:solidFill>
              <a:effectLst/>
              <a:uFillTx/>
              <a:latin typeface="Arial"/>
            </a:endParaRPr>
          </a:p>
        </p:txBody>
      </p:sp>
      <p:pic>
        <p:nvPicPr>
          <p:cNvPr id="513" name="Picture 8" descr=""/>
          <p:cNvPicPr/>
          <p:nvPr/>
        </p:nvPicPr>
        <p:blipFill>
          <a:blip r:embed="rId6"/>
          <a:stretch/>
        </p:blipFill>
        <p:spPr>
          <a:xfrm>
            <a:off x="0" y="0"/>
            <a:ext cx="9143280" cy="1193040"/>
          </a:xfrm>
          <a:prstGeom prst="rect">
            <a:avLst/>
          </a:prstGeom>
          <a:noFill/>
          <a:ln w="0">
            <a:noFill/>
          </a:ln>
        </p:spPr>
      </p:pic>
    </p:spTree>
  </p:cSld>
  <p:transition spd="slow">
    <p:wipe dir="r"/>
  </p:transition>
  <p:timing>
    <p:tnLst>
      <p:par>
        <p:cTn id="1377" dur="indefinite" restart="never" nodeType="tmRoot">
          <p:childTnLst>
            <p:seq>
              <p:cTn id="1378" dur="indefinite" nodeType="mainSeq">
                <p:childTnLst>
                  <p:par>
                    <p:cTn id="1379" nodeType="clickEffect" fill="hold">
                      <p:stCondLst>
                        <p:cond delay="0"/>
                      </p:stCondLst>
                      <p:childTnLst>
                        <p:par>
                          <p:cTn id="1380" nodeType="withEffect" fill="hold">
                            <p:stCondLst>
                              <p:cond delay="0"/>
                            </p:stCondLst>
                            <p:childTnLst>
                              <p:par>
                                <p:cTn id="1381" nodeType="withEffect" fill="hold" presetClass="entr" presetID="22" presetSubtype="8">
                                  <p:stCondLst>
                                    <p:cond delay="0"/>
                                  </p:stCondLst>
                                  <p:childTnLst>
                                    <p:set>
                                      <p:cBhvr>
                                        <p:cTn id="1382" dur="1" fill="hold">
                                          <p:stCondLst>
                                            <p:cond delay="0"/>
                                          </p:stCondLst>
                                        </p:cTn>
                                        <p:tgtEl>
                                          <p:spTgt spid="508"/>
                                        </p:tgtEl>
                                        <p:attrNameLst>
                                          <p:attrName>style.visibility</p:attrName>
                                        </p:attrNameLst>
                                      </p:cBhvr>
                                      <p:to>
                                        <p:strVal val="visible"/>
                                      </p:to>
                                    </p:set>
                                    <p:animEffect filter="wipe(left)" transition="in">
                                      <p:cBhvr additive="repl">
                                        <p:cTn id="1383" dur="750"/>
                                        <p:tgtEl>
                                          <p:spTgt spid="508"/>
                                        </p:tgtEl>
                                      </p:cBhvr>
                                    </p:animEffect>
                                  </p:childTnLst>
                                </p:cTn>
                              </p:par>
                            </p:childTnLst>
                          </p:cTn>
                        </p:par>
                      </p:childTnLst>
                    </p:cTn>
                  </p:par>
                  <p:par>
                    <p:cTn id="1384" nodeType="clickEffect" fill="hold">
                      <p:stCondLst>
                        <p:cond delay="indefinite"/>
                      </p:stCondLst>
                      <p:childTnLst>
                        <p:par>
                          <p:cTn id="1385" nodeType="withEffect" fill="hold">
                            <p:stCondLst>
                              <p:cond delay="0"/>
                            </p:stCondLst>
                            <p:childTnLst>
                              <p:par>
                                <p:cTn id="1386" nodeType="clickEffect" fill="hold" presetClass="entr" presetID="22" presetSubtype="8">
                                  <p:stCondLst>
                                    <p:cond delay="0"/>
                                  </p:stCondLst>
                                  <p:childTnLst>
                                    <p:set>
                                      <p:cBhvr>
                                        <p:cTn id="1387" dur="1" fill="hold">
                                          <p:stCondLst>
                                            <p:cond delay="0"/>
                                          </p:stCondLst>
                                        </p:cTn>
                                        <p:tgtEl>
                                          <p:spTgt spid="512">
                                            <p:txEl>
                                              <p:pRg st="1" end="1"/>
                                            </p:txEl>
                                          </p:spTgt>
                                        </p:tgtEl>
                                        <p:attrNameLst>
                                          <p:attrName>style.visibility</p:attrName>
                                        </p:attrNameLst>
                                      </p:cBhvr>
                                      <p:to>
                                        <p:strVal val="visible"/>
                                      </p:to>
                                    </p:set>
                                    <p:animEffect filter="wipe(left)" transition="in">
                                      <p:cBhvr additive="repl">
                                        <p:cTn id="1388" dur="500"/>
                                        <p:tgtEl>
                                          <p:spTgt spid="512">
                                            <p:txEl>
                                              <p:pRg st="1" end="1"/>
                                            </p:txEl>
                                          </p:spTgt>
                                        </p:tgtEl>
                                      </p:cBhvr>
                                    </p:animEffect>
                                  </p:childTnLst>
                                </p:cTn>
                              </p:par>
                              <p:par>
                                <p:cTn id="1389" nodeType="withEffect" fill="hold" presetClass="entr" presetID="10">
                                  <p:stCondLst>
                                    <p:cond delay="0"/>
                                  </p:stCondLst>
                                  <p:childTnLst>
                                    <p:set>
                                      <p:cBhvr>
                                        <p:cTn id="1390" dur="1" fill="hold">
                                          <p:stCondLst>
                                            <p:cond delay="0"/>
                                          </p:stCondLst>
                                        </p:cTn>
                                        <p:tgtEl>
                                          <p:spTgt spid="509"/>
                                        </p:tgtEl>
                                        <p:attrNameLst>
                                          <p:attrName>style.visibility</p:attrName>
                                        </p:attrNameLst>
                                      </p:cBhvr>
                                      <p:to>
                                        <p:strVal val="visible"/>
                                      </p:to>
                                    </p:set>
                                    <p:animEffect filter="fade" transition="in">
                                      <p:cBhvr additive="repl">
                                        <p:cTn id="1391" dur="500"/>
                                        <p:tgtEl>
                                          <p:spTgt spid="509"/>
                                        </p:tgtEl>
                                      </p:cBhvr>
                                    </p:animEffect>
                                  </p:childTnLst>
                                </p:cTn>
                              </p:par>
                            </p:childTnLst>
                          </p:cTn>
                        </p:par>
                      </p:childTnLst>
                    </p:cTn>
                  </p:par>
                  <p:par>
                    <p:cTn id="1392" nodeType="clickEffect" fill="hold">
                      <p:stCondLst>
                        <p:cond delay="indefinite"/>
                      </p:stCondLst>
                      <p:childTnLst>
                        <p:par>
                          <p:cTn id="1393" nodeType="withEffect" fill="hold">
                            <p:stCondLst>
                              <p:cond delay="0"/>
                            </p:stCondLst>
                            <p:childTnLst>
                              <p:par>
                                <p:cTn id="1394" nodeType="clickEffect" fill="hold" presetClass="entr" presetID="22" presetSubtype="8">
                                  <p:stCondLst>
                                    <p:cond delay="0"/>
                                  </p:stCondLst>
                                  <p:childTnLst>
                                    <p:set>
                                      <p:cBhvr>
                                        <p:cTn id="1395" dur="1" fill="hold">
                                          <p:stCondLst>
                                            <p:cond delay="0"/>
                                          </p:stCondLst>
                                        </p:cTn>
                                        <p:tgtEl>
                                          <p:spTgt spid="512">
                                            <p:txEl>
                                              <p:pRg st="2" end="2"/>
                                            </p:txEl>
                                          </p:spTgt>
                                        </p:tgtEl>
                                        <p:attrNameLst>
                                          <p:attrName>style.visibility</p:attrName>
                                        </p:attrNameLst>
                                      </p:cBhvr>
                                      <p:to>
                                        <p:strVal val="visible"/>
                                      </p:to>
                                    </p:set>
                                    <p:animEffect filter="wipe(left)" transition="in">
                                      <p:cBhvr additive="repl">
                                        <p:cTn id="1396" dur="500"/>
                                        <p:tgtEl>
                                          <p:spTgt spid="512">
                                            <p:txEl>
                                              <p:pRg st="2" end="2"/>
                                            </p:txEl>
                                          </p:spTgt>
                                        </p:tgtEl>
                                      </p:cBhvr>
                                    </p:animEffect>
                                  </p:childTnLst>
                                </p:cTn>
                              </p:par>
                              <p:par>
                                <p:cTn id="1397" nodeType="withEffect" fill="hold" presetClass="entr" presetID="10">
                                  <p:stCondLst>
                                    <p:cond delay="0"/>
                                  </p:stCondLst>
                                  <p:childTnLst>
                                    <p:set>
                                      <p:cBhvr>
                                        <p:cTn id="1398" dur="1" fill="hold">
                                          <p:stCondLst>
                                            <p:cond delay="0"/>
                                          </p:stCondLst>
                                        </p:cTn>
                                        <p:tgtEl>
                                          <p:spTgt spid="510"/>
                                        </p:tgtEl>
                                        <p:attrNameLst>
                                          <p:attrName>style.visibility</p:attrName>
                                        </p:attrNameLst>
                                      </p:cBhvr>
                                      <p:to>
                                        <p:strVal val="visible"/>
                                      </p:to>
                                    </p:set>
                                    <p:animEffect filter="fade" transition="in">
                                      <p:cBhvr additive="repl">
                                        <p:cTn id="1399" dur="500"/>
                                        <p:tgtEl>
                                          <p:spTgt spid="510"/>
                                        </p:tgtEl>
                                      </p:cBhvr>
                                    </p:animEffect>
                                  </p:childTnLst>
                                </p:cTn>
                              </p:par>
                            </p:childTnLst>
                          </p:cTn>
                        </p:par>
                      </p:childTnLst>
                    </p:cTn>
                  </p:par>
                  <p:par>
                    <p:cTn id="1400" nodeType="clickEffect" fill="hold">
                      <p:stCondLst>
                        <p:cond delay="indefinite"/>
                      </p:stCondLst>
                      <p:childTnLst>
                        <p:par>
                          <p:cTn id="1401" nodeType="withEffect" fill="hold">
                            <p:stCondLst>
                              <p:cond delay="0"/>
                            </p:stCondLst>
                            <p:childTnLst>
                              <p:par>
                                <p:cTn id="1402" nodeType="clickEffect" fill="hold" presetClass="entr" presetID="22" presetSubtype="8">
                                  <p:stCondLst>
                                    <p:cond delay="0"/>
                                  </p:stCondLst>
                                  <p:childTnLst>
                                    <p:set>
                                      <p:cBhvr>
                                        <p:cTn id="1403" dur="1" fill="hold">
                                          <p:stCondLst>
                                            <p:cond delay="0"/>
                                          </p:stCondLst>
                                        </p:cTn>
                                        <p:tgtEl>
                                          <p:spTgt spid="512">
                                            <p:txEl>
                                              <p:pRg st="3" end="3"/>
                                            </p:txEl>
                                          </p:spTgt>
                                        </p:tgtEl>
                                        <p:attrNameLst>
                                          <p:attrName>style.visibility</p:attrName>
                                        </p:attrNameLst>
                                      </p:cBhvr>
                                      <p:to>
                                        <p:strVal val="visible"/>
                                      </p:to>
                                    </p:set>
                                    <p:animEffect filter="wipe(left)" transition="in">
                                      <p:cBhvr additive="repl">
                                        <p:cTn id="1404" dur="500"/>
                                        <p:tgtEl>
                                          <p:spTgt spid="512">
                                            <p:txEl>
                                              <p:pRg st="3" end="3"/>
                                            </p:txEl>
                                          </p:spTgt>
                                        </p:tgtEl>
                                      </p:cBhvr>
                                    </p:animEffect>
                                  </p:childTnLst>
                                </p:cTn>
                              </p:par>
                              <p:par>
                                <p:cTn id="1405" nodeType="withEffect" fill="hold" presetClass="entr" presetID="10">
                                  <p:stCondLst>
                                    <p:cond delay="0"/>
                                  </p:stCondLst>
                                  <p:childTnLst>
                                    <p:set>
                                      <p:cBhvr>
                                        <p:cTn id="1406" dur="1" fill="hold">
                                          <p:stCondLst>
                                            <p:cond delay="0"/>
                                          </p:stCondLst>
                                        </p:cTn>
                                        <p:tgtEl>
                                          <p:spTgt spid="511"/>
                                        </p:tgtEl>
                                        <p:attrNameLst>
                                          <p:attrName>style.visibility</p:attrName>
                                        </p:attrNameLst>
                                      </p:cBhvr>
                                      <p:to>
                                        <p:strVal val="visible"/>
                                      </p:to>
                                    </p:set>
                                    <p:animEffect filter="fade" transition="in">
                                      <p:cBhvr additive="repl">
                                        <p:cTn id="1407" dur="500"/>
                                        <p:tgtEl>
                                          <p:spTgt spid="5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Rectangle 5"/>
          <p:cNvSpPr/>
          <p:nvPr/>
        </p:nvSpPr>
        <p:spPr>
          <a:xfrm>
            <a:off x="360360" y="1511280"/>
            <a:ext cx="8325720" cy="4995000"/>
          </a:xfrm>
          <a:prstGeom prst="rect">
            <a:avLst/>
          </a:prstGeom>
          <a:noFill/>
          <a:ln w="0">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The increase in consumer surplus of $1.40 per song is an estimate of how much more an average buyer would be willing to pay for an average song.</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Paid subscriptions for streaming increase consumer surplus even more. </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A streaming subscription is a fixed cost per month, so the average price of a song is the monthly subscription divided by the number of different songs played. </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But the price of the marginal song is zero, so consumer surplus becomes the entire area under the demand curve at a zero price minus the fixed subscription cost.</a:t>
            </a:r>
            <a:endParaRPr b="0" lang="en-US" sz="2400" strike="noStrike" u="none">
              <a:solidFill>
                <a:srgbClr val="000000"/>
              </a:solidFill>
              <a:effectLst/>
              <a:uFillTx/>
              <a:latin typeface="Arial"/>
            </a:endParaRPr>
          </a:p>
        </p:txBody>
      </p:sp>
      <p:pic>
        <p:nvPicPr>
          <p:cNvPr id="515" name="Picture 4" descr=""/>
          <p:cNvPicPr/>
          <p:nvPr/>
        </p:nvPicPr>
        <p:blipFill>
          <a:blip r:embed="rId1"/>
          <a:stretch/>
        </p:blipFill>
        <p:spPr>
          <a:xfrm>
            <a:off x="0" y="0"/>
            <a:ext cx="9143280" cy="1193040"/>
          </a:xfrm>
          <a:prstGeom prst="rect">
            <a:avLst/>
          </a:prstGeom>
          <a:noFill/>
          <a:ln w="0">
            <a:noFill/>
          </a:ln>
        </p:spPr>
      </p:pic>
    </p:spTree>
  </p:cSld>
  <p:transition spd="slow">
    <p:wipe dir="r"/>
  </p:transition>
  <p:timing>
    <p:tnLst>
      <p:par>
        <p:cTn id="1408" dur="indefinite" restart="never" nodeType="tmRoot">
          <p:childTnLst>
            <p:seq>
              <p:cTn id="1409" dur="indefinite" nodeType="mainSeq">
                <p:childTnLst>
                  <p:par>
                    <p:cTn id="1410" nodeType="clickEffect" fill="hold">
                      <p:stCondLst>
                        <p:cond delay="indefinite"/>
                      </p:stCondLst>
                      <p:childTnLst>
                        <p:par>
                          <p:cTn id="1411" nodeType="withEffect" fill="hold">
                            <p:stCondLst>
                              <p:cond delay="0"/>
                            </p:stCondLst>
                            <p:childTnLst>
                              <p:par>
                                <p:cTn id="1412" nodeType="clickEffect" fill="hold" presetClass="entr" presetID="22" presetSubtype="8">
                                  <p:stCondLst>
                                    <p:cond delay="0"/>
                                  </p:stCondLst>
                                  <p:childTnLst>
                                    <p:set>
                                      <p:cBhvr>
                                        <p:cTn id="1413" dur="1" fill="hold">
                                          <p:stCondLst>
                                            <p:cond delay="0"/>
                                          </p:stCondLst>
                                        </p:cTn>
                                        <p:tgtEl>
                                          <p:spTgt spid="514">
                                            <p:txEl>
                                              <p:pRg st="1" end="1"/>
                                            </p:txEl>
                                          </p:spTgt>
                                        </p:tgtEl>
                                        <p:attrNameLst>
                                          <p:attrName>style.visibility</p:attrName>
                                        </p:attrNameLst>
                                      </p:cBhvr>
                                      <p:to>
                                        <p:strVal val="visible"/>
                                      </p:to>
                                    </p:set>
                                    <p:animEffect filter="wipe(left)" transition="in">
                                      <p:cBhvr additive="repl">
                                        <p:cTn id="1414" dur="500"/>
                                        <p:tgtEl>
                                          <p:spTgt spid="514">
                                            <p:txEl>
                                              <p:pRg st="1" end="1"/>
                                            </p:txEl>
                                          </p:spTgt>
                                        </p:tgtEl>
                                      </p:cBhvr>
                                    </p:animEffect>
                                  </p:childTnLst>
                                </p:cTn>
                              </p:par>
                            </p:childTnLst>
                          </p:cTn>
                        </p:par>
                      </p:childTnLst>
                    </p:cTn>
                  </p:par>
                  <p:par>
                    <p:cTn id="1415" nodeType="clickEffect" fill="hold">
                      <p:stCondLst>
                        <p:cond delay="indefinite"/>
                      </p:stCondLst>
                      <p:childTnLst>
                        <p:par>
                          <p:cTn id="1416" nodeType="withEffect" fill="hold">
                            <p:stCondLst>
                              <p:cond delay="0"/>
                            </p:stCondLst>
                            <p:childTnLst>
                              <p:par>
                                <p:cTn id="1417" nodeType="clickEffect" fill="hold" presetClass="entr" presetID="22" presetSubtype="8">
                                  <p:stCondLst>
                                    <p:cond delay="0"/>
                                  </p:stCondLst>
                                  <p:childTnLst>
                                    <p:set>
                                      <p:cBhvr>
                                        <p:cTn id="1418" dur="1" fill="hold">
                                          <p:stCondLst>
                                            <p:cond delay="0"/>
                                          </p:stCondLst>
                                        </p:cTn>
                                        <p:tgtEl>
                                          <p:spTgt spid="514">
                                            <p:txEl>
                                              <p:pRg st="2" end="2"/>
                                            </p:txEl>
                                          </p:spTgt>
                                        </p:tgtEl>
                                        <p:attrNameLst>
                                          <p:attrName>style.visibility</p:attrName>
                                        </p:attrNameLst>
                                      </p:cBhvr>
                                      <p:to>
                                        <p:strVal val="visible"/>
                                      </p:to>
                                    </p:set>
                                    <p:animEffect filter="wipe(left)" transition="in">
                                      <p:cBhvr additive="repl">
                                        <p:cTn id="1419" dur="500"/>
                                        <p:tgtEl>
                                          <p:spTgt spid="514">
                                            <p:txEl>
                                              <p:pRg st="2" end="2"/>
                                            </p:txEl>
                                          </p:spTgt>
                                        </p:tgtEl>
                                      </p:cBhvr>
                                    </p:animEffect>
                                  </p:childTnLst>
                                </p:cTn>
                              </p:par>
                            </p:childTnLst>
                          </p:cTn>
                        </p:par>
                      </p:childTnLst>
                    </p:cTn>
                  </p:par>
                  <p:par>
                    <p:cTn id="1420" nodeType="clickEffect" fill="hold">
                      <p:stCondLst>
                        <p:cond delay="indefinite"/>
                      </p:stCondLst>
                      <p:childTnLst>
                        <p:par>
                          <p:cTn id="1421" nodeType="withEffect" fill="hold">
                            <p:stCondLst>
                              <p:cond delay="0"/>
                            </p:stCondLst>
                            <p:childTnLst>
                              <p:par>
                                <p:cTn id="1422" nodeType="clickEffect" fill="hold" presetClass="entr" presetID="22" presetSubtype="8">
                                  <p:stCondLst>
                                    <p:cond delay="0"/>
                                  </p:stCondLst>
                                  <p:childTnLst>
                                    <p:set>
                                      <p:cBhvr>
                                        <p:cTn id="1423" dur="1" fill="hold">
                                          <p:stCondLst>
                                            <p:cond delay="0"/>
                                          </p:stCondLst>
                                        </p:cTn>
                                        <p:tgtEl>
                                          <p:spTgt spid="514">
                                            <p:txEl>
                                              <p:pRg st="3" end="3"/>
                                            </p:txEl>
                                          </p:spTgt>
                                        </p:tgtEl>
                                        <p:attrNameLst>
                                          <p:attrName>style.visibility</p:attrName>
                                        </p:attrNameLst>
                                      </p:cBhvr>
                                      <p:to>
                                        <p:strVal val="visible"/>
                                      </p:to>
                                    </p:set>
                                    <p:animEffect filter="wipe(left)" transition="in">
                                      <p:cBhvr additive="repl">
                                        <p:cTn id="1424" dur="500"/>
                                        <p:tgtEl>
                                          <p:spTgt spid="514">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6_Custom Design">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9_newdesign">
  <a:themeElements>
    <a:clrScheme name="1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new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10_newdesign">
  <a:themeElements>
    <a:clrScheme name="3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new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11_newdesign">
  <a:themeElements>
    <a:clrScheme name="3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new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5_Custom Design">
  <a:themeElements>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Custom 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3_foundations">
  <a:themeElements>
    <a:clrScheme name="3_foundations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foundations">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4_foundations">
  <a:themeElements>
    <a:clrScheme name="3_foundations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foundations">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Foundations 2e</Template>
  <TotalTime>12903</TotalTime>
  <Application>LibreOffice/25.2.3.2$MacOSX_AARCH64 LibreOffice_project/bbb074479178df812d175f709636b368952c2ce3</Application>
  <AppVersion>15.0000</AppVersion>
  <Words>4835</Words>
  <Paragraphs>368</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2000-11-24T17:02:06Z</dcterms:created>
  <dc:creator>Robin Bade and Michael Parkin</dc:creator>
  <dc:description/>
  <dc:language>en-US</dc:language>
  <cp:lastModifiedBy/>
  <dcterms:modified xsi:type="dcterms:W3CDTF">2025-07-29T07:14:24Z</dcterms:modified>
  <cp:revision>236</cp:revision>
  <dc:subject/>
  <dc:title>Chapter12</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14</vt:i4>
  </property>
  <property fmtid="{D5CDD505-2E9C-101B-9397-08002B2CF9AE}" pid="3" name="Notes">
    <vt:i4>87</vt:i4>
  </property>
  <property fmtid="{D5CDD505-2E9C-101B-9397-08002B2CF9AE}" pid="4" name="PresentationFormat">
    <vt:lpwstr>On-screen Show (4:3)</vt:lpwstr>
  </property>
  <property fmtid="{D5CDD505-2E9C-101B-9397-08002B2CF9AE}" pid="5" name="Slides">
    <vt:i4>87</vt:i4>
  </property>
</Properties>
</file>