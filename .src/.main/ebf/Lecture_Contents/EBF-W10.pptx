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media/image17.png" ContentType="image/png"/>
  <Override PartName="/ppt/media/image21.png" ContentType="image/png"/>
  <Override PartName="/ppt/media/image35.png" ContentType="image/png"/>
  <Override PartName="/ppt/media/image1.jpeg" ContentType="image/jpeg"/>
  <Override PartName="/ppt/media/image83.png" ContentType="image/png"/>
  <Override PartName="/ppt/media/image41.png" ContentType="image/png"/>
  <Override PartName="/ppt/media/image36.png" ContentType="image/png"/>
  <Override PartName="/ppt/media/image38.png" ContentType="image/png"/>
  <Override PartName="/ppt/media/image39.png" ContentType="image/png"/>
  <Override PartName="/ppt/media/image18.png" ContentType="image/png"/>
  <Override PartName="/ppt/media/image2.jpeg" ContentType="image/jpeg"/>
  <Override PartName="/ppt/media/image19.png" ContentType="image/png"/>
  <Override PartName="/ppt/media/image101.png" ContentType="image/png"/>
  <Override PartName="/ppt/media/image94.png" ContentType="image/png"/>
  <Override PartName="/ppt/media/image20.png" ContentType="image/png"/>
  <Override PartName="/ppt/media/image79.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8.png" ContentType="image/png"/>
  <Override PartName="/ppt/media/image29.png" ContentType="image/png"/>
  <Override PartName="/ppt/media/image30.png" ContentType="image/png"/>
  <Override PartName="/ppt/media/image89.png" ContentType="image/png"/>
  <Override PartName="/ppt/media/image31.png" ContentType="image/png"/>
  <Override PartName="/ppt/media/image32.png" ContentType="image/png"/>
  <Override PartName="/ppt/media/image33.png" ContentType="image/png"/>
  <Override PartName="/ppt/media/image34.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48.png" ContentType="image/png"/>
  <Override PartName="/ppt/media/image4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6.png" ContentType="image/png"/>
  <Override PartName="/ppt/media/image96.png" ContentType="image/png"/>
  <Override PartName="/ppt/media/image103.png" ContentType="image/png"/>
  <Override PartName="/ppt/media/image58.png" ContentType="image/png"/>
  <Override PartName="/ppt/media/image59.png" ContentType="image/png"/>
  <Override PartName="/ppt/media/image61.png" ContentType="image/png"/>
  <Override PartName="/ppt/media/image62.png" ContentType="image/png"/>
  <Override PartName="/ppt/media/image63.png" ContentType="image/png"/>
  <Override PartName="/ppt/media/image27.png" ContentType="image/png"/>
  <Override PartName="/ppt/media/image92.jpeg" ContentType="image/jpeg"/>
  <Override PartName="/ppt/media/image64.png" ContentType="image/png"/>
  <Override PartName="/ppt/media/image60.png" ContentType="image/png"/>
  <Override PartName="/ppt/media/image65.png" ContentType="image/png"/>
  <Override PartName="/ppt/media/image66.png" ContentType="image/png"/>
  <Override PartName="/ppt/media/image67.png" ContentType="image/png"/>
  <Override PartName="/ppt/media/image68.png" ContentType="image/png"/>
  <Override PartName="/ppt/media/image70.png" ContentType="image/png"/>
  <Override PartName="/ppt/media/image12.png" ContentType="image/png"/>
  <Override PartName="/ppt/media/image74.png" ContentType="image/png"/>
  <Override PartName="/ppt/media/image5.png" ContentType="image/png"/>
  <Override PartName="/ppt/media/image93.jpeg" ContentType="image/jpeg"/>
  <Override PartName="/ppt/media/image37.png" ContentType="image/png"/>
  <Override PartName="/ppt/media/image6.png" ContentType="image/png"/>
  <Override PartName="/ppt/media/image75.png" ContentType="image/png"/>
  <Override PartName="/ppt/media/image7.png" ContentType="image/png"/>
  <Override PartName="/ppt/media/image76.png" ContentType="image/png"/>
  <Override PartName="/ppt/media/image8.png" ContentType="image/png"/>
  <Override PartName="/ppt/media/image77.png" ContentType="image/png"/>
  <Override PartName="/ppt/media/image9.png" ContentType="image/png"/>
  <Override PartName="/ppt/media/image78.png" ContentType="image/png"/>
  <Override PartName="/ppt/media/image16.png" ContentType="image/png"/>
  <Override PartName="/ppt/media/image91.png" ContentType="image/png"/>
  <Override PartName="/ppt/media/image81.png" ContentType="image/png"/>
  <Override PartName="/ppt/media/image82.png" ContentType="image/png"/>
  <Override PartName="/ppt/media/image84.png" ContentType="image/png"/>
  <Override PartName="/ppt/media/image85.png" ContentType="image/png"/>
  <Override PartName="/ppt/media/image87.png" ContentType="image/png"/>
  <Override PartName="/ppt/media/image10.png" ContentType="image/png"/>
  <Override PartName="/ppt/media/image69.png" ContentType="image/png"/>
  <Override PartName="/ppt/media/image72.png" ContentType="image/png"/>
  <Override PartName="/ppt/media/image3.png" ContentType="image/png"/>
  <Override PartName="/ppt/media/image88.png" ContentType="image/png"/>
  <Override PartName="/ppt/media/image102.png" ContentType="image/png"/>
  <Override PartName="/ppt/media/image95.png" ContentType="image/png"/>
  <Override PartName="/ppt/media/image14.png" ContentType="image/png"/>
  <Override PartName="/ppt/media/image98.png" ContentType="image/png"/>
  <Override PartName="/ppt/media/image71.png" ContentType="image/png"/>
  <Override PartName="/ppt/media/image13.png" ContentType="image/png"/>
  <Override PartName="/ppt/media/image57.png" ContentType="image/png"/>
  <Override PartName="/ppt/media/image11.png" ContentType="image/png"/>
  <Override PartName="/ppt/media/image73.png" ContentType="image/png"/>
  <Override PartName="/ppt/media/image4.png" ContentType="image/png"/>
  <Override PartName="/ppt/media/image55.png" ContentType="image/png"/>
  <Override PartName="/ppt/media/image100.png" ContentType="image/png"/>
  <Override PartName="/ppt/media/image97.png" ContentType="image/png"/>
  <Override PartName="/ppt/media/image86.png" ContentType="image/png"/>
  <Override PartName="/ppt/media/image15.png" ContentType="image/png"/>
  <Override PartName="/ppt/media/image90.png" ContentType="image/png"/>
  <Override PartName="/ppt/media/image80.png" ContentType="image/png"/>
  <Override PartName="/ppt/media/image40.png" ContentType="image/png"/>
  <Override PartName="/ppt/media/image99.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91.xml" ContentType="application/vnd.openxmlformats-officedocument.presentationml.slide+xml"/>
  <Override PartName="/ppt/slides/slide10.xml" ContentType="application/vnd.openxmlformats-officedocument.presentationml.slide+xml"/>
  <Override PartName="/ppt/slides/slide69.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92.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9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9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7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9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89.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_rels/slide88.xml.rels" ContentType="application/vnd.openxmlformats-package.relationships+xml"/>
  <Override PartName="/ppt/slides/_rels/slide87.xml.rels" ContentType="application/vnd.openxmlformats-package.relationships+xml"/>
  <Override PartName="/ppt/slides/_rels/slide86.xml.rels" ContentType="application/vnd.openxmlformats-package.relationships+xml"/>
  <Override PartName="/ppt/slides/_rels/slide85.xml.rels" ContentType="application/vnd.openxmlformats-package.relationships+xml"/>
  <Override PartName="/ppt/slides/_rels/slide84.xml.rels" ContentType="application/vnd.openxmlformats-package.relationships+xml"/>
  <Override PartName="/ppt/slides/_rels/slide78.xml.rels" ContentType="application/vnd.openxmlformats-package.relationships+xml"/>
  <Override PartName="/ppt/slides/_rels/slide83.xml.rels" ContentType="application/vnd.openxmlformats-package.relationships+xml"/>
  <Override PartName="/ppt/slides/_rels/slide68.xml.rels" ContentType="application/vnd.openxmlformats-package.relationships+xml"/>
  <Override PartName="/ppt/slides/_rels/slide77.xml.rels" ContentType="application/vnd.openxmlformats-package.relationships+xml"/>
  <Override PartName="/ppt/slides/_rels/slide82.xml.rels" ContentType="application/vnd.openxmlformats-package.relationships+xml"/>
  <Override PartName="/ppt/slides/_rels/slide49.xml.rels" ContentType="application/vnd.openxmlformats-package.relationships+xml"/>
  <Override PartName="/ppt/slides/_rels/slide9.xml.rels" ContentType="application/vnd.openxmlformats-package.relationships+xml"/>
  <Override PartName="/ppt/slides/_rels/slide67.xml.rels" ContentType="application/vnd.openxmlformats-package.relationships+xml"/>
  <Override PartName="/ppt/slides/_rels/slide81.xml.rels" ContentType="application/vnd.openxmlformats-package.relationships+xml"/>
  <Override PartName="/ppt/slides/_rels/slide48.xml.rels" ContentType="application/vnd.openxmlformats-package.relationships+xml"/>
  <Override PartName="/ppt/slides/_rels/slide8.xml.rels" ContentType="application/vnd.openxmlformats-package.relationships+xml"/>
  <Override PartName="/ppt/slides/_rels/slide66.xml.rels" ContentType="application/vnd.openxmlformats-package.relationships+xml"/>
  <Override PartName="/ppt/slides/_rels/slide80.xml.rels" ContentType="application/vnd.openxmlformats-package.relationships+xml"/>
  <Override PartName="/ppt/slides/_rels/slide47.xml.rels" ContentType="application/vnd.openxmlformats-package.relationships+xml"/>
  <Override PartName="/ppt/slides/_rels/slide7.xml.rels" ContentType="application/vnd.openxmlformats-package.relationships+xml"/>
  <Override PartName="/ppt/slides/_rels/slide65.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70.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60.xml.rels" ContentType="application/vnd.openxmlformats-package.relationships+xml"/>
  <Override PartName="/ppt/slides/_rels/slide59.xml.rels" ContentType="application/vnd.openxmlformats-package.relationships+xml"/>
  <Override PartName="/ppt/slides/_rels/slide58.xml.rels" ContentType="application/vnd.openxmlformats-package.relationships+xml"/>
  <Override PartName="/ppt/slides/_rels/slide57.xml.rels" ContentType="application/vnd.openxmlformats-package.relationships+xml"/>
  <Override PartName="/ppt/slides/_rels/slide56.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6.xml.rels" ContentType="application/vnd.openxmlformats-package.relationships+xml"/>
  <Override PartName="/ppt/slides/_rels/slide6.xml.rels" ContentType="application/vnd.openxmlformats-package.relationships+xml"/>
  <Override PartName="/ppt/slides/_rels/slide45.xml.rels" ContentType="application/vnd.openxmlformats-package.relationships+xml"/>
  <Override PartName="/ppt/slides/_rels/slide5.xml.rels" ContentType="application/vnd.openxmlformats-package.relationships+xml"/>
  <Override PartName="/ppt/slides/_rels/slide44.xml.rels" ContentType="application/vnd.openxmlformats-package.relationships+xml"/>
  <Override PartName="/ppt/slides/_rels/slide4.xml.rels" ContentType="application/vnd.openxmlformats-package.relationships+xml"/>
  <Override PartName="/ppt/slides/_rels/slide43.xml.rels" ContentType="application/vnd.openxmlformats-package.relationships+xml"/>
  <Override PartName="/ppt/slides/_rels/slide3.xml.rels" ContentType="application/vnd.openxmlformats-package.relationships+xml"/>
  <Override PartName="/ppt/slides/_rels/slide42.xml.rels" ContentType="application/vnd.openxmlformats-package.relationships+xml"/>
  <Override PartName="/ppt/slides/_rels/slide2.xml.rels" ContentType="application/vnd.openxmlformats-package.relationships+xml"/>
  <Override PartName="/ppt/slides/_rels/slide41.xml.rels" ContentType="application/vnd.openxmlformats-package.relationships+xml"/>
  <Override PartName="/ppt/slides/_rels/slide1.xml.rels" ContentType="application/vnd.openxmlformats-package.relationships+xml"/>
  <Override PartName="/ppt/slides/_rels/slide39.xml.rels" ContentType="application/vnd.openxmlformats-package.relationships+xml"/>
  <Override PartName="/ppt/slides/_rels/slide38.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36.xml.rels" ContentType="application/vnd.openxmlformats-package.relationships+xml"/>
  <Override PartName="/ppt/slides/_rels/slide89.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28.xml.rels" ContentType="application/vnd.openxmlformats-package.relationships+xml"/>
  <Override PartName="/ppt/slides/_rels/slide27.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90.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79.xml.rels" ContentType="application/vnd.openxmlformats-package.relationships+xml"/>
  <Override PartName="/ppt/slides/_rels/slide20.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94.xml.rels" ContentType="application/vnd.openxmlformats-package.relationships+xml"/>
  <Override PartName="/ppt/slides/_rels/slide19.xml.rels" ContentType="application/vnd.openxmlformats-package.relationships+xml"/>
  <Override PartName="/ppt/slides/_rels/slide69.xml.rels" ContentType="application/vnd.openxmlformats-package.relationships+xml"/>
  <Override PartName="/ppt/slides/_rels/slide10.xml.rels" ContentType="application/vnd.openxmlformats-package.relationships+xml"/>
  <Override PartName="/ppt/slides/_rels/slide40.xml.rels" ContentType="application/vnd.openxmlformats-package.relationships+xml"/>
  <Override PartName="/ppt/slides/_rels/slide93.xml.rels" ContentType="application/vnd.openxmlformats-package.relationships+xml"/>
  <Override PartName="/ppt/slides/_rels/slide18.xml.rels" ContentType="application/vnd.openxmlformats-package.relationships+xml"/>
  <Override PartName="/ppt/slides/_rels/slide92.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91.xml.rels" ContentType="application/vnd.openxmlformats-package.relationships+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65.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66.xml" ContentType="application/vnd.openxmlformats-officedocument.presentationml.slide+xml"/>
  <Override PartName="/ppt/slides/slide48.xml" ContentType="application/vnd.openxmlformats-officedocument.presentationml.slide+xml"/>
  <Override PartName="/ppt/slides/slide81.xml" ContentType="application/vnd.openxmlformats-officedocument.presentationml.slide+xml"/>
  <Override PartName="/ppt/slides/slide67.xml" ContentType="application/vnd.openxmlformats-officedocument.presentationml.slide+xml"/>
  <Override PartName="/ppt/slides/slide49.xml" ContentType="application/vnd.openxmlformats-officedocument.presentationml.slide+xml"/>
  <Override PartName="/ppt/slides/slide82.xml" ContentType="application/vnd.openxmlformats-officedocument.presentationml.slide+xml"/>
  <Override PartName="/ppt/slides/slide77.xml" ContentType="application/vnd.openxmlformats-officedocument.presentationml.slide+xml"/>
  <Override PartName="/ppt/slides/slide68.xml" ContentType="application/vnd.openxmlformats-officedocument.presentationml.slide+xml"/>
  <Override PartName="/ppt/slides/slide83.xml" ContentType="application/vnd.openxmlformats-officedocument.presentationml.slide+xml"/>
  <Override PartName="/ppt/slides/slide78.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6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90.xml" ContentType="application/vnd.openxmlformats-officedocument.presentationml.notesSlide+xml"/>
  <Override PartName="/ppt/notesSlides/notesSlide16.xml" ContentType="application/vnd.openxmlformats-officedocument.presentationml.notesSlide+xml"/>
  <Override PartName="/ppt/notesSlides/notesSlide91.xml" ContentType="application/vnd.openxmlformats-officedocument.presentationml.notesSlide+xml"/>
  <Override PartName="/ppt/notesSlides/notesSlide17.xml" ContentType="application/vnd.openxmlformats-officedocument.presentationml.notesSlide+xml"/>
  <Override PartName="/ppt/notesSlides/notesSlide92.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93.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79.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8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65.xml" ContentType="application/vnd.openxmlformats-officedocument.presentationml.notesSlide+xml"/>
  <Override PartName="/ppt/notesSlides/notesSlide47.xml" ContentType="application/vnd.openxmlformats-officedocument.presentationml.notesSlide+xml"/>
  <Override PartName="/ppt/notesSlides/notesSlide80.xml" ContentType="application/vnd.openxmlformats-officedocument.presentationml.notesSlide+xml"/>
  <Override PartName="/ppt/notesSlides/notesSlide66.xml" ContentType="application/vnd.openxmlformats-officedocument.presentationml.notesSlide+xml"/>
  <Override PartName="/ppt/notesSlides/notesSlide48.xml" ContentType="application/vnd.openxmlformats-officedocument.presentationml.notesSlide+xml"/>
  <Override PartName="/ppt/notesSlides/_rels/notesSlide88.xml.rels" ContentType="application/vnd.openxmlformats-package.relationships+xml"/>
  <Override PartName="/ppt/notesSlides/_rels/notesSlide87.xml.rels" ContentType="application/vnd.openxmlformats-package.relationships+xml"/>
  <Override PartName="/ppt/notesSlides/_rels/notesSlide86.xml.rels" ContentType="application/vnd.openxmlformats-package.relationships+xml"/>
  <Override PartName="/ppt/notesSlides/_rels/notesSlide85.xml.rels" ContentType="application/vnd.openxmlformats-package.relationships+xml"/>
  <Override PartName="/ppt/notesSlides/_rels/notesSlide84.xml.rels" ContentType="application/vnd.openxmlformats-package.relationships+xml"/>
  <Override PartName="/ppt/notesSlides/_rels/notesSlide78.xml.rels" ContentType="application/vnd.openxmlformats-package.relationships+xml"/>
  <Override PartName="/ppt/notesSlides/_rels/notesSlide83.xml.rels" ContentType="application/vnd.openxmlformats-package.relationships+xml"/>
  <Override PartName="/ppt/notesSlides/_rels/notesSlide68.xml.rels" ContentType="application/vnd.openxmlformats-package.relationships+xml"/>
  <Override PartName="/ppt/notesSlides/_rels/notesSlide77.xml.rels" ContentType="application/vnd.openxmlformats-package.relationships+xml"/>
  <Override PartName="/ppt/notesSlides/_rels/notesSlide82.xml.rels" ContentType="application/vnd.openxmlformats-package.relationships+xml"/>
  <Override PartName="/ppt/notesSlides/_rels/notesSlide49.xml.rels" ContentType="application/vnd.openxmlformats-package.relationships+xml"/>
  <Override PartName="/ppt/notesSlides/_rels/notesSlide67.xml.rels" ContentType="application/vnd.openxmlformats-package.relationships+xml"/>
  <Override PartName="/ppt/notesSlides/_rels/notesSlide81.xml.rels" ContentType="application/vnd.openxmlformats-package.relationships+xml"/>
  <Override PartName="/ppt/notesSlides/_rels/notesSlide48.xml.rels" ContentType="application/vnd.openxmlformats-package.relationships+xml"/>
  <Override PartName="/ppt/notesSlides/_rels/notesSlide66.xml.rels" ContentType="application/vnd.openxmlformats-package.relationships+xml"/>
  <Override PartName="/ppt/notesSlides/_rels/notesSlide80.xml.rels" ContentType="application/vnd.openxmlformats-package.relationships+xml"/>
  <Override PartName="/ppt/notesSlides/_rels/notesSlide47.xml.rels" ContentType="application/vnd.openxmlformats-package.relationships+xml"/>
  <Override PartName="/ppt/notesSlides/_rels/notesSlide65.xml.rels" ContentType="application/vnd.openxmlformats-package.relationships+xml"/>
  <Override PartName="/ppt/notesSlides/_rels/notesSlide76.xml.rels" ContentType="application/vnd.openxmlformats-package.relationships+xml"/>
  <Override PartName="/ppt/notesSlides/_rels/notesSlide75.xml.rels" ContentType="application/vnd.openxmlformats-package.relationships+xml"/>
  <Override PartName="/ppt/notesSlides/_rels/notesSlide74.xml.rels" ContentType="application/vnd.openxmlformats-package.relationships+xml"/>
  <Override PartName="/ppt/notesSlides/_rels/notesSlide73.xml.rels" ContentType="application/vnd.openxmlformats-package.relationships+xml"/>
  <Override PartName="/ppt/notesSlides/_rels/notesSlide72.xml.rels" ContentType="application/vnd.openxmlformats-package.relationships+xml"/>
  <Override PartName="/ppt/notesSlides/_rels/notesSlide71.xml.rels" ContentType="application/vnd.openxmlformats-package.relationships+xml"/>
  <Override PartName="/ppt/notesSlides/_rels/notesSlide70.xml.rels" ContentType="application/vnd.openxmlformats-package.relationships+xml"/>
  <Override PartName="/ppt/notesSlides/_rels/notesSlide64.xml.rels" ContentType="application/vnd.openxmlformats-package.relationships+xml"/>
  <Override PartName="/ppt/notesSlides/_rels/notesSlide61.xml.rels" ContentType="application/vnd.openxmlformats-package.relationships+xml"/>
  <Override PartName="/ppt/notesSlides/_rels/notesSlide7.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59.xml.rels" ContentType="application/vnd.openxmlformats-package.relationships+xml"/>
  <Override PartName="/ppt/notesSlides/_rels/notesSlide58.xml.rels" ContentType="application/vnd.openxmlformats-package.relationships+xml"/>
  <Override PartName="/ppt/notesSlides/_rels/notesSlide57.xml.rels" ContentType="application/vnd.openxmlformats-package.relationships+xml"/>
  <Override PartName="/ppt/notesSlides/_rels/notesSlide56.xml.rels" ContentType="application/vnd.openxmlformats-package.relationships+xml"/>
  <Override PartName="/ppt/notesSlides/_rels/notesSlide55.xml.rels" ContentType="application/vnd.openxmlformats-package.relationships+xml"/>
  <Override PartName="/ppt/notesSlides/_rels/notesSlide54.xml.rels" ContentType="application/vnd.openxmlformats-package.relationships+xml"/>
  <Override PartName="/ppt/notesSlides/_rels/notesSlide53.xml.rels" ContentType="application/vnd.openxmlformats-package.relationships+xml"/>
  <Override PartName="/ppt/notesSlides/_rels/notesSlide9.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51.xml.rels" ContentType="application/vnd.openxmlformats-package.relationships+xml"/>
  <Override PartName="/ppt/notesSlides/_rels/notesSlide50.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36.xml.rels" ContentType="application/vnd.openxmlformats-package.relationships+xml"/>
  <Override PartName="/ppt/notesSlides/_rels/notesSlide89.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79.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40.xml.rels" ContentType="application/vnd.openxmlformats-package.relationships+xml"/>
  <Override PartName="/ppt/notesSlides/_rels/notesSlide9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92.xml.rels" ContentType="application/vnd.openxmlformats-package.relationships+xml"/>
  <Override PartName="/ppt/notesSlides/_rels/notesSlide17.xml.rels" ContentType="application/vnd.openxmlformats-package.relationships+xml"/>
  <Override PartName="/ppt/notesSlides/_rels/notesSlide16.xml.rels" ContentType="application/vnd.openxmlformats-package.relationships+xml"/>
  <Override PartName="/ppt/notesSlides/_rels/notesSlide91.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69.xml.rels" ContentType="application/vnd.openxmlformats-package.relationships+xml"/>
  <Override PartName="/ppt/notesSlides/_rels/notesSlide15.xml.rels" ContentType="application/vnd.openxmlformats-package.relationships+xml"/>
  <Override PartName="/ppt/notesSlides/_rels/notesSlide90.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81.xml" ContentType="application/vnd.openxmlformats-officedocument.presentationml.notesSlide+xml"/>
  <Override PartName="/ppt/notesSlides/notesSlide67.xml" ContentType="application/vnd.openxmlformats-officedocument.presentationml.notesSlide+xml"/>
  <Override PartName="/ppt/notesSlides/notesSlide49.xml" ContentType="application/vnd.openxmlformats-officedocument.presentationml.notesSlide+xml"/>
  <Override PartName="/ppt/notesSlides/notesSlide82.xml" ContentType="application/vnd.openxmlformats-officedocument.presentationml.notes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77.xml" ContentType="application/vnd.openxmlformats-officedocument.presentationml.notesSlide+xml"/>
  <Override PartName="/ppt/notesSlides/notesSlide68.xml" ContentType="application/vnd.openxmlformats-officedocument.presentationml.notesSlide+xml"/>
  <Override PartName="/ppt/notesSlides/notesSlide83.xml" ContentType="application/vnd.openxmlformats-officedocument.presentationml.notesSlide+xml"/>
  <Override PartName="/ppt/notesSlides/notesSlide78.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CA" sz="2000" strike="noStrike" u="none">
                <a:solidFill>
                  <a:schemeClr val="dk1"/>
                </a:solidFill>
                <a:effectLst/>
                <a:uFillTx/>
                <a:latin typeface="Arial"/>
              </a:rPr>
              <a:t>Click to move the slide</a:t>
            </a:r>
            <a:endParaRPr b="0" lang="en-CA" sz="2000" strike="noStrike" u="none">
              <a:solidFill>
                <a:schemeClr val="dk1"/>
              </a:solidFill>
              <a:effectLst/>
              <a:uFillTx/>
              <a:latin typeface="Arial"/>
            </a:endParaRPr>
          </a:p>
        </p:txBody>
      </p:sp>
      <p:sp>
        <p:nvSpPr>
          <p:cNvPr id="2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1"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2"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3"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8DAB174F-FD02-45EC-9F07-BF9311DC0924}"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Num" idx="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248CD72-017A-43FF-BEE9-7FDE0C81DB5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01" name="PlaceHolder 2"/>
          <p:cNvSpPr>
            <a:spLocks noGrp="1"/>
          </p:cNvSpPr>
          <p:nvPr>
            <p:ph type="sldImg"/>
          </p:nvPr>
        </p:nvSpPr>
        <p:spPr>
          <a:xfrm>
            <a:off x="1143000" y="685800"/>
            <a:ext cx="4571640" cy="3428640"/>
          </a:xfrm>
          <a:prstGeom prst="rect">
            <a:avLst/>
          </a:prstGeom>
          <a:ln w="0">
            <a:noFill/>
          </a:ln>
        </p:spPr>
      </p:sp>
      <p:sp>
        <p:nvSpPr>
          <p:cNvPr id="50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CA" sz="1600" strike="noStrike" u="none">
                <a:solidFill>
                  <a:srgbClr val="000000"/>
                </a:solidFill>
                <a:effectLst/>
                <a:uFillTx/>
                <a:latin typeface="Arial"/>
                <a:ea typeface="ＭＳ Ｐゴシック"/>
              </a:rPr>
              <a:t>Notes and teaching tips: </a:t>
            </a:r>
            <a:r>
              <a:rPr b="0" lang="en-GB" sz="1600" strike="noStrike" u="none">
                <a:solidFill>
                  <a:srgbClr val="000000"/>
                </a:solidFill>
                <a:effectLst/>
                <a:uFillTx/>
                <a:latin typeface="Arial"/>
                <a:ea typeface="ＭＳ Ｐゴシック"/>
              </a:rPr>
              <a:t>4, 6, 7, 8, 9, 23, 27, 28, 29, 41, 52, and 85. </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Arial"/>
                <a:ea typeface="ＭＳ Ｐゴシック"/>
              </a:rPr>
              <a:t>To view a full-screen figure during a class, click the red </a:t>
            </a:r>
            <a:r>
              <a:rPr b="0" lang="en-CA" sz="1600" strike="noStrike" u="none">
                <a:solidFill>
                  <a:srgbClr val="000000"/>
                </a:solidFill>
                <a:effectLst/>
                <a:uFillTx/>
                <a:latin typeface="Arial"/>
                <a:ea typeface="ＭＳ Ｐゴシック"/>
              </a:rPr>
              <a:t>“expand”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Arial"/>
                <a:ea typeface="ＭＳ Ｐゴシック"/>
              </a:rPr>
              <a:t>To return to the previous slide, click the red “shrink”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Arial"/>
                <a:ea typeface="ＭＳ Ｐゴシック"/>
              </a:rPr>
              <a:t>To advance to the next slide, click anywhere on the full screen figure.</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Arial"/>
                <a:ea typeface="ＭＳ Ｐゴシック"/>
              </a:rPr>
              <a:t>To enhance your lecture, check out the Lecture Launchers, Land Mines, and Class Activities in the Instructor’s Manual.</a:t>
            </a:r>
            <a:r>
              <a:rPr b="0" lang="en-US"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Num" idx="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A4E036D-2BBB-42CF-BF7F-3B814158F91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04" name="PlaceHolder 2"/>
          <p:cNvSpPr>
            <a:spLocks noGrp="1"/>
          </p:cNvSpPr>
          <p:nvPr>
            <p:ph type="sldImg"/>
          </p:nvPr>
        </p:nvSpPr>
        <p:spPr>
          <a:xfrm>
            <a:off x="1143000" y="685800"/>
            <a:ext cx="4571640" cy="3428640"/>
          </a:xfrm>
          <a:prstGeom prst="rect">
            <a:avLst/>
          </a:prstGeom>
          <a:ln w="0">
            <a:noFill/>
          </a:ln>
        </p:spPr>
      </p:sp>
      <p:sp>
        <p:nvSpPr>
          <p:cNvPr id="505" name="PlaceHolder 3"/>
          <p:cNvSpPr>
            <a:spLocks noGrp="1"/>
          </p:cNvSpPr>
          <p:nvPr>
            <p:ph type="body"/>
          </p:nvPr>
        </p:nvSpPr>
        <p:spPr>
          <a:xfrm>
            <a:off x="927000" y="4191120"/>
            <a:ext cx="5028840" cy="4114440"/>
          </a:xfrm>
          <a:prstGeom prst="rect">
            <a:avLst/>
          </a:prstGeom>
          <a:noFill/>
          <a:ln w="0">
            <a:noFill/>
          </a:ln>
        </p:spPr>
        <p:txBody>
          <a:bodyPr numCol="1" spcCol="0" lIns="91440" rIns="91440" tIns="45720" bIns="45720" anchor="t">
            <a:noAutofit/>
          </a:bodyPr>
          <a:p>
            <a:pPr indent="0">
              <a:lnSpc>
                <a:spcPct val="100000"/>
              </a:lnSpc>
              <a:buNone/>
            </a:pPr>
            <a:r>
              <a:rPr b="0" lang="en-GB" sz="2000" strike="noStrike" u="none">
                <a:solidFill>
                  <a:srgbClr val="000000"/>
                </a:solidFill>
                <a:effectLst/>
                <a:uFillTx/>
                <a:latin typeface="Times New Roman"/>
              </a:rPr>
              <a:t>Launch your lecture by drawing a spectrum of market types noting the four market structures to be studied in this and the next chapters. Let your students know that you will be comparing how a firm in </a:t>
            </a:r>
            <a:r>
              <a:rPr b="0" i="1" lang="en-GB" sz="2000" strike="noStrike" u="none">
                <a:solidFill>
                  <a:srgbClr val="000000"/>
                </a:solidFill>
                <a:effectLst/>
                <a:uFillTx/>
                <a:latin typeface="Times New Roman"/>
              </a:rPr>
              <a:t>each </a:t>
            </a:r>
            <a:r>
              <a:rPr b="0" lang="en-GB" sz="2000" strike="noStrike" u="none">
                <a:solidFill>
                  <a:srgbClr val="000000"/>
                </a:solidFill>
                <a:effectLst/>
                <a:uFillTx/>
                <a:latin typeface="Times New Roman"/>
              </a:rPr>
              <a:t>of these market structures chooses its equilibrium price and equilibrium quantity. Putting this diagram on the board provides a good perspective for the following chapters. </a:t>
            </a:r>
            <a:endParaRPr b="0" lang="en-US" sz="20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Num" idx="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FB98CEF-554B-4290-A3AC-DD64B305887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07" name="PlaceHolder 2"/>
          <p:cNvSpPr>
            <a:spLocks noGrp="1"/>
          </p:cNvSpPr>
          <p:nvPr>
            <p:ph type="sldImg"/>
          </p:nvPr>
        </p:nvSpPr>
        <p:spPr>
          <a:xfrm>
            <a:off x="1143000" y="685800"/>
            <a:ext cx="4571640" cy="3428640"/>
          </a:xfrm>
          <a:prstGeom prst="rect">
            <a:avLst/>
          </a:prstGeom>
          <a:ln w="0">
            <a:noFill/>
          </a:ln>
        </p:spPr>
      </p:sp>
      <p:sp>
        <p:nvSpPr>
          <p:cNvPr id="50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Num" idx="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82FC55E-077A-4284-B3B2-89E5F21FA22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0" name="PlaceHolder 2"/>
          <p:cNvSpPr>
            <a:spLocks noGrp="1"/>
          </p:cNvSpPr>
          <p:nvPr>
            <p:ph type="sldImg"/>
          </p:nvPr>
        </p:nvSpPr>
        <p:spPr>
          <a:xfrm>
            <a:off x="1143000" y="685800"/>
            <a:ext cx="4571640" cy="3428640"/>
          </a:xfrm>
          <a:prstGeom prst="rect">
            <a:avLst/>
          </a:prstGeom>
          <a:ln w="0">
            <a:noFill/>
          </a:ln>
        </p:spPr>
      </p:sp>
      <p:sp>
        <p:nvSpPr>
          <p:cNvPr id="51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Have the students consider the markets for goods for which they are familiar to see if any meet the strict criteria for perfect competition. The markets that come closest are agricultural markets, though others such as lawn service, laundromats, fishing, plumbing, and so on, come close. Students sometimes “worry” that these markets are not exact examples of perfect competition. Reassure them that the model of perfect competition gives us a great deal of understanding into the workings of extremely competitive real world markets and the real world firms in the markets.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Num" idx="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211721B-ACDB-48BF-BB0F-5EE9D165A07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3" name="PlaceHolder 2"/>
          <p:cNvSpPr>
            <a:spLocks noGrp="1"/>
          </p:cNvSpPr>
          <p:nvPr>
            <p:ph type="sldImg"/>
          </p:nvPr>
        </p:nvSpPr>
        <p:spPr>
          <a:xfrm>
            <a:off x="1143000" y="685800"/>
            <a:ext cx="4571640" cy="3428640"/>
          </a:xfrm>
          <a:prstGeom prst="rect">
            <a:avLst/>
          </a:prstGeom>
          <a:ln w="0">
            <a:noFill/>
          </a:ln>
        </p:spPr>
      </p:sp>
      <p:sp>
        <p:nvSpPr>
          <p:cNvPr id="51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GB" sz="1200" strike="noStrike" u="none">
                <a:solidFill>
                  <a:srgbClr val="000000"/>
                </a:solidFill>
                <a:effectLst/>
                <a:uFillTx/>
                <a:latin typeface="Arial"/>
                <a:ea typeface="ＭＳ Ｐゴシック"/>
              </a:rPr>
              <a:t>Once you discuss the characteristics that define perfect competition (many firms selling an identical product to many buyers, no restrictions on entry, established firms have no cost advantage over new firms, and sellers and buyers are well informed about prices) it is natural to give examples of perfectly competitive markets. The examples that </a:t>
            </a:r>
            <a:r>
              <a:rPr b="0" i="1" lang="en-GB" sz="1200" strike="noStrike" u="none">
                <a:solidFill>
                  <a:srgbClr val="000000"/>
                </a:solidFill>
                <a:effectLst/>
                <a:uFillTx/>
                <a:latin typeface="Arial"/>
                <a:ea typeface="ＭＳ Ｐゴシック"/>
              </a:rPr>
              <a:t>always </a:t>
            </a:r>
            <a:r>
              <a:rPr b="0" lang="en-GB" sz="1200" strike="noStrike" u="none">
                <a:solidFill>
                  <a:srgbClr val="000000"/>
                </a:solidFill>
                <a:effectLst/>
                <a:uFillTx/>
                <a:latin typeface="Arial"/>
                <a:ea typeface="ＭＳ Ｐゴシック"/>
              </a:rPr>
              <a:t>spring to mind are agricultural in nature. Often students, particularly those in urban areas, wonder why they will spend so much of their time studying agriculture. You need to combat the natural view that the model of perfect competition applies only to farms. There are two, complementary paths you can take: </a:t>
            </a:r>
            <a:endParaRPr b="0" lang="en-US" sz="1200" strike="noStrike" u="none">
              <a:solidFill>
                <a:srgbClr val="000000"/>
              </a:solidFill>
              <a:effectLst/>
              <a:uFillTx/>
              <a:latin typeface="Arial"/>
            </a:endParaRPr>
          </a:p>
          <a:p>
            <a:pPr indent="0">
              <a:lnSpc>
                <a:spcPct val="80000"/>
              </a:lnSpc>
              <a:buNone/>
            </a:pPr>
            <a:r>
              <a:rPr b="0" lang="en-GB" sz="1200" strike="noStrike" u="none">
                <a:solidFill>
                  <a:srgbClr val="000000"/>
                </a:solidFill>
                <a:effectLst/>
                <a:uFillTx/>
                <a:latin typeface="Arial"/>
                <a:ea typeface="ＭＳ Ｐゴシック"/>
              </a:rPr>
              <a:t>First, tell your students that although agriculture certainly meets all the requirements of perfect competition, a lot of other industries come close. If you have a mall near by, you can assign your students to walk through the mall and take note of the different types of businesses and list those that they think are closest to perfect competition. Businesses such as shoe stores, jewelry, toy stores, book stores, hair salons, and so forth are all commonly found in malls and are all relatively close to being in perfectly competitive markets. For instance, you can point out to the students that one jewelry store’s products aren’t identical to those of any other jewelry store, but they are very close substitutes. So, although the jewelry market does not exactly meet the definition of a perfectly competitive market, nonetheless it is likely close enough so that if we want to understand the forces that affect firms within this industry, perfect competition is a reasonable starting point.</a:t>
            </a:r>
            <a:endParaRPr b="0" lang="en-US" sz="1200" strike="noStrike" u="none">
              <a:solidFill>
                <a:srgbClr val="000000"/>
              </a:solidFill>
              <a:effectLst/>
              <a:uFillTx/>
              <a:latin typeface="Arial"/>
            </a:endParaRPr>
          </a:p>
          <a:p>
            <a:pPr indent="0">
              <a:lnSpc>
                <a:spcPct val="80000"/>
              </a:lnSpc>
              <a:buNone/>
            </a:pPr>
            <a:r>
              <a:rPr b="0" lang="en-GB" sz="1200" strike="noStrike" u="none">
                <a:solidFill>
                  <a:srgbClr val="000000"/>
                </a:solidFill>
                <a:effectLst/>
                <a:uFillTx/>
                <a:latin typeface="Arial"/>
                <a:ea typeface="ＭＳ Ｐゴシック"/>
              </a:rPr>
              <a:t>[Continued on the next slide] </a:t>
            </a:r>
            <a:endParaRPr b="0" lang="en-US" sz="1200" strike="noStrike" u="none">
              <a:solidFill>
                <a:srgbClr val="000000"/>
              </a:solidFill>
              <a:effectLst/>
              <a:uFillTx/>
              <a:latin typeface="Arial"/>
            </a:endParaRPr>
          </a:p>
          <a:p>
            <a:pPr indent="0">
              <a:lnSpc>
                <a:spcPct val="80000"/>
              </a:lnSpc>
              <a:buNone/>
            </a:pPr>
            <a:endParaRPr b="0" lang="en-US"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Num" idx="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5D31470-6FA1-46E5-8B04-C2A66CDCEE0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6" name="PlaceHolder 2"/>
          <p:cNvSpPr>
            <a:spLocks noGrp="1"/>
          </p:cNvSpPr>
          <p:nvPr>
            <p:ph type="sldImg"/>
          </p:nvPr>
        </p:nvSpPr>
        <p:spPr>
          <a:xfrm>
            <a:off x="1143000" y="685800"/>
            <a:ext cx="4571640" cy="3428640"/>
          </a:xfrm>
          <a:prstGeom prst="rect">
            <a:avLst/>
          </a:prstGeom>
          <a:ln w="0">
            <a:noFill/>
          </a:ln>
        </p:spPr>
      </p:sp>
      <p:sp>
        <p:nvSpPr>
          <p:cNvPr id="51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AU" sz="1400" strike="noStrike" u="none">
                <a:solidFill>
                  <a:srgbClr val="000000"/>
                </a:solidFill>
                <a:effectLst/>
                <a:uFillTx/>
                <a:latin typeface="Arial"/>
                <a:ea typeface="ＭＳ Ｐゴシック"/>
              </a:rPr>
              <a:t>Second, you can use a physical analogy. Ask your students how many of them have taken physics and encountered the assumption of a perfect vacuum. A perfect vacuum cannot exist and our world is not close to being a perfect vacuum. Yet physicists often use the model of a perfect vacuum to understand our physical world. For example, to predict how long it will take a 50 pound steel ball to hit the ground if it is dropped from the top of the Empire State Building, you will be very close to the actual time if you assume a perfect vacuum and use the formula that applies in that case. Friction from the atmosphere is obviously not zero, but assuming it to be zero is not very misleading. In contrast, if you want to predict how long it will take a feather to make the same trip, you need a fancier model! Economists use the model of “perfect competition” in a similar way to understand our economic world. Emphasize to students that although no real world industry meets the full definition of perfect competition, the behavior of firms in many real world industries and the resulting dynamics of their market prices and quantities can be predicted to a high degree of accuracy by using the model of perfect competition. </a:t>
            </a:r>
            <a:endParaRPr b="0" lang="en-US" sz="1400" strike="noStrike" u="none">
              <a:solidFill>
                <a:srgbClr val="000000"/>
              </a:solidFill>
              <a:effectLst/>
              <a:uFillTx/>
              <a:latin typeface="Arial"/>
            </a:endParaRPr>
          </a:p>
          <a:p>
            <a:pPr indent="0">
              <a:lnSpc>
                <a:spcPct val="90000"/>
              </a:lnSpc>
              <a:buNone/>
            </a:pPr>
            <a:endParaRPr b="0" lang="en-US" sz="14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Num" idx="1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9C20E8C-BD16-48E5-A5B4-73E16DEA65F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9" name="PlaceHolder 2"/>
          <p:cNvSpPr>
            <a:spLocks noGrp="1"/>
          </p:cNvSpPr>
          <p:nvPr>
            <p:ph type="sldImg"/>
          </p:nvPr>
        </p:nvSpPr>
        <p:spPr>
          <a:xfrm>
            <a:off x="1143000" y="685800"/>
            <a:ext cx="4571640" cy="3428640"/>
          </a:xfrm>
          <a:prstGeom prst="rect">
            <a:avLst/>
          </a:prstGeom>
          <a:ln w="0">
            <a:noFill/>
          </a:ln>
        </p:spPr>
      </p:sp>
      <p:sp>
        <p:nvSpPr>
          <p:cNvPr id="52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Arial"/>
                <a:ea typeface="ＭＳ Ｐゴシック"/>
              </a:rPr>
              <a:t>Show what is meant by the term “price taker” by drawing the </a:t>
            </a:r>
            <a:r>
              <a:rPr b="0" i="1" lang="en-AU" sz="2000" strike="noStrike" u="none">
                <a:solidFill>
                  <a:srgbClr val="000000"/>
                </a:solidFill>
                <a:effectLst/>
                <a:uFillTx/>
                <a:latin typeface="Arial"/>
                <a:ea typeface="ＭＳ Ｐゴシック"/>
              </a:rPr>
              <a:t>market </a:t>
            </a:r>
            <a:r>
              <a:rPr b="0" lang="en-AU" sz="2000" strike="noStrike" u="none">
                <a:solidFill>
                  <a:srgbClr val="000000"/>
                </a:solidFill>
                <a:effectLst/>
                <a:uFillTx/>
                <a:latin typeface="Arial"/>
                <a:ea typeface="ＭＳ Ｐゴシック"/>
              </a:rPr>
              <a:t>supply and market demand curves and the resulting equilibrium price on the left side of the board and then draw the </a:t>
            </a:r>
            <a:r>
              <a:rPr b="0" i="1" lang="en-AU" sz="2000" strike="noStrike" u="none">
                <a:solidFill>
                  <a:srgbClr val="000000"/>
                </a:solidFill>
                <a:effectLst/>
                <a:uFillTx/>
                <a:latin typeface="Arial"/>
                <a:ea typeface="ＭＳ Ｐゴシック"/>
              </a:rPr>
              <a:t>firm</a:t>
            </a:r>
            <a:r>
              <a:rPr b="0" lang="en-AU" sz="2000" strike="noStrike" u="none">
                <a:solidFill>
                  <a:srgbClr val="000000"/>
                </a:solidFill>
                <a:effectLst/>
                <a:uFillTx/>
                <a:latin typeface="Arial"/>
                <a:ea typeface="ＭＳ Ｐゴシック"/>
              </a:rPr>
              <a:t>’s demand and marginal revenue curves on a separate graph on the right side of the board. Draw a dotted line across from the market graph to the firm graph. Really emphasize the fact that the market demand differs from the firm’s demand because the firm is such a small part of the market. Students consistently confuse the difference between the market demand and the firm’s demand, so the more time you spend clearly explaining this distinction, the better.</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Num" idx="1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7B86412-FC59-4AF5-9F7D-27A6A461D95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2" name="PlaceHolder 2"/>
          <p:cNvSpPr>
            <a:spLocks noGrp="1"/>
          </p:cNvSpPr>
          <p:nvPr>
            <p:ph type="sldImg"/>
          </p:nvPr>
        </p:nvSpPr>
        <p:spPr>
          <a:xfrm>
            <a:off x="1143000" y="685800"/>
            <a:ext cx="4571640" cy="3428640"/>
          </a:xfrm>
          <a:prstGeom prst="rect">
            <a:avLst/>
          </a:prstGeom>
          <a:ln w="0">
            <a:noFill/>
          </a:ln>
        </p:spPr>
      </p:sp>
      <p:sp>
        <p:nvSpPr>
          <p:cNvPr id="52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Num" idx="1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EE2238D-3694-42FB-BEA7-D294325B9D6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5" name="PlaceHolder 2"/>
          <p:cNvSpPr>
            <a:spLocks noGrp="1"/>
          </p:cNvSpPr>
          <p:nvPr>
            <p:ph type="sldImg"/>
          </p:nvPr>
        </p:nvSpPr>
        <p:spPr>
          <a:xfrm>
            <a:off x="1143000" y="685800"/>
            <a:ext cx="4571640" cy="3428640"/>
          </a:xfrm>
          <a:prstGeom prst="rect">
            <a:avLst/>
          </a:prstGeom>
          <a:ln w="0">
            <a:noFill/>
          </a:ln>
        </p:spPr>
      </p:sp>
      <p:sp>
        <p:nvSpPr>
          <p:cNvPr id="52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Num" idx="1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4D41798-081A-43C8-96D9-3B90DE0B626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28" name="PlaceHolder 2"/>
          <p:cNvSpPr>
            <a:spLocks noGrp="1"/>
          </p:cNvSpPr>
          <p:nvPr>
            <p:ph type="sldImg"/>
          </p:nvPr>
        </p:nvSpPr>
        <p:spPr>
          <a:xfrm>
            <a:off x="1143000" y="685800"/>
            <a:ext cx="4571640" cy="3428640"/>
          </a:xfrm>
          <a:prstGeom prst="rect">
            <a:avLst/>
          </a:prstGeom>
          <a:ln w="0">
            <a:noFill/>
          </a:ln>
        </p:spPr>
      </p:sp>
      <p:sp>
        <p:nvSpPr>
          <p:cNvPr id="52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Num" idx="1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E5F29E9-5F32-4E76-B5DD-A337CCA4F84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1" name="PlaceHolder 2"/>
          <p:cNvSpPr>
            <a:spLocks noGrp="1"/>
          </p:cNvSpPr>
          <p:nvPr>
            <p:ph type="sldImg"/>
          </p:nvPr>
        </p:nvSpPr>
        <p:spPr>
          <a:xfrm>
            <a:off x="1143000" y="685800"/>
            <a:ext cx="4571640" cy="3428640"/>
          </a:xfrm>
          <a:prstGeom prst="rect">
            <a:avLst/>
          </a:prstGeom>
          <a:ln w="0">
            <a:noFill/>
          </a:ln>
        </p:spPr>
      </p:sp>
      <p:sp>
        <p:nvSpPr>
          <p:cNvPr id="53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Num" idx="1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4E6A885-1741-4267-8F58-9518C531860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4" name="PlaceHolder 2"/>
          <p:cNvSpPr>
            <a:spLocks noGrp="1"/>
          </p:cNvSpPr>
          <p:nvPr>
            <p:ph type="sldImg"/>
          </p:nvPr>
        </p:nvSpPr>
        <p:spPr>
          <a:xfrm>
            <a:off x="1143000" y="685800"/>
            <a:ext cx="4571640" cy="3428640"/>
          </a:xfrm>
          <a:prstGeom prst="rect">
            <a:avLst/>
          </a:prstGeom>
          <a:ln w="0">
            <a:noFill/>
          </a:ln>
        </p:spPr>
      </p:sp>
      <p:sp>
        <p:nvSpPr>
          <p:cNvPr id="53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Num" idx="1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2F3BB22-3464-4DD3-A71E-46D5319516E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37" name="PlaceHolder 2"/>
          <p:cNvSpPr>
            <a:spLocks noGrp="1"/>
          </p:cNvSpPr>
          <p:nvPr>
            <p:ph type="sldImg"/>
          </p:nvPr>
        </p:nvSpPr>
        <p:spPr>
          <a:xfrm>
            <a:off x="1143000" y="685800"/>
            <a:ext cx="4571640" cy="3428640"/>
          </a:xfrm>
          <a:prstGeom prst="rect">
            <a:avLst/>
          </a:prstGeom>
          <a:ln w="0">
            <a:noFill/>
          </a:ln>
        </p:spPr>
      </p:sp>
      <p:sp>
        <p:nvSpPr>
          <p:cNvPr id="53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Num" idx="1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BD45132-88CB-44D1-833D-C354BF7FBF8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0" name="PlaceHolder 2"/>
          <p:cNvSpPr>
            <a:spLocks noGrp="1"/>
          </p:cNvSpPr>
          <p:nvPr>
            <p:ph type="sldImg"/>
          </p:nvPr>
        </p:nvSpPr>
        <p:spPr>
          <a:xfrm>
            <a:off x="1143000" y="685800"/>
            <a:ext cx="4571640" cy="3428640"/>
          </a:xfrm>
          <a:prstGeom prst="rect">
            <a:avLst/>
          </a:prstGeom>
          <a:ln w="0">
            <a:noFill/>
          </a:ln>
        </p:spPr>
      </p:sp>
      <p:sp>
        <p:nvSpPr>
          <p:cNvPr id="54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Num" idx="1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DBFC695-0B6D-4042-BC8C-01853794E47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3" name="PlaceHolder 2"/>
          <p:cNvSpPr>
            <a:spLocks noGrp="1"/>
          </p:cNvSpPr>
          <p:nvPr>
            <p:ph type="sldImg"/>
          </p:nvPr>
        </p:nvSpPr>
        <p:spPr>
          <a:xfrm>
            <a:off x="1143000" y="685800"/>
            <a:ext cx="4571640" cy="3428640"/>
          </a:xfrm>
          <a:prstGeom prst="rect">
            <a:avLst/>
          </a:prstGeom>
          <a:ln w="0">
            <a:noFill/>
          </a:ln>
        </p:spPr>
      </p:sp>
      <p:sp>
        <p:nvSpPr>
          <p:cNvPr id="54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Num" idx="1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AFF40597-AB3A-4EAC-B12C-1D3FCCC493AF}"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6" name="PlaceHolder 2"/>
          <p:cNvSpPr>
            <a:spLocks noGrp="1"/>
          </p:cNvSpPr>
          <p:nvPr>
            <p:ph type="sldImg"/>
          </p:nvPr>
        </p:nvSpPr>
        <p:spPr>
          <a:xfrm>
            <a:off x="1143000" y="685800"/>
            <a:ext cx="4571640" cy="3428640"/>
          </a:xfrm>
          <a:prstGeom prst="rect">
            <a:avLst/>
          </a:prstGeom>
          <a:ln w="0">
            <a:noFill/>
          </a:ln>
        </p:spPr>
      </p:sp>
      <p:sp>
        <p:nvSpPr>
          <p:cNvPr id="54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Num" idx="2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9CB7ADB-80B9-4D08-A138-024D0F00118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49" name="PlaceHolder 2"/>
          <p:cNvSpPr>
            <a:spLocks noGrp="1"/>
          </p:cNvSpPr>
          <p:nvPr>
            <p:ph type="sldImg"/>
          </p:nvPr>
        </p:nvSpPr>
        <p:spPr>
          <a:xfrm>
            <a:off x="1143000" y="685800"/>
            <a:ext cx="4571640" cy="3428640"/>
          </a:xfrm>
          <a:prstGeom prst="rect">
            <a:avLst/>
          </a:prstGeom>
          <a:ln w="0">
            <a:noFill/>
          </a:ln>
        </p:spPr>
      </p:sp>
      <p:sp>
        <p:nvSpPr>
          <p:cNvPr id="55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Num" idx="2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16B5C41-9A08-43E6-87B6-95282FD76D4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2" name="PlaceHolder 2"/>
          <p:cNvSpPr>
            <a:spLocks noGrp="1"/>
          </p:cNvSpPr>
          <p:nvPr>
            <p:ph type="sldImg"/>
          </p:nvPr>
        </p:nvSpPr>
        <p:spPr>
          <a:xfrm>
            <a:off x="1143000" y="685800"/>
            <a:ext cx="4571640" cy="3428640"/>
          </a:xfrm>
          <a:prstGeom prst="rect">
            <a:avLst/>
          </a:prstGeom>
          <a:ln w="0">
            <a:noFill/>
          </a:ln>
        </p:spPr>
      </p:sp>
      <p:sp>
        <p:nvSpPr>
          <p:cNvPr id="55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Num" idx="2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6F35F9E-4A75-4287-9F66-9261E09503F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5" name="PlaceHolder 2"/>
          <p:cNvSpPr>
            <a:spLocks noGrp="1"/>
          </p:cNvSpPr>
          <p:nvPr>
            <p:ph type="sldImg"/>
          </p:nvPr>
        </p:nvSpPr>
        <p:spPr>
          <a:xfrm>
            <a:off x="1143000" y="685800"/>
            <a:ext cx="4571640" cy="3428640"/>
          </a:xfrm>
          <a:prstGeom prst="rect">
            <a:avLst/>
          </a:prstGeom>
          <a:ln w="0">
            <a:noFill/>
          </a:ln>
        </p:spPr>
      </p:sp>
      <p:sp>
        <p:nvSpPr>
          <p:cNvPr id="55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Num" idx="2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327A217-C56C-49BA-B66E-1643D0F0685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8" name="PlaceHolder 2"/>
          <p:cNvSpPr>
            <a:spLocks noGrp="1"/>
          </p:cNvSpPr>
          <p:nvPr>
            <p:ph type="sldImg"/>
          </p:nvPr>
        </p:nvSpPr>
        <p:spPr>
          <a:xfrm>
            <a:off x="1143000" y="685800"/>
            <a:ext cx="4571640" cy="3428640"/>
          </a:xfrm>
          <a:prstGeom prst="rect">
            <a:avLst/>
          </a:prstGeom>
          <a:ln w="0">
            <a:noFill/>
          </a:ln>
        </p:spPr>
      </p:sp>
      <p:sp>
        <p:nvSpPr>
          <p:cNvPr id="55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Num" idx="2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810E721-0824-4961-9BD8-8F18422E121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1" name="PlaceHolder 2"/>
          <p:cNvSpPr>
            <a:spLocks noGrp="1"/>
          </p:cNvSpPr>
          <p:nvPr>
            <p:ph type="sldImg"/>
          </p:nvPr>
        </p:nvSpPr>
        <p:spPr>
          <a:xfrm>
            <a:off x="1143000" y="685800"/>
            <a:ext cx="4571640" cy="3428640"/>
          </a:xfrm>
          <a:prstGeom prst="rect">
            <a:avLst/>
          </a:prstGeom>
          <a:ln w="0">
            <a:noFill/>
          </a:ln>
        </p:spPr>
      </p:sp>
      <p:sp>
        <p:nvSpPr>
          <p:cNvPr id="56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AU" sz="1100" strike="noStrike" u="none">
                <a:solidFill>
                  <a:srgbClr val="000000"/>
                </a:solidFill>
                <a:effectLst/>
                <a:uFillTx/>
                <a:latin typeface="Arial"/>
                <a:ea typeface="ＭＳ Ｐゴシック"/>
              </a:rPr>
              <a:t>You always will have students asking why the firm bothers to produce the precise unit of output for which </a:t>
            </a:r>
            <a:r>
              <a:rPr b="0" i="1" lang="en-AU" sz="1100" strike="noStrike" u="none">
                <a:solidFill>
                  <a:srgbClr val="000000"/>
                </a:solidFill>
                <a:effectLst/>
                <a:uFillTx/>
                <a:latin typeface="Arial"/>
                <a:ea typeface="ＭＳ Ｐゴシック"/>
              </a:rPr>
              <a:t>MR = MC</a:t>
            </a:r>
            <a:r>
              <a:rPr b="0" lang="en-AU" sz="1100" strike="noStrike" u="none">
                <a:solidFill>
                  <a:srgbClr val="000000"/>
                </a:solidFill>
                <a:effectLst/>
                <a:uFillTx/>
                <a:latin typeface="Arial"/>
                <a:ea typeface="ＭＳ Ｐゴシック"/>
              </a:rPr>
              <a:t>. Indeed, it is simply amazing how many students “worry” about this one particular unit of output! Try the following: Draw the conventional upward-sloping </a:t>
            </a:r>
            <a:r>
              <a:rPr b="0" i="1" lang="en-AU" sz="1100" strike="noStrike" u="none">
                <a:solidFill>
                  <a:srgbClr val="000000"/>
                </a:solidFill>
                <a:effectLst/>
                <a:uFillTx/>
                <a:latin typeface="Arial"/>
                <a:ea typeface="ＭＳ Ｐゴシック"/>
              </a:rPr>
              <a:t>MC </a:t>
            </a:r>
            <a:r>
              <a:rPr b="0" lang="en-AU" sz="1100" strike="noStrike" u="none">
                <a:solidFill>
                  <a:srgbClr val="000000"/>
                </a:solidFill>
                <a:effectLst/>
                <a:uFillTx/>
                <a:latin typeface="Arial"/>
                <a:ea typeface="ＭＳ Ｐゴシック"/>
              </a:rPr>
              <a:t>curve and horizontal </a:t>
            </a:r>
            <a:r>
              <a:rPr b="0" i="1" lang="en-AU" sz="1100" strike="noStrike" u="none">
                <a:solidFill>
                  <a:srgbClr val="000000"/>
                </a:solidFill>
                <a:effectLst/>
                <a:uFillTx/>
                <a:latin typeface="Arial"/>
                <a:ea typeface="ＭＳ Ｐゴシック"/>
              </a:rPr>
              <a:t>MR </a:t>
            </a:r>
            <a:r>
              <a:rPr b="0" lang="en-AU" sz="1100" strike="noStrike" u="none">
                <a:solidFill>
                  <a:srgbClr val="000000"/>
                </a:solidFill>
                <a:effectLst/>
                <a:uFillTx/>
                <a:latin typeface="Arial"/>
                <a:ea typeface="ＭＳ Ｐゴシック"/>
              </a:rPr>
              <a:t>curve. Make sure to draw these so that the firm will produce a good deal of output. Then, starting at 0, move a bit to the right along the horizontal axis and stop at a point. Tell the students that this point measures 1 unit of output and ask them if this unit should be produced. The answer ought to be yes, because you have arranged matters so </a:t>
            </a:r>
            <a:r>
              <a:rPr b="0" i="1" lang="en-AU" sz="1100" strike="noStrike" u="none">
                <a:solidFill>
                  <a:srgbClr val="000000"/>
                </a:solidFill>
                <a:effectLst/>
                <a:uFillTx/>
                <a:latin typeface="Arial"/>
                <a:ea typeface="ＭＳ Ｐゴシック"/>
              </a:rPr>
              <a:t>MR &gt; MC</a:t>
            </a:r>
            <a:r>
              <a:rPr b="0" lang="en-AU" sz="1100" strike="noStrike" u="none">
                <a:solidFill>
                  <a:srgbClr val="000000"/>
                </a:solidFill>
                <a:effectLst/>
                <a:uFillTx/>
                <a:latin typeface="Arial"/>
                <a:ea typeface="ＭＳ Ｐゴシック"/>
              </a:rPr>
              <a:t>. Pick some numbers—say, </a:t>
            </a:r>
            <a:r>
              <a:rPr b="0" i="1" lang="en-AU" sz="1100" strike="noStrike" u="none">
                <a:solidFill>
                  <a:srgbClr val="000000"/>
                </a:solidFill>
                <a:effectLst/>
                <a:uFillTx/>
                <a:latin typeface="Arial"/>
                <a:ea typeface="ＭＳ Ｐゴシック"/>
              </a:rPr>
              <a:t>MR </a:t>
            </a:r>
            <a:r>
              <a:rPr b="0" lang="en-AU" sz="1100" strike="noStrike" u="none">
                <a:solidFill>
                  <a:srgbClr val="000000"/>
                </a:solidFill>
                <a:effectLst/>
                <a:uFillTx/>
                <a:latin typeface="Arial"/>
                <a:ea typeface="ＭＳ Ｐゴシック"/>
              </a:rPr>
              <a:t>= $10 and </a:t>
            </a:r>
            <a:r>
              <a:rPr b="0" i="1" lang="en-AU" sz="1100" strike="noStrike" u="none">
                <a:solidFill>
                  <a:srgbClr val="000000"/>
                </a:solidFill>
                <a:effectLst/>
                <a:uFillTx/>
                <a:latin typeface="Arial"/>
                <a:ea typeface="ＭＳ Ｐゴシック"/>
              </a:rPr>
              <a:t>MC </a:t>
            </a:r>
            <a:r>
              <a:rPr b="0" lang="en-AU" sz="1100" strike="noStrike" u="none">
                <a:solidFill>
                  <a:srgbClr val="000000"/>
                </a:solidFill>
                <a:effectLst/>
                <a:uFillTx/>
                <a:latin typeface="Arial"/>
                <a:ea typeface="ＭＳ Ｐゴシック"/>
              </a:rPr>
              <a:t>= $1. Ask your students what the profit is for this unit and what the firm’s total profit is if it produces only 1 unit. The answers are $9 and $9. Below the </a:t>
            </a:r>
            <a:r>
              <a:rPr b="0" i="1" lang="en-AU" sz="1100" strike="noStrike" u="none">
                <a:solidFill>
                  <a:srgbClr val="000000"/>
                </a:solidFill>
                <a:effectLst/>
                <a:uFillTx/>
                <a:latin typeface="Arial"/>
                <a:ea typeface="ＭＳ Ｐゴシック"/>
              </a:rPr>
              <a:t>x</a:t>
            </a:r>
            <a:r>
              <a:rPr b="0" lang="en-AU" sz="1100" strike="noStrike" u="none">
                <a:solidFill>
                  <a:srgbClr val="000000"/>
                </a:solidFill>
                <a:effectLst/>
                <a:uFillTx/>
                <a:latin typeface="Arial"/>
                <a:ea typeface="ＭＳ Ｐゴシック"/>
              </a:rPr>
              <a:t>-axis, label two rows, one called “profit on the unit” and the other “total profit.” Put $9 and $9 in each space under your 1 unit of output. Then move your finger a bit more along the horizontal axis until you come to where you will define the second unit of output. Ask your students if this second unit should be produced. Again, the answer ought to be yes, because you have arranged matters so </a:t>
            </a:r>
            <a:r>
              <a:rPr b="0" i="1" lang="en-AU" sz="1100" strike="noStrike" u="none">
                <a:solidFill>
                  <a:srgbClr val="000000"/>
                </a:solidFill>
                <a:effectLst/>
                <a:uFillTx/>
                <a:latin typeface="Arial"/>
                <a:ea typeface="ＭＳ Ｐゴシック"/>
              </a:rPr>
              <a:t>MR &gt; MC</a:t>
            </a:r>
            <a:r>
              <a:rPr b="0" lang="en-AU" sz="1100" strike="noStrike" u="none">
                <a:solidFill>
                  <a:srgbClr val="000000"/>
                </a:solidFill>
                <a:effectLst/>
                <a:uFillTx/>
                <a:latin typeface="Arial"/>
                <a:ea typeface="ＭＳ Ｐゴシック"/>
              </a:rPr>
              <a:t>. Pick another number for </a:t>
            </a:r>
            <a:r>
              <a:rPr b="0" i="1" lang="en-AU" sz="1100" strike="noStrike" u="none">
                <a:solidFill>
                  <a:srgbClr val="000000"/>
                </a:solidFill>
                <a:effectLst/>
                <a:uFillTx/>
                <a:latin typeface="Arial"/>
                <a:ea typeface="ＭＳ Ｐゴシック"/>
              </a:rPr>
              <a:t>MC, </a:t>
            </a:r>
            <a:r>
              <a:rPr b="0" lang="en-AU" sz="1100" strike="noStrike" u="none">
                <a:solidFill>
                  <a:srgbClr val="000000"/>
                </a:solidFill>
                <a:effectLst/>
                <a:uFillTx/>
                <a:latin typeface="Arial"/>
                <a:ea typeface="ＭＳ Ｐゴシック"/>
              </a:rPr>
              <a:t>say $2. Ask your students what the profit is on this unit and what the firm’s total profit is if it produces 2 units. The answers are $8 and $17. </a:t>
            </a:r>
            <a:r>
              <a:rPr b="0" i="1" lang="en-AU" sz="1100" strike="noStrike" u="none">
                <a:solidFill>
                  <a:srgbClr val="000000"/>
                </a:solidFill>
                <a:effectLst/>
                <a:uFillTx/>
                <a:latin typeface="Arial"/>
                <a:ea typeface="ＭＳ Ｐゴシック"/>
              </a:rPr>
              <a:t>Stress </a:t>
            </a:r>
            <a:r>
              <a:rPr b="0" lang="en-AU" sz="1100" strike="noStrike" u="none">
                <a:solidFill>
                  <a:srgbClr val="000000"/>
                </a:solidFill>
                <a:effectLst/>
                <a:uFillTx/>
                <a:latin typeface="Arial"/>
                <a:ea typeface="ＭＳ Ｐゴシック"/>
              </a:rPr>
              <a:t>that the total profit is what interests the firm and the total profit equals the sum of the profit from the first unit </a:t>
            </a:r>
            <a:r>
              <a:rPr b="0" i="1" lang="en-AU" sz="1100" strike="noStrike" u="none">
                <a:solidFill>
                  <a:srgbClr val="000000"/>
                </a:solidFill>
                <a:effectLst/>
                <a:uFillTx/>
                <a:latin typeface="Arial"/>
                <a:ea typeface="ＭＳ Ｐゴシック"/>
              </a:rPr>
              <a:t>plus </a:t>
            </a:r>
            <a:r>
              <a:rPr b="0" lang="en-AU" sz="1100" strike="noStrike" u="none">
                <a:solidFill>
                  <a:srgbClr val="000000"/>
                </a:solidFill>
                <a:effectLst/>
                <a:uFillTx/>
                <a:latin typeface="Arial"/>
                <a:ea typeface="ＭＳ Ｐゴシック"/>
              </a:rPr>
              <a:t>the profit from the second unit. Pick a couple of more units and use numbers until you fell it is safe to generalize that the firm produces a unit of output as long as </a:t>
            </a:r>
            <a:r>
              <a:rPr b="0" i="1" lang="en-AU" sz="1100" strike="noStrike" u="none">
                <a:solidFill>
                  <a:srgbClr val="000000"/>
                </a:solidFill>
                <a:effectLst/>
                <a:uFillTx/>
                <a:latin typeface="Arial"/>
                <a:ea typeface="ＭＳ Ｐゴシック"/>
              </a:rPr>
              <a:t>MR &gt; MC</a:t>
            </a:r>
            <a:r>
              <a:rPr b="0" lang="en-AU" sz="1100" strike="noStrike" u="none">
                <a:solidFill>
                  <a:srgbClr val="000000"/>
                </a:solidFill>
                <a:effectLst/>
                <a:uFillTx/>
                <a:latin typeface="Arial"/>
                <a:ea typeface="ＭＳ Ｐゴシック"/>
              </a:rPr>
              <a:t>. Then, slide your finger to the right, stopping at closer and closer intervals, asking the class if that particular unit should be produced. Always stress that the firm’s total profit continues to increase, albeit more and more slowly. As you get closer to the magical </a:t>
            </a:r>
            <a:r>
              <a:rPr b="0" i="1" lang="en-AU" sz="1100" strike="noStrike" u="none">
                <a:solidFill>
                  <a:srgbClr val="000000"/>
                </a:solidFill>
                <a:effectLst/>
                <a:uFillTx/>
                <a:latin typeface="Arial"/>
                <a:ea typeface="ＭＳ Ｐゴシック"/>
              </a:rPr>
              <a:t>MR</a:t>
            </a:r>
            <a:r>
              <a:rPr b="0" lang="en-AU" sz="1100" strike="noStrike" u="none">
                <a:solidFill>
                  <a:srgbClr val="000000"/>
                </a:solidFill>
                <a:effectLst/>
                <a:uFillTx/>
                <a:latin typeface="Arial"/>
                <a:ea typeface="ＭＳ Ｐゴシック"/>
              </a:rPr>
              <a:t>-equal-to-</a:t>
            </a:r>
            <a:r>
              <a:rPr b="0" i="1" lang="en-AU" sz="1100" strike="noStrike" u="none">
                <a:solidFill>
                  <a:srgbClr val="000000"/>
                </a:solidFill>
                <a:effectLst/>
                <a:uFillTx/>
                <a:latin typeface="Arial"/>
                <a:ea typeface="ＭＳ Ｐゴシック"/>
              </a:rPr>
              <a:t>MC </a:t>
            </a:r>
            <a:r>
              <a:rPr b="0" lang="en-AU" sz="1100" strike="noStrike" u="none">
                <a:solidFill>
                  <a:srgbClr val="000000"/>
                </a:solidFill>
                <a:effectLst/>
                <a:uFillTx/>
                <a:latin typeface="Arial"/>
                <a:ea typeface="ＭＳ Ｐゴシック"/>
              </a:rPr>
              <a:t>point, make your stopping intervals even closer. Finally, when you reach </a:t>
            </a:r>
            <a:r>
              <a:rPr b="0" i="1" lang="en-AU" sz="1100" strike="noStrike" u="none">
                <a:solidFill>
                  <a:srgbClr val="000000"/>
                </a:solidFill>
                <a:effectLst/>
                <a:uFillTx/>
                <a:latin typeface="Arial"/>
                <a:ea typeface="ＭＳ Ｐゴシック"/>
              </a:rPr>
              <a:t>MR = MC</a:t>
            </a:r>
            <a:r>
              <a:rPr b="0" lang="en-AU" sz="1100" strike="noStrike" u="none">
                <a:solidFill>
                  <a:srgbClr val="000000"/>
                </a:solidFill>
                <a:effectLst/>
                <a:uFillTx/>
                <a:latin typeface="Arial"/>
                <a:ea typeface="ＭＳ Ｐゴシック"/>
              </a:rPr>
              <a:t>, tell the students that although this specific unit yields no profit, to have stopped </a:t>
            </a:r>
            <a:r>
              <a:rPr b="0" i="1" lang="en-AU" sz="1100" strike="noStrike" u="none">
                <a:solidFill>
                  <a:srgbClr val="000000"/>
                </a:solidFill>
                <a:effectLst/>
                <a:uFillTx/>
                <a:latin typeface="Arial"/>
                <a:ea typeface="ＭＳ Ｐゴシック"/>
              </a:rPr>
              <a:t>anywhere </a:t>
            </a:r>
            <a:r>
              <a:rPr b="0" lang="en-AU" sz="1100" strike="noStrike" u="none">
                <a:solidFill>
                  <a:srgbClr val="000000"/>
                </a:solidFill>
                <a:effectLst/>
                <a:uFillTx/>
                <a:latin typeface="Arial"/>
                <a:ea typeface="ＭＳ Ｐゴシック"/>
              </a:rPr>
              <a:t>before it means that the firm would have lost some profit. So, only by producing where </a:t>
            </a:r>
            <a:r>
              <a:rPr b="0" i="1" lang="en-AU" sz="1100" strike="noStrike" u="none">
                <a:solidFill>
                  <a:srgbClr val="000000"/>
                </a:solidFill>
                <a:effectLst/>
                <a:uFillTx/>
                <a:latin typeface="Arial"/>
                <a:ea typeface="ＭＳ Ｐゴシック"/>
              </a:rPr>
              <a:t>MR = MC </a:t>
            </a:r>
            <a:r>
              <a:rPr b="0" lang="en-AU" sz="1100" strike="noStrike" u="none">
                <a:solidFill>
                  <a:srgbClr val="000000"/>
                </a:solidFill>
                <a:effectLst/>
                <a:uFillTx/>
                <a:latin typeface="Arial"/>
                <a:ea typeface="ＭＳ Ｐゴシック"/>
              </a:rPr>
              <a:t>will the firm obtain the maximum total profit.</a:t>
            </a:r>
            <a:endParaRPr b="0" lang="en-US" sz="11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Num" idx="2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CB2E53C-D147-4631-8C9D-B9ED8773E89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4" name="PlaceHolder 2"/>
          <p:cNvSpPr>
            <a:spLocks noGrp="1"/>
          </p:cNvSpPr>
          <p:nvPr>
            <p:ph type="sldImg"/>
          </p:nvPr>
        </p:nvSpPr>
        <p:spPr>
          <a:xfrm>
            <a:off x="1143000" y="685800"/>
            <a:ext cx="4571640" cy="3428640"/>
          </a:xfrm>
          <a:prstGeom prst="rect">
            <a:avLst/>
          </a:prstGeom>
          <a:ln w="0">
            <a:noFill/>
          </a:ln>
        </p:spPr>
      </p:sp>
      <p:sp>
        <p:nvSpPr>
          <p:cNvPr id="56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Num" idx="2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1DFF277-4C0A-4729-AA92-AC359939C3B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7" name="PlaceHolder 2"/>
          <p:cNvSpPr>
            <a:spLocks noGrp="1"/>
          </p:cNvSpPr>
          <p:nvPr>
            <p:ph type="sldImg"/>
          </p:nvPr>
        </p:nvSpPr>
        <p:spPr>
          <a:xfrm>
            <a:off x="1143000" y="685800"/>
            <a:ext cx="4571640" cy="3428640"/>
          </a:xfrm>
          <a:prstGeom prst="rect">
            <a:avLst/>
          </a:prstGeom>
          <a:ln w="0">
            <a:noFill/>
          </a:ln>
        </p:spPr>
      </p:sp>
      <p:sp>
        <p:nvSpPr>
          <p:cNvPr id="56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Num" idx="2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70A2E33-F1F1-4C25-AA12-1A5127FC9AA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0" name="PlaceHolder 2"/>
          <p:cNvSpPr>
            <a:spLocks noGrp="1"/>
          </p:cNvSpPr>
          <p:nvPr>
            <p:ph type="sldImg"/>
          </p:nvPr>
        </p:nvSpPr>
        <p:spPr>
          <a:xfrm>
            <a:off x="1143000" y="685800"/>
            <a:ext cx="4571640" cy="3428640"/>
          </a:xfrm>
          <a:prstGeom prst="rect">
            <a:avLst/>
          </a:prstGeom>
          <a:ln w="0">
            <a:noFill/>
          </a:ln>
        </p:spPr>
      </p:sp>
      <p:sp>
        <p:nvSpPr>
          <p:cNvPr id="57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Num" idx="2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2B1F12A-1570-47B3-9AB2-3226C4CC55E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3" name="PlaceHolder 2"/>
          <p:cNvSpPr>
            <a:spLocks noGrp="1"/>
          </p:cNvSpPr>
          <p:nvPr>
            <p:ph type="sldImg"/>
          </p:nvPr>
        </p:nvSpPr>
        <p:spPr>
          <a:xfrm>
            <a:off x="1143000" y="685800"/>
            <a:ext cx="4571640" cy="3428640"/>
          </a:xfrm>
          <a:prstGeom prst="rect">
            <a:avLst/>
          </a:prstGeom>
          <a:ln w="0">
            <a:noFill/>
          </a:ln>
        </p:spPr>
      </p:sp>
      <p:sp>
        <p:nvSpPr>
          <p:cNvPr id="57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AU" sz="2000" strike="noStrike" u="none">
                <a:solidFill>
                  <a:srgbClr val="000000"/>
                </a:solidFill>
                <a:effectLst/>
                <a:uFillTx/>
                <a:latin typeface="Arial"/>
                <a:ea typeface="ＭＳ Ｐゴシック"/>
              </a:rPr>
              <a:t>Every term you probably have students who ask, “Do firms really choose the output that maximizes profit?” To answer this question, perhaps before it is asked, it is useful to explain to your students that many big firms routinely make tables using spreadsheets of total revenue, total cost, and economic profit. But most firms, and certainly most small firms, don’t make such calculations. Nonetheless, they do make their decisions at the margin. They can figure out how much it will cost to hire one more worker and how much output that worker will produce. So they can figure out their marginal cost—wage rate divided by marginal product. They can compare that number with the price. They are choosing at the margin as our model of perfect competition assumes.</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Num" idx="2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FC4BCC4-2052-4FE1-AE89-C5DE906A863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6" name="PlaceHolder 2"/>
          <p:cNvSpPr>
            <a:spLocks noGrp="1"/>
          </p:cNvSpPr>
          <p:nvPr>
            <p:ph type="sldImg"/>
          </p:nvPr>
        </p:nvSpPr>
        <p:spPr>
          <a:xfrm>
            <a:off x="1143000" y="685800"/>
            <a:ext cx="4571640" cy="3428640"/>
          </a:xfrm>
          <a:prstGeom prst="rect">
            <a:avLst/>
          </a:prstGeom>
          <a:ln w="0">
            <a:noFill/>
          </a:ln>
        </p:spPr>
      </p:sp>
      <p:sp>
        <p:nvSpPr>
          <p:cNvPr id="57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AU" sz="2000" strike="noStrike" u="none">
                <a:solidFill>
                  <a:srgbClr val="000000"/>
                </a:solidFill>
                <a:effectLst/>
                <a:uFillTx/>
                <a:latin typeface="Arial"/>
                <a:ea typeface="ＭＳ Ｐゴシック"/>
              </a:rPr>
              <a:t>Students are often skeptical that a zero economic profit is an acceptable outcome for an entrepreneur. The key is to reinforce the meaning of normal profit. A rational decision is one that is based on a weighing of the full opportunity cost of each alternative against its full benefits. Opportunity cost includes the benefits from forgone opportunities as well as explicit costs. One of these forgone opportunities for the entrepreneur is pursuing his or her next best activity. The value of this forgone opportunity is normal profit. So, when a firm earns zero economic profit, the entrepreneur earns normal profit and enjoys the same benefits as those available in the next best activity. There is no incentive to change to the next best activity.</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Num" idx="3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5FE4BC6-F25D-422C-A61D-C08866FE190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9" name="PlaceHolder 2"/>
          <p:cNvSpPr>
            <a:spLocks noGrp="1"/>
          </p:cNvSpPr>
          <p:nvPr>
            <p:ph type="sldImg"/>
          </p:nvPr>
        </p:nvSpPr>
        <p:spPr>
          <a:xfrm>
            <a:off x="1143000" y="685800"/>
            <a:ext cx="4571640" cy="3428640"/>
          </a:xfrm>
          <a:prstGeom prst="rect">
            <a:avLst/>
          </a:prstGeom>
          <a:ln w="0">
            <a:noFill/>
          </a:ln>
        </p:spPr>
      </p:sp>
      <p:sp>
        <p:nvSpPr>
          <p:cNvPr id="58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GB" sz="1200" strike="noStrike" u="none">
                <a:solidFill>
                  <a:srgbClr val="000000"/>
                </a:solidFill>
                <a:effectLst/>
                <a:uFillTx/>
                <a:latin typeface="Arial"/>
                <a:ea typeface="ＭＳ Ｐゴシック"/>
              </a:rPr>
              <a:t>Explaining whether a firm exits, temporarily shuts down, or produces even though it has an economic loss is difficult because the last two topics are tough for the students to understand. Exit is the easiest for them to understand because they have seen firms fail throughout their life. But, temporary shutdown is harder to explain. You can help them with the intuition by pointing out that the rationale for temporary shutdown isn’t confined to perfect competition and that they can see the phenomenon right around the corner. Many restaurants close on Sunday evening and Monday. Many hairdressers close on Sunday and Monday. Why? Your students will easily figure out that total revenue is less than total variable cost and equivalently that price is less than average variable cost. The mechanics of the shutdown analysis will be a lot easier to explain once the students have thought about these real situations with which they are familiar. </a:t>
            </a:r>
            <a:endParaRPr b="0" lang="en-US" sz="1200" strike="noStrike" u="none">
              <a:solidFill>
                <a:srgbClr val="000000"/>
              </a:solidFill>
              <a:effectLst/>
              <a:uFillTx/>
              <a:latin typeface="Arial"/>
            </a:endParaRPr>
          </a:p>
          <a:p>
            <a:pPr indent="0">
              <a:lnSpc>
                <a:spcPct val="80000"/>
              </a:lnSpc>
              <a:buNone/>
            </a:pPr>
            <a:r>
              <a:rPr b="0" lang="en-AU" sz="1200" strike="noStrike" u="none">
                <a:solidFill>
                  <a:srgbClr val="000000"/>
                </a:solidFill>
                <a:effectLst/>
                <a:uFillTx/>
                <a:latin typeface="Arial"/>
                <a:ea typeface="ＭＳ Ｐゴシック"/>
              </a:rPr>
              <a:t>Next, students often have a hard time understanding why operating at an economic loss can be the best action. I use a concrete story to help them see this point. I use Wally’s Wiener World (WWW) hot dog cart. Wally has four costs: his variable costs for his hot dogs, buns, and mustard and his fixed cost for the interest he pays for the loan he used to buy his cart. (If you choose, you can make up numbers for each of these costs.) When price is greater than average variable cost, </a:t>
            </a:r>
            <a:r>
              <a:rPr b="0" i="1" lang="en-AU" sz="1200" strike="noStrike" u="none">
                <a:solidFill>
                  <a:srgbClr val="000000"/>
                </a:solidFill>
                <a:effectLst/>
                <a:uFillTx/>
                <a:latin typeface="Arial"/>
                <a:ea typeface="ＭＳ Ｐゴシック"/>
              </a:rPr>
              <a:t>P&gt;AVC</a:t>
            </a:r>
            <a:r>
              <a:rPr b="0" lang="en-AU" sz="1200" strike="noStrike" u="none">
                <a:solidFill>
                  <a:srgbClr val="000000"/>
                </a:solidFill>
                <a:effectLst/>
                <a:uFillTx/>
                <a:latin typeface="Arial"/>
                <a:ea typeface="ＭＳ Ｐゴシック"/>
              </a:rPr>
              <a:t>, Wally can pay for his hot dogs, buns, and mustard, and he covers part of the interest cost for the cart, his fixed cost. I show that by operating, he can earn enough to pay at least part of his fixed cost, so he should stay open. But if </a:t>
            </a:r>
            <a:r>
              <a:rPr b="0" i="1" lang="en-AU" sz="1200" strike="noStrike" u="none">
                <a:solidFill>
                  <a:srgbClr val="000000"/>
                </a:solidFill>
                <a:effectLst/>
                <a:uFillTx/>
                <a:latin typeface="Arial"/>
                <a:ea typeface="ＭＳ Ｐゴシック"/>
              </a:rPr>
              <a:t>P &lt; AVC</a:t>
            </a:r>
            <a:r>
              <a:rPr b="0" lang="en-AU" sz="1200" strike="noStrike" u="none">
                <a:solidFill>
                  <a:srgbClr val="000000"/>
                </a:solidFill>
                <a:effectLst/>
                <a:uFillTx/>
                <a:latin typeface="Arial"/>
                <a:ea typeface="ＭＳ Ｐゴシック"/>
              </a:rPr>
              <a:t>, Wally can’t even afford to buy the dogs, buns, and mustard, much less pay for the interest on his loan. In this circumstance, Wally is better off by shutting down.</a:t>
            </a:r>
            <a:r>
              <a:rPr b="0" lang="en-GB" sz="1200" strike="noStrike" u="none">
                <a:solidFill>
                  <a:srgbClr val="000000"/>
                </a:solidFill>
                <a:effectLst/>
                <a:uFillTx/>
                <a:latin typeface="Arial"/>
                <a:ea typeface="ＭＳ Ｐゴシック"/>
              </a:rPr>
              <a:t> </a:t>
            </a:r>
            <a:endParaRPr b="0" lang="en-US" sz="12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Num" idx="3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FB660E5-427E-47BE-A851-98B8C81AF7E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2" name="PlaceHolder 2"/>
          <p:cNvSpPr>
            <a:spLocks noGrp="1"/>
          </p:cNvSpPr>
          <p:nvPr>
            <p:ph type="sldImg"/>
          </p:nvPr>
        </p:nvSpPr>
        <p:spPr>
          <a:xfrm>
            <a:off x="1143000" y="685800"/>
            <a:ext cx="4571640" cy="3428640"/>
          </a:xfrm>
          <a:prstGeom prst="rect">
            <a:avLst/>
          </a:prstGeom>
          <a:ln w="0">
            <a:noFill/>
          </a:ln>
        </p:spPr>
      </p:sp>
      <p:sp>
        <p:nvSpPr>
          <p:cNvPr id="58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Num" idx="3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6AABA4D-A71F-4383-B32A-E5E7631AC7E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5" name="PlaceHolder 2"/>
          <p:cNvSpPr>
            <a:spLocks noGrp="1"/>
          </p:cNvSpPr>
          <p:nvPr>
            <p:ph type="sldImg"/>
          </p:nvPr>
        </p:nvSpPr>
        <p:spPr>
          <a:xfrm>
            <a:off x="1143000" y="685800"/>
            <a:ext cx="4571640" cy="3428640"/>
          </a:xfrm>
          <a:prstGeom prst="rect">
            <a:avLst/>
          </a:prstGeom>
          <a:ln w="0">
            <a:noFill/>
          </a:ln>
        </p:spPr>
      </p:sp>
      <p:sp>
        <p:nvSpPr>
          <p:cNvPr id="58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Num" idx="3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2A7FE28-47CB-478E-B3FA-65BD303E6DB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8" name="PlaceHolder 2"/>
          <p:cNvSpPr>
            <a:spLocks noGrp="1"/>
          </p:cNvSpPr>
          <p:nvPr>
            <p:ph type="sldImg"/>
          </p:nvPr>
        </p:nvSpPr>
        <p:spPr>
          <a:xfrm>
            <a:off x="1143000" y="685800"/>
            <a:ext cx="4571640" cy="3428640"/>
          </a:xfrm>
          <a:prstGeom prst="rect">
            <a:avLst/>
          </a:prstGeom>
          <a:ln w="0">
            <a:noFill/>
          </a:ln>
        </p:spPr>
      </p:sp>
      <p:sp>
        <p:nvSpPr>
          <p:cNvPr id="58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Num" idx="3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1B4B351-5859-4D26-9260-229CFDD1E69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1" name="PlaceHolder 2"/>
          <p:cNvSpPr>
            <a:spLocks noGrp="1"/>
          </p:cNvSpPr>
          <p:nvPr>
            <p:ph type="sldImg"/>
          </p:nvPr>
        </p:nvSpPr>
        <p:spPr>
          <a:xfrm>
            <a:off x="1143000" y="685800"/>
            <a:ext cx="4571640" cy="3428640"/>
          </a:xfrm>
          <a:prstGeom prst="rect">
            <a:avLst/>
          </a:prstGeom>
          <a:ln w="0">
            <a:noFill/>
          </a:ln>
        </p:spPr>
      </p:sp>
      <p:sp>
        <p:nvSpPr>
          <p:cNvPr id="59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Num" idx="3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7C2E121-90E0-4D90-AEE3-6EBFBC09A0C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4" name="PlaceHolder 2"/>
          <p:cNvSpPr>
            <a:spLocks noGrp="1"/>
          </p:cNvSpPr>
          <p:nvPr>
            <p:ph type="sldImg"/>
          </p:nvPr>
        </p:nvSpPr>
        <p:spPr>
          <a:xfrm>
            <a:off x="1143000" y="685800"/>
            <a:ext cx="4571640" cy="3428640"/>
          </a:xfrm>
          <a:prstGeom prst="rect">
            <a:avLst/>
          </a:prstGeom>
          <a:ln w="0">
            <a:noFill/>
          </a:ln>
        </p:spPr>
      </p:sp>
      <p:sp>
        <p:nvSpPr>
          <p:cNvPr id="59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Num" idx="3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C165FD7-6404-427C-A778-6EF12970A46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7" name="PlaceHolder 2"/>
          <p:cNvSpPr>
            <a:spLocks noGrp="1"/>
          </p:cNvSpPr>
          <p:nvPr>
            <p:ph type="sldImg"/>
          </p:nvPr>
        </p:nvSpPr>
        <p:spPr>
          <a:xfrm>
            <a:off x="1143000" y="685800"/>
            <a:ext cx="4571640" cy="3428640"/>
          </a:xfrm>
          <a:prstGeom prst="rect">
            <a:avLst/>
          </a:prstGeom>
          <a:ln w="0">
            <a:noFill/>
          </a:ln>
        </p:spPr>
      </p:sp>
      <p:sp>
        <p:nvSpPr>
          <p:cNvPr id="59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Num" idx="3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1DE678D-D329-4664-9E19-5C8EDDA9711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0" name="PlaceHolder 2"/>
          <p:cNvSpPr>
            <a:spLocks noGrp="1"/>
          </p:cNvSpPr>
          <p:nvPr>
            <p:ph type="sldImg"/>
          </p:nvPr>
        </p:nvSpPr>
        <p:spPr>
          <a:xfrm>
            <a:off x="1143000" y="685800"/>
            <a:ext cx="4571640" cy="3428640"/>
          </a:xfrm>
          <a:prstGeom prst="rect">
            <a:avLst/>
          </a:prstGeom>
          <a:ln w="0">
            <a:noFill/>
          </a:ln>
        </p:spPr>
      </p:sp>
      <p:sp>
        <p:nvSpPr>
          <p:cNvPr id="60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Num" idx="3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7D17A34-ABA9-4F69-A255-37CB40EF64B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3" name="PlaceHolder 2"/>
          <p:cNvSpPr>
            <a:spLocks noGrp="1"/>
          </p:cNvSpPr>
          <p:nvPr>
            <p:ph type="sldImg"/>
          </p:nvPr>
        </p:nvSpPr>
        <p:spPr>
          <a:xfrm>
            <a:off x="1143000" y="685800"/>
            <a:ext cx="4571640" cy="3428640"/>
          </a:xfrm>
          <a:prstGeom prst="rect">
            <a:avLst/>
          </a:prstGeom>
          <a:ln w="0">
            <a:noFill/>
          </a:ln>
        </p:spPr>
      </p:sp>
      <p:sp>
        <p:nvSpPr>
          <p:cNvPr id="60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Num" idx="3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2533479-AEC1-475F-A73B-98E5D4F745B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6" name="PlaceHolder 2"/>
          <p:cNvSpPr>
            <a:spLocks noGrp="1"/>
          </p:cNvSpPr>
          <p:nvPr>
            <p:ph type="sldImg"/>
          </p:nvPr>
        </p:nvSpPr>
        <p:spPr>
          <a:xfrm>
            <a:off x="1143000" y="685800"/>
            <a:ext cx="4571640" cy="3428640"/>
          </a:xfrm>
          <a:prstGeom prst="rect">
            <a:avLst/>
          </a:prstGeom>
          <a:ln w="0">
            <a:noFill/>
          </a:ln>
        </p:spPr>
      </p:sp>
      <p:sp>
        <p:nvSpPr>
          <p:cNvPr id="60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Num" idx="4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39A8D07-C507-4620-98DC-4747DD03C52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9" name="PlaceHolder 2"/>
          <p:cNvSpPr>
            <a:spLocks noGrp="1"/>
          </p:cNvSpPr>
          <p:nvPr>
            <p:ph type="sldImg"/>
          </p:nvPr>
        </p:nvSpPr>
        <p:spPr>
          <a:xfrm>
            <a:off x="1143000" y="685800"/>
            <a:ext cx="4571640" cy="3428640"/>
          </a:xfrm>
          <a:prstGeom prst="rect">
            <a:avLst/>
          </a:prstGeom>
          <a:ln w="0">
            <a:noFill/>
          </a:ln>
        </p:spPr>
      </p:sp>
      <p:sp>
        <p:nvSpPr>
          <p:cNvPr id="61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Num" idx="4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852C3FD-A5FC-45C8-B60F-FE335725C04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2" name="PlaceHolder 2"/>
          <p:cNvSpPr>
            <a:spLocks noGrp="1"/>
          </p:cNvSpPr>
          <p:nvPr>
            <p:ph type="sldImg"/>
          </p:nvPr>
        </p:nvSpPr>
        <p:spPr>
          <a:xfrm>
            <a:off x="1143000" y="685800"/>
            <a:ext cx="4571640" cy="3428640"/>
          </a:xfrm>
          <a:prstGeom prst="rect">
            <a:avLst/>
          </a:prstGeom>
          <a:ln w="0">
            <a:noFill/>
          </a:ln>
        </p:spPr>
      </p:sp>
      <p:sp>
        <p:nvSpPr>
          <p:cNvPr id="61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Num" idx="4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5E8CDFC-7CCD-4C37-B850-C188E01D78F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5" name="PlaceHolder 2"/>
          <p:cNvSpPr>
            <a:spLocks noGrp="1"/>
          </p:cNvSpPr>
          <p:nvPr>
            <p:ph type="sldImg"/>
          </p:nvPr>
        </p:nvSpPr>
        <p:spPr>
          <a:xfrm>
            <a:off x="1143000" y="685800"/>
            <a:ext cx="4571640" cy="3428640"/>
          </a:xfrm>
          <a:prstGeom prst="rect">
            <a:avLst/>
          </a:prstGeom>
          <a:ln w="0">
            <a:noFill/>
          </a:ln>
        </p:spPr>
      </p:sp>
      <p:sp>
        <p:nvSpPr>
          <p:cNvPr id="61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Monday is typically the slowest day in the restaurant industry. So why do most restaurants stay open on Monday? The answer is that even if a restaurant incurs an economic loss on Monday, it still might increase its total profit by remaining open. The point is that as long as the restaurant can cover all its variable costs—the cost of the food, the cost of the servers, and so on—it likely will be able to pay some of its fixed costs using the revenue left over after paying its variable costs. As long as the restaurant can pay some of its fixed costs on Monday, its total profit by staying open exceeds what its total profit would be if it closed. So losing money on Monday might be good business!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Num" idx="4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98F6C69-143E-4800-91BE-FE9FC97C05A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8" name="PlaceHolder 2"/>
          <p:cNvSpPr>
            <a:spLocks noGrp="1"/>
          </p:cNvSpPr>
          <p:nvPr>
            <p:ph type="sldImg"/>
          </p:nvPr>
        </p:nvSpPr>
        <p:spPr>
          <a:xfrm>
            <a:off x="1143000" y="685800"/>
            <a:ext cx="4571640" cy="3428640"/>
          </a:xfrm>
          <a:prstGeom prst="rect">
            <a:avLst/>
          </a:prstGeom>
          <a:ln w="0">
            <a:noFill/>
          </a:ln>
        </p:spPr>
      </p:sp>
      <p:sp>
        <p:nvSpPr>
          <p:cNvPr id="61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Num" idx="4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28C5349-8E07-4808-A39D-B1621C6FB58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1" name="PlaceHolder 2"/>
          <p:cNvSpPr>
            <a:spLocks noGrp="1"/>
          </p:cNvSpPr>
          <p:nvPr>
            <p:ph type="sldImg"/>
          </p:nvPr>
        </p:nvSpPr>
        <p:spPr>
          <a:xfrm>
            <a:off x="1143000" y="685800"/>
            <a:ext cx="4571640" cy="3428640"/>
          </a:xfrm>
          <a:prstGeom prst="rect">
            <a:avLst/>
          </a:prstGeom>
          <a:ln w="0">
            <a:noFill/>
          </a:ln>
        </p:spPr>
      </p:sp>
      <p:sp>
        <p:nvSpPr>
          <p:cNvPr id="62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Num" idx="4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028069B-EB77-43A8-9049-420C4726BB9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4" name="PlaceHolder 2"/>
          <p:cNvSpPr>
            <a:spLocks noGrp="1"/>
          </p:cNvSpPr>
          <p:nvPr>
            <p:ph type="sldImg"/>
          </p:nvPr>
        </p:nvSpPr>
        <p:spPr>
          <a:xfrm>
            <a:off x="1143000" y="685800"/>
            <a:ext cx="4571640" cy="3428640"/>
          </a:xfrm>
          <a:prstGeom prst="rect">
            <a:avLst/>
          </a:prstGeom>
          <a:ln w="0">
            <a:noFill/>
          </a:ln>
        </p:spPr>
      </p:sp>
      <p:sp>
        <p:nvSpPr>
          <p:cNvPr id="62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Num" idx="4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A4EE4D9-15EA-4A80-9F74-E6C127299BC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7" name="PlaceHolder 2"/>
          <p:cNvSpPr>
            <a:spLocks noGrp="1"/>
          </p:cNvSpPr>
          <p:nvPr>
            <p:ph type="sldImg"/>
          </p:nvPr>
        </p:nvSpPr>
        <p:spPr>
          <a:xfrm>
            <a:off x="1143000" y="685800"/>
            <a:ext cx="4571640" cy="3428640"/>
          </a:xfrm>
          <a:prstGeom prst="rect">
            <a:avLst/>
          </a:prstGeom>
          <a:ln w="0">
            <a:noFill/>
          </a:ln>
        </p:spPr>
      </p:sp>
      <p:sp>
        <p:nvSpPr>
          <p:cNvPr id="62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Num" idx="4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81D604B-31DC-44F9-A5BA-1DB5EBED4E8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0" name="PlaceHolder 2"/>
          <p:cNvSpPr>
            <a:spLocks noGrp="1"/>
          </p:cNvSpPr>
          <p:nvPr>
            <p:ph type="sldImg"/>
          </p:nvPr>
        </p:nvSpPr>
        <p:spPr>
          <a:xfrm>
            <a:off x="1143000" y="685800"/>
            <a:ext cx="4571640" cy="3428640"/>
          </a:xfrm>
          <a:prstGeom prst="rect">
            <a:avLst/>
          </a:prstGeom>
          <a:ln w="0">
            <a:noFill/>
          </a:ln>
        </p:spPr>
      </p:sp>
      <p:sp>
        <p:nvSpPr>
          <p:cNvPr id="63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Num" idx="4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65F20ED5-46EA-48DE-ABDC-D8CC14F7B049}"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3" name="PlaceHolder 2"/>
          <p:cNvSpPr>
            <a:spLocks noGrp="1"/>
          </p:cNvSpPr>
          <p:nvPr>
            <p:ph type="sldImg"/>
          </p:nvPr>
        </p:nvSpPr>
        <p:spPr>
          <a:xfrm>
            <a:off x="1143000" y="685800"/>
            <a:ext cx="4571640" cy="3428640"/>
          </a:xfrm>
          <a:prstGeom prst="rect">
            <a:avLst/>
          </a:prstGeom>
          <a:ln w="0">
            <a:noFill/>
          </a:ln>
        </p:spPr>
      </p:sp>
      <p:sp>
        <p:nvSpPr>
          <p:cNvPr id="63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Num" idx="4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6B51CE0-938A-478B-9ABE-8E160D91CFB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6" name="PlaceHolder 2"/>
          <p:cNvSpPr>
            <a:spLocks noGrp="1"/>
          </p:cNvSpPr>
          <p:nvPr>
            <p:ph type="sldImg"/>
          </p:nvPr>
        </p:nvSpPr>
        <p:spPr>
          <a:xfrm>
            <a:off x="1143000" y="685800"/>
            <a:ext cx="4571640" cy="3428640"/>
          </a:xfrm>
          <a:prstGeom prst="rect">
            <a:avLst/>
          </a:prstGeom>
          <a:ln w="0">
            <a:noFill/>
          </a:ln>
        </p:spPr>
      </p:sp>
      <p:sp>
        <p:nvSpPr>
          <p:cNvPr id="63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Num" idx="5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363F9AC-6E84-40D3-8495-C93CA7EFDD2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9" name="PlaceHolder 2"/>
          <p:cNvSpPr>
            <a:spLocks noGrp="1"/>
          </p:cNvSpPr>
          <p:nvPr>
            <p:ph type="sldImg"/>
          </p:nvPr>
        </p:nvSpPr>
        <p:spPr>
          <a:xfrm>
            <a:off x="1143000" y="685800"/>
            <a:ext cx="4571640" cy="3428640"/>
          </a:xfrm>
          <a:prstGeom prst="rect">
            <a:avLst/>
          </a:prstGeom>
          <a:ln w="0">
            <a:noFill/>
          </a:ln>
        </p:spPr>
      </p:sp>
      <p:sp>
        <p:nvSpPr>
          <p:cNvPr id="64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PlaceHolder 1"/>
          <p:cNvSpPr>
            <a:spLocks noGrp="1"/>
          </p:cNvSpPr>
          <p:nvPr>
            <p:ph type="sldNum" idx="5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9997472-F730-4C2A-9892-F007F8CD37F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2" name="PlaceHolder 2"/>
          <p:cNvSpPr>
            <a:spLocks noGrp="1"/>
          </p:cNvSpPr>
          <p:nvPr>
            <p:ph type="sldImg"/>
          </p:nvPr>
        </p:nvSpPr>
        <p:spPr>
          <a:xfrm>
            <a:off x="1143000" y="685800"/>
            <a:ext cx="4571640" cy="3428640"/>
          </a:xfrm>
          <a:prstGeom prst="rect">
            <a:avLst/>
          </a:prstGeom>
          <a:ln w="0">
            <a:noFill/>
          </a:ln>
        </p:spPr>
      </p:sp>
      <p:sp>
        <p:nvSpPr>
          <p:cNvPr id="64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sldNum" idx="5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D6480EA-2F0A-4D7E-BDE7-0B2E167AECA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5" name="PlaceHolder 2"/>
          <p:cNvSpPr>
            <a:spLocks noGrp="1"/>
          </p:cNvSpPr>
          <p:nvPr>
            <p:ph type="sldImg"/>
          </p:nvPr>
        </p:nvSpPr>
        <p:spPr>
          <a:xfrm>
            <a:off x="1143000" y="685800"/>
            <a:ext cx="4571640" cy="3428640"/>
          </a:xfrm>
          <a:prstGeom prst="rect">
            <a:avLst/>
          </a:prstGeom>
          <a:ln w="0">
            <a:noFill/>
          </a:ln>
        </p:spPr>
      </p:sp>
      <p:sp>
        <p:nvSpPr>
          <p:cNvPr id="64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sldNum" idx="5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45D1390-A40C-4B6A-8CEB-82349D73761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8" name="PlaceHolder 2"/>
          <p:cNvSpPr>
            <a:spLocks noGrp="1"/>
          </p:cNvSpPr>
          <p:nvPr>
            <p:ph type="sldImg"/>
          </p:nvPr>
        </p:nvSpPr>
        <p:spPr>
          <a:xfrm>
            <a:off x="1143000" y="685800"/>
            <a:ext cx="4571640" cy="3428640"/>
          </a:xfrm>
          <a:prstGeom prst="rect">
            <a:avLst/>
          </a:prstGeom>
          <a:ln w="0">
            <a:noFill/>
          </a:ln>
        </p:spPr>
      </p:sp>
      <p:sp>
        <p:nvSpPr>
          <p:cNvPr id="64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Students are often skeptical that a zero economic profit is an acceptable outcome for an entrepreneur. The key is to reinforce the meaning of normal profit. A rational decision is one that is based on a weighing of the opportunity cost of each alternative against its full benefits. Opportunity cost includes the benefits from forgone opportunities as well as explicit costs. One of these forgone opportunities for the entrepreneur is pursuing his or her next best activity. The value of this forgone opportunity is normal profit. So, when a firm makes zero economic profit, the entrepreneur earns normal profit and enjoys the same benefits as those available in the next best activity. There is no incentive to change to the next best activity.</a:t>
            </a:r>
            <a:endParaRPr b="0" lang="en-US" sz="20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Num" idx="5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2C95A37-D0CF-491A-94CA-D94039658AD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1" name="PlaceHolder 2"/>
          <p:cNvSpPr>
            <a:spLocks noGrp="1"/>
          </p:cNvSpPr>
          <p:nvPr>
            <p:ph type="sldImg"/>
          </p:nvPr>
        </p:nvSpPr>
        <p:spPr>
          <a:xfrm>
            <a:off x="1143000" y="685800"/>
            <a:ext cx="4571640" cy="3428640"/>
          </a:xfrm>
          <a:prstGeom prst="rect">
            <a:avLst/>
          </a:prstGeom>
          <a:ln w="0">
            <a:noFill/>
          </a:ln>
        </p:spPr>
      </p:sp>
      <p:sp>
        <p:nvSpPr>
          <p:cNvPr id="65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sldNum" idx="5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09513EB-25C2-4D5E-B5B9-6F33911AAC0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4" name="PlaceHolder 2"/>
          <p:cNvSpPr>
            <a:spLocks noGrp="1"/>
          </p:cNvSpPr>
          <p:nvPr>
            <p:ph type="sldImg"/>
          </p:nvPr>
        </p:nvSpPr>
        <p:spPr>
          <a:xfrm>
            <a:off x="1143000" y="685800"/>
            <a:ext cx="4571640" cy="3428640"/>
          </a:xfrm>
          <a:prstGeom prst="rect">
            <a:avLst/>
          </a:prstGeom>
          <a:ln w="0">
            <a:noFill/>
          </a:ln>
        </p:spPr>
      </p:sp>
      <p:sp>
        <p:nvSpPr>
          <p:cNvPr id="65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Num" idx="5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2CC48CA-310E-4C0A-81C4-8EB906F327E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7" name="PlaceHolder 2"/>
          <p:cNvSpPr>
            <a:spLocks noGrp="1"/>
          </p:cNvSpPr>
          <p:nvPr>
            <p:ph type="sldImg"/>
          </p:nvPr>
        </p:nvSpPr>
        <p:spPr>
          <a:xfrm>
            <a:off x="1143000" y="685800"/>
            <a:ext cx="4571640" cy="3428640"/>
          </a:xfrm>
          <a:prstGeom prst="rect">
            <a:avLst/>
          </a:prstGeom>
          <a:ln w="0">
            <a:noFill/>
          </a:ln>
        </p:spPr>
      </p:sp>
      <p:sp>
        <p:nvSpPr>
          <p:cNvPr id="65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Num" idx="5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7E7C84D-32AC-4692-8E0E-81AB0269921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0" name="PlaceHolder 2"/>
          <p:cNvSpPr>
            <a:spLocks noGrp="1"/>
          </p:cNvSpPr>
          <p:nvPr>
            <p:ph type="sldImg"/>
          </p:nvPr>
        </p:nvSpPr>
        <p:spPr>
          <a:xfrm>
            <a:off x="1143000" y="685800"/>
            <a:ext cx="4571640" cy="3428640"/>
          </a:xfrm>
          <a:prstGeom prst="rect">
            <a:avLst/>
          </a:prstGeom>
          <a:ln w="0">
            <a:noFill/>
          </a:ln>
        </p:spPr>
      </p:sp>
      <p:sp>
        <p:nvSpPr>
          <p:cNvPr id="66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Num" idx="5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A699DEB-3EBE-44A6-9666-48793947CF9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3" name="PlaceHolder 2"/>
          <p:cNvSpPr>
            <a:spLocks noGrp="1"/>
          </p:cNvSpPr>
          <p:nvPr>
            <p:ph type="sldImg"/>
          </p:nvPr>
        </p:nvSpPr>
        <p:spPr>
          <a:xfrm>
            <a:off x="1143000" y="685800"/>
            <a:ext cx="4571640" cy="3428640"/>
          </a:xfrm>
          <a:prstGeom prst="rect">
            <a:avLst/>
          </a:prstGeom>
          <a:ln w="0">
            <a:noFill/>
          </a:ln>
        </p:spPr>
      </p:sp>
      <p:sp>
        <p:nvSpPr>
          <p:cNvPr id="66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Num" idx="5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75D100DE-EE89-4828-B59D-2497AC151F46}"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6" name="PlaceHolder 2"/>
          <p:cNvSpPr>
            <a:spLocks noGrp="1"/>
          </p:cNvSpPr>
          <p:nvPr>
            <p:ph type="sldImg"/>
          </p:nvPr>
        </p:nvSpPr>
        <p:spPr>
          <a:xfrm>
            <a:off x="1143000" y="685800"/>
            <a:ext cx="4571640" cy="3428640"/>
          </a:xfrm>
          <a:prstGeom prst="rect">
            <a:avLst/>
          </a:prstGeom>
          <a:ln w="0">
            <a:noFill/>
          </a:ln>
        </p:spPr>
      </p:sp>
      <p:sp>
        <p:nvSpPr>
          <p:cNvPr id="66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Num" idx="6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86E7463-34E5-4CEF-AFE0-74BDF10DFF3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9" name="PlaceHolder 2"/>
          <p:cNvSpPr>
            <a:spLocks noGrp="1"/>
          </p:cNvSpPr>
          <p:nvPr>
            <p:ph type="sldImg"/>
          </p:nvPr>
        </p:nvSpPr>
        <p:spPr>
          <a:xfrm>
            <a:off x="1143000" y="685800"/>
            <a:ext cx="4571640" cy="3428640"/>
          </a:xfrm>
          <a:prstGeom prst="rect">
            <a:avLst/>
          </a:prstGeom>
          <a:ln w="0">
            <a:noFill/>
          </a:ln>
        </p:spPr>
      </p:sp>
      <p:sp>
        <p:nvSpPr>
          <p:cNvPr id="67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Num" idx="6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D3438EC-29AF-452C-8BD8-07B1EEB4989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2" name="PlaceHolder 2"/>
          <p:cNvSpPr>
            <a:spLocks noGrp="1"/>
          </p:cNvSpPr>
          <p:nvPr>
            <p:ph type="sldImg"/>
          </p:nvPr>
        </p:nvSpPr>
        <p:spPr>
          <a:xfrm>
            <a:off x="1143000" y="685800"/>
            <a:ext cx="4571640" cy="3428640"/>
          </a:xfrm>
          <a:prstGeom prst="rect">
            <a:avLst/>
          </a:prstGeom>
          <a:ln w="0">
            <a:noFill/>
          </a:ln>
        </p:spPr>
      </p:sp>
      <p:sp>
        <p:nvSpPr>
          <p:cNvPr id="67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Num" idx="6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5734A74-5FE4-48AE-B290-160CF5D59E6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5" name="PlaceHolder 2"/>
          <p:cNvSpPr>
            <a:spLocks noGrp="1"/>
          </p:cNvSpPr>
          <p:nvPr>
            <p:ph type="sldImg"/>
          </p:nvPr>
        </p:nvSpPr>
        <p:spPr>
          <a:xfrm>
            <a:off x="1143000" y="685800"/>
            <a:ext cx="4571640" cy="3428640"/>
          </a:xfrm>
          <a:prstGeom prst="rect">
            <a:avLst/>
          </a:prstGeom>
          <a:ln w="0">
            <a:noFill/>
          </a:ln>
        </p:spPr>
      </p:sp>
      <p:sp>
        <p:nvSpPr>
          <p:cNvPr id="67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Num" idx="6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3E42C69-2B5E-4C24-94D9-6EE7849E2AC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8" name="PlaceHolder 2"/>
          <p:cNvSpPr>
            <a:spLocks noGrp="1"/>
          </p:cNvSpPr>
          <p:nvPr>
            <p:ph type="sldImg"/>
          </p:nvPr>
        </p:nvSpPr>
        <p:spPr>
          <a:xfrm>
            <a:off x="1143000" y="685800"/>
            <a:ext cx="4571640" cy="3428640"/>
          </a:xfrm>
          <a:prstGeom prst="rect">
            <a:avLst/>
          </a:prstGeom>
          <a:ln w="0">
            <a:noFill/>
          </a:ln>
        </p:spPr>
      </p:sp>
      <p:sp>
        <p:nvSpPr>
          <p:cNvPr id="67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Num" idx="6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9F9A350-BEC0-42A2-B95D-5ACFA89AF6C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1" name="PlaceHolder 2"/>
          <p:cNvSpPr>
            <a:spLocks noGrp="1"/>
          </p:cNvSpPr>
          <p:nvPr>
            <p:ph type="sldImg"/>
          </p:nvPr>
        </p:nvSpPr>
        <p:spPr>
          <a:xfrm>
            <a:off x="1143000" y="685800"/>
            <a:ext cx="4571640" cy="3428640"/>
          </a:xfrm>
          <a:prstGeom prst="rect">
            <a:avLst/>
          </a:prstGeom>
          <a:ln w="0">
            <a:noFill/>
          </a:ln>
        </p:spPr>
      </p:sp>
      <p:sp>
        <p:nvSpPr>
          <p:cNvPr id="68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Num" idx="6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249B6CC-9AA9-4FC3-A933-70C321B3AAB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4" name="PlaceHolder 2"/>
          <p:cNvSpPr>
            <a:spLocks noGrp="1"/>
          </p:cNvSpPr>
          <p:nvPr>
            <p:ph type="sldImg"/>
          </p:nvPr>
        </p:nvSpPr>
        <p:spPr>
          <a:xfrm>
            <a:off x="1143000" y="685800"/>
            <a:ext cx="4571640" cy="3428640"/>
          </a:xfrm>
          <a:prstGeom prst="rect">
            <a:avLst/>
          </a:prstGeom>
          <a:ln w="0">
            <a:noFill/>
          </a:ln>
        </p:spPr>
      </p:sp>
      <p:sp>
        <p:nvSpPr>
          <p:cNvPr id="68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Num" idx="6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7F26275-9B59-4F8B-82B9-F989EC98157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7" name="PlaceHolder 2"/>
          <p:cNvSpPr>
            <a:spLocks noGrp="1"/>
          </p:cNvSpPr>
          <p:nvPr>
            <p:ph type="sldImg"/>
          </p:nvPr>
        </p:nvSpPr>
        <p:spPr>
          <a:xfrm>
            <a:off x="1143000" y="685800"/>
            <a:ext cx="4571640" cy="3428640"/>
          </a:xfrm>
          <a:prstGeom prst="rect">
            <a:avLst/>
          </a:prstGeom>
          <a:ln w="0">
            <a:noFill/>
          </a:ln>
        </p:spPr>
      </p:sp>
      <p:sp>
        <p:nvSpPr>
          <p:cNvPr id="6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Num" idx="6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C9B3922-F00B-4BC8-8BC4-0BAB2BEEC1B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0" name="PlaceHolder 2"/>
          <p:cNvSpPr>
            <a:spLocks noGrp="1"/>
          </p:cNvSpPr>
          <p:nvPr>
            <p:ph type="sldImg"/>
          </p:nvPr>
        </p:nvSpPr>
        <p:spPr>
          <a:xfrm>
            <a:off x="1143000" y="685800"/>
            <a:ext cx="4571640" cy="3428640"/>
          </a:xfrm>
          <a:prstGeom prst="rect">
            <a:avLst/>
          </a:prstGeom>
          <a:ln w="0">
            <a:noFill/>
          </a:ln>
        </p:spPr>
      </p:sp>
      <p:sp>
        <p:nvSpPr>
          <p:cNvPr id="69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Num" idx="6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796DF11-050C-4D77-B8C9-9F4248F83E7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3" name="PlaceHolder 2"/>
          <p:cNvSpPr>
            <a:spLocks noGrp="1"/>
          </p:cNvSpPr>
          <p:nvPr>
            <p:ph type="sldImg"/>
          </p:nvPr>
        </p:nvSpPr>
        <p:spPr>
          <a:xfrm>
            <a:off x="1143000" y="685800"/>
            <a:ext cx="4571640" cy="3428640"/>
          </a:xfrm>
          <a:prstGeom prst="rect">
            <a:avLst/>
          </a:prstGeom>
          <a:ln w="0">
            <a:noFill/>
          </a:ln>
        </p:spPr>
      </p:sp>
      <p:sp>
        <p:nvSpPr>
          <p:cNvPr id="69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Num" idx="6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26038F0-0CD2-49D7-8619-DC11B98EDA3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6" name="PlaceHolder 2"/>
          <p:cNvSpPr>
            <a:spLocks noGrp="1"/>
          </p:cNvSpPr>
          <p:nvPr>
            <p:ph type="sldImg"/>
          </p:nvPr>
        </p:nvSpPr>
        <p:spPr>
          <a:xfrm>
            <a:off x="1143000" y="685800"/>
            <a:ext cx="4571640" cy="3428640"/>
          </a:xfrm>
          <a:prstGeom prst="rect">
            <a:avLst/>
          </a:prstGeom>
          <a:ln w="0">
            <a:noFill/>
          </a:ln>
        </p:spPr>
      </p:sp>
      <p:sp>
        <p:nvSpPr>
          <p:cNvPr id="69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Num" idx="7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E0495CD-ADBE-408F-9B7D-0DBBAB8B45E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9" name="PlaceHolder 2"/>
          <p:cNvSpPr>
            <a:spLocks noGrp="1"/>
          </p:cNvSpPr>
          <p:nvPr>
            <p:ph type="sldImg"/>
          </p:nvPr>
        </p:nvSpPr>
        <p:spPr>
          <a:xfrm>
            <a:off x="1143000" y="685800"/>
            <a:ext cx="4571640" cy="3428640"/>
          </a:xfrm>
          <a:prstGeom prst="rect">
            <a:avLst/>
          </a:prstGeom>
          <a:ln w="0">
            <a:noFill/>
          </a:ln>
        </p:spPr>
      </p:sp>
      <p:sp>
        <p:nvSpPr>
          <p:cNvPr id="70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Num" idx="7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4BA4766-1B14-4467-906F-D8316111EA5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2" name="PlaceHolder 2"/>
          <p:cNvSpPr>
            <a:spLocks noGrp="1"/>
          </p:cNvSpPr>
          <p:nvPr>
            <p:ph type="sldImg"/>
          </p:nvPr>
        </p:nvSpPr>
        <p:spPr>
          <a:xfrm>
            <a:off x="1143000" y="685800"/>
            <a:ext cx="4571640" cy="3428640"/>
          </a:xfrm>
          <a:prstGeom prst="rect">
            <a:avLst/>
          </a:prstGeom>
          <a:ln w="0">
            <a:noFill/>
          </a:ln>
        </p:spPr>
      </p:sp>
      <p:sp>
        <p:nvSpPr>
          <p:cNvPr id="70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Num" idx="7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CA27152-63E9-426D-A79B-AA74C1D7885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5" name="PlaceHolder 2"/>
          <p:cNvSpPr>
            <a:spLocks noGrp="1"/>
          </p:cNvSpPr>
          <p:nvPr>
            <p:ph type="sldImg"/>
          </p:nvPr>
        </p:nvSpPr>
        <p:spPr>
          <a:xfrm>
            <a:off x="1143000" y="685800"/>
            <a:ext cx="4571640" cy="3428640"/>
          </a:xfrm>
          <a:prstGeom prst="rect">
            <a:avLst/>
          </a:prstGeom>
          <a:ln w="0">
            <a:noFill/>
          </a:ln>
        </p:spPr>
      </p:sp>
      <p:sp>
        <p:nvSpPr>
          <p:cNvPr id="70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Num" idx="7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A229DA5-4D93-4EAE-8C20-F9F44B8CB27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8" name="PlaceHolder 2"/>
          <p:cNvSpPr>
            <a:spLocks noGrp="1"/>
          </p:cNvSpPr>
          <p:nvPr>
            <p:ph type="sldImg"/>
          </p:nvPr>
        </p:nvSpPr>
        <p:spPr>
          <a:xfrm>
            <a:off x="1143000" y="685800"/>
            <a:ext cx="4571640" cy="3428640"/>
          </a:xfrm>
          <a:prstGeom prst="rect">
            <a:avLst/>
          </a:prstGeom>
          <a:ln w="0">
            <a:noFill/>
          </a:ln>
        </p:spPr>
      </p:sp>
      <p:sp>
        <p:nvSpPr>
          <p:cNvPr id="70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Num" idx="7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B1AF5E0-C7DD-46D0-96FF-BC4FFE76402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1" name="PlaceHolder 2"/>
          <p:cNvSpPr>
            <a:spLocks noGrp="1"/>
          </p:cNvSpPr>
          <p:nvPr>
            <p:ph type="sldImg"/>
          </p:nvPr>
        </p:nvSpPr>
        <p:spPr>
          <a:xfrm>
            <a:off x="1143000" y="685800"/>
            <a:ext cx="4571640" cy="3428640"/>
          </a:xfrm>
          <a:prstGeom prst="rect">
            <a:avLst/>
          </a:prstGeom>
          <a:ln w="0">
            <a:noFill/>
          </a:ln>
        </p:spPr>
      </p:sp>
      <p:sp>
        <p:nvSpPr>
          <p:cNvPr id="7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Num" idx="7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511B30B-DAF3-41E4-93B8-526B788C884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4" name="PlaceHolder 2"/>
          <p:cNvSpPr>
            <a:spLocks noGrp="1"/>
          </p:cNvSpPr>
          <p:nvPr>
            <p:ph type="sldImg"/>
          </p:nvPr>
        </p:nvSpPr>
        <p:spPr>
          <a:xfrm>
            <a:off x="1143000" y="685800"/>
            <a:ext cx="4571640" cy="3428640"/>
          </a:xfrm>
          <a:prstGeom prst="rect">
            <a:avLst/>
          </a:prstGeom>
          <a:ln w="0">
            <a:noFill/>
          </a:ln>
        </p:spPr>
      </p:sp>
      <p:sp>
        <p:nvSpPr>
          <p:cNvPr id="71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Num" idx="7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AC0192A-4AA1-43A3-BB8D-9D770D78A4A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7" name="PlaceHolder 2"/>
          <p:cNvSpPr>
            <a:spLocks noGrp="1"/>
          </p:cNvSpPr>
          <p:nvPr>
            <p:ph type="sldImg"/>
          </p:nvPr>
        </p:nvSpPr>
        <p:spPr>
          <a:xfrm>
            <a:off x="1143000" y="685800"/>
            <a:ext cx="4571640" cy="3428640"/>
          </a:xfrm>
          <a:prstGeom prst="rect">
            <a:avLst/>
          </a:prstGeom>
          <a:ln w="0">
            <a:noFill/>
          </a:ln>
        </p:spPr>
      </p:sp>
      <p:sp>
        <p:nvSpPr>
          <p:cNvPr id="71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Num" idx="7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15A1117-7D14-4A22-B48E-8642491D4D9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0" name="PlaceHolder 2"/>
          <p:cNvSpPr>
            <a:spLocks noGrp="1"/>
          </p:cNvSpPr>
          <p:nvPr>
            <p:ph type="sldImg"/>
          </p:nvPr>
        </p:nvSpPr>
        <p:spPr>
          <a:xfrm>
            <a:off x="1143000" y="685800"/>
            <a:ext cx="4571640" cy="3428640"/>
          </a:xfrm>
          <a:prstGeom prst="rect">
            <a:avLst/>
          </a:prstGeom>
          <a:ln w="0">
            <a:noFill/>
          </a:ln>
        </p:spPr>
      </p:sp>
      <p:sp>
        <p:nvSpPr>
          <p:cNvPr id="72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Num" idx="7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1491C69-78CD-45E5-B562-433F1A1A518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3" name="PlaceHolder 2"/>
          <p:cNvSpPr>
            <a:spLocks noGrp="1"/>
          </p:cNvSpPr>
          <p:nvPr>
            <p:ph type="sldImg"/>
          </p:nvPr>
        </p:nvSpPr>
        <p:spPr>
          <a:xfrm>
            <a:off x="1143000" y="685800"/>
            <a:ext cx="4571640" cy="3428640"/>
          </a:xfrm>
          <a:prstGeom prst="rect">
            <a:avLst/>
          </a:prstGeom>
          <a:ln w="0">
            <a:noFill/>
          </a:ln>
        </p:spPr>
      </p:sp>
      <p:sp>
        <p:nvSpPr>
          <p:cNvPr id="72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Num" idx="7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41E2F3A-82DD-4D13-AF22-E369E4D0DD8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6" name="PlaceHolder 2"/>
          <p:cNvSpPr>
            <a:spLocks noGrp="1"/>
          </p:cNvSpPr>
          <p:nvPr>
            <p:ph type="sldImg"/>
          </p:nvPr>
        </p:nvSpPr>
        <p:spPr>
          <a:xfrm>
            <a:off x="1143000" y="685800"/>
            <a:ext cx="4571640" cy="3428640"/>
          </a:xfrm>
          <a:prstGeom prst="rect">
            <a:avLst/>
          </a:prstGeom>
          <a:ln w="0">
            <a:noFill/>
          </a:ln>
        </p:spPr>
      </p:sp>
      <p:sp>
        <p:nvSpPr>
          <p:cNvPr id="72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Num" idx="8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D6BD439-FA9A-4126-9566-E66A78D3DA6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9" name="PlaceHolder 2"/>
          <p:cNvSpPr>
            <a:spLocks noGrp="1"/>
          </p:cNvSpPr>
          <p:nvPr>
            <p:ph type="sldImg"/>
          </p:nvPr>
        </p:nvSpPr>
        <p:spPr>
          <a:xfrm>
            <a:off x="1143000" y="685800"/>
            <a:ext cx="4571640" cy="3428640"/>
          </a:xfrm>
          <a:prstGeom prst="rect">
            <a:avLst/>
          </a:prstGeom>
          <a:ln w="0">
            <a:noFill/>
          </a:ln>
        </p:spPr>
      </p:sp>
      <p:sp>
        <p:nvSpPr>
          <p:cNvPr id="73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Num" idx="8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B502113-EED4-41DC-BAD5-0C74167717F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2" name="PlaceHolder 2"/>
          <p:cNvSpPr>
            <a:spLocks noGrp="1"/>
          </p:cNvSpPr>
          <p:nvPr>
            <p:ph type="sldImg"/>
          </p:nvPr>
        </p:nvSpPr>
        <p:spPr>
          <a:xfrm>
            <a:off x="1143000" y="685800"/>
            <a:ext cx="4571640" cy="3428640"/>
          </a:xfrm>
          <a:prstGeom prst="rect">
            <a:avLst/>
          </a:prstGeom>
          <a:ln w="0">
            <a:noFill/>
          </a:ln>
        </p:spPr>
      </p:sp>
      <p:sp>
        <p:nvSpPr>
          <p:cNvPr id="73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Num" idx="8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54007A7-7955-4705-B54E-8CAE12AB76C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5" name="PlaceHolder 2"/>
          <p:cNvSpPr>
            <a:spLocks noGrp="1"/>
          </p:cNvSpPr>
          <p:nvPr>
            <p:ph type="sldImg"/>
          </p:nvPr>
        </p:nvSpPr>
        <p:spPr>
          <a:xfrm>
            <a:off x="1143000" y="685800"/>
            <a:ext cx="4571640" cy="3428640"/>
          </a:xfrm>
          <a:prstGeom prst="rect">
            <a:avLst/>
          </a:prstGeom>
          <a:ln w="0">
            <a:noFill/>
          </a:ln>
        </p:spPr>
      </p:sp>
      <p:sp>
        <p:nvSpPr>
          <p:cNvPr id="73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Num" idx="8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AF32754-D4D8-4EE6-8A11-6BC6B936017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8" name="PlaceHolder 2"/>
          <p:cNvSpPr>
            <a:spLocks noGrp="1"/>
          </p:cNvSpPr>
          <p:nvPr>
            <p:ph type="sldImg"/>
          </p:nvPr>
        </p:nvSpPr>
        <p:spPr>
          <a:xfrm>
            <a:off x="1143000" y="685800"/>
            <a:ext cx="4571640" cy="3428640"/>
          </a:xfrm>
          <a:prstGeom prst="rect">
            <a:avLst/>
          </a:prstGeom>
          <a:ln w="0">
            <a:noFill/>
          </a:ln>
        </p:spPr>
      </p:sp>
      <p:sp>
        <p:nvSpPr>
          <p:cNvPr id="73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Num" idx="8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13D4BF7-3075-4A6A-98CD-743163835D8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1" name="PlaceHolder 2"/>
          <p:cNvSpPr>
            <a:spLocks noGrp="1"/>
          </p:cNvSpPr>
          <p:nvPr>
            <p:ph type="sldImg"/>
          </p:nvPr>
        </p:nvSpPr>
        <p:spPr>
          <a:xfrm>
            <a:off x="1143000" y="685800"/>
            <a:ext cx="4571640" cy="3428640"/>
          </a:xfrm>
          <a:prstGeom prst="rect">
            <a:avLst/>
          </a:prstGeom>
          <a:ln w="0">
            <a:noFill/>
          </a:ln>
        </p:spPr>
      </p:sp>
      <p:sp>
        <p:nvSpPr>
          <p:cNvPr id="74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Num" idx="8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5652D58-BDFB-40E3-BAD9-5CE9EA0E531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4" name="PlaceHolder 2"/>
          <p:cNvSpPr>
            <a:spLocks noGrp="1"/>
          </p:cNvSpPr>
          <p:nvPr>
            <p:ph type="sldImg"/>
          </p:nvPr>
        </p:nvSpPr>
        <p:spPr>
          <a:xfrm>
            <a:off x="1143000" y="685800"/>
            <a:ext cx="4571640" cy="3428640"/>
          </a:xfrm>
          <a:prstGeom prst="rect">
            <a:avLst/>
          </a:prstGeom>
          <a:ln w="0">
            <a:noFill/>
          </a:ln>
        </p:spPr>
      </p:sp>
      <p:sp>
        <p:nvSpPr>
          <p:cNvPr id="74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Num" idx="8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61DF4DF-9029-4F75-AD4E-9F661EE3430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7" name="PlaceHolder 2"/>
          <p:cNvSpPr>
            <a:spLocks noGrp="1"/>
          </p:cNvSpPr>
          <p:nvPr>
            <p:ph type="sldImg"/>
          </p:nvPr>
        </p:nvSpPr>
        <p:spPr>
          <a:xfrm>
            <a:off x="1143000" y="685800"/>
            <a:ext cx="4571640" cy="3428640"/>
          </a:xfrm>
          <a:prstGeom prst="rect">
            <a:avLst/>
          </a:prstGeom>
          <a:ln w="0">
            <a:noFill/>
          </a:ln>
        </p:spPr>
      </p:sp>
      <p:sp>
        <p:nvSpPr>
          <p:cNvPr id="74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Point out to your students that the entry (or exit) discussed when the demand changes really shows how the self-interested decisions by firms’ owners promote the social interest by using more resources to produce those goods that are more highly valued by society. This intuition helps reinforce the more technical definition of allocative efficiency.</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Num" idx="8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E6D0D2B-62A8-4E6D-A68A-A30B9A80C9C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0" name="PlaceHolder 2"/>
          <p:cNvSpPr>
            <a:spLocks noGrp="1"/>
          </p:cNvSpPr>
          <p:nvPr>
            <p:ph type="sldImg"/>
          </p:nvPr>
        </p:nvSpPr>
        <p:spPr>
          <a:xfrm>
            <a:off x="1143000" y="685800"/>
            <a:ext cx="4571640" cy="3428640"/>
          </a:xfrm>
          <a:prstGeom prst="rect">
            <a:avLst/>
          </a:prstGeom>
          <a:ln w="0">
            <a:noFill/>
          </a:ln>
        </p:spPr>
      </p:sp>
      <p:sp>
        <p:nvSpPr>
          <p:cNvPr id="75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Num" idx="8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0F3AAA3-FF3B-4636-BC67-96A225EFAD9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3" name="PlaceHolder 2"/>
          <p:cNvSpPr>
            <a:spLocks noGrp="1"/>
          </p:cNvSpPr>
          <p:nvPr>
            <p:ph type="sldImg"/>
          </p:nvPr>
        </p:nvSpPr>
        <p:spPr>
          <a:xfrm>
            <a:off x="1143000" y="685800"/>
            <a:ext cx="4571640" cy="3428640"/>
          </a:xfrm>
          <a:prstGeom prst="rect">
            <a:avLst/>
          </a:prstGeom>
          <a:ln w="0">
            <a:noFill/>
          </a:ln>
        </p:spPr>
      </p:sp>
      <p:sp>
        <p:nvSpPr>
          <p:cNvPr id="75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Num" idx="8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20D92DA-33F0-4183-8B19-5B9ED0710A2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6" name="PlaceHolder 2"/>
          <p:cNvSpPr>
            <a:spLocks noGrp="1"/>
          </p:cNvSpPr>
          <p:nvPr>
            <p:ph type="sldImg"/>
          </p:nvPr>
        </p:nvSpPr>
        <p:spPr>
          <a:xfrm>
            <a:off x="1143000" y="685800"/>
            <a:ext cx="4571640" cy="3428640"/>
          </a:xfrm>
          <a:prstGeom prst="rect">
            <a:avLst/>
          </a:prstGeom>
          <a:ln w="0">
            <a:noFill/>
          </a:ln>
        </p:spPr>
      </p:sp>
      <p:sp>
        <p:nvSpPr>
          <p:cNvPr id="75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Num" idx="9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E7F81BF-99F1-43FD-868F-27822C026E3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9" name="PlaceHolder 2"/>
          <p:cNvSpPr>
            <a:spLocks noGrp="1"/>
          </p:cNvSpPr>
          <p:nvPr>
            <p:ph type="sldImg"/>
          </p:nvPr>
        </p:nvSpPr>
        <p:spPr>
          <a:xfrm>
            <a:off x="1143000" y="685800"/>
            <a:ext cx="4571640" cy="3428640"/>
          </a:xfrm>
          <a:prstGeom prst="rect">
            <a:avLst/>
          </a:prstGeom>
          <a:ln w="0">
            <a:noFill/>
          </a:ln>
        </p:spPr>
      </p:sp>
      <p:sp>
        <p:nvSpPr>
          <p:cNvPr id="76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Num" idx="9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DD39A63-9579-4FC5-957B-B03ED6E5DB2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62" name="PlaceHolder 2"/>
          <p:cNvSpPr>
            <a:spLocks noGrp="1"/>
          </p:cNvSpPr>
          <p:nvPr>
            <p:ph type="sldImg"/>
          </p:nvPr>
        </p:nvSpPr>
        <p:spPr>
          <a:xfrm>
            <a:off x="1143000" y="685800"/>
            <a:ext cx="4571640" cy="3428640"/>
          </a:xfrm>
          <a:prstGeom prst="rect">
            <a:avLst/>
          </a:prstGeom>
          <a:ln w="0">
            <a:noFill/>
          </a:ln>
        </p:spPr>
      </p:sp>
      <p:sp>
        <p:nvSpPr>
          <p:cNvPr id="76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Num" idx="9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E71E5B1-6057-4F52-B994-36FD22F9B6E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65" name="PlaceHolder 2"/>
          <p:cNvSpPr>
            <a:spLocks noGrp="1"/>
          </p:cNvSpPr>
          <p:nvPr>
            <p:ph type="sldImg"/>
          </p:nvPr>
        </p:nvSpPr>
        <p:spPr>
          <a:xfrm>
            <a:off x="1143000" y="685800"/>
            <a:ext cx="4571640" cy="3428640"/>
          </a:xfrm>
          <a:prstGeom prst="rect">
            <a:avLst/>
          </a:prstGeom>
          <a:ln w="0">
            <a:noFill/>
          </a:ln>
        </p:spPr>
      </p:sp>
      <p:sp>
        <p:nvSpPr>
          <p:cNvPr id="76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1143000" y="685800"/>
            <a:ext cx="4571640" cy="3428640"/>
          </a:xfrm>
          <a:prstGeom prst="rect">
            <a:avLst/>
          </a:prstGeom>
          <a:ln w="0">
            <a:noFill/>
          </a:ln>
        </p:spPr>
      </p:sp>
      <p:sp>
        <p:nvSpPr>
          <p:cNvPr id="768"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69" name="PlaceHolder 3"/>
          <p:cNvSpPr>
            <a:spLocks noGrp="1"/>
          </p:cNvSpPr>
          <p:nvPr>
            <p:ph type="sldNum" idx="9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91C4A27-DF30-4A9A-B600-F7283B6AEB9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1143000" y="685800"/>
            <a:ext cx="4571640" cy="3428640"/>
          </a:xfrm>
          <a:prstGeom prst="rect">
            <a:avLst/>
          </a:prstGeom>
          <a:ln w="0">
            <a:noFill/>
          </a:ln>
        </p:spPr>
      </p:sp>
      <p:sp>
        <p:nvSpPr>
          <p:cNvPr id="771"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72" name="PlaceHolder 3"/>
          <p:cNvSpPr>
            <a:spLocks noGrp="1"/>
          </p:cNvSpPr>
          <p:nvPr>
            <p:ph type="sldNum" idx="9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6E012BC-A178-4920-B102-F524466B6F5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1143000" y="685800"/>
            <a:ext cx="4571640" cy="3428640"/>
          </a:xfrm>
          <a:prstGeom prst="rect">
            <a:avLst/>
          </a:prstGeom>
          <a:ln w="0">
            <a:noFill/>
          </a:ln>
        </p:spPr>
      </p:sp>
      <p:sp>
        <p:nvSpPr>
          <p:cNvPr id="774"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75" name="PlaceHolder 3"/>
          <p:cNvSpPr>
            <a:spLocks noGrp="1"/>
          </p:cNvSpPr>
          <p:nvPr>
            <p:ph type="sldNum" idx="9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AE7471F-09FE-4D05-9189-3AAA32A5691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1143000" y="685800"/>
            <a:ext cx="4571640" cy="3428640"/>
          </a:xfrm>
          <a:prstGeom prst="rect">
            <a:avLst/>
          </a:prstGeom>
          <a:ln w="0">
            <a:noFill/>
          </a:ln>
        </p:spPr>
      </p:sp>
      <p:sp>
        <p:nvSpPr>
          <p:cNvPr id="777"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78" name="PlaceHolder 3"/>
          <p:cNvSpPr>
            <a:spLocks noGrp="1"/>
          </p:cNvSpPr>
          <p:nvPr>
            <p:ph type="sldNum" idx="9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E2A8E49-D979-4F86-94D5-B399CB56B00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000" strike="noStrike" u="none">
              <a:solidFill>
                <a:schemeClr val="dk1"/>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000" strike="noStrike" u="none">
              <a:solidFill>
                <a:schemeClr val="dk1"/>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000" strike="noStrike" u="none">
              <a:solidFill>
                <a:schemeClr val="dk1"/>
              </a:solidFill>
              <a:effectLst/>
              <a:uFillTx/>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000" strike="noStrike" u="none">
              <a:solidFill>
                <a:schemeClr val="dk1"/>
              </a:solidFill>
              <a:effectLst/>
              <a:uFillTx/>
              <a:latin typeface="Arial"/>
            </a:endParaRPr>
          </a:p>
        </p:txBody>
      </p:sp>
      <p:sp>
        <p:nvSpPr>
          <p:cNvPr id="2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000" strike="noStrike" u="none">
                <a:solidFill>
                  <a:schemeClr val="dk1"/>
                </a:solidFill>
                <a:effectLst/>
                <a:uFillTx/>
                <a:latin typeface="Arial"/>
              </a:rPr>
              <a:t>Click to edit the title text format</a:t>
            </a:r>
            <a:endParaRPr b="0" lang="en-CA" sz="2000" strike="noStrike" u="none">
              <a:solidFill>
                <a:schemeClr val="dk1"/>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fb1b2a"/>
                </a:solidFill>
                <a:effectLst/>
                <a:uFillTx/>
                <a:latin typeface="Arial"/>
              </a:rPr>
              <a:t>Click to edit the outline text format</a:t>
            </a:r>
            <a:endParaRPr b="1" lang="en-CA" sz="2800" strike="noStrike" u="none">
              <a:solidFill>
                <a:srgbClr val="fb1b2a"/>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5" name="PlaceHolder 2"/>
          <p:cNvSpPr>
            <a:spLocks noGrp="1"/>
          </p:cNvSpPr>
          <p:nvPr>
            <p:ph type="body"/>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079640" indent="-28800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0"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 name="Picture 7" descr="">
            <a:hlinkClick r:id="" action="ppaction://hlinkshowjump?jump=nextslide"/>
          </p:cNvPr>
          <p:cNvPicPr/>
          <p:nvPr/>
        </p:nvPicPr>
        <p:blipFill>
          <a:blip r:embed="rId2"/>
          <a:stretch/>
        </p:blipFill>
        <p:spPr>
          <a:xfrm>
            <a:off x="8640720" y="6480000"/>
            <a:ext cx="221760" cy="221760"/>
          </a:xfrm>
          <a:prstGeom prst="rect">
            <a:avLst/>
          </a:prstGeom>
          <a:noFill/>
          <a:ln w="0">
            <a:noFill/>
          </a:ln>
        </p:spPr>
      </p:pic>
      <p:sp>
        <p:nvSpPr>
          <p:cNvPr id="14"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6"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Picture 4" descr="">
            <a:hlinkClick r:id="" action="ppaction://hlinkshowjump?jump=previousslide"/>
          </p:cNvPr>
          <p:cNvPicPr/>
          <p:nvPr/>
        </p:nvPicPr>
        <p:blipFill>
          <a:blip r:embed="rId2"/>
          <a:stretch/>
        </p:blipFill>
        <p:spPr>
          <a:xfrm>
            <a:off x="8640720" y="6480000"/>
            <a:ext cx="221760" cy="221760"/>
          </a:xfrm>
          <a:prstGeom prst="rect">
            <a:avLst/>
          </a:prstGeom>
          <a:noFill/>
          <a:ln w="0">
            <a:noFill/>
          </a:ln>
        </p:spPr>
      </p:pic>
      <p:sp>
        <p:nvSpPr>
          <p:cNvPr id="2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000" strike="noStrike" u="none">
                <a:solidFill>
                  <a:schemeClr val="dk1"/>
                </a:solidFill>
                <a:effectLst/>
                <a:uFillTx/>
                <a:latin typeface="Arial"/>
              </a:rPr>
              <a:t>Click to edit the title text format</a:t>
            </a:r>
            <a:endParaRPr b="0" lang="en-CA" sz="2000" strike="noStrike" u="none">
              <a:solidFill>
                <a:schemeClr val="dk1"/>
              </a:solidFill>
              <a:effectLst/>
              <a:uFillTx/>
              <a:latin typeface="Arial"/>
            </a:endParaRP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trike="noStrike" u="none">
                <a:solidFill>
                  <a:schemeClr val="dk1"/>
                </a:solidFill>
                <a:effectLst/>
                <a:uFillTx/>
                <a:latin typeface="Arial"/>
              </a:rPr>
              <a:t>Click to edit the outline text format</a:t>
            </a:r>
            <a:endParaRPr b="0" lang="en-CA"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Text Box 3"/>
          <p:cNvSpPr/>
          <p:nvPr/>
        </p:nvSpPr>
        <p:spPr>
          <a:xfrm>
            <a:off x="3733920" y="663408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000" strike="noStrike" u="none">
                <a:solidFill>
                  <a:schemeClr val="dk1"/>
                </a:solidFill>
                <a:effectLst/>
                <a:uFillTx/>
                <a:latin typeface="Arial"/>
              </a:rPr>
              <a:t>Click to edit the title text format</a:t>
            </a:r>
            <a:endParaRPr b="0" lang="en-CA" sz="2000" strike="noStrike" u="none">
              <a:solidFill>
                <a:schemeClr val="dk1"/>
              </a:solidFill>
              <a:effectLst/>
              <a:uFillTx/>
              <a:latin typeface="Arial"/>
            </a:endParaRPr>
          </a:p>
        </p:txBody>
      </p:sp>
      <p:sp>
        <p:nvSpPr>
          <p:cNvPr id="2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1" lang="en-CA" sz="2800" strike="noStrike" u="none">
              <a:solidFill>
                <a:srgbClr val="00468f"/>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2"/>
    <p:sldLayoutId id="214748366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4.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5.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2.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2.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2.xml"/><Relationship Id="rId8"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4.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slideLayout" Target="../slideLayouts/slideLayout5.xml"/><Relationship Id="rId10"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3.xml"/><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slideLayout" Target="../slideLayouts/slideLayout3.xml"/><Relationship Id="rId10"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4.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slideLayout" Target="../slideLayouts/slideLayout5.xml"/><Relationship Id="rId8"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2.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2.xml"/><Relationship Id="rId6"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2.xml"/><Relationship Id="rId7"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slideLayout" Target="../slideLayouts/slideLayout2.xml"/><Relationship Id="rId8"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slideLayout" Target="../slideLayouts/slideLayout4.xml"/><Relationship Id="rId7"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slideLayout" Target="../slideLayouts/slideLayout5.xml"/><Relationship Id="rId9"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slideLayout" Target="../slideLayouts/slideLayout2.xml"/><Relationship Id="rId8"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slideLayout" Target="../slideLayouts/slideLayout2.xml"/><Relationship Id="rId9"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5.xml"/><Relationship Id="rId7"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4.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slideLayout" Target="../slideLayouts/slideLayout5.xml"/><Relationship Id="rId7"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slideLayout" Target="../slideLayouts/slideLayout2.xml"/><Relationship Id="rId6"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slideLayout" Target="../slideLayouts/slideLayout2.xml"/><Relationship Id="rId7"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slideLayout" Target="../slideLayouts/slideLayout2.xml"/><Relationship Id="rId7"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5.xml"/><Relationship Id="rId10"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slideLayout" Target="../slideLayouts/slideLayout4.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slideLayout" Target="../slideLayouts/slideLayout5.xml"/><Relationship Id="rId8"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slideLayout" Target="../slideLayouts/slideLayout2.xml"/><Relationship Id="rId6"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slideLayout" Target="../slideLayouts/slideLayout2.xml"/><Relationship Id="rId7"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slideLayout" Target="../slideLayouts/slideLayout2.xml"/><Relationship Id="rId8"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slideLayout" Target="../slideLayouts/slideLayout4.xml"/><Relationship Id="rId6"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slideLayout" Target="../slideLayouts/slideLayout5.xml"/><Relationship Id="rId1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slideLayout" Target="../slideLayouts/slideLayout2.xml"/><Relationship Id="rId10"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slideLayout" Target="../slideLayouts/slideLayout2.xml"/><Relationship Id="rId1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4.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slideLayout" Target="../slideLayouts/slideLayout5.xml"/><Relationship Id="rId6"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2.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slideLayout" Target="../slideLayouts/slideLayout2.xml"/><Relationship Id="rId4"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slideLayout" Target="../slideLayouts/slideLayout2.xml"/><Relationship Id="rId5"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slideLayout" Target="../slideLayouts/slideLayout2.xml"/><Relationship Id="rId6"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slideLayout" Target="../slideLayouts/slideLayout4.xml"/><Relationship Id="rId5"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slideLayout" Target="../slideLayouts/slideLayout5.xml"/><Relationship Id="rId7"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slideLayout" Target="../slideLayouts/slideLayout3.xml"/><Relationship Id="rId7"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slideLayout" Target="../slideLayouts/slideLayout4.xml"/><Relationship Id="rId5"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slideLayout" Target="../slideLayouts/slideLayout5.xml"/><Relationship Id="rId7"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slideLayout" Target="../slideLayouts/slideLayout3.xml"/><Relationship Id="rId7"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slideLayout" Target="../slideLayouts/slideLayout4.xml"/><Relationship Id="rId6"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slideLayout" Target="../slideLayouts/slideLayout5.xml"/><Relationship Id="rId10"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slideLayout" Target="../slideLayouts/slideLayout3.xml"/><Relationship Id="rId10"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jpeg"/><Relationship Id="rId7" Type="http://schemas.openxmlformats.org/officeDocument/2006/relationships/slideLayout" Target="../slideLayouts/slideLayout7.xml"/><Relationship Id="rId8"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image" Target="../media/image92.jpeg"/><Relationship Id="rId2" Type="http://schemas.openxmlformats.org/officeDocument/2006/relationships/image" Target="../media/image93.jpeg"/><Relationship Id="rId3" Type="http://schemas.openxmlformats.org/officeDocument/2006/relationships/slideLayout" Target="../slideLayouts/slideLayout7.xml"/><Relationship Id="rId4"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2.jpeg"/><Relationship Id="rId6" Type="http://schemas.openxmlformats.org/officeDocument/2006/relationships/slideLayout" Target="../slideLayouts/slideLayout7.xml"/><Relationship Id="rId7"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image" Target="../media/image98.png"/><Relationship Id="rId2" Type="http://schemas.openxmlformats.org/officeDocument/2006/relationships/image" Target="../media/image99.png"/><Relationship Id="rId3" Type="http://schemas.openxmlformats.org/officeDocument/2006/relationships/image" Target="../media/image100.png"/><Relationship Id="rId4" Type="http://schemas.openxmlformats.org/officeDocument/2006/relationships/image" Target="../media/image92.jpeg"/><Relationship Id="rId5" Type="http://schemas.openxmlformats.org/officeDocument/2006/relationships/slideLayout" Target="../slideLayouts/slideLayout7.xml"/><Relationship Id="rId6"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92.jpeg"/><Relationship Id="rId5"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Picture 7" descr=""/>
          <p:cNvPicPr/>
          <p:nvPr/>
        </p:nvPicPr>
        <p:blipFill>
          <a:blip r:embed="rId1"/>
          <a:stretch/>
        </p:blipFill>
        <p:spPr>
          <a:xfrm>
            <a:off x="228600" y="380880"/>
            <a:ext cx="8683200" cy="2209320"/>
          </a:xfrm>
          <a:prstGeom prst="rect">
            <a:avLst/>
          </a:prstGeom>
          <a:noFill/>
          <a:ln w="0">
            <a:noFill/>
          </a:ln>
        </p:spPr>
      </p:pic>
      <p:sp>
        <p:nvSpPr>
          <p:cNvPr id="35" name="Text Box 5"/>
          <p:cNvSpPr/>
          <p:nvPr/>
        </p:nvSpPr>
        <p:spPr>
          <a:xfrm>
            <a:off x="6083280" y="690480"/>
            <a:ext cx="1157040" cy="110772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15</a:t>
            </a:r>
            <a:endParaRPr b="0" lang="en-US" sz="7200" strike="noStrike" u="none">
              <a:solidFill>
                <a:srgbClr val="000000"/>
              </a:solidFill>
              <a:effectLst/>
              <a:uFillTx/>
              <a:latin typeface="Arial"/>
            </a:endParaRPr>
          </a:p>
        </p:txBody>
      </p:sp>
      <p:sp>
        <p:nvSpPr>
          <p:cNvPr id="36" name="TextBox 6"/>
          <p:cNvSpPr/>
          <p:nvPr/>
        </p:nvSpPr>
        <p:spPr>
          <a:xfrm>
            <a:off x="284040" y="2209680"/>
            <a:ext cx="6098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37" name="TextBox 7"/>
          <p:cNvSpPr/>
          <p:nvPr/>
        </p:nvSpPr>
        <p:spPr>
          <a:xfrm>
            <a:off x="380880" y="3276720"/>
            <a:ext cx="8530920" cy="3085920"/>
          </a:xfrm>
          <a:prstGeom prst="rect">
            <a:avLst/>
          </a:prstGeom>
          <a:noFill/>
          <a:ln w="0">
            <a:noFill/>
          </a:ln>
        </p:spPr>
        <p:style>
          <a:lnRef idx="0"/>
          <a:fillRef idx="0"/>
          <a:effectRef idx="0"/>
          <a:fontRef idx="minor"/>
        </p:style>
        <p:txBody>
          <a:bodyPr lIns="90000" rIns="90000" tIns="45000" bIns="45000" anchor="t">
            <a:spAutoFit/>
          </a:bodyPr>
          <a:p>
            <a:pPr marL="114480" defTabSz="176040">
              <a:lnSpc>
                <a:spcPct val="100000"/>
              </a:lnSpc>
              <a:spcBef>
                <a:spcPts val="479"/>
              </a:spcBef>
              <a:spcAft>
                <a:spcPts val="961"/>
              </a:spcAft>
              <a:tabLst>
                <a:tab algn="l" pos="457200"/>
              </a:tabLs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a perfectly competitive firm’s profit-maximizing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choices and derive its supply curve.</a:t>
            </a:r>
            <a:endParaRPr b="0" lang="en-US" sz="2400" strike="noStrike" u="none">
              <a:solidFill>
                <a:srgbClr val="000000"/>
              </a:solidFill>
              <a:effectLst/>
              <a:uFillTx/>
              <a:latin typeface="Arial"/>
            </a:endParaRPr>
          </a:p>
          <a:p>
            <a:pPr marL="114480" defTabSz="176040">
              <a:lnSpc>
                <a:spcPct val="100000"/>
              </a:lnSpc>
              <a:spcBef>
                <a:spcPts val="479"/>
              </a:spcBef>
              <a:spcAft>
                <a:spcPts val="961"/>
              </a:spcAft>
              <a:tabLst>
                <a:tab algn="l" pos="457200"/>
              </a:tabLst>
            </a:pPr>
            <a:r>
              <a:rPr b="1" lang="en-US" sz="2400" strike="noStrike" u="none">
                <a:solidFill>
                  <a:srgbClr val="ff0000"/>
                </a:solidFill>
                <a:effectLst/>
                <a:uFillTx/>
                <a:latin typeface="Arial"/>
                <a:ea typeface="ＭＳ Ｐゴシック"/>
              </a:rPr>
              <a:t>2</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how output, price, and profit are determined in the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short run.</a:t>
            </a:r>
            <a:endParaRPr b="0" lang="en-US" sz="2400" strike="noStrike" u="none">
              <a:solidFill>
                <a:srgbClr val="000000"/>
              </a:solidFill>
              <a:effectLst/>
              <a:uFillTx/>
              <a:latin typeface="Arial"/>
            </a:endParaRPr>
          </a:p>
          <a:p>
            <a:pPr marL="114480" defTabSz="176040">
              <a:lnSpc>
                <a:spcPct val="100000"/>
              </a:lnSpc>
              <a:spcBef>
                <a:spcPts val="479"/>
              </a:spcBef>
              <a:spcAft>
                <a:spcPts val="961"/>
              </a:spcAft>
              <a:tabLst>
                <a:tab algn="l" pos="457200"/>
              </a:tabLst>
            </a:pPr>
            <a:r>
              <a:rPr b="1" lang="en-US" sz="2400" strike="noStrike" u="none">
                <a:solidFill>
                  <a:srgbClr val="ff0000"/>
                </a:solidFill>
                <a:effectLst/>
                <a:uFillTx/>
                <a:latin typeface="Arial"/>
                <a:ea typeface="ＭＳ Ｐゴシック"/>
              </a:rPr>
              <a:t>3</a:t>
            </a:r>
            <a:r>
              <a:rPr b="1" lang="en-US" sz="2400" strike="noStrike" u="none">
                <a:solidFill>
                  <a:srgbClr val="ff0000"/>
                </a:solidFill>
                <a:effectLst/>
                <a:uFillTx/>
                <a:latin typeface="Arial"/>
                <a:ea typeface="ＭＳ Ｐゴシック"/>
              </a:rPr>
              <a:t>	</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how output, price, and profit are determined in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the long run and explain why perfect competition is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efficient.</a:t>
            </a:r>
            <a:endParaRPr b="0" lang="en-US" sz="2400" strike="noStrike" u="none">
              <a:solidFill>
                <a:srgbClr val="000000"/>
              </a:solidFill>
              <a:effectLst/>
              <a:uFillTx/>
              <a:latin typeface="Arial"/>
            </a:endParaRPr>
          </a:p>
        </p:txBody>
      </p:sp>
      <p:sp>
        <p:nvSpPr>
          <p:cNvPr id="38" name="TextBox 9"/>
          <p:cNvSpPr/>
          <p:nvPr/>
        </p:nvSpPr>
        <p:spPr>
          <a:xfrm>
            <a:off x="5843520" y="2192400"/>
            <a:ext cx="2971440" cy="336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
        <p:nvSpPr>
          <p:cNvPr id="39" name="Rectangle 1"/>
          <p:cNvSpPr/>
          <p:nvPr/>
        </p:nvSpPr>
        <p:spPr>
          <a:xfrm>
            <a:off x="284040" y="1523880"/>
            <a:ext cx="3595320" cy="523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CA" sz="2800" strike="noStrike" u="none">
                <a:solidFill>
                  <a:schemeClr val="dk1"/>
                </a:solidFill>
                <a:effectLst/>
                <a:uFillTx/>
                <a:latin typeface="Arial"/>
                <a:ea typeface="ＭＳ Ｐゴシック"/>
              </a:rPr>
              <a:t>Perfect Competition</a:t>
            </a:r>
            <a:endParaRPr b="0" lang="en-US" sz="28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36"/>
                                        </p:tgtEl>
                                        <p:attrNameLst>
                                          <p:attrName>style.visibility</p:attrName>
                                        </p:attrNameLst>
                                      </p:cBhvr>
                                      <p:to>
                                        <p:strVal val="visible"/>
                                      </p:to>
                                    </p:set>
                                    <p:animEffect filter="wipe(left)" transition="in">
                                      <p:cBhvr additive="repl">
                                        <p:cTn id="7" dur="500"/>
                                        <p:tgtEl>
                                          <p:spTgt spid="36"/>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37">
                                            <p:txEl>
                                              <p:pRg st="0" end="0"/>
                                            </p:txEl>
                                          </p:spTgt>
                                        </p:tgtEl>
                                        <p:attrNameLst>
                                          <p:attrName>style.visibility</p:attrName>
                                        </p:attrNameLst>
                                      </p:cBhvr>
                                      <p:to>
                                        <p:strVal val="visible"/>
                                      </p:to>
                                    </p:set>
                                    <p:animEffect filter="wipe(left)" transition="in">
                                      <p:cBhvr additive="repl">
                                        <p:cTn id="12" dur="1000"/>
                                        <p:tgtEl>
                                          <p:spTgt spid="37">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37">
                                            <p:txEl>
                                              <p:pRg st="1" end="1"/>
                                            </p:txEl>
                                          </p:spTgt>
                                        </p:tgtEl>
                                        <p:attrNameLst>
                                          <p:attrName>style.visibility</p:attrName>
                                        </p:attrNameLst>
                                      </p:cBhvr>
                                      <p:to>
                                        <p:strVal val="visible"/>
                                      </p:to>
                                    </p:set>
                                    <p:animEffect filter="wipe(left)" transition="in">
                                      <p:cBhvr additive="repl">
                                        <p:cTn id="17" dur="1000"/>
                                        <p:tgtEl>
                                          <p:spTgt spid="37">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37">
                                            <p:txEl>
                                              <p:pRg st="2" end="2"/>
                                            </p:txEl>
                                          </p:spTgt>
                                        </p:tgtEl>
                                        <p:attrNameLst>
                                          <p:attrName>style.visibility</p:attrName>
                                        </p:attrNameLst>
                                      </p:cBhvr>
                                      <p:to>
                                        <p:strVal val="visible"/>
                                      </p:to>
                                    </p:set>
                                    <p:animEffect filter="wipe(left)" transition="in">
                                      <p:cBhvr additive="repl">
                                        <p:cTn id="22" dur="1000"/>
                                        <p:tgtEl>
                                          <p:spTgt spid="3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Goods and services are bought and sold in four different types of market. They are</a:t>
            </a:r>
            <a:endParaRPr b="1" lang="en-CA" sz="2400" strike="noStrike" u="none">
              <a:solidFill>
                <a:srgbClr val="fb1b2a"/>
              </a:solidFill>
              <a:effectLst/>
              <a:uFillTx/>
              <a:latin typeface="Arial"/>
            </a:endParaRPr>
          </a:p>
          <a:p>
            <a:pPr lvl="2" marL="70164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chemeClr val="dk1"/>
                </a:solidFill>
                <a:effectLst/>
                <a:uFillTx/>
                <a:latin typeface="Arial"/>
                <a:ea typeface="ＭＳ Ｐゴシック"/>
              </a:rPr>
              <a:t>Perfect competition</a:t>
            </a:r>
            <a:endParaRPr b="0" lang="en-CA" sz="2400" strike="noStrike" u="none">
              <a:solidFill>
                <a:schemeClr val="dk1"/>
              </a:solidFill>
              <a:effectLst/>
              <a:uFillTx/>
              <a:latin typeface="Arial"/>
            </a:endParaRPr>
          </a:p>
          <a:p>
            <a:pPr lvl="2" marL="70164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chemeClr val="dk1"/>
                </a:solidFill>
                <a:effectLst/>
                <a:uFillTx/>
                <a:latin typeface="Arial"/>
                <a:ea typeface="ＭＳ Ｐゴシック"/>
              </a:rPr>
              <a:t>Monopoly</a:t>
            </a:r>
            <a:endParaRPr b="0" lang="en-CA" sz="2400" strike="noStrike" u="none">
              <a:solidFill>
                <a:schemeClr val="dk1"/>
              </a:solidFill>
              <a:effectLst/>
              <a:uFillTx/>
              <a:latin typeface="Arial"/>
            </a:endParaRPr>
          </a:p>
          <a:p>
            <a:pPr lvl="2" marL="70164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chemeClr val="dk1"/>
                </a:solidFill>
                <a:effectLst/>
                <a:uFillTx/>
                <a:latin typeface="Arial"/>
                <a:ea typeface="ＭＳ Ｐゴシック"/>
              </a:rPr>
              <a:t>Monopolistic competition</a:t>
            </a:r>
            <a:endParaRPr b="0" lang="en-CA" sz="2400" strike="noStrike" u="none">
              <a:solidFill>
                <a:schemeClr val="dk1"/>
              </a:solidFill>
              <a:effectLst/>
              <a:uFillTx/>
              <a:latin typeface="Arial"/>
            </a:endParaRPr>
          </a:p>
          <a:p>
            <a:pPr lvl="2" marL="70164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chemeClr val="dk1"/>
                </a:solidFill>
                <a:effectLst/>
                <a:uFillTx/>
                <a:latin typeface="Arial"/>
                <a:ea typeface="ＭＳ Ｐゴシック"/>
              </a:rPr>
              <a:t>Oligopoly</a:t>
            </a:r>
            <a:endParaRPr b="0" lang="en-CA" sz="2400" strike="noStrike" u="none">
              <a:solidFill>
                <a:schemeClr val="dk1"/>
              </a:solidFill>
              <a:effectLst/>
              <a:uFillTx/>
              <a:latin typeface="Arial"/>
            </a:endParaRPr>
          </a:p>
        </p:txBody>
      </p:sp>
      <p:sp>
        <p:nvSpPr>
          <p:cNvPr id="41" name="Line 3079"/>
          <p:cNvSpPr/>
          <p:nvPr/>
        </p:nvSpPr>
        <p:spPr>
          <a:xfrm>
            <a:off x="533160" y="99036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000" strike="noStrike" u="none">
              <a:solidFill>
                <a:schemeClr val="dk1"/>
              </a:solidFill>
              <a:effectLst/>
              <a:uFillTx/>
              <a:latin typeface="Arial"/>
              <a:ea typeface="ＭＳ Ｐゴシック"/>
            </a:endParaRPr>
          </a:p>
        </p:txBody>
      </p:sp>
      <p:sp>
        <p:nvSpPr>
          <p:cNvPr id="42" name="Text Box 3080"/>
          <p:cNvSpPr/>
          <p:nvPr/>
        </p:nvSpPr>
        <p:spPr>
          <a:xfrm>
            <a:off x="533520" y="5014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MARKET TYPES</a:t>
            </a:r>
            <a:endParaRPr b="0" lang="en-US" sz="2600" strike="noStrike" u="none">
              <a:solidFill>
                <a:srgbClr val="000000"/>
              </a:solidFill>
              <a:effectLst/>
              <a:uFillTx/>
              <a:latin typeface="Arial"/>
            </a:endParaRPr>
          </a:p>
        </p:txBody>
      </p:sp>
    </p:spTree>
  </p:cSld>
  <p:transition spd="slow">
    <p:wipe dir="r"/>
  </p:transition>
  <p:timing>
    <p:tnLst>
      <p:par>
        <p:cTn id="23" dur="indefinite" restart="never" nodeType="tmRoot">
          <p:childTnLst>
            <p:seq>
              <p:cTn id="24" dur="indefinite" nodeType="mainSeq">
                <p:childTnLst>
                  <p:par>
                    <p:cTn id="25" nodeType="clickEffect" fill="hold">
                      <p:stCondLst>
                        <p:cond delay="indefinite"/>
                      </p:stCondLst>
                      <p:childTnLst>
                        <p:par>
                          <p:cTn id="26" nodeType="withEffect" fill="hold">
                            <p:stCondLst>
                              <p:cond delay="0"/>
                            </p:stCondLst>
                            <p:childTnLst>
                              <p:par>
                                <p:cTn id="27" nodeType="clickEffect" fill="hold" presetClass="entr" presetID="22" presetSubtype="8">
                                  <p:stCondLst>
                                    <p:cond delay="0"/>
                                  </p:stCondLst>
                                  <p:childTnLst>
                                    <p:set>
                                      <p:cBhvr>
                                        <p:cTn id="28" dur="1" fill="hold">
                                          <p:stCondLst>
                                            <p:cond delay="0"/>
                                          </p:stCondLst>
                                        </p:cTn>
                                        <p:tgtEl>
                                          <p:spTgt spid="40">
                                            <p:txEl>
                                              <p:pRg st="1" end="1"/>
                                            </p:txEl>
                                          </p:spTgt>
                                        </p:tgtEl>
                                        <p:attrNameLst>
                                          <p:attrName>style.visibility</p:attrName>
                                        </p:attrNameLst>
                                      </p:cBhvr>
                                      <p:to>
                                        <p:strVal val="visible"/>
                                      </p:to>
                                    </p:set>
                                    <p:animEffect filter="wipe(left)" transition="in">
                                      <p:cBhvr additive="repl">
                                        <p:cTn id="29" dur="500"/>
                                        <p:tgtEl>
                                          <p:spTgt spid="40">
                                            <p:txEl>
                                              <p:pRg st="1" end="1"/>
                                            </p:txEl>
                                          </p:spTgt>
                                        </p:tgtEl>
                                      </p:cBhvr>
                                    </p:animEffect>
                                  </p:childTnLst>
                                </p:cTn>
                              </p:par>
                            </p:childTnLst>
                          </p:cTn>
                        </p:par>
                      </p:childTnLst>
                    </p:cTn>
                  </p:par>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0">
                                            <p:txEl>
                                              <p:pRg st="2" end="2"/>
                                            </p:txEl>
                                          </p:spTgt>
                                        </p:tgtEl>
                                        <p:attrNameLst>
                                          <p:attrName>style.visibility</p:attrName>
                                        </p:attrNameLst>
                                      </p:cBhvr>
                                      <p:to>
                                        <p:strVal val="visible"/>
                                      </p:to>
                                    </p:set>
                                    <p:animEffect filter="wipe(left)" transition="in">
                                      <p:cBhvr additive="repl">
                                        <p:cTn id="34" dur="500"/>
                                        <p:tgtEl>
                                          <p:spTgt spid="40">
                                            <p:txEl>
                                              <p:pRg st="2" end="2"/>
                                            </p:txEl>
                                          </p:spTgt>
                                        </p:tgtEl>
                                      </p:cBhvr>
                                    </p:animEffect>
                                  </p:childTnLst>
                                </p:cTn>
                              </p:par>
                            </p:childTnLst>
                          </p:cTn>
                        </p:par>
                      </p:childTnLst>
                    </p:cTn>
                  </p:par>
                  <p:par>
                    <p:cTn id="35" nodeType="clickEffect" fill="hold">
                      <p:stCondLst>
                        <p:cond delay="indefinite"/>
                      </p:stCondLst>
                      <p:childTnLst>
                        <p:par>
                          <p:cTn id="36" nodeType="withEffect" fill="hold">
                            <p:stCondLst>
                              <p:cond delay="0"/>
                            </p:stCondLst>
                            <p:childTnLst>
                              <p:par>
                                <p:cTn id="37" nodeType="clickEffect" fill="hold" presetClass="entr" presetID="22" presetSubtype="8">
                                  <p:stCondLst>
                                    <p:cond delay="0"/>
                                  </p:stCondLst>
                                  <p:childTnLst>
                                    <p:set>
                                      <p:cBhvr>
                                        <p:cTn id="38" dur="1" fill="hold">
                                          <p:stCondLst>
                                            <p:cond delay="0"/>
                                          </p:stCondLst>
                                        </p:cTn>
                                        <p:tgtEl>
                                          <p:spTgt spid="40">
                                            <p:txEl>
                                              <p:pRg st="3" end="3"/>
                                            </p:txEl>
                                          </p:spTgt>
                                        </p:tgtEl>
                                        <p:attrNameLst>
                                          <p:attrName>style.visibility</p:attrName>
                                        </p:attrNameLst>
                                      </p:cBhvr>
                                      <p:to>
                                        <p:strVal val="visible"/>
                                      </p:to>
                                    </p:set>
                                    <p:animEffect filter="wipe(left)" transition="in">
                                      <p:cBhvr additive="repl">
                                        <p:cTn id="39" dur="500"/>
                                        <p:tgtEl>
                                          <p:spTgt spid="40">
                                            <p:txEl>
                                              <p:pRg st="3" end="3"/>
                                            </p:txEl>
                                          </p:spTgt>
                                        </p:tgtEl>
                                      </p:cBhvr>
                                    </p:animEffect>
                                  </p:childTnLst>
                                </p:cTn>
                              </p:par>
                            </p:childTnLst>
                          </p:cTn>
                        </p:par>
                      </p:childTnLst>
                    </p:cTn>
                  </p:par>
                  <p:par>
                    <p:cTn id="40" nodeType="clickEffect" fill="hold">
                      <p:stCondLst>
                        <p:cond delay="indefinite"/>
                      </p:stCondLst>
                      <p:childTnLst>
                        <p:par>
                          <p:cTn id="41" nodeType="withEffect" fill="hold">
                            <p:stCondLst>
                              <p:cond delay="0"/>
                            </p:stCondLst>
                            <p:childTnLst>
                              <p:par>
                                <p:cTn id="42" nodeType="clickEffect" fill="hold" presetClass="entr" presetID="22" presetSubtype="8">
                                  <p:stCondLst>
                                    <p:cond delay="0"/>
                                  </p:stCondLst>
                                  <p:childTnLst>
                                    <p:set>
                                      <p:cBhvr>
                                        <p:cTn id="43" dur="1" fill="hold">
                                          <p:stCondLst>
                                            <p:cond delay="0"/>
                                          </p:stCondLst>
                                        </p:cTn>
                                        <p:tgtEl>
                                          <p:spTgt spid="40">
                                            <p:txEl>
                                              <p:pRg st="4" end="4"/>
                                            </p:txEl>
                                          </p:spTgt>
                                        </p:tgtEl>
                                        <p:attrNameLst>
                                          <p:attrName>style.visibility</p:attrName>
                                        </p:attrNameLst>
                                      </p:cBhvr>
                                      <p:to>
                                        <p:strVal val="visible"/>
                                      </p:to>
                                    </p:set>
                                    <p:animEffect filter="wipe(left)" transition="in">
                                      <p:cBhvr additive="repl">
                                        <p:cTn id="44" dur="500"/>
                                        <p:tgtEl>
                                          <p:spTgt spid="40">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Perfect Competition</a:t>
            </a:r>
            <a:endParaRPr b="1" lang="en-CA" sz="2800" strike="noStrike" u="none">
              <a:solidFill>
                <a:srgbClr val="fb1b2a"/>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Perfect competition </a:t>
            </a:r>
            <a:r>
              <a:rPr b="0" lang="en-US" sz="2400" strike="noStrike" u="none">
                <a:solidFill>
                  <a:schemeClr val="dk1"/>
                </a:solidFill>
                <a:effectLst/>
                <a:uFillTx/>
                <a:latin typeface="Arial"/>
                <a:ea typeface="ＭＳ Ｐゴシック"/>
              </a:rPr>
              <a:t>exists when</a:t>
            </a:r>
            <a:endParaRPr b="1" lang="en-CA" sz="2400" strike="noStrike" u="none">
              <a:solidFill>
                <a:srgbClr val="fb1b2a"/>
              </a:solidFill>
              <a:effectLst/>
              <a:uFillTx/>
              <a:latin typeface="Arial"/>
            </a:endParaRPr>
          </a:p>
          <a:p>
            <a:pPr lvl="2" marL="70308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chemeClr val="dk1"/>
                </a:solidFill>
                <a:effectLst/>
                <a:uFillTx/>
                <a:latin typeface="Arial"/>
                <a:ea typeface="ＭＳ Ｐゴシック"/>
              </a:rPr>
              <a:t>Many firms sell an identical product to many buyers.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rgbClr val="000000"/>
                </a:solidFill>
                <a:effectLst/>
                <a:uFillTx/>
                <a:latin typeface="Arial"/>
                <a:ea typeface="ＭＳ Ｐゴシック"/>
              </a:rPr>
              <a:t>There are no restrictions on entry into (or exit from) the market.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rgbClr val="000000"/>
                </a:solidFill>
                <a:effectLst/>
                <a:uFillTx/>
                <a:latin typeface="Arial"/>
                <a:ea typeface="ＭＳ Ｐゴシック"/>
              </a:rPr>
              <a:t>Established firms have no advantage over new firms.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0000"/>
              </a:buClr>
              <a:buFont typeface="Symbol" charset="2"/>
              <a:buChar char=""/>
              <a:tabLst>
                <a:tab algn="l" pos="0"/>
              </a:tabLst>
            </a:pPr>
            <a:r>
              <a:rPr b="0" lang="en-US" sz="2400" strike="noStrike" u="none">
                <a:solidFill>
                  <a:srgbClr val="000000"/>
                </a:solidFill>
                <a:effectLst/>
                <a:uFillTx/>
                <a:latin typeface="Arial"/>
                <a:ea typeface="ＭＳ Ｐゴシック"/>
              </a:rPr>
              <a:t>Sellers and buyers are well informed about prices.</a:t>
            </a:r>
            <a:endParaRPr b="0" lang="en-CA" sz="2400" strike="noStrike" u="none">
              <a:solidFill>
                <a:schemeClr val="dk1"/>
              </a:solidFill>
              <a:effectLst/>
              <a:uFillTx/>
              <a:latin typeface="Arial"/>
            </a:endParaRPr>
          </a:p>
        </p:txBody>
      </p:sp>
      <p:sp>
        <p:nvSpPr>
          <p:cNvPr id="44" name="Line 3079"/>
          <p:cNvSpPr/>
          <p:nvPr/>
        </p:nvSpPr>
        <p:spPr>
          <a:xfrm>
            <a:off x="533160" y="99036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000" strike="noStrike" u="none">
              <a:solidFill>
                <a:schemeClr val="dk1"/>
              </a:solidFill>
              <a:effectLst/>
              <a:uFillTx/>
              <a:latin typeface="Arial"/>
              <a:ea typeface="ＭＳ Ｐゴシック"/>
            </a:endParaRPr>
          </a:p>
        </p:txBody>
      </p:sp>
      <p:sp>
        <p:nvSpPr>
          <p:cNvPr id="45" name="Text Box 3080"/>
          <p:cNvSpPr/>
          <p:nvPr/>
        </p:nvSpPr>
        <p:spPr>
          <a:xfrm>
            <a:off x="533520" y="5014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MARKET TYPES</a:t>
            </a:r>
            <a:endParaRPr b="0" lang="en-US" sz="2600" strike="noStrike" u="none">
              <a:solidFill>
                <a:srgbClr val="000000"/>
              </a:solidFill>
              <a:effectLst/>
              <a:uFillTx/>
              <a:latin typeface="Arial"/>
            </a:endParaRPr>
          </a:p>
        </p:txBody>
      </p:sp>
    </p:spTree>
  </p:cSld>
  <p:transition spd="slow">
    <p:wipe dir="r"/>
  </p:transition>
  <p:timing>
    <p:tnLst>
      <p:par>
        <p:cTn id="45" dur="indefinite" restart="never" nodeType="tmRoot">
          <p:childTnLst>
            <p:seq>
              <p:cTn id="46" dur="indefinite" nodeType="mainSeq">
                <p:childTnLst>
                  <p:par>
                    <p:cTn id="47" nodeType="clickEffect" fill="hold">
                      <p:stCondLst>
                        <p:cond delay="indefinite"/>
                      </p:stCondLst>
                      <p:childTnLst>
                        <p:par>
                          <p:cTn id="48" nodeType="withEffect" fill="hold">
                            <p:stCondLst>
                              <p:cond delay="0"/>
                            </p:stCondLst>
                            <p:childTnLst>
                              <p:par>
                                <p:cTn id="49" nodeType="clickEffect" fill="hold" presetClass="entr" presetID="22" presetSubtype="8">
                                  <p:stCondLst>
                                    <p:cond delay="0"/>
                                  </p:stCondLst>
                                  <p:childTnLst>
                                    <p:set>
                                      <p:cBhvr>
                                        <p:cTn id="50" dur="1" fill="hold">
                                          <p:stCondLst>
                                            <p:cond delay="0"/>
                                          </p:stCondLst>
                                        </p:cTn>
                                        <p:tgtEl>
                                          <p:spTgt spid="43">
                                            <p:txEl>
                                              <p:pRg st="1" end="1"/>
                                            </p:txEl>
                                          </p:spTgt>
                                        </p:tgtEl>
                                        <p:attrNameLst>
                                          <p:attrName>style.visibility</p:attrName>
                                        </p:attrNameLst>
                                      </p:cBhvr>
                                      <p:to>
                                        <p:strVal val="visible"/>
                                      </p:to>
                                    </p:set>
                                    <p:animEffect filter="wipe(left)" transition="in">
                                      <p:cBhvr additive="repl">
                                        <p:cTn id="51" dur="500"/>
                                        <p:tgtEl>
                                          <p:spTgt spid="43">
                                            <p:txEl>
                                              <p:pRg st="1" end="1"/>
                                            </p:txEl>
                                          </p:spTgt>
                                        </p:tgtEl>
                                      </p:cBhvr>
                                    </p:animEffect>
                                  </p:childTnLst>
                                </p:cTn>
                              </p:par>
                            </p:childTnLst>
                          </p:cTn>
                        </p:par>
                      </p:childTnLst>
                    </p:cTn>
                  </p:par>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43">
                                            <p:txEl>
                                              <p:pRg st="2" end="2"/>
                                            </p:txEl>
                                          </p:spTgt>
                                        </p:tgtEl>
                                        <p:attrNameLst>
                                          <p:attrName>style.visibility</p:attrName>
                                        </p:attrNameLst>
                                      </p:cBhvr>
                                      <p:to>
                                        <p:strVal val="visible"/>
                                      </p:to>
                                    </p:set>
                                    <p:animEffect filter="wipe(left)" transition="in">
                                      <p:cBhvr additive="repl">
                                        <p:cTn id="56" dur="500"/>
                                        <p:tgtEl>
                                          <p:spTgt spid="43">
                                            <p:txEl>
                                              <p:pRg st="2" end="2"/>
                                            </p:txEl>
                                          </p:spTgt>
                                        </p:tgtEl>
                                      </p:cBhvr>
                                    </p:animEffect>
                                  </p:childTnLst>
                                </p:cTn>
                              </p:par>
                            </p:childTnLst>
                          </p:cTn>
                        </p:par>
                      </p:childTnLst>
                    </p:cTn>
                  </p:par>
                  <p:par>
                    <p:cTn id="57" nodeType="clickEffect" fill="hold">
                      <p:stCondLst>
                        <p:cond delay="indefinite"/>
                      </p:stCondLst>
                      <p:childTnLst>
                        <p:par>
                          <p:cTn id="58" nodeType="withEffect" fill="hold">
                            <p:stCondLst>
                              <p:cond delay="0"/>
                            </p:stCondLst>
                            <p:childTnLst>
                              <p:par>
                                <p:cTn id="59" nodeType="clickEffect" fill="hold" presetClass="entr" presetID="22" presetSubtype="8">
                                  <p:stCondLst>
                                    <p:cond delay="0"/>
                                  </p:stCondLst>
                                  <p:childTnLst>
                                    <p:set>
                                      <p:cBhvr>
                                        <p:cTn id="60" dur="1" fill="hold">
                                          <p:stCondLst>
                                            <p:cond delay="0"/>
                                          </p:stCondLst>
                                        </p:cTn>
                                        <p:tgtEl>
                                          <p:spTgt spid="43">
                                            <p:txEl>
                                              <p:pRg st="3" end="3"/>
                                            </p:txEl>
                                          </p:spTgt>
                                        </p:tgtEl>
                                        <p:attrNameLst>
                                          <p:attrName>style.visibility</p:attrName>
                                        </p:attrNameLst>
                                      </p:cBhvr>
                                      <p:to>
                                        <p:strVal val="visible"/>
                                      </p:to>
                                    </p:set>
                                    <p:animEffect filter="wipe(left)" transition="in">
                                      <p:cBhvr additive="repl">
                                        <p:cTn id="61" dur="500"/>
                                        <p:tgtEl>
                                          <p:spTgt spid="43">
                                            <p:txEl>
                                              <p:pRg st="3" end="3"/>
                                            </p:txEl>
                                          </p:spTgt>
                                        </p:tgtEl>
                                      </p:cBhvr>
                                    </p:animEffect>
                                  </p:childTnLst>
                                </p:cTn>
                              </p:par>
                            </p:childTnLst>
                          </p:cTn>
                        </p:par>
                      </p:childTnLst>
                    </p:cTn>
                  </p:par>
                  <p:par>
                    <p:cTn id="62" nodeType="clickEffect" fill="hold">
                      <p:stCondLst>
                        <p:cond delay="indefinite"/>
                      </p:stCondLst>
                      <p:childTnLst>
                        <p:par>
                          <p:cTn id="63" nodeType="withEffect" fill="hold">
                            <p:stCondLst>
                              <p:cond delay="0"/>
                            </p:stCondLst>
                            <p:childTnLst>
                              <p:par>
                                <p:cTn id="64" nodeType="clickEffect" fill="hold" presetClass="entr" presetID="22" presetSubtype="8">
                                  <p:stCondLst>
                                    <p:cond delay="0"/>
                                  </p:stCondLst>
                                  <p:childTnLst>
                                    <p:set>
                                      <p:cBhvr>
                                        <p:cTn id="65" dur="1" fill="hold">
                                          <p:stCondLst>
                                            <p:cond delay="0"/>
                                          </p:stCondLst>
                                        </p:cTn>
                                        <p:tgtEl>
                                          <p:spTgt spid="43">
                                            <p:txEl>
                                              <p:pRg st="4" end="4"/>
                                            </p:txEl>
                                          </p:spTgt>
                                        </p:tgtEl>
                                        <p:attrNameLst>
                                          <p:attrName>style.visibility</p:attrName>
                                        </p:attrNameLst>
                                      </p:cBhvr>
                                      <p:to>
                                        <p:strVal val="visible"/>
                                      </p:to>
                                    </p:set>
                                    <p:animEffect filter="wipe(left)" transition="in">
                                      <p:cBhvr additive="repl">
                                        <p:cTn id="66" dur="500"/>
                                        <p:tgtEl>
                                          <p:spTgt spid="43">
                                            <p:txEl>
                                              <p:pRg st="4" end="4"/>
                                            </p:txEl>
                                          </p:spTgt>
                                        </p:tgtEl>
                                      </p:cBhvr>
                                    </p:animEffect>
                                  </p:childTnLst>
                                </p:cTn>
                              </p:par>
                            </p:childTnLst>
                          </p:cTn>
                        </p:par>
                      </p:childTnLst>
                    </p:cTn>
                  </p:par>
                  <p:par>
                    <p:cTn id="67" nodeType="clickEffect" fill="hold">
                      <p:stCondLst>
                        <p:cond delay="indefinite"/>
                      </p:stCondLst>
                      <p:childTnLst>
                        <p:par>
                          <p:cTn id="68" nodeType="withEffect" fill="hold">
                            <p:stCondLst>
                              <p:cond delay="0"/>
                            </p:stCondLst>
                            <p:childTnLst>
                              <p:par>
                                <p:cTn id="69" nodeType="clickEffect" fill="hold" presetClass="entr" presetID="22" presetSubtype="8">
                                  <p:stCondLst>
                                    <p:cond delay="0"/>
                                  </p:stCondLst>
                                  <p:childTnLst>
                                    <p:set>
                                      <p:cBhvr>
                                        <p:cTn id="70" dur="1" fill="hold">
                                          <p:stCondLst>
                                            <p:cond delay="0"/>
                                          </p:stCondLst>
                                        </p:cTn>
                                        <p:tgtEl>
                                          <p:spTgt spid="43">
                                            <p:txEl>
                                              <p:pRg st="5" end="5"/>
                                            </p:txEl>
                                          </p:spTgt>
                                        </p:tgtEl>
                                        <p:attrNameLst>
                                          <p:attrName>style.visibility</p:attrName>
                                        </p:attrNameLst>
                                      </p:cBhvr>
                                      <p:to>
                                        <p:strVal val="visible"/>
                                      </p:to>
                                    </p:set>
                                    <p:animEffect filter="wipe(left)" transition="in">
                                      <p:cBhvr additive="repl">
                                        <p:cTn id="71" dur="500"/>
                                        <p:tgtEl>
                                          <p:spTgt spid="43">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Other Market Types</a:t>
            </a:r>
            <a:endParaRPr b="1" lang="en-CA" sz="2800" strike="noStrike" u="none">
              <a:solidFill>
                <a:srgbClr val="fb1b2a"/>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Monopoly</a:t>
            </a:r>
            <a:r>
              <a:rPr b="0" lang="en-US" sz="2400" strike="noStrike" u="none">
                <a:solidFill>
                  <a:schemeClr val="dk1"/>
                </a:solidFill>
                <a:effectLst/>
                <a:uFillTx/>
                <a:latin typeface="Arial"/>
                <a:ea typeface="ＭＳ Ｐゴシック"/>
              </a:rPr>
              <a:t> is a market for a good or service that has no close substitutes and in which there is one supplier that is protected from competition by a barrier preventing the entry of new firms. </a:t>
            </a:r>
            <a:endParaRPr b="1" lang="en-CA" sz="2400" strike="noStrike" u="none">
              <a:solidFill>
                <a:srgbClr val="fb1b2a"/>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Monopolistic competition</a:t>
            </a:r>
            <a:r>
              <a:rPr b="0" lang="en-US" sz="2400" strike="noStrike" u="none">
                <a:solidFill>
                  <a:schemeClr val="dk1"/>
                </a:solidFill>
                <a:effectLst/>
                <a:uFillTx/>
                <a:latin typeface="Arial"/>
                <a:ea typeface="ＭＳ Ｐゴシック"/>
              </a:rPr>
              <a:t> is a market in which a large number of firms compete by making similar but slightly different products.</a:t>
            </a:r>
            <a:endParaRPr b="1" lang="en-CA" sz="2400" strike="noStrike" u="none">
              <a:solidFill>
                <a:srgbClr val="fb1b2a"/>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ＭＳ Ｐゴシック"/>
              </a:rPr>
              <a:t>Oligopoly</a:t>
            </a:r>
            <a:r>
              <a:rPr b="0" lang="en-US" sz="2400" strike="noStrike" u="none">
                <a:solidFill>
                  <a:schemeClr val="dk1"/>
                </a:solidFill>
                <a:effectLst/>
                <a:uFillTx/>
                <a:latin typeface="Arial"/>
                <a:ea typeface="ＭＳ Ｐゴシック"/>
              </a:rPr>
              <a:t> is a market in which a small number of firms compete.</a:t>
            </a:r>
            <a:endParaRPr b="1" lang="en-CA" sz="2400" strike="noStrike" u="none">
              <a:solidFill>
                <a:srgbClr val="fb1b2a"/>
              </a:solidFill>
              <a:effectLst/>
              <a:uFillTx/>
              <a:latin typeface="Arial"/>
            </a:endParaRPr>
          </a:p>
        </p:txBody>
      </p:sp>
      <p:sp>
        <p:nvSpPr>
          <p:cNvPr id="47" name="Line 3079"/>
          <p:cNvSpPr/>
          <p:nvPr/>
        </p:nvSpPr>
        <p:spPr>
          <a:xfrm>
            <a:off x="533160" y="99036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000" strike="noStrike" u="none">
              <a:solidFill>
                <a:schemeClr val="dk1"/>
              </a:solidFill>
              <a:effectLst/>
              <a:uFillTx/>
              <a:latin typeface="Arial"/>
              <a:ea typeface="ＭＳ Ｐゴシック"/>
            </a:endParaRPr>
          </a:p>
        </p:txBody>
      </p:sp>
      <p:sp>
        <p:nvSpPr>
          <p:cNvPr id="48" name="Text Box 3080"/>
          <p:cNvSpPr/>
          <p:nvPr/>
        </p:nvSpPr>
        <p:spPr>
          <a:xfrm>
            <a:off x="533520" y="5014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MARKET TYPES</a:t>
            </a:r>
            <a:endParaRPr b="0" lang="en-US" sz="2600" strike="noStrike" u="none">
              <a:solidFill>
                <a:srgbClr val="000000"/>
              </a:solidFill>
              <a:effectLst/>
              <a:uFillTx/>
              <a:latin typeface="Arial"/>
            </a:endParaRPr>
          </a:p>
        </p:txBody>
      </p:sp>
    </p:spTree>
  </p:cSld>
  <p:transition spd="slow">
    <p:wipe dir="r"/>
  </p:transition>
  <p:timing>
    <p:tnLst>
      <p:par>
        <p:cTn id="72" dur="indefinite" restart="never" nodeType="tmRoot">
          <p:childTnLst>
            <p:seq>
              <p:cTn id="73" dur="indefinite" nodeType="mainSeq">
                <p:childTnLst>
                  <p:par>
                    <p:cTn id="74" nodeType="clickEffect" fill="hold">
                      <p:stCondLst>
                        <p:cond delay="indefinite"/>
                      </p:stCondLst>
                      <p:childTnLst>
                        <p:par>
                          <p:cTn id="75" nodeType="withEffect" fill="hold">
                            <p:stCondLst>
                              <p:cond delay="0"/>
                            </p:stCondLst>
                            <p:childTnLst>
                              <p:par>
                                <p:cTn id="76" nodeType="clickEffect" fill="hold" presetClass="entr" presetID="22" presetSubtype="8">
                                  <p:stCondLst>
                                    <p:cond delay="0"/>
                                  </p:stCondLst>
                                  <p:childTnLst>
                                    <p:set>
                                      <p:cBhvr>
                                        <p:cTn id="77" dur="1" fill="hold">
                                          <p:stCondLst>
                                            <p:cond delay="0"/>
                                          </p:stCondLst>
                                        </p:cTn>
                                        <p:tgtEl>
                                          <p:spTgt spid="46">
                                            <p:txEl>
                                              <p:pRg st="1" end="1"/>
                                            </p:txEl>
                                          </p:spTgt>
                                        </p:tgtEl>
                                        <p:attrNameLst>
                                          <p:attrName>style.visibility</p:attrName>
                                        </p:attrNameLst>
                                      </p:cBhvr>
                                      <p:to>
                                        <p:strVal val="visible"/>
                                      </p:to>
                                    </p:set>
                                    <p:animEffect filter="wipe(left)" transition="in">
                                      <p:cBhvr additive="repl">
                                        <p:cTn id="78" dur="500"/>
                                        <p:tgtEl>
                                          <p:spTgt spid="46">
                                            <p:txEl>
                                              <p:pRg st="1" end="1"/>
                                            </p:txEl>
                                          </p:spTgt>
                                        </p:tgtEl>
                                      </p:cBhvr>
                                    </p:animEffect>
                                  </p:childTnLst>
                                </p:cTn>
                              </p:par>
                            </p:childTnLst>
                          </p:cTn>
                        </p:par>
                      </p:childTnLst>
                    </p:cTn>
                  </p:par>
                  <p:par>
                    <p:cTn id="79" nodeType="clickEffect" fill="hold">
                      <p:stCondLst>
                        <p:cond delay="indefinite"/>
                      </p:stCondLst>
                      <p:childTnLst>
                        <p:par>
                          <p:cTn id="80" nodeType="withEffect" fill="hold">
                            <p:stCondLst>
                              <p:cond delay="0"/>
                            </p:stCondLst>
                            <p:childTnLst>
                              <p:par>
                                <p:cTn id="81" nodeType="clickEffect" fill="hold" presetClass="entr" presetID="22" presetSubtype="8">
                                  <p:stCondLst>
                                    <p:cond delay="0"/>
                                  </p:stCondLst>
                                  <p:childTnLst>
                                    <p:set>
                                      <p:cBhvr>
                                        <p:cTn id="82" dur="1" fill="hold">
                                          <p:stCondLst>
                                            <p:cond delay="0"/>
                                          </p:stCondLst>
                                        </p:cTn>
                                        <p:tgtEl>
                                          <p:spTgt spid="46">
                                            <p:txEl>
                                              <p:pRg st="2" end="2"/>
                                            </p:txEl>
                                          </p:spTgt>
                                        </p:tgtEl>
                                        <p:attrNameLst>
                                          <p:attrName>style.visibility</p:attrName>
                                        </p:attrNameLst>
                                      </p:cBhvr>
                                      <p:to>
                                        <p:strVal val="visible"/>
                                      </p:to>
                                    </p:set>
                                    <p:animEffect filter="wipe(left)" transition="in">
                                      <p:cBhvr additive="repl">
                                        <p:cTn id="83" dur="500"/>
                                        <p:tgtEl>
                                          <p:spTgt spid="46">
                                            <p:txEl>
                                              <p:pRg st="2" end="2"/>
                                            </p:txEl>
                                          </p:spTgt>
                                        </p:tgtEl>
                                      </p:cBhvr>
                                    </p:animEffect>
                                  </p:childTnLst>
                                </p:cTn>
                              </p:par>
                            </p:childTnLst>
                          </p:cTn>
                        </p:par>
                      </p:childTnLst>
                    </p:cTn>
                  </p:par>
                  <p:par>
                    <p:cTn id="84" nodeType="clickEffect" fill="hold">
                      <p:stCondLst>
                        <p:cond delay="indefinite"/>
                      </p:stCondLst>
                      <p:childTnLst>
                        <p:par>
                          <p:cTn id="85" nodeType="withEffect" fill="hold">
                            <p:stCondLst>
                              <p:cond delay="0"/>
                            </p:stCondLst>
                            <p:childTnLst>
                              <p:par>
                                <p:cTn id="86" nodeType="clickEffect" fill="hold" presetClass="entr" presetID="22" presetSubtype="8">
                                  <p:stCondLst>
                                    <p:cond delay="0"/>
                                  </p:stCondLst>
                                  <p:childTnLst>
                                    <p:set>
                                      <p:cBhvr>
                                        <p:cTn id="87" dur="1" fill="hold">
                                          <p:stCondLst>
                                            <p:cond delay="0"/>
                                          </p:stCondLst>
                                        </p:cTn>
                                        <p:tgtEl>
                                          <p:spTgt spid="46">
                                            <p:txEl>
                                              <p:pRg st="3" end="3"/>
                                            </p:txEl>
                                          </p:spTgt>
                                        </p:tgtEl>
                                        <p:attrNameLst>
                                          <p:attrName>style.visibility</p:attrName>
                                        </p:attrNameLst>
                                      </p:cBhvr>
                                      <p:to>
                                        <p:strVal val="visible"/>
                                      </p:to>
                                    </p:set>
                                    <p:animEffect filter="wipe(left)" transition="in">
                                      <p:cBhvr additive="repl">
                                        <p:cTn id="88" dur="500"/>
                                        <p:tgtEl>
                                          <p:spTgt spid="4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5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Price Taker</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1" lang="en-US" sz="2400" strike="noStrike" u="none">
                <a:solidFill>
                  <a:srgbClr val="ff0000"/>
                </a:solidFill>
                <a:effectLst/>
                <a:uFillTx/>
                <a:latin typeface="Arial"/>
                <a:ea typeface="ＭＳ Ｐゴシック"/>
              </a:rPr>
              <a:t>price taker</a:t>
            </a:r>
            <a:r>
              <a:rPr b="0" lang="en-US" sz="2400" strike="noStrike" u="none">
                <a:solidFill>
                  <a:schemeClr val="dk1"/>
                </a:solidFill>
                <a:effectLst/>
                <a:uFillTx/>
                <a:latin typeface="Arial"/>
                <a:ea typeface="ＭＳ Ｐゴシック"/>
              </a:rPr>
              <a:t> is a firm that cannot influence the price of the good or service that it produces.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firm in perfect competition is a price taker.</a:t>
            </a:r>
            <a:endParaRPr b="1" lang="en-CA" sz="2400" strike="noStrike" u="none">
              <a:solidFill>
                <a:srgbClr val="00468f"/>
              </a:solidFill>
              <a:effectLst/>
              <a:uFillTx/>
              <a:latin typeface="Arial"/>
            </a:endParaRPr>
          </a:p>
        </p:txBody>
      </p:sp>
    </p:spTree>
  </p:cSld>
  <p:transition spd="slow">
    <p:wipe dir="r"/>
  </p:transition>
  <p:timing>
    <p:tnLst>
      <p:par>
        <p:cTn id="89" dur="indefinite" restart="never" nodeType="tmRoot">
          <p:childTnLst>
            <p:seq>
              <p:cTn id="90" dur="indefinite" nodeType="mainSeq">
                <p:childTnLst>
                  <p:par>
                    <p:cTn id="91" nodeType="clickEffect" fill="hold">
                      <p:stCondLst>
                        <p:cond delay="indefinite"/>
                      </p:stCondLst>
                      <p:childTnLst>
                        <p:par>
                          <p:cTn id="92" nodeType="withEffect" fill="hold">
                            <p:stCondLst>
                              <p:cond delay="0"/>
                            </p:stCondLst>
                            <p:childTnLst>
                              <p:par>
                                <p:cTn id="93" nodeType="clickEffect" fill="hold" presetClass="entr" presetID="22" presetSubtype="8">
                                  <p:stCondLst>
                                    <p:cond delay="0"/>
                                  </p:stCondLst>
                                  <p:childTnLst>
                                    <p:set>
                                      <p:cBhvr>
                                        <p:cTn id="94" dur="1" fill="hold">
                                          <p:stCondLst>
                                            <p:cond delay="0"/>
                                          </p:stCondLst>
                                        </p:cTn>
                                        <p:tgtEl>
                                          <p:spTgt spid="50">
                                            <p:txEl>
                                              <p:pRg st="1" end="1"/>
                                            </p:txEl>
                                          </p:spTgt>
                                        </p:tgtEl>
                                        <p:attrNameLst>
                                          <p:attrName>style.visibility</p:attrName>
                                        </p:attrNameLst>
                                      </p:cBhvr>
                                      <p:to>
                                        <p:strVal val="visible"/>
                                      </p:to>
                                    </p:set>
                                    <p:animEffect filter="wipe(left)" transition="in">
                                      <p:cBhvr additive="repl">
                                        <p:cTn id="95" dur="500"/>
                                        <p:tgtEl>
                                          <p:spTgt spid="50">
                                            <p:txEl>
                                              <p:pRg st="1" end="1"/>
                                            </p:txEl>
                                          </p:spTgt>
                                        </p:tgtEl>
                                      </p:cBhvr>
                                    </p:animEffect>
                                  </p:childTnLst>
                                </p:cTn>
                              </p:par>
                            </p:childTnLst>
                          </p:cTn>
                        </p:par>
                      </p:childTnLst>
                    </p:cTn>
                  </p:par>
                  <p:par>
                    <p:cTn id="96" nodeType="clickEffect" fill="hold">
                      <p:stCondLst>
                        <p:cond delay="indefinite"/>
                      </p:stCondLst>
                      <p:childTnLst>
                        <p:par>
                          <p:cTn id="97" nodeType="withEffect" fill="hold">
                            <p:stCondLst>
                              <p:cond delay="0"/>
                            </p:stCondLst>
                            <p:childTnLst>
                              <p:par>
                                <p:cTn id="98" nodeType="clickEffect" fill="hold" presetClass="entr" presetID="22" presetSubtype="8">
                                  <p:stCondLst>
                                    <p:cond delay="0"/>
                                  </p:stCondLst>
                                  <p:childTnLst>
                                    <p:set>
                                      <p:cBhvr>
                                        <p:cTn id="99" dur="1" fill="hold">
                                          <p:stCondLst>
                                            <p:cond delay="0"/>
                                          </p:stCondLst>
                                        </p:cTn>
                                        <p:tgtEl>
                                          <p:spTgt spid="50">
                                            <p:txEl>
                                              <p:pRg st="2" end="2"/>
                                            </p:txEl>
                                          </p:spTgt>
                                        </p:tgtEl>
                                        <p:attrNameLst>
                                          <p:attrName>style.visibility</p:attrName>
                                        </p:attrNameLst>
                                      </p:cBhvr>
                                      <p:to>
                                        <p:strVal val="visible"/>
                                      </p:to>
                                    </p:set>
                                    <p:animEffect filter="wipe(left)" transition="in">
                                      <p:cBhvr additive="repl">
                                        <p:cTn id="100" dur="500"/>
                                        <p:tgtEl>
                                          <p:spTgt spid="50">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5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Revenue Concepts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perfect competition, market demand and market supply determine price.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firm’s total revenue equals the market price multiplied by the quantity sold.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firm’s </a:t>
            </a:r>
            <a:r>
              <a:rPr b="1" lang="en-US" sz="2400" strike="noStrike" u="none">
                <a:solidFill>
                  <a:srgbClr val="ff0000"/>
                </a:solidFill>
                <a:effectLst/>
                <a:uFillTx/>
                <a:latin typeface="Arial"/>
                <a:ea typeface="ＭＳ Ｐゴシック"/>
              </a:rPr>
              <a:t>marginal revenue</a:t>
            </a:r>
            <a:r>
              <a:rPr b="0" lang="en-US" sz="2400" strike="noStrike" u="none">
                <a:solidFill>
                  <a:schemeClr val="dk1"/>
                </a:solidFill>
                <a:effectLst/>
                <a:uFillTx/>
                <a:latin typeface="Arial"/>
                <a:ea typeface="ＭＳ Ｐゴシック"/>
              </a:rPr>
              <a:t> is the change in total revenue that results from a one-unit increase in the quantity sold.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15.1 on the next slide illustrates the revenue concepts.</a:t>
            </a:r>
            <a:endParaRPr b="1" lang="en-CA" sz="2400" strike="noStrike" u="none">
              <a:solidFill>
                <a:srgbClr val="00468f"/>
              </a:solidFill>
              <a:effectLst/>
              <a:uFillTx/>
              <a:latin typeface="Arial"/>
            </a:endParaRPr>
          </a:p>
        </p:txBody>
      </p:sp>
    </p:spTree>
  </p:cSld>
  <p:transition spd="slow">
    <p:wipe dir="r"/>
  </p:transition>
  <p:timing>
    <p:tnLst>
      <p:par>
        <p:cTn id="101" dur="indefinite" restart="never" nodeType="tmRoot">
          <p:childTnLst>
            <p:seq>
              <p:cTn id="102" dur="indefinite" nodeType="mainSeq">
                <p:childTnLst>
                  <p:par>
                    <p:cTn id="103" nodeType="clickEffect" fill="hold">
                      <p:stCondLst>
                        <p:cond delay="indefinite"/>
                      </p:stCondLst>
                      <p:childTnLst>
                        <p:par>
                          <p:cTn id="104" nodeType="withEffect" fill="hold">
                            <p:stCondLst>
                              <p:cond delay="0"/>
                            </p:stCondLst>
                            <p:childTnLst>
                              <p:par>
                                <p:cTn id="105" nodeType="clickEffect" fill="hold" presetClass="entr" presetID="22" presetSubtype="8">
                                  <p:stCondLst>
                                    <p:cond delay="0"/>
                                  </p:stCondLst>
                                  <p:childTnLst>
                                    <p:set>
                                      <p:cBhvr>
                                        <p:cTn id="106" dur="1" fill="hold">
                                          <p:stCondLst>
                                            <p:cond delay="0"/>
                                          </p:stCondLst>
                                        </p:cTn>
                                        <p:tgtEl>
                                          <p:spTgt spid="52">
                                            <p:txEl>
                                              <p:pRg st="1" end="1"/>
                                            </p:txEl>
                                          </p:spTgt>
                                        </p:tgtEl>
                                        <p:attrNameLst>
                                          <p:attrName>style.visibility</p:attrName>
                                        </p:attrNameLst>
                                      </p:cBhvr>
                                      <p:to>
                                        <p:strVal val="visible"/>
                                      </p:to>
                                    </p:set>
                                    <p:animEffect filter="wipe(left)" transition="in">
                                      <p:cBhvr additive="repl">
                                        <p:cTn id="107" dur="500"/>
                                        <p:tgtEl>
                                          <p:spTgt spid="52">
                                            <p:txEl>
                                              <p:pRg st="1" end="1"/>
                                            </p:txEl>
                                          </p:spTgt>
                                        </p:tgtEl>
                                      </p:cBhvr>
                                    </p:animEffect>
                                  </p:childTnLst>
                                </p:cTn>
                              </p:par>
                            </p:childTnLst>
                          </p:cTn>
                        </p:par>
                      </p:childTnLst>
                    </p:cTn>
                  </p:par>
                  <p:par>
                    <p:cTn id="108" nodeType="clickEffect" fill="hold">
                      <p:stCondLst>
                        <p:cond delay="indefinite"/>
                      </p:stCondLst>
                      <p:childTnLst>
                        <p:par>
                          <p:cTn id="109" nodeType="withEffect" fill="hold">
                            <p:stCondLst>
                              <p:cond delay="0"/>
                            </p:stCondLst>
                            <p:childTnLst>
                              <p:par>
                                <p:cTn id="110" nodeType="clickEffect" fill="hold" presetClass="entr" presetID="22" presetSubtype="8">
                                  <p:stCondLst>
                                    <p:cond delay="0"/>
                                  </p:stCondLst>
                                  <p:childTnLst>
                                    <p:set>
                                      <p:cBhvr>
                                        <p:cTn id="111" dur="1" fill="hold">
                                          <p:stCondLst>
                                            <p:cond delay="0"/>
                                          </p:stCondLst>
                                        </p:cTn>
                                        <p:tgtEl>
                                          <p:spTgt spid="52">
                                            <p:txEl>
                                              <p:pRg st="2" end="2"/>
                                            </p:txEl>
                                          </p:spTgt>
                                        </p:tgtEl>
                                        <p:attrNameLst>
                                          <p:attrName>style.visibility</p:attrName>
                                        </p:attrNameLst>
                                      </p:cBhvr>
                                      <p:to>
                                        <p:strVal val="visible"/>
                                      </p:to>
                                    </p:set>
                                    <p:animEffect filter="wipe(left)" transition="in">
                                      <p:cBhvr additive="repl">
                                        <p:cTn id="112" dur="500"/>
                                        <p:tgtEl>
                                          <p:spTgt spid="52">
                                            <p:txEl>
                                              <p:pRg st="2" end="2"/>
                                            </p:txEl>
                                          </p:spTgt>
                                        </p:tgtEl>
                                      </p:cBhvr>
                                    </p:animEffect>
                                  </p:childTnLst>
                                </p:cTn>
                              </p:par>
                            </p:childTnLst>
                          </p:cTn>
                        </p:par>
                      </p:childTnLst>
                    </p:cTn>
                  </p:par>
                  <p:par>
                    <p:cTn id="113" nodeType="clickEffect" fill="hold">
                      <p:stCondLst>
                        <p:cond delay="indefinite"/>
                      </p:stCondLst>
                      <p:childTnLst>
                        <p:par>
                          <p:cTn id="114" nodeType="withEffect" fill="hold">
                            <p:stCondLst>
                              <p:cond delay="0"/>
                            </p:stCondLst>
                            <p:childTnLst>
                              <p:par>
                                <p:cTn id="115" nodeType="clickEffect" fill="hold" presetClass="entr" presetID="22" presetSubtype="8">
                                  <p:stCondLst>
                                    <p:cond delay="0"/>
                                  </p:stCondLst>
                                  <p:childTnLst>
                                    <p:set>
                                      <p:cBhvr>
                                        <p:cTn id="116" dur="1" fill="hold">
                                          <p:stCondLst>
                                            <p:cond delay="0"/>
                                          </p:stCondLst>
                                        </p:cTn>
                                        <p:tgtEl>
                                          <p:spTgt spid="52">
                                            <p:txEl>
                                              <p:pRg st="3" end="3"/>
                                            </p:txEl>
                                          </p:spTgt>
                                        </p:tgtEl>
                                        <p:attrNameLst>
                                          <p:attrName>style.visibility</p:attrName>
                                        </p:attrNameLst>
                                      </p:cBhvr>
                                      <p:to>
                                        <p:strVal val="visible"/>
                                      </p:to>
                                    </p:set>
                                    <p:animEffect filter="wipe(left)" transition="in">
                                      <p:cBhvr additive="repl">
                                        <p:cTn id="117" dur="500"/>
                                        <p:tgtEl>
                                          <p:spTgt spid="52">
                                            <p:txEl>
                                              <p:pRg st="3" end="3"/>
                                            </p:txEl>
                                          </p:spTgt>
                                        </p:tgtEl>
                                      </p:cBhvr>
                                    </p:animEffect>
                                  </p:childTnLst>
                                </p:cTn>
                              </p:par>
                            </p:childTnLst>
                          </p:cTn>
                        </p:par>
                      </p:childTnLst>
                    </p:cTn>
                  </p:par>
                  <p:par>
                    <p:cTn id="118" nodeType="clickEffect" fill="hold">
                      <p:stCondLst>
                        <p:cond delay="indefinite"/>
                      </p:stCondLst>
                      <p:childTnLst>
                        <p:par>
                          <p:cTn id="119" nodeType="withEffect" fill="hold">
                            <p:stCondLst>
                              <p:cond delay="0"/>
                            </p:stCondLst>
                            <p:childTnLst>
                              <p:par>
                                <p:cTn id="120" nodeType="clickEffect" fill="hold" presetClass="entr" presetID="22" presetSubtype="8">
                                  <p:stCondLst>
                                    <p:cond delay="0"/>
                                  </p:stCondLst>
                                  <p:childTnLst>
                                    <p:set>
                                      <p:cBhvr>
                                        <p:cTn id="121" dur="1" fill="hold">
                                          <p:stCondLst>
                                            <p:cond delay="0"/>
                                          </p:stCondLst>
                                        </p:cTn>
                                        <p:tgtEl>
                                          <p:spTgt spid="52">
                                            <p:txEl>
                                              <p:pRg st="4" end="4"/>
                                            </p:txEl>
                                          </p:spTgt>
                                        </p:tgtEl>
                                        <p:attrNameLst>
                                          <p:attrName>style.visibility</p:attrName>
                                        </p:attrNameLst>
                                      </p:cBhvr>
                                      <p:to>
                                        <p:strVal val="visible"/>
                                      </p:to>
                                    </p:set>
                                    <p:animEffect filter="wipe(left)" transition="in">
                                      <p:cBhvr additive="repl">
                                        <p:cTn id="122" dur="500"/>
                                        <p:tgtEl>
                                          <p:spTgt spid="5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54"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indent="0">
              <a:lnSpc>
                <a:spcPct val="100000"/>
              </a:lnSpc>
              <a:buNone/>
              <a:tabLst>
                <a:tab algn="l" pos="0"/>
              </a:tabLst>
            </a:pPr>
            <a:r>
              <a:rPr b="0" lang="en-US" sz="2400" strike="noStrike" u="none">
                <a:solidFill>
                  <a:srgbClr val="000000"/>
                </a:solidFill>
                <a:effectLst/>
                <a:uFillTx/>
                <a:latin typeface="Arial"/>
                <a:ea typeface="ＭＳ Ｐゴシック"/>
              </a:rPr>
              <a:t>Part (a) shows the market for syrup. The market price is $8 a can.</a:t>
            </a:r>
            <a:endParaRPr b="1" lang="en-CA" sz="2400" strike="noStrike" u="none">
              <a:solidFill>
                <a:srgbClr val="00468f"/>
              </a:solidFill>
              <a:effectLst/>
              <a:uFillTx/>
              <a:latin typeface="Arial"/>
            </a:endParaRPr>
          </a:p>
        </p:txBody>
      </p:sp>
      <p:pic>
        <p:nvPicPr>
          <p:cNvPr id="55" name="Picture 6" descr=""/>
          <p:cNvPicPr/>
          <p:nvPr/>
        </p:nvPicPr>
        <p:blipFill>
          <a:blip r:embed="rId1"/>
          <a:stretch/>
        </p:blipFill>
        <p:spPr>
          <a:xfrm>
            <a:off x="914400" y="2411280"/>
            <a:ext cx="7171920" cy="4122360"/>
          </a:xfrm>
          <a:prstGeom prst="rect">
            <a:avLst/>
          </a:prstGeom>
          <a:noFill/>
          <a:ln w="0">
            <a:noFill/>
          </a:ln>
        </p:spPr>
      </p:pic>
      <p:pic>
        <p:nvPicPr>
          <p:cNvPr id="56" name="Picture 7" descr=""/>
          <p:cNvPicPr/>
          <p:nvPr/>
        </p:nvPicPr>
        <p:blipFill>
          <a:blip r:embed="rId2"/>
          <a:stretch/>
        </p:blipFill>
        <p:spPr>
          <a:xfrm>
            <a:off x="914400" y="2411280"/>
            <a:ext cx="7171920" cy="4122360"/>
          </a:xfrm>
          <a:prstGeom prst="rect">
            <a:avLst/>
          </a:prstGeom>
          <a:noFill/>
          <a:ln w="0">
            <a:noFill/>
          </a:ln>
        </p:spPr>
      </p:pic>
    </p:spTree>
  </p:cSld>
  <p:transition spd="slow">
    <p:wipe dir="r"/>
  </p:transition>
  <p:timing>
    <p:tnLst>
      <p:par>
        <p:cTn id="123" dur="indefinite" restart="never" nodeType="tmRoot">
          <p:childTnLst>
            <p:seq>
              <p:cTn id="124" dur="indefinite" nodeType="mainSeq">
                <p:childTnLst>
                  <p:par>
                    <p:cTn id="125" nodeType="clickEffect" fill="hold">
                      <p:stCondLst>
                        <p:cond delay="0"/>
                      </p:stCondLst>
                      <p:childTnLst>
                        <p:par>
                          <p:cTn id="126" nodeType="withEffect" fill="hold">
                            <p:stCondLst>
                              <p:cond delay="0"/>
                            </p:stCondLst>
                            <p:childTnLst>
                              <p:par>
                                <p:cTn id="127" nodeType="afterEffect" fill="hold" presetClass="entr" presetID="10">
                                  <p:stCondLst>
                                    <p:cond delay="0"/>
                                  </p:stCondLst>
                                  <p:childTnLst>
                                    <p:set>
                                      <p:cBhvr>
                                        <p:cTn id="128" dur="1" fill="hold">
                                          <p:stCondLst>
                                            <p:cond delay="0"/>
                                          </p:stCondLst>
                                        </p:cTn>
                                        <p:tgtEl>
                                          <p:spTgt spid="56"/>
                                        </p:tgtEl>
                                        <p:attrNameLst>
                                          <p:attrName>style.visibility</p:attrName>
                                        </p:attrNameLst>
                                      </p:cBhvr>
                                      <p:to>
                                        <p:strVal val="visible"/>
                                      </p:to>
                                    </p:set>
                                    <p:animEffect filter="fade" transition="in">
                                      <p:cBhvr additive="repl">
                                        <p:cTn id="129" dur="5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57" name="Picture 7" descr=""/>
          <p:cNvPicPr/>
          <p:nvPr/>
        </p:nvPicPr>
        <p:blipFill>
          <a:blip r:embed="rId1"/>
          <a:stretch/>
        </p:blipFill>
        <p:spPr>
          <a:xfrm>
            <a:off x="304920" y="914400"/>
            <a:ext cx="8607240" cy="4946400"/>
          </a:xfrm>
          <a:prstGeom prst="rect">
            <a:avLst/>
          </a:prstGeom>
          <a:noFill/>
          <a:ln w="0">
            <a:noFill/>
          </a:ln>
        </p:spPr>
      </p:pic>
      <p:pic>
        <p:nvPicPr>
          <p:cNvPr id="58" name="Picture 13" descr=""/>
          <p:cNvPicPr/>
          <p:nvPr/>
        </p:nvPicPr>
        <p:blipFill>
          <a:blip r:embed="rId2"/>
          <a:stretch/>
        </p:blipFill>
        <p:spPr>
          <a:xfrm>
            <a:off x="304920" y="914400"/>
            <a:ext cx="8607240" cy="4946400"/>
          </a:xfrm>
          <a:prstGeom prst="rect">
            <a:avLst/>
          </a:prstGeom>
          <a:noFill/>
          <a:ln w="0">
            <a:noFill/>
          </a:ln>
        </p:spPr>
      </p:pic>
      <p:pic>
        <p:nvPicPr>
          <p:cNvPr id="59" name="Picture 14" descr=""/>
          <p:cNvPicPr/>
          <p:nvPr/>
        </p:nvPicPr>
        <p:blipFill>
          <a:blip r:embed="rId3"/>
          <a:stretch/>
        </p:blipFill>
        <p:spPr>
          <a:xfrm>
            <a:off x="304920" y="914400"/>
            <a:ext cx="8607240" cy="4946400"/>
          </a:xfrm>
          <a:prstGeom prst="rect">
            <a:avLst/>
          </a:prstGeom>
          <a:noFill/>
          <a:ln w="0">
            <a:noFill/>
          </a:ln>
        </p:spPr>
      </p:pic>
      <p:pic>
        <p:nvPicPr>
          <p:cNvPr id="60" name="Picture 15" descr=""/>
          <p:cNvPicPr/>
          <p:nvPr/>
        </p:nvPicPr>
        <p:blipFill>
          <a:blip r:embed="rId4"/>
          <a:stretch/>
        </p:blipFill>
        <p:spPr>
          <a:xfrm>
            <a:off x="304920" y="914400"/>
            <a:ext cx="8607240" cy="4946400"/>
          </a:xfrm>
          <a:prstGeom prst="rect">
            <a:avLst/>
          </a:prstGeom>
          <a:noFill/>
          <a:ln w="0">
            <a:noFill/>
          </a:ln>
        </p:spPr>
      </p:pic>
      <p:pic>
        <p:nvPicPr>
          <p:cNvPr id="61" name="Picture 16" descr=""/>
          <p:cNvPicPr/>
          <p:nvPr/>
        </p:nvPicPr>
        <p:blipFill>
          <a:blip r:embed="rId5"/>
          <a:stretch/>
        </p:blipFill>
        <p:spPr>
          <a:xfrm>
            <a:off x="304920" y="914400"/>
            <a:ext cx="8607240" cy="4946400"/>
          </a:xfrm>
          <a:prstGeom prst="rect">
            <a:avLst/>
          </a:prstGeom>
          <a:noFill/>
          <a:ln w="0">
            <a:noFill/>
          </a:ln>
        </p:spPr>
      </p:pic>
      <p:pic>
        <p:nvPicPr>
          <p:cNvPr id="62" name="Picture 17" descr=""/>
          <p:cNvPicPr/>
          <p:nvPr/>
        </p:nvPicPr>
        <p:blipFill>
          <a:blip r:embed="rId6"/>
          <a:stretch/>
        </p:blipFill>
        <p:spPr>
          <a:xfrm>
            <a:off x="304920" y="914400"/>
            <a:ext cx="8607240" cy="4946400"/>
          </a:xfrm>
          <a:prstGeom prst="rect">
            <a:avLst/>
          </a:prstGeom>
          <a:noFill/>
          <a:ln w="0">
            <a:noFill/>
          </a:ln>
        </p:spPr>
      </p:pic>
    </p:spTree>
  </p:cSld>
  <p:transition spd="slow">
    <p:wipe dir="r"/>
  </p:transition>
  <p:timing>
    <p:tnLst>
      <p:par>
        <p:cTn id="130" dur="indefinite" restart="never" nodeType="tmRoot">
          <p:childTnLst>
            <p:seq>
              <p:cTn id="131" dur="indefinite" nodeType="mainSeq">
                <p:childTnLst>
                  <p:par>
                    <p:cTn id="132" nodeType="clickEffect" fill="hold">
                      <p:stCondLst>
                        <p:cond delay="indefinite"/>
                      </p:stCondLst>
                      <p:childTnLst>
                        <p:par>
                          <p:cTn id="133" nodeType="withEffect" fill="hold">
                            <p:stCondLst>
                              <p:cond delay="0"/>
                            </p:stCondLst>
                            <p:childTnLst>
                              <p:par>
                                <p:cTn id="134" nodeType="clickEffect" fill="hold" presetClass="entr" presetID="10">
                                  <p:stCondLst>
                                    <p:cond delay="0"/>
                                  </p:stCondLst>
                                  <p:childTnLst>
                                    <p:set>
                                      <p:cBhvr>
                                        <p:cTn id="135" dur="1" fill="hold">
                                          <p:stCondLst>
                                            <p:cond delay="0"/>
                                          </p:stCondLst>
                                        </p:cTn>
                                        <p:tgtEl>
                                          <p:spTgt spid="58"/>
                                        </p:tgtEl>
                                        <p:attrNameLst>
                                          <p:attrName>style.visibility</p:attrName>
                                        </p:attrNameLst>
                                      </p:cBhvr>
                                      <p:to>
                                        <p:strVal val="visible"/>
                                      </p:to>
                                    </p:set>
                                    <p:animEffect filter="fade" transition="in">
                                      <p:cBhvr additive="repl">
                                        <p:cTn id="136" dur="500"/>
                                        <p:tgtEl>
                                          <p:spTgt spid="58"/>
                                        </p:tgtEl>
                                      </p:cBhvr>
                                    </p:animEffect>
                                  </p:childTnLst>
                                </p:cTn>
                              </p:par>
                            </p:childTnLst>
                          </p:cTn>
                        </p:par>
                      </p:childTnLst>
                    </p:cTn>
                  </p:par>
                  <p:par>
                    <p:cTn id="137" nodeType="clickEffect" fill="hold">
                      <p:stCondLst>
                        <p:cond delay="indefinite"/>
                      </p:stCondLst>
                      <p:childTnLst>
                        <p:par>
                          <p:cTn id="138" nodeType="withEffect" fill="hold">
                            <p:stCondLst>
                              <p:cond delay="0"/>
                            </p:stCondLst>
                            <p:childTnLst>
                              <p:par>
                                <p:cTn id="139" nodeType="clickEffect" fill="hold" presetClass="entr" presetID="10">
                                  <p:stCondLst>
                                    <p:cond delay="0"/>
                                  </p:stCondLst>
                                  <p:childTnLst>
                                    <p:set>
                                      <p:cBhvr>
                                        <p:cTn id="140" dur="1" fill="hold">
                                          <p:stCondLst>
                                            <p:cond delay="0"/>
                                          </p:stCondLst>
                                        </p:cTn>
                                        <p:tgtEl>
                                          <p:spTgt spid="59"/>
                                        </p:tgtEl>
                                        <p:attrNameLst>
                                          <p:attrName>style.visibility</p:attrName>
                                        </p:attrNameLst>
                                      </p:cBhvr>
                                      <p:to>
                                        <p:strVal val="visible"/>
                                      </p:to>
                                    </p:set>
                                    <p:animEffect filter="fade" transition="in">
                                      <p:cBhvr additive="repl">
                                        <p:cTn id="141" dur="500"/>
                                        <p:tgtEl>
                                          <p:spTgt spid="59"/>
                                        </p:tgtEl>
                                      </p:cBhvr>
                                    </p:animEffect>
                                  </p:childTnLst>
                                </p:cTn>
                              </p:par>
                            </p:childTnLst>
                          </p:cTn>
                        </p:par>
                      </p:childTnLst>
                    </p:cTn>
                  </p:par>
                  <p:par>
                    <p:cTn id="142" nodeType="clickEffect" fill="hold">
                      <p:stCondLst>
                        <p:cond delay="indefinite"/>
                      </p:stCondLst>
                      <p:childTnLst>
                        <p:par>
                          <p:cTn id="143" nodeType="withEffect" fill="hold">
                            <p:stCondLst>
                              <p:cond delay="0"/>
                            </p:stCondLst>
                            <p:childTnLst>
                              <p:par>
                                <p:cTn id="144" nodeType="clickEffect" fill="hold" presetClass="entr" presetID="22" presetSubtype="8">
                                  <p:stCondLst>
                                    <p:cond delay="0"/>
                                  </p:stCondLst>
                                  <p:childTnLst>
                                    <p:set>
                                      <p:cBhvr>
                                        <p:cTn id="145" dur="1" fill="hold">
                                          <p:stCondLst>
                                            <p:cond delay="0"/>
                                          </p:stCondLst>
                                        </p:cTn>
                                        <p:tgtEl>
                                          <p:spTgt spid="60"/>
                                        </p:tgtEl>
                                        <p:attrNameLst>
                                          <p:attrName>style.visibility</p:attrName>
                                        </p:attrNameLst>
                                      </p:cBhvr>
                                      <p:to>
                                        <p:strVal val="visible"/>
                                      </p:to>
                                    </p:set>
                                    <p:animEffect filter="wipe(left)" transition="in">
                                      <p:cBhvr additive="repl">
                                        <p:cTn id="146" dur="1000"/>
                                        <p:tgtEl>
                                          <p:spTgt spid="60"/>
                                        </p:tgtEl>
                                      </p:cBhvr>
                                    </p:animEffect>
                                  </p:childTnLst>
                                </p:cTn>
                              </p:par>
                            </p:childTnLst>
                          </p:cTn>
                        </p:par>
                      </p:childTnLst>
                    </p:cTn>
                  </p:par>
                  <p:par>
                    <p:cTn id="147" nodeType="clickEffect" fill="hold">
                      <p:stCondLst>
                        <p:cond delay="indefinite"/>
                      </p:stCondLst>
                      <p:childTnLst>
                        <p:par>
                          <p:cTn id="148" nodeType="withEffect" fill="hold">
                            <p:stCondLst>
                              <p:cond delay="0"/>
                            </p:stCondLst>
                            <p:childTnLst>
                              <p:par>
                                <p:cTn id="149" nodeType="clickEffect" fill="hold" presetClass="entr" presetID="10">
                                  <p:stCondLst>
                                    <p:cond delay="0"/>
                                  </p:stCondLst>
                                  <p:childTnLst>
                                    <p:set>
                                      <p:cBhvr>
                                        <p:cTn id="150" dur="1" fill="hold">
                                          <p:stCondLst>
                                            <p:cond delay="0"/>
                                          </p:stCondLst>
                                        </p:cTn>
                                        <p:tgtEl>
                                          <p:spTgt spid="61"/>
                                        </p:tgtEl>
                                        <p:attrNameLst>
                                          <p:attrName>style.visibility</p:attrName>
                                        </p:attrNameLst>
                                      </p:cBhvr>
                                      <p:to>
                                        <p:strVal val="visible"/>
                                      </p:to>
                                    </p:set>
                                    <p:animEffect filter="fade" transition="in">
                                      <p:cBhvr additive="repl">
                                        <p:cTn id="151" dur="500"/>
                                        <p:tgtEl>
                                          <p:spTgt spid="61"/>
                                        </p:tgtEl>
                                      </p:cBhvr>
                                    </p:animEffect>
                                  </p:childTnLst>
                                </p:cTn>
                              </p:par>
                            </p:childTnLst>
                          </p:cTn>
                        </p:par>
                      </p:childTnLst>
                    </p:cTn>
                  </p:par>
                  <p:par>
                    <p:cTn id="152" nodeType="clickEffect" fill="hold">
                      <p:stCondLst>
                        <p:cond delay="indefinite"/>
                      </p:stCondLst>
                      <p:childTnLst>
                        <p:par>
                          <p:cTn id="153" nodeType="withEffect" fill="hold">
                            <p:stCondLst>
                              <p:cond delay="0"/>
                            </p:stCondLst>
                            <p:childTnLst>
                              <p:par>
                                <p:cTn id="154" nodeType="clickEffect" fill="hold" presetClass="entr" presetID="22" presetSubtype="8">
                                  <p:stCondLst>
                                    <p:cond delay="0"/>
                                  </p:stCondLst>
                                  <p:childTnLst>
                                    <p:set>
                                      <p:cBhvr>
                                        <p:cTn id="155" dur="1" fill="hold">
                                          <p:stCondLst>
                                            <p:cond delay="0"/>
                                          </p:stCondLst>
                                        </p:cTn>
                                        <p:tgtEl>
                                          <p:spTgt spid="62"/>
                                        </p:tgtEl>
                                        <p:attrNameLst>
                                          <p:attrName>style.visibility</p:attrName>
                                        </p:attrNameLst>
                                      </p:cBhvr>
                                      <p:to>
                                        <p:strVal val="visible"/>
                                      </p:to>
                                    </p:set>
                                    <p:animEffect filter="wipe(left)" transition="in">
                                      <p:cBhvr additive="repl">
                                        <p:cTn id="156" dur="10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64" name="PlaceHolder 2"/>
          <p:cNvSpPr>
            <a:spLocks noGrp="1"/>
          </p:cNvSpPr>
          <p:nvPr>
            <p:ph/>
          </p:nvPr>
        </p:nvSpPr>
        <p:spPr>
          <a:xfrm>
            <a:off x="360360" y="1440000"/>
            <a:ext cx="847836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(b), the market price determines the demand curve for Dave’s syrup, which is also his marginal revenue curve.</a:t>
            </a:r>
            <a:endParaRPr b="1" lang="en-CA" sz="2400" strike="noStrike" u="none">
              <a:solidFill>
                <a:srgbClr val="00468f"/>
              </a:solidFill>
              <a:effectLst/>
              <a:uFillTx/>
              <a:latin typeface="Arial"/>
            </a:endParaRPr>
          </a:p>
        </p:txBody>
      </p:sp>
      <p:pic>
        <p:nvPicPr>
          <p:cNvPr id="65" name="Picture 8" descr=""/>
          <p:cNvPicPr/>
          <p:nvPr/>
        </p:nvPicPr>
        <p:blipFill>
          <a:blip r:embed="rId1"/>
          <a:stretch/>
        </p:blipFill>
        <p:spPr>
          <a:xfrm>
            <a:off x="914400" y="2411280"/>
            <a:ext cx="7171920" cy="4122360"/>
          </a:xfrm>
          <a:prstGeom prst="rect">
            <a:avLst/>
          </a:prstGeom>
          <a:noFill/>
          <a:ln w="0">
            <a:noFill/>
          </a:ln>
        </p:spPr>
      </p:pic>
      <p:pic>
        <p:nvPicPr>
          <p:cNvPr id="66" name="Picture 9" descr=""/>
          <p:cNvPicPr/>
          <p:nvPr/>
        </p:nvPicPr>
        <p:blipFill>
          <a:blip r:embed="rId2"/>
          <a:stretch/>
        </p:blipFill>
        <p:spPr>
          <a:xfrm>
            <a:off x="914400" y="2411280"/>
            <a:ext cx="7171920" cy="4122360"/>
          </a:xfrm>
          <a:prstGeom prst="rect">
            <a:avLst/>
          </a:prstGeom>
          <a:noFill/>
          <a:ln w="0">
            <a:noFill/>
          </a:ln>
        </p:spPr>
      </p:pic>
      <p:pic>
        <p:nvPicPr>
          <p:cNvPr id="67" name="Picture 10" descr=""/>
          <p:cNvPicPr/>
          <p:nvPr/>
        </p:nvPicPr>
        <p:blipFill>
          <a:blip r:embed="rId3"/>
          <a:stretch/>
        </p:blipFill>
        <p:spPr>
          <a:xfrm>
            <a:off x="914400" y="2411280"/>
            <a:ext cx="7171920" cy="4122360"/>
          </a:xfrm>
          <a:prstGeom prst="rect">
            <a:avLst/>
          </a:prstGeom>
          <a:noFill/>
          <a:ln w="0">
            <a:noFill/>
          </a:ln>
        </p:spPr>
      </p:pic>
      <p:pic>
        <p:nvPicPr>
          <p:cNvPr id="68" name="Picture 11" descr=""/>
          <p:cNvPicPr/>
          <p:nvPr/>
        </p:nvPicPr>
        <p:blipFill>
          <a:blip r:embed="rId4"/>
          <a:stretch/>
        </p:blipFill>
        <p:spPr>
          <a:xfrm>
            <a:off x="914400" y="2411280"/>
            <a:ext cx="7171920" cy="4122360"/>
          </a:xfrm>
          <a:prstGeom prst="rect">
            <a:avLst/>
          </a:prstGeom>
          <a:noFill/>
          <a:ln w="0">
            <a:noFill/>
          </a:ln>
        </p:spPr>
      </p:pic>
    </p:spTree>
  </p:cSld>
  <p:transition spd="slow">
    <p:wipe dir="r"/>
  </p:transition>
  <p:timing>
    <p:tnLst>
      <p:par>
        <p:cTn id="157" dur="indefinite" restart="never" nodeType="tmRoot">
          <p:childTnLst>
            <p:seq>
              <p:cTn id="158" dur="indefinite" nodeType="mainSeq">
                <p:childTnLst>
                  <p:par>
                    <p:cTn id="159" nodeType="clickEffect" fill="hold">
                      <p:stCondLst>
                        <p:cond delay="indefinite"/>
                      </p:stCondLst>
                      <p:childTnLst>
                        <p:par>
                          <p:cTn id="160" nodeType="withEffect" fill="hold">
                            <p:stCondLst>
                              <p:cond delay="0"/>
                            </p:stCondLst>
                            <p:childTnLst>
                              <p:par>
                                <p:cTn id="161" nodeType="clickEffect" fill="hold" presetClass="entr" presetID="10">
                                  <p:stCondLst>
                                    <p:cond delay="0"/>
                                  </p:stCondLst>
                                  <p:childTnLst>
                                    <p:set>
                                      <p:cBhvr>
                                        <p:cTn id="162" dur="1" fill="hold">
                                          <p:stCondLst>
                                            <p:cond delay="0"/>
                                          </p:stCondLst>
                                        </p:cTn>
                                        <p:tgtEl>
                                          <p:spTgt spid="67"/>
                                        </p:tgtEl>
                                        <p:attrNameLst>
                                          <p:attrName>style.visibility</p:attrName>
                                        </p:attrNameLst>
                                      </p:cBhvr>
                                      <p:to>
                                        <p:strVal val="visible"/>
                                      </p:to>
                                    </p:set>
                                    <p:animEffect filter="fade" transition="in">
                                      <p:cBhvr additive="repl">
                                        <p:cTn id="163" dur="500"/>
                                        <p:tgtEl>
                                          <p:spTgt spid="67"/>
                                        </p:tgtEl>
                                      </p:cBhvr>
                                    </p:animEffect>
                                  </p:childTnLst>
                                </p:cTn>
                              </p:par>
                              <p:par>
                                <p:cTn id="164" nodeType="withEffect" fill="hold" presetClass="entr" presetID="22" presetSubtype="8">
                                  <p:stCondLst>
                                    <p:cond delay="1000"/>
                                  </p:stCondLst>
                                  <p:childTnLst>
                                    <p:set>
                                      <p:cBhvr>
                                        <p:cTn id="165" dur="1" fill="hold">
                                          <p:stCondLst>
                                            <p:cond delay="0"/>
                                          </p:stCondLst>
                                        </p:cTn>
                                        <p:tgtEl>
                                          <p:spTgt spid="68"/>
                                        </p:tgtEl>
                                        <p:attrNameLst>
                                          <p:attrName>style.visibility</p:attrName>
                                        </p:attrNameLst>
                                      </p:cBhvr>
                                      <p:to>
                                        <p:strVal val="visible"/>
                                      </p:to>
                                    </p:set>
                                    <p:animEffect filter="wipe(left)" transition="in">
                                      <p:cBhvr additive="repl">
                                        <p:cTn id="166" dur="1000"/>
                                        <p:tgtEl>
                                          <p:spTgt spid="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7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(c), if Dave sells 10 cans of syrup a day, his total revenue is $80 a day at point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71" name="Picture 9" descr=""/>
          <p:cNvPicPr/>
          <p:nvPr/>
        </p:nvPicPr>
        <p:blipFill>
          <a:blip r:embed="rId1"/>
          <a:stretch/>
        </p:blipFill>
        <p:spPr>
          <a:xfrm>
            <a:off x="914400" y="2411280"/>
            <a:ext cx="7171920" cy="4122360"/>
          </a:xfrm>
          <a:prstGeom prst="rect">
            <a:avLst/>
          </a:prstGeom>
          <a:noFill/>
          <a:ln w="0">
            <a:noFill/>
          </a:ln>
        </p:spPr>
      </p:pic>
      <p:pic>
        <p:nvPicPr>
          <p:cNvPr id="72" name="Picture 10" descr=""/>
          <p:cNvPicPr/>
          <p:nvPr/>
        </p:nvPicPr>
        <p:blipFill>
          <a:blip r:embed="rId2"/>
          <a:stretch/>
        </p:blipFill>
        <p:spPr>
          <a:xfrm>
            <a:off x="914400" y="2411280"/>
            <a:ext cx="7171920" cy="4122360"/>
          </a:xfrm>
          <a:prstGeom prst="rect">
            <a:avLst/>
          </a:prstGeom>
          <a:noFill/>
          <a:ln w="0">
            <a:noFill/>
          </a:ln>
        </p:spPr>
      </p:pic>
      <p:pic>
        <p:nvPicPr>
          <p:cNvPr id="73" name="Picture 11" descr=""/>
          <p:cNvPicPr/>
          <p:nvPr/>
        </p:nvPicPr>
        <p:blipFill>
          <a:blip r:embed="rId3"/>
          <a:stretch/>
        </p:blipFill>
        <p:spPr>
          <a:xfrm>
            <a:off x="914400" y="2411280"/>
            <a:ext cx="7171920" cy="4122360"/>
          </a:xfrm>
          <a:prstGeom prst="rect">
            <a:avLst/>
          </a:prstGeom>
          <a:noFill/>
          <a:ln w="0">
            <a:noFill/>
          </a:ln>
        </p:spPr>
      </p:pic>
      <p:pic>
        <p:nvPicPr>
          <p:cNvPr id="74" name="Picture 12" descr=""/>
          <p:cNvPicPr/>
          <p:nvPr/>
        </p:nvPicPr>
        <p:blipFill>
          <a:blip r:embed="rId4"/>
          <a:stretch/>
        </p:blipFill>
        <p:spPr>
          <a:xfrm>
            <a:off x="914400" y="2411280"/>
            <a:ext cx="7171920" cy="4122360"/>
          </a:xfrm>
          <a:prstGeom prst="rect">
            <a:avLst/>
          </a:prstGeom>
          <a:noFill/>
          <a:ln w="0">
            <a:noFill/>
          </a:ln>
        </p:spPr>
      </p:pic>
      <p:pic>
        <p:nvPicPr>
          <p:cNvPr id="75" name="Picture 13" descr=""/>
          <p:cNvPicPr/>
          <p:nvPr/>
        </p:nvPicPr>
        <p:blipFill>
          <a:blip r:embed="rId5"/>
          <a:stretch/>
        </p:blipFill>
        <p:spPr>
          <a:xfrm>
            <a:off x="914400" y="2411280"/>
            <a:ext cx="7171920" cy="4122360"/>
          </a:xfrm>
          <a:prstGeom prst="rect">
            <a:avLst/>
          </a:prstGeom>
          <a:noFill/>
          <a:ln w="0">
            <a:noFill/>
          </a:ln>
        </p:spPr>
      </p:pic>
    </p:spTree>
  </p:cSld>
  <p:transition spd="slow">
    <p:wipe dir="r"/>
  </p:transition>
  <p:timing>
    <p:tnLst>
      <p:par>
        <p:cTn id="167" dur="indefinite" restart="never" nodeType="tmRoot">
          <p:childTnLst>
            <p:seq>
              <p:cTn id="168" dur="indefinite" nodeType="mainSeq">
                <p:childTnLst>
                  <p:par>
                    <p:cTn id="169" nodeType="clickEffect" fill="hold">
                      <p:stCondLst>
                        <p:cond delay="0"/>
                      </p:stCondLst>
                      <p:childTnLst>
                        <p:par>
                          <p:cTn id="170" nodeType="withEffect" fill="hold">
                            <p:stCondLst>
                              <p:cond delay="0"/>
                            </p:stCondLst>
                            <p:childTnLst>
                              <p:par>
                                <p:cTn id="171" nodeType="withEffect" fill="hold" presetClass="entr" presetID="10">
                                  <p:stCondLst>
                                    <p:cond delay="0"/>
                                  </p:stCondLst>
                                  <p:childTnLst>
                                    <p:set>
                                      <p:cBhvr>
                                        <p:cTn id="172" dur="1" fill="hold">
                                          <p:stCondLst>
                                            <p:cond delay="0"/>
                                          </p:stCondLst>
                                        </p:cTn>
                                        <p:tgtEl>
                                          <p:spTgt spid="75"/>
                                        </p:tgtEl>
                                        <p:attrNameLst>
                                          <p:attrName>style.visibility</p:attrName>
                                        </p:attrNameLst>
                                      </p:cBhvr>
                                      <p:to>
                                        <p:strVal val="visible"/>
                                      </p:to>
                                    </p:set>
                                    <p:animEffect filter="fade" transition="in">
                                      <p:cBhvr additive="repl">
                                        <p:cTn id="173" dur="5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10"/>
          <p:cNvSpPr/>
          <p:nvPr/>
        </p:nvSpPr>
        <p:spPr>
          <a:xfrm>
            <a:off x="4495680" y="152280"/>
            <a:ext cx="3657240" cy="685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2000" strike="noStrike" u="none">
              <a:solidFill>
                <a:schemeClr val="dk1"/>
              </a:solidFill>
              <a:effectLst/>
              <a:uFillTx/>
              <a:latin typeface="Arial"/>
              <a:ea typeface="ＭＳ Ｐゴシック"/>
            </a:endParaRPr>
          </a:p>
        </p:txBody>
      </p:sp>
      <p:sp>
        <p:nvSpPr>
          <p:cNvPr id="7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7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Dave’s total revenue curve is </a:t>
            </a:r>
            <a:r>
              <a:rPr b="0" i="1" lang="en-US" sz="2400" strike="noStrike" u="none">
                <a:solidFill>
                  <a:srgbClr val="000000"/>
                </a:solidFill>
                <a:effectLst/>
                <a:uFillTx/>
                <a:latin typeface="Arial"/>
                <a:ea typeface="ＭＳ Ｐゴシック"/>
              </a:rPr>
              <a:t>TR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table shows the calculations of </a:t>
            </a:r>
            <a:r>
              <a:rPr b="0" i="1" lang="en-US" sz="2400" strike="noStrike" u="none">
                <a:solidFill>
                  <a:srgbClr val="000000"/>
                </a:solidFill>
                <a:effectLst/>
                <a:uFillTx/>
                <a:latin typeface="Arial"/>
                <a:ea typeface="ＭＳ Ｐゴシック"/>
              </a:rPr>
              <a:t>TR</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MR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79" name="Picture 11" descr=""/>
          <p:cNvPicPr/>
          <p:nvPr/>
        </p:nvPicPr>
        <p:blipFill>
          <a:blip r:embed="rId1"/>
          <a:stretch/>
        </p:blipFill>
        <p:spPr>
          <a:xfrm>
            <a:off x="914400" y="2411280"/>
            <a:ext cx="7171920" cy="4122360"/>
          </a:xfrm>
          <a:prstGeom prst="rect">
            <a:avLst/>
          </a:prstGeom>
          <a:noFill/>
          <a:ln w="0">
            <a:noFill/>
          </a:ln>
        </p:spPr>
      </p:pic>
      <p:pic>
        <p:nvPicPr>
          <p:cNvPr id="80" name="Picture 12" descr=""/>
          <p:cNvPicPr/>
          <p:nvPr/>
        </p:nvPicPr>
        <p:blipFill>
          <a:blip r:embed="rId2"/>
          <a:stretch/>
        </p:blipFill>
        <p:spPr>
          <a:xfrm>
            <a:off x="914400" y="2411280"/>
            <a:ext cx="7171920" cy="4122360"/>
          </a:xfrm>
          <a:prstGeom prst="rect">
            <a:avLst/>
          </a:prstGeom>
          <a:noFill/>
          <a:ln w="0">
            <a:noFill/>
          </a:ln>
        </p:spPr>
      </p:pic>
      <p:pic>
        <p:nvPicPr>
          <p:cNvPr id="81" name="Picture 13" descr=""/>
          <p:cNvPicPr/>
          <p:nvPr/>
        </p:nvPicPr>
        <p:blipFill>
          <a:blip r:embed="rId3"/>
          <a:stretch/>
        </p:blipFill>
        <p:spPr>
          <a:xfrm>
            <a:off x="914400" y="2411280"/>
            <a:ext cx="7171920" cy="4122360"/>
          </a:xfrm>
          <a:prstGeom prst="rect">
            <a:avLst/>
          </a:prstGeom>
          <a:noFill/>
          <a:ln w="0">
            <a:noFill/>
          </a:ln>
        </p:spPr>
      </p:pic>
      <p:pic>
        <p:nvPicPr>
          <p:cNvPr id="82" name="Picture 14" descr=""/>
          <p:cNvPicPr/>
          <p:nvPr/>
        </p:nvPicPr>
        <p:blipFill>
          <a:blip r:embed="rId4"/>
          <a:stretch/>
        </p:blipFill>
        <p:spPr>
          <a:xfrm>
            <a:off x="914400" y="2411280"/>
            <a:ext cx="7171920" cy="4122360"/>
          </a:xfrm>
          <a:prstGeom prst="rect">
            <a:avLst/>
          </a:prstGeom>
          <a:noFill/>
          <a:ln w="0">
            <a:noFill/>
          </a:ln>
        </p:spPr>
      </p:pic>
      <p:pic>
        <p:nvPicPr>
          <p:cNvPr id="83" name="Picture 15" descr=""/>
          <p:cNvPicPr/>
          <p:nvPr/>
        </p:nvPicPr>
        <p:blipFill>
          <a:blip r:embed="rId5"/>
          <a:stretch/>
        </p:blipFill>
        <p:spPr>
          <a:xfrm>
            <a:off x="914400" y="2411280"/>
            <a:ext cx="7171920" cy="4122360"/>
          </a:xfrm>
          <a:prstGeom prst="rect">
            <a:avLst/>
          </a:prstGeom>
          <a:noFill/>
          <a:ln w="0">
            <a:noFill/>
          </a:ln>
        </p:spPr>
      </p:pic>
      <p:pic>
        <p:nvPicPr>
          <p:cNvPr id="84" name="Picture 17" descr=""/>
          <p:cNvPicPr/>
          <p:nvPr/>
        </p:nvPicPr>
        <p:blipFill>
          <a:blip r:embed="rId6"/>
          <a:stretch/>
        </p:blipFill>
        <p:spPr>
          <a:xfrm>
            <a:off x="914400" y="2411280"/>
            <a:ext cx="7171920" cy="4122360"/>
          </a:xfrm>
          <a:prstGeom prst="rect">
            <a:avLst/>
          </a:prstGeom>
          <a:noFill/>
          <a:ln w="0">
            <a:noFill/>
          </a:ln>
        </p:spPr>
      </p:pic>
    </p:spTree>
  </p:cSld>
  <p:transition spd="slow">
    <p:wipe dir="r"/>
  </p:transition>
  <p:timing>
    <p:tnLst>
      <p:par>
        <p:cTn id="174" dur="indefinite" restart="never" nodeType="tmRoot">
          <p:childTnLst>
            <p:seq>
              <p:cTn id="175" dur="indefinite" nodeType="mainSeq">
                <p:childTnLst>
                  <p:par>
                    <p:cTn id="176" nodeType="clickEffect" fill="hold">
                      <p:stCondLst>
                        <p:cond delay="0"/>
                      </p:stCondLst>
                      <p:childTnLst>
                        <p:par>
                          <p:cTn id="177" nodeType="withEffect" fill="hold">
                            <p:stCondLst>
                              <p:cond delay="0"/>
                            </p:stCondLst>
                            <p:childTnLst>
                              <p:par>
                                <p:cTn id="178" nodeType="withEffect" fill="hold" presetClass="entr" presetID="22" presetSubtype="8">
                                  <p:stCondLst>
                                    <p:cond delay="0"/>
                                  </p:stCondLst>
                                  <p:childTnLst>
                                    <p:set>
                                      <p:cBhvr>
                                        <p:cTn id="179" dur="1" fill="hold">
                                          <p:stCondLst>
                                            <p:cond delay="0"/>
                                          </p:stCondLst>
                                        </p:cTn>
                                        <p:tgtEl>
                                          <p:spTgt spid="84"/>
                                        </p:tgtEl>
                                        <p:attrNameLst>
                                          <p:attrName>style.visibility</p:attrName>
                                        </p:attrNameLst>
                                      </p:cBhvr>
                                      <p:to>
                                        <p:strVal val="visible"/>
                                      </p:to>
                                    </p:set>
                                    <p:animEffect filter="wipe(left)" transition="in">
                                      <p:cBhvr additive="repl">
                                        <p:cTn id="180" dur="1000"/>
                                        <p:tgtEl>
                                          <p:spTgt spid="84"/>
                                        </p:tgtEl>
                                      </p:cBhvr>
                                    </p:animEffect>
                                  </p:childTnLst>
                                </p:cTn>
                              </p:par>
                            </p:childTnLst>
                          </p:cTn>
                        </p:par>
                      </p:childTnLst>
                    </p:cTn>
                  </p:par>
                  <p:par>
                    <p:cTn id="181" nodeType="clickEffect" fill="hold">
                      <p:stCondLst>
                        <p:cond delay="indefinite"/>
                      </p:stCondLst>
                      <p:childTnLst>
                        <p:par>
                          <p:cTn id="182" nodeType="withEffect" fill="hold">
                            <p:stCondLst>
                              <p:cond delay="0"/>
                            </p:stCondLst>
                            <p:childTnLst>
                              <p:par>
                                <p:cTn id="183" nodeType="clickEffect" fill="hold" presetClass="entr" presetID="22" presetSubtype="8">
                                  <p:stCondLst>
                                    <p:cond delay="0"/>
                                  </p:stCondLst>
                                  <p:childTnLst>
                                    <p:set>
                                      <p:cBhvr>
                                        <p:cTn id="184" dur="1" fill="hold">
                                          <p:stCondLst>
                                            <p:cond delay="0"/>
                                          </p:stCondLst>
                                        </p:cTn>
                                        <p:tgtEl>
                                          <p:spTgt spid="78">
                                            <p:txEl>
                                              <p:pRg st="1" end="1"/>
                                            </p:txEl>
                                          </p:spTgt>
                                        </p:tgtEl>
                                        <p:attrNameLst>
                                          <p:attrName>style.visibility</p:attrName>
                                        </p:attrNameLst>
                                      </p:cBhvr>
                                      <p:to>
                                        <p:strVal val="visible"/>
                                      </p:to>
                                    </p:set>
                                    <p:animEffect filter="wipe(left)" transition="in">
                                      <p:cBhvr additive="repl">
                                        <p:cTn id="185" dur="500"/>
                                        <p:tgtEl>
                                          <p:spTgt spid="7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8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Profit-Maximizing Output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As output increases, total revenue increases.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total cost also increases.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of decreasing marginal returns, total cost eventually increases faster than total revenue.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There is one output level that maximizes economic profit, and a perfectly competitive firm chooses this output level.</a:t>
            </a:r>
            <a:endParaRPr b="1" lang="en-CA" sz="2400" strike="noStrike" u="none">
              <a:solidFill>
                <a:srgbClr val="00468f"/>
              </a:solidFill>
              <a:effectLst/>
              <a:uFillTx/>
              <a:latin typeface="Arial"/>
            </a:endParaRPr>
          </a:p>
        </p:txBody>
      </p:sp>
    </p:spTree>
  </p:cSld>
  <p:transition spd="slow">
    <p:wipe dir="r"/>
  </p:transition>
  <p:timing>
    <p:tnLst>
      <p:par>
        <p:cTn id="186" dur="indefinite" restart="never" nodeType="tmRoot">
          <p:childTnLst>
            <p:seq>
              <p:cTn id="187" dur="indefinite" nodeType="mainSeq">
                <p:childTnLst>
                  <p:par>
                    <p:cTn id="188" nodeType="clickEffect" fill="hold">
                      <p:stCondLst>
                        <p:cond delay="indefinite"/>
                      </p:stCondLst>
                      <p:childTnLst>
                        <p:par>
                          <p:cTn id="189" nodeType="withEffect" fill="hold">
                            <p:stCondLst>
                              <p:cond delay="0"/>
                            </p:stCondLst>
                            <p:childTnLst>
                              <p:par>
                                <p:cTn id="190" nodeType="clickEffect" fill="hold" presetClass="entr" presetID="22" presetSubtype="8">
                                  <p:stCondLst>
                                    <p:cond delay="0"/>
                                  </p:stCondLst>
                                  <p:childTnLst>
                                    <p:set>
                                      <p:cBhvr>
                                        <p:cTn id="191" dur="1" fill="hold">
                                          <p:stCondLst>
                                            <p:cond delay="0"/>
                                          </p:stCondLst>
                                        </p:cTn>
                                        <p:tgtEl>
                                          <p:spTgt spid="86">
                                            <p:txEl>
                                              <p:pRg st="1" end="1"/>
                                            </p:txEl>
                                          </p:spTgt>
                                        </p:tgtEl>
                                        <p:attrNameLst>
                                          <p:attrName>style.visibility</p:attrName>
                                        </p:attrNameLst>
                                      </p:cBhvr>
                                      <p:to>
                                        <p:strVal val="visible"/>
                                      </p:to>
                                    </p:set>
                                    <p:animEffect filter="wipe(left)" transition="in">
                                      <p:cBhvr additive="repl">
                                        <p:cTn id="192" dur="500"/>
                                        <p:tgtEl>
                                          <p:spTgt spid="86">
                                            <p:txEl>
                                              <p:pRg st="1" end="1"/>
                                            </p:txEl>
                                          </p:spTgt>
                                        </p:tgtEl>
                                      </p:cBhvr>
                                    </p:animEffect>
                                  </p:childTnLst>
                                </p:cTn>
                              </p:par>
                            </p:childTnLst>
                          </p:cTn>
                        </p:par>
                      </p:childTnLst>
                    </p:cTn>
                  </p:par>
                  <p:par>
                    <p:cTn id="193" nodeType="clickEffect" fill="hold">
                      <p:stCondLst>
                        <p:cond delay="indefinite"/>
                      </p:stCondLst>
                      <p:childTnLst>
                        <p:par>
                          <p:cTn id="194" nodeType="withEffect" fill="hold">
                            <p:stCondLst>
                              <p:cond delay="0"/>
                            </p:stCondLst>
                            <p:childTnLst>
                              <p:par>
                                <p:cTn id="195" nodeType="clickEffect" fill="hold" presetClass="entr" presetID="22" presetSubtype="8">
                                  <p:stCondLst>
                                    <p:cond delay="0"/>
                                  </p:stCondLst>
                                  <p:childTnLst>
                                    <p:set>
                                      <p:cBhvr>
                                        <p:cTn id="196" dur="1" fill="hold">
                                          <p:stCondLst>
                                            <p:cond delay="0"/>
                                          </p:stCondLst>
                                        </p:cTn>
                                        <p:tgtEl>
                                          <p:spTgt spid="86">
                                            <p:txEl>
                                              <p:pRg st="2" end="2"/>
                                            </p:txEl>
                                          </p:spTgt>
                                        </p:tgtEl>
                                        <p:attrNameLst>
                                          <p:attrName>style.visibility</p:attrName>
                                        </p:attrNameLst>
                                      </p:cBhvr>
                                      <p:to>
                                        <p:strVal val="visible"/>
                                      </p:to>
                                    </p:set>
                                    <p:animEffect filter="wipe(left)" transition="in">
                                      <p:cBhvr additive="repl">
                                        <p:cTn id="197" dur="500"/>
                                        <p:tgtEl>
                                          <p:spTgt spid="86">
                                            <p:txEl>
                                              <p:pRg st="2" end="2"/>
                                            </p:txEl>
                                          </p:spTgt>
                                        </p:tgtEl>
                                      </p:cBhvr>
                                    </p:animEffect>
                                  </p:childTnLst>
                                </p:cTn>
                              </p:par>
                            </p:childTnLst>
                          </p:cTn>
                        </p:par>
                      </p:childTnLst>
                    </p:cTn>
                  </p:par>
                  <p:par>
                    <p:cTn id="198" nodeType="clickEffect" fill="hold">
                      <p:stCondLst>
                        <p:cond delay="indefinite"/>
                      </p:stCondLst>
                      <p:childTnLst>
                        <p:par>
                          <p:cTn id="199" nodeType="withEffect" fill="hold">
                            <p:stCondLst>
                              <p:cond delay="0"/>
                            </p:stCondLst>
                            <p:childTnLst>
                              <p:par>
                                <p:cTn id="200" nodeType="clickEffect" fill="hold" presetClass="entr" presetID="22" presetSubtype="8">
                                  <p:stCondLst>
                                    <p:cond delay="0"/>
                                  </p:stCondLst>
                                  <p:childTnLst>
                                    <p:set>
                                      <p:cBhvr>
                                        <p:cTn id="201" dur="1" fill="hold">
                                          <p:stCondLst>
                                            <p:cond delay="0"/>
                                          </p:stCondLst>
                                        </p:cTn>
                                        <p:tgtEl>
                                          <p:spTgt spid="86">
                                            <p:txEl>
                                              <p:pRg st="3" end="3"/>
                                            </p:txEl>
                                          </p:spTgt>
                                        </p:tgtEl>
                                        <p:attrNameLst>
                                          <p:attrName>style.visibility</p:attrName>
                                        </p:attrNameLst>
                                      </p:cBhvr>
                                      <p:to>
                                        <p:strVal val="visible"/>
                                      </p:to>
                                    </p:set>
                                    <p:animEffect filter="wipe(left)" transition="in">
                                      <p:cBhvr additive="repl">
                                        <p:cTn id="202" dur="500"/>
                                        <p:tgtEl>
                                          <p:spTgt spid="86">
                                            <p:txEl>
                                              <p:pRg st="3" end="3"/>
                                            </p:txEl>
                                          </p:spTgt>
                                        </p:tgtEl>
                                      </p:cBhvr>
                                    </p:animEffect>
                                  </p:childTnLst>
                                </p:cTn>
                              </p:par>
                            </p:childTnLst>
                          </p:cTn>
                        </p:par>
                      </p:childTnLst>
                    </p:cTn>
                  </p:par>
                  <p:par>
                    <p:cTn id="203" nodeType="clickEffect" fill="hold">
                      <p:stCondLst>
                        <p:cond delay="indefinite"/>
                      </p:stCondLst>
                      <p:childTnLst>
                        <p:par>
                          <p:cTn id="204" nodeType="withEffect" fill="hold">
                            <p:stCondLst>
                              <p:cond delay="0"/>
                            </p:stCondLst>
                            <p:childTnLst>
                              <p:par>
                                <p:cTn id="205" nodeType="clickEffect" fill="hold" presetClass="entr" presetID="22" presetSubtype="8">
                                  <p:stCondLst>
                                    <p:cond delay="0"/>
                                  </p:stCondLst>
                                  <p:childTnLst>
                                    <p:set>
                                      <p:cBhvr>
                                        <p:cTn id="206" dur="1" fill="hold">
                                          <p:stCondLst>
                                            <p:cond delay="0"/>
                                          </p:stCondLst>
                                        </p:cTn>
                                        <p:tgtEl>
                                          <p:spTgt spid="86">
                                            <p:txEl>
                                              <p:pRg st="4" end="4"/>
                                            </p:txEl>
                                          </p:spTgt>
                                        </p:tgtEl>
                                        <p:attrNameLst>
                                          <p:attrName>style.visibility</p:attrName>
                                        </p:attrNameLst>
                                      </p:cBhvr>
                                      <p:to>
                                        <p:strVal val="visible"/>
                                      </p:to>
                                    </p:set>
                                    <p:animEffect filter="wipe(left)" transition="in">
                                      <p:cBhvr additive="repl">
                                        <p:cTn id="207" dur="500"/>
                                        <p:tgtEl>
                                          <p:spTgt spid="86">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8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One way to find the profit-maximizing output is to use a firm’s total revenue and total cost curves.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Profit is maximized at the output level at which total revenue exceeds total cost by the largest amount.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15.2 on the next slide illustrates this approach.</a:t>
            </a:r>
            <a:endParaRPr b="1" lang="en-CA" sz="2400" strike="noStrike" u="none">
              <a:solidFill>
                <a:srgbClr val="00468f"/>
              </a:solidFill>
              <a:effectLst/>
              <a:uFillTx/>
              <a:latin typeface="Arial"/>
            </a:endParaRPr>
          </a:p>
        </p:txBody>
      </p:sp>
    </p:spTree>
  </p:cSld>
  <p:transition spd="slow">
    <p:wipe dir="r"/>
  </p:transition>
  <p:timing>
    <p:tnLst>
      <p:par>
        <p:cTn id="208" dur="indefinite" restart="never" nodeType="tmRoot">
          <p:childTnLst>
            <p:seq>
              <p:cTn id="209" dur="indefinite" nodeType="mainSeq">
                <p:childTnLst>
                  <p:par>
                    <p:cTn id="210" nodeType="clickEffect" fill="hold">
                      <p:stCondLst>
                        <p:cond delay="indefinite"/>
                      </p:stCondLst>
                      <p:childTnLst>
                        <p:par>
                          <p:cTn id="211" nodeType="withEffect" fill="hold">
                            <p:stCondLst>
                              <p:cond delay="0"/>
                            </p:stCondLst>
                            <p:childTnLst>
                              <p:par>
                                <p:cTn id="212" nodeType="clickEffect" fill="hold" presetClass="entr" presetID="22" presetSubtype="8">
                                  <p:stCondLst>
                                    <p:cond delay="0"/>
                                  </p:stCondLst>
                                  <p:childTnLst>
                                    <p:set>
                                      <p:cBhvr>
                                        <p:cTn id="213" dur="1" fill="hold">
                                          <p:stCondLst>
                                            <p:cond delay="0"/>
                                          </p:stCondLst>
                                        </p:cTn>
                                        <p:tgtEl>
                                          <p:spTgt spid="88">
                                            <p:txEl>
                                              <p:pRg st="1" end="1"/>
                                            </p:txEl>
                                          </p:spTgt>
                                        </p:tgtEl>
                                        <p:attrNameLst>
                                          <p:attrName>style.visibility</p:attrName>
                                        </p:attrNameLst>
                                      </p:cBhvr>
                                      <p:to>
                                        <p:strVal val="visible"/>
                                      </p:to>
                                    </p:set>
                                    <p:animEffect filter="wipe(left)" transition="in">
                                      <p:cBhvr additive="repl">
                                        <p:cTn id="214" dur="500"/>
                                        <p:tgtEl>
                                          <p:spTgt spid="88">
                                            <p:txEl>
                                              <p:pRg st="1" end="1"/>
                                            </p:txEl>
                                          </p:spTgt>
                                        </p:tgtEl>
                                      </p:cBhvr>
                                    </p:animEffect>
                                  </p:childTnLst>
                                </p:cTn>
                              </p:par>
                            </p:childTnLst>
                          </p:cTn>
                        </p:par>
                      </p:childTnLst>
                    </p:cTn>
                  </p:par>
                  <p:par>
                    <p:cTn id="215" nodeType="clickEffect" fill="hold">
                      <p:stCondLst>
                        <p:cond delay="indefinite"/>
                      </p:stCondLst>
                      <p:childTnLst>
                        <p:par>
                          <p:cTn id="216" nodeType="withEffect" fill="hold">
                            <p:stCondLst>
                              <p:cond delay="0"/>
                            </p:stCondLst>
                            <p:childTnLst>
                              <p:par>
                                <p:cTn id="217" nodeType="clickEffect" fill="hold" presetClass="entr" presetID="22" presetSubtype="8">
                                  <p:stCondLst>
                                    <p:cond delay="0"/>
                                  </p:stCondLst>
                                  <p:childTnLst>
                                    <p:set>
                                      <p:cBhvr>
                                        <p:cTn id="218" dur="1" fill="hold">
                                          <p:stCondLst>
                                            <p:cond delay="0"/>
                                          </p:stCondLst>
                                        </p:cTn>
                                        <p:tgtEl>
                                          <p:spTgt spid="88">
                                            <p:txEl>
                                              <p:pRg st="2" end="2"/>
                                            </p:txEl>
                                          </p:spTgt>
                                        </p:tgtEl>
                                        <p:attrNameLst>
                                          <p:attrName>style.visibility</p:attrName>
                                        </p:attrNameLst>
                                      </p:cBhvr>
                                      <p:to>
                                        <p:strVal val="visible"/>
                                      </p:to>
                                    </p:set>
                                    <p:animEffect filter="wipe(left)" transition="in">
                                      <p:cBhvr additive="repl">
                                        <p:cTn id="219" dur="500"/>
                                        <p:tgtEl>
                                          <p:spTgt spid="8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90" name="PlaceHolder 2"/>
          <p:cNvSpPr>
            <a:spLocks noGrp="1"/>
          </p:cNvSpPr>
          <p:nvPr>
            <p:ph/>
          </p:nvPr>
        </p:nvSpPr>
        <p:spPr>
          <a:xfrm>
            <a:off x="360360" y="1440000"/>
            <a:ext cx="32205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Total revenue increases as the quantity increases —shown by the   </a:t>
            </a:r>
            <a:r>
              <a:rPr b="0" i="1" lang="en-US" sz="2400" strike="noStrike" u="none">
                <a:solidFill>
                  <a:schemeClr val="dk1"/>
                </a:solidFill>
                <a:effectLst/>
                <a:uFillTx/>
                <a:latin typeface="Arial"/>
                <a:ea typeface="ＭＳ Ｐゴシック"/>
              </a:rPr>
              <a:t>TR</a:t>
            </a:r>
            <a:r>
              <a:rPr b="0" lang="en-US" sz="2400" strike="noStrike" u="none">
                <a:solidFill>
                  <a:schemeClr val="dk1"/>
                </a:solidFill>
                <a:effectLst/>
                <a:uFillTx/>
                <a:latin typeface="Arial"/>
                <a:ea typeface="ＭＳ Ｐゴシック"/>
              </a:rPr>
              <a: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Total cost increases as the quantity increases—shown by the </a:t>
            </a:r>
            <a:r>
              <a:rPr b="0" i="1" lang="en-US" sz="2400" strike="noStrike" u="none">
                <a:solidFill>
                  <a:srgbClr val="000000"/>
                </a:solidFill>
                <a:effectLst/>
                <a:uFillTx/>
                <a:latin typeface="Arial"/>
                <a:ea typeface="ＭＳ Ｐゴシック"/>
              </a:rPr>
              <a:t>TC </a:t>
            </a:r>
            <a:r>
              <a:rPr b="0" lang="en-US" sz="2400" strike="noStrike" u="none">
                <a:solidFill>
                  <a:srgbClr val="000000"/>
                </a:solidFill>
                <a:effectLst/>
                <a:uFillTx/>
                <a:latin typeface="Arial"/>
                <a:ea typeface="ＭＳ Ｐゴシック"/>
              </a:rPr>
              <a:t>curve.</a:t>
            </a:r>
            <a:endParaRPr b="1" lang="en-CA" sz="2400" strike="noStrike" u="none">
              <a:solidFill>
                <a:srgbClr val="00468f"/>
              </a:solidFill>
              <a:effectLst/>
              <a:uFillTx/>
              <a:latin typeface="Arial"/>
            </a:endParaRPr>
          </a:p>
        </p:txBody>
      </p:sp>
      <p:pic>
        <p:nvPicPr>
          <p:cNvPr id="91" name="Picture 11" descr=""/>
          <p:cNvPicPr/>
          <p:nvPr/>
        </p:nvPicPr>
        <p:blipFill>
          <a:blip r:embed="rId1"/>
          <a:stretch/>
        </p:blipFill>
        <p:spPr>
          <a:xfrm>
            <a:off x="3564000" y="1403280"/>
            <a:ext cx="5214600" cy="4814640"/>
          </a:xfrm>
          <a:prstGeom prst="rect">
            <a:avLst/>
          </a:prstGeom>
          <a:noFill/>
          <a:ln w="0">
            <a:noFill/>
          </a:ln>
        </p:spPr>
      </p:pic>
      <p:pic>
        <p:nvPicPr>
          <p:cNvPr id="92" name="Picture 12" descr=""/>
          <p:cNvPicPr/>
          <p:nvPr/>
        </p:nvPicPr>
        <p:blipFill>
          <a:blip r:embed="rId2"/>
          <a:stretch/>
        </p:blipFill>
        <p:spPr>
          <a:xfrm>
            <a:off x="3564000" y="1403280"/>
            <a:ext cx="5214600" cy="4814640"/>
          </a:xfrm>
          <a:prstGeom prst="rect">
            <a:avLst/>
          </a:prstGeom>
          <a:noFill/>
          <a:ln w="0">
            <a:noFill/>
          </a:ln>
        </p:spPr>
      </p:pic>
      <p:pic>
        <p:nvPicPr>
          <p:cNvPr id="93" name="Picture 13" descr=""/>
          <p:cNvPicPr/>
          <p:nvPr/>
        </p:nvPicPr>
        <p:blipFill>
          <a:blip r:embed="rId3"/>
          <a:stretch/>
        </p:blipFill>
        <p:spPr>
          <a:xfrm>
            <a:off x="3564000" y="1403280"/>
            <a:ext cx="5214600" cy="4814640"/>
          </a:xfrm>
          <a:prstGeom prst="rect">
            <a:avLst/>
          </a:prstGeom>
          <a:noFill/>
          <a:ln w="0">
            <a:noFill/>
          </a:ln>
        </p:spPr>
      </p:pic>
    </p:spTree>
  </p:cSld>
  <p:transition spd="slow">
    <p:wipe dir="r"/>
  </p:transition>
  <p:timing>
    <p:tnLst>
      <p:par>
        <p:cTn id="220" dur="indefinite" restart="never" nodeType="tmRoot">
          <p:childTnLst>
            <p:seq>
              <p:cTn id="221" dur="indefinite" nodeType="mainSeq">
                <p:childTnLst>
                  <p:par>
                    <p:cTn id="222" nodeType="clickEffect" fill="hold">
                      <p:stCondLst>
                        <p:cond delay="0"/>
                      </p:stCondLst>
                      <p:childTnLst>
                        <p:par>
                          <p:cTn id="223" nodeType="withEffect" fill="hold">
                            <p:stCondLst>
                              <p:cond delay="0"/>
                            </p:stCondLst>
                            <p:childTnLst>
                              <p:par>
                                <p:cTn id="224" nodeType="withEffect" fill="hold" presetClass="entr" presetID="22" presetSubtype="8">
                                  <p:stCondLst>
                                    <p:cond delay="0"/>
                                  </p:stCondLst>
                                  <p:childTnLst>
                                    <p:set>
                                      <p:cBhvr>
                                        <p:cTn id="225" dur="1" fill="hold">
                                          <p:stCondLst>
                                            <p:cond delay="0"/>
                                          </p:stCondLst>
                                        </p:cTn>
                                        <p:tgtEl>
                                          <p:spTgt spid="92"/>
                                        </p:tgtEl>
                                        <p:attrNameLst>
                                          <p:attrName>style.visibility</p:attrName>
                                        </p:attrNameLst>
                                      </p:cBhvr>
                                      <p:to>
                                        <p:strVal val="visible"/>
                                      </p:to>
                                    </p:set>
                                    <p:animEffect filter="wipe(left)" transition="in">
                                      <p:cBhvr additive="repl">
                                        <p:cTn id="226" dur="1000"/>
                                        <p:tgtEl>
                                          <p:spTgt spid="92"/>
                                        </p:tgtEl>
                                      </p:cBhvr>
                                    </p:animEffect>
                                  </p:childTnLst>
                                </p:cTn>
                              </p:par>
                            </p:childTnLst>
                          </p:cTn>
                        </p:par>
                      </p:childTnLst>
                    </p:cTn>
                  </p:par>
                  <p:par>
                    <p:cTn id="227" nodeType="clickEffect" fill="hold">
                      <p:stCondLst>
                        <p:cond delay="indefinite"/>
                      </p:stCondLst>
                      <p:childTnLst>
                        <p:par>
                          <p:cTn id="228" nodeType="withEffect" fill="hold">
                            <p:stCondLst>
                              <p:cond delay="0"/>
                            </p:stCondLst>
                            <p:childTnLst>
                              <p:par>
                                <p:cTn id="229" nodeType="clickEffect" fill="hold" presetClass="entr" presetID="22" presetSubtype="8">
                                  <p:stCondLst>
                                    <p:cond delay="0"/>
                                  </p:stCondLst>
                                  <p:childTnLst>
                                    <p:set>
                                      <p:cBhvr>
                                        <p:cTn id="230" dur="1" fill="hold">
                                          <p:stCondLst>
                                            <p:cond delay="0"/>
                                          </p:stCondLst>
                                        </p:cTn>
                                        <p:tgtEl>
                                          <p:spTgt spid="90">
                                            <p:txEl>
                                              <p:pRg st="1" end="1"/>
                                            </p:txEl>
                                          </p:spTgt>
                                        </p:tgtEl>
                                        <p:attrNameLst>
                                          <p:attrName>style.visibility</p:attrName>
                                        </p:attrNameLst>
                                      </p:cBhvr>
                                      <p:to>
                                        <p:strVal val="visible"/>
                                      </p:to>
                                    </p:set>
                                    <p:animEffect filter="wipe(left)" transition="in">
                                      <p:cBhvr additive="repl">
                                        <p:cTn id="231" dur="500"/>
                                        <p:tgtEl>
                                          <p:spTgt spid="90">
                                            <p:txEl>
                                              <p:pRg st="1" end="1"/>
                                            </p:txEl>
                                          </p:spTgt>
                                        </p:tgtEl>
                                      </p:cBhvr>
                                    </p:animEffect>
                                  </p:childTnLst>
                                </p:cTn>
                              </p:par>
                              <p:par>
                                <p:cTn id="232" nodeType="withEffect" fill="hold" presetClass="entr" presetID="22" presetSubtype="8">
                                  <p:stCondLst>
                                    <p:cond delay="0"/>
                                  </p:stCondLst>
                                  <p:childTnLst>
                                    <p:set>
                                      <p:cBhvr>
                                        <p:cTn id="233" dur="1" fill="hold">
                                          <p:stCondLst>
                                            <p:cond delay="0"/>
                                          </p:stCondLst>
                                        </p:cTn>
                                        <p:tgtEl>
                                          <p:spTgt spid="93"/>
                                        </p:tgtEl>
                                        <p:attrNameLst>
                                          <p:attrName>style.visibility</p:attrName>
                                        </p:attrNameLst>
                                      </p:cBhvr>
                                      <p:to>
                                        <p:strVal val="visible"/>
                                      </p:to>
                                    </p:set>
                                    <p:animEffect filter="wipe(left)" transition="in">
                                      <p:cBhvr additive="repl">
                                        <p:cTn id="234"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94" name="Picture 9" descr=""/>
          <p:cNvPicPr/>
          <p:nvPr/>
        </p:nvPicPr>
        <p:blipFill>
          <a:blip r:embed="rId1"/>
          <a:stretch/>
        </p:blipFill>
        <p:spPr>
          <a:xfrm>
            <a:off x="1219320" y="457200"/>
            <a:ext cx="6257520" cy="5778000"/>
          </a:xfrm>
          <a:prstGeom prst="rect">
            <a:avLst/>
          </a:prstGeom>
          <a:noFill/>
          <a:ln w="0">
            <a:noFill/>
          </a:ln>
        </p:spPr>
      </p:pic>
      <p:pic>
        <p:nvPicPr>
          <p:cNvPr id="95" name="Picture 17" descr=""/>
          <p:cNvPicPr/>
          <p:nvPr/>
        </p:nvPicPr>
        <p:blipFill>
          <a:blip r:embed="rId2"/>
          <a:stretch/>
        </p:blipFill>
        <p:spPr>
          <a:xfrm>
            <a:off x="1219320" y="457200"/>
            <a:ext cx="6257520" cy="5778000"/>
          </a:xfrm>
          <a:prstGeom prst="rect">
            <a:avLst/>
          </a:prstGeom>
          <a:noFill/>
          <a:ln w="0">
            <a:noFill/>
          </a:ln>
        </p:spPr>
      </p:pic>
      <p:pic>
        <p:nvPicPr>
          <p:cNvPr id="96" name="Picture 18" descr=""/>
          <p:cNvPicPr/>
          <p:nvPr/>
        </p:nvPicPr>
        <p:blipFill>
          <a:blip r:embed="rId3"/>
          <a:stretch/>
        </p:blipFill>
        <p:spPr>
          <a:xfrm>
            <a:off x="1219320" y="457200"/>
            <a:ext cx="6257520" cy="5778000"/>
          </a:xfrm>
          <a:prstGeom prst="rect">
            <a:avLst/>
          </a:prstGeom>
          <a:noFill/>
          <a:ln w="0">
            <a:noFill/>
          </a:ln>
        </p:spPr>
      </p:pic>
      <p:pic>
        <p:nvPicPr>
          <p:cNvPr id="97" name="Picture 19" descr=""/>
          <p:cNvPicPr/>
          <p:nvPr/>
        </p:nvPicPr>
        <p:blipFill>
          <a:blip r:embed="rId4"/>
          <a:stretch/>
        </p:blipFill>
        <p:spPr>
          <a:xfrm>
            <a:off x="1219320" y="457200"/>
            <a:ext cx="6257520" cy="5778000"/>
          </a:xfrm>
          <a:prstGeom prst="rect">
            <a:avLst/>
          </a:prstGeom>
          <a:noFill/>
          <a:ln w="0">
            <a:noFill/>
          </a:ln>
        </p:spPr>
      </p:pic>
      <p:pic>
        <p:nvPicPr>
          <p:cNvPr id="98" name="Picture 20" descr=""/>
          <p:cNvPicPr/>
          <p:nvPr/>
        </p:nvPicPr>
        <p:blipFill>
          <a:blip r:embed="rId5"/>
          <a:stretch/>
        </p:blipFill>
        <p:spPr>
          <a:xfrm>
            <a:off x="1219320" y="457200"/>
            <a:ext cx="6257520" cy="5778000"/>
          </a:xfrm>
          <a:prstGeom prst="rect">
            <a:avLst/>
          </a:prstGeom>
          <a:noFill/>
          <a:ln w="0">
            <a:noFill/>
          </a:ln>
        </p:spPr>
      </p:pic>
      <p:pic>
        <p:nvPicPr>
          <p:cNvPr id="99" name="Picture 21" descr=""/>
          <p:cNvPicPr/>
          <p:nvPr/>
        </p:nvPicPr>
        <p:blipFill>
          <a:blip r:embed="rId6"/>
          <a:stretch/>
        </p:blipFill>
        <p:spPr>
          <a:xfrm>
            <a:off x="1219320" y="457200"/>
            <a:ext cx="6257520" cy="5778000"/>
          </a:xfrm>
          <a:prstGeom prst="rect">
            <a:avLst/>
          </a:prstGeom>
          <a:noFill/>
          <a:ln w="0">
            <a:noFill/>
          </a:ln>
        </p:spPr>
      </p:pic>
      <p:pic>
        <p:nvPicPr>
          <p:cNvPr id="100" name="Picture 22" descr=""/>
          <p:cNvPicPr/>
          <p:nvPr/>
        </p:nvPicPr>
        <p:blipFill>
          <a:blip r:embed="rId7"/>
          <a:stretch/>
        </p:blipFill>
        <p:spPr>
          <a:xfrm>
            <a:off x="1219320" y="457200"/>
            <a:ext cx="6257520" cy="5778000"/>
          </a:xfrm>
          <a:prstGeom prst="rect">
            <a:avLst/>
          </a:prstGeom>
          <a:noFill/>
          <a:ln w="0">
            <a:noFill/>
          </a:ln>
        </p:spPr>
      </p:pic>
      <p:pic>
        <p:nvPicPr>
          <p:cNvPr id="101" name="Picture 23" descr=""/>
          <p:cNvPicPr/>
          <p:nvPr/>
        </p:nvPicPr>
        <p:blipFill>
          <a:blip r:embed="rId8"/>
          <a:stretch/>
        </p:blipFill>
        <p:spPr>
          <a:xfrm>
            <a:off x="1219320" y="457200"/>
            <a:ext cx="6257520" cy="5778000"/>
          </a:xfrm>
          <a:prstGeom prst="rect">
            <a:avLst/>
          </a:prstGeom>
          <a:noFill/>
          <a:ln w="0">
            <a:noFill/>
          </a:ln>
        </p:spPr>
      </p:pic>
    </p:spTree>
  </p:cSld>
  <p:transition spd="slow">
    <p:wipe dir="r"/>
  </p:transition>
  <p:timing>
    <p:tnLst>
      <p:par>
        <p:cTn id="235" dur="indefinite" restart="never" nodeType="tmRoot">
          <p:childTnLst>
            <p:seq>
              <p:cTn id="236" dur="indefinite" nodeType="mainSeq">
                <p:childTnLst>
                  <p:par>
                    <p:cTn id="237" nodeType="clickEffect" fill="hold">
                      <p:stCondLst>
                        <p:cond delay="indefinite"/>
                      </p:stCondLst>
                      <p:childTnLst>
                        <p:par>
                          <p:cTn id="238" nodeType="withEffect" fill="hold">
                            <p:stCondLst>
                              <p:cond delay="0"/>
                            </p:stCondLst>
                            <p:childTnLst>
                              <p:par>
                                <p:cTn id="239" nodeType="clickEffect" fill="hold" presetClass="entr" presetID="22" presetSubtype="8">
                                  <p:stCondLst>
                                    <p:cond delay="0"/>
                                  </p:stCondLst>
                                  <p:childTnLst>
                                    <p:set>
                                      <p:cBhvr>
                                        <p:cTn id="240" dur="1" fill="hold">
                                          <p:stCondLst>
                                            <p:cond delay="0"/>
                                          </p:stCondLst>
                                        </p:cTn>
                                        <p:tgtEl>
                                          <p:spTgt spid="95"/>
                                        </p:tgtEl>
                                        <p:attrNameLst>
                                          <p:attrName>style.visibility</p:attrName>
                                        </p:attrNameLst>
                                      </p:cBhvr>
                                      <p:to>
                                        <p:strVal val="visible"/>
                                      </p:to>
                                    </p:set>
                                    <p:animEffect filter="wipe(left)" transition="in">
                                      <p:cBhvr additive="repl">
                                        <p:cTn id="241" dur="1000"/>
                                        <p:tgtEl>
                                          <p:spTgt spid="95"/>
                                        </p:tgtEl>
                                      </p:cBhvr>
                                    </p:animEffect>
                                  </p:childTnLst>
                                </p:cTn>
                              </p:par>
                            </p:childTnLst>
                          </p:cTn>
                        </p:par>
                      </p:childTnLst>
                    </p:cTn>
                  </p:par>
                  <p:par>
                    <p:cTn id="242" nodeType="clickEffect" fill="hold">
                      <p:stCondLst>
                        <p:cond delay="indefinite"/>
                      </p:stCondLst>
                      <p:childTnLst>
                        <p:par>
                          <p:cTn id="243" nodeType="withEffect" fill="hold">
                            <p:stCondLst>
                              <p:cond delay="0"/>
                            </p:stCondLst>
                            <p:childTnLst>
                              <p:par>
                                <p:cTn id="244" nodeType="clickEffect" fill="hold" presetClass="entr" presetID="22" presetSubtype="8">
                                  <p:stCondLst>
                                    <p:cond delay="0"/>
                                  </p:stCondLst>
                                  <p:childTnLst>
                                    <p:set>
                                      <p:cBhvr>
                                        <p:cTn id="245" dur="1" fill="hold">
                                          <p:stCondLst>
                                            <p:cond delay="0"/>
                                          </p:stCondLst>
                                        </p:cTn>
                                        <p:tgtEl>
                                          <p:spTgt spid="96"/>
                                        </p:tgtEl>
                                        <p:attrNameLst>
                                          <p:attrName>style.visibility</p:attrName>
                                        </p:attrNameLst>
                                      </p:cBhvr>
                                      <p:to>
                                        <p:strVal val="visible"/>
                                      </p:to>
                                    </p:set>
                                    <p:animEffect filter="wipe(left)" transition="in">
                                      <p:cBhvr additive="repl">
                                        <p:cTn id="246" dur="1000"/>
                                        <p:tgtEl>
                                          <p:spTgt spid="96"/>
                                        </p:tgtEl>
                                      </p:cBhvr>
                                    </p:animEffect>
                                  </p:childTnLst>
                                </p:cTn>
                              </p:par>
                            </p:childTnLst>
                          </p:cTn>
                        </p:par>
                      </p:childTnLst>
                    </p:cTn>
                  </p:par>
                  <p:par>
                    <p:cTn id="247" nodeType="clickEffect" fill="hold">
                      <p:stCondLst>
                        <p:cond delay="indefinite"/>
                      </p:stCondLst>
                      <p:childTnLst>
                        <p:par>
                          <p:cTn id="248" nodeType="withEffect" fill="hold">
                            <p:stCondLst>
                              <p:cond delay="0"/>
                            </p:stCondLst>
                            <p:childTnLst>
                              <p:par>
                                <p:cTn id="249" nodeType="clickEffect" fill="hold" presetClass="entr" presetID="22" presetSubtype="8">
                                  <p:stCondLst>
                                    <p:cond delay="0"/>
                                  </p:stCondLst>
                                  <p:childTnLst>
                                    <p:set>
                                      <p:cBhvr>
                                        <p:cTn id="250" dur="1" fill="hold">
                                          <p:stCondLst>
                                            <p:cond delay="0"/>
                                          </p:stCondLst>
                                        </p:cTn>
                                        <p:tgtEl>
                                          <p:spTgt spid="97"/>
                                        </p:tgtEl>
                                        <p:attrNameLst>
                                          <p:attrName>style.visibility</p:attrName>
                                        </p:attrNameLst>
                                      </p:cBhvr>
                                      <p:to>
                                        <p:strVal val="visible"/>
                                      </p:to>
                                    </p:set>
                                    <p:animEffect filter="wipe(left)" transition="in">
                                      <p:cBhvr additive="repl">
                                        <p:cTn id="251" dur="1000"/>
                                        <p:tgtEl>
                                          <p:spTgt spid="97"/>
                                        </p:tgtEl>
                                      </p:cBhvr>
                                    </p:animEffect>
                                  </p:childTnLst>
                                </p:cTn>
                              </p:par>
                            </p:childTnLst>
                          </p:cTn>
                        </p:par>
                      </p:childTnLst>
                    </p:cTn>
                  </p:par>
                  <p:par>
                    <p:cTn id="252" nodeType="clickEffect" fill="hold">
                      <p:stCondLst>
                        <p:cond delay="indefinite"/>
                      </p:stCondLst>
                      <p:childTnLst>
                        <p:par>
                          <p:cTn id="253" nodeType="withEffect" fill="hold">
                            <p:stCondLst>
                              <p:cond delay="0"/>
                            </p:stCondLst>
                            <p:childTnLst>
                              <p:par>
                                <p:cTn id="254" nodeType="clickEffect" fill="hold" presetClass="entr" presetID="16" presetSubtype="42">
                                  <p:stCondLst>
                                    <p:cond delay="0"/>
                                  </p:stCondLst>
                                  <p:childTnLst>
                                    <p:set>
                                      <p:cBhvr>
                                        <p:cTn id="255" dur="1" fill="hold">
                                          <p:stCondLst>
                                            <p:cond delay="0"/>
                                          </p:stCondLst>
                                        </p:cTn>
                                        <p:tgtEl>
                                          <p:spTgt spid="98"/>
                                        </p:tgtEl>
                                        <p:attrNameLst>
                                          <p:attrName>style.visibility</p:attrName>
                                        </p:attrNameLst>
                                      </p:cBhvr>
                                      <p:to>
                                        <p:strVal val="visible"/>
                                      </p:to>
                                    </p:set>
                                    <p:animEffect filter="barn(outHorizontal)" transition="in">
                                      <p:cBhvr additive="repl">
                                        <p:cTn id="256" dur="1000"/>
                                        <p:tgtEl>
                                          <p:spTgt spid="98"/>
                                        </p:tgtEl>
                                      </p:cBhvr>
                                    </p:animEffect>
                                  </p:childTnLst>
                                </p:cTn>
                              </p:par>
                            </p:childTnLst>
                          </p:cTn>
                        </p:par>
                      </p:childTnLst>
                    </p:cTn>
                  </p:par>
                  <p:par>
                    <p:cTn id="257" nodeType="clickEffect" fill="hold">
                      <p:stCondLst>
                        <p:cond delay="indefinite"/>
                      </p:stCondLst>
                      <p:childTnLst>
                        <p:par>
                          <p:cTn id="258" nodeType="withEffect" fill="hold">
                            <p:stCondLst>
                              <p:cond delay="0"/>
                            </p:stCondLst>
                            <p:childTnLst>
                              <p:par>
                                <p:cTn id="259" nodeType="clickEffect" fill="hold" presetClass="entr" presetID="16" presetSubtype="42">
                                  <p:stCondLst>
                                    <p:cond delay="0"/>
                                  </p:stCondLst>
                                  <p:childTnLst>
                                    <p:set>
                                      <p:cBhvr>
                                        <p:cTn id="260" dur="1" fill="hold">
                                          <p:stCondLst>
                                            <p:cond delay="0"/>
                                          </p:stCondLst>
                                        </p:cTn>
                                        <p:tgtEl>
                                          <p:spTgt spid="99"/>
                                        </p:tgtEl>
                                        <p:attrNameLst>
                                          <p:attrName>style.visibility</p:attrName>
                                        </p:attrNameLst>
                                      </p:cBhvr>
                                      <p:to>
                                        <p:strVal val="visible"/>
                                      </p:to>
                                    </p:set>
                                    <p:animEffect filter="barn(outHorizontal)" transition="in">
                                      <p:cBhvr additive="repl">
                                        <p:cTn id="261" dur="1000"/>
                                        <p:tgtEl>
                                          <p:spTgt spid="99"/>
                                        </p:tgtEl>
                                      </p:cBhvr>
                                    </p:animEffect>
                                  </p:childTnLst>
                                </p:cTn>
                              </p:par>
                            </p:childTnLst>
                          </p:cTn>
                        </p:par>
                      </p:childTnLst>
                    </p:cTn>
                  </p:par>
                  <p:par>
                    <p:cTn id="262" nodeType="clickEffect" fill="hold">
                      <p:stCondLst>
                        <p:cond delay="indefinite"/>
                      </p:stCondLst>
                      <p:childTnLst>
                        <p:par>
                          <p:cTn id="263" nodeType="withEffect" fill="hold">
                            <p:stCondLst>
                              <p:cond delay="0"/>
                            </p:stCondLst>
                            <p:childTnLst>
                              <p:par>
                                <p:cTn id="264" nodeType="clickEffect" fill="hold" presetClass="entr" presetID="16" presetSubtype="42">
                                  <p:stCondLst>
                                    <p:cond delay="0"/>
                                  </p:stCondLst>
                                  <p:childTnLst>
                                    <p:set>
                                      <p:cBhvr>
                                        <p:cTn id="265" dur="1" fill="hold">
                                          <p:stCondLst>
                                            <p:cond delay="0"/>
                                          </p:stCondLst>
                                        </p:cTn>
                                        <p:tgtEl>
                                          <p:spTgt spid="100"/>
                                        </p:tgtEl>
                                        <p:attrNameLst>
                                          <p:attrName>style.visibility</p:attrName>
                                        </p:attrNameLst>
                                      </p:cBhvr>
                                      <p:to>
                                        <p:strVal val="visible"/>
                                      </p:to>
                                    </p:set>
                                    <p:animEffect filter="barn(outHorizontal)" transition="in">
                                      <p:cBhvr additive="repl">
                                        <p:cTn id="266" dur="1000"/>
                                        <p:tgtEl>
                                          <p:spTgt spid="100"/>
                                        </p:tgtEl>
                                      </p:cBhvr>
                                    </p:animEffect>
                                  </p:childTnLst>
                                </p:cTn>
                              </p:par>
                            </p:childTnLst>
                          </p:cTn>
                        </p:par>
                      </p:childTnLst>
                    </p:cTn>
                  </p:par>
                  <p:par>
                    <p:cTn id="267" nodeType="clickEffect" fill="hold">
                      <p:stCondLst>
                        <p:cond delay="indefinite"/>
                      </p:stCondLst>
                      <p:childTnLst>
                        <p:par>
                          <p:cTn id="268" nodeType="withEffect" fill="hold">
                            <p:stCondLst>
                              <p:cond delay="0"/>
                            </p:stCondLst>
                            <p:childTnLst>
                              <p:par>
                                <p:cTn id="269" nodeType="clickEffect" fill="hold" presetClass="entr" presetID="10">
                                  <p:stCondLst>
                                    <p:cond delay="0"/>
                                  </p:stCondLst>
                                  <p:childTnLst>
                                    <p:set>
                                      <p:cBhvr>
                                        <p:cTn id="270" dur="1" fill="hold">
                                          <p:stCondLst>
                                            <p:cond delay="0"/>
                                          </p:stCondLst>
                                        </p:cTn>
                                        <p:tgtEl>
                                          <p:spTgt spid="101"/>
                                        </p:tgtEl>
                                        <p:attrNameLst>
                                          <p:attrName>style.visibility</p:attrName>
                                        </p:attrNameLst>
                                      </p:cBhvr>
                                      <p:to>
                                        <p:strVal val="visible"/>
                                      </p:to>
                                    </p:set>
                                    <p:animEffect filter="fade" transition="in">
                                      <p:cBhvr additive="repl">
                                        <p:cTn id="271" dur="5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03" name="PlaceHolder 2"/>
          <p:cNvSpPr>
            <a:spLocks noGrp="1"/>
          </p:cNvSpPr>
          <p:nvPr>
            <p:ph/>
          </p:nvPr>
        </p:nvSpPr>
        <p:spPr>
          <a:xfrm>
            <a:off x="360360" y="1440000"/>
            <a:ext cx="31446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As the quantity increases, economic profit (</a:t>
            </a:r>
            <a:r>
              <a:rPr b="0" i="1" lang="en-US" sz="2400" strike="noStrike" u="none">
                <a:solidFill>
                  <a:srgbClr val="000000"/>
                </a:solidFill>
                <a:effectLst/>
                <a:uFillTx/>
                <a:latin typeface="Arial"/>
                <a:ea typeface="ＭＳ Ｐゴシック"/>
              </a:rPr>
              <a:t>TR</a:t>
            </a:r>
            <a:r>
              <a:rPr b="0" lang="en-US" sz="2400" strike="noStrike" u="none">
                <a:solidFill>
                  <a:srgbClr val="000000"/>
                </a:solidFill>
                <a:effectLst/>
                <a:uFillTx/>
                <a:latin typeface="Arial"/>
                <a:ea typeface="ＭＳ Ｐゴシック"/>
              </a:rPr>
              <a:t> </a:t>
            </a:r>
            <a:r>
              <a:rPr b="0" lang="en-US" sz="2400" strike="noStrike" u="none">
                <a:solidFill>
                  <a:srgbClr val="000000"/>
                </a:solidFill>
                <a:effectLst/>
                <a:uFillTx/>
                <a:latin typeface="Arial"/>
                <a:ea typeface="ＭＳ Ｐゴシック"/>
              </a:rPr>
              <a:t>– </a:t>
            </a:r>
            <a:r>
              <a:rPr b="0" i="1" lang="en-US" sz="2400" strike="noStrike" u="none">
                <a:solidFill>
                  <a:srgbClr val="000000"/>
                </a:solidFill>
                <a:effectLst/>
                <a:uFillTx/>
                <a:latin typeface="Arial"/>
                <a:ea typeface="ＭＳ Ｐゴシック"/>
              </a:rPr>
              <a:t>TC)</a:t>
            </a:r>
            <a:r>
              <a:rPr b="0" lang="en-US" sz="2400" strike="noStrike" u="none">
                <a:solidFill>
                  <a:srgbClr val="000000"/>
                </a:solidFill>
                <a:effectLst/>
                <a:uFillTx/>
                <a:latin typeface="Arial"/>
                <a:ea typeface="ＭＳ Ｐゴシック"/>
              </a:rPr>
              <a:t> increases, reaches a maximum, and then decreases.</a:t>
            </a:r>
            <a:endParaRPr b="1" lang="en-CA" sz="2400" strike="noStrike" u="none">
              <a:solidFill>
                <a:srgbClr val="00468f"/>
              </a:solidFill>
              <a:effectLst/>
              <a:uFillTx/>
              <a:latin typeface="Arial"/>
            </a:endParaRPr>
          </a:p>
        </p:txBody>
      </p:sp>
      <p:pic>
        <p:nvPicPr>
          <p:cNvPr id="104" name="Picture 11" descr=""/>
          <p:cNvPicPr/>
          <p:nvPr/>
        </p:nvPicPr>
        <p:blipFill>
          <a:blip r:embed="rId1"/>
          <a:stretch/>
        </p:blipFill>
        <p:spPr>
          <a:xfrm>
            <a:off x="3564000" y="1403280"/>
            <a:ext cx="5214600" cy="4814640"/>
          </a:xfrm>
          <a:prstGeom prst="rect">
            <a:avLst/>
          </a:prstGeom>
          <a:noFill/>
          <a:ln w="0">
            <a:noFill/>
          </a:ln>
        </p:spPr>
      </p:pic>
      <p:pic>
        <p:nvPicPr>
          <p:cNvPr id="105" name="Picture 12" descr=""/>
          <p:cNvPicPr/>
          <p:nvPr/>
        </p:nvPicPr>
        <p:blipFill>
          <a:blip r:embed="rId2"/>
          <a:stretch/>
        </p:blipFill>
        <p:spPr>
          <a:xfrm>
            <a:off x="3564000" y="1403280"/>
            <a:ext cx="5214600" cy="4814640"/>
          </a:xfrm>
          <a:prstGeom prst="rect">
            <a:avLst/>
          </a:prstGeom>
          <a:noFill/>
          <a:ln w="0">
            <a:noFill/>
          </a:ln>
        </p:spPr>
      </p:pic>
      <p:pic>
        <p:nvPicPr>
          <p:cNvPr id="106" name="Picture 13" descr=""/>
          <p:cNvPicPr/>
          <p:nvPr/>
        </p:nvPicPr>
        <p:blipFill>
          <a:blip r:embed="rId3"/>
          <a:stretch/>
        </p:blipFill>
        <p:spPr>
          <a:xfrm>
            <a:off x="3564000" y="1403280"/>
            <a:ext cx="5214600" cy="4814640"/>
          </a:xfrm>
          <a:prstGeom prst="rect">
            <a:avLst/>
          </a:prstGeom>
          <a:noFill/>
          <a:ln w="0">
            <a:noFill/>
          </a:ln>
        </p:spPr>
      </p:pic>
      <p:pic>
        <p:nvPicPr>
          <p:cNvPr id="107" name="Picture 14" descr=""/>
          <p:cNvPicPr/>
          <p:nvPr/>
        </p:nvPicPr>
        <p:blipFill>
          <a:blip r:embed="rId4"/>
          <a:stretch/>
        </p:blipFill>
        <p:spPr>
          <a:xfrm>
            <a:off x="3564000" y="1403280"/>
            <a:ext cx="5214600" cy="4814640"/>
          </a:xfrm>
          <a:prstGeom prst="rect">
            <a:avLst/>
          </a:prstGeom>
          <a:noFill/>
          <a:ln w="0">
            <a:noFill/>
          </a:ln>
        </p:spPr>
      </p:pic>
    </p:spTree>
  </p:cSld>
  <p:transition spd="slow">
    <p:wipe dir="r"/>
  </p:transition>
  <p:timing>
    <p:tnLst>
      <p:par>
        <p:cTn id="272" dur="indefinite" restart="never" nodeType="tmRoot">
          <p:childTnLst>
            <p:seq>
              <p:cTn id="273" dur="indefinite" nodeType="mainSeq">
                <p:childTnLst>
                  <p:par>
                    <p:cTn id="274" nodeType="clickEffect" fill="hold">
                      <p:stCondLst>
                        <p:cond delay="indefinite"/>
                      </p:stCondLst>
                      <p:childTnLst>
                        <p:par>
                          <p:cTn id="275" nodeType="withEffect" fill="hold">
                            <p:stCondLst>
                              <p:cond delay="0"/>
                            </p:stCondLst>
                            <p:childTnLst>
                              <p:par>
                                <p:cTn id="276" nodeType="clickEffect" fill="hold" presetClass="entr" presetID="22" presetSubtype="8">
                                  <p:stCondLst>
                                    <p:cond delay="0"/>
                                  </p:stCondLst>
                                  <p:childTnLst>
                                    <p:set>
                                      <p:cBhvr>
                                        <p:cTn id="277" dur="1" fill="hold">
                                          <p:stCondLst>
                                            <p:cond delay="0"/>
                                          </p:stCondLst>
                                        </p:cTn>
                                        <p:tgtEl>
                                          <p:spTgt spid="107"/>
                                        </p:tgtEl>
                                        <p:attrNameLst>
                                          <p:attrName>style.visibility</p:attrName>
                                        </p:attrNameLst>
                                      </p:cBhvr>
                                      <p:to>
                                        <p:strVal val="visible"/>
                                      </p:to>
                                    </p:set>
                                    <p:animEffect filter="wipe(left)" transition="in">
                                      <p:cBhvr additive="repl">
                                        <p:cTn id="278" dur="10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09" name="PlaceHolder 2"/>
          <p:cNvSpPr>
            <a:spLocks noGrp="1"/>
          </p:cNvSpPr>
          <p:nvPr>
            <p:ph/>
          </p:nvPr>
        </p:nvSpPr>
        <p:spPr>
          <a:xfrm>
            <a:off x="360360" y="1440000"/>
            <a:ext cx="32968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At low output levels, the firm incurs an economic loss.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total revenue exceeds total cost, the firm earns an economic profit.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Profit is maximized when the gap between total revenue and total cost is the largest, at 10 cans per day.</a:t>
            </a:r>
            <a:endParaRPr b="1" lang="en-CA" sz="2400" strike="noStrike" u="none">
              <a:solidFill>
                <a:srgbClr val="00468f"/>
              </a:solidFill>
              <a:effectLst/>
              <a:uFillTx/>
              <a:latin typeface="Arial"/>
            </a:endParaRPr>
          </a:p>
        </p:txBody>
      </p:sp>
      <p:pic>
        <p:nvPicPr>
          <p:cNvPr id="110" name="Picture 13" descr=""/>
          <p:cNvPicPr/>
          <p:nvPr/>
        </p:nvPicPr>
        <p:blipFill>
          <a:blip r:embed="rId1"/>
          <a:stretch/>
        </p:blipFill>
        <p:spPr>
          <a:xfrm>
            <a:off x="3564000" y="1403280"/>
            <a:ext cx="5214600" cy="4814640"/>
          </a:xfrm>
          <a:prstGeom prst="rect">
            <a:avLst/>
          </a:prstGeom>
          <a:noFill/>
          <a:ln w="0">
            <a:noFill/>
          </a:ln>
        </p:spPr>
      </p:pic>
      <p:pic>
        <p:nvPicPr>
          <p:cNvPr id="111" name="Picture 14" descr=""/>
          <p:cNvPicPr/>
          <p:nvPr/>
        </p:nvPicPr>
        <p:blipFill>
          <a:blip r:embed="rId2"/>
          <a:stretch/>
        </p:blipFill>
        <p:spPr>
          <a:xfrm>
            <a:off x="3564000" y="1403280"/>
            <a:ext cx="5214600" cy="4814640"/>
          </a:xfrm>
          <a:prstGeom prst="rect">
            <a:avLst/>
          </a:prstGeom>
          <a:noFill/>
          <a:ln w="0">
            <a:noFill/>
          </a:ln>
        </p:spPr>
      </p:pic>
      <p:pic>
        <p:nvPicPr>
          <p:cNvPr id="112" name="Picture 15" descr=""/>
          <p:cNvPicPr/>
          <p:nvPr/>
        </p:nvPicPr>
        <p:blipFill>
          <a:blip r:embed="rId3"/>
          <a:stretch/>
        </p:blipFill>
        <p:spPr>
          <a:xfrm>
            <a:off x="3564000" y="1403280"/>
            <a:ext cx="5214600" cy="4814640"/>
          </a:xfrm>
          <a:prstGeom prst="rect">
            <a:avLst/>
          </a:prstGeom>
          <a:noFill/>
          <a:ln w="0">
            <a:noFill/>
          </a:ln>
        </p:spPr>
      </p:pic>
      <p:pic>
        <p:nvPicPr>
          <p:cNvPr id="113" name="Picture 16" descr=""/>
          <p:cNvPicPr/>
          <p:nvPr/>
        </p:nvPicPr>
        <p:blipFill>
          <a:blip r:embed="rId4"/>
          <a:stretch/>
        </p:blipFill>
        <p:spPr>
          <a:xfrm>
            <a:off x="3564000" y="1403280"/>
            <a:ext cx="5214600" cy="4814640"/>
          </a:xfrm>
          <a:prstGeom prst="rect">
            <a:avLst/>
          </a:prstGeom>
          <a:noFill/>
          <a:ln w="0">
            <a:noFill/>
          </a:ln>
        </p:spPr>
      </p:pic>
      <p:pic>
        <p:nvPicPr>
          <p:cNvPr id="114" name="Picture 17" descr=""/>
          <p:cNvPicPr/>
          <p:nvPr/>
        </p:nvPicPr>
        <p:blipFill>
          <a:blip r:embed="rId5"/>
          <a:stretch/>
        </p:blipFill>
        <p:spPr>
          <a:xfrm>
            <a:off x="3564000" y="1403280"/>
            <a:ext cx="5214600" cy="4814640"/>
          </a:xfrm>
          <a:prstGeom prst="rect">
            <a:avLst/>
          </a:prstGeom>
          <a:noFill/>
          <a:ln w="0">
            <a:noFill/>
          </a:ln>
        </p:spPr>
      </p:pic>
      <p:pic>
        <p:nvPicPr>
          <p:cNvPr id="115" name="Picture 18" descr=""/>
          <p:cNvPicPr/>
          <p:nvPr/>
        </p:nvPicPr>
        <p:blipFill>
          <a:blip r:embed="rId6"/>
          <a:stretch/>
        </p:blipFill>
        <p:spPr>
          <a:xfrm>
            <a:off x="3564000" y="1403280"/>
            <a:ext cx="5214600" cy="4814640"/>
          </a:xfrm>
          <a:prstGeom prst="rect">
            <a:avLst/>
          </a:prstGeom>
          <a:noFill/>
          <a:ln w="0">
            <a:noFill/>
          </a:ln>
        </p:spPr>
      </p:pic>
      <p:pic>
        <p:nvPicPr>
          <p:cNvPr id="116" name="Picture 23" descr=""/>
          <p:cNvPicPr/>
          <p:nvPr/>
        </p:nvPicPr>
        <p:blipFill>
          <a:blip r:embed="rId7"/>
          <a:stretch/>
        </p:blipFill>
        <p:spPr>
          <a:xfrm>
            <a:off x="3564000" y="1403280"/>
            <a:ext cx="5214600" cy="4814640"/>
          </a:xfrm>
          <a:prstGeom prst="rect">
            <a:avLst/>
          </a:prstGeom>
          <a:noFill/>
          <a:ln w="0">
            <a:noFill/>
          </a:ln>
        </p:spPr>
      </p:pic>
      <p:pic>
        <p:nvPicPr>
          <p:cNvPr id="117" name="Picture 24" descr=""/>
          <p:cNvPicPr/>
          <p:nvPr/>
        </p:nvPicPr>
        <p:blipFill>
          <a:blip r:embed="rId8"/>
          <a:stretch/>
        </p:blipFill>
        <p:spPr>
          <a:xfrm>
            <a:off x="3564000" y="1403280"/>
            <a:ext cx="5214600" cy="4814640"/>
          </a:xfrm>
          <a:prstGeom prst="rect">
            <a:avLst/>
          </a:prstGeom>
          <a:noFill/>
          <a:ln w="0">
            <a:noFill/>
          </a:ln>
        </p:spPr>
      </p:pic>
    </p:spTree>
  </p:cSld>
  <p:transition spd="slow">
    <p:wipe dir="r"/>
  </p:transition>
  <p:timing>
    <p:tnLst>
      <p:par>
        <p:cTn id="279" dur="indefinite" restart="never" nodeType="tmRoot">
          <p:childTnLst>
            <p:seq>
              <p:cTn id="280" dur="indefinite" nodeType="mainSeq">
                <p:childTnLst>
                  <p:par>
                    <p:cTn id="281" nodeType="clickEffect" fill="hold">
                      <p:stCondLst>
                        <p:cond delay="0"/>
                      </p:stCondLst>
                      <p:childTnLst>
                        <p:par>
                          <p:cTn id="282" nodeType="withEffect" fill="hold">
                            <p:stCondLst>
                              <p:cond delay="0"/>
                            </p:stCondLst>
                            <p:childTnLst>
                              <p:par>
                                <p:cTn id="283" nodeType="withEffect" fill="hold" presetClass="entr" presetID="16" presetSubtype="42">
                                  <p:stCondLst>
                                    <p:cond delay="0"/>
                                  </p:stCondLst>
                                  <p:childTnLst>
                                    <p:set>
                                      <p:cBhvr>
                                        <p:cTn id="284" dur="1" fill="hold">
                                          <p:stCondLst>
                                            <p:cond delay="0"/>
                                          </p:stCondLst>
                                        </p:cTn>
                                        <p:tgtEl>
                                          <p:spTgt spid="114"/>
                                        </p:tgtEl>
                                        <p:attrNameLst>
                                          <p:attrName>style.visibility</p:attrName>
                                        </p:attrNameLst>
                                      </p:cBhvr>
                                      <p:to>
                                        <p:strVal val="visible"/>
                                      </p:to>
                                    </p:set>
                                    <p:animEffect filter="barn(outHorizontal)" transition="in">
                                      <p:cBhvr additive="repl">
                                        <p:cTn id="285" dur="1000"/>
                                        <p:tgtEl>
                                          <p:spTgt spid="114"/>
                                        </p:tgtEl>
                                      </p:cBhvr>
                                    </p:animEffect>
                                  </p:childTnLst>
                                </p:cTn>
                              </p:par>
                            </p:childTnLst>
                          </p:cTn>
                        </p:par>
                      </p:childTnLst>
                    </p:cTn>
                  </p:par>
                  <p:par>
                    <p:cTn id="286" nodeType="clickEffect" fill="hold">
                      <p:stCondLst>
                        <p:cond delay="indefinite"/>
                      </p:stCondLst>
                      <p:childTnLst>
                        <p:par>
                          <p:cTn id="287" nodeType="withEffect" fill="hold">
                            <p:stCondLst>
                              <p:cond delay="0"/>
                            </p:stCondLst>
                            <p:childTnLst>
                              <p:par>
                                <p:cTn id="288" nodeType="clickEffect" fill="hold" presetClass="entr" presetID="22" presetSubtype="8">
                                  <p:stCondLst>
                                    <p:cond delay="0"/>
                                  </p:stCondLst>
                                  <p:childTnLst>
                                    <p:set>
                                      <p:cBhvr>
                                        <p:cTn id="289" dur="1" fill="hold">
                                          <p:stCondLst>
                                            <p:cond delay="0"/>
                                          </p:stCondLst>
                                        </p:cTn>
                                        <p:tgtEl>
                                          <p:spTgt spid="109">
                                            <p:txEl>
                                              <p:pRg st="1" end="1"/>
                                            </p:txEl>
                                          </p:spTgt>
                                        </p:tgtEl>
                                        <p:attrNameLst>
                                          <p:attrName>style.visibility</p:attrName>
                                        </p:attrNameLst>
                                      </p:cBhvr>
                                      <p:to>
                                        <p:strVal val="visible"/>
                                      </p:to>
                                    </p:set>
                                    <p:animEffect filter="wipe(left)" transition="in">
                                      <p:cBhvr additive="repl">
                                        <p:cTn id="290" dur="500"/>
                                        <p:tgtEl>
                                          <p:spTgt spid="109">
                                            <p:txEl>
                                              <p:pRg st="1" end="1"/>
                                            </p:txEl>
                                          </p:spTgt>
                                        </p:tgtEl>
                                      </p:cBhvr>
                                    </p:animEffect>
                                  </p:childTnLst>
                                </p:cTn>
                              </p:par>
                              <p:par>
                                <p:cTn id="291" nodeType="withEffect" fill="hold" presetClass="entr" presetID="16" presetSubtype="42">
                                  <p:stCondLst>
                                    <p:cond delay="0"/>
                                  </p:stCondLst>
                                  <p:childTnLst>
                                    <p:set>
                                      <p:cBhvr>
                                        <p:cTn id="292" dur="1" fill="hold">
                                          <p:stCondLst>
                                            <p:cond delay="0"/>
                                          </p:stCondLst>
                                        </p:cTn>
                                        <p:tgtEl>
                                          <p:spTgt spid="115"/>
                                        </p:tgtEl>
                                        <p:attrNameLst>
                                          <p:attrName>style.visibility</p:attrName>
                                        </p:attrNameLst>
                                      </p:cBhvr>
                                      <p:to>
                                        <p:strVal val="visible"/>
                                      </p:to>
                                    </p:set>
                                    <p:animEffect filter="barn(outHorizontal)" transition="in">
                                      <p:cBhvr additive="repl">
                                        <p:cTn id="293" dur="1000"/>
                                        <p:tgtEl>
                                          <p:spTgt spid="115"/>
                                        </p:tgtEl>
                                      </p:cBhvr>
                                    </p:animEffect>
                                  </p:childTnLst>
                                </p:cTn>
                              </p:par>
                            </p:childTnLst>
                          </p:cTn>
                        </p:par>
                      </p:childTnLst>
                    </p:cTn>
                  </p:par>
                  <p:par>
                    <p:cTn id="294" nodeType="clickEffect" fill="hold">
                      <p:stCondLst>
                        <p:cond delay="indefinite"/>
                      </p:stCondLst>
                      <p:childTnLst>
                        <p:par>
                          <p:cTn id="295" nodeType="withEffect" fill="hold">
                            <p:stCondLst>
                              <p:cond delay="0"/>
                            </p:stCondLst>
                            <p:childTnLst>
                              <p:par>
                                <p:cTn id="296" nodeType="clickEffect" fill="hold" presetClass="entr" presetID="22" presetSubtype="8">
                                  <p:stCondLst>
                                    <p:cond delay="0"/>
                                  </p:stCondLst>
                                  <p:childTnLst>
                                    <p:set>
                                      <p:cBhvr>
                                        <p:cTn id="297" dur="1" fill="hold">
                                          <p:stCondLst>
                                            <p:cond delay="0"/>
                                          </p:stCondLst>
                                        </p:cTn>
                                        <p:tgtEl>
                                          <p:spTgt spid="109">
                                            <p:txEl>
                                              <p:pRg st="2" end="2"/>
                                            </p:txEl>
                                          </p:spTgt>
                                        </p:tgtEl>
                                        <p:attrNameLst>
                                          <p:attrName>style.visibility</p:attrName>
                                        </p:attrNameLst>
                                      </p:cBhvr>
                                      <p:to>
                                        <p:strVal val="visible"/>
                                      </p:to>
                                    </p:set>
                                    <p:animEffect filter="wipe(left)" transition="in">
                                      <p:cBhvr additive="repl">
                                        <p:cTn id="298" dur="500"/>
                                        <p:tgtEl>
                                          <p:spTgt spid="109">
                                            <p:txEl>
                                              <p:pRg st="2" end="2"/>
                                            </p:txEl>
                                          </p:spTgt>
                                        </p:tgtEl>
                                      </p:cBhvr>
                                    </p:animEffect>
                                  </p:childTnLst>
                                </p:cTn>
                              </p:par>
                              <p:par>
                                <p:cTn id="299" nodeType="withEffect" fill="hold" presetClass="entr" presetID="16" presetSubtype="42">
                                  <p:stCondLst>
                                    <p:cond delay="0"/>
                                  </p:stCondLst>
                                  <p:childTnLst>
                                    <p:set>
                                      <p:cBhvr>
                                        <p:cTn id="300" dur="1" fill="hold">
                                          <p:stCondLst>
                                            <p:cond delay="0"/>
                                          </p:stCondLst>
                                        </p:cTn>
                                        <p:tgtEl>
                                          <p:spTgt spid="116"/>
                                        </p:tgtEl>
                                        <p:attrNameLst>
                                          <p:attrName>style.visibility</p:attrName>
                                        </p:attrNameLst>
                                      </p:cBhvr>
                                      <p:to>
                                        <p:strVal val="visible"/>
                                      </p:to>
                                    </p:set>
                                    <p:animEffect filter="barn(outHorizontal)" transition="in">
                                      <p:cBhvr additive="repl">
                                        <p:cTn id="301" dur="1000"/>
                                        <p:tgtEl>
                                          <p:spTgt spid="116"/>
                                        </p:tgtEl>
                                      </p:cBhvr>
                                    </p:animEffect>
                                  </p:childTnLst>
                                </p:cTn>
                              </p:par>
                              <p:par>
                                <p:cTn id="302" nodeType="withEffect" fill="hold" presetClass="entr" presetID="10">
                                  <p:stCondLst>
                                    <p:cond delay="1500"/>
                                  </p:stCondLst>
                                  <p:childTnLst>
                                    <p:set>
                                      <p:cBhvr>
                                        <p:cTn id="303" dur="1" fill="hold">
                                          <p:stCondLst>
                                            <p:cond delay="0"/>
                                          </p:stCondLst>
                                        </p:cTn>
                                        <p:tgtEl>
                                          <p:spTgt spid="117"/>
                                        </p:tgtEl>
                                        <p:attrNameLst>
                                          <p:attrName>style.visibility</p:attrName>
                                        </p:attrNameLst>
                                      </p:cBhvr>
                                      <p:to>
                                        <p:strVal val="visible"/>
                                      </p:to>
                                    </p:set>
                                    <p:animEffect filter="fade" transition="in">
                                      <p:cBhvr additive="repl">
                                        <p:cTn id="304" dur="5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1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Marginal Analysis and the Supply Decision</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Marginal analysis compares marginal revenue, </a:t>
            </a:r>
            <a:r>
              <a:rPr b="0" i="1" lang="en-US" sz="2400" strike="noStrike" u="none">
                <a:solidFill>
                  <a:schemeClr val="dk1"/>
                </a:solidFill>
                <a:effectLst/>
                <a:uFillTx/>
                <a:latin typeface="Arial"/>
                <a:ea typeface="ＭＳ Ｐゴシック"/>
              </a:rPr>
              <a:t>MR</a:t>
            </a:r>
            <a:r>
              <a:rPr b="0" lang="en-US" sz="2400" strike="noStrike" u="none">
                <a:solidFill>
                  <a:schemeClr val="dk1"/>
                </a:solidFill>
                <a:effectLst/>
                <a:uFillTx/>
                <a:latin typeface="Arial"/>
                <a:ea typeface="ＭＳ Ｐゴシック"/>
              </a:rPr>
              <a:t>, with marginal cost,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As output increases, marginal revenue remains constant but marginal cost increases.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marginal revenue exceeds marginal cost (if </a:t>
            </a:r>
            <a:r>
              <a:rPr b="0" i="1" lang="en-US" sz="2400" strike="noStrike" u="none">
                <a:solidFill>
                  <a:schemeClr val="dk1"/>
                </a:solidFill>
                <a:effectLst/>
                <a:uFillTx/>
                <a:latin typeface="Arial"/>
                <a:ea typeface="ＭＳ Ｐゴシック"/>
              </a:rPr>
              <a:t>MR</a:t>
            </a:r>
            <a:r>
              <a:rPr b="0" lang="en-US" sz="2400" strike="noStrike" u="none">
                <a:solidFill>
                  <a:schemeClr val="dk1"/>
                </a:solidFill>
                <a:effectLst/>
                <a:uFillTx/>
                <a:latin typeface="Arial"/>
                <a:ea typeface="ＭＳ Ｐゴシック"/>
              </a:rPr>
              <a:t> &gt;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the extra revenue from selling one more unit exceeds the extra cost incurred to produce 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Economic profit increases if output increases.</a:t>
            </a:r>
            <a:endParaRPr b="1" lang="en-CA" sz="2400" strike="noStrike" u="none">
              <a:solidFill>
                <a:srgbClr val="00468f"/>
              </a:solidFill>
              <a:effectLst/>
              <a:uFillTx/>
              <a:latin typeface="Arial"/>
            </a:endParaRPr>
          </a:p>
        </p:txBody>
      </p:sp>
    </p:spTree>
  </p:cSld>
  <p:transition spd="slow">
    <p:wipe dir="r"/>
  </p:transition>
  <p:timing>
    <p:tnLst>
      <p:par>
        <p:cTn id="305" dur="indefinite" restart="never" nodeType="tmRoot">
          <p:childTnLst>
            <p:seq>
              <p:cTn id="306" dur="indefinite" nodeType="mainSeq">
                <p:childTnLst>
                  <p:par>
                    <p:cTn id="307" nodeType="clickEffect" fill="hold">
                      <p:stCondLst>
                        <p:cond delay="indefinite"/>
                      </p:stCondLst>
                      <p:childTnLst>
                        <p:par>
                          <p:cTn id="308" nodeType="withEffect" fill="hold">
                            <p:stCondLst>
                              <p:cond delay="0"/>
                            </p:stCondLst>
                            <p:childTnLst>
                              <p:par>
                                <p:cTn id="309" nodeType="clickEffect" fill="hold" presetClass="entr" presetID="22" presetSubtype="8">
                                  <p:stCondLst>
                                    <p:cond delay="0"/>
                                  </p:stCondLst>
                                  <p:childTnLst>
                                    <p:set>
                                      <p:cBhvr>
                                        <p:cTn id="310" dur="1" fill="hold">
                                          <p:stCondLst>
                                            <p:cond delay="0"/>
                                          </p:stCondLst>
                                        </p:cTn>
                                        <p:tgtEl>
                                          <p:spTgt spid="119">
                                            <p:txEl>
                                              <p:pRg st="1" end="1"/>
                                            </p:txEl>
                                          </p:spTgt>
                                        </p:tgtEl>
                                        <p:attrNameLst>
                                          <p:attrName>style.visibility</p:attrName>
                                        </p:attrNameLst>
                                      </p:cBhvr>
                                      <p:to>
                                        <p:strVal val="visible"/>
                                      </p:to>
                                    </p:set>
                                    <p:animEffect filter="wipe(left)" transition="in">
                                      <p:cBhvr additive="repl">
                                        <p:cTn id="311" dur="500"/>
                                        <p:tgtEl>
                                          <p:spTgt spid="119">
                                            <p:txEl>
                                              <p:pRg st="1" end="1"/>
                                            </p:txEl>
                                          </p:spTgt>
                                        </p:tgtEl>
                                      </p:cBhvr>
                                    </p:animEffect>
                                  </p:childTnLst>
                                </p:cTn>
                              </p:par>
                            </p:childTnLst>
                          </p:cTn>
                        </p:par>
                      </p:childTnLst>
                    </p:cTn>
                  </p:par>
                  <p:par>
                    <p:cTn id="312" nodeType="clickEffect" fill="hold">
                      <p:stCondLst>
                        <p:cond delay="indefinite"/>
                      </p:stCondLst>
                      <p:childTnLst>
                        <p:par>
                          <p:cTn id="313" nodeType="withEffect" fill="hold">
                            <p:stCondLst>
                              <p:cond delay="0"/>
                            </p:stCondLst>
                            <p:childTnLst>
                              <p:par>
                                <p:cTn id="314" nodeType="clickEffect" fill="hold" presetClass="entr" presetID="22" presetSubtype="8">
                                  <p:stCondLst>
                                    <p:cond delay="0"/>
                                  </p:stCondLst>
                                  <p:childTnLst>
                                    <p:set>
                                      <p:cBhvr>
                                        <p:cTn id="315" dur="1" fill="hold">
                                          <p:stCondLst>
                                            <p:cond delay="0"/>
                                          </p:stCondLst>
                                        </p:cTn>
                                        <p:tgtEl>
                                          <p:spTgt spid="119">
                                            <p:txEl>
                                              <p:pRg st="2" end="2"/>
                                            </p:txEl>
                                          </p:spTgt>
                                        </p:tgtEl>
                                        <p:attrNameLst>
                                          <p:attrName>style.visibility</p:attrName>
                                        </p:attrNameLst>
                                      </p:cBhvr>
                                      <p:to>
                                        <p:strVal val="visible"/>
                                      </p:to>
                                    </p:set>
                                    <p:animEffect filter="wipe(left)" transition="in">
                                      <p:cBhvr additive="repl">
                                        <p:cTn id="316" dur="500"/>
                                        <p:tgtEl>
                                          <p:spTgt spid="119">
                                            <p:txEl>
                                              <p:pRg st="2" end="2"/>
                                            </p:txEl>
                                          </p:spTgt>
                                        </p:tgtEl>
                                      </p:cBhvr>
                                    </p:animEffect>
                                  </p:childTnLst>
                                </p:cTn>
                              </p:par>
                            </p:childTnLst>
                          </p:cTn>
                        </p:par>
                      </p:childTnLst>
                    </p:cTn>
                  </p:par>
                  <p:par>
                    <p:cTn id="317" nodeType="clickEffect" fill="hold">
                      <p:stCondLst>
                        <p:cond delay="indefinite"/>
                      </p:stCondLst>
                      <p:childTnLst>
                        <p:par>
                          <p:cTn id="318" nodeType="withEffect" fill="hold">
                            <p:stCondLst>
                              <p:cond delay="0"/>
                            </p:stCondLst>
                            <p:childTnLst>
                              <p:par>
                                <p:cTn id="319" nodeType="clickEffect" fill="hold" presetClass="entr" presetID="22" presetSubtype="8">
                                  <p:stCondLst>
                                    <p:cond delay="0"/>
                                  </p:stCondLst>
                                  <p:childTnLst>
                                    <p:set>
                                      <p:cBhvr>
                                        <p:cTn id="320" dur="1" fill="hold">
                                          <p:stCondLst>
                                            <p:cond delay="0"/>
                                          </p:stCondLst>
                                        </p:cTn>
                                        <p:tgtEl>
                                          <p:spTgt spid="119">
                                            <p:txEl>
                                              <p:pRg st="3" end="3"/>
                                            </p:txEl>
                                          </p:spTgt>
                                        </p:tgtEl>
                                        <p:attrNameLst>
                                          <p:attrName>style.visibility</p:attrName>
                                        </p:attrNameLst>
                                      </p:cBhvr>
                                      <p:to>
                                        <p:strVal val="visible"/>
                                      </p:to>
                                    </p:set>
                                    <p:animEffect filter="wipe(left)" transition="in">
                                      <p:cBhvr additive="repl">
                                        <p:cTn id="321" dur="500"/>
                                        <p:tgtEl>
                                          <p:spTgt spid="119">
                                            <p:txEl>
                                              <p:pRg st="3" end="3"/>
                                            </p:txEl>
                                          </p:spTgt>
                                        </p:tgtEl>
                                      </p:cBhvr>
                                    </p:animEffect>
                                  </p:childTnLst>
                                </p:cTn>
                              </p:par>
                            </p:childTnLst>
                          </p:cTn>
                        </p:par>
                      </p:childTnLst>
                    </p:cTn>
                  </p:par>
                  <p:par>
                    <p:cTn id="322" nodeType="clickEffect" fill="hold">
                      <p:stCondLst>
                        <p:cond delay="indefinite"/>
                      </p:stCondLst>
                      <p:childTnLst>
                        <p:par>
                          <p:cTn id="323" nodeType="withEffect" fill="hold">
                            <p:stCondLst>
                              <p:cond delay="0"/>
                            </p:stCondLst>
                            <p:childTnLst>
                              <p:par>
                                <p:cTn id="324" nodeType="clickEffect" fill="hold" presetClass="entr" presetID="22" presetSubtype="8">
                                  <p:stCondLst>
                                    <p:cond delay="0"/>
                                  </p:stCondLst>
                                  <p:childTnLst>
                                    <p:set>
                                      <p:cBhvr>
                                        <p:cTn id="325" dur="1" fill="hold">
                                          <p:stCondLst>
                                            <p:cond delay="0"/>
                                          </p:stCondLst>
                                        </p:cTn>
                                        <p:tgtEl>
                                          <p:spTgt spid="119">
                                            <p:txEl>
                                              <p:pRg st="4" end="4"/>
                                            </p:txEl>
                                          </p:spTgt>
                                        </p:tgtEl>
                                        <p:attrNameLst>
                                          <p:attrName>style.visibility</p:attrName>
                                        </p:attrNameLst>
                                      </p:cBhvr>
                                      <p:to>
                                        <p:strVal val="visible"/>
                                      </p:to>
                                    </p:set>
                                    <p:animEffect filter="wipe(left)" transition="in">
                                      <p:cBhvr additive="repl">
                                        <p:cTn id="326" dur="500"/>
                                        <p:tgtEl>
                                          <p:spTgt spid="11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2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marginal revenue is less than marginal cost (if </a:t>
            </a:r>
            <a:r>
              <a:rPr b="0" i="1" lang="en-US" sz="2400" strike="noStrike" u="none">
                <a:solidFill>
                  <a:schemeClr val="dk1"/>
                </a:solidFill>
                <a:effectLst/>
                <a:uFillTx/>
                <a:latin typeface="Arial"/>
                <a:ea typeface="ＭＳ Ｐゴシック"/>
              </a:rPr>
              <a:t>MR</a:t>
            </a:r>
            <a:r>
              <a:rPr b="0" lang="en-US" sz="2400" strike="noStrike" u="none">
                <a:solidFill>
                  <a:schemeClr val="dk1"/>
                </a:solidFill>
                <a:effectLst/>
                <a:uFillTx/>
                <a:latin typeface="Arial"/>
                <a:ea typeface="ＭＳ Ｐゴシック"/>
              </a:rPr>
              <a:t> &lt;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the extra revenue from selling one more unit is less than the extra cost incurred to produce 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Economic profit increases if output </a:t>
            </a:r>
            <a:r>
              <a:rPr b="0" i="1" lang="en-US" sz="2400" strike="noStrike" u="none">
                <a:solidFill>
                  <a:schemeClr val="dk1"/>
                </a:solidFill>
                <a:effectLst/>
                <a:uFillTx/>
                <a:latin typeface="Arial"/>
                <a:ea typeface="ＭＳ Ｐゴシック"/>
              </a:rPr>
              <a:t>decreases</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marginal revenue equals marginal cost (if </a:t>
            </a:r>
            <a:r>
              <a:rPr b="0" i="1" lang="en-US" sz="2400" strike="noStrike" u="none">
                <a:solidFill>
                  <a:schemeClr val="dk1"/>
                </a:solidFill>
                <a:effectLst/>
                <a:uFillTx/>
                <a:latin typeface="Arial"/>
                <a:ea typeface="ＭＳ Ｐゴシック"/>
              </a:rPr>
              <a:t>MR</a:t>
            </a:r>
            <a:r>
              <a:rPr b="0" lang="en-US" sz="2400" strike="noStrike" u="none">
                <a:solidFill>
                  <a:schemeClr val="dk1"/>
                </a:solidFill>
                <a:effectLst/>
                <a:uFillTx/>
                <a:latin typeface="Arial"/>
                <a:ea typeface="ＭＳ Ｐゴシック"/>
              </a:rPr>
              <a:t> =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the extra revenue from selling one more unit is equal to the extra cost incurred to produce 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Economic profit </a:t>
            </a:r>
            <a:r>
              <a:rPr b="0" i="1" lang="en-US" sz="2400" strike="noStrike" u="none">
                <a:solidFill>
                  <a:schemeClr val="dk1"/>
                </a:solidFill>
                <a:effectLst/>
                <a:uFillTx/>
                <a:latin typeface="Arial"/>
                <a:ea typeface="ＭＳ Ｐゴシック"/>
              </a:rPr>
              <a:t>decreases</a:t>
            </a:r>
            <a:r>
              <a:rPr b="0" lang="en-US" sz="2400" strike="noStrike" u="none">
                <a:solidFill>
                  <a:schemeClr val="dk1"/>
                </a:solidFill>
                <a:effectLst/>
                <a:uFillTx/>
                <a:latin typeface="Arial"/>
                <a:ea typeface="ＭＳ Ｐゴシック"/>
              </a:rPr>
              <a:t> if output </a:t>
            </a:r>
            <a:r>
              <a:rPr b="0" i="1" lang="en-US" sz="2400" strike="noStrike" u="none">
                <a:solidFill>
                  <a:schemeClr val="dk1"/>
                </a:solidFill>
                <a:effectLst/>
                <a:uFillTx/>
                <a:latin typeface="Arial"/>
                <a:ea typeface="ＭＳ Ｐゴシック"/>
              </a:rPr>
              <a:t>increases</a:t>
            </a:r>
            <a:r>
              <a:rPr b="0" lang="en-US" sz="2400" strike="noStrike" u="none">
                <a:solidFill>
                  <a:schemeClr val="dk1"/>
                </a:solidFill>
                <a:effectLst/>
                <a:uFillTx/>
                <a:latin typeface="Arial"/>
                <a:ea typeface="ＭＳ Ｐゴシック"/>
              </a:rPr>
              <a:t> or </a:t>
            </a:r>
            <a:r>
              <a:rPr b="0" i="1" lang="en-US" sz="2400" strike="noStrike" u="none">
                <a:solidFill>
                  <a:schemeClr val="dk1"/>
                </a:solidFill>
                <a:effectLst/>
                <a:uFillTx/>
                <a:latin typeface="Arial"/>
                <a:ea typeface="ＭＳ Ｐゴシック"/>
              </a:rPr>
              <a:t>decreases</a:t>
            </a:r>
            <a:r>
              <a:rPr b="0" lang="en-US" sz="2400" strike="noStrike" u="none">
                <a:solidFill>
                  <a:schemeClr val="dk1"/>
                </a:solidFill>
                <a:effectLst/>
                <a:uFillTx/>
                <a:latin typeface="Arial"/>
                <a:ea typeface="ＭＳ Ｐゴシック"/>
              </a:rPr>
              <a:t>, so economic profit is maximized.</a:t>
            </a:r>
            <a:endParaRPr b="1" lang="en-CA" sz="2400" strike="noStrike" u="none">
              <a:solidFill>
                <a:srgbClr val="00468f"/>
              </a:solidFill>
              <a:effectLst/>
              <a:uFillTx/>
              <a:latin typeface="Arial"/>
            </a:endParaRPr>
          </a:p>
        </p:txBody>
      </p:sp>
    </p:spTree>
  </p:cSld>
  <p:transition spd="slow">
    <p:wipe dir="r"/>
  </p:transition>
  <p:timing>
    <p:tnLst>
      <p:par>
        <p:cTn id="327" dur="indefinite" restart="never" nodeType="tmRoot">
          <p:childTnLst>
            <p:seq>
              <p:cTn id="328" dur="indefinite" nodeType="mainSeq">
                <p:childTnLst>
                  <p:par>
                    <p:cTn id="329" nodeType="clickEffect" fill="hold">
                      <p:stCondLst>
                        <p:cond delay="indefinite"/>
                      </p:stCondLst>
                      <p:childTnLst>
                        <p:par>
                          <p:cTn id="330" nodeType="withEffect" fill="hold">
                            <p:stCondLst>
                              <p:cond delay="0"/>
                            </p:stCondLst>
                            <p:childTnLst>
                              <p:par>
                                <p:cTn id="331" nodeType="clickEffect" fill="hold" presetClass="entr" presetID="22" presetSubtype="8">
                                  <p:stCondLst>
                                    <p:cond delay="0"/>
                                  </p:stCondLst>
                                  <p:childTnLst>
                                    <p:set>
                                      <p:cBhvr>
                                        <p:cTn id="332" dur="1" fill="hold">
                                          <p:stCondLst>
                                            <p:cond delay="0"/>
                                          </p:stCondLst>
                                        </p:cTn>
                                        <p:tgtEl>
                                          <p:spTgt spid="121">
                                            <p:txEl>
                                              <p:pRg st="1" end="1"/>
                                            </p:txEl>
                                          </p:spTgt>
                                        </p:tgtEl>
                                        <p:attrNameLst>
                                          <p:attrName>style.visibility</p:attrName>
                                        </p:attrNameLst>
                                      </p:cBhvr>
                                      <p:to>
                                        <p:strVal val="visible"/>
                                      </p:to>
                                    </p:set>
                                    <p:animEffect filter="wipe(left)" transition="in">
                                      <p:cBhvr additive="repl">
                                        <p:cTn id="333" dur="500"/>
                                        <p:tgtEl>
                                          <p:spTgt spid="121">
                                            <p:txEl>
                                              <p:pRg st="1" end="1"/>
                                            </p:txEl>
                                          </p:spTgt>
                                        </p:tgtEl>
                                      </p:cBhvr>
                                    </p:animEffect>
                                  </p:childTnLst>
                                </p:cTn>
                              </p:par>
                            </p:childTnLst>
                          </p:cTn>
                        </p:par>
                      </p:childTnLst>
                    </p:cTn>
                  </p:par>
                  <p:par>
                    <p:cTn id="334" nodeType="clickEffect" fill="hold">
                      <p:stCondLst>
                        <p:cond delay="indefinite"/>
                      </p:stCondLst>
                      <p:childTnLst>
                        <p:par>
                          <p:cTn id="335" nodeType="withEffect" fill="hold">
                            <p:stCondLst>
                              <p:cond delay="0"/>
                            </p:stCondLst>
                            <p:childTnLst>
                              <p:par>
                                <p:cTn id="336" nodeType="clickEffect" fill="hold" presetClass="entr" presetID="22" presetSubtype="8">
                                  <p:stCondLst>
                                    <p:cond delay="0"/>
                                  </p:stCondLst>
                                  <p:childTnLst>
                                    <p:set>
                                      <p:cBhvr>
                                        <p:cTn id="337" dur="1" fill="hold">
                                          <p:stCondLst>
                                            <p:cond delay="0"/>
                                          </p:stCondLst>
                                        </p:cTn>
                                        <p:tgtEl>
                                          <p:spTgt spid="121">
                                            <p:txEl>
                                              <p:pRg st="2" end="2"/>
                                            </p:txEl>
                                          </p:spTgt>
                                        </p:tgtEl>
                                        <p:attrNameLst>
                                          <p:attrName>style.visibility</p:attrName>
                                        </p:attrNameLst>
                                      </p:cBhvr>
                                      <p:to>
                                        <p:strVal val="visible"/>
                                      </p:to>
                                    </p:set>
                                    <p:animEffect filter="wipe(left)" transition="in">
                                      <p:cBhvr additive="repl">
                                        <p:cTn id="338" dur="500"/>
                                        <p:tgtEl>
                                          <p:spTgt spid="121">
                                            <p:txEl>
                                              <p:pRg st="2" end="2"/>
                                            </p:txEl>
                                          </p:spTgt>
                                        </p:tgtEl>
                                      </p:cBhvr>
                                    </p:animEffect>
                                  </p:childTnLst>
                                </p:cTn>
                              </p:par>
                            </p:childTnLst>
                          </p:cTn>
                        </p:par>
                      </p:childTnLst>
                    </p:cTn>
                  </p:par>
                  <p:par>
                    <p:cTn id="339" nodeType="clickEffect" fill="hold">
                      <p:stCondLst>
                        <p:cond delay="indefinite"/>
                      </p:stCondLst>
                      <p:childTnLst>
                        <p:par>
                          <p:cTn id="340" nodeType="withEffect" fill="hold">
                            <p:stCondLst>
                              <p:cond delay="0"/>
                            </p:stCondLst>
                            <p:childTnLst>
                              <p:par>
                                <p:cTn id="341" nodeType="clickEffect" fill="hold" presetClass="entr" presetID="22" presetSubtype="8">
                                  <p:stCondLst>
                                    <p:cond delay="0"/>
                                  </p:stCondLst>
                                  <p:childTnLst>
                                    <p:set>
                                      <p:cBhvr>
                                        <p:cTn id="342" dur="1" fill="hold">
                                          <p:stCondLst>
                                            <p:cond delay="0"/>
                                          </p:stCondLst>
                                        </p:cTn>
                                        <p:tgtEl>
                                          <p:spTgt spid="121">
                                            <p:txEl>
                                              <p:pRg st="3" end="3"/>
                                            </p:txEl>
                                          </p:spTgt>
                                        </p:tgtEl>
                                        <p:attrNameLst>
                                          <p:attrName>style.visibility</p:attrName>
                                        </p:attrNameLst>
                                      </p:cBhvr>
                                      <p:to>
                                        <p:strVal val="visible"/>
                                      </p:to>
                                    </p:set>
                                    <p:animEffect filter="wipe(left)" transition="in">
                                      <p:cBhvr additive="repl">
                                        <p:cTn id="343" dur="500"/>
                                        <p:tgtEl>
                                          <p:spTgt spid="12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23"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15.3 shows the profit-maximizing output.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Marginal revenue is a constant $8 per can.</a:t>
            </a:r>
            <a:endParaRPr b="1" lang="en-CA" sz="2400" strike="noStrike" u="none">
              <a:solidFill>
                <a:srgbClr val="00468f"/>
              </a:solidFill>
              <a:effectLst/>
              <a:uFillTx/>
              <a:latin typeface="Arial"/>
            </a:endParaRPr>
          </a:p>
        </p:txBody>
      </p:sp>
      <p:pic>
        <p:nvPicPr>
          <p:cNvPr id="124" name="Picture 8" descr=""/>
          <p:cNvPicPr/>
          <p:nvPr/>
        </p:nvPicPr>
        <p:blipFill>
          <a:blip r:embed="rId1"/>
          <a:stretch/>
        </p:blipFill>
        <p:spPr>
          <a:xfrm>
            <a:off x="798480" y="2765520"/>
            <a:ext cx="7252920" cy="3520800"/>
          </a:xfrm>
          <a:prstGeom prst="rect">
            <a:avLst/>
          </a:prstGeom>
          <a:noFill/>
          <a:ln w="0">
            <a:noFill/>
          </a:ln>
        </p:spPr>
      </p:pic>
      <p:pic>
        <p:nvPicPr>
          <p:cNvPr id="125" name="Picture 9" descr=""/>
          <p:cNvPicPr/>
          <p:nvPr/>
        </p:nvPicPr>
        <p:blipFill>
          <a:blip r:embed="rId2"/>
          <a:stretch/>
        </p:blipFill>
        <p:spPr>
          <a:xfrm>
            <a:off x="798480" y="2765520"/>
            <a:ext cx="7252920" cy="3520800"/>
          </a:xfrm>
          <a:prstGeom prst="rect">
            <a:avLst/>
          </a:prstGeom>
          <a:noFill/>
          <a:ln w="0">
            <a:noFill/>
          </a:ln>
        </p:spPr>
      </p:pic>
    </p:spTree>
  </p:cSld>
  <p:transition spd="slow">
    <p:wipe dir="r"/>
  </p:transition>
  <p:timing>
    <p:tnLst>
      <p:par>
        <p:cTn id="344" dur="indefinite" restart="never" nodeType="tmRoot">
          <p:childTnLst>
            <p:seq>
              <p:cTn id="345" dur="indefinite" nodeType="mainSeq">
                <p:childTnLst>
                  <p:par>
                    <p:cTn id="346" nodeType="clickEffect" fill="hold">
                      <p:stCondLst>
                        <p:cond delay="indefinite"/>
                      </p:stCondLst>
                      <p:childTnLst>
                        <p:par>
                          <p:cTn id="347" nodeType="withEffect" fill="hold">
                            <p:stCondLst>
                              <p:cond delay="0"/>
                            </p:stCondLst>
                            <p:childTnLst>
                              <p:par>
                                <p:cTn id="348" nodeType="clickEffect" fill="hold" presetClass="entr" presetID="22" presetSubtype="8">
                                  <p:stCondLst>
                                    <p:cond delay="0"/>
                                  </p:stCondLst>
                                  <p:childTnLst>
                                    <p:set>
                                      <p:cBhvr>
                                        <p:cTn id="349" dur="1" fill="hold">
                                          <p:stCondLst>
                                            <p:cond delay="0"/>
                                          </p:stCondLst>
                                        </p:cTn>
                                        <p:tgtEl>
                                          <p:spTgt spid="123">
                                            <p:txEl>
                                              <p:pRg st="1" end="1"/>
                                            </p:txEl>
                                          </p:spTgt>
                                        </p:tgtEl>
                                        <p:attrNameLst>
                                          <p:attrName>style.visibility</p:attrName>
                                        </p:attrNameLst>
                                      </p:cBhvr>
                                      <p:to>
                                        <p:strVal val="visible"/>
                                      </p:to>
                                    </p:set>
                                    <p:animEffect filter="wipe(left)" transition="in">
                                      <p:cBhvr additive="repl">
                                        <p:cTn id="350" dur="500"/>
                                        <p:tgtEl>
                                          <p:spTgt spid="123">
                                            <p:txEl>
                                              <p:pRg st="1" end="1"/>
                                            </p:txEl>
                                          </p:spTgt>
                                        </p:tgtEl>
                                      </p:cBhvr>
                                    </p:animEffect>
                                  </p:childTnLst>
                                </p:cTn>
                              </p:par>
                              <p:par>
                                <p:cTn id="351" nodeType="withEffect" fill="hold" presetClass="entr" presetID="22" presetSubtype="8">
                                  <p:stCondLst>
                                    <p:cond delay="0"/>
                                  </p:stCondLst>
                                  <p:childTnLst>
                                    <p:set>
                                      <p:cBhvr>
                                        <p:cTn id="352" dur="1" fill="hold">
                                          <p:stCondLst>
                                            <p:cond delay="0"/>
                                          </p:stCondLst>
                                        </p:cTn>
                                        <p:tgtEl>
                                          <p:spTgt spid="125"/>
                                        </p:tgtEl>
                                        <p:attrNameLst>
                                          <p:attrName>style.visibility</p:attrName>
                                        </p:attrNameLst>
                                      </p:cBhvr>
                                      <p:to>
                                        <p:strVal val="visible"/>
                                      </p:to>
                                    </p:set>
                                    <p:animEffect filter="wipe(left)" transition="in">
                                      <p:cBhvr additive="repl">
                                        <p:cTn id="353"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26" name="Picture 7" descr=""/>
          <p:cNvPicPr/>
          <p:nvPr/>
        </p:nvPicPr>
        <p:blipFill>
          <a:blip r:embed="rId1"/>
          <a:stretch/>
        </p:blipFill>
        <p:spPr>
          <a:xfrm>
            <a:off x="431640" y="1295280"/>
            <a:ext cx="8160840" cy="3960360"/>
          </a:xfrm>
          <a:prstGeom prst="rect">
            <a:avLst/>
          </a:prstGeom>
          <a:noFill/>
          <a:ln w="0">
            <a:noFill/>
          </a:ln>
        </p:spPr>
      </p:pic>
      <p:pic>
        <p:nvPicPr>
          <p:cNvPr id="127" name="Picture 8" descr=""/>
          <p:cNvPicPr/>
          <p:nvPr/>
        </p:nvPicPr>
        <p:blipFill>
          <a:blip r:embed="rId2"/>
          <a:stretch/>
        </p:blipFill>
        <p:spPr>
          <a:xfrm>
            <a:off x="431640" y="1295280"/>
            <a:ext cx="8160840" cy="3960360"/>
          </a:xfrm>
          <a:prstGeom prst="rect">
            <a:avLst/>
          </a:prstGeom>
          <a:noFill/>
          <a:ln w="0">
            <a:noFill/>
          </a:ln>
        </p:spPr>
      </p:pic>
      <p:pic>
        <p:nvPicPr>
          <p:cNvPr id="128" name="Picture 9" descr=""/>
          <p:cNvPicPr/>
          <p:nvPr/>
        </p:nvPicPr>
        <p:blipFill>
          <a:blip r:embed="rId3"/>
          <a:stretch/>
        </p:blipFill>
        <p:spPr>
          <a:xfrm>
            <a:off x="431640" y="1295280"/>
            <a:ext cx="8160840" cy="3960360"/>
          </a:xfrm>
          <a:prstGeom prst="rect">
            <a:avLst/>
          </a:prstGeom>
          <a:noFill/>
          <a:ln w="0">
            <a:noFill/>
          </a:ln>
        </p:spPr>
      </p:pic>
      <p:pic>
        <p:nvPicPr>
          <p:cNvPr id="129" name="Picture 10" descr=""/>
          <p:cNvPicPr/>
          <p:nvPr/>
        </p:nvPicPr>
        <p:blipFill>
          <a:blip r:embed="rId4"/>
          <a:stretch/>
        </p:blipFill>
        <p:spPr>
          <a:xfrm>
            <a:off x="431640" y="1295280"/>
            <a:ext cx="8160840" cy="3960360"/>
          </a:xfrm>
          <a:prstGeom prst="rect">
            <a:avLst/>
          </a:prstGeom>
          <a:noFill/>
          <a:ln w="0">
            <a:noFill/>
          </a:ln>
        </p:spPr>
      </p:pic>
      <p:pic>
        <p:nvPicPr>
          <p:cNvPr id="130" name="Picture 11" descr=""/>
          <p:cNvPicPr/>
          <p:nvPr/>
        </p:nvPicPr>
        <p:blipFill>
          <a:blip r:embed="rId5"/>
          <a:stretch/>
        </p:blipFill>
        <p:spPr>
          <a:xfrm>
            <a:off x="431640" y="1295280"/>
            <a:ext cx="8160840" cy="3960360"/>
          </a:xfrm>
          <a:prstGeom prst="rect">
            <a:avLst/>
          </a:prstGeom>
          <a:noFill/>
          <a:ln w="0">
            <a:noFill/>
          </a:ln>
        </p:spPr>
      </p:pic>
      <p:pic>
        <p:nvPicPr>
          <p:cNvPr id="131" name="Picture 12" descr=""/>
          <p:cNvPicPr/>
          <p:nvPr/>
        </p:nvPicPr>
        <p:blipFill>
          <a:blip r:embed="rId6"/>
          <a:stretch/>
        </p:blipFill>
        <p:spPr>
          <a:xfrm>
            <a:off x="431640" y="1295280"/>
            <a:ext cx="8160840" cy="3960360"/>
          </a:xfrm>
          <a:prstGeom prst="rect">
            <a:avLst/>
          </a:prstGeom>
          <a:noFill/>
          <a:ln w="0">
            <a:noFill/>
          </a:ln>
        </p:spPr>
      </p:pic>
    </p:spTree>
  </p:cSld>
  <p:transition spd="slow">
    <p:wipe dir="r"/>
  </p:transition>
  <p:timing>
    <p:tnLst>
      <p:par>
        <p:cTn id="354" dur="indefinite" restart="never" nodeType="tmRoot">
          <p:childTnLst>
            <p:seq>
              <p:cTn id="355" dur="indefinite" nodeType="mainSeq">
                <p:childTnLst>
                  <p:par>
                    <p:cTn id="356" nodeType="clickEffect" fill="hold">
                      <p:stCondLst>
                        <p:cond delay="indefinite"/>
                      </p:stCondLst>
                      <p:childTnLst>
                        <p:par>
                          <p:cTn id="357" nodeType="withEffect" fill="hold">
                            <p:stCondLst>
                              <p:cond delay="0"/>
                            </p:stCondLst>
                            <p:childTnLst>
                              <p:par>
                                <p:cTn id="358" nodeType="clickEffect" fill="hold" presetClass="entr" presetID="22" presetSubtype="8">
                                  <p:stCondLst>
                                    <p:cond delay="0"/>
                                  </p:stCondLst>
                                  <p:childTnLst>
                                    <p:set>
                                      <p:cBhvr>
                                        <p:cTn id="359" dur="1" fill="hold">
                                          <p:stCondLst>
                                            <p:cond delay="0"/>
                                          </p:stCondLst>
                                        </p:cTn>
                                        <p:tgtEl>
                                          <p:spTgt spid="127"/>
                                        </p:tgtEl>
                                        <p:attrNameLst>
                                          <p:attrName>style.visibility</p:attrName>
                                        </p:attrNameLst>
                                      </p:cBhvr>
                                      <p:to>
                                        <p:strVal val="visible"/>
                                      </p:to>
                                    </p:set>
                                    <p:animEffect filter="wipe(left)" transition="in">
                                      <p:cBhvr additive="repl">
                                        <p:cTn id="360" dur="1000"/>
                                        <p:tgtEl>
                                          <p:spTgt spid="127"/>
                                        </p:tgtEl>
                                      </p:cBhvr>
                                    </p:animEffect>
                                  </p:childTnLst>
                                </p:cTn>
                              </p:par>
                            </p:childTnLst>
                          </p:cTn>
                        </p:par>
                      </p:childTnLst>
                    </p:cTn>
                  </p:par>
                  <p:par>
                    <p:cTn id="361" nodeType="clickEffect" fill="hold">
                      <p:stCondLst>
                        <p:cond delay="indefinite"/>
                      </p:stCondLst>
                      <p:childTnLst>
                        <p:par>
                          <p:cTn id="362" nodeType="withEffect" fill="hold">
                            <p:stCondLst>
                              <p:cond delay="0"/>
                            </p:stCondLst>
                            <p:childTnLst>
                              <p:par>
                                <p:cTn id="363" nodeType="clickEffect" fill="hold" presetClass="entr" presetID="22" presetSubtype="8">
                                  <p:stCondLst>
                                    <p:cond delay="0"/>
                                  </p:stCondLst>
                                  <p:childTnLst>
                                    <p:set>
                                      <p:cBhvr>
                                        <p:cTn id="364" dur="1" fill="hold">
                                          <p:stCondLst>
                                            <p:cond delay="0"/>
                                          </p:stCondLst>
                                        </p:cTn>
                                        <p:tgtEl>
                                          <p:spTgt spid="128"/>
                                        </p:tgtEl>
                                        <p:attrNameLst>
                                          <p:attrName>style.visibility</p:attrName>
                                        </p:attrNameLst>
                                      </p:cBhvr>
                                      <p:to>
                                        <p:strVal val="visible"/>
                                      </p:to>
                                    </p:set>
                                    <p:animEffect filter="wipe(left)" transition="in">
                                      <p:cBhvr additive="repl">
                                        <p:cTn id="365" dur="1000"/>
                                        <p:tgtEl>
                                          <p:spTgt spid="128"/>
                                        </p:tgtEl>
                                      </p:cBhvr>
                                    </p:animEffect>
                                  </p:childTnLst>
                                </p:cTn>
                              </p:par>
                            </p:childTnLst>
                          </p:cTn>
                        </p:par>
                      </p:childTnLst>
                    </p:cTn>
                  </p:par>
                  <p:par>
                    <p:cTn id="366" nodeType="clickEffect" fill="hold">
                      <p:stCondLst>
                        <p:cond delay="indefinite"/>
                      </p:stCondLst>
                      <p:childTnLst>
                        <p:par>
                          <p:cTn id="367" nodeType="withEffect" fill="hold">
                            <p:stCondLst>
                              <p:cond delay="0"/>
                            </p:stCondLst>
                            <p:childTnLst>
                              <p:par>
                                <p:cTn id="368" nodeType="clickEffect" fill="hold" presetClass="entr" presetID="10">
                                  <p:stCondLst>
                                    <p:cond delay="0"/>
                                  </p:stCondLst>
                                  <p:childTnLst>
                                    <p:set>
                                      <p:cBhvr>
                                        <p:cTn id="369" dur="1" fill="hold">
                                          <p:stCondLst>
                                            <p:cond delay="0"/>
                                          </p:stCondLst>
                                        </p:cTn>
                                        <p:tgtEl>
                                          <p:spTgt spid="129"/>
                                        </p:tgtEl>
                                        <p:attrNameLst>
                                          <p:attrName>style.visibility</p:attrName>
                                        </p:attrNameLst>
                                      </p:cBhvr>
                                      <p:to>
                                        <p:strVal val="visible"/>
                                      </p:to>
                                    </p:set>
                                    <p:animEffect filter="fade" transition="in">
                                      <p:cBhvr additive="repl">
                                        <p:cTn id="370" dur="500"/>
                                        <p:tgtEl>
                                          <p:spTgt spid="129"/>
                                        </p:tgtEl>
                                      </p:cBhvr>
                                    </p:animEffect>
                                  </p:childTnLst>
                                </p:cTn>
                              </p:par>
                            </p:childTnLst>
                          </p:cTn>
                        </p:par>
                      </p:childTnLst>
                    </p:cTn>
                  </p:par>
                  <p:par>
                    <p:cTn id="371" nodeType="clickEffect" fill="hold">
                      <p:stCondLst>
                        <p:cond delay="indefinite"/>
                      </p:stCondLst>
                      <p:childTnLst>
                        <p:par>
                          <p:cTn id="372" nodeType="withEffect" fill="hold">
                            <p:stCondLst>
                              <p:cond delay="0"/>
                            </p:stCondLst>
                            <p:childTnLst>
                              <p:par>
                                <p:cTn id="373" nodeType="clickEffect" fill="hold" presetClass="entr" presetID="10">
                                  <p:stCondLst>
                                    <p:cond delay="0"/>
                                  </p:stCondLst>
                                  <p:childTnLst>
                                    <p:set>
                                      <p:cBhvr>
                                        <p:cTn id="374" dur="1" fill="hold">
                                          <p:stCondLst>
                                            <p:cond delay="0"/>
                                          </p:stCondLst>
                                        </p:cTn>
                                        <p:tgtEl>
                                          <p:spTgt spid="130"/>
                                        </p:tgtEl>
                                        <p:attrNameLst>
                                          <p:attrName>style.visibility</p:attrName>
                                        </p:attrNameLst>
                                      </p:cBhvr>
                                      <p:to>
                                        <p:strVal val="visible"/>
                                      </p:to>
                                    </p:set>
                                    <p:animEffect filter="fade" transition="in">
                                      <p:cBhvr additive="repl">
                                        <p:cTn id="375" dur="500"/>
                                        <p:tgtEl>
                                          <p:spTgt spid="130"/>
                                        </p:tgtEl>
                                      </p:cBhvr>
                                    </p:animEffect>
                                  </p:childTnLst>
                                </p:cTn>
                              </p:par>
                            </p:childTnLst>
                          </p:cTn>
                        </p:par>
                      </p:childTnLst>
                    </p:cTn>
                  </p:par>
                  <p:par>
                    <p:cTn id="376" nodeType="clickEffect" fill="hold">
                      <p:stCondLst>
                        <p:cond delay="indefinite"/>
                      </p:stCondLst>
                      <p:childTnLst>
                        <p:par>
                          <p:cTn id="377" nodeType="withEffect" fill="hold">
                            <p:stCondLst>
                              <p:cond delay="0"/>
                            </p:stCondLst>
                            <p:childTnLst>
                              <p:par>
                                <p:cTn id="378" nodeType="clickEffect" fill="hold" presetClass="entr" presetID="10">
                                  <p:stCondLst>
                                    <p:cond delay="0"/>
                                  </p:stCondLst>
                                  <p:childTnLst>
                                    <p:set>
                                      <p:cBhvr>
                                        <p:cTn id="379" dur="1" fill="hold">
                                          <p:stCondLst>
                                            <p:cond delay="0"/>
                                          </p:stCondLst>
                                        </p:cTn>
                                        <p:tgtEl>
                                          <p:spTgt spid="131"/>
                                        </p:tgtEl>
                                        <p:attrNameLst>
                                          <p:attrName>style.visibility</p:attrName>
                                        </p:attrNameLst>
                                      </p:cBhvr>
                                      <p:to>
                                        <p:strVal val="visible"/>
                                      </p:to>
                                    </p:set>
                                    <p:animEffect filter="fade" transition="in">
                                      <p:cBhvr additive="repl">
                                        <p:cTn id="380" dur="5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3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Marginal cost decreases at low outputs but then increases.</a:t>
            </a:r>
            <a:endParaRPr b="1" lang="en-CA" sz="2400" strike="noStrike" u="none">
              <a:solidFill>
                <a:srgbClr val="00468f"/>
              </a:solidFill>
              <a:effectLst/>
              <a:uFillTx/>
              <a:latin typeface="Arial"/>
            </a:endParaRPr>
          </a:p>
        </p:txBody>
      </p:sp>
      <p:pic>
        <p:nvPicPr>
          <p:cNvPr id="134" name="Picture 7" descr=""/>
          <p:cNvPicPr/>
          <p:nvPr/>
        </p:nvPicPr>
        <p:blipFill>
          <a:blip r:embed="rId1"/>
          <a:stretch/>
        </p:blipFill>
        <p:spPr>
          <a:xfrm>
            <a:off x="798480" y="2765520"/>
            <a:ext cx="7252920" cy="3520800"/>
          </a:xfrm>
          <a:prstGeom prst="rect">
            <a:avLst/>
          </a:prstGeom>
          <a:noFill/>
          <a:ln w="0">
            <a:noFill/>
          </a:ln>
        </p:spPr>
      </p:pic>
      <p:pic>
        <p:nvPicPr>
          <p:cNvPr id="135" name="Picture 9" descr=""/>
          <p:cNvPicPr/>
          <p:nvPr/>
        </p:nvPicPr>
        <p:blipFill>
          <a:blip r:embed="rId2"/>
          <a:stretch/>
        </p:blipFill>
        <p:spPr>
          <a:xfrm>
            <a:off x="798480" y="2765520"/>
            <a:ext cx="7252920" cy="3520800"/>
          </a:xfrm>
          <a:prstGeom prst="rect">
            <a:avLst/>
          </a:prstGeom>
          <a:noFill/>
          <a:ln w="0">
            <a:noFill/>
          </a:ln>
        </p:spPr>
      </p:pic>
      <p:pic>
        <p:nvPicPr>
          <p:cNvPr id="136" name="Picture 10" descr=""/>
          <p:cNvPicPr/>
          <p:nvPr/>
        </p:nvPicPr>
        <p:blipFill>
          <a:blip r:embed="rId3"/>
          <a:stretch/>
        </p:blipFill>
        <p:spPr>
          <a:xfrm>
            <a:off x="798480" y="2765520"/>
            <a:ext cx="7252920" cy="3520800"/>
          </a:xfrm>
          <a:prstGeom prst="rect">
            <a:avLst/>
          </a:prstGeom>
          <a:noFill/>
          <a:ln w="0">
            <a:noFill/>
          </a:ln>
        </p:spPr>
      </p:pic>
    </p:spTree>
  </p:cSld>
  <p:transition spd="slow">
    <p:wipe dir="r"/>
  </p:transition>
  <p:timing>
    <p:tnLst>
      <p:par>
        <p:cTn id="381" dur="indefinite" restart="never" nodeType="tmRoot">
          <p:childTnLst>
            <p:seq>
              <p:cTn id="382" dur="indefinite" nodeType="mainSeq">
                <p:childTnLst>
                  <p:par>
                    <p:cTn id="383" nodeType="clickEffect" fill="hold">
                      <p:stCondLst>
                        <p:cond delay="0"/>
                      </p:stCondLst>
                      <p:childTnLst>
                        <p:par>
                          <p:cTn id="384" nodeType="withEffect" fill="hold">
                            <p:stCondLst>
                              <p:cond delay="0"/>
                            </p:stCondLst>
                            <p:childTnLst>
                              <p:par>
                                <p:cTn id="385" nodeType="withEffect" fill="hold" presetClass="entr" presetID="22" presetSubtype="8">
                                  <p:stCondLst>
                                    <p:cond delay="0"/>
                                  </p:stCondLst>
                                  <p:childTnLst>
                                    <p:set>
                                      <p:cBhvr>
                                        <p:cTn id="386" dur="1" fill="hold">
                                          <p:stCondLst>
                                            <p:cond delay="0"/>
                                          </p:stCondLst>
                                        </p:cTn>
                                        <p:tgtEl>
                                          <p:spTgt spid="136"/>
                                        </p:tgtEl>
                                        <p:attrNameLst>
                                          <p:attrName>style.visibility</p:attrName>
                                        </p:attrNameLst>
                                      </p:cBhvr>
                                      <p:to>
                                        <p:strVal val="visible"/>
                                      </p:to>
                                    </p:set>
                                    <p:animEffect filter="wipe(left)" transition="in">
                                      <p:cBhvr additive="repl">
                                        <p:cTn id="387" dur="10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3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defTabSz="39996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Profit is maximized when marginal revenue equals marginal cost at 10 cans a day.</a:t>
            </a:r>
            <a:endParaRPr b="1" lang="en-CA" sz="2400" strike="noStrike" u="none">
              <a:solidFill>
                <a:srgbClr val="00468f"/>
              </a:solidFill>
              <a:effectLst/>
              <a:uFillTx/>
              <a:latin typeface="Arial"/>
            </a:endParaRPr>
          </a:p>
        </p:txBody>
      </p:sp>
      <p:pic>
        <p:nvPicPr>
          <p:cNvPr id="139" name="Picture 8" descr=""/>
          <p:cNvPicPr/>
          <p:nvPr/>
        </p:nvPicPr>
        <p:blipFill>
          <a:blip r:embed="rId1"/>
          <a:stretch/>
        </p:blipFill>
        <p:spPr>
          <a:xfrm>
            <a:off x="798480" y="2765520"/>
            <a:ext cx="7252920" cy="3520800"/>
          </a:xfrm>
          <a:prstGeom prst="rect">
            <a:avLst/>
          </a:prstGeom>
          <a:noFill/>
          <a:ln w="0">
            <a:noFill/>
          </a:ln>
        </p:spPr>
      </p:pic>
      <p:pic>
        <p:nvPicPr>
          <p:cNvPr id="140" name="Picture 9" descr=""/>
          <p:cNvPicPr/>
          <p:nvPr/>
        </p:nvPicPr>
        <p:blipFill>
          <a:blip r:embed="rId2"/>
          <a:stretch/>
        </p:blipFill>
        <p:spPr>
          <a:xfrm>
            <a:off x="798480" y="2765520"/>
            <a:ext cx="7252920" cy="3520800"/>
          </a:xfrm>
          <a:prstGeom prst="rect">
            <a:avLst/>
          </a:prstGeom>
          <a:noFill/>
          <a:ln w="0">
            <a:noFill/>
          </a:ln>
        </p:spPr>
      </p:pic>
      <p:pic>
        <p:nvPicPr>
          <p:cNvPr id="141" name="Picture 11" descr=""/>
          <p:cNvPicPr/>
          <p:nvPr/>
        </p:nvPicPr>
        <p:blipFill>
          <a:blip r:embed="rId3"/>
          <a:stretch/>
        </p:blipFill>
        <p:spPr>
          <a:xfrm>
            <a:off x="798480" y="2765520"/>
            <a:ext cx="7252920" cy="3520800"/>
          </a:xfrm>
          <a:prstGeom prst="rect">
            <a:avLst/>
          </a:prstGeom>
          <a:noFill/>
          <a:ln w="0">
            <a:noFill/>
          </a:ln>
        </p:spPr>
      </p:pic>
      <p:pic>
        <p:nvPicPr>
          <p:cNvPr id="142" name="Picture 12" descr=""/>
          <p:cNvPicPr/>
          <p:nvPr/>
        </p:nvPicPr>
        <p:blipFill>
          <a:blip r:embed="rId4"/>
          <a:stretch/>
        </p:blipFill>
        <p:spPr>
          <a:xfrm>
            <a:off x="798480" y="2765520"/>
            <a:ext cx="7252920" cy="3520800"/>
          </a:xfrm>
          <a:prstGeom prst="rect">
            <a:avLst/>
          </a:prstGeom>
          <a:noFill/>
          <a:ln w="0">
            <a:noFill/>
          </a:ln>
        </p:spPr>
      </p:pic>
    </p:spTree>
  </p:cSld>
  <p:transition spd="slow">
    <p:wipe dir="r"/>
  </p:transition>
  <p:timing>
    <p:tnLst>
      <p:par>
        <p:cTn id="388" dur="indefinite" restart="never" nodeType="tmRoot">
          <p:childTnLst>
            <p:seq>
              <p:cTn id="389" dur="indefinite" nodeType="mainSeq">
                <p:childTnLst>
                  <p:par>
                    <p:cTn id="390" nodeType="clickEffect" fill="hold">
                      <p:stCondLst>
                        <p:cond delay="0"/>
                      </p:stCondLst>
                      <p:childTnLst>
                        <p:par>
                          <p:cTn id="391" nodeType="withEffect" fill="hold">
                            <p:stCondLst>
                              <p:cond delay="0"/>
                            </p:stCondLst>
                            <p:childTnLst>
                              <p:par>
                                <p:cTn id="392" nodeType="withEffect" fill="hold" presetClass="entr" presetID="10">
                                  <p:stCondLst>
                                    <p:cond delay="0"/>
                                  </p:stCondLst>
                                  <p:childTnLst>
                                    <p:set>
                                      <p:cBhvr>
                                        <p:cTn id="393" dur="1" fill="hold">
                                          <p:stCondLst>
                                            <p:cond delay="0"/>
                                          </p:stCondLst>
                                        </p:cTn>
                                        <p:tgtEl>
                                          <p:spTgt spid="142"/>
                                        </p:tgtEl>
                                        <p:attrNameLst>
                                          <p:attrName>style.visibility</p:attrName>
                                        </p:attrNameLst>
                                      </p:cBhvr>
                                      <p:to>
                                        <p:strVal val="visible"/>
                                      </p:to>
                                    </p:set>
                                    <p:animEffect filter="fade" transition="in">
                                      <p:cBhvr additive="repl">
                                        <p:cTn id="394" dur="5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4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defTabSz="343080">
              <a:lnSpc>
                <a:spcPct val="100000"/>
              </a:lnSpc>
              <a:spcBef>
                <a:spcPts val="601"/>
              </a:spcBef>
              <a:spcAft>
                <a:spcPts val="601"/>
              </a:spcAft>
              <a:buClr>
                <a:srgbClr val="000000"/>
              </a:buClr>
              <a:buFont typeface="Arial"/>
              <a:buAutoNum type="arabicPeriod" startAt="2"/>
            </a:pPr>
            <a:r>
              <a:rPr b="0" lang="en-US" sz="2400" strike="noStrike" u="none">
                <a:solidFill>
                  <a:srgbClr val="000000"/>
                </a:solidFill>
                <a:effectLst/>
                <a:uFillTx/>
                <a:latin typeface="Arial"/>
                <a:ea typeface="ＭＳ Ｐゴシック"/>
              </a:rPr>
              <a:t>If output increases from 9 to 10 cans a day, marginal cost ($7) is below marginal revenue ($8), so profit increases.</a:t>
            </a:r>
            <a:endParaRPr b="1" lang="en-CA" sz="2400" strike="noStrike" u="none">
              <a:solidFill>
                <a:srgbClr val="00468f"/>
              </a:solidFill>
              <a:effectLst/>
              <a:uFillTx/>
              <a:latin typeface="Arial"/>
            </a:endParaRPr>
          </a:p>
          <a:p>
            <a:pPr indent="0" defTabSz="343080">
              <a:lnSpc>
                <a:spcPct val="100000"/>
              </a:lnSpc>
              <a:spcBef>
                <a:spcPts val="561"/>
              </a:spcBef>
              <a:buNone/>
              <a:tabLst>
                <a:tab algn="l" pos="0"/>
              </a:tabLst>
            </a:pPr>
            <a:endParaRPr b="1" lang="en-CA" sz="2800" strike="noStrike" u="none">
              <a:solidFill>
                <a:srgbClr val="00468f"/>
              </a:solidFill>
              <a:effectLst/>
              <a:uFillTx/>
              <a:latin typeface="Arial"/>
            </a:endParaRPr>
          </a:p>
        </p:txBody>
      </p:sp>
      <p:pic>
        <p:nvPicPr>
          <p:cNvPr id="145" name="Picture 9" descr=""/>
          <p:cNvPicPr/>
          <p:nvPr/>
        </p:nvPicPr>
        <p:blipFill>
          <a:blip r:embed="rId1"/>
          <a:stretch/>
        </p:blipFill>
        <p:spPr>
          <a:xfrm>
            <a:off x="798480" y="2765520"/>
            <a:ext cx="7252920" cy="3520800"/>
          </a:xfrm>
          <a:prstGeom prst="rect">
            <a:avLst/>
          </a:prstGeom>
          <a:noFill/>
          <a:ln w="0">
            <a:noFill/>
          </a:ln>
        </p:spPr>
      </p:pic>
      <p:pic>
        <p:nvPicPr>
          <p:cNvPr id="146" name="Picture 10" descr=""/>
          <p:cNvPicPr/>
          <p:nvPr/>
        </p:nvPicPr>
        <p:blipFill>
          <a:blip r:embed="rId2"/>
          <a:stretch/>
        </p:blipFill>
        <p:spPr>
          <a:xfrm>
            <a:off x="798480" y="2765520"/>
            <a:ext cx="7252920" cy="3520800"/>
          </a:xfrm>
          <a:prstGeom prst="rect">
            <a:avLst/>
          </a:prstGeom>
          <a:noFill/>
          <a:ln w="0">
            <a:noFill/>
          </a:ln>
        </p:spPr>
      </p:pic>
      <p:pic>
        <p:nvPicPr>
          <p:cNvPr id="147" name="Picture 11" descr=""/>
          <p:cNvPicPr/>
          <p:nvPr/>
        </p:nvPicPr>
        <p:blipFill>
          <a:blip r:embed="rId3"/>
          <a:stretch/>
        </p:blipFill>
        <p:spPr>
          <a:xfrm>
            <a:off x="798480" y="2765520"/>
            <a:ext cx="7252920" cy="3520800"/>
          </a:xfrm>
          <a:prstGeom prst="rect">
            <a:avLst/>
          </a:prstGeom>
          <a:noFill/>
          <a:ln w="0">
            <a:noFill/>
          </a:ln>
        </p:spPr>
      </p:pic>
      <p:pic>
        <p:nvPicPr>
          <p:cNvPr id="148" name="Picture 13" descr=""/>
          <p:cNvPicPr/>
          <p:nvPr/>
        </p:nvPicPr>
        <p:blipFill>
          <a:blip r:embed="rId4"/>
          <a:stretch/>
        </p:blipFill>
        <p:spPr>
          <a:xfrm>
            <a:off x="798480" y="2765520"/>
            <a:ext cx="7252920" cy="3520800"/>
          </a:xfrm>
          <a:prstGeom prst="rect">
            <a:avLst/>
          </a:prstGeom>
          <a:noFill/>
          <a:ln w="0">
            <a:noFill/>
          </a:ln>
        </p:spPr>
      </p:pic>
      <p:pic>
        <p:nvPicPr>
          <p:cNvPr id="149" name="Picture 14" descr=""/>
          <p:cNvPicPr/>
          <p:nvPr/>
        </p:nvPicPr>
        <p:blipFill>
          <a:blip r:embed="rId5"/>
          <a:stretch/>
        </p:blipFill>
        <p:spPr>
          <a:xfrm>
            <a:off x="798480" y="2765520"/>
            <a:ext cx="7252920" cy="3520800"/>
          </a:xfrm>
          <a:prstGeom prst="rect">
            <a:avLst/>
          </a:prstGeom>
          <a:noFill/>
          <a:ln w="0">
            <a:noFill/>
          </a:ln>
        </p:spPr>
      </p:pic>
    </p:spTree>
  </p:cSld>
  <p:transition spd="slow">
    <p:wipe dir="r"/>
  </p:transition>
  <p:timing>
    <p:tnLst>
      <p:par>
        <p:cTn id="395" dur="indefinite" restart="never" nodeType="tmRoot">
          <p:childTnLst>
            <p:seq>
              <p:cTn id="396" dur="indefinite" nodeType="mainSeq">
                <p:childTnLst>
                  <p:par>
                    <p:cTn id="397" nodeType="clickEffect" fill="hold">
                      <p:stCondLst>
                        <p:cond delay="0"/>
                      </p:stCondLst>
                      <p:childTnLst>
                        <p:par>
                          <p:cTn id="398" nodeType="withEffect" fill="hold">
                            <p:stCondLst>
                              <p:cond delay="0"/>
                            </p:stCondLst>
                            <p:childTnLst>
                              <p:par>
                                <p:cTn id="399" nodeType="withEffect" fill="hold" presetClass="entr" presetID="10">
                                  <p:stCondLst>
                                    <p:cond delay="0"/>
                                  </p:stCondLst>
                                  <p:childTnLst>
                                    <p:set>
                                      <p:cBhvr>
                                        <p:cTn id="400" dur="1" fill="hold">
                                          <p:stCondLst>
                                            <p:cond delay="0"/>
                                          </p:stCondLst>
                                        </p:cTn>
                                        <p:tgtEl>
                                          <p:spTgt spid="149"/>
                                        </p:tgtEl>
                                        <p:attrNameLst>
                                          <p:attrName>style.visibility</p:attrName>
                                        </p:attrNameLst>
                                      </p:cBhvr>
                                      <p:to>
                                        <p:strVal val="visible"/>
                                      </p:to>
                                    </p:set>
                                    <p:animEffect filter="fade" transition="in">
                                      <p:cBhvr additive="repl">
                                        <p:cTn id="401" dur="5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5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defTabSz="34308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If output increases from 10 to 11 cans a day, marginal cost ($9) exceeds marginal revenue ($8), so profit decreases.</a:t>
            </a:r>
            <a:endParaRPr b="1" lang="en-CA" sz="2400" strike="noStrike" u="none">
              <a:solidFill>
                <a:srgbClr val="00468f"/>
              </a:solidFill>
              <a:effectLst/>
              <a:uFillTx/>
              <a:latin typeface="Arial"/>
            </a:endParaRPr>
          </a:p>
        </p:txBody>
      </p:sp>
      <p:pic>
        <p:nvPicPr>
          <p:cNvPr id="152" name="Picture 10" descr=""/>
          <p:cNvPicPr/>
          <p:nvPr/>
        </p:nvPicPr>
        <p:blipFill>
          <a:blip r:embed="rId1"/>
          <a:stretch/>
        </p:blipFill>
        <p:spPr>
          <a:xfrm>
            <a:off x="798480" y="2765520"/>
            <a:ext cx="7252920" cy="3520800"/>
          </a:xfrm>
          <a:prstGeom prst="rect">
            <a:avLst/>
          </a:prstGeom>
          <a:noFill/>
          <a:ln w="0">
            <a:noFill/>
          </a:ln>
        </p:spPr>
      </p:pic>
      <p:pic>
        <p:nvPicPr>
          <p:cNvPr id="153" name="Picture 11" descr=""/>
          <p:cNvPicPr/>
          <p:nvPr/>
        </p:nvPicPr>
        <p:blipFill>
          <a:blip r:embed="rId2"/>
          <a:stretch/>
        </p:blipFill>
        <p:spPr>
          <a:xfrm>
            <a:off x="798480" y="2765520"/>
            <a:ext cx="7252920" cy="3520800"/>
          </a:xfrm>
          <a:prstGeom prst="rect">
            <a:avLst/>
          </a:prstGeom>
          <a:noFill/>
          <a:ln w="0">
            <a:noFill/>
          </a:ln>
        </p:spPr>
      </p:pic>
      <p:pic>
        <p:nvPicPr>
          <p:cNvPr id="154" name="Picture 12" descr=""/>
          <p:cNvPicPr/>
          <p:nvPr/>
        </p:nvPicPr>
        <p:blipFill>
          <a:blip r:embed="rId3"/>
          <a:stretch/>
        </p:blipFill>
        <p:spPr>
          <a:xfrm>
            <a:off x="798480" y="2765520"/>
            <a:ext cx="7252920" cy="3520800"/>
          </a:xfrm>
          <a:prstGeom prst="rect">
            <a:avLst/>
          </a:prstGeom>
          <a:noFill/>
          <a:ln w="0">
            <a:noFill/>
          </a:ln>
        </p:spPr>
      </p:pic>
      <p:pic>
        <p:nvPicPr>
          <p:cNvPr id="155" name="Picture 13" descr=""/>
          <p:cNvPicPr/>
          <p:nvPr/>
        </p:nvPicPr>
        <p:blipFill>
          <a:blip r:embed="rId4"/>
          <a:stretch/>
        </p:blipFill>
        <p:spPr>
          <a:xfrm>
            <a:off x="798480" y="2765520"/>
            <a:ext cx="7252920" cy="3520800"/>
          </a:xfrm>
          <a:prstGeom prst="rect">
            <a:avLst/>
          </a:prstGeom>
          <a:noFill/>
          <a:ln w="0">
            <a:noFill/>
          </a:ln>
        </p:spPr>
      </p:pic>
      <p:pic>
        <p:nvPicPr>
          <p:cNvPr id="156" name="Picture 15" descr=""/>
          <p:cNvPicPr/>
          <p:nvPr/>
        </p:nvPicPr>
        <p:blipFill>
          <a:blip r:embed="rId5"/>
          <a:stretch/>
        </p:blipFill>
        <p:spPr>
          <a:xfrm>
            <a:off x="798480" y="2765520"/>
            <a:ext cx="7252920" cy="3520800"/>
          </a:xfrm>
          <a:prstGeom prst="rect">
            <a:avLst/>
          </a:prstGeom>
          <a:noFill/>
          <a:ln w="0">
            <a:noFill/>
          </a:ln>
        </p:spPr>
      </p:pic>
      <p:pic>
        <p:nvPicPr>
          <p:cNvPr id="157" name="Picture 16" descr=""/>
          <p:cNvPicPr/>
          <p:nvPr/>
        </p:nvPicPr>
        <p:blipFill>
          <a:blip r:embed="rId6"/>
          <a:stretch/>
        </p:blipFill>
        <p:spPr>
          <a:xfrm>
            <a:off x="798480" y="2765520"/>
            <a:ext cx="7252920" cy="3520800"/>
          </a:xfrm>
          <a:prstGeom prst="rect">
            <a:avLst/>
          </a:prstGeom>
          <a:noFill/>
          <a:ln w="0">
            <a:noFill/>
          </a:ln>
        </p:spPr>
      </p:pic>
    </p:spTree>
  </p:cSld>
  <p:transition spd="slow">
    <p:wipe dir="r"/>
  </p:transition>
  <p:timing>
    <p:tnLst>
      <p:par>
        <p:cTn id="402" dur="indefinite" restart="never" nodeType="tmRoot">
          <p:childTnLst>
            <p:seq>
              <p:cTn id="403" dur="indefinite" nodeType="mainSeq">
                <p:childTnLst>
                  <p:par>
                    <p:cTn id="404" nodeType="clickEffect" fill="hold">
                      <p:stCondLst>
                        <p:cond delay="0"/>
                      </p:stCondLst>
                      <p:childTnLst>
                        <p:par>
                          <p:cTn id="405" nodeType="withEffect" fill="hold">
                            <p:stCondLst>
                              <p:cond delay="0"/>
                            </p:stCondLst>
                            <p:childTnLst>
                              <p:par>
                                <p:cTn id="406" nodeType="withEffect" fill="hold" presetClass="entr" presetID="10">
                                  <p:stCondLst>
                                    <p:cond delay="0"/>
                                  </p:stCondLst>
                                  <p:childTnLst>
                                    <p:set>
                                      <p:cBhvr>
                                        <p:cTn id="407" dur="1" fill="hold">
                                          <p:stCondLst>
                                            <p:cond delay="0"/>
                                          </p:stCondLst>
                                        </p:cTn>
                                        <p:tgtEl>
                                          <p:spTgt spid="157"/>
                                        </p:tgtEl>
                                        <p:attrNameLst>
                                          <p:attrName>style.visibility</p:attrName>
                                        </p:attrNameLst>
                                      </p:cBhvr>
                                      <p:to>
                                        <p:strVal val="visible"/>
                                      </p:to>
                                    </p:set>
                                    <p:animEffect filter="fade" transition="in">
                                      <p:cBhvr additive="repl">
                                        <p:cTn id="408" dur="5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5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Temporary Shutdown Decisions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a firm is incurring an economic loss that it believes is temporary, it will remain in the market, and it might produce some output or temporarily shut down.</a:t>
            </a:r>
            <a:endParaRPr b="1" lang="en-CA" sz="2400" strike="noStrike" u="none">
              <a:solidFill>
                <a:srgbClr val="00468f"/>
              </a:solidFill>
              <a:effectLst/>
              <a:uFillTx/>
              <a:latin typeface="Arial"/>
            </a:endParaRPr>
          </a:p>
        </p:txBody>
      </p:sp>
    </p:spTree>
  </p:cSld>
  <p:transition spd="slow">
    <p:wipe dir="r"/>
  </p:transition>
  <p:timing>
    <p:tnLst>
      <p:par>
        <p:cTn id="409" dur="indefinite" restart="never" nodeType="tmRoot">
          <p:childTnLst>
            <p:seq>
              <p:cTn id="410" dur="indefinite" nodeType="mainSeq">
                <p:childTnLst>
                  <p:par>
                    <p:cTn id="411" nodeType="clickEffect" fill="hold">
                      <p:stCondLst>
                        <p:cond delay="indefinite"/>
                      </p:stCondLst>
                      <p:childTnLst>
                        <p:par>
                          <p:cTn id="412" nodeType="withEffect" fill="hold">
                            <p:stCondLst>
                              <p:cond delay="0"/>
                            </p:stCondLst>
                            <p:childTnLst>
                              <p:par>
                                <p:cTn id="413" nodeType="clickEffect" fill="hold" presetClass="entr" presetID="22" presetSubtype="8">
                                  <p:stCondLst>
                                    <p:cond delay="0"/>
                                  </p:stCondLst>
                                  <p:childTnLst>
                                    <p:set>
                                      <p:cBhvr>
                                        <p:cTn id="414" dur="1" fill="hold">
                                          <p:stCondLst>
                                            <p:cond delay="0"/>
                                          </p:stCondLst>
                                        </p:cTn>
                                        <p:tgtEl>
                                          <p:spTgt spid="159">
                                            <p:txEl>
                                              <p:pRg st="1" end="1"/>
                                            </p:txEl>
                                          </p:spTgt>
                                        </p:tgtEl>
                                        <p:attrNameLst>
                                          <p:attrName>style.visibility</p:attrName>
                                        </p:attrNameLst>
                                      </p:cBhvr>
                                      <p:to>
                                        <p:strVal val="visible"/>
                                      </p:to>
                                    </p:set>
                                    <p:animEffect filter="wipe(left)" transition="in">
                                      <p:cBhvr additive="repl">
                                        <p:cTn id="415" dur="500"/>
                                        <p:tgtEl>
                                          <p:spTgt spid="15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6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the firm shuts down temporarily, it incurs an economic loss equal to total fixed cost.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the firm produces some output, it incurs an economic loss equal to total fixed cost plus</a:t>
            </a:r>
            <a:r>
              <a:rPr b="0" lang="en-US" sz="2400" strike="noStrike" u="none">
                <a:solidFill>
                  <a:schemeClr val="dk1"/>
                </a:solidFill>
                <a:effectLst/>
                <a:uFillTx/>
                <a:latin typeface="Palatino-Roman"/>
                <a:ea typeface="ＭＳ Ｐゴシック"/>
              </a:rPr>
              <a:t> </a:t>
            </a:r>
            <a:r>
              <a:rPr b="0" lang="en-US" sz="2400" strike="noStrike" u="none">
                <a:solidFill>
                  <a:schemeClr val="dk1"/>
                </a:solidFill>
                <a:effectLst/>
                <a:uFillTx/>
                <a:latin typeface="Arial"/>
                <a:ea typeface="ＭＳ Ｐゴシック"/>
              </a:rPr>
              <a:t>total variable cost minus</a:t>
            </a:r>
            <a:r>
              <a:rPr b="0" lang="en-US" sz="2400" strike="noStrike" u="none">
                <a:solidFill>
                  <a:schemeClr val="dk1"/>
                </a:solidFill>
                <a:effectLst/>
                <a:uFillTx/>
                <a:latin typeface="Palatino-Roman"/>
                <a:ea typeface="ＭＳ Ｐゴシック"/>
              </a:rPr>
              <a:t> </a:t>
            </a:r>
            <a:r>
              <a:rPr b="0" lang="en-US" sz="2400" strike="noStrike" u="none">
                <a:solidFill>
                  <a:schemeClr val="dk1"/>
                </a:solidFill>
                <a:effectLst/>
                <a:uFillTx/>
                <a:latin typeface="Arial"/>
                <a:ea typeface="ＭＳ Ｐゴシック"/>
              </a:rPr>
              <a:t>total revenue.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total revenue exceeds total variable cost, the firm’s economic loss is less than total fixed cost. So it pays the firm to produce and incur an economic loss.</a:t>
            </a:r>
            <a:endParaRPr b="1" lang="en-CA" sz="2400" strike="noStrike" u="none">
              <a:solidFill>
                <a:srgbClr val="00468f"/>
              </a:solidFill>
              <a:effectLst/>
              <a:uFillTx/>
              <a:latin typeface="Arial"/>
            </a:endParaRPr>
          </a:p>
        </p:txBody>
      </p:sp>
    </p:spTree>
  </p:cSld>
  <p:transition spd="slow">
    <p:wipe dir="r"/>
  </p:transition>
  <p:timing>
    <p:tnLst>
      <p:par>
        <p:cTn id="416" dur="indefinite" restart="never" nodeType="tmRoot">
          <p:childTnLst>
            <p:seq>
              <p:cTn id="417" dur="indefinite" nodeType="mainSeq">
                <p:childTnLst>
                  <p:par>
                    <p:cTn id="418" nodeType="clickEffect" fill="hold">
                      <p:stCondLst>
                        <p:cond delay="indefinite"/>
                      </p:stCondLst>
                      <p:childTnLst>
                        <p:par>
                          <p:cTn id="419" nodeType="withEffect" fill="hold">
                            <p:stCondLst>
                              <p:cond delay="0"/>
                            </p:stCondLst>
                            <p:childTnLst>
                              <p:par>
                                <p:cTn id="420" nodeType="clickEffect" fill="hold" presetClass="entr" presetID="22" presetSubtype="8">
                                  <p:stCondLst>
                                    <p:cond delay="0"/>
                                  </p:stCondLst>
                                  <p:childTnLst>
                                    <p:set>
                                      <p:cBhvr>
                                        <p:cTn id="421" dur="1" fill="hold">
                                          <p:stCondLst>
                                            <p:cond delay="0"/>
                                          </p:stCondLst>
                                        </p:cTn>
                                        <p:tgtEl>
                                          <p:spTgt spid="161">
                                            <p:txEl>
                                              <p:pRg st="1" end="1"/>
                                            </p:txEl>
                                          </p:spTgt>
                                        </p:tgtEl>
                                        <p:attrNameLst>
                                          <p:attrName>style.visibility</p:attrName>
                                        </p:attrNameLst>
                                      </p:cBhvr>
                                      <p:to>
                                        <p:strVal val="visible"/>
                                      </p:to>
                                    </p:set>
                                    <p:animEffect filter="wipe(left)" transition="in">
                                      <p:cBhvr additive="repl">
                                        <p:cTn id="422" dur="500"/>
                                        <p:tgtEl>
                                          <p:spTgt spid="161">
                                            <p:txEl>
                                              <p:pRg st="1" end="1"/>
                                            </p:txEl>
                                          </p:spTgt>
                                        </p:tgtEl>
                                      </p:cBhvr>
                                    </p:animEffect>
                                  </p:childTnLst>
                                </p:cTn>
                              </p:par>
                            </p:childTnLst>
                          </p:cTn>
                        </p:par>
                      </p:childTnLst>
                    </p:cTn>
                  </p:par>
                  <p:par>
                    <p:cTn id="423" nodeType="clickEffect" fill="hold">
                      <p:stCondLst>
                        <p:cond delay="indefinite"/>
                      </p:stCondLst>
                      <p:childTnLst>
                        <p:par>
                          <p:cTn id="424" nodeType="withEffect" fill="hold">
                            <p:stCondLst>
                              <p:cond delay="0"/>
                            </p:stCondLst>
                            <p:childTnLst>
                              <p:par>
                                <p:cTn id="425" nodeType="clickEffect" fill="hold" presetClass="entr" presetID="22" presetSubtype="8">
                                  <p:stCondLst>
                                    <p:cond delay="0"/>
                                  </p:stCondLst>
                                  <p:childTnLst>
                                    <p:set>
                                      <p:cBhvr>
                                        <p:cTn id="426" dur="1" fill="hold">
                                          <p:stCondLst>
                                            <p:cond delay="0"/>
                                          </p:stCondLst>
                                        </p:cTn>
                                        <p:tgtEl>
                                          <p:spTgt spid="161">
                                            <p:txEl>
                                              <p:pRg st="2" end="2"/>
                                            </p:txEl>
                                          </p:spTgt>
                                        </p:tgtEl>
                                        <p:attrNameLst>
                                          <p:attrName>style.visibility</p:attrName>
                                        </p:attrNameLst>
                                      </p:cBhvr>
                                      <p:to>
                                        <p:strVal val="visible"/>
                                      </p:to>
                                    </p:set>
                                    <p:animEffect filter="wipe(left)" transition="in">
                                      <p:cBhvr additive="repl">
                                        <p:cTn id="427" dur="500"/>
                                        <p:tgtEl>
                                          <p:spTgt spid="16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6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total revenue were less than total variable cost, the firm’s economic loss would exceed total fixed cost. So the firm would shut down temporarily.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fixed cost is the largest economic loss that the firm will incur.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firm’s economic loss equals total fixed cost when price equals average variable cost.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So the firm produces some output if price exceeds average variable cost and shuts down temporarily if average variable cost exceeds price.</a:t>
            </a:r>
            <a:endParaRPr b="1" lang="en-CA" sz="2400" strike="noStrike" u="none">
              <a:solidFill>
                <a:srgbClr val="00468f"/>
              </a:solidFill>
              <a:effectLst/>
              <a:uFillTx/>
              <a:latin typeface="Arial"/>
            </a:endParaRPr>
          </a:p>
        </p:txBody>
      </p:sp>
    </p:spTree>
  </p:cSld>
  <p:transition spd="slow">
    <p:wipe dir="r"/>
  </p:transition>
  <p:timing>
    <p:tnLst>
      <p:par>
        <p:cTn id="428" dur="indefinite" restart="never" nodeType="tmRoot">
          <p:childTnLst>
            <p:seq>
              <p:cTn id="429" dur="indefinite" nodeType="mainSeq">
                <p:childTnLst>
                  <p:par>
                    <p:cTn id="430" nodeType="clickEffect" fill="hold">
                      <p:stCondLst>
                        <p:cond delay="indefinite"/>
                      </p:stCondLst>
                      <p:childTnLst>
                        <p:par>
                          <p:cTn id="431" nodeType="withEffect" fill="hold">
                            <p:stCondLst>
                              <p:cond delay="0"/>
                            </p:stCondLst>
                            <p:childTnLst>
                              <p:par>
                                <p:cTn id="432" nodeType="clickEffect" fill="hold" presetClass="entr" presetID="22" presetSubtype="8">
                                  <p:stCondLst>
                                    <p:cond delay="0"/>
                                  </p:stCondLst>
                                  <p:childTnLst>
                                    <p:set>
                                      <p:cBhvr>
                                        <p:cTn id="433" dur="1" fill="hold">
                                          <p:stCondLst>
                                            <p:cond delay="0"/>
                                          </p:stCondLst>
                                        </p:cTn>
                                        <p:tgtEl>
                                          <p:spTgt spid="163">
                                            <p:txEl>
                                              <p:pRg st="1" end="1"/>
                                            </p:txEl>
                                          </p:spTgt>
                                        </p:tgtEl>
                                        <p:attrNameLst>
                                          <p:attrName>style.visibility</p:attrName>
                                        </p:attrNameLst>
                                      </p:cBhvr>
                                      <p:to>
                                        <p:strVal val="visible"/>
                                      </p:to>
                                    </p:set>
                                    <p:animEffect filter="wipe(left)" transition="in">
                                      <p:cBhvr additive="repl">
                                        <p:cTn id="434" dur="500"/>
                                        <p:tgtEl>
                                          <p:spTgt spid="163">
                                            <p:txEl>
                                              <p:pRg st="1" end="1"/>
                                            </p:txEl>
                                          </p:spTgt>
                                        </p:tgtEl>
                                      </p:cBhvr>
                                    </p:animEffect>
                                  </p:childTnLst>
                                </p:cTn>
                              </p:par>
                            </p:childTnLst>
                          </p:cTn>
                        </p:par>
                      </p:childTnLst>
                    </p:cTn>
                  </p:par>
                  <p:par>
                    <p:cTn id="435" nodeType="clickEffect" fill="hold">
                      <p:stCondLst>
                        <p:cond delay="indefinite"/>
                      </p:stCondLst>
                      <p:childTnLst>
                        <p:par>
                          <p:cTn id="436" nodeType="withEffect" fill="hold">
                            <p:stCondLst>
                              <p:cond delay="0"/>
                            </p:stCondLst>
                            <p:childTnLst>
                              <p:par>
                                <p:cTn id="437" nodeType="clickEffect" fill="hold" presetClass="entr" presetID="22" presetSubtype="8">
                                  <p:stCondLst>
                                    <p:cond delay="0"/>
                                  </p:stCondLst>
                                  <p:childTnLst>
                                    <p:set>
                                      <p:cBhvr>
                                        <p:cTn id="438" dur="1" fill="hold">
                                          <p:stCondLst>
                                            <p:cond delay="0"/>
                                          </p:stCondLst>
                                        </p:cTn>
                                        <p:tgtEl>
                                          <p:spTgt spid="163">
                                            <p:txEl>
                                              <p:pRg st="2" end="2"/>
                                            </p:txEl>
                                          </p:spTgt>
                                        </p:tgtEl>
                                        <p:attrNameLst>
                                          <p:attrName>style.visibility</p:attrName>
                                        </p:attrNameLst>
                                      </p:cBhvr>
                                      <p:to>
                                        <p:strVal val="visible"/>
                                      </p:to>
                                    </p:set>
                                    <p:animEffect filter="wipe(left)" transition="in">
                                      <p:cBhvr additive="repl">
                                        <p:cTn id="439" dur="500"/>
                                        <p:tgtEl>
                                          <p:spTgt spid="163">
                                            <p:txEl>
                                              <p:pRg st="2" end="2"/>
                                            </p:txEl>
                                          </p:spTgt>
                                        </p:tgtEl>
                                      </p:cBhvr>
                                    </p:animEffect>
                                  </p:childTnLst>
                                </p:cTn>
                              </p:par>
                            </p:childTnLst>
                          </p:cTn>
                        </p:par>
                      </p:childTnLst>
                    </p:cTn>
                  </p:par>
                  <p:par>
                    <p:cTn id="440" nodeType="clickEffect" fill="hold">
                      <p:stCondLst>
                        <p:cond delay="indefinite"/>
                      </p:stCondLst>
                      <p:childTnLst>
                        <p:par>
                          <p:cTn id="441" nodeType="withEffect" fill="hold">
                            <p:stCondLst>
                              <p:cond delay="0"/>
                            </p:stCondLst>
                            <p:childTnLst>
                              <p:par>
                                <p:cTn id="442" nodeType="clickEffect" fill="hold" presetClass="entr" presetID="22" presetSubtype="8">
                                  <p:stCondLst>
                                    <p:cond delay="0"/>
                                  </p:stCondLst>
                                  <p:childTnLst>
                                    <p:set>
                                      <p:cBhvr>
                                        <p:cTn id="443" dur="1" fill="hold">
                                          <p:stCondLst>
                                            <p:cond delay="0"/>
                                          </p:stCondLst>
                                        </p:cTn>
                                        <p:tgtEl>
                                          <p:spTgt spid="163">
                                            <p:txEl>
                                              <p:pRg st="3" end="3"/>
                                            </p:txEl>
                                          </p:spTgt>
                                        </p:tgtEl>
                                        <p:attrNameLst>
                                          <p:attrName>style.visibility</p:attrName>
                                        </p:attrNameLst>
                                      </p:cBhvr>
                                      <p:to>
                                        <p:strVal val="visible"/>
                                      </p:to>
                                    </p:set>
                                    <p:animEffect filter="wipe(left)" transition="in">
                                      <p:cBhvr additive="repl">
                                        <p:cTn id="444" dur="500"/>
                                        <p:tgtEl>
                                          <p:spTgt spid="16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6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firm’s </a:t>
            </a:r>
            <a:r>
              <a:rPr b="1" lang="en-US" sz="2400" strike="noStrike" u="none">
                <a:solidFill>
                  <a:srgbClr val="ff0000"/>
                </a:solidFill>
                <a:effectLst/>
                <a:uFillTx/>
                <a:latin typeface="Arial"/>
                <a:ea typeface="ＭＳ Ｐゴシック"/>
              </a:rPr>
              <a:t>shutdown point</a:t>
            </a:r>
            <a:r>
              <a:rPr b="0" lang="en-US" sz="2400" strike="noStrike" u="none">
                <a:solidFill>
                  <a:schemeClr val="dk1"/>
                </a:solidFill>
                <a:effectLst/>
                <a:uFillTx/>
                <a:latin typeface="Arial"/>
                <a:ea typeface="ＭＳ Ｐゴシック"/>
              </a:rPr>
              <a:t> is the output and price at which price equals minimum average variable cost.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15.4 on the next slide illustrates a firm’s shutdown point.</a:t>
            </a:r>
            <a:endParaRPr b="1" lang="en-CA" sz="2400" strike="noStrike" u="none">
              <a:solidFill>
                <a:srgbClr val="00468f"/>
              </a:solidFill>
              <a:effectLst/>
              <a:uFillTx/>
              <a:latin typeface="Arial"/>
            </a:endParaRPr>
          </a:p>
        </p:txBody>
      </p:sp>
    </p:spTree>
  </p:cSld>
  <p:transition spd="slow">
    <p:wipe dir="r"/>
  </p:transition>
  <p:timing>
    <p:tnLst>
      <p:par>
        <p:cTn id="445" dur="indefinite" restart="never" nodeType="tmRoot">
          <p:childTnLst>
            <p:seq>
              <p:cTn id="446" dur="indefinite" nodeType="mainSeq">
                <p:childTnLst>
                  <p:par>
                    <p:cTn id="447" nodeType="clickEffect" fill="hold">
                      <p:stCondLst>
                        <p:cond delay="indefinite"/>
                      </p:stCondLst>
                      <p:childTnLst>
                        <p:par>
                          <p:cTn id="448" nodeType="withEffect" fill="hold">
                            <p:stCondLst>
                              <p:cond delay="0"/>
                            </p:stCondLst>
                            <p:childTnLst>
                              <p:par>
                                <p:cTn id="449" nodeType="clickEffect" fill="hold" presetClass="entr" presetID="22" presetSubtype="8">
                                  <p:stCondLst>
                                    <p:cond delay="0"/>
                                  </p:stCondLst>
                                  <p:childTnLst>
                                    <p:set>
                                      <p:cBhvr>
                                        <p:cTn id="450" dur="1" fill="hold">
                                          <p:stCondLst>
                                            <p:cond delay="0"/>
                                          </p:stCondLst>
                                        </p:cTn>
                                        <p:tgtEl>
                                          <p:spTgt spid="165">
                                            <p:txEl>
                                              <p:pRg st="1" end="1"/>
                                            </p:txEl>
                                          </p:spTgt>
                                        </p:tgtEl>
                                        <p:attrNameLst>
                                          <p:attrName>style.visibility</p:attrName>
                                        </p:attrNameLst>
                                      </p:cBhvr>
                                      <p:to>
                                        <p:strVal val="visible"/>
                                      </p:to>
                                    </p:set>
                                    <p:animEffect filter="wipe(left)" transition="in">
                                      <p:cBhvr additive="repl">
                                        <p:cTn id="451" dur="500"/>
                                        <p:tgtEl>
                                          <p:spTgt spid="16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67"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Marginal revenue curve is </a:t>
            </a:r>
            <a:r>
              <a:rPr b="0" i="1" lang="en-US" sz="2400" strike="noStrike" u="none">
                <a:solidFill>
                  <a:schemeClr val="dk1"/>
                </a:solidFill>
                <a:effectLst/>
                <a:uFillTx/>
                <a:latin typeface="Arial"/>
                <a:ea typeface="ＭＳ Ｐゴシック"/>
              </a:rPr>
              <a:t>MR.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firm’s cost curves are </a:t>
            </a:r>
            <a:r>
              <a:rPr b="0" i="1" lang="en-US" sz="2400" strike="noStrike" u="none">
                <a:solidFill>
                  <a:schemeClr val="dk1"/>
                </a:solidFill>
                <a:effectLst/>
                <a:uFillTx/>
                <a:latin typeface="Arial"/>
                <a:ea typeface="ＭＳ Ｐゴシック"/>
              </a:rPr>
              <a:t>MC, ATC</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168" name="Picture 8" descr=""/>
          <p:cNvPicPr/>
          <p:nvPr/>
        </p:nvPicPr>
        <p:blipFill>
          <a:blip r:embed="rId1"/>
          <a:stretch/>
        </p:blipFill>
        <p:spPr>
          <a:xfrm>
            <a:off x="752400" y="2911320"/>
            <a:ext cx="7346520" cy="3543120"/>
          </a:xfrm>
          <a:prstGeom prst="rect">
            <a:avLst/>
          </a:prstGeom>
          <a:noFill/>
          <a:ln w="0">
            <a:noFill/>
          </a:ln>
        </p:spPr>
      </p:pic>
      <p:pic>
        <p:nvPicPr>
          <p:cNvPr id="169" name="Picture 13" descr=""/>
          <p:cNvPicPr/>
          <p:nvPr/>
        </p:nvPicPr>
        <p:blipFill>
          <a:blip r:embed="rId2"/>
          <a:stretch/>
        </p:blipFill>
        <p:spPr>
          <a:xfrm>
            <a:off x="752400" y="2911320"/>
            <a:ext cx="7346520" cy="3543120"/>
          </a:xfrm>
          <a:prstGeom prst="rect">
            <a:avLst/>
          </a:prstGeom>
          <a:noFill/>
          <a:ln w="0">
            <a:noFill/>
          </a:ln>
        </p:spPr>
      </p:pic>
      <p:pic>
        <p:nvPicPr>
          <p:cNvPr id="170" name="Picture 14" descr=""/>
          <p:cNvPicPr/>
          <p:nvPr/>
        </p:nvPicPr>
        <p:blipFill>
          <a:blip r:embed="rId3"/>
          <a:stretch/>
        </p:blipFill>
        <p:spPr>
          <a:xfrm>
            <a:off x="752400" y="2911320"/>
            <a:ext cx="7346520" cy="3543120"/>
          </a:xfrm>
          <a:prstGeom prst="rect">
            <a:avLst/>
          </a:prstGeom>
          <a:noFill/>
          <a:ln w="0">
            <a:noFill/>
          </a:ln>
        </p:spPr>
      </p:pic>
      <p:pic>
        <p:nvPicPr>
          <p:cNvPr id="171" name="Picture 15" descr=""/>
          <p:cNvPicPr/>
          <p:nvPr/>
        </p:nvPicPr>
        <p:blipFill>
          <a:blip r:embed="rId4"/>
          <a:stretch/>
        </p:blipFill>
        <p:spPr>
          <a:xfrm>
            <a:off x="752400" y="2911320"/>
            <a:ext cx="7346520" cy="3543120"/>
          </a:xfrm>
          <a:prstGeom prst="rect">
            <a:avLst/>
          </a:prstGeom>
          <a:noFill/>
          <a:ln w="0">
            <a:noFill/>
          </a:ln>
        </p:spPr>
      </p:pic>
      <p:pic>
        <p:nvPicPr>
          <p:cNvPr id="172" name="Picture 16" descr=""/>
          <p:cNvPicPr/>
          <p:nvPr/>
        </p:nvPicPr>
        <p:blipFill>
          <a:blip r:embed="rId5"/>
          <a:stretch/>
        </p:blipFill>
        <p:spPr>
          <a:xfrm>
            <a:off x="752400" y="2911320"/>
            <a:ext cx="7346520" cy="3543120"/>
          </a:xfrm>
          <a:prstGeom prst="rect">
            <a:avLst/>
          </a:prstGeom>
          <a:noFill/>
          <a:ln w="0">
            <a:noFill/>
          </a:ln>
        </p:spPr>
      </p:pic>
    </p:spTree>
  </p:cSld>
  <p:transition spd="slow">
    <p:wipe dir="r"/>
  </p:transition>
  <p:timing>
    <p:tnLst>
      <p:par>
        <p:cTn id="452" dur="indefinite" restart="never" nodeType="tmRoot">
          <p:childTnLst>
            <p:seq>
              <p:cTn id="453" dur="indefinite" nodeType="mainSeq">
                <p:childTnLst>
                  <p:par>
                    <p:cTn id="454" nodeType="clickEffect" fill="hold">
                      <p:stCondLst>
                        <p:cond delay="0"/>
                      </p:stCondLst>
                      <p:childTnLst>
                        <p:par>
                          <p:cTn id="455" nodeType="withEffect" fill="hold">
                            <p:stCondLst>
                              <p:cond delay="0"/>
                            </p:stCondLst>
                            <p:childTnLst>
                              <p:par>
                                <p:cTn id="456" nodeType="withEffect" fill="hold" presetClass="entr" presetID="22" presetSubtype="8">
                                  <p:stCondLst>
                                    <p:cond delay="0"/>
                                  </p:stCondLst>
                                  <p:childTnLst>
                                    <p:set>
                                      <p:cBhvr>
                                        <p:cTn id="457" dur="1" fill="hold">
                                          <p:stCondLst>
                                            <p:cond delay="0"/>
                                          </p:stCondLst>
                                        </p:cTn>
                                        <p:tgtEl>
                                          <p:spTgt spid="169"/>
                                        </p:tgtEl>
                                        <p:attrNameLst>
                                          <p:attrName>style.visibility</p:attrName>
                                        </p:attrNameLst>
                                      </p:cBhvr>
                                      <p:to>
                                        <p:strVal val="visible"/>
                                      </p:to>
                                    </p:set>
                                    <p:animEffect filter="wipe(left)" transition="in">
                                      <p:cBhvr additive="repl">
                                        <p:cTn id="458" dur="1000"/>
                                        <p:tgtEl>
                                          <p:spTgt spid="169"/>
                                        </p:tgtEl>
                                      </p:cBhvr>
                                    </p:animEffect>
                                  </p:childTnLst>
                                </p:cTn>
                              </p:par>
                            </p:childTnLst>
                          </p:cTn>
                        </p:par>
                      </p:childTnLst>
                    </p:cTn>
                  </p:par>
                  <p:par>
                    <p:cTn id="459" nodeType="clickEffect" fill="hold">
                      <p:stCondLst>
                        <p:cond delay="indefinite"/>
                      </p:stCondLst>
                      <p:childTnLst>
                        <p:par>
                          <p:cTn id="460" nodeType="withEffect" fill="hold">
                            <p:stCondLst>
                              <p:cond delay="0"/>
                            </p:stCondLst>
                            <p:childTnLst>
                              <p:par>
                                <p:cTn id="461" nodeType="clickEffect" fill="hold" presetClass="entr" presetID="22" presetSubtype="8">
                                  <p:stCondLst>
                                    <p:cond delay="0"/>
                                  </p:stCondLst>
                                  <p:childTnLst>
                                    <p:set>
                                      <p:cBhvr>
                                        <p:cTn id="462" dur="1" fill="hold">
                                          <p:stCondLst>
                                            <p:cond delay="0"/>
                                          </p:stCondLst>
                                        </p:cTn>
                                        <p:tgtEl>
                                          <p:spTgt spid="167">
                                            <p:txEl>
                                              <p:pRg st="1" end="1"/>
                                            </p:txEl>
                                          </p:spTgt>
                                        </p:tgtEl>
                                        <p:attrNameLst>
                                          <p:attrName>style.visibility</p:attrName>
                                        </p:attrNameLst>
                                      </p:cBhvr>
                                      <p:to>
                                        <p:strVal val="visible"/>
                                      </p:to>
                                    </p:set>
                                    <p:animEffect filter="wipe(left)" transition="in">
                                      <p:cBhvr additive="repl">
                                        <p:cTn id="463" dur="500"/>
                                        <p:tgtEl>
                                          <p:spTgt spid="167">
                                            <p:txEl>
                                              <p:pRg st="1" end="1"/>
                                            </p:txEl>
                                          </p:spTgt>
                                        </p:tgtEl>
                                      </p:cBhvr>
                                    </p:animEffect>
                                  </p:childTnLst>
                                </p:cTn>
                              </p:par>
                              <p:par>
                                <p:cTn id="464" nodeType="withEffect" fill="hold" presetClass="entr" presetID="22" presetSubtype="8">
                                  <p:stCondLst>
                                    <p:cond delay="0"/>
                                  </p:stCondLst>
                                  <p:childTnLst>
                                    <p:set>
                                      <p:cBhvr>
                                        <p:cTn id="465" dur="1" fill="hold">
                                          <p:stCondLst>
                                            <p:cond delay="0"/>
                                          </p:stCondLst>
                                        </p:cTn>
                                        <p:tgtEl>
                                          <p:spTgt spid="170"/>
                                        </p:tgtEl>
                                        <p:attrNameLst>
                                          <p:attrName>style.visibility</p:attrName>
                                        </p:attrNameLst>
                                      </p:cBhvr>
                                      <p:to>
                                        <p:strVal val="visible"/>
                                      </p:to>
                                    </p:set>
                                    <p:animEffect filter="wipe(left)" transition="in">
                                      <p:cBhvr additive="repl">
                                        <p:cTn id="466" dur="1000"/>
                                        <p:tgtEl>
                                          <p:spTgt spid="170"/>
                                        </p:tgtEl>
                                      </p:cBhvr>
                                    </p:animEffect>
                                  </p:childTnLst>
                                </p:cTn>
                              </p:par>
                              <p:par>
                                <p:cTn id="467" nodeType="withEffect" fill="hold" presetClass="entr" presetID="22" presetSubtype="8">
                                  <p:stCondLst>
                                    <p:cond delay="1400"/>
                                  </p:stCondLst>
                                  <p:childTnLst>
                                    <p:set>
                                      <p:cBhvr>
                                        <p:cTn id="468" dur="1" fill="hold">
                                          <p:stCondLst>
                                            <p:cond delay="0"/>
                                          </p:stCondLst>
                                        </p:cTn>
                                        <p:tgtEl>
                                          <p:spTgt spid="171"/>
                                        </p:tgtEl>
                                        <p:attrNameLst>
                                          <p:attrName>style.visibility</p:attrName>
                                        </p:attrNameLst>
                                      </p:cBhvr>
                                      <p:to>
                                        <p:strVal val="visible"/>
                                      </p:to>
                                    </p:set>
                                    <p:animEffect filter="wipe(left)" transition="in">
                                      <p:cBhvr additive="repl">
                                        <p:cTn id="469" dur="1000"/>
                                        <p:tgtEl>
                                          <p:spTgt spid="171"/>
                                        </p:tgtEl>
                                      </p:cBhvr>
                                    </p:animEffect>
                                  </p:childTnLst>
                                </p:cTn>
                              </p:par>
                              <p:par>
                                <p:cTn id="470" nodeType="withEffect" fill="hold" presetClass="entr" presetID="22" presetSubtype="8">
                                  <p:stCondLst>
                                    <p:cond delay="2700"/>
                                  </p:stCondLst>
                                  <p:childTnLst>
                                    <p:set>
                                      <p:cBhvr>
                                        <p:cTn id="471" dur="1" fill="hold">
                                          <p:stCondLst>
                                            <p:cond delay="0"/>
                                          </p:stCondLst>
                                        </p:cTn>
                                        <p:tgtEl>
                                          <p:spTgt spid="172"/>
                                        </p:tgtEl>
                                        <p:attrNameLst>
                                          <p:attrName>style.visibility</p:attrName>
                                        </p:attrNameLst>
                                      </p:cBhvr>
                                      <p:to>
                                        <p:strVal val="visible"/>
                                      </p:to>
                                    </p:set>
                                    <p:animEffect filter="wipe(left)" transition="in">
                                      <p:cBhvr additive="repl">
                                        <p:cTn id="472" dur="1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73" name="Picture 8" descr=""/>
          <p:cNvPicPr/>
          <p:nvPr/>
        </p:nvPicPr>
        <p:blipFill>
          <a:blip r:embed="rId1"/>
          <a:stretch/>
        </p:blipFill>
        <p:spPr>
          <a:xfrm>
            <a:off x="431640" y="1295280"/>
            <a:ext cx="8264160" cy="3985920"/>
          </a:xfrm>
          <a:prstGeom prst="rect">
            <a:avLst/>
          </a:prstGeom>
          <a:noFill/>
          <a:ln w="0">
            <a:noFill/>
          </a:ln>
        </p:spPr>
      </p:pic>
      <p:pic>
        <p:nvPicPr>
          <p:cNvPr id="174" name="Picture 15" descr=""/>
          <p:cNvPicPr/>
          <p:nvPr/>
        </p:nvPicPr>
        <p:blipFill>
          <a:blip r:embed="rId2"/>
          <a:stretch/>
        </p:blipFill>
        <p:spPr>
          <a:xfrm>
            <a:off x="431640" y="1295280"/>
            <a:ext cx="8264160" cy="3985920"/>
          </a:xfrm>
          <a:prstGeom prst="rect">
            <a:avLst/>
          </a:prstGeom>
          <a:noFill/>
          <a:ln w="0">
            <a:noFill/>
          </a:ln>
        </p:spPr>
      </p:pic>
      <p:pic>
        <p:nvPicPr>
          <p:cNvPr id="175" name="Picture 16" descr=""/>
          <p:cNvPicPr/>
          <p:nvPr/>
        </p:nvPicPr>
        <p:blipFill>
          <a:blip r:embed="rId3"/>
          <a:stretch/>
        </p:blipFill>
        <p:spPr>
          <a:xfrm>
            <a:off x="431640" y="1295280"/>
            <a:ext cx="8264160" cy="3985920"/>
          </a:xfrm>
          <a:prstGeom prst="rect">
            <a:avLst/>
          </a:prstGeom>
          <a:noFill/>
          <a:ln w="0">
            <a:noFill/>
          </a:ln>
        </p:spPr>
      </p:pic>
      <p:pic>
        <p:nvPicPr>
          <p:cNvPr id="176" name="Picture 17" descr=""/>
          <p:cNvPicPr/>
          <p:nvPr/>
        </p:nvPicPr>
        <p:blipFill>
          <a:blip r:embed="rId4"/>
          <a:stretch/>
        </p:blipFill>
        <p:spPr>
          <a:xfrm>
            <a:off x="431640" y="1295280"/>
            <a:ext cx="8264160" cy="3985920"/>
          </a:xfrm>
          <a:prstGeom prst="rect">
            <a:avLst/>
          </a:prstGeom>
          <a:noFill/>
          <a:ln w="0">
            <a:noFill/>
          </a:ln>
        </p:spPr>
      </p:pic>
      <p:pic>
        <p:nvPicPr>
          <p:cNvPr id="177" name="Picture 18" descr=""/>
          <p:cNvPicPr/>
          <p:nvPr/>
        </p:nvPicPr>
        <p:blipFill>
          <a:blip r:embed="rId5"/>
          <a:stretch/>
        </p:blipFill>
        <p:spPr>
          <a:xfrm>
            <a:off x="431640" y="1295280"/>
            <a:ext cx="8264160" cy="3985920"/>
          </a:xfrm>
          <a:prstGeom prst="rect">
            <a:avLst/>
          </a:prstGeom>
          <a:noFill/>
          <a:ln w="0">
            <a:noFill/>
          </a:ln>
        </p:spPr>
      </p:pic>
      <p:pic>
        <p:nvPicPr>
          <p:cNvPr id="178" name="Picture 19" descr=""/>
          <p:cNvPicPr/>
          <p:nvPr/>
        </p:nvPicPr>
        <p:blipFill>
          <a:blip r:embed="rId6"/>
          <a:stretch/>
        </p:blipFill>
        <p:spPr>
          <a:xfrm>
            <a:off x="431640" y="1295280"/>
            <a:ext cx="8264160" cy="3985920"/>
          </a:xfrm>
          <a:prstGeom prst="rect">
            <a:avLst/>
          </a:prstGeom>
          <a:noFill/>
          <a:ln w="0">
            <a:noFill/>
          </a:ln>
        </p:spPr>
      </p:pic>
      <p:pic>
        <p:nvPicPr>
          <p:cNvPr id="179" name="Picture 20" descr=""/>
          <p:cNvPicPr/>
          <p:nvPr/>
        </p:nvPicPr>
        <p:blipFill>
          <a:blip r:embed="rId7"/>
          <a:stretch/>
        </p:blipFill>
        <p:spPr>
          <a:xfrm>
            <a:off x="431640" y="1295280"/>
            <a:ext cx="8264160" cy="3985920"/>
          </a:xfrm>
          <a:prstGeom prst="rect">
            <a:avLst/>
          </a:prstGeom>
          <a:noFill/>
          <a:ln w="0">
            <a:noFill/>
          </a:ln>
        </p:spPr>
      </p:pic>
    </p:spTree>
  </p:cSld>
  <p:transition spd="slow">
    <p:wipe dir="r"/>
  </p:transition>
  <p:timing>
    <p:tnLst>
      <p:par>
        <p:cTn id="473" dur="indefinite" restart="never" nodeType="tmRoot">
          <p:childTnLst>
            <p:seq>
              <p:cTn id="474" dur="indefinite" nodeType="mainSeq">
                <p:childTnLst>
                  <p:par>
                    <p:cTn id="475" nodeType="clickEffect" fill="hold">
                      <p:stCondLst>
                        <p:cond delay="indefinite"/>
                      </p:stCondLst>
                      <p:childTnLst>
                        <p:par>
                          <p:cTn id="476" nodeType="withEffect" fill="hold">
                            <p:stCondLst>
                              <p:cond delay="0"/>
                            </p:stCondLst>
                            <p:childTnLst>
                              <p:par>
                                <p:cTn id="477" nodeType="clickEffect" fill="hold" presetClass="entr" presetID="22" presetSubtype="8">
                                  <p:stCondLst>
                                    <p:cond delay="0"/>
                                  </p:stCondLst>
                                  <p:childTnLst>
                                    <p:set>
                                      <p:cBhvr>
                                        <p:cTn id="478" dur="1" fill="hold">
                                          <p:stCondLst>
                                            <p:cond delay="0"/>
                                          </p:stCondLst>
                                        </p:cTn>
                                        <p:tgtEl>
                                          <p:spTgt spid="174"/>
                                        </p:tgtEl>
                                        <p:attrNameLst>
                                          <p:attrName>style.visibility</p:attrName>
                                        </p:attrNameLst>
                                      </p:cBhvr>
                                      <p:to>
                                        <p:strVal val="visible"/>
                                      </p:to>
                                    </p:set>
                                    <p:animEffect filter="wipe(left)" transition="in">
                                      <p:cBhvr additive="repl">
                                        <p:cTn id="479" dur="1000"/>
                                        <p:tgtEl>
                                          <p:spTgt spid="174"/>
                                        </p:tgtEl>
                                      </p:cBhvr>
                                    </p:animEffect>
                                  </p:childTnLst>
                                </p:cTn>
                              </p:par>
                            </p:childTnLst>
                          </p:cTn>
                        </p:par>
                      </p:childTnLst>
                    </p:cTn>
                  </p:par>
                  <p:par>
                    <p:cTn id="480" nodeType="clickEffect" fill="hold">
                      <p:stCondLst>
                        <p:cond delay="indefinite"/>
                      </p:stCondLst>
                      <p:childTnLst>
                        <p:par>
                          <p:cTn id="481" nodeType="withEffect" fill="hold">
                            <p:stCondLst>
                              <p:cond delay="0"/>
                            </p:stCondLst>
                            <p:childTnLst>
                              <p:par>
                                <p:cTn id="482" nodeType="clickEffect" fill="hold" presetClass="entr" presetID="22" presetSubtype="8">
                                  <p:stCondLst>
                                    <p:cond delay="0"/>
                                  </p:stCondLst>
                                  <p:childTnLst>
                                    <p:set>
                                      <p:cBhvr>
                                        <p:cTn id="483" dur="1" fill="hold">
                                          <p:stCondLst>
                                            <p:cond delay="0"/>
                                          </p:stCondLst>
                                        </p:cTn>
                                        <p:tgtEl>
                                          <p:spTgt spid="175"/>
                                        </p:tgtEl>
                                        <p:attrNameLst>
                                          <p:attrName>style.visibility</p:attrName>
                                        </p:attrNameLst>
                                      </p:cBhvr>
                                      <p:to>
                                        <p:strVal val="visible"/>
                                      </p:to>
                                    </p:set>
                                    <p:animEffect filter="wipe(left)" transition="in">
                                      <p:cBhvr additive="repl">
                                        <p:cTn id="484" dur="1000"/>
                                        <p:tgtEl>
                                          <p:spTgt spid="175"/>
                                        </p:tgtEl>
                                      </p:cBhvr>
                                    </p:animEffect>
                                  </p:childTnLst>
                                </p:cTn>
                              </p:par>
                            </p:childTnLst>
                          </p:cTn>
                        </p:par>
                      </p:childTnLst>
                    </p:cTn>
                  </p:par>
                  <p:par>
                    <p:cTn id="485" nodeType="clickEffect" fill="hold">
                      <p:stCondLst>
                        <p:cond delay="indefinite"/>
                      </p:stCondLst>
                      <p:childTnLst>
                        <p:par>
                          <p:cTn id="486" nodeType="withEffect" fill="hold">
                            <p:stCondLst>
                              <p:cond delay="0"/>
                            </p:stCondLst>
                            <p:childTnLst>
                              <p:par>
                                <p:cTn id="487" nodeType="clickEffect" fill="hold" presetClass="entr" presetID="22" presetSubtype="8">
                                  <p:stCondLst>
                                    <p:cond delay="0"/>
                                  </p:stCondLst>
                                  <p:childTnLst>
                                    <p:set>
                                      <p:cBhvr>
                                        <p:cTn id="488" dur="1" fill="hold">
                                          <p:stCondLst>
                                            <p:cond delay="0"/>
                                          </p:stCondLst>
                                        </p:cTn>
                                        <p:tgtEl>
                                          <p:spTgt spid="176"/>
                                        </p:tgtEl>
                                        <p:attrNameLst>
                                          <p:attrName>style.visibility</p:attrName>
                                        </p:attrNameLst>
                                      </p:cBhvr>
                                      <p:to>
                                        <p:strVal val="visible"/>
                                      </p:to>
                                    </p:set>
                                    <p:animEffect filter="wipe(left)" transition="in">
                                      <p:cBhvr additive="repl">
                                        <p:cTn id="489" dur="1000"/>
                                        <p:tgtEl>
                                          <p:spTgt spid="176"/>
                                        </p:tgtEl>
                                      </p:cBhvr>
                                    </p:animEffect>
                                  </p:childTnLst>
                                </p:cTn>
                              </p:par>
                            </p:childTnLst>
                          </p:cTn>
                        </p:par>
                      </p:childTnLst>
                    </p:cTn>
                  </p:par>
                  <p:par>
                    <p:cTn id="490" nodeType="clickEffect" fill="hold">
                      <p:stCondLst>
                        <p:cond delay="indefinite"/>
                      </p:stCondLst>
                      <p:childTnLst>
                        <p:par>
                          <p:cTn id="491" nodeType="withEffect" fill="hold">
                            <p:stCondLst>
                              <p:cond delay="0"/>
                            </p:stCondLst>
                            <p:childTnLst>
                              <p:par>
                                <p:cTn id="492" nodeType="clickEffect" fill="hold" presetClass="entr" presetID="22" presetSubtype="8">
                                  <p:stCondLst>
                                    <p:cond delay="0"/>
                                  </p:stCondLst>
                                  <p:childTnLst>
                                    <p:set>
                                      <p:cBhvr>
                                        <p:cTn id="493" dur="1" fill="hold">
                                          <p:stCondLst>
                                            <p:cond delay="0"/>
                                          </p:stCondLst>
                                        </p:cTn>
                                        <p:tgtEl>
                                          <p:spTgt spid="177"/>
                                        </p:tgtEl>
                                        <p:attrNameLst>
                                          <p:attrName>style.visibility</p:attrName>
                                        </p:attrNameLst>
                                      </p:cBhvr>
                                      <p:to>
                                        <p:strVal val="visible"/>
                                      </p:to>
                                    </p:set>
                                    <p:animEffect filter="wipe(left)" transition="in">
                                      <p:cBhvr additive="repl">
                                        <p:cTn id="494" dur="1000"/>
                                        <p:tgtEl>
                                          <p:spTgt spid="177"/>
                                        </p:tgtEl>
                                      </p:cBhvr>
                                    </p:animEffect>
                                  </p:childTnLst>
                                </p:cTn>
                              </p:par>
                            </p:childTnLst>
                          </p:cTn>
                        </p:par>
                      </p:childTnLst>
                    </p:cTn>
                  </p:par>
                  <p:par>
                    <p:cTn id="495" nodeType="clickEffect" fill="hold">
                      <p:stCondLst>
                        <p:cond delay="indefinite"/>
                      </p:stCondLst>
                      <p:childTnLst>
                        <p:par>
                          <p:cTn id="496" nodeType="withEffect" fill="hold">
                            <p:stCondLst>
                              <p:cond delay="0"/>
                            </p:stCondLst>
                            <p:childTnLst>
                              <p:par>
                                <p:cTn id="497" nodeType="clickEffect" fill="hold" presetClass="entr" presetID="10">
                                  <p:stCondLst>
                                    <p:cond delay="0"/>
                                  </p:stCondLst>
                                  <p:childTnLst>
                                    <p:set>
                                      <p:cBhvr>
                                        <p:cTn id="498" dur="1" fill="hold">
                                          <p:stCondLst>
                                            <p:cond delay="0"/>
                                          </p:stCondLst>
                                        </p:cTn>
                                        <p:tgtEl>
                                          <p:spTgt spid="178"/>
                                        </p:tgtEl>
                                        <p:attrNameLst>
                                          <p:attrName>style.visibility</p:attrName>
                                        </p:attrNameLst>
                                      </p:cBhvr>
                                      <p:to>
                                        <p:strVal val="visible"/>
                                      </p:to>
                                    </p:set>
                                    <p:animEffect filter="fade" transition="in">
                                      <p:cBhvr additive="repl">
                                        <p:cTn id="499" dur="500"/>
                                        <p:tgtEl>
                                          <p:spTgt spid="178"/>
                                        </p:tgtEl>
                                      </p:cBhvr>
                                    </p:animEffect>
                                  </p:childTnLst>
                                </p:cTn>
                              </p:par>
                            </p:childTnLst>
                          </p:cTn>
                        </p:par>
                      </p:childTnLst>
                    </p:cTn>
                  </p:par>
                  <p:par>
                    <p:cTn id="500" nodeType="clickEffect" fill="hold">
                      <p:stCondLst>
                        <p:cond delay="indefinite"/>
                      </p:stCondLst>
                      <p:childTnLst>
                        <p:par>
                          <p:cTn id="501" nodeType="withEffect" fill="hold">
                            <p:stCondLst>
                              <p:cond delay="0"/>
                            </p:stCondLst>
                            <p:childTnLst>
                              <p:par>
                                <p:cTn id="502" nodeType="clickEffect" fill="hold" presetClass="entr" presetID="10">
                                  <p:stCondLst>
                                    <p:cond delay="0"/>
                                  </p:stCondLst>
                                  <p:childTnLst>
                                    <p:set>
                                      <p:cBhvr>
                                        <p:cTn id="503" dur="1" fill="hold">
                                          <p:stCondLst>
                                            <p:cond delay="0"/>
                                          </p:stCondLst>
                                        </p:cTn>
                                        <p:tgtEl>
                                          <p:spTgt spid="179"/>
                                        </p:tgtEl>
                                        <p:attrNameLst>
                                          <p:attrName>style.visibility</p:attrName>
                                        </p:attrNameLst>
                                      </p:cBhvr>
                                      <p:to>
                                        <p:strVal val="visible"/>
                                      </p:to>
                                    </p:set>
                                    <p:animEffect filter="fade" transition="in">
                                      <p:cBhvr additive="repl">
                                        <p:cTn id="504"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8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defTabSz="343080">
              <a:lnSpc>
                <a:spcPct val="100000"/>
              </a:lnSpc>
              <a:spcBef>
                <a:spcPts val="601"/>
              </a:spcBef>
              <a:spcAft>
                <a:spcPts val="601"/>
              </a:spcAft>
              <a:buClr>
                <a:srgbClr val="000000"/>
              </a:buClr>
              <a:buFont typeface="Arial"/>
              <a:buAutoNum type="arabicPeriod"/>
            </a:pPr>
            <a:r>
              <a:rPr b="0" lang="en-US" sz="2400" strike="noStrike" u="none">
                <a:solidFill>
                  <a:schemeClr val="dk1"/>
                </a:solidFill>
                <a:effectLst/>
                <a:uFillTx/>
                <a:latin typeface="Arial"/>
                <a:ea typeface="ＭＳ Ｐゴシック"/>
              </a:rPr>
              <a:t>With a market price (and </a:t>
            </a:r>
            <a:r>
              <a:rPr b="0" i="1" lang="en-US" sz="2400" strike="noStrike" u="none">
                <a:solidFill>
                  <a:schemeClr val="dk1"/>
                </a:solidFill>
                <a:effectLst/>
                <a:uFillTx/>
                <a:latin typeface="Arial"/>
                <a:ea typeface="ＭＳ Ｐゴシック"/>
              </a:rPr>
              <a:t>MR</a:t>
            </a:r>
            <a:r>
              <a:rPr b="0" lang="en-US" sz="2400" strike="noStrike" u="none">
                <a:solidFill>
                  <a:schemeClr val="dk1"/>
                </a:solidFill>
                <a:effectLst/>
                <a:uFillTx/>
                <a:latin typeface="Arial"/>
                <a:ea typeface="ＭＳ Ｐゴシック"/>
              </a:rPr>
              <a:t>) of $3 a can, the firm minimizes its loss by producing 7 cans a day. The firm is at its shutdown point.</a:t>
            </a:r>
            <a:endParaRPr b="1" lang="en-CA" sz="2400" strike="noStrike" u="none">
              <a:solidFill>
                <a:srgbClr val="00468f"/>
              </a:solidFill>
              <a:effectLst/>
              <a:uFillTx/>
              <a:latin typeface="Arial"/>
            </a:endParaRPr>
          </a:p>
        </p:txBody>
      </p:sp>
      <p:pic>
        <p:nvPicPr>
          <p:cNvPr id="182" name="Picture 9" descr=""/>
          <p:cNvPicPr/>
          <p:nvPr/>
        </p:nvPicPr>
        <p:blipFill>
          <a:blip r:embed="rId1"/>
          <a:stretch/>
        </p:blipFill>
        <p:spPr>
          <a:xfrm>
            <a:off x="752400" y="2911320"/>
            <a:ext cx="7346520" cy="3543120"/>
          </a:xfrm>
          <a:prstGeom prst="rect">
            <a:avLst/>
          </a:prstGeom>
          <a:noFill/>
          <a:ln w="0">
            <a:noFill/>
          </a:ln>
        </p:spPr>
      </p:pic>
      <p:pic>
        <p:nvPicPr>
          <p:cNvPr id="183" name="Picture 10" descr=""/>
          <p:cNvPicPr/>
          <p:nvPr/>
        </p:nvPicPr>
        <p:blipFill>
          <a:blip r:embed="rId2"/>
          <a:stretch/>
        </p:blipFill>
        <p:spPr>
          <a:xfrm>
            <a:off x="752400" y="2911320"/>
            <a:ext cx="7346520" cy="3543120"/>
          </a:xfrm>
          <a:prstGeom prst="rect">
            <a:avLst/>
          </a:prstGeom>
          <a:noFill/>
          <a:ln w="0">
            <a:noFill/>
          </a:ln>
        </p:spPr>
      </p:pic>
      <p:pic>
        <p:nvPicPr>
          <p:cNvPr id="184" name="Picture 11" descr=""/>
          <p:cNvPicPr/>
          <p:nvPr/>
        </p:nvPicPr>
        <p:blipFill>
          <a:blip r:embed="rId3"/>
          <a:stretch/>
        </p:blipFill>
        <p:spPr>
          <a:xfrm>
            <a:off x="752400" y="2911320"/>
            <a:ext cx="7346520" cy="3543120"/>
          </a:xfrm>
          <a:prstGeom prst="rect">
            <a:avLst/>
          </a:prstGeom>
          <a:noFill/>
          <a:ln w="0">
            <a:noFill/>
          </a:ln>
        </p:spPr>
      </p:pic>
      <p:pic>
        <p:nvPicPr>
          <p:cNvPr id="185" name="Picture 12" descr=""/>
          <p:cNvPicPr/>
          <p:nvPr/>
        </p:nvPicPr>
        <p:blipFill>
          <a:blip r:embed="rId4"/>
          <a:stretch/>
        </p:blipFill>
        <p:spPr>
          <a:xfrm>
            <a:off x="752400" y="2911320"/>
            <a:ext cx="7346520" cy="3543120"/>
          </a:xfrm>
          <a:prstGeom prst="rect">
            <a:avLst/>
          </a:prstGeom>
          <a:noFill/>
          <a:ln w="0">
            <a:noFill/>
          </a:ln>
        </p:spPr>
      </p:pic>
      <p:pic>
        <p:nvPicPr>
          <p:cNvPr id="186" name="Picture 13" descr=""/>
          <p:cNvPicPr/>
          <p:nvPr/>
        </p:nvPicPr>
        <p:blipFill>
          <a:blip r:embed="rId5"/>
          <a:stretch/>
        </p:blipFill>
        <p:spPr>
          <a:xfrm>
            <a:off x="752400" y="2911320"/>
            <a:ext cx="7346520" cy="3543120"/>
          </a:xfrm>
          <a:prstGeom prst="rect">
            <a:avLst/>
          </a:prstGeom>
          <a:noFill/>
          <a:ln w="0">
            <a:noFill/>
          </a:ln>
        </p:spPr>
      </p:pic>
      <p:pic>
        <p:nvPicPr>
          <p:cNvPr id="187" name="Picture 14" descr=""/>
          <p:cNvPicPr/>
          <p:nvPr/>
        </p:nvPicPr>
        <p:blipFill>
          <a:blip r:embed="rId6"/>
          <a:stretch/>
        </p:blipFill>
        <p:spPr>
          <a:xfrm>
            <a:off x="752400" y="2911320"/>
            <a:ext cx="7346520" cy="3543120"/>
          </a:xfrm>
          <a:prstGeom prst="rect">
            <a:avLst/>
          </a:prstGeom>
          <a:noFill/>
          <a:ln w="0">
            <a:noFill/>
          </a:ln>
        </p:spPr>
      </p:pic>
    </p:spTree>
  </p:cSld>
  <p:transition spd="slow">
    <p:wipe dir="r"/>
  </p:transition>
  <p:timing>
    <p:tnLst>
      <p:par>
        <p:cTn id="505" dur="indefinite" restart="never" nodeType="tmRoot">
          <p:childTnLst>
            <p:seq>
              <p:cTn id="506" dur="indefinite" nodeType="mainSeq">
                <p:childTnLst>
                  <p:par>
                    <p:cTn id="507" nodeType="clickEffect" fill="hold">
                      <p:stCondLst>
                        <p:cond delay="0"/>
                      </p:stCondLst>
                      <p:childTnLst>
                        <p:par>
                          <p:cTn id="508" nodeType="withEffect" fill="hold">
                            <p:stCondLst>
                              <p:cond delay="0"/>
                            </p:stCondLst>
                            <p:childTnLst>
                              <p:par>
                                <p:cTn id="509" nodeType="withEffect" fill="hold" presetClass="entr" presetID="10">
                                  <p:stCondLst>
                                    <p:cond delay="0"/>
                                  </p:stCondLst>
                                  <p:childTnLst>
                                    <p:set>
                                      <p:cBhvr>
                                        <p:cTn id="510" dur="1" fill="hold">
                                          <p:stCondLst>
                                            <p:cond delay="0"/>
                                          </p:stCondLst>
                                        </p:cTn>
                                        <p:tgtEl>
                                          <p:spTgt spid="187"/>
                                        </p:tgtEl>
                                        <p:attrNameLst>
                                          <p:attrName>style.visibility</p:attrName>
                                        </p:attrNameLst>
                                      </p:cBhvr>
                                      <p:to>
                                        <p:strVal val="visible"/>
                                      </p:to>
                                    </p:set>
                                    <p:animEffect filter="fade" transition="in">
                                      <p:cBhvr additive="repl">
                                        <p:cTn id="511" dur="5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8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defTabSz="343080">
              <a:lnSpc>
                <a:spcPct val="100000"/>
              </a:lnSpc>
              <a:spcBef>
                <a:spcPts val="601"/>
              </a:spcBef>
              <a:spcAft>
                <a:spcPts val="601"/>
              </a:spcAft>
              <a:buClr>
                <a:srgbClr val="000000"/>
              </a:buClr>
              <a:buFont typeface="Arial"/>
              <a:buAutoNum type="arabicPeriod" startAt="2"/>
            </a:pPr>
            <a:r>
              <a:rPr b="0" lang="en-US" sz="2400" strike="noStrike" u="none">
                <a:solidFill>
                  <a:schemeClr val="dk1"/>
                </a:solidFill>
                <a:effectLst/>
                <a:uFillTx/>
                <a:latin typeface="Arial"/>
                <a:ea typeface="ＭＳ Ｐゴシック"/>
              </a:rPr>
              <a:t>At the shutdown point, the firms incurs an economic loss equal to total fixed cost.</a:t>
            </a:r>
            <a:endParaRPr b="1" lang="en-CA" sz="2400" strike="noStrike" u="none">
              <a:solidFill>
                <a:srgbClr val="00468f"/>
              </a:solidFill>
              <a:effectLst/>
              <a:uFillTx/>
              <a:latin typeface="Arial"/>
            </a:endParaRPr>
          </a:p>
          <a:p>
            <a:pPr indent="0" defTabSz="343080">
              <a:lnSpc>
                <a:spcPct val="100000"/>
              </a:lnSpc>
              <a:buNone/>
              <a:tabLst>
                <a:tab algn="l" pos="0"/>
              </a:tabLst>
            </a:pPr>
            <a:endParaRPr b="1" lang="en-CA" sz="2400" strike="noStrike" u="none">
              <a:solidFill>
                <a:srgbClr val="00468f"/>
              </a:solidFill>
              <a:effectLst/>
              <a:uFillTx/>
              <a:latin typeface="Arial"/>
            </a:endParaRPr>
          </a:p>
        </p:txBody>
      </p:sp>
      <p:pic>
        <p:nvPicPr>
          <p:cNvPr id="190" name="Picture 10" descr=""/>
          <p:cNvPicPr/>
          <p:nvPr/>
        </p:nvPicPr>
        <p:blipFill>
          <a:blip r:embed="rId1"/>
          <a:stretch/>
        </p:blipFill>
        <p:spPr>
          <a:xfrm>
            <a:off x="752400" y="2911320"/>
            <a:ext cx="7346520" cy="3543120"/>
          </a:xfrm>
          <a:prstGeom prst="rect">
            <a:avLst/>
          </a:prstGeom>
          <a:noFill/>
          <a:ln w="0">
            <a:noFill/>
          </a:ln>
        </p:spPr>
      </p:pic>
      <p:pic>
        <p:nvPicPr>
          <p:cNvPr id="191" name="Picture 11" descr=""/>
          <p:cNvPicPr/>
          <p:nvPr/>
        </p:nvPicPr>
        <p:blipFill>
          <a:blip r:embed="rId2"/>
          <a:stretch/>
        </p:blipFill>
        <p:spPr>
          <a:xfrm>
            <a:off x="752400" y="2911320"/>
            <a:ext cx="7346520" cy="3543120"/>
          </a:xfrm>
          <a:prstGeom prst="rect">
            <a:avLst/>
          </a:prstGeom>
          <a:noFill/>
          <a:ln w="0">
            <a:noFill/>
          </a:ln>
        </p:spPr>
      </p:pic>
      <p:pic>
        <p:nvPicPr>
          <p:cNvPr id="192" name="Picture 12" descr=""/>
          <p:cNvPicPr/>
          <p:nvPr/>
        </p:nvPicPr>
        <p:blipFill>
          <a:blip r:embed="rId3"/>
          <a:stretch/>
        </p:blipFill>
        <p:spPr>
          <a:xfrm>
            <a:off x="752400" y="2911320"/>
            <a:ext cx="7346520" cy="3543120"/>
          </a:xfrm>
          <a:prstGeom prst="rect">
            <a:avLst/>
          </a:prstGeom>
          <a:noFill/>
          <a:ln w="0">
            <a:noFill/>
          </a:ln>
        </p:spPr>
      </p:pic>
      <p:pic>
        <p:nvPicPr>
          <p:cNvPr id="193" name="Picture 13" descr=""/>
          <p:cNvPicPr/>
          <p:nvPr/>
        </p:nvPicPr>
        <p:blipFill>
          <a:blip r:embed="rId4"/>
          <a:stretch/>
        </p:blipFill>
        <p:spPr>
          <a:xfrm>
            <a:off x="752400" y="2911320"/>
            <a:ext cx="7346520" cy="3543120"/>
          </a:xfrm>
          <a:prstGeom prst="rect">
            <a:avLst/>
          </a:prstGeom>
          <a:noFill/>
          <a:ln w="0">
            <a:noFill/>
          </a:ln>
        </p:spPr>
      </p:pic>
      <p:pic>
        <p:nvPicPr>
          <p:cNvPr id="194" name="Picture 14" descr=""/>
          <p:cNvPicPr/>
          <p:nvPr/>
        </p:nvPicPr>
        <p:blipFill>
          <a:blip r:embed="rId5"/>
          <a:stretch/>
        </p:blipFill>
        <p:spPr>
          <a:xfrm>
            <a:off x="752400" y="2911320"/>
            <a:ext cx="7346520" cy="3543120"/>
          </a:xfrm>
          <a:prstGeom prst="rect">
            <a:avLst/>
          </a:prstGeom>
          <a:noFill/>
          <a:ln w="0">
            <a:noFill/>
          </a:ln>
        </p:spPr>
      </p:pic>
      <p:pic>
        <p:nvPicPr>
          <p:cNvPr id="195" name="Picture 15" descr=""/>
          <p:cNvPicPr/>
          <p:nvPr/>
        </p:nvPicPr>
        <p:blipFill>
          <a:blip r:embed="rId6"/>
          <a:stretch/>
        </p:blipFill>
        <p:spPr>
          <a:xfrm>
            <a:off x="752400" y="2911320"/>
            <a:ext cx="7346520" cy="3543120"/>
          </a:xfrm>
          <a:prstGeom prst="rect">
            <a:avLst/>
          </a:prstGeom>
          <a:noFill/>
          <a:ln w="0">
            <a:noFill/>
          </a:ln>
        </p:spPr>
      </p:pic>
      <p:pic>
        <p:nvPicPr>
          <p:cNvPr id="196" name="Picture 16" descr=""/>
          <p:cNvPicPr/>
          <p:nvPr/>
        </p:nvPicPr>
        <p:blipFill>
          <a:blip r:embed="rId7"/>
          <a:stretch/>
        </p:blipFill>
        <p:spPr>
          <a:xfrm>
            <a:off x="752400" y="2911320"/>
            <a:ext cx="7346520" cy="3543120"/>
          </a:xfrm>
          <a:prstGeom prst="rect">
            <a:avLst/>
          </a:prstGeom>
          <a:noFill/>
          <a:ln w="0">
            <a:noFill/>
          </a:ln>
        </p:spPr>
      </p:pic>
    </p:spTree>
  </p:cSld>
  <p:transition spd="slow">
    <p:wipe dir="r"/>
  </p:transition>
  <p:timing>
    <p:tnLst>
      <p:par>
        <p:cTn id="512" dur="indefinite" restart="never" nodeType="tmRoot">
          <p:childTnLst>
            <p:seq>
              <p:cTn id="513" dur="indefinite" nodeType="mainSeq">
                <p:childTnLst>
                  <p:par>
                    <p:cTn id="514" nodeType="clickEffect" fill="hold">
                      <p:stCondLst>
                        <p:cond delay="0"/>
                      </p:stCondLst>
                      <p:childTnLst>
                        <p:par>
                          <p:cTn id="515" nodeType="withEffect" fill="hold">
                            <p:stCondLst>
                              <p:cond delay="0"/>
                            </p:stCondLst>
                            <p:childTnLst>
                              <p:par>
                                <p:cTn id="516" nodeType="withEffect" fill="hold" presetClass="entr" presetID="10">
                                  <p:stCondLst>
                                    <p:cond delay="0"/>
                                  </p:stCondLst>
                                  <p:childTnLst>
                                    <p:set>
                                      <p:cBhvr>
                                        <p:cTn id="517" dur="1" fill="hold">
                                          <p:stCondLst>
                                            <p:cond delay="0"/>
                                          </p:stCondLst>
                                        </p:cTn>
                                        <p:tgtEl>
                                          <p:spTgt spid="196"/>
                                        </p:tgtEl>
                                        <p:attrNameLst>
                                          <p:attrName>style.visibility</p:attrName>
                                        </p:attrNameLst>
                                      </p:cBhvr>
                                      <p:to>
                                        <p:strVal val="visible"/>
                                      </p:to>
                                    </p:set>
                                    <p:animEffect filter="fade" transition="in">
                                      <p:cBhvr additive="repl">
                                        <p:cTn id="518"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A FIRM’S PROFIT-MAXIMIZING CHOICES</a:t>
            </a:r>
            <a:endParaRPr b="0" lang="en-CA" sz="2600" strike="noStrike" u="none">
              <a:solidFill>
                <a:schemeClr val="dk1"/>
              </a:solidFill>
              <a:effectLst/>
              <a:uFillTx/>
              <a:latin typeface="Arial"/>
            </a:endParaRPr>
          </a:p>
        </p:txBody>
      </p:sp>
      <p:sp>
        <p:nvSpPr>
          <p:cNvPr id="19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Firm’s Short-Run Supply Curve</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perfectly competitive firm’s short-run supply curve shows how the firm’s profit-maximizing output varies as the price varies, other things remaining the same.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15.5 on the next slide illustrates a firm’s supply curve and its relationship to the firm’s cost curves.</a:t>
            </a:r>
            <a:endParaRPr b="1" lang="en-CA" sz="2400" strike="noStrike" u="none">
              <a:solidFill>
                <a:srgbClr val="00468f"/>
              </a:solidFill>
              <a:effectLst/>
              <a:uFillTx/>
              <a:latin typeface="Arial"/>
            </a:endParaRPr>
          </a:p>
        </p:txBody>
      </p:sp>
    </p:spTree>
  </p:cSld>
  <p:transition spd="slow">
    <p:wipe dir="r"/>
  </p:transition>
  <p:timing>
    <p:tnLst>
      <p:par>
        <p:cTn id="519" dur="indefinite" restart="never" nodeType="tmRoot">
          <p:childTnLst>
            <p:seq>
              <p:cTn id="520" dur="indefinite" nodeType="mainSeq">
                <p:childTnLst>
                  <p:par>
                    <p:cTn id="521" nodeType="clickEffect" fill="hold">
                      <p:stCondLst>
                        <p:cond delay="indefinite"/>
                      </p:stCondLst>
                      <p:childTnLst>
                        <p:par>
                          <p:cTn id="522" nodeType="withEffect" fill="hold">
                            <p:stCondLst>
                              <p:cond delay="0"/>
                            </p:stCondLst>
                            <p:childTnLst>
                              <p:par>
                                <p:cTn id="523" nodeType="clickEffect" fill="hold" presetClass="entr" presetID="22" presetSubtype="8">
                                  <p:stCondLst>
                                    <p:cond delay="0"/>
                                  </p:stCondLst>
                                  <p:childTnLst>
                                    <p:set>
                                      <p:cBhvr>
                                        <p:cTn id="524" dur="1" fill="hold">
                                          <p:stCondLst>
                                            <p:cond delay="0"/>
                                          </p:stCondLst>
                                        </p:cTn>
                                        <p:tgtEl>
                                          <p:spTgt spid="198">
                                            <p:txEl>
                                              <p:pRg st="1" end="1"/>
                                            </p:txEl>
                                          </p:spTgt>
                                        </p:tgtEl>
                                        <p:attrNameLst>
                                          <p:attrName>style.visibility</p:attrName>
                                        </p:attrNameLst>
                                      </p:cBhvr>
                                      <p:to>
                                        <p:strVal val="visible"/>
                                      </p:to>
                                    </p:set>
                                    <p:animEffect filter="wipe(left)" transition="in">
                                      <p:cBhvr additive="repl">
                                        <p:cTn id="525" dur="500"/>
                                        <p:tgtEl>
                                          <p:spTgt spid="198">
                                            <p:txEl>
                                              <p:pRg st="1" end="1"/>
                                            </p:txEl>
                                          </p:spTgt>
                                        </p:tgtEl>
                                      </p:cBhvr>
                                    </p:animEffect>
                                  </p:childTnLst>
                                </p:cTn>
                              </p:par>
                            </p:childTnLst>
                          </p:cTn>
                        </p:par>
                      </p:childTnLst>
                    </p:cTn>
                  </p:par>
                  <p:par>
                    <p:cTn id="526" nodeType="clickEffect" fill="hold">
                      <p:stCondLst>
                        <p:cond delay="indefinite"/>
                      </p:stCondLst>
                      <p:childTnLst>
                        <p:par>
                          <p:cTn id="527" nodeType="withEffect" fill="hold">
                            <p:stCondLst>
                              <p:cond delay="0"/>
                            </p:stCondLst>
                            <p:childTnLst>
                              <p:par>
                                <p:cTn id="528" nodeType="clickEffect" fill="hold" presetClass="entr" presetID="22" presetSubtype="8">
                                  <p:stCondLst>
                                    <p:cond delay="0"/>
                                  </p:stCondLst>
                                  <p:childTnLst>
                                    <p:set>
                                      <p:cBhvr>
                                        <p:cTn id="529" dur="1" fill="hold">
                                          <p:stCondLst>
                                            <p:cond delay="0"/>
                                          </p:stCondLst>
                                        </p:cTn>
                                        <p:tgtEl>
                                          <p:spTgt spid="198">
                                            <p:txEl>
                                              <p:pRg st="2" end="2"/>
                                            </p:txEl>
                                          </p:spTgt>
                                        </p:tgtEl>
                                        <p:attrNameLst>
                                          <p:attrName>style.visibility</p:attrName>
                                        </p:attrNameLst>
                                      </p:cBhvr>
                                      <p:to>
                                        <p:strVal val="visible"/>
                                      </p:to>
                                    </p:set>
                                    <p:animEffect filter="wipe(left)" transition="in">
                                      <p:cBhvr additive="repl">
                                        <p:cTn id="530" dur="500"/>
                                        <p:tgtEl>
                                          <p:spTgt spid="19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FIRM’S … CHOICES</a:t>
            </a:r>
            <a:endParaRPr b="0" lang="en-CA" sz="2600" strike="noStrike" u="none">
              <a:solidFill>
                <a:schemeClr val="dk1"/>
              </a:solidFill>
              <a:effectLst/>
              <a:uFillTx/>
              <a:latin typeface="Arial"/>
            </a:endParaRPr>
          </a:p>
        </p:txBody>
      </p:sp>
      <p:sp>
        <p:nvSpPr>
          <p:cNvPr id="200" name="PlaceHolder 2"/>
          <p:cNvSpPr>
            <a:spLocks noGrp="1"/>
          </p:cNvSpPr>
          <p:nvPr>
            <p:ph/>
          </p:nvPr>
        </p:nvSpPr>
        <p:spPr>
          <a:xfrm>
            <a:off x="360360" y="1440000"/>
            <a:ext cx="44398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firm’s marginal cost curve is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Its average variable cost curve is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 and its marginal revenue curve is </a:t>
            </a:r>
            <a:r>
              <a:rPr b="0" i="1" lang="en-US" sz="2400" strike="noStrike" u="none">
                <a:solidFill>
                  <a:schemeClr val="dk1"/>
                </a:solidFill>
                <a:effectLst/>
                <a:uFillTx/>
                <a:latin typeface="Arial"/>
                <a:ea typeface="ＭＳ Ｐゴシック"/>
              </a:rPr>
              <a:t>MR</a:t>
            </a:r>
            <a:r>
              <a:rPr b="0" lang="en-US" sz="2400" strike="noStrike" u="none" baseline="-25000">
                <a:solidFill>
                  <a:schemeClr val="dk1"/>
                </a:solidFill>
                <a:effectLst/>
                <a:uFillTx/>
                <a:latin typeface="Arial"/>
                <a:ea typeface="ＭＳ Ｐゴシック"/>
              </a:rPr>
              <a:t>0</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With a market price (and </a:t>
            </a:r>
            <a:r>
              <a:rPr b="0" i="1" lang="en-US" sz="2400" strike="noStrike" u="none">
                <a:solidFill>
                  <a:srgbClr val="000000"/>
                </a:solidFill>
                <a:effectLst/>
                <a:uFillTx/>
                <a:latin typeface="Arial"/>
                <a:ea typeface="ＭＳ Ｐゴシック"/>
              </a:rPr>
              <a:t>MR</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 of $3 a can, the firm maximizes profit by producing 7 cans a day—at its shutdown point.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 </a:t>
            </a:r>
            <a:r>
              <a:rPr b="0" i="1" lang="en-US" sz="2400" strike="noStrike" u="none">
                <a:solidFill>
                  <a:srgbClr val="000000"/>
                </a:solidFill>
                <a:effectLst/>
                <a:uFillTx/>
                <a:latin typeface="Arial"/>
                <a:ea typeface="ＭＳ Ｐゴシック"/>
              </a:rPr>
              <a:t>T</a:t>
            </a:r>
            <a:r>
              <a:rPr b="0" lang="en-US" sz="2400" strike="noStrike" u="none">
                <a:solidFill>
                  <a:srgbClr val="000000"/>
                </a:solidFill>
                <a:effectLst/>
                <a:uFillTx/>
                <a:latin typeface="Arial"/>
                <a:ea typeface="ＭＳ Ｐゴシック"/>
              </a:rPr>
              <a:t> is one point on the firm’s supply curve.</a:t>
            </a:r>
            <a:endParaRPr b="1" lang="en-CA" sz="2400" strike="noStrike" u="none">
              <a:solidFill>
                <a:srgbClr val="00468f"/>
              </a:solidFill>
              <a:effectLst/>
              <a:uFillTx/>
              <a:latin typeface="Arial"/>
            </a:endParaRPr>
          </a:p>
        </p:txBody>
      </p:sp>
      <p:pic>
        <p:nvPicPr>
          <p:cNvPr id="201" name="Picture 7" descr=""/>
          <p:cNvPicPr/>
          <p:nvPr/>
        </p:nvPicPr>
        <p:blipFill>
          <a:blip r:embed="rId1"/>
          <a:stretch/>
        </p:blipFill>
        <p:spPr>
          <a:xfrm>
            <a:off x="4952880" y="457200"/>
            <a:ext cx="3436560" cy="6292440"/>
          </a:xfrm>
          <a:prstGeom prst="rect">
            <a:avLst/>
          </a:prstGeom>
          <a:noFill/>
          <a:ln w="0">
            <a:noFill/>
          </a:ln>
        </p:spPr>
      </p:pic>
      <p:pic>
        <p:nvPicPr>
          <p:cNvPr id="202" name="Picture 8" descr=""/>
          <p:cNvPicPr/>
          <p:nvPr/>
        </p:nvPicPr>
        <p:blipFill>
          <a:blip r:embed="rId2"/>
          <a:stretch/>
        </p:blipFill>
        <p:spPr>
          <a:xfrm>
            <a:off x="4952880" y="457200"/>
            <a:ext cx="3436560" cy="6292440"/>
          </a:xfrm>
          <a:prstGeom prst="rect">
            <a:avLst/>
          </a:prstGeom>
          <a:noFill/>
          <a:ln w="0">
            <a:noFill/>
          </a:ln>
        </p:spPr>
      </p:pic>
    </p:spTree>
  </p:cSld>
  <p:transition spd="slow">
    <p:wipe dir="r"/>
  </p:transition>
  <p:timing>
    <p:tnLst>
      <p:par>
        <p:cTn id="531" dur="indefinite" restart="never" nodeType="tmRoot">
          <p:childTnLst>
            <p:seq>
              <p:cTn id="532" dur="indefinite" nodeType="mainSeq">
                <p:childTnLst>
                  <p:par>
                    <p:cTn id="533" nodeType="clickEffect" fill="hold">
                      <p:stCondLst>
                        <p:cond delay="indefinite"/>
                      </p:stCondLst>
                      <p:childTnLst>
                        <p:par>
                          <p:cTn id="534" nodeType="withEffect" fill="hold">
                            <p:stCondLst>
                              <p:cond delay="0"/>
                            </p:stCondLst>
                            <p:childTnLst>
                              <p:par>
                                <p:cTn id="535" nodeType="clickEffect" fill="hold" presetClass="entr" presetID="22" presetSubtype="8">
                                  <p:stCondLst>
                                    <p:cond delay="0"/>
                                  </p:stCondLst>
                                  <p:childTnLst>
                                    <p:set>
                                      <p:cBhvr>
                                        <p:cTn id="536" dur="1" fill="hold">
                                          <p:stCondLst>
                                            <p:cond delay="0"/>
                                          </p:stCondLst>
                                        </p:cTn>
                                        <p:tgtEl>
                                          <p:spTgt spid="200">
                                            <p:txEl>
                                              <p:pRg st="1" end="1"/>
                                            </p:txEl>
                                          </p:spTgt>
                                        </p:tgtEl>
                                        <p:attrNameLst>
                                          <p:attrName>style.visibility</p:attrName>
                                        </p:attrNameLst>
                                      </p:cBhvr>
                                      <p:to>
                                        <p:strVal val="visible"/>
                                      </p:to>
                                    </p:set>
                                    <p:animEffect filter="wipe(left)" transition="in">
                                      <p:cBhvr additive="repl">
                                        <p:cTn id="537" dur="500"/>
                                        <p:tgtEl>
                                          <p:spTgt spid="200">
                                            <p:txEl>
                                              <p:pRg st="1" end="1"/>
                                            </p:txEl>
                                          </p:spTgt>
                                        </p:tgtEl>
                                      </p:cBhvr>
                                    </p:animEffect>
                                  </p:childTnLst>
                                </p:cTn>
                              </p:par>
                            </p:childTnLst>
                          </p:cTn>
                        </p:par>
                      </p:childTnLst>
                    </p:cTn>
                  </p:par>
                  <p:par>
                    <p:cTn id="538" nodeType="clickEffect" fill="hold">
                      <p:stCondLst>
                        <p:cond delay="indefinite"/>
                      </p:stCondLst>
                      <p:childTnLst>
                        <p:par>
                          <p:cTn id="539" nodeType="withEffect" fill="hold">
                            <p:stCondLst>
                              <p:cond delay="0"/>
                            </p:stCondLst>
                            <p:childTnLst>
                              <p:par>
                                <p:cTn id="540" nodeType="clickEffect" fill="hold" presetClass="entr" presetID="22" presetSubtype="8">
                                  <p:stCondLst>
                                    <p:cond delay="0"/>
                                  </p:stCondLst>
                                  <p:childTnLst>
                                    <p:set>
                                      <p:cBhvr>
                                        <p:cTn id="541" dur="1" fill="hold">
                                          <p:stCondLst>
                                            <p:cond delay="0"/>
                                          </p:stCondLst>
                                        </p:cTn>
                                        <p:tgtEl>
                                          <p:spTgt spid="200">
                                            <p:txEl>
                                              <p:pRg st="2" end="2"/>
                                            </p:txEl>
                                          </p:spTgt>
                                        </p:tgtEl>
                                        <p:attrNameLst>
                                          <p:attrName>style.visibility</p:attrName>
                                        </p:attrNameLst>
                                      </p:cBhvr>
                                      <p:to>
                                        <p:strVal val="visible"/>
                                      </p:to>
                                    </p:set>
                                    <p:animEffect filter="wipe(left)" transition="in">
                                      <p:cBhvr additive="repl">
                                        <p:cTn id="542" dur="500"/>
                                        <p:tgtEl>
                                          <p:spTgt spid="200">
                                            <p:txEl>
                                              <p:pRg st="2" end="2"/>
                                            </p:txEl>
                                          </p:spTgt>
                                        </p:tgtEl>
                                      </p:cBhvr>
                                    </p:animEffect>
                                  </p:childTnLst>
                                </p:cTn>
                              </p:par>
                              <p:par>
                                <p:cTn id="543" nodeType="withEffect" fill="hold" presetClass="entr" presetID="10">
                                  <p:stCondLst>
                                    <p:cond delay="0"/>
                                  </p:stCondLst>
                                  <p:childTnLst>
                                    <p:set>
                                      <p:cBhvr>
                                        <p:cTn id="544" dur="1" fill="hold">
                                          <p:stCondLst>
                                            <p:cond delay="0"/>
                                          </p:stCondLst>
                                        </p:cTn>
                                        <p:tgtEl>
                                          <p:spTgt spid="202"/>
                                        </p:tgtEl>
                                        <p:attrNameLst>
                                          <p:attrName>style.visibility</p:attrName>
                                        </p:attrNameLst>
                                      </p:cBhvr>
                                      <p:to>
                                        <p:strVal val="visible"/>
                                      </p:to>
                                    </p:set>
                                    <p:animEffect filter="fade" transition="in">
                                      <p:cBhvr additive="repl">
                                        <p:cTn id="545" dur="5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03" name="Picture 6" descr=""/>
          <p:cNvPicPr/>
          <p:nvPr/>
        </p:nvPicPr>
        <p:blipFill>
          <a:blip r:embed="rId1"/>
          <a:stretch/>
        </p:blipFill>
        <p:spPr>
          <a:xfrm>
            <a:off x="2666880" y="228600"/>
            <a:ext cx="3436560" cy="6292440"/>
          </a:xfrm>
          <a:prstGeom prst="rect">
            <a:avLst/>
          </a:prstGeom>
          <a:noFill/>
          <a:ln w="0">
            <a:noFill/>
          </a:ln>
        </p:spPr>
      </p:pic>
      <p:pic>
        <p:nvPicPr>
          <p:cNvPr id="204" name="Picture 11" descr=""/>
          <p:cNvPicPr/>
          <p:nvPr/>
        </p:nvPicPr>
        <p:blipFill>
          <a:blip r:embed="rId2"/>
          <a:stretch/>
        </p:blipFill>
        <p:spPr>
          <a:xfrm>
            <a:off x="2666880" y="228600"/>
            <a:ext cx="3436560" cy="6292440"/>
          </a:xfrm>
          <a:prstGeom prst="rect">
            <a:avLst/>
          </a:prstGeom>
          <a:noFill/>
          <a:ln w="0">
            <a:noFill/>
          </a:ln>
        </p:spPr>
      </p:pic>
      <p:pic>
        <p:nvPicPr>
          <p:cNvPr id="205" name="Picture 12" descr=""/>
          <p:cNvPicPr/>
          <p:nvPr/>
        </p:nvPicPr>
        <p:blipFill>
          <a:blip r:embed="rId3"/>
          <a:stretch/>
        </p:blipFill>
        <p:spPr>
          <a:xfrm>
            <a:off x="2666880" y="228600"/>
            <a:ext cx="3436560" cy="6292440"/>
          </a:xfrm>
          <a:prstGeom prst="rect">
            <a:avLst/>
          </a:prstGeom>
          <a:noFill/>
          <a:ln w="0">
            <a:noFill/>
          </a:ln>
        </p:spPr>
      </p:pic>
      <p:pic>
        <p:nvPicPr>
          <p:cNvPr id="206" name="Picture 13" descr=""/>
          <p:cNvPicPr/>
          <p:nvPr/>
        </p:nvPicPr>
        <p:blipFill>
          <a:blip r:embed="rId4"/>
          <a:stretch/>
        </p:blipFill>
        <p:spPr>
          <a:xfrm>
            <a:off x="2666880" y="228600"/>
            <a:ext cx="3436560" cy="6292440"/>
          </a:xfrm>
          <a:prstGeom prst="rect">
            <a:avLst/>
          </a:prstGeom>
          <a:noFill/>
          <a:ln w="0">
            <a:noFill/>
          </a:ln>
        </p:spPr>
      </p:pic>
      <p:pic>
        <p:nvPicPr>
          <p:cNvPr id="207" name="Picture 14" descr=""/>
          <p:cNvPicPr/>
          <p:nvPr/>
        </p:nvPicPr>
        <p:blipFill>
          <a:blip r:embed="rId5"/>
          <a:stretch/>
        </p:blipFill>
        <p:spPr>
          <a:xfrm>
            <a:off x="2666880" y="228600"/>
            <a:ext cx="3436560" cy="6292440"/>
          </a:xfrm>
          <a:prstGeom prst="rect">
            <a:avLst/>
          </a:prstGeom>
          <a:noFill/>
          <a:ln w="0">
            <a:noFill/>
          </a:ln>
        </p:spPr>
      </p:pic>
    </p:spTree>
  </p:cSld>
  <p:transition spd="slow">
    <p:wipe dir="r"/>
  </p:transition>
  <p:timing>
    <p:tnLst>
      <p:par>
        <p:cTn id="546" dur="indefinite" restart="never" nodeType="tmRoot">
          <p:childTnLst>
            <p:seq>
              <p:cTn id="547" dur="indefinite" nodeType="mainSeq">
                <p:childTnLst>
                  <p:par>
                    <p:cTn id="548" nodeType="clickEffect" fill="hold">
                      <p:stCondLst>
                        <p:cond delay="indefinite"/>
                      </p:stCondLst>
                      <p:childTnLst>
                        <p:par>
                          <p:cTn id="549" nodeType="withEffect" fill="hold">
                            <p:stCondLst>
                              <p:cond delay="0"/>
                            </p:stCondLst>
                            <p:childTnLst>
                              <p:par>
                                <p:cTn id="550" nodeType="clickEffect" fill="hold" presetClass="entr" presetID="10">
                                  <p:stCondLst>
                                    <p:cond delay="0"/>
                                  </p:stCondLst>
                                  <p:childTnLst>
                                    <p:set>
                                      <p:cBhvr>
                                        <p:cTn id="551" dur="1" fill="hold">
                                          <p:stCondLst>
                                            <p:cond delay="0"/>
                                          </p:stCondLst>
                                        </p:cTn>
                                        <p:tgtEl>
                                          <p:spTgt spid="204"/>
                                        </p:tgtEl>
                                        <p:attrNameLst>
                                          <p:attrName>style.visibility</p:attrName>
                                        </p:attrNameLst>
                                      </p:cBhvr>
                                      <p:to>
                                        <p:strVal val="visible"/>
                                      </p:to>
                                    </p:set>
                                    <p:animEffect filter="fade" transition="in">
                                      <p:cBhvr additive="repl">
                                        <p:cTn id="552" dur="500"/>
                                        <p:tgtEl>
                                          <p:spTgt spid="204"/>
                                        </p:tgtEl>
                                      </p:cBhvr>
                                    </p:animEffect>
                                  </p:childTnLst>
                                </p:cTn>
                              </p:par>
                            </p:childTnLst>
                          </p:cTn>
                        </p:par>
                      </p:childTnLst>
                    </p:cTn>
                  </p:par>
                  <p:par>
                    <p:cTn id="553" nodeType="clickEffect" fill="hold">
                      <p:stCondLst>
                        <p:cond delay="indefinite"/>
                      </p:stCondLst>
                      <p:childTnLst>
                        <p:par>
                          <p:cTn id="554" nodeType="withEffect" fill="hold">
                            <p:stCondLst>
                              <p:cond delay="0"/>
                            </p:stCondLst>
                            <p:childTnLst>
                              <p:par>
                                <p:cTn id="555" nodeType="clickEffect" fill="hold" presetClass="entr" presetID="22" presetSubtype="8">
                                  <p:stCondLst>
                                    <p:cond delay="0"/>
                                  </p:stCondLst>
                                  <p:childTnLst>
                                    <p:set>
                                      <p:cBhvr>
                                        <p:cTn id="556" dur="1" fill="hold">
                                          <p:stCondLst>
                                            <p:cond delay="0"/>
                                          </p:stCondLst>
                                        </p:cTn>
                                        <p:tgtEl>
                                          <p:spTgt spid="205"/>
                                        </p:tgtEl>
                                        <p:attrNameLst>
                                          <p:attrName>style.visibility</p:attrName>
                                        </p:attrNameLst>
                                      </p:cBhvr>
                                      <p:to>
                                        <p:strVal val="visible"/>
                                      </p:to>
                                    </p:set>
                                    <p:animEffect filter="wipe(left)" transition="in">
                                      <p:cBhvr additive="repl">
                                        <p:cTn id="557" dur="1000"/>
                                        <p:tgtEl>
                                          <p:spTgt spid="205"/>
                                        </p:tgtEl>
                                      </p:cBhvr>
                                    </p:animEffect>
                                  </p:childTnLst>
                                </p:cTn>
                              </p:par>
                            </p:childTnLst>
                          </p:cTn>
                        </p:par>
                      </p:childTnLst>
                    </p:cTn>
                  </p:par>
                  <p:par>
                    <p:cTn id="558" nodeType="clickEffect" fill="hold">
                      <p:stCondLst>
                        <p:cond delay="indefinite"/>
                      </p:stCondLst>
                      <p:childTnLst>
                        <p:par>
                          <p:cTn id="559" nodeType="withEffect" fill="hold">
                            <p:stCondLst>
                              <p:cond delay="0"/>
                            </p:stCondLst>
                            <p:childTnLst>
                              <p:par>
                                <p:cTn id="560" nodeType="clickEffect" fill="hold" presetClass="entr" presetID="22" presetSubtype="8">
                                  <p:stCondLst>
                                    <p:cond delay="0"/>
                                  </p:stCondLst>
                                  <p:childTnLst>
                                    <p:set>
                                      <p:cBhvr>
                                        <p:cTn id="561" dur="1" fill="hold">
                                          <p:stCondLst>
                                            <p:cond delay="0"/>
                                          </p:stCondLst>
                                        </p:cTn>
                                        <p:tgtEl>
                                          <p:spTgt spid="206"/>
                                        </p:tgtEl>
                                        <p:attrNameLst>
                                          <p:attrName>style.visibility</p:attrName>
                                        </p:attrNameLst>
                                      </p:cBhvr>
                                      <p:to>
                                        <p:strVal val="visible"/>
                                      </p:to>
                                    </p:set>
                                    <p:animEffect filter="wipe(left)" transition="in">
                                      <p:cBhvr additive="repl">
                                        <p:cTn id="562" dur="1000"/>
                                        <p:tgtEl>
                                          <p:spTgt spid="206"/>
                                        </p:tgtEl>
                                      </p:cBhvr>
                                    </p:animEffect>
                                  </p:childTnLst>
                                </p:cTn>
                              </p:par>
                            </p:childTnLst>
                          </p:cTn>
                        </p:par>
                      </p:childTnLst>
                    </p:cTn>
                  </p:par>
                  <p:par>
                    <p:cTn id="563" nodeType="clickEffect" fill="hold">
                      <p:stCondLst>
                        <p:cond delay="indefinite"/>
                      </p:stCondLst>
                      <p:childTnLst>
                        <p:par>
                          <p:cTn id="564" nodeType="withEffect" fill="hold">
                            <p:stCondLst>
                              <p:cond delay="0"/>
                            </p:stCondLst>
                            <p:childTnLst>
                              <p:par>
                                <p:cTn id="565" nodeType="clickEffect" fill="hold" presetClass="entr" presetID="22" presetSubtype="4">
                                  <p:stCondLst>
                                    <p:cond delay="0"/>
                                  </p:stCondLst>
                                  <p:childTnLst>
                                    <p:set>
                                      <p:cBhvr>
                                        <p:cTn id="566" dur="1" fill="hold">
                                          <p:stCondLst>
                                            <p:cond delay="0"/>
                                          </p:stCondLst>
                                        </p:cTn>
                                        <p:tgtEl>
                                          <p:spTgt spid="207"/>
                                        </p:tgtEl>
                                        <p:attrNameLst>
                                          <p:attrName>style.visibility</p:attrName>
                                        </p:attrNameLst>
                                      </p:cBhvr>
                                      <p:to>
                                        <p:strVal val="visible"/>
                                      </p:to>
                                    </p:set>
                                    <p:animEffect filter="wipe(down)" transition="in">
                                      <p:cBhvr additive="repl">
                                        <p:cTn id="567"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FIRM’S … CHOICES</a:t>
            </a:r>
            <a:endParaRPr b="0" lang="en-CA" sz="2600" strike="noStrike" u="none">
              <a:solidFill>
                <a:schemeClr val="dk1"/>
              </a:solidFill>
              <a:effectLst/>
              <a:uFillTx/>
              <a:latin typeface="Arial"/>
            </a:endParaRPr>
          </a:p>
        </p:txBody>
      </p:sp>
      <p:sp>
        <p:nvSpPr>
          <p:cNvPr id="209" name="PlaceHolder 2"/>
          <p:cNvSpPr>
            <a:spLocks noGrp="1"/>
          </p:cNvSpPr>
          <p:nvPr>
            <p:ph/>
          </p:nvPr>
        </p:nvSpPr>
        <p:spPr>
          <a:xfrm>
            <a:off x="360360" y="1440000"/>
            <a:ext cx="45162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the market price rises to $8 a can, the marginal revenue curve shifts upward to </a:t>
            </a:r>
            <a:r>
              <a:rPr b="0" i="1" lang="en-US" sz="2400" strike="noStrike" u="none">
                <a:solidFill>
                  <a:schemeClr val="dk1"/>
                </a:solidFill>
                <a:effectLst/>
                <a:uFillTx/>
                <a:latin typeface="Arial"/>
                <a:ea typeface="ＭＳ Ｐゴシック"/>
              </a:rPr>
              <a:t>MR</a:t>
            </a:r>
            <a:r>
              <a:rPr b="0" lang="en-US" sz="2400" strike="noStrike" u="none" baseline="-25000">
                <a:solidFill>
                  <a:schemeClr val="dk1"/>
                </a:solidFill>
                <a:effectLst/>
                <a:uFillTx/>
                <a:latin typeface="Arial"/>
                <a:ea typeface="ＭＳ Ｐゴシック"/>
              </a:rPr>
              <a:t>1</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Profit-maximizing output increases to 10 cans per day.</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black dot in part (b) is another point of the firm’s supply curve.</a:t>
            </a:r>
            <a:endParaRPr b="1" lang="en-CA" sz="2400" strike="noStrike" u="none">
              <a:solidFill>
                <a:srgbClr val="00468f"/>
              </a:solidFill>
              <a:effectLst/>
              <a:uFillTx/>
              <a:latin typeface="Arial"/>
            </a:endParaRPr>
          </a:p>
        </p:txBody>
      </p:sp>
      <p:pic>
        <p:nvPicPr>
          <p:cNvPr id="210" name="Picture 7" descr=""/>
          <p:cNvPicPr/>
          <p:nvPr/>
        </p:nvPicPr>
        <p:blipFill>
          <a:blip r:embed="rId1"/>
          <a:stretch/>
        </p:blipFill>
        <p:spPr>
          <a:xfrm>
            <a:off x="4952880" y="457200"/>
            <a:ext cx="3436560" cy="6292440"/>
          </a:xfrm>
          <a:prstGeom prst="rect">
            <a:avLst/>
          </a:prstGeom>
          <a:noFill/>
          <a:ln w="0">
            <a:noFill/>
          </a:ln>
        </p:spPr>
      </p:pic>
      <p:pic>
        <p:nvPicPr>
          <p:cNvPr id="211" name="Picture 8" descr=""/>
          <p:cNvPicPr/>
          <p:nvPr/>
        </p:nvPicPr>
        <p:blipFill>
          <a:blip r:embed="rId2"/>
          <a:stretch/>
        </p:blipFill>
        <p:spPr>
          <a:xfrm>
            <a:off x="4952880" y="457200"/>
            <a:ext cx="3436560" cy="6292440"/>
          </a:xfrm>
          <a:prstGeom prst="rect">
            <a:avLst/>
          </a:prstGeom>
          <a:noFill/>
          <a:ln w="0">
            <a:noFill/>
          </a:ln>
        </p:spPr>
      </p:pic>
      <p:pic>
        <p:nvPicPr>
          <p:cNvPr id="212" name="Picture 9" descr=""/>
          <p:cNvPicPr/>
          <p:nvPr/>
        </p:nvPicPr>
        <p:blipFill>
          <a:blip r:embed="rId3"/>
          <a:stretch/>
        </p:blipFill>
        <p:spPr>
          <a:xfrm>
            <a:off x="4952880" y="457200"/>
            <a:ext cx="3436560" cy="6292440"/>
          </a:xfrm>
          <a:prstGeom prst="rect">
            <a:avLst/>
          </a:prstGeom>
          <a:noFill/>
          <a:ln w="0">
            <a:noFill/>
          </a:ln>
        </p:spPr>
      </p:pic>
    </p:spTree>
  </p:cSld>
  <p:transition spd="slow">
    <p:wipe dir="r"/>
  </p:transition>
  <p:timing>
    <p:tnLst>
      <p:par>
        <p:cTn id="568" dur="indefinite" restart="never" nodeType="tmRoot">
          <p:childTnLst>
            <p:seq>
              <p:cTn id="569" dur="indefinite" nodeType="mainSeq">
                <p:childTnLst>
                  <p:par>
                    <p:cTn id="570" nodeType="clickEffect" fill="hold">
                      <p:stCondLst>
                        <p:cond delay="0"/>
                      </p:stCondLst>
                      <p:childTnLst>
                        <p:par>
                          <p:cTn id="571" nodeType="withEffect" fill="hold">
                            <p:stCondLst>
                              <p:cond delay="0"/>
                            </p:stCondLst>
                            <p:childTnLst>
                              <p:par>
                                <p:cTn id="572" nodeType="withEffect" fill="hold" presetClass="entr" presetID="22" presetSubtype="8">
                                  <p:stCondLst>
                                    <p:cond delay="0"/>
                                  </p:stCondLst>
                                  <p:childTnLst>
                                    <p:set>
                                      <p:cBhvr>
                                        <p:cTn id="573" dur="1" fill="hold">
                                          <p:stCondLst>
                                            <p:cond delay="0"/>
                                          </p:stCondLst>
                                        </p:cTn>
                                        <p:tgtEl>
                                          <p:spTgt spid="212"/>
                                        </p:tgtEl>
                                        <p:attrNameLst>
                                          <p:attrName>style.visibility</p:attrName>
                                        </p:attrNameLst>
                                      </p:cBhvr>
                                      <p:to>
                                        <p:strVal val="visible"/>
                                      </p:to>
                                    </p:set>
                                    <p:animEffect filter="wipe(left)" transition="in">
                                      <p:cBhvr additive="repl">
                                        <p:cTn id="574" dur="1000"/>
                                        <p:tgtEl>
                                          <p:spTgt spid="212"/>
                                        </p:tgtEl>
                                      </p:cBhvr>
                                    </p:animEffect>
                                  </p:childTnLst>
                                </p:cTn>
                              </p:par>
                            </p:childTnLst>
                          </p:cTn>
                        </p:par>
                      </p:childTnLst>
                    </p:cTn>
                  </p:par>
                  <p:par>
                    <p:cTn id="575" nodeType="clickEffect" fill="hold">
                      <p:stCondLst>
                        <p:cond delay="indefinite"/>
                      </p:stCondLst>
                      <p:childTnLst>
                        <p:par>
                          <p:cTn id="576" nodeType="withEffect" fill="hold">
                            <p:stCondLst>
                              <p:cond delay="0"/>
                            </p:stCondLst>
                            <p:childTnLst>
                              <p:par>
                                <p:cTn id="577" nodeType="clickEffect" fill="hold" presetClass="entr" presetID="22" presetSubtype="8">
                                  <p:stCondLst>
                                    <p:cond delay="0"/>
                                  </p:stCondLst>
                                  <p:childTnLst>
                                    <p:set>
                                      <p:cBhvr>
                                        <p:cTn id="578" dur="1" fill="hold">
                                          <p:stCondLst>
                                            <p:cond delay="0"/>
                                          </p:stCondLst>
                                        </p:cTn>
                                        <p:tgtEl>
                                          <p:spTgt spid="209">
                                            <p:txEl>
                                              <p:pRg st="1" end="1"/>
                                            </p:txEl>
                                          </p:spTgt>
                                        </p:tgtEl>
                                        <p:attrNameLst>
                                          <p:attrName>style.visibility</p:attrName>
                                        </p:attrNameLst>
                                      </p:cBhvr>
                                      <p:to>
                                        <p:strVal val="visible"/>
                                      </p:to>
                                    </p:set>
                                    <p:animEffect filter="wipe(left)" transition="in">
                                      <p:cBhvr additive="repl">
                                        <p:cTn id="579" dur="500"/>
                                        <p:tgtEl>
                                          <p:spTgt spid="209">
                                            <p:txEl>
                                              <p:pRg st="1" end="1"/>
                                            </p:txEl>
                                          </p:spTgt>
                                        </p:tgtEl>
                                      </p:cBhvr>
                                    </p:animEffect>
                                  </p:childTnLst>
                                </p:cTn>
                              </p:par>
                            </p:childTnLst>
                          </p:cTn>
                        </p:par>
                      </p:childTnLst>
                    </p:cTn>
                  </p:par>
                  <p:par>
                    <p:cTn id="580" nodeType="clickEffect" fill="hold">
                      <p:stCondLst>
                        <p:cond delay="indefinite"/>
                      </p:stCondLst>
                      <p:childTnLst>
                        <p:par>
                          <p:cTn id="581" nodeType="withEffect" fill="hold">
                            <p:stCondLst>
                              <p:cond delay="0"/>
                            </p:stCondLst>
                            <p:childTnLst>
                              <p:par>
                                <p:cTn id="582" nodeType="clickEffect" fill="hold" presetClass="entr" presetID="22" presetSubtype="8">
                                  <p:stCondLst>
                                    <p:cond delay="0"/>
                                  </p:stCondLst>
                                  <p:childTnLst>
                                    <p:set>
                                      <p:cBhvr>
                                        <p:cTn id="583" dur="1" fill="hold">
                                          <p:stCondLst>
                                            <p:cond delay="0"/>
                                          </p:stCondLst>
                                        </p:cTn>
                                        <p:tgtEl>
                                          <p:spTgt spid="209">
                                            <p:txEl>
                                              <p:pRg st="2" end="2"/>
                                            </p:txEl>
                                          </p:spTgt>
                                        </p:tgtEl>
                                        <p:attrNameLst>
                                          <p:attrName>style.visibility</p:attrName>
                                        </p:attrNameLst>
                                      </p:cBhvr>
                                      <p:to>
                                        <p:strVal val="visible"/>
                                      </p:to>
                                    </p:set>
                                    <p:animEffect filter="wipe(left)" transition="in">
                                      <p:cBhvr additive="repl">
                                        <p:cTn id="584" dur="500"/>
                                        <p:tgtEl>
                                          <p:spTgt spid="20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FIRM’S … CHOICES</a:t>
            </a:r>
            <a:endParaRPr b="0" lang="en-CA" sz="2600" strike="noStrike" u="none">
              <a:solidFill>
                <a:schemeClr val="dk1"/>
              </a:solidFill>
              <a:effectLst/>
              <a:uFillTx/>
              <a:latin typeface="Arial"/>
            </a:endParaRPr>
          </a:p>
        </p:txBody>
      </p:sp>
      <p:sp>
        <p:nvSpPr>
          <p:cNvPr id="214" name="PlaceHolder 2"/>
          <p:cNvSpPr>
            <a:spLocks noGrp="1"/>
          </p:cNvSpPr>
          <p:nvPr>
            <p:ph/>
          </p:nvPr>
        </p:nvSpPr>
        <p:spPr>
          <a:xfrm>
            <a:off x="360360" y="1440000"/>
            <a:ext cx="43635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the price rises to $12 a can, the marginal revenue curve shifts upward to </a:t>
            </a:r>
            <a:r>
              <a:rPr b="0" i="1" lang="en-US" sz="2400" strike="noStrike" u="none">
                <a:solidFill>
                  <a:schemeClr val="dk1"/>
                </a:solidFill>
                <a:effectLst/>
                <a:uFillTx/>
                <a:latin typeface="Arial"/>
                <a:ea typeface="ＭＳ Ｐゴシック"/>
              </a:rPr>
              <a:t>MR</a:t>
            </a:r>
            <a:r>
              <a:rPr b="0" lang="en-US" sz="2400" strike="noStrike" u="none" baseline="-25000">
                <a:solidFill>
                  <a:schemeClr val="dk1"/>
                </a:solidFill>
                <a:effectLst/>
                <a:uFillTx/>
                <a:latin typeface="Arial"/>
                <a:ea typeface="ＭＳ Ｐゴシック"/>
              </a:rPr>
              <a:t>2</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Profit-maximizing output increases to 11 cans per day.</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new black dot in part (b) is another point of the firm’s supply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blue curve in part (b) is the firm’s supply curve.</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p:txBody>
      </p:sp>
      <p:pic>
        <p:nvPicPr>
          <p:cNvPr id="215" name="Picture 9" descr=""/>
          <p:cNvPicPr/>
          <p:nvPr/>
        </p:nvPicPr>
        <p:blipFill>
          <a:blip r:embed="rId1"/>
          <a:stretch/>
        </p:blipFill>
        <p:spPr>
          <a:xfrm>
            <a:off x="4952880" y="457200"/>
            <a:ext cx="3436560" cy="6292440"/>
          </a:xfrm>
          <a:prstGeom prst="rect">
            <a:avLst/>
          </a:prstGeom>
          <a:noFill/>
          <a:ln w="0">
            <a:noFill/>
          </a:ln>
        </p:spPr>
      </p:pic>
      <p:pic>
        <p:nvPicPr>
          <p:cNvPr id="216" name="Picture 10" descr=""/>
          <p:cNvPicPr/>
          <p:nvPr/>
        </p:nvPicPr>
        <p:blipFill>
          <a:blip r:embed="rId2"/>
          <a:stretch/>
        </p:blipFill>
        <p:spPr>
          <a:xfrm>
            <a:off x="4952880" y="457200"/>
            <a:ext cx="3436560" cy="6292440"/>
          </a:xfrm>
          <a:prstGeom prst="rect">
            <a:avLst/>
          </a:prstGeom>
          <a:noFill/>
          <a:ln w="0">
            <a:noFill/>
          </a:ln>
        </p:spPr>
      </p:pic>
      <p:pic>
        <p:nvPicPr>
          <p:cNvPr id="217" name="Picture 11" descr=""/>
          <p:cNvPicPr/>
          <p:nvPr/>
        </p:nvPicPr>
        <p:blipFill>
          <a:blip r:embed="rId3"/>
          <a:stretch/>
        </p:blipFill>
        <p:spPr>
          <a:xfrm>
            <a:off x="4952880" y="457200"/>
            <a:ext cx="3436560" cy="6292440"/>
          </a:xfrm>
          <a:prstGeom prst="rect">
            <a:avLst/>
          </a:prstGeom>
          <a:noFill/>
          <a:ln w="0">
            <a:noFill/>
          </a:ln>
        </p:spPr>
      </p:pic>
      <p:pic>
        <p:nvPicPr>
          <p:cNvPr id="218" name="Picture 12" descr=""/>
          <p:cNvPicPr/>
          <p:nvPr/>
        </p:nvPicPr>
        <p:blipFill>
          <a:blip r:embed="rId4"/>
          <a:stretch/>
        </p:blipFill>
        <p:spPr>
          <a:xfrm>
            <a:off x="4952880" y="457200"/>
            <a:ext cx="3436560" cy="6292440"/>
          </a:xfrm>
          <a:prstGeom prst="rect">
            <a:avLst/>
          </a:prstGeom>
          <a:noFill/>
          <a:ln w="0">
            <a:noFill/>
          </a:ln>
        </p:spPr>
      </p:pic>
      <p:pic>
        <p:nvPicPr>
          <p:cNvPr id="219" name="Picture 13" descr=""/>
          <p:cNvPicPr/>
          <p:nvPr/>
        </p:nvPicPr>
        <p:blipFill>
          <a:blip r:embed="rId5"/>
          <a:stretch/>
        </p:blipFill>
        <p:spPr>
          <a:xfrm>
            <a:off x="4952880" y="457200"/>
            <a:ext cx="3436560" cy="6292440"/>
          </a:xfrm>
          <a:prstGeom prst="rect">
            <a:avLst/>
          </a:prstGeom>
          <a:noFill/>
          <a:ln w="0">
            <a:noFill/>
          </a:ln>
        </p:spPr>
      </p:pic>
    </p:spTree>
  </p:cSld>
  <p:transition spd="slow">
    <p:wipe dir="r"/>
  </p:transition>
  <p:timing>
    <p:tnLst>
      <p:par>
        <p:cTn id="585" dur="indefinite" restart="never" nodeType="tmRoot">
          <p:childTnLst>
            <p:seq>
              <p:cTn id="586" dur="indefinite" nodeType="mainSeq">
                <p:childTnLst>
                  <p:par>
                    <p:cTn id="587" nodeType="clickEffect" fill="hold">
                      <p:stCondLst>
                        <p:cond delay="0"/>
                      </p:stCondLst>
                      <p:childTnLst>
                        <p:par>
                          <p:cTn id="588" nodeType="withEffect" fill="hold">
                            <p:stCondLst>
                              <p:cond delay="0"/>
                            </p:stCondLst>
                            <p:childTnLst>
                              <p:par>
                                <p:cTn id="589" nodeType="withEffect" fill="hold" presetClass="entr" presetID="22" presetSubtype="8">
                                  <p:stCondLst>
                                    <p:cond delay="0"/>
                                  </p:stCondLst>
                                  <p:childTnLst>
                                    <p:set>
                                      <p:cBhvr>
                                        <p:cTn id="590" dur="1" fill="hold">
                                          <p:stCondLst>
                                            <p:cond delay="0"/>
                                          </p:stCondLst>
                                        </p:cTn>
                                        <p:tgtEl>
                                          <p:spTgt spid="218"/>
                                        </p:tgtEl>
                                        <p:attrNameLst>
                                          <p:attrName>style.visibility</p:attrName>
                                        </p:attrNameLst>
                                      </p:cBhvr>
                                      <p:to>
                                        <p:strVal val="visible"/>
                                      </p:to>
                                    </p:set>
                                    <p:animEffect filter="wipe(left)" transition="in">
                                      <p:cBhvr additive="repl">
                                        <p:cTn id="591" dur="1000"/>
                                        <p:tgtEl>
                                          <p:spTgt spid="218"/>
                                        </p:tgtEl>
                                      </p:cBhvr>
                                    </p:animEffect>
                                  </p:childTnLst>
                                </p:cTn>
                              </p:par>
                            </p:childTnLst>
                          </p:cTn>
                        </p:par>
                      </p:childTnLst>
                    </p:cTn>
                  </p:par>
                  <p:par>
                    <p:cTn id="592" nodeType="clickEffect" fill="hold">
                      <p:stCondLst>
                        <p:cond delay="indefinite"/>
                      </p:stCondLst>
                      <p:childTnLst>
                        <p:par>
                          <p:cTn id="593" nodeType="withEffect" fill="hold">
                            <p:stCondLst>
                              <p:cond delay="0"/>
                            </p:stCondLst>
                            <p:childTnLst>
                              <p:par>
                                <p:cTn id="594" nodeType="clickEffect" fill="hold" presetClass="entr" presetID="22" presetSubtype="8">
                                  <p:stCondLst>
                                    <p:cond delay="0"/>
                                  </p:stCondLst>
                                  <p:childTnLst>
                                    <p:set>
                                      <p:cBhvr>
                                        <p:cTn id="595" dur="1" fill="hold">
                                          <p:stCondLst>
                                            <p:cond delay="0"/>
                                          </p:stCondLst>
                                        </p:cTn>
                                        <p:tgtEl>
                                          <p:spTgt spid="214">
                                            <p:txEl>
                                              <p:pRg st="1" end="1"/>
                                            </p:txEl>
                                          </p:spTgt>
                                        </p:tgtEl>
                                        <p:attrNameLst>
                                          <p:attrName>style.visibility</p:attrName>
                                        </p:attrNameLst>
                                      </p:cBhvr>
                                      <p:to>
                                        <p:strVal val="visible"/>
                                      </p:to>
                                    </p:set>
                                    <p:animEffect filter="wipe(left)" transition="in">
                                      <p:cBhvr additive="repl">
                                        <p:cTn id="596" dur="500"/>
                                        <p:tgtEl>
                                          <p:spTgt spid="214">
                                            <p:txEl>
                                              <p:pRg st="1" end="1"/>
                                            </p:txEl>
                                          </p:spTgt>
                                        </p:tgtEl>
                                      </p:cBhvr>
                                    </p:animEffect>
                                  </p:childTnLst>
                                </p:cTn>
                              </p:par>
                            </p:childTnLst>
                          </p:cTn>
                        </p:par>
                      </p:childTnLst>
                    </p:cTn>
                  </p:par>
                  <p:par>
                    <p:cTn id="597" nodeType="clickEffect" fill="hold">
                      <p:stCondLst>
                        <p:cond delay="indefinite"/>
                      </p:stCondLst>
                      <p:childTnLst>
                        <p:par>
                          <p:cTn id="598" nodeType="withEffect" fill="hold">
                            <p:stCondLst>
                              <p:cond delay="0"/>
                            </p:stCondLst>
                            <p:childTnLst>
                              <p:par>
                                <p:cTn id="599" nodeType="clickEffect" fill="hold" presetClass="entr" presetID="22" presetSubtype="8">
                                  <p:stCondLst>
                                    <p:cond delay="0"/>
                                  </p:stCondLst>
                                  <p:childTnLst>
                                    <p:set>
                                      <p:cBhvr>
                                        <p:cTn id="600" dur="1" fill="hold">
                                          <p:stCondLst>
                                            <p:cond delay="0"/>
                                          </p:stCondLst>
                                        </p:cTn>
                                        <p:tgtEl>
                                          <p:spTgt spid="214">
                                            <p:txEl>
                                              <p:pRg st="2" end="2"/>
                                            </p:txEl>
                                          </p:spTgt>
                                        </p:tgtEl>
                                        <p:attrNameLst>
                                          <p:attrName>style.visibility</p:attrName>
                                        </p:attrNameLst>
                                      </p:cBhvr>
                                      <p:to>
                                        <p:strVal val="visible"/>
                                      </p:to>
                                    </p:set>
                                    <p:animEffect filter="wipe(left)" transition="in">
                                      <p:cBhvr additive="repl">
                                        <p:cTn id="601" dur="500"/>
                                        <p:tgtEl>
                                          <p:spTgt spid="214">
                                            <p:txEl>
                                              <p:pRg st="2" end="2"/>
                                            </p:txEl>
                                          </p:spTgt>
                                        </p:tgtEl>
                                      </p:cBhvr>
                                    </p:animEffect>
                                  </p:childTnLst>
                                </p:cTn>
                              </p:par>
                            </p:childTnLst>
                          </p:cTn>
                        </p:par>
                      </p:childTnLst>
                    </p:cTn>
                  </p:par>
                  <p:par>
                    <p:cTn id="602" nodeType="clickEffect" fill="hold">
                      <p:stCondLst>
                        <p:cond delay="indefinite"/>
                      </p:stCondLst>
                      <p:childTnLst>
                        <p:par>
                          <p:cTn id="603" nodeType="withEffect" fill="hold">
                            <p:stCondLst>
                              <p:cond delay="0"/>
                            </p:stCondLst>
                            <p:childTnLst>
                              <p:par>
                                <p:cTn id="604" nodeType="clickEffect" fill="hold" presetClass="entr" presetID="22" presetSubtype="8">
                                  <p:stCondLst>
                                    <p:cond delay="0"/>
                                  </p:stCondLst>
                                  <p:childTnLst>
                                    <p:set>
                                      <p:cBhvr>
                                        <p:cTn id="605" dur="1" fill="hold">
                                          <p:stCondLst>
                                            <p:cond delay="0"/>
                                          </p:stCondLst>
                                        </p:cTn>
                                        <p:tgtEl>
                                          <p:spTgt spid="214">
                                            <p:txEl>
                                              <p:pRg st="3" end="3"/>
                                            </p:txEl>
                                          </p:spTgt>
                                        </p:tgtEl>
                                        <p:attrNameLst>
                                          <p:attrName>style.visibility</p:attrName>
                                        </p:attrNameLst>
                                      </p:cBhvr>
                                      <p:to>
                                        <p:strVal val="visible"/>
                                      </p:to>
                                    </p:set>
                                    <p:animEffect filter="wipe(left)" transition="in">
                                      <p:cBhvr additive="repl">
                                        <p:cTn id="606" dur="500"/>
                                        <p:tgtEl>
                                          <p:spTgt spid="214">
                                            <p:txEl>
                                              <p:pRg st="3" end="3"/>
                                            </p:txEl>
                                          </p:spTgt>
                                        </p:tgtEl>
                                      </p:cBhvr>
                                    </p:animEffect>
                                  </p:childTnLst>
                                </p:cTn>
                              </p:par>
                              <p:par>
                                <p:cTn id="607" nodeType="withEffect" fill="hold" presetClass="entr" presetID="22" presetSubtype="4">
                                  <p:stCondLst>
                                    <p:cond delay="0"/>
                                  </p:stCondLst>
                                  <p:childTnLst>
                                    <p:set>
                                      <p:cBhvr>
                                        <p:cTn id="608" dur="1" fill="hold">
                                          <p:stCondLst>
                                            <p:cond delay="0"/>
                                          </p:stCondLst>
                                        </p:cTn>
                                        <p:tgtEl>
                                          <p:spTgt spid="219"/>
                                        </p:tgtEl>
                                        <p:attrNameLst>
                                          <p:attrName>style.visibility</p:attrName>
                                        </p:attrNameLst>
                                      </p:cBhvr>
                                      <p:to>
                                        <p:strVal val="visible"/>
                                      </p:to>
                                    </p:set>
                                    <p:animEffect filter="wipe(down)" transition="in">
                                      <p:cBhvr additive="repl">
                                        <p:cTn id="609" dur="1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15.1  FIRM’S … CHOICES</a:t>
            </a:r>
            <a:endParaRPr b="0" lang="en-CA" sz="2600" strike="noStrike" u="none">
              <a:solidFill>
                <a:schemeClr val="dk1"/>
              </a:solidFill>
              <a:effectLst/>
              <a:uFillTx/>
              <a:latin typeface="Arial"/>
            </a:endParaRPr>
          </a:p>
        </p:txBody>
      </p:sp>
      <p:sp>
        <p:nvSpPr>
          <p:cNvPr id="221" name="PlaceHolder 2"/>
          <p:cNvSpPr>
            <a:spLocks noGrp="1"/>
          </p:cNvSpPr>
          <p:nvPr>
            <p:ph/>
          </p:nvPr>
        </p:nvSpPr>
        <p:spPr>
          <a:xfrm>
            <a:off x="360360" y="1440000"/>
            <a:ext cx="45921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blue curve is the firm’s supply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prices below $3 a can, the firm shuts down and output is zero.</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prices above $3 a can, the firm produces along its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curve.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supply curve is the same as the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curve at prices above the minimum point of </a:t>
            </a:r>
            <a:r>
              <a:rPr b="0" i="1" lang="en-US" sz="2400" strike="noStrike" u="none">
                <a:solidFill>
                  <a:srgbClr val="000000"/>
                </a:solidFill>
                <a:effectLst/>
                <a:uFillTx/>
                <a:latin typeface="Arial"/>
                <a:ea typeface="ＭＳ Ｐゴシック"/>
              </a:rPr>
              <a:t>AVC.</a:t>
            </a:r>
            <a:endParaRPr b="1" lang="en-CA" sz="2400" strike="noStrike" u="none">
              <a:solidFill>
                <a:srgbClr val="00468f"/>
              </a:solidFill>
              <a:effectLst/>
              <a:uFillTx/>
              <a:latin typeface="Arial"/>
            </a:endParaRPr>
          </a:p>
        </p:txBody>
      </p:sp>
      <p:pic>
        <p:nvPicPr>
          <p:cNvPr id="222" name="Picture 11" descr=""/>
          <p:cNvPicPr/>
          <p:nvPr/>
        </p:nvPicPr>
        <p:blipFill>
          <a:blip r:embed="rId1"/>
          <a:stretch/>
        </p:blipFill>
        <p:spPr>
          <a:xfrm>
            <a:off x="4952880" y="457200"/>
            <a:ext cx="3436560" cy="6292440"/>
          </a:xfrm>
          <a:prstGeom prst="rect">
            <a:avLst/>
          </a:prstGeom>
          <a:noFill/>
          <a:ln w="0">
            <a:noFill/>
          </a:ln>
        </p:spPr>
      </p:pic>
      <p:pic>
        <p:nvPicPr>
          <p:cNvPr id="223" name="Picture 12" descr=""/>
          <p:cNvPicPr/>
          <p:nvPr/>
        </p:nvPicPr>
        <p:blipFill>
          <a:blip r:embed="rId2"/>
          <a:stretch/>
        </p:blipFill>
        <p:spPr>
          <a:xfrm>
            <a:off x="4952880" y="457200"/>
            <a:ext cx="3436560" cy="6292440"/>
          </a:xfrm>
          <a:prstGeom prst="rect">
            <a:avLst/>
          </a:prstGeom>
          <a:noFill/>
          <a:ln w="0">
            <a:noFill/>
          </a:ln>
        </p:spPr>
      </p:pic>
      <p:pic>
        <p:nvPicPr>
          <p:cNvPr id="224" name="Picture 13" descr=""/>
          <p:cNvPicPr/>
          <p:nvPr/>
        </p:nvPicPr>
        <p:blipFill>
          <a:blip r:embed="rId3"/>
          <a:stretch/>
        </p:blipFill>
        <p:spPr>
          <a:xfrm>
            <a:off x="4952880" y="457200"/>
            <a:ext cx="3436560" cy="6292440"/>
          </a:xfrm>
          <a:prstGeom prst="rect">
            <a:avLst/>
          </a:prstGeom>
          <a:noFill/>
          <a:ln w="0">
            <a:noFill/>
          </a:ln>
        </p:spPr>
      </p:pic>
      <p:pic>
        <p:nvPicPr>
          <p:cNvPr id="225" name="Picture 14" descr=""/>
          <p:cNvPicPr/>
          <p:nvPr/>
        </p:nvPicPr>
        <p:blipFill>
          <a:blip r:embed="rId4"/>
          <a:stretch/>
        </p:blipFill>
        <p:spPr>
          <a:xfrm>
            <a:off x="4952880" y="457200"/>
            <a:ext cx="3436560" cy="6292440"/>
          </a:xfrm>
          <a:prstGeom prst="rect">
            <a:avLst/>
          </a:prstGeom>
          <a:noFill/>
          <a:ln w="0">
            <a:noFill/>
          </a:ln>
        </p:spPr>
      </p:pic>
      <p:pic>
        <p:nvPicPr>
          <p:cNvPr id="226" name="Picture 15" descr=""/>
          <p:cNvPicPr/>
          <p:nvPr/>
        </p:nvPicPr>
        <p:blipFill>
          <a:blip r:embed="rId5"/>
          <a:stretch/>
        </p:blipFill>
        <p:spPr>
          <a:xfrm>
            <a:off x="4952880" y="457200"/>
            <a:ext cx="3436560" cy="6292440"/>
          </a:xfrm>
          <a:prstGeom prst="rect">
            <a:avLst/>
          </a:prstGeom>
          <a:noFill/>
          <a:ln w="0">
            <a:noFill/>
          </a:ln>
        </p:spPr>
      </p:pic>
    </p:spTree>
  </p:cSld>
  <p:transition spd="slow">
    <p:wipe dir="r"/>
  </p:transition>
  <p:timing>
    <p:tnLst>
      <p:par>
        <p:cTn id="610" dur="indefinite" restart="never" nodeType="tmRoot">
          <p:childTnLst>
            <p:seq>
              <p:cTn id="611" dur="indefinite" nodeType="mainSeq">
                <p:childTnLst>
                  <p:par>
                    <p:cTn id="612" nodeType="clickEffect" fill="hold">
                      <p:stCondLst>
                        <p:cond delay="indefinite"/>
                      </p:stCondLst>
                      <p:childTnLst>
                        <p:par>
                          <p:cTn id="613" nodeType="withEffect" fill="hold">
                            <p:stCondLst>
                              <p:cond delay="0"/>
                            </p:stCondLst>
                            <p:childTnLst>
                              <p:par>
                                <p:cTn id="614" nodeType="clickEffect" fill="hold" presetClass="entr" presetID="22" presetSubtype="8">
                                  <p:stCondLst>
                                    <p:cond delay="0"/>
                                  </p:stCondLst>
                                  <p:childTnLst>
                                    <p:set>
                                      <p:cBhvr>
                                        <p:cTn id="615" dur="1" fill="hold">
                                          <p:stCondLst>
                                            <p:cond delay="0"/>
                                          </p:stCondLst>
                                        </p:cTn>
                                        <p:tgtEl>
                                          <p:spTgt spid="221">
                                            <p:txEl>
                                              <p:pRg st="1" end="1"/>
                                            </p:txEl>
                                          </p:spTgt>
                                        </p:tgtEl>
                                        <p:attrNameLst>
                                          <p:attrName>style.visibility</p:attrName>
                                        </p:attrNameLst>
                                      </p:cBhvr>
                                      <p:to>
                                        <p:strVal val="visible"/>
                                      </p:to>
                                    </p:set>
                                    <p:animEffect filter="wipe(left)" transition="in">
                                      <p:cBhvr additive="repl">
                                        <p:cTn id="616" dur="500"/>
                                        <p:tgtEl>
                                          <p:spTgt spid="221">
                                            <p:txEl>
                                              <p:pRg st="1" end="1"/>
                                            </p:txEl>
                                          </p:spTgt>
                                        </p:tgtEl>
                                      </p:cBhvr>
                                    </p:animEffect>
                                  </p:childTnLst>
                                </p:cTn>
                              </p:par>
                            </p:childTnLst>
                          </p:cTn>
                        </p:par>
                      </p:childTnLst>
                    </p:cTn>
                  </p:par>
                  <p:par>
                    <p:cTn id="617" nodeType="clickEffect" fill="hold">
                      <p:stCondLst>
                        <p:cond delay="indefinite"/>
                      </p:stCondLst>
                      <p:childTnLst>
                        <p:par>
                          <p:cTn id="618" nodeType="withEffect" fill="hold">
                            <p:stCondLst>
                              <p:cond delay="0"/>
                            </p:stCondLst>
                            <p:childTnLst>
                              <p:par>
                                <p:cTn id="619" nodeType="clickEffect" fill="hold" presetClass="entr" presetID="22" presetSubtype="8">
                                  <p:stCondLst>
                                    <p:cond delay="0"/>
                                  </p:stCondLst>
                                  <p:childTnLst>
                                    <p:set>
                                      <p:cBhvr>
                                        <p:cTn id="620" dur="1" fill="hold">
                                          <p:stCondLst>
                                            <p:cond delay="0"/>
                                          </p:stCondLst>
                                        </p:cTn>
                                        <p:tgtEl>
                                          <p:spTgt spid="221">
                                            <p:txEl>
                                              <p:pRg st="2" end="2"/>
                                            </p:txEl>
                                          </p:spTgt>
                                        </p:tgtEl>
                                        <p:attrNameLst>
                                          <p:attrName>style.visibility</p:attrName>
                                        </p:attrNameLst>
                                      </p:cBhvr>
                                      <p:to>
                                        <p:strVal val="visible"/>
                                      </p:to>
                                    </p:set>
                                    <p:animEffect filter="wipe(left)" transition="in">
                                      <p:cBhvr additive="repl">
                                        <p:cTn id="621" dur="500"/>
                                        <p:tgtEl>
                                          <p:spTgt spid="221">
                                            <p:txEl>
                                              <p:pRg st="2" end="2"/>
                                            </p:txEl>
                                          </p:spTgt>
                                        </p:tgtEl>
                                      </p:cBhvr>
                                    </p:animEffect>
                                  </p:childTnLst>
                                </p:cTn>
                              </p:par>
                            </p:childTnLst>
                          </p:cTn>
                        </p:par>
                      </p:childTnLst>
                    </p:cTn>
                  </p:par>
                  <p:par>
                    <p:cTn id="622" nodeType="clickEffect" fill="hold">
                      <p:stCondLst>
                        <p:cond delay="indefinite"/>
                      </p:stCondLst>
                      <p:childTnLst>
                        <p:par>
                          <p:cTn id="623" nodeType="withEffect" fill="hold">
                            <p:stCondLst>
                              <p:cond delay="0"/>
                            </p:stCondLst>
                            <p:childTnLst>
                              <p:par>
                                <p:cTn id="624" nodeType="clickEffect" fill="hold" presetClass="entr" presetID="22" presetSubtype="8">
                                  <p:stCondLst>
                                    <p:cond delay="0"/>
                                  </p:stCondLst>
                                  <p:childTnLst>
                                    <p:set>
                                      <p:cBhvr>
                                        <p:cTn id="625" dur="1" fill="hold">
                                          <p:stCondLst>
                                            <p:cond delay="0"/>
                                          </p:stCondLst>
                                        </p:cTn>
                                        <p:tgtEl>
                                          <p:spTgt spid="221">
                                            <p:txEl>
                                              <p:pRg st="3" end="3"/>
                                            </p:txEl>
                                          </p:spTgt>
                                        </p:tgtEl>
                                        <p:attrNameLst>
                                          <p:attrName>style.visibility</p:attrName>
                                        </p:attrNameLst>
                                      </p:cBhvr>
                                      <p:to>
                                        <p:strVal val="visible"/>
                                      </p:to>
                                    </p:set>
                                    <p:animEffect filter="wipe(left)" transition="in">
                                      <p:cBhvr additive="repl">
                                        <p:cTn id="626" dur="500"/>
                                        <p:tgtEl>
                                          <p:spTgt spid="22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2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Market Supply in the Short Run</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market supply curve in the short run shows the quantity supplied at each price by a fixed number of firms.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quantity supplied at a given price is the sum of the quantities supplied by all firms at that price.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15.6 on the next slide shows the market supply curve in a market with 10,000 identical firms.</a:t>
            </a:r>
            <a:endParaRPr b="1" lang="en-CA" sz="2400" strike="noStrike" u="none">
              <a:solidFill>
                <a:srgbClr val="00468f"/>
              </a:solidFill>
              <a:effectLst/>
              <a:uFillTx/>
              <a:latin typeface="Arial"/>
            </a:endParaRPr>
          </a:p>
        </p:txBody>
      </p:sp>
    </p:spTree>
  </p:cSld>
  <p:transition spd="slow">
    <p:wipe dir="r"/>
  </p:transition>
  <p:timing>
    <p:tnLst>
      <p:par>
        <p:cTn id="627" dur="indefinite" restart="never" nodeType="tmRoot">
          <p:childTnLst>
            <p:seq>
              <p:cTn id="628" dur="indefinite" nodeType="mainSeq">
                <p:childTnLst>
                  <p:par>
                    <p:cTn id="629" nodeType="clickEffect" fill="hold">
                      <p:stCondLst>
                        <p:cond delay="indefinite"/>
                      </p:stCondLst>
                      <p:childTnLst>
                        <p:par>
                          <p:cTn id="630" nodeType="withEffect" fill="hold">
                            <p:stCondLst>
                              <p:cond delay="0"/>
                            </p:stCondLst>
                            <p:childTnLst>
                              <p:par>
                                <p:cTn id="631" nodeType="clickEffect" fill="hold" presetClass="entr" presetID="22" presetSubtype="8">
                                  <p:stCondLst>
                                    <p:cond delay="0"/>
                                  </p:stCondLst>
                                  <p:childTnLst>
                                    <p:set>
                                      <p:cBhvr>
                                        <p:cTn id="632" dur="1" fill="hold">
                                          <p:stCondLst>
                                            <p:cond delay="0"/>
                                          </p:stCondLst>
                                        </p:cTn>
                                        <p:tgtEl>
                                          <p:spTgt spid="228">
                                            <p:txEl>
                                              <p:pRg st="1" end="1"/>
                                            </p:txEl>
                                          </p:spTgt>
                                        </p:tgtEl>
                                        <p:attrNameLst>
                                          <p:attrName>style.visibility</p:attrName>
                                        </p:attrNameLst>
                                      </p:cBhvr>
                                      <p:to>
                                        <p:strVal val="visible"/>
                                      </p:to>
                                    </p:set>
                                    <p:animEffect filter="wipe(left)" transition="in">
                                      <p:cBhvr additive="repl">
                                        <p:cTn id="633" dur="500"/>
                                        <p:tgtEl>
                                          <p:spTgt spid="228">
                                            <p:txEl>
                                              <p:pRg st="1" end="1"/>
                                            </p:txEl>
                                          </p:spTgt>
                                        </p:tgtEl>
                                      </p:cBhvr>
                                    </p:animEffect>
                                  </p:childTnLst>
                                </p:cTn>
                              </p:par>
                            </p:childTnLst>
                          </p:cTn>
                        </p:par>
                      </p:childTnLst>
                    </p:cTn>
                  </p:par>
                  <p:par>
                    <p:cTn id="634" nodeType="clickEffect" fill="hold">
                      <p:stCondLst>
                        <p:cond delay="indefinite"/>
                      </p:stCondLst>
                      <p:childTnLst>
                        <p:par>
                          <p:cTn id="635" nodeType="withEffect" fill="hold">
                            <p:stCondLst>
                              <p:cond delay="0"/>
                            </p:stCondLst>
                            <p:childTnLst>
                              <p:par>
                                <p:cTn id="636" nodeType="clickEffect" fill="hold" presetClass="entr" presetID="22" presetSubtype="8">
                                  <p:stCondLst>
                                    <p:cond delay="0"/>
                                  </p:stCondLst>
                                  <p:childTnLst>
                                    <p:set>
                                      <p:cBhvr>
                                        <p:cTn id="637" dur="1" fill="hold">
                                          <p:stCondLst>
                                            <p:cond delay="0"/>
                                          </p:stCondLst>
                                        </p:cTn>
                                        <p:tgtEl>
                                          <p:spTgt spid="228">
                                            <p:txEl>
                                              <p:pRg st="2" end="2"/>
                                            </p:txEl>
                                          </p:spTgt>
                                        </p:tgtEl>
                                        <p:attrNameLst>
                                          <p:attrName>style.visibility</p:attrName>
                                        </p:attrNameLst>
                                      </p:cBhvr>
                                      <p:to>
                                        <p:strVal val="visible"/>
                                      </p:to>
                                    </p:set>
                                    <p:animEffect filter="wipe(left)" transition="in">
                                      <p:cBhvr additive="repl">
                                        <p:cTn id="638" dur="500"/>
                                        <p:tgtEl>
                                          <p:spTgt spid="228">
                                            <p:txEl>
                                              <p:pRg st="2" end="2"/>
                                            </p:txEl>
                                          </p:spTgt>
                                        </p:tgtEl>
                                      </p:cBhvr>
                                    </p:animEffect>
                                  </p:childTnLst>
                                </p:cTn>
                              </p:par>
                            </p:childTnLst>
                          </p:cTn>
                        </p:par>
                      </p:childTnLst>
                    </p:cTn>
                  </p:par>
                  <p:par>
                    <p:cTn id="639" nodeType="clickEffect" fill="hold">
                      <p:stCondLst>
                        <p:cond delay="indefinite"/>
                      </p:stCondLst>
                      <p:childTnLst>
                        <p:par>
                          <p:cTn id="640" nodeType="withEffect" fill="hold">
                            <p:stCondLst>
                              <p:cond delay="0"/>
                            </p:stCondLst>
                            <p:childTnLst>
                              <p:par>
                                <p:cTn id="641" nodeType="clickEffect" fill="hold" presetClass="entr" presetID="22" presetSubtype="8">
                                  <p:stCondLst>
                                    <p:cond delay="0"/>
                                  </p:stCondLst>
                                  <p:childTnLst>
                                    <p:set>
                                      <p:cBhvr>
                                        <p:cTn id="642" dur="1" fill="hold">
                                          <p:stCondLst>
                                            <p:cond delay="0"/>
                                          </p:stCondLst>
                                        </p:cTn>
                                        <p:tgtEl>
                                          <p:spTgt spid="228">
                                            <p:txEl>
                                              <p:pRg st="3" end="3"/>
                                            </p:txEl>
                                          </p:spTgt>
                                        </p:tgtEl>
                                        <p:attrNameLst>
                                          <p:attrName>style.visibility</p:attrName>
                                        </p:attrNameLst>
                                      </p:cBhvr>
                                      <p:to>
                                        <p:strVal val="visible"/>
                                      </p:to>
                                    </p:set>
                                    <p:animEffect filter="wipe(left)" transition="in">
                                      <p:cBhvr additive="repl">
                                        <p:cTn id="643" dur="500"/>
                                        <p:tgtEl>
                                          <p:spTgt spid="22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30" name="PlaceHolder 2"/>
          <p:cNvSpPr>
            <a:spLocks noGrp="1"/>
          </p:cNvSpPr>
          <p:nvPr>
            <p:ph/>
          </p:nvPr>
        </p:nvSpPr>
        <p:spPr>
          <a:xfrm>
            <a:off x="360360" y="1440000"/>
            <a:ext cx="8478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prices below the shutdown price, firms produce nothing.</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the shutdown price of $3, each firm produces either 0 or 7 cans a day. </a:t>
            </a:r>
            <a:endParaRPr b="1" lang="en-CA" sz="2400" strike="noStrike" u="none">
              <a:solidFill>
                <a:srgbClr val="00468f"/>
              </a:solidFill>
              <a:effectLst/>
              <a:uFillTx/>
              <a:latin typeface="Arial"/>
            </a:endParaRPr>
          </a:p>
        </p:txBody>
      </p:sp>
      <p:pic>
        <p:nvPicPr>
          <p:cNvPr id="231" name="Picture 7" descr=""/>
          <p:cNvPicPr/>
          <p:nvPr/>
        </p:nvPicPr>
        <p:blipFill>
          <a:blip r:embed="rId1"/>
          <a:stretch/>
        </p:blipFill>
        <p:spPr>
          <a:xfrm>
            <a:off x="1044720" y="2843280"/>
            <a:ext cx="6864120" cy="3741480"/>
          </a:xfrm>
          <a:prstGeom prst="rect">
            <a:avLst/>
          </a:prstGeom>
          <a:noFill/>
          <a:ln w="0">
            <a:noFill/>
          </a:ln>
        </p:spPr>
      </p:pic>
      <p:pic>
        <p:nvPicPr>
          <p:cNvPr id="232" name="Picture 8" descr=""/>
          <p:cNvPicPr/>
          <p:nvPr/>
        </p:nvPicPr>
        <p:blipFill>
          <a:blip r:embed="rId2"/>
          <a:stretch/>
        </p:blipFill>
        <p:spPr>
          <a:xfrm>
            <a:off x="1044720" y="2843280"/>
            <a:ext cx="6864120" cy="3741480"/>
          </a:xfrm>
          <a:prstGeom prst="rect">
            <a:avLst/>
          </a:prstGeom>
          <a:noFill/>
          <a:ln w="0">
            <a:noFill/>
          </a:ln>
        </p:spPr>
      </p:pic>
    </p:spTree>
  </p:cSld>
  <p:transition spd="slow">
    <p:wipe dir="r"/>
  </p:transition>
  <p:timing>
    <p:tnLst>
      <p:par>
        <p:cTn id="644" dur="indefinite" restart="never" nodeType="tmRoot">
          <p:childTnLst>
            <p:seq>
              <p:cTn id="645" dur="indefinite" nodeType="mainSeq">
                <p:childTnLst>
                  <p:par>
                    <p:cTn id="646" nodeType="clickEffect" fill="hold">
                      <p:stCondLst>
                        <p:cond delay="indefinite"/>
                      </p:stCondLst>
                      <p:childTnLst>
                        <p:par>
                          <p:cTn id="647" nodeType="withEffect" fill="hold">
                            <p:stCondLst>
                              <p:cond delay="0"/>
                            </p:stCondLst>
                            <p:childTnLst>
                              <p:par>
                                <p:cTn id="648" nodeType="clickEffect" fill="hold" presetClass="entr" presetID="22" presetSubtype="8">
                                  <p:stCondLst>
                                    <p:cond delay="0"/>
                                  </p:stCondLst>
                                  <p:childTnLst>
                                    <p:set>
                                      <p:cBhvr>
                                        <p:cTn id="649" dur="1" fill="hold">
                                          <p:stCondLst>
                                            <p:cond delay="0"/>
                                          </p:stCondLst>
                                        </p:cTn>
                                        <p:tgtEl>
                                          <p:spTgt spid="230">
                                            <p:txEl>
                                              <p:pRg st="1" end="1"/>
                                            </p:txEl>
                                          </p:spTgt>
                                        </p:tgtEl>
                                        <p:attrNameLst>
                                          <p:attrName>style.visibility</p:attrName>
                                        </p:attrNameLst>
                                      </p:cBhvr>
                                      <p:to>
                                        <p:strVal val="visible"/>
                                      </p:to>
                                    </p:set>
                                    <p:animEffect filter="wipe(left)" transition="in">
                                      <p:cBhvr additive="repl">
                                        <p:cTn id="650" dur="500"/>
                                        <p:tgtEl>
                                          <p:spTgt spid="230">
                                            <p:txEl>
                                              <p:pRg st="1" end="1"/>
                                            </p:txEl>
                                          </p:spTgt>
                                        </p:tgtEl>
                                      </p:cBhvr>
                                    </p:animEffect>
                                  </p:childTnLst>
                                </p:cTn>
                              </p:par>
                              <p:par>
                                <p:cTn id="651" nodeType="withEffect" fill="hold" presetClass="entr" presetID="10">
                                  <p:stCondLst>
                                    <p:cond delay="0"/>
                                  </p:stCondLst>
                                  <p:childTnLst>
                                    <p:set>
                                      <p:cBhvr>
                                        <p:cTn id="652" dur="1" fill="hold">
                                          <p:stCondLst>
                                            <p:cond delay="0"/>
                                          </p:stCondLst>
                                        </p:cTn>
                                        <p:tgtEl>
                                          <p:spTgt spid="232"/>
                                        </p:tgtEl>
                                        <p:attrNameLst>
                                          <p:attrName>style.visibility</p:attrName>
                                        </p:attrNameLst>
                                      </p:cBhvr>
                                      <p:to>
                                        <p:strVal val="visible"/>
                                      </p:to>
                                    </p:set>
                                    <p:animEffect filter="fade" transition="in">
                                      <p:cBhvr additive="repl">
                                        <p:cTn id="653"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33" name="Picture 6" descr=""/>
          <p:cNvPicPr/>
          <p:nvPr/>
        </p:nvPicPr>
        <p:blipFill>
          <a:blip r:embed="rId1"/>
          <a:stretch/>
        </p:blipFill>
        <p:spPr>
          <a:xfrm>
            <a:off x="503280" y="863640"/>
            <a:ext cx="8076960" cy="4400280"/>
          </a:xfrm>
          <a:prstGeom prst="rect">
            <a:avLst/>
          </a:prstGeom>
          <a:noFill/>
          <a:ln w="0">
            <a:noFill/>
          </a:ln>
        </p:spPr>
      </p:pic>
      <p:pic>
        <p:nvPicPr>
          <p:cNvPr id="234" name="Picture 11" descr=""/>
          <p:cNvPicPr/>
          <p:nvPr/>
        </p:nvPicPr>
        <p:blipFill>
          <a:blip r:embed="rId2"/>
          <a:stretch/>
        </p:blipFill>
        <p:spPr>
          <a:xfrm>
            <a:off x="503280" y="863640"/>
            <a:ext cx="8076960" cy="4400280"/>
          </a:xfrm>
          <a:prstGeom prst="rect">
            <a:avLst/>
          </a:prstGeom>
          <a:noFill/>
          <a:ln w="0">
            <a:noFill/>
          </a:ln>
        </p:spPr>
      </p:pic>
      <p:pic>
        <p:nvPicPr>
          <p:cNvPr id="235" name="Picture 12" descr=""/>
          <p:cNvPicPr/>
          <p:nvPr/>
        </p:nvPicPr>
        <p:blipFill>
          <a:blip r:embed="rId3"/>
          <a:stretch/>
        </p:blipFill>
        <p:spPr>
          <a:xfrm>
            <a:off x="503280" y="863640"/>
            <a:ext cx="8076960" cy="4400280"/>
          </a:xfrm>
          <a:prstGeom prst="rect">
            <a:avLst/>
          </a:prstGeom>
          <a:noFill/>
          <a:ln w="0">
            <a:noFill/>
          </a:ln>
        </p:spPr>
      </p:pic>
      <p:pic>
        <p:nvPicPr>
          <p:cNvPr id="236" name="Picture 13" descr=""/>
          <p:cNvPicPr/>
          <p:nvPr/>
        </p:nvPicPr>
        <p:blipFill>
          <a:blip r:embed="rId4"/>
          <a:stretch/>
        </p:blipFill>
        <p:spPr>
          <a:xfrm>
            <a:off x="503280" y="863640"/>
            <a:ext cx="8076960" cy="4400280"/>
          </a:xfrm>
          <a:prstGeom prst="rect">
            <a:avLst/>
          </a:prstGeom>
          <a:noFill/>
          <a:ln w="0">
            <a:noFill/>
          </a:ln>
        </p:spPr>
      </p:pic>
      <p:pic>
        <p:nvPicPr>
          <p:cNvPr id="237" name="Picture 14" descr=""/>
          <p:cNvPicPr/>
          <p:nvPr/>
        </p:nvPicPr>
        <p:blipFill>
          <a:blip r:embed="rId5"/>
          <a:stretch/>
        </p:blipFill>
        <p:spPr>
          <a:xfrm>
            <a:off x="503280" y="863640"/>
            <a:ext cx="8076960" cy="4400280"/>
          </a:xfrm>
          <a:prstGeom prst="rect">
            <a:avLst/>
          </a:prstGeom>
          <a:noFill/>
          <a:ln w="0">
            <a:noFill/>
          </a:ln>
        </p:spPr>
      </p:pic>
    </p:spTree>
  </p:cSld>
  <p:transition spd="slow">
    <p:wipe dir="r"/>
  </p:transition>
  <p:timing>
    <p:tnLst>
      <p:par>
        <p:cTn id="654" dur="indefinite" restart="never" nodeType="tmRoot">
          <p:childTnLst>
            <p:seq>
              <p:cTn id="655" dur="indefinite" nodeType="mainSeq">
                <p:childTnLst>
                  <p:par>
                    <p:cTn id="656" nodeType="clickEffect" fill="hold">
                      <p:stCondLst>
                        <p:cond delay="indefinite"/>
                      </p:stCondLst>
                      <p:childTnLst>
                        <p:par>
                          <p:cTn id="657" nodeType="withEffect" fill="hold">
                            <p:stCondLst>
                              <p:cond delay="0"/>
                            </p:stCondLst>
                            <p:childTnLst>
                              <p:par>
                                <p:cTn id="658" nodeType="clickEffect" fill="hold" presetClass="entr" presetID="10">
                                  <p:stCondLst>
                                    <p:cond delay="0"/>
                                  </p:stCondLst>
                                  <p:childTnLst>
                                    <p:set>
                                      <p:cBhvr>
                                        <p:cTn id="659" dur="1" fill="hold">
                                          <p:stCondLst>
                                            <p:cond delay="0"/>
                                          </p:stCondLst>
                                        </p:cTn>
                                        <p:tgtEl>
                                          <p:spTgt spid="234"/>
                                        </p:tgtEl>
                                        <p:attrNameLst>
                                          <p:attrName>style.visibility</p:attrName>
                                        </p:attrNameLst>
                                      </p:cBhvr>
                                      <p:to>
                                        <p:strVal val="visible"/>
                                      </p:to>
                                    </p:set>
                                    <p:animEffect filter="fade" transition="in">
                                      <p:cBhvr additive="repl">
                                        <p:cTn id="660" dur="500"/>
                                        <p:tgtEl>
                                          <p:spTgt spid="234"/>
                                        </p:tgtEl>
                                      </p:cBhvr>
                                    </p:animEffect>
                                  </p:childTnLst>
                                </p:cTn>
                              </p:par>
                            </p:childTnLst>
                          </p:cTn>
                        </p:par>
                      </p:childTnLst>
                    </p:cTn>
                  </p:par>
                  <p:par>
                    <p:cTn id="661" nodeType="clickEffect" fill="hold">
                      <p:stCondLst>
                        <p:cond delay="indefinite"/>
                      </p:stCondLst>
                      <p:childTnLst>
                        <p:par>
                          <p:cTn id="662" nodeType="withEffect" fill="hold">
                            <p:stCondLst>
                              <p:cond delay="0"/>
                            </p:stCondLst>
                            <p:childTnLst>
                              <p:par>
                                <p:cTn id="663" nodeType="clickEffect" fill="hold" presetClass="entr" presetID="10">
                                  <p:stCondLst>
                                    <p:cond delay="0"/>
                                  </p:stCondLst>
                                  <p:childTnLst>
                                    <p:set>
                                      <p:cBhvr>
                                        <p:cTn id="664" dur="1" fill="hold">
                                          <p:stCondLst>
                                            <p:cond delay="0"/>
                                          </p:stCondLst>
                                        </p:cTn>
                                        <p:tgtEl>
                                          <p:spTgt spid="235"/>
                                        </p:tgtEl>
                                        <p:attrNameLst>
                                          <p:attrName>style.visibility</p:attrName>
                                        </p:attrNameLst>
                                      </p:cBhvr>
                                      <p:to>
                                        <p:strVal val="visible"/>
                                      </p:to>
                                    </p:set>
                                    <p:animEffect filter="fade" transition="in">
                                      <p:cBhvr additive="repl">
                                        <p:cTn id="665" dur="500"/>
                                        <p:tgtEl>
                                          <p:spTgt spid="235"/>
                                        </p:tgtEl>
                                      </p:cBhvr>
                                    </p:animEffect>
                                  </p:childTnLst>
                                </p:cTn>
                              </p:par>
                            </p:childTnLst>
                          </p:cTn>
                        </p:par>
                      </p:childTnLst>
                    </p:cTn>
                  </p:par>
                  <p:par>
                    <p:cTn id="666" nodeType="clickEffect" fill="hold">
                      <p:stCondLst>
                        <p:cond delay="indefinite"/>
                      </p:stCondLst>
                      <p:childTnLst>
                        <p:par>
                          <p:cTn id="667" nodeType="withEffect" fill="hold">
                            <p:stCondLst>
                              <p:cond delay="0"/>
                            </p:stCondLst>
                            <p:childTnLst>
                              <p:par>
                                <p:cTn id="668" nodeType="clickEffect" fill="hold" presetClass="entr" presetID="10">
                                  <p:stCondLst>
                                    <p:cond delay="0"/>
                                  </p:stCondLst>
                                  <p:childTnLst>
                                    <p:set>
                                      <p:cBhvr>
                                        <p:cTn id="669" dur="1" fill="hold">
                                          <p:stCondLst>
                                            <p:cond delay="0"/>
                                          </p:stCondLst>
                                        </p:cTn>
                                        <p:tgtEl>
                                          <p:spTgt spid="236"/>
                                        </p:tgtEl>
                                        <p:attrNameLst>
                                          <p:attrName>style.visibility</p:attrName>
                                        </p:attrNameLst>
                                      </p:cBhvr>
                                      <p:to>
                                        <p:strVal val="visible"/>
                                      </p:to>
                                    </p:set>
                                    <p:animEffect filter="fade" transition="in">
                                      <p:cBhvr additive="repl">
                                        <p:cTn id="670" dur="500"/>
                                        <p:tgtEl>
                                          <p:spTgt spid="236"/>
                                        </p:tgtEl>
                                      </p:cBhvr>
                                    </p:animEffect>
                                  </p:childTnLst>
                                </p:cTn>
                              </p:par>
                            </p:childTnLst>
                          </p:cTn>
                        </p:par>
                      </p:childTnLst>
                    </p:cTn>
                  </p:par>
                  <p:par>
                    <p:cTn id="671" nodeType="clickEffect" fill="hold">
                      <p:stCondLst>
                        <p:cond delay="indefinite"/>
                      </p:stCondLst>
                      <p:childTnLst>
                        <p:par>
                          <p:cTn id="672" nodeType="withEffect" fill="hold">
                            <p:stCondLst>
                              <p:cond delay="0"/>
                            </p:stCondLst>
                            <p:childTnLst>
                              <p:par>
                                <p:cTn id="673" nodeType="clickEffect" fill="hold" presetClass="entr" presetID="22" presetSubtype="4">
                                  <p:stCondLst>
                                    <p:cond delay="0"/>
                                  </p:stCondLst>
                                  <p:childTnLst>
                                    <p:set>
                                      <p:cBhvr>
                                        <p:cTn id="674" dur="1" fill="hold">
                                          <p:stCondLst>
                                            <p:cond delay="0"/>
                                          </p:stCondLst>
                                        </p:cTn>
                                        <p:tgtEl>
                                          <p:spTgt spid="237"/>
                                        </p:tgtEl>
                                        <p:attrNameLst>
                                          <p:attrName>style.visibility</p:attrName>
                                        </p:attrNameLst>
                                      </p:cBhvr>
                                      <p:to>
                                        <p:strVal val="visible"/>
                                      </p:to>
                                    </p:set>
                                    <p:animEffect filter="wipe(down)" transition="in">
                                      <p:cBhvr additive="repl">
                                        <p:cTn id="675"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3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prices above the shutdown price, firms produce along their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curve.</a:t>
            </a:r>
            <a:endParaRPr b="1" lang="en-CA" sz="2400" strike="noStrike" u="none">
              <a:solidFill>
                <a:srgbClr val="00468f"/>
              </a:solidFill>
              <a:effectLst/>
              <a:uFillTx/>
              <a:latin typeface="Arial"/>
            </a:endParaRPr>
          </a:p>
        </p:txBody>
      </p:sp>
      <p:pic>
        <p:nvPicPr>
          <p:cNvPr id="240" name="Picture 8" descr=""/>
          <p:cNvPicPr/>
          <p:nvPr/>
        </p:nvPicPr>
        <p:blipFill>
          <a:blip r:embed="rId1"/>
          <a:stretch/>
        </p:blipFill>
        <p:spPr>
          <a:xfrm>
            <a:off x="1044720" y="2843280"/>
            <a:ext cx="6864120" cy="3741480"/>
          </a:xfrm>
          <a:prstGeom prst="rect">
            <a:avLst/>
          </a:prstGeom>
          <a:noFill/>
          <a:ln w="0">
            <a:noFill/>
          </a:ln>
        </p:spPr>
      </p:pic>
      <p:pic>
        <p:nvPicPr>
          <p:cNvPr id="241" name="Picture 9" descr=""/>
          <p:cNvPicPr/>
          <p:nvPr/>
        </p:nvPicPr>
        <p:blipFill>
          <a:blip r:embed="rId2"/>
          <a:stretch/>
        </p:blipFill>
        <p:spPr>
          <a:xfrm>
            <a:off x="1044720" y="2843280"/>
            <a:ext cx="6864120" cy="3741480"/>
          </a:xfrm>
          <a:prstGeom prst="rect">
            <a:avLst/>
          </a:prstGeom>
          <a:noFill/>
          <a:ln w="0">
            <a:noFill/>
          </a:ln>
        </p:spPr>
      </p:pic>
      <p:pic>
        <p:nvPicPr>
          <p:cNvPr id="242" name="Picture 10" descr=""/>
          <p:cNvPicPr/>
          <p:nvPr/>
        </p:nvPicPr>
        <p:blipFill>
          <a:blip r:embed="rId3"/>
          <a:stretch/>
        </p:blipFill>
        <p:spPr>
          <a:xfrm>
            <a:off x="1044720" y="2843280"/>
            <a:ext cx="6864120" cy="3741480"/>
          </a:xfrm>
          <a:prstGeom prst="rect">
            <a:avLst/>
          </a:prstGeom>
          <a:noFill/>
          <a:ln w="0">
            <a:noFill/>
          </a:ln>
        </p:spPr>
      </p:pic>
      <p:pic>
        <p:nvPicPr>
          <p:cNvPr id="243" name="Picture 11" descr=""/>
          <p:cNvPicPr/>
          <p:nvPr/>
        </p:nvPicPr>
        <p:blipFill>
          <a:blip r:embed="rId4"/>
          <a:stretch/>
        </p:blipFill>
        <p:spPr>
          <a:xfrm>
            <a:off x="1044720" y="2843280"/>
            <a:ext cx="6864120" cy="3741480"/>
          </a:xfrm>
          <a:prstGeom prst="rect">
            <a:avLst/>
          </a:prstGeom>
          <a:noFill/>
          <a:ln w="0">
            <a:noFill/>
          </a:ln>
        </p:spPr>
      </p:pic>
    </p:spTree>
  </p:cSld>
  <p:transition spd="slow">
    <p:wipe dir="r"/>
  </p:transition>
  <p:timing>
    <p:tnLst>
      <p:par>
        <p:cTn id="676" dur="indefinite" restart="never" nodeType="tmRoot">
          <p:childTnLst>
            <p:seq>
              <p:cTn id="677" dur="indefinite" nodeType="mainSeq">
                <p:childTnLst>
                  <p:par>
                    <p:cTn id="678" nodeType="clickEffect" fill="hold">
                      <p:stCondLst>
                        <p:cond delay="0"/>
                      </p:stCondLst>
                      <p:childTnLst>
                        <p:par>
                          <p:cTn id="679" nodeType="withEffect" fill="hold">
                            <p:stCondLst>
                              <p:cond delay="0"/>
                            </p:stCondLst>
                            <p:childTnLst>
                              <p:par>
                                <p:cTn id="680" nodeType="withEffect" fill="hold" presetClass="entr" presetID="10">
                                  <p:stCondLst>
                                    <p:cond delay="0"/>
                                  </p:stCondLst>
                                  <p:childTnLst>
                                    <p:set>
                                      <p:cBhvr>
                                        <p:cTn id="681" dur="1" fill="hold">
                                          <p:stCondLst>
                                            <p:cond delay="0"/>
                                          </p:stCondLst>
                                        </p:cTn>
                                        <p:tgtEl>
                                          <p:spTgt spid="242"/>
                                        </p:tgtEl>
                                        <p:attrNameLst>
                                          <p:attrName>style.visibility</p:attrName>
                                        </p:attrNameLst>
                                      </p:cBhvr>
                                      <p:to>
                                        <p:strVal val="visible"/>
                                      </p:to>
                                    </p:set>
                                    <p:animEffect filter="fade" transition="in">
                                      <p:cBhvr additive="repl">
                                        <p:cTn id="682" dur="500"/>
                                        <p:tgtEl>
                                          <p:spTgt spid="242"/>
                                        </p:tgtEl>
                                      </p:cBhvr>
                                    </p:animEffect>
                                  </p:childTnLst>
                                </p:cTn>
                              </p:par>
                              <p:par>
                                <p:cTn id="683" nodeType="withEffect" fill="hold" presetClass="entr" presetID="10">
                                  <p:stCondLst>
                                    <p:cond delay="1000"/>
                                  </p:stCondLst>
                                  <p:childTnLst>
                                    <p:set>
                                      <p:cBhvr>
                                        <p:cTn id="684" dur="1" fill="hold">
                                          <p:stCondLst>
                                            <p:cond delay="0"/>
                                          </p:stCondLst>
                                        </p:cTn>
                                        <p:tgtEl>
                                          <p:spTgt spid="243"/>
                                        </p:tgtEl>
                                        <p:attrNameLst>
                                          <p:attrName>style.visibility</p:attrName>
                                        </p:attrNameLst>
                                      </p:cBhvr>
                                      <p:to>
                                        <p:strVal val="visible"/>
                                      </p:to>
                                    </p:set>
                                    <p:animEffect filter="fade" transition="in">
                                      <p:cBhvr additive="repl">
                                        <p:cTn id="685" dur="5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4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market supply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Below the shutdown price, it runs along the y-axis.</a:t>
            </a:r>
            <a:endParaRPr b="1" lang="en-CA" sz="2400" strike="noStrike" u="none">
              <a:solidFill>
                <a:srgbClr val="00468f"/>
              </a:solidFill>
              <a:effectLst/>
              <a:uFillTx/>
              <a:latin typeface="Arial"/>
            </a:endParaRPr>
          </a:p>
        </p:txBody>
      </p:sp>
      <p:pic>
        <p:nvPicPr>
          <p:cNvPr id="246" name="Picture 8" descr=""/>
          <p:cNvPicPr/>
          <p:nvPr/>
        </p:nvPicPr>
        <p:blipFill>
          <a:blip r:embed="rId1"/>
          <a:stretch/>
        </p:blipFill>
        <p:spPr>
          <a:xfrm>
            <a:off x="990720" y="2590920"/>
            <a:ext cx="6865560" cy="3739680"/>
          </a:xfrm>
          <a:prstGeom prst="rect">
            <a:avLst/>
          </a:prstGeom>
          <a:noFill/>
          <a:ln w="0">
            <a:noFill/>
          </a:ln>
        </p:spPr>
      </p:pic>
      <p:pic>
        <p:nvPicPr>
          <p:cNvPr id="247" name="Picture 9" descr=""/>
          <p:cNvPicPr/>
          <p:nvPr/>
        </p:nvPicPr>
        <p:blipFill>
          <a:blip r:embed="rId2"/>
          <a:stretch/>
        </p:blipFill>
        <p:spPr>
          <a:xfrm>
            <a:off x="990720" y="2590920"/>
            <a:ext cx="6865560" cy="3739680"/>
          </a:xfrm>
          <a:prstGeom prst="rect">
            <a:avLst/>
          </a:prstGeom>
          <a:noFill/>
          <a:ln w="0">
            <a:noFill/>
          </a:ln>
        </p:spPr>
      </p:pic>
      <p:pic>
        <p:nvPicPr>
          <p:cNvPr id="248" name="Picture 10" descr=""/>
          <p:cNvPicPr/>
          <p:nvPr/>
        </p:nvPicPr>
        <p:blipFill>
          <a:blip r:embed="rId3"/>
          <a:stretch/>
        </p:blipFill>
        <p:spPr>
          <a:xfrm>
            <a:off x="990720" y="2590920"/>
            <a:ext cx="6865560" cy="3739680"/>
          </a:xfrm>
          <a:prstGeom prst="rect">
            <a:avLst/>
          </a:prstGeom>
          <a:noFill/>
          <a:ln w="0">
            <a:noFill/>
          </a:ln>
        </p:spPr>
      </p:pic>
      <p:pic>
        <p:nvPicPr>
          <p:cNvPr id="249" name="Picture 11" descr=""/>
          <p:cNvPicPr/>
          <p:nvPr/>
        </p:nvPicPr>
        <p:blipFill>
          <a:blip r:embed="rId4"/>
          <a:stretch/>
        </p:blipFill>
        <p:spPr>
          <a:xfrm>
            <a:off x="990720" y="2590920"/>
            <a:ext cx="6865560" cy="3739680"/>
          </a:xfrm>
          <a:prstGeom prst="rect">
            <a:avLst/>
          </a:prstGeom>
          <a:noFill/>
          <a:ln w="0">
            <a:noFill/>
          </a:ln>
        </p:spPr>
      </p:pic>
      <p:pic>
        <p:nvPicPr>
          <p:cNvPr id="250" name="Picture 12" descr=""/>
          <p:cNvPicPr/>
          <p:nvPr/>
        </p:nvPicPr>
        <p:blipFill>
          <a:blip r:embed="rId5"/>
          <a:stretch/>
        </p:blipFill>
        <p:spPr>
          <a:xfrm>
            <a:off x="990720" y="2590920"/>
            <a:ext cx="6865560" cy="3739680"/>
          </a:xfrm>
          <a:prstGeom prst="rect">
            <a:avLst/>
          </a:prstGeom>
          <a:noFill/>
          <a:ln w="0">
            <a:noFill/>
          </a:ln>
        </p:spPr>
      </p:pic>
    </p:spTree>
  </p:cSld>
  <p:transition spd="slow">
    <p:wipe dir="r"/>
  </p:transition>
  <p:timing>
    <p:tnLst>
      <p:par>
        <p:cTn id="686" dur="indefinite" restart="never" nodeType="tmRoot">
          <p:childTnLst>
            <p:seq>
              <p:cTn id="687" dur="indefinite" nodeType="mainSeq">
                <p:childTnLst>
                  <p:par>
                    <p:cTn id="688" nodeType="clickEffect" fill="hold">
                      <p:stCondLst>
                        <p:cond delay="indefinite"/>
                      </p:stCondLst>
                      <p:childTnLst>
                        <p:par>
                          <p:cTn id="689" nodeType="withEffect" fill="hold">
                            <p:stCondLst>
                              <p:cond delay="0"/>
                            </p:stCondLst>
                            <p:childTnLst>
                              <p:par>
                                <p:cTn id="690" nodeType="clickEffect" fill="hold" presetClass="entr" presetID="22" presetSubtype="4">
                                  <p:stCondLst>
                                    <p:cond delay="0"/>
                                  </p:stCondLst>
                                  <p:childTnLst>
                                    <p:set>
                                      <p:cBhvr>
                                        <p:cTn id="691" dur="1" fill="hold">
                                          <p:stCondLst>
                                            <p:cond delay="0"/>
                                          </p:stCondLst>
                                        </p:cTn>
                                        <p:tgtEl>
                                          <p:spTgt spid="250"/>
                                        </p:tgtEl>
                                        <p:attrNameLst>
                                          <p:attrName>style.visibility</p:attrName>
                                        </p:attrNameLst>
                                      </p:cBhvr>
                                      <p:to>
                                        <p:strVal val="visible"/>
                                      </p:to>
                                    </p:set>
                                    <p:animEffect filter="wipe(down)" transition="in">
                                      <p:cBhvr additive="repl">
                                        <p:cTn id="692" dur="1000"/>
                                        <p:tgtEl>
                                          <p:spTgt spid="250"/>
                                        </p:tgtEl>
                                      </p:cBhvr>
                                    </p:animEffect>
                                  </p:childTnLst>
                                </p:cTn>
                              </p:par>
                            </p:childTnLst>
                          </p:cTn>
                        </p:par>
                      </p:childTnLst>
                    </p:cTn>
                  </p:par>
                  <p:par>
                    <p:cTn id="693" nodeType="clickEffect" fill="hold">
                      <p:stCondLst>
                        <p:cond delay="indefinite"/>
                      </p:stCondLst>
                      <p:childTnLst>
                        <p:par>
                          <p:cTn id="694" nodeType="withEffect" fill="hold">
                            <p:stCondLst>
                              <p:cond delay="0"/>
                            </p:stCondLst>
                            <p:childTnLst>
                              <p:par>
                                <p:cTn id="695" nodeType="clickEffect" fill="hold" presetClass="entr" presetID="22" presetSubtype="8">
                                  <p:stCondLst>
                                    <p:cond delay="0"/>
                                  </p:stCondLst>
                                  <p:childTnLst>
                                    <p:set>
                                      <p:cBhvr>
                                        <p:cTn id="696" dur="1" fill="hold">
                                          <p:stCondLst>
                                            <p:cond delay="0"/>
                                          </p:stCondLst>
                                        </p:cTn>
                                        <p:tgtEl>
                                          <p:spTgt spid="245">
                                            <p:txEl>
                                              <p:pRg st="1" end="1"/>
                                            </p:txEl>
                                          </p:spTgt>
                                        </p:tgtEl>
                                        <p:attrNameLst>
                                          <p:attrName>style.visibility</p:attrName>
                                        </p:attrNameLst>
                                      </p:cBhvr>
                                      <p:to>
                                        <p:strVal val="visible"/>
                                      </p:to>
                                    </p:set>
                                    <p:animEffect filter="wipe(left)" transition="in">
                                      <p:cBhvr additive="repl">
                                        <p:cTn id="697" dur="500"/>
                                        <p:tgtEl>
                                          <p:spTgt spid="24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5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At the shutdown price, it is perfectly elastic.</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Above the shutdown price, it slopes upward.</a:t>
            </a:r>
            <a:endParaRPr b="1" lang="en-CA" sz="2400" strike="noStrike" u="none">
              <a:solidFill>
                <a:srgbClr val="00468f"/>
              </a:solidFill>
              <a:effectLst/>
              <a:uFillTx/>
              <a:latin typeface="Arial"/>
            </a:endParaRPr>
          </a:p>
        </p:txBody>
      </p:sp>
      <p:pic>
        <p:nvPicPr>
          <p:cNvPr id="253" name="Picture 8" descr=""/>
          <p:cNvPicPr/>
          <p:nvPr/>
        </p:nvPicPr>
        <p:blipFill>
          <a:blip r:embed="rId1"/>
          <a:stretch/>
        </p:blipFill>
        <p:spPr>
          <a:xfrm>
            <a:off x="990720" y="2590920"/>
            <a:ext cx="6865560" cy="3739680"/>
          </a:xfrm>
          <a:prstGeom prst="rect">
            <a:avLst/>
          </a:prstGeom>
          <a:noFill/>
          <a:ln w="0">
            <a:noFill/>
          </a:ln>
        </p:spPr>
      </p:pic>
      <p:pic>
        <p:nvPicPr>
          <p:cNvPr id="254" name="Picture 9" descr=""/>
          <p:cNvPicPr/>
          <p:nvPr/>
        </p:nvPicPr>
        <p:blipFill>
          <a:blip r:embed="rId2"/>
          <a:stretch/>
        </p:blipFill>
        <p:spPr>
          <a:xfrm>
            <a:off x="990720" y="2590920"/>
            <a:ext cx="6865560" cy="3739680"/>
          </a:xfrm>
          <a:prstGeom prst="rect">
            <a:avLst/>
          </a:prstGeom>
          <a:noFill/>
          <a:ln w="0">
            <a:noFill/>
          </a:ln>
        </p:spPr>
      </p:pic>
      <p:pic>
        <p:nvPicPr>
          <p:cNvPr id="255" name="Picture 10" descr=""/>
          <p:cNvPicPr/>
          <p:nvPr/>
        </p:nvPicPr>
        <p:blipFill>
          <a:blip r:embed="rId3"/>
          <a:stretch/>
        </p:blipFill>
        <p:spPr>
          <a:xfrm>
            <a:off x="990720" y="2590920"/>
            <a:ext cx="6865560" cy="3739680"/>
          </a:xfrm>
          <a:prstGeom prst="rect">
            <a:avLst/>
          </a:prstGeom>
          <a:noFill/>
          <a:ln w="0">
            <a:noFill/>
          </a:ln>
        </p:spPr>
      </p:pic>
      <p:pic>
        <p:nvPicPr>
          <p:cNvPr id="256" name="Picture 11" descr=""/>
          <p:cNvPicPr/>
          <p:nvPr/>
        </p:nvPicPr>
        <p:blipFill>
          <a:blip r:embed="rId4"/>
          <a:stretch/>
        </p:blipFill>
        <p:spPr>
          <a:xfrm>
            <a:off x="990720" y="2590920"/>
            <a:ext cx="6865560" cy="3739680"/>
          </a:xfrm>
          <a:prstGeom prst="rect">
            <a:avLst/>
          </a:prstGeom>
          <a:noFill/>
          <a:ln w="0">
            <a:noFill/>
          </a:ln>
        </p:spPr>
      </p:pic>
      <p:pic>
        <p:nvPicPr>
          <p:cNvPr id="257" name="Picture 12" descr=""/>
          <p:cNvPicPr/>
          <p:nvPr/>
        </p:nvPicPr>
        <p:blipFill>
          <a:blip r:embed="rId5"/>
          <a:stretch/>
        </p:blipFill>
        <p:spPr>
          <a:xfrm>
            <a:off x="990720" y="2590920"/>
            <a:ext cx="6865560" cy="3739680"/>
          </a:xfrm>
          <a:prstGeom prst="rect">
            <a:avLst/>
          </a:prstGeom>
          <a:noFill/>
          <a:ln w="0">
            <a:noFill/>
          </a:ln>
        </p:spPr>
      </p:pic>
    </p:spTree>
  </p:cSld>
  <p:transition spd="slow">
    <p:wipe dir="r"/>
  </p:transition>
  <p:timing>
    <p:tnLst>
      <p:par>
        <p:cTn id="698" dur="indefinite" restart="never" nodeType="tmRoot">
          <p:childTnLst>
            <p:seq>
              <p:cTn id="699" dur="indefinite" nodeType="mainSeq">
                <p:childTnLst>
                  <p:par>
                    <p:cTn id="700" nodeType="clickEffect" fill="hold">
                      <p:stCondLst>
                        <p:cond delay="indefinite"/>
                      </p:stCondLst>
                      <p:childTnLst>
                        <p:par>
                          <p:cTn id="701" nodeType="withEffect" fill="hold">
                            <p:stCondLst>
                              <p:cond delay="0"/>
                            </p:stCondLst>
                            <p:childTnLst>
                              <p:par>
                                <p:cTn id="702" nodeType="clickEffect" fill="hold" presetClass="entr" presetID="22" presetSubtype="8">
                                  <p:stCondLst>
                                    <p:cond delay="0"/>
                                  </p:stCondLst>
                                  <p:childTnLst>
                                    <p:set>
                                      <p:cBhvr>
                                        <p:cTn id="703" dur="1" fill="hold">
                                          <p:stCondLst>
                                            <p:cond delay="0"/>
                                          </p:stCondLst>
                                        </p:cTn>
                                        <p:tgtEl>
                                          <p:spTgt spid="252">
                                            <p:txEl>
                                              <p:pRg st="1" end="1"/>
                                            </p:txEl>
                                          </p:spTgt>
                                        </p:tgtEl>
                                        <p:attrNameLst>
                                          <p:attrName>style.visibility</p:attrName>
                                        </p:attrNameLst>
                                      </p:cBhvr>
                                      <p:to>
                                        <p:strVal val="visible"/>
                                      </p:to>
                                    </p:set>
                                    <p:animEffect filter="wipe(left)" transition="in">
                                      <p:cBhvr additive="repl">
                                        <p:cTn id="704" dur="500"/>
                                        <p:tgtEl>
                                          <p:spTgt spid="252">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5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Short-Run Equilibrium in Normal Times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Market demand and market supply determine the market price and quantity bought and sold.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Figure 15.7 on the next slide illustrates short-run equilibrium when the firm makes zero economic profit.</a:t>
            </a:r>
            <a:endParaRPr b="1" lang="en-CA" sz="2400" strike="noStrike" u="none">
              <a:solidFill>
                <a:srgbClr val="00468f"/>
              </a:solidFill>
              <a:effectLst/>
              <a:uFillTx/>
              <a:latin typeface="Arial"/>
            </a:endParaRPr>
          </a:p>
        </p:txBody>
      </p:sp>
    </p:spTree>
  </p:cSld>
  <p:transition spd="slow">
    <p:wipe dir="r"/>
  </p:transition>
  <p:timing>
    <p:tnLst>
      <p:par>
        <p:cTn id="705" dur="indefinite" restart="never" nodeType="tmRoot">
          <p:childTnLst>
            <p:seq>
              <p:cTn id="706" dur="indefinite" nodeType="mainSeq">
                <p:childTnLst>
                  <p:par>
                    <p:cTn id="707" nodeType="clickEffect" fill="hold">
                      <p:stCondLst>
                        <p:cond delay="indefinite"/>
                      </p:stCondLst>
                      <p:childTnLst>
                        <p:par>
                          <p:cTn id="708" nodeType="withEffect" fill="hold">
                            <p:stCondLst>
                              <p:cond delay="0"/>
                            </p:stCondLst>
                            <p:childTnLst>
                              <p:par>
                                <p:cTn id="709" nodeType="clickEffect" fill="hold" presetClass="entr" presetID="22" presetSubtype="8">
                                  <p:stCondLst>
                                    <p:cond delay="0"/>
                                  </p:stCondLst>
                                  <p:childTnLst>
                                    <p:set>
                                      <p:cBhvr>
                                        <p:cTn id="710" dur="1" fill="hold">
                                          <p:stCondLst>
                                            <p:cond delay="0"/>
                                          </p:stCondLst>
                                        </p:cTn>
                                        <p:tgtEl>
                                          <p:spTgt spid="259">
                                            <p:txEl>
                                              <p:pRg st="1" end="1"/>
                                            </p:txEl>
                                          </p:spTgt>
                                        </p:tgtEl>
                                        <p:attrNameLst>
                                          <p:attrName>style.visibility</p:attrName>
                                        </p:attrNameLst>
                                      </p:cBhvr>
                                      <p:to>
                                        <p:strVal val="visible"/>
                                      </p:to>
                                    </p:set>
                                    <p:animEffect filter="wipe(left)" transition="in">
                                      <p:cBhvr additive="repl">
                                        <p:cTn id="711" dur="500"/>
                                        <p:tgtEl>
                                          <p:spTgt spid="259">
                                            <p:txEl>
                                              <p:pRg st="1" end="1"/>
                                            </p:txEl>
                                          </p:spTgt>
                                        </p:tgtEl>
                                      </p:cBhvr>
                                    </p:animEffect>
                                  </p:childTnLst>
                                </p:cTn>
                              </p:par>
                            </p:childTnLst>
                          </p:cTn>
                        </p:par>
                      </p:childTnLst>
                    </p:cTn>
                  </p:par>
                  <p:par>
                    <p:cTn id="712" nodeType="clickEffect" fill="hold">
                      <p:stCondLst>
                        <p:cond delay="indefinite"/>
                      </p:stCondLst>
                      <p:childTnLst>
                        <p:par>
                          <p:cTn id="713" nodeType="withEffect" fill="hold">
                            <p:stCondLst>
                              <p:cond delay="0"/>
                            </p:stCondLst>
                            <p:childTnLst>
                              <p:par>
                                <p:cTn id="714" nodeType="clickEffect" fill="hold" presetClass="entr" presetID="22" presetSubtype="8">
                                  <p:stCondLst>
                                    <p:cond delay="0"/>
                                  </p:stCondLst>
                                  <p:childTnLst>
                                    <p:set>
                                      <p:cBhvr>
                                        <p:cTn id="715" dur="1" fill="hold">
                                          <p:stCondLst>
                                            <p:cond delay="0"/>
                                          </p:stCondLst>
                                        </p:cTn>
                                        <p:tgtEl>
                                          <p:spTgt spid="259">
                                            <p:txEl>
                                              <p:pRg st="2" end="2"/>
                                            </p:txEl>
                                          </p:spTgt>
                                        </p:tgtEl>
                                        <p:attrNameLst>
                                          <p:attrName>style.visibility</p:attrName>
                                        </p:attrNameLst>
                                      </p:cBhvr>
                                      <p:to>
                                        <p:strVal val="visible"/>
                                      </p:to>
                                    </p:set>
                                    <p:animEffect filter="wipe(left)" transition="in">
                                      <p:cBhvr additive="repl">
                                        <p:cTn id="716" dur="500"/>
                                        <p:tgtEl>
                                          <p:spTgt spid="25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61"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(a), with market supply curve, </a:t>
            </a:r>
            <a:r>
              <a:rPr b="0" i="1" lang="en-US" sz="2400" strike="noStrike" u="none">
                <a:solidFill>
                  <a:srgbClr val="000000"/>
                </a:solidFill>
                <a:effectLst/>
                <a:uFillTx/>
                <a:latin typeface="Arial"/>
                <a:ea typeface="ＭＳ Ｐゴシック"/>
              </a:rPr>
              <a:t>S, </a:t>
            </a:r>
            <a:r>
              <a:rPr b="0" lang="en-US" sz="2400" strike="noStrike" u="none">
                <a:solidFill>
                  <a:srgbClr val="000000"/>
                </a:solidFill>
                <a:effectLst/>
                <a:uFillTx/>
                <a:latin typeface="Arial"/>
                <a:ea typeface="ＭＳ Ｐゴシック"/>
              </a:rPr>
              <a:t>and market demand curve,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1</a:t>
            </a:r>
            <a:r>
              <a:rPr b="0" lang="en-US" sz="2400" strike="noStrike" u="none">
                <a:solidFill>
                  <a:srgbClr val="000000"/>
                </a:solidFill>
                <a:effectLst/>
                <a:uFillTx/>
                <a:latin typeface="Arial"/>
                <a:ea typeface="ＭＳ Ｐゴシック"/>
              </a:rPr>
              <a:t>, the market price is $5 a can.</a:t>
            </a:r>
            <a:endParaRPr b="1" lang="en-CA" sz="2400" strike="noStrike" u="none">
              <a:solidFill>
                <a:srgbClr val="00468f"/>
              </a:solidFill>
              <a:effectLst/>
              <a:uFillTx/>
              <a:latin typeface="Arial"/>
            </a:endParaRPr>
          </a:p>
        </p:txBody>
      </p:sp>
      <p:pic>
        <p:nvPicPr>
          <p:cNvPr id="262" name="Picture 8" descr=""/>
          <p:cNvPicPr/>
          <p:nvPr/>
        </p:nvPicPr>
        <p:blipFill>
          <a:blip r:embed="rId1"/>
          <a:stretch/>
        </p:blipFill>
        <p:spPr>
          <a:xfrm>
            <a:off x="1066680" y="2971800"/>
            <a:ext cx="6781320" cy="3520800"/>
          </a:xfrm>
          <a:prstGeom prst="rect">
            <a:avLst/>
          </a:prstGeom>
          <a:noFill/>
          <a:ln w="0">
            <a:noFill/>
          </a:ln>
        </p:spPr>
      </p:pic>
      <p:pic>
        <p:nvPicPr>
          <p:cNvPr id="263" name="Picture 9" descr=""/>
          <p:cNvPicPr/>
          <p:nvPr/>
        </p:nvPicPr>
        <p:blipFill>
          <a:blip r:embed="rId2"/>
          <a:stretch/>
        </p:blipFill>
        <p:spPr>
          <a:xfrm>
            <a:off x="1066680" y="2971800"/>
            <a:ext cx="6781320" cy="3520800"/>
          </a:xfrm>
          <a:prstGeom prst="rect">
            <a:avLst/>
          </a:prstGeom>
          <a:noFill/>
          <a:ln w="0">
            <a:noFill/>
          </a:ln>
        </p:spPr>
      </p:pic>
      <p:pic>
        <p:nvPicPr>
          <p:cNvPr id="264" name="Picture 10" descr=""/>
          <p:cNvPicPr/>
          <p:nvPr/>
        </p:nvPicPr>
        <p:blipFill>
          <a:blip r:embed="rId3"/>
          <a:stretch/>
        </p:blipFill>
        <p:spPr>
          <a:xfrm>
            <a:off x="1066680" y="2971800"/>
            <a:ext cx="6781320" cy="3520800"/>
          </a:xfrm>
          <a:prstGeom prst="rect">
            <a:avLst/>
          </a:prstGeom>
          <a:noFill/>
          <a:ln w="0">
            <a:noFill/>
          </a:ln>
        </p:spPr>
      </p:pic>
      <p:pic>
        <p:nvPicPr>
          <p:cNvPr id="265" name="Picture 11" descr=""/>
          <p:cNvPicPr/>
          <p:nvPr/>
        </p:nvPicPr>
        <p:blipFill>
          <a:blip r:embed="rId4"/>
          <a:stretch/>
        </p:blipFill>
        <p:spPr>
          <a:xfrm>
            <a:off x="1066680" y="2971800"/>
            <a:ext cx="6781320" cy="3520800"/>
          </a:xfrm>
          <a:prstGeom prst="rect">
            <a:avLst/>
          </a:prstGeom>
          <a:noFill/>
          <a:ln w="0">
            <a:noFill/>
          </a:ln>
        </p:spPr>
      </p:pic>
    </p:spTree>
  </p:cSld>
  <p:transition spd="slow">
    <p:wipe dir="r"/>
  </p:transition>
  <p:timing>
    <p:tnLst>
      <p:par>
        <p:cTn id="717" dur="indefinite" restart="never" nodeType="tmRoot">
          <p:childTnLst>
            <p:seq>
              <p:cTn id="718" dur="indefinite" nodeType="mainSeq">
                <p:childTnLst>
                  <p:par>
                    <p:cTn id="719" nodeType="clickEffect" fill="hold">
                      <p:stCondLst>
                        <p:cond delay="0"/>
                      </p:stCondLst>
                      <p:childTnLst>
                        <p:par>
                          <p:cTn id="720" nodeType="withEffect" fill="hold">
                            <p:stCondLst>
                              <p:cond delay="0"/>
                            </p:stCondLst>
                            <p:childTnLst>
                              <p:par>
                                <p:cTn id="721" nodeType="withEffect" fill="hold" presetClass="entr" presetID="22" presetSubtype="8">
                                  <p:stCondLst>
                                    <p:cond delay="0"/>
                                  </p:stCondLst>
                                  <p:childTnLst>
                                    <p:set>
                                      <p:cBhvr>
                                        <p:cTn id="722" dur="1" fill="hold">
                                          <p:stCondLst>
                                            <p:cond delay="0"/>
                                          </p:stCondLst>
                                        </p:cTn>
                                        <p:tgtEl>
                                          <p:spTgt spid="263"/>
                                        </p:tgtEl>
                                        <p:attrNameLst>
                                          <p:attrName>style.visibility</p:attrName>
                                        </p:attrNameLst>
                                      </p:cBhvr>
                                      <p:to>
                                        <p:strVal val="visible"/>
                                      </p:to>
                                    </p:set>
                                    <p:animEffect filter="wipe(left)" transition="in">
                                      <p:cBhvr additive="repl">
                                        <p:cTn id="723" dur="1000"/>
                                        <p:tgtEl>
                                          <p:spTgt spid="263"/>
                                        </p:tgtEl>
                                      </p:cBhvr>
                                    </p:animEffect>
                                  </p:childTnLst>
                                </p:cTn>
                              </p:par>
                              <p:par>
                                <p:cTn id="724" nodeType="withEffect" fill="hold" presetClass="entr" presetID="22" presetSubtype="8">
                                  <p:stCondLst>
                                    <p:cond delay="1400"/>
                                  </p:stCondLst>
                                  <p:childTnLst>
                                    <p:set>
                                      <p:cBhvr>
                                        <p:cTn id="725" dur="1" fill="hold">
                                          <p:stCondLst>
                                            <p:cond delay="0"/>
                                          </p:stCondLst>
                                        </p:cTn>
                                        <p:tgtEl>
                                          <p:spTgt spid="264"/>
                                        </p:tgtEl>
                                        <p:attrNameLst>
                                          <p:attrName>style.visibility</p:attrName>
                                        </p:attrNameLst>
                                      </p:cBhvr>
                                      <p:to>
                                        <p:strVal val="visible"/>
                                      </p:to>
                                    </p:set>
                                    <p:animEffect filter="wipe(left)" transition="in">
                                      <p:cBhvr additive="repl">
                                        <p:cTn id="726" dur="1000"/>
                                        <p:tgtEl>
                                          <p:spTgt spid="264"/>
                                        </p:tgtEl>
                                      </p:cBhvr>
                                    </p:animEffect>
                                  </p:childTnLst>
                                </p:cTn>
                              </p:par>
                              <p:par>
                                <p:cTn id="727" nodeType="withEffect" fill="hold" presetClass="entr" presetID="10">
                                  <p:stCondLst>
                                    <p:cond delay="2700"/>
                                  </p:stCondLst>
                                  <p:childTnLst>
                                    <p:set>
                                      <p:cBhvr>
                                        <p:cTn id="728" dur="1" fill="hold">
                                          <p:stCondLst>
                                            <p:cond delay="0"/>
                                          </p:stCondLst>
                                        </p:cTn>
                                        <p:tgtEl>
                                          <p:spTgt spid="265"/>
                                        </p:tgtEl>
                                        <p:attrNameLst>
                                          <p:attrName>style.visibility</p:attrName>
                                        </p:attrNameLst>
                                      </p:cBhvr>
                                      <p:to>
                                        <p:strVal val="visible"/>
                                      </p:to>
                                    </p:set>
                                    <p:animEffect filter="fade" transition="in">
                                      <p:cBhvr additive="repl">
                                        <p:cTn id="729" dur="5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66" name="Picture 10" descr=""/>
          <p:cNvPicPr/>
          <p:nvPr/>
        </p:nvPicPr>
        <p:blipFill>
          <a:blip r:embed="rId1"/>
          <a:stretch/>
        </p:blipFill>
        <p:spPr>
          <a:xfrm>
            <a:off x="324000" y="936720"/>
            <a:ext cx="8476920" cy="4400280"/>
          </a:xfrm>
          <a:prstGeom prst="rect">
            <a:avLst/>
          </a:prstGeom>
          <a:noFill/>
          <a:ln w="0">
            <a:noFill/>
          </a:ln>
        </p:spPr>
      </p:pic>
      <p:pic>
        <p:nvPicPr>
          <p:cNvPr id="267" name="Picture 11" descr=""/>
          <p:cNvPicPr/>
          <p:nvPr/>
        </p:nvPicPr>
        <p:blipFill>
          <a:blip r:embed="rId2"/>
          <a:stretch/>
        </p:blipFill>
        <p:spPr>
          <a:xfrm>
            <a:off x="324000" y="936720"/>
            <a:ext cx="8476920" cy="4400280"/>
          </a:xfrm>
          <a:prstGeom prst="rect">
            <a:avLst/>
          </a:prstGeom>
          <a:noFill/>
          <a:ln w="0">
            <a:noFill/>
          </a:ln>
        </p:spPr>
      </p:pic>
      <p:pic>
        <p:nvPicPr>
          <p:cNvPr id="268" name="Picture 18" descr=""/>
          <p:cNvPicPr/>
          <p:nvPr/>
        </p:nvPicPr>
        <p:blipFill>
          <a:blip r:embed="rId3"/>
          <a:stretch/>
        </p:blipFill>
        <p:spPr>
          <a:xfrm>
            <a:off x="324000" y="936720"/>
            <a:ext cx="8476920" cy="4400280"/>
          </a:xfrm>
          <a:prstGeom prst="rect">
            <a:avLst/>
          </a:prstGeom>
          <a:noFill/>
          <a:ln w="0">
            <a:noFill/>
          </a:ln>
        </p:spPr>
      </p:pic>
      <p:pic>
        <p:nvPicPr>
          <p:cNvPr id="269" name="Picture 19" descr=""/>
          <p:cNvPicPr/>
          <p:nvPr/>
        </p:nvPicPr>
        <p:blipFill>
          <a:blip r:embed="rId4"/>
          <a:stretch/>
        </p:blipFill>
        <p:spPr>
          <a:xfrm>
            <a:off x="324000" y="936720"/>
            <a:ext cx="8476920" cy="4400280"/>
          </a:xfrm>
          <a:prstGeom prst="rect">
            <a:avLst/>
          </a:prstGeom>
          <a:noFill/>
          <a:ln w="0">
            <a:noFill/>
          </a:ln>
        </p:spPr>
      </p:pic>
      <p:pic>
        <p:nvPicPr>
          <p:cNvPr id="270" name="Picture 20" descr=""/>
          <p:cNvPicPr/>
          <p:nvPr/>
        </p:nvPicPr>
        <p:blipFill>
          <a:blip r:embed="rId5"/>
          <a:stretch/>
        </p:blipFill>
        <p:spPr>
          <a:xfrm>
            <a:off x="324000" y="936720"/>
            <a:ext cx="8476920" cy="4400280"/>
          </a:xfrm>
          <a:prstGeom prst="rect">
            <a:avLst/>
          </a:prstGeom>
          <a:noFill/>
          <a:ln w="0">
            <a:noFill/>
          </a:ln>
        </p:spPr>
      </p:pic>
      <p:pic>
        <p:nvPicPr>
          <p:cNvPr id="271" name="Picture 21" descr=""/>
          <p:cNvPicPr/>
          <p:nvPr/>
        </p:nvPicPr>
        <p:blipFill>
          <a:blip r:embed="rId6"/>
          <a:stretch/>
        </p:blipFill>
        <p:spPr>
          <a:xfrm>
            <a:off x="324000" y="936720"/>
            <a:ext cx="8476920" cy="4400280"/>
          </a:xfrm>
          <a:prstGeom prst="rect">
            <a:avLst/>
          </a:prstGeom>
          <a:noFill/>
          <a:ln w="0">
            <a:noFill/>
          </a:ln>
        </p:spPr>
      </p:pic>
      <p:pic>
        <p:nvPicPr>
          <p:cNvPr id="272" name="Picture 22" descr=""/>
          <p:cNvPicPr/>
          <p:nvPr/>
        </p:nvPicPr>
        <p:blipFill>
          <a:blip r:embed="rId7"/>
          <a:stretch/>
        </p:blipFill>
        <p:spPr>
          <a:xfrm>
            <a:off x="324000" y="936720"/>
            <a:ext cx="8476920" cy="4400280"/>
          </a:xfrm>
          <a:prstGeom prst="rect">
            <a:avLst/>
          </a:prstGeom>
          <a:noFill/>
          <a:ln w="0">
            <a:noFill/>
          </a:ln>
        </p:spPr>
      </p:pic>
      <p:pic>
        <p:nvPicPr>
          <p:cNvPr id="273" name="Picture 23" descr=""/>
          <p:cNvPicPr/>
          <p:nvPr/>
        </p:nvPicPr>
        <p:blipFill>
          <a:blip r:embed="rId8"/>
          <a:stretch/>
        </p:blipFill>
        <p:spPr>
          <a:xfrm>
            <a:off x="324000" y="936720"/>
            <a:ext cx="8476920" cy="4400280"/>
          </a:xfrm>
          <a:prstGeom prst="rect">
            <a:avLst/>
          </a:prstGeom>
          <a:noFill/>
          <a:ln w="0">
            <a:noFill/>
          </a:ln>
        </p:spPr>
      </p:pic>
    </p:spTree>
  </p:cSld>
  <p:transition spd="slow">
    <p:wipe dir="r"/>
  </p:transition>
  <p:timing>
    <p:tnLst>
      <p:par>
        <p:cTn id="730" dur="indefinite" restart="never" nodeType="tmRoot">
          <p:childTnLst>
            <p:seq>
              <p:cTn id="731" dur="indefinite" nodeType="mainSeq">
                <p:childTnLst>
                  <p:par>
                    <p:cTn id="732" nodeType="clickEffect" fill="hold">
                      <p:stCondLst>
                        <p:cond delay="indefinite"/>
                      </p:stCondLst>
                      <p:childTnLst>
                        <p:par>
                          <p:cTn id="733" nodeType="withEffect" fill="hold">
                            <p:stCondLst>
                              <p:cond delay="0"/>
                            </p:stCondLst>
                            <p:childTnLst>
                              <p:par>
                                <p:cTn id="734" nodeType="clickEffect" fill="hold" presetClass="entr" presetID="22" presetSubtype="8">
                                  <p:stCondLst>
                                    <p:cond delay="0"/>
                                  </p:stCondLst>
                                  <p:childTnLst>
                                    <p:set>
                                      <p:cBhvr>
                                        <p:cTn id="735" dur="1" fill="hold">
                                          <p:stCondLst>
                                            <p:cond delay="0"/>
                                          </p:stCondLst>
                                        </p:cTn>
                                        <p:tgtEl>
                                          <p:spTgt spid="267"/>
                                        </p:tgtEl>
                                        <p:attrNameLst>
                                          <p:attrName>style.visibility</p:attrName>
                                        </p:attrNameLst>
                                      </p:cBhvr>
                                      <p:to>
                                        <p:strVal val="visible"/>
                                      </p:to>
                                    </p:set>
                                    <p:animEffect filter="wipe(left)" transition="in">
                                      <p:cBhvr additive="repl">
                                        <p:cTn id="736" dur="1000"/>
                                        <p:tgtEl>
                                          <p:spTgt spid="267"/>
                                        </p:tgtEl>
                                      </p:cBhvr>
                                    </p:animEffect>
                                  </p:childTnLst>
                                </p:cTn>
                              </p:par>
                            </p:childTnLst>
                          </p:cTn>
                        </p:par>
                      </p:childTnLst>
                    </p:cTn>
                  </p:par>
                  <p:par>
                    <p:cTn id="737" nodeType="clickEffect" fill="hold">
                      <p:stCondLst>
                        <p:cond delay="indefinite"/>
                      </p:stCondLst>
                      <p:childTnLst>
                        <p:par>
                          <p:cTn id="738" nodeType="withEffect" fill="hold">
                            <p:stCondLst>
                              <p:cond delay="0"/>
                            </p:stCondLst>
                            <p:childTnLst>
                              <p:par>
                                <p:cTn id="739" nodeType="clickEffect" fill="hold" presetClass="entr" presetID="22" presetSubtype="8">
                                  <p:stCondLst>
                                    <p:cond delay="0"/>
                                  </p:stCondLst>
                                  <p:childTnLst>
                                    <p:set>
                                      <p:cBhvr>
                                        <p:cTn id="740" dur="1" fill="hold">
                                          <p:stCondLst>
                                            <p:cond delay="0"/>
                                          </p:stCondLst>
                                        </p:cTn>
                                        <p:tgtEl>
                                          <p:spTgt spid="268"/>
                                        </p:tgtEl>
                                        <p:attrNameLst>
                                          <p:attrName>style.visibility</p:attrName>
                                        </p:attrNameLst>
                                      </p:cBhvr>
                                      <p:to>
                                        <p:strVal val="visible"/>
                                      </p:to>
                                    </p:set>
                                    <p:animEffect filter="wipe(left)" transition="in">
                                      <p:cBhvr additive="repl">
                                        <p:cTn id="741" dur="1000"/>
                                        <p:tgtEl>
                                          <p:spTgt spid="268"/>
                                        </p:tgtEl>
                                      </p:cBhvr>
                                    </p:animEffect>
                                  </p:childTnLst>
                                </p:cTn>
                              </p:par>
                            </p:childTnLst>
                          </p:cTn>
                        </p:par>
                      </p:childTnLst>
                    </p:cTn>
                  </p:par>
                  <p:par>
                    <p:cTn id="742" nodeType="clickEffect" fill="hold">
                      <p:stCondLst>
                        <p:cond delay="indefinite"/>
                      </p:stCondLst>
                      <p:childTnLst>
                        <p:par>
                          <p:cTn id="743" nodeType="withEffect" fill="hold">
                            <p:stCondLst>
                              <p:cond delay="0"/>
                            </p:stCondLst>
                            <p:childTnLst>
                              <p:par>
                                <p:cTn id="744" nodeType="clickEffect" fill="hold" presetClass="entr" presetID="10">
                                  <p:stCondLst>
                                    <p:cond delay="0"/>
                                  </p:stCondLst>
                                  <p:childTnLst>
                                    <p:set>
                                      <p:cBhvr>
                                        <p:cTn id="745" dur="1" fill="hold">
                                          <p:stCondLst>
                                            <p:cond delay="0"/>
                                          </p:stCondLst>
                                        </p:cTn>
                                        <p:tgtEl>
                                          <p:spTgt spid="269"/>
                                        </p:tgtEl>
                                        <p:attrNameLst>
                                          <p:attrName>style.visibility</p:attrName>
                                        </p:attrNameLst>
                                      </p:cBhvr>
                                      <p:to>
                                        <p:strVal val="visible"/>
                                      </p:to>
                                    </p:set>
                                    <p:animEffect filter="fade" transition="in">
                                      <p:cBhvr additive="repl">
                                        <p:cTn id="746" dur="500"/>
                                        <p:tgtEl>
                                          <p:spTgt spid="269"/>
                                        </p:tgtEl>
                                      </p:cBhvr>
                                    </p:animEffect>
                                  </p:childTnLst>
                                </p:cTn>
                              </p:par>
                            </p:childTnLst>
                          </p:cTn>
                        </p:par>
                      </p:childTnLst>
                    </p:cTn>
                  </p:par>
                  <p:par>
                    <p:cTn id="747" nodeType="clickEffect" fill="hold">
                      <p:stCondLst>
                        <p:cond delay="indefinite"/>
                      </p:stCondLst>
                      <p:childTnLst>
                        <p:par>
                          <p:cTn id="748" nodeType="withEffect" fill="hold">
                            <p:stCondLst>
                              <p:cond delay="0"/>
                            </p:stCondLst>
                            <p:childTnLst>
                              <p:par>
                                <p:cTn id="749" nodeType="clickEffect" fill="hold" presetClass="entr" presetID="22" presetSubtype="8">
                                  <p:stCondLst>
                                    <p:cond delay="0"/>
                                  </p:stCondLst>
                                  <p:childTnLst>
                                    <p:set>
                                      <p:cBhvr>
                                        <p:cTn id="750" dur="1" fill="hold">
                                          <p:stCondLst>
                                            <p:cond delay="0"/>
                                          </p:stCondLst>
                                        </p:cTn>
                                        <p:tgtEl>
                                          <p:spTgt spid="270"/>
                                        </p:tgtEl>
                                        <p:attrNameLst>
                                          <p:attrName>style.visibility</p:attrName>
                                        </p:attrNameLst>
                                      </p:cBhvr>
                                      <p:to>
                                        <p:strVal val="visible"/>
                                      </p:to>
                                    </p:set>
                                    <p:animEffect filter="wipe(left)" transition="in">
                                      <p:cBhvr additive="repl">
                                        <p:cTn id="751" dur="1000"/>
                                        <p:tgtEl>
                                          <p:spTgt spid="270"/>
                                        </p:tgtEl>
                                      </p:cBhvr>
                                    </p:animEffect>
                                  </p:childTnLst>
                                </p:cTn>
                              </p:par>
                            </p:childTnLst>
                          </p:cTn>
                        </p:par>
                      </p:childTnLst>
                    </p:cTn>
                  </p:par>
                  <p:par>
                    <p:cTn id="752" nodeType="clickEffect" fill="hold">
                      <p:stCondLst>
                        <p:cond delay="indefinite"/>
                      </p:stCondLst>
                      <p:childTnLst>
                        <p:par>
                          <p:cTn id="753" nodeType="withEffect" fill="hold">
                            <p:stCondLst>
                              <p:cond delay="0"/>
                            </p:stCondLst>
                            <p:childTnLst>
                              <p:par>
                                <p:cTn id="754" nodeType="clickEffect" fill="hold" presetClass="entr" presetID="22" presetSubtype="8">
                                  <p:stCondLst>
                                    <p:cond delay="0"/>
                                  </p:stCondLst>
                                  <p:childTnLst>
                                    <p:set>
                                      <p:cBhvr>
                                        <p:cTn id="755" dur="1" fill="hold">
                                          <p:stCondLst>
                                            <p:cond delay="0"/>
                                          </p:stCondLst>
                                        </p:cTn>
                                        <p:tgtEl>
                                          <p:spTgt spid="271"/>
                                        </p:tgtEl>
                                        <p:attrNameLst>
                                          <p:attrName>style.visibility</p:attrName>
                                        </p:attrNameLst>
                                      </p:cBhvr>
                                      <p:to>
                                        <p:strVal val="visible"/>
                                      </p:to>
                                    </p:set>
                                    <p:animEffect filter="wipe(left)" transition="in">
                                      <p:cBhvr additive="repl">
                                        <p:cTn id="756" dur="1000"/>
                                        <p:tgtEl>
                                          <p:spTgt spid="271"/>
                                        </p:tgtEl>
                                      </p:cBhvr>
                                    </p:animEffect>
                                  </p:childTnLst>
                                </p:cTn>
                              </p:par>
                            </p:childTnLst>
                          </p:cTn>
                        </p:par>
                      </p:childTnLst>
                    </p:cTn>
                  </p:par>
                  <p:par>
                    <p:cTn id="757" nodeType="clickEffect" fill="hold">
                      <p:stCondLst>
                        <p:cond delay="indefinite"/>
                      </p:stCondLst>
                      <p:childTnLst>
                        <p:par>
                          <p:cTn id="758" nodeType="withEffect" fill="hold">
                            <p:stCondLst>
                              <p:cond delay="0"/>
                            </p:stCondLst>
                            <p:childTnLst>
                              <p:par>
                                <p:cTn id="759" nodeType="clickEffect" fill="hold" presetClass="entr" presetID="22" presetSubtype="8">
                                  <p:stCondLst>
                                    <p:cond delay="0"/>
                                  </p:stCondLst>
                                  <p:childTnLst>
                                    <p:set>
                                      <p:cBhvr>
                                        <p:cTn id="760" dur="1" fill="hold">
                                          <p:stCondLst>
                                            <p:cond delay="0"/>
                                          </p:stCondLst>
                                        </p:cTn>
                                        <p:tgtEl>
                                          <p:spTgt spid="272"/>
                                        </p:tgtEl>
                                        <p:attrNameLst>
                                          <p:attrName>style.visibility</p:attrName>
                                        </p:attrNameLst>
                                      </p:cBhvr>
                                      <p:to>
                                        <p:strVal val="visible"/>
                                      </p:to>
                                    </p:set>
                                    <p:animEffect filter="wipe(left)" transition="in">
                                      <p:cBhvr additive="repl">
                                        <p:cTn id="761" dur="1000"/>
                                        <p:tgtEl>
                                          <p:spTgt spid="272"/>
                                        </p:tgtEl>
                                      </p:cBhvr>
                                    </p:animEffect>
                                  </p:childTnLst>
                                </p:cTn>
                              </p:par>
                            </p:childTnLst>
                          </p:cTn>
                        </p:par>
                      </p:childTnLst>
                    </p:cTn>
                  </p:par>
                  <p:par>
                    <p:cTn id="762" nodeType="clickEffect" fill="hold">
                      <p:stCondLst>
                        <p:cond delay="indefinite"/>
                      </p:stCondLst>
                      <p:childTnLst>
                        <p:par>
                          <p:cTn id="763" nodeType="withEffect" fill="hold">
                            <p:stCondLst>
                              <p:cond delay="0"/>
                            </p:stCondLst>
                            <p:childTnLst>
                              <p:par>
                                <p:cTn id="764" nodeType="clickEffect" fill="hold" presetClass="entr" presetID="10">
                                  <p:stCondLst>
                                    <p:cond delay="0"/>
                                  </p:stCondLst>
                                  <p:childTnLst>
                                    <p:set>
                                      <p:cBhvr>
                                        <p:cTn id="765" dur="1" fill="hold">
                                          <p:stCondLst>
                                            <p:cond delay="0"/>
                                          </p:stCondLst>
                                        </p:cTn>
                                        <p:tgtEl>
                                          <p:spTgt spid="273"/>
                                        </p:tgtEl>
                                        <p:attrNameLst>
                                          <p:attrName>style.visibility</p:attrName>
                                        </p:attrNameLst>
                                      </p:cBhvr>
                                      <p:to>
                                        <p:strVal val="visible"/>
                                      </p:to>
                                    </p:set>
                                    <p:animEffect filter="fade" transition="in">
                                      <p:cBhvr additive="repl">
                                        <p:cTn id="766" dur="5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7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(b), marginal revenue is $5 a can.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Dave produces 9 cans a day, where marginal cost equals marginal revenue.</a:t>
            </a:r>
            <a:endParaRPr b="1" lang="en-CA" sz="2400" strike="noStrike" u="none">
              <a:solidFill>
                <a:srgbClr val="00468f"/>
              </a:solidFill>
              <a:effectLst/>
              <a:uFillTx/>
              <a:latin typeface="Arial"/>
            </a:endParaRPr>
          </a:p>
        </p:txBody>
      </p:sp>
      <p:pic>
        <p:nvPicPr>
          <p:cNvPr id="276" name="Picture 11" descr=""/>
          <p:cNvPicPr/>
          <p:nvPr/>
        </p:nvPicPr>
        <p:blipFill>
          <a:blip r:embed="rId1"/>
          <a:stretch/>
        </p:blipFill>
        <p:spPr>
          <a:xfrm>
            <a:off x="1066680" y="2971800"/>
            <a:ext cx="6781320" cy="3520800"/>
          </a:xfrm>
          <a:prstGeom prst="rect">
            <a:avLst/>
          </a:prstGeom>
          <a:noFill/>
          <a:ln w="0">
            <a:noFill/>
          </a:ln>
        </p:spPr>
      </p:pic>
      <p:pic>
        <p:nvPicPr>
          <p:cNvPr id="277" name="Picture 12" descr=""/>
          <p:cNvPicPr/>
          <p:nvPr/>
        </p:nvPicPr>
        <p:blipFill>
          <a:blip r:embed="rId2"/>
          <a:stretch/>
        </p:blipFill>
        <p:spPr>
          <a:xfrm>
            <a:off x="1066680" y="2971800"/>
            <a:ext cx="6781320" cy="3520800"/>
          </a:xfrm>
          <a:prstGeom prst="rect">
            <a:avLst/>
          </a:prstGeom>
          <a:noFill/>
          <a:ln w="0">
            <a:noFill/>
          </a:ln>
        </p:spPr>
      </p:pic>
      <p:pic>
        <p:nvPicPr>
          <p:cNvPr id="278" name="Picture 14" descr=""/>
          <p:cNvPicPr/>
          <p:nvPr/>
        </p:nvPicPr>
        <p:blipFill>
          <a:blip r:embed="rId3"/>
          <a:stretch/>
        </p:blipFill>
        <p:spPr>
          <a:xfrm>
            <a:off x="1066680" y="2971800"/>
            <a:ext cx="6781320" cy="3520800"/>
          </a:xfrm>
          <a:prstGeom prst="rect">
            <a:avLst/>
          </a:prstGeom>
          <a:noFill/>
          <a:ln w="0">
            <a:noFill/>
          </a:ln>
        </p:spPr>
      </p:pic>
      <p:pic>
        <p:nvPicPr>
          <p:cNvPr id="279" name="Picture 15" descr=""/>
          <p:cNvPicPr/>
          <p:nvPr/>
        </p:nvPicPr>
        <p:blipFill>
          <a:blip r:embed="rId4"/>
          <a:stretch/>
        </p:blipFill>
        <p:spPr>
          <a:xfrm>
            <a:off x="1066680" y="2971800"/>
            <a:ext cx="6781320" cy="3520800"/>
          </a:xfrm>
          <a:prstGeom prst="rect">
            <a:avLst/>
          </a:prstGeom>
          <a:noFill/>
          <a:ln w="0">
            <a:noFill/>
          </a:ln>
        </p:spPr>
      </p:pic>
      <p:pic>
        <p:nvPicPr>
          <p:cNvPr id="280" name="Picture 16" descr=""/>
          <p:cNvPicPr/>
          <p:nvPr/>
        </p:nvPicPr>
        <p:blipFill>
          <a:blip r:embed="rId5"/>
          <a:stretch/>
        </p:blipFill>
        <p:spPr>
          <a:xfrm>
            <a:off x="1066680" y="2971800"/>
            <a:ext cx="6781320" cy="3520800"/>
          </a:xfrm>
          <a:prstGeom prst="rect">
            <a:avLst/>
          </a:prstGeom>
          <a:noFill/>
          <a:ln w="0">
            <a:noFill/>
          </a:ln>
        </p:spPr>
      </p:pic>
      <p:pic>
        <p:nvPicPr>
          <p:cNvPr id="281" name="Picture 17" descr=""/>
          <p:cNvPicPr/>
          <p:nvPr/>
        </p:nvPicPr>
        <p:blipFill>
          <a:blip r:embed="rId6"/>
          <a:stretch/>
        </p:blipFill>
        <p:spPr>
          <a:xfrm>
            <a:off x="1066680" y="2971800"/>
            <a:ext cx="6781320" cy="3520800"/>
          </a:xfrm>
          <a:prstGeom prst="rect">
            <a:avLst/>
          </a:prstGeom>
          <a:noFill/>
          <a:ln w="0">
            <a:noFill/>
          </a:ln>
        </p:spPr>
      </p:pic>
    </p:spTree>
  </p:cSld>
  <p:transition spd="slow">
    <p:wipe dir="r"/>
  </p:transition>
  <p:timing>
    <p:tnLst>
      <p:par>
        <p:cTn id="767" dur="indefinite" restart="never" nodeType="tmRoot">
          <p:childTnLst>
            <p:seq>
              <p:cTn id="768" dur="indefinite" nodeType="mainSeq">
                <p:childTnLst>
                  <p:par>
                    <p:cTn id="769" nodeType="clickEffect" fill="hold">
                      <p:stCondLst>
                        <p:cond delay="0"/>
                      </p:stCondLst>
                      <p:childTnLst>
                        <p:par>
                          <p:cTn id="770" nodeType="withEffect" fill="hold">
                            <p:stCondLst>
                              <p:cond delay="0"/>
                            </p:stCondLst>
                            <p:childTnLst>
                              <p:par>
                                <p:cTn id="771" nodeType="withEffect" fill="hold" presetClass="entr" presetID="22" presetSubtype="8">
                                  <p:stCondLst>
                                    <p:cond delay="0"/>
                                  </p:stCondLst>
                                  <p:childTnLst>
                                    <p:set>
                                      <p:cBhvr>
                                        <p:cTn id="772" dur="1" fill="hold">
                                          <p:stCondLst>
                                            <p:cond delay="0"/>
                                          </p:stCondLst>
                                        </p:cTn>
                                        <p:tgtEl>
                                          <p:spTgt spid="280"/>
                                        </p:tgtEl>
                                        <p:attrNameLst>
                                          <p:attrName>style.visibility</p:attrName>
                                        </p:attrNameLst>
                                      </p:cBhvr>
                                      <p:to>
                                        <p:strVal val="visible"/>
                                      </p:to>
                                    </p:set>
                                    <p:animEffect filter="wipe(left)" transition="in">
                                      <p:cBhvr additive="repl">
                                        <p:cTn id="773" dur="1000"/>
                                        <p:tgtEl>
                                          <p:spTgt spid="280"/>
                                        </p:tgtEl>
                                      </p:cBhvr>
                                    </p:animEffect>
                                  </p:childTnLst>
                                </p:cTn>
                              </p:par>
                            </p:childTnLst>
                          </p:cTn>
                        </p:par>
                      </p:childTnLst>
                    </p:cTn>
                  </p:par>
                  <p:par>
                    <p:cTn id="774" nodeType="clickEffect" fill="hold">
                      <p:stCondLst>
                        <p:cond delay="indefinite"/>
                      </p:stCondLst>
                      <p:childTnLst>
                        <p:par>
                          <p:cTn id="775" nodeType="withEffect" fill="hold">
                            <p:stCondLst>
                              <p:cond delay="0"/>
                            </p:stCondLst>
                            <p:childTnLst>
                              <p:par>
                                <p:cTn id="776" nodeType="clickEffect" fill="hold" presetClass="entr" presetID="22" presetSubtype="8">
                                  <p:stCondLst>
                                    <p:cond delay="0"/>
                                  </p:stCondLst>
                                  <p:childTnLst>
                                    <p:set>
                                      <p:cBhvr>
                                        <p:cTn id="777" dur="1" fill="hold">
                                          <p:stCondLst>
                                            <p:cond delay="0"/>
                                          </p:stCondLst>
                                        </p:cTn>
                                        <p:tgtEl>
                                          <p:spTgt spid="275">
                                            <p:txEl>
                                              <p:pRg st="1" end="1"/>
                                            </p:txEl>
                                          </p:spTgt>
                                        </p:tgtEl>
                                        <p:attrNameLst>
                                          <p:attrName>style.visibility</p:attrName>
                                        </p:attrNameLst>
                                      </p:cBhvr>
                                      <p:to>
                                        <p:strVal val="visible"/>
                                      </p:to>
                                    </p:set>
                                    <p:animEffect filter="wipe(left)" transition="in">
                                      <p:cBhvr additive="repl">
                                        <p:cTn id="778" dur="500"/>
                                        <p:tgtEl>
                                          <p:spTgt spid="275">
                                            <p:txEl>
                                              <p:pRg st="1" end="1"/>
                                            </p:txEl>
                                          </p:spTgt>
                                        </p:tgtEl>
                                      </p:cBhvr>
                                    </p:animEffect>
                                  </p:childTnLst>
                                </p:cTn>
                              </p:par>
                              <p:par>
                                <p:cTn id="779" nodeType="withEffect" fill="hold" presetClass="entr" presetID="22" presetSubtype="8">
                                  <p:stCondLst>
                                    <p:cond delay="0"/>
                                  </p:stCondLst>
                                  <p:childTnLst>
                                    <p:set>
                                      <p:cBhvr>
                                        <p:cTn id="780" dur="1" fill="hold">
                                          <p:stCondLst>
                                            <p:cond delay="0"/>
                                          </p:stCondLst>
                                        </p:cTn>
                                        <p:tgtEl>
                                          <p:spTgt spid="281"/>
                                        </p:tgtEl>
                                        <p:attrNameLst>
                                          <p:attrName>style.visibility</p:attrName>
                                        </p:attrNameLst>
                                      </p:cBhvr>
                                      <p:to>
                                        <p:strVal val="visible"/>
                                      </p:to>
                                    </p:set>
                                    <p:animEffect filter="wipe(left)" transition="in">
                                      <p:cBhvr additive="repl">
                                        <p:cTn id="781"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8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this quantity, price equals average total cost, so Dave makes zero economic profit.</a:t>
            </a:r>
            <a:endParaRPr b="1" lang="en-CA" sz="2400" strike="noStrike" u="none">
              <a:solidFill>
                <a:srgbClr val="00468f"/>
              </a:solidFill>
              <a:effectLst/>
              <a:uFillTx/>
              <a:latin typeface="Arial"/>
            </a:endParaRPr>
          </a:p>
        </p:txBody>
      </p:sp>
      <p:pic>
        <p:nvPicPr>
          <p:cNvPr id="284" name="Picture 13" descr=""/>
          <p:cNvPicPr/>
          <p:nvPr/>
        </p:nvPicPr>
        <p:blipFill>
          <a:blip r:embed="rId1"/>
          <a:stretch/>
        </p:blipFill>
        <p:spPr>
          <a:xfrm>
            <a:off x="1066680" y="2971800"/>
            <a:ext cx="6781320" cy="3520800"/>
          </a:xfrm>
          <a:prstGeom prst="rect">
            <a:avLst/>
          </a:prstGeom>
          <a:noFill/>
          <a:ln w="0">
            <a:noFill/>
          </a:ln>
        </p:spPr>
      </p:pic>
      <p:pic>
        <p:nvPicPr>
          <p:cNvPr id="285" name="Picture 14" descr=""/>
          <p:cNvPicPr/>
          <p:nvPr/>
        </p:nvPicPr>
        <p:blipFill>
          <a:blip r:embed="rId2"/>
          <a:stretch/>
        </p:blipFill>
        <p:spPr>
          <a:xfrm>
            <a:off x="1066680" y="2971800"/>
            <a:ext cx="6781320" cy="3520800"/>
          </a:xfrm>
          <a:prstGeom prst="rect">
            <a:avLst/>
          </a:prstGeom>
          <a:noFill/>
          <a:ln w="0">
            <a:noFill/>
          </a:ln>
        </p:spPr>
      </p:pic>
      <p:pic>
        <p:nvPicPr>
          <p:cNvPr id="286" name="Picture 15" descr=""/>
          <p:cNvPicPr/>
          <p:nvPr/>
        </p:nvPicPr>
        <p:blipFill>
          <a:blip r:embed="rId3"/>
          <a:stretch/>
        </p:blipFill>
        <p:spPr>
          <a:xfrm>
            <a:off x="1066680" y="2971800"/>
            <a:ext cx="6781320" cy="3520800"/>
          </a:xfrm>
          <a:prstGeom prst="rect">
            <a:avLst/>
          </a:prstGeom>
          <a:noFill/>
          <a:ln w="0">
            <a:noFill/>
          </a:ln>
        </p:spPr>
      </p:pic>
      <p:pic>
        <p:nvPicPr>
          <p:cNvPr id="287" name="Picture 16" descr=""/>
          <p:cNvPicPr/>
          <p:nvPr/>
        </p:nvPicPr>
        <p:blipFill>
          <a:blip r:embed="rId4"/>
          <a:stretch/>
        </p:blipFill>
        <p:spPr>
          <a:xfrm>
            <a:off x="1066680" y="2971800"/>
            <a:ext cx="6781320" cy="3520800"/>
          </a:xfrm>
          <a:prstGeom prst="rect">
            <a:avLst/>
          </a:prstGeom>
          <a:noFill/>
          <a:ln w="0">
            <a:noFill/>
          </a:ln>
        </p:spPr>
      </p:pic>
      <p:pic>
        <p:nvPicPr>
          <p:cNvPr id="288" name="Picture 17" descr=""/>
          <p:cNvPicPr/>
          <p:nvPr/>
        </p:nvPicPr>
        <p:blipFill>
          <a:blip r:embed="rId5"/>
          <a:stretch/>
        </p:blipFill>
        <p:spPr>
          <a:xfrm>
            <a:off x="1066680" y="2971800"/>
            <a:ext cx="6781320" cy="3520800"/>
          </a:xfrm>
          <a:prstGeom prst="rect">
            <a:avLst/>
          </a:prstGeom>
          <a:noFill/>
          <a:ln w="0">
            <a:noFill/>
          </a:ln>
        </p:spPr>
      </p:pic>
      <p:pic>
        <p:nvPicPr>
          <p:cNvPr id="289" name="Picture 18" descr=""/>
          <p:cNvPicPr/>
          <p:nvPr/>
        </p:nvPicPr>
        <p:blipFill>
          <a:blip r:embed="rId6"/>
          <a:stretch/>
        </p:blipFill>
        <p:spPr>
          <a:xfrm>
            <a:off x="1066680" y="2971800"/>
            <a:ext cx="6781320" cy="3520800"/>
          </a:xfrm>
          <a:prstGeom prst="rect">
            <a:avLst/>
          </a:prstGeom>
          <a:noFill/>
          <a:ln w="0">
            <a:noFill/>
          </a:ln>
        </p:spPr>
      </p:pic>
      <p:pic>
        <p:nvPicPr>
          <p:cNvPr id="290" name="Picture 19" descr=""/>
          <p:cNvPicPr/>
          <p:nvPr/>
        </p:nvPicPr>
        <p:blipFill>
          <a:blip r:embed="rId7"/>
          <a:stretch/>
        </p:blipFill>
        <p:spPr>
          <a:xfrm>
            <a:off x="1066680" y="2971800"/>
            <a:ext cx="6781320" cy="3520800"/>
          </a:xfrm>
          <a:prstGeom prst="rect">
            <a:avLst/>
          </a:prstGeom>
          <a:noFill/>
          <a:ln w="0">
            <a:noFill/>
          </a:ln>
        </p:spPr>
      </p:pic>
      <p:pic>
        <p:nvPicPr>
          <p:cNvPr id="291" name="Picture 20" descr=""/>
          <p:cNvPicPr/>
          <p:nvPr/>
        </p:nvPicPr>
        <p:blipFill>
          <a:blip r:embed="rId8"/>
          <a:stretch/>
        </p:blipFill>
        <p:spPr>
          <a:xfrm>
            <a:off x="1066680" y="2971800"/>
            <a:ext cx="6781320" cy="3520800"/>
          </a:xfrm>
          <a:prstGeom prst="rect">
            <a:avLst/>
          </a:prstGeom>
          <a:noFill/>
          <a:ln w="0">
            <a:noFill/>
          </a:ln>
        </p:spPr>
      </p:pic>
    </p:spTree>
  </p:cSld>
  <p:transition spd="slow">
    <p:wipe dir="r"/>
  </p:transition>
  <p:timing>
    <p:tnLst>
      <p:par>
        <p:cTn id="782" dur="indefinite" restart="never" nodeType="tmRoot">
          <p:childTnLst>
            <p:seq>
              <p:cTn id="783" dur="indefinite" nodeType="mainSeq">
                <p:childTnLst>
                  <p:par>
                    <p:cTn id="784" nodeType="clickEffect" fill="hold">
                      <p:stCondLst>
                        <p:cond delay="0"/>
                      </p:stCondLst>
                      <p:childTnLst>
                        <p:par>
                          <p:cTn id="785" nodeType="withEffect" fill="hold">
                            <p:stCondLst>
                              <p:cond delay="0"/>
                            </p:stCondLst>
                            <p:childTnLst>
                              <p:par>
                                <p:cTn id="786" nodeType="withEffect" fill="hold" presetClass="entr" presetID="22" presetSubtype="8">
                                  <p:stCondLst>
                                    <p:cond delay="0"/>
                                  </p:stCondLst>
                                  <p:childTnLst>
                                    <p:set>
                                      <p:cBhvr>
                                        <p:cTn id="787" dur="1" fill="hold">
                                          <p:stCondLst>
                                            <p:cond delay="0"/>
                                          </p:stCondLst>
                                        </p:cTn>
                                        <p:tgtEl>
                                          <p:spTgt spid="290"/>
                                        </p:tgtEl>
                                        <p:attrNameLst>
                                          <p:attrName>style.visibility</p:attrName>
                                        </p:attrNameLst>
                                      </p:cBhvr>
                                      <p:to>
                                        <p:strVal val="visible"/>
                                      </p:to>
                                    </p:set>
                                    <p:animEffect filter="wipe(left)" transition="in">
                                      <p:cBhvr additive="repl">
                                        <p:cTn id="788" dur="1000"/>
                                        <p:tgtEl>
                                          <p:spTgt spid="290"/>
                                        </p:tgtEl>
                                      </p:cBhvr>
                                    </p:animEffect>
                                  </p:childTnLst>
                                </p:cTn>
                              </p:par>
                              <p:par>
                                <p:cTn id="789" nodeType="withEffect" fill="hold" presetClass="entr" presetID="10">
                                  <p:stCondLst>
                                    <p:cond delay="1300"/>
                                  </p:stCondLst>
                                  <p:childTnLst>
                                    <p:set>
                                      <p:cBhvr>
                                        <p:cTn id="790" dur="1" fill="hold">
                                          <p:stCondLst>
                                            <p:cond delay="0"/>
                                          </p:stCondLst>
                                        </p:cTn>
                                        <p:tgtEl>
                                          <p:spTgt spid="291"/>
                                        </p:tgtEl>
                                        <p:attrNameLst>
                                          <p:attrName>style.visibility</p:attrName>
                                        </p:attrNameLst>
                                      </p:cBhvr>
                                      <p:to>
                                        <p:strVal val="visible"/>
                                      </p:to>
                                    </p:set>
                                    <p:animEffect filter="fade" transition="in">
                                      <p:cBhvr additive="repl">
                                        <p:cTn id="791"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9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Short-Run Equilibrium in Good Times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In the short-run equilibrium that we’ve just examined, Dave made zero economic profit.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Although such an outcome is normal, economic profit can be positive or negative in the short run.</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Figure 15.8 on the next slide illustrates short-run equilibrium when the firm makes a positive economic profit.</a:t>
            </a:r>
            <a:endParaRPr b="1" lang="en-CA" sz="2400" strike="noStrike" u="none">
              <a:solidFill>
                <a:srgbClr val="00468f"/>
              </a:solidFill>
              <a:effectLst/>
              <a:uFillTx/>
              <a:latin typeface="Arial"/>
            </a:endParaRPr>
          </a:p>
        </p:txBody>
      </p:sp>
    </p:spTree>
  </p:cSld>
  <p:transition spd="slow">
    <p:wipe dir="r"/>
  </p:transition>
  <p:timing>
    <p:tnLst>
      <p:par>
        <p:cTn id="792" dur="indefinite" restart="never" nodeType="tmRoot">
          <p:childTnLst>
            <p:seq>
              <p:cTn id="793" dur="indefinite" nodeType="mainSeq">
                <p:childTnLst>
                  <p:par>
                    <p:cTn id="794" nodeType="clickEffect" fill="hold">
                      <p:stCondLst>
                        <p:cond delay="indefinite"/>
                      </p:stCondLst>
                      <p:childTnLst>
                        <p:par>
                          <p:cTn id="795" nodeType="withEffect" fill="hold">
                            <p:stCondLst>
                              <p:cond delay="0"/>
                            </p:stCondLst>
                            <p:childTnLst>
                              <p:par>
                                <p:cTn id="796" nodeType="clickEffect" fill="hold" presetClass="entr" presetID="22" presetSubtype="8">
                                  <p:stCondLst>
                                    <p:cond delay="0"/>
                                  </p:stCondLst>
                                  <p:childTnLst>
                                    <p:set>
                                      <p:cBhvr>
                                        <p:cTn id="797" dur="1" fill="hold">
                                          <p:stCondLst>
                                            <p:cond delay="0"/>
                                          </p:stCondLst>
                                        </p:cTn>
                                        <p:tgtEl>
                                          <p:spTgt spid="293">
                                            <p:txEl>
                                              <p:pRg st="1" end="1"/>
                                            </p:txEl>
                                          </p:spTgt>
                                        </p:tgtEl>
                                        <p:attrNameLst>
                                          <p:attrName>style.visibility</p:attrName>
                                        </p:attrNameLst>
                                      </p:cBhvr>
                                      <p:to>
                                        <p:strVal val="visible"/>
                                      </p:to>
                                    </p:set>
                                    <p:animEffect filter="wipe(left)" transition="in">
                                      <p:cBhvr additive="repl">
                                        <p:cTn id="798" dur="500"/>
                                        <p:tgtEl>
                                          <p:spTgt spid="293">
                                            <p:txEl>
                                              <p:pRg st="1" end="1"/>
                                            </p:txEl>
                                          </p:spTgt>
                                        </p:tgtEl>
                                      </p:cBhvr>
                                    </p:animEffect>
                                  </p:childTnLst>
                                </p:cTn>
                              </p:par>
                            </p:childTnLst>
                          </p:cTn>
                        </p:par>
                      </p:childTnLst>
                    </p:cTn>
                  </p:par>
                  <p:par>
                    <p:cTn id="799" nodeType="clickEffect" fill="hold">
                      <p:stCondLst>
                        <p:cond delay="indefinite"/>
                      </p:stCondLst>
                      <p:childTnLst>
                        <p:par>
                          <p:cTn id="800" nodeType="withEffect" fill="hold">
                            <p:stCondLst>
                              <p:cond delay="0"/>
                            </p:stCondLst>
                            <p:childTnLst>
                              <p:par>
                                <p:cTn id="801" nodeType="clickEffect" fill="hold" presetClass="entr" presetID="22" presetSubtype="8">
                                  <p:stCondLst>
                                    <p:cond delay="0"/>
                                  </p:stCondLst>
                                  <p:childTnLst>
                                    <p:set>
                                      <p:cBhvr>
                                        <p:cTn id="802" dur="1" fill="hold">
                                          <p:stCondLst>
                                            <p:cond delay="0"/>
                                          </p:stCondLst>
                                        </p:cTn>
                                        <p:tgtEl>
                                          <p:spTgt spid="293">
                                            <p:txEl>
                                              <p:pRg st="2" end="2"/>
                                            </p:txEl>
                                          </p:spTgt>
                                        </p:tgtEl>
                                        <p:attrNameLst>
                                          <p:attrName>style.visibility</p:attrName>
                                        </p:attrNameLst>
                                      </p:cBhvr>
                                      <p:to>
                                        <p:strVal val="visible"/>
                                      </p:to>
                                    </p:set>
                                    <p:animEffect filter="wipe(left)" transition="in">
                                      <p:cBhvr additive="repl">
                                        <p:cTn id="803" dur="500"/>
                                        <p:tgtEl>
                                          <p:spTgt spid="293">
                                            <p:txEl>
                                              <p:pRg st="2" end="2"/>
                                            </p:txEl>
                                          </p:spTgt>
                                        </p:tgtEl>
                                      </p:cBhvr>
                                    </p:animEffect>
                                  </p:childTnLst>
                                </p:cTn>
                              </p:par>
                            </p:childTnLst>
                          </p:cTn>
                        </p:par>
                      </p:childTnLst>
                    </p:cTn>
                  </p:par>
                  <p:par>
                    <p:cTn id="804" nodeType="clickEffect" fill="hold">
                      <p:stCondLst>
                        <p:cond delay="indefinite"/>
                      </p:stCondLst>
                      <p:childTnLst>
                        <p:par>
                          <p:cTn id="805" nodeType="withEffect" fill="hold">
                            <p:stCondLst>
                              <p:cond delay="0"/>
                            </p:stCondLst>
                            <p:childTnLst>
                              <p:par>
                                <p:cTn id="806" nodeType="clickEffect" fill="hold" presetClass="entr" presetID="22" presetSubtype="8">
                                  <p:stCondLst>
                                    <p:cond delay="0"/>
                                  </p:stCondLst>
                                  <p:childTnLst>
                                    <p:set>
                                      <p:cBhvr>
                                        <p:cTn id="807" dur="1" fill="hold">
                                          <p:stCondLst>
                                            <p:cond delay="0"/>
                                          </p:stCondLst>
                                        </p:cTn>
                                        <p:tgtEl>
                                          <p:spTgt spid="293">
                                            <p:txEl>
                                              <p:pRg st="3" end="3"/>
                                            </p:txEl>
                                          </p:spTgt>
                                        </p:tgtEl>
                                        <p:attrNameLst>
                                          <p:attrName>style.visibility</p:attrName>
                                        </p:attrNameLst>
                                      </p:cBhvr>
                                      <p:to>
                                        <p:strVal val="visible"/>
                                      </p:to>
                                    </p:set>
                                    <p:animEffect filter="wipe(left)" transition="in">
                                      <p:cBhvr additive="repl">
                                        <p:cTn id="808" dur="500"/>
                                        <p:tgtEl>
                                          <p:spTgt spid="29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295"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(a), with market demand curve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2</a:t>
            </a:r>
            <a:r>
              <a:rPr b="0" lang="en-US" sz="2400" strike="noStrike" u="none">
                <a:solidFill>
                  <a:srgbClr val="000000"/>
                </a:solidFill>
                <a:effectLst/>
                <a:uFillTx/>
                <a:latin typeface="Arial"/>
                <a:ea typeface="ＭＳ Ｐゴシック"/>
              </a:rPr>
              <a:t> and market supply curve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 the market price is $8 a can.</a:t>
            </a:r>
            <a:endParaRPr b="1" lang="en-CA" sz="2400" strike="noStrike" u="none">
              <a:solidFill>
                <a:srgbClr val="00468f"/>
              </a:solidFill>
              <a:effectLst/>
              <a:uFillTx/>
              <a:latin typeface="Arial"/>
            </a:endParaRPr>
          </a:p>
        </p:txBody>
      </p:sp>
      <p:pic>
        <p:nvPicPr>
          <p:cNvPr id="296" name="Picture 12" descr=""/>
          <p:cNvPicPr/>
          <p:nvPr/>
        </p:nvPicPr>
        <p:blipFill>
          <a:blip r:embed="rId1"/>
          <a:stretch/>
        </p:blipFill>
        <p:spPr>
          <a:xfrm>
            <a:off x="838080" y="2824200"/>
            <a:ext cx="7205400" cy="3739680"/>
          </a:xfrm>
          <a:prstGeom prst="rect">
            <a:avLst/>
          </a:prstGeom>
          <a:noFill/>
          <a:ln w="0">
            <a:noFill/>
          </a:ln>
        </p:spPr>
      </p:pic>
      <p:pic>
        <p:nvPicPr>
          <p:cNvPr id="297" name="Picture 13" descr=""/>
          <p:cNvPicPr/>
          <p:nvPr/>
        </p:nvPicPr>
        <p:blipFill>
          <a:blip r:embed="rId2"/>
          <a:stretch/>
        </p:blipFill>
        <p:spPr>
          <a:xfrm>
            <a:off x="838080" y="2824200"/>
            <a:ext cx="7205400" cy="3739680"/>
          </a:xfrm>
          <a:prstGeom prst="rect">
            <a:avLst/>
          </a:prstGeom>
          <a:noFill/>
          <a:ln w="0">
            <a:noFill/>
          </a:ln>
        </p:spPr>
      </p:pic>
    </p:spTree>
  </p:cSld>
  <p:transition spd="slow">
    <p:wipe dir="r"/>
  </p:transition>
  <p:timing>
    <p:tnLst>
      <p:par>
        <p:cTn id="809" dur="indefinite" restart="never" nodeType="tmRoot">
          <p:childTnLst>
            <p:seq>
              <p:cTn id="810" dur="indefinite" nodeType="mainSeq">
                <p:childTnLst>
                  <p:par>
                    <p:cTn id="811" nodeType="clickEffect" fill="hold">
                      <p:stCondLst>
                        <p:cond delay="0"/>
                      </p:stCondLst>
                      <p:childTnLst>
                        <p:par>
                          <p:cTn id="812" nodeType="withEffect" fill="hold">
                            <p:stCondLst>
                              <p:cond delay="0"/>
                            </p:stCondLst>
                            <p:childTnLst>
                              <p:par>
                                <p:cTn id="813" nodeType="withEffect" fill="hold" presetClass="entr" presetID="10">
                                  <p:stCondLst>
                                    <p:cond delay="0"/>
                                  </p:stCondLst>
                                  <p:childTnLst>
                                    <p:set>
                                      <p:cBhvr>
                                        <p:cTn id="814" dur="1" fill="hold">
                                          <p:stCondLst>
                                            <p:cond delay="0"/>
                                          </p:stCondLst>
                                        </p:cTn>
                                        <p:tgtEl>
                                          <p:spTgt spid="297"/>
                                        </p:tgtEl>
                                        <p:attrNameLst>
                                          <p:attrName>style.visibility</p:attrName>
                                        </p:attrNameLst>
                                      </p:cBhvr>
                                      <p:to>
                                        <p:strVal val="visible"/>
                                      </p:to>
                                    </p:set>
                                    <p:animEffect filter="fade" transition="in">
                                      <p:cBhvr additive="repl">
                                        <p:cTn id="815" dur="5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98" name="Picture 8" descr=""/>
          <p:cNvPicPr/>
          <p:nvPr/>
        </p:nvPicPr>
        <p:blipFill>
          <a:blip r:embed="rId1"/>
          <a:stretch/>
        </p:blipFill>
        <p:spPr>
          <a:xfrm>
            <a:off x="324000" y="936720"/>
            <a:ext cx="8476920" cy="4400280"/>
          </a:xfrm>
          <a:prstGeom prst="rect">
            <a:avLst/>
          </a:prstGeom>
          <a:noFill/>
          <a:ln w="0">
            <a:noFill/>
          </a:ln>
        </p:spPr>
      </p:pic>
      <p:pic>
        <p:nvPicPr>
          <p:cNvPr id="299" name="Picture 9" descr=""/>
          <p:cNvPicPr/>
          <p:nvPr/>
        </p:nvPicPr>
        <p:blipFill>
          <a:blip r:embed="rId2"/>
          <a:stretch/>
        </p:blipFill>
        <p:spPr>
          <a:xfrm>
            <a:off x="324000" y="936720"/>
            <a:ext cx="8476920" cy="4400280"/>
          </a:xfrm>
          <a:prstGeom prst="rect">
            <a:avLst/>
          </a:prstGeom>
          <a:noFill/>
          <a:ln w="0">
            <a:noFill/>
          </a:ln>
        </p:spPr>
      </p:pic>
      <p:pic>
        <p:nvPicPr>
          <p:cNvPr id="300" name="Picture 10" descr=""/>
          <p:cNvPicPr/>
          <p:nvPr/>
        </p:nvPicPr>
        <p:blipFill>
          <a:blip r:embed="rId3"/>
          <a:stretch/>
        </p:blipFill>
        <p:spPr>
          <a:xfrm>
            <a:off x="324000" y="936720"/>
            <a:ext cx="8476920" cy="4400280"/>
          </a:xfrm>
          <a:prstGeom prst="rect">
            <a:avLst/>
          </a:prstGeom>
          <a:noFill/>
          <a:ln w="0">
            <a:noFill/>
          </a:ln>
        </p:spPr>
      </p:pic>
      <p:pic>
        <p:nvPicPr>
          <p:cNvPr id="301" name="Picture 11" descr=""/>
          <p:cNvPicPr/>
          <p:nvPr/>
        </p:nvPicPr>
        <p:blipFill>
          <a:blip r:embed="rId4"/>
          <a:stretch/>
        </p:blipFill>
        <p:spPr>
          <a:xfrm>
            <a:off x="324000" y="936720"/>
            <a:ext cx="8476920" cy="4400280"/>
          </a:xfrm>
          <a:prstGeom prst="rect">
            <a:avLst/>
          </a:prstGeom>
          <a:noFill/>
          <a:ln w="0">
            <a:noFill/>
          </a:ln>
        </p:spPr>
      </p:pic>
      <p:pic>
        <p:nvPicPr>
          <p:cNvPr id="302" name="Picture 12" descr=""/>
          <p:cNvPicPr/>
          <p:nvPr/>
        </p:nvPicPr>
        <p:blipFill>
          <a:blip r:embed="rId5"/>
          <a:stretch/>
        </p:blipFill>
        <p:spPr>
          <a:xfrm>
            <a:off x="324000" y="936720"/>
            <a:ext cx="8476920" cy="4400280"/>
          </a:xfrm>
          <a:prstGeom prst="rect">
            <a:avLst/>
          </a:prstGeom>
          <a:noFill/>
          <a:ln w="0">
            <a:noFill/>
          </a:ln>
        </p:spPr>
      </p:pic>
      <p:pic>
        <p:nvPicPr>
          <p:cNvPr id="303" name="Picture 13" descr=""/>
          <p:cNvPicPr/>
          <p:nvPr/>
        </p:nvPicPr>
        <p:blipFill>
          <a:blip r:embed="rId6"/>
          <a:stretch/>
        </p:blipFill>
        <p:spPr>
          <a:xfrm>
            <a:off x="324000" y="936720"/>
            <a:ext cx="8476920" cy="4400280"/>
          </a:xfrm>
          <a:prstGeom prst="rect">
            <a:avLst/>
          </a:prstGeom>
          <a:noFill/>
          <a:ln w="0">
            <a:noFill/>
          </a:ln>
        </p:spPr>
      </p:pic>
    </p:spTree>
  </p:cSld>
  <p:transition spd="slow">
    <p:wipe dir="r"/>
  </p:transition>
  <p:timing>
    <p:tnLst>
      <p:par>
        <p:cTn id="816" dur="indefinite" restart="never" nodeType="tmRoot">
          <p:childTnLst>
            <p:seq>
              <p:cTn id="817" dur="indefinite" nodeType="mainSeq">
                <p:childTnLst>
                  <p:par>
                    <p:cTn id="818" nodeType="clickEffect" fill="hold">
                      <p:stCondLst>
                        <p:cond delay="indefinite"/>
                      </p:stCondLst>
                      <p:childTnLst>
                        <p:par>
                          <p:cTn id="819" nodeType="withEffect" fill="hold">
                            <p:stCondLst>
                              <p:cond delay="0"/>
                            </p:stCondLst>
                            <p:childTnLst>
                              <p:par>
                                <p:cTn id="820" nodeType="clickEffect" fill="hold" presetClass="entr" presetID="10">
                                  <p:stCondLst>
                                    <p:cond delay="0"/>
                                  </p:stCondLst>
                                  <p:childTnLst>
                                    <p:set>
                                      <p:cBhvr>
                                        <p:cTn id="821" dur="1" fill="hold">
                                          <p:stCondLst>
                                            <p:cond delay="0"/>
                                          </p:stCondLst>
                                        </p:cTn>
                                        <p:tgtEl>
                                          <p:spTgt spid="299"/>
                                        </p:tgtEl>
                                        <p:attrNameLst>
                                          <p:attrName>style.visibility</p:attrName>
                                        </p:attrNameLst>
                                      </p:cBhvr>
                                      <p:to>
                                        <p:strVal val="visible"/>
                                      </p:to>
                                    </p:set>
                                    <p:animEffect filter="fade" transition="in">
                                      <p:cBhvr additive="repl">
                                        <p:cTn id="822" dur="500"/>
                                        <p:tgtEl>
                                          <p:spTgt spid="299"/>
                                        </p:tgtEl>
                                      </p:cBhvr>
                                    </p:animEffect>
                                  </p:childTnLst>
                                </p:cTn>
                              </p:par>
                            </p:childTnLst>
                          </p:cTn>
                        </p:par>
                      </p:childTnLst>
                    </p:cTn>
                  </p:par>
                  <p:par>
                    <p:cTn id="823" nodeType="clickEffect" fill="hold">
                      <p:stCondLst>
                        <p:cond delay="indefinite"/>
                      </p:stCondLst>
                      <p:childTnLst>
                        <p:par>
                          <p:cTn id="824" nodeType="withEffect" fill="hold">
                            <p:stCondLst>
                              <p:cond delay="0"/>
                            </p:stCondLst>
                            <p:childTnLst>
                              <p:par>
                                <p:cTn id="825" nodeType="clickEffect" fill="hold" presetClass="entr" presetID="22" presetSubtype="8">
                                  <p:stCondLst>
                                    <p:cond delay="0"/>
                                  </p:stCondLst>
                                  <p:childTnLst>
                                    <p:set>
                                      <p:cBhvr>
                                        <p:cTn id="826" dur="1" fill="hold">
                                          <p:stCondLst>
                                            <p:cond delay="0"/>
                                          </p:stCondLst>
                                        </p:cTn>
                                        <p:tgtEl>
                                          <p:spTgt spid="300"/>
                                        </p:tgtEl>
                                        <p:attrNameLst>
                                          <p:attrName>style.visibility</p:attrName>
                                        </p:attrNameLst>
                                      </p:cBhvr>
                                      <p:to>
                                        <p:strVal val="visible"/>
                                      </p:to>
                                    </p:set>
                                    <p:animEffect filter="wipe(left)" transition="in">
                                      <p:cBhvr additive="repl">
                                        <p:cTn id="827" dur="1000"/>
                                        <p:tgtEl>
                                          <p:spTgt spid="300"/>
                                        </p:tgtEl>
                                      </p:cBhvr>
                                    </p:animEffect>
                                  </p:childTnLst>
                                </p:cTn>
                              </p:par>
                            </p:childTnLst>
                          </p:cTn>
                        </p:par>
                      </p:childTnLst>
                    </p:cTn>
                  </p:par>
                  <p:par>
                    <p:cTn id="828" nodeType="clickEffect" fill="hold">
                      <p:stCondLst>
                        <p:cond delay="indefinite"/>
                      </p:stCondLst>
                      <p:childTnLst>
                        <p:par>
                          <p:cTn id="829" nodeType="withEffect" fill="hold">
                            <p:stCondLst>
                              <p:cond delay="0"/>
                            </p:stCondLst>
                            <p:childTnLst>
                              <p:par>
                                <p:cTn id="830" nodeType="clickEffect" fill="hold" presetClass="entr" presetID="22" presetSubtype="8">
                                  <p:stCondLst>
                                    <p:cond delay="0"/>
                                  </p:stCondLst>
                                  <p:childTnLst>
                                    <p:set>
                                      <p:cBhvr>
                                        <p:cTn id="831" dur="1" fill="hold">
                                          <p:stCondLst>
                                            <p:cond delay="0"/>
                                          </p:stCondLst>
                                        </p:cTn>
                                        <p:tgtEl>
                                          <p:spTgt spid="301"/>
                                        </p:tgtEl>
                                        <p:attrNameLst>
                                          <p:attrName>style.visibility</p:attrName>
                                        </p:attrNameLst>
                                      </p:cBhvr>
                                      <p:to>
                                        <p:strVal val="visible"/>
                                      </p:to>
                                    </p:set>
                                    <p:animEffect filter="wipe(left)" transition="in">
                                      <p:cBhvr additive="repl">
                                        <p:cTn id="832" dur="1000"/>
                                        <p:tgtEl>
                                          <p:spTgt spid="301"/>
                                        </p:tgtEl>
                                      </p:cBhvr>
                                    </p:animEffect>
                                  </p:childTnLst>
                                </p:cTn>
                              </p:par>
                            </p:childTnLst>
                          </p:cTn>
                        </p:par>
                      </p:childTnLst>
                    </p:cTn>
                  </p:par>
                  <p:par>
                    <p:cTn id="833" nodeType="clickEffect" fill="hold">
                      <p:stCondLst>
                        <p:cond delay="indefinite"/>
                      </p:stCondLst>
                      <p:childTnLst>
                        <p:par>
                          <p:cTn id="834" nodeType="withEffect" fill="hold">
                            <p:stCondLst>
                              <p:cond delay="0"/>
                            </p:stCondLst>
                            <p:childTnLst>
                              <p:par>
                                <p:cTn id="835" nodeType="clickEffect" fill="hold" presetClass="entr" presetID="22" presetSubtype="8">
                                  <p:stCondLst>
                                    <p:cond delay="0"/>
                                  </p:stCondLst>
                                  <p:childTnLst>
                                    <p:set>
                                      <p:cBhvr>
                                        <p:cTn id="836" dur="1" fill="hold">
                                          <p:stCondLst>
                                            <p:cond delay="0"/>
                                          </p:stCondLst>
                                        </p:cTn>
                                        <p:tgtEl>
                                          <p:spTgt spid="302"/>
                                        </p:tgtEl>
                                        <p:attrNameLst>
                                          <p:attrName>style.visibility</p:attrName>
                                        </p:attrNameLst>
                                      </p:cBhvr>
                                      <p:to>
                                        <p:strVal val="visible"/>
                                      </p:to>
                                    </p:set>
                                    <p:animEffect filter="wipe(left)" transition="in">
                                      <p:cBhvr additive="repl">
                                        <p:cTn id="837" dur="1000"/>
                                        <p:tgtEl>
                                          <p:spTgt spid="302"/>
                                        </p:tgtEl>
                                      </p:cBhvr>
                                    </p:animEffect>
                                  </p:childTnLst>
                                </p:cTn>
                              </p:par>
                            </p:childTnLst>
                          </p:cTn>
                        </p:par>
                      </p:childTnLst>
                    </p:cTn>
                  </p:par>
                  <p:par>
                    <p:cTn id="838" nodeType="clickEffect" fill="hold">
                      <p:stCondLst>
                        <p:cond delay="indefinite"/>
                      </p:stCondLst>
                      <p:childTnLst>
                        <p:par>
                          <p:cTn id="839" nodeType="withEffect" fill="hold">
                            <p:stCondLst>
                              <p:cond delay="0"/>
                            </p:stCondLst>
                            <p:childTnLst>
                              <p:par>
                                <p:cTn id="840" nodeType="clickEffect" fill="hold" presetClass="entr" presetID="10">
                                  <p:stCondLst>
                                    <p:cond delay="0"/>
                                  </p:stCondLst>
                                  <p:childTnLst>
                                    <p:set>
                                      <p:cBhvr>
                                        <p:cTn id="841" dur="1" fill="hold">
                                          <p:stCondLst>
                                            <p:cond delay="0"/>
                                          </p:stCondLst>
                                        </p:cTn>
                                        <p:tgtEl>
                                          <p:spTgt spid="303"/>
                                        </p:tgtEl>
                                        <p:attrNameLst>
                                          <p:attrName>style.visibility</p:attrName>
                                        </p:attrNameLst>
                                      </p:cBhvr>
                                      <p:to>
                                        <p:strVal val="visible"/>
                                      </p:to>
                                    </p:set>
                                    <p:animEffect filter="fade" transition="in">
                                      <p:cBhvr additive="repl">
                                        <p:cTn id="842" dur="5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0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(b), Dave’s marginal revenue is $8 a can.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Dave produces 10 cans a day, where marginal cost equals marginal revenue. </a:t>
            </a:r>
            <a:endParaRPr b="1" lang="en-CA" sz="2400" strike="noStrike" u="none">
              <a:solidFill>
                <a:srgbClr val="00468f"/>
              </a:solidFill>
              <a:effectLst/>
              <a:uFillTx/>
              <a:latin typeface="Arial"/>
            </a:endParaRPr>
          </a:p>
        </p:txBody>
      </p:sp>
      <p:pic>
        <p:nvPicPr>
          <p:cNvPr id="306" name="Picture 9" descr=""/>
          <p:cNvPicPr/>
          <p:nvPr/>
        </p:nvPicPr>
        <p:blipFill>
          <a:blip r:embed="rId1"/>
          <a:stretch/>
        </p:blipFill>
        <p:spPr>
          <a:xfrm>
            <a:off x="838080" y="2824200"/>
            <a:ext cx="7205400" cy="3739680"/>
          </a:xfrm>
          <a:prstGeom prst="rect">
            <a:avLst/>
          </a:prstGeom>
          <a:noFill/>
          <a:ln w="0">
            <a:noFill/>
          </a:ln>
        </p:spPr>
      </p:pic>
      <p:pic>
        <p:nvPicPr>
          <p:cNvPr id="307" name="Picture 10" descr=""/>
          <p:cNvPicPr/>
          <p:nvPr/>
        </p:nvPicPr>
        <p:blipFill>
          <a:blip r:embed="rId2"/>
          <a:stretch/>
        </p:blipFill>
        <p:spPr>
          <a:xfrm>
            <a:off x="838080" y="2824200"/>
            <a:ext cx="7205400" cy="3739680"/>
          </a:xfrm>
          <a:prstGeom prst="rect">
            <a:avLst/>
          </a:prstGeom>
          <a:noFill/>
          <a:ln w="0">
            <a:noFill/>
          </a:ln>
        </p:spPr>
      </p:pic>
      <p:pic>
        <p:nvPicPr>
          <p:cNvPr id="308" name="Picture 11" descr=""/>
          <p:cNvPicPr/>
          <p:nvPr/>
        </p:nvPicPr>
        <p:blipFill>
          <a:blip r:embed="rId3"/>
          <a:stretch/>
        </p:blipFill>
        <p:spPr>
          <a:xfrm>
            <a:off x="838080" y="2824200"/>
            <a:ext cx="7205400" cy="3739680"/>
          </a:xfrm>
          <a:prstGeom prst="rect">
            <a:avLst/>
          </a:prstGeom>
          <a:noFill/>
          <a:ln w="0">
            <a:noFill/>
          </a:ln>
        </p:spPr>
      </p:pic>
      <p:pic>
        <p:nvPicPr>
          <p:cNvPr id="309" name="Picture 12" descr=""/>
          <p:cNvPicPr/>
          <p:nvPr/>
        </p:nvPicPr>
        <p:blipFill>
          <a:blip r:embed="rId4"/>
          <a:stretch/>
        </p:blipFill>
        <p:spPr>
          <a:xfrm>
            <a:off x="838080" y="2824200"/>
            <a:ext cx="7205400" cy="3739680"/>
          </a:xfrm>
          <a:prstGeom prst="rect">
            <a:avLst/>
          </a:prstGeom>
          <a:noFill/>
          <a:ln w="0">
            <a:noFill/>
          </a:ln>
        </p:spPr>
      </p:pic>
    </p:spTree>
  </p:cSld>
  <p:transition spd="slow">
    <p:wipe dir="r"/>
  </p:transition>
  <p:timing>
    <p:tnLst>
      <p:par>
        <p:cTn id="843" dur="indefinite" restart="never" nodeType="tmRoot">
          <p:childTnLst>
            <p:seq>
              <p:cTn id="844" dur="indefinite" nodeType="mainSeq">
                <p:childTnLst>
                  <p:par>
                    <p:cTn id="845" nodeType="clickEffect" fill="hold">
                      <p:stCondLst>
                        <p:cond delay="0"/>
                      </p:stCondLst>
                      <p:childTnLst>
                        <p:par>
                          <p:cTn id="846" nodeType="withEffect" fill="hold">
                            <p:stCondLst>
                              <p:cond delay="0"/>
                            </p:stCondLst>
                            <p:childTnLst>
                              <p:par>
                                <p:cTn id="847" nodeType="withEffect" fill="hold" presetClass="entr" presetID="22" presetSubtype="8">
                                  <p:stCondLst>
                                    <p:cond delay="0"/>
                                  </p:stCondLst>
                                  <p:childTnLst>
                                    <p:set>
                                      <p:cBhvr>
                                        <p:cTn id="848" dur="1" fill="hold">
                                          <p:stCondLst>
                                            <p:cond delay="0"/>
                                          </p:stCondLst>
                                        </p:cTn>
                                        <p:tgtEl>
                                          <p:spTgt spid="308"/>
                                        </p:tgtEl>
                                        <p:attrNameLst>
                                          <p:attrName>style.visibility</p:attrName>
                                        </p:attrNameLst>
                                      </p:cBhvr>
                                      <p:to>
                                        <p:strVal val="visible"/>
                                      </p:to>
                                    </p:set>
                                    <p:animEffect filter="wipe(left)" transition="in">
                                      <p:cBhvr additive="repl">
                                        <p:cTn id="849" dur="1000"/>
                                        <p:tgtEl>
                                          <p:spTgt spid="308"/>
                                        </p:tgtEl>
                                      </p:cBhvr>
                                    </p:animEffect>
                                  </p:childTnLst>
                                </p:cTn>
                              </p:par>
                            </p:childTnLst>
                          </p:cTn>
                        </p:par>
                      </p:childTnLst>
                    </p:cTn>
                  </p:par>
                  <p:par>
                    <p:cTn id="850" nodeType="clickEffect" fill="hold">
                      <p:stCondLst>
                        <p:cond delay="indefinite"/>
                      </p:stCondLst>
                      <p:childTnLst>
                        <p:par>
                          <p:cTn id="851" nodeType="withEffect" fill="hold">
                            <p:stCondLst>
                              <p:cond delay="0"/>
                            </p:stCondLst>
                            <p:childTnLst>
                              <p:par>
                                <p:cTn id="852" nodeType="clickEffect" fill="hold" presetClass="entr" presetID="22" presetSubtype="8">
                                  <p:stCondLst>
                                    <p:cond delay="0"/>
                                  </p:stCondLst>
                                  <p:childTnLst>
                                    <p:set>
                                      <p:cBhvr>
                                        <p:cTn id="853" dur="1" fill="hold">
                                          <p:stCondLst>
                                            <p:cond delay="0"/>
                                          </p:stCondLst>
                                        </p:cTn>
                                        <p:tgtEl>
                                          <p:spTgt spid="305">
                                            <p:txEl>
                                              <p:pRg st="1" end="1"/>
                                            </p:txEl>
                                          </p:spTgt>
                                        </p:tgtEl>
                                        <p:attrNameLst>
                                          <p:attrName>style.visibility</p:attrName>
                                        </p:attrNameLst>
                                      </p:cBhvr>
                                      <p:to>
                                        <p:strVal val="visible"/>
                                      </p:to>
                                    </p:set>
                                    <p:animEffect filter="wipe(left)" transition="in">
                                      <p:cBhvr additive="repl">
                                        <p:cTn id="854" dur="500"/>
                                        <p:tgtEl>
                                          <p:spTgt spid="305">
                                            <p:txEl>
                                              <p:pRg st="1" end="1"/>
                                            </p:txEl>
                                          </p:spTgt>
                                        </p:tgtEl>
                                      </p:cBhvr>
                                    </p:animEffect>
                                  </p:childTnLst>
                                </p:cTn>
                              </p:par>
                              <p:par>
                                <p:cTn id="855" nodeType="withEffect" fill="hold" presetClass="entr" presetID="22" presetSubtype="8">
                                  <p:stCondLst>
                                    <p:cond delay="0"/>
                                  </p:stCondLst>
                                  <p:childTnLst>
                                    <p:set>
                                      <p:cBhvr>
                                        <p:cTn id="856" dur="1" fill="hold">
                                          <p:stCondLst>
                                            <p:cond delay="0"/>
                                          </p:stCondLst>
                                        </p:cTn>
                                        <p:tgtEl>
                                          <p:spTgt spid="309"/>
                                        </p:tgtEl>
                                        <p:attrNameLst>
                                          <p:attrName>style.visibility</p:attrName>
                                        </p:attrNameLst>
                                      </p:cBhvr>
                                      <p:to>
                                        <p:strVal val="visible"/>
                                      </p:to>
                                    </p:set>
                                    <p:animEffect filter="wipe(left)" transition="in">
                                      <p:cBhvr additive="repl">
                                        <p:cTn id="857" dur="10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11" name="PlaceHolder 2"/>
          <p:cNvSpPr>
            <a:spLocks noGrp="1"/>
          </p:cNvSpPr>
          <p:nvPr>
            <p:ph/>
          </p:nvPr>
        </p:nvSpPr>
        <p:spPr>
          <a:xfrm>
            <a:off x="360360" y="1440000"/>
            <a:ext cx="847836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this quantity, price ($8 a can) exceeds average total cost ($5.10 a can).</a:t>
            </a:r>
            <a:endParaRPr b="1" lang="en-CA" sz="2400" strike="noStrike" u="none">
              <a:solidFill>
                <a:srgbClr val="00468f"/>
              </a:solidFill>
              <a:effectLst/>
              <a:uFillTx/>
              <a:latin typeface="Arial"/>
            </a:endParaRPr>
          </a:p>
        </p:txBody>
      </p:sp>
      <p:pic>
        <p:nvPicPr>
          <p:cNvPr id="312" name="Picture 11" descr=""/>
          <p:cNvPicPr/>
          <p:nvPr/>
        </p:nvPicPr>
        <p:blipFill>
          <a:blip r:embed="rId1"/>
          <a:stretch/>
        </p:blipFill>
        <p:spPr>
          <a:xfrm>
            <a:off x="838080" y="2824200"/>
            <a:ext cx="7205400" cy="3739680"/>
          </a:xfrm>
          <a:prstGeom prst="rect">
            <a:avLst/>
          </a:prstGeom>
          <a:noFill/>
          <a:ln w="0">
            <a:noFill/>
          </a:ln>
        </p:spPr>
      </p:pic>
      <p:pic>
        <p:nvPicPr>
          <p:cNvPr id="313" name="Picture 12" descr=""/>
          <p:cNvPicPr/>
          <p:nvPr/>
        </p:nvPicPr>
        <p:blipFill>
          <a:blip r:embed="rId2"/>
          <a:stretch/>
        </p:blipFill>
        <p:spPr>
          <a:xfrm>
            <a:off x="838080" y="2824200"/>
            <a:ext cx="7205400" cy="3739680"/>
          </a:xfrm>
          <a:prstGeom prst="rect">
            <a:avLst/>
          </a:prstGeom>
          <a:noFill/>
          <a:ln w="0">
            <a:noFill/>
          </a:ln>
        </p:spPr>
      </p:pic>
      <p:pic>
        <p:nvPicPr>
          <p:cNvPr id="314" name="Picture 13" descr=""/>
          <p:cNvPicPr/>
          <p:nvPr/>
        </p:nvPicPr>
        <p:blipFill>
          <a:blip r:embed="rId3"/>
          <a:stretch/>
        </p:blipFill>
        <p:spPr>
          <a:xfrm>
            <a:off x="838080" y="2824200"/>
            <a:ext cx="7205400" cy="3739680"/>
          </a:xfrm>
          <a:prstGeom prst="rect">
            <a:avLst/>
          </a:prstGeom>
          <a:noFill/>
          <a:ln w="0">
            <a:noFill/>
          </a:ln>
        </p:spPr>
      </p:pic>
      <p:pic>
        <p:nvPicPr>
          <p:cNvPr id="315" name="Picture 14" descr=""/>
          <p:cNvPicPr/>
          <p:nvPr/>
        </p:nvPicPr>
        <p:blipFill>
          <a:blip r:embed="rId4"/>
          <a:stretch/>
        </p:blipFill>
        <p:spPr>
          <a:xfrm>
            <a:off x="838080" y="2824200"/>
            <a:ext cx="7205400" cy="3739680"/>
          </a:xfrm>
          <a:prstGeom prst="rect">
            <a:avLst/>
          </a:prstGeom>
          <a:noFill/>
          <a:ln w="0">
            <a:noFill/>
          </a:ln>
        </p:spPr>
      </p:pic>
      <p:pic>
        <p:nvPicPr>
          <p:cNvPr id="316" name="Picture 15" descr=""/>
          <p:cNvPicPr/>
          <p:nvPr/>
        </p:nvPicPr>
        <p:blipFill>
          <a:blip r:embed="rId5"/>
          <a:stretch/>
        </p:blipFill>
        <p:spPr>
          <a:xfrm>
            <a:off x="838080" y="2824200"/>
            <a:ext cx="7205400" cy="3739680"/>
          </a:xfrm>
          <a:prstGeom prst="rect">
            <a:avLst/>
          </a:prstGeom>
          <a:noFill/>
          <a:ln w="0">
            <a:noFill/>
          </a:ln>
        </p:spPr>
      </p:pic>
    </p:spTree>
  </p:cSld>
  <p:transition spd="slow">
    <p:wipe dir="r"/>
  </p:transition>
  <p:timing>
    <p:tnLst>
      <p:par>
        <p:cTn id="858" dur="indefinite" restart="never" nodeType="tmRoot">
          <p:childTnLst>
            <p:seq>
              <p:cTn id="859" dur="indefinite" nodeType="mainSeq">
                <p:childTnLst>
                  <p:par>
                    <p:cTn id="860" nodeType="clickEffect" fill="hold">
                      <p:stCondLst>
                        <p:cond delay="0"/>
                      </p:stCondLst>
                      <p:childTnLst>
                        <p:par>
                          <p:cTn id="861" nodeType="withEffect" fill="hold">
                            <p:stCondLst>
                              <p:cond delay="0"/>
                            </p:stCondLst>
                            <p:childTnLst>
                              <p:par>
                                <p:cTn id="862" nodeType="withEffect" fill="hold" presetClass="entr" presetID="22" presetSubtype="8">
                                  <p:stCondLst>
                                    <p:cond delay="0"/>
                                  </p:stCondLst>
                                  <p:childTnLst>
                                    <p:set>
                                      <p:cBhvr>
                                        <p:cTn id="863" dur="1" fill="hold">
                                          <p:stCondLst>
                                            <p:cond delay="0"/>
                                          </p:stCondLst>
                                        </p:cTn>
                                        <p:tgtEl>
                                          <p:spTgt spid="316"/>
                                        </p:tgtEl>
                                        <p:attrNameLst>
                                          <p:attrName>style.visibility</p:attrName>
                                        </p:attrNameLst>
                                      </p:cBhvr>
                                      <p:to>
                                        <p:strVal val="visible"/>
                                      </p:to>
                                    </p:set>
                                    <p:animEffect filter="wipe(left)" transition="in">
                                      <p:cBhvr additive="repl">
                                        <p:cTn id="864"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18" name="PlaceHolder 2"/>
          <p:cNvSpPr>
            <a:spLocks noGrp="1"/>
          </p:cNvSpPr>
          <p:nvPr>
            <p:ph/>
          </p:nvPr>
        </p:nvSpPr>
        <p:spPr>
          <a:xfrm>
            <a:off x="360360" y="1440000"/>
            <a:ext cx="847836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Dave makes an economic profit shown by the blue rectangle. </a:t>
            </a:r>
            <a:endParaRPr b="1" lang="en-CA" sz="2400" strike="noStrike" u="none">
              <a:solidFill>
                <a:srgbClr val="00468f"/>
              </a:solidFill>
              <a:effectLst/>
              <a:uFillTx/>
              <a:latin typeface="Arial"/>
            </a:endParaRPr>
          </a:p>
        </p:txBody>
      </p:sp>
      <p:pic>
        <p:nvPicPr>
          <p:cNvPr id="319" name="Picture 11" descr=""/>
          <p:cNvPicPr/>
          <p:nvPr/>
        </p:nvPicPr>
        <p:blipFill>
          <a:blip r:embed="rId1"/>
          <a:stretch/>
        </p:blipFill>
        <p:spPr>
          <a:xfrm>
            <a:off x="838080" y="2824200"/>
            <a:ext cx="7205400" cy="3739680"/>
          </a:xfrm>
          <a:prstGeom prst="rect">
            <a:avLst/>
          </a:prstGeom>
          <a:noFill/>
          <a:ln w="0">
            <a:noFill/>
          </a:ln>
        </p:spPr>
      </p:pic>
      <p:pic>
        <p:nvPicPr>
          <p:cNvPr id="320" name="Picture 12" descr=""/>
          <p:cNvPicPr/>
          <p:nvPr/>
        </p:nvPicPr>
        <p:blipFill>
          <a:blip r:embed="rId2"/>
          <a:stretch/>
        </p:blipFill>
        <p:spPr>
          <a:xfrm>
            <a:off x="838080" y="2824200"/>
            <a:ext cx="7205400" cy="3739680"/>
          </a:xfrm>
          <a:prstGeom prst="rect">
            <a:avLst/>
          </a:prstGeom>
          <a:noFill/>
          <a:ln w="0">
            <a:noFill/>
          </a:ln>
        </p:spPr>
      </p:pic>
      <p:pic>
        <p:nvPicPr>
          <p:cNvPr id="321" name="Picture 13" descr=""/>
          <p:cNvPicPr/>
          <p:nvPr/>
        </p:nvPicPr>
        <p:blipFill>
          <a:blip r:embed="rId3"/>
          <a:stretch/>
        </p:blipFill>
        <p:spPr>
          <a:xfrm>
            <a:off x="838080" y="2824200"/>
            <a:ext cx="7205400" cy="3739680"/>
          </a:xfrm>
          <a:prstGeom prst="rect">
            <a:avLst/>
          </a:prstGeom>
          <a:noFill/>
          <a:ln w="0">
            <a:noFill/>
          </a:ln>
        </p:spPr>
      </p:pic>
      <p:pic>
        <p:nvPicPr>
          <p:cNvPr id="322" name="Picture 14" descr=""/>
          <p:cNvPicPr/>
          <p:nvPr/>
        </p:nvPicPr>
        <p:blipFill>
          <a:blip r:embed="rId4"/>
          <a:stretch/>
        </p:blipFill>
        <p:spPr>
          <a:xfrm>
            <a:off x="838080" y="2824200"/>
            <a:ext cx="7205400" cy="3739680"/>
          </a:xfrm>
          <a:prstGeom prst="rect">
            <a:avLst/>
          </a:prstGeom>
          <a:noFill/>
          <a:ln w="0">
            <a:noFill/>
          </a:ln>
        </p:spPr>
      </p:pic>
      <p:pic>
        <p:nvPicPr>
          <p:cNvPr id="323" name="Picture 15" descr=""/>
          <p:cNvPicPr/>
          <p:nvPr/>
        </p:nvPicPr>
        <p:blipFill>
          <a:blip r:embed="rId5"/>
          <a:stretch/>
        </p:blipFill>
        <p:spPr>
          <a:xfrm>
            <a:off x="838080" y="2824200"/>
            <a:ext cx="7205400" cy="3739680"/>
          </a:xfrm>
          <a:prstGeom prst="rect">
            <a:avLst/>
          </a:prstGeom>
          <a:noFill/>
          <a:ln w="0">
            <a:noFill/>
          </a:ln>
        </p:spPr>
      </p:pic>
      <p:pic>
        <p:nvPicPr>
          <p:cNvPr id="324" name="Picture 16" descr=""/>
          <p:cNvPicPr/>
          <p:nvPr/>
        </p:nvPicPr>
        <p:blipFill>
          <a:blip r:embed="rId6"/>
          <a:stretch/>
        </p:blipFill>
        <p:spPr>
          <a:xfrm>
            <a:off x="838080" y="2824200"/>
            <a:ext cx="7205400" cy="3739680"/>
          </a:xfrm>
          <a:prstGeom prst="rect">
            <a:avLst/>
          </a:prstGeom>
          <a:noFill/>
          <a:ln w="0">
            <a:noFill/>
          </a:ln>
        </p:spPr>
      </p:pic>
    </p:spTree>
  </p:cSld>
  <p:transition spd="slow">
    <p:wipe dir="r"/>
  </p:transition>
  <p:timing>
    <p:tnLst>
      <p:par>
        <p:cTn id="865" dur="indefinite" restart="never" nodeType="tmRoot">
          <p:childTnLst>
            <p:seq>
              <p:cTn id="866" dur="indefinite" nodeType="mainSeq">
                <p:childTnLst>
                  <p:par>
                    <p:cTn id="867" nodeType="clickEffect" fill="hold">
                      <p:stCondLst>
                        <p:cond delay="0"/>
                      </p:stCondLst>
                      <p:childTnLst>
                        <p:par>
                          <p:cTn id="868" nodeType="withEffect" fill="hold">
                            <p:stCondLst>
                              <p:cond delay="0"/>
                            </p:stCondLst>
                            <p:childTnLst>
                              <p:par>
                                <p:cTn id="869" nodeType="withEffect" fill="hold" presetClass="entr" presetID="10">
                                  <p:stCondLst>
                                    <p:cond delay="0"/>
                                  </p:stCondLst>
                                  <p:childTnLst>
                                    <p:set>
                                      <p:cBhvr>
                                        <p:cTn id="870" dur="1" fill="hold">
                                          <p:stCondLst>
                                            <p:cond delay="0"/>
                                          </p:stCondLst>
                                        </p:cTn>
                                        <p:tgtEl>
                                          <p:spTgt spid="324"/>
                                        </p:tgtEl>
                                        <p:attrNameLst>
                                          <p:attrName>style.visibility</p:attrName>
                                        </p:attrNameLst>
                                      </p:cBhvr>
                                      <p:to>
                                        <p:strVal val="visible"/>
                                      </p:to>
                                    </p:set>
                                    <p:animEffect filter="fade" transition="in">
                                      <p:cBhvr additive="repl">
                                        <p:cTn id="871"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2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Short-Run Equilibrium in Bad Times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In the short-run equilibrium that we’ve just examined, Dave is enjoying an economic profit.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But such an outcome is not inevitable.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Figure 15.9 on the next slide illustrates short-run equilibrium when the firm incurs an economic loss.</a:t>
            </a:r>
            <a:endParaRPr b="1" lang="en-CA" sz="2400" strike="noStrike" u="none">
              <a:solidFill>
                <a:srgbClr val="00468f"/>
              </a:solidFill>
              <a:effectLst/>
              <a:uFillTx/>
              <a:latin typeface="Arial"/>
            </a:endParaRPr>
          </a:p>
        </p:txBody>
      </p:sp>
    </p:spTree>
  </p:cSld>
  <p:transition spd="slow">
    <p:wipe dir="r"/>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28"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(a), with the market supply curve, </a:t>
            </a:r>
            <a:r>
              <a:rPr b="0" i="1" lang="en-US" sz="2400" strike="noStrike" u="none">
                <a:solidFill>
                  <a:srgbClr val="000000"/>
                </a:solidFill>
                <a:effectLst/>
                <a:uFillTx/>
                <a:latin typeface="Arial"/>
                <a:ea typeface="ＭＳ Ｐゴシック"/>
              </a:rPr>
              <a:t>S, </a:t>
            </a:r>
            <a:r>
              <a:rPr b="0" lang="en-US" sz="2400" strike="noStrike" u="none">
                <a:solidFill>
                  <a:srgbClr val="000000"/>
                </a:solidFill>
                <a:effectLst/>
                <a:uFillTx/>
                <a:latin typeface="Arial"/>
                <a:ea typeface="ＭＳ Ｐゴシック"/>
              </a:rPr>
              <a:t>and</a:t>
            </a:r>
            <a:r>
              <a:rPr b="0" i="1" lang="en-US" sz="2400" strike="noStrike" u="none">
                <a:solidFill>
                  <a:srgbClr val="000000"/>
                </a:solidFill>
                <a:effectLst/>
                <a:uFillTx/>
                <a:latin typeface="Arial"/>
                <a:ea typeface="ＭＳ Ｐゴシック"/>
              </a:rPr>
              <a:t> </a:t>
            </a:r>
            <a:r>
              <a:rPr b="0" lang="en-US" sz="2400" strike="noStrike" u="none">
                <a:solidFill>
                  <a:srgbClr val="000000"/>
                </a:solidFill>
                <a:effectLst/>
                <a:uFillTx/>
                <a:latin typeface="Arial"/>
                <a:ea typeface="ＭＳ Ｐゴシック"/>
              </a:rPr>
              <a:t>the market demand curve,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3</a:t>
            </a:r>
            <a:r>
              <a:rPr b="0" lang="en-US" sz="2400" strike="noStrike" u="none">
                <a:solidFill>
                  <a:srgbClr val="000000"/>
                </a:solidFill>
                <a:effectLst/>
                <a:uFillTx/>
                <a:latin typeface="Arial"/>
                <a:ea typeface="ＭＳ Ｐゴシック"/>
              </a:rPr>
              <a:t>, the market price is $3 a can.</a:t>
            </a:r>
            <a:endParaRPr b="1" lang="en-CA" sz="2400" strike="noStrike" u="none">
              <a:solidFill>
                <a:srgbClr val="00468f"/>
              </a:solidFill>
              <a:effectLst/>
              <a:uFillTx/>
              <a:latin typeface="Arial"/>
            </a:endParaRPr>
          </a:p>
        </p:txBody>
      </p:sp>
      <p:pic>
        <p:nvPicPr>
          <p:cNvPr id="329" name="Picture 9" descr=""/>
          <p:cNvPicPr/>
          <p:nvPr/>
        </p:nvPicPr>
        <p:blipFill>
          <a:blip r:embed="rId1"/>
          <a:stretch/>
        </p:blipFill>
        <p:spPr>
          <a:xfrm>
            <a:off x="838080" y="2825640"/>
            <a:ext cx="7205400" cy="3739680"/>
          </a:xfrm>
          <a:prstGeom prst="rect">
            <a:avLst/>
          </a:prstGeom>
          <a:noFill/>
          <a:ln w="0">
            <a:noFill/>
          </a:ln>
        </p:spPr>
      </p:pic>
      <p:pic>
        <p:nvPicPr>
          <p:cNvPr id="330" name="Picture 10" descr=""/>
          <p:cNvPicPr/>
          <p:nvPr/>
        </p:nvPicPr>
        <p:blipFill>
          <a:blip r:embed="rId2"/>
          <a:stretch/>
        </p:blipFill>
        <p:spPr>
          <a:xfrm>
            <a:off x="838080" y="2825640"/>
            <a:ext cx="7205400" cy="3739680"/>
          </a:xfrm>
          <a:prstGeom prst="rect">
            <a:avLst/>
          </a:prstGeom>
          <a:noFill/>
          <a:ln w="0">
            <a:noFill/>
          </a:ln>
        </p:spPr>
      </p:pic>
      <p:pic>
        <p:nvPicPr>
          <p:cNvPr id="331" name="Picture 11" descr=""/>
          <p:cNvPicPr/>
          <p:nvPr/>
        </p:nvPicPr>
        <p:blipFill>
          <a:blip r:embed="rId3"/>
          <a:stretch/>
        </p:blipFill>
        <p:spPr>
          <a:xfrm>
            <a:off x="838080" y="2825640"/>
            <a:ext cx="7205400" cy="3739680"/>
          </a:xfrm>
          <a:prstGeom prst="rect">
            <a:avLst/>
          </a:prstGeom>
          <a:noFill/>
          <a:ln w="0">
            <a:noFill/>
          </a:ln>
        </p:spPr>
      </p:pic>
      <p:pic>
        <p:nvPicPr>
          <p:cNvPr id="332" name="Picture 12" descr=""/>
          <p:cNvPicPr/>
          <p:nvPr/>
        </p:nvPicPr>
        <p:blipFill>
          <a:blip r:embed="rId4"/>
          <a:stretch/>
        </p:blipFill>
        <p:spPr>
          <a:xfrm>
            <a:off x="838080" y="2825640"/>
            <a:ext cx="7205400" cy="3739680"/>
          </a:xfrm>
          <a:prstGeom prst="rect">
            <a:avLst/>
          </a:prstGeom>
          <a:noFill/>
          <a:ln w="0">
            <a:noFill/>
          </a:ln>
        </p:spPr>
      </p:pic>
    </p:spTree>
  </p:cSld>
  <p:transition spd="slow">
    <p:wipe dir="r"/>
  </p:transition>
  <p:timing>
    <p:tnLst>
      <p:par>
        <p:cTn id="872" dur="indefinite" restart="never" nodeType="tmRoot">
          <p:childTnLst>
            <p:seq>
              <p:cTn id="873" dur="indefinite" nodeType="mainSeq">
                <p:childTnLst>
                  <p:par>
                    <p:cTn id="874" nodeType="clickEffect" fill="hold">
                      <p:stCondLst>
                        <p:cond delay="0"/>
                      </p:stCondLst>
                      <p:childTnLst>
                        <p:par>
                          <p:cTn id="875" nodeType="withEffect" fill="hold">
                            <p:stCondLst>
                              <p:cond delay="0"/>
                            </p:stCondLst>
                            <p:childTnLst>
                              <p:par>
                                <p:cTn id="876" nodeType="withEffect" fill="hold" presetClass="entr" presetID="10">
                                  <p:stCondLst>
                                    <p:cond delay="0"/>
                                  </p:stCondLst>
                                  <p:childTnLst>
                                    <p:set>
                                      <p:cBhvr>
                                        <p:cTn id="877" dur="1" fill="hold">
                                          <p:stCondLst>
                                            <p:cond delay="0"/>
                                          </p:stCondLst>
                                        </p:cTn>
                                        <p:tgtEl>
                                          <p:spTgt spid="332"/>
                                        </p:tgtEl>
                                        <p:attrNameLst>
                                          <p:attrName>style.visibility</p:attrName>
                                        </p:attrNameLst>
                                      </p:cBhvr>
                                      <p:to>
                                        <p:strVal val="visible"/>
                                      </p:to>
                                    </p:set>
                                    <p:animEffect filter="fade" transition="in">
                                      <p:cBhvr additive="repl">
                                        <p:cTn id="878" dur="5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33" name="Picture 11" descr=""/>
          <p:cNvPicPr/>
          <p:nvPr/>
        </p:nvPicPr>
        <p:blipFill>
          <a:blip r:embed="rId1"/>
          <a:stretch/>
        </p:blipFill>
        <p:spPr>
          <a:xfrm>
            <a:off x="324000" y="936720"/>
            <a:ext cx="8476920" cy="4400280"/>
          </a:xfrm>
          <a:prstGeom prst="rect">
            <a:avLst/>
          </a:prstGeom>
          <a:noFill/>
          <a:ln w="0">
            <a:noFill/>
          </a:ln>
        </p:spPr>
      </p:pic>
      <p:pic>
        <p:nvPicPr>
          <p:cNvPr id="334" name="Picture 21" descr=""/>
          <p:cNvPicPr/>
          <p:nvPr/>
        </p:nvPicPr>
        <p:blipFill>
          <a:blip r:embed="rId2"/>
          <a:stretch/>
        </p:blipFill>
        <p:spPr>
          <a:xfrm>
            <a:off x="324000" y="936720"/>
            <a:ext cx="8476920" cy="4400280"/>
          </a:xfrm>
          <a:prstGeom prst="rect">
            <a:avLst/>
          </a:prstGeom>
          <a:noFill/>
          <a:ln w="0">
            <a:noFill/>
          </a:ln>
        </p:spPr>
      </p:pic>
      <p:pic>
        <p:nvPicPr>
          <p:cNvPr id="335" name="Picture 22" descr=""/>
          <p:cNvPicPr/>
          <p:nvPr/>
        </p:nvPicPr>
        <p:blipFill>
          <a:blip r:embed="rId3"/>
          <a:stretch/>
        </p:blipFill>
        <p:spPr>
          <a:xfrm>
            <a:off x="324000" y="936720"/>
            <a:ext cx="8476920" cy="4400280"/>
          </a:xfrm>
          <a:prstGeom prst="rect">
            <a:avLst/>
          </a:prstGeom>
          <a:noFill/>
          <a:ln w="0">
            <a:noFill/>
          </a:ln>
        </p:spPr>
      </p:pic>
      <p:pic>
        <p:nvPicPr>
          <p:cNvPr id="336" name="Picture 23" descr=""/>
          <p:cNvPicPr/>
          <p:nvPr/>
        </p:nvPicPr>
        <p:blipFill>
          <a:blip r:embed="rId4"/>
          <a:stretch/>
        </p:blipFill>
        <p:spPr>
          <a:xfrm>
            <a:off x="324000" y="936720"/>
            <a:ext cx="8476920" cy="4400280"/>
          </a:xfrm>
          <a:prstGeom prst="rect">
            <a:avLst/>
          </a:prstGeom>
          <a:noFill/>
          <a:ln w="0">
            <a:noFill/>
          </a:ln>
        </p:spPr>
      </p:pic>
      <p:pic>
        <p:nvPicPr>
          <p:cNvPr id="337" name="Picture 24" descr=""/>
          <p:cNvPicPr/>
          <p:nvPr/>
        </p:nvPicPr>
        <p:blipFill>
          <a:blip r:embed="rId5"/>
          <a:stretch/>
        </p:blipFill>
        <p:spPr>
          <a:xfrm>
            <a:off x="324000" y="936720"/>
            <a:ext cx="8476920" cy="4400280"/>
          </a:xfrm>
          <a:prstGeom prst="rect">
            <a:avLst/>
          </a:prstGeom>
          <a:noFill/>
          <a:ln w="0">
            <a:noFill/>
          </a:ln>
        </p:spPr>
      </p:pic>
      <p:pic>
        <p:nvPicPr>
          <p:cNvPr id="338" name="Picture 25" descr=""/>
          <p:cNvPicPr/>
          <p:nvPr/>
        </p:nvPicPr>
        <p:blipFill>
          <a:blip r:embed="rId6"/>
          <a:stretch/>
        </p:blipFill>
        <p:spPr>
          <a:xfrm>
            <a:off x="324000" y="936720"/>
            <a:ext cx="8476920" cy="4400280"/>
          </a:xfrm>
          <a:prstGeom prst="rect">
            <a:avLst/>
          </a:prstGeom>
          <a:noFill/>
          <a:ln w="0">
            <a:noFill/>
          </a:ln>
        </p:spPr>
      </p:pic>
      <p:pic>
        <p:nvPicPr>
          <p:cNvPr id="339" name="Picture 26" descr=""/>
          <p:cNvPicPr/>
          <p:nvPr/>
        </p:nvPicPr>
        <p:blipFill>
          <a:blip r:embed="rId7"/>
          <a:stretch/>
        </p:blipFill>
        <p:spPr>
          <a:xfrm>
            <a:off x="324000" y="936720"/>
            <a:ext cx="8476920" cy="4400280"/>
          </a:xfrm>
          <a:prstGeom prst="rect">
            <a:avLst/>
          </a:prstGeom>
          <a:noFill/>
          <a:ln w="0">
            <a:noFill/>
          </a:ln>
        </p:spPr>
      </p:pic>
      <p:pic>
        <p:nvPicPr>
          <p:cNvPr id="340" name="Picture 27" descr=""/>
          <p:cNvPicPr/>
          <p:nvPr/>
        </p:nvPicPr>
        <p:blipFill>
          <a:blip r:embed="rId8"/>
          <a:stretch/>
        </p:blipFill>
        <p:spPr>
          <a:xfrm>
            <a:off x="324000" y="936720"/>
            <a:ext cx="8476920" cy="4400280"/>
          </a:xfrm>
          <a:prstGeom prst="rect">
            <a:avLst/>
          </a:prstGeom>
          <a:noFill/>
          <a:ln w="0">
            <a:noFill/>
          </a:ln>
        </p:spPr>
      </p:pic>
      <p:pic>
        <p:nvPicPr>
          <p:cNvPr id="341" name="Picture 28" descr=""/>
          <p:cNvPicPr/>
          <p:nvPr/>
        </p:nvPicPr>
        <p:blipFill>
          <a:blip r:embed="rId9"/>
          <a:stretch/>
        </p:blipFill>
        <p:spPr>
          <a:xfrm>
            <a:off x="324000" y="936720"/>
            <a:ext cx="8476920" cy="4400280"/>
          </a:xfrm>
          <a:prstGeom prst="rect">
            <a:avLst/>
          </a:prstGeom>
          <a:noFill/>
          <a:ln w="0">
            <a:noFill/>
          </a:ln>
        </p:spPr>
      </p:pic>
      <p:pic>
        <p:nvPicPr>
          <p:cNvPr id="342" name="Picture 29" descr=""/>
          <p:cNvPicPr/>
          <p:nvPr/>
        </p:nvPicPr>
        <p:blipFill>
          <a:blip r:embed="rId10"/>
          <a:stretch/>
        </p:blipFill>
        <p:spPr>
          <a:xfrm>
            <a:off x="324000" y="936720"/>
            <a:ext cx="8476920" cy="4400280"/>
          </a:xfrm>
          <a:prstGeom prst="rect">
            <a:avLst/>
          </a:prstGeom>
          <a:noFill/>
          <a:ln w="0">
            <a:noFill/>
          </a:ln>
        </p:spPr>
      </p:pic>
    </p:spTree>
  </p:cSld>
  <p:transition spd="slow">
    <p:wipe dir="r"/>
  </p:transition>
  <p:timing>
    <p:tnLst>
      <p:par>
        <p:cTn id="879" dur="indefinite" restart="never" nodeType="tmRoot">
          <p:childTnLst>
            <p:seq>
              <p:cTn id="880" dur="indefinite" nodeType="mainSeq">
                <p:childTnLst>
                  <p:par>
                    <p:cTn id="881" nodeType="clickEffect" fill="hold">
                      <p:stCondLst>
                        <p:cond delay="indefinite"/>
                      </p:stCondLst>
                      <p:childTnLst>
                        <p:par>
                          <p:cTn id="882" nodeType="withEffect" fill="hold">
                            <p:stCondLst>
                              <p:cond delay="0"/>
                            </p:stCondLst>
                            <p:childTnLst>
                              <p:par>
                                <p:cTn id="883" nodeType="clickEffect" fill="hold" presetClass="entr" presetID="22" presetSubtype="8">
                                  <p:stCondLst>
                                    <p:cond delay="0"/>
                                  </p:stCondLst>
                                  <p:childTnLst>
                                    <p:set>
                                      <p:cBhvr>
                                        <p:cTn id="884" dur="1" fill="hold">
                                          <p:stCondLst>
                                            <p:cond delay="0"/>
                                          </p:stCondLst>
                                        </p:cTn>
                                        <p:tgtEl>
                                          <p:spTgt spid="334"/>
                                        </p:tgtEl>
                                        <p:attrNameLst>
                                          <p:attrName>style.visibility</p:attrName>
                                        </p:attrNameLst>
                                      </p:cBhvr>
                                      <p:to>
                                        <p:strVal val="visible"/>
                                      </p:to>
                                    </p:set>
                                    <p:animEffect filter="wipe(left)" transition="in">
                                      <p:cBhvr additive="repl">
                                        <p:cTn id="885" dur="1000"/>
                                        <p:tgtEl>
                                          <p:spTgt spid="334"/>
                                        </p:tgtEl>
                                      </p:cBhvr>
                                    </p:animEffect>
                                  </p:childTnLst>
                                </p:cTn>
                              </p:par>
                            </p:childTnLst>
                          </p:cTn>
                        </p:par>
                      </p:childTnLst>
                    </p:cTn>
                  </p:par>
                  <p:par>
                    <p:cTn id="886" nodeType="clickEffect" fill="hold">
                      <p:stCondLst>
                        <p:cond delay="indefinite"/>
                      </p:stCondLst>
                      <p:childTnLst>
                        <p:par>
                          <p:cTn id="887" nodeType="withEffect" fill="hold">
                            <p:stCondLst>
                              <p:cond delay="0"/>
                            </p:stCondLst>
                            <p:childTnLst>
                              <p:par>
                                <p:cTn id="888" nodeType="clickEffect" fill="hold" presetClass="entr" presetID="22" presetSubtype="8">
                                  <p:stCondLst>
                                    <p:cond delay="0"/>
                                  </p:stCondLst>
                                  <p:childTnLst>
                                    <p:set>
                                      <p:cBhvr>
                                        <p:cTn id="889" dur="1" fill="hold">
                                          <p:stCondLst>
                                            <p:cond delay="0"/>
                                          </p:stCondLst>
                                        </p:cTn>
                                        <p:tgtEl>
                                          <p:spTgt spid="335"/>
                                        </p:tgtEl>
                                        <p:attrNameLst>
                                          <p:attrName>style.visibility</p:attrName>
                                        </p:attrNameLst>
                                      </p:cBhvr>
                                      <p:to>
                                        <p:strVal val="visible"/>
                                      </p:to>
                                    </p:set>
                                    <p:animEffect filter="wipe(left)" transition="in">
                                      <p:cBhvr additive="repl">
                                        <p:cTn id="890" dur="1000"/>
                                        <p:tgtEl>
                                          <p:spTgt spid="335"/>
                                        </p:tgtEl>
                                      </p:cBhvr>
                                    </p:animEffect>
                                  </p:childTnLst>
                                </p:cTn>
                              </p:par>
                            </p:childTnLst>
                          </p:cTn>
                        </p:par>
                      </p:childTnLst>
                    </p:cTn>
                  </p:par>
                  <p:par>
                    <p:cTn id="891" nodeType="clickEffect" fill="hold">
                      <p:stCondLst>
                        <p:cond delay="indefinite"/>
                      </p:stCondLst>
                      <p:childTnLst>
                        <p:par>
                          <p:cTn id="892" nodeType="withEffect" fill="hold">
                            <p:stCondLst>
                              <p:cond delay="0"/>
                            </p:stCondLst>
                            <p:childTnLst>
                              <p:par>
                                <p:cTn id="893" nodeType="clickEffect" fill="hold" presetClass="entr" presetID="10">
                                  <p:stCondLst>
                                    <p:cond delay="0"/>
                                  </p:stCondLst>
                                  <p:childTnLst>
                                    <p:set>
                                      <p:cBhvr>
                                        <p:cTn id="894" dur="1" fill="hold">
                                          <p:stCondLst>
                                            <p:cond delay="0"/>
                                          </p:stCondLst>
                                        </p:cTn>
                                        <p:tgtEl>
                                          <p:spTgt spid="336"/>
                                        </p:tgtEl>
                                        <p:attrNameLst>
                                          <p:attrName>style.visibility</p:attrName>
                                        </p:attrNameLst>
                                      </p:cBhvr>
                                      <p:to>
                                        <p:strVal val="visible"/>
                                      </p:to>
                                    </p:set>
                                    <p:animEffect filter="fade" transition="in">
                                      <p:cBhvr additive="repl">
                                        <p:cTn id="895" dur="500"/>
                                        <p:tgtEl>
                                          <p:spTgt spid="336"/>
                                        </p:tgtEl>
                                      </p:cBhvr>
                                    </p:animEffect>
                                  </p:childTnLst>
                                </p:cTn>
                              </p:par>
                            </p:childTnLst>
                          </p:cTn>
                        </p:par>
                      </p:childTnLst>
                    </p:cTn>
                  </p:par>
                  <p:par>
                    <p:cTn id="896" nodeType="clickEffect" fill="hold">
                      <p:stCondLst>
                        <p:cond delay="indefinite"/>
                      </p:stCondLst>
                      <p:childTnLst>
                        <p:par>
                          <p:cTn id="897" nodeType="withEffect" fill="hold">
                            <p:stCondLst>
                              <p:cond delay="0"/>
                            </p:stCondLst>
                            <p:childTnLst>
                              <p:par>
                                <p:cTn id="898" nodeType="clickEffect" fill="hold" presetClass="entr" presetID="22" presetSubtype="8">
                                  <p:stCondLst>
                                    <p:cond delay="0"/>
                                  </p:stCondLst>
                                  <p:childTnLst>
                                    <p:set>
                                      <p:cBhvr>
                                        <p:cTn id="899" dur="1" fill="hold">
                                          <p:stCondLst>
                                            <p:cond delay="0"/>
                                          </p:stCondLst>
                                        </p:cTn>
                                        <p:tgtEl>
                                          <p:spTgt spid="337"/>
                                        </p:tgtEl>
                                        <p:attrNameLst>
                                          <p:attrName>style.visibility</p:attrName>
                                        </p:attrNameLst>
                                      </p:cBhvr>
                                      <p:to>
                                        <p:strVal val="visible"/>
                                      </p:to>
                                    </p:set>
                                    <p:animEffect filter="wipe(left)" transition="in">
                                      <p:cBhvr additive="repl">
                                        <p:cTn id="900" dur="1000"/>
                                        <p:tgtEl>
                                          <p:spTgt spid="337"/>
                                        </p:tgtEl>
                                      </p:cBhvr>
                                    </p:animEffect>
                                  </p:childTnLst>
                                </p:cTn>
                              </p:par>
                            </p:childTnLst>
                          </p:cTn>
                        </p:par>
                      </p:childTnLst>
                    </p:cTn>
                  </p:par>
                  <p:par>
                    <p:cTn id="901" nodeType="clickEffect" fill="hold">
                      <p:stCondLst>
                        <p:cond delay="indefinite"/>
                      </p:stCondLst>
                      <p:childTnLst>
                        <p:par>
                          <p:cTn id="902" nodeType="withEffect" fill="hold">
                            <p:stCondLst>
                              <p:cond delay="0"/>
                            </p:stCondLst>
                            <p:childTnLst>
                              <p:par>
                                <p:cTn id="903" nodeType="clickEffect" fill="hold" presetClass="entr" presetID="22" presetSubtype="8">
                                  <p:stCondLst>
                                    <p:cond delay="0"/>
                                  </p:stCondLst>
                                  <p:childTnLst>
                                    <p:set>
                                      <p:cBhvr>
                                        <p:cTn id="904" dur="1" fill="hold">
                                          <p:stCondLst>
                                            <p:cond delay="0"/>
                                          </p:stCondLst>
                                        </p:cTn>
                                        <p:tgtEl>
                                          <p:spTgt spid="338"/>
                                        </p:tgtEl>
                                        <p:attrNameLst>
                                          <p:attrName>style.visibility</p:attrName>
                                        </p:attrNameLst>
                                      </p:cBhvr>
                                      <p:to>
                                        <p:strVal val="visible"/>
                                      </p:to>
                                    </p:set>
                                    <p:animEffect filter="wipe(left)" transition="in">
                                      <p:cBhvr additive="repl">
                                        <p:cTn id="905" dur="1000"/>
                                        <p:tgtEl>
                                          <p:spTgt spid="338"/>
                                        </p:tgtEl>
                                      </p:cBhvr>
                                    </p:animEffect>
                                  </p:childTnLst>
                                </p:cTn>
                              </p:par>
                            </p:childTnLst>
                          </p:cTn>
                        </p:par>
                      </p:childTnLst>
                    </p:cTn>
                  </p:par>
                  <p:par>
                    <p:cTn id="906" nodeType="clickEffect" fill="hold">
                      <p:stCondLst>
                        <p:cond delay="indefinite"/>
                      </p:stCondLst>
                      <p:childTnLst>
                        <p:par>
                          <p:cTn id="907" nodeType="withEffect" fill="hold">
                            <p:stCondLst>
                              <p:cond delay="0"/>
                            </p:stCondLst>
                            <p:childTnLst>
                              <p:par>
                                <p:cTn id="908" nodeType="clickEffect" fill="hold" presetClass="entr" presetID="22" presetSubtype="8">
                                  <p:stCondLst>
                                    <p:cond delay="0"/>
                                  </p:stCondLst>
                                  <p:childTnLst>
                                    <p:set>
                                      <p:cBhvr>
                                        <p:cTn id="909" dur="1" fill="hold">
                                          <p:stCondLst>
                                            <p:cond delay="0"/>
                                          </p:stCondLst>
                                        </p:cTn>
                                        <p:tgtEl>
                                          <p:spTgt spid="339"/>
                                        </p:tgtEl>
                                        <p:attrNameLst>
                                          <p:attrName>style.visibility</p:attrName>
                                        </p:attrNameLst>
                                      </p:cBhvr>
                                      <p:to>
                                        <p:strVal val="visible"/>
                                      </p:to>
                                    </p:set>
                                    <p:animEffect filter="wipe(left)" transition="in">
                                      <p:cBhvr additive="repl">
                                        <p:cTn id="910" dur="1000"/>
                                        <p:tgtEl>
                                          <p:spTgt spid="339"/>
                                        </p:tgtEl>
                                      </p:cBhvr>
                                    </p:animEffect>
                                  </p:childTnLst>
                                </p:cTn>
                              </p:par>
                            </p:childTnLst>
                          </p:cTn>
                        </p:par>
                      </p:childTnLst>
                    </p:cTn>
                  </p:par>
                  <p:par>
                    <p:cTn id="911" nodeType="clickEffect" fill="hold">
                      <p:stCondLst>
                        <p:cond delay="indefinite"/>
                      </p:stCondLst>
                      <p:childTnLst>
                        <p:par>
                          <p:cTn id="912" nodeType="withEffect" fill="hold">
                            <p:stCondLst>
                              <p:cond delay="0"/>
                            </p:stCondLst>
                            <p:childTnLst>
                              <p:par>
                                <p:cTn id="913" nodeType="clickEffect" fill="hold" presetClass="entr" presetID="22" presetSubtype="8">
                                  <p:stCondLst>
                                    <p:cond delay="0"/>
                                  </p:stCondLst>
                                  <p:childTnLst>
                                    <p:set>
                                      <p:cBhvr>
                                        <p:cTn id="914" dur="1" fill="hold">
                                          <p:stCondLst>
                                            <p:cond delay="0"/>
                                          </p:stCondLst>
                                        </p:cTn>
                                        <p:tgtEl>
                                          <p:spTgt spid="340"/>
                                        </p:tgtEl>
                                        <p:attrNameLst>
                                          <p:attrName>style.visibility</p:attrName>
                                        </p:attrNameLst>
                                      </p:cBhvr>
                                      <p:to>
                                        <p:strVal val="visible"/>
                                      </p:to>
                                    </p:set>
                                    <p:animEffect filter="wipe(left)" transition="in">
                                      <p:cBhvr additive="repl">
                                        <p:cTn id="915" dur="1000"/>
                                        <p:tgtEl>
                                          <p:spTgt spid="340"/>
                                        </p:tgtEl>
                                      </p:cBhvr>
                                    </p:animEffect>
                                  </p:childTnLst>
                                </p:cTn>
                              </p:par>
                            </p:childTnLst>
                          </p:cTn>
                        </p:par>
                      </p:childTnLst>
                    </p:cTn>
                  </p:par>
                  <p:par>
                    <p:cTn id="916" nodeType="clickEffect" fill="hold">
                      <p:stCondLst>
                        <p:cond delay="indefinite"/>
                      </p:stCondLst>
                      <p:childTnLst>
                        <p:par>
                          <p:cTn id="917" nodeType="withEffect" fill="hold">
                            <p:stCondLst>
                              <p:cond delay="0"/>
                            </p:stCondLst>
                            <p:childTnLst>
                              <p:par>
                                <p:cTn id="918" nodeType="clickEffect" fill="hold" presetClass="entr" presetID="22" presetSubtype="8">
                                  <p:stCondLst>
                                    <p:cond delay="0"/>
                                  </p:stCondLst>
                                  <p:childTnLst>
                                    <p:set>
                                      <p:cBhvr>
                                        <p:cTn id="919" dur="1" fill="hold">
                                          <p:stCondLst>
                                            <p:cond delay="0"/>
                                          </p:stCondLst>
                                        </p:cTn>
                                        <p:tgtEl>
                                          <p:spTgt spid="341"/>
                                        </p:tgtEl>
                                        <p:attrNameLst>
                                          <p:attrName>style.visibility</p:attrName>
                                        </p:attrNameLst>
                                      </p:cBhvr>
                                      <p:to>
                                        <p:strVal val="visible"/>
                                      </p:to>
                                    </p:set>
                                    <p:animEffect filter="wipe(left)" transition="in">
                                      <p:cBhvr additive="repl">
                                        <p:cTn id="920" dur="1000"/>
                                        <p:tgtEl>
                                          <p:spTgt spid="341"/>
                                        </p:tgtEl>
                                      </p:cBhvr>
                                    </p:animEffect>
                                  </p:childTnLst>
                                </p:cTn>
                              </p:par>
                            </p:childTnLst>
                          </p:cTn>
                        </p:par>
                      </p:childTnLst>
                    </p:cTn>
                  </p:par>
                  <p:par>
                    <p:cTn id="921" nodeType="clickEffect" fill="hold">
                      <p:stCondLst>
                        <p:cond delay="indefinite"/>
                      </p:stCondLst>
                      <p:childTnLst>
                        <p:par>
                          <p:cTn id="922" nodeType="withEffect" fill="hold">
                            <p:stCondLst>
                              <p:cond delay="0"/>
                            </p:stCondLst>
                            <p:childTnLst>
                              <p:par>
                                <p:cTn id="923" nodeType="clickEffect" fill="hold" presetClass="entr" presetID="10">
                                  <p:stCondLst>
                                    <p:cond delay="0"/>
                                  </p:stCondLst>
                                  <p:childTnLst>
                                    <p:set>
                                      <p:cBhvr>
                                        <p:cTn id="924" dur="1" fill="hold">
                                          <p:stCondLst>
                                            <p:cond delay="0"/>
                                          </p:stCondLst>
                                        </p:cTn>
                                        <p:tgtEl>
                                          <p:spTgt spid="342"/>
                                        </p:tgtEl>
                                        <p:attrNameLst>
                                          <p:attrName>style.visibility</p:attrName>
                                        </p:attrNameLst>
                                      </p:cBhvr>
                                      <p:to>
                                        <p:strVal val="visible"/>
                                      </p:to>
                                    </p:set>
                                    <p:animEffect filter="fade" transition="in">
                                      <p:cBhvr additive="repl">
                                        <p:cTn id="925" dur="5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44" name="PlaceHolder 2"/>
          <p:cNvSpPr>
            <a:spLocks noGrp="1"/>
          </p:cNvSpPr>
          <p:nvPr>
            <p:ph/>
          </p:nvPr>
        </p:nvSpPr>
        <p:spPr>
          <a:xfrm>
            <a:off x="360360" y="1440000"/>
            <a:ext cx="840240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(b), Dave’s marginal revenue is $3 a can.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Dave produces 7 cans a day, where marginal cost equals marginal revenue and not less than average variable cost. </a:t>
            </a:r>
            <a:endParaRPr b="1" lang="en-CA" sz="2400" strike="noStrike" u="none">
              <a:solidFill>
                <a:srgbClr val="00468f"/>
              </a:solidFill>
              <a:effectLst/>
              <a:uFillTx/>
              <a:latin typeface="Arial"/>
            </a:endParaRPr>
          </a:p>
        </p:txBody>
      </p:sp>
      <p:pic>
        <p:nvPicPr>
          <p:cNvPr id="345" name="Picture 12" descr=""/>
          <p:cNvPicPr/>
          <p:nvPr/>
        </p:nvPicPr>
        <p:blipFill>
          <a:blip r:embed="rId1"/>
          <a:stretch/>
        </p:blipFill>
        <p:spPr>
          <a:xfrm>
            <a:off x="838080" y="2825640"/>
            <a:ext cx="7205400" cy="3739680"/>
          </a:xfrm>
          <a:prstGeom prst="rect">
            <a:avLst/>
          </a:prstGeom>
          <a:noFill/>
          <a:ln w="0">
            <a:noFill/>
          </a:ln>
        </p:spPr>
      </p:pic>
      <p:pic>
        <p:nvPicPr>
          <p:cNvPr id="346" name="Picture 13" descr=""/>
          <p:cNvPicPr/>
          <p:nvPr/>
        </p:nvPicPr>
        <p:blipFill>
          <a:blip r:embed="rId2"/>
          <a:stretch/>
        </p:blipFill>
        <p:spPr>
          <a:xfrm>
            <a:off x="838080" y="2825640"/>
            <a:ext cx="7205400" cy="3739680"/>
          </a:xfrm>
          <a:prstGeom prst="rect">
            <a:avLst/>
          </a:prstGeom>
          <a:noFill/>
          <a:ln w="0">
            <a:noFill/>
          </a:ln>
        </p:spPr>
      </p:pic>
      <p:pic>
        <p:nvPicPr>
          <p:cNvPr id="347" name="Picture 14" descr=""/>
          <p:cNvPicPr/>
          <p:nvPr/>
        </p:nvPicPr>
        <p:blipFill>
          <a:blip r:embed="rId3"/>
          <a:stretch/>
        </p:blipFill>
        <p:spPr>
          <a:xfrm>
            <a:off x="838080" y="2825640"/>
            <a:ext cx="7205400" cy="3739680"/>
          </a:xfrm>
          <a:prstGeom prst="rect">
            <a:avLst/>
          </a:prstGeom>
          <a:noFill/>
          <a:ln w="0">
            <a:noFill/>
          </a:ln>
        </p:spPr>
      </p:pic>
      <p:pic>
        <p:nvPicPr>
          <p:cNvPr id="348" name="Picture 15" descr=""/>
          <p:cNvPicPr/>
          <p:nvPr/>
        </p:nvPicPr>
        <p:blipFill>
          <a:blip r:embed="rId4"/>
          <a:stretch/>
        </p:blipFill>
        <p:spPr>
          <a:xfrm>
            <a:off x="838080" y="2825640"/>
            <a:ext cx="7205400" cy="3739680"/>
          </a:xfrm>
          <a:prstGeom prst="rect">
            <a:avLst/>
          </a:prstGeom>
          <a:noFill/>
          <a:ln w="0">
            <a:noFill/>
          </a:ln>
        </p:spPr>
      </p:pic>
      <p:pic>
        <p:nvPicPr>
          <p:cNvPr id="349" name="Picture 16" descr=""/>
          <p:cNvPicPr/>
          <p:nvPr/>
        </p:nvPicPr>
        <p:blipFill>
          <a:blip r:embed="rId5"/>
          <a:stretch/>
        </p:blipFill>
        <p:spPr>
          <a:xfrm>
            <a:off x="838080" y="2825640"/>
            <a:ext cx="7205400" cy="3739680"/>
          </a:xfrm>
          <a:prstGeom prst="rect">
            <a:avLst/>
          </a:prstGeom>
          <a:noFill/>
          <a:ln w="0">
            <a:noFill/>
          </a:ln>
        </p:spPr>
      </p:pic>
      <p:pic>
        <p:nvPicPr>
          <p:cNvPr id="350" name="Picture 17" descr=""/>
          <p:cNvPicPr/>
          <p:nvPr/>
        </p:nvPicPr>
        <p:blipFill>
          <a:blip r:embed="rId6"/>
          <a:stretch/>
        </p:blipFill>
        <p:spPr>
          <a:xfrm>
            <a:off x="838080" y="2825640"/>
            <a:ext cx="7205400" cy="3739680"/>
          </a:xfrm>
          <a:prstGeom prst="rect">
            <a:avLst/>
          </a:prstGeom>
          <a:noFill/>
          <a:ln w="0">
            <a:noFill/>
          </a:ln>
        </p:spPr>
      </p:pic>
      <p:pic>
        <p:nvPicPr>
          <p:cNvPr id="351" name="Picture 22" descr=""/>
          <p:cNvPicPr/>
          <p:nvPr/>
        </p:nvPicPr>
        <p:blipFill>
          <a:blip r:embed="rId7"/>
          <a:stretch/>
        </p:blipFill>
        <p:spPr>
          <a:xfrm>
            <a:off x="838080" y="2825640"/>
            <a:ext cx="7205400" cy="3739680"/>
          </a:xfrm>
          <a:prstGeom prst="rect">
            <a:avLst/>
          </a:prstGeom>
          <a:noFill/>
          <a:ln w="0">
            <a:noFill/>
          </a:ln>
        </p:spPr>
      </p:pic>
      <p:pic>
        <p:nvPicPr>
          <p:cNvPr id="352" name="Picture 23" descr=""/>
          <p:cNvPicPr/>
          <p:nvPr/>
        </p:nvPicPr>
        <p:blipFill>
          <a:blip r:embed="rId8"/>
          <a:stretch/>
        </p:blipFill>
        <p:spPr>
          <a:xfrm>
            <a:off x="838080" y="2825640"/>
            <a:ext cx="7205400" cy="3739680"/>
          </a:xfrm>
          <a:prstGeom prst="rect">
            <a:avLst/>
          </a:prstGeom>
          <a:noFill/>
          <a:ln w="0">
            <a:noFill/>
          </a:ln>
        </p:spPr>
      </p:pic>
    </p:spTree>
  </p:cSld>
  <p:transition spd="slow">
    <p:wipe dir="r"/>
  </p:transition>
  <p:timing>
    <p:tnLst>
      <p:par>
        <p:cTn id="926" dur="indefinite" restart="never" nodeType="tmRoot">
          <p:childTnLst>
            <p:seq>
              <p:cTn id="927" dur="indefinite" nodeType="mainSeq">
                <p:childTnLst>
                  <p:par>
                    <p:cTn id="928" nodeType="clickEffect" fill="hold">
                      <p:stCondLst>
                        <p:cond delay="0"/>
                      </p:stCondLst>
                      <p:childTnLst>
                        <p:par>
                          <p:cTn id="929" nodeType="withEffect" fill="hold">
                            <p:stCondLst>
                              <p:cond delay="0"/>
                            </p:stCondLst>
                            <p:childTnLst>
                              <p:par>
                                <p:cTn id="930" nodeType="withEffect" fill="hold" presetClass="entr" presetID="22" presetSubtype="8">
                                  <p:stCondLst>
                                    <p:cond delay="0"/>
                                  </p:stCondLst>
                                  <p:childTnLst>
                                    <p:set>
                                      <p:cBhvr>
                                        <p:cTn id="931" dur="1" fill="hold">
                                          <p:stCondLst>
                                            <p:cond delay="0"/>
                                          </p:stCondLst>
                                        </p:cTn>
                                        <p:tgtEl>
                                          <p:spTgt spid="349"/>
                                        </p:tgtEl>
                                        <p:attrNameLst>
                                          <p:attrName>style.visibility</p:attrName>
                                        </p:attrNameLst>
                                      </p:cBhvr>
                                      <p:to>
                                        <p:strVal val="visible"/>
                                      </p:to>
                                    </p:set>
                                    <p:animEffect filter="wipe(left)" transition="in">
                                      <p:cBhvr additive="repl">
                                        <p:cTn id="932" dur="1000"/>
                                        <p:tgtEl>
                                          <p:spTgt spid="349"/>
                                        </p:tgtEl>
                                      </p:cBhvr>
                                    </p:animEffect>
                                  </p:childTnLst>
                                </p:cTn>
                              </p:par>
                            </p:childTnLst>
                          </p:cTn>
                        </p:par>
                      </p:childTnLst>
                    </p:cTn>
                  </p:par>
                  <p:par>
                    <p:cTn id="933" nodeType="clickEffect" fill="hold">
                      <p:stCondLst>
                        <p:cond delay="indefinite"/>
                      </p:stCondLst>
                      <p:childTnLst>
                        <p:par>
                          <p:cTn id="934" nodeType="withEffect" fill="hold">
                            <p:stCondLst>
                              <p:cond delay="0"/>
                            </p:stCondLst>
                            <p:childTnLst>
                              <p:par>
                                <p:cTn id="935" nodeType="clickEffect" fill="hold" presetClass="entr" presetID="22" presetSubtype="8">
                                  <p:stCondLst>
                                    <p:cond delay="0"/>
                                  </p:stCondLst>
                                  <p:childTnLst>
                                    <p:set>
                                      <p:cBhvr>
                                        <p:cTn id="936" dur="1" fill="hold">
                                          <p:stCondLst>
                                            <p:cond delay="0"/>
                                          </p:stCondLst>
                                        </p:cTn>
                                        <p:tgtEl>
                                          <p:spTgt spid="344">
                                            <p:txEl>
                                              <p:pRg st="1" end="1"/>
                                            </p:txEl>
                                          </p:spTgt>
                                        </p:tgtEl>
                                        <p:attrNameLst>
                                          <p:attrName>style.visibility</p:attrName>
                                        </p:attrNameLst>
                                      </p:cBhvr>
                                      <p:to>
                                        <p:strVal val="visible"/>
                                      </p:to>
                                    </p:set>
                                    <p:animEffect filter="wipe(left)" transition="in">
                                      <p:cBhvr additive="repl">
                                        <p:cTn id="937" dur="500"/>
                                        <p:tgtEl>
                                          <p:spTgt spid="344">
                                            <p:txEl>
                                              <p:pRg st="1" end="1"/>
                                            </p:txEl>
                                          </p:spTgt>
                                        </p:tgtEl>
                                      </p:cBhvr>
                                    </p:animEffect>
                                  </p:childTnLst>
                                </p:cTn>
                              </p:par>
                              <p:par>
                                <p:cTn id="938" nodeType="withEffect" fill="hold" presetClass="entr" presetID="22" presetSubtype="8">
                                  <p:stCondLst>
                                    <p:cond delay="0"/>
                                  </p:stCondLst>
                                  <p:childTnLst>
                                    <p:set>
                                      <p:cBhvr>
                                        <p:cTn id="939" dur="1" fill="hold">
                                          <p:stCondLst>
                                            <p:cond delay="0"/>
                                          </p:stCondLst>
                                        </p:cTn>
                                        <p:tgtEl>
                                          <p:spTgt spid="350"/>
                                        </p:tgtEl>
                                        <p:attrNameLst>
                                          <p:attrName>style.visibility</p:attrName>
                                        </p:attrNameLst>
                                      </p:cBhvr>
                                      <p:to>
                                        <p:strVal val="visible"/>
                                      </p:to>
                                    </p:set>
                                    <p:animEffect filter="wipe(left)" transition="in">
                                      <p:cBhvr additive="repl">
                                        <p:cTn id="940" dur="1000"/>
                                        <p:tgtEl>
                                          <p:spTgt spid="350"/>
                                        </p:tgtEl>
                                      </p:cBhvr>
                                    </p:animEffect>
                                  </p:childTnLst>
                                </p:cTn>
                              </p:par>
                              <p:par>
                                <p:cTn id="941" nodeType="withEffect" fill="hold" presetClass="entr" presetID="22" presetSubtype="8">
                                  <p:stCondLst>
                                    <p:cond delay="1000"/>
                                  </p:stCondLst>
                                  <p:childTnLst>
                                    <p:set>
                                      <p:cBhvr>
                                        <p:cTn id="942" dur="1" fill="hold">
                                          <p:stCondLst>
                                            <p:cond delay="0"/>
                                          </p:stCondLst>
                                        </p:cTn>
                                        <p:tgtEl>
                                          <p:spTgt spid="351"/>
                                        </p:tgtEl>
                                        <p:attrNameLst>
                                          <p:attrName>style.visibility</p:attrName>
                                        </p:attrNameLst>
                                      </p:cBhvr>
                                      <p:to>
                                        <p:strVal val="visible"/>
                                      </p:to>
                                    </p:set>
                                    <p:animEffect filter="wipe(left)" transition="in">
                                      <p:cBhvr additive="repl">
                                        <p:cTn id="943" dur="1000"/>
                                        <p:tgtEl>
                                          <p:spTgt spid="351"/>
                                        </p:tgtEl>
                                      </p:cBhvr>
                                    </p:animEffect>
                                  </p:childTnLst>
                                </p:cTn>
                              </p:par>
                              <p:par>
                                <p:cTn id="944" nodeType="withEffect" fill="hold" presetClass="entr" presetID="22" presetSubtype="8">
                                  <p:stCondLst>
                                    <p:cond delay="2000"/>
                                  </p:stCondLst>
                                  <p:childTnLst>
                                    <p:set>
                                      <p:cBhvr>
                                        <p:cTn id="945" dur="1" fill="hold">
                                          <p:stCondLst>
                                            <p:cond delay="0"/>
                                          </p:stCondLst>
                                        </p:cTn>
                                        <p:tgtEl>
                                          <p:spTgt spid="352"/>
                                        </p:tgtEl>
                                        <p:attrNameLst>
                                          <p:attrName>style.visibility</p:attrName>
                                        </p:attrNameLst>
                                      </p:cBhvr>
                                      <p:to>
                                        <p:strVal val="visible"/>
                                      </p:to>
                                    </p:set>
                                    <p:animEffect filter="wipe(left)" transition="in">
                                      <p:cBhvr additive="repl">
                                        <p:cTn id="946"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15.2  OUTPUT, PRICE, PROFIT IN THE SHORT RUN</a:t>
            </a:r>
            <a:endParaRPr b="0" lang="en-CA" sz="2600" strike="noStrike" u="none">
              <a:solidFill>
                <a:schemeClr val="dk1"/>
              </a:solidFill>
              <a:effectLst/>
              <a:uFillTx/>
              <a:latin typeface="Arial"/>
            </a:endParaRPr>
          </a:p>
        </p:txBody>
      </p:sp>
      <p:sp>
        <p:nvSpPr>
          <p:cNvPr id="354" name="PlaceHolder 2"/>
          <p:cNvSpPr>
            <a:spLocks noGrp="1"/>
          </p:cNvSpPr>
          <p:nvPr>
            <p:ph/>
          </p:nvPr>
        </p:nvSpPr>
        <p:spPr>
          <a:xfrm>
            <a:off x="360360" y="1440000"/>
            <a:ext cx="847836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this quantity, price ($3 a can) is less than average total cost ($5.14 a can).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Dave incurs an economic loss shown by the red rectangle.</a:t>
            </a:r>
            <a:endParaRPr b="1" lang="en-CA" sz="2400" strike="noStrike" u="none">
              <a:solidFill>
                <a:srgbClr val="00468f"/>
              </a:solidFill>
              <a:effectLst/>
              <a:uFillTx/>
              <a:latin typeface="Arial"/>
            </a:endParaRPr>
          </a:p>
        </p:txBody>
      </p:sp>
      <p:pic>
        <p:nvPicPr>
          <p:cNvPr id="355" name="Picture 14" descr=""/>
          <p:cNvPicPr/>
          <p:nvPr/>
        </p:nvPicPr>
        <p:blipFill>
          <a:blip r:embed="rId1"/>
          <a:stretch/>
        </p:blipFill>
        <p:spPr>
          <a:xfrm>
            <a:off x="838080" y="2825640"/>
            <a:ext cx="7205400" cy="3739680"/>
          </a:xfrm>
          <a:prstGeom prst="rect">
            <a:avLst/>
          </a:prstGeom>
          <a:noFill/>
          <a:ln w="0">
            <a:noFill/>
          </a:ln>
        </p:spPr>
      </p:pic>
      <p:pic>
        <p:nvPicPr>
          <p:cNvPr id="356" name="Picture 15" descr=""/>
          <p:cNvPicPr/>
          <p:nvPr/>
        </p:nvPicPr>
        <p:blipFill>
          <a:blip r:embed="rId2"/>
          <a:stretch/>
        </p:blipFill>
        <p:spPr>
          <a:xfrm>
            <a:off x="838080" y="2825640"/>
            <a:ext cx="7205400" cy="3739680"/>
          </a:xfrm>
          <a:prstGeom prst="rect">
            <a:avLst/>
          </a:prstGeom>
          <a:noFill/>
          <a:ln w="0">
            <a:noFill/>
          </a:ln>
        </p:spPr>
      </p:pic>
      <p:pic>
        <p:nvPicPr>
          <p:cNvPr id="357" name="Picture 16" descr=""/>
          <p:cNvPicPr/>
          <p:nvPr/>
        </p:nvPicPr>
        <p:blipFill>
          <a:blip r:embed="rId3"/>
          <a:stretch/>
        </p:blipFill>
        <p:spPr>
          <a:xfrm>
            <a:off x="838080" y="2825640"/>
            <a:ext cx="7205400" cy="3739680"/>
          </a:xfrm>
          <a:prstGeom prst="rect">
            <a:avLst/>
          </a:prstGeom>
          <a:noFill/>
          <a:ln w="0">
            <a:noFill/>
          </a:ln>
        </p:spPr>
      </p:pic>
      <p:pic>
        <p:nvPicPr>
          <p:cNvPr id="358" name="Picture 17" descr=""/>
          <p:cNvPicPr/>
          <p:nvPr/>
        </p:nvPicPr>
        <p:blipFill>
          <a:blip r:embed="rId4"/>
          <a:stretch/>
        </p:blipFill>
        <p:spPr>
          <a:xfrm>
            <a:off x="838080" y="2825640"/>
            <a:ext cx="7205400" cy="3739680"/>
          </a:xfrm>
          <a:prstGeom prst="rect">
            <a:avLst/>
          </a:prstGeom>
          <a:noFill/>
          <a:ln w="0">
            <a:noFill/>
          </a:ln>
        </p:spPr>
      </p:pic>
      <p:pic>
        <p:nvPicPr>
          <p:cNvPr id="359" name="Picture 18" descr=""/>
          <p:cNvPicPr/>
          <p:nvPr/>
        </p:nvPicPr>
        <p:blipFill>
          <a:blip r:embed="rId5"/>
          <a:stretch/>
        </p:blipFill>
        <p:spPr>
          <a:xfrm>
            <a:off x="838080" y="2825640"/>
            <a:ext cx="7205400" cy="3739680"/>
          </a:xfrm>
          <a:prstGeom prst="rect">
            <a:avLst/>
          </a:prstGeom>
          <a:noFill/>
          <a:ln w="0">
            <a:noFill/>
          </a:ln>
        </p:spPr>
      </p:pic>
      <p:pic>
        <p:nvPicPr>
          <p:cNvPr id="360" name="Picture 19" descr=""/>
          <p:cNvPicPr/>
          <p:nvPr/>
        </p:nvPicPr>
        <p:blipFill>
          <a:blip r:embed="rId6"/>
          <a:stretch/>
        </p:blipFill>
        <p:spPr>
          <a:xfrm>
            <a:off x="838080" y="2825640"/>
            <a:ext cx="7205400" cy="3739680"/>
          </a:xfrm>
          <a:prstGeom prst="rect">
            <a:avLst/>
          </a:prstGeom>
          <a:noFill/>
          <a:ln w="0">
            <a:noFill/>
          </a:ln>
        </p:spPr>
      </p:pic>
      <p:pic>
        <p:nvPicPr>
          <p:cNvPr id="361" name="Picture 20" descr=""/>
          <p:cNvPicPr/>
          <p:nvPr/>
        </p:nvPicPr>
        <p:blipFill>
          <a:blip r:embed="rId7"/>
          <a:stretch/>
        </p:blipFill>
        <p:spPr>
          <a:xfrm>
            <a:off x="838080" y="2825640"/>
            <a:ext cx="7205400" cy="3739680"/>
          </a:xfrm>
          <a:prstGeom prst="rect">
            <a:avLst/>
          </a:prstGeom>
          <a:noFill/>
          <a:ln w="0">
            <a:noFill/>
          </a:ln>
        </p:spPr>
      </p:pic>
      <p:pic>
        <p:nvPicPr>
          <p:cNvPr id="362" name="Picture 21" descr=""/>
          <p:cNvPicPr/>
          <p:nvPr/>
        </p:nvPicPr>
        <p:blipFill>
          <a:blip r:embed="rId8"/>
          <a:stretch/>
        </p:blipFill>
        <p:spPr>
          <a:xfrm>
            <a:off x="838080" y="2825640"/>
            <a:ext cx="7205400" cy="3739680"/>
          </a:xfrm>
          <a:prstGeom prst="rect">
            <a:avLst/>
          </a:prstGeom>
          <a:noFill/>
          <a:ln w="0">
            <a:noFill/>
          </a:ln>
        </p:spPr>
      </p:pic>
      <p:pic>
        <p:nvPicPr>
          <p:cNvPr id="363" name="Picture 24" descr=""/>
          <p:cNvPicPr/>
          <p:nvPr/>
        </p:nvPicPr>
        <p:blipFill>
          <a:blip r:embed="rId9"/>
          <a:stretch/>
        </p:blipFill>
        <p:spPr>
          <a:xfrm>
            <a:off x="838080" y="2825640"/>
            <a:ext cx="7205400" cy="3739680"/>
          </a:xfrm>
          <a:prstGeom prst="rect">
            <a:avLst/>
          </a:prstGeom>
          <a:noFill/>
          <a:ln w="0">
            <a:noFill/>
          </a:ln>
        </p:spPr>
      </p:pic>
      <p:pic>
        <p:nvPicPr>
          <p:cNvPr id="364" name="Picture 25" descr=""/>
          <p:cNvPicPr/>
          <p:nvPr/>
        </p:nvPicPr>
        <p:blipFill>
          <a:blip r:embed="rId10"/>
          <a:stretch/>
        </p:blipFill>
        <p:spPr>
          <a:xfrm>
            <a:off x="838080" y="2825640"/>
            <a:ext cx="7205400" cy="3739680"/>
          </a:xfrm>
          <a:prstGeom prst="rect">
            <a:avLst/>
          </a:prstGeom>
          <a:noFill/>
          <a:ln w="0">
            <a:noFill/>
          </a:ln>
        </p:spPr>
      </p:pic>
    </p:spTree>
  </p:cSld>
  <p:transition spd="slow">
    <p:wipe dir="r"/>
  </p:transition>
  <p:timing>
    <p:tnLst>
      <p:par>
        <p:cTn id="947" dur="indefinite" restart="never" nodeType="tmRoot">
          <p:childTnLst>
            <p:seq>
              <p:cTn id="948" dur="indefinite" nodeType="mainSeq">
                <p:childTnLst>
                  <p:par>
                    <p:cTn id="949" nodeType="clickEffect" fill="hold">
                      <p:stCondLst>
                        <p:cond delay="0"/>
                      </p:stCondLst>
                      <p:childTnLst>
                        <p:par>
                          <p:cTn id="950" nodeType="withEffect" fill="hold">
                            <p:stCondLst>
                              <p:cond delay="0"/>
                            </p:stCondLst>
                            <p:childTnLst>
                              <p:par>
                                <p:cTn id="951" nodeType="withEffect" fill="hold" presetClass="entr" presetID="22" presetSubtype="8">
                                  <p:stCondLst>
                                    <p:cond delay="0"/>
                                  </p:stCondLst>
                                  <p:childTnLst>
                                    <p:set>
                                      <p:cBhvr>
                                        <p:cTn id="952" dur="1" fill="hold">
                                          <p:stCondLst>
                                            <p:cond delay="0"/>
                                          </p:stCondLst>
                                        </p:cTn>
                                        <p:tgtEl>
                                          <p:spTgt spid="363"/>
                                        </p:tgtEl>
                                        <p:attrNameLst>
                                          <p:attrName>style.visibility</p:attrName>
                                        </p:attrNameLst>
                                      </p:cBhvr>
                                      <p:to>
                                        <p:strVal val="visible"/>
                                      </p:to>
                                    </p:set>
                                    <p:animEffect filter="wipe(left)" transition="in">
                                      <p:cBhvr additive="repl">
                                        <p:cTn id="953" dur="1000"/>
                                        <p:tgtEl>
                                          <p:spTgt spid="363"/>
                                        </p:tgtEl>
                                      </p:cBhvr>
                                    </p:animEffect>
                                  </p:childTnLst>
                                </p:cTn>
                              </p:par>
                            </p:childTnLst>
                          </p:cTn>
                        </p:par>
                      </p:childTnLst>
                    </p:cTn>
                  </p:par>
                  <p:par>
                    <p:cTn id="954" nodeType="clickEffect" fill="hold">
                      <p:stCondLst>
                        <p:cond delay="indefinite"/>
                      </p:stCondLst>
                      <p:childTnLst>
                        <p:par>
                          <p:cTn id="955" nodeType="withEffect" fill="hold">
                            <p:stCondLst>
                              <p:cond delay="0"/>
                            </p:stCondLst>
                            <p:childTnLst>
                              <p:par>
                                <p:cTn id="956" nodeType="clickEffect" fill="hold" presetClass="entr" presetID="22" presetSubtype="8">
                                  <p:stCondLst>
                                    <p:cond delay="0"/>
                                  </p:stCondLst>
                                  <p:childTnLst>
                                    <p:set>
                                      <p:cBhvr>
                                        <p:cTn id="957" dur="1" fill="hold">
                                          <p:stCondLst>
                                            <p:cond delay="0"/>
                                          </p:stCondLst>
                                        </p:cTn>
                                        <p:tgtEl>
                                          <p:spTgt spid="354">
                                            <p:txEl>
                                              <p:pRg st="1" end="1"/>
                                            </p:txEl>
                                          </p:spTgt>
                                        </p:tgtEl>
                                        <p:attrNameLst>
                                          <p:attrName>style.visibility</p:attrName>
                                        </p:attrNameLst>
                                      </p:cBhvr>
                                      <p:to>
                                        <p:strVal val="visible"/>
                                      </p:to>
                                    </p:set>
                                    <p:animEffect filter="wipe(left)" transition="in">
                                      <p:cBhvr additive="repl">
                                        <p:cTn id="958" dur="500"/>
                                        <p:tgtEl>
                                          <p:spTgt spid="354">
                                            <p:txEl>
                                              <p:pRg st="1" end="1"/>
                                            </p:txEl>
                                          </p:spTgt>
                                        </p:tgtEl>
                                      </p:cBhvr>
                                    </p:animEffect>
                                  </p:childTnLst>
                                </p:cTn>
                              </p:par>
                              <p:par>
                                <p:cTn id="959" nodeType="withEffect" fill="hold" presetClass="entr" presetID="10">
                                  <p:stCondLst>
                                    <p:cond delay="0"/>
                                  </p:stCondLst>
                                  <p:childTnLst>
                                    <p:set>
                                      <p:cBhvr>
                                        <p:cTn id="960" dur="1" fill="hold">
                                          <p:stCondLst>
                                            <p:cond delay="0"/>
                                          </p:stCondLst>
                                        </p:cTn>
                                        <p:tgtEl>
                                          <p:spTgt spid="364"/>
                                        </p:tgtEl>
                                        <p:attrNameLst>
                                          <p:attrName>style.visibility</p:attrName>
                                        </p:attrNameLst>
                                      </p:cBhvr>
                                      <p:to>
                                        <p:strVal val="visible"/>
                                      </p:to>
                                    </p:set>
                                    <p:animEffect filter="fade" transition="in">
                                      <p:cBhvr additive="repl">
                                        <p:cTn id="961"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6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Neither good times nor bad times last forever in perfect competition.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the long run, a firm in perfect competition makes zero profit.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15.10</a:t>
            </a:r>
            <a:r>
              <a:rPr b="0" lang="en-US" sz="2400" strike="noStrike" u="none">
                <a:solidFill>
                  <a:srgbClr val="000000"/>
                </a:solidFill>
                <a:effectLst/>
                <a:uFillTx/>
                <a:latin typeface="Arial"/>
                <a:ea typeface="ＭＳ Ｐゴシック"/>
              </a:rPr>
              <a:t> on the next slide illustrates equilibrium in the long run.</a:t>
            </a:r>
            <a:endParaRPr b="1" lang="en-CA" sz="2400" strike="noStrike" u="none">
              <a:solidFill>
                <a:srgbClr val="00468f"/>
              </a:solidFill>
              <a:effectLst/>
              <a:uFillTx/>
              <a:latin typeface="Arial"/>
            </a:endParaRPr>
          </a:p>
        </p:txBody>
      </p:sp>
    </p:spTree>
  </p:cSld>
  <p:transition spd="slow">
    <p:wipe dir="r"/>
  </p:transition>
  <p:timing>
    <p:tnLst>
      <p:par>
        <p:cTn id="962" dur="indefinite" restart="never" nodeType="tmRoot">
          <p:childTnLst>
            <p:seq>
              <p:cTn id="963" dur="indefinite" nodeType="mainSeq">
                <p:childTnLst>
                  <p:par>
                    <p:cTn id="964" nodeType="clickEffect" fill="hold">
                      <p:stCondLst>
                        <p:cond delay="indefinite"/>
                      </p:stCondLst>
                      <p:childTnLst>
                        <p:par>
                          <p:cTn id="965" nodeType="withEffect" fill="hold">
                            <p:stCondLst>
                              <p:cond delay="0"/>
                            </p:stCondLst>
                            <p:childTnLst>
                              <p:par>
                                <p:cTn id="966" nodeType="clickEffect" fill="hold" presetClass="entr" presetID="22" presetSubtype="8">
                                  <p:stCondLst>
                                    <p:cond delay="0"/>
                                  </p:stCondLst>
                                  <p:childTnLst>
                                    <p:set>
                                      <p:cBhvr>
                                        <p:cTn id="967" dur="1" fill="hold">
                                          <p:stCondLst>
                                            <p:cond delay="0"/>
                                          </p:stCondLst>
                                        </p:cTn>
                                        <p:tgtEl>
                                          <p:spTgt spid="366">
                                            <p:txEl>
                                              <p:pRg st="1" end="1"/>
                                            </p:txEl>
                                          </p:spTgt>
                                        </p:tgtEl>
                                        <p:attrNameLst>
                                          <p:attrName>style.visibility</p:attrName>
                                        </p:attrNameLst>
                                      </p:cBhvr>
                                      <p:to>
                                        <p:strVal val="visible"/>
                                      </p:to>
                                    </p:set>
                                    <p:animEffect filter="wipe(left)" transition="in">
                                      <p:cBhvr additive="repl">
                                        <p:cTn id="968" dur="500"/>
                                        <p:tgtEl>
                                          <p:spTgt spid="366">
                                            <p:txEl>
                                              <p:pRg st="1" end="1"/>
                                            </p:txEl>
                                          </p:spTgt>
                                        </p:tgtEl>
                                      </p:cBhvr>
                                    </p:animEffect>
                                  </p:childTnLst>
                                </p:cTn>
                              </p:par>
                            </p:childTnLst>
                          </p:cTn>
                        </p:par>
                      </p:childTnLst>
                    </p:cTn>
                  </p:par>
                  <p:par>
                    <p:cTn id="969" nodeType="clickEffect" fill="hold">
                      <p:stCondLst>
                        <p:cond delay="indefinite"/>
                      </p:stCondLst>
                      <p:childTnLst>
                        <p:par>
                          <p:cTn id="970" nodeType="withEffect" fill="hold">
                            <p:stCondLst>
                              <p:cond delay="0"/>
                            </p:stCondLst>
                            <p:childTnLst>
                              <p:par>
                                <p:cTn id="971" nodeType="clickEffect" fill="hold" presetClass="entr" presetID="22" presetSubtype="8">
                                  <p:stCondLst>
                                    <p:cond delay="0"/>
                                  </p:stCondLst>
                                  <p:childTnLst>
                                    <p:set>
                                      <p:cBhvr>
                                        <p:cTn id="972" dur="1" fill="hold">
                                          <p:stCondLst>
                                            <p:cond delay="0"/>
                                          </p:stCondLst>
                                        </p:cTn>
                                        <p:tgtEl>
                                          <p:spTgt spid="366">
                                            <p:txEl>
                                              <p:pRg st="2" end="2"/>
                                            </p:txEl>
                                          </p:spTgt>
                                        </p:tgtEl>
                                        <p:attrNameLst>
                                          <p:attrName>style.visibility</p:attrName>
                                        </p:attrNameLst>
                                      </p:cBhvr>
                                      <p:to>
                                        <p:strVal val="visible"/>
                                      </p:to>
                                    </p:set>
                                    <p:animEffect filter="wipe(left)" transition="in">
                                      <p:cBhvr additive="repl">
                                        <p:cTn id="973" dur="500"/>
                                        <p:tgtEl>
                                          <p:spTgt spid="36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68"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Part (a) illustrates the firm in long-run equilibrium.</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market price is $5 a can and Dave produces 9 cans a day.</a:t>
            </a:r>
            <a:endParaRPr b="1" lang="en-CA" sz="2400" strike="noStrike" u="none">
              <a:solidFill>
                <a:srgbClr val="00468f"/>
              </a:solidFill>
              <a:effectLst/>
              <a:uFillTx/>
              <a:latin typeface="Arial"/>
            </a:endParaRPr>
          </a:p>
        </p:txBody>
      </p:sp>
      <p:pic>
        <p:nvPicPr>
          <p:cNvPr id="369" name="Picture 6" descr=""/>
          <p:cNvPicPr/>
          <p:nvPr/>
        </p:nvPicPr>
        <p:blipFill>
          <a:blip r:embed="rId1"/>
          <a:stretch/>
        </p:blipFill>
        <p:spPr>
          <a:xfrm>
            <a:off x="1224000" y="2971800"/>
            <a:ext cx="6536880" cy="3520800"/>
          </a:xfrm>
          <a:prstGeom prst="rect">
            <a:avLst/>
          </a:prstGeom>
          <a:noFill/>
          <a:ln w="0">
            <a:noFill/>
          </a:ln>
        </p:spPr>
      </p:pic>
    </p:spTree>
  </p:cSld>
  <p:transition spd="slow">
    <p:wipe dir="r"/>
  </p:transition>
  <p:timing>
    <p:tnLst>
      <p:par>
        <p:cTn id="974" dur="indefinite" restart="never" nodeType="tmRoot">
          <p:childTnLst>
            <p:seq>
              <p:cTn id="975" dur="indefinite" nodeType="mainSeq">
                <p:childTnLst>
                  <p:par>
                    <p:cTn id="976" nodeType="clickEffect" fill="hold">
                      <p:stCondLst>
                        <p:cond delay="indefinite"/>
                      </p:stCondLst>
                      <p:childTnLst>
                        <p:par>
                          <p:cTn id="977" nodeType="withEffect" fill="hold">
                            <p:stCondLst>
                              <p:cond delay="0"/>
                            </p:stCondLst>
                            <p:childTnLst>
                              <p:par>
                                <p:cTn id="978" nodeType="clickEffect" fill="hold" presetClass="entr" presetID="22" presetSubtype="8">
                                  <p:stCondLst>
                                    <p:cond delay="0"/>
                                  </p:stCondLst>
                                  <p:childTnLst>
                                    <p:set>
                                      <p:cBhvr>
                                        <p:cTn id="979" dur="1" fill="hold">
                                          <p:stCondLst>
                                            <p:cond delay="0"/>
                                          </p:stCondLst>
                                        </p:cTn>
                                        <p:tgtEl>
                                          <p:spTgt spid="368">
                                            <p:txEl>
                                              <p:pRg st="1" end="1"/>
                                            </p:txEl>
                                          </p:spTgt>
                                        </p:tgtEl>
                                        <p:attrNameLst>
                                          <p:attrName>style.visibility</p:attrName>
                                        </p:attrNameLst>
                                      </p:cBhvr>
                                      <p:to>
                                        <p:strVal val="visible"/>
                                      </p:to>
                                    </p:set>
                                    <p:animEffect filter="wipe(left)" transition="in">
                                      <p:cBhvr additive="repl">
                                        <p:cTn id="980" dur="500"/>
                                        <p:tgtEl>
                                          <p:spTgt spid="36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70" name="Picture 6" descr=""/>
          <p:cNvPicPr/>
          <p:nvPr/>
        </p:nvPicPr>
        <p:blipFill>
          <a:blip r:embed="rId1"/>
          <a:stretch/>
        </p:blipFill>
        <p:spPr>
          <a:xfrm>
            <a:off x="503280" y="936720"/>
            <a:ext cx="8172000" cy="4400280"/>
          </a:xfrm>
          <a:prstGeom prst="rect">
            <a:avLst/>
          </a:prstGeom>
          <a:noFill/>
          <a:ln w="0">
            <a:noFill/>
          </a:ln>
        </p:spPr>
      </p:pic>
      <p:pic>
        <p:nvPicPr>
          <p:cNvPr id="371" name="Picture 7" descr=""/>
          <p:cNvPicPr/>
          <p:nvPr/>
        </p:nvPicPr>
        <p:blipFill>
          <a:blip r:embed="rId2"/>
          <a:stretch/>
        </p:blipFill>
        <p:spPr>
          <a:xfrm>
            <a:off x="503280" y="936720"/>
            <a:ext cx="8172000" cy="4400280"/>
          </a:xfrm>
          <a:prstGeom prst="rect">
            <a:avLst/>
          </a:prstGeom>
          <a:noFill/>
          <a:ln w="0">
            <a:noFill/>
          </a:ln>
        </p:spPr>
      </p:pic>
      <p:pic>
        <p:nvPicPr>
          <p:cNvPr id="372" name="Picture 8" descr=""/>
          <p:cNvPicPr/>
          <p:nvPr/>
        </p:nvPicPr>
        <p:blipFill>
          <a:blip r:embed="rId3"/>
          <a:stretch/>
        </p:blipFill>
        <p:spPr>
          <a:xfrm>
            <a:off x="503280" y="936720"/>
            <a:ext cx="8172000" cy="4400280"/>
          </a:xfrm>
          <a:prstGeom prst="rect">
            <a:avLst/>
          </a:prstGeom>
          <a:noFill/>
          <a:ln w="0">
            <a:noFill/>
          </a:ln>
        </p:spPr>
      </p:pic>
      <p:pic>
        <p:nvPicPr>
          <p:cNvPr id="373" name="Picture 9" descr=""/>
          <p:cNvPicPr/>
          <p:nvPr/>
        </p:nvPicPr>
        <p:blipFill>
          <a:blip r:embed="rId4"/>
          <a:stretch/>
        </p:blipFill>
        <p:spPr>
          <a:xfrm>
            <a:off x="503280" y="936720"/>
            <a:ext cx="8172000" cy="4400280"/>
          </a:xfrm>
          <a:prstGeom prst="rect">
            <a:avLst/>
          </a:prstGeom>
          <a:noFill/>
          <a:ln w="0">
            <a:noFill/>
          </a:ln>
        </p:spPr>
      </p:pic>
    </p:spTree>
  </p:cSld>
  <p:transition spd="slow">
    <p:wipe dir="r"/>
  </p:transition>
  <p:timing>
    <p:tnLst>
      <p:par>
        <p:cTn id="981" dur="indefinite" restart="never" nodeType="tmRoot">
          <p:childTnLst>
            <p:seq>
              <p:cTn id="982" dur="indefinite" nodeType="mainSeq">
                <p:childTnLst>
                  <p:par>
                    <p:cTn id="983" nodeType="clickEffect" fill="hold">
                      <p:stCondLst>
                        <p:cond delay="indefinite"/>
                      </p:stCondLst>
                      <p:childTnLst>
                        <p:par>
                          <p:cTn id="984" nodeType="withEffect" fill="hold">
                            <p:stCondLst>
                              <p:cond delay="0"/>
                            </p:stCondLst>
                            <p:childTnLst>
                              <p:par>
                                <p:cTn id="985" nodeType="clickEffect" fill="hold" presetClass="entr" presetID="10">
                                  <p:stCondLst>
                                    <p:cond delay="0"/>
                                  </p:stCondLst>
                                  <p:childTnLst>
                                    <p:set>
                                      <p:cBhvr>
                                        <p:cTn id="986" dur="1" fill="hold">
                                          <p:stCondLst>
                                            <p:cond delay="0"/>
                                          </p:stCondLst>
                                        </p:cTn>
                                        <p:tgtEl>
                                          <p:spTgt spid="371"/>
                                        </p:tgtEl>
                                        <p:attrNameLst>
                                          <p:attrName>style.visibility</p:attrName>
                                        </p:attrNameLst>
                                      </p:cBhvr>
                                      <p:to>
                                        <p:strVal val="visible"/>
                                      </p:to>
                                    </p:set>
                                    <p:animEffect filter="fade" transition="in">
                                      <p:cBhvr additive="repl">
                                        <p:cTn id="987" dur="500"/>
                                        <p:tgtEl>
                                          <p:spTgt spid="371"/>
                                        </p:tgtEl>
                                      </p:cBhvr>
                                    </p:animEffect>
                                  </p:childTnLst>
                                </p:cTn>
                              </p:par>
                            </p:childTnLst>
                          </p:cTn>
                        </p:par>
                      </p:childTnLst>
                    </p:cTn>
                  </p:par>
                  <p:par>
                    <p:cTn id="988" nodeType="clickEffect" fill="hold">
                      <p:stCondLst>
                        <p:cond delay="indefinite"/>
                      </p:stCondLst>
                      <p:childTnLst>
                        <p:par>
                          <p:cTn id="989" nodeType="withEffect" fill="hold">
                            <p:stCondLst>
                              <p:cond delay="0"/>
                            </p:stCondLst>
                            <p:childTnLst>
                              <p:par>
                                <p:cTn id="990" nodeType="clickEffect" fill="hold" presetClass="entr" presetID="10">
                                  <p:stCondLst>
                                    <p:cond delay="0"/>
                                  </p:stCondLst>
                                  <p:childTnLst>
                                    <p:set>
                                      <p:cBhvr>
                                        <p:cTn id="991" dur="1" fill="hold">
                                          <p:stCondLst>
                                            <p:cond delay="0"/>
                                          </p:stCondLst>
                                        </p:cTn>
                                        <p:tgtEl>
                                          <p:spTgt spid="372"/>
                                        </p:tgtEl>
                                        <p:attrNameLst>
                                          <p:attrName>style.visibility</p:attrName>
                                        </p:attrNameLst>
                                      </p:cBhvr>
                                      <p:to>
                                        <p:strVal val="visible"/>
                                      </p:to>
                                    </p:set>
                                    <p:animEffect filter="fade" transition="in">
                                      <p:cBhvr additive="repl">
                                        <p:cTn id="992" dur="500"/>
                                        <p:tgtEl>
                                          <p:spTgt spid="372"/>
                                        </p:tgtEl>
                                      </p:cBhvr>
                                    </p:animEffect>
                                  </p:childTnLst>
                                </p:cTn>
                              </p:par>
                            </p:childTnLst>
                          </p:cTn>
                        </p:par>
                      </p:childTnLst>
                    </p:cTn>
                  </p:par>
                  <p:par>
                    <p:cTn id="993" nodeType="clickEffect" fill="hold">
                      <p:stCondLst>
                        <p:cond delay="indefinite"/>
                      </p:stCondLst>
                      <p:childTnLst>
                        <p:par>
                          <p:cTn id="994" nodeType="withEffect" fill="hold">
                            <p:stCondLst>
                              <p:cond delay="0"/>
                            </p:stCondLst>
                            <p:childTnLst>
                              <p:par>
                                <p:cTn id="995" nodeType="clickEffect" fill="hold" presetClass="entr" presetID="10">
                                  <p:stCondLst>
                                    <p:cond delay="0"/>
                                  </p:stCondLst>
                                  <p:childTnLst>
                                    <p:set>
                                      <p:cBhvr>
                                        <p:cTn id="996" dur="1" fill="hold">
                                          <p:stCondLst>
                                            <p:cond delay="0"/>
                                          </p:stCondLst>
                                        </p:cTn>
                                        <p:tgtEl>
                                          <p:spTgt spid="373"/>
                                        </p:tgtEl>
                                        <p:attrNameLst>
                                          <p:attrName>style.visibility</p:attrName>
                                        </p:attrNameLst>
                                      </p:cBhvr>
                                      <p:to>
                                        <p:strVal val="visible"/>
                                      </p:to>
                                    </p:set>
                                    <p:animEffect filter="fade" transition="in">
                                      <p:cBhvr additive="repl">
                                        <p:cTn id="997" dur="5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7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part (a), minimum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is $5 a can.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the long run, Dave produces at minimum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376" name="Picture 6" descr=""/>
          <p:cNvPicPr/>
          <p:nvPr/>
        </p:nvPicPr>
        <p:blipFill>
          <a:blip r:embed="rId1"/>
          <a:stretch/>
        </p:blipFill>
        <p:spPr>
          <a:xfrm>
            <a:off x="1224000" y="2971800"/>
            <a:ext cx="6536880" cy="3520800"/>
          </a:xfrm>
          <a:prstGeom prst="rect">
            <a:avLst/>
          </a:prstGeom>
          <a:noFill/>
          <a:ln w="0">
            <a:noFill/>
          </a:ln>
        </p:spPr>
      </p:pic>
    </p:spTree>
  </p:cSld>
  <p:transition spd="slow">
    <p:wipe dir="r"/>
  </p:transition>
  <p:timing>
    <p:tnLst>
      <p:par>
        <p:cTn id="998" dur="indefinite" restart="never" nodeType="tmRoot">
          <p:childTnLst>
            <p:seq>
              <p:cTn id="999" dur="indefinite" nodeType="mainSeq">
                <p:childTnLst>
                  <p:par>
                    <p:cTn id="1000" nodeType="clickEffect" fill="hold">
                      <p:stCondLst>
                        <p:cond delay="indefinite"/>
                      </p:stCondLst>
                      <p:childTnLst>
                        <p:par>
                          <p:cTn id="1001" nodeType="withEffect" fill="hold">
                            <p:stCondLst>
                              <p:cond delay="0"/>
                            </p:stCondLst>
                            <p:childTnLst>
                              <p:par>
                                <p:cTn id="1002" nodeType="clickEffect" fill="hold" presetClass="entr" presetID="22" presetSubtype="8">
                                  <p:stCondLst>
                                    <p:cond delay="0"/>
                                  </p:stCondLst>
                                  <p:childTnLst>
                                    <p:set>
                                      <p:cBhvr>
                                        <p:cTn id="1003" dur="1" fill="hold">
                                          <p:stCondLst>
                                            <p:cond delay="0"/>
                                          </p:stCondLst>
                                        </p:cTn>
                                        <p:tgtEl>
                                          <p:spTgt spid="375">
                                            <p:txEl>
                                              <p:pRg st="1" end="1"/>
                                            </p:txEl>
                                          </p:spTgt>
                                        </p:tgtEl>
                                        <p:attrNameLst>
                                          <p:attrName>style.visibility</p:attrName>
                                        </p:attrNameLst>
                                      </p:cBhvr>
                                      <p:to>
                                        <p:strVal val="visible"/>
                                      </p:to>
                                    </p:set>
                                    <p:animEffect filter="wipe(left)" transition="in">
                                      <p:cBhvr additive="repl">
                                        <p:cTn id="1004" dur="500"/>
                                        <p:tgtEl>
                                          <p:spTgt spid="37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78" name="PlaceHolder 2"/>
          <p:cNvSpPr>
            <a:spLocks noGrp="1"/>
          </p:cNvSpPr>
          <p:nvPr>
            <p:ph/>
          </p:nvPr>
        </p:nvSpPr>
        <p:spPr>
          <a:xfrm>
            <a:off x="360360" y="1440000"/>
            <a:ext cx="840240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supply decreases,</a:t>
            </a:r>
            <a:r>
              <a:rPr b="0" lang="en-US" sz="2000" strike="noStrike" u="none">
                <a:solidFill>
                  <a:srgbClr val="000000"/>
                </a:solidFill>
                <a:effectLst/>
                <a:uFillTx/>
                <a:latin typeface="Arial"/>
                <a:ea typeface="ＭＳ Ｐゴシック"/>
              </a:rPr>
              <a:t> </a:t>
            </a:r>
            <a:r>
              <a:rPr b="0" lang="en-US" sz="2400" strike="noStrike" u="none">
                <a:solidFill>
                  <a:srgbClr val="000000"/>
                </a:solidFill>
                <a:effectLst/>
                <a:uFillTx/>
                <a:latin typeface="Arial"/>
                <a:ea typeface="ＭＳ Ｐゴシック"/>
              </a:rPr>
              <a:t>the price rises above $5 a can and Dave will make a positive economic profit.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Entry increases supply to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 and the price falls to $5 a can.</a:t>
            </a:r>
            <a:endParaRPr b="1" lang="en-CA" sz="2400" strike="noStrike" u="none">
              <a:solidFill>
                <a:srgbClr val="00468f"/>
              </a:solidFill>
              <a:effectLst/>
              <a:uFillTx/>
              <a:latin typeface="Arial"/>
            </a:endParaRPr>
          </a:p>
        </p:txBody>
      </p:sp>
      <p:pic>
        <p:nvPicPr>
          <p:cNvPr id="379" name="Picture 7" descr=""/>
          <p:cNvPicPr/>
          <p:nvPr/>
        </p:nvPicPr>
        <p:blipFill>
          <a:blip r:embed="rId1"/>
          <a:stretch/>
        </p:blipFill>
        <p:spPr>
          <a:xfrm>
            <a:off x="1224000" y="2971800"/>
            <a:ext cx="6536880" cy="3520800"/>
          </a:xfrm>
          <a:prstGeom prst="rect">
            <a:avLst/>
          </a:prstGeom>
          <a:noFill/>
          <a:ln w="0">
            <a:noFill/>
          </a:ln>
        </p:spPr>
      </p:pic>
      <p:pic>
        <p:nvPicPr>
          <p:cNvPr id="380" name="Picture 9" descr=""/>
          <p:cNvPicPr/>
          <p:nvPr/>
        </p:nvPicPr>
        <p:blipFill>
          <a:blip r:embed="rId2"/>
          <a:stretch/>
        </p:blipFill>
        <p:spPr>
          <a:xfrm>
            <a:off x="1224000" y="2971800"/>
            <a:ext cx="6536880" cy="3520800"/>
          </a:xfrm>
          <a:prstGeom prst="rect">
            <a:avLst/>
          </a:prstGeom>
          <a:noFill/>
          <a:ln w="0">
            <a:noFill/>
          </a:ln>
        </p:spPr>
      </p:pic>
    </p:spTree>
  </p:cSld>
  <p:transition spd="slow">
    <p:wipe dir="r"/>
  </p:transition>
  <p:timing>
    <p:tnLst>
      <p:par>
        <p:cTn id="1005" dur="indefinite" restart="never" nodeType="tmRoot">
          <p:childTnLst>
            <p:seq>
              <p:cTn id="1006" dur="indefinite" nodeType="mainSeq">
                <p:childTnLst>
                  <p:par>
                    <p:cTn id="1007" nodeType="clickEffect" fill="hold">
                      <p:stCondLst>
                        <p:cond delay="indefinite"/>
                      </p:stCondLst>
                      <p:childTnLst>
                        <p:par>
                          <p:cTn id="1008" nodeType="withEffect" fill="hold">
                            <p:stCondLst>
                              <p:cond delay="0"/>
                            </p:stCondLst>
                            <p:childTnLst>
                              <p:par>
                                <p:cTn id="1009" nodeType="clickEffect" fill="hold" presetClass="entr" presetID="22" presetSubtype="8">
                                  <p:stCondLst>
                                    <p:cond delay="0"/>
                                  </p:stCondLst>
                                  <p:childTnLst>
                                    <p:set>
                                      <p:cBhvr>
                                        <p:cTn id="1010" dur="1" fill="hold">
                                          <p:stCondLst>
                                            <p:cond delay="0"/>
                                          </p:stCondLst>
                                        </p:cTn>
                                        <p:tgtEl>
                                          <p:spTgt spid="378">
                                            <p:txEl>
                                              <p:pRg st="1" end="1"/>
                                            </p:txEl>
                                          </p:spTgt>
                                        </p:tgtEl>
                                        <p:attrNameLst>
                                          <p:attrName>style.visibility</p:attrName>
                                        </p:attrNameLst>
                                      </p:cBhvr>
                                      <p:to>
                                        <p:strVal val="visible"/>
                                      </p:to>
                                    </p:set>
                                    <p:animEffect filter="wipe(left)" transition="in">
                                      <p:cBhvr additive="repl">
                                        <p:cTn id="1011" dur="500"/>
                                        <p:tgtEl>
                                          <p:spTgt spid="378">
                                            <p:txEl>
                                              <p:pRg st="1" end="1"/>
                                            </p:txEl>
                                          </p:spTgt>
                                        </p:tgtEl>
                                      </p:cBhvr>
                                    </p:animEffect>
                                  </p:childTnLst>
                                </p:cTn>
                              </p:par>
                              <p:par>
                                <p:cTn id="1012" nodeType="withEffect" fill="hold" presetClass="entr" presetID="10">
                                  <p:stCondLst>
                                    <p:cond delay="0"/>
                                  </p:stCondLst>
                                  <p:childTnLst>
                                    <p:set>
                                      <p:cBhvr>
                                        <p:cTn id="1013" dur="1" fill="hold">
                                          <p:stCondLst>
                                            <p:cond delay="0"/>
                                          </p:stCondLst>
                                        </p:cTn>
                                        <p:tgtEl>
                                          <p:spTgt spid="380"/>
                                        </p:tgtEl>
                                        <p:attrNameLst>
                                          <p:attrName>style.visibility</p:attrName>
                                        </p:attrNameLst>
                                      </p:cBhvr>
                                      <p:to>
                                        <p:strVal val="visible"/>
                                      </p:to>
                                    </p:set>
                                    <p:animEffect filter="fade" transition="in">
                                      <p:cBhvr additive="repl">
                                        <p:cTn id="1014" dur="500"/>
                                        <p:tgtEl>
                                          <p:spTgt spid="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82" name="PlaceHolder 2"/>
          <p:cNvSpPr>
            <a:spLocks noGrp="1"/>
          </p:cNvSpPr>
          <p:nvPr>
            <p:ph/>
          </p:nvPr>
        </p:nvSpPr>
        <p:spPr>
          <a:xfrm>
            <a:off x="360360" y="1440000"/>
            <a:ext cx="840240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supply increases, the price falls below $5 a can and Dave incurs an economic loss.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Exit decreases supply to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 and the price rises to $5 a can.</a:t>
            </a:r>
            <a:endParaRPr b="1" lang="en-CA" sz="2400" strike="noStrike" u="none">
              <a:solidFill>
                <a:srgbClr val="00468f"/>
              </a:solidFill>
              <a:effectLst/>
              <a:uFillTx/>
              <a:latin typeface="Arial"/>
            </a:endParaRPr>
          </a:p>
        </p:txBody>
      </p:sp>
      <p:pic>
        <p:nvPicPr>
          <p:cNvPr id="383" name="Picture 8" descr=""/>
          <p:cNvPicPr/>
          <p:nvPr/>
        </p:nvPicPr>
        <p:blipFill>
          <a:blip r:embed="rId1"/>
          <a:stretch/>
        </p:blipFill>
        <p:spPr>
          <a:xfrm>
            <a:off x="1224000" y="2971800"/>
            <a:ext cx="6536880" cy="3520800"/>
          </a:xfrm>
          <a:prstGeom prst="rect">
            <a:avLst/>
          </a:prstGeom>
          <a:noFill/>
          <a:ln w="0">
            <a:noFill/>
          </a:ln>
        </p:spPr>
      </p:pic>
      <p:pic>
        <p:nvPicPr>
          <p:cNvPr id="384" name="Picture 10" descr=""/>
          <p:cNvPicPr/>
          <p:nvPr/>
        </p:nvPicPr>
        <p:blipFill>
          <a:blip r:embed="rId2"/>
          <a:stretch/>
        </p:blipFill>
        <p:spPr>
          <a:xfrm>
            <a:off x="1224000" y="2971800"/>
            <a:ext cx="6536880" cy="3520800"/>
          </a:xfrm>
          <a:prstGeom prst="rect">
            <a:avLst/>
          </a:prstGeom>
          <a:noFill/>
          <a:ln w="0">
            <a:noFill/>
          </a:ln>
        </p:spPr>
      </p:pic>
      <p:pic>
        <p:nvPicPr>
          <p:cNvPr id="385" name="Picture 11" descr=""/>
          <p:cNvPicPr/>
          <p:nvPr/>
        </p:nvPicPr>
        <p:blipFill>
          <a:blip r:embed="rId3"/>
          <a:stretch/>
        </p:blipFill>
        <p:spPr>
          <a:xfrm>
            <a:off x="1224000" y="2971800"/>
            <a:ext cx="6536880" cy="3520800"/>
          </a:xfrm>
          <a:prstGeom prst="rect">
            <a:avLst/>
          </a:prstGeom>
          <a:noFill/>
          <a:ln w="0">
            <a:noFill/>
          </a:ln>
        </p:spPr>
      </p:pic>
    </p:spTree>
  </p:cSld>
  <p:transition spd="slow">
    <p:wipe dir="r"/>
  </p:transition>
  <p:timing>
    <p:tnLst>
      <p:par>
        <p:cTn id="1015" dur="indefinite" restart="never" nodeType="tmRoot">
          <p:childTnLst>
            <p:seq>
              <p:cTn id="1016" dur="indefinite" nodeType="mainSeq">
                <p:childTnLst>
                  <p:par>
                    <p:cTn id="1017" nodeType="clickEffect" fill="hold">
                      <p:stCondLst>
                        <p:cond delay="indefinite"/>
                      </p:stCondLst>
                      <p:childTnLst>
                        <p:par>
                          <p:cTn id="1018" nodeType="withEffect" fill="hold">
                            <p:stCondLst>
                              <p:cond delay="0"/>
                            </p:stCondLst>
                            <p:childTnLst>
                              <p:par>
                                <p:cTn id="1019" nodeType="clickEffect" fill="hold" presetClass="entr" presetID="22" presetSubtype="8">
                                  <p:stCondLst>
                                    <p:cond delay="0"/>
                                  </p:stCondLst>
                                  <p:childTnLst>
                                    <p:set>
                                      <p:cBhvr>
                                        <p:cTn id="1020" dur="1" fill="hold">
                                          <p:stCondLst>
                                            <p:cond delay="0"/>
                                          </p:stCondLst>
                                        </p:cTn>
                                        <p:tgtEl>
                                          <p:spTgt spid="382">
                                            <p:txEl>
                                              <p:pRg st="1" end="1"/>
                                            </p:txEl>
                                          </p:spTgt>
                                        </p:tgtEl>
                                        <p:attrNameLst>
                                          <p:attrName>style.visibility</p:attrName>
                                        </p:attrNameLst>
                                      </p:cBhvr>
                                      <p:to>
                                        <p:strVal val="visible"/>
                                      </p:to>
                                    </p:set>
                                    <p:animEffect filter="wipe(left)" transition="in">
                                      <p:cBhvr additive="repl">
                                        <p:cTn id="1021" dur="500"/>
                                        <p:tgtEl>
                                          <p:spTgt spid="382">
                                            <p:txEl>
                                              <p:pRg st="1" end="1"/>
                                            </p:txEl>
                                          </p:spTgt>
                                        </p:tgtEl>
                                      </p:cBhvr>
                                    </p:animEffect>
                                  </p:childTnLst>
                                </p:cTn>
                              </p:par>
                              <p:par>
                                <p:cTn id="1022" nodeType="withEffect" fill="hold" presetClass="entr" presetID="10">
                                  <p:stCondLst>
                                    <p:cond delay="0"/>
                                  </p:stCondLst>
                                  <p:childTnLst>
                                    <p:set>
                                      <p:cBhvr>
                                        <p:cTn id="1023" dur="1" fill="hold">
                                          <p:stCondLst>
                                            <p:cond delay="0"/>
                                          </p:stCondLst>
                                        </p:cTn>
                                        <p:tgtEl>
                                          <p:spTgt spid="385"/>
                                        </p:tgtEl>
                                        <p:attrNameLst>
                                          <p:attrName>style.visibility</p:attrName>
                                        </p:attrNameLst>
                                      </p:cBhvr>
                                      <p:to>
                                        <p:strVal val="visible"/>
                                      </p:to>
                                    </p:set>
                                    <p:animEffect filter="fade" transition="in">
                                      <p:cBhvr additive="repl">
                                        <p:cTn id="1024" dur="500"/>
                                        <p:tgtEl>
                                          <p:spTgt spid="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8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the long-run, the price is pulled to $5 a can and Dave makes zero economic profit.</a:t>
            </a:r>
            <a:endParaRPr b="1" lang="en-CA" sz="2400" strike="noStrike" u="none">
              <a:solidFill>
                <a:srgbClr val="00468f"/>
              </a:solidFill>
              <a:effectLst/>
              <a:uFillTx/>
              <a:latin typeface="Arial"/>
            </a:endParaRPr>
          </a:p>
        </p:txBody>
      </p:sp>
      <p:pic>
        <p:nvPicPr>
          <p:cNvPr id="388" name="Picture 9" descr=""/>
          <p:cNvPicPr/>
          <p:nvPr/>
        </p:nvPicPr>
        <p:blipFill>
          <a:blip r:embed="rId1"/>
          <a:stretch/>
        </p:blipFill>
        <p:spPr>
          <a:xfrm>
            <a:off x="1224000" y="2971800"/>
            <a:ext cx="6536880" cy="3520800"/>
          </a:xfrm>
          <a:prstGeom prst="rect">
            <a:avLst/>
          </a:prstGeom>
          <a:noFill/>
          <a:ln w="0">
            <a:noFill/>
          </a:ln>
        </p:spPr>
      </p:pic>
      <p:pic>
        <p:nvPicPr>
          <p:cNvPr id="389" name="Picture 10" descr=""/>
          <p:cNvPicPr/>
          <p:nvPr/>
        </p:nvPicPr>
        <p:blipFill>
          <a:blip r:embed="rId2"/>
          <a:stretch/>
        </p:blipFill>
        <p:spPr>
          <a:xfrm>
            <a:off x="1224000" y="2971800"/>
            <a:ext cx="6536880" cy="3520800"/>
          </a:xfrm>
          <a:prstGeom prst="rect">
            <a:avLst/>
          </a:prstGeom>
          <a:noFill/>
          <a:ln w="0">
            <a:noFill/>
          </a:ln>
        </p:spPr>
      </p:pic>
      <p:pic>
        <p:nvPicPr>
          <p:cNvPr id="390" name="Picture 11" descr=""/>
          <p:cNvPicPr/>
          <p:nvPr/>
        </p:nvPicPr>
        <p:blipFill>
          <a:blip r:embed="rId3"/>
          <a:stretch/>
        </p:blipFill>
        <p:spPr>
          <a:xfrm>
            <a:off x="1224000" y="2971800"/>
            <a:ext cx="6536880" cy="3520800"/>
          </a:xfrm>
          <a:prstGeom prst="rect">
            <a:avLst/>
          </a:prstGeom>
          <a:noFill/>
          <a:ln w="0">
            <a:noFill/>
          </a:ln>
        </p:spPr>
      </p:pic>
      <p:pic>
        <p:nvPicPr>
          <p:cNvPr id="391" name="Picture 12" descr=""/>
          <p:cNvPicPr/>
          <p:nvPr/>
        </p:nvPicPr>
        <p:blipFill>
          <a:blip r:embed="rId4"/>
          <a:stretch/>
        </p:blipFill>
        <p:spPr>
          <a:xfrm>
            <a:off x="1224000" y="2971800"/>
            <a:ext cx="6536880" cy="3520800"/>
          </a:xfrm>
          <a:prstGeom prst="rect">
            <a:avLst/>
          </a:prstGeom>
          <a:noFill/>
          <a:ln w="0">
            <a:noFill/>
          </a:ln>
        </p:spPr>
      </p:pic>
    </p:spTree>
  </p:cSld>
  <p:transition spd="slow">
    <p:wipe dir="r"/>
  </p:transition>
  <p:timing>
    <p:tnLst>
      <p:par>
        <p:cTn id="1025" dur="indefinite" restart="never" nodeType="tmRoot">
          <p:childTnLst>
            <p:seq>
              <p:cTn id="1026" dur="indefinite" nodeType="mainSeq">
                <p:childTnLst>
                  <p:par>
                    <p:cTn id="1027" nodeType="clickEffect" fill="hold">
                      <p:stCondLst>
                        <p:cond delay="0"/>
                      </p:stCondLst>
                      <p:childTnLst>
                        <p:par>
                          <p:cTn id="1028" nodeType="withEffect" fill="hold">
                            <p:stCondLst>
                              <p:cond delay="0"/>
                            </p:stCondLst>
                            <p:childTnLst>
                              <p:par>
                                <p:cTn id="1029" nodeType="withEffect" fill="hold" presetClass="entr" presetID="10">
                                  <p:stCondLst>
                                    <p:cond delay="0"/>
                                  </p:stCondLst>
                                  <p:childTnLst>
                                    <p:set>
                                      <p:cBhvr>
                                        <p:cTn id="1030" dur="1" fill="hold">
                                          <p:stCondLst>
                                            <p:cond delay="0"/>
                                          </p:stCondLst>
                                        </p:cTn>
                                        <p:tgtEl>
                                          <p:spTgt spid="391"/>
                                        </p:tgtEl>
                                        <p:attrNameLst>
                                          <p:attrName>style.visibility</p:attrName>
                                        </p:attrNameLst>
                                      </p:cBhvr>
                                      <p:to>
                                        <p:strVal val="visible"/>
                                      </p:to>
                                    </p:set>
                                    <p:animEffect filter="fade" transition="in">
                                      <p:cBhvr additive="repl">
                                        <p:cTn id="1031" dur="5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9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Entry and Exit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In the long run, firms respond to economic profit and economic loss by either entering or exiting a market.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New firms enter a market in which the existing firms are making positive economic profits.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Existing firms exit the market in which firms are incurring economic losses.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Entry and exit influence price, the quantity produced, and economic profit.</a:t>
            </a:r>
            <a:endParaRPr b="1" lang="en-CA" sz="2400" strike="noStrike" u="none">
              <a:solidFill>
                <a:srgbClr val="00468f"/>
              </a:solidFill>
              <a:effectLst/>
              <a:uFillTx/>
              <a:latin typeface="Arial"/>
            </a:endParaRPr>
          </a:p>
        </p:txBody>
      </p:sp>
    </p:spTree>
  </p:cSld>
  <p:transition spd="slow">
    <p:wipe dir="r"/>
  </p:transition>
  <p:timing>
    <p:tnLst>
      <p:par>
        <p:cTn id="1032" dur="indefinite" restart="never" nodeType="tmRoot">
          <p:childTnLst>
            <p:seq>
              <p:cTn id="1033" dur="indefinite" nodeType="mainSeq">
                <p:childTnLst>
                  <p:par>
                    <p:cTn id="1034" nodeType="clickEffect" fill="hold">
                      <p:stCondLst>
                        <p:cond delay="indefinite"/>
                      </p:stCondLst>
                      <p:childTnLst>
                        <p:par>
                          <p:cTn id="1035" nodeType="withEffect" fill="hold">
                            <p:stCondLst>
                              <p:cond delay="0"/>
                            </p:stCondLst>
                            <p:childTnLst>
                              <p:par>
                                <p:cTn id="1036" nodeType="clickEffect" fill="hold" presetClass="entr" presetID="22" presetSubtype="8">
                                  <p:stCondLst>
                                    <p:cond delay="0"/>
                                  </p:stCondLst>
                                  <p:childTnLst>
                                    <p:set>
                                      <p:cBhvr>
                                        <p:cTn id="1037" dur="1" fill="hold">
                                          <p:stCondLst>
                                            <p:cond delay="0"/>
                                          </p:stCondLst>
                                        </p:cTn>
                                        <p:tgtEl>
                                          <p:spTgt spid="393">
                                            <p:txEl>
                                              <p:pRg st="1" end="1"/>
                                            </p:txEl>
                                          </p:spTgt>
                                        </p:tgtEl>
                                        <p:attrNameLst>
                                          <p:attrName>style.visibility</p:attrName>
                                        </p:attrNameLst>
                                      </p:cBhvr>
                                      <p:to>
                                        <p:strVal val="visible"/>
                                      </p:to>
                                    </p:set>
                                    <p:animEffect filter="wipe(left)" transition="in">
                                      <p:cBhvr additive="repl">
                                        <p:cTn id="1038" dur="500"/>
                                        <p:tgtEl>
                                          <p:spTgt spid="393">
                                            <p:txEl>
                                              <p:pRg st="1" end="1"/>
                                            </p:txEl>
                                          </p:spTgt>
                                        </p:tgtEl>
                                      </p:cBhvr>
                                    </p:animEffect>
                                  </p:childTnLst>
                                </p:cTn>
                              </p:par>
                            </p:childTnLst>
                          </p:cTn>
                        </p:par>
                      </p:childTnLst>
                    </p:cTn>
                  </p:par>
                  <p:par>
                    <p:cTn id="1039" nodeType="clickEffect" fill="hold">
                      <p:stCondLst>
                        <p:cond delay="indefinite"/>
                      </p:stCondLst>
                      <p:childTnLst>
                        <p:par>
                          <p:cTn id="1040" nodeType="withEffect" fill="hold">
                            <p:stCondLst>
                              <p:cond delay="0"/>
                            </p:stCondLst>
                            <p:childTnLst>
                              <p:par>
                                <p:cTn id="1041" nodeType="clickEffect" fill="hold" presetClass="entr" presetID="22" presetSubtype="8">
                                  <p:stCondLst>
                                    <p:cond delay="0"/>
                                  </p:stCondLst>
                                  <p:childTnLst>
                                    <p:set>
                                      <p:cBhvr>
                                        <p:cTn id="1042" dur="1" fill="hold">
                                          <p:stCondLst>
                                            <p:cond delay="0"/>
                                          </p:stCondLst>
                                        </p:cTn>
                                        <p:tgtEl>
                                          <p:spTgt spid="393">
                                            <p:txEl>
                                              <p:pRg st="2" end="2"/>
                                            </p:txEl>
                                          </p:spTgt>
                                        </p:tgtEl>
                                        <p:attrNameLst>
                                          <p:attrName>style.visibility</p:attrName>
                                        </p:attrNameLst>
                                      </p:cBhvr>
                                      <p:to>
                                        <p:strVal val="visible"/>
                                      </p:to>
                                    </p:set>
                                    <p:animEffect filter="wipe(left)" transition="in">
                                      <p:cBhvr additive="repl">
                                        <p:cTn id="1043" dur="500"/>
                                        <p:tgtEl>
                                          <p:spTgt spid="393">
                                            <p:txEl>
                                              <p:pRg st="2" end="2"/>
                                            </p:txEl>
                                          </p:spTgt>
                                        </p:tgtEl>
                                      </p:cBhvr>
                                    </p:animEffect>
                                  </p:childTnLst>
                                </p:cTn>
                              </p:par>
                            </p:childTnLst>
                          </p:cTn>
                        </p:par>
                      </p:childTnLst>
                    </p:cTn>
                  </p:par>
                  <p:par>
                    <p:cTn id="1044" nodeType="clickEffect" fill="hold">
                      <p:stCondLst>
                        <p:cond delay="indefinite"/>
                      </p:stCondLst>
                      <p:childTnLst>
                        <p:par>
                          <p:cTn id="1045" nodeType="withEffect" fill="hold">
                            <p:stCondLst>
                              <p:cond delay="0"/>
                            </p:stCondLst>
                            <p:childTnLst>
                              <p:par>
                                <p:cTn id="1046" nodeType="clickEffect" fill="hold" presetClass="entr" presetID="22" presetSubtype="8">
                                  <p:stCondLst>
                                    <p:cond delay="0"/>
                                  </p:stCondLst>
                                  <p:childTnLst>
                                    <p:set>
                                      <p:cBhvr>
                                        <p:cTn id="1047" dur="1" fill="hold">
                                          <p:stCondLst>
                                            <p:cond delay="0"/>
                                          </p:stCondLst>
                                        </p:cTn>
                                        <p:tgtEl>
                                          <p:spTgt spid="393">
                                            <p:txEl>
                                              <p:pRg st="3" end="3"/>
                                            </p:txEl>
                                          </p:spTgt>
                                        </p:tgtEl>
                                        <p:attrNameLst>
                                          <p:attrName>style.visibility</p:attrName>
                                        </p:attrNameLst>
                                      </p:cBhvr>
                                      <p:to>
                                        <p:strVal val="visible"/>
                                      </p:to>
                                    </p:set>
                                    <p:animEffect filter="wipe(left)" transition="in">
                                      <p:cBhvr additive="repl">
                                        <p:cTn id="1048" dur="500"/>
                                        <p:tgtEl>
                                          <p:spTgt spid="393">
                                            <p:txEl>
                                              <p:pRg st="3" end="3"/>
                                            </p:txEl>
                                          </p:spTgt>
                                        </p:tgtEl>
                                      </p:cBhvr>
                                    </p:animEffect>
                                  </p:childTnLst>
                                </p:cTn>
                              </p:par>
                            </p:childTnLst>
                          </p:cTn>
                        </p:par>
                      </p:childTnLst>
                    </p:cTn>
                  </p:par>
                  <p:par>
                    <p:cTn id="1049" nodeType="clickEffect" fill="hold">
                      <p:stCondLst>
                        <p:cond delay="indefinite"/>
                      </p:stCondLst>
                      <p:childTnLst>
                        <p:par>
                          <p:cTn id="1050" nodeType="withEffect" fill="hold">
                            <p:stCondLst>
                              <p:cond delay="0"/>
                            </p:stCondLst>
                            <p:childTnLst>
                              <p:par>
                                <p:cTn id="1051" nodeType="clickEffect" fill="hold" presetClass="entr" presetID="22" presetSubtype="8">
                                  <p:stCondLst>
                                    <p:cond delay="0"/>
                                  </p:stCondLst>
                                  <p:childTnLst>
                                    <p:set>
                                      <p:cBhvr>
                                        <p:cTn id="1052" dur="1" fill="hold">
                                          <p:stCondLst>
                                            <p:cond delay="0"/>
                                          </p:stCondLst>
                                        </p:cTn>
                                        <p:tgtEl>
                                          <p:spTgt spid="393">
                                            <p:txEl>
                                              <p:pRg st="4" end="4"/>
                                            </p:txEl>
                                          </p:spTgt>
                                        </p:tgtEl>
                                        <p:attrNameLst>
                                          <p:attrName>style.visibility</p:attrName>
                                        </p:attrNameLst>
                                      </p:cBhvr>
                                      <p:to>
                                        <p:strVal val="visible"/>
                                      </p:to>
                                    </p:set>
                                    <p:animEffect filter="wipe(left)" transition="in">
                                      <p:cBhvr additive="repl">
                                        <p:cTn id="1053" dur="500"/>
                                        <p:tgtEl>
                                          <p:spTgt spid="39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9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immediate effect of the decision to enter or exit is to shift the market supply curve.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If more firms enter a market, supply increases and the market supply curve shifts rightward.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If firms exit a market, supply decreases and the market supply curve shifts leftward.</a:t>
            </a:r>
            <a:endParaRPr b="1" lang="en-CA" sz="2400" strike="noStrike" u="none">
              <a:solidFill>
                <a:srgbClr val="00468f"/>
              </a:solidFill>
              <a:effectLst/>
              <a:uFillTx/>
              <a:latin typeface="Arial"/>
            </a:endParaRPr>
          </a:p>
        </p:txBody>
      </p:sp>
    </p:spTree>
  </p:cSld>
  <p:transition spd="slow">
    <p:wipe dir="r"/>
  </p:transition>
  <p:timing>
    <p:tnLst>
      <p:par>
        <p:cTn id="1054" dur="indefinite" restart="never" nodeType="tmRoot">
          <p:childTnLst>
            <p:seq>
              <p:cTn id="1055" dur="indefinite" nodeType="mainSeq">
                <p:childTnLst>
                  <p:par>
                    <p:cTn id="1056" nodeType="clickEffect" fill="hold">
                      <p:stCondLst>
                        <p:cond delay="indefinite"/>
                      </p:stCondLst>
                      <p:childTnLst>
                        <p:par>
                          <p:cTn id="1057" nodeType="withEffect" fill="hold">
                            <p:stCondLst>
                              <p:cond delay="0"/>
                            </p:stCondLst>
                            <p:childTnLst>
                              <p:par>
                                <p:cTn id="1058" nodeType="clickEffect" fill="hold" presetClass="entr" presetID="22" presetSubtype="8">
                                  <p:stCondLst>
                                    <p:cond delay="0"/>
                                  </p:stCondLst>
                                  <p:childTnLst>
                                    <p:set>
                                      <p:cBhvr>
                                        <p:cTn id="1059" dur="1" fill="hold">
                                          <p:stCondLst>
                                            <p:cond delay="0"/>
                                          </p:stCondLst>
                                        </p:cTn>
                                        <p:tgtEl>
                                          <p:spTgt spid="395">
                                            <p:txEl>
                                              <p:pRg st="1" end="1"/>
                                            </p:txEl>
                                          </p:spTgt>
                                        </p:tgtEl>
                                        <p:attrNameLst>
                                          <p:attrName>style.visibility</p:attrName>
                                        </p:attrNameLst>
                                      </p:cBhvr>
                                      <p:to>
                                        <p:strVal val="visible"/>
                                      </p:to>
                                    </p:set>
                                    <p:animEffect filter="wipe(left)" transition="in">
                                      <p:cBhvr additive="repl">
                                        <p:cTn id="1060" dur="500"/>
                                        <p:tgtEl>
                                          <p:spTgt spid="395">
                                            <p:txEl>
                                              <p:pRg st="1" end="1"/>
                                            </p:txEl>
                                          </p:spTgt>
                                        </p:tgtEl>
                                      </p:cBhvr>
                                    </p:animEffect>
                                  </p:childTnLst>
                                </p:cTn>
                              </p:par>
                            </p:childTnLst>
                          </p:cTn>
                        </p:par>
                      </p:childTnLst>
                    </p:cTn>
                  </p:par>
                  <p:par>
                    <p:cTn id="1061" nodeType="clickEffect" fill="hold">
                      <p:stCondLst>
                        <p:cond delay="indefinite"/>
                      </p:stCondLst>
                      <p:childTnLst>
                        <p:par>
                          <p:cTn id="1062" nodeType="withEffect" fill="hold">
                            <p:stCondLst>
                              <p:cond delay="0"/>
                            </p:stCondLst>
                            <p:childTnLst>
                              <p:par>
                                <p:cTn id="1063" nodeType="clickEffect" fill="hold" presetClass="entr" presetID="22" presetSubtype="8">
                                  <p:stCondLst>
                                    <p:cond delay="0"/>
                                  </p:stCondLst>
                                  <p:childTnLst>
                                    <p:set>
                                      <p:cBhvr>
                                        <p:cTn id="1064" dur="1" fill="hold">
                                          <p:stCondLst>
                                            <p:cond delay="0"/>
                                          </p:stCondLst>
                                        </p:cTn>
                                        <p:tgtEl>
                                          <p:spTgt spid="395">
                                            <p:txEl>
                                              <p:pRg st="2" end="2"/>
                                            </p:txEl>
                                          </p:spTgt>
                                        </p:tgtEl>
                                        <p:attrNameLst>
                                          <p:attrName>style.visibility</p:attrName>
                                        </p:attrNameLst>
                                      </p:cBhvr>
                                      <p:to>
                                        <p:strVal val="visible"/>
                                      </p:to>
                                    </p:set>
                                    <p:animEffect filter="wipe(left)" transition="in">
                                      <p:cBhvr additive="repl">
                                        <p:cTn id="1065" dur="500"/>
                                        <p:tgtEl>
                                          <p:spTgt spid="395">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9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The Effects of Entry</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Economic profit is an incentive for new firms to enter a market, but as they do so, the price falls and the economic profit of each existing firm decreases.</a:t>
            </a:r>
            <a:endParaRPr b="1" lang="en-CA" sz="2400" strike="noStrike" u="none">
              <a:solidFill>
                <a:srgbClr val="00468f"/>
              </a:solidFill>
              <a:effectLst/>
              <a:uFillTx/>
              <a:latin typeface="Arial"/>
            </a:endParaRPr>
          </a:p>
        </p:txBody>
      </p:sp>
    </p:spTree>
  </p:cSld>
  <p:transition spd="slow">
    <p:wipe dir="r"/>
  </p:transition>
  <p:timing>
    <p:tnLst>
      <p:par>
        <p:cTn id="1066" dur="indefinite" restart="never" nodeType="tmRoot">
          <p:childTnLst>
            <p:seq>
              <p:cTn id="1067" dur="indefinite" nodeType="mainSeq">
                <p:childTnLst>
                  <p:par>
                    <p:cTn id="1068" nodeType="clickEffect" fill="hold">
                      <p:stCondLst>
                        <p:cond delay="indefinite"/>
                      </p:stCondLst>
                      <p:childTnLst>
                        <p:par>
                          <p:cTn id="1069" nodeType="withEffect" fill="hold">
                            <p:stCondLst>
                              <p:cond delay="0"/>
                            </p:stCondLst>
                            <p:childTnLst>
                              <p:par>
                                <p:cTn id="1070" nodeType="clickEffect" fill="hold" presetClass="entr" presetID="22" presetSubtype="8">
                                  <p:stCondLst>
                                    <p:cond delay="0"/>
                                  </p:stCondLst>
                                  <p:childTnLst>
                                    <p:set>
                                      <p:cBhvr>
                                        <p:cTn id="1071" dur="1" fill="hold">
                                          <p:stCondLst>
                                            <p:cond delay="0"/>
                                          </p:stCondLst>
                                        </p:cTn>
                                        <p:tgtEl>
                                          <p:spTgt spid="397">
                                            <p:txEl>
                                              <p:pRg st="1" end="1"/>
                                            </p:txEl>
                                          </p:spTgt>
                                        </p:tgtEl>
                                        <p:attrNameLst>
                                          <p:attrName>style.visibility</p:attrName>
                                        </p:attrNameLst>
                                      </p:cBhvr>
                                      <p:to>
                                        <p:strVal val="visible"/>
                                      </p:to>
                                    </p:set>
                                    <p:animEffect filter="wipe(left)" transition="in">
                                      <p:cBhvr additive="repl">
                                        <p:cTn id="1072" dur="500"/>
                                        <p:tgtEl>
                                          <p:spTgt spid="39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399"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15.11 shows the effects of entry.</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Starting in long-run equilibrium,</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339840"/>
              </a:tabLst>
            </a:pPr>
            <a:r>
              <a:rPr b="0" lang="en-US" sz="2400" strike="noStrike" u="none">
                <a:solidFill>
                  <a:srgbClr val="000000"/>
                </a:solidFill>
                <a:effectLst/>
                <a:uFillTx/>
                <a:latin typeface="Arial"/>
                <a:ea typeface="ＭＳ Ｐゴシック"/>
              </a:rPr>
              <a:t>If demand increases from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 to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1</a:t>
            </a:r>
            <a:r>
              <a:rPr b="0" lang="en-US" sz="2400" strike="noStrike" u="none">
                <a:solidFill>
                  <a:srgbClr val="000000"/>
                </a:solidFill>
                <a:effectLst/>
                <a:uFillTx/>
                <a:latin typeface="Arial"/>
                <a:ea typeface="ＭＳ Ｐゴシック"/>
              </a:rPr>
              <a:t>, the price rises from $5 to $8 a can.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Firms now make economic </a:t>
            </a:r>
            <a:r>
              <a:rPr b="0" lang="en-US" sz="2400" strike="noStrike" u="none">
                <a:solidFill>
                  <a:srgbClr val="000000"/>
                </a:solidFill>
                <a:effectLst/>
                <a:uFillTx/>
                <a:latin typeface="Arial"/>
                <a:ea typeface="ＭＳ Ｐゴシック"/>
              </a:rPr>
              <a:t>	</a:t>
            </a:r>
            <a:r>
              <a:rPr b="0" lang="en-US" sz="2400" strike="noStrike" u="none">
                <a:solidFill>
                  <a:srgbClr val="000000"/>
                </a:solidFill>
                <a:effectLst/>
                <a:uFillTx/>
                <a:latin typeface="Arial"/>
                <a:ea typeface="ＭＳ Ｐゴシック"/>
              </a:rPr>
              <a:t>profits.</a:t>
            </a:r>
            <a:endParaRPr b="1" lang="en-CA" sz="2400" strike="noStrike" u="none">
              <a:solidFill>
                <a:srgbClr val="00468f"/>
              </a:solidFill>
              <a:effectLst/>
              <a:uFillTx/>
              <a:latin typeface="Arial"/>
            </a:endParaRPr>
          </a:p>
        </p:txBody>
      </p:sp>
      <p:pic>
        <p:nvPicPr>
          <p:cNvPr id="400" name="Picture 9" descr=""/>
          <p:cNvPicPr/>
          <p:nvPr/>
        </p:nvPicPr>
        <p:blipFill>
          <a:blip r:embed="rId1"/>
          <a:stretch/>
        </p:blipFill>
        <p:spPr>
          <a:xfrm>
            <a:off x="4248000" y="1476360"/>
            <a:ext cx="4509720" cy="4669920"/>
          </a:xfrm>
          <a:prstGeom prst="rect">
            <a:avLst/>
          </a:prstGeom>
          <a:noFill/>
          <a:ln w="0">
            <a:noFill/>
          </a:ln>
        </p:spPr>
      </p:pic>
      <p:pic>
        <p:nvPicPr>
          <p:cNvPr id="401" name="Picture 10" descr=""/>
          <p:cNvPicPr/>
          <p:nvPr/>
        </p:nvPicPr>
        <p:blipFill>
          <a:blip r:embed="rId2"/>
          <a:stretch/>
        </p:blipFill>
        <p:spPr>
          <a:xfrm>
            <a:off x="4248000" y="1476360"/>
            <a:ext cx="4509720" cy="4669920"/>
          </a:xfrm>
          <a:prstGeom prst="rect">
            <a:avLst/>
          </a:prstGeom>
          <a:noFill/>
          <a:ln w="0">
            <a:noFill/>
          </a:ln>
        </p:spPr>
      </p:pic>
      <p:pic>
        <p:nvPicPr>
          <p:cNvPr id="402" name="Picture 11" descr=""/>
          <p:cNvPicPr/>
          <p:nvPr/>
        </p:nvPicPr>
        <p:blipFill>
          <a:blip r:embed="rId3"/>
          <a:stretch/>
        </p:blipFill>
        <p:spPr>
          <a:xfrm>
            <a:off x="4248000" y="1476360"/>
            <a:ext cx="4509720" cy="4669920"/>
          </a:xfrm>
          <a:prstGeom prst="rect">
            <a:avLst/>
          </a:prstGeom>
          <a:noFill/>
          <a:ln w="0">
            <a:noFill/>
          </a:ln>
        </p:spPr>
      </p:pic>
    </p:spTree>
  </p:cSld>
  <p:transition spd="slow">
    <p:wipe dir="r"/>
  </p:transition>
  <p:timing>
    <p:tnLst>
      <p:par>
        <p:cTn id="1073" dur="indefinite" restart="never" nodeType="tmRoot">
          <p:childTnLst>
            <p:seq>
              <p:cTn id="1074" dur="indefinite" nodeType="mainSeq">
                <p:childTnLst>
                  <p:par>
                    <p:cTn id="1075" nodeType="clickEffect" fill="hold">
                      <p:stCondLst>
                        <p:cond delay="indefinite"/>
                      </p:stCondLst>
                      <p:childTnLst>
                        <p:par>
                          <p:cTn id="1076" nodeType="withEffect" fill="hold">
                            <p:stCondLst>
                              <p:cond delay="0"/>
                            </p:stCondLst>
                            <p:childTnLst>
                              <p:par>
                                <p:cTn id="1077" nodeType="clickEffect" fill="hold" presetClass="entr" presetID="22" presetSubtype="8">
                                  <p:stCondLst>
                                    <p:cond delay="0"/>
                                  </p:stCondLst>
                                  <p:childTnLst>
                                    <p:set>
                                      <p:cBhvr>
                                        <p:cTn id="1078" dur="1" fill="hold">
                                          <p:stCondLst>
                                            <p:cond delay="0"/>
                                          </p:stCondLst>
                                        </p:cTn>
                                        <p:tgtEl>
                                          <p:spTgt spid="399">
                                            <p:txEl>
                                              <p:pRg st="1" end="1"/>
                                            </p:txEl>
                                          </p:spTgt>
                                        </p:tgtEl>
                                        <p:attrNameLst>
                                          <p:attrName>style.visibility</p:attrName>
                                        </p:attrNameLst>
                                      </p:cBhvr>
                                      <p:to>
                                        <p:strVal val="visible"/>
                                      </p:to>
                                    </p:set>
                                    <p:animEffect filter="wipe(left)" transition="in">
                                      <p:cBhvr additive="repl">
                                        <p:cTn id="1079" dur="500"/>
                                        <p:tgtEl>
                                          <p:spTgt spid="399">
                                            <p:txEl>
                                              <p:pRg st="1" end="1"/>
                                            </p:txEl>
                                          </p:spTgt>
                                        </p:tgtEl>
                                      </p:cBhvr>
                                    </p:animEffect>
                                  </p:childTnLst>
                                </p:cTn>
                              </p:par>
                            </p:childTnLst>
                          </p:cTn>
                        </p:par>
                      </p:childTnLst>
                    </p:cTn>
                  </p:par>
                  <p:par>
                    <p:cTn id="1080" nodeType="clickEffect" fill="hold">
                      <p:stCondLst>
                        <p:cond delay="indefinite"/>
                      </p:stCondLst>
                      <p:childTnLst>
                        <p:par>
                          <p:cTn id="1081" nodeType="withEffect" fill="hold">
                            <p:stCondLst>
                              <p:cond delay="0"/>
                            </p:stCondLst>
                            <p:childTnLst>
                              <p:par>
                                <p:cTn id="1082" nodeType="clickEffect" fill="hold" presetClass="entr" presetID="22" presetSubtype="8">
                                  <p:stCondLst>
                                    <p:cond delay="0"/>
                                  </p:stCondLst>
                                  <p:childTnLst>
                                    <p:set>
                                      <p:cBhvr>
                                        <p:cTn id="1083" dur="1" fill="hold">
                                          <p:stCondLst>
                                            <p:cond delay="0"/>
                                          </p:stCondLst>
                                        </p:cTn>
                                        <p:tgtEl>
                                          <p:spTgt spid="399">
                                            <p:txEl>
                                              <p:pRg st="2" end="2"/>
                                            </p:txEl>
                                          </p:spTgt>
                                        </p:tgtEl>
                                        <p:attrNameLst>
                                          <p:attrName>style.visibility</p:attrName>
                                        </p:attrNameLst>
                                      </p:cBhvr>
                                      <p:to>
                                        <p:strVal val="visible"/>
                                      </p:to>
                                    </p:set>
                                    <p:animEffect filter="wipe(left)" transition="in">
                                      <p:cBhvr additive="repl">
                                        <p:cTn id="1084" dur="500"/>
                                        <p:tgtEl>
                                          <p:spTgt spid="399">
                                            <p:txEl>
                                              <p:pRg st="2" end="2"/>
                                            </p:txEl>
                                          </p:spTgt>
                                        </p:tgtEl>
                                      </p:cBhvr>
                                    </p:animEffect>
                                  </p:childTnLst>
                                </p:cTn>
                              </p:par>
                              <p:par>
                                <p:cTn id="1085" nodeType="withEffect" fill="hold" presetClass="entr" presetID="22" presetSubtype="8">
                                  <p:stCondLst>
                                    <p:cond delay="0"/>
                                  </p:stCondLst>
                                  <p:childTnLst>
                                    <p:set>
                                      <p:cBhvr>
                                        <p:cTn id="1086" dur="1" fill="hold">
                                          <p:stCondLst>
                                            <p:cond delay="0"/>
                                          </p:stCondLst>
                                        </p:cTn>
                                        <p:tgtEl>
                                          <p:spTgt spid="401"/>
                                        </p:tgtEl>
                                        <p:attrNameLst>
                                          <p:attrName>style.visibility</p:attrName>
                                        </p:attrNameLst>
                                      </p:cBhvr>
                                      <p:to>
                                        <p:strVal val="visible"/>
                                      </p:to>
                                    </p:set>
                                    <p:animEffect filter="wipe(left)" transition="in">
                                      <p:cBhvr additive="repl">
                                        <p:cTn id="1087" dur="1000"/>
                                        <p:tgtEl>
                                          <p:spTgt spid="401"/>
                                        </p:tgtEl>
                                      </p:cBhvr>
                                    </p:animEffect>
                                  </p:childTnLst>
                                </p:cTn>
                              </p:par>
                              <p:par>
                                <p:cTn id="1088" nodeType="withEffect" fill="hold" presetClass="entr" presetID="22" presetSubtype="4">
                                  <p:stCondLst>
                                    <p:cond delay="1500"/>
                                  </p:stCondLst>
                                  <p:childTnLst>
                                    <p:set>
                                      <p:cBhvr>
                                        <p:cTn id="1089" dur="1" fill="hold">
                                          <p:stCondLst>
                                            <p:cond delay="0"/>
                                          </p:stCondLst>
                                        </p:cTn>
                                        <p:tgtEl>
                                          <p:spTgt spid="402"/>
                                        </p:tgtEl>
                                        <p:attrNameLst>
                                          <p:attrName>style.visibility</p:attrName>
                                        </p:attrNameLst>
                                      </p:cBhvr>
                                      <p:to>
                                        <p:strVal val="visible"/>
                                      </p:to>
                                    </p:set>
                                    <p:animEffect filter="wipe(down)" transition="in">
                                      <p:cBhvr additive="repl">
                                        <p:cTn id="1090" dur="1000"/>
                                        <p:tgtEl>
                                          <p:spTgt spid="402"/>
                                        </p:tgtEl>
                                      </p:cBhvr>
                                    </p:animEffect>
                                  </p:childTnLst>
                                </p:cTn>
                              </p:par>
                            </p:childTnLst>
                          </p:cTn>
                        </p:par>
                      </p:childTnLst>
                    </p:cTn>
                  </p:par>
                  <p:par>
                    <p:cTn id="1091" nodeType="clickEffect" fill="hold">
                      <p:stCondLst>
                        <p:cond delay="indefinite"/>
                      </p:stCondLst>
                      <p:childTnLst>
                        <p:par>
                          <p:cTn id="1092" nodeType="withEffect" fill="hold">
                            <p:stCondLst>
                              <p:cond delay="0"/>
                            </p:stCondLst>
                            <p:childTnLst>
                              <p:par>
                                <p:cTn id="1093" nodeType="clickEffect" fill="hold" presetClass="entr" presetID="22" presetSubtype="8">
                                  <p:stCondLst>
                                    <p:cond delay="0"/>
                                  </p:stCondLst>
                                  <p:childTnLst>
                                    <p:set>
                                      <p:cBhvr>
                                        <p:cTn id="1094" dur="1" fill="hold">
                                          <p:stCondLst>
                                            <p:cond delay="0"/>
                                          </p:stCondLst>
                                        </p:cTn>
                                        <p:tgtEl>
                                          <p:spTgt spid="399">
                                            <p:txEl>
                                              <p:pRg st="3" end="3"/>
                                            </p:txEl>
                                          </p:spTgt>
                                        </p:tgtEl>
                                        <p:attrNameLst>
                                          <p:attrName>style.visibility</p:attrName>
                                        </p:attrNameLst>
                                      </p:cBhvr>
                                      <p:to>
                                        <p:strVal val="visible"/>
                                      </p:to>
                                    </p:set>
                                    <p:animEffect filter="wipe(left)" transition="in">
                                      <p:cBhvr additive="repl">
                                        <p:cTn id="1095" dur="500"/>
                                        <p:tgtEl>
                                          <p:spTgt spid="39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03" name="Picture 6" descr=""/>
          <p:cNvPicPr/>
          <p:nvPr/>
        </p:nvPicPr>
        <p:blipFill>
          <a:blip r:embed="rId1"/>
          <a:stretch/>
        </p:blipFill>
        <p:spPr>
          <a:xfrm>
            <a:off x="1728720" y="576360"/>
            <a:ext cx="5304960" cy="5495400"/>
          </a:xfrm>
          <a:prstGeom prst="rect">
            <a:avLst/>
          </a:prstGeom>
          <a:noFill/>
          <a:ln w="0">
            <a:noFill/>
          </a:ln>
        </p:spPr>
      </p:pic>
      <p:pic>
        <p:nvPicPr>
          <p:cNvPr id="404" name="Picture 11" descr=""/>
          <p:cNvPicPr/>
          <p:nvPr/>
        </p:nvPicPr>
        <p:blipFill>
          <a:blip r:embed="rId2"/>
          <a:stretch/>
        </p:blipFill>
        <p:spPr>
          <a:xfrm>
            <a:off x="1728720" y="576360"/>
            <a:ext cx="5304960" cy="5495400"/>
          </a:xfrm>
          <a:prstGeom prst="rect">
            <a:avLst/>
          </a:prstGeom>
          <a:noFill/>
          <a:ln w="0">
            <a:noFill/>
          </a:ln>
        </p:spPr>
      </p:pic>
      <p:pic>
        <p:nvPicPr>
          <p:cNvPr id="405" name="Picture 12" descr=""/>
          <p:cNvPicPr/>
          <p:nvPr/>
        </p:nvPicPr>
        <p:blipFill>
          <a:blip r:embed="rId3"/>
          <a:stretch/>
        </p:blipFill>
        <p:spPr>
          <a:xfrm>
            <a:off x="1728720" y="576360"/>
            <a:ext cx="5304960" cy="5495400"/>
          </a:xfrm>
          <a:prstGeom prst="rect">
            <a:avLst/>
          </a:prstGeom>
          <a:noFill/>
          <a:ln w="0">
            <a:noFill/>
          </a:ln>
        </p:spPr>
      </p:pic>
      <p:pic>
        <p:nvPicPr>
          <p:cNvPr id="406" name="Picture 13" descr=""/>
          <p:cNvPicPr/>
          <p:nvPr/>
        </p:nvPicPr>
        <p:blipFill>
          <a:blip r:embed="rId4"/>
          <a:stretch/>
        </p:blipFill>
        <p:spPr>
          <a:xfrm>
            <a:off x="1728720" y="576360"/>
            <a:ext cx="5304960" cy="5495400"/>
          </a:xfrm>
          <a:prstGeom prst="rect">
            <a:avLst/>
          </a:prstGeom>
          <a:noFill/>
          <a:ln w="0">
            <a:noFill/>
          </a:ln>
        </p:spPr>
      </p:pic>
      <p:pic>
        <p:nvPicPr>
          <p:cNvPr id="407" name="Picture 14" descr=""/>
          <p:cNvPicPr/>
          <p:nvPr/>
        </p:nvPicPr>
        <p:blipFill>
          <a:blip r:embed="rId5"/>
          <a:stretch/>
        </p:blipFill>
        <p:spPr>
          <a:xfrm>
            <a:off x="1728720" y="576360"/>
            <a:ext cx="5304960" cy="5495400"/>
          </a:xfrm>
          <a:prstGeom prst="rect">
            <a:avLst/>
          </a:prstGeom>
          <a:noFill/>
          <a:ln w="0">
            <a:noFill/>
          </a:ln>
        </p:spPr>
      </p:pic>
    </p:spTree>
  </p:cSld>
  <p:transition spd="slow">
    <p:wipe dir="r"/>
  </p:transition>
  <p:timing>
    <p:tnLst>
      <p:par>
        <p:cTn id="1096" dur="indefinite" restart="never" nodeType="tmRoot">
          <p:childTnLst>
            <p:seq>
              <p:cTn id="1097" dur="indefinite" nodeType="mainSeq">
                <p:childTnLst>
                  <p:par>
                    <p:cTn id="1098" nodeType="clickEffect" fill="hold">
                      <p:stCondLst>
                        <p:cond delay="indefinite"/>
                      </p:stCondLst>
                      <p:childTnLst>
                        <p:par>
                          <p:cTn id="1099" nodeType="withEffect" fill="hold">
                            <p:stCondLst>
                              <p:cond delay="0"/>
                            </p:stCondLst>
                            <p:childTnLst>
                              <p:par>
                                <p:cTn id="1100" nodeType="clickEffect" fill="hold" presetClass="entr" presetID="22" presetSubtype="8">
                                  <p:stCondLst>
                                    <p:cond delay="0"/>
                                  </p:stCondLst>
                                  <p:childTnLst>
                                    <p:set>
                                      <p:cBhvr>
                                        <p:cTn id="1101" dur="1" fill="hold">
                                          <p:stCondLst>
                                            <p:cond delay="0"/>
                                          </p:stCondLst>
                                        </p:cTn>
                                        <p:tgtEl>
                                          <p:spTgt spid="404"/>
                                        </p:tgtEl>
                                        <p:attrNameLst>
                                          <p:attrName>style.visibility</p:attrName>
                                        </p:attrNameLst>
                                      </p:cBhvr>
                                      <p:to>
                                        <p:strVal val="visible"/>
                                      </p:to>
                                    </p:set>
                                    <p:animEffect filter="wipe(left)" transition="in">
                                      <p:cBhvr additive="repl">
                                        <p:cTn id="1102" dur="1000"/>
                                        <p:tgtEl>
                                          <p:spTgt spid="404"/>
                                        </p:tgtEl>
                                      </p:cBhvr>
                                    </p:animEffect>
                                  </p:childTnLst>
                                </p:cTn>
                              </p:par>
                            </p:childTnLst>
                          </p:cTn>
                        </p:par>
                      </p:childTnLst>
                    </p:cTn>
                  </p:par>
                  <p:par>
                    <p:cTn id="1103" nodeType="clickEffect" fill="hold">
                      <p:stCondLst>
                        <p:cond delay="indefinite"/>
                      </p:stCondLst>
                      <p:childTnLst>
                        <p:par>
                          <p:cTn id="1104" nodeType="withEffect" fill="hold">
                            <p:stCondLst>
                              <p:cond delay="0"/>
                            </p:stCondLst>
                            <p:childTnLst>
                              <p:par>
                                <p:cTn id="1105" nodeType="clickEffect" fill="hold" presetClass="entr" presetID="22" presetSubtype="4">
                                  <p:stCondLst>
                                    <p:cond delay="0"/>
                                  </p:stCondLst>
                                  <p:childTnLst>
                                    <p:set>
                                      <p:cBhvr>
                                        <p:cTn id="1106" dur="1" fill="hold">
                                          <p:stCondLst>
                                            <p:cond delay="0"/>
                                          </p:stCondLst>
                                        </p:cTn>
                                        <p:tgtEl>
                                          <p:spTgt spid="405"/>
                                        </p:tgtEl>
                                        <p:attrNameLst>
                                          <p:attrName>style.visibility</p:attrName>
                                        </p:attrNameLst>
                                      </p:cBhvr>
                                      <p:to>
                                        <p:strVal val="visible"/>
                                      </p:to>
                                    </p:set>
                                    <p:animEffect filter="wipe(down)" transition="in">
                                      <p:cBhvr additive="repl">
                                        <p:cTn id="1107" dur="1000"/>
                                        <p:tgtEl>
                                          <p:spTgt spid="405"/>
                                        </p:tgtEl>
                                      </p:cBhvr>
                                    </p:animEffect>
                                  </p:childTnLst>
                                </p:cTn>
                              </p:par>
                            </p:childTnLst>
                          </p:cTn>
                        </p:par>
                      </p:childTnLst>
                    </p:cTn>
                  </p:par>
                  <p:par>
                    <p:cTn id="1108" nodeType="clickEffect" fill="hold">
                      <p:stCondLst>
                        <p:cond delay="indefinite"/>
                      </p:stCondLst>
                      <p:childTnLst>
                        <p:par>
                          <p:cTn id="1109" nodeType="withEffect" fill="hold">
                            <p:stCondLst>
                              <p:cond delay="0"/>
                            </p:stCondLst>
                            <p:childTnLst>
                              <p:par>
                                <p:cTn id="1110" nodeType="clickEffect" fill="hold" presetClass="entr" presetID="22" presetSubtype="8">
                                  <p:stCondLst>
                                    <p:cond delay="0"/>
                                  </p:stCondLst>
                                  <p:childTnLst>
                                    <p:set>
                                      <p:cBhvr>
                                        <p:cTn id="1111" dur="1" fill="hold">
                                          <p:stCondLst>
                                            <p:cond delay="0"/>
                                          </p:stCondLst>
                                        </p:cTn>
                                        <p:tgtEl>
                                          <p:spTgt spid="406"/>
                                        </p:tgtEl>
                                        <p:attrNameLst>
                                          <p:attrName>style.visibility</p:attrName>
                                        </p:attrNameLst>
                                      </p:cBhvr>
                                      <p:to>
                                        <p:strVal val="visible"/>
                                      </p:to>
                                    </p:set>
                                    <p:animEffect filter="wipe(left)" transition="in">
                                      <p:cBhvr additive="repl">
                                        <p:cTn id="1112" dur="1000"/>
                                        <p:tgtEl>
                                          <p:spTgt spid="406"/>
                                        </p:tgtEl>
                                      </p:cBhvr>
                                    </p:animEffect>
                                  </p:childTnLst>
                                </p:cTn>
                              </p:par>
                            </p:childTnLst>
                          </p:cTn>
                        </p:par>
                      </p:childTnLst>
                    </p:cTn>
                  </p:par>
                  <p:par>
                    <p:cTn id="1113" nodeType="clickEffect" fill="hold">
                      <p:stCondLst>
                        <p:cond delay="indefinite"/>
                      </p:stCondLst>
                      <p:childTnLst>
                        <p:par>
                          <p:cTn id="1114" nodeType="withEffect" fill="hold">
                            <p:stCondLst>
                              <p:cond delay="0"/>
                            </p:stCondLst>
                            <p:childTnLst>
                              <p:par>
                                <p:cTn id="1115" nodeType="clickEffect" fill="hold" presetClass="entr" presetID="22" presetSubtype="1">
                                  <p:stCondLst>
                                    <p:cond delay="0"/>
                                  </p:stCondLst>
                                  <p:childTnLst>
                                    <p:set>
                                      <p:cBhvr>
                                        <p:cTn id="1116" dur="1" fill="hold">
                                          <p:stCondLst>
                                            <p:cond delay="0"/>
                                          </p:stCondLst>
                                        </p:cTn>
                                        <p:tgtEl>
                                          <p:spTgt spid="407"/>
                                        </p:tgtEl>
                                        <p:attrNameLst>
                                          <p:attrName>style.visibility</p:attrName>
                                        </p:attrNameLst>
                                      </p:cBhvr>
                                      <p:to>
                                        <p:strVal val="visible"/>
                                      </p:to>
                                    </p:set>
                                    <p:animEffect filter="wipe(up)" transition="in">
                                      <p:cBhvr additive="repl">
                                        <p:cTn id="1117" dur="10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8" name="Picture 10" descr=""/>
          <p:cNvPicPr/>
          <p:nvPr/>
        </p:nvPicPr>
        <p:blipFill>
          <a:blip r:embed="rId1"/>
          <a:stretch/>
        </p:blipFill>
        <p:spPr>
          <a:xfrm>
            <a:off x="4248000" y="1476360"/>
            <a:ext cx="4509720" cy="4669920"/>
          </a:xfrm>
          <a:prstGeom prst="rect">
            <a:avLst/>
          </a:prstGeom>
          <a:noFill/>
          <a:ln w="0">
            <a:noFill/>
          </a:ln>
        </p:spPr>
      </p:pic>
      <p:pic>
        <p:nvPicPr>
          <p:cNvPr id="409" name="Picture 11" descr=""/>
          <p:cNvPicPr/>
          <p:nvPr/>
        </p:nvPicPr>
        <p:blipFill>
          <a:blip r:embed="rId2"/>
          <a:stretch/>
        </p:blipFill>
        <p:spPr>
          <a:xfrm>
            <a:off x="4248000" y="1476360"/>
            <a:ext cx="4509720" cy="4669920"/>
          </a:xfrm>
          <a:prstGeom prst="rect">
            <a:avLst/>
          </a:prstGeom>
          <a:noFill/>
          <a:ln w="0">
            <a:noFill/>
          </a:ln>
        </p:spPr>
      </p:pic>
      <p:pic>
        <p:nvPicPr>
          <p:cNvPr id="410" name="Picture 12" descr=""/>
          <p:cNvPicPr/>
          <p:nvPr/>
        </p:nvPicPr>
        <p:blipFill>
          <a:blip r:embed="rId3"/>
          <a:stretch/>
        </p:blipFill>
        <p:spPr>
          <a:xfrm>
            <a:off x="4248000" y="1476360"/>
            <a:ext cx="4509720" cy="4669920"/>
          </a:xfrm>
          <a:prstGeom prst="rect">
            <a:avLst/>
          </a:prstGeom>
          <a:noFill/>
          <a:ln w="0">
            <a:noFill/>
          </a:ln>
        </p:spPr>
      </p:pic>
      <p:pic>
        <p:nvPicPr>
          <p:cNvPr id="411" name="Picture 13" descr=""/>
          <p:cNvPicPr/>
          <p:nvPr/>
        </p:nvPicPr>
        <p:blipFill>
          <a:blip r:embed="rId4"/>
          <a:stretch/>
        </p:blipFill>
        <p:spPr>
          <a:xfrm>
            <a:off x="4248000" y="1476360"/>
            <a:ext cx="4509720" cy="4669920"/>
          </a:xfrm>
          <a:prstGeom prst="rect">
            <a:avLst/>
          </a:prstGeom>
          <a:noFill/>
          <a:ln w="0">
            <a:noFill/>
          </a:ln>
        </p:spPr>
      </p:pic>
      <p:pic>
        <p:nvPicPr>
          <p:cNvPr id="412" name="Picture 14" descr=""/>
          <p:cNvPicPr/>
          <p:nvPr/>
        </p:nvPicPr>
        <p:blipFill>
          <a:blip r:embed="rId5"/>
          <a:stretch/>
        </p:blipFill>
        <p:spPr>
          <a:xfrm>
            <a:off x="4248000" y="1476360"/>
            <a:ext cx="4509720" cy="4669920"/>
          </a:xfrm>
          <a:prstGeom prst="rect">
            <a:avLst/>
          </a:prstGeom>
          <a:noFill/>
          <a:ln w="0">
            <a:noFill/>
          </a:ln>
        </p:spPr>
      </p:pic>
      <p:sp>
        <p:nvSpPr>
          <p:cNvPr id="41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14"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Economic profit brings entry.</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2"/>
              <a:tabLst>
                <a:tab algn="l" pos="339840"/>
              </a:tabLst>
            </a:pPr>
            <a:r>
              <a:rPr b="0" lang="en-US" sz="2400" strike="noStrike" u="none">
                <a:solidFill>
                  <a:srgbClr val="000000"/>
                </a:solidFill>
                <a:effectLst/>
                <a:uFillTx/>
                <a:latin typeface="Arial"/>
                <a:ea typeface="ＭＳ Ｐゴシック"/>
              </a:rPr>
              <a:t>As firms enter the market, the supply curve shifts rightward, from </a:t>
            </a:r>
            <a:r>
              <a:rPr b="0" i="1" lang="en-US" sz="2400" strike="noStrike" u="none">
                <a:solidFill>
                  <a:srgbClr val="000000"/>
                </a:solidFill>
                <a:effectLst/>
                <a:uFillTx/>
                <a:latin typeface="Arial"/>
                <a:ea typeface="ＭＳ Ｐゴシック"/>
              </a:rPr>
              <a:t>S</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 to </a:t>
            </a:r>
            <a:r>
              <a:rPr b="0" i="1" lang="en-US" sz="2400" strike="noStrike" u="none">
                <a:solidFill>
                  <a:srgbClr val="000000"/>
                </a:solidFill>
                <a:effectLst/>
                <a:uFillTx/>
                <a:latin typeface="Arial"/>
                <a:ea typeface="ＭＳ Ｐゴシック"/>
              </a:rPr>
              <a:t>S</a:t>
            </a:r>
            <a:r>
              <a:rPr b="0" lang="en-US" sz="2400" strike="noStrike" u="none" baseline="-25000">
                <a:solidFill>
                  <a:srgbClr val="000000"/>
                </a:solidFill>
                <a:effectLst/>
                <a:uFillTx/>
                <a:latin typeface="Arial"/>
                <a:ea typeface="ＭＳ Ｐゴシック"/>
              </a:rPr>
              <a:t>1</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equilibrium price falls from $8 to $5 a can, and the quantity produced increases from 90,000 to 140,000 cans a day.</a:t>
            </a:r>
            <a:endParaRPr b="1" lang="en-CA" sz="2400" strike="noStrike" u="none">
              <a:solidFill>
                <a:srgbClr val="00468f"/>
              </a:solidFill>
              <a:effectLst/>
              <a:uFillTx/>
              <a:latin typeface="Arial"/>
            </a:endParaRPr>
          </a:p>
        </p:txBody>
      </p:sp>
    </p:spTree>
  </p:cSld>
  <p:transition spd="slow">
    <p:wipe dir="r"/>
  </p:transition>
  <p:timing>
    <p:tnLst>
      <p:par>
        <p:cTn id="1118" dur="indefinite" restart="never" nodeType="tmRoot">
          <p:childTnLst>
            <p:seq>
              <p:cTn id="1119" dur="indefinite" nodeType="mainSeq">
                <p:childTnLst>
                  <p:par>
                    <p:cTn id="1120" nodeType="clickEffect" fill="hold">
                      <p:stCondLst>
                        <p:cond delay="indefinite"/>
                      </p:stCondLst>
                      <p:childTnLst>
                        <p:par>
                          <p:cTn id="1121" nodeType="withEffect" fill="hold">
                            <p:stCondLst>
                              <p:cond delay="0"/>
                            </p:stCondLst>
                            <p:childTnLst>
                              <p:par>
                                <p:cTn id="1122" nodeType="clickEffect" fill="hold" presetClass="entr" presetID="22" presetSubtype="8">
                                  <p:stCondLst>
                                    <p:cond delay="0"/>
                                  </p:stCondLst>
                                  <p:childTnLst>
                                    <p:set>
                                      <p:cBhvr>
                                        <p:cTn id="1123" dur="1" fill="hold">
                                          <p:stCondLst>
                                            <p:cond delay="0"/>
                                          </p:stCondLst>
                                        </p:cTn>
                                        <p:tgtEl>
                                          <p:spTgt spid="414">
                                            <p:txEl>
                                              <p:pRg st="1" end="1"/>
                                            </p:txEl>
                                          </p:spTgt>
                                        </p:tgtEl>
                                        <p:attrNameLst>
                                          <p:attrName>style.visibility</p:attrName>
                                        </p:attrNameLst>
                                      </p:cBhvr>
                                      <p:to>
                                        <p:strVal val="visible"/>
                                      </p:to>
                                    </p:set>
                                    <p:animEffect filter="wipe(left)" transition="in">
                                      <p:cBhvr additive="repl">
                                        <p:cTn id="1124" dur="500"/>
                                        <p:tgtEl>
                                          <p:spTgt spid="414">
                                            <p:txEl>
                                              <p:pRg st="1" end="1"/>
                                            </p:txEl>
                                          </p:spTgt>
                                        </p:tgtEl>
                                      </p:cBhvr>
                                    </p:animEffect>
                                  </p:childTnLst>
                                </p:cTn>
                              </p:par>
                              <p:par>
                                <p:cTn id="1125" nodeType="withEffect" fill="hold" presetClass="entr" presetID="22" presetSubtype="8">
                                  <p:stCondLst>
                                    <p:cond delay="0"/>
                                  </p:stCondLst>
                                  <p:childTnLst>
                                    <p:set>
                                      <p:cBhvr>
                                        <p:cTn id="1126" dur="1" fill="hold">
                                          <p:stCondLst>
                                            <p:cond delay="0"/>
                                          </p:stCondLst>
                                        </p:cTn>
                                        <p:tgtEl>
                                          <p:spTgt spid="411"/>
                                        </p:tgtEl>
                                        <p:attrNameLst>
                                          <p:attrName>style.visibility</p:attrName>
                                        </p:attrNameLst>
                                      </p:cBhvr>
                                      <p:to>
                                        <p:strVal val="visible"/>
                                      </p:to>
                                    </p:set>
                                    <p:animEffect filter="wipe(left)" transition="in">
                                      <p:cBhvr additive="repl">
                                        <p:cTn id="1127" dur="1000"/>
                                        <p:tgtEl>
                                          <p:spTgt spid="411"/>
                                        </p:tgtEl>
                                      </p:cBhvr>
                                    </p:animEffect>
                                  </p:childTnLst>
                                </p:cTn>
                              </p:par>
                              <p:par>
                                <p:cTn id="1128" nodeType="withEffect" fill="hold" presetClass="entr" presetID="22" presetSubtype="1">
                                  <p:stCondLst>
                                    <p:cond delay="1400"/>
                                  </p:stCondLst>
                                  <p:childTnLst>
                                    <p:set>
                                      <p:cBhvr>
                                        <p:cTn id="1129" dur="1" fill="hold">
                                          <p:stCondLst>
                                            <p:cond delay="0"/>
                                          </p:stCondLst>
                                        </p:cTn>
                                        <p:tgtEl>
                                          <p:spTgt spid="412"/>
                                        </p:tgtEl>
                                        <p:attrNameLst>
                                          <p:attrName>style.visibility</p:attrName>
                                        </p:attrNameLst>
                                      </p:cBhvr>
                                      <p:to>
                                        <p:strVal val="visible"/>
                                      </p:to>
                                    </p:set>
                                    <p:animEffect filter="wipe(up)" transition="in">
                                      <p:cBhvr additive="repl">
                                        <p:cTn id="1130" dur="1000"/>
                                        <p:tgtEl>
                                          <p:spTgt spid="412"/>
                                        </p:tgtEl>
                                      </p:cBhvr>
                                    </p:animEffect>
                                  </p:childTnLst>
                                </p:cTn>
                              </p:par>
                            </p:childTnLst>
                          </p:cTn>
                        </p:par>
                      </p:childTnLst>
                    </p:cTn>
                  </p:par>
                  <p:par>
                    <p:cTn id="1131" nodeType="clickEffect" fill="hold">
                      <p:stCondLst>
                        <p:cond delay="indefinite"/>
                      </p:stCondLst>
                      <p:childTnLst>
                        <p:par>
                          <p:cTn id="1132" nodeType="withEffect" fill="hold">
                            <p:stCondLst>
                              <p:cond delay="0"/>
                            </p:stCondLst>
                            <p:childTnLst>
                              <p:par>
                                <p:cTn id="1133" nodeType="clickEffect" fill="hold" presetClass="entr" presetID="22" presetSubtype="8">
                                  <p:stCondLst>
                                    <p:cond delay="0"/>
                                  </p:stCondLst>
                                  <p:childTnLst>
                                    <p:set>
                                      <p:cBhvr>
                                        <p:cTn id="1134" dur="1" fill="hold">
                                          <p:stCondLst>
                                            <p:cond delay="0"/>
                                          </p:stCondLst>
                                        </p:cTn>
                                        <p:tgtEl>
                                          <p:spTgt spid="414">
                                            <p:txEl>
                                              <p:pRg st="2" end="2"/>
                                            </p:txEl>
                                          </p:spTgt>
                                        </p:tgtEl>
                                        <p:attrNameLst>
                                          <p:attrName>style.visibility</p:attrName>
                                        </p:attrNameLst>
                                      </p:cBhvr>
                                      <p:to>
                                        <p:strVal val="visible"/>
                                      </p:to>
                                    </p:set>
                                    <p:animEffect filter="wipe(left)" transition="in">
                                      <p:cBhvr additive="repl">
                                        <p:cTn id="1135" dur="500"/>
                                        <p:tgtEl>
                                          <p:spTgt spid="414">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1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Effects of Exit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2"/>
                </a:solidFill>
                <a:effectLst/>
                <a:uFillTx/>
                <a:latin typeface="Arial"/>
                <a:ea typeface="ＭＳ Ｐゴシック"/>
              </a:rPr>
              <a:t>Economic loss is an incentive for firms to exit a market, but as they do so, the price rises and the economic loss of each remaining firm decreases.</a:t>
            </a:r>
            <a:endParaRPr b="1" lang="en-CA" sz="2400" strike="noStrike" u="none">
              <a:solidFill>
                <a:srgbClr val="00468f"/>
              </a:solidFill>
              <a:effectLst/>
              <a:uFillTx/>
              <a:latin typeface="Arial"/>
            </a:endParaRPr>
          </a:p>
        </p:txBody>
      </p:sp>
    </p:spTree>
  </p:cSld>
  <p:transition spd="slow">
    <p:wipe dir="r"/>
  </p:transition>
  <p:timing>
    <p:tnLst>
      <p:par>
        <p:cTn id="1136" dur="indefinite" restart="never" nodeType="tmRoot">
          <p:childTnLst>
            <p:seq>
              <p:cTn id="1137" dur="indefinite" nodeType="mainSeq">
                <p:childTnLst>
                  <p:par>
                    <p:cTn id="1138" nodeType="clickEffect" fill="hold">
                      <p:stCondLst>
                        <p:cond delay="indefinite"/>
                      </p:stCondLst>
                      <p:childTnLst>
                        <p:par>
                          <p:cTn id="1139" nodeType="withEffect" fill="hold">
                            <p:stCondLst>
                              <p:cond delay="0"/>
                            </p:stCondLst>
                            <p:childTnLst>
                              <p:par>
                                <p:cTn id="1140" nodeType="clickEffect" fill="hold" presetClass="entr" presetID="22" presetSubtype="8">
                                  <p:stCondLst>
                                    <p:cond delay="0"/>
                                  </p:stCondLst>
                                  <p:childTnLst>
                                    <p:set>
                                      <p:cBhvr>
                                        <p:cTn id="1141" dur="1" fill="hold">
                                          <p:stCondLst>
                                            <p:cond delay="0"/>
                                          </p:stCondLst>
                                        </p:cTn>
                                        <p:tgtEl>
                                          <p:spTgt spid="416">
                                            <p:txEl>
                                              <p:pRg st="1" end="1"/>
                                            </p:txEl>
                                          </p:spTgt>
                                        </p:tgtEl>
                                        <p:attrNameLst>
                                          <p:attrName>style.visibility</p:attrName>
                                        </p:attrNameLst>
                                      </p:cBhvr>
                                      <p:to>
                                        <p:strVal val="visible"/>
                                      </p:to>
                                    </p:set>
                                    <p:animEffect filter="wipe(left)" transition="in">
                                      <p:cBhvr additive="repl">
                                        <p:cTn id="1142" dur="500"/>
                                        <p:tgtEl>
                                          <p:spTgt spid="416">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7" name="Picture 9" descr=""/>
          <p:cNvPicPr/>
          <p:nvPr/>
        </p:nvPicPr>
        <p:blipFill>
          <a:blip r:embed="rId1"/>
          <a:stretch/>
        </p:blipFill>
        <p:spPr>
          <a:xfrm>
            <a:off x="4319640" y="1476360"/>
            <a:ext cx="4509720" cy="4669920"/>
          </a:xfrm>
          <a:prstGeom prst="rect">
            <a:avLst/>
          </a:prstGeom>
          <a:noFill/>
          <a:ln w="0">
            <a:noFill/>
          </a:ln>
        </p:spPr>
      </p:pic>
      <p:pic>
        <p:nvPicPr>
          <p:cNvPr id="418" name="Picture 10" descr=""/>
          <p:cNvPicPr/>
          <p:nvPr/>
        </p:nvPicPr>
        <p:blipFill>
          <a:blip r:embed="rId2"/>
          <a:stretch/>
        </p:blipFill>
        <p:spPr>
          <a:xfrm>
            <a:off x="4319640" y="1476360"/>
            <a:ext cx="4509720" cy="4669920"/>
          </a:xfrm>
          <a:prstGeom prst="rect">
            <a:avLst/>
          </a:prstGeom>
          <a:noFill/>
          <a:ln w="0">
            <a:noFill/>
          </a:ln>
        </p:spPr>
      </p:pic>
      <p:pic>
        <p:nvPicPr>
          <p:cNvPr id="419" name="Picture 11" descr=""/>
          <p:cNvPicPr/>
          <p:nvPr/>
        </p:nvPicPr>
        <p:blipFill>
          <a:blip r:embed="rId3"/>
          <a:stretch/>
        </p:blipFill>
        <p:spPr>
          <a:xfrm>
            <a:off x="4319640" y="1476360"/>
            <a:ext cx="4509720" cy="4669920"/>
          </a:xfrm>
          <a:prstGeom prst="rect">
            <a:avLst/>
          </a:prstGeom>
          <a:noFill/>
          <a:ln w="0">
            <a:noFill/>
          </a:ln>
        </p:spPr>
      </p:pic>
      <p:sp>
        <p:nvSpPr>
          <p:cNvPr id="42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21" name="PlaceHolder 2"/>
          <p:cNvSpPr>
            <a:spLocks noGrp="1"/>
          </p:cNvSpPr>
          <p:nvPr>
            <p:ph/>
          </p:nvPr>
        </p:nvSpPr>
        <p:spPr>
          <a:xfrm>
            <a:off x="360360" y="1440000"/>
            <a:ext cx="3906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15.12 shows the effects of exit.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Starting in long-run equilibrium,</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339840"/>
              </a:tabLst>
            </a:pPr>
            <a:r>
              <a:rPr b="0" lang="en-US" sz="2400" strike="noStrike" u="none">
                <a:solidFill>
                  <a:srgbClr val="000000"/>
                </a:solidFill>
                <a:effectLst/>
                <a:uFillTx/>
                <a:latin typeface="Arial"/>
                <a:ea typeface="ＭＳ Ｐゴシック"/>
              </a:rPr>
              <a:t>If demand decreases from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 to </a:t>
            </a:r>
            <a:r>
              <a:rPr b="0" i="1" lang="en-US" sz="2400" strike="noStrike" u="none">
                <a:solidFill>
                  <a:srgbClr val="000000"/>
                </a:solidFill>
                <a:effectLst/>
                <a:uFillTx/>
                <a:latin typeface="Arial"/>
                <a:ea typeface="ＭＳ Ｐゴシック"/>
              </a:rPr>
              <a:t>D</a:t>
            </a:r>
            <a:r>
              <a:rPr b="0" lang="en-US" sz="2400" strike="noStrike" u="none" baseline="-25000">
                <a:solidFill>
                  <a:srgbClr val="000000"/>
                </a:solidFill>
                <a:effectLst/>
                <a:uFillTx/>
                <a:latin typeface="Arial"/>
                <a:ea typeface="ＭＳ Ｐゴシック"/>
              </a:rPr>
              <a:t>2, </a:t>
            </a:r>
            <a:r>
              <a:rPr b="0" lang="en-US" sz="2400" strike="noStrike" u="none">
                <a:solidFill>
                  <a:srgbClr val="000000"/>
                </a:solidFill>
                <a:effectLst/>
                <a:uFillTx/>
                <a:latin typeface="Arial"/>
                <a:ea typeface="ＭＳ Ｐゴシック"/>
              </a:rPr>
              <a:t>the price falls from $5 to $3 a can.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Firms now incur economic losses.</a:t>
            </a:r>
            <a:endParaRPr b="1" lang="en-CA" sz="2400" strike="noStrike" u="none">
              <a:solidFill>
                <a:srgbClr val="00468f"/>
              </a:solidFill>
              <a:effectLst/>
              <a:uFillTx/>
              <a:latin typeface="Arial"/>
            </a:endParaRPr>
          </a:p>
        </p:txBody>
      </p:sp>
    </p:spTree>
  </p:cSld>
  <p:transition spd="slow">
    <p:wipe dir="r"/>
  </p:transition>
  <p:timing>
    <p:tnLst>
      <p:par>
        <p:cTn id="1143" dur="indefinite" restart="never" nodeType="tmRoot">
          <p:childTnLst>
            <p:seq>
              <p:cTn id="1144" dur="indefinite" nodeType="mainSeq">
                <p:childTnLst>
                  <p:par>
                    <p:cTn id="1145" nodeType="clickEffect" fill="hold">
                      <p:stCondLst>
                        <p:cond delay="indefinite"/>
                      </p:stCondLst>
                      <p:childTnLst>
                        <p:par>
                          <p:cTn id="1146" nodeType="withEffect" fill="hold">
                            <p:stCondLst>
                              <p:cond delay="0"/>
                            </p:stCondLst>
                            <p:childTnLst>
                              <p:par>
                                <p:cTn id="1147" nodeType="clickEffect" fill="hold" presetClass="entr" presetID="22" presetSubtype="8">
                                  <p:stCondLst>
                                    <p:cond delay="0"/>
                                  </p:stCondLst>
                                  <p:childTnLst>
                                    <p:set>
                                      <p:cBhvr>
                                        <p:cTn id="1148" dur="1" fill="hold">
                                          <p:stCondLst>
                                            <p:cond delay="0"/>
                                          </p:stCondLst>
                                        </p:cTn>
                                        <p:tgtEl>
                                          <p:spTgt spid="421">
                                            <p:txEl>
                                              <p:pRg st="1" end="1"/>
                                            </p:txEl>
                                          </p:spTgt>
                                        </p:tgtEl>
                                        <p:attrNameLst>
                                          <p:attrName>style.visibility</p:attrName>
                                        </p:attrNameLst>
                                      </p:cBhvr>
                                      <p:to>
                                        <p:strVal val="visible"/>
                                      </p:to>
                                    </p:set>
                                    <p:animEffect filter="wipe(left)" transition="in">
                                      <p:cBhvr additive="repl">
                                        <p:cTn id="1149" dur="500"/>
                                        <p:tgtEl>
                                          <p:spTgt spid="421">
                                            <p:txEl>
                                              <p:pRg st="1" end="1"/>
                                            </p:txEl>
                                          </p:spTgt>
                                        </p:tgtEl>
                                      </p:cBhvr>
                                    </p:animEffect>
                                  </p:childTnLst>
                                </p:cTn>
                              </p:par>
                            </p:childTnLst>
                          </p:cTn>
                        </p:par>
                      </p:childTnLst>
                    </p:cTn>
                  </p:par>
                  <p:par>
                    <p:cTn id="1150" nodeType="clickEffect" fill="hold">
                      <p:stCondLst>
                        <p:cond delay="indefinite"/>
                      </p:stCondLst>
                      <p:childTnLst>
                        <p:par>
                          <p:cTn id="1151" nodeType="withEffect" fill="hold">
                            <p:stCondLst>
                              <p:cond delay="0"/>
                            </p:stCondLst>
                            <p:childTnLst>
                              <p:par>
                                <p:cTn id="1152" nodeType="clickEffect" fill="hold" presetClass="entr" presetID="22" presetSubtype="8">
                                  <p:stCondLst>
                                    <p:cond delay="0"/>
                                  </p:stCondLst>
                                  <p:childTnLst>
                                    <p:set>
                                      <p:cBhvr>
                                        <p:cTn id="1153" dur="1" fill="hold">
                                          <p:stCondLst>
                                            <p:cond delay="0"/>
                                          </p:stCondLst>
                                        </p:cTn>
                                        <p:tgtEl>
                                          <p:spTgt spid="421">
                                            <p:txEl>
                                              <p:pRg st="2" end="2"/>
                                            </p:txEl>
                                          </p:spTgt>
                                        </p:tgtEl>
                                        <p:attrNameLst>
                                          <p:attrName>style.visibility</p:attrName>
                                        </p:attrNameLst>
                                      </p:cBhvr>
                                      <p:to>
                                        <p:strVal val="visible"/>
                                      </p:to>
                                    </p:set>
                                    <p:animEffect filter="wipe(left)" transition="in">
                                      <p:cBhvr additive="repl">
                                        <p:cTn id="1154" dur="500"/>
                                        <p:tgtEl>
                                          <p:spTgt spid="421">
                                            <p:txEl>
                                              <p:pRg st="2" end="2"/>
                                            </p:txEl>
                                          </p:spTgt>
                                        </p:tgtEl>
                                      </p:cBhvr>
                                    </p:animEffect>
                                  </p:childTnLst>
                                </p:cTn>
                              </p:par>
                              <p:par>
                                <p:cTn id="1155" nodeType="withEffect" fill="hold" presetClass="entr" presetID="22" presetSubtype="2">
                                  <p:stCondLst>
                                    <p:cond delay="0"/>
                                  </p:stCondLst>
                                  <p:childTnLst>
                                    <p:set>
                                      <p:cBhvr>
                                        <p:cTn id="1156" dur="1" fill="hold">
                                          <p:stCondLst>
                                            <p:cond delay="0"/>
                                          </p:stCondLst>
                                        </p:cTn>
                                        <p:tgtEl>
                                          <p:spTgt spid="418"/>
                                        </p:tgtEl>
                                        <p:attrNameLst>
                                          <p:attrName>style.visibility</p:attrName>
                                        </p:attrNameLst>
                                      </p:cBhvr>
                                      <p:to>
                                        <p:strVal val="visible"/>
                                      </p:to>
                                    </p:set>
                                    <p:animEffect filter="wipe(right)" transition="in">
                                      <p:cBhvr additive="repl">
                                        <p:cTn id="1157" dur="1000"/>
                                        <p:tgtEl>
                                          <p:spTgt spid="418"/>
                                        </p:tgtEl>
                                      </p:cBhvr>
                                    </p:animEffect>
                                  </p:childTnLst>
                                </p:cTn>
                              </p:par>
                              <p:par>
                                <p:cTn id="1158" nodeType="withEffect" fill="hold" presetClass="entr" presetID="22" presetSubtype="1">
                                  <p:stCondLst>
                                    <p:cond delay="1200"/>
                                  </p:stCondLst>
                                  <p:childTnLst>
                                    <p:set>
                                      <p:cBhvr>
                                        <p:cTn id="1159" dur="1" fill="hold">
                                          <p:stCondLst>
                                            <p:cond delay="0"/>
                                          </p:stCondLst>
                                        </p:cTn>
                                        <p:tgtEl>
                                          <p:spTgt spid="419"/>
                                        </p:tgtEl>
                                        <p:attrNameLst>
                                          <p:attrName>style.visibility</p:attrName>
                                        </p:attrNameLst>
                                      </p:cBhvr>
                                      <p:to>
                                        <p:strVal val="visible"/>
                                      </p:to>
                                    </p:set>
                                    <p:animEffect filter="wipe(up)" transition="in">
                                      <p:cBhvr additive="repl">
                                        <p:cTn id="1160" dur="1000"/>
                                        <p:tgtEl>
                                          <p:spTgt spid="419"/>
                                        </p:tgtEl>
                                      </p:cBhvr>
                                    </p:animEffect>
                                  </p:childTnLst>
                                </p:cTn>
                              </p:par>
                            </p:childTnLst>
                          </p:cTn>
                        </p:par>
                      </p:childTnLst>
                    </p:cTn>
                  </p:par>
                  <p:par>
                    <p:cTn id="1161" nodeType="clickEffect" fill="hold">
                      <p:stCondLst>
                        <p:cond delay="indefinite"/>
                      </p:stCondLst>
                      <p:childTnLst>
                        <p:par>
                          <p:cTn id="1162" nodeType="withEffect" fill="hold">
                            <p:stCondLst>
                              <p:cond delay="0"/>
                            </p:stCondLst>
                            <p:childTnLst>
                              <p:par>
                                <p:cTn id="1163" nodeType="clickEffect" fill="hold" presetClass="entr" presetID="22" presetSubtype="8">
                                  <p:stCondLst>
                                    <p:cond delay="0"/>
                                  </p:stCondLst>
                                  <p:childTnLst>
                                    <p:set>
                                      <p:cBhvr>
                                        <p:cTn id="1164" dur="1" fill="hold">
                                          <p:stCondLst>
                                            <p:cond delay="0"/>
                                          </p:stCondLst>
                                        </p:cTn>
                                        <p:tgtEl>
                                          <p:spTgt spid="421">
                                            <p:txEl>
                                              <p:pRg st="3" end="3"/>
                                            </p:txEl>
                                          </p:spTgt>
                                        </p:tgtEl>
                                        <p:attrNameLst>
                                          <p:attrName>style.visibility</p:attrName>
                                        </p:attrNameLst>
                                      </p:cBhvr>
                                      <p:to>
                                        <p:strVal val="visible"/>
                                      </p:to>
                                    </p:set>
                                    <p:animEffect filter="wipe(left)" transition="in">
                                      <p:cBhvr additive="repl">
                                        <p:cTn id="1165" dur="500"/>
                                        <p:tgtEl>
                                          <p:spTgt spid="42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22" name="Picture 6" descr=""/>
          <p:cNvPicPr/>
          <p:nvPr/>
        </p:nvPicPr>
        <p:blipFill>
          <a:blip r:embed="rId1"/>
          <a:stretch/>
        </p:blipFill>
        <p:spPr>
          <a:xfrm>
            <a:off x="1728720" y="576360"/>
            <a:ext cx="5304960" cy="5495400"/>
          </a:xfrm>
          <a:prstGeom prst="rect">
            <a:avLst/>
          </a:prstGeom>
          <a:noFill/>
          <a:ln w="0">
            <a:noFill/>
          </a:ln>
        </p:spPr>
      </p:pic>
      <p:pic>
        <p:nvPicPr>
          <p:cNvPr id="423" name="Picture 11" descr=""/>
          <p:cNvPicPr/>
          <p:nvPr/>
        </p:nvPicPr>
        <p:blipFill>
          <a:blip r:embed="rId2"/>
          <a:stretch/>
        </p:blipFill>
        <p:spPr>
          <a:xfrm>
            <a:off x="1728720" y="576360"/>
            <a:ext cx="5304960" cy="5495400"/>
          </a:xfrm>
          <a:prstGeom prst="rect">
            <a:avLst/>
          </a:prstGeom>
          <a:noFill/>
          <a:ln w="0">
            <a:noFill/>
          </a:ln>
        </p:spPr>
      </p:pic>
      <p:pic>
        <p:nvPicPr>
          <p:cNvPr id="424" name="Picture 12" descr=""/>
          <p:cNvPicPr/>
          <p:nvPr/>
        </p:nvPicPr>
        <p:blipFill>
          <a:blip r:embed="rId3"/>
          <a:stretch/>
        </p:blipFill>
        <p:spPr>
          <a:xfrm>
            <a:off x="1728720" y="576360"/>
            <a:ext cx="5304960" cy="5495400"/>
          </a:xfrm>
          <a:prstGeom prst="rect">
            <a:avLst/>
          </a:prstGeom>
          <a:noFill/>
          <a:ln w="0">
            <a:noFill/>
          </a:ln>
        </p:spPr>
      </p:pic>
      <p:pic>
        <p:nvPicPr>
          <p:cNvPr id="425" name="Picture 13" descr=""/>
          <p:cNvPicPr/>
          <p:nvPr/>
        </p:nvPicPr>
        <p:blipFill>
          <a:blip r:embed="rId4"/>
          <a:stretch/>
        </p:blipFill>
        <p:spPr>
          <a:xfrm>
            <a:off x="1728720" y="576360"/>
            <a:ext cx="5304960" cy="5495400"/>
          </a:xfrm>
          <a:prstGeom prst="rect">
            <a:avLst/>
          </a:prstGeom>
          <a:noFill/>
          <a:ln w="0">
            <a:noFill/>
          </a:ln>
        </p:spPr>
      </p:pic>
      <p:pic>
        <p:nvPicPr>
          <p:cNvPr id="426" name="Picture 14" descr=""/>
          <p:cNvPicPr/>
          <p:nvPr/>
        </p:nvPicPr>
        <p:blipFill>
          <a:blip r:embed="rId5"/>
          <a:stretch/>
        </p:blipFill>
        <p:spPr>
          <a:xfrm>
            <a:off x="1728720" y="576360"/>
            <a:ext cx="5304960" cy="5495400"/>
          </a:xfrm>
          <a:prstGeom prst="rect">
            <a:avLst/>
          </a:prstGeom>
          <a:noFill/>
          <a:ln w="0">
            <a:noFill/>
          </a:ln>
        </p:spPr>
      </p:pic>
    </p:spTree>
  </p:cSld>
  <p:transition spd="slow">
    <p:wipe dir="r"/>
  </p:transition>
  <p:timing>
    <p:tnLst>
      <p:par>
        <p:cTn id="1166" dur="indefinite" restart="never" nodeType="tmRoot">
          <p:childTnLst>
            <p:seq>
              <p:cTn id="1167" dur="indefinite" nodeType="mainSeq">
                <p:childTnLst>
                  <p:par>
                    <p:cTn id="1168" nodeType="clickEffect" fill="hold">
                      <p:stCondLst>
                        <p:cond delay="indefinite"/>
                      </p:stCondLst>
                      <p:childTnLst>
                        <p:par>
                          <p:cTn id="1169" nodeType="withEffect" fill="hold">
                            <p:stCondLst>
                              <p:cond delay="0"/>
                            </p:stCondLst>
                            <p:childTnLst>
                              <p:par>
                                <p:cTn id="1170" nodeType="clickEffect" fill="hold" presetClass="entr" presetID="22" presetSubtype="2">
                                  <p:stCondLst>
                                    <p:cond delay="0"/>
                                  </p:stCondLst>
                                  <p:childTnLst>
                                    <p:set>
                                      <p:cBhvr>
                                        <p:cTn id="1171" dur="1" fill="hold">
                                          <p:stCondLst>
                                            <p:cond delay="0"/>
                                          </p:stCondLst>
                                        </p:cTn>
                                        <p:tgtEl>
                                          <p:spTgt spid="423"/>
                                        </p:tgtEl>
                                        <p:attrNameLst>
                                          <p:attrName>style.visibility</p:attrName>
                                        </p:attrNameLst>
                                      </p:cBhvr>
                                      <p:to>
                                        <p:strVal val="visible"/>
                                      </p:to>
                                    </p:set>
                                    <p:animEffect filter="wipe(right)" transition="in">
                                      <p:cBhvr additive="repl">
                                        <p:cTn id="1172" dur="1000"/>
                                        <p:tgtEl>
                                          <p:spTgt spid="423"/>
                                        </p:tgtEl>
                                      </p:cBhvr>
                                    </p:animEffect>
                                  </p:childTnLst>
                                </p:cTn>
                              </p:par>
                            </p:childTnLst>
                          </p:cTn>
                        </p:par>
                      </p:childTnLst>
                    </p:cTn>
                  </p:par>
                  <p:par>
                    <p:cTn id="1173" nodeType="clickEffect" fill="hold">
                      <p:stCondLst>
                        <p:cond delay="indefinite"/>
                      </p:stCondLst>
                      <p:childTnLst>
                        <p:par>
                          <p:cTn id="1174" nodeType="withEffect" fill="hold">
                            <p:stCondLst>
                              <p:cond delay="0"/>
                            </p:stCondLst>
                            <p:childTnLst>
                              <p:par>
                                <p:cTn id="1175" nodeType="clickEffect" fill="hold" presetClass="entr" presetID="22" presetSubtype="1">
                                  <p:stCondLst>
                                    <p:cond delay="0"/>
                                  </p:stCondLst>
                                  <p:childTnLst>
                                    <p:set>
                                      <p:cBhvr>
                                        <p:cTn id="1176" dur="1" fill="hold">
                                          <p:stCondLst>
                                            <p:cond delay="0"/>
                                          </p:stCondLst>
                                        </p:cTn>
                                        <p:tgtEl>
                                          <p:spTgt spid="424"/>
                                        </p:tgtEl>
                                        <p:attrNameLst>
                                          <p:attrName>style.visibility</p:attrName>
                                        </p:attrNameLst>
                                      </p:cBhvr>
                                      <p:to>
                                        <p:strVal val="visible"/>
                                      </p:to>
                                    </p:set>
                                    <p:animEffect filter="wipe(up)" transition="in">
                                      <p:cBhvr additive="repl">
                                        <p:cTn id="1177" dur="1000"/>
                                        <p:tgtEl>
                                          <p:spTgt spid="424"/>
                                        </p:tgtEl>
                                      </p:cBhvr>
                                    </p:animEffect>
                                  </p:childTnLst>
                                </p:cTn>
                              </p:par>
                            </p:childTnLst>
                          </p:cTn>
                        </p:par>
                      </p:childTnLst>
                    </p:cTn>
                  </p:par>
                  <p:par>
                    <p:cTn id="1178" nodeType="clickEffect" fill="hold">
                      <p:stCondLst>
                        <p:cond delay="indefinite"/>
                      </p:stCondLst>
                      <p:childTnLst>
                        <p:par>
                          <p:cTn id="1179" nodeType="withEffect" fill="hold">
                            <p:stCondLst>
                              <p:cond delay="0"/>
                            </p:stCondLst>
                            <p:childTnLst>
                              <p:par>
                                <p:cTn id="1180" nodeType="clickEffect" fill="hold" presetClass="entr" presetID="22" presetSubtype="2">
                                  <p:stCondLst>
                                    <p:cond delay="0"/>
                                  </p:stCondLst>
                                  <p:childTnLst>
                                    <p:set>
                                      <p:cBhvr>
                                        <p:cTn id="1181" dur="1" fill="hold">
                                          <p:stCondLst>
                                            <p:cond delay="0"/>
                                          </p:stCondLst>
                                        </p:cTn>
                                        <p:tgtEl>
                                          <p:spTgt spid="425"/>
                                        </p:tgtEl>
                                        <p:attrNameLst>
                                          <p:attrName>style.visibility</p:attrName>
                                        </p:attrNameLst>
                                      </p:cBhvr>
                                      <p:to>
                                        <p:strVal val="visible"/>
                                      </p:to>
                                    </p:set>
                                    <p:animEffect filter="wipe(right)" transition="in">
                                      <p:cBhvr additive="repl">
                                        <p:cTn id="1182" dur="1000"/>
                                        <p:tgtEl>
                                          <p:spTgt spid="425"/>
                                        </p:tgtEl>
                                      </p:cBhvr>
                                    </p:animEffect>
                                  </p:childTnLst>
                                </p:cTn>
                              </p:par>
                            </p:childTnLst>
                          </p:cTn>
                        </p:par>
                      </p:childTnLst>
                    </p:cTn>
                  </p:par>
                  <p:par>
                    <p:cTn id="1183" nodeType="clickEffect" fill="hold">
                      <p:stCondLst>
                        <p:cond delay="indefinite"/>
                      </p:stCondLst>
                      <p:childTnLst>
                        <p:par>
                          <p:cTn id="1184" nodeType="withEffect" fill="hold">
                            <p:stCondLst>
                              <p:cond delay="0"/>
                            </p:stCondLst>
                            <p:childTnLst>
                              <p:par>
                                <p:cTn id="1185" nodeType="clickEffect" fill="hold" presetClass="entr" presetID="22" presetSubtype="4">
                                  <p:stCondLst>
                                    <p:cond delay="0"/>
                                  </p:stCondLst>
                                  <p:childTnLst>
                                    <p:set>
                                      <p:cBhvr>
                                        <p:cTn id="1186" dur="1" fill="hold">
                                          <p:stCondLst>
                                            <p:cond delay="0"/>
                                          </p:stCondLst>
                                        </p:cTn>
                                        <p:tgtEl>
                                          <p:spTgt spid="426"/>
                                        </p:tgtEl>
                                        <p:attrNameLst>
                                          <p:attrName>style.visibility</p:attrName>
                                        </p:attrNameLst>
                                      </p:cBhvr>
                                      <p:to>
                                        <p:strVal val="visible"/>
                                      </p:to>
                                    </p:set>
                                    <p:animEffect filter="wipe(down)" transition="in">
                                      <p:cBhvr additive="repl">
                                        <p:cTn id="1187" dur="10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28" name="PlaceHolder 2"/>
          <p:cNvSpPr>
            <a:spLocks noGrp="1"/>
          </p:cNvSpPr>
          <p:nvPr>
            <p:ph/>
          </p:nvPr>
        </p:nvSpPr>
        <p:spPr>
          <a:xfrm>
            <a:off x="360360" y="1440000"/>
            <a:ext cx="3906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Economic loss brings exit.</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2"/>
              <a:tabLst>
                <a:tab algn="l" pos="0"/>
              </a:tabLst>
            </a:pPr>
            <a:r>
              <a:rPr b="0" lang="en-US" sz="2400" strike="noStrike" u="none">
                <a:solidFill>
                  <a:srgbClr val="000000"/>
                </a:solidFill>
                <a:effectLst/>
                <a:uFillTx/>
                <a:latin typeface="Arial"/>
                <a:ea typeface="ＭＳ Ｐゴシック"/>
              </a:rPr>
              <a:t>As firms exit the market, the supply curve shifts leftward, from </a:t>
            </a:r>
            <a:r>
              <a:rPr b="0" i="1" lang="en-US" sz="2400" strike="noStrike" u="none">
                <a:solidFill>
                  <a:srgbClr val="000000"/>
                </a:solidFill>
                <a:effectLst/>
                <a:uFillTx/>
                <a:latin typeface="Arial"/>
                <a:ea typeface="ＭＳ Ｐゴシック"/>
              </a:rPr>
              <a:t>S</a:t>
            </a:r>
            <a:r>
              <a:rPr b="0" lang="en-US" sz="2400" strike="noStrike" u="none" baseline="-25000">
                <a:solidFill>
                  <a:srgbClr val="000000"/>
                </a:solidFill>
                <a:effectLst/>
                <a:uFillTx/>
                <a:latin typeface="Arial"/>
                <a:ea typeface="ＭＳ Ｐゴシック"/>
              </a:rPr>
              <a:t>0</a:t>
            </a:r>
            <a:r>
              <a:rPr b="0" lang="en-US" sz="2400" strike="noStrike" u="none">
                <a:solidFill>
                  <a:srgbClr val="000000"/>
                </a:solidFill>
                <a:effectLst/>
                <a:uFillTx/>
                <a:latin typeface="Arial"/>
                <a:ea typeface="ＭＳ Ｐゴシック"/>
              </a:rPr>
              <a:t> to </a:t>
            </a:r>
            <a:r>
              <a:rPr b="0" i="1" lang="en-US" sz="2400" strike="noStrike" u="none">
                <a:solidFill>
                  <a:srgbClr val="000000"/>
                </a:solidFill>
                <a:effectLst/>
                <a:uFillTx/>
                <a:latin typeface="Arial"/>
                <a:ea typeface="ＭＳ Ｐゴシック"/>
              </a:rPr>
              <a:t>S</a:t>
            </a:r>
            <a:r>
              <a:rPr b="0" lang="en-US" sz="2400" strike="noStrike" u="none" baseline="-25000">
                <a:solidFill>
                  <a:srgbClr val="000000"/>
                </a:solidFill>
                <a:effectLst/>
                <a:uFillTx/>
                <a:latin typeface="Arial"/>
                <a:ea typeface="ＭＳ Ｐゴシック"/>
              </a:rPr>
              <a:t>2</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equilibrium price rises from $3 to $5 a can, and the quantity produced decreases from 70,000 to 50,000 cans a day.</a:t>
            </a:r>
            <a:endParaRPr b="1" lang="en-CA" sz="2400" strike="noStrike" u="none">
              <a:solidFill>
                <a:srgbClr val="00468f"/>
              </a:solidFill>
              <a:effectLst/>
              <a:uFillTx/>
              <a:latin typeface="Arial"/>
            </a:endParaRPr>
          </a:p>
        </p:txBody>
      </p:sp>
      <p:pic>
        <p:nvPicPr>
          <p:cNvPr id="429" name="Picture 11" descr=""/>
          <p:cNvPicPr/>
          <p:nvPr/>
        </p:nvPicPr>
        <p:blipFill>
          <a:blip r:embed="rId1"/>
          <a:stretch/>
        </p:blipFill>
        <p:spPr>
          <a:xfrm>
            <a:off x="4319640" y="1476360"/>
            <a:ext cx="4509720" cy="4669920"/>
          </a:xfrm>
          <a:prstGeom prst="rect">
            <a:avLst/>
          </a:prstGeom>
          <a:noFill/>
          <a:ln w="0">
            <a:noFill/>
          </a:ln>
        </p:spPr>
      </p:pic>
      <p:pic>
        <p:nvPicPr>
          <p:cNvPr id="430" name="Picture 12" descr=""/>
          <p:cNvPicPr/>
          <p:nvPr/>
        </p:nvPicPr>
        <p:blipFill>
          <a:blip r:embed="rId2"/>
          <a:stretch/>
        </p:blipFill>
        <p:spPr>
          <a:xfrm>
            <a:off x="4319640" y="1476360"/>
            <a:ext cx="4509720" cy="4669920"/>
          </a:xfrm>
          <a:prstGeom prst="rect">
            <a:avLst/>
          </a:prstGeom>
          <a:noFill/>
          <a:ln w="0">
            <a:noFill/>
          </a:ln>
        </p:spPr>
      </p:pic>
      <p:pic>
        <p:nvPicPr>
          <p:cNvPr id="431" name="Picture 13" descr=""/>
          <p:cNvPicPr/>
          <p:nvPr/>
        </p:nvPicPr>
        <p:blipFill>
          <a:blip r:embed="rId3"/>
          <a:stretch/>
        </p:blipFill>
        <p:spPr>
          <a:xfrm>
            <a:off x="4319640" y="1476360"/>
            <a:ext cx="4509720" cy="4669920"/>
          </a:xfrm>
          <a:prstGeom prst="rect">
            <a:avLst/>
          </a:prstGeom>
          <a:noFill/>
          <a:ln w="0">
            <a:noFill/>
          </a:ln>
        </p:spPr>
      </p:pic>
      <p:pic>
        <p:nvPicPr>
          <p:cNvPr id="432" name="Picture 14" descr=""/>
          <p:cNvPicPr/>
          <p:nvPr/>
        </p:nvPicPr>
        <p:blipFill>
          <a:blip r:embed="rId4"/>
          <a:stretch/>
        </p:blipFill>
        <p:spPr>
          <a:xfrm>
            <a:off x="4319640" y="1476360"/>
            <a:ext cx="4509720" cy="4669920"/>
          </a:xfrm>
          <a:prstGeom prst="rect">
            <a:avLst/>
          </a:prstGeom>
          <a:noFill/>
          <a:ln w="0">
            <a:noFill/>
          </a:ln>
        </p:spPr>
      </p:pic>
      <p:pic>
        <p:nvPicPr>
          <p:cNvPr id="433" name="Picture 17" descr=""/>
          <p:cNvPicPr/>
          <p:nvPr/>
        </p:nvPicPr>
        <p:blipFill>
          <a:blip r:embed="rId5"/>
          <a:stretch/>
        </p:blipFill>
        <p:spPr>
          <a:xfrm>
            <a:off x="4319640" y="1476360"/>
            <a:ext cx="4509720" cy="4669920"/>
          </a:xfrm>
          <a:prstGeom prst="rect">
            <a:avLst/>
          </a:prstGeom>
          <a:noFill/>
          <a:ln w="0">
            <a:noFill/>
          </a:ln>
        </p:spPr>
      </p:pic>
    </p:spTree>
  </p:cSld>
  <p:transition spd="slow">
    <p:wipe dir="r"/>
  </p:transition>
  <p:timing>
    <p:tnLst>
      <p:par>
        <p:cTn id="1188" dur="indefinite" restart="never" nodeType="tmRoot">
          <p:childTnLst>
            <p:seq>
              <p:cTn id="1189" dur="indefinite" nodeType="mainSeq">
                <p:childTnLst>
                  <p:par>
                    <p:cTn id="1190" nodeType="clickEffect" fill="hold">
                      <p:stCondLst>
                        <p:cond delay="indefinite"/>
                      </p:stCondLst>
                      <p:childTnLst>
                        <p:par>
                          <p:cTn id="1191" nodeType="withEffect" fill="hold">
                            <p:stCondLst>
                              <p:cond delay="0"/>
                            </p:stCondLst>
                            <p:childTnLst>
                              <p:par>
                                <p:cTn id="1192" nodeType="clickEffect" fill="hold" presetClass="entr" presetID="22" presetSubtype="8">
                                  <p:stCondLst>
                                    <p:cond delay="0"/>
                                  </p:stCondLst>
                                  <p:childTnLst>
                                    <p:set>
                                      <p:cBhvr>
                                        <p:cTn id="1193" dur="1" fill="hold">
                                          <p:stCondLst>
                                            <p:cond delay="0"/>
                                          </p:stCondLst>
                                        </p:cTn>
                                        <p:tgtEl>
                                          <p:spTgt spid="428">
                                            <p:txEl>
                                              <p:pRg st="1" end="1"/>
                                            </p:txEl>
                                          </p:spTgt>
                                        </p:tgtEl>
                                        <p:attrNameLst>
                                          <p:attrName>style.visibility</p:attrName>
                                        </p:attrNameLst>
                                      </p:cBhvr>
                                      <p:to>
                                        <p:strVal val="visible"/>
                                      </p:to>
                                    </p:set>
                                    <p:animEffect filter="wipe(left)" transition="in">
                                      <p:cBhvr additive="repl">
                                        <p:cTn id="1194" dur="500"/>
                                        <p:tgtEl>
                                          <p:spTgt spid="428">
                                            <p:txEl>
                                              <p:pRg st="1" end="1"/>
                                            </p:txEl>
                                          </p:spTgt>
                                        </p:tgtEl>
                                      </p:cBhvr>
                                    </p:animEffect>
                                  </p:childTnLst>
                                </p:cTn>
                              </p:par>
                              <p:par>
                                <p:cTn id="1195" nodeType="withEffect" fill="hold" presetClass="entr" presetID="22" presetSubtype="2">
                                  <p:stCondLst>
                                    <p:cond delay="0"/>
                                  </p:stCondLst>
                                  <p:childTnLst>
                                    <p:set>
                                      <p:cBhvr>
                                        <p:cTn id="1196" dur="1" fill="hold">
                                          <p:stCondLst>
                                            <p:cond delay="0"/>
                                          </p:stCondLst>
                                        </p:cTn>
                                        <p:tgtEl>
                                          <p:spTgt spid="432"/>
                                        </p:tgtEl>
                                        <p:attrNameLst>
                                          <p:attrName>style.visibility</p:attrName>
                                        </p:attrNameLst>
                                      </p:cBhvr>
                                      <p:to>
                                        <p:strVal val="visible"/>
                                      </p:to>
                                    </p:set>
                                    <p:animEffect filter="wipe(right)" transition="in">
                                      <p:cBhvr additive="repl">
                                        <p:cTn id="1197" dur="1000"/>
                                        <p:tgtEl>
                                          <p:spTgt spid="432"/>
                                        </p:tgtEl>
                                      </p:cBhvr>
                                    </p:animEffect>
                                  </p:childTnLst>
                                </p:cTn>
                              </p:par>
                              <p:par>
                                <p:cTn id="1198" nodeType="withEffect" fill="hold" presetClass="entr" presetID="22" presetSubtype="4">
                                  <p:stCondLst>
                                    <p:cond delay="1300"/>
                                  </p:stCondLst>
                                  <p:childTnLst>
                                    <p:set>
                                      <p:cBhvr>
                                        <p:cTn id="1199" dur="1" fill="hold">
                                          <p:stCondLst>
                                            <p:cond delay="0"/>
                                          </p:stCondLst>
                                        </p:cTn>
                                        <p:tgtEl>
                                          <p:spTgt spid="433"/>
                                        </p:tgtEl>
                                        <p:attrNameLst>
                                          <p:attrName>style.visibility</p:attrName>
                                        </p:attrNameLst>
                                      </p:cBhvr>
                                      <p:to>
                                        <p:strVal val="visible"/>
                                      </p:to>
                                    </p:set>
                                    <p:animEffect filter="wipe(down)" transition="in">
                                      <p:cBhvr additive="repl">
                                        <p:cTn id="1200" dur="1000"/>
                                        <p:tgtEl>
                                          <p:spTgt spid="433"/>
                                        </p:tgtEl>
                                      </p:cBhvr>
                                    </p:animEffect>
                                  </p:childTnLst>
                                </p:cTn>
                              </p:par>
                            </p:childTnLst>
                          </p:cTn>
                        </p:par>
                      </p:childTnLst>
                    </p:cTn>
                  </p:par>
                  <p:par>
                    <p:cTn id="1201" nodeType="clickEffect" fill="hold">
                      <p:stCondLst>
                        <p:cond delay="indefinite"/>
                      </p:stCondLst>
                      <p:childTnLst>
                        <p:par>
                          <p:cTn id="1202" nodeType="withEffect" fill="hold">
                            <p:stCondLst>
                              <p:cond delay="0"/>
                            </p:stCondLst>
                            <p:childTnLst>
                              <p:par>
                                <p:cTn id="1203" nodeType="clickEffect" fill="hold" presetClass="entr" presetID="22" presetSubtype="8">
                                  <p:stCondLst>
                                    <p:cond delay="0"/>
                                  </p:stCondLst>
                                  <p:childTnLst>
                                    <p:set>
                                      <p:cBhvr>
                                        <p:cTn id="1204" dur="1" fill="hold">
                                          <p:stCondLst>
                                            <p:cond delay="0"/>
                                          </p:stCondLst>
                                        </p:cTn>
                                        <p:tgtEl>
                                          <p:spTgt spid="428">
                                            <p:txEl>
                                              <p:pRg st="2" end="2"/>
                                            </p:txEl>
                                          </p:spTgt>
                                        </p:tgtEl>
                                        <p:attrNameLst>
                                          <p:attrName>style.visibility</p:attrName>
                                        </p:attrNameLst>
                                      </p:cBhvr>
                                      <p:to>
                                        <p:strVal val="visible"/>
                                      </p:to>
                                    </p:set>
                                    <p:animEffect filter="wipe(left)" transition="in">
                                      <p:cBhvr additive="repl">
                                        <p:cTn id="1205" dur="500"/>
                                        <p:tgtEl>
                                          <p:spTgt spid="42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3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Change in Demand</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difference between the initial long-run equilibrium and the final long-run equilibrium is the number of firms in the market.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 increase in demand increases the number of firms. Each firm produces the same output in the new long-run equilibrium as initially and makes zero economic profit.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the process of moving from the initial equilibrium to the new one, firms make positive economic profits.</a:t>
            </a:r>
            <a:endParaRPr b="1" lang="en-CA" sz="2400" strike="noStrike" u="none">
              <a:solidFill>
                <a:srgbClr val="00468f"/>
              </a:solidFill>
              <a:effectLst/>
              <a:uFillTx/>
              <a:latin typeface="Arial"/>
            </a:endParaRPr>
          </a:p>
        </p:txBody>
      </p:sp>
    </p:spTree>
  </p:cSld>
  <p:transition spd="slow">
    <p:wipe dir="r"/>
  </p:transition>
  <p:timing>
    <p:tnLst>
      <p:par>
        <p:cTn id="1206" dur="indefinite" restart="never" nodeType="tmRoot">
          <p:childTnLst>
            <p:seq>
              <p:cTn id="1207" dur="indefinite" nodeType="mainSeq">
                <p:childTnLst>
                  <p:par>
                    <p:cTn id="1208" nodeType="clickEffect" fill="hold">
                      <p:stCondLst>
                        <p:cond delay="indefinite"/>
                      </p:stCondLst>
                      <p:childTnLst>
                        <p:par>
                          <p:cTn id="1209" nodeType="withEffect" fill="hold">
                            <p:stCondLst>
                              <p:cond delay="0"/>
                            </p:stCondLst>
                            <p:childTnLst>
                              <p:par>
                                <p:cTn id="1210" nodeType="clickEffect" fill="hold" presetClass="entr" presetID="22" presetSubtype="8">
                                  <p:stCondLst>
                                    <p:cond delay="0"/>
                                  </p:stCondLst>
                                  <p:childTnLst>
                                    <p:set>
                                      <p:cBhvr>
                                        <p:cTn id="1211" dur="1" fill="hold">
                                          <p:stCondLst>
                                            <p:cond delay="0"/>
                                          </p:stCondLst>
                                        </p:cTn>
                                        <p:tgtEl>
                                          <p:spTgt spid="435">
                                            <p:txEl>
                                              <p:pRg st="1" end="1"/>
                                            </p:txEl>
                                          </p:spTgt>
                                        </p:tgtEl>
                                        <p:attrNameLst>
                                          <p:attrName>style.visibility</p:attrName>
                                        </p:attrNameLst>
                                      </p:cBhvr>
                                      <p:to>
                                        <p:strVal val="visible"/>
                                      </p:to>
                                    </p:set>
                                    <p:animEffect filter="wipe(left)" transition="in">
                                      <p:cBhvr additive="repl">
                                        <p:cTn id="1212" dur="500"/>
                                        <p:tgtEl>
                                          <p:spTgt spid="435">
                                            <p:txEl>
                                              <p:pRg st="1" end="1"/>
                                            </p:txEl>
                                          </p:spTgt>
                                        </p:tgtEl>
                                      </p:cBhvr>
                                    </p:animEffect>
                                  </p:childTnLst>
                                </p:cTn>
                              </p:par>
                            </p:childTnLst>
                          </p:cTn>
                        </p:par>
                      </p:childTnLst>
                    </p:cTn>
                  </p:par>
                  <p:par>
                    <p:cTn id="1213" nodeType="clickEffect" fill="hold">
                      <p:stCondLst>
                        <p:cond delay="indefinite"/>
                      </p:stCondLst>
                      <p:childTnLst>
                        <p:par>
                          <p:cTn id="1214" nodeType="withEffect" fill="hold">
                            <p:stCondLst>
                              <p:cond delay="0"/>
                            </p:stCondLst>
                            <p:childTnLst>
                              <p:par>
                                <p:cTn id="1215" nodeType="clickEffect" fill="hold" presetClass="entr" presetID="22" presetSubtype="8">
                                  <p:stCondLst>
                                    <p:cond delay="0"/>
                                  </p:stCondLst>
                                  <p:childTnLst>
                                    <p:set>
                                      <p:cBhvr>
                                        <p:cTn id="1216" dur="1" fill="hold">
                                          <p:stCondLst>
                                            <p:cond delay="0"/>
                                          </p:stCondLst>
                                        </p:cTn>
                                        <p:tgtEl>
                                          <p:spTgt spid="435">
                                            <p:txEl>
                                              <p:pRg st="2" end="2"/>
                                            </p:txEl>
                                          </p:spTgt>
                                        </p:tgtEl>
                                        <p:attrNameLst>
                                          <p:attrName>style.visibility</p:attrName>
                                        </p:attrNameLst>
                                      </p:cBhvr>
                                      <p:to>
                                        <p:strVal val="visible"/>
                                      </p:to>
                                    </p:set>
                                    <p:animEffect filter="wipe(left)" transition="in">
                                      <p:cBhvr additive="repl">
                                        <p:cTn id="1217" dur="500"/>
                                        <p:tgtEl>
                                          <p:spTgt spid="435">
                                            <p:txEl>
                                              <p:pRg st="2" end="2"/>
                                            </p:txEl>
                                          </p:spTgt>
                                        </p:tgtEl>
                                      </p:cBhvr>
                                    </p:animEffect>
                                  </p:childTnLst>
                                </p:cTn>
                              </p:par>
                            </p:childTnLst>
                          </p:cTn>
                        </p:par>
                      </p:childTnLst>
                    </p:cTn>
                  </p:par>
                  <p:par>
                    <p:cTn id="1218" nodeType="clickEffect" fill="hold">
                      <p:stCondLst>
                        <p:cond delay="indefinite"/>
                      </p:stCondLst>
                      <p:childTnLst>
                        <p:par>
                          <p:cTn id="1219" nodeType="withEffect" fill="hold">
                            <p:stCondLst>
                              <p:cond delay="0"/>
                            </p:stCondLst>
                            <p:childTnLst>
                              <p:par>
                                <p:cTn id="1220" nodeType="clickEffect" fill="hold" presetClass="entr" presetID="22" presetSubtype="8">
                                  <p:stCondLst>
                                    <p:cond delay="0"/>
                                  </p:stCondLst>
                                  <p:childTnLst>
                                    <p:set>
                                      <p:cBhvr>
                                        <p:cTn id="1221" dur="1" fill="hold">
                                          <p:stCondLst>
                                            <p:cond delay="0"/>
                                          </p:stCondLst>
                                        </p:cTn>
                                        <p:tgtEl>
                                          <p:spTgt spid="435">
                                            <p:txEl>
                                              <p:pRg st="3" end="3"/>
                                            </p:txEl>
                                          </p:spTgt>
                                        </p:tgtEl>
                                        <p:attrNameLst>
                                          <p:attrName>style.visibility</p:attrName>
                                        </p:attrNameLst>
                                      </p:cBhvr>
                                      <p:to>
                                        <p:strVal val="visible"/>
                                      </p:to>
                                    </p:set>
                                    <p:animEffect filter="wipe(left)" transition="in">
                                      <p:cBhvr additive="repl">
                                        <p:cTn id="1222" dur="500"/>
                                        <p:tgtEl>
                                          <p:spTgt spid="43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3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A decrease in demand triggers a similar response, except in the opposite direction.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decrease in demand brings a lower price, economic loss, and some firms exit.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Exit decreases market supply and eventually raises the price to its original level.</a:t>
            </a:r>
            <a:endParaRPr b="1" lang="en-CA" sz="2400" strike="noStrike" u="none">
              <a:solidFill>
                <a:srgbClr val="00468f"/>
              </a:solidFill>
              <a:effectLst/>
              <a:uFillTx/>
              <a:latin typeface="Arial"/>
            </a:endParaRPr>
          </a:p>
        </p:txBody>
      </p:sp>
    </p:spTree>
  </p:cSld>
  <p:transition spd="slow">
    <p:wipe dir="r"/>
  </p:transition>
  <p:timing>
    <p:tnLst>
      <p:par>
        <p:cTn id="1223" dur="indefinite" restart="never" nodeType="tmRoot">
          <p:childTnLst>
            <p:seq>
              <p:cTn id="1224" dur="indefinite" nodeType="mainSeq">
                <p:childTnLst>
                  <p:par>
                    <p:cTn id="1225" nodeType="clickEffect" fill="hold">
                      <p:stCondLst>
                        <p:cond delay="indefinite"/>
                      </p:stCondLst>
                      <p:childTnLst>
                        <p:par>
                          <p:cTn id="1226" nodeType="withEffect" fill="hold">
                            <p:stCondLst>
                              <p:cond delay="0"/>
                            </p:stCondLst>
                            <p:childTnLst>
                              <p:par>
                                <p:cTn id="1227" nodeType="clickEffect" fill="hold" presetClass="entr" presetID="22" presetSubtype="8">
                                  <p:stCondLst>
                                    <p:cond delay="0"/>
                                  </p:stCondLst>
                                  <p:childTnLst>
                                    <p:set>
                                      <p:cBhvr>
                                        <p:cTn id="1228" dur="1" fill="hold">
                                          <p:stCondLst>
                                            <p:cond delay="0"/>
                                          </p:stCondLst>
                                        </p:cTn>
                                        <p:tgtEl>
                                          <p:spTgt spid="437">
                                            <p:txEl>
                                              <p:pRg st="1" end="1"/>
                                            </p:txEl>
                                          </p:spTgt>
                                        </p:tgtEl>
                                        <p:attrNameLst>
                                          <p:attrName>style.visibility</p:attrName>
                                        </p:attrNameLst>
                                      </p:cBhvr>
                                      <p:to>
                                        <p:strVal val="visible"/>
                                      </p:to>
                                    </p:set>
                                    <p:animEffect filter="wipe(left)" transition="in">
                                      <p:cBhvr additive="repl">
                                        <p:cTn id="1229" dur="500"/>
                                        <p:tgtEl>
                                          <p:spTgt spid="437">
                                            <p:txEl>
                                              <p:pRg st="1" end="1"/>
                                            </p:txEl>
                                          </p:spTgt>
                                        </p:tgtEl>
                                      </p:cBhvr>
                                    </p:animEffect>
                                  </p:childTnLst>
                                </p:cTn>
                              </p:par>
                            </p:childTnLst>
                          </p:cTn>
                        </p:par>
                      </p:childTnLst>
                    </p:cTn>
                  </p:par>
                  <p:par>
                    <p:cTn id="1230" nodeType="clickEffect" fill="hold">
                      <p:stCondLst>
                        <p:cond delay="indefinite"/>
                      </p:stCondLst>
                      <p:childTnLst>
                        <p:par>
                          <p:cTn id="1231" nodeType="withEffect" fill="hold">
                            <p:stCondLst>
                              <p:cond delay="0"/>
                            </p:stCondLst>
                            <p:childTnLst>
                              <p:par>
                                <p:cTn id="1232" nodeType="clickEffect" fill="hold" presetClass="entr" presetID="22" presetSubtype="8">
                                  <p:stCondLst>
                                    <p:cond delay="0"/>
                                  </p:stCondLst>
                                  <p:childTnLst>
                                    <p:set>
                                      <p:cBhvr>
                                        <p:cTn id="1233" dur="1" fill="hold">
                                          <p:stCondLst>
                                            <p:cond delay="0"/>
                                          </p:stCondLst>
                                        </p:cTn>
                                        <p:tgtEl>
                                          <p:spTgt spid="437">
                                            <p:txEl>
                                              <p:pRg st="2" end="2"/>
                                            </p:txEl>
                                          </p:spTgt>
                                        </p:tgtEl>
                                        <p:attrNameLst>
                                          <p:attrName>style.visibility</p:attrName>
                                        </p:attrNameLst>
                                      </p:cBhvr>
                                      <p:to>
                                        <p:strVal val="visible"/>
                                      </p:to>
                                    </p:set>
                                    <p:animEffect filter="wipe(left)" transition="in">
                                      <p:cBhvr additive="repl">
                                        <p:cTn id="1234" dur="500"/>
                                        <p:tgtEl>
                                          <p:spTgt spid="43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3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Technological Change</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New technology allows firms to produce at a lower cost. As a result, as firms adopt a new technology, their cost curves shift downward.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Market supply increases, and the market supply curve shifts rightward.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With a given demand, the quantity produced increases and the price falls.</a:t>
            </a:r>
            <a:endParaRPr b="1" lang="en-CA" sz="2400" strike="noStrike" u="none">
              <a:solidFill>
                <a:srgbClr val="00468f"/>
              </a:solidFill>
              <a:effectLst/>
              <a:uFillTx/>
              <a:latin typeface="Arial"/>
            </a:endParaRPr>
          </a:p>
        </p:txBody>
      </p:sp>
    </p:spTree>
  </p:cSld>
  <p:transition spd="slow">
    <p:wipe dir="r"/>
  </p:transition>
  <p:timing>
    <p:tnLst>
      <p:par>
        <p:cTn id="1235" dur="indefinite" restart="never" nodeType="tmRoot">
          <p:childTnLst>
            <p:seq>
              <p:cTn id="1236" dur="indefinite" nodeType="mainSeq">
                <p:childTnLst>
                  <p:par>
                    <p:cTn id="1237" nodeType="clickEffect" fill="hold">
                      <p:stCondLst>
                        <p:cond delay="indefinite"/>
                      </p:stCondLst>
                      <p:childTnLst>
                        <p:par>
                          <p:cTn id="1238" nodeType="withEffect" fill="hold">
                            <p:stCondLst>
                              <p:cond delay="0"/>
                            </p:stCondLst>
                            <p:childTnLst>
                              <p:par>
                                <p:cTn id="1239" nodeType="clickEffect" fill="hold" presetClass="entr" presetID="22" presetSubtype="8">
                                  <p:stCondLst>
                                    <p:cond delay="0"/>
                                  </p:stCondLst>
                                  <p:childTnLst>
                                    <p:set>
                                      <p:cBhvr>
                                        <p:cTn id="1240" dur="1" fill="hold">
                                          <p:stCondLst>
                                            <p:cond delay="0"/>
                                          </p:stCondLst>
                                        </p:cTn>
                                        <p:tgtEl>
                                          <p:spTgt spid="439">
                                            <p:txEl>
                                              <p:pRg st="1" end="1"/>
                                            </p:txEl>
                                          </p:spTgt>
                                        </p:tgtEl>
                                        <p:attrNameLst>
                                          <p:attrName>style.visibility</p:attrName>
                                        </p:attrNameLst>
                                      </p:cBhvr>
                                      <p:to>
                                        <p:strVal val="visible"/>
                                      </p:to>
                                    </p:set>
                                    <p:animEffect filter="wipe(left)" transition="in">
                                      <p:cBhvr additive="repl">
                                        <p:cTn id="1241" dur="500"/>
                                        <p:tgtEl>
                                          <p:spTgt spid="439">
                                            <p:txEl>
                                              <p:pRg st="1" end="1"/>
                                            </p:txEl>
                                          </p:spTgt>
                                        </p:tgtEl>
                                      </p:cBhvr>
                                    </p:animEffect>
                                  </p:childTnLst>
                                </p:cTn>
                              </p:par>
                            </p:childTnLst>
                          </p:cTn>
                        </p:par>
                      </p:childTnLst>
                    </p:cTn>
                  </p:par>
                  <p:par>
                    <p:cTn id="1242" nodeType="clickEffect" fill="hold">
                      <p:stCondLst>
                        <p:cond delay="indefinite"/>
                      </p:stCondLst>
                      <p:childTnLst>
                        <p:par>
                          <p:cTn id="1243" nodeType="withEffect" fill="hold">
                            <p:stCondLst>
                              <p:cond delay="0"/>
                            </p:stCondLst>
                            <p:childTnLst>
                              <p:par>
                                <p:cTn id="1244" nodeType="clickEffect" fill="hold" presetClass="entr" presetID="22" presetSubtype="8">
                                  <p:stCondLst>
                                    <p:cond delay="0"/>
                                  </p:stCondLst>
                                  <p:childTnLst>
                                    <p:set>
                                      <p:cBhvr>
                                        <p:cTn id="1245" dur="1" fill="hold">
                                          <p:stCondLst>
                                            <p:cond delay="0"/>
                                          </p:stCondLst>
                                        </p:cTn>
                                        <p:tgtEl>
                                          <p:spTgt spid="439">
                                            <p:txEl>
                                              <p:pRg st="2" end="2"/>
                                            </p:txEl>
                                          </p:spTgt>
                                        </p:tgtEl>
                                        <p:attrNameLst>
                                          <p:attrName>style.visibility</p:attrName>
                                        </p:attrNameLst>
                                      </p:cBhvr>
                                      <p:to>
                                        <p:strVal val="visible"/>
                                      </p:to>
                                    </p:set>
                                    <p:animEffect filter="wipe(left)" transition="in">
                                      <p:cBhvr additive="repl">
                                        <p:cTn id="1246" dur="500"/>
                                        <p:tgtEl>
                                          <p:spTgt spid="439">
                                            <p:txEl>
                                              <p:pRg st="2" end="2"/>
                                            </p:txEl>
                                          </p:spTgt>
                                        </p:tgtEl>
                                      </p:cBhvr>
                                    </p:animEffect>
                                  </p:childTnLst>
                                </p:cTn>
                              </p:par>
                            </p:childTnLst>
                          </p:cTn>
                        </p:par>
                      </p:childTnLst>
                    </p:cTn>
                  </p:par>
                  <p:par>
                    <p:cTn id="1247" nodeType="clickEffect" fill="hold">
                      <p:stCondLst>
                        <p:cond delay="indefinite"/>
                      </p:stCondLst>
                      <p:childTnLst>
                        <p:par>
                          <p:cTn id="1248" nodeType="withEffect" fill="hold">
                            <p:stCondLst>
                              <p:cond delay="0"/>
                            </p:stCondLst>
                            <p:childTnLst>
                              <p:par>
                                <p:cTn id="1249" nodeType="clickEffect" fill="hold" presetClass="entr" presetID="22" presetSubtype="8">
                                  <p:stCondLst>
                                    <p:cond delay="0"/>
                                  </p:stCondLst>
                                  <p:childTnLst>
                                    <p:set>
                                      <p:cBhvr>
                                        <p:cTn id="1250" dur="1" fill="hold">
                                          <p:stCondLst>
                                            <p:cond delay="0"/>
                                          </p:stCondLst>
                                        </p:cTn>
                                        <p:tgtEl>
                                          <p:spTgt spid="439">
                                            <p:txEl>
                                              <p:pRg st="3" end="3"/>
                                            </p:txEl>
                                          </p:spTgt>
                                        </p:tgtEl>
                                        <p:attrNameLst>
                                          <p:attrName>style.visibility</p:attrName>
                                        </p:attrNameLst>
                                      </p:cBhvr>
                                      <p:to>
                                        <p:strVal val="visible"/>
                                      </p:to>
                                    </p:set>
                                    <p:animEffect filter="wipe(left)" transition="in">
                                      <p:cBhvr additive="repl">
                                        <p:cTn id="1251" dur="500"/>
                                        <p:tgtEl>
                                          <p:spTgt spid="43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4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defTabSz="85572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Two forces are at work in a market undergoing technological change. </a:t>
            </a:r>
            <a:endParaRPr b="1" lang="en-CA" sz="2400" strike="noStrike" u="none">
              <a:solidFill>
                <a:srgbClr val="00468f"/>
              </a:solidFill>
              <a:effectLst/>
              <a:uFillTx/>
              <a:latin typeface="Arial"/>
            </a:endParaRPr>
          </a:p>
          <a:p>
            <a:pPr lvl="1" marL="358920" indent="-324000" defTabSz="855720">
              <a:lnSpc>
                <a:spcPct val="100000"/>
              </a:lnSpc>
              <a:spcBef>
                <a:spcPts val="601"/>
              </a:spcBef>
              <a:spcAft>
                <a:spcPts val="601"/>
              </a:spcAft>
              <a:buClr>
                <a:srgbClr val="000000"/>
              </a:buClr>
              <a:buFont typeface="OpenSymbol"/>
              <a:buAutoNum type="arabicPeriod"/>
            </a:pPr>
            <a:r>
              <a:rPr b="0" lang="en-US" sz="2400" strike="noStrike" u="none">
                <a:solidFill>
                  <a:schemeClr val="dk1"/>
                </a:solidFill>
                <a:effectLst/>
                <a:uFillTx/>
                <a:latin typeface="Arial"/>
                <a:ea typeface="ＭＳ Ｐゴシック"/>
              </a:rPr>
              <a:t>Firms that adopt the new technology make an economic profit. </a:t>
            </a:r>
            <a:endParaRPr b="0" lang="en-CA" sz="2400" strike="noStrike" u="none">
              <a:solidFill>
                <a:schemeClr val="dk1"/>
              </a:solidFill>
              <a:effectLst/>
              <a:uFillTx/>
              <a:latin typeface="Arial"/>
            </a:endParaRPr>
          </a:p>
          <a:p>
            <a:pPr marL="358920" indent="0" defTabSz="85572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So new-technology firms have an incentive to enter. </a:t>
            </a:r>
            <a:endParaRPr b="1" lang="en-CA" sz="2400" strike="noStrike" u="none">
              <a:solidFill>
                <a:srgbClr val="00468f"/>
              </a:solidFill>
              <a:effectLst/>
              <a:uFillTx/>
              <a:latin typeface="Arial"/>
            </a:endParaRPr>
          </a:p>
          <a:p>
            <a:pPr lvl="1" marL="358920" indent="-324000" defTabSz="855720">
              <a:lnSpc>
                <a:spcPct val="100000"/>
              </a:lnSpc>
              <a:spcBef>
                <a:spcPts val="601"/>
              </a:spcBef>
              <a:spcAft>
                <a:spcPts val="601"/>
              </a:spcAft>
              <a:buClr>
                <a:srgbClr val="000000"/>
              </a:buClr>
              <a:buFont typeface="OpenSymbol"/>
              <a:buAutoNum type="arabicPeriod" startAt="2"/>
            </a:pPr>
            <a:r>
              <a:rPr b="0" lang="en-US" sz="2400" strike="noStrike" u="none">
                <a:solidFill>
                  <a:schemeClr val="dk1"/>
                </a:solidFill>
                <a:effectLst/>
                <a:uFillTx/>
                <a:latin typeface="Arial"/>
                <a:ea typeface="ＭＳ Ｐゴシック"/>
              </a:rPr>
              <a:t>Firms that stick with the old technology incur economic losses. </a:t>
            </a:r>
            <a:endParaRPr b="0" lang="en-CA" sz="2400" strike="noStrike" u="none">
              <a:solidFill>
                <a:schemeClr val="dk1"/>
              </a:solidFill>
              <a:effectLst/>
              <a:uFillTx/>
              <a:latin typeface="Arial"/>
            </a:endParaRPr>
          </a:p>
          <a:p>
            <a:pPr marL="358920" indent="0" defTabSz="85572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These firms either exit the market or switch to the new technology.</a:t>
            </a:r>
            <a:endParaRPr b="1" lang="en-CA" sz="2400" strike="noStrike" u="none">
              <a:solidFill>
                <a:srgbClr val="00468f"/>
              </a:solidFill>
              <a:effectLst/>
              <a:uFillTx/>
              <a:latin typeface="Arial"/>
            </a:endParaRPr>
          </a:p>
        </p:txBody>
      </p:sp>
    </p:spTree>
  </p:cSld>
  <p:transition spd="slow">
    <p:wipe dir="r"/>
  </p:transition>
  <p:timing>
    <p:tnLst>
      <p:par>
        <p:cTn id="1252" dur="indefinite" restart="never" nodeType="tmRoot">
          <p:childTnLst>
            <p:seq>
              <p:cTn id="1253" dur="indefinite" nodeType="mainSeq">
                <p:childTnLst>
                  <p:par>
                    <p:cTn id="1254" nodeType="clickEffect" fill="hold">
                      <p:stCondLst>
                        <p:cond delay="indefinite"/>
                      </p:stCondLst>
                      <p:childTnLst>
                        <p:par>
                          <p:cTn id="1255" nodeType="withEffect" fill="hold">
                            <p:stCondLst>
                              <p:cond delay="0"/>
                            </p:stCondLst>
                            <p:childTnLst>
                              <p:par>
                                <p:cTn id="1256" nodeType="clickEffect" fill="hold" presetClass="entr" presetID="22" presetSubtype="8">
                                  <p:stCondLst>
                                    <p:cond delay="0"/>
                                  </p:stCondLst>
                                  <p:childTnLst>
                                    <p:set>
                                      <p:cBhvr>
                                        <p:cTn id="1257" dur="1" fill="hold">
                                          <p:stCondLst>
                                            <p:cond delay="0"/>
                                          </p:stCondLst>
                                        </p:cTn>
                                        <p:tgtEl>
                                          <p:spTgt spid="441">
                                            <p:txEl>
                                              <p:pRg st="1" end="1"/>
                                            </p:txEl>
                                          </p:spTgt>
                                        </p:tgtEl>
                                        <p:attrNameLst>
                                          <p:attrName>style.visibility</p:attrName>
                                        </p:attrNameLst>
                                      </p:cBhvr>
                                      <p:to>
                                        <p:strVal val="visible"/>
                                      </p:to>
                                    </p:set>
                                    <p:animEffect filter="wipe(left)" transition="in">
                                      <p:cBhvr additive="repl">
                                        <p:cTn id="1258" dur="500"/>
                                        <p:tgtEl>
                                          <p:spTgt spid="441">
                                            <p:txEl>
                                              <p:pRg st="1" end="1"/>
                                            </p:txEl>
                                          </p:spTgt>
                                        </p:tgtEl>
                                      </p:cBhvr>
                                    </p:animEffect>
                                  </p:childTnLst>
                                </p:cTn>
                              </p:par>
                            </p:childTnLst>
                          </p:cTn>
                        </p:par>
                      </p:childTnLst>
                    </p:cTn>
                  </p:par>
                  <p:par>
                    <p:cTn id="1259" nodeType="clickEffect" fill="hold">
                      <p:stCondLst>
                        <p:cond delay="indefinite"/>
                      </p:stCondLst>
                      <p:childTnLst>
                        <p:par>
                          <p:cTn id="1260" nodeType="withEffect" fill="hold">
                            <p:stCondLst>
                              <p:cond delay="0"/>
                            </p:stCondLst>
                            <p:childTnLst>
                              <p:par>
                                <p:cTn id="1261" nodeType="clickEffect" fill="hold" presetClass="entr" presetID="22" presetSubtype="8">
                                  <p:stCondLst>
                                    <p:cond delay="0"/>
                                  </p:stCondLst>
                                  <p:childTnLst>
                                    <p:set>
                                      <p:cBhvr>
                                        <p:cTn id="1262" dur="1" fill="hold">
                                          <p:stCondLst>
                                            <p:cond delay="0"/>
                                          </p:stCondLst>
                                        </p:cTn>
                                        <p:tgtEl>
                                          <p:spTgt spid="441">
                                            <p:txEl>
                                              <p:pRg st="2" end="2"/>
                                            </p:txEl>
                                          </p:spTgt>
                                        </p:tgtEl>
                                        <p:attrNameLst>
                                          <p:attrName>style.visibility</p:attrName>
                                        </p:attrNameLst>
                                      </p:cBhvr>
                                      <p:to>
                                        <p:strVal val="visible"/>
                                      </p:to>
                                    </p:set>
                                    <p:animEffect filter="wipe(left)" transition="in">
                                      <p:cBhvr additive="repl">
                                        <p:cTn id="1263" dur="500"/>
                                        <p:tgtEl>
                                          <p:spTgt spid="441">
                                            <p:txEl>
                                              <p:pRg st="2" end="2"/>
                                            </p:txEl>
                                          </p:spTgt>
                                        </p:tgtEl>
                                      </p:cBhvr>
                                    </p:animEffect>
                                  </p:childTnLst>
                                </p:cTn>
                              </p:par>
                            </p:childTnLst>
                          </p:cTn>
                        </p:par>
                      </p:childTnLst>
                    </p:cTn>
                  </p:par>
                  <p:par>
                    <p:cTn id="1264" nodeType="clickEffect" fill="hold">
                      <p:stCondLst>
                        <p:cond delay="indefinite"/>
                      </p:stCondLst>
                      <p:childTnLst>
                        <p:par>
                          <p:cTn id="1265" nodeType="withEffect" fill="hold">
                            <p:stCondLst>
                              <p:cond delay="0"/>
                            </p:stCondLst>
                            <p:childTnLst>
                              <p:par>
                                <p:cTn id="1266" nodeType="clickEffect" fill="hold" presetClass="entr" presetID="22" presetSubtype="8">
                                  <p:stCondLst>
                                    <p:cond delay="0"/>
                                  </p:stCondLst>
                                  <p:childTnLst>
                                    <p:set>
                                      <p:cBhvr>
                                        <p:cTn id="1267" dur="1" fill="hold">
                                          <p:stCondLst>
                                            <p:cond delay="0"/>
                                          </p:stCondLst>
                                        </p:cTn>
                                        <p:tgtEl>
                                          <p:spTgt spid="441">
                                            <p:txEl>
                                              <p:pRg st="3" end="3"/>
                                            </p:txEl>
                                          </p:spTgt>
                                        </p:tgtEl>
                                        <p:attrNameLst>
                                          <p:attrName>style.visibility</p:attrName>
                                        </p:attrNameLst>
                                      </p:cBhvr>
                                      <p:to>
                                        <p:strVal val="visible"/>
                                      </p:to>
                                    </p:set>
                                    <p:animEffect filter="wipe(left)" transition="in">
                                      <p:cBhvr additive="repl">
                                        <p:cTn id="1268" dur="500"/>
                                        <p:tgtEl>
                                          <p:spTgt spid="441">
                                            <p:txEl>
                                              <p:pRg st="3" end="3"/>
                                            </p:txEl>
                                          </p:spTgt>
                                        </p:tgtEl>
                                      </p:cBhvr>
                                    </p:animEffect>
                                  </p:childTnLst>
                                </p:cTn>
                              </p:par>
                            </p:childTnLst>
                          </p:cTn>
                        </p:par>
                      </p:childTnLst>
                    </p:cTn>
                  </p:par>
                  <p:par>
                    <p:cTn id="1269" nodeType="clickEffect" fill="hold">
                      <p:stCondLst>
                        <p:cond delay="indefinite"/>
                      </p:stCondLst>
                      <p:childTnLst>
                        <p:par>
                          <p:cTn id="1270" nodeType="withEffect" fill="hold">
                            <p:stCondLst>
                              <p:cond delay="0"/>
                            </p:stCondLst>
                            <p:childTnLst>
                              <p:par>
                                <p:cTn id="1271" nodeType="clickEffect" fill="hold" presetClass="entr" presetID="22" presetSubtype="8">
                                  <p:stCondLst>
                                    <p:cond delay="0"/>
                                  </p:stCondLst>
                                  <p:childTnLst>
                                    <p:set>
                                      <p:cBhvr>
                                        <p:cTn id="1272" dur="1" fill="hold">
                                          <p:stCondLst>
                                            <p:cond delay="0"/>
                                          </p:stCondLst>
                                        </p:cTn>
                                        <p:tgtEl>
                                          <p:spTgt spid="441">
                                            <p:txEl>
                                              <p:pRg st="4" end="4"/>
                                            </p:txEl>
                                          </p:spTgt>
                                        </p:tgtEl>
                                        <p:attrNameLst>
                                          <p:attrName>style.visibility</p:attrName>
                                        </p:attrNameLst>
                                      </p:cBhvr>
                                      <p:to>
                                        <p:strVal val="visible"/>
                                      </p:to>
                                    </p:set>
                                    <p:animEffect filter="wipe(left)" transition="in">
                                      <p:cBhvr additive="repl">
                                        <p:cTn id="1273" dur="500"/>
                                        <p:tgtEl>
                                          <p:spTgt spid="44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4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Is Perfect Competition Efficient?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Resources are used efficiently when it is not possible to get more of one good without giving up something that is valued more highly.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achieve this outcome, marginal benefit must equal marginal cost. That is what perfect competition achieves.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market supply curve is the marginal cost curve. It is the sum of the firms’ marginal cost curves at all points above the minimum of average variable cost (the shutdown price). </a:t>
            </a:r>
            <a:endParaRPr b="1" lang="en-CA" sz="2400" strike="noStrike" u="none">
              <a:solidFill>
                <a:srgbClr val="00468f"/>
              </a:solidFill>
              <a:effectLst/>
              <a:uFillTx/>
              <a:latin typeface="Arial"/>
            </a:endParaRPr>
          </a:p>
        </p:txBody>
      </p:sp>
    </p:spTree>
  </p:cSld>
  <p:transition spd="slow">
    <p:wipe dir="r"/>
  </p:transition>
  <p:timing>
    <p:tnLst>
      <p:par>
        <p:cTn id="1274" dur="indefinite" restart="never" nodeType="tmRoot">
          <p:childTnLst>
            <p:seq>
              <p:cTn id="1275" dur="indefinite" nodeType="mainSeq">
                <p:childTnLst>
                  <p:par>
                    <p:cTn id="1276" nodeType="clickEffect" fill="hold">
                      <p:stCondLst>
                        <p:cond delay="indefinite"/>
                      </p:stCondLst>
                      <p:childTnLst>
                        <p:par>
                          <p:cTn id="1277" nodeType="withEffect" fill="hold">
                            <p:stCondLst>
                              <p:cond delay="0"/>
                            </p:stCondLst>
                            <p:childTnLst>
                              <p:par>
                                <p:cTn id="1278" nodeType="clickEffect" fill="hold" presetClass="entr" presetID="22" presetSubtype="8">
                                  <p:stCondLst>
                                    <p:cond delay="0"/>
                                  </p:stCondLst>
                                  <p:childTnLst>
                                    <p:set>
                                      <p:cBhvr>
                                        <p:cTn id="1279" dur="1" fill="hold">
                                          <p:stCondLst>
                                            <p:cond delay="0"/>
                                          </p:stCondLst>
                                        </p:cTn>
                                        <p:tgtEl>
                                          <p:spTgt spid="443">
                                            <p:txEl>
                                              <p:pRg st="1" end="1"/>
                                            </p:txEl>
                                          </p:spTgt>
                                        </p:tgtEl>
                                        <p:attrNameLst>
                                          <p:attrName>style.visibility</p:attrName>
                                        </p:attrNameLst>
                                      </p:cBhvr>
                                      <p:to>
                                        <p:strVal val="visible"/>
                                      </p:to>
                                    </p:set>
                                    <p:animEffect filter="wipe(left)" transition="in">
                                      <p:cBhvr additive="repl">
                                        <p:cTn id="1280" dur="500"/>
                                        <p:tgtEl>
                                          <p:spTgt spid="443">
                                            <p:txEl>
                                              <p:pRg st="1" end="1"/>
                                            </p:txEl>
                                          </p:spTgt>
                                        </p:tgtEl>
                                      </p:cBhvr>
                                    </p:animEffect>
                                  </p:childTnLst>
                                </p:cTn>
                              </p:par>
                            </p:childTnLst>
                          </p:cTn>
                        </p:par>
                      </p:childTnLst>
                    </p:cTn>
                  </p:par>
                  <p:par>
                    <p:cTn id="1281" nodeType="clickEffect" fill="hold">
                      <p:stCondLst>
                        <p:cond delay="indefinite"/>
                      </p:stCondLst>
                      <p:childTnLst>
                        <p:par>
                          <p:cTn id="1282" nodeType="withEffect" fill="hold">
                            <p:stCondLst>
                              <p:cond delay="0"/>
                            </p:stCondLst>
                            <p:childTnLst>
                              <p:par>
                                <p:cTn id="1283" nodeType="clickEffect" fill="hold" presetClass="entr" presetID="22" presetSubtype="8">
                                  <p:stCondLst>
                                    <p:cond delay="0"/>
                                  </p:stCondLst>
                                  <p:childTnLst>
                                    <p:set>
                                      <p:cBhvr>
                                        <p:cTn id="1284" dur="1" fill="hold">
                                          <p:stCondLst>
                                            <p:cond delay="0"/>
                                          </p:stCondLst>
                                        </p:cTn>
                                        <p:tgtEl>
                                          <p:spTgt spid="443">
                                            <p:txEl>
                                              <p:pRg st="2" end="2"/>
                                            </p:txEl>
                                          </p:spTgt>
                                        </p:tgtEl>
                                        <p:attrNameLst>
                                          <p:attrName>style.visibility</p:attrName>
                                        </p:attrNameLst>
                                      </p:cBhvr>
                                      <p:to>
                                        <p:strVal val="visible"/>
                                      </p:to>
                                    </p:set>
                                    <p:animEffect filter="wipe(left)" transition="in">
                                      <p:cBhvr additive="repl">
                                        <p:cTn id="1285" dur="500"/>
                                        <p:tgtEl>
                                          <p:spTgt spid="443">
                                            <p:txEl>
                                              <p:pRg st="2" end="2"/>
                                            </p:txEl>
                                          </p:spTgt>
                                        </p:tgtEl>
                                      </p:cBhvr>
                                    </p:animEffect>
                                  </p:childTnLst>
                                </p:cTn>
                              </p:par>
                            </p:childTnLst>
                          </p:cTn>
                        </p:par>
                      </p:childTnLst>
                    </p:cTn>
                  </p:par>
                  <p:par>
                    <p:cTn id="1286" nodeType="clickEffect" fill="hold">
                      <p:stCondLst>
                        <p:cond delay="indefinite"/>
                      </p:stCondLst>
                      <p:childTnLst>
                        <p:par>
                          <p:cTn id="1287" nodeType="withEffect" fill="hold">
                            <p:stCondLst>
                              <p:cond delay="0"/>
                            </p:stCondLst>
                            <p:childTnLst>
                              <p:par>
                                <p:cTn id="1288" nodeType="clickEffect" fill="hold" presetClass="entr" presetID="22" presetSubtype="8">
                                  <p:stCondLst>
                                    <p:cond delay="0"/>
                                  </p:stCondLst>
                                  <p:childTnLst>
                                    <p:set>
                                      <p:cBhvr>
                                        <p:cTn id="1289" dur="1" fill="hold">
                                          <p:stCondLst>
                                            <p:cond delay="0"/>
                                          </p:stCondLst>
                                        </p:cTn>
                                        <p:tgtEl>
                                          <p:spTgt spid="443">
                                            <p:txEl>
                                              <p:pRg st="3" end="3"/>
                                            </p:txEl>
                                          </p:spTgt>
                                        </p:tgtEl>
                                        <p:attrNameLst>
                                          <p:attrName>style.visibility</p:attrName>
                                        </p:attrNameLst>
                                      </p:cBhvr>
                                      <p:to>
                                        <p:strVal val="visible"/>
                                      </p:to>
                                    </p:set>
                                    <p:animEffect filter="wipe(left)" transition="in">
                                      <p:cBhvr additive="repl">
                                        <p:cTn id="1290" dur="500"/>
                                        <p:tgtEl>
                                          <p:spTgt spid="443">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4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market supply curve is the marginal cost curve.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market demand curve is the marginal benefit curve.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the market supply and market demand curves intersect at the equilibrium price, that price equals both marginal cost and marginal benefit.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15.13 on the next slide shows the efficiency of perfect competition.</a:t>
            </a:r>
            <a:endParaRPr b="1" lang="en-CA" sz="2400" strike="noStrike" u="none">
              <a:solidFill>
                <a:srgbClr val="00468f"/>
              </a:solidFill>
              <a:effectLst/>
              <a:uFillTx/>
              <a:latin typeface="Arial"/>
            </a:endParaRPr>
          </a:p>
        </p:txBody>
      </p:sp>
    </p:spTree>
  </p:cSld>
  <p:transition spd="slow">
    <p:wipe dir="r"/>
  </p:transition>
  <p:timing>
    <p:tnLst>
      <p:par>
        <p:cTn id="1291" dur="indefinite" restart="never" nodeType="tmRoot">
          <p:childTnLst>
            <p:seq>
              <p:cTn id="1292" dur="indefinite" nodeType="mainSeq">
                <p:childTnLst>
                  <p:par>
                    <p:cTn id="1293" nodeType="clickEffect" fill="hold">
                      <p:stCondLst>
                        <p:cond delay="indefinite"/>
                      </p:stCondLst>
                      <p:childTnLst>
                        <p:par>
                          <p:cTn id="1294" nodeType="withEffect" fill="hold">
                            <p:stCondLst>
                              <p:cond delay="0"/>
                            </p:stCondLst>
                            <p:childTnLst>
                              <p:par>
                                <p:cTn id="1295" nodeType="clickEffect" fill="hold" presetClass="entr" presetID="22" presetSubtype="8">
                                  <p:stCondLst>
                                    <p:cond delay="0"/>
                                  </p:stCondLst>
                                  <p:childTnLst>
                                    <p:set>
                                      <p:cBhvr>
                                        <p:cTn id="1296" dur="1" fill="hold">
                                          <p:stCondLst>
                                            <p:cond delay="0"/>
                                          </p:stCondLst>
                                        </p:cTn>
                                        <p:tgtEl>
                                          <p:spTgt spid="445">
                                            <p:txEl>
                                              <p:pRg st="1" end="1"/>
                                            </p:txEl>
                                          </p:spTgt>
                                        </p:tgtEl>
                                        <p:attrNameLst>
                                          <p:attrName>style.visibility</p:attrName>
                                        </p:attrNameLst>
                                      </p:cBhvr>
                                      <p:to>
                                        <p:strVal val="visible"/>
                                      </p:to>
                                    </p:set>
                                    <p:animEffect filter="wipe(left)" transition="in">
                                      <p:cBhvr additive="repl">
                                        <p:cTn id="1297" dur="500"/>
                                        <p:tgtEl>
                                          <p:spTgt spid="445">
                                            <p:txEl>
                                              <p:pRg st="1" end="1"/>
                                            </p:txEl>
                                          </p:spTgt>
                                        </p:tgtEl>
                                      </p:cBhvr>
                                    </p:animEffect>
                                  </p:childTnLst>
                                </p:cTn>
                              </p:par>
                            </p:childTnLst>
                          </p:cTn>
                        </p:par>
                      </p:childTnLst>
                    </p:cTn>
                  </p:par>
                  <p:par>
                    <p:cTn id="1298" nodeType="clickEffect" fill="hold">
                      <p:stCondLst>
                        <p:cond delay="indefinite"/>
                      </p:stCondLst>
                      <p:childTnLst>
                        <p:par>
                          <p:cTn id="1299" nodeType="withEffect" fill="hold">
                            <p:stCondLst>
                              <p:cond delay="0"/>
                            </p:stCondLst>
                            <p:childTnLst>
                              <p:par>
                                <p:cTn id="1300" nodeType="clickEffect" fill="hold" presetClass="entr" presetID="22" presetSubtype="8">
                                  <p:stCondLst>
                                    <p:cond delay="0"/>
                                  </p:stCondLst>
                                  <p:childTnLst>
                                    <p:set>
                                      <p:cBhvr>
                                        <p:cTn id="1301" dur="1" fill="hold">
                                          <p:stCondLst>
                                            <p:cond delay="0"/>
                                          </p:stCondLst>
                                        </p:cTn>
                                        <p:tgtEl>
                                          <p:spTgt spid="445">
                                            <p:txEl>
                                              <p:pRg st="2" end="2"/>
                                            </p:txEl>
                                          </p:spTgt>
                                        </p:tgtEl>
                                        <p:attrNameLst>
                                          <p:attrName>style.visibility</p:attrName>
                                        </p:attrNameLst>
                                      </p:cBhvr>
                                      <p:to>
                                        <p:strVal val="visible"/>
                                      </p:to>
                                    </p:set>
                                    <p:animEffect filter="wipe(left)" transition="in">
                                      <p:cBhvr additive="repl">
                                        <p:cTn id="1302" dur="500"/>
                                        <p:tgtEl>
                                          <p:spTgt spid="445">
                                            <p:txEl>
                                              <p:pRg st="2" end="2"/>
                                            </p:txEl>
                                          </p:spTgt>
                                        </p:tgtEl>
                                      </p:cBhvr>
                                    </p:animEffect>
                                  </p:childTnLst>
                                </p:cTn>
                              </p:par>
                            </p:childTnLst>
                          </p:cTn>
                        </p:par>
                      </p:childTnLst>
                    </p:cTn>
                  </p:par>
                  <p:par>
                    <p:cTn id="1303" nodeType="clickEffect" fill="hold">
                      <p:stCondLst>
                        <p:cond delay="indefinite"/>
                      </p:stCondLst>
                      <p:childTnLst>
                        <p:par>
                          <p:cTn id="1304" nodeType="withEffect" fill="hold">
                            <p:stCondLst>
                              <p:cond delay="0"/>
                            </p:stCondLst>
                            <p:childTnLst>
                              <p:par>
                                <p:cTn id="1305" nodeType="clickEffect" fill="hold" presetClass="entr" presetID="22" presetSubtype="8">
                                  <p:stCondLst>
                                    <p:cond delay="0"/>
                                  </p:stCondLst>
                                  <p:childTnLst>
                                    <p:set>
                                      <p:cBhvr>
                                        <p:cTn id="1306" dur="1" fill="hold">
                                          <p:stCondLst>
                                            <p:cond delay="0"/>
                                          </p:stCondLst>
                                        </p:cTn>
                                        <p:tgtEl>
                                          <p:spTgt spid="445">
                                            <p:txEl>
                                              <p:pRg st="3" end="3"/>
                                            </p:txEl>
                                          </p:spTgt>
                                        </p:tgtEl>
                                        <p:attrNameLst>
                                          <p:attrName>style.visibility</p:attrName>
                                        </p:attrNameLst>
                                      </p:cBhvr>
                                      <p:to>
                                        <p:strVal val="visible"/>
                                      </p:to>
                                    </p:set>
                                    <p:animEffect filter="wipe(left)" transition="in">
                                      <p:cBhvr additive="repl">
                                        <p:cTn id="1307" dur="500"/>
                                        <p:tgtEl>
                                          <p:spTgt spid="44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47" name="PlaceHolder 2"/>
          <p:cNvSpPr>
            <a:spLocks noGrp="1"/>
          </p:cNvSpPr>
          <p:nvPr>
            <p:ph/>
          </p:nvPr>
        </p:nvSpPr>
        <p:spPr>
          <a:xfrm>
            <a:off x="360360" y="1440000"/>
            <a:ext cx="3830400" cy="464796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a:tabLst>
                <a:tab algn="l" pos="628560"/>
              </a:tabLst>
            </a:pPr>
            <a:r>
              <a:rPr b="0" lang="en-US" sz="2400" strike="noStrike" u="none">
                <a:solidFill>
                  <a:schemeClr val="dk1"/>
                </a:solidFill>
                <a:effectLst/>
                <a:uFillTx/>
                <a:latin typeface="Arial"/>
                <a:ea typeface="ＭＳ Ｐゴシック"/>
              </a:rPr>
              <a:t>Market equilibrium occurs at a price of $5 a can and a quantity of 90,000 cans a day.</a:t>
            </a:r>
            <a:endParaRPr b="0" lang="en-CA" sz="2400" strike="noStrike" u="none">
              <a:solidFill>
                <a:schemeClr val="dk1"/>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a:tabLst>
                <a:tab algn="l" pos="628560"/>
              </a:tabLst>
            </a:pPr>
            <a:r>
              <a:rPr b="0" lang="en-US" sz="2400" strike="noStrike" u="none">
                <a:solidFill>
                  <a:srgbClr val="000000"/>
                </a:solidFill>
                <a:effectLst/>
                <a:uFillTx/>
                <a:latin typeface="Arial"/>
                <a:ea typeface="ＭＳ Ｐゴシック"/>
              </a:rPr>
              <a:t>Supply curve is also the marginal cost curve.</a:t>
            </a:r>
            <a:endParaRPr b="0" lang="en-CA" sz="2400" strike="noStrike" u="none">
              <a:solidFill>
                <a:schemeClr val="dk1"/>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a:tabLst>
                <a:tab algn="l" pos="628560"/>
              </a:tabLst>
            </a:pPr>
            <a:r>
              <a:rPr b="0" lang="en-US" sz="2400" strike="noStrike" u="none">
                <a:solidFill>
                  <a:srgbClr val="000000"/>
                </a:solidFill>
                <a:effectLst/>
                <a:uFillTx/>
                <a:latin typeface="Arial"/>
                <a:ea typeface="ＭＳ Ｐゴシック"/>
              </a:rPr>
              <a:t>Demand curve is also the marginal benefit curve.</a:t>
            </a:r>
            <a:endParaRPr b="0" lang="en-CA" sz="2400" strike="noStrike" u="none">
              <a:solidFill>
                <a:schemeClr val="dk1"/>
              </a:solidFill>
              <a:effectLst/>
              <a:uFillTx/>
              <a:latin typeface="Arial"/>
            </a:endParaRPr>
          </a:p>
        </p:txBody>
      </p:sp>
      <p:pic>
        <p:nvPicPr>
          <p:cNvPr id="448" name="Picture 9" descr=""/>
          <p:cNvPicPr/>
          <p:nvPr/>
        </p:nvPicPr>
        <p:blipFill>
          <a:blip r:embed="rId1"/>
          <a:stretch/>
        </p:blipFill>
        <p:spPr>
          <a:xfrm>
            <a:off x="4319640" y="1476360"/>
            <a:ext cx="4509720" cy="4760640"/>
          </a:xfrm>
          <a:prstGeom prst="rect">
            <a:avLst/>
          </a:prstGeom>
          <a:noFill/>
          <a:ln w="0">
            <a:noFill/>
          </a:ln>
        </p:spPr>
      </p:pic>
      <p:pic>
        <p:nvPicPr>
          <p:cNvPr id="449" name="Picture 10" descr=""/>
          <p:cNvPicPr/>
          <p:nvPr/>
        </p:nvPicPr>
        <p:blipFill>
          <a:blip r:embed="rId2"/>
          <a:stretch/>
        </p:blipFill>
        <p:spPr>
          <a:xfrm>
            <a:off x="4319640" y="1476360"/>
            <a:ext cx="4509720" cy="4760640"/>
          </a:xfrm>
          <a:prstGeom prst="rect">
            <a:avLst/>
          </a:prstGeom>
          <a:noFill/>
          <a:ln w="0">
            <a:noFill/>
          </a:ln>
        </p:spPr>
      </p:pic>
      <p:pic>
        <p:nvPicPr>
          <p:cNvPr id="450" name="Picture 11" descr=""/>
          <p:cNvPicPr/>
          <p:nvPr/>
        </p:nvPicPr>
        <p:blipFill>
          <a:blip r:embed="rId3"/>
          <a:stretch/>
        </p:blipFill>
        <p:spPr>
          <a:xfrm>
            <a:off x="4319640" y="1476360"/>
            <a:ext cx="4509720" cy="4760640"/>
          </a:xfrm>
          <a:prstGeom prst="rect">
            <a:avLst/>
          </a:prstGeom>
          <a:noFill/>
          <a:ln w="0">
            <a:noFill/>
          </a:ln>
        </p:spPr>
      </p:pic>
      <p:pic>
        <p:nvPicPr>
          <p:cNvPr id="451" name="Picture 12" descr=""/>
          <p:cNvPicPr/>
          <p:nvPr/>
        </p:nvPicPr>
        <p:blipFill>
          <a:blip r:embed="rId4"/>
          <a:stretch/>
        </p:blipFill>
        <p:spPr>
          <a:xfrm>
            <a:off x="4319640" y="1476360"/>
            <a:ext cx="4509720" cy="4760640"/>
          </a:xfrm>
          <a:prstGeom prst="rect">
            <a:avLst/>
          </a:prstGeom>
          <a:noFill/>
          <a:ln w="0">
            <a:noFill/>
          </a:ln>
        </p:spPr>
      </p:pic>
    </p:spTree>
  </p:cSld>
  <p:transition spd="slow">
    <p:wipe dir="r"/>
  </p:transition>
  <p:timing>
    <p:tnLst>
      <p:par>
        <p:cTn id="1308" dur="indefinite" restart="never" nodeType="tmRoot">
          <p:childTnLst>
            <p:seq>
              <p:cTn id="1309" dur="indefinite" nodeType="mainSeq">
                <p:childTnLst>
                  <p:par>
                    <p:cTn id="1310" nodeType="clickEffect" fill="hold">
                      <p:stCondLst>
                        <p:cond delay="0"/>
                      </p:stCondLst>
                      <p:childTnLst>
                        <p:par>
                          <p:cTn id="1311" nodeType="withEffect" fill="hold">
                            <p:stCondLst>
                              <p:cond delay="0"/>
                            </p:stCondLst>
                            <p:childTnLst>
                              <p:par>
                                <p:cTn id="1312" nodeType="withEffect" fill="hold" presetClass="entr" presetID="10">
                                  <p:stCondLst>
                                    <p:cond delay="0"/>
                                  </p:stCondLst>
                                  <p:childTnLst>
                                    <p:set>
                                      <p:cBhvr>
                                        <p:cTn id="1313" dur="1" fill="hold">
                                          <p:stCondLst>
                                            <p:cond delay="0"/>
                                          </p:stCondLst>
                                        </p:cTn>
                                        <p:tgtEl>
                                          <p:spTgt spid="449"/>
                                        </p:tgtEl>
                                        <p:attrNameLst>
                                          <p:attrName>style.visibility</p:attrName>
                                        </p:attrNameLst>
                                      </p:cBhvr>
                                      <p:to>
                                        <p:strVal val="visible"/>
                                      </p:to>
                                    </p:set>
                                    <p:animEffect filter="fade" transition="in">
                                      <p:cBhvr additive="repl">
                                        <p:cTn id="1314" dur="500"/>
                                        <p:tgtEl>
                                          <p:spTgt spid="449"/>
                                        </p:tgtEl>
                                      </p:cBhvr>
                                    </p:animEffect>
                                  </p:childTnLst>
                                </p:cTn>
                              </p:par>
                            </p:childTnLst>
                          </p:cTn>
                        </p:par>
                      </p:childTnLst>
                    </p:cTn>
                  </p:par>
                  <p:par>
                    <p:cTn id="1315" nodeType="clickEffect" fill="hold">
                      <p:stCondLst>
                        <p:cond delay="indefinite"/>
                      </p:stCondLst>
                      <p:childTnLst>
                        <p:par>
                          <p:cTn id="1316" nodeType="withEffect" fill="hold">
                            <p:stCondLst>
                              <p:cond delay="0"/>
                            </p:stCondLst>
                            <p:childTnLst>
                              <p:par>
                                <p:cTn id="1317" nodeType="clickEffect" fill="hold" presetClass="entr" presetID="22" presetSubtype="8">
                                  <p:stCondLst>
                                    <p:cond delay="0"/>
                                  </p:stCondLst>
                                  <p:childTnLst>
                                    <p:set>
                                      <p:cBhvr>
                                        <p:cTn id="1318" dur="1" fill="hold">
                                          <p:stCondLst>
                                            <p:cond delay="0"/>
                                          </p:stCondLst>
                                        </p:cTn>
                                        <p:tgtEl>
                                          <p:spTgt spid="447">
                                            <p:txEl>
                                              <p:pRg st="1" end="1"/>
                                            </p:txEl>
                                          </p:spTgt>
                                        </p:tgtEl>
                                        <p:attrNameLst>
                                          <p:attrName>style.visibility</p:attrName>
                                        </p:attrNameLst>
                                      </p:cBhvr>
                                      <p:to>
                                        <p:strVal val="visible"/>
                                      </p:to>
                                    </p:set>
                                    <p:animEffect filter="wipe(left)" transition="in">
                                      <p:cBhvr additive="repl">
                                        <p:cTn id="1319" dur="500"/>
                                        <p:tgtEl>
                                          <p:spTgt spid="447">
                                            <p:txEl>
                                              <p:pRg st="1" end="1"/>
                                            </p:txEl>
                                          </p:spTgt>
                                        </p:tgtEl>
                                      </p:cBhvr>
                                    </p:animEffect>
                                  </p:childTnLst>
                                </p:cTn>
                              </p:par>
                              <p:par>
                                <p:cTn id="1320" nodeType="withEffect" fill="hold" presetClass="entr" presetID="10">
                                  <p:stCondLst>
                                    <p:cond delay="0"/>
                                  </p:stCondLst>
                                  <p:childTnLst>
                                    <p:set>
                                      <p:cBhvr>
                                        <p:cTn id="1321" dur="1" fill="hold">
                                          <p:stCondLst>
                                            <p:cond delay="0"/>
                                          </p:stCondLst>
                                        </p:cTn>
                                        <p:tgtEl>
                                          <p:spTgt spid="450"/>
                                        </p:tgtEl>
                                        <p:attrNameLst>
                                          <p:attrName>style.visibility</p:attrName>
                                        </p:attrNameLst>
                                      </p:cBhvr>
                                      <p:to>
                                        <p:strVal val="visible"/>
                                      </p:to>
                                    </p:set>
                                    <p:animEffect filter="fade" transition="in">
                                      <p:cBhvr additive="repl">
                                        <p:cTn id="1322" dur="500"/>
                                        <p:tgtEl>
                                          <p:spTgt spid="450"/>
                                        </p:tgtEl>
                                      </p:cBhvr>
                                    </p:animEffect>
                                  </p:childTnLst>
                                </p:cTn>
                              </p:par>
                            </p:childTnLst>
                          </p:cTn>
                        </p:par>
                      </p:childTnLst>
                    </p:cTn>
                  </p:par>
                  <p:par>
                    <p:cTn id="1323" nodeType="clickEffect" fill="hold">
                      <p:stCondLst>
                        <p:cond delay="indefinite"/>
                      </p:stCondLst>
                      <p:childTnLst>
                        <p:par>
                          <p:cTn id="1324" nodeType="withEffect" fill="hold">
                            <p:stCondLst>
                              <p:cond delay="0"/>
                            </p:stCondLst>
                            <p:childTnLst>
                              <p:par>
                                <p:cTn id="1325" nodeType="clickEffect" fill="hold" presetClass="entr" presetID="22" presetSubtype="8">
                                  <p:stCondLst>
                                    <p:cond delay="0"/>
                                  </p:stCondLst>
                                  <p:childTnLst>
                                    <p:set>
                                      <p:cBhvr>
                                        <p:cTn id="1326" dur="1" fill="hold">
                                          <p:stCondLst>
                                            <p:cond delay="0"/>
                                          </p:stCondLst>
                                        </p:cTn>
                                        <p:tgtEl>
                                          <p:spTgt spid="447">
                                            <p:txEl>
                                              <p:pRg st="2" end="2"/>
                                            </p:txEl>
                                          </p:spTgt>
                                        </p:tgtEl>
                                        <p:attrNameLst>
                                          <p:attrName>style.visibility</p:attrName>
                                        </p:attrNameLst>
                                      </p:cBhvr>
                                      <p:to>
                                        <p:strVal val="visible"/>
                                      </p:to>
                                    </p:set>
                                    <p:animEffect filter="wipe(left)" transition="in">
                                      <p:cBhvr additive="repl">
                                        <p:cTn id="1327" dur="500"/>
                                        <p:tgtEl>
                                          <p:spTgt spid="447">
                                            <p:txEl>
                                              <p:pRg st="2" end="2"/>
                                            </p:txEl>
                                          </p:spTgt>
                                        </p:tgtEl>
                                      </p:cBhvr>
                                    </p:animEffect>
                                  </p:childTnLst>
                                </p:cTn>
                              </p:par>
                              <p:par>
                                <p:cTn id="1328" nodeType="withEffect" fill="hold" presetClass="entr" presetID="10">
                                  <p:stCondLst>
                                    <p:cond delay="0"/>
                                  </p:stCondLst>
                                  <p:childTnLst>
                                    <p:set>
                                      <p:cBhvr>
                                        <p:cTn id="1329" dur="1" fill="hold">
                                          <p:stCondLst>
                                            <p:cond delay="0"/>
                                          </p:stCondLst>
                                        </p:cTn>
                                        <p:tgtEl>
                                          <p:spTgt spid="451"/>
                                        </p:tgtEl>
                                        <p:attrNameLst>
                                          <p:attrName>style.visibility</p:attrName>
                                        </p:attrNameLst>
                                      </p:cBhvr>
                                      <p:to>
                                        <p:strVal val="visible"/>
                                      </p:to>
                                    </p:set>
                                    <p:animEffect filter="fade" transition="in">
                                      <p:cBhvr additive="repl">
                                        <p:cTn id="1330" dur="5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52" name="Picture 9" descr=""/>
          <p:cNvPicPr/>
          <p:nvPr/>
        </p:nvPicPr>
        <p:blipFill>
          <a:blip r:embed="rId1"/>
          <a:stretch/>
        </p:blipFill>
        <p:spPr>
          <a:xfrm>
            <a:off x="1728720" y="576360"/>
            <a:ext cx="5304960" cy="5600520"/>
          </a:xfrm>
          <a:prstGeom prst="rect">
            <a:avLst/>
          </a:prstGeom>
          <a:noFill/>
          <a:ln w="0">
            <a:noFill/>
          </a:ln>
        </p:spPr>
      </p:pic>
      <p:pic>
        <p:nvPicPr>
          <p:cNvPr id="453" name="Picture 17" descr=""/>
          <p:cNvPicPr/>
          <p:nvPr/>
        </p:nvPicPr>
        <p:blipFill>
          <a:blip r:embed="rId2"/>
          <a:stretch/>
        </p:blipFill>
        <p:spPr>
          <a:xfrm>
            <a:off x="1728720" y="576360"/>
            <a:ext cx="5304960" cy="5600520"/>
          </a:xfrm>
          <a:prstGeom prst="rect">
            <a:avLst/>
          </a:prstGeom>
          <a:noFill/>
          <a:ln w="0">
            <a:noFill/>
          </a:ln>
        </p:spPr>
      </p:pic>
      <p:pic>
        <p:nvPicPr>
          <p:cNvPr id="454" name="Picture 18" descr=""/>
          <p:cNvPicPr/>
          <p:nvPr/>
        </p:nvPicPr>
        <p:blipFill>
          <a:blip r:embed="rId3"/>
          <a:stretch/>
        </p:blipFill>
        <p:spPr>
          <a:xfrm>
            <a:off x="1728720" y="576360"/>
            <a:ext cx="5304960" cy="5600520"/>
          </a:xfrm>
          <a:prstGeom prst="rect">
            <a:avLst/>
          </a:prstGeom>
          <a:noFill/>
          <a:ln w="0">
            <a:noFill/>
          </a:ln>
        </p:spPr>
      </p:pic>
      <p:pic>
        <p:nvPicPr>
          <p:cNvPr id="455" name="Picture 19" descr=""/>
          <p:cNvPicPr/>
          <p:nvPr/>
        </p:nvPicPr>
        <p:blipFill>
          <a:blip r:embed="rId4"/>
          <a:stretch/>
        </p:blipFill>
        <p:spPr>
          <a:xfrm>
            <a:off x="1728720" y="576360"/>
            <a:ext cx="5304960" cy="5600520"/>
          </a:xfrm>
          <a:prstGeom prst="rect">
            <a:avLst/>
          </a:prstGeom>
          <a:noFill/>
          <a:ln w="0">
            <a:noFill/>
          </a:ln>
        </p:spPr>
      </p:pic>
      <p:pic>
        <p:nvPicPr>
          <p:cNvPr id="456" name="Picture 20" descr=""/>
          <p:cNvPicPr/>
          <p:nvPr/>
        </p:nvPicPr>
        <p:blipFill>
          <a:blip r:embed="rId5"/>
          <a:stretch/>
        </p:blipFill>
        <p:spPr>
          <a:xfrm>
            <a:off x="1728720" y="576360"/>
            <a:ext cx="5304960" cy="5600520"/>
          </a:xfrm>
          <a:prstGeom prst="rect">
            <a:avLst/>
          </a:prstGeom>
          <a:noFill/>
          <a:ln w="0">
            <a:noFill/>
          </a:ln>
        </p:spPr>
      </p:pic>
      <p:pic>
        <p:nvPicPr>
          <p:cNvPr id="457" name="Picture 21" descr=""/>
          <p:cNvPicPr/>
          <p:nvPr/>
        </p:nvPicPr>
        <p:blipFill>
          <a:blip r:embed="rId6"/>
          <a:stretch/>
        </p:blipFill>
        <p:spPr>
          <a:xfrm>
            <a:off x="1728720" y="576360"/>
            <a:ext cx="5304960" cy="5600520"/>
          </a:xfrm>
          <a:prstGeom prst="rect">
            <a:avLst/>
          </a:prstGeom>
          <a:noFill/>
          <a:ln w="0">
            <a:noFill/>
          </a:ln>
        </p:spPr>
      </p:pic>
      <p:pic>
        <p:nvPicPr>
          <p:cNvPr id="458" name="Picture 22" descr=""/>
          <p:cNvPicPr/>
          <p:nvPr/>
        </p:nvPicPr>
        <p:blipFill>
          <a:blip r:embed="rId7"/>
          <a:stretch/>
        </p:blipFill>
        <p:spPr>
          <a:xfrm>
            <a:off x="1728720" y="576360"/>
            <a:ext cx="5304960" cy="5600520"/>
          </a:xfrm>
          <a:prstGeom prst="rect">
            <a:avLst/>
          </a:prstGeom>
          <a:noFill/>
          <a:ln w="0">
            <a:noFill/>
          </a:ln>
        </p:spPr>
      </p:pic>
      <p:pic>
        <p:nvPicPr>
          <p:cNvPr id="459" name="Picture 23" descr=""/>
          <p:cNvPicPr/>
          <p:nvPr/>
        </p:nvPicPr>
        <p:blipFill>
          <a:blip r:embed="rId8"/>
          <a:stretch/>
        </p:blipFill>
        <p:spPr>
          <a:xfrm>
            <a:off x="1728720" y="576360"/>
            <a:ext cx="5304960" cy="5600520"/>
          </a:xfrm>
          <a:prstGeom prst="rect">
            <a:avLst/>
          </a:prstGeom>
          <a:noFill/>
          <a:ln w="0">
            <a:noFill/>
          </a:ln>
        </p:spPr>
      </p:pic>
    </p:spTree>
  </p:cSld>
  <p:transition spd="slow">
    <p:wipe dir="r"/>
  </p:transition>
  <p:timing>
    <p:tnLst>
      <p:par>
        <p:cTn id="1331" dur="indefinite" restart="never" nodeType="tmRoot">
          <p:childTnLst>
            <p:seq>
              <p:cTn id="1332" dur="indefinite" nodeType="mainSeq">
                <p:childTnLst>
                  <p:par>
                    <p:cTn id="1333" nodeType="clickEffect" fill="hold">
                      <p:stCondLst>
                        <p:cond delay="indefinite"/>
                      </p:stCondLst>
                      <p:childTnLst>
                        <p:par>
                          <p:cTn id="1334" nodeType="withEffect" fill="hold">
                            <p:stCondLst>
                              <p:cond delay="0"/>
                            </p:stCondLst>
                            <p:childTnLst>
                              <p:par>
                                <p:cTn id="1335" nodeType="clickEffect" fill="hold" presetClass="entr" presetID="10">
                                  <p:stCondLst>
                                    <p:cond delay="0"/>
                                  </p:stCondLst>
                                  <p:childTnLst>
                                    <p:set>
                                      <p:cBhvr>
                                        <p:cTn id="1336" dur="1" fill="hold">
                                          <p:stCondLst>
                                            <p:cond delay="0"/>
                                          </p:stCondLst>
                                        </p:cTn>
                                        <p:tgtEl>
                                          <p:spTgt spid="453"/>
                                        </p:tgtEl>
                                        <p:attrNameLst>
                                          <p:attrName>style.visibility</p:attrName>
                                        </p:attrNameLst>
                                      </p:cBhvr>
                                      <p:to>
                                        <p:strVal val="visible"/>
                                      </p:to>
                                    </p:set>
                                    <p:animEffect filter="fade" transition="in">
                                      <p:cBhvr additive="repl">
                                        <p:cTn id="1337" dur="500"/>
                                        <p:tgtEl>
                                          <p:spTgt spid="453"/>
                                        </p:tgtEl>
                                      </p:cBhvr>
                                    </p:animEffect>
                                  </p:childTnLst>
                                </p:cTn>
                              </p:par>
                            </p:childTnLst>
                          </p:cTn>
                        </p:par>
                      </p:childTnLst>
                    </p:cTn>
                  </p:par>
                  <p:par>
                    <p:cTn id="1338" nodeType="clickEffect" fill="hold">
                      <p:stCondLst>
                        <p:cond delay="indefinite"/>
                      </p:stCondLst>
                      <p:childTnLst>
                        <p:par>
                          <p:cTn id="1339" nodeType="withEffect" fill="hold">
                            <p:stCondLst>
                              <p:cond delay="0"/>
                            </p:stCondLst>
                            <p:childTnLst>
                              <p:par>
                                <p:cTn id="1340" nodeType="clickEffect" fill="hold" presetClass="entr" presetID="10">
                                  <p:stCondLst>
                                    <p:cond delay="0"/>
                                  </p:stCondLst>
                                  <p:childTnLst>
                                    <p:set>
                                      <p:cBhvr>
                                        <p:cTn id="1341" dur="1" fill="hold">
                                          <p:stCondLst>
                                            <p:cond delay="0"/>
                                          </p:stCondLst>
                                        </p:cTn>
                                        <p:tgtEl>
                                          <p:spTgt spid="454"/>
                                        </p:tgtEl>
                                        <p:attrNameLst>
                                          <p:attrName>style.visibility</p:attrName>
                                        </p:attrNameLst>
                                      </p:cBhvr>
                                      <p:to>
                                        <p:strVal val="visible"/>
                                      </p:to>
                                    </p:set>
                                    <p:animEffect filter="fade" transition="in">
                                      <p:cBhvr additive="repl">
                                        <p:cTn id="1342" dur="500"/>
                                        <p:tgtEl>
                                          <p:spTgt spid="454"/>
                                        </p:tgtEl>
                                      </p:cBhvr>
                                    </p:animEffect>
                                  </p:childTnLst>
                                </p:cTn>
                              </p:par>
                            </p:childTnLst>
                          </p:cTn>
                        </p:par>
                      </p:childTnLst>
                    </p:cTn>
                  </p:par>
                  <p:par>
                    <p:cTn id="1343" nodeType="clickEffect" fill="hold">
                      <p:stCondLst>
                        <p:cond delay="indefinite"/>
                      </p:stCondLst>
                      <p:childTnLst>
                        <p:par>
                          <p:cTn id="1344" nodeType="withEffect" fill="hold">
                            <p:stCondLst>
                              <p:cond delay="0"/>
                            </p:stCondLst>
                            <p:childTnLst>
                              <p:par>
                                <p:cTn id="1345" nodeType="clickEffect" fill="hold" presetClass="entr" presetID="10">
                                  <p:stCondLst>
                                    <p:cond delay="0"/>
                                  </p:stCondLst>
                                  <p:childTnLst>
                                    <p:set>
                                      <p:cBhvr>
                                        <p:cTn id="1346" dur="1" fill="hold">
                                          <p:stCondLst>
                                            <p:cond delay="0"/>
                                          </p:stCondLst>
                                        </p:cTn>
                                        <p:tgtEl>
                                          <p:spTgt spid="455"/>
                                        </p:tgtEl>
                                        <p:attrNameLst>
                                          <p:attrName>style.visibility</p:attrName>
                                        </p:attrNameLst>
                                      </p:cBhvr>
                                      <p:to>
                                        <p:strVal val="visible"/>
                                      </p:to>
                                    </p:set>
                                    <p:animEffect filter="fade" transition="in">
                                      <p:cBhvr additive="repl">
                                        <p:cTn id="1347" dur="500"/>
                                        <p:tgtEl>
                                          <p:spTgt spid="455"/>
                                        </p:tgtEl>
                                      </p:cBhvr>
                                    </p:animEffect>
                                  </p:childTnLst>
                                </p:cTn>
                              </p:par>
                            </p:childTnLst>
                          </p:cTn>
                        </p:par>
                      </p:childTnLst>
                    </p:cTn>
                  </p:par>
                  <p:par>
                    <p:cTn id="1348" nodeType="clickEffect" fill="hold">
                      <p:stCondLst>
                        <p:cond delay="indefinite"/>
                      </p:stCondLst>
                      <p:childTnLst>
                        <p:par>
                          <p:cTn id="1349" nodeType="withEffect" fill="hold">
                            <p:stCondLst>
                              <p:cond delay="0"/>
                            </p:stCondLst>
                            <p:childTnLst>
                              <p:par>
                                <p:cTn id="1350" nodeType="clickEffect" fill="hold" presetClass="entr" presetID="10">
                                  <p:stCondLst>
                                    <p:cond delay="0"/>
                                  </p:stCondLst>
                                  <p:childTnLst>
                                    <p:set>
                                      <p:cBhvr>
                                        <p:cTn id="1351" dur="1" fill="hold">
                                          <p:stCondLst>
                                            <p:cond delay="0"/>
                                          </p:stCondLst>
                                        </p:cTn>
                                        <p:tgtEl>
                                          <p:spTgt spid="456"/>
                                        </p:tgtEl>
                                        <p:attrNameLst>
                                          <p:attrName>style.visibility</p:attrName>
                                        </p:attrNameLst>
                                      </p:cBhvr>
                                      <p:to>
                                        <p:strVal val="visible"/>
                                      </p:to>
                                    </p:set>
                                    <p:animEffect filter="fade" transition="in">
                                      <p:cBhvr additive="repl">
                                        <p:cTn id="1352" dur="500"/>
                                        <p:tgtEl>
                                          <p:spTgt spid="456"/>
                                        </p:tgtEl>
                                      </p:cBhvr>
                                    </p:animEffect>
                                  </p:childTnLst>
                                </p:cTn>
                              </p:par>
                            </p:childTnLst>
                          </p:cTn>
                        </p:par>
                      </p:childTnLst>
                    </p:cTn>
                  </p:par>
                  <p:par>
                    <p:cTn id="1353" nodeType="clickEffect" fill="hold">
                      <p:stCondLst>
                        <p:cond delay="indefinite"/>
                      </p:stCondLst>
                      <p:childTnLst>
                        <p:par>
                          <p:cTn id="1354" nodeType="withEffect" fill="hold">
                            <p:stCondLst>
                              <p:cond delay="0"/>
                            </p:stCondLst>
                            <p:childTnLst>
                              <p:par>
                                <p:cTn id="1355" nodeType="clickEffect" fill="hold" presetClass="entr" presetID="10">
                                  <p:stCondLst>
                                    <p:cond delay="0"/>
                                  </p:stCondLst>
                                  <p:childTnLst>
                                    <p:set>
                                      <p:cBhvr>
                                        <p:cTn id="1356" dur="1" fill="hold">
                                          <p:stCondLst>
                                            <p:cond delay="0"/>
                                          </p:stCondLst>
                                        </p:cTn>
                                        <p:tgtEl>
                                          <p:spTgt spid="457"/>
                                        </p:tgtEl>
                                        <p:attrNameLst>
                                          <p:attrName>style.visibility</p:attrName>
                                        </p:attrNameLst>
                                      </p:cBhvr>
                                      <p:to>
                                        <p:strVal val="visible"/>
                                      </p:to>
                                    </p:set>
                                    <p:animEffect filter="fade" transition="in">
                                      <p:cBhvr additive="repl">
                                        <p:cTn id="1357" dur="500"/>
                                        <p:tgtEl>
                                          <p:spTgt spid="457"/>
                                        </p:tgtEl>
                                      </p:cBhvr>
                                    </p:animEffect>
                                  </p:childTnLst>
                                </p:cTn>
                              </p:par>
                            </p:childTnLst>
                          </p:cTn>
                        </p:par>
                      </p:childTnLst>
                    </p:cTn>
                  </p:par>
                  <p:par>
                    <p:cTn id="1358" nodeType="clickEffect" fill="hold">
                      <p:stCondLst>
                        <p:cond delay="indefinite"/>
                      </p:stCondLst>
                      <p:childTnLst>
                        <p:par>
                          <p:cTn id="1359" nodeType="withEffect" fill="hold">
                            <p:stCondLst>
                              <p:cond delay="0"/>
                            </p:stCondLst>
                            <p:childTnLst>
                              <p:par>
                                <p:cTn id="1360" nodeType="clickEffect" fill="hold" presetClass="entr" presetID="10">
                                  <p:stCondLst>
                                    <p:cond delay="0"/>
                                  </p:stCondLst>
                                  <p:childTnLst>
                                    <p:set>
                                      <p:cBhvr>
                                        <p:cTn id="1361" dur="1" fill="hold">
                                          <p:stCondLst>
                                            <p:cond delay="0"/>
                                          </p:stCondLst>
                                        </p:cTn>
                                        <p:tgtEl>
                                          <p:spTgt spid="458"/>
                                        </p:tgtEl>
                                        <p:attrNameLst>
                                          <p:attrName>style.visibility</p:attrName>
                                        </p:attrNameLst>
                                      </p:cBhvr>
                                      <p:to>
                                        <p:strVal val="visible"/>
                                      </p:to>
                                    </p:set>
                                    <p:animEffect filter="fade" transition="in">
                                      <p:cBhvr additive="repl">
                                        <p:cTn id="1362" dur="500"/>
                                        <p:tgtEl>
                                          <p:spTgt spid="458"/>
                                        </p:tgtEl>
                                      </p:cBhvr>
                                    </p:animEffect>
                                  </p:childTnLst>
                                </p:cTn>
                              </p:par>
                            </p:childTnLst>
                          </p:cTn>
                        </p:par>
                      </p:childTnLst>
                    </p:cTn>
                  </p:par>
                  <p:par>
                    <p:cTn id="1363" nodeType="clickEffect" fill="hold">
                      <p:stCondLst>
                        <p:cond delay="indefinite"/>
                      </p:stCondLst>
                      <p:childTnLst>
                        <p:par>
                          <p:cTn id="1364" nodeType="withEffect" fill="hold">
                            <p:stCondLst>
                              <p:cond delay="0"/>
                            </p:stCondLst>
                            <p:childTnLst>
                              <p:par>
                                <p:cTn id="1365" nodeType="clickEffect" fill="hold" presetClass="entr" presetID="10">
                                  <p:stCondLst>
                                    <p:cond delay="0"/>
                                  </p:stCondLst>
                                  <p:childTnLst>
                                    <p:set>
                                      <p:cBhvr>
                                        <p:cTn id="1366" dur="1" fill="hold">
                                          <p:stCondLst>
                                            <p:cond delay="0"/>
                                          </p:stCondLst>
                                        </p:cTn>
                                        <p:tgtEl>
                                          <p:spTgt spid="459"/>
                                        </p:tgtEl>
                                        <p:attrNameLst>
                                          <p:attrName>style.visibility</p:attrName>
                                        </p:attrNameLst>
                                      </p:cBhvr>
                                      <p:to>
                                        <p:strVal val="visible"/>
                                      </p:to>
                                    </p:set>
                                    <p:animEffect filter="fade" transition="in">
                                      <p:cBhvr additive="repl">
                                        <p:cTn id="1367"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61" name="PlaceHolder 2"/>
          <p:cNvSpPr>
            <a:spLocks noGrp="1"/>
          </p:cNvSpPr>
          <p:nvPr>
            <p:ph/>
          </p:nvPr>
        </p:nvSpPr>
        <p:spPr>
          <a:xfrm>
            <a:off x="360360" y="1440000"/>
            <a:ext cx="3830400" cy="464796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marginal benefit equals marginal cost</a:t>
            </a:r>
            <a:endParaRPr b="1" lang="en-CA" sz="2400" strike="noStrike" u="none">
              <a:solidFill>
                <a:srgbClr val="00468f"/>
              </a:solidFill>
              <a:effectLst/>
              <a:uFillTx/>
              <a:latin typeface="Arial"/>
            </a:endParaRPr>
          </a:p>
          <a:p>
            <a:pPr lvl="1" marL="358920" indent="-324000">
              <a:lnSpc>
                <a:spcPct val="100000"/>
              </a:lnSpc>
              <a:spcBef>
                <a:spcPts val="601"/>
              </a:spcBef>
              <a:spcAft>
                <a:spcPts val="601"/>
              </a:spcAft>
              <a:buClr>
                <a:srgbClr val="000000"/>
              </a:buClr>
              <a:buFont typeface="Arial"/>
              <a:buAutoNum type="arabicPeriod" startAt="4"/>
            </a:pPr>
            <a:r>
              <a:rPr b="0" lang="en-US" sz="2400" strike="noStrike" u="none">
                <a:solidFill>
                  <a:schemeClr val="dk1"/>
                </a:solidFill>
                <a:effectLst/>
                <a:uFillTx/>
                <a:latin typeface="Arial"/>
                <a:ea typeface="ＭＳ Ｐゴシック"/>
              </a:rPr>
              <a:t>Efficient quantity is produced.</a:t>
            </a:r>
            <a:endParaRPr b="0" lang="en-CA" sz="2400" strike="noStrike" u="none">
              <a:solidFill>
                <a:schemeClr val="dk1"/>
              </a:solidFill>
              <a:effectLst/>
              <a:uFillTx/>
              <a:latin typeface="Arial"/>
            </a:endParaRPr>
          </a:p>
          <a:p>
            <a:pPr lvl="1" marL="358920" indent="-324000">
              <a:lnSpc>
                <a:spcPct val="100000"/>
              </a:lnSpc>
              <a:spcBef>
                <a:spcPts val="601"/>
              </a:spcBef>
              <a:spcAft>
                <a:spcPts val="601"/>
              </a:spcAft>
              <a:buClr>
                <a:srgbClr val="000000"/>
              </a:buClr>
              <a:buFont typeface="Arial"/>
              <a:buAutoNum type="arabicPeriod" startAt="4"/>
            </a:pPr>
            <a:r>
              <a:rPr b="0" lang="en-US" sz="2400" strike="noStrike" u="none">
                <a:solidFill>
                  <a:schemeClr val="dk1"/>
                </a:solidFill>
                <a:effectLst/>
                <a:uFillTx/>
                <a:latin typeface="Arial"/>
                <a:ea typeface="ＭＳ Ｐゴシック"/>
              </a:rPr>
              <a:t>Total surplus (sum of consumer surplus and producer surplus) is maximized.</a:t>
            </a:r>
            <a:endParaRPr b="0" lang="en-CA" sz="2400" strike="noStrike" u="none">
              <a:solidFill>
                <a:schemeClr val="dk1"/>
              </a:solidFill>
              <a:effectLst/>
              <a:uFillTx/>
              <a:latin typeface="Arial"/>
            </a:endParaRPr>
          </a:p>
        </p:txBody>
      </p:sp>
      <p:pic>
        <p:nvPicPr>
          <p:cNvPr id="462" name="Picture 13" descr=""/>
          <p:cNvPicPr/>
          <p:nvPr/>
        </p:nvPicPr>
        <p:blipFill>
          <a:blip r:embed="rId1"/>
          <a:stretch/>
        </p:blipFill>
        <p:spPr>
          <a:xfrm>
            <a:off x="4319640" y="1476360"/>
            <a:ext cx="4509720" cy="4760640"/>
          </a:xfrm>
          <a:prstGeom prst="rect">
            <a:avLst/>
          </a:prstGeom>
          <a:noFill/>
          <a:ln w="0">
            <a:noFill/>
          </a:ln>
        </p:spPr>
      </p:pic>
      <p:pic>
        <p:nvPicPr>
          <p:cNvPr id="463" name="Picture 14" descr=""/>
          <p:cNvPicPr/>
          <p:nvPr/>
        </p:nvPicPr>
        <p:blipFill>
          <a:blip r:embed="rId2"/>
          <a:stretch/>
        </p:blipFill>
        <p:spPr>
          <a:xfrm>
            <a:off x="4319640" y="1476360"/>
            <a:ext cx="4509720" cy="4760640"/>
          </a:xfrm>
          <a:prstGeom prst="rect">
            <a:avLst/>
          </a:prstGeom>
          <a:noFill/>
          <a:ln w="0">
            <a:noFill/>
          </a:ln>
        </p:spPr>
      </p:pic>
      <p:pic>
        <p:nvPicPr>
          <p:cNvPr id="464" name="Picture 15" descr=""/>
          <p:cNvPicPr/>
          <p:nvPr/>
        </p:nvPicPr>
        <p:blipFill>
          <a:blip r:embed="rId3"/>
          <a:stretch/>
        </p:blipFill>
        <p:spPr>
          <a:xfrm>
            <a:off x="4319640" y="1476360"/>
            <a:ext cx="4509720" cy="4760640"/>
          </a:xfrm>
          <a:prstGeom prst="rect">
            <a:avLst/>
          </a:prstGeom>
          <a:noFill/>
          <a:ln w="0">
            <a:noFill/>
          </a:ln>
        </p:spPr>
      </p:pic>
      <p:pic>
        <p:nvPicPr>
          <p:cNvPr id="465" name="Picture 16" descr=""/>
          <p:cNvPicPr/>
          <p:nvPr/>
        </p:nvPicPr>
        <p:blipFill>
          <a:blip r:embed="rId4"/>
          <a:stretch/>
        </p:blipFill>
        <p:spPr>
          <a:xfrm>
            <a:off x="4319640" y="1476360"/>
            <a:ext cx="4509720" cy="4760640"/>
          </a:xfrm>
          <a:prstGeom prst="rect">
            <a:avLst/>
          </a:prstGeom>
          <a:noFill/>
          <a:ln w="0">
            <a:noFill/>
          </a:ln>
        </p:spPr>
      </p:pic>
      <p:pic>
        <p:nvPicPr>
          <p:cNvPr id="466" name="Picture 17" descr=""/>
          <p:cNvPicPr/>
          <p:nvPr/>
        </p:nvPicPr>
        <p:blipFill>
          <a:blip r:embed="rId5"/>
          <a:stretch/>
        </p:blipFill>
        <p:spPr>
          <a:xfrm>
            <a:off x="4319640" y="1476360"/>
            <a:ext cx="4509720" cy="4760640"/>
          </a:xfrm>
          <a:prstGeom prst="rect">
            <a:avLst/>
          </a:prstGeom>
          <a:noFill/>
          <a:ln w="0">
            <a:noFill/>
          </a:ln>
        </p:spPr>
      </p:pic>
      <p:pic>
        <p:nvPicPr>
          <p:cNvPr id="467" name="Picture 18" descr=""/>
          <p:cNvPicPr/>
          <p:nvPr/>
        </p:nvPicPr>
        <p:blipFill>
          <a:blip r:embed="rId6"/>
          <a:stretch/>
        </p:blipFill>
        <p:spPr>
          <a:xfrm>
            <a:off x="4319640" y="1476360"/>
            <a:ext cx="4509720" cy="4760640"/>
          </a:xfrm>
          <a:prstGeom prst="rect">
            <a:avLst/>
          </a:prstGeom>
          <a:noFill/>
          <a:ln w="0">
            <a:noFill/>
          </a:ln>
        </p:spPr>
      </p:pic>
      <p:pic>
        <p:nvPicPr>
          <p:cNvPr id="468" name="Picture 23" descr=""/>
          <p:cNvPicPr/>
          <p:nvPr/>
        </p:nvPicPr>
        <p:blipFill>
          <a:blip r:embed="rId7"/>
          <a:stretch/>
        </p:blipFill>
        <p:spPr>
          <a:xfrm>
            <a:off x="4319640" y="1476360"/>
            <a:ext cx="4509720" cy="4760640"/>
          </a:xfrm>
          <a:prstGeom prst="rect">
            <a:avLst/>
          </a:prstGeom>
          <a:noFill/>
          <a:ln w="0">
            <a:noFill/>
          </a:ln>
        </p:spPr>
      </p:pic>
      <p:pic>
        <p:nvPicPr>
          <p:cNvPr id="469" name="Picture 24" descr=""/>
          <p:cNvPicPr/>
          <p:nvPr/>
        </p:nvPicPr>
        <p:blipFill>
          <a:blip r:embed="rId8"/>
          <a:stretch/>
        </p:blipFill>
        <p:spPr>
          <a:xfrm>
            <a:off x="4319640" y="1476360"/>
            <a:ext cx="4509720" cy="4760640"/>
          </a:xfrm>
          <a:prstGeom prst="rect">
            <a:avLst/>
          </a:prstGeom>
          <a:noFill/>
          <a:ln w="0">
            <a:noFill/>
          </a:ln>
        </p:spPr>
      </p:pic>
    </p:spTree>
  </p:cSld>
  <p:transition spd="slow">
    <p:wipe dir="r"/>
  </p:transition>
  <p:timing>
    <p:tnLst>
      <p:par>
        <p:cTn id="1368" dur="indefinite" restart="never" nodeType="tmRoot">
          <p:childTnLst>
            <p:seq>
              <p:cTn id="1369" dur="indefinite" nodeType="mainSeq">
                <p:childTnLst>
                  <p:par>
                    <p:cTn id="1370" nodeType="clickEffect" fill="hold">
                      <p:stCondLst>
                        <p:cond delay="indefinite"/>
                      </p:stCondLst>
                      <p:childTnLst>
                        <p:par>
                          <p:cTn id="1371" nodeType="withEffect" fill="hold">
                            <p:stCondLst>
                              <p:cond delay="0"/>
                            </p:stCondLst>
                            <p:childTnLst>
                              <p:par>
                                <p:cTn id="1372" nodeType="clickEffect" fill="hold" presetClass="entr" presetID="22" presetSubtype="8">
                                  <p:stCondLst>
                                    <p:cond delay="0"/>
                                  </p:stCondLst>
                                  <p:childTnLst>
                                    <p:set>
                                      <p:cBhvr>
                                        <p:cTn id="1373" dur="1" fill="hold">
                                          <p:stCondLst>
                                            <p:cond delay="0"/>
                                          </p:stCondLst>
                                        </p:cTn>
                                        <p:tgtEl>
                                          <p:spTgt spid="461">
                                            <p:txEl>
                                              <p:pRg st="1" end="1"/>
                                            </p:txEl>
                                          </p:spTgt>
                                        </p:tgtEl>
                                        <p:attrNameLst>
                                          <p:attrName>style.visibility</p:attrName>
                                        </p:attrNameLst>
                                      </p:cBhvr>
                                      <p:to>
                                        <p:strVal val="visible"/>
                                      </p:to>
                                    </p:set>
                                    <p:animEffect filter="wipe(left)" transition="in">
                                      <p:cBhvr additive="repl">
                                        <p:cTn id="1374" dur="500"/>
                                        <p:tgtEl>
                                          <p:spTgt spid="461">
                                            <p:txEl>
                                              <p:pRg st="1" end="1"/>
                                            </p:txEl>
                                          </p:spTgt>
                                        </p:tgtEl>
                                      </p:cBhvr>
                                    </p:animEffect>
                                  </p:childTnLst>
                                </p:cTn>
                              </p:par>
                              <p:par>
                                <p:cTn id="1375" nodeType="withEffect" fill="hold" presetClass="entr" presetID="10">
                                  <p:stCondLst>
                                    <p:cond delay="0"/>
                                  </p:stCondLst>
                                  <p:childTnLst>
                                    <p:set>
                                      <p:cBhvr>
                                        <p:cTn id="1376" dur="1" fill="hold">
                                          <p:stCondLst>
                                            <p:cond delay="0"/>
                                          </p:stCondLst>
                                        </p:cTn>
                                        <p:tgtEl>
                                          <p:spTgt spid="466"/>
                                        </p:tgtEl>
                                        <p:attrNameLst>
                                          <p:attrName>style.visibility</p:attrName>
                                        </p:attrNameLst>
                                      </p:cBhvr>
                                      <p:to>
                                        <p:strVal val="visible"/>
                                      </p:to>
                                    </p:set>
                                    <p:animEffect filter="fade" transition="in">
                                      <p:cBhvr additive="repl">
                                        <p:cTn id="1377" dur="500"/>
                                        <p:tgtEl>
                                          <p:spTgt spid="466"/>
                                        </p:tgtEl>
                                      </p:cBhvr>
                                    </p:animEffect>
                                  </p:childTnLst>
                                </p:cTn>
                              </p:par>
                            </p:childTnLst>
                          </p:cTn>
                        </p:par>
                      </p:childTnLst>
                    </p:cTn>
                  </p:par>
                  <p:par>
                    <p:cTn id="1378" nodeType="clickEffect" fill="hold">
                      <p:stCondLst>
                        <p:cond delay="indefinite"/>
                      </p:stCondLst>
                      <p:childTnLst>
                        <p:par>
                          <p:cTn id="1379" nodeType="withEffect" fill="hold">
                            <p:stCondLst>
                              <p:cond delay="0"/>
                            </p:stCondLst>
                            <p:childTnLst>
                              <p:par>
                                <p:cTn id="1380" nodeType="clickEffect" fill="hold" presetClass="entr" presetID="22" presetSubtype="8">
                                  <p:stCondLst>
                                    <p:cond delay="0"/>
                                  </p:stCondLst>
                                  <p:childTnLst>
                                    <p:set>
                                      <p:cBhvr>
                                        <p:cTn id="1381" dur="1" fill="hold">
                                          <p:stCondLst>
                                            <p:cond delay="0"/>
                                          </p:stCondLst>
                                        </p:cTn>
                                        <p:tgtEl>
                                          <p:spTgt spid="461">
                                            <p:txEl>
                                              <p:pRg st="2" end="2"/>
                                            </p:txEl>
                                          </p:spTgt>
                                        </p:tgtEl>
                                        <p:attrNameLst>
                                          <p:attrName>style.visibility</p:attrName>
                                        </p:attrNameLst>
                                      </p:cBhvr>
                                      <p:to>
                                        <p:strVal val="visible"/>
                                      </p:to>
                                    </p:set>
                                    <p:animEffect filter="wipe(left)" transition="in">
                                      <p:cBhvr additive="repl">
                                        <p:cTn id="1382" dur="500"/>
                                        <p:tgtEl>
                                          <p:spTgt spid="461">
                                            <p:txEl>
                                              <p:pRg st="2" end="2"/>
                                            </p:txEl>
                                          </p:spTgt>
                                        </p:tgtEl>
                                      </p:cBhvr>
                                    </p:animEffect>
                                  </p:childTnLst>
                                </p:cTn>
                              </p:par>
                              <p:par>
                                <p:cTn id="1383" nodeType="withEffect" fill="hold" presetClass="entr" presetID="10">
                                  <p:stCondLst>
                                    <p:cond delay="0"/>
                                  </p:stCondLst>
                                  <p:childTnLst>
                                    <p:set>
                                      <p:cBhvr>
                                        <p:cTn id="1384" dur="1" fill="hold">
                                          <p:stCondLst>
                                            <p:cond delay="0"/>
                                          </p:stCondLst>
                                        </p:cTn>
                                        <p:tgtEl>
                                          <p:spTgt spid="467"/>
                                        </p:tgtEl>
                                        <p:attrNameLst>
                                          <p:attrName>style.visibility</p:attrName>
                                        </p:attrNameLst>
                                      </p:cBhvr>
                                      <p:to>
                                        <p:strVal val="visible"/>
                                      </p:to>
                                    </p:set>
                                    <p:animEffect filter="fade" transition="in">
                                      <p:cBhvr additive="repl">
                                        <p:cTn id="1385" dur="500"/>
                                        <p:tgtEl>
                                          <p:spTgt spid="467"/>
                                        </p:tgtEl>
                                      </p:cBhvr>
                                    </p:animEffect>
                                  </p:childTnLst>
                                </p:cTn>
                              </p:par>
                              <p:par>
                                <p:cTn id="1386" nodeType="withEffect" fill="hold" presetClass="entr" presetID="10">
                                  <p:stCondLst>
                                    <p:cond delay="700"/>
                                  </p:stCondLst>
                                  <p:childTnLst>
                                    <p:set>
                                      <p:cBhvr>
                                        <p:cTn id="1387" dur="1" fill="hold">
                                          <p:stCondLst>
                                            <p:cond delay="0"/>
                                          </p:stCondLst>
                                        </p:cTn>
                                        <p:tgtEl>
                                          <p:spTgt spid="468"/>
                                        </p:tgtEl>
                                        <p:attrNameLst>
                                          <p:attrName>style.visibility</p:attrName>
                                        </p:attrNameLst>
                                      </p:cBhvr>
                                      <p:to>
                                        <p:strVal val="visible"/>
                                      </p:to>
                                    </p:set>
                                    <p:animEffect filter="fade" transition="in">
                                      <p:cBhvr additive="repl">
                                        <p:cTn id="1388" dur="500"/>
                                        <p:tgtEl>
                                          <p:spTgt spid="468"/>
                                        </p:tgtEl>
                                      </p:cBhvr>
                                    </p:animEffect>
                                  </p:childTnLst>
                                </p:cTn>
                              </p:par>
                              <p:par>
                                <p:cTn id="1389" nodeType="withEffect" fill="hold" presetClass="entr" presetID="10">
                                  <p:stCondLst>
                                    <p:cond delay="1300"/>
                                  </p:stCondLst>
                                  <p:childTnLst>
                                    <p:set>
                                      <p:cBhvr>
                                        <p:cTn id="1390" dur="1" fill="hold">
                                          <p:stCondLst>
                                            <p:cond delay="0"/>
                                          </p:stCondLst>
                                        </p:cTn>
                                        <p:tgtEl>
                                          <p:spTgt spid="469"/>
                                        </p:tgtEl>
                                        <p:attrNameLst>
                                          <p:attrName>style.visibility</p:attrName>
                                        </p:attrNameLst>
                                      </p:cBhvr>
                                      <p:to>
                                        <p:strVal val="visible"/>
                                      </p:to>
                                    </p:set>
                                    <p:animEffect filter="fade" transition="in">
                                      <p:cBhvr additive="repl">
                                        <p:cTn id="1391" dur="5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7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Is Perfect Competition Fair?</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Perfect competition places no restrictions on anyone’s actions</a:t>
            </a:r>
            <a:r>
              <a:rPr b="0" lang="en-US" sz="2400" strike="noStrike" u="none">
                <a:solidFill>
                  <a:srgbClr val="000000"/>
                </a:solidFill>
                <a:effectLst/>
                <a:uFillTx/>
                <a:latin typeface="Arial"/>
                <a:ea typeface="ＭＳ Ｐゴシック"/>
              </a:rPr>
              <a:t>—</a:t>
            </a:r>
            <a:r>
              <a:rPr b="0" lang="en-US" sz="2400" strike="noStrike" u="none">
                <a:solidFill>
                  <a:schemeClr val="dk1"/>
                </a:solidFill>
                <a:effectLst/>
                <a:uFillTx/>
                <a:latin typeface="Arial"/>
                <a:ea typeface="ＭＳ Ｐゴシック"/>
              </a:rPr>
              <a:t>everyone is free to try to make an economic profit.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process of competition eliminates economic profit and brings maximum attainable benefit to consumers.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Fairness as equality of opportunity and fairness as equality of outcomes are achieved in long-run equilibrium.</a:t>
            </a:r>
            <a:endParaRPr b="1" lang="en-CA" sz="2400" strike="noStrike" u="none">
              <a:solidFill>
                <a:srgbClr val="00468f"/>
              </a:solidFill>
              <a:effectLst/>
              <a:uFillTx/>
              <a:latin typeface="Arial"/>
            </a:endParaRPr>
          </a:p>
        </p:txBody>
      </p:sp>
    </p:spTree>
  </p:cSld>
  <p:transition spd="slow">
    <p:wipe dir="r"/>
  </p:transition>
  <p:timing>
    <p:tnLst>
      <p:par>
        <p:cTn id="1392" dur="indefinite" restart="never" nodeType="tmRoot">
          <p:childTnLst>
            <p:seq>
              <p:cTn id="1393" dur="indefinite" nodeType="mainSeq">
                <p:childTnLst>
                  <p:par>
                    <p:cTn id="1394" nodeType="clickEffect" fill="hold">
                      <p:stCondLst>
                        <p:cond delay="indefinite"/>
                      </p:stCondLst>
                      <p:childTnLst>
                        <p:par>
                          <p:cTn id="1395" nodeType="withEffect" fill="hold">
                            <p:stCondLst>
                              <p:cond delay="0"/>
                            </p:stCondLst>
                            <p:childTnLst>
                              <p:par>
                                <p:cTn id="1396" nodeType="clickEffect" fill="hold" presetClass="entr" presetID="22" presetSubtype="8">
                                  <p:stCondLst>
                                    <p:cond delay="0"/>
                                  </p:stCondLst>
                                  <p:childTnLst>
                                    <p:set>
                                      <p:cBhvr>
                                        <p:cTn id="1397" dur="1" fill="hold">
                                          <p:stCondLst>
                                            <p:cond delay="0"/>
                                          </p:stCondLst>
                                        </p:cTn>
                                        <p:tgtEl>
                                          <p:spTgt spid="471">
                                            <p:txEl>
                                              <p:pRg st="1" end="1"/>
                                            </p:txEl>
                                          </p:spTgt>
                                        </p:tgtEl>
                                        <p:attrNameLst>
                                          <p:attrName>style.visibility</p:attrName>
                                        </p:attrNameLst>
                                      </p:cBhvr>
                                      <p:to>
                                        <p:strVal val="visible"/>
                                      </p:to>
                                    </p:set>
                                    <p:animEffect filter="wipe(left)" transition="in">
                                      <p:cBhvr additive="repl">
                                        <p:cTn id="1398" dur="500"/>
                                        <p:tgtEl>
                                          <p:spTgt spid="471">
                                            <p:txEl>
                                              <p:pRg st="1" end="1"/>
                                            </p:txEl>
                                          </p:spTgt>
                                        </p:tgtEl>
                                      </p:cBhvr>
                                    </p:animEffect>
                                  </p:childTnLst>
                                </p:cTn>
                              </p:par>
                            </p:childTnLst>
                          </p:cTn>
                        </p:par>
                      </p:childTnLst>
                    </p:cTn>
                  </p:par>
                  <p:par>
                    <p:cTn id="1399" nodeType="clickEffect" fill="hold">
                      <p:stCondLst>
                        <p:cond delay="indefinite"/>
                      </p:stCondLst>
                      <p:childTnLst>
                        <p:par>
                          <p:cTn id="1400" nodeType="withEffect" fill="hold">
                            <p:stCondLst>
                              <p:cond delay="0"/>
                            </p:stCondLst>
                            <p:childTnLst>
                              <p:par>
                                <p:cTn id="1401" nodeType="clickEffect" fill="hold" presetClass="entr" presetID="22" presetSubtype="8">
                                  <p:stCondLst>
                                    <p:cond delay="0"/>
                                  </p:stCondLst>
                                  <p:childTnLst>
                                    <p:set>
                                      <p:cBhvr>
                                        <p:cTn id="1402" dur="1" fill="hold">
                                          <p:stCondLst>
                                            <p:cond delay="0"/>
                                          </p:stCondLst>
                                        </p:cTn>
                                        <p:tgtEl>
                                          <p:spTgt spid="471">
                                            <p:txEl>
                                              <p:pRg st="2" end="2"/>
                                            </p:txEl>
                                          </p:spTgt>
                                        </p:tgtEl>
                                        <p:attrNameLst>
                                          <p:attrName>style.visibility</p:attrName>
                                        </p:attrNameLst>
                                      </p:cBhvr>
                                      <p:to>
                                        <p:strVal val="visible"/>
                                      </p:to>
                                    </p:set>
                                    <p:animEffect filter="wipe(left)" transition="in">
                                      <p:cBhvr additive="repl">
                                        <p:cTn id="1403" dur="500"/>
                                        <p:tgtEl>
                                          <p:spTgt spid="471">
                                            <p:txEl>
                                              <p:pRg st="2" end="2"/>
                                            </p:txEl>
                                          </p:spTgt>
                                        </p:tgtEl>
                                      </p:cBhvr>
                                    </p:animEffect>
                                  </p:childTnLst>
                                </p:cTn>
                              </p:par>
                            </p:childTnLst>
                          </p:cTn>
                        </p:par>
                      </p:childTnLst>
                    </p:cTn>
                  </p:par>
                  <p:par>
                    <p:cTn id="1404" nodeType="clickEffect" fill="hold">
                      <p:stCondLst>
                        <p:cond delay="indefinite"/>
                      </p:stCondLst>
                      <p:childTnLst>
                        <p:par>
                          <p:cTn id="1405" nodeType="withEffect" fill="hold">
                            <p:stCondLst>
                              <p:cond delay="0"/>
                            </p:stCondLst>
                            <p:childTnLst>
                              <p:par>
                                <p:cTn id="1406" nodeType="clickEffect" fill="hold" presetClass="entr" presetID="22" presetSubtype="8">
                                  <p:stCondLst>
                                    <p:cond delay="0"/>
                                  </p:stCondLst>
                                  <p:childTnLst>
                                    <p:set>
                                      <p:cBhvr>
                                        <p:cTn id="1407" dur="1" fill="hold">
                                          <p:stCondLst>
                                            <p:cond delay="0"/>
                                          </p:stCondLst>
                                        </p:cTn>
                                        <p:tgtEl>
                                          <p:spTgt spid="471">
                                            <p:txEl>
                                              <p:pRg st="3" end="3"/>
                                            </p:txEl>
                                          </p:spTgt>
                                        </p:tgtEl>
                                        <p:attrNameLst>
                                          <p:attrName>style.visibility</p:attrName>
                                        </p:attrNameLst>
                                      </p:cBhvr>
                                      <p:to>
                                        <p:strVal val="visible"/>
                                      </p:to>
                                    </p:set>
                                    <p:animEffect filter="wipe(left)" transition="in">
                                      <p:cBhvr additive="repl">
                                        <p:cTn id="1408" dur="500"/>
                                        <p:tgtEl>
                                          <p:spTgt spid="47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15.3  OUTPUT, PRICE, PROFIT IN THE LONG RUN</a:t>
            </a:r>
            <a:endParaRPr b="0" lang="en-CA" sz="2600" strike="noStrike" u="none">
              <a:solidFill>
                <a:schemeClr val="dk1"/>
              </a:solidFill>
              <a:effectLst/>
              <a:uFillTx/>
              <a:latin typeface="Arial"/>
            </a:endParaRPr>
          </a:p>
        </p:txBody>
      </p:sp>
      <p:sp>
        <p:nvSpPr>
          <p:cNvPr id="47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in the short run, economic profit and economic loss can arise.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These unequal outcomes might seem unfair.</a:t>
            </a:r>
            <a:endParaRPr b="1" lang="en-CA" sz="2400" strike="noStrike" u="none">
              <a:solidFill>
                <a:srgbClr val="00468f"/>
              </a:solidFill>
              <a:effectLst/>
              <a:uFillTx/>
              <a:latin typeface="Arial"/>
            </a:endParaRPr>
          </a:p>
        </p:txBody>
      </p:sp>
    </p:spTree>
  </p:cSld>
  <p:transition spd="slow">
    <p:wipe dir="r"/>
  </p:transition>
  <p:timing>
    <p:tnLst>
      <p:par>
        <p:cTn id="1409" dur="indefinite" restart="never" nodeType="tmRoot">
          <p:childTnLst>
            <p:seq>
              <p:cTn id="1410" dur="indefinite" nodeType="mainSeq">
                <p:childTnLst>
                  <p:par>
                    <p:cTn id="1411" nodeType="clickEffect" fill="hold">
                      <p:stCondLst>
                        <p:cond delay="indefinite"/>
                      </p:stCondLst>
                      <p:childTnLst>
                        <p:par>
                          <p:cTn id="1412" nodeType="withEffect" fill="hold">
                            <p:stCondLst>
                              <p:cond delay="0"/>
                            </p:stCondLst>
                            <p:childTnLst>
                              <p:par>
                                <p:cTn id="1413" nodeType="clickEffect" fill="hold" presetClass="entr" presetID="22" presetSubtype="8">
                                  <p:stCondLst>
                                    <p:cond delay="0"/>
                                  </p:stCondLst>
                                  <p:childTnLst>
                                    <p:set>
                                      <p:cBhvr>
                                        <p:cTn id="1414" dur="1" fill="hold">
                                          <p:stCondLst>
                                            <p:cond delay="0"/>
                                          </p:stCondLst>
                                        </p:cTn>
                                        <p:tgtEl>
                                          <p:spTgt spid="473">
                                            <p:txEl>
                                              <p:pRg st="1" end="1"/>
                                            </p:txEl>
                                          </p:spTgt>
                                        </p:tgtEl>
                                        <p:attrNameLst>
                                          <p:attrName>style.visibility</p:attrName>
                                        </p:attrNameLst>
                                      </p:cBhvr>
                                      <p:to>
                                        <p:strVal val="visible"/>
                                      </p:to>
                                    </p:set>
                                    <p:animEffect filter="wipe(left)" transition="in">
                                      <p:cBhvr additive="repl">
                                        <p:cTn id="1415" dur="500"/>
                                        <p:tgtEl>
                                          <p:spTgt spid="473">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Rectangle 5"/>
          <p:cNvSpPr/>
          <p:nvPr/>
        </p:nvSpPr>
        <p:spPr>
          <a:xfrm>
            <a:off x="360360" y="1511280"/>
            <a:ext cx="4516200" cy="51177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In 1995, the market for music was a very competitive market in which more than 8,000 record stores sold music.</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Figure 1 illustrates the average total cost curve, </a:t>
            </a:r>
            <a:r>
              <a:rPr b="0" i="1" lang="en-AU" sz="2400" strike="noStrike" u="none">
                <a:solidFill>
                  <a:srgbClr val="000000"/>
                </a:solidFill>
                <a:effectLst/>
                <a:uFillTx/>
                <a:latin typeface="Arial"/>
                <a:ea typeface="ＭＳ Ｐゴシック"/>
              </a:rPr>
              <a:t>ATC</a:t>
            </a:r>
            <a:r>
              <a:rPr b="0" lang="en-AU" sz="2400" strike="noStrike" u="none">
                <a:solidFill>
                  <a:srgbClr val="000000"/>
                </a:solidFill>
                <a:effectLst/>
                <a:uFillTx/>
                <a:latin typeface="Arial"/>
                <a:ea typeface="ＭＳ Ｐゴシック"/>
              </a:rPr>
              <a:t>, marginal cost curve, </a:t>
            </a:r>
            <a:r>
              <a:rPr b="0" i="1" lang="en-AU" sz="2400" strike="noStrike" u="none">
                <a:solidFill>
                  <a:srgbClr val="000000"/>
                </a:solidFill>
                <a:effectLst/>
                <a:uFillTx/>
                <a:latin typeface="Arial"/>
                <a:ea typeface="ＭＳ Ｐゴシック"/>
              </a:rPr>
              <a:t>MC</a:t>
            </a:r>
            <a:r>
              <a:rPr b="0" lang="en-AU" sz="2400" strike="noStrike" u="none">
                <a:solidFill>
                  <a:srgbClr val="000000"/>
                </a:solidFill>
                <a:effectLst/>
                <a:uFillTx/>
                <a:latin typeface="Arial"/>
                <a:ea typeface="ＭＳ Ｐゴシック"/>
              </a:rPr>
              <a:t>, and marginal revenue curve, </a:t>
            </a:r>
            <a:r>
              <a:rPr b="0" i="1" lang="en-AU" sz="2400" strike="noStrike" u="none">
                <a:solidFill>
                  <a:srgbClr val="000000"/>
                </a:solidFill>
                <a:effectLst/>
                <a:uFillTx/>
                <a:latin typeface="Arial"/>
                <a:ea typeface="ＭＳ Ｐゴシック"/>
              </a:rPr>
              <a:t>MR</a:t>
            </a:r>
            <a:r>
              <a:rPr b="0" lang="en-US" sz="2400" strike="noStrike" u="none" baseline="-25000">
                <a:solidFill>
                  <a:srgbClr val="000000"/>
                </a:solidFill>
                <a:effectLst/>
                <a:uFillTx/>
                <a:latin typeface="Arial"/>
                <a:ea typeface="ＭＳ Ｐゴシック"/>
              </a:rPr>
              <a:t>0</a:t>
            </a:r>
            <a:r>
              <a:rPr b="0" lang="en-AU" sz="2400" strike="noStrike" u="none">
                <a:solidFill>
                  <a:srgbClr val="000000"/>
                </a:solidFill>
                <a:effectLst/>
                <a:uFillTx/>
                <a:latin typeface="Arial"/>
                <a:ea typeface="ＭＳ Ｐゴシック"/>
              </a:rPr>
              <a:t>, for one of these stores.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Record stores charged $20 a CD and made zero economic profit. The market was in long-run equilibrium.</a:t>
            </a:r>
            <a:endParaRPr b="0" lang="en-US" sz="2400" strike="noStrike" u="none">
              <a:solidFill>
                <a:srgbClr val="000000"/>
              </a:solidFill>
              <a:effectLst/>
              <a:uFillTx/>
              <a:latin typeface="Arial"/>
            </a:endParaRPr>
          </a:p>
        </p:txBody>
      </p:sp>
      <p:pic>
        <p:nvPicPr>
          <p:cNvPr id="475" name="Picture 4" descr=""/>
          <p:cNvPicPr/>
          <p:nvPr/>
        </p:nvPicPr>
        <p:blipFill>
          <a:blip r:embed="rId1"/>
          <a:stretch/>
        </p:blipFill>
        <p:spPr>
          <a:xfrm>
            <a:off x="5003640" y="1547640"/>
            <a:ext cx="3801600" cy="4397040"/>
          </a:xfrm>
          <a:prstGeom prst="rect">
            <a:avLst/>
          </a:prstGeom>
          <a:noFill/>
          <a:ln w="0">
            <a:noFill/>
          </a:ln>
        </p:spPr>
      </p:pic>
      <p:pic>
        <p:nvPicPr>
          <p:cNvPr id="476" name="Picture 5" descr=""/>
          <p:cNvPicPr/>
          <p:nvPr/>
        </p:nvPicPr>
        <p:blipFill>
          <a:blip r:embed="rId2"/>
          <a:stretch/>
        </p:blipFill>
        <p:spPr>
          <a:xfrm>
            <a:off x="5003640" y="1547640"/>
            <a:ext cx="3801600" cy="4397040"/>
          </a:xfrm>
          <a:prstGeom prst="rect">
            <a:avLst/>
          </a:prstGeom>
          <a:noFill/>
          <a:ln w="0">
            <a:noFill/>
          </a:ln>
        </p:spPr>
      </p:pic>
      <p:pic>
        <p:nvPicPr>
          <p:cNvPr id="477" name="Picture 6" descr=""/>
          <p:cNvPicPr/>
          <p:nvPr/>
        </p:nvPicPr>
        <p:blipFill>
          <a:blip r:embed="rId3"/>
          <a:stretch/>
        </p:blipFill>
        <p:spPr>
          <a:xfrm>
            <a:off x="5003640" y="1547640"/>
            <a:ext cx="3801600" cy="4397040"/>
          </a:xfrm>
          <a:prstGeom prst="rect">
            <a:avLst/>
          </a:prstGeom>
          <a:noFill/>
          <a:ln w="0">
            <a:noFill/>
          </a:ln>
        </p:spPr>
      </p:pic>
      <p:pic>
        <p:nvPicPr>
          <p:cNvPr id="478" name="Picture 7" descr=""/>
          <p:cNvPicPr/>
          <p:nvPr/>
        </p:nvPicPr>
        <p:blipFill>
          <a:blip r:embed="rId4"/>
          <a:stretch/>
        </p:blipFill>
        <p:spPr>
          <a:xfrm>
            <a:off x="5003640" y="1547640"/>
            <a:ext cx="3801600" cy="4397040"/>
          </a:xfrm>
          <a:prstGeom prst="rect">
            <a:avLst/>
          </a:prstGeom>
          <a:noFill/>
          <a:ln w="0">
            <a:noFill/>
          </a:ln>
        </p:spPr>
      </p:pic>
      <p:pic>
        <p:nvPicPr>
          <p:cNvPr id="479" name="Picture 8" descr=""/>
          <p:cNvPicPr/>
          <p:nvPr/>
        </p:nvPicPr>
        <p:blipFill>
          <a:blip r:embed="rId5"/>
          <a:stretch/>
        </p:blipFill>
        <p:spPr>
          <a:xfrm>
            <a:off x="5003640" y="1547640"/>
            <a:ext cx="3801600" cy="4397040"/>
          </a:xfrm>
          <a:prstGeom prst="rect">
            <a:avLst/>
          </a:prstGeom>
          <a:noFill/>
          <a:ln w="0">
            <a:noFill/>
          </a:ln>
        </p:spPr>
      </p:pic>
      <p:pic>
        <p:nvPicPr>
          <p:cNvPr id="480" name="Picture 1" descr=""/>
          <p:cNvPicPr/>
          <p:nvPr/>
        </p:nvPicPr>
        <p:blipFill>
          <a:blip r:embed="rId6"/>
          <a:stretch/>
        </p:blipFill>
        <p:spPr>
          <a:xfrm>
            <a:off x="0" y="0"/>
            <a:ext cx="5736960" cy="1234800"/>
          </a:xfrm>
          <a:prstGeom prst="rect">
            <a:avLst/>
          </a:prstGeom>
          <a:noFill/>
          <a:ln w="0">
            <a:noFill/>
          </a:ln>
        </p:spPr>
      </p:pic>
    </p:spTree>
  </p:cSld>
  <p:transition spd="slow">
    <p:wipe dir="r"/>
  </p:transition>
  <p:timing>
    <p:tnLst>
      <p:par>
        <p:cTn id="1416" dur="indefinite" restart="never" nodeType="tmRoot">
          <p:childTnLst>
            <p:seq>
              <p:cTn id="1417" dur="indefinite" nodeType="mainSeq">
                <p:childTnLst>
                  <p:par>
                    <p:cTn id="1418" nodeType="clickEffect" fill="hold">
                      <p:stCondLst>
                        <p:cond delay="indefinite"/>
                      </p:stCondLst>
                      <p:childTnLst>
                        <p:par>
                          <p:cTn id="1419" nodeType="withEffect" fill="hold">
                            <p:stCondLst>
                              <p:cond delay="0"/>
                            </p:stCondLst>
                            <p:childTnLst>
                              <p:par>
                                <p:cTn id="1420" nodeType="clickEffect" fill="hold" presetClass="entr" presetID="22" presetSubtype="8">
                                  <p:stCondLst>
                                    <p:cond delay="0"/>
                                  </p:stCondLst>
                                  <p:childTnLst>
                                    <p:set>
                                      <p:cBhvr>
                                        <p:cTn id="1421" dur="1" fill="hold">
                                          <p:stCondLst>
                                            <p:cond delay="0"/>
                                          </p:stCondLst>
                                        </p:cTn>
                                        <p:tgtEl>
                                          <p:spTgt spid="474">
                                            <p:txEl>
                                              <p:pRg st="0" end="0"/>
                                            </p:txEl>
                                          </p:spTgt>
                                        </p:tgtEl>
                                        <p:attrNameLst>
                                          <p:attrName>style.visibility</p:attrName>
                                        </p:attrNameLst>
                                      </p:cBhvr>
                                      <p:to>
                                        <p:strVal val="visible"/>
                                      </p:to>
                                    </p:set>
                                    <p:animEffect filter="wipe(left)" transition="in">
                                      <p:cBhvr additive="repl">
                                        <p:cTn id="1422" dur="500"/>
                                        <p:tgtEl>
                                          <p:spTgt spid="474">
                                            <p:txEl>
                                              <p:pRg st="0" end="0"/>
                                            </p:txEl>
                                          </p:spTgt>
                                        </p:tgtEl>
                                      </p:cBhvr>
                                    </p:animEffect>
                                  </p:childTnLst>
                                </p:cTn>
                              </p:par>
                            </p:childTnLst>
                          </p:cTn>
                        </p:par>
                      </p:childTnLst>
                    </p:cTn>
                  </p:par>
                  <p:par>
                    <p:cTn id="1423" nodeType="clickEffect" fill="hold">
                      <p:stCondLst>
                        <p:cond delay="indefinite"/>
                      </p:stCondLst>
                      <p:childTnLst>
                        <p:par>
                          <p:cTn id="1424" nodeType="withEffect" fill="hold">
                            <p:stCondLst>
                              <p:cond delay="0"/>
                            </p:stCondLst>
                            <p:childTnLst>
                              <p:par>
                                <p:cTn id="1425" nodeType="clickEffect" fill="hold" presetClass="entr" presetID="22" presetSubtype="8">
                                  <p:stCondLst>
                                    <p:cond delay="0"/>
                                  </p:stCondLst>
                                  <p:childTnLst>
                                    <p:set>
                                      <p:cBhvr>
                                        <p:cTn id="1426" dur="1" fill="hold">
                                          <p:stCondLst>
                                            <p:cond delay="0"/>
                                          </p:stCondLst>
                                        </p:cTn>
                                        <p:tgtEl>
                                          <p:spTgt spid="474">
                                            <p:txEl>
                                              <p:pRg st="1" end="1"/>
                                            </p:txEl>
                                          </p:spTgt>
                                        </p:tgtEl>
                                        <p:attrNameLst>
                                          <p:attrName>style.visibility</p:attrName>
                                        </p:attrNameLst>
                                      </p:cBhvr>
                                      <p:to>
                                        <p:strVal val="visible"/>
                                      </p:to>
                                    </p:set>
                                    <p:animEffect filter="wipe(left)" transition="in">
                                      <p:cBhvr additive="repl">
                                        <p:cTn id="1427" dur="500"/>
                                        <p:tgtEl>
                                          <p:spTgt spid="474">
                                            <p:txEl>
                                              <p:pRg st="1" end="1"/>
                                            </p:txEl>
                                          </p:spTgt>
                                        </p:tgtEl>
                                      </p:cBhvr>
                                    </p:animEffect>
                                  </p:childTnLst>
                                </p:cTn>
                              </p:par>
                              <p:par>
                                <p:cTn id="1428" nodeType="withEffect" fill="hold" presetClass="entr" presetID="22" presetSubtype="8">
                                  <p:stCondLst>
                                    <p:cond delay="0"/>
                                  </p:stCondLst>
                                  <p:childTnLst>
                                    <p:set>
                                      <p:cBhvr>
                                        <p:cTn id="1429" dur="1" fill="hold">
                                          <p:stCondLst>
                                            <p:cond delay="0"/>
                                          </p:stCondLst>
                                        </p:cTn>
                                        <p:tgtEl>
                                          <p:spTgt spid="476"/>
                                        </p:tgtEl>
                                        <p:attrNameLst>
                                          <p:attrName>style.visibility</p:attrName>
                                        </p:attrNameLst>
                                      </p:cBhvr>
                                      <p:to>
                                        <p:strVal val="visible"/>
                                      </p:to>
                                    </p:set>
                                    <p:animEffect filter="wipe(left)" transition="in">
                                      <p:cBhvr additive="repl">
                                        <p:cTn id="1430" dur="750"/>
                                        <p:tgtEl>
                                          <p:spTgt spid="476"/>
                                        </p:tgtEl>
                                      </p:cBhvr>
                                    </p:animEffect>
                                  </p:childTnLst>
                                </p:cTn>
                              </p:par>
                              <p:par>
                                <p:cTn id="1431" nodeType="withEffect" fill="hold" presetClass="entr" presetID="22" presetSubtype="8">
                                  <p:stCondLst>
                                    <p:cond delay="600"/>
                                  </p:stCondLst>
                                  <p:childTnLst>
                                    <p:set>
                                      <p:cBhvr>
                                        <p:cTn id="1432" dur="1" fill="hold">
                                          <p:stCondLst>
                                            <p:cond delay="0"/>
                                          </p:stCondLst>
                                        </p:cTn>
                                        <p:tgtEl>
                                          <p:spTgt spid="477"/>
                                        </p:tgtEl>
                                        <p:attrNameLst>
                                          <p:attrName>style.visibility</p:attrName>
                                        </p:attrNameLst>
                                      </p:cBhvr>
                                      <p:to>
                                        <p:strVal val="visible"/>
                                      </p:to>
                                    </p:set>
                                    <p:animEffect filter="wipe(left)" transition="in">
                                      <p:cBhvr additive="repl">
                                        <p:cTn id="1433" dur="750"/>
                                        <p:tgtEl>
                                          <p:spTgt spid="477"/>
                                        </p:tgtEl>
                                      </p:cBhvr>
                                    </p:animEffect>
                                  </p:childTnLst>
                                </p:cTn>
                              </p:par>
                              <p:par>
                                <p:cTn id="1434" nodeType="withEffect" fill="hold" presetClass="entr" presetID="22" presetSubtype="8">
                                  <p:stCondLst>
                                    <p:cond delay="1100"/>
                                  </p:stCondLst>
                                  <p:childTnLst>
                                    <p:set>
                                      <p:cBhvr>
                                        <p:cTn id="1435" dur="1" fill="hold">
                                          <p:stCondLst>
                                            <p:cond delay="0"/>
                                          </p:stCondLst>
                                        </p:cTn>
                                        <p:tgtEl>
                                          <p:spTgt spid="478"/>
                                        </p:tgtEl>
                                        <p:attrNameLst>
                                          <p:attrName>style.visibility</p:attrName>
                                        </p:attrNameLst>
                                      </p:cBhvr>
                                      <p:to>
                                        <p:strVal val="visible"/>
                                      </p:to>
                                    </p:set>
                                    <p:animEffect filter="wipe(left)" transition="in">
                                      <p:cBhvr additive="repl">
                                        <p:cTn id="1436" dur="750"/>
                                        <p:tgtEl>
                                          <p:spTgt spid="478"/>
                                        </p:tgtEl>
                                      </p:cBhvr>
                                    </p:animEffect>
                                  </p:childTnLst>
                                </p:cTn>
                              </p:par>
                            </p:childTnLst>
                          </p:cTn>
                        </p:par>
                      </p:childTnLst>
                    </p:cTn>
                  </p:par>
                  <p:par>
                    <p:cTn id="1437" nodeType="clickEffect" fill="hold">
                      <p:stCondLst>
                        <p:cond delay="indefinite"/>
                      </p:stCondLst>
                      <p:childTnLst>
                        <p:par>
                          <p:cTn id="1438" nodeType="withEffect" fill="hold">
                            <p:stCondLst>
                              <p:cond delay="0"/>
                            </p:stCondLst>
                            <p:childTnLst>
                              <p:par>
                                <p:cTn id="1439" nodeType="clickEffect" fill="hold" presetClass="entr" presetID="22" presetSubtype="8">
                                  <p:stCondLst>
                                    <p:cond delay="0"/>
                                  </p:stCondLst>
                                  <p:childTnLst>
                                    <p:set>
                                      <p:cBhvr>
                                        <p:cTn id="1440" dur="1" fill="hold">
                                          <p:stCondLst>
                                            <p:cond delay="0"/>
                                          </p:stCondLst>
                                        </p:cTn>
                                        <p:tgtEl>
                                          <p:spTgt spid="474">
                                            <p:txEl>
                                              <p:pRg st="2" end="2"/>
                                            </p:txEl>
                                          </p:spTgt>
                                        </p:tgtEl>
                                        <p:attrNameLst>
                                          <p:attrName>style.visibility</p:attrName>
                                        </p:attrNameLst>
                                      </p:cBhvr>
                                      <p:to>
                                        <p:strVal val="visible"/>
                                      </p:to>
                                    </p:set>
                                    <p:animEffect filter="wipe(left)" transition="in">
                                      <p:cBhvr additive="repl">
                                        <p:cTn id="1441" dur="500"/>
                                        <p:tgtEl>
                                          <p:spTgt spid="474">
                                            <p:txEl>
                                              <p:pRg st="2" end="2"/>
                                            </p:txEl>
                                          </p:spTgt>
                                        </p:tgtEl>
                                      </p:cBhvr>
                                    </p:animEffect>
                                  </p:childTnLst>
                                </p:cTn>
                              </p:par>
                              <p:par>
                                <p:cTn id="1442" nodeType="withEffect" fill="hold" presetClass="entr" presetID="22" presetSubtype="8">
                                  <p:stCondLst>
                                    <p:cond delay="0"/>
                                  </p:stCondLst>
                                  <p:childTnLst>
                                    <p:set>
                                      <p:cBhvr>
                                        <p:cTn id="1443" dur="1" fill="hold">
                                          <p:stCondLst>
                                            <p:cond delay="0"/>
                                          </p:stCondLst>
                                        </p:cTn>
                                        <p:tgtEl>
                                          <p:spTgt spid="479"/>
                                        </p:tgtEl>
                                        <p:attrNameLst>
                                          <p:attrName>style.visibility</p:attrName>
                                        </p:attrNameLst>
                                      </p:cBhvr>
                                      <p:to>
                                        <p:strVal val="visible"/>
                                      </p:to>
                                    </p:set>
                                    <p:animEffect filter="wipe(left)" transition="in">
                                      <p:cBhvr additive="repl">
                                        <p:cTn id="1444" dur="75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Rectangle 5"/>
          <p:cNvSpPr/>
          <p:nvPr/>
        </p:nvSpPr>
        <p:spPr>
          <a:xfrm>
            <a:off x="360360" y="1511280"/>
            <a:ext cx="4744800" cy="46652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Amazon took advantage of the technological advance made possible by the Internet.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Amazon.com started retailing books in 1995.</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Soon Amazon.com started selling CDs. </a:t>
            </a:r>
            <a:endParaRPr b="0" lang="en-US" sz="2400" strike="noStrike" u="none">
              <a:solidFill>
                <a:srgbClr val="000000"/>
              </a:solidFill>
              <a:effectLst/>
              <a:uFillTx/>
              <a:latin typeface="Arial"/>
            </a:endParaRPr>
          </a:p>
        </p:txBody>
      </p:sp>
      <p:pic>
        <p:nvPicPr>
          <p:cNvPr id="482" name="Picture 4" descr=""/>
          <p:cNvPicPr/>
          <p:nvPr/>
        </p:nvPicPr>
        <p:blipFill>
          <a:blip r:embed="rId1"/>
          <a:stretch/>
        </p:blipFill>
        <p:spPr>
          <a:xfrm>
            <a:off x="0" y="0"/>
            <a:ext cx="5736960" cy="1234800"/>
          </a:xfrm>
          <a:prstGeom prst="rect">
            <a:avLst/>
          </a:prstGeom>
          <a:noFill/>
          <a:ln w="0">
            <a:noFill/>
          </a:ln>
        </p:spPr>
      </p:pic>
      <p:pic>
        <p:nvPicPr>
          <p:cNvPr id="483" name="Picture 1" descr=""/>
          <p:cNvPicPr/>
          <p:nvPr/>
        </p:nvPicPr>
        <p:blipFill>
          <a:blip r:embed="rId2"/>
          <a:stretch/>
        </p:blipFill>
        <p:spPr>
          <a:xfrm>
            <a:off x="5105520" y="1600200"/>
            <a:ext cx="3423960" cy="4209840"/>
          </a:xfrm>
          <a:prstGeom prst="rect">
            <a:avLst/>
          </a:prstGeom>
          <a:noFill/>
          <a:ln w="0">
            <a:noFill/>
          </a:ln>
        </p:spPr>
      </p:pic>
    </p:spTree>
  </p:cSld>
  <p:transition spd="slow">
    <p:wipe dir="r"/>
  </p:transition>
  <p:timing>
    <p:tnLst>
      <p:par>
        <p:cTn id="1445" dur="indefinite" restart="never" nodeType="tmRoot">
          <p:childTnLst>
            <p:seq>
              <p:cTn id="1446" dur="indefinite" nodeType="mainSeq">
                <p:childTnLst>
                  <p:par>
                    <p:cTn id="1447" nodeType="clickEffect" fill="hold">
                      <p:stCondLst>
                        <p:cond delay="0"/>
                      </p:stCondLst>
                      <p:childTnLst>
                        <p:par>
                          <p:cTn id="1448" nodeType="withEffect" fill="hold">
                            <p:stCondLst>
                              <p:cond delay="0"/>
                            </p:stCondLst>
                            <p:childTnLst>
                              <p:par>
                                <p:cTn id="1449" nodeType="withEffect" fill="hold" presetClass="entr" presetID="10">
                                  <p:stCondLst>
                                    <p:cond delay="0"/>
                                  </p:stCondLst>
                                  <p:childTnLst>
                                    <p:set>
                                      <p:cBhvr>
                                        <p:cTn id="1450" dur="1" fill="hold">
                                          <p:stCondLst>
                                            <p:cond delay="0"/>
                                          </p:stCondLst>
                                        </p:cTn>
                                        <p:tgtEl>
                                          <p:spTgt spid="483"/>
                                        </p:tgtEl>
                                        <p:attrNameLst>
                                          <p:attrName>style.visibility</p:attrName>
                                        </p:attrNameLst>
                                      </p:cBhvr>
                                      <p:to>
                                        <p:strVal val="visible"/>
                                      </p:to>
                                    </p:set>
                                    <p:animEffect filter="fade" transition="in">
                                      <p:cBhvr additive="repl">
                                        <p:cTn id="1451" dur="500"/>
                                        <p:tgtEl>
                                          <p:spTgt spid="483"/>
                                        </p:tgtEl>
                                      </p:cBhvr>
                                    </p:animEffect>
                                  </p:childTnLst>
                                </p:cTn>
                              </p:par>
                            </p:childTnLst>
                          </p:cTn>
                        </p:par>
                      </p:childTnLst>
                    </p:cTn>
                  </p:par>
                  <p:par>
                    <p:cTn id="1452" nodeType="clickEffect" fill="hold">
                      <p:stCondLst>
                        <p:cond delay="indefinite"/>
                      </p:stCondLst>
                      <p:childTnLst>
                        <p:par>
                          <p:cTn id="1453" nodeType="withEffect" fill="hold">
                            <p:stCondLst>
                              <p:cond delay="0"/>
                            </p:stCondLst>
                            <p:childTnLst>
                              <p:par>
                                <p:cTn id="1454" nodeType="clickEffect" fill="hold" presetClass="entr" presetID="22" presetSubtype="8">
                                  <p:stCondLst>
                                    <p:cond delay="0"/>
                                  </p:stCondLst>
                                  <p:childTnLst>
                                    <p:set>
                                      <p:cBhvr>
                                        <p:cTn id="1455" dur="1" fill="hold">
                                          <p:stCondLst>
                                            <p:cond delay="0"/>
                                          </p:stCondLst>
                                        </p:cTn>
                                        <p:tgtEl>
                                          <p:spTgt spid="481">
                                            <p:txEl>
                                              <p:pRg st="1" end="1"/>
                                            </p:txEl>
                                          </p:spTgt>
                                        </p:tgtEl>
                                        <p:attrNameLst>
                                          <p:attrName>style.visibility</p:attrName>
                                        </p:attrNameLst>
                                      </p:cBhvr>
                                      <p:to>
                                        <p:strVal val="visible"/>
                                      </p:to>
                                    </p:set>
                                    <p:animEffect filter="wipe(left)" transition="in">
                                      <p:cBhvr additive="repl">
                                        <p:cTn id="1456" dur="500"/>
                                        <p:tgtEl>
                                          <p:spTgt spid="481">
                                            <p:txEl>
                                              <p:pRg st="1" end="1"/>
                                            </p:txEl>
                                          </p:spTgt>
                                        </p:tgtEl>
                                      </p:cBhvr>
                                    </p:animEffect>
                                  </p:childTnLst>
                                </p:cTn>
                              </p:par>
                            </p:childTnLst>
                          </p:cTn>
                        </p:par>
                      </p:childTnLst>
                    </p:cTn>
                  </p:par>
                  <p:par>
                    <p:cTn id="1457" nodeType="clickEffect" fill="hold">
                      <p:stCondLst>
                        <p:cond delay="indefinite"/>
                      </p:stCondLst>
                      <p:childTnLst>
                        <p:par>
                          <p:cTn id="1458" nodeType="withEffect" fill="hold">
                            <p:stCondLst>
                              <p:cond delay="0"/>
                            </p:stCondLst>
                            <p:childTnLst>
                              <p:par>
                                <p:cTn id="1459" nodeType="clickEffect" fill="hold" presetClass="entr" presetID="22" presetSubtype="8">
                                  <p:stCondLst>
                                    <p:cond delay="0"/>
                                  </p:stCondLst>
                                  <p:childTnLst>
                                    <p:set>
                                      <p:cBhvr>
                                        <p:cTn id="1460" dur="1" fill="hold">
                                          <p:stCondLst>
                                            <p:cond delay="0"/>
                                          </p:stCondLst>
                                        </p:cTn>
                                        <p:tgtEl>
                                          <p:spTgt spid="481">
                                            <p:txEl>
                                              <p:pRg st="2" end="2"/>
                                            </p:txEl>
                                          </p:spTgt>
                                        </p:tgtEl>
                                        <p:attrNameLst>
                                          <p:attrName>style.visibility</p:attrName>
                                        </p:attrNameLst>
                                      </p:cBhvr>
                                      <p:to>
                                        <p:strVal val="visible"/>
                                      </p:to>
                                    </p:set>
                                    <p:animEffect filter="wipe(left)" transition="in">
                                      <p:cBhvr additive="repl">
                                        <p:cTn id="1461" dur="500"/>
                                        <p:tgtEl>
                                          <p:spTgt spid="48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Rectangle 5"/>
          <p:cNvSpPr/>
          <p:nvPr/>
        </p:nvSpPr>
        <p:spPr>
          <a:xfrm>
            <a:off x="360360" y="1511280"/>
            <a:ext cx="4516200" cy="481788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Figure 2 shows the economic profit available to Amazon at the price charged by traditional record stores ($20 a CD).</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Positive economic profit attracts new entry.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Technology also kept advancing, with MP3 files replacing physical CDs.</a:t>
            </a:r>
            <a:endParaRPr b="0" lang="en-US" sz="2400" strike="noStrike" u="none">
              <a:solidFill>
                <a:srgbClr val="000000"/>
              </a:solidFill>
              <a:effectLst/>
              <a:uFillTx/>
              <a:latin typeface="Arial"/>
            </a:endParaRPr>
          </a:p>
        </p:txBody>
      </p:sp>
      <p:pic>
        <p:nvPicPr>
          <p:cNvPr id="485" name="Picture 1" descr=""/>
          <p:cNvPicPr/>
          <p:nvPr/>
        </p:nvPicPr>
        <p:blipFill>
          <a:blip r:embed="rId1"/>
          <a:stretch/>
        </p:blipFill>
        <p:spPr>
          <a:xfrm>
            <a:off x="5003640" y="1547640"/>
            <a:ext cx="3801600" cy="4397040"/>
          </a:xfrm>
          <a:prstGeom prst="rect">
            <a:avLst/>
          </a:prstGeom>
          <a:noFill/>
          <a:ln w="0">
            <a:noFill/>
          </a:ln>
        </p:spPr>
      </p:pic>
      <p:pic>
        <p:nvPicPr>
          <p:cNvPr id="486" name="Picture 2" descr=""/>
          <p:cNvPicPr/>
          <p:nvPr/>
        </p:nvPicPr>
        <p:blipFill>
          <a:blip r:embed="rId2"/>
          <a:stretch/>
        </p:blipFill>
        <p:spPr>
          <a:xfrm>
            <a:off x="5003640" y="1547640"/>
            <a:ext cx="3801600" cy="4397040"/>
          </a:xfrm>
          <a:prstGeom prst="rect">
            <a:avLst/>
          </a:prstGeom>
          <a:noFill/>
          <a:ln w="0">
            <a:noFill/>
          </a:ln>
        </p:spPr>
      </p:pic>
      <p:pic>
        <p:nvPicPr>
          <p:cNvPr id="487" name="Picture 4" descr=""/>
          <p:cNvPicPr/>
          <p:nvPr/>
        </p:nvPicPr>
        <p:blipFill>
          <a:blip r:embed="rId3"/>
          <a:stretch/>
        </p:blipFill>
        <p:spPr>
          <a:xfrm>
            <a:off x="5003640" y="1547640"/>
            <a:ext cx="3801600" cy="4397040"/>
          </a:xfrm>
          <a:prstGeom prst="rect">
            <a:avLst/>
          </a:prstGeom>
          <a:noFill/>
          <a:ln w="0">
            <a:noFill/>
          </a:ln>
        </p:spPr>
      </p:pic>
      <p:pic>
        <p:nvPicPr>
          <p:cNvPr id="488" name="Picture 6" descr=""/>
          <p:cNvPicPr/>
          <p:nvPr/>
        </p:nvPicPr>
        <p:blipFill>
          <a:blip r:embed="rId4"/>
          <a:stretch/>
        </p:blipFill>
        <p:spPr>
          <a:xfrm>
            <a:off x="5003640" y="1547640"/>
            <a:ext cx="3801600" cy="4397040"/>
          </a:xfrm>
          <a:prstGeom prst="rect">
            <a:avLst/>
          </a:prstGeom>
          <a:noFill/>
          <a:ln w="0">
            <a:noFill/>
          </a:ln>
        </p:spPr>
      </p:pic>
      <p:pic>
        <p:nvPicPr>
          <p:cNvPr id="489" name="Picture 7" descr=""/>
          <p:cNvPicPr/>
          <p:nvPr/>
        </p:nvPicPr>
        <p:blipFill>
          <a:blip r:embed="rId5"/>
          <a:stretch/>
        </p:blipFill>
        <p:spPr>
          <a:xfrm>
            <a:off x="0" y="0"/>
            <a:ext cx="5736960" cy="1234800"/>
          </a:xfrm>
          <a:prstGeom prst="rect">
            <a:avLst/>
          </a:prstGeom>
          <a:noFill/>
          <a:ln w="0">
            <a:noFill/>
          </a:ln>
        </p:spPr>
      </p:pic>
    </p:spTree>
  </p:cSld>
  <p:transition spd="slow">
    <p:wipe dir="r"/>
  </p:transition>
  <p:timing>
    <p:tnLst>
      <p:par>
        <p:cTn id="1462" dur="indefinite" restart="never" nodeType="tmRoot">
          <p:childTnLst>
            <p:seq>
              <p:cTn id="1463" dur="indefinite" nodeType="mainSeq">
                <p:childTnLst>
                  <p:par>
                    <p:cTn id="1464" nodeType="clickEffect" fill="hold">
                      <p:stCondLst>
                        <p:cond delay="0"/>
                      </p:stCondLst>
                      <p:childTnLst>
                        <p:par>
                          <p:cTn id="1465" nodeType="withEffect" fill="hold">
                            <p:stCondLst>
                              <p:cond delay="0"/>
                            </p:stCondLst>
                            <p:childTnLst>
                              <p:par>
                                <p:cTn id="1466" nodeType="withEffect" fill="hold" presetClass="entr" presetID="22" presetSubtype="8">
                                  <p:stCondLst>
                                    <p:cond delay="0"/>
                                  </p:stCondLst>
                                  <p:childTnLst>
                                    <p:set>
                                      <p:cBhvr>
                                        <p:cTn id="1467" dur="1" fill="hold">
                                          <p:stCondLst>
                                            <p:cond delay="0"/>
                                          </p:stCondLst>
                                        </p:cTn>
                                        <p:tgtEl>
                                          <p:spTgt spid="486"/>
                                        </p:tgtEl>
                                        <p:attrNameLst>
                                          <p:attrName>style.visibility</p:attrName>
                                        </p:attrNameLst>
                                      </p:cBhvr>
                                      <p:to>
                                        <p:strVal val="visible"/>
                                      </p:to>
                                    </p:set>
                                    <p:animEffect filter="wipe(left)" transition="in">
                                      <p:cBhvr additive="repl">
                                        <p:cTn id="1468" dur="750"/>
                                        <p:tgtEl>
                                          <p:spTgt spid="486"/>
                                        </p:tgtEl>
                                      </p:cBhvr>
                                    </p:animEffect>
                                  </p:childTnLst>
                                </p:cTn>
                              </p:par>
                            </p:childTnLst>
                          </p:cTn>
                        </p:par>
                      </p:childTnLst>
                    </p:cTn>
                  </p:par>
                  <p:par>
                    <p:cTn id="1469" nodeType="clickEffect" fill="hold">
                      <p:stCondLst>
                        <p:cond delay="indefinite"/>
                      </p:stCondLst>
                      <p:childTnLst>
                        <p:par>
                          <p:cTn id="1470" nodeType="withEffect" fill="hold">
                            <p:stCondLst>
                              <p:cond delay="0"/>
                            </p:stCondLst>
                            <p:childTnLst>
                              <p:par>
                                <p:cTn id="1471" nodeType="clickEffect" fill="hold" presetClass="entr" presetID="22" presetSubtype="8">
                                  <p:stCondLst>
                                    <p:cond delay="0"/>
                                  </p:stCondLst>
                                  <p:childTnLst>
                                    <p:set>
                                      <p:cBhvr>
                                        <p:cTn id="1472" dur="1" fill="hold">
                                          <p:stCondLst>
                                            <p:cond delay="0"/>
                                          </p:stCondLst>
                                        </p:cTn>
                                        <p:tgtEl>
                                          <p:spTgt spid="484">
                                            <p:txEl>
                                              <p:pRg st="1" end="1"/>
                                            </p:txEl>
                                          </p:spTgt>
                                        </p:tgtEl>
                                        <p:attrNameLst>
                                          <p:attrName>style.visibility</p:attrName>
                                        </p:attrNameLst>
                                      </p:cBhvr>
                                      <p:to>
                                        <p:strVal val="visible"/>
                                      </p:to>
                                    </p:set>
                                    <p:animEffect filter="wipe(left)" transition="in">
                                      <p:cBhvr additive="repl">
                                        <p:cTn id="1473" dur="500"/>
                                        <p:tgtEl>
                                          <p:spTgt spid="484">
                                            <p:txEl>
                                              <p:pRg st="1" end="1"/>
                                            </p:txEl>
                                          </p:spTgt>
                                        </p:tgtEl>
                                      </p:cBhvr>
                                    </p:animEffect>
                                  </p:childTnLst>
                                </p:cTn>
                              </p:par>
                              <p:par>
                                <p:cTn id="1474" nodeType="withEffect" fill="hold" presetClass="entr" presetID="10">
                                  <p:stCondLst>
                                    <p:cond delay="0"/>
                                  </p:stCondLst>
                                  <p:childTnLst>
                                    <p:set>
                                      <p:cBhvr>
                                        <p:cTn id="1475" dur="1" fill="hold">
                                          <p:stCondLst>
                                            <p:cond delay="0"/>
                                          </p:stCondLst>
                                        </p:cTn>
                                        <p:tgtEl>
                                          <p:spTgt spid="487"/>
                                        </p:tgtEl>
                                        <p:attrNameLst>
                                          <p:attrName>style.visibility</p:attrName>
                                        </p:attrNameLst>
                                      </p:cBhvr>
                                      <p:to>
                                        <p:strVal val="visible"/>
                                      </p:to>
                                    </p:set>
                                    <p:animEffect filter="fade" transition="in">
                                      <p:cBhvr additive="repl">
                                        <p:cTn id="1476" dur="500"/>
                                        <p:tgtEl>
                                          <p:spTgt spid="487"/>
                                        </p:tgtEl>
                                      </p:cBhvr>
                                    </p:animEffect>
                                  </p:childTnLst>
                                </p:cTn>
                              </p:par>
                              <p:par>
                                <p:cTn id="1477" nodeType="withEffect" fill="hold" presetClass="entr" presetID="10">
                                  <p:stCondLst>
                                    <p:cond delay="200"/>
                                  </p:stCondLst>
                                  <p:childTnLst>
                                    <p:set>
                                      <p:cBhvr>
                                        <p:cTn id="1478" dur="1" fill="hold">
                                          <p:stCondLst>
                                            <p:cond delay="0"/>
                                          </p:stCondLst>
                                        </p:cTn>
                                        <p:tgtEl>
                                          <p:spTgt spid="488"/>
                                        </p:tgtEl>
                                        <p:attrNameLst>
                                          <p:attrName>style.visibility</p:attrName>
                                        </p:attrNameLst>
                                      </p:cBhvr>
                                      <p:to>
                                        <p:strVal val="visible"/>
                                      </p:to>
                                    </p:set>
                                    <p:animEffect filter="fade" transition="in">
                                      <p:cBhvr additive="repl">
                                        <p:cTn id="1479" dur="500"/>
                                        <p:tgtEl>
                                          <p:spTgt spid="488"/>
                                        </p:tgtEl>
                                      </p:cBhvr>
                                    </p:animEffect>
                                  </p:childTnLst>
                                </p:cTn>
                              </p:par>
                            </p:childTnLst>
                          </p:cTn>
                        </p:par>
                      </p:childTnLst>
                    </p:cTn>
                  </p:par>
                  <p:par>
                    <p:cTn id="1480" nodeType="clickEffect" fill="hold">
                      <p:stCondLst>
                        <p:cond delay="indefinite"/>
                      </p:stCondLst>
                      <p:childTnLst>
                        <p:par>
                          <p:cTn id="1481" nodeType="withEffect" fill="hold">
                            <p:stCondLst>
                              <p:cond delay="0"/>
                            </p:stCondLst>
                            <p:childTnLst>
                              <p:par>
                                <p:cTn id="1482" nodeType="clickEffect" fill="hold" presetClass="entr" presetID="22" presetSubtype="8">
                                  <p:stCondLst>
                                    <p:cond delay="0"/>
                                  </p:stCondLst>
                                  <p:childTnLst>
                                    <p:set>
                                      <p:cBhvr>
                                        <p:cTn id="1483" dur="1" fill="hold">
                                          <p:stCondLst>
                                            <p:cond delay="0"/>
                                          </p:stCondLst>
                                        </p:cTn>
                                        <p:tgtEl>
                                          <p:spTgt spid="484">
                                            <p:txEl>
                                              <p:pRg st="2" end="2"/>
                                            </p:txEl>
                                          </p:spTgt>
                                        </p:tgtEl>
                                        <p:attrNameLst>
                                          <p:attrName>style.visibility</p:attrName>
                                        </p:attrNameLst>
                                      </p:cBhvr>
                                      <p:to>
                                        <p:strVal val="visible"/>
                                      </p:to>
                                    </p:set>
                                    <p:animEffect filter="wipe(left)" transition="in">
                                      <p:cBhvr additive="repl">
                                        <p:cTn id="1484" dur="500"/>
                                        <p:tgtEl>
                                          <p:spTgt spid="484">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Rectangle 5"/>
          <p:cNvSpPr/>
          <p:nvPr/>
        </p:nvSpPr>
        <p:spPr>
          <a:xfrm>
            <a:off x="360360" y="1511280"/>
            <a:ext cx="4152600" cy="41907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Figure 3 shows where  competition among online music download stores drove the price ($10 a CD).</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Economic profit vanished in a new long-run equilibrium.</a:t>
            </a:r>
            <a:endParaRPr b="0" lang="en-US" sz="2400" strike="noStrike" u="none">
              <a:solidFill>
                <a:srgbClr val="000000"/>
              </a:solidFill>
              <a:effectLst/>
              <a:uFillTx/>
              <a:latin typeface="Arial"/>
            </a:endParaRPr>
          </a:p>
        </p:txBody>
      </p:sp>
      <p:pic>
        <p:nvPicPr>
          <p:cNvPr id="491" name="Picture 1" descr=""/>
          <p:cNvPicPr/>
          <p:nvPr/>
        </p:nvPicPr>
        <p:blipFill>
          <a:blip r:embed="rId1"/>
          <a:stretch/>
        </p:blipFill>
        <p:spPr>
          <a:xfrm>
            <a:off x="5003640" y="1547640"/>
            <a:ext cx="3801600" cy="4397040"/>
          </a:xfrm>
          <a:prstGeom prst="rect">
            <a:avLst/>
          </a:prstGeom>
          <a:noFill/>
          <a:ln w="0">
            <a:noFill/>
          </a:ln>
        </p:spPr>
      </p:pic>
      <p:pic>
        <p:nvPicPr>
          <p:cNvPr id="492" name="Picture 2" descr=""/>
          <p:cNvPicPr/>
          <p:nvPr/>
        </p:nvPicPr>
        <p:blipFill>
          <a:blip r:embed="rId2"/>
          <a:stretch/>
        </p:blipFill>
        <p:spPr>
          <a:xfrm>
            <a:off x="5003640" y="1547640"/>
            <a:ext cx="3801600" cy="4397040"/>
          </a:xfrm>
          <a:prstGeom prst="rect">
            <a:avLst/>
          </a:prstGeom>
          <a:noFill/>
          <a:ln w="0">
            <a:noFill/>
          </a:ln>
        </p:spPr>
      </p:pic>
      <p:pic>
        <p:nvPicPr>
          <p:cNvPr id="493" name="Picture 4" descr=""/>
          <p:cNvPicPr/>
          <p:nvPr/>
        </p:nvPicPr>
        <p:blipFill>
          <a:blip r:embed="rId3"/>
          <a:stretch/>
        </p:blipFill>
        <p:spPr>
          <a:xfrm>
            <a:off x="5003640" y="1547640"/>
            <a:ext cx="3801600" cy="4397040"/>
          </a:xfrm>
          <a:prstGeom prst="rect">
            <a:avLst/>
          </a:prstGeom>
          <a:noFill/>
          <a:ln w="0">
            <a:noFill/>
          </a:ln>
        </p:spPr>
      </p:pic>
      <p:pic>
        <p:nvPicPr>
          <p:cNvPr id="494" name="Picture 6" descr=""/>
          <p:cNvPicPr/>
          <p:nvPr/>
        </p:nvPicPr>
        <p:blipFill>
          <a:blip r:embed="rId4"/>
          <a:stretch/>
        </p:blipFill>
        <p:spPr>
          <a:xfrm>
            <a:off x="0" y="0"/>
            <a:ext cx="5736960" cy="1234800"/>
          </a:xfrm>
          <a:prstGeom prst="rect">
            <a:avLst/>
          </a:prstGeom>
          <a:noFill/>
          <a:ln w="0">
            <a:noFill/>
          </a:ln>
        </p:spPr>
      </p:pic>
    </p:spTree>
  </p:cSld>
  <p:transition spd="slow">
    <p:wipe dir="r"/>
  </p:transition>
  <p:timing>
    <p:tnLst>
      <p:par>
        <p:cTn id="1485" dur="indefinite" restart="never" nodeType="tmRoot">
          <p:childTnLst>
            <p:seq>
              <p:cTn id="1486" dur="indefinite" nodeType="mainSeq">
                <p:childTnLst>
                  <p:par>
                    <p:cTn id="1487" nodeType="clickEffect" fill="hold">
                      <p:stCondLst>
                        <p:cond delay="indefinite"/>
                      </p:stCondLst>
                      <p:childTnLst>
                        <p:par>
                          <p:cTn id="1488" nodeType="withEffect" fill="hold">
                            <p:stCondLst>
                              <p:cond delay="0"/>
                            </p:stCondLst>
                            <p:childTnLst>
                              <p:par>
                                <p:cTn id="1489" nodeType="clickEffect" fill="hold" presetClass="entr" presetID="22" presetSubtype="1">
                                  <p:stCondLst>
                                    <p:cond delay="0"/>
                                  </p:stCondLst>
                                  <p:childTnLst>
                                    <p:set>
                                      <p:cBhvr>
                                        <p:cTn id="1490" dur="1" fill="hold">
                                          <p:stCondLst>
                                            <p:cond delay="0"/>
                                          </p:stCondLst>
                                        </p:cTn>
                                        <p:tgtEl>
                                          <p:spTgt spid="492"/>
                                        </p:tgtEl>
                                        <p:attrNameLst>
                                          <p:attrName>style.visibility</p:attrName>
                                        </p:attrNameLst>
                                      </p:cBhvr>
                                      <p:to>
                                        <p:strVal val="visible"/>
                                      </p:to>
                                    </p:set>
                                    <p:animEffect filter="wipe(up)" transition="in">
                                      <p:cBhvr additive="repl">
                                        <p:cTn id="1491" dur="750"/>
                                        <p:tgtEl>
                                          <p:spTgt spid="492"/>
                                        </p:tgtEl>
                                      </p:cBhvr>
                                    </p:animEffect>
                                  </p:childTnLst>
                                </p:cTn>
                              </p:par>
                            </p:childTnLst>
                          </p:cTn>
                        </p:par>
                      </p:childTnLst>
                    </p:cTn>
                  </p:par>
                  <p:par>
                    <p:cTn id="1492" nodeType="clickEffect" fill="hold">
                      <p:stCondLst>
                        <p:cond delay="indefinite"/>
                      </p:stCondLst>
                      <p:childTnLst>
                        <p:par>
                          <p:cTn id="1493" nodeType="withEffect" fill="hold">
                            <p:stCondLst>
                              <p:cond delay="0"/>
                            </p:stCondLst>
                            <p:childTnLst>
                              <p:par>
                                <p:cTn id="1494" nodeType="clickEffect" fill="hold" presetClass="entr" presetID="22" presetSubtype="8">
                                  <p:stCondLst>
                                    <p:cond delay="0"/>
                                  </p:stCondLst>
                                  <p:childTnLst>
                                    <p:set>
                                      <p:cBhvr>
                                        <p:cTn id="1495" dur="1" fill="hold">
                                          <p:stCondLst>
                                            <p:cond delay="0"/>
                                          </p:stCondLst>
                                        </p:cTn>
                                        <p:tgtEl>
                                          <p:spTgt spid="490">
                                            <p:txEl>
                                              <p:pRg st="1" end="1"/>
                                            </p:txEl>
                                          </p:spTgt>
                                        </p:tgtEl>
                                        <p:attrNameLst>
                                          <p:attrName>style.visibility</p:attrName>
                                        </p:attrNameLst>
                                      </p:cBhvr>
                                      <p:to>
                                        <p:strVal val="visible"/>
                                      </p:to>
                                    </p:set>
                                    <p:animEffect filter="wipe(left)" transition="in">
                                      <p:cBhvr additive="repl">
                                        <p:cTn id="1496" dur="500"/>
                                        <p:tgtEl>
                                          <p:spTgt spid="490">
                                            <p:txEl>
                                              <p:pRg st="1" end="1"/>
                                            </p:txEl>
                                          </p:spTgt>
                                        </p:tgtEl>
                                      </p:cBhvr>
                                    </p:animEffect>
                                  </p:childTnLst>
                                </p:cTn>
                              </p:par>
                            </p:childTnLst>
                          </p:cTn>
                        </p:par>
                      </p:childTnLst>
                    </p:cTn>
                  </p:par>
                  <p:par>
                    <p:cTn id="1497" nodeType="clickEffect" fill="hold">
                      <p:stCondLst>
                        <p:cond delay="indefinite"/>
                      </p:stCondLst>
                      <p:childTnLst>
                        <p:par>
                          <p:cTn id="1498" nodeType="withEffect" fill="hold">
                            <p:stCondLst>
                              <p:cond delay="0"/>
                            </p:stCondLst>
                            <p:childTnLst>
                              <p:par>
                                <p:cTn id="1499" nodeType="clickEffect" fill="hold" presetClass="entr" presetID="10">
                                  <p:stCondLst>
                                    <p:cond delay="0"/>
                                  </p:stCondLst>
                                  <p:childTnLst>
                                    <p:set>
                                      <p:cBhvr>
                                        <p:cTn id="1500" dur="1" fill="hold">
                                          <p:stCondLst>
                                            <p:cond delay="0"/>
                                          </p:stCondLst>
                                        </p:cTn>
                                        <p:tgtEl>
                                          <p:spTgt spid="493"/>
                                        </p:tgtEl>
                                        <p:attrNameLst>
                                          <p:attrName>style.visibility</p:attrName>
                                        </p:attrNameLst>
                                      </p:cBhvr>
                                      <p:to>
                                        <p:strVal val="visible"/>
                                      </p:to>
                                    </p:set>
                                    <p:animEffect filter="fade" transition="in">
                                      <p:cBhvr additive="repl">
                                        <p:cTn id="1501" dur="5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Rectangle 5"/>
          <p:cNvSpPr/>
          <p:nvPr/>
        </p:nvSpPr>
        <p:spPr>
          <a:xfrm>
            <a:off x="360360" y="1511280"/>
            <a:ext cx="4592160" cy="48938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Figure 4 illustrates the economic loss incurred by a traditional record store facing competition from online retailers.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With a loss exceeding </a:t>
            </a:r>
            <a:r>
              <a:rPr b="0" i="1" lang="en-AU" sz="2400" strike="noStrike" u="none">
                <a:solidFill>
                  <a:srgbClr val="000000"/>
                </a:solidFill>
                <a:effectLst/>
                <a:uFillTx/>
                <a:latin typeface="Arial"/>
                <a:ea typeface="ＭＳ Ｐゴシック"/>
              </a:rPr>
              <a:t>TFC</a:t>
            </a:r>
            <a:r>
              <a:rPr b="0" lang="en-AU" sz="2400" strike="noStrike" u="none">
                <a:solidFill>
                  <a:srgbClr val="000000"/>
                </a:solidFill>
                <a:effectLst/>
                <a:uFillTx/>
                <a:latin typeface="Arial"/>
                <a:ea typeface="ＭＳ Ｐゴシック"/>
              </a:rPr>
              <a:t>, the traditional record store exits.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That’s where the record stores have gone.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They’ve exited to avoid the losses created by online competition.</a:t>
            </a:r>
            <a:endParaRPr b="0" lang="en-US" sz="2400" strike="noStrike" u="none">
              <a:solidFill>
                <a:srgbClr val="000000"/>
              </a:solidFill>
              <a:effectLst/>
              <a:uFillTx/>
              <a:latin typeface="Arial"/>
            </a:endParaRPr>
          </a:p>
        </p:txBody>
      </p:sp>
      <p:pic>
        <p:nvPicPr>
          <p:cNvPr id="496" name="Picture 1" descr=""/>
          <p:cNvPicPr/>
          <p:nvPr/>
        </p:nvPicPr>
        <p:blipFill>
          <a:blip r:embed="rId1"/>
          <a:stretch/>
        </p:blipFill>
        <p:spPr>
          <a:xfrm>
            <a:off x="5003640" y="1547640"/>
            <a:ext cx="3801600" cy="4397040"/>
          </a:xfrm>
          <a:prstGeom prst="rect">
            <a:avLst/>
          </a:prstGeom>
          <a:noFill/>
          <a:ln w="0">
            <a:noFill/>
          </a:ln>
        </p:spPr>
      </p:pic>
      <p:pic>
        <p:nvPicPr>
          <p:cNvPr id="497" name="Picture 2" descr=""/>
          <p:cNvPicPr/>
          <p:nvPr/>
        </p:nvPicPr>
        <p:blipFill>
          <a:blip r:embed="rId2"/>
          <a:stretch/>
        </p:blipFill>
        <p:spPr>
          <a:xfrm>
            <a:off x="5003640" y="1547640"/>
            <a:ext cx="3801600" cy="4397040"/>
          </a:xfrm>
          <a:prstGeom prst="rect">
            <a:avLst/>
          </a:prstGeom>
          <a:noFill/>
          <a:ln w="0">
            <a:noFill/>
          </a:ln>
        </p:spPr>
      </p:pic>
      <p:pic>
        <p:nvPicPr>
          <p:cNvPr id="498" name="Picture 4" descr=""/>
          <p:cNvPicPr/>
          <p:nvPr/>
        </p:nvPicPr>
        <p:blipFill>
          <a:blip r:embed="rId3"/>
          <a:stretch/>
        </p:blipFill>
        <p:spPr>
          <a:xfrm>
            <a:off x="5003640" y="1547640"/>
            <a:ext cx="3801600" cy="4397040"/>
          </a:xfrm>
          <a:prstGeom prst="rect">
            <a:avLst/>
          </a:prstGeom>
          <a:noFill/>
          <a:ln w="0">
            <a:noFill/>
          </a:ln>
        </p:spPr>
      </p:pic>
      <p:pic>
        <p:nvPicPr>
          <p:cNvPr id="499" name="Picture 6" descr=""/>
          <p:cNvPicPr/>
          <p:nvPr/>
        </p:nvPicPr>
        <p:blipFill>
          <a:blip r:embed="rId4"/>
          <a:stretch/>
        </p:blipFill>
        <p:spPr>
          <a:xfrm>
            <a:off x="0" y="0"/>
            <a:ext cx="5736960" cy="1234800"/>
          </a:xfrm>
          <a:prstGeom prst="rect">
            <a:avLst/>
          </a:prstGeom>
          <a:noFill/>
          <a:ln w="0">
            <a:noFill/>
          </a:ln>
        </p:spPr>
      </p:pic>
    </p:spTree>
  </p:cSld>
  <p:transition spd="slow">
    <p:wipe dir="r"/>
  </p:transition>
  <p:timing>
    <p:tnLst>
      <p:par>
        <p:cTn id="1502" dur="indefinite" restart="never" nodeType="tmRoot">
          <p:childTnLst>
            <p:seq>
              <p:cTn id="1503" dur="indefinite" nodeType="mainSeq">
                <p:childTnLst>
                  <p:par>
                    <p:cTn id="1504" nodeType="clickEffect" fill="hold">
                      <p:stCondLst>
                        <p:cond delay="0"/>
                      </p:stCondLst>
                      <p:childTnLst>
                        <p:par>
                          <p:cTn id="1505" nodeType="withEffect" fill="hold">
                            <p:stCondLst>
                              <p:cond delay="0"/>
                            </p:stCondLst>
                            <p:childTnLst>
                              <p:par>
                                <p:cTn id="1506" nodeType="withEffect" fill="hold" presetClass="entr" presetID="22" presetSubtype="8">
                                  <p:stCondLst>
                                    <p:cond delay="0"/>
                                  </p:stCondLst>
                                  <p:childTnLst>
                                    <p:set>
                                      <p:cBhvr>
                                        <p:cTn id="1507" dur="1" fill="hold">
                                          <p:stCondLst>
                                            <p:cond delay="0"/>
                                          </p:stCondLst>
                                        </p:cTn>
                                        <p:tgtEl>
                                          <p:spTgt spid="497"/>
                                        </p:tgtEl>
                                        <p:attrNameLst>
                                          <p:attrName>style.visibility</p:attrName>
                                        </p:attrNameLst>
                                      </p:cBhvr>
                                      <p:to>
                                        <p:strVal val="visible"/>
                                      </p:to>
                                    </p:set>
                                    <p:animEffect filter="wipe(left)" transition="in">
                                      <p:cBhvr additive="repl">
                                        <p:cTn id="1508" dur="750"/>
                                        <p:tgtEl>
                                          <p:spTgt spid="497"/>
                                        </p:tgtEl>
                                      </p:cBhvr>
                                    </p:animEffect>
                                  </p:childTnLst>
                                </p:cTn>
                              </p:par>
                              <p:par>
                                <p:cTn id="1509" nodeType="withEffect" fill="hold" presetClass="entr" presetID="10">
                                  <p:stCondLst>
                                    <p:cond delay="300"/>
                                  </p:stCondLst>
                                  <p:childTnLst>
                                    <p:set>
                                      <p:cBhvr>
                                        <p:cTn id="1510" dur="1" fill="hold">
                                          <p:stCondLst>
                                            <p:cond delay="0"/>
                                          </p:stCondLst>
                                        </p:cTn>
                                        <p:tgtEl>
                                          <p:spTgt spid="498"/>
                                        </p:tgtEl>
                                        <p:attrNameLst>
                                          <p:attrName>style.visibility</p:attrName>
                                        </p:attrNameLst>
                                      </p:cBhvr>
                                      <p:to>
                                        <p:strVal val="visible"/>
                                      </p:to>
                                    </p:set>
                                    <p:animEffect filter="fade" transition="in">
                                      <p:cBhvr additive="repl">
                                        <p:cTn id="1511" dur="500"/>
                                        <p:tgtEl>
                                          <p:spTgt spid="498"/>
                                        </p:tgtEl>
                                      </p:cBhvr>
                                    </p:animEffect>
                                  </p:childTnLst>
                                </p:cTn>
                              </p:par>
                            </p:childTnLst>
                          </p:cTn>
                        </p:par>
                      </p:childTnLst>
                    </p:cTn>
                  </p:par>
                  <p:par>
                    <p:cTn id="1512" nodeType="clickEffect" fill="hold">
                      <p:stCondLst>
                        <p:cond delay="indefinite"/>
                      </p:stCondLst>
                      <p:childTnLst>
                        <p:par>
                          <p:cTn id="1513" nodeType="withEffect" fill="hold">
                            <p:stCondLst>
                              <p:cond delay="0"/>
                            </p:stCondLst>
                            <p:childTnLst>
                              <p:par>
                                <p:cTn id="1514" nodeType="clickEffect" fill="hold" presetClass="entr" presetID="22" presetSubtype="8">
                                  <p:stCondLst>
                                    <p:cond delay="0"/>
                                  </p:stCondLst>
                                  <p:childTnLst>
                                    <p:set>
                                      <p:cBhvr>
                                        <p:cTn id="1515" dur="1" fill="hold">
                                          <p:stCondLst>
                                            <p:cond delay="0"/>
                                          </p:stCondLst>
                                        </p:cTn>
                                        <p:tgtEl>
                                          <p:spTgt spid="495">
                                            <p:txEl>
                                              <p:pRg st="1" end="1"/>
                                            </p:txEl>
                                          </p:spTgt>
                                        </p:tgtEl>
                                        <p:attrNameLst>
                                          <p:attrName>style.visibility</p:attrName>
                                        </p:attrNameLst>
                                      </p:cBhvr>
                                      <p:to>
                                        <p:strVal val="visible"/>
                                      </p:to>
                                    </p:set>
                                    <p:animEffect filter="wipe(left)" transition="in">
                                      <p:cBhvr additive="repl">
                                        <p:cTn id="1516" dur="500"/>
                                        <p:tgtEl>
                                          <p:spTgt spid="495">
                                            <p:txEl>
                                              <p:pRg st="1" end="1"/>
                                            </p:txEl>
                                          </p:spTgt>
                                        </p:tgtEl>
                                      </p:cBhvr>
                                    </p:animEffect>
                                  </p:childTnLst>
                                </p:cTn>
                              </p:par>
                            </p:childTnLst>
                          </p:cTn>
                        </p:par>
                      </p:childTnLst>
                    </p:cTn>
                  </p:par>
                  <p:par>
                    <p:cTn id="1517" nodeType="clickEffect" fill="hold">
                      <p:stCondLst>
                        <p:cond delay="indefinite"/>
                      </p:stCondLst>
                      <p:childTnLst>
                        <p:par>
                          <p:cTn id="1518" nodeType="withEffect" fill="hold">
                            <p:stCondLst>
                              <p:cond delay="0"/>
                            </p:stCondLst>
                            <p:childTnLst>
                              <p:par>
                                <p:cTn id="1519" nodeType="clickEffect" fill="hold" presetClass="entr" presetID="22" presetSubtype="8">
                                  <p:stCondLst>
                                    <p:cond delay="0"/>
                                  </p:stCondLst>
                                  <p:childTnLst>
                                    <p:set>
                                      <p:cBhvr>
                                        <p:cTn id="1520" dur="1" fill="hold">
                                          <p:stCondLst>
                                            <p:cond delay="0"/>
                                          </p:stCondLst>
                                        </p:cTn>
                                        <p:tgtEl>
                                          <p:spTgt spid="495">
                                            <p:txEl>
                                              <p:pRg st="2" end="2"/>
                                            </p:txEl>
                                          </p:spTgt>
                                        </p:tgtEl>
                                        <p:attrNameLst>
                                          <p:attrName>style.visibility</p:attrName>
                                        </p:attrNameLst>
                                      </p:cBhvr>
                                      <p:to>
                                        <p:strVal val="visible"/>
                                      </p:to>
                                    </p:set>
                                    <p:animEffect filter="wipe(left)" transition="in">
                                      <p:cBhvr additive="repl">
                                        <p:cTn id="1521" dur="500"/>
                                        <p:tgtEl>
                                          <p:spTgt spid="495">
                                            <p:txEl>
                                              <p:pRg st="2" end="2"/>
                                            </p:txEl>
                                          </p:spTgt>
                                        </p:tgtEl>
                                      </p:cBhvr>
                                    </p:animEffect>
                                  </p:childTnLst>
                                </p:cTn>
                              </p:par>
                            </p:childTnLst>
                          </p:cTn>
                        </p:par>
                      </p:childTnLst>
                    </p:cTn>
                  </p:par>
                  <p:par>
                    <p:cTn id="1522" nodeType="clickEffect" fill="hold">
                      <p:stCondLst>
                        <p:cond delay="indefinite"/>
                      </p:stCondLst>
                      <p:childTnLst>
                        <p:par>
                          <p:cTn id="1523" nodeType="withEffect" fill="hold">
                            <p:stCondLst>
                              <p:cond delay="0"/>
                            </p:stCondLst>
                            <p:childTnLst>
                              <p:par>
                                <p:cTn id="1524" nodeType="clickEffect" fill="hold" presetClass="entr" presetID="22" presetSubtype="8">
                                  <p:stCondLst>
                                    <p:cond delay="0"/>
                                  </p:stCondLst>
                                  <p:childTnLst>
                                    <p:set>
                                      <p:cBhvr>
                                        <p:cTn id="1525" dur="1" fill="hold">
                                          <p:stCondLst>
                                            <p:cond delay="0"/>
                                          </p:stCondLst>
                                        </p:cTn>
                                        <p:tgtEl>
                                          <p:spTgt spid="495">
                                            <p:txEl>
                                              <p:pRg st="3" end="3"/>
                                            </p:txEl>
                                          </p:spTgt>
                                        </p:tgtEl>
                                        <p:attrNameLst>
                                          <p:attrName>style.visibility</p:attrName>
                                        </p:attrNameLst>
                                      </p:cBhvr>
                                      <p:to>
                                        <p:strVal val="visible"/>
                                      </p:to>
                                    </p:set>
                                    <p:animEffect filter="wipe(left)" transition="in">
                                      <p:cBhvr additive="repl">
                                        <p:cTn id="1526" dur="500"/>
                                        <p:tgtEl>
                                          <p:spTgt spid="49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2_foundations">
  <a:themeElements>
    <a:clrScheme name="2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5851</TotalTime>
  <Application>LibreOffice/25.2.3.2$MacOSX_AARCH64 LibreOffice_project/bbb074479178df812d175f709636b368952c2ce3</Application>
  <AppVersion>15.0000</AppVersion>
  <Words>6273</Words>
  <Paragraphs>412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2025-07-29T07:35:52Z</dcterms:modified>
  <cp:revision>224</cp:revision>
  <dc:subject/>
  <dc:title>Chapter14</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13</vt:i4>
  </property>
  <property fmtid="{D5CDD505-2E9C-101B-9397-08002B2CF9AE}" pid="3" name="Notes">
    <vt:i4>95</vt:i4>
  </property>
  <property fmtid="{D5CDD505-2E9C-101B-9397-08002B2CF9AE}" pid="4" name="PresentationFormat">
    <vt:lpwstr>On-screen Show (4:3)</vt:lpwstr>
  </property>
  <property fmtid="{D5CDD505-2E9C-101B-9397-08002B2CF9AE}" pid="5" name="Slides">
    <vt:i4>96</vt:i4>
  </property>
</Properties>
</file>