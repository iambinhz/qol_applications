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4.xml" ContentType="application/vnd.openxmlformats-officedocument.theme+xml"/>
  <Override PartName="/ppt/theme/theme11.xml" ContentType="application/vnd.openxmlformats-officedocument.theme+xml"/>
  <Override PartName="/ppt/slideMasters/slideMaster1.xml" ContentType="application/vnd.openxmlformats-officedocument.presentationml.slideMaster+xml"/>
  <Override PartName="/ppt/slideMasters/slideMaster6.xml" ContentType="application/vnd.openxmlformats-officedocument.presentationml.slideMaster+xml"/>
  <Override PartName="/ppt/slideMasters/slideMaster2.xml" ContentType="application/vnd.openxmlformats-officedocument.presentationml.slideMaster+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5.xml.rels" ContentType="application/vnd.openxmlformats-package.relationships+xml"/>
  <Override PartName="/ppt/slideMasters/_rels/slideMaster7.xml.rels" ContentType="application/vnd.openxmlformats-package.relationships+xml"/>
  <Override PartName="/ppt/slideMasters/_rels/slideMaster2.xml.rels" ContentType="application/vnd.openxmlformats-package.relationships+xml"/>
  <Override PartName="/ppt/slideMasters/_rels/slideMaster6.xml.rels" ContentType="application/vnd.openxmlformats-package.relationships+xml"/>
  <Override PartName="/ppt/slideMasters/_rels/slideMaster1.xml.rels" ContentType="application/vnd.openxmlformats-package.relationships+xml"/>
  <Override PartName="/ppt/slideMasters/slideMaster7.xml" ContentType="application/vnd.openxmlformats-officedocument.presentationml.slideMaster+xml"/>
  <Override PartName="/ppt/slideMasters/slideMaster5.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_rels/slideLayout9.xml.rels" ContentType="application/vnd.openxmlformats-package.relationships+xml"/>
  <Override PartName="/ppt/slideLayouts/_rels/slideLayout11.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17.png" ContentType="image/png"/>
  <Override PartName="/ppt/media/image1.jpeg" ContentType="image/jpeg"/>
  <Override PartName="/ppt/media/image41.png" ContentType="image/png"/>
  <Override PartName="/ppt/media/image37.png" ContentType="image/png"/>
  <Override PartName="/ppt/media/image21.png" ContentType="image/png"/>
  <Override PartName="/ppt/media/image6.png" ContentType="image/png"/>
  <Override PartName="/ppt/media/image13.png" ContentType="image/png"/>
  <Override PartName="/ppt/media/image38.png" ContentType="image/png"/>
  <Override PartName="/ppt/media/image4.png" ContentType="image/png"/>
  <Override PartName="/ppt/media/image11.png" ContentType="image/png"/>
  <Override PartName="/ppt/media/image36.png" ContentType="image/png"/>
  <Override PartName="/ppt/media/image12.png" ContentType="image/png"/>
  <Override PartName="/ppt/media/image5.png" ContentType="image/png"/>
  <Override PartName="/ppt/media/image7.png" ContentType="image/png"/>
  <Override PartName="/ppt/media/image14.png" ContentType="image/png"/>
  <Override PartName="/ppt/media/image39.png" ContentType="image/png"/>
  <Override PartName="/ppt/media/image3.jpeg" ContentType="image/jpeg"/>
  <Override PartName="/ppt/media/image28.png" ContentType="image/png"/>
  <Override PartName="/ppt/media/image16.png" ContentType="image/png"/>
  <Override PartName="/ppt/media/image9.png" ContentType="image/png"/>
  <Override PartName="/ppt/media/image10.png" ContentType="image/png"/>
  <Override PartName="/ppt/media/image69.png" ContentType="image/png"/>
  <Override PartName="/ppt/media/image18.png" ContentType="image/png"/>
  <Override PartName="/ppt/media/image2.jpeg" ContentType="image/jpeg"/>
  <Override PartName="/ppt/media/image19.png" ContentType="image/png"/>
  <Override PartName="/ppt/media/image20.png" ContentType="image/png"/>
  <Override PartName="/ppt/media/image8.png" ContentType="image/png"/>
  <Override PartName="/ppt/media/image15.png" ContentType="image/png"/>
  <Override PartName="/ppt/media/image22.png" ContentType="image/png"/>
  <Override PartName="/ppt/media/image24.png" ContentType="image/png"/>
  <Override PartName="/ppt/media/image25.png" ContentType="image/png"/>
  <Override PartName="/ppt/media/image26.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40.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47.png" ContentType="image/png"/>
  <Override PartName="/ppt/media/image48.png" ContentType="image/png"/>
  <Override PartName="/ppt/media/image49.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media/image27.png" ContentType="image/png"/>
  <Override PartName="/ppt/media/image60.png" ContentType="image/png"/>
  <Override PartName="/ppt/media/image61.png" ContentType="image/png"/>
  <Override PartName="/ppt/media/image29.png" ContentType="image/png"/>
  <Override PartName="/ppt/media/image62.png" ContentType="image/png"/>
  <Override PartName="/ppt/media/image63.png" ContentType="image/png"/>
  <Override PartName="/ppt/media/image64.png" ContentType="image/png"/>
  <Override PartName="/ppt/media/image55.png" ContentType="image/png"/>
  <Override PartName="/ppt/media/image70.png" ContentType="image/png"/>
  <Override PartName="/ppt/media/image65.png" ContentType="image/png"/>
  <Override PartName="/ppt/media/image56.png" ContentType="image/png"/>
  <Override PartName="/ppt/media/image71.png" ContentType="image/png"/>
  <Override PartName="/ppt/media/image66.png" ContentType="image/png"/>
  <Override PartName="/ppt/media/image57.png" ContentType="image/png"/>
  <Override PartName="/ppt/media/image72.png" ContentType="image/png"/>
  <Override PartName="/ppt/media/image67.png" ContentType="image/png"/>
  <Override PartName="/ppt/media/image58.png" ContentType="image/png"/>
  <Override PartName="/ppt/media/image73.png" ContentType="image/png"/>
  <Override PartName="/ppt/media/image68.png" ContentType="image/png"/>
  <Override PartName="/ppt/media/image59.png" ContentType="image/png"/>
  <Override PartName="/ppt/media/image74.png" ContentType="image/png"/>
  <Override PartName="/ppt/media/image75.png" ContentType="image/png"/>
  <Override PartName="/ppt/media/image23.png" ContentType="image/png"/>
  <Override PartName="/ppt/media/image76.png" ContentType="image/png"/>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69.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55.xml" ContentType="application/vnd.openxmlformats-officedocument.presentationml.slide+xml"/>
  <Override PartName="/ppt/slides/slide37.xml" ContentType="application/vnd.openxmlformats-officedocument.presentationml.slide+xml"/>
  <Override PartName="/ppt/slides/slide70.xml" ContentType="application/vnd.openxmlformats-officedocument.presentationml.slide+xml"/>
  <Override PartName="/ppt/slides/slide56.xml" ContentType="application/vnd.openxmlformats-officedocument.presentationml.slide+xml"/>
  <Override PartName="/ppt/slides/slide38.xml" ContentType="application/vnd.openxmlformats-officedocument.presentationml.slide+xml"/>
  <Override PartName="/ppt/slides/slide71.xml" ContentType="application/vnd.openxmlformats-officedocument.presentationml.slide+xml"/>
  <Override PartName="/ppt/slides/slide66.xml" ContentType="application/vnd.openxmlformats-officedocument.presentationml.slide+xml"/>
  <Override PartName="/ppt/slides/slide57.xml" ContentType="application/vnd.openxmlformats-officedocument.presentationml.slide+xml"/>
  <Override PartName="/ppt/slides/_rels/slide77.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74.xml.rels" ContentType="application/vnd.openxmlformats-package.relationships+xml"/>
  <Override PartName="/ppt/slides/_rels/slide59.xml.rels" ContentType="application/vnd.openxmlformats-package.relationships+xml"/>
  <Override PartName="/ppt/slides/_rels/slide68.xml.rels" ContentType="application/vnd.openxmlformats-package.relationships+xml"/>
  <Override PartName="/ppt/slides/_rels/slide73.xml.rels" ContentType="application/vnd.openxmlformats-package.relationships+xml"/>
  <Override PartName="/ppt/slides/_rels/slide58.xml.rels" ContentType="application/vnd.openxmlformats-package.relationships+xml"/>
  <Override PartName="/ppt/slides/_rels/slide67.xml.rels" ContentType="application/vnd.openxmlformats-package.relationships+xml"/>
  <Override PartName="/ppt/slides/_rels/slide72.xml.rels" ContentType="application/vnd.openxmlformats-package.relationships+xml"/>
  <Override PartName="/ppt/slides/_rels/slide39.xml.rels" ContentType="application/vnd.openxmlformats-package.relationships+xml"/>
  <Override PartName="/ppt/slides/_rels/slide57.xml.rels" ContentType="application/vnd.openxmlformats-package.relationships+xml"/>
  <Override PartName="/ppt/slides/_rels/slide66.xml.rels" ContentType="application/vnd.openxmlformats-package.relationships+xml"/>
  <Override PartName="/ppt/slides/_rels/slide71.xml.rels" ContentType="application/vnd.openxmlformats-package.relationships+xml"/>
  <Override PartName="/ppt/slides/_rels/slide38.xml.rels" ContentType="application/vnd.openxmlformats-package.relationships+xml"/>
  <Override PartName="/ppt/slides/_rels/slide56.xml.rels" ContentType="application/vnd.openxmlformats-package.relationships+xml"/>
  <Override PartName="/ppt/slides/_rels/slide70.xml.rels" ContentType="application/vnd.openxmlformats-package.relationships+xml"/>
  <Override PartName="/ppt/slides/_rels/slide37.xml.rels" ContentType="application/vnd.openxmlformats-package.relationships+xml"/>
  <Override PartName="/ppt/slides/_rels/slide55.xml.rels" ContentType="application/vnd.openxmlformats-package.relationships+xml"/>
  <Override PartName="/ppt/slides/_rels/slide65.xml.rels" ContentType="application/vnd.openxmlformats-package.relationships+xml"/>
  <Override PartName="/ppt/slides/_rels/slide64.xml.rels" ContentType="application/vnd.openxmlformats-package.relationships+xml"/>
  <Override PartName="/ppt/slides/_rels/slide63.xml.rels" ContentType="application/vnd.openxmlformats-package.relationships+xml"/>
  <Override PartName="/ppt/slides/_rels/slide62.xml.rels" ContentType="application/vnd.openxmlformats-package.relationships+xml"/>
  <Override PartName="/ppt/slides/_rels/slide61.xml.rels" ContentType="application/vnd.openxmlformats-package.relationships+xml"/>
  <Override PartName="/ppt/slides/_rels/slide60.xml.rels" ContentType="application/vnd.openxmlformats-package.relationships+xml"/>
  <Override PartName="/ppt/slides/_rels/slide54.xml.rels" ContentType="application/vnd.openxmlformats-package.relationships+xml"/>
  <Override PartName="/ppt/slides/_rels/slide53.xml.rels" ContentType="application/vnd.openxmlformats-package.relationships+xml"/>
  <Override PartName="/ppt/slides/_rels/slide52.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5.xml.rels" ContentType="application/vnd.openxmlformats-package.relationships+xml"/>
  <Override PartName="/ppt/slides/_rels/slide45.xml.rels" ContentType="application/vnd.openxmlformats-package.relationships+xml"/>
  <Override PartName="/ppt/slides/_rels/slide4.xml.rels" ContentType="application/vnd.openxmlformats-package.relationships+xml"/>
  <Override PartName="/ppt/slides/_rels/slide44.xml.rels" ContentType="application/vnd.openxmlformats-package.relationships+xml"/>
  <Override PartName="/ppt/slides/_rels/slide9.xml.rels" ContentType="application/vnd.openxmlformats-package.relationships+xml"/>
  <Override PartName="/ppt/slides/_rels/slide49.xml.rels" ContentType="application/vnd.openxmlformats-package.relationships+xml"/>
  <Override PartName="/ppt/slides/_rels/slide3.xml.rels" ContentType="application/vnd.openxmlformats-package.relationships+xml"/>
  <Override PartName="/ppt/slides/_rels/slide43.xml.rels" ContentType="application/vnd.openxmlformats-package.relationships+xml"/>
  <Override PartName="/ppt/slides/_rels/slide8.xml.rels" ContentType="application/vnd.openxmlformats-package.relationships+xml"/>
  <Override PartName="/ppt/slides/_rels/slide48.xml.rels" ContentType="application/vnd.openxmlformats-package.relationships+xml"/>
  <Override PartName="/ppt/slides/_rels/slide2.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47.xml.rels" ContentType="application/vnd.openxmlformats-package.relationships+xml"/>
  <Override PartName="/ppt/slides/_rels/slide1.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46.xml.rels" ContentType="application/vnd.openxmlformats-package.relationships+xml"/>
  <Override PartName="/ppt/slides/_rels/slide40.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8.xml.rels" ContentType="application/vnd.openxmlformats-package.relationships+xml"/>
  <Override PartName="/ppt/slides/_rels/slide27.xml.rels" ContentType="application/vnd.openxmlformats-package.relationships+xml"/>
  <Override PartName="/ppt/slides/_rels/slide26.xml.rels" ContentType="application/vnd.openxmlformats-package.relationships+xml"/>
  <Override PartName="/ppt/slides/_rels/slide25.xml.rels" ContentType="application/vnd.openxmlformats-package.relationships+xml"/>
  <Override PartName="/ppt/slides/_rels/slide24.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21.xml.rels" ContentType="application/vnd.openxmlformats-package.relationships+xml"/>
  <Override PartName="/ppt/slides/_rels/slide30.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20.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6.xml.rels" ContentType="application/vnd.openxmlformats-package.relationships+xml"/>
  <Override PartName="/ppt/slides/_rels/slide10.xml.rels" ContentType="application/vnd.openxmlformats-package.relationships+xml"/>
  <Override PartName="/ppt/slides/_rels/slide69.xml.rels" ContentType="application/vnd.openxmlformats-package.relationships+xml"/>
  <Override PartName="/ppt/slides/_rels/slide29.xml.rels" ContentType="application/vnd.openxmlformats-package.relationships+xml"/>
  <Override PartName="/ppt/slides/_rels/slide11.xml.rels" ContentType="application/vnd.openxmlformats-package.relationships+xml"/>
  <Override PartName="/ppt/slides/_rels/slide31.xml.rels" ContentType="application/vnd.openxmlformats-package.relationships+xml"/>
  <Override PartName="/ppt/slides/slide39.xml" ContentType="application/vnd.openxmlformats-officedocument.presentationml.slide+xml"/>
  <Override PartName="/ppt/slides/slide72.xml" ContentType="application/vnd.openxmlformats-officedocument.presentationml.slide+xml"/>
  <Override PartName="/ppt/slides/slide67.xml" ContentType="application/vnd.openxmlformats-officedocument.presentationml.slide+xml"/>
  <Override PartName="/ppt/slides/slide58.xml" ContentType="application/vnd.openxmlformats-officedocument.presentationml.slide+xml"/>
  <Override PartName="/ppt/slides/slide73.xml" ContentType="application/vnd.openxmlformats-officedocument.presentationml.slide+xml"/>
  <Override PartName="/ppt/slides/slide68.xml" ContentType="application/vnd.openxmlformats-officedocument.presentationml.slide+xml"/>
  <Override PartName="/ppt/slides/slide59.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Slides/_rels/notesSlide77.xml.rels" ContentType="application/vnd.openxmlformats-package.relationships+xml"/>
  <Override PartName="/ppt/notesSlides/_rels/notesSlide76.xml.rels" ContentType="application/vnd.openxmlformats-package.relationships+xml"/>
  <Override PartName="/ppt/notesSlides/_rels/notesSlide75.xml.rels" ContentType="application/vnd.openxmlformats-package.relationships+xml"/>
  <Override PartName="/ppt/notesSlides/_rels/notesSlide74.xml.rels" ContentType="application/vnd.openxmlformats-package.relationships+xml"/>
  <Override PartName="/ppt/notesSlides/_rels/notesSlide59.xml.rels" ContentType="application/vnd.openxmlformats-package.relationships+xml"/>
  <Override PartName="/ppt/notesSlides/_rels/notesSlide68.xml.rels" ContentType="application/vnd.openxmlformats-package.relationships+xml"/>
  <Override PartName="/ppt/notesSlides/_rels/notesSlide73.xml.rels" ContentType="application/vnd.openxmlformats-package.relationships+xml"/>
  <Override PartName="/ppt/notesSlides/_rels/notesSlide58.xml.rels" ContentType="application/vnd.openxmlformats-package.relationships+xml"/>
  <Override PartName="/ppt/notesSlides/_rels/notesSlide67.xml.rels" ContentType="application/vnd.openxmlformats-package.relationships+xml"/>
  <Override PartName="/ppt/notesSlides/_rels/notesSlide72.xml.rels" ContentType="application/vnd.openxmlformats-package.relationships+xml"/>
  <Override PartName="/ppt/notesSlides/_rels/notesSlide57.xml.rels" ContentType="application/vnd.openxmlformats-package.relationships+xml"/>
  <Override PartName="/ppt/notesSlides/_rels/notesSlide66.xml.rels" ContentType="application/vnd.openxmlformats-package.relationships+xml"/>
  <Override PartName="/ppt/notesSlides/_rels/notesSlide71.xml.rels" ContentType="application/vnd.openxmlformats-package.relationships+xml"/>
  <Override PartName="/ppt/notesSlides/_rels/notesSlide56.xml.rels" ContentType="application/vnd.openxmlformats-package.relationships+xml"/>
  <Override PartName="/ppt/notesSlides/_rels/notesSlide70.xml.rels" ContentType="application/vnd.openxmlformats-package.relationships+xml"/>
  <Override PartName="/ppt/notesSlides/_rels/notesSlide55.xml.rels" ContentType="application/vnd.openxmlformats-package.relationships+xml"/>
  <Override PartName="/ppt/notesSlides/_rels/notesSlide65.xml.rels" ContentType="application/vnd.openxmlformats-package.relationships+xml"/>
  <Override PartName="/ppt/notesSlides/_rels/notesSlide64.xml.rels" ContentType="application/vnd.openxmlformats-package.relationships+xml"/>
  <Override PartName="/ppt/notesSlides/_rels/notesSlide60.xml.rels" ContentType="application/vnd.openxmlformats-package.relationships+xml"/>
  <Override PartName="/ppt/notesSlides/_rels/notesSlide6.xml.rels" ContentType="application/vnd.openxmlformats-package.relationships+xml"/>
  <Override PartName="/ppt/notesSlides/_rels/notesSlide54.xml.rels" ContentType="application/vnd.openxmlformats-package.relationships+xml"/>
  <Override PartName="/ppt/notesSlides/_rels/notesSlide53.xml.rels" ContentType="application/vnd.openxmlformats-package.relationships+xml"/>
  <Override PartName="/ppt/notesSlides/_rels/notesSlide9.xml.rels" ContentType="application/vnd.openxmlformats-package.relationships+xml"/>
  <Override PartName="/ppt/notesSlides/_rels/notesSlide63.xml.rels" ContentType="application/vnd.openxmlformats-package.relationships+xml"/>
  <Override PartName="/ppt/notesSlides/_rels/notesSlide52.xml.rels" ContentType="application/vnd.openxmlformats-package.relationships+xml"/>
  <Override PartName="/ppt/notesSlides/_rels/notesSlide8.xml.rels" ContentType="application/vnd.openxmlformats-package.relationships+xml"/>
  <Override PartName="/ppt/notesSlides/_rels/notesSlide62.xml.rels" ContentType="application/vnd.openxmlformats-package.relationships+xml"/>
  <Override PartName="/ppt/notesSlides/_rels/notesSlide51.xml.rels" ContentType="application/vnd.openxmlformats-package.relationships+xml"/>
  <Override PartName="/ppt/notesSlides/_rels/notesSlide7.xml.rels" ContentType="application/vnd.openxmlformats-package.relationships+xml"/>
  <Override PartName="/ppt/notesSlides/_rels/notesSlide61.xml.rels" ContentType="application/vnd.openxmlformats-package.relationships+xml"/>
  <Override PartName="/ppt/notesSlides/_rels/notesSlide49.xml.rels" ContentType="application/vnd.openxmlformats-package.relationships+xml"/>
  <Override PartName="/ppt/notesSlides/_rels/notesSlide48.xml.rels" ContentType="application/vnd.openxmlformats-package.relationships+xml"/>
  <Override PartName="/ppt/notesSlides/_rels/notesSlide47.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44.xml.rels" ContentType="application/vnd.openxmlformats-package.relationships+xml"/>
  <Override PartName="/ppt/notesSlides/_rels/notesSlide43.xml.rels" ContentType="application/vnd.openxmlformats-package.relationships+xml"/>
  <Override PartName="/ppt/notesSlides/_rels/notesSlide42.xml.rels" ContentType="application/vnd.openxmlformats-package.relationships+xml"/>
  <Override PartName="/ppt/notesSlides/_rels/notesSlide41.xml.rels" ContentType="application/vnd.openxmlformats-package.relationships+xml"/>
  <Override PartName="/ppt/notesSlides/_rels/notesSlide40.xml.rels" ContentType="application/vnd.openxmlformats-package.relationships+xml"/>
  <Override PartName="/ppt/notesSlides/_rels/notesSlide36.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31.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_rels/notesSlide28.xml.rels" ContentType="application/vnd.openxmlformats-package.relationships+xml"/>
  <Override PartName="/ppt/notesSlides/_rels/notesSlide27.xml.rels" ContentType="application/vnd.openxmlformats-package.relationships+xml"/>
  <Override PartName="/ppt/notesSlides/_rels/notesSlide26.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12.xml.rels" ContentType="application/vnd.openxmlformats-package.relationships+xml"/>
  <Override PartName="/ppt/notesSlides/_rels/notesSlide1.xml.rels" ContentType="application/vnd.openxmlformats-package.relationships+xml"/>
  <Override PartName="/ppt/notesSlides/_rels/notesSlide39.xml.rels" ContentType="application/vnd.openxmlformats-package.relationships+xml"/>
  <Override PartName="/ppt/notesSlides/_rels/notesSlide18.xml.rels" ContentType="application/vnd.openxmlformats-package.relationships+xml"/>
  <Override PartName="/ppt/notesSlides/_rels/notesSlide50.xml.rels" ContentType="application/vnd.openxmlformats-package.relationships+xml"/>
  <Override PartName="/ppt/notesSlides/_rels/notesSlide17.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69.xml.rels" ContentType="application/vnd.openxmlformats-package.relationships+xml"/>
  <Override PartName="/ppt/notesSlides/_rels/notesSlide16.xml.rels" ContentType="application/vnd.openxmlformats-package.relationships+xml"/>
  <Override PartName="/ppt/notesSlides/_rels/notesSlide4.xml.rels" ContentType="application/vnd.openxmlformats-package.relationships+xml"/>
  <Override PartName="/ppt/notesSlides/_rels/notesSlide15.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3.xml.rels" ContentType="application/vnd.openxmlformats-package.relationships+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1.xml.rels" ContentType="application/vnd.openxmlformats-package.relationships+xml"/>
  <Override PartName="/ppt/notesSlides/_rels/notesSlide38.xml.rels" ContentType="application/vnd.openxmlformats-package.relationships+xml"/>
  <Override PartName="/ppt/notesSlides/_rels/notesSlide11.xml.rels" ContentType="application/vnd.openxmlformats-package.relationships+xml"/>
  <Override PartName="/ppt/notesSlides/_rels/notesSlide37.xml.rels" ContentType="application/vnd.openxmlformats-package.relationships+xml"/>
  <Override PartName="/ppt/notesSlides/notesSlide37.xml" ContentType="application/vnd.openxmlformats-officedocument.presentationml.notesSlide+xml"/>
  <Override PartName="/ppt/notesSlides/notesSlide11.xml" ContentType="application/vnd.openxmlformats-officedocument.presentationml.notesSlide+xml"/>
  <Override PartName="/ppt/notesSlides/notesSlide38.xml" ContentType="application/vnd.openxmlformats-officedocument.presentationml.notesSlide+xml"/>
  <Override PartName="/ppt/notesSlides/notesSlide3.xml" ContentType="application/vnd.openxmlformats-officedocument.presentationml.notesSlide+xml"/>
  <Override PartName="/ppt/notesSlides/notesSlide39.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0.xml" ContentType="application/vnd.openxmlformats-officedocument.presentationml.notesSlide+xml"/>
  <Override PartName="/ppt/notesSlides/notesSlide6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7.xml" ContentType="application/vnd.openxmlformats-officedocument.presentationml.notesSlide+xml"/>
  <Override PartName="/ppt/notesSlides/notesSlide40.xml" ContentType="application/vnd.openxmlformats-officedocument.presentationml.notesSlide+xml"/>
  <Override PartName="/ppt/notesSlides/notesSlide8.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9.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55.xml" ContentType="application/vnd.openxmlformats-officedocument.presentationml.notesSlide+xml"/>
  <Override PartName="/ppt/notesSlides/notesSlide70.xml" ContentType="application/vnd.openxmlformats-officedocument.presentationml.notesSlide+xml"/>
  <Override PartName="/ppt/notesSlides/notesSlide56.xml" ContentType="application/vnd.openxmlformats-officedocument.presentationml.notesSlide+xml"/>
  <Override PartName="/ppt/notesSlides/notesSlide71.xml" ContentType="application/vnd.openxmlformats-officedocument.presentationml.notesSlide+xml"/>
  <Override PartName="/ppt/notesSlides/notesSlide66.xml" ContentType="application/vnd.openxmlformats-officedocument.presentationml.notesSlide+xml"/>
  <Override PartName="/ppt/notesSlides/notesSlide57.xml" ContentType="application/vnd.openxmlformats-officedocument.presentationml.notesSlide+xml"/>
  <Override PartName="/ppt/notesSlides/notesSlide72.xml" ContentType="application/vnd.openxmlformats-officedocument.presentationml.notesSlide+xml"/>
  <Override PartName="/ppt/notesSlides/notesSlide67.xml" ContentType="application/vnd.openxmlformats-officedocument.presentationml.notesSlide+xml"/>
  <Override PartName="/ppt/notesSlides/notesSlide58.xml" ContentType="application/vnd.openxmlformats-officedocument.presentationml.notesSlide+xml"/>
  <Override PartName="/ppt/notesSlides/notesSlide73.xml" ContentType="application/vnd.openxmlformats-officedocument.presentationml.notesSlide+xml"/>
  <Override PartName="/ppt/notesSlides/notesSlide68.xml" ContentType="application/vnd.openxmlformats-officedocument.presentationml.notesSlide+xml"/>
  <Override PartName="/ppt/notesSlides/notesSlide59.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5" r:id="rId4"/>
    <p:sldMasterId id="2147483657" r:id="rId5"/>
    <p:sldMasterId id="2147483659" r:id="rId6"/>
    <p:sldMasterId id="2147483661" r:id="rId7"/>
    <p:sldMasterId id="2147483663"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5.xml"/><Relationship Id="rId5" Type="http://schemas.openxmlformats.org/officeDocument/2006/relationships/slideMaster" Target="slideMasters/slideMaster6.xml"/><Relationship Id="rId6" Type="http://schemas.openxmlformats.org/officeDocument/2006/relationships/slideMaster" Target="slideMasters/slideMaster7.xml"/><Relationship Id="rId7" Type="http://schemas.openxmlformats.org/officeDocument/2006/relationships/slideMaster" Target="slideMasters/slideMaster8.xml"/><Relationship Id="rId8" Type="http://schemas.openxmlformats.org/officeDocument/2006/relationships/slideMaster" Target="slideMasters/slideMaster9.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 Id="rId86" Type="http://schemas.openxmlformats.org/officeDocument/2006/relationships/slide" Target="slides/slide77.xml"/><Relationship Id="rId8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3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3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9"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40"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41"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E32AB1CF-576B-4195-BC2A-7A1398308474}"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Num" idx="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0B492AE5-2956-4354-BBAF-CCF975FFAF2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39" name="PlaceHolder 2"/>
          <p:cNvSpPr>
            <a:spLocks noGrp="1"/>
          </p:cNvSpPr>
          <p:nvPr>
            <p:ph type="sldImg"/>
          </p:nvPr>
        </p:nvSpPr>
        <p:spPr>
          <a:xfrm>
            <a:off x="1143000" y="685800"/>
            <a:ext cx="4571280" cy="3428280"/>
          </a:xfrm>
          <a:prstGeom prst="rect">
            <a:avLst/>
          </a:prstGeom>
          <a:ln w="0">
            <a:noFill/>
          </a:ln>
        </p:spPr>
      </p:sp>
      <p:sp>
        <p:nvSpPr>
          <p:cNvPr id="34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CA" sz="2000" strike="noStrike" u="none">
                <a:solidFill>
                  <a:srgbClr val="000000"/>
                </a:solidFill>
                <a:effectLst/>
                <a:uFillTx/>
                <a:latin typeface="Arial"/>
                <a:ea typeface="ＭＳ Ｐゴシック"/>
              </a:rPr>
              <a:t>Notes and teaching tips: </a:t>
            </a:r>
            <a:r>
              <a:rPr b="0" lang="en-GB" sz="2000" strike="noStrike" u="none">
                <a:solidFill>
                  <a:srgbClr val="000000"/>
                </a:solidFill>
                <a:effectLst/>
                <a:uFillTx/>
                <a:latin typeface="Arial"/>
                <a:ea typeface="ＭＳ Ｐゴシック"/>
              </a:rPr>
              <a:t>5, 32, 39, 40, 41, 56, 57, 75, and 78. </a:t>
            </a:r>
            <a:endParaRPr b="0" lang="en-US" sz="2000" strike="noStrike" u="none">
              <a:solidFill>
                <a:srgbClr val="000000"/>
              </a:solidFill>
              <a:effectLst/>
              <a:uFillTx/>
              <a:latin typeface="Arial"/>
            </a:endParaRPr>
          </a:p>
          <a:p>
            <a:pPr indent="0">
              <a:lnSpc>
                <a:spcPct val="100000"/>
              </a:lnSpc>
              <a:buNone/>
              <a:tabLst>
                <a:tab algn="l" pos="0"/>
              </a:tabLst>
            </a:pPr>
            <a:r>
              <a:rPr b="0" lang="en-CA" sz="2000" strike="noStrike" u="none">
                <a:solidFill>
                  <a:srgbClr val="000000"/>
                </a:solidFill>
                <a:effectLst/>
                <a:uFillTx/>
                <a:latin typeface="Arial"/>
                <a:ea typeface="ＭＳ Ｐゴシック"/>
              </a:rPr>
              <a:t>To view a full-screen figure during a class, click the red “expand” button.</a:t>
            </a:r>
            <a:endParaRPr b="0" lang="en-US" sz="2000" strike="noStrike" u="none">
              <a:solidFill>
                <a:srgbClr val="000000"/>
              </a:solidFill>
              <a:effectLst/>
              <a:uFillTx/>
              <a:latin typeface="Arial"/>
            </a:endParaRPr>
          </a:p>
          <a:p>
            <a:pPr indent="0">
              <a:lnSpc>
                <a:spcPct val="100000"/>
              </a:lnSpc>
              <a:buNone/>
              <a:tabLst>
                <a:tab algn="l" pos="0"/>
              </a:tabLst>
            </a:pPr>
            <a:r>
              <a:rPr b="0" lang="en-CA" sz="2000" strike="noStrike" u="none">
                <a:solidFill>
                  <a:srgbClr val="000000"/>
                </a:solidFill>
                <a:effectLst/>
                <a:uFillTx/>
                <a:latin typeface="Arial"/>
                <a:ea typeface="ＭＳ Ｐゴシック"/>
              </a:rPr>
              <a:t>To return to the previous slide, click the red “shrink” button.</a:t>
            </a:r>
            <a:endParaRPr b="0" lang="en-US" sz="2000" strike="noStrike" u="none">
              <a:solidFill>
                <a:srgbClr val="000000"/>
              </a:solidFill>
              <a:effectLst/>
              <a:uFillTx/>
              <a:latin typeface="Arial"/>
            </a:endParaRPr>
          </a:p>
          <a:p>
            <a:pPr indent="0">
              <a:lnSpc>
                <a:spcPct val="100000"/>
              </a:lnSpc>
              <a:buNone/>
              <a:tabLst>
                <a:tab algn="l" pos="0"/>
              </a:tabLst>
            </a:pPr>
            <a:r>
              <a:rPr b="0" lang="en-CA" sz="2000" strike="noStrike" u="none">
                <a:solidFill>
                  <a:srgbClr val="000000"/>
                </a:solidFill>
                <a:effectLst/>
                <a:uFillTx/>
                <a:latin typeface="Arial"/>
                <a:ea typeface="ＭＳ Ｐゴシック"/>
              </a:rPr>
              <a:t>To advance to the next slide, click anywhere on the full screen figure.</a:t>
            </a:r>
            <a:endParaRPr b="0" lang="en-US" sz="2000" strike="noStrike" u="none">
              <a:solidFill>
                <a:srgbClr val="000000"/>
              </a:solidFill>
              <a:effectLst/>
              <a:uFillTx/>
              <a:latin typeface="Arial"/>
            </a:endParaRPr>
          </a:p>
          <a:p>
            <a:pPr indent="0">
              <a:lnSpc>
                <a:spcPct val="100000"/>
              </a:lnSpc>
              <a:buNone/>
              <a:tabLst>
                <a:tab algn="l" pos="0"/>
              </a:tabLst>
            </a:pPr>
            <a:r>
              <a:rPr b="0" lang="en-CA" sz="2000" strike="noStrike" u="none">
                <a:solidFill>
                  <a:srgbClr val="000000"/>
                </a:solidFill>
                <a:effectLst/>
                <a:uFillTx/>
                <a:latin typeface="Arial"/>
                <a:ea typeface="ＭＳ Ｐゴシック"/>
              </a:rPr>
              <a:t>To enhance your lecture, check out the Lecture Launchers, Land Mines, and Class Activities in the Instructor’s Manual.</a:t>
            </a:r>
            <a:r>
              <a:rPr b="0" lang="en-US"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Num" idx="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32FD7D65-CAA0-43D5-ADED-ADE6EA2EDEB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42" name="PlaceHolder 2"/>
          <p:cNvSpPr>
            <a:spLocks noGrp="1"/>
          </p:cNvSpPr>
          <p:nvPr>
            <p:ph type="sldImg"/>
          </p:nvPr>
        </p:nvSpPr>
        <p:spPr>
          <a:xfrm>
            <a:off x="1143000" y="685800"/>
            <a:ext cx="4571280" cy="3428280"/>
          </a:xfrm>
          <a:prstGeom prst="rect">
            <a:avLst/>
          </a:prstGeom>
          <a:ln w="0">
            <a:noFill/>
          </a:ln>
        </p:spPr>
      </p:sp>
      <p:sp>
        <p:nvSpPr>
          <p:cNvPr id="34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Num" idx="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1158F5F-AF53-4D5B-BD59-E04C95167B4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45" name="PlaceHolder 2"/>
          <p:cNvSpPr>
            <a:spLocks noGrp="1"/>
          </p:cNvSpPr>
          <p:nvPr>
            <p:ph type="sldImg"/>
          </p:nvPr>
        </p:nvSpPr>
        <p:spPr>
          <a:xfrm>
            <a:off x="1143000" y="685800"/>
            <a:ext cx="4571280" cy="3428280"/>
          </a:xfrm>
          <a:prstGeom prst="rect">
            <a:avLst/>
          </a:prstGeom>
          <a:ln w="0">
            <a:noFill/>
          </a:ln>
        </p:spPr>
      </p:sp>
      <p:sp>
        <p:nvSpPr>
          <p:cNvPr id="34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GB" sz="2000" strike="noStrike" u="none">
                <a:solidFill>
                  <a:srgbClr val="000000"/>
                </a:solidFill>
                <a:effectLst/>
                <a:uFillTx/>
                <a:latin typeface="Arial"/>
                <a:ea typeface="ＭＳ Ｐゴシック"/>
              </a:rPr>
              <a:t>Make the discussion of this topic concrete and real. Come to class with something of low but positive value that you’ve going to end up giving to a student. How will the decision about who gets the object be made? </a:t>
            </a:r>
            <a:endParaRPr b="0" lang="en-US" sz="2000" strike="noStrike" u="none">
              <a:solidFill>
                <a:srgbClr val="000000"/>
              </a:solidFill>
              <a:effectLst/>
              <a:uFillTx/>
              <a:latin typeface="Arial"/>
            </a:endParaRPr>
          </a:p>
          <a:p>
            <a:pPr indent="0">
              <a:lnSpc>
                <a:spcPct val="100000"/>
              </a:lnSpc>
              <a:buNone/>
              <a:tabLst>
                <a:tab algn="l" pos="0"/>
              </a:tabLst>
            </a:pPr>
            <a:r>
              <a:rPr b="0" lang="en-GB" sz="2000" strike="noStrike" u="none">
                <a:solidFill>
                  <a:srgbClr val="000000"/>
                </a:solidFill>
                <a:effectLst/>
                <a:uFillTx/>
                <a:latin typeface="Arial"/>
                <a:ea typeface="ＭＳ Ｐゴシック"/>
              </a:rPr>
              <a:t>Make the class debate the pros and cons of each of the methods.</a:t>
            </a:r>
            <a:endParaRPr b="0" lang="en-US" sz="2000" strike="noStrike" u="none">
              <a:solidFill>
                <a:srgbClr val="000000"/>
              </a:solidFill>
              <a:effectLst/>
              <a:uFillTx/>
              <a:latin typeface="Arial"/>
            </a:endParaRPr>
          </a:p>
          <a:p>
            <a:pPr indent="0">
              <a:lnSpc>
                <a:spcPct val="100000"/>
              </a:lnSpc>
              <a:buNone/>
              <a:tabLst>
                <a:tab algn="l" pos="0"/>
              </a:tabLst>
            </a:pPr>
            <a:r>
              <a:rPr b="0" lang="en-GB" sz="2000" strike="noStrike" u="none">
                <a:solidFill>
                  <a:srgbClr val="000000"/>
                </a:solidFill>
                <a:effectLst/>
                <a:uFillTx/>
                <a:latin typeface="Arial"/>
                <a:ea typeface="ＭＳ Ｐゴシック"/>
              </a:rPr>
              <a:t>If you did the demand curve experiment, remind the class that market price allocated the bottles of water.</a:t>
            </a:r>
            <a:endParaRPr b="0" lang="en-US" sz="2000" strike="noStrike" u="none">
              <a:solidFill>
                <a:srgbClr val="000000"/>
              </a:solidFill>
              <a:effectLst/>
              <a:uFillTx/>
              <a:latin typeface="Arial"/>
            </a:endParaRPr>
          </a:p>
          <a:p>
            <a:pPr indent="0">
              <a:lnSpc>
                <a:spcPct val="100000"/>
              </a:lnSpc>
              <a:buNone/>
              <a:tabLst>
                <a:tab algn="l" pos="0"/>
              </a:tabLst>
            </a:pPr>
            <a:r>
              <a:rPr b="0" lang="en-GB" sz="2000" strike="noStrike" u="none">
                <a:solidFill>
                  <a:srgbClr val="000000"/>
                </a:solidFill>
                <a:effectLst/>
                <a:uFillTx/>
                <a:latin typeface="Arial"/>
                <a:ea typeface="ＭＳ Ｐゴシック"/>
              </a:rPr>
              <a:t>The question now is does market price do a good job?</a:t>
            </a:r>
            <a:endParaRPr b="0" lang="en-US" sz="20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Num" idx="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E163381B-60F7-455E-A236-80B82D2FEF5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48" name="PlaceHolder 2"/>
          <p:cNvSpPr>
            <a:spLocks noGrp="1"/>
          </p:cNvSpPr>
          <p:nvPr>
            <p:ph type="sldImg"/>
          </p:nvPr>
        </p:nvSpPr>
        <p:spPr>
          <a:xfrm>
            <a:off x="1143000" y="685800"/>
            <a:ext cx="4571280" cy="3428280"/>
          </a:xfrm>
          <a:prstGeom prst="rect">
            <a:avLst/>
          </a:prstGeom>
          <a:ln w="0">
            <a:noFill/>
          </a:ln>
        </p:spPr>
      </p:sp>
      <p:sp>
        <p:nvSpPr>
          <p:cNvPr id="34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Num" idx="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08842698-FE04-4B4D-9F21-6C7387535CF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51" name="PlaceHolder 2"/>
          <p:cNvSpPr>
            <a:spLocks noGrp="1"/>
          </p:cNvSpPr>
          <p:nvPr>
            <p:ph type="sldImg"/>
          </p:nvPr>
        </p:nvSpPr>
        <p:spPr>
          <a:xfrm>
            <a:off x="1143000" y="685800"/>
            <a:ext cx="4571280" cy="3428280"/>
          </a:xfrm>
          <a:prstGeom prst="rect">
            <a:avLst/>
          </a:prstGeom>
          <a:ln w="0">
            <a:noFill/>
          </a:ln>
        </p:spPr>
      </p:sp>
      <p:sp>
        <p:nvSpPr>
          <p:cNvPr id="35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Num" idx="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B4D3AE9-EBF6-4176-A3C5-D3960E14B77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54" name="PlaceHolder 2"/>
          <p:cNvSpPr>
            <a:spLocks noGrp="1"/>
          </p:cNvSpPr>
          <p:nvPr>
            <p:ph type="sldImg"/>
          </p:nvPr>
        </p:nvSpPr>
        <p:spPr>
          <a:xfrm>
            <a:off x="1143000" y="685800"/>
            <a:ext cx="4571280" cy="3428280"/>
          </a:xfrm>
          <a:prstGeom prst="rect">
            <a:avLst/>
          </a:prstGeom>
          <a:ln w="0">
            <a:noFill/>
          </a:ln>
        </p:spPr>
      </p:sp>
      <p:sp>
        <p:nvSpPr>
          <p:cNvPr id="35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Num" idx="1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38B5EA4D-9E92-4330-B4ED-1FE352F1FCA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57" name="PlaceHolder 2"/>
          <p:cNvSpPr>
            <a:spLocks noGrp="1"/>
          </p:cNvSpPr>
          <p:nvPr>
            <p:ph type="sldImg"/>
          </p:nvPr>
        </p:nvSpPr>
        <p:spPr>
          <a:xfrm>
            <a:off x="1143000" y="685800"/>
            <a:ext cx="4571280" cy="3428280"/>
          </a:xfrm>
          <a:prstGeom prst="rect">
            <a:avLst/>
          </a:prstGeom>
          <a:ln w="0">
            <a:noFill/>
          </a:ln>
        </p:spPr>
      </p:sp>
      <p:sp>
        <p:nvSpPr>
          <p:cNvPr id="35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Num" idx="1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383F93B5-77CD-4C7A-BE9C-1BC40F3AA15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60" name="PlaceHolder 2"/>
          <p:cNvSpPr>
            <a:spLocks noGrp="1"/>
          </p:cNvSpPr>
          <p:nvPr>
            <p:ph type="sldImg"/>
          </p:nvPr>
        </p:nvSpPr>
        <p:spPr>
          <a:xfrm>
            <a:off x="1143000" y="685800"/>
            <a:ext cx="4571280" cy="3428280"/>
          </a:xfrm>
          <a:prstGeom prst="rect">
            <a:avLst/>
          </a:prstGeom>
          <a:ln w="0">
            <a:noFill/>
          </a:ln>
        </p:spPr>
      </p:sp>
      <p:sp>
        <p:nvSpPr>
          <p:cNvPr id="36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Num" idx="1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5AC4054-BBCF-4801-B76F-533E434DC41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63" name="PlaceHolder 2"/>
          <p:cNvSpPr>
            <a:spLocks noGrp="1"/>
          </p:cNvSpPr>
          <p:nvPr>
            <p:ph type="sldImg"/>
          </p:nvPr>
        </p:nvSpPr>
        <p:spPr>
          <a:xfrm>
            <a:off x="1143000" y="685800"/>
            <a:ext cx="4571280" cy="3428280"/>
          </a:xfrm>
          <a:prstGeom prst="rect">
            <a:avLst/>
          </a:prstGeom>
          <a:ln w="0">
            <a:noFill/>
          </a:ln>
        </p:spPr>
      </p:sp>
      <p:sp>
        <p:nvSpPr>
          <p:cNvPr id="36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Num" idx="1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15B81CA-09AC-45A0-BBCB-F7B884E2C50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66" name="PlaceHolder 2"/>
          <p:cNvSpPr>
            <a:spLocks noGrp="1"/>
          </p:cNvSpPr>
          <p:nvPr>
            <p:ph type="sldImg"/>
          </p:nvPr>
        </p:nvSpPr>
        <p:spPr>
          <a:xfrm>
            <a:off x="1143000" y="685800"/>
            <a:ext cx="4571280" cy="3428280"/>
          </a:xfrm>
          <a:prstGeom prst="rect">
            <a:avLst/>
          </a:prstGeom>
          <a:ln w="0">
            <a:noFill/>
          </a:ln>
        </p:spPr>
      </p:sp>
      <p:sp>
        <p:nvSpPr>
          <p:cNvPr id="36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Num" idx="1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65FDE0E-BED9-4FD7-B565-26123C97D17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69" name="PlaceHolder 2"/>
          <p:cNvSpPr>
            <a:spLocks noGrp="1"/>
          </p:cNvSpPr>
          <p:nvPr>
            <p:ph type="sldImg"/>
          </p:nvPr>
        </p:nvSpPr>
        <p:spPr>
          <a:xfrm>
            <a:off x="1143000" y="685800"/>
            <a:ext cx="4571280" cy="3428280"/>
          </a:xfrm>
          <a:prstGeom prst="rect">
            <a:avLst/>
          </a:prstGeom>
          <a:ln w="0">
            <a:noFill/>
          </a:ln>
        </p:spPr>
      </p:sp>
      <p:sp>
        <p:nvSpPr>
          <p:cNvPr id="37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Num" idx="1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7A2BE131-DBF1-4F88-807B-C6A76BBE61E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72" name="PlaceHolder 2"/>
          <p:cNvSpPr>
            <a:spLocks noGrp="1"/>
          </p:cNvSpPr>
          <p:nvPr>
            <p:ph type="sldImg"/>
          </p:nvPr>
        </p:nvSpPr>
        <p:spPr>
          <a:xfrm>
            <a:off x="1143000" y="685800"/>
            <a:ext cx="4571280" cy="3428280"/>
          </a:xfrm>
          <a:prstGeom prst="rect">
            <a:avLst/>
          </a:prstGeom>
          <a:ln w="0">
            <a:noFill/>
          </a:ln>
        </p:spPr>
      </p:sp>
      <p:sp>
        <p:nvSpPr>
          <p:cNvPr id="37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Num" idx="1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B6C1734-EE06-4256-BD97-6371C2FA5C3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75" name="PlaceHolder 2"/>
          <p:cNvSpPr>
            <a:spLocks noGrp="1"/>
          </p:cNvSpPr>
          <p:nvPr>
            <p:ph type="sldImg"/>
          </p:nvPr>
        </p:nvSpPr>
        <p:spPr>
          <a:xfrm>
            <a:off x="1143000" y="685800"/>
            <a:ext cx="4571280" cy="3428280"/>
          </a:xfrm>
          <a:prstGeom prst="rect">
            <a:avLst/>
          </a:prstGeom>
          <a:ln w="0">
            <a:noFill/>
          </a:ln>
        </p:spPr>
      </p:sp>
      <p:sp>
        <p:nvSpPr>
          <p:cNvPr id="37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Num" idx="1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7AA8B48-343C-48A3-8C6C-F270F84FABF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78" name="PlaceHolder 2"/>
          <p:cNvSpPr>
            <a:spLocks noGrp="1"/>
          </p:cNvSpPr>
          <p:nvPr>
            <p:ph type="sldImg"/>
          </p:nvPr>
        </p:nvSpPr>
        <p:spPr>
          <a:xfrm>
            <a:off x="1143000" y="685800"/>
            <a:ext cx="4571280" cy="3428280"/>
          </a:xfrm>
          <a:prstGeom prst="rect">
            <a:avLst/>
          </a:prstGeom>
          <a:ln w="0">
            <a:noFill/>
          </a:ln>
        </p:spPr>
      </p:sp>
      <p:sp>
        <p:nvSpPr>
          <p:cNvPr id="37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Num" idx="1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A5BC43F4-A562-495D-A0A3-C35FBE90E3A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81" name="PlaceHolder 2"/>
          <p:cNvSpPr>
            <a:spLocks noGrp="1"/>
          </p:cNvSpPr>
          <p:nvPr>
            <p:ph type="sldImg"/>
          </p:nvPr>
        </p:nvSpPr>
        <p:spPr>
          <a:xfrm>
            <a:off x="465120" y="204840"/>
            <a:ext cx="5928480" cy="4446000"/>
          </a:xfrm>
          <a:prstGeom prst="rect">
            <a:avLst/>
          </a:prstGeom>
          <a:ln w="0">
            <a:noFill/>
          </a:ln>
        </p:spPr>
      </p:sp>
      <p:sp>
        <p:nvSpPr>
          <p:cNvPr id="382" name="PlaceHolder 3"/>
          <p:cNvSpPr>
            <a:spLocks noGrp="1"/>
          </p:cNvSpPr>
          <p:nvPr>
            <p:ph type="body"/>
          </p:nvPr>
        </p:nvSpPr>
        <p:spPr>
          <a:xfrm>
            <a:off x="220680" y="4838760"/>
            <a:ext cx="6415920" cy="3480840"/>
          </a:xfrm>
          <a:prstGeom prst="rect">
            <a:avLst/>
          </a:prstGeom>
          <a:noFill/>
          <a:ln w="0">
            <a:noFill/>
          </a:ln>
        </p:spPr>
        <p:txBody>
          <a:bodyPr numCol="1" spcCol="0" lIns="84600" rIns="84600" tIns="42120" bIns="421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Num" idx="1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EA785FE-2FE3-46F1-B9ED-675D1357F1F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84" name="PlaceHolder 2"/>
          <p:cNvSpPr>
            <a:spLocks noGrp="1"/>
          </p:cNvSpPr>
          <p:nvPr>
            <p:ph type="sldImg"/>
          </p:nvPr>
        </p:nvSpPr>
        <p:spPr>
          <a:xfrm>
            <a:off x="1143000" y="685800"/>
            <a:ext cx="4571280" cy="3428280"/>
          </a:xfrm>
          <a:prstGeom prst="rect">
            <a:avLst/>
          </a:prstGeom>
          <a:ln w="0">
            <a:noFill/>
          </a:ln>
        </p:spPr>
      </p:sp>
      <p:sp>
        <p:nvSpPr>
          <p:cNvPr id="38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Num" idx="2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8AC52C6A-4998-4B9D-B97B-60ACEA58FD6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87" name="PlaceHolder 2"/>
          <p:cNvSpPr>
            <a:spLocks noGrp="1"/>
          </p:cNvSpPr>
          <p:nvPr>
            <p:ph type="sldImg"/>
          </p:nvPr>
        </p:nvSpPr>
        <p:spPr>
          <a:xfrm>
            <a:off x="465120" y="204840"/>
            <a:ext cx="5928480" cy="4446000"/>
          </a:xfrm>
          <a:prstGeom prst="rect">
            <a:avLst/>
          </a:prstGeom>
          <a:ln w="0">
            <a:noFill/>
          </a:ln>
        </p:spPr>
      </p:sp>
      <p:sp>
        <p:nvSpPr>
          <p:cNvPr id="388" name="PlaceHolder 3"/>
          <p:cNvSpPr>
            <a:spLocks noGrp="1"/>
          </p:cNvSpPr>
          <p:nvPr>
            <p:ph type="body"/>
          </p:nvPr>
        </p:nvSpPr>
        <p:spPr>
          <a:xfrm>
            <a:off x="220680" y="4838760"/>
            <a:ext cx="6415920" cy="3480840"/>
          </a:xfrm>
          <a:prstGeom prst="rect">
            <a:avLst/>
          </a:prstGeom>
          <a:noFill/>
          <a:ln w="0">
            <a:noFill/>
          </a:ln>
        </p:spPr>
        <p:txBody>
          <a:bodyPr numCol="1" spcCol="0" lIns="84600" rIns="84600" tIns="42120" bIns="421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Num" idx="2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2D4B9125-6FA0-481A-A087-52C4468277E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90" name="PlaceHolder 2"/>
          <p:cNvSpPr>
            <a:spLocks noGrp="1"/>
          </p:cNvSpPr>
          <p:nvPr>
            <p:ph type="sldImg"/>
          </p:nvPr>
        </p:nvSpPr>
        <p:spPr>
          <a:xfrm>
            <a:off x="465120" y="204840"/>
            <a:ext cx="5928480" cy="4446000"/>
          </a:xfrm>
          <a:prstGeom prst="rect">
            <a:avLst/>
          </a:prstGeom>
          <a:ln w="0">
            <a:noFill/>
          </a:ln>
        </p:spPr>
      </p:sp>
      <p:sp>
        <p:nvSpPr>
          <p:cNvPr id="391" name="PlaceHolder 3"/>
          <p:cNvSpPr>
            <a:spLocks noGrp="1"/>
          </p:cNvSpPr>
          <p:nvPr>
            <p:ph type="body"/>
          </p:nvPr>
        </p:nvSpPr>
        <p:spPr>
          <a:xfrm>
            <a:off x="220680" y="4838760"/>
            <a:ext cx="6415920" cy="3480840"/>
          </a:xfrm>
          <a:prstGeom prst="rect">
            <a:avLst/>
          </a:prstGeom>
          <a:noFill/>
          <a:ln w="0">
            <a:noFill/>
          </a:ln>
        </p:spPr>
        <p:txBody>
          <a:bodyPr numCol="1" spcCol="0" lIns="84600" rIns="84600" tIns="42120" bIns="421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Num" idx="2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2E724F7D-F19E-46EF-AF0B-290624C0B7A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93" name="PlaceHolder 2"/>
          <p:cNvSpPr>
            <a:spLocks noGrp="1"/>
          </p:cNvSpPr>
          <p:nvPr>
            <p:ph type="sldImg"/>
          </p:nvPr>
        </p:nvSpPr>
        <p:spPr>
          <a:xfrm>
            <a:off x="1143000" y="685800"/>
            <a:ext cx="4571280" cy="3428280"/>
          </a:xfrm>
          <a:prstGeom prst="rect">
            <a:avLst/>
          </a:prstGeom>
          <a:ln w="0">
            <a:noFill/>
          </a:ln>
        </p:spPr>
      </p:sp>
      <p:sp>
        <p:nvSpPr>
          <p:cNvPr id="39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Num" idx="2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2A35231-B568-43B6-A6F1-3F244D2E256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96" name="PlaceHolder 2"/>
          <p:cNvSpPr>
            <a:spLocks noGrp="1"/>
          </p:cNvSpPr>
          <p:nvPr>
            <p:ph type="sldImg"/>
          </p:nvPr>
        </p:nvSpPr>
        <p:spPr>
          <a:xfrm>
            <a:off x="465120" y="204840"/>
            <a:ext cx="5928480" cy="4446000"/>
          </a:xfrm>
          <a:prstGeom prst="rect">
            <a:avLst/>
          </a:prstGeom>
          <a:ln w="0">
            <a:noFill/>
          </a:ln>
        </p:spPr>
      </p:sp>
      <p:sp>
        <p:nvSpPr>
          <p:cNvPr id="397" name="PlaceHolder 3"/>
          <p:cNvSpPr>
            <a:spLocks noGrp="1"/>
          </p:cNvSpPr>
          <p:nvPr>
            <p:ph type="body"/>
          </p:nvPr>
        </p:nvSpPr>
        <p:spPr>
          <a:xfrm>
            <a:off x="220680" y="4838760"/>
            <a:ext cx="6415920" cy="3480840"/>
          </a:xfrm>
          <a:prstGeom prst="rect">
            <a:avLst/>
          </a:prstGeom>
          <a:noFill/>
          <a:ln w="0">
            <a:noFill/>
          </a:ln>
        </p:spPr>
        <p:txBody>
          <a:bodyPr numCol="1" spcCol="0" lIns="84600" rIns="84600" tIns="42120" bIns="421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Num" idx="2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66F7B7B-CD42-45DD-A80D-06BA61541A9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99" name="PlaceHolder 2"/>
          <p:cNvSpPr>
            <a:spLocks noGrp="1"/>
          </p:cNvSpPr>
          <p:nvPr>
            <p:ph type="sldImg"/>
          </p:nvPr>
        </p:nvSpPr>
        <p:spPr>
          <a:xfrm>
            <a:off x="1143000" y="685800"/>
            <a:ext cx="4571280" cy="3428280"/>
          </a:xfrm>
          <a:prstGeom prst="rect">
            <a:avLst/>
          </a:prstGeom>
          <a:ln w="0">
            <a:noFill/>
          </a:ln>
        </p:spPr>
      </p:sp>
      <p:sp>
        <p:nvSpPr>
          <p:cNvPr id="40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Num" idx="2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FEDEA9E2-897B-43C9-8A7F-84F82D0EF3D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02" name="PlaceHolder 2"/>
          <p:cNvSpPr>
            <a:spLocks noGrp="1"/>
          </p:cNvSpPr>
          <p:nvPr>
            <p:ph type="sldImg"/>
          </p:nvPr>
        </p:nvSpPr>
        <p:spPr>
          <a:xfrm>
            <a:off x="465120" y="204840"/>
            <a:ext cx="5928480" cy="4446000"/>
          </a:xfrm>
          <a:prstGeom prst="rect">
            <a:avLst/>
          </a:prstGeom>
          <a:ln w="0">
            <a:noFill/>
          </a:ln>
        </p:spPr>
      </p:sp>
      <p:sp>
        <p:nvSpPr>
          <p:cNvPr id="403" name="PlaceHolder 3"/>
          <p:cNvSpPr>
            <a:spLocks noGrp="1"/>
          </p:cNvSpPr>
          <p:nvPr>
            <p:ph type="body"/>
          </p:nvPr>
        </p:nvSpPr>
        <p:spPr>
          <a:xfrm>
            <a:off x="220680" y="4838760"/>
            <a:ext cx="6415920" cy="3480840"/>
          </a:xfrm>
          <a:prstGeom prst="rect">
            <a:avLst/>
          </a:prstGeom>
          <a:noFill/>
          <a:ln w="0">
            <a:noFill/>
          </a:ln>
        </p:spPr>
        <p:txBody>
          <a:bodyPr numCol="1" spcCol="0" lIns="84600" rIns="84600" tIns="42120" bIns="421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Num" idx="2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AD5C485B-0204-43D5-A1F3-E7D4E93F436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05" name="PlaceHolder 2"/>
          <p:cNvSpPr>
            <a:spLocks noGrp="1"/>
          </p:cNvSpPr>
          <p:nvPr>
            <p:ph type="sldImg"/>
          </p:nvPr>
        </p:nvSpPr>
        <p:spPr>
          <a:xfrm>
            <a:off x="465120" y="204840"/>
            <a:ext cx="5928480" cy="4446000"/>
          </a:xfrm>
          <a:prstGeom prst="rect">
            <a:avLst/>
          </a:prstGeom>
          <a:ln w="0">
            <a:noFill/>
          </a:ln>
        </p:spPr>
      </p:sp>
      <p:sp>
        <p:nvSpPr>
          <p:cNvPr id="406" name="PlaceHolder 3"/>
          <p:cNvSpPr>
            <a:spLocks noGrp="1"/>
          </p:cNvSpPr>
          <p:nvPr>
            <p:ph type="body"/>
          </p:nvPr>
        </p:nvSpPr>
        <p:spPr>
          <a:xfrm>
            <a:off x="220680" y="4838760"/>
            <a:ext cx="6415920" cy="3480840"/>
          </a:xfrm>
          <a:prstGeom prst="rect">
            <a:avLst/>
          </a:prstGeom>
          <a:noFill/>
          <a:ln w="0">
            <a:noFill/>
          </a:ln>
        </p:spPr>
        <p:txBody>
          <a:bodyPr numCol="1" spcCol="0" lIns="84600" rIns="84600" tIns="42120" bIns="421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Num" idx="2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8B0F0EE6-3FF2-46F9-9B19-A61F71F3366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08" name="PlaceHolder 2"/>
          <p:cNvSpPr>
            <a:spLocks noGrp="1"/>
          </p:cNvSpPr>
          <p:nvPr>
            <p:ph type="sldImg"/>
          </p:nvPr>
        </p:nvSpPr>
        <p:spPr>
          <a:xfrm>
            <a:off x="1143000" y="685800"/>
            <a:ext cx="4571280" cy="3428280"/>
          </a:xfrm>
          <a:prstGeom prst="rect">
            <a:avLst/>
          </a:prstGeom>
          <a:ln w="0">
            <a:noFill/>
          </a:ln>
        </p:spPr>
      </p:sp>
      <p:sp>
        <p:nvSpPr>
          <p:cNvPr id="40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Num" idx="2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B3D5CB0-319C-498F-928D-0F85308D9EA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11" name="PlaceHolder 2"/>
          <p:cNvSpPr>
            <a:spLocks noGrp="1"/>
          </p:cNvSpPr>
          <p:nvPr>
            <p:ph type="sldImg"/>
          </p:nvPr>
        </p:nvSpPr>
        <p:spPr>
          <a:xfrm>
            <a:off x="465120" y="204840"/>
            <a:ext cx="5928480" cy="4446000"/>
          </a:xfrm>
          <a:prstGeom prst="rect">
            <a:avLst/>
          </a:prstGeom>
          <a:ln w="0">
            <a:noFill/>
          </a:ln>
        </p:spPr>
      </p:sp>
      <p:sp>
        <p:nvSpPr>
          <p:cNvPr id="412" name="PlaceHolder 3"/>
          <p:cNvSpPr>
            <a:spLocks noGrp="1"/>
          </p:cNvSpPr>
          <p:nvPr>
            <p:ph type="body"/>
          </p:nvPr>
        </p:nvSpPr>
        <p:spPr>
          <a:xfrm>
            <a:off x="220680" y="4838760"/>
            <a:ext cx="6415920" cy="3480840"/>
          </a:xfrm>
          <a:prstGeom prst="rect">
            <a:avLst/>
          </a:prstGeom>
          <a:noFill/>
          <a:ln w="0">
            <a:noFill/>
          </a:ln>
        </p:spPr>
        <p:txBody>
          <a:bodyPr numCol="1" spcCol="0" lIns="84600" rIns="84600" tIns="42120" bIns="421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Num" idx="2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C956E30D-53DC-49DD-9860-AA169D3B802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14" name="PlaceHolder 2"/>
          <p:cNvSpPr>
            <a:spLocks noGrp="1"/>
          </p:cNvSpPr>
          <p:nvPr>
            <p:ph type="sldImg"/>
          </p:nvPr>
        </p:nvSpPr>
        <p:spPr>
          <a:xfrm>
            <a:off x="465120" y="204840"/>
            <a:ext cx="5928480" cy="4446000"/>
          </a:xfrm>
          <a:prstGeom prst="rect">
            <a:avLst/>
          </a:prstGeom>
          <a:ln w="0">
            <a:noFill/>
          </a:ln>
        </p:spPr>
      </p:sp>
      <p:sp>
        <p:nvSpPr>
          <p:cNvPr id="415" name="PlaceHolder 3"/>
          <p:cNvSpPr>
            <a:spLocks noGrp="1"/>
          </p:cNvSpPr>
          <p:nvPr>
            <p:ph type="body"/>
          </p:nvPr>
        </p:nvSpPr>
        <p:spPr>
          <a:xfrm>
            <a:off x="220680" y="4838760"/>
            <a:ext cx="6415920" cy="3480840"/>
          </a:xfrm>
          <a:prstGeom prst="rect">
            <a:avLst/>
          </a:prstGeom>
          <a:noFill/>
          <a:ln w="0">
            <a:noFill/>
          </a:ln>
        </p:spPr>
        <p:txBody>
          <a:bodyPr numCol="1" spcCol="0" lIns="84600" rIns="84600" tIns="42120" bIns="421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Num" idx="3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378EA80F-4C7F-414B-A29F-9BE1A10EC72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17" name="PlaceHolder 2"/>
          <p:cNvSpPr>
            <a:spLocks noGrp="1"/>
          </p:cNvSpPr>
          <p:nvPr>
            <p:ph type="sldImg"/>
          </p:nvPr>
        </p:nvSpPr>
        <p:spPr>
          <a:xfrm>
            <a:off x="1143000" y="685800"/>
            <a:ext cx="4571280" cy="3428280"/>
          </a:xfrm>
          <a:prstGeom prst="rect">
            <a:avLst/>
          </a:prstGeom>
          <a:ln w="0">
            <a:noFill/>
          </a:ln>
        </p:spPr>
      </p:sp>
      <p:sp>
        <p:nvSpPr>
          <p:cNvPr id="41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Num" idx="3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A5F9C0C-7ED9-4486-AB0E-50DCFA5AF95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20" name="PlaceHolder 2"/>
          <p:cNvSpPr>
            <a:spLocks noGrp="1"/>
          </p:cNvSpPr>
          <p:nvPr>
            <p:ph type="sldImg"/>
          </p:nvPr>
        </p:nvSpPr>
        <p:spPr>
          <a:xfrm>
            <a:off x="465120" y="204840"/>
            <a:ext cx="5928480" cy="4446000"/>
          </a:xfrm>
          <a:prstGeom prst="rect">
            <a:avLst/>
          </a:prstGeom>
          <a:ln w="0">
            <a:noFill/>
          </a:ln>
        </p:spPr>
      </p:sp>
      <p:sp>
        <p:nvSpPr>
          <p:cNvPr id="421" name="PlaceHolder 3"/>
          <p:cNvSpPr>
            <a:spLocks noGrp="1"/>
          </p:cNvSpPr>
          <p:nvPr>
            <p:ph type="body"/>
          </p:nvPr>
        </p:nvSpPr>
        <p:spPr>
          <a:xfrm>
            <a:off x="220680" y="4838760"/>
            <a:ext cx="6415920" cy="3480840"/>
          </a:xfrm>
          <a:prstGeom prst="rect">
            <a:avLst/>
          </a:prstGeom>
          <a:noFill/>
          <a:ln w="0">
            <a:noFill/>
          </a:ln>
        </p:spPr>
        <p:txBody>
          <a:bodyPr numCol="1" spcCol="0" lIns="84600" rIns="84600" tIns="42120" bIns="421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Num" idx="3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6B9E4F7-8B05-4ABA-9927-2C0ED5917B6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23" name="PlaceHolder 2"/>
          <p:cNvSpPr>
            <a:spLocks noGrp="1"/>
          </p:cNvSpPr>
          <p:nvPr>
            <p:ph type="sldImg"/>
          </p:nvPr>
        </p:nvSpPr>
        <p:spPr>
          <a:xfrm>
            <a:off x="1143000" y="685800"/>
            <a:ext cx="4571280" cy="3428280"/>
          </a:xfrm>
          <a:prstGeom prst="rect">
            <a:avLst/>
          </a:prstGeom>
          <a:ln w="0">
            <a:noFill/>
          </a:ln>
        </p:spPr>
      </p:sp>
      <p:sp>
        <p:nvSpPr>
          <p:cNvPr id="42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Num" idx="3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CCB55BF-91B5-4DD8-9B2C-25BFFB87AE5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26" name="PlaceHolder 2"/>
          <p:cNvSpPr>
            <a:spLocks noGrp="1"/>
          </p:cNvSpPr>
          <p:nvPr>
            <p:ph type="sldImg"/>
          </p:nvPr>
        </p:nvSpPr>
        <p:spPr>
          <a:xfrm>
            <a:off x="1143000" y="685800"/>
            <a:ext cx="4571280" cy="3428280"/>
          </a:xfrm>
          <a:prstGeom prst="rect">
            <a:avLst/>
          </a:prstGeom>
          <a:ln w="0">
            <a:noFill/>
          </a:ln>
        </p:spPr>
      </p:sp>
      <p:sp>
        <p:nvSpPr>
          <p:cNvPr id="42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AU" sz="2000" strike="noStrike" u="none">
                <a:solidFill>
                  <a:srgbClr val="000000"/>
                </a:solidFill>
                <a:effectLst/>
                <a:uFillTx/>
                <a:latin typeface="Times New Roman"/>
              </a:rPr>
              <a:t>Draw a demand curve and emphasize its two interpretations.</a:t>
            </a:r>
            <a:endParaRPr b="0" lang="en-US" sz="2000" strike="noStrike" u="none">
              <a:solidFill>
                <a:srgbClr val="000000"/>
              </a:solidFill>
              <a:effectLst/>
              <a:uFillTx/>
              <a:latin typeface="Arial"/>
            </a:endParaRPr>
          </a:p>
          <a:p>
            <a:pPr indent="0">
              <a:lnSpc>
                <a:spcPct val="100000"/>
              </a:lnSpc>
              <a:buNone/>
              <a:tabLst>
                <a:tab algn="l" pos="0"/>
              </a:tabLst>
            </a:pPr>
            <a:r>
              <a:rPr b="0" lang="en-AU" sz="2000" strike="noStrike" u="none">
                <a:solidFill>
                  <a:srgbClr val="000000"/>
                </a:solidFill>
                <a:effectLst/>
                <a:uFillTx/>
                <a:latin typeface="Times New Roman"/>
              </a:rPr>
              <a:t>Use numbers for the price and quantity to make the otherwise abstract discussion more concrete.</a:t>
            </a:r>
            <a:endParaRPr b="0" lang="en-US" sz="2000" strike="noStrike" u="non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Num" idx="3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8E8B7F3-083B-49B9-897F-BC6B7D031D2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29" name="PlaceHolder 2"/>
          <p:cNvSpPr>
            <a:spLocks noGrp="1"/>
          </p:cNvSpPr>
          <p:nvPr>
            <p:ph type="sldImg"/>
          </p:nvPr>
        </p:nvSpPr>
        <p:spPr>
          <a:xfrm>
            <a:off x="1143000" y="685800"/>
            <a:ext cx="4571280" cy="3428280"/>
          </a:xfrm>
          <a:prstGeom prst="rect">
            <a:avLst/>
          </a:prstGeom>
          <a:ln w="0">
            <a:noFill/>
          </a:ln>
        </p:spPr>
      </p:sp>
      <p:sp>
        <p:nvSpPr>
          <p:cNvPr id="43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Num" idx="3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08902CD4-9829-4A62-963E-88BD8FC714C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32" name="PlaceHolder 2"/>
          <p:cNvSpPr>
            <a:spLocks noGrp="1"/>
          </p:cNvSpPr>
          <p:nvPr>
            <p:ph type="sldImg"/>
          </p:nvPr>
        </p:nvSpPr>
        <p:spPr>
          <a:xfrm>
            <a:off x="1143000" y="685800"/>
            <a:ext cx="4571280" cy="3428280"/>
          </a:xfrm>
          <a:prstGeom prst="rect">
            <a:avLst/>
          </a:prstGeom>
          <a:ln w="0">
            <a:noFill/>
          </a:ln>
        </p:spPr>
      </p:sp>
      <p:sp>
        <p:nvSpPr>
          <p:cNvPr id="43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Num" idx="3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5A893AF4-D7A8-4DBE-86D4-5F16B64D258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35" name="PlaceHolder 2"/>
          <p:cNvSpPr>
            <a:spLocks noGrp="1"/>
          </p:cNvSpPr>
          <p:nvPr>
            <p:ph type="sldImg"/>
          </p:nvPr>
        </p:nvSpPr>
        <p:spPr>
          <a:xfrm>
            <a:off x="1143000" y="685800"/>
            <a:ext cx="4571280" cy="3428280"/>
          </a:xfrm>
          <a:prstGeom prst="rect">
            <a:avLst/>
          </a:prstGeom>
          <a:ln w="0">
            <a:noFill/>
          </a:ln>
        </p:spPr>
      </p:sp>
      <p:sp>
        <p:nvSpPr>
          <p:cNvPr id="43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Num" idx="3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C7EBE9AE-3AD6-4D0B-B82F-81DC4986966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38" name="PlaceHolder 2"/>
          <p:cNvSpPr>
            <a:spLocks noGrp="1"/>
          </p:cNvSpPr>
          <p:nvPr>
            <p:ph type="sldImg"/>
          </p:nvPr>
        </p:nvSpPr>
        <p:spPr>
          <a:xfrm>
            <a:off x="1143000" y="685800"/>
            <a:ext cx="4571280" cy="3428280"/>
          </a:xfrm>
          <a:prstGeom prst="rect">
            <a:avLst/>
          </a:prstGeom>
          <a:ln w="0">
            <a:noFill/>
          </a:ln>
        </p:spPr>
      </p:sp>
      <p:sp>
        <p:nvSpPr>
          <p:cNvPr id="43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Num" idx="3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2CE07AC7-E281-4A67-A8AD-811D3142EAF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41" name="PlaceHolder 2"/>
          <p:cNvSpPr>
            <a:spLocks noGrp="1"/>
          </p:cNvSpPr>
          <p:nvPr>
            <p:ph type="sldImg"/>
          </p:nvPr>
        </p:nvSpPr>
        <p:spPr>
          <a:xfrm>
            <a:off x="1143000" y="685800"/>
            <a:ext cx="4571280" cy="3428280"/>
          </a:xfrm>
          <a:prstGeom prst="rect">
            <a:avLst/>
          </a:prstGeom>
          <a:ln w="0">
            <a:noFill/>
          </a:ln>
        </p:spPr>
      </p:sp>
      <p:sp>
        <p:nvSpPr>
          <p:cNvPr id="44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Num" idx="3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7F638D2D-11F8-482D-B717-501A2A757CD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44" name="PlaceHolder 2"/>
          <p:cNvSpPr>
            <a:spLocks noGrp="1"/>
          </p:cNvSpPr>
          <p:nvPr>
            <p:ph type="sldImg"/>
          </p:nvPr>
        </p:nvSpPr>
        <p:spPr>
          <a:xfrm>
            <a:off x="1143000" y="685800"/>
            <a:ext cx="4571280" cy="3428280"/>
          </a:xfrm>
          <a:prstGeom prst="rect">
            <a:avLst/>
          </a:prstGeom>
          <a:ln w="0">
            <a:noFill/>
          </a:ln>
        </p:spPr>
      </p:sp>
      <p:sp>
        <p:nvSpPr>
          <p:cNvPr id="44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Num" idx="4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42725D8-F605-4382-A889-E9FE224E576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47" name="PlaceHolder 2"/>
          <p:cNvSpPr>
            <a:spLocks noGrp="1"/>
          </p:cNvSpPr>
          <p:nvPr>
            <p:ph type="sldImg"/>
          </p:nvPr>
        </p:nvSpPr>
        <p:spPr>
          <a:xfrm>
            <a:off x="1143000" y="685800"/>
            <a:ext cx="4571280" cy="3428280"/>
          </a:xfrm>
          <a:prstGeom prst="rect">
            <a:avLst/>
          </a:prstGeom>
          <a:ln w="0">
            <a:noFill/>
          </a:ln>
        </p:spPr>
      </p:sp>
      <p:sp>
        <p:nvSpPr>
          <p:cNvPr id="44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90000"/>
              </a:lnSpc>
              <a:buNone/>
              <a:tabLst>
                <a:tab algn="l" pos="0"/>
              </a:tabLst>
            </a:pPr>
            <a:r>
              <a:rPr b="0" lang="en-AU" sz="2000" strike="noStrike" u="none">
                <a:solidFill>
                  <a:srgbClr val="000000"/>
                </a:solidFill>
                <a:effectLst/>
                <a:uFillTx/>
                <a:latin typeface="Arial"/>
                <a:ea typeface="ＭＳ Ｐゴシック"/>
              </a:rPr>
              <a:t>The consumer surplus, producer surplus, and deadweight loss are all generally triangular in shape. Indeed, if you draw only linear demand and supply curves and do not make either curve vertical or horizontal, these surpluses and any deadweight loss are triangles. So, it is a good idea to remind your students of the formula for calculating the area of a triangle. Make sure to do several examples of the calculation for both consumer and producer surplus. Remind them that this area represents a dollar value. This reminder is especially useful when you quantify the deadweight losses created by monopolies, quotas, subsidies, etc. Many students just see the loss to society as a loss of jobs or less output, but you can create more intuition by putting the loss in dollar terms.</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Num" idx="4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A7E8366B-412A-4F3D-A08B-DF92AB6B277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50" name="PlaceHolder 2"/>
          <p:cNvSpPr>
            <a:spLocks noGrp="1"/>
          </p:cNvSpPr>
          <p:nvPr>
            <p:ph type="sldImg"/>
          </p:nvPr>
        </p:nvSpPr>
        <p:spPr>
          <a:xfrm>
            <a:off x="1143000" y="685800"/>
            <a:ext cx="4571280" cy="3428280"/>
          </a:xfrm>
          <a:prstGeom prst="rect">
            <a:avLst/>
          </a:prstGeom>
          <a:ln w="0">
            <a:noFill/>
          </a:ln>
        </p:spPr>
      </p:sp>
      <p:sp>
        <p:nvSpPr>
          <p:cNvPr id="45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AU" sz="2000" strike="noStrike" u="none">
                <a:solidFill>
                  <a:srgbClr val="000000"/>
                </a:solidFill>
                <a:effectLst/>
                <a:uFillTx/>
                <a:latin typeface="Times New Roman"/>
              </a:rPr>
              <a:t>It always helps to use colored chalk, overheads, or PowerPoint slides when dividing up the demand-supply graph into producer surplus, consumer surplus, and deadweight loss. By using colored chalk or the other techniques, you can refer to area by color.</a:t>
            </a:r>
            <a:endParaRPr b="0" lang="en-US" sz="2000" strike="noStrike" u="none">
              <a:solidFill>
                <a:srgbClr val="000000"/>
              </a:solidFill>
              <a:effectLst/>
              <a:uFillTx/>
              <a:latin typeface="Arial"/>
            </a:endParaRPr>
          </a:p>
          <a:p>
            <a:pPr indent="0">
              <a:lnSpc>
                <a:spcPct val="100000"/>
              </a:lnSpc>
              <a:buNone/>
              <a:tabLst>
                <a:tab algn="l" pos="0"/>
              </a:tabLst>
            </a:pPr>
            <a:r>
              <a:rPr b="0" lang="en-AU" sz="2000" strike="noStrike" u="none">
                <a:solidFill>
                  <a:srgbClr val="000000"/>
                </a:solidFill>
                <a:effectLst/>
                <a:uFillTx/>
                <a:latin typeface="Times New Roman"/>
              </a:rPr>
              <a:t>In the text and PPT slides, we use color consistently:</a:t>
            </a:r>
            <a:endParaRPr b="0" lang="en-US" sz="2000" strike="noStrike" u="none">
              <a:solidFill>
                <a:srgbClr val="000000"/>
              </a:solidFill>
              <a:effectLst/>
              <a:uFillTx/>
              <a:latin typeface="Arial"/>
            </a:endParaRPr>
          </a:p>
          <a:p>
            <a:pPr indent="0">
              <a:lnSpc>
                <a:spcPct val="100000"/>
              </a:lnSpc>
              <a:buNone/>
              <a:tabLst>
                <a:tab algn="l" pos="0"/>
              </a:tabLst>
            </a:pPr>
            <a:r>
              <a:rPr b="0" lang="en-AU" sz="2000" strike="noStrike" u="none">
                <a:solidFill>
                  <a:srgbClr val="000000"/>
                </a:solidFill>
                <a:effectLst/>
                <a:uFillTx/>
                <a:latin typeface="Times New Roman"/>
              </a:rPr>
              <a:t>Consumer surplus is green</a:t>
            </a:r>
            <a:endParaRPr b="0" lang="en-US" sz="2000" strike="noStrike" u="none">
              <a:solidFill>
                <a:srgbClr val="000000"/>
              </a:solidFill>
              <a:effectLst/>
              <a:uFillTx/>
              <a:latin typeface="Arial"/>
            </a:endParaRPr>
          </a:p>
          <a:p>
            <a:pPr indent="0">
              <a:lnSpc>
                <a:spcPct val="100000"/>
              </a:lnSpc>
              <a:buNone/>
              <a:tabLst>
                <a:tab algn="l" pos="0"/>
              </a:tabLst>
            </a:pPr>
            <a:r>
              <a:rPr b="0" lang="en-AU" sz="2000" strike="noStrike" u="none">
                <a:solidFill>
                  <a:srgbClr val="000000"/>
                </a:solidFill>
                <a:effectLst/>
                <a:uFillTx/>
                <a:latin typeface="Times New Roman"/>
              </a:rPr>
              <a:t>Producer surplus is blue</a:t>
            </a:r>
            <a:endParaRPr b="0" lang="en-US" sz="2000" strike="noStrike" u="none">
              <a:solidFill>
                <a:srgbClr val="000000"/>
              </a:solidFill>
              <a:effectLst/>
              <a:uFillTx/>
              <a:latin typeface="Arial"/>
            </a:endParaRPr>
          </a:p>
          <a:p>
            <a:pPr indent="0">
              <a:lnSpc>
                <a:spcPct val="100000"/>
              </a:lnSpc>
              <a:buNone/>
              <a:tabLst>
                <a:tab algn="l" pos="0"/>
              </a:tabLst>
            </a:pPr>
            <a:r>
              <a:rPr b="0" lang="en-AU" sz="2000" strike="noStrike" u="none">
                <a:solidFill>
                  <a:srgbClr val="000000"/>
                </a:solidFill>
                <a:effectLst/>
                <a:uFillTx/>
                <a:latin typeface="Times New Roman"/>
              </a:rPr>
              <a:t>Total expenditure is blue</a:t>
            </a:r>
            <a:endParaRPr b="0" lang="en-US" sz="2000" strike="noStrike" u="none">
              <a:solidFill>
                <a:srgbClr val="000000"/>
              </a:solidFill>
              <a:effectLst/>
              <a:uFillTx/>
              <a:latin typeface="Arial"/>
            </a:endParaRPr>
          </a:p>
          <a:p>
            <a:pPr indent="0">
              <a:lnSpc>
                <a:spcPct val="100000"/>
              </a:lnSpc>
              <a:buNone/>
              <a:tabLst>
                <a:tab algn="l" pos="0"/>
              </a:tabLst>
            </a:pPr>
            <a:r>
              <a:rPr b="0" lang="en-AU" sz="2000" strike="noStrike" u="none">
                <a:solidFill>
                  <a:srgbClr val="000000"/>
                </a:solidFill>
                <a:effectLst/>
                <a:uFillTx/>
                <a:latin typeface="Times New Roman"/>
              </a:rPr>
              <a:t>Total cost is red</a:t>
            </a:r>
            <a:endParaRPr b="0" lang="en-US" sz="2000" strike="noStrike" u="none">
              <a:solidFill>
                <a:srgbClr val="000000"/>
              </a:solidFill>
              <a:effectLst/>
              <a:uFillTx/>
              <a:latin typeface="Arial"/>
            </a:endParaRPr>
          </a:p>
          <a:p>
            <a:pPr indent="0">
              <a:lnSpc>
                <a:spcPct val="100000"/>
              </a:lnSpc>
              <a:buNone/>
              <a:tabLst>
                <a:tab algn="l" pos="0"/>
              </a:tabLst>
            </a:pPr>
            <a:r>
              <a:rPr b="0" lang="en-AU" sz="2000" strike="noStrike" u="none">
                <a:solidFill>
                  <a:srgbClr val="000000"/>
                </a:solidFill>
                <a:effectLst/>
                <a:uFillTx/>
                <a:latin typeface="Times New Roman"/>
              </a:rPr>
              <a:t>Deadweight loss is gray.</a:t>
            </a:r>
            <a:endParaRPr b="0" lang="en-US" sz="2000" strike="noStrike" u="non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Num" idx="4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E339F27C-E6B8-46BD-A7EE-01C9A346236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53" name="PlaceHolder 2"/>
          <p:cNvSpPr>
            <a:spLocks noGrp="1"/>
          </p:cNvSpPr>
          <p:nvPr>
            <p:ph type="sldImg"/>
          </p:nvPr>
        </p:nvSpPr>
        <p:spPr>
          <a:xfrm>
            <a:off x="1143000" y="685800"/>
            <a:ext cx="4571280" cy="3428280"/>
          </a:xfrm>
          <a:prstGeom prst="rect">
            <a:avLst/>
          </a:prstGeom>
          <a:ln w="0">
            <a:noFill/>
          </a:ln>
        </p:spPr>
      </p:sp>
      <p:sp>
        <p:nvSpPr>
          <p:cNvPr id="45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90000"/>
              </a:lnSpc>
              <a:buNone/>
              <a:tabLst>
                <a:tab algn="l" pos="0"/>
              </a:tabLst>
            </a:pPr>
            <a:r>
              <a:rPr b="0" lang="en-AU" sz="2000" strike="noStrike" u="none">
                <a:solidFill>
                  <a:srgbClr val="000000"/>
                </a:solidFill>
                <a:effectLst/>
                <a:uFillTx/>
                <a:latin typeface="Arial"/>
                <a:ea typeface="ＭＳ Ｐゴシック"/>
              </a:rPr>
              <a:t>The consumer surplus, producer surplus, and deadweight loss are all generally triangular in shape. Indeed, if you draw only linear demand and supply curves and do not make either curve vertical or horizontal, these surpluses and any deadweight loss are triangles. So, it is a good idea to remind your students of the formula for calculating the area of a triangle. Make sure to do several examples of the calculation for both consumer and producer surplus. Remind them that this area represents a dollar value. This reminder is especially useful when you quantify the deadweight losses created by monopolies, quotas, subsidies, etc. Many students just see the loss to society as a loss of jobs or less output, but you can create more intuition by putting the loss in dollar terms.</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Num" idx="4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4BFD915-A617-4CA2-847E-B7BF04EEA45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56" name="PlaceHolder 2"/>
          <p:cNvSpPr>
            <a:spLocks noGrp="1"/>
          </p:cNvSpPr>
          <p:nvPr>
            <p:ph type="sldImg"/>
          </p:nvPr>
        </p:nvSpPr>
        <p:spPr>
          <a:xfrm>
            <a:off x="1143000" y="685800"/>
            <a:ext cx="4571280" cy="3428280"/>
          </a:xfrm>
          <a:prstGeom prst="rect">
            <a:avLst/>
          </a:prstGeom>
          <a:ln w="0">
            <a:noFill/>
          </a:ln>
        </p:spPr>
      </p:sp>
      <p:sp>
        <p:nvSpPr>
          <p:cNvPr id="45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Num" idx="4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8BB63BE4-A926-40C5-B8BE-04F094EB392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59" name="PlaceHolder 2"/>
          <p:cNvSpPr>
            <a:spLocks noGrp="1"/>
          </p:cNvSpPr>
          <p:nvPr>
            <p:ph type="sldImg"/>
          </p:nvPr>
        </p:nvSpPr>
        <p:spPr>
          <a:xfrm>
            <a:off x="1143000" y="685800"/>
            <a:ext cx="4571280" cy="3428280"/>
          </a:xfrm>
          <a:prstGeom prst="rect">
            <a:avLst/>
          </a:prstGeom>
          <a:ln w="0">
            <a:noFill/>
          </a:ln>
        </p:spPr>
      </p:sp>
      <p:sp>
        <p:nvSpPr>
          <p:cNvPr id="46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Num" idx="4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508D74E-2A76-4C23-B48C-1CF5E1C9DDF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62" name="PlaceHolder 2"/>
          <p:cNvSpPr>
            <a:spLocks noGrp="1"/>
          </p:cNvSpPr>
          <p:nvPr>
            <p:ph type="sldImg"/>
          </p:nvPr>
        </p:nvSpPr>
        <p:spPr>
          <a:xfrm>
            <a:off x="1143000" y="685800"/>
            <a:ext cx="4571280" cy="3428280"/>
          </a:xfrm>
          <a:prstGeom prst="rect">
            <a:avLst/>
          </a:prstGeom>
          <a:ln w="0">
            <a:noFill/>
          </a:ln>
        </p:spPr>
      </p:sp>
      <p:sp>
        <p:nvSpPr>
          <p:cNvPr id="46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Num" idx="4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73FF8F8-6E76-443D-AC53-39E37B9E465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65" name="PlaceHolder 2"/>
          <p:cNvSpPr>
            <a:spLocks noGrp="1"/>
          </p:cNvSpPr>
          <p:nvPr>
            <p:ph type="sldImg"/>
          </p:nvPr>
        </p:nvSpPr>
        <p:spPr>
          <a:xfrm>
            <a:off x="1143000" y="685800"/>
            <a:ext cx="4571280" cy="3428280"/>
          </a:xfrm>
          <a:prstGeom prst="rect">
            <a:avLst/>
          </a:prstGeom>
          <a:ln w="0">
            <a:noFill/>
          </a:ln>
        </p:spPr>
      </p:sp>
      <p:sp>
        <p:nvSpPr>
          <p:cNvPr id="46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Num" idx="4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3B6AAA8B-4147-4AF5-AC52-60AEA641A28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68" name="PlaceHolder 2"/>
          <p:cNvSpPr>
            <a:spLocks noGrp="1"/>
          </p:cNvSpPr>
          <p:nvPr>
            <p:ph type="sldImg"/>
          </p:nvPr>
        </p:nvSpPr>
        <p:spPr>
          <a:xfrm>
            <a:off x="1143000" y="685800"/>
            <a:ext cx="4571280" cy="3428280"/>
          </a:xfrm>
          <a:prstGeom prst="rect">
            <a:avLst/>
          </a:prstGeom>
          <a:ln w="0">
            <a:noFill/>
          </a:ln>
        </p:spPr>
      </p:sp>
      <p:sp>
        <p:nvSpPr>
          <p:cNvPr id="46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Num" idx="4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61FAE08-F4C5-47C4-8F07-2C9C4F1611B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71" name="PlaceHolder 2"/>
          <p:cNvSpPr>
            <a:spLocks noGrp="1"/>
          </p:cNvSpPr>
          <p:nvPr>
            <p:ph type="sldImg"/>
          </p:nvPr>
        </p:nvSpPr>
        <p:spPr>
          <a:xfrm>
            <a:off x="1143000" y="685800"/>
            <a:ext cx="4571280" cy="3428280"/>
          </a:xfrm>
          <a:prstGeom prst="rect">
            <a:avLst/>
          </a:prstGeom>
          <a:ln w="0">
            <a:noFill/>
          </a:ln>
        </p:spPr>
      </p:sp>
      <p:sp>
        <p:nvSpPr>
          <p:cNvPr id="47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Num" idx="4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819A19DA-22B9-4428-86E7-5822F8C5DD0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74" name="PlaceHolder 2"/>
          <p:cNvSpPr>
            <a:spLocks noGrp="1"/>
          </p:cNvSpPr>
          <p:nvPr>
            <p:ph type="sldImg"/>
          </p:nvPr>
        </p:nvSpPr>
        <p:spPr>
          <a:xfrm>
            <a:off x="1143000" y="685800"/>
            <a:ext cx="4571280" cy="3428280"/>
          </a:xfrm>
          <a:prstGeom prst="rect">
            <a:avLst/>
          </a:prstGeom>
          <a:ln w="0">
            <a:noFill/>
          </a:ln>
        </p:spPr>
      </p:sp>
      <p:sp>
        <p:nvSpPr>
          <p:cNvPr id="47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Num" idx="5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389AD2F-CB9E-4156-B8B7-0E59BE77AA8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77" name="PlaceHolder 2"/>
          <p:cNvSpPr>
            <a:spLocks noGrp="1"/>
          </p:cNvSpPr>
          <p:nvPr>
            <p:ph type="sldImg"/>
          </p:nvPr>
        </p:nvSpPr>
        <p:spPr>
          <a:xfrm>
            <a:off x="1143000" y="685800"/>
            <a:ext cx="4571280" cy="3428280"/>
          </a:xfrm>
          <a:prstGeom prst="rect">
            <a:avLst/>
          </a:prstGeom>
          <a:ln w="0">
            <a:noFill/>
          </a:ln>
        </p:spPr>
      </p:sp>
      <p:sp>
        <p:nvSpPr>
          <p:cNvPr id="47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Num" idx="5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77D118E1-1D50-4EEC-87B6-24767005AD9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80" name="PlaceHolder 2"/>
          <p:cNvSpPr>
            <a:spLocks noGrp="1"/>
          </p:cNvSpPr>
          <p:nvPr>
            <p:ph type="sldImg"/>
          </p:nvPr>
        </p:nvSpPr>
        <p:spPr>
          <a:xfrm>
            <a:off x="1143000" y="685800"/>
            <a:ext cx="4571280" cy="3428280"/>
          </a:xfrm>
          <a:prstGeom prst="rect">
            <a:avLst/>
          </a:prstGeom>
          <a:ln w="0">
            <a:noFill/>
          </a:ln>
        </p:spPr>
      </p:sp>
      <p:sp>
        <p:nvSpPr>
          <p:cNvPr id="48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Num" idx="5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F2B0387D-236A-4256-A124-E3FBA3A79C9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83" name="PlaceHolder 2"/>
          <p:cNvSpPr>
            <a:spLocks noGrp="1"/>
          </p:cNvSpPr>
          <p:nvPr>
            <p:ph type="sldImg"/>
          </p:nvPr>
        </p:nvSpPr>
        <p:spPr>
          <a:xfrm>
            <a:off x="1143000" y="685800"/>
            <a:ext cx="4571280" cy="3428280"/>
          </a:xfrm>
          <a:prstGeom prst="rect">
            <a:avLst/>
          </a:prstGeom>
          <a:ln w="0">
            <a:noFill/>
          </a:ln>
        </p:spPr>
      </p:sp>
      <p:sp>
        <p:nvSpPr>
          <p:cNvPr id="48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Num" idx="5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AA2F23E-3BB6-4129-AE55-168AE2DAD14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86" name="PlaceHolder 2"/>
          <p:cNvSpPr>
            <a:spLocks noGrp="1"/>
          </p:cNvSpPr>
          <p:nvPr>
            <p:ph type="sldImg"/>
          </p:nvPr>
        </p:nvSpPr>
        <p:spPr>
          <a:xfrm>
            <a:off x="1143000" y="685800"/>
            <a:ext cx="4571280" cy="3428280"/>
          </a:xfrm>
          <a:prstGeom prst="rect">
            <a:avLst/>
          </a:prstGeom>
          <a:ln w="0">
            <a:noFill/>
          </a:ln>
        </p:spPr>
      </p:sp>
      <p:sp>
        <p:nvSpPr>
          <p:cNvPr id="48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Num" idx="5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A8D5C1E4-3079-405F-BE72-9FE41431E99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89" name="PlaceHolder 2"/>
          <p:cNvSpPr>
            <a:spLocks noGrp="1"/>
          </p:cNvSpPr>
          <p:nvPr>
            <p:ph type="sldImg"/>
          </p:nvPr>
        </p:nvSpPr>
        <p:spPr>
          <a:xfrm>
            <a:off x="1143000" y="685800"/>
            <a:ext cx="4571280" cy="3428280"/>
          </a:xfrm>
          <a:prstGeom prst="rect">
            <a:avLst/>
          </a:prstGeom>
          <a:ln w="0">
            <a:noFill/>
          </a:ln>
        </p:spPr>
      </p:sp>
      <p:sp>
        <p:nvSpPr>
          <p:cNvPr id="49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Num" idx="5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8D9A46AE-AA0B-4488-95B5-72B6535C377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92" name="PlaceHolder 2"/>
          <p:cNvSpPr>
            <a:spLocks noGrp="1"/>
          </p:cNvSpPr>
          <p:nvPr>
            <p:ph type="sldImg"/>
          </p:nvPr>
        </p:nvSpPr>
        <p:spPr>
          <a:xfrm>
            <a:off x="1143000" y="685800"/>
            <a:ext cx="4571280" cy="3428280"/>
          </a:xfrm>
          <a:prstGeom prst="rect">
            <a:avLst/>
          </a:prstGeom>
          <a:ln w="0">
            <a:noFill/>
          </a:ln>
        </p:spPr>
      </p:sp>
      <p:sp>
        <p:nvSpPr>
          <p:cNvPr id="49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Num" idx="5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F0040112-970C-485F-ABE9-123D0A56448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95" name="PlaceHolder 2"/>
          <p:cNvSpPr>
            <a:spLocks noGrp="1"/>
          </p:cNvSpPr>
          <p:nvPr>
            <p:ph type="sldImg"/>
          </p:nvPr>
        </p:nvSpPr>
        <p:spPr>
          <a:xfrm>
            <a:off x="1143000" y="685800"/>
            <a:ext cx="4571280" cy="3428280"/>
          </a:xfrm>
          <a:prstGeom prst="rect">
            <a:avLst/>
          </a:prstGeom>
          <a:ln w="0">
            <a:noFill/>
          </a:ln>
        </p:spPr>
      </p:sp>
      <p:sp>
        <p:nvSpPr>
          <p:cNvPr id="49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Num" idx="5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CB6E32DC-53D5-4EF7-ABD5-9C65B3321BA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98" name="PlaceHolder 2"/>
          <p:cNvSpPr>
            <a:spLocks noGrp="1"/>
          </p:cNvSpPr>
          <p:nvPr>
            <p:ph type="sldImg"/>
          </p:nvPr>
        </p:nvSpPr>
        <p:spPr>
          <a:xfrm>
            <a:off x="1143000" y="685800"/>
            <a:ext cx="4571280" cy="3428280"/>
          </a:xfrm>
          <a:prstGeom prst="rect">
            <a:avLst/>
          </a:prstGeom>
          <a:ln w="0">
            <a:noFill/>
          </a:ln>
        </p:spPr>
      </p:sp>
      <p:sp>
        <p:nvSpPr>
          <p:cNvPr id="49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80000"/>
              </a:lnSpc>
              <a:buNone/>
              <a:tabLst>
                <a:tab algn="l" pos="0"/>
              </a:tabLst>
            </a:pPr>
            <a:r>
              <a:rPr b="0" lang="en-AU" sz="1200" strike="noStrike" u="none">
                <a:solidFill>
                  <a:srgbClr val="000000"/>
                </a:solidFill>
                <a:effectLst/>
                <a:uFillTx/>
                <a:latin typeface="Arial"/>
                <a:ea typeface="ＭＳ Ｐゴシック"/>
              </a:rPr>
              <a:t>Although done just with words and a diagram, this chapter explains the astonishing so-called “first fundamental theorem of welfare economics” that under appropriate conditions, a competitive equilibrium is Pareto efficient. Though the textbook does not discuss Pareto efficiency, if you choose you can provide your students with more background to this astonishing result. It begins with Adam Smith’s invisible hand conjecture. Some progress was made by Vilfredo Pareto (1848–1923), an Italian economist (see http://cepa.newschool.edu/het/profiles/pareto.htm), who defined an efficient allocation as one in which it is not possible to rearrange the use of resources an make someone better off without making someone else worse off. But Adam Smith’s conjecture did not receive formal proof until the 1950s. Sir John Hicks, Kenneth Arrow, and Gerard Debreu, are credited with the major contributions to welfare economics and all received the Nobel Prize in Economic Sciences for their work (see http://www.nobel.se/economics/laureates/1972/index.html for Sir John Hicks, and http://www.nobel.se/economics/laureates/1983/index.html) for Kenneth Arrow and Gerard Debreu. Lionel McKenzie (University of Rochester) is also credited with a major independent statement of the theorem and some economists refer to it as the Arrow-Debreu-McKenzie theorem. The A-D-M proof is deeper and more restricted that the arm waving words and diagrams of a principles text. But we do not mislead our students by being enthusiastic and amazed at the astonishing proposition. Selfish people all pursuing their own ends and making themselves as well off as possible end up allocating resources in such a way that no one can be made better off (qualified by the exceptions that we quickly note in the chapter.)</a:t>
            </a:r>
            <a:r>
              <a:rPr b="0" lang="en-GB" sz="1200" strike="noStrike" u="none">
                <a:solidFill>
                  <a:srgbClr val="000000"/>
                </a:solidFill>
                <a:effectLst/>
                <a:uFillTx/>
                <a:latin typeface="Arial"/>
                <a:ea typeface="ＭＳ Ｐゴシック"/>
              </a:rPr>
              <a:t> </a:t>
            </a:r>
            <a:endParaRPr b="0" lang="en-US" sz="1200" strike="noStrike" u="none">
              <a:solidFill>
                <a:srgbClr val="000000"/>
              </a:solidFill>
              <a:effectLst/>
              <a:uFillTx/>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Num" idx="5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BFBEF75-F8D7-4FE0-9D8E-3CF529F997C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01" name="PlaceHolder 2"/>
          <p:cNvSpPr>
            <a:spLocks noGrp="1"/>
          </p:cNvSpPr>
          <p:nvPr>
            <p:ph type="sldImg"/>
          </p:nvPr>
        </p:nvSpPr>
        <p:spPr>
          <a:xfrm>
            <a:off x="1143000" y="685800"/>
            <a:ext cx="4571280" cy="3428280"/>
          </a:xfrm>
          <a:prstGeom prst="rect">
            <a:avLst/>
          </a:prstGeom>
          <a:ln w="0">
            <a:noFill/>
          </a:ln>
        </p:spPr>
      </p:sp>
      <p:sp>
        <p:nvSpPr>
          <p:cNvPr id="50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AU" sz="2000" strike="noStrike" u="none">
                <a:solidFill>
                  <a:srgbClr val="000000"/>
                </a:solidFill>
                <a:effectLst/>
                <a:uFillTx/>
                <a:latin typeface="Arial"/>
                <a:ea typeface="ＭＳ Ｐゴシック"/>
              </a:rPr>
              <a:t>Don’t get hung up on the mechanics of how the obstacles to efficiency work. Just note at this stage that they bring either underproduction or overproduction and emphasize the deadweight loss that they generate. You will go into the details in later chapters. The list is a guide to what is coming.</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Num" idx="5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3856D35-26C9-4D38-92FC-34143BE01A4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04" name="PlaceHolder 2"/>
          <p:cNvSpPr>
            <a:spLocks noGrp="1"/>
          </p:cNvSpPr>
          <p:nvPr>
            <p:ph type="sldImg"/>
          </p:nvPr>
        </p:nvSpPr>
        <p:spPr>
          <a:xfrm>
            <a:off x="1143000" y="685800"/>
            <a:ext cx="4571280" cy="3428280"/>
          </a:xfrm>
          <a:prstGeom prst="rect">
            <a:avLst/>
          </a:prstGeom>
          <a:ln w="0">
            <a:noFill/>
          </a:ln>
        </p:spPr>
      </p:sp>
      <p:sp>
        <p:nvSpPr>
          <p:cNvPr id="50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Num" idx="6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6D6E2BE-9293-45A2-8090-68CCDD6E65B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07" name="PlaceHolder 2"/>
          <p:cNvSpPr>
            <a:spLocks noGrp="1"/>
          </p:cNvSpPr>
          <p:nvPr>
            <p:ph type="sldImg"/>
          </p:nvPr>
        </p:nvSpPr>
        <p:spPr>
          <a:xfrm>
            <a:off x="1143000" y="685800"/>
            <a:ext cx="4571280" cy="3428280"/>
          </a:xfrm>
          <a:prstGeom prst="rect">
            <a:avLst/>
          </a:prstGeom>
          <a:ln w="0">
            <a:noFill/>
          </a:ln>
        </p:spPr>
      </p:sp>
      <p:sp>
        <p:nvSpPr>
          <p:cNvPr id="50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Num" idx="6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A074732-771C-4CD3-8425-8721214B7A4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0" name="PlaceHolder 2"/>
          <p:cNvSpPr>
            <a:spLocks noGrp="1"/>
          </p:cNvSpPr>
          <p:nvPr>
            <p:ph type="sldImg"/>
          </p:nvPr>
        </p:nvSpPr>
        <p:spPr>
          <a:xfrm>
            <a:off x="1143000" y="685800"/>
            <a:ext cx="4571280" cy="3428280"/>
          </a:xfrm>
          <a:prstGeom prst="rect">
            <a:avLst/>
          </a:prstGeom>
          <a:ln w="0">
            <a:noFill/>
          </a:ln>
        </p:spPr>
      </p:sp>
      <p:sp>
        <p:nvSpPr>
          <p:cNvPr id="51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Num" idx="6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C77012C0-79C5-41F4-9432-A1C453C5800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3" name="PlaceHolder 2"/>
          <p:cNvSpPr>
            <a:spLocks noGrp="1"/>
          </p:cNvSpPr>
          <p:nvPr>
            <p:ph type="sldImg"/>
          </p:nvPr>
        </p:nvSpPr>
        <p:spPr>
          <a:xfrm>
            <a:off x="1143000" y="685800"/>
            <a:ext cx="4571280" cy="3428280"/>
          </a:xfrm>
          <a:prstGeom prst="rect">
            <a:avLst/>
          </a:prstGeom>
          <a:ln w="0">
            <a:noFill/>
          </a:ln>
        </p:spPr>
      </p:sp>
      <p:sp>
        <p:nvSpPr>
          <p:cNvPr id="51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Num" idx="6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C6609E19-0A82-4EAD-A248-6CF7A25596B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6" name="PlaceHolder 2"/>
          <p:cNvSpPr>
            <a:spLocks noGrp="1"/>
          </p:cNvSpPr>
          <p:nvPr>
            <p:ph type="sldImg"/>
          </p:nvPr>
        </p:nvSpPr>
        <p:spPr>
          <a:xfrm>
            <a:off x="1143000" y="685800"/>
            <a:ext cx="4571280" cy="3428280"/>
          </a:xfrm>
          <a:prstGeom prst="rect">
            <a:avLst/>
          </a:prstGeom>
          <a:ln w="0">
            <a:noFill/>
          </a:ln>
        </p:spPr>
      </p:sp>
      <p:sp>
        <p:nvSpPr>
          <p:cNvPr id="51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Num" idx="6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2181B512-97B4-4E96-AB39-8EBD62E2630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9" name="PlaceHolder 2"/>
          <p:cNvSpPr>
            <a:spLocks noGrp="1"/>
          </p:cNvSpPr>
          <p:nvPr>
            <p:ph type="sldImg"/>
          </p:nvPr>
        </p:nvSpPr>
        <p:spPr>
          <a:xfrm>
            <a:off x="1143000" y="685800"/>
            <a:ext cx="4571280" cy="3428280"/>
          </a:xfrm>
          <a:prstGeom prst="rect">
            <a:avLst/>
          </a:prstGeom>
          <a:ln w="0">
            <a:noFill/>
          </a:ln>
        </p:spPr>
      </p:sp>
      <p:sp>
        <p:nvSpPr>
          <p:cNvPr id="52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Num" idx="6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E8FB5641-30AC-4995-9D06-2F2716D8D75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22" name="PlaceHolder 2"/>
          <p:cNvSpPr>
            <a:spLocks noGrp="1"/>
          </p:cNvSpPr>
          <p:nvPr>
            <p:ph type="sldImg"/>
          </p:nvPr>
        </p:nvSpPr>
        <p:spPr>
          <a:xfrm>
            <a:off x="1143000" y="685800"/>
            <a:ext cx="4571280" cy="3428280"/>
          </a:xfrm>
          <a:prstGeom prst="rect">
            <a:avLst/>
          </a:prstGeom>
          <a:ln w="0">
            <a:noFill/>
          </a:ln>
        </p:spPr>
      </p:sp>
      <p:sp>
        <p:nvSpPr>
          <p:cNvPr id="52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Num" idx="6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D8B3318-E59C-4C29-B359-AD1F3244890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25" name="PlaceHolder 2"/>
          <p:cNvSpPr>
            <a:spLocks noGrp="1"/>
          </p:cNvSpPr>
          <p:nvPr>
            <p:ph type="sldImg"/>
          </p:nvPr>
        </p:nvSpPr>
        <p:spPr>
          <a:xfrm>
            <a:off x="1143000" y="685800"/>
            <a:ext cx="4571280" cy="3428280"/>
          </a:xfrm>
          <a:prstGeom prst="rect">
            <a:avLst/>
          </a:prstGeom>
          <a:ln w="0">
            <a:noFill/>
          </a:ln>
        </p:spPr>
      </p:sp>
      <p:sp>
        <p:nvSpPr>
          <p:cNvPr id="52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Num" idx="6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3BB34C81-AFAA-4058-8390-7FE42F3DFB6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28" name="PlaceHolder 2"/>
          <p:cNvSpPr>
            <a:spLocks noGrp="1"/>
          </p:cNvSpPr>
          <p:nvPr>
            <p:ph type="sldImg"/>
          </p:nvPr>
        </p:nvSpPr>
        <p:spPr>
          <a:xfrm>
            <a:off x="1143000" y="685800"/>
            <a:ext cx="4571280" cy="3428280"/>
          </a:xfrm>
          <a:prstGeom prst="rect">
            <a:avLst/>
          </a:prstGeom>
          <a:ln w="0">
            <a:noFill/>
          </a:ln>
        </p:spPr>
      </p:sp>
      <p:sp>
        <p:nvSpPr>
          <p:cNvPr id="52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Num" idx="6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132187F-1C10-44CB-B0C4-FAE40BBB727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31" name="PlaceHolder 2"/>
          <p:cNvSpPr>
            <a:spLocks noGrp="1"/>
          </p:cNvSpPr>
          <p:nvPr>
            <p:ph type="sldImg"/>
          </p:nvPr>
        </p:nvSpPr>
        <p:spPr>
          <a:xfrm>
            <a:off x="1143000" y="685800"/>
            <a:ext cx="4571280" cy="3428280"/>
          </a:xfrm>
          <a:prstGeom prst="rect">
            <a:avLst/>
          </a:prstGeom>
          <a:ln w="0">
            <a:noFill/>
          </a:ln>
        </p:spPr>
      </p:sp>
      <p:sp>
        <p:nvSpPr>
          <p:cNvPr id="53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Num" idx="6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C12FF28-F130-449E-A2F1-0373978FCB3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34" name="PlaceHolder 2"/>
          <p:cNvSpPr>
            <a:spLocks noGrp="1"/>
          </p:cNvSpPr>
          <p:nvPr>
            <p:ph type="sldImg"/>
          </p:nvPr>
        </p:nvSpPr>
        <p:spPr>
          <a:xfrm>
            <a:off x="1143000" y="685800"/>
            <a:ext cx="4571280" cy="3428280"/>
          </a:xfrm>
          <a:prstGeom prst="rect">
            <a:avLst/>
          </a:prstGeom>
          <a:ln w="0">
            <a:noFill/>
          </a:ln>
        </p:spPr>
      </p:sp>
      <p:sp>
        <p:nvSpPr>
          <p:cNvPr id="53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Num" idx="7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F4D7493-5286-487F-A87C-67CE19A26E8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37" name="PlaceHolder 2"/>
          <p:cNvSpPr>
            <a:spLocks noGrp="1"/>
          </p:cNvSpPr>
          <p:nvPr>
            <p:ph type="sldImg"/>
          </p:nvPr>
        </p:nvSpPr>
        <p:spPr>
          <a:xfrm>
            <a:off x="1143000" y="685800"/>
            <a:ext cx="4571280" cy="3428280"/>
          </a:xfrm>
          <a:prstGeom prst="rect">
            <a:avLst/>
          </a:prstGeom>
          <a:ln w="0">
            <a:noFill/>
          </a:ln>
        </p:spPr>
      </p:sp>
      <p:sp>
        <p:nvSpPr>
          <p:cNvPr id="53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Num" idx="7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45B69C8-8689-45CD-B79B-F55D043C979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0" name="PlaceHolder 2"/>
          <p:cNvSpPr>
            <a:spLocks noGrp="1"/>
          </p:cNvSpPr>
          <p:nvPr>
            <p:ph type="sldImg"/>
          </p:nvPr>
        </p:nvSpPr>
        <p:spPr>
          <a:xfrm>
            <a:off x="1143000" y="685800"/>
            <a:ext cx="4571280" cy="3428280"/>
          </a:xfrm>
          <a:prstGeom prst="rect">
            <a:avLst/>
          </a:prstGeom>
          <a:ln w="0">
            <a:noFill/>
          </a:ln>
        </p:spPr>
      </p:sp>
      <p:sp>
        <p:nvSpPr>
          <p:cNvPr id="54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Num" idx="7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7B6AA041-01DD-4101-9779-06EC53B1B7D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3" name="PlaceHolder 2"/>
          <p:cNvSpPr>
            <a:spLocks noGrp="1"/>
          </p:cNvSpPr>
          <p:nvPr>
            <p:ph type="sldImg"/>
          </p:nvPr>
        </p:nvSpPr>
        <p:spPr>
          <a:xfrm>
            <a:off x="1143000" y="685800"/>
            <a:ext cx="4571280" cy="3428280"/>
          </a:xfrm>
          <a:prstGeom prst="rect">
            <a:avLst/>
          </a:prstGeom>
          <a:ln w="0">
            <a:noFill/>
          </a:ln>
        </p:spPr>
      </p:sp>
      <p:sp>
        <p:nvSpPr>
          <p:cNvPr id="54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Num" idx="7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615B950-A475-4DDE-968C-055164AF061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6" name="PlaceHolder 2"/>
          <p:cNvSpPr>
            <a:spLocks noGrp="1"/>
          </p:cNvSpPr>
          <p:nvPr>
            <p:ph type="sldImg"/>
          </p:nvPr>
        </p:nvSpPr>
        <p:spPr>
          <a:xfrm>
            <a:off x="1143000" y="685800"/>
            <a:ext cx="4571280" cy="3428280"/>
          </a:xfrm>
          <a:prstGeom prst="rect">
            <a:avLst/>
          </a:prstGeom>
          <a:ln w="0">
            <a:noFill/>
          </a:ln>
        </p:spPr>
      </p:sp>
      <p:sp>
        <p:nvSpPr>
          <p:cNvPr id="54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Num" idx="7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04CBFA81-BEBC-4BE7-A25C-9205E0A3C10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9" name="PlaceHolder 2"/>
          <p:cNvSpPr>
            <a:spLocks noGrp="1"/>
          </p:cNvSpPr>
          <p:nvPr>
            <p:ph type="sldImg"/>
          </p:nvPr>
        </p:nvSpPr>
        <p:spPr>
          <a:xfrm>
            <a:off x="1143000" y="685800"/>
            <a:ext cx="4571280" cy="3428280"/>
          </a:xfrm>
          <a:prstGeom prst="rect">
            <a:avLst/>
          </a:prstGeom>
          <a:ln w="0">
            <a:noFill/>
          </a:ln>
        </p:spPr>
      </p:sp>
      <p:sp>
        <p:nvSpPr>
          <p:cNvPr id="55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Num" idx="7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0A7AB931-D992-4DCF-B678-988E5CCD49B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2" name="PlaceHolder 2"/>
          <p:cNvSpPr>
            <a:spLocks noGrp="1"/>
          </p:cNvSpPr>
          <p:nvPr>
            <p:ph type="sldImg"/>
          </p:nvPr>
        </p:nvSpPr>
        <p:spPr>
          <a:xfrm>
            <a:off x="1143000" y="685800"/>
            <a:ext cx="4571280" cy="3428280"/>
          </a:xfrm>
          <a:prstGeom prst="rect">
            <a:avLst/>
          </a:prstGeom>
          <a:ln w="0">
            <a:noFill/>
          </a:ln>
        </p:spPr>
      </p:sp>
      <p:sp>
        <p:nvSpPr>
          <p:cNvPr id="55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Num" idx="7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1F49ED5-17ED-4200-A5FA-1D40E570FA2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5" name="PlaceHolder 2"/>
          <p:cNvSpPr>
            <a:spLocks noGrp="1"/>
          </p:cNvSpPr>
          <p:nvPr>
            <p:ph type="sldImg"/>
          </p:nvPr>
        </p:nvSpPr>
        <p:spPr>
          <a:xfrm>
            <a:off x="1143000" y="685800"/>
            <a:ext cx="4571280" cy="3428280"/>
          </a:xfrm>
          <a:prstGeom prst="rect">
            <a:avLst/>
          </a:prstGeom>
          <a:ln w="0">
            <a:noFill/>
          </a:ln>
        </p:spPr>
      </p:sp>
      <p:sp>
        <p:nvSpPr>
          <p:cNvPr id="55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AU" sz="2000" strike="noStrike" u="none">
                <a:solidFill>
                  <a:srgbClr val="000000"/>
                </a:solidFill>
                <a:effectLst/>
                <a:uFillTx/>
                <a:latin typeface="Arial"/>
                <a:ea typeface="ＭＳ Ｐゴシック"/>
              </a:rPr>
              <a:t>You could spend the rest of the course talking about and discussing equity, fairness, or distributive justice as it is sometimes called. The textbook contains a nice section laying out the basics needed to discuss fairness. This material is not standard and you’ll be hard pressed to find it in any other principles text. It is included here because students are very curious about what is fair. And the news media writes and talks of little else when it discusses economic issues.</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a:p>
            <a:pPr indent="0">
              <a:lnSpc>
                <a:spcPct val="100000"/>
              </a:lnSpc>
              <a:buNone/>
              <a:tabLst>
                <a:tab algn="l" pos="0"/>
              </a:tabLst>
            </a:pPr>
            <a:r>
              <a:rPr b="0" lang="en-GB" sz="2000" strike="noStrike" u="none">
                <a:solidFill>
                  <a:srgbClr val="000000"/>
                </a:solidFill>
                <a:effectLst/>
                <a:uFillTx/>
                <a:latin typeface="Arial"/>
                <a:ea typeface="ＭＳ Ｐゴシック"/>
              </a:rPr>
              <a:t>But make sure the students know that economists are professionals on efficiency but just like everyone else on fairness. There is a right and wrong about efficiency but not about fairness.</a:t>
            </a:r>
            <a:endParaRPr b="0" lang="en-US" sz="2000" strike="noStrike" u="none">
              <a:solidFill>
                <a:srgbClr val="000000"/>
              </a:solidFill>
              <a:effectLst/>
              <a:uFillTx/>
              <a:latin typeface="Arial"/>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Num" idx="7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9D4E69C-D389-458E-B56F-E1C7F1954B5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8" name="PlaceHolder 2"/>
          <p:cNvSpPr>
            <a:spLocks noGrp="1"/>
          </p:cNvSpPr>
          <p:nvPr>
            <p:ph type="sldImg"/>
          </p:nvPr>
        </p:nvSpPr>
        <p:spPr>
          <a:xfrm>
            <a:off x="1143000" y="685800"/>
            <a:ext cx="4571280" cy="3428280"/>
          </a:xfrm>
          <a:prstGeom prst="rect">
            <a:avLst/>
          </a:prstGeom>
          <a:ln w="0">
            <a:noFill/>
          </a:ln>
        </p:spPr>
      </p:sp>
      <p:sp>
        <p:nvSpPr>
          <p:cNvPr id="55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Num" idx="7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F7BA8CD-A193-4F82-AD2A-4BC7ECD32FC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1" name="PlaceHolder 2"/>
          <p:cNvSpPr>
            <a:spLocks noGrp="1"/>
          </p:cNvSpPr>
          <p:nvPr>
            <p:ph type="sldImg"/>
          </p:nvPr>
        </p:nvSpPr>
        <p:spPr>
          <a:xfrm>
            <a:off x="1143000" y="685800"/>
            <a:ext cx="4571280" cy="3428280"/>
          </a:xfrm>
          <a:prstGeom prst="rect">
            <a:avLst/>
          </a:prstGeom>
          <a:ln w="0">
            <a:noFill/>
          </a:ln>
        </p:spPr>
      </p:sp>
      <p:sp>
        <p:nvSpPr>
          <p:cNvPr id="56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Num" idx="7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54909AC4-544A-4FAF-91CD-9C752A9B48C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4" name="PlaceHolder 2"/>
          <p:cNvSpPr>
            <a:spLocks noGrp="1"/>
          </p:cNvSpPr>
          <p:nvPr>
            <p:ph type="sldImg"/>
          </p:nvPr>
        </p:nvSpPr>
        <p:spPr>
          <a:xfrm>
            <a:off x="1143000" y="685800"/>
            <a:ext cx="4571280" cy="3428280"/>
          </a:xfrm>
          <a:prstGeom prst="rect">
            <a:avLst/>
          </a:prstGeom>
          <a:ln w="0">
            <a:noFill/>
          </a:ln>
        </p:spPr>
      </p:sp>
      <p:sp>
        <p:nvSpPr>
          <p:cNvPr id="56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GB" sz="1600" strike="noStrike" u="none">
                <a:solidFill>
                  <a:srgbClr val="000000"/>
                </a:solidFill>
                <a:effectLst/>
                <a:uFillTx/>
                <a:latin typeface="Arial"/>
                <a:ea typeface="ＭＳ Ｐゴシック"/>
              </a:rPr>
              <a:t>Some years ago, Jim Tobin told Michael Parkin a nice test of whether a person is a liberal or a conservative. It also generates a good classroom discussion. Here’s how it goes. Give the students the following scenario and question: You are at an oasis in a large desert and you have some ice cream in an unmovable refrigerator. (Ice cream is the only food available). The people in the next oasis some miles away have no ice cream (and no other food) and are too old and infirm to travel. You have plenty of ice cream and you can transport it to the next oasis, but on the journey, some of it will melt. Now the question: How much of the ice cream would have to survive the journey for it to be worth transporting to the next oasis? The most liberal would transport if only the smallest percentage </a:t>
            </a:r>
            <a:r>
              <a:rPr b="0" lang="en-AU" sz="1600" strike="noStrike" u="none">
                <a:solidFill>
                  <a:srgbClr val="000000"/>
                </a:solidFill>
                <a:effectLst/>
                <a:uFillTx/>
                <a:latin typeface="Arial"/>
                <a:ea typeface="ＭＳ Ｐゴシック"/>
              </a:rPr>
              <a:t>survived the journey. The most conservative would want a large proportion to survive before undertaking the redistribution.</a:t>
            </a:r>
            <a:r>
              <a:rPr b="0" lang="en-GB" sz="1600" strike="noStrike" u="none">
                <a:solidFill>
                  <a:srgbClr val="000000"/>
                </a:solidFill>
                <a:effectLst/>
                <a:uFillTx/>
                <a:latin typeface="Arial"/>
                <a:ea typeface="ＭＳ Ｐゴシック"/>
              </a:rPr>
              <a:t> </a:t>
            </a:r>
            <a:endParaRPr b="0" lang="en-US" sz="1600" strike="noStrike" u="none">
              <a:solidFill>
                <a:srgbClr val="000000"/>
              </a:solidFill>
              <a:effectLst/>
              <a:uFillTx/>
              <a:latin typeface="Arial"/>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Num" idx="8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2234E40-A432-4CCA-931A-B2C633016FE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7" name="PlaceHolder 2"/>
          <p:cNvSpPr>
            <a:spLocks noGrp="1"/>
          </p:cNvSpPr>
          <p:nvPr>
            <p:ph type="sldImg"/>
          </p:nvPr>
        </p:nvSpPr>
        <p:spPr>
          <a:xfrm>
            <a:off x="1143000" y="685800"/>
            <a:ext cx="4571280" cy="3428280"/>
          </a:xfrm>
          <a:prstGeom prst="rect">
            <a:avLst/>
          </a:prstGeom>
          <a:ln w="0">
            <a:noFill/>
          </a:ln>
        </p:spPr>
      </p:sp>
      <p:sp>
        <p:nvSpPr>
          <p:cNvPr id="56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bg>
      <p:bgPr>
        <a:solidFill>
          <a:schemeClr val="lt1"/>
        </a:solidFill>
      </p:bgPr>
    </p:bg>
    <p:spTree>
      <p:nvGrpSpPr>
        <p:cNvPr id="1" name=""/>
        <p:cNvGrpSpPr/>
        <p:nvPr/>
      </p:nvGrpSpPr>
      <p:grpSpPr>
        <a:xfrm>
          <a:off x="0" y="0"/>
          <a:ext cx="0" cy="0"/>
          <a:chOff x="0" y="0"/>
          <a:chExt cx="0" cy="0"/>
        </a:xfrm>
      </p:grpSpPr>
      <p:sp>
        <p:nvSpPr>
          <p:cNvPr id="3" name="Text Box 2"/>
          <p:cNvSpPr/>
          <p:nvPr/>
        </p:nvSpPr>
        <p:spPr>
          <a:xfrm>
            <a:off x="4022640" y="6643800"/>
            <a:ext cx="1691640" cy="213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Click to edit Master title style</a:t>
            </a:r>
            <a:endParaRPr b="0" lang="en-US" sz="2600" strike="noStrike" u="none">
              <a:solidFill>
                <a:srgbClr val="000000"/>
              </a:solidFill>
              <a:effectLst/>
              <a:uFillTx/>
              <a:latin typeface="Arial"/>
            </a:endParaRPr>
          </a:p>
        </p:txBody>
      </p:sp>
      <p:sp>
        <p:nvSpPr>
          <p:cNvPr id="5" name="PlaceHolder 2"/>
          <p:cNvSpPr>
            <a:spLocks noGrp="1"/>
          </p:cNvSpPr>
          <p:nvPr>
            <p:ph type="body"/>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Second level</a:t>
            </a:r>
            <a:endParaRPr b="0" lang="en-US" sz="2400" strike="noStrike" u="none">
              <a:solidFill>
                <a:srgbClr val="000000"/>
              </a:solidFill>
              <a:effectLst/>
              <a:uFillTx/>
              <a:latin typeface="Arial"/>
            </a:endParaRPr>
          </a:p>
          <a:p>
            <a:pPr lvl="2" marL="1079640" indent="-288000">
              <a:lnSpc>
                <a:spcPct val="100000"/>
              </a:lnSpc>
              <a:spcBef>
                <a:spcPts val="601"/>
              </a:spcBef>
              <a:spcAft>
                <a:spcPts val="601"/>
              </a:spcAft>
              <a:buClr>
                <a:srgbClr val="00468f"/>
              </a:buClr>
              <a:buFont typeface="Symbol" charset="2"/>
              <a:buChar char=""/>
              <a:tabLst>
                <a:tab algn="l" pos="0"/>
              </a:tabLst>
            </a:pPr>
            <a:r>
              <a:rPr b="0" lang="en-US" sz="2400" strike="noStrike" u="none">
                <a:solidFill>
                  <a:schemeClr val="dk1"/>
                </a:solidFill>
                <a:effectLst/>
                <a:uFillTx/>
                <a:latin typeface="Arial"/>
                <a:ea typeface="ＭＳ Ｐゴシック"/>
              </a:rPr>
              <a:t>Third level</a:t>
            </a:r>
            <a:endParaRPr b="0" lang="en-US" sz="2400" strike="noStrike" u="none">
              <a:solidFill>
                <a:srgbClr val="000000"/>
              </a:solidFill>
              <a:effectLst/>
              <a:uFillTx/>
              <a:latin typeface="Arial"/>
            </a:endParaRPr>
          </a:p>
          <a:p>
            <a:pPr lvl="3" marL="1600200" indent="-228600">
              <a:lnSpc>
                <a:spcPct val="100000"/>
              </a:lnSpc>
              <a:spcBef>
                <a:spcPts val="400"/>
              </a:spcBef>
              <a:buClr>
                <a:srgbClr val="000000"/>
              </a:buClr>
              <a:buFont typeface="Symbol" charset="2"/>
              <a:buChar char=""/>
              <a:tabLst>
                <a:tab algn="l" pos="0"/>
              </a:tabLst>
            </a:pPr>
            <a:r>
              <a:rPr b="0" lang="en-US" sz="2000" strike="noStrike" u="none">
                <a:solidFill>
                  <a:schemeClr val="dk1"/>
                </a:solidFill>
                <a:effectLst/>
                <a:uFillTx/>
                <a:latin typeface="Arial"/>
                <a:ea typeface="ＭＳ Ｐゴシック"/>
              </a:rPr>
              <a:t>Fourth level</a:t>
            </a:r>
            <a:endParaRPr b="0" lang="en-US" sz="2000" strike="noStrike" u="none">
              <a:solidFill>
                <a:srgbClr val="000000"/>
              </a:solidFill>
              <a:effectLst/>
              <a:uFillTx/>
              <a:latin typeface="Arial"/>
            </a:endParaRPr>
          </a:p>
          <a:p>
            <a:pPr lvl="4" marL="2057400" indent="-228600">
              <a:lnSpc>
                <a:spcPct val="100000"/>
              </a:lnSpc>
              <a:spcBef>
                <a:spcPts val="400"/>
              </a:spcBef>
              <a:buClr>
                <a:srgbClr val="000000"/>
              </a:buClr>
              <a:buFont typeface="OpenSymbol"/>
              <a:buChar char="»"/>
              <a:tabLst>
                <a:tab algn="l" pos="0"/>
              </a:tabLst>
            </a:pPr>
            <a:r>
              <a:rPr b="0" lang="en-US" sz="2000" strike="noStrike" u="none">
                <a:solidFill>
                  <a:schemeClr val="dk1"/>
                </a:solidFill>
                <a:effectLst/>
                <a:uFillTx/>
                <a:latin typeface="Arial"/>
                <a:ea typeface="ＭＳ Ｐゴシック"/>
              </a:rPr>
              <a:t>Fifth level</a:t>
            </a:r>
            <a:endParaRPr b="0" lang="en-US"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chemeClr val="lt1"/>
        </a:solidFill>
      </p:bgPr>
    </p:bg>
    <p:spTree>
      <p:nvGrpSpPr>
        <p:cNvPr id="1" name=""/>
        <p:cNvGrpSpPr/>
        <p:nvPr/>
      </p:nvGrpSpPr>
      <p:grpSpPr>
        <a:xfrm>
          <a:off x="0" y="0"/>
          <a:ext cx="0" cy="0"/>
          <a:chOff x="0" y="0"/>
          <a:chExt cx="0" cy="0"/>
        </a:xfrm>
      </p:grpSpPr>
      <p:sp>
        <p:nvSpPr>
          <p:cNvPr id="6" name="Text Box 2"/>
          <p:cNvSpPr/>
          <p:nvPr/>
        </p:nvSpPr>
        <p:spPr>
          <a:xfrm>
            <a:off x="4022640" y="6643800"/>
            <a:ext cx="1691640" cy="213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9"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Click to edit Master title style</a:t>
            </a:r>
            <a:endParaRPr b="0" lang="en-US" sz="2600" strike="noStrike" u="none">
              <a:solidFill>
                <a:srgbClr val="000000"/>
              </a:solidFill>
              <a:effectLst/>
              <a:uFillTx/>
              <a:latin typeface="Arial"/>
            </a:endParaRPr>
          </a:p>
        </p:txBody>
      </p:sp>
      <p:sp>
        <p:nvSpPr>
          <p:cNvPr id="10" name="PlaceHolder 2"/>
          <p:cNvSpPr>
            <a:spLocks noGrp="1"/>
          </p:cNvSpPr>
          <p:nvPr>
            <p:ph type="body"/>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Second level</a:t>
            </a:r>
            <a:endParaRPr b="0" lang="en-US" sz="2400" strike="noStrike" u="none">
              <a:solidFill>
                <a:srgbClr val="000000"/>
              </a:solidFill>
              <a:effectLst/>
              <a:uFillTx/>
              <a:latin typeface="Arial"/>
            </a:endParaRPr>
          </a:p>
          <a:p>
            <a:pPr lvl="2" marL="1079640" indent="-288000">
              <a:lnSpc>
                <a:spcPct val="100000"/>
              </a:lnSpc>
              <a:spcBef>
                <a:spcPts val="601"/>
              </a:spcBef>
              <a:spcAft>
                <a:spcPts val="601"/>
              </a:spcAft>
              <a:buClr>
                <a:srgbClr val="00468f"/>
              </a:buClr>
              <a:buFont typeface="Symbol" charset="2"/>
              <a:buChar char=""/>
              <a:tabLst>
                <a:tab algn="l" pos="0"/>
              </a:tabLst>
            </a:pPr>
            <a:r>
              <a:rPr b="0" lang="en-US" sz="2400" strike="noStrike" u="none">
                <a:solidFill>
                  <a:schemeClr val="dk1"/>
                </a:solidFill>
                <a:effectLst/>
                <a:uFillTx/>
                <a:latin typeface="Arial"/>
                <a:ea typeface="ＭＳ Ｐゴシック"/>
              </a:rPr>
              <a:t>Third level</a:t>
            </a:r>
            <a:endParaRPr b="0" lang="en-US" sz="2400" strike="noStrike" u="none">
              <a:solidFill>
                <a:srgbClr val="000000"/>
              </a:solidFill>
              <a:effectLst/>
              <a:uFillTx/>
              <a:latin typeface="Arial"/>
            </a:endParaRPr>
          </a:p>
          <a:p>
            <a:pPr lvl="3" marL="1600200" indent="-228600">
              <a:lnSpc>
                <a:spcPct val="100000"/>
              </a:lnSpc>
              <a:spcBef>
                <a:spcPts val="400"/>
              </a:spcBef>
              <a:buClr>
                <a:srgbClr val="000000"/>
              </a:buClr>
              <a:buFont typeface="Symbol" charset="2"/>
              <a:buChar char=""/>
              <a:tabLst>
                <a:tab algn="l" pos="0"/>
              </a:tabLst>
            </a:pPr>
            <a:r>
              <a:rPr b="0" lang="en-US" sz="2000" strike="noStrike" u="none">
                <a:solidFill>
                  <a:schemeClr val="dk1"/>
                </a:solidFill>
                <a:effectLst/>
                <a:uFillTx/>
                <a:latin typeface="Arial"/>
                <a:ea typeface="ＭＳ Ｐゴシック"/>
              </a:rPr>
              <a:t>Fourth level</a:t>
            </a:r>
            <a:endParaRPr b="0" lang="en-US" sz="2000" strike="noStrike" u="none">
              <a:solidFill>
                <a:srgbClr val="000000"/>
              </a:solidFill>
              <a:effectLst/>
              <a:uFillTx/>
              <a:latin typeface="Arial"/>
            </a:endParaRPr>
          </a:p>
          <a:p>
            <a:pPr lvl="4" marL="2057400" indent="-228600">
              <a:lnSpc>
                <a:spcPct val="100000"/>
              </a:lnSpc>
              <a:spcBef>
                <a:spcPts val="400"/>
              </a:spcBef>
              <a:buClr>
                <a:srgbClr val="000000"/>
              </a:buClr>
              <a:buFont typeface="OpenSymbol"/>
              <a:buChar char="»"/>
              <a:tabLst>
                <a:tab algn="l" pos="0"/>
              </a:tabLst>
            </a:pPr>
            <a:r>
              <a:rPr b="0" lang="en-US" sz="2000" strike="noStrike" u="none">
                <a:solidFill>
                  <a:schemeClr val="dk1"/>
                </a:solidFill>
                <a:effectLst/>
                <a:uFillTx/>
                <a:latin typeface="Arial"/>
                <a:ea typeface="ＭＳ Ｐゴシック"/>
              </a:rPr>
              <a:t>Fifth level</a:t>
            </a:r>
            <a:endParaRPr b="0" lang="en-US" sz="20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bg>
      <p:bgPr>
        <a:solidFill>
          <a:schemeClr val="lt1"/>
        </a:solidFill>
      </p:bgPr>
    </p:bg>
    <p:spTree>
      <p:nvGrpSpPr>
        <p:cNvPr id="1" name=""/>
        <p:cNvGrpSpPr/>
        <p:nvPr/>
      </p:nvGrpSpPr>
      <p:grpSpPr>
        <a:xfrm>
          <a:off x="0" y="0"/>
          <a:ext cx="0" cy="0"/>
          <a:chOff x="0" y="0"/>
          <a:chExt cx="0" cy="0"/>
        </a:xfrm>
      </p:grpSpPr>
      <p:sp>
        <p:nvSpPr>
          <p:cNvPr id="6" name="Text Box 2"/>
          <p:cNvSpPr/>
          <p:nvPr/>
        </p:nvSpPr>
        <p:spPr>
          <a:xfrm>
            <a:off x="4022640" y="6643800"/>
            <a:ext cx="1691640" cy="213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7"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Click to edit Master title style</a:t>
            </a:r>
            <a:endParaRPr b="0" lang="en-US" sz="2600" strike="noStrike" u="none">
              <a:solidFill>
                <a:srgbClr val="000000"/>
              </a:solidFill>
              <a:effectLst/>
              <a:uFillTx/>
              <a:latin typeface="Arial"/>
            </a:endParaRPr>
          </a:p>
        </p:txBody>
      </p:sp>
      <p:sp>
        <p:nvSpPr>
          <p:cNvPr id="8" name="PlaceHolder 2"/>
          <p:cNvSpPr>
            <a:spLocks noGrp="1"/>
          </p:cNvSpPr>
          <p:nvPr>
            <p:ph type="body"/>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Second level</a:t>
            </a:r>
            <a:endParaRPr b="0" lang="en-US" sz="2400" strike="noStrike" u="none">
              <a:solidFill>
                <a:srgbClr val="000000"/>
              </a:solidFill>
              <a:effectLst/>
              <a:uFillTx/>
              <a:latin typeface="Arial"/>
            </a:endParaRPr>
          </a:p>
          <a:p>
            <a:pPr lvl="2" marL="1079640" indent="-288000">
              <a:lnSpc>
                <a:spcPct val="100000"/>
              </a:lnSpc>
              <a:spcBef>
                <a:spcPts val="601"/>
              </a:spcBef>
              <a:spcAft>
                <a:spcPts val="601"/>
              </a:spcAft>
              <a:buClr>
                <a:srgbClr val="00468f"/>
              </a:buClr>
              <a:buFont typeface="Symbol" charset="2"/>
              <a:buChar char=""/>
              <a:tabLst>
                <a:tab algn="l" pos="0"/>
              </a:tabLst>
            </a:pPr>
            <a:r>
              <a:rPr b="0" lang="en-US" sz="2400" strike="noStrike" u="none">
                <a:solidFill>
                  <a:schemeClr val="dk1"/>
                </a:solidFill>
                <a:effectLst/>
                <a:uFillTx/>
                <a:latin typeface="Arial"/>
                <a:ea typeface="ＭＳ Ｐゴシック"/>
              </a:rPr>
              <a:t>Third level</a:t>
            </a:r>
            <a:endParaRPr b="0" lang="en-US" sz="2400" strike="noStrike" u="none">
              <a:solidFill>
                <a:srgbClr val="000000"/>
              </a:solidFill>
              <a:effectLst/>
              <a:uFillTx/>
              <a:latin typeface="Arial"/>
            </a:endParaRPr>
          </a:p>
          <a:p>
            <a:pPr lvl="3" marL="1600200" indent="-228600">
              <a:lnSpc>
                <a:spcPct val="100000"/>
              </a:lnSpc>
              <a:spcBef>
                <a:spcPts val="400"/>
              </a:spcBef>
              <a:buClr>
                <a:srgbClr val="000000"/>
              </a:buClr>
              <a:buFont typeface="Symbol" charset="2"/>
              <a:buChar char=""/>
              <a:tabLst>
                <a:tab algn="l" pos="0"/>
              </a:tabLst>
            </a:pPr>
            <a:r>
              <a:rPr b="0" lang="en-US" sz="2000" strike="noStrike" u="none">
                <a:solidFill>
                  <a:schemeClr val="dk1"/>
                </a:solidFill>
                <a:effectLst/>
                <a:uFillTx/>
                <a:latin typeface="Arial"/>
                <a:ea typeface="ＭＳ Ｐゴシック"/>
              </a:rPr>
              <a:t>Fourth level</a:t>
            </a:r>
            <a:endParaRPr b="0" lang="en-US" sz="2000" strike="noStrike" u="none">
              <a:solidFill>
                <a:srgbClr val="000000"/>
              </a:solidFill>
              <a:effectLst/>
              <a:uFillTx/>
              <a:latin typeface="Arial"/>
            </a:endParaRPr>
          </a:p>
          <a:p>
            <a:pPr lvl="4" marL="2057400" indent="-228600">
              <a:lnSpc>
                <a:spcPct val="100000"/>
              </a:lnSpc>
              <a:spcBef>
                <a:spcPts val="400"/>
              </a:spcBef>
              <a:buClr>
                <a:srgbClr val="000000"/>
              </a:buClr>
              <a:buFont typeface="OpenSymbol"/>
              <a:buChar char="»"/>
              <a:tabLst>
                <a:tab algn="l" pos="0"/>
              </a:tabLst>
            </a:pPr>
            <a:r>
              <a:rPr b="0" lang="en-US" sz="2000" strike="noStrike" u="none">
                <a:solidFill>
                  <a:schemeClr val="dk1"/>
                </a:solidFill>
                <a:effectLst/>
                <a:uFillTx/>
                <a:latin typeface="Arial"/>
                <a:ea typeface="ＭＳ Ｐゴシック"/>
              </a:rPr>
              <a:t>Fifth level</a:t>
            </a:r>
            <a:endParaRPr b="0" lang="en-US"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Content">
    <p:bg>
      <p:bgPr>
        <a:solidFill>
          <a:schemeClr val="lt1"/>
        </a:solidFill>
      </p:bgPr>
    </p:bg>
    <p:spTree>
      <p:nvGrpSpPr>
        <p:cNvPr id="1" name=""/>
        <p:cNvGrpSpPr/>
        <p:nvPr/>
      </p:nvGrpSpPr>
      <p:grpSpPr>
        <a:xfrm>
          <a:off x="0" y="0"/>
          <a:ext cx="0" cy="0"/>
          <a:chOff x="0" y="0"/>
          <a:chExt cx="0" cy="0"/>
        </a:xfrm>
      </p:grpSpPr>
      <p:sp>
        <p:nvSpPr>
          <p:cNvPr id="11" name="Text Box 2"/>
          <p:cNvSpPr/>
          <p:nvPr/>
        </p:nvSpPr>
        <p:spPr>
          <a:xfrm>
            <a:off x="4022640" y="6643800"/>
            <a:ext cx="1691640" cy="213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lnSpc>
                <a:spcPct val="100000"/>
              </a:lnSpc>
              <a:buNone/>
              <a:tabLst>
                <a:tab algn="l" pos="0"/>
              </a:tabLst>
            </a:pPr>
            <a:r>
              <a:rPr b="0" lang="en-CA" sz="2400" strike="noStrike" u="none">
                <a:solidFill>
                  <a:schemeClr val="dk1"/>
                </a:solidFill>
                <a:effectLst/>
                <a:uFillTx/>
                <a:latin typeface="Arial"/>
              </a:rPr>
              <a:t>Click to edit the title text format</a:t>
            </a:r>
            <a:endParaRPr b="0" lang="en-US" sz="2400" strike="noStrike" u="none">
              <a:solidFill>
                <a:srgbClr val="000000"/>
              </a:solidFill>
              <a:effectLst/>
              <a:uFillTx/>
              <a:latin typeface="Arial"/>
            </a:endParaRPr>
          </a:p>
        </p:txBody>
      </p:sp>
      <p:sp>
        <p:nvSpPr>
          <p:cNvPr id="13"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1" lang="en-CA" sz="2800" strike="noStrike" u="none">
                <a:solidFill>
                  <a:srgbClr val="00468f"/>
                </a:solidFill>
                <a:effectLst/>
                <a:uFillTx/>
                <a:latin typeface="Arial"/>
              </a:rPr>
              <a:t>Click to edit the outline text format</a:t>
            </a:r>
            <a:endParaRPr b="0" lang="en-US" sz="2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17" name="PlaceHolder 1"/>
          <p:cNvSpPr>
            <a:spLocks noGrp="1"/>
          </p:cNvSpPr>
          <p:nvPr>
            <p:ph type="title"/>
          </p:nvPr>
        </p:nvSpPr>
        <p:spPr>
          <a:xfrm>
            <a:off x="431640" y="493560"/>
            <a:ext cx="82288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8" name="PlaceHolder 2"/>
          <p:cNvSpPr>
            <a:spLocks noGrp="1"/>
          </p:cNvSpPr>
          <p:nvPr>
            <p:ph/>
          </p:nvPr>
        </p:nvSpPr>
        <p:spPr>
          <a:xfrm>
            <a:off x="360360" y="1440000"/>
            <a:ext cx="8228880" cy="428868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spTree>
      <p:nvGrpSpPr>
        <p:cNvPr id="1" name=""/>
        <p:cNvGrpSpPr/>
        <p:nvPr/>
      </p:nvGrpSpPr>
      <p:grpSpPr>
        <a:xfrm>
          <a:off x="0" y="0"/>
          <a:ext cx="0" cy="0"/>
          <a:chOff x="0" y="0"/>
          <a:chExt cx="0" cy="0"/>
        </a:xfrm>
      </p:grpSpPr>
      <p:sp>
        <p:nvSpPr>
          <p:cNvPr id="23" name="PlaceHolder 1"/>
          <p:cNvSpPr>
            <a:spLocks noGrp="1"/>
          </p:cNvSpPr>
          <p:nvPr>
            <p:ph type="title"/>
          </p:nvPr>
        </p:nvSpPr>
        <p:spPr>
          <a:xfrm>
            <a:off x="431640" y="493560"/>
            <a:ext cx="822888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4" name="PlaceHolder 2"/>
          <p:cNvSpPr>
            <a:spLocks noGrp="1"/>
          </p:cNvSpPr>
          <p:nvPr>
            <p:ph/>
          </p:nvPr>
        </p:nvSpPr>
        <p:spPr>
          <a:xfrm>
            <a:off x="360360" y="1440000"/>
            <a:ext cx="8228880" cy="428868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
    <p:bg>
      <p:bgPr>
        <a:solidFill>
          <a:schemeClr val="lt1"/>
        </a:solidFill>
      </p:bgPr>
    </p:bg>
    <p:spTree>
      <p:nvGrpSpPr>
        <p:cNvPr id="1" name=""/>
        <p:cNvGrpSpPr/>
        <p:nvPr/>
      </p:nvGrpSpPr>
      <p:grpSpPr>
        <a:xfrm>
          <a:off x="0" y="0"/>
          <a:ext cx="0" cy="0"/>
          <a:chOff x="0" y="0"/>
          <a:chExt cx="0" cy="0"/>
        </a:xfrm>
      </p:grpSpPr>
      <p:sp>
        <p:nvSpPr>
          <p:cNvPr id="31" name="Rectangle 2"/>
          <p:cNvSpPr/>
          <p:nvPr/>
        </p:nvSpPr>
        <p:spPr>
          <a:xfrm>
            <a:off x="3276720" y="914400"/>
            <a:ext cx="4114080" cy="548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561"/>
              </a:spcBef>
            </a:pPr>
            <a:endParaRPr b="1" lang="en-CA" sz="2800" strike="noStrike" u="none">
              <a:solidFill>
                <a:srgbClr val="00468f"/>
              </a:solidFill>
              <a:effectLst/>
              <a:uFillTx/>
              <a:latin typeface="Arial"/>
              <a:ea typeface="ＭＳ Ｐゴシック"/>
            </a:endParaRPr>
          </a:p>
        </p:txBody>
      </p:sp>
      <p:sp>
        <p:nvSpPr>
          <p:cNvPr id="32" name="Text Box 3"/>
          <p:cNvSpPr/>
          <p:nvPr/>
        </p:nvSpPr>
        <p:spPr>
          <a:xfrm>
            <a:off x="3641760" y="664380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33" name="PlaceHolder 1"/>
          <p:cNvSpPr>
            <a:spLocks noGrp="1"/>
          </p:cNvSpPr>
          <p:nvPr>
            <p:ph type="title"/>
          </p:nvPr>
        </p:nvSpPr>
        <p:spPr>
          <a:xfrm>
            <a:off x="685800" y="2130480"/>
            <a:ext cx="7771680" cy="1469160"/>
          </a:xfrm>
          <a:prstGeom prst="rect">
            <a:avLst/>
          </a:prstGeom>
          <a:noFill/>
          <a:ln w="0">
            <a:noFill/>
          </a:ln>
        </p:spPr>
        <p:txBody>
          <a:bodyPr lIns="90000" rIns="90000" tIns="45000" bIns="45000" anchor="t">
            <a:noAutofit/>
          </a:bodyPr>
          <a:p>
            <a:pPr indent="0">
              <a:lnSpc>
                <a:spcPct val="100000"/>
              </a:lnSpc>
              <a:buNone/>
              <a:tabLst>
                <a:tab algn="l" pos="0"/>
              </a:tabLst>
            </a:pPr>
            <a:r>
              <a:rPr b="1" lang="en-US" sz="2600" strike="noStrike" u="none">
                <a:solidFill>
                  <a:schemeClr val="lt1"/>
                </a:solidFill>
                <a:effectLst/>
                <a:uFillTx/>
                <a:latin typeface="Arial"/>
              </a:rPr>
              <a:t>Click to edit Master title style</a:t>
            </a:r>
            <a:endParaRPr b="0" lang="en-US" sz="26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solidFill>
          <a:schemeClr val="lt1"/>
        </a:solidFill>
      </p:bgPr>
    </p:bg>
    <p:spTree>
      <p:nvGrpSpPr>
        <p:cNvPr id="1" name=""/>
        <p:cNvGrpSpPr/>
        <p:nvPr/>
      </p:nvGrpSpPr>
      <p:grpSpPr>
        <a:xfrm>
          <a:off x="0" y="0"/>
          <a:ext cx="0" cy="0"/>
          <a:chOff x="0" y="0"/>
          <a:chExt cx="0" cy="0"/>
        </a:xfrm>
      </p:grpSpPr>
      <p:sp>
        <p:nvSpPr>
          <p:cNvPr id="34" name="Rectangle 2"/>
          <p:cNvSpPr/>
          <p:nvPr/>
        </p:nvSpPr>
        <p:spPr>
          <a:xfrm>
            <a:off x="3276720" y="914400"/>
            <a:ext cx="4114080" cy="548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561"/>
              </a:spcBef>
            </a:pPr>
            <a:endParaRPr b="1" lang="en-CA" sz="2800" strike="noStrike" u="none">
              <a:solidFill>
                <a:srgbClr val="00468f"/>
              </a:solidFill>
              <a:effectLst/>
              <a:uFillTx/>
              <a:latin typeface="Arial"/>
              <a:ea typeface="ＭＳ Ｐゴシック"/>
            </a:endParaRPr>
          </a:p>
        </p:txBody>
      </p:sp>
      <p:sp>
        <p:nvSpPr>
          <p:cNvPr id="35" name="Text Box 3"/>
          <p:cNvSpPr/>
          <p:nvPr/>
        </p:nvSpPr>
        <p:spPr>
          <a:xfrm>
            <a:off x="3641760" y="664380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6.xml"/>
</Relationships>
</file>

<file path=ppt/slideMasters/_rels/slideMaster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8.xml"/>
</Relationships>
</file>

<file path=ppt/slideMasters/_rels/slideMaster8.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9.xml"/>
</Relationships>
</file>

<file path=ppt/slideMasters/_rels/slideMaster9.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10.xml"/><Relationship Id="rId3"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Text Box 2"/>
          <p:cNvSpPr/>
          <p:nvPr/>
        </p:nvSpPr>
        <p:spPr>
          <a:xfrm>
            <a:off x="4022640" y="6629400"/>
            <a:ext cx="1691640" cy="213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Text Box 2"/>
          <p:cNvSpPr/>
          <p:nvPr/>
        </p:nvSpPr>
        <p:spPr>
          <a:xfrm>
            <a:off x="4022640" y="6629400"/>
            <a:ext cx="1691640" cy="213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5" name="PlaceHolder 1"/>
          <p:cNvSpPr>
            <a:spLocks noGrp="1"/>
          </p:cNvSpPr>
          <p:nvPr>
            <p:ph type="title"/>
          </p:nvPr>
        </p:nvSpPr>
        <p:spPr>
          <a:xfrm>
            <a:off x="431640" y="668520"/>
            <a:ext cx="8228880" cy="274680"/>
          </a:xfrm>
          <a:prstGeom prst="rect">
            <a:avLst/>
          </a:prstGeom>
          <a:noFill/>
          <a:ln w="0">
            <a:noFill/>
          </a:ln>
        </p:spPr>
        <p:txBody>
          <a:bodyPr numCol="1" spcCol="0"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6" name="PlaceHolder 2"/>
          <p:cNvSpPr>
            <a:spLocks noGrp="1"/>
          </p:cNvSpPr>
          <p:nvPr>
            <p:ph type="body"/>
          </p:nvPr>
        </p:nvSpPr>
        <p:spPr>
          <a:xfrm>
            <a:off x="360360" y="1440000"/>
            <a:ext cx="8228880" cy="428868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6"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9" name="Picture 7" descr="">
            <a:hlinkClick r:id="" action="ppaction://hlinkshowjump?jump=nextslide"/>
          </p:cNvPr>
          <p:cNvPicPr/>
          <p:nvPr/>
        </p:nvPicPr>
        <p:blipFill>
          <a:blip r:embed="rId2"/>
          <a:stretch/>
        </p:blipFill>
        <p:spPr>
          <a:xfrm>
            <a:off x="8640720" y="6480000"/>
            <a:ext cx="221400" cy="221400"/>
          </a:xfrm>
          <a:prstGeom prst="rect">
            <a:avLst/>
          </a:prstGeom>
          <a:noFill/>
          <a:ln w="0">
            <a:noFill/>
          </a:ln>
        </p:spPr>
      </p:pic>
      <p:sp>
        <p:nvSpPr>
          <p:cNvPr id="20" name="Text Box 2"/>
          <p:cNvSpPr/>
          <p:nvPr/>
        </p:nvSpPr>
        <p:spPr>
          <a:xfrm>
            <a:off x="4098960" y="6643800"/>
            <a:ext cx="1691640" cy="213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1" name="PlaceHolder 1"/>
          <p:cNvSpPr>
            <a:spLocks noGrp="1"/>
          </p:cNvSpPr>
          <p:nvPr>
            <p:ph type="title"/>
          </p:nvPr>
        </p:nvSpPr>
        <p:spPr>
          <a:xfrm>
            <a:off x="431640" y="668520"/>
            <a:ext cx="8228880" cy="274680"/>
          </a:xfrm>
          <a:prstGeom prst="rect">
            <a:avLst/>
          </a:prstGeom>
          <a:noFill/>
          <a:ln w="0">
            <a:noFill/>
          </a:ln>
        </p:spPr>
        <p:txBody>
          <a:bodyPr numCol="1" spcCol="0"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2" name="PlaceHolder 2"/>
          <p:cNvSpPr>
            <a:spLocks noGrp="1"/>
          </p:cNvSpPr>
          <p:nvPr>
            <p:ph type="body"/>
          </p:nvPr>
        </p:nvSpPr>
        <p:spPr>
          <a:xfrm>
            <a:off x="360360" y="1440000"/>
            <a:ext cx="8228880" cy="428868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8"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5" name="Picture 4" descr="">
            <a:hlinkClick r:id="" action="ppaction://hlinkshowjump?jump=previousslide"/>
          </p:cNvPr>
          <p:cNvPicPr/>
          <p:nvPr/>
        </p:nvPicPr>
        <p:blipFill>
          <a:blip r:embed="rId2"/>
          <a:stretch/>
        </p:blipFill>
        <p:spPr>
          <a:xfrm>
            <a:off x="8640720" y="6480000"/>
            <a:ext cx="221400" cy="221400"/>
          </a:xfrm>
          <a:prstGeom prst="rect">
            <a:avLst/>
          </a:prstGeom>
          <a:noFill/>
          <a:ln w="0">
            <a:noFill/>
          </a:ln>
        </p:spPr>
      </p:pic>
      <p:sp>
        <p:nvSpPr>
          <p:cNvPr id="26" name="Text Box 2"/>
          <p:cNvSpPr/>
          <p:nvPr/>
        </p:nvSpPr>
        <p:spPr>
          <a:xfrm>
            <a:off x="4022640" y="6643800"/>
            <a:ext cx="1691640" cy="213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28"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0"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9" name="Rectangle 2"/>
          <p:cNvSpPr/>
          <p:nvPr/>
        </p:nvSpPr>
        <p:spPr>
          <a:xfrm>
            <a:off x="3276720" y="914400"/>
            <a:ext cx="4114080" cy="548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561"/>
              </a:spcBef>
            </a:pPr>
            <a:endParaRPr b="1" lang="en-CA" sz="2800" strike="noStrike" u="none">
              <a:solidFill>
                <a:srgbClr val="00468f"/>
              </a:solidFill>
              <a:effectLst/>
              <a:uFillTx/>
              <a:latin typeface="Arial"/>
              <a:ea typeface="ＭＳ Ｐゴシック"/>
            </a:endParaRPr>
          </a:p>
        </p:txBody>
      </p:sp>
      <p:sp>
        <p:nvSpPr>
          <p:cNvPr id="30" name="Text Box 3"/>
          <p:cNvSpPr/>
          <p:nvPr/>
        </p:nvSpPr>
        <p:spPr>
          <a:xfrm>
            <a:off x="3946680" y="6643800"/>
            <a:ext cx="1691640" cy="213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400"/>
              </a:spcBef>
            </a:pPr>
            <a:r>
              <a:rPr b="0" lang="en-US" sz="800" strike="noStrike" u="none">
                <a:solidFill>
                  <a:schemeClr val="dk1"/>
                </a:solidFill>
                <a:effectLst/>
                <a:uFillTx/>
                <a:latin typeface="Arial"/>
                <a:ea typeface="ＭＳ Ｐゴシック"/>
              </a:rPr>
              <a:t>© 2018 Pearson</a:t>
            </a:r>
            <a:endParaRPr b="0" lang="en-US" sz="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2"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2"/>
    <p:sldLayoutId id="2147483665"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7.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slideLayout" Target="../slideLayouts/slideLayout8.xml"/><Relationship Id="rId7"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6.xml"/><Relationship Id="rId5"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slideLayout" Target="../slideLayouts/slideLayout6.xml"/><Relationship Id="rId7"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7.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8.xml"/><Relationship Id="rId7"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6.xml"/><Relationship Id="rId5"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6.xml"/><Relationship Id="rId7"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slideLayout" Target="../slideLayouts/slideLayout4.xml"/><Relationship Id="rId6"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slideLayout" Target="../slideLayouts/slideLayout4.xml"/><Relationship Id="rId9"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slideLayout" Target="../slideLayouts/slideLayout5.xml"/><Relationship Id="rId9"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slideLayout" Target="../slideLayouts/slideLayout4.xml"/><Relationship Id="rId9"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slideLayout" Target="../slideLayouts/slideLayout5.xml"/><Relationship Id="rId9"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7.xml"/><Relationship Id="rId6"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8.xml"/><Relationship Id="rId6"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slideLayout" Target="../slideLayouts/slideLayout7.xml"/><Relationship Id="rId6"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slideLayout" Target="../slideLayouts/slideLayout8.xml"/><Relationship Id="rId6"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slideLayout" Target="../slideLayouts/slideLayout7.xml"/><Relationship Id="rId7"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slideLayout" Target="../slideLayouts/slideLayout8.xml"/><Relationship Id="rId8"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slideLayout" Target="../slideLayouts/slideLayout6.xml"/><Relationship Id="rId8"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slideLayout" Target="../slideLayouts/slideLayout7.xml"/><Relationship Id="rId6"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slideLayout" Target="../slideLayouts/slideLayout8.xml"/><Relationship Id="rId6"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slideLayout" Target="../slideLayouts/slideLayout7.xml"/><Relationship Id="rId6"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slideLayout" Target="../slideLayouts/slideLayout8.xml"/><Relationship Id="rId6"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slideLayout" Target="../slideLayouts/slideLayout7.xml"/><Relationship Id="rId6"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slideLayout" Target="../slideLayouts/slideLayout8.xml"/><Relationship Id="rId8"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slideLayout" Target="../slideLayouts/slideLayout6.xml"/><Relationship Id="rId8"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slideLayout" Target="../slideLayouts/slideLayout7.xml"/><Relationship Id="rId9"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slideLayout" Target="../slideLayouts/slideLayout8.xml"/><Relationship Id="rId9"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slideLayout" Target="../slideLayouts/slideLayout7.xml"/><Relationship Id="rId7"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slideLayout" Target="../slideLayouts/slideLayout8.xml"/><Relationship Id="rId7"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7.xml"/><Relationship Id="rId7"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4.xml"/><Relationship Id="rId3"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TextBox 6"/>
          <p:cNvSpPr/>
          <p:nvPr/>
        </p:nvSpPr>
        <p:spPr>
          <a:xfrm>
            <a:off x="225360" y="2362320"/>
            <a:ext cx="609840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CA" sz="2400" strike="noStrike" u="none">
                <a:solidFill>
                  <a:schemeClr val="dk1"/>
                </a:solidFill>
                <a:effectLst/>
                <a:uFillTx/>
                <a:latin typeface="Arial"/>
                <a:ea typeface="ＭＳ Ｐゴシック"/>
              </a:rPr>
              <a:t>When you have completed your </a:t>
            </a:r>
            <a:br>
              <a:rPr sz="2400"/>
            </a:br>
            <a:r>
              <a:rPr b="1" lang="en-CA" sz="2400" strike="noStrike" u="none">
                <a:solidFill>
                  <a:schemeClr val="dk1"/>
                </a:solidFill>
                <a:effectLst/>
                <a:uFillTx/>
                <a:latin typeface="Arial"/>
                <a:ea typeface="ＭＳ Ｐゴシック"/>
              </a:rPr>
              <a:t>study of this chapter, you will be able to</a:t>
            </a:r>
            <a:endParaRPr b="0" lang="en-US" sz="2400" strike="noStrike" u="none">
              <a:solidFill>
                <a:srgbClr val="000000"/>
              </a:solidFill>
              <a:effectLst/>
              <a:uFillTx/>
              <a:latin typeface="Arial"/>
            </a:endParaRPr>
          </a:p>
        </p:txBody>
      </p:sp>
      <p:sp>
        <p:nvSpPr>
          <p:cNvPr id="43" name="TextBox 7"/>
          <p:cNvSpPr/>
          <p:nvPr/>
        </p:nvSpPr>
        <p:spPr>
          <a:xfrm>
            <a:off x="152280" y="3489480"/>
            <a:ext cx="7848000" cy="3193200"/>
          </a:xfrm>
          <a:prstGeom prst="rect">
            <a:avLst/>
          </a:prstGeom>
          <a:noFill/>
          <a:ln w="0">
            <a:noFill/>
          </a:ln>
        </p:spPr>
        <p:style>
          <a:lnRef idx="0"/>
          <a:fillRef idx="0"/>
          <a:effectRef idx="0"/>
          <a:fontRef idx="minor"/>
        </p:style>
        <p:txBody>
          <a:bodyPr lIns="90000" rIns="90000" tIns="45000" bIns="45000" anchor="t">
            <a:spAutoFit/>
          </a:bodyPr>
          <a:p>
            <a:pPr marL="114480" defTabSz="285840">
              <a:lnSpc>
                <a:spcPct val="100000"/>
              </a:lnSpc>
              <a:spcBef>
                <a:spcPts val="479"/>
              </a:spcBef>
              <a:spcAft>
                <a:spcPts val="1199"/>
              </a:spcAft>
              <a:tabLst>
                <a:tab algn="l" pos="399960"/>
              </a:tabLst>
            </a:pPr>
            <a:r>
              <a:rPr b="1" lang="en-US" sz="2400" strike="noStrike" u="none">
                <a:solidFill>
                  <a:srgbClr val="ff0000"/>
                </a:solidFill>
                <a:effectLst/>
                <a:uFillTx/>
                <a:latin typeface="Arial"/>
                <a:ea typeface="ＭＳ Ｐゴシック"/>
              </a:rPr>
              <a:t>1</a:t>
            </a:r>
            <a:r>
              <a:rPr b="1"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Describe the alternative methods of allocating scarce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resources, and define and explain the features of an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efficient allocation.</a:t>
            </a:r>
            <a:endParaRPr b="0" lang="en-US" sz="2400" strike="noStrike" u="none">
              <a:solidFill>
                <a:srgbClr val="000000"/>
              </a:solidFill>
              <a:effectLst/>
              <a:uFillTx/>
              <a:latin typeface="Arial"/>
            </a:endParaRPr>
          </a:p>
          <a:p>
            <a:pPr marL="114480" defTabSz="285840">
              <a:lnSpc>
                <a:spcPct val="100000"/>
              </a:lnSpc>
              <a:spcBef>
                <a:spcPts val="479"/>
              </a:spcBef>
              <a:spcAft>
                <a:spcPts val="1199"/>
              </a:spcAft>
              <a:tabLst>
                <a:tab algn="l" pos="399960"/>
              </a:tabLst>
            </a:pPr>
            <a:r>
              <a:rPr b="1" lang="en-US" sz="2400" strike="noStrike" u="none">
                <a:solidFill>
                  <a:srgbClr val="ff0000"/>
                </a:solidFill>
                <a:effectLst/>
                <a:uFillTx/>
                <a:latin typeface="Arial"/>
                <a:ea typeface="ＭＳ Ｐゴシック"/>
              </a:rPr>
              <a:t>2</a:t>
            </a:r>
            <a:r>
              <a:rPr b="0" lang="en-US" sz="2400" strike="noStrike" u="none">
                <a:solidFill>
                  <a:schemeClr val="dk1"/>
                </a:solidFill>
                <a:effectLst/>
                <a:uFillTx/>
                <a:latin typeface="Arial"/>
                <a:ea typeface="ＭＳ Ｐゴシック"/>
              </a:rPr>
              <a:t> Distinguish between value and price, and define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consumer surplus.</a:t>
            </a:r>
            <a:endParaRPr b="0" lang="en-US" sz="2400" strike="noStrike" u="none">
              <a:solidFill>
                <a:srgbClr val="000000"/>
              </a:solidFill>
              <a:effectLst/>
              <a:uFillTx/>
              <a:latin typeface="Arial"/>
            </a:endParaRPr>
          </a:p>
          <a:p>
            <a:pPr marL="114480" defTabSz="285840">
              <a:lnSpc>
                <a:spcPct val="100000"/>
              </a:lnSpc>
              <a:spcBef>
                <a:spcPts val="479"/>
              </a:spcBef>
              <a:spcAft>
                <a:spcPts val="1199"/>
              </a:spcAft>
              <a:tabLst>
                <a:tab algn="l" pos="399960"/>
              </a:tabLst>
            </a:pPr>
            <a:r>
              <a:rPr b="1" lang="en-US" sz="2400" strike="noStrike" u="none">
                <a:solidFill>
                  <a:srgbClr val="ff0000"/>
                </a:solidFill>
                <a:effectLst/>
                <a:uFillTx/>
                <a:latin typeface="Arial"/>
                <a:ea typeface="ＭＳ Ｐゴシック"/>
              </a:rPr>
              <a:t>3</a:t>
            </a:r>
            <a:r>
              <a:rPr b="0" lang="en-US" sz="2400" strike="noStrike" u="none">
                <a:solidFill>
                  <a:schemeClr val="dk1"/>
                </a:solidFill>
                <a:effectLst/>
                <a:uFillTx/>
                <a:latin typeface="Arial"/>
                <a:ea typeface="ＭＳ Ｐゴシック"/>
              </a:rPr>
              <a:t> Distinguish between cost and price, and define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producer surplus.</a:t>
            </a:r>
            <a:endParaRPr b="0" lang="en-US" sz="2400" strike="noStrike" u="none">
              <a:solidFill>
                <a:srgbClr val="000000"/>
              </a:solidFill>
              <a:effectLst/>
              <a:uFillTx/>
              <a:latin typeface="Arial"/>
            </a:endParaRPr>
          </a:p>
        </p:txBody>
      </p:sp>
      <p:pic>
        <p:nvPicPr>
          <p:cNvPr id="44" name="Picture 8" descr=""/>
          <p:cNvPicPr/>
          <p:nvPr/>
        </p:nvPicPr>
        <p:blipFill>
          <a:blip r:embed="rId1"/>
          <a:stretch/>
        </p:blipFill>
        <p:spPr>
          <a:xfrm>
            <a:off x="216000" y="287280"/>
            <a:ext cx="8609760" cy="1923480"/>
          </a:xfrm>
          <a:prstGeom prst="rect">
            <a:avLst/>
          </a:prstGeom>
          <a:noFill/>
          <a:ln w="0">
            <a:noFill/>
          </a:ln>
        </p:spPr>
      </p:pic>
      <p:sp>
        <p:nvSpPr>
          <p:cNvPr id="45" name="Text Box 5"/>
          <p:cNvSpPr/>
          <p:nvPr/>
        </p:nvSpPr>
        <p:spPr>
          <a:xfrm>
            <a:off x="5987880" y="424440"/>
            <a:ext cx="1156680" cy="1097280"/>
          </a:xfrm>
          <a:prstGeom prst="rect">
            <a:avLst/>
          </a:prstGeom>
          <a:noFill/>
          <a:ln w="0">
            <a:noFill/>
          </a:ln>
        </p:spPr>
        <p:style>
          <a:lnRef idx="0"/>
          <a:fillRef idx="0"/>
          <a:effectRef idx="0"/>
          <a:fontRef idx="minor"/>
        </p:style>
        <p:txBody>
          <a:bodyPr lIns="0" rIns="0" tIns="0" bIns="0" anchor="b">
            <a:spAutoFit/>
          </a:bodyPr>
          <a:p>
            <a:pPr algn="ctr">
              <a:lnSpc>
                <a:spcPct val="100000"/>
              </a:lnSpc>
              <a:spcBef>
                <a:spcPts val="3600"/>
              </a:spcBef>
            </a:pPr>
            <a:r>
              <a:rPr b="1" lang="en-US" sz="7200" strike="noStrike" u="none">
                <a:solidFill>
                  <a:schemeClr val="lt1"/>
                </a:solidFill>
                <a:effectLst/>
                <a:uFillTx/>
                <a:latin typeface="Arial"/>
                <a:ea typeface="ＭＳ Ｐゴシック"/>
              </a:rPr>
              <a:t>5</a:t>
            </a:r>
            <a:endParaRPr b="0" lang="en-US" sz="7200" strike="noStrike" u="none">
              <a:solidFill>
                <a:srgbClr val="000000"/>
              </a:solidFill>
              <a:effectLst/>
              <a:uFillTx/>
              <a:latin typeface="Arial"/>
            </a:endParaRPr>
          </a:p>
        </p:txBody>
      </p:sp>
      <p:sp>
        <p:nvSpPr>
          <p:cNvPr id="46" name="TextBox 9"/>
          <p:cNvSpPr/>
          <p:nvPr/>
        </p:nvSpPr>
        <p:spPr>
          <a:xfrm>
            <a:off x="5843520" y="1825560"/>
            <a:ext cx="2971080" cy="335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600" strike="noStrike" u="none">
                <a:solidFill>
                  <a:schemeClr val="lt1"/>
                </a:solidFill>
                <a:effectLst/>
                <a:uFillTx/>
                <a:latin typeface="Arial"/>
                <a:ea typeface="ＭＳ Ｐゴシック"/>
              </a:rPr>
              <a:t>CHAPTER CHECKLIST</a:t>
            </a:r>
            <a:endParaRPr b="0" lang="en-US" sz="1600" strike="noStrike" u="none">
              <a:solidFill>
                <a:srgbClr val="000000"/>
              </a:solidFill>
              <a:effectLst/>
              <a:uFillTx/>
              <a:latin typeface="Arial"/>
            </a:endParaRPr>
          </a:p>
        </p:txBody>
      </p:sp>
      <p:sp>
        <p:nvSpPr>
          <p:cNvPr id="47" name="TextBox 5"/>
          <p:cNvSpPr/>
          <p:nvPr/>
        </p:nvSpPr>
        <p:spPr>
          <a:xfrm>
            <a:off x="144360" y="792000"/>
            <a:ext cx="417600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CA" sz="2800" strike="noStrike" u="none">
                <a:solidFill>
                  <a:srgbClr val="000000"/>
                </a:solidFill>
                <a:effectLst/>
                <a:uFillTx/>
                <a:latin typeface="Arial"/>
              </a:rPr>
              <a:t>Efficiency and Equity</a:t>
            </a:r>
            <a:endParaRPr b="0" lang="en-US" sz="2800" strike="noStrike" u="none">
              <a:solidFill>
                <a:srgbClr val="000000"/>
              </a:solidFill>
              <a:effectLst/>
              <a:uFillTx/>
              <a:latin typeface="Arial"/>
            </a:endParaRPr>
          </a:p>
        </p:txBody>
      </p:sp>
    </p:spTree>
  </p:cSld>
  <p:transition spd="slow">
    <p:wipe dir="r"/>
  </p:transition>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22" presetSubtype="8">
                                  <p:stCondLst>
                                    <p:cond delay="0"/>
                                  </p:stCondLst>
                                  <p:childTnLst>
                                    <p:set>
                                      <p:cBhvr>
                                        <p:cTn id="6" dur="1" fill="hold">
                                          <p:stCondLst>
                                            <p:cond delay="0"/>
                                          </p:stCondLst>
                                        </p:cTn>
                                        <p:tgtEl>
                                          <p:spTgt spid="42"/>
                                        </p:tgtEl>
                                        <p:attrNameLst>
                                          <p:attrName>style.visibility</p:attrName>
                                        </p:attrNameLst>
                                      </p:cBhvr>
                                      <p:to>
                                        <p:strVal val="visible"/>
                                      </p:to>
                                    </p:set>
                                    <p:animEffect filter="wipe(left)" transition="in">
                                      <p:cBhvr additive="repl">
                                        <p:cTn id="7" dur="500"/>
                                        <p:tgtEl>
                                          <p:spTgt spid="42"/>
                                        </p:tgtEl>
                                      </p:cBhvr>
                                    </p:animEffect>
                                  </p:childTnLst>
                                </p:cTn>
                              </p:par>
                            </p:childTnLst>
                          </p:cTn>
                        </p:par>
                      </p:childTnLst>
                    </p:cTn>
                  </p:par>
                  <p:par>
                    <p:cTn id="8" nodeType="clickEffect" fill="hold">
                      <p:stCondLst>
                        <p:cond delay="indefinite"/>
                      </p:stCondLst>
                      <p:childTnLst>
                        <p:par>
                          <p:cTn id="9" nodeType="withEffect" fill="hold">
                            <p:stCondLst>
                              <p:cond delay="0"/>
                            </p:stCondLst>
                            <p:childTnLst>
                              <p:par>
                                <p:cTn id="10" nodeType="clickEffect" fill="hold" presetClass="entr" presetID="22" presetSubtype="8">
                                  <p:stCondLst>
                                    <p:cond delay="0"/>
                                  </p:stCondLst>
                                  <p:childTnLst>
                                    <p:set>
                                      <p:cBhvr>
                                        <p:cTn id="11" dur="1" fill="hold">
                                          <p:stCondLst>
                                            <p:cond delay="0"/>
                                          </p:stCondLst>
                                        </p:cTn>
                                        <p:tgtEl>
                                          <p:spTgt spid="43">
                                            <p:txEl>
                                              <p:pRg st="0" end="0"/>
                                            </p:txEl>
                                          </p:spTgt>
                                        </p:tgtEl>
                                        <p:attrNameLst>
                                          <p:attrName>style.visibility</p:attrName>
                                        </p:attrNameLst>
                                      </p:cBhvr>
                                      <p:to>
                                        <p:strVal val="visible"/>
                                      </p:to>
                                    </p:set>
                                    <p:animEffect filter="wipe(left)" transition="in">
                                      <p:cBhvr additive="repl">
                                        <p:cTn id="12" dur="1000"/>
                                        <p:tgtEl>
                                          <p:spTgt spid="43">
                                            <p:txEl>
                                              <p:pRg st="0" end="0"/>
                                            </p:txEl>
                                          </p:spTgt>
                                        </p:tgtEl>
                                      </p:cBhvr>
                                    </p:animEffect>
                                  </p:childTnLst>
                                </p:cTn>
                              </p:par>
                            </p:childTnLst>
                          </p:cTn>
                        </p:par>
                      </p:childTnLst>
                    </p:cTn>
                  </p:par>
                  <p:par>
                    <p:cTn id="13" nodeType="clickEffect" fill="hold">
                      <p:stCondLst>
                        <p:cond delay="indefinite"/>
                      </p:stCondLst>
                      <p:childTnLst>
                        <p:par>
                          <p:cTn id="14" nodeType="withEffect" fill="hold">
                            <p:stCondLst>
                              <p:cond delay="0"/>
                            </p:stCondLst>
                            <p:childTnLst>
                              <p:par>
                                <p:cTn id="15" nodeType="clickEffect" fill="hold" presetClass="entr" presetID="22" presetSubtype="8">
                                  <p:stCondLst>
                                    <p:cond delay="0"/>
                                  </p:stCondLst>
                                  <p:childTnLst>
                                    <p:set>
                                      <p:cBhvr>
                                        <p:cTn id="16" dur="1" fill="hold">
                                          <p:stCondLst>
                                            <p:cond delay="0"/>
                                          </p:stCondLst>
                                        </p:cTn>
                                        <p:tgtEl>
                                          <p:spTgt spid="43">
                                            <p:txEl>
                                              <p:pRg st="1" end="1"/>
                                            </p:txEl>
                                          </p:spTgt>
                                        </p:tgtEl>
                                        <p:attrNameLst>
                                          <p:attrName>style.visibility</p:attrName>
                                        </p:attrNameLst>
                                      </p:cBhvr>
                                      <p:to>
                                        <p:strVal val="visible"/>
                                      </p:to>
                                    </p:set>
                                    <p:animEffect filter="wipe(left)" transition="in">
                                      <p:cBhvr additive="repl">
                                        <p:cTn id="17" dur="1000"/>
                                        <p:tgtEl>
                                          <p:spTgt spid="43">
                                            <p:txEl>
                                              <p:pRg st="1" end="1"/>
                                            </p:txEl>
                                          </p:spTgt>
                                        </p:tgtEl>
                                      </p:cBhvr>
                                    </p:animEffect>
                                  </p:childTnLst>
                                </p:cTn>
                              </p:par>
                            </p:childTnLst>
                          </p:cTn>
                        </p:par>
                      </p:childTnLst>
                    </p:cTn>
                  </p:par>
                  <p:par>
                    <p:cTn id="18" nodeType="clickEffect" fill="hold">
                      <p:stCondLst>
                        <p:cond delay="indefinite"/>
                      </p:stCondLst>
                      <p:childTnLst>
                        <p:par>
                          <p:cTn id="19" nodeType="withEffect" fill="hold">
                            <p:stCondLst>
                              <p:cond delay="0"/>
                            </p:stCondLst>
                            <p:childTnLst>
                              <p:par>
                                <p:cTn id="20" nodeType="clickEffect" fill="hold" presetClass="entr" presetID="22" presetSubtype="8">
                                  <p:stCondLst>
                                    <p:cond delay="0"/>
                                  </p:stCondLst>
                                  <p:childTnLst>
                                    <p:set>
                                      <p:cBhvr>
                                        <p:cTn id="21" dur="1" fill="hold">
                                          <p:stCondLst>
                                            <p:cond delay="0"/>
                                          </p:stCondLst>
                                        </p:cTn>
                                        <p:tgtEl>
                                          <p:spTgt spid="43">
                                            <p:txEl>
                                              <p:pRg st="2" end="2"/>
                                            </p:txEl>
                                          </p:spTgt>
                                        </p:tgtEl>
                                        <p:attrNameLst>
                                          <p:attrName>style.visibility</p:attrName>
                                        </p:attrNameLst>
                                      </p:cBhvr>
                                      <p:to>
                                        <p:strVal val="visible"/>
                                      </p:to>
                                    </p:set>
                                    <p:animEffect filter="wipe(left)" transition="in">
                                      <p:cBhvr additive="repl">
                                        <p:cTn id="22" dur="1000"/>
                                        <p:tgtEl>
                                          <p:spTgt spid="43">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TextBox 6"/>
          <p:cNvSpPr/>
          <p:nvPr/>
        </p:nvSpPr>
        <p:spPr>
          <a:xfrm>
            <a:off x="225360" y="1143000"/>
            <a:ext cx="609840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CA" sz="2400" strike="noStrike" u="none">
                <a:solidFill>
                  <a:schemeClr val="dk1"/>
                </a:solidFill>
                <a:effectLst/>
                <a:uFillTx/>
                <a:latin typeface="Arial"/>
                <a:ea typeface="ＭＳ Ｐゴシック"/>
              </a:rPr>
              <a:t>When you have completed your </a:t>
            </a:r>
            <a:br>
              <a:rPr sz="2400"/>
            </a:br>
            <a:r>
              <a:rPr b="1" lang="en-CA" sz="2400" strike="noStrike" u="none">
                <a:solidFill>
                  <a:schemeClr val="dk1"/>
                </a:solidFill>
                <a:effectLst/>
                <a:uFillTx/>
                <a:latin typeface="Arial"/>
                <a:ea typeface="ＭＳ Ｐゴシック"/>
              </a:rPr>
              <a:t>study of this chapter, you will be able to</a:t>
            </a:r>
            <a:endParaRPr b="0" lang="en-US" sz="2400" strike="noStrike" u="none">
              <a:solidFill>
                <a:srgbClr val="000000"/>
              </a:solidFill>
              <a:effectLst/>
              <a:uFillTx/>
              <a:latin typeface="Arial"/>
            </a:endParaRPr>
          </a:p>
        </p:txBody>
      </p:sp>
      <p:sp>
        <p:nvSpPr>
          <p:cNvPr id="49" name="TextBox 7"/>
          <p:cNvSpPr/>
          <p:nvPr/>
        </p:nvSpPr>
        <p:spPr>
          <a:xfrm>
            <a:off x="225360" y="2170080"/>
            <a:ext cx="8686080" cy="2196360"/>
          </a:xfrm>
          <a:prstGeom prst="rect">
            <a:avLst/>
          </a:prstGeom>
          <a:noFill/>
          <a:ln w="0">
            <a:noFill/>
          </a:ln>
        </p:spPr>
        <p:style>
          <a:lnRef idx="0"/>
          <a:fillRef idx="0"/>
          <a:effectRef idx="0"/>
          <a:fontRef idx="minor"/>
        </p:style>
        <p:txBody>
          <a:bodyPr lIns="90000" rIns="90000" tIns="45000" bIns="45000" anchor="t">
            <a:spAutoFit/>
          </a:bodyPr>
          <a:p>
            <a:pPr marL="114480">
              <a:lnSpc>
                <a:spcPct val="100000"/>
              </a:lnSpc>
              <a:spcBef>
                <a:spcPts val="479"/>
              </a:spcBef>
              <a:spcAft>
                <a:spcPts val="1199"/>
              </a:spcAft>
              <a:tabLst>
                <a:tab algn="l" pos="343080"/>
                <a:tab algn="l" pos="914400"/>
              </a:tabLst>
            </a:pPr>
            <a:r>
              <a:rPr b="1" lang="en-US" sz="2400" strike="noStrike" u="none">
                <a:solidFill>
                  <a:srgbClr val="ff0000"/>
                </a:solidFill>
                <a:effectLst/>
                <a:uFillTx/>
                <a:latin typeface="Arial"/>
                <a:ea typeface="ＭＳ Ｐゴシック"/>
              </a:rPr>
              <a:t>4</a:t>
            </a:r>
            <a:r>
              <a:rPr b="1"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Evaluate the efficiency of the alternative methods of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allocating resources.</a:t>
            </a:r>
            <a:endParaRPr b="0" lang="en-US" sz="2400" strike="noStrike" u="none">
              <a:solidFill>
                <a:srgbClr val="000000"/>
              </a:solidFill>
              <a:effectLst/>
              <a:uFillTx/>
              <a:latin typeface="Arial"/>
            </a:endParaRPr>
          </a:p>
          <a:p>
            <a:pPr marL="114480">
              <a:lnSpc>
                <a:spcPct val="100000"/>
              </a:lnSpc>
              <a:spcBef>
                <a:spcPts val="479"/>
              </a:spcBef>
              <a:spcAft>
                <a:spcPts val="1199"/>
              </a:spcAft>
              <a:tabLst>
                <a:tab algn="l" pos="343080"/>
                <a:tab algn="l" pos="914400"/>
              </a:tabLst>
            </a:pPr>
            <a:r>
              <a:rPr b="1" lang="en-US" sz="2400" strike="noStrike" u="none">
                <a:solidFill>
                  <a:srgbClr val="ff0000"/>
                </a:solidFill>
                <a:effectLst/>
                <a:uFillTx/>
                <a:latin typeface="Arial"/>
                <a:ea typeface="ＭＳ Ｐゴシック"/>
              </a:rPr>
              <a:t>5</a:t>
            </a:r>
            <a:r>
              <a:rPr b="0" lang="en-US" sz="2400" strike="noStrike" u="none">
                <a:solidFill>
                  <a:schemeClr val="dk1"/>
                </a:solidFill>
                <a:effectLst/>
                <a:uFillTx/>
                <a:latin typeface="Arial"/>
                <a:ea typeface="ＭＳ Ｐゴシック"/>
              </a:rPr>
              <a:t> Explain the main ideas about fairness, and evaluate </a:t>
            </a:r>
            <a:br>
              <a:rPr sz="2400"/>
            </a:b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the fairness of alternative methods of allocating scarce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resources.</a:t>
            </a:r>
            <a:endParaRPr b="0" lang="en-US" sz="2400" strike="noStrike" u="none">
              <a:solidFill>
                <a:srgbClr val="000000"/>
              </a:solidFill>
              <a:effectLst/>
              <a:uFillTx/>
              <a:latin typeface="Arial"/>
            </a:endParaRPr>
          </a:p>
        </p:txBody>
      </p:sp>
    </p:spTree>
  </p:cSld>
  <p:transition spd="slow">
    <p:wipe dir="r"/>
  </p:transition>
  <p:timing>
    <p:tnLst>
      <p:par>
        <p:cTn id="23" dur="indefinite" restart="never" nodeType="tmRoot">
          <p:childTnLst>
            <p:seq>
              <p:cTn id="24" dur="indefinite" nodeType="mainSeq">
                <p:childTnLst>
                  <p:par>
                    <p:cTn id="25" nodeType="clickEffect" fill="hold">
                      <p:stCondLst>
                        <p:cond delay="indefinite"/>
                      </p:stCondLst>
                      <p:childTnLst>
                        <p:par>
                          <p:cTn id="26" nodeType="withEffect" fill="hold">
                            <p:stCondLst>
                              <p:cond delay="0"/>
                            </p:stCondLst>
                            <p:childTnLst>
                              <p:par>
                                <p:cTn id="27" nodeType="clickEffect" fill="hold" presetClass="entr" presetID="22" presetSubtype="8">
                                  <p:stCondLst>
                                    <p:cond delay="0"/>
                                  </p:stCondLst>
                                  <p:childTnLst>
                                    <p:set>
                                      <p:cBhvr>
                                        <p:cTn id="28" dur="1" fill="hold">
                                          <p:stCondLst>
                                            <p:cond delay="0"/>
                                          </p:stCondLst>
                                        </p:cTn>
                                        <p:tgtEl>
                                          <p:spTgt spid="49">
                                            <p:txEl>
                                              <p:pRg st="0" end="0"/>
                                            </p:txEl>
                                          </p:spTgt>
                                        </p:tgtEl>
                                        <p:attrNameLst>
                                          <p:attrName>style.visibility</p:attrName>
                                        </p:attrNameLst>
                                      </p:cBhvr>
                                      <p:to>
                                        <p:strVal val="visible"/>
                                      </p:to>
                                    </p:set>
                                    <p:animEffect filter="wipe(left)" transition="in">
                                      <p:cBhvr additive="repl">
                                        <p:cTn id="29" dur="1000"/>
                                        <p:tgtEl>
                                          <p:spTgt spid="49">
                                            <p:txEl>
                                              <p:pRg st="0" end="0"/>
                                            </p:txEl>
                                          </p:spTgt>
                                        </p:tgtEl>
                                      </p:cBhvr>
                                    </p:animEffect>
                                  </p:childTnLst>
                                </p:cTn>
                              </p:par>
                            </p:childTnLst>
                          </p:cTn>
                        </p:par>
                      </p:childTnLst>
                    </p:cTn>
                  </p:par>
                  <p:par>
                    <p:cTn id="30" nodeType="clickEffect" fill="hold">
                      <p:stCondLst>
                        <p:cond delay="indefinite"/>
                      </p:stCondLst>
                      <p:childTnLst>
                        <p:par>
                          <p:cTn id="31" nodeType="withEffect" fill="hold">
                            <p:stCondLst>
                              <p:cond delay="0"/>
                            </p:stCondLst>
                            <p:childTnLst>
                              <p:par>
                                <p:cTn id="32" nodeType="clickEffect" fill="hold" presetClass="entr" presetID="22" presetSubtype="8">
                                  <p:stCondLst>
                                    <p:cond delay="0"/>
                                  </p:stCondLst>
                                  <p:childTnLst>
                                    <p:set>
                                      <p:cBhvr>
                                        <p:cTn id="33" dur="1" fill="hold">
                                          <p:stCondLst>
                                            <p:cond delay="0"/>
                                          </p:stCondLst>
                                        </p:cTn>
                                        <p:tgtEl>
                                          <p:spTgt spid="49">
                                            <p:txEl>
                                              <p:pRg st="1" end="1"/>
                                            </p:txEl>
                                          </p:spTgt>
                                        </p:tgtEl>
                                        <p:attrNameLst>
                                          <p:attrName>style.visibility</p:attrName>
                                        </p:attrNameLst>
                                      </p:cBhvr>
                                      <p:to>
                                        <p:strVal val="visible"/>
                                      </p:to>
                                    </p:set>
                                    <p:animEffect filter="wipe(left)" transition="in">
                                      <p:cBhvr additive="repl">
                                        <p:cTn id="34" dur="1000"/>
                                        <p:tgtEl>
                                          <p:spTgt spid="49">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51" name="PlaceHolder 2"/>
          <p:cNvSpPr>
            <a:spLocks noGrp="1"/>
          </p:cNvSpPr>
          <p:nvPr>
            <p:ph/>
          </p:nvPr>
        </p:nvSpPr>
        <p:spPr>
          <a:xfrm>
            <a:off x="360360" y="1440000"/>
            <a:ext cx="8228880" cy="488412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Resource Allocation Methods</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Scarce resources might be allocated by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How does each method work?</a:t>
            </a:r>
            <a:endParaRPr b="0" lang="en-US" sz="2400" strike="noStrike" u="none">
              <a:solidFill>
                <a:srgbClr val="000000"/>
              </a:solidFill>
              <a:effectLst/>
              <a:uFillTx/>
              <a:latin typeface="Arial"/>
            </a:endParaRPr>
          </a:p>
        </p:txBody>
      </p:sp>
      <p:sp>
        <p:nvSpPr>
          <p:cNvPr id="52" name="TextBox 1"/>
          <p:cNvSpPr/>
          <p:nvPr/>
        </p:nvSpPr>
        <p:spPr>
          <a:xfrm>
            <a:off x="360360" y="2556000"/>
            <a:ext cx="5201640" cy="2553480"/>
          </a:xfrm>
          <a:prstGeom prst="rect">
            <a:avLst/>
          </a:prstGeom>
          <a:noFill/>
          <a:ln w="0">
            <a:noFill/>
          </a:ln>
        </p:spPr>
        <p:style>
          <a:lnRef idx="0"/>
          <a:fillRef idx="0"/>
          <a:effectRef idx="0"/>
          <a:fontRef idx="minor"/>
        </p:style>
        <p:txBody>
          <a:bodyPr lIns="90000" rIns="90000" tIns="45000" bIns="45000" anchor="t">
            <a:spAutoFit/>
          </a:bodyPr>
          <a:p>
            <a:pPr lvl="2" marL="70164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Market price</a:t>
            </a:r>
            <a:endParaRPr b="0" lang="en-US" sz="2400" strike="noStrike" u="none">
              <a:solidFill>
                <a:srgbClr val="000000"/>
              </a:solidFill>
              <a:effectLst/>
              <a:uFillTx/>
              <a:latin typeface="Arial"/>
            </a:endParaRPr>
          </a:p>
          <a:p>
            <a:pPr lvl="2" marL="70164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Command</a:t>
            </a:r>
            <a:endParaRPr b="0" lang="en-US" sz="2400" strike="noStrike" u="none">
              <a:solidFill>
                <a:srgbClr val="000000"/>
              </a:solidFill>
              <a:effectLst/>
              <a:uFillTx/>
              <a:latin typeface="Arial"/>
            </a:endParaRPr>
          </a:p>
          <a:p>
            <a:pPr lvl="2" marL="70164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Majority rule</a:t>
            </a:r>
            <a:endParaRPr b="0" lang="en-US" sz="2400" strike="noStrike" u="none">
              <a:solidFill>
                <a:srgbClr val="000000"/>
              </a:solidFill>
              <a:effectLst/>
              <a:uFillTx/>
              <a:latin typeface="Arial"/>
            </a:endParaRPr>
          </a:p>
          <a:p>
            <a:pPr lvl="2" marL="70164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Contest</a:t>
            </a:r>
            <a:endParaRPr b="0" lang="en-US" sz="2400" strike="noStrike" u="none">
              <a:solidFill>
                <a:srgbClr val="000000"/>
              </a:solidFill>
              <a:effectLst/>
              <a:uFillTx/>
              <a:latin typeface="Arial"/>
            </a:endParaRPr>
          </a:p>
          <a:p>
            <a:pPr lvl="2" marL="70164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First-come, first-served</a:t>
            </a:r>
            <a:endParaRPr b="0" lang="en-US" sz="2400" strike="noStrike" u="none">
              <a:solidFill>
                <a:srgbClr val="000000"/>
              </a:solidFill>
              <a:effectLst/>
              <a:uFillTx/>
              <a:latin typeface="Arial"/>
            </a:endParaRPr>
          </a:p>
        </p:txBody>
      </p:sp>
      <p:sp>
        <p:nvSpPr>
          <p:cNvPr id="53" name="TextBox 4"/>
          <p:cNvSpPr/>
          <p:nvPr/>
        </p:nvSpPr>
        <p:spPr>
          <a:xfrm>
            <a:off x="4500720" y="2556000"/>
            <a:ext cx="4236480" cy="2553480"/>
          </a:xfrm>
          <a:prstGeom prst="rect">
            <a:avLst/>
          </a:prstGeom>
          <a:noFill/>
          <a:ln w="0">
            <a:noFill/>
          </a:ln>
        </p:spPr>
        <p:style>
          <a:lnRef idx="0"/>
          <a:fillRef idx="0"/>
          <a:effectRef idx="0"/>
          <a:fontRef idx="minor"/>
        </p:style>
        <p:txBody>
          <a:bodyPr lIns="90000" rIns="90000" tIns="45000" bIns="45000" anchor="t">
            <a:spAutoFit/>
          </a:bodyPr>
          <a:p>
            <a:pPr lvl="2" marL="70164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Sharing equally</a:t>
            </a:r>
            <a:endParaRPr b="0" lang="en-US" sz="2400" strike="noStrike" u="none">
              <a:solidFill>
                <a:srgbClr val="000000"/>
              </a:solidFill>
              <a:effectLst/>
              <a:uFillTx/>
              <a:latin typeface="Arial"/>
            </a:endParaRPr>
          </a:p>
          <a:p>
            <a:pPr lvl="2" marL="70164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Lottery</a:t>
            </a:r>
            <a:endParaRPr b="0" lang="en-US" sz="2400" strike="noStrike" u="none">
              <a:solidFill>
                <a:srgbClr val="000000"/>
              </a:solidFill>
              <a:effectLst/>
              <a:uFillTx/>
              <a:latin typeface="Arial"/>
            </a:endParaRPr>
          </a:p>
          <a:p>
            <a:pPr lvl="2" marL="70164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Personal characteristics</a:t>
            </a:r>
            <a:endParaRPr b="0" lang="en-US" sz="2400" strike="noStrike" u="none">
              <a:solidFill>
                <a:srgbClr val="000000"/>
              </a:solidFill>
              <a:effectLst/>
              <a:uFillTx/>
              <a:latin typeface="Arial"/>
            </a:endParaRPr>
          </a:p>
          <a:p>
            <a:pPr lvl="2" marL="70164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Force</a:t>
            </a:r>
            <a:endParaRPr b="0" lang="en-US" sz="2400" strike="noStrike" u="none">
              <a:solidFill>
                <a:srgbClr val="000000"/>
              </a:solidFill>
              <a:effectLst/>
              <a:uFillTx/>
              <a:latin typeface="Arial"/>
            </a:endParaRPr>
          </a:p>
          <a:p>
            <a:pPr>
              <a:lnSpc>
                <a:spcPct val="100000"/>
              </a:lnSpc>
              <a:spcBef>
                <a:spcPts val="601"/>
              </a:spcBef>
              <a:spcAft>
                <a:spcPts val="601"/>
              </a:spcAft>
            </a:pPr>
            <a:endParaRPr b="0" lang="en-US" sz="2400" strike="noStrike" u="none">
              <a:solidFill>
                <a:srgbClr val="000000"/>
              </a:solidFill>
              <a:effectLst/>
              <a:uFillTx/>
              <a:latin typeface="Arial"/>
            </a:endParaRPr>
          </a:p>
        </p:txBody>
      </p:sp>
    </p:spTree>
  </p:cSld>
  <p:transition spd="slow">
    <p:wipe dir="r"/>
  </p:transition>
  <p:timing>
    <p:tnLst>
      <p:par>
        <p:cTn id="35" dur="indefinite" restart="never" nodeType="tmRoot">
          <p:childTnLst>
            <p:seq>
              <p:cTn id="36" dur="indefinite" nodeType="mainSeq">
                <p:childTnLst>
                  <p:par>
                    <p:cTn id="37" nodeType="clickEffect" fill="hold">
                      <p:stCondLst>
                        <p:cond delay="indefinite"/>
                      </p:stCondLst>
                      <p:childTnLst>
                        <p:par>
                          <p:cTn id="38" nodeType="withEffect" fill="hold">
                            <p:stCondLst>
                              <p:cond delay="0"/>
                            </p:stCondLst>
                            <p:childTnLst>
                              <p:par>
                                <p:cTn id="39" nodeType="clickEffect" fill="hold" presetClass="entr" presetID="22" presetSubtype="8">
                                  <p:stCondLst>
                                    <p:cond delay="0"/>
                                  </p:stCondLst>
                                  <p:childTnLst>
                                    <p:set>
                                      <p:cBhvr>
                                        <p:cTn id="40" dur="1" fill="hold">
                                          <p:stCondLst>
                                            <p:cond delay="0"/>
                                          </p:stCondLst>
                                        </p:cTn>
                                        <p:tgtEl>
                                          <p:spTgt spid="51">
                                            <p:txEl>
                                              <p:pRg st="0" end="0"/>
                                            </p:txEl>
                                          </p:spTgt>
                                        </p:tgtEl>
                                        <p:attrNameLst>
                                          <p:attrName>style.visibility</p:attrName>
                                        </p:attrNameLst>
                                      </p:cBhvr>
                                      <p:to>
                                        <p:strVal val="visible"/>
                                      </p:to>
                                    </p:set>
                                    <p:animEffect filter="wipe(left)" transition="in">
                                      <p:cBhvr additive="repl">
                                        <p:cTn id="41" dur="750"/>
                                        <p:tgtEl>
                                          <p:spTgt spid="51">
                                            <p:txEl>
                                              <p:pRg st="0" end="0"/>
                                            </p:txEl>
                                          </p:spTgt>
                                        </p:tgtEl>
                                      </p:cBhvr>
                                    </p:animEffect>
                                  </p:childTnLst>
                                </p:cTn>
                              </p:par>
                            </p:childTnLst>
                          </p:cTn>
                        </p:par>
                      </p:childTnLst>
                    </p:cTn>
                  </p:par>
                  <p:par>
                    <p:cTn id="42" nodeType="clickEffect" fill="hold">
                      <p:stCondLst>
                        <p:cond delay="indefinite"/>
                      </p:stCondLst>
                      <p:childTnLst>
                        <p:par>
                          <p:cTn id="43" nodeType="withEffect" fill="hold">
                            <p:stCondLst>
                              <p:cond delay="0"/>
                            </p:stCondLst>
                            <p:childTnLst>
                              <p:par>
                                <p:cTn id="44" nodeType="clickEffect" fill="hold" presetClass="entr" presetID="22" presetSubtype="8">
                                  <p:stCondLst>
                                    <p:cond delay="0"/>
                                  </p:stCondLst>
                                  <p:childTnLst>
                                    <p:set>
                                      <p:cBhvr>
                                        <p:cTn id="45" dur="1" fill="hold">
                                          <p:stCondLst>
                                            <p:cond delay="0"/>
                                          </p:stCondLst>
                                        </p:cTn>
                                        <p:tgtEl>
                                          <p:spTgt spid="51">
                                            <p:txEl>
                                              <p:pRg st="1" end="1"/>
                                            </p:txEl>
                                          </p:spTgt>
                                        </p:tgtEl>
                                        <p:attrNameLst>
                                          <p:attrName>style.visibility</p:attrName>
                                        </p:attrNameLst>
                                      </p:cBhvr>
                                      <p:to>
                                        <p:strVal val="visible"/>
                                      </p:to>
                                    </p:set>
                                    <p:animEffect filter="wipe(left)" transition="in">
                                      <p:cBhvr additive="repl">
                                        <p:cTn id="46" dur="750"/>
                                        <p:tgtEl>
                                          <p:spTgt spid="51">
                                            <p:txEl>
                                              <p:pRg st="1" end="1"/>
                                            </p:txEl>
                                          </p:spTgt>
                                        </p:tgtEl>
                                      </p:cBhvr>
                                    </p:animEffect>
                                  </p:childTnLst>
                                </p:cTn>
                              </p:par>
                            </p:childTnLst>
                          </p:cTn>
                        </p:par>
                      </p:childTnLst>
                    </p:cTn>
                  </p:par>
                  <p:par>
                    <p:cTn id="47" nodeType="clickEffect" fill="hold">
                      <p:stCondLst>
                        <p:cond delay="indefinite"/>
                      </p:stCondLst>
                      <p:childTnLst>
                        <p:par>
                          <p:cTn id="48" nodeType="withEffect" fill="hold">
                            <p:stCondLst>
                              <p:cond delay="0"/>
                            </p:stCondLst>
                            <p:childTnLst>
                              <p:par>
                                <p:cTn id="49" nodeType="clickEffect" fill="hold" presetClass="entr" presetID="22" presetSubtype="8">
                                  <p:stCondLst>
                                    <p:cond delay="0"/>
                                  </p:stCondLst>
                                  <p:childTnLst>
                                    <p:set>
                                      <p:cBhvr>
                                        <p:cTn id="50" dur="1" fill="hold">
                                          <p:stCondLst>
                                            <p:cond delay="0"/>
                                          </p:stCondLst>
                                        </p:cTn>
                                        <p:tgtEl>
                                          <p:spTgt spid="52">
                                            <p:txEl>
                                              <p:pRg st="0" end="0"/>
                                            </p:txEl>
                                          </p:spTgt>
                                        </p:tgtEl>
                                        <p:attrNameLst>
                                          <p:attrName>style.visibility</p:attrName>
                                        </p:attrNameLst>
                                      </p:cBhvr>
                                      <p:to>
                                        <p:strVal val="visible"/>
                                      </p:to>
                                    </p:set>
                                    <p:animEffect filter="wipe(left)" transition="in">
                                      <p:cBhvr additive="repl">
                                        <p:cTn id="51" dur="750"/>
                                        <p:tgtEl>
                                          <p:spTgt spid="52">
                                            <p:txEl>
                                              <p:pRg st="0" end="0"/>
                                            </p:txEl>
                                          </p:spTgt>
                                        </p:tgtEl>
                                      </p:cBhvr>
                                    </p:animEffect>
                                  </p:childTnLst>
                                </p:cTn>
                              </p:par>
                            </p:childTnLst>
                          </p:cTn>
                        </p:par>
                      </p:childTnLst>
                    </p:cTn>
                  </p:par>
                  <p:par>
                    <p:cTn id="52" nodeType="clickEffect" fill="hold">
                      <p:stCondLst>
                        <p:cond delay="indefinite"/>
                      </p:stCondLst>
                      <p:childTnLst>
                        <p:par>
                          <p:cTn id="53" nodeType="withEffect" fill="hold">
                            <p:stCondLst>
                              <p:cond delay="0"/>
                            </p:stCondLst>
                            <p:childTnLst>
                              <p:par>
                                <p:cTn id="54" nodeType="clickEffect" fill="hold" presetClass="entr" presetID="22" presetSubtype="8">
                                  <p:stCondLst>
                                    <p:cond delay="0"/>
                                  </p:stCondLst>
                                  <p:childTnLst>
                                    <p:set>
                                      <p:cBhvr>
                                        <p:cTn id="55" dur="1" fill="hold">
                                          <p:stCondLst>
                                            <p:cond delay="0"/>
                                          </p:stCondLst>
                                        </p:cTn>
                                        <p:tgtEl>
                                          <p:spTgt spid="52">
                                            <p:txEl>
                                              <p:pRg st="1" end="1"/>
                                            </p:txEl>
                                          </p:spTgt>
                                        </p:tgtEl>
                                        <p:attrNameLst>
                                          <p:attrName>style.visibility</p:attrName>
                                        </p:attrNameLst>
                                      </p:cBhvr>
                                      <p:to>
                                        <p:strVal val="visible"/>
                                      </p:to>
                                    </p:set>
                                    <p:animEffect filter="wipe(left)" transition="in">
                                      <p:cBhvr additive="repl">
                                        <p:cTn id="56" dur="750"/>
                                        <p:tgtEl>
                                          <p:spTgt spid="52">
                                            <p:txEl>
                                              <p:pRg st="1" end="1"/>
                                            </p:txEl>
                                          </p:spTgt>
                                        </p:tgtEl>
                                      </p:cBhvr>
                                    </p:animEffect>
                                  </p:childTnLst>
                                </p:cTn>
                              </p:par>
                            </p:childTnLst>
                          </p:cTn>
                        </p:par>
                      </p:childTnLst>
                    </p:cTn>
                  </p:par>
                  <p:par>
                    <p:cTn id="57" nodeType="clickEffect" fill="hold">
                      <p:stCondLst>
                        <p:cond delay="indefinite"/>
                      </p:stCondLst>
                      <p:childTnLst>
                        <p:par>
                          <p:cTn id="58" nodeType="withEffect" fill="hold">
                            <p:stCondLst>
                              <p:cond delay="0"/>
                            </p:stCondLst>
                            <p:childTnLst>
                              <p:par>
                                <p:cTn id="59" nodeType="clickEffect" fill="hold" presetClass="entr" presetID="22" presetSubtype="8">
                                  <p:stCondLst>
                                    <p:cond delay="0"/>
                                  </p:stCondLst>
                                  <p:childTnLst>
                                    <p:set>
                                      <p:cBhvr>
                                        <p:cTn id="60" dur="1" fill="hold">
                                          <p:stCondLst>
                                            <p:cond delay="0"/>
                                          </p:stCondLst>
                                        </p:cTn>
                                        <p:tgtEl>
                                          <p:spTgt spid="52">
                                            <p:txEl>
                                              <p:pRg st="2" end="2"/>
                                            </p:txEl>
                                          </p:spTgt>
                                        </p:tgtEl>
                                        <p:attrNameLst>
                                          <p:attrName>style.visibility</p:attrName>
                                        </p:attrNameLst>
                                      </p:cBhvr>
                                      <p:to>
                                        <p:strVal val="visible"/>
                                      </p:to>
                                    </p:set>
                                    <p:animEffect filter="wipe(left)" transition="in">
                                      <p:cBhvr additive="repl">
                                        <p:cTn id="61" dur="750"/>
                                        <p:tgtEl>
                                          <p:spTgt spid="52">
                                            <p:txEl>
                                              <p:pRg st="2" end="2"/>
                                            </p:txEl>
                                          </p:spTgt>
                                        </p:tgtEl>
                                      </p:cBhvr>
                                    </p:animEffect>
                                  </p:childTnLst>
                                </p:cTn>
                              </p:par>
                            </p:childTnLst>
                          </p:cTn>
                        </p:par>
                      </p:childTnLst>
                    </p:cTn>
                  </p:par>
                  <p:par>
                    <p:cTn id="62" nodeType="clickEffect" fill="hold">
                      <p:stCondLst>
                        <p:cond delay="indefinite"/>
                      </p:stCondLst>
                      <p:childTnLst>
                        <p:par>
                          <p:cTn id="63" nodeType="withEffect" fill="hold">
                            <p:stCondLst>
                              <p:cond delay="0"/>
                            </p:stCondLst>
                            <p:childTnLst>
                              <p:par>
                                <p:cTn id="64" nodeType="clickEffect" fill="hold" presetClass="entr" presetID="22" presetSubtype="8">
                                  <p:stCondLst>
                                    <p:cond delay="0"/>
                                  </p:stCondLst>
                                  <p:childTnLst>
                                    <p:set>
                                      <p:cBhvr>
                                        <p:cTn id="65" dur="1" fill="hold">
                                          <p:stCondLst>
                                            <p:cond delay="0"/>
                                          </p:stCondLst>
                                        </p:cTn>
                                        <p:tgtEl>
                                          <p:spTgt spid="52">
                                            <p:txEl>
                                              <p:pRg st="3" end="3"/>
                                            </p:txEl>
                                          </p:spTgt>
                                        </p:tgtEl>
                                        <p:attrNameLst>
                                          <p:attrName>style.visibility</p:attrName>
                                        </p:attrNameLst>
                                      </p:cBhvr>
                                      <p:to>
                                        <p:strVal val="visible"/>
                                      </p:to>
                                    </p:set>
                                    <p:animEffect filter="wipe(left)" transition="in">
                                      <p:cBhvr additive="repl">
                                        <p:cTn id="66" dur="750"/>
                                        <p:tgtEl>
                                          <p:spTgt spid="52">
                                            <p:txEl>
                                              <p:pRg st="3" end="3"/>
                                            </p:txEl>
                                          </p:spTgt>
                                        </p:tgtEl>
                                      </p:cBhvr>
                                    </p:animEffect>
                                  </p:childTnLst>
                                </p:cTn>
                              </p:par>
                            </p:childTnLst>
                          </p:cTn>
                        </p:par>
                      </p:childTnLst>
                    </p:cTn>
                  </p:par>
                  <p:par>
                    <p:cTn id="67" nodeType="clickEffect" fill="hold">
                      <p:stCondLst>
                        <p:cond delay="indefinite"/>
                      </p:stCondLst>
                      <p:childTnLst>
                        <p:par>
                          <p:cTn id="68" nodeType="withEffect" fill="hold">
                            <p:stCondLst>
                              <p:cond delay="0"/>
                            </p:stCondLst>
                            <p:childTnLst>
                              <p:par>
                                <p:cTn id="69" nodeType="clickEffect" fill="hold" presetClass="entr" presetID="22" presetSubtype="8">
                                  <p:stCondLst>
                                    <p:cond delay="0"/>
                                  </p:stCondLst>
                                  <p:childTnLst>
                                    <p:set>
                                      <p:cBhvr>
                                        <p:cTn id="70" dur="1" fill="hold">
                                          <p:stCondLst>
                                            <p:cond delay="0"/>
                                          </p:stCondLst>
                                        </p:cTn>
                                        <p:tgtEl>
                                          <p:spTgt spid="52">
                                            <p:txEl>
                                              <p:pRg st="4" end="4"/>
                                            </p:txEl>
                                          </p:spTgt>
                                        </p:tgtEl>
                                        <p:attrNameLst>
                                          <p:attrName>style.visibility</p:attrName>
                                        </p:attrNameLst>
                                      </p:cBhvr>
                                      <p:to>
                                        <p:strVal val="visible"/>
                                      </p:to>
                                    </p:set>
                                    <p:animEffect filter="wipe(left)" transition="in">
                                      <p:cBhvr additive="repl">
                                        <p:cTn id="71" dur="750"/>
                                        <p:tgtEl>
                                          <p:spTgt spid="52">
                                            <p:txEl>
                                              <p:pRg st="4" end="4"/>
                                            </p:txEl>
                                          </p:spTgt>
                                        </p:tgtEl>
                                      </p:cBhvr>
                                    </p:animEffect>
                                  </p:childTnLst>
                                </p:cTn>
                              </p:par>
                            </p:childTnLst>
                          </p:cTn>
                        </p:par>
                      </p:childTnLst>
                    </p:cTn>
                  </p:par>
                  <p:par>
                    <p:cTn id="72" nodeType="clickEffect" fill="hold">
                      <p:stCondLst>
                        <p:cond delay="indefinite"/>
                      </p:stCondLst>
                      <p:childTnLst>
                        <p:par>
                          <p:cTn id="73" nodeType="withEffect" fill="hold">
                            <p:stCondLst>
                              <p:cond delay="0"/>
                            </p:stCondLst>
                            <p:childTnLst>
                              <p:par>
                                <p:cTn id="74" nodeType="clickEffect" fill="hold" presetClass="entr" presetID="22" presetSubtype="8">
                                  <p:stCondLst>
                                    <p:cond delay="0"/>
                                  </p:stCondLst>
                                  <p:childTnLst>
                                    <p:set>
                                      <p:cBhvr>
                                        <p:cTn id="75" dur="1" fill="hold">
                                          <p:stCondLst>
                                            <p:cond delay="0"/>
                                          </p:stCondLst>
                                        </p:cTn>
                                        <p:tgtEl>
                                          <p:spTgt spid="53">
                                            <p:txEl>
                                              <p:pRg st="0" end="0"/>
                                            </p:txEl>
                                          </p:spTgt>
                                        </p:tgtEl>
                                        <p:attrNameLst>
                                          <p:attrName>style.visibility</p:attrName>
                                        </p:attrNameLst>
                                      </p:cBhvr>
                                      <p:to>
                                        <p:strVal val="visible"/>
                                      </p:to>
                                    </p:set>
                                    <p:animEffect filter="wipe(left)" transition="in">
                                      <p:cBhvr additive="repl">
                                        <p:cTn id="76" dur="750"/>
                                        <p:tgtEl>
                                          <p:spTgt spid="53">
                                            <p:txEl>
                                              <p:pRg st="0" end="0"/>
                                            </p:txEl>
                                          </p:spTgt>
                                        </p:tgtEl>
                                      </p:cBhvr>
                                    </p:animEffect>
                                  </p:childTnLst>
                                </p:cTn>
                              </p:par>
                            </p:childTnLst>
                          </p:cTn>
                        </p:par>
                      </p:childTnLst>
                    </p:cTn>
                  </p:par>
                  <p:par>
                    <p:cTn id="77" nodeType="clickEffect" fill="hold">
                      <p:stCondLst>
                        <p:cond delay="indefinite"/>
                      </p:stCondLst>
                      <p:childTnLst>
                        <p:par>
                          <p:cTn id="78" nodeType="withEffect" fill="hold">
                            <p:stCondLst>
                              <p:cond delay="0"/>
                            </p:stCondLst>
                            <p:childTnLst>
                              <p:par>
                                <p:cTn id="79" nodeType="clickEffect" fill="hold" presetClass="entr" presetID="22" presetSubtype="8">
                                  <p:stCondLst>
                                    <p:cond delay="0"/>
                                  </p:stCondLst>
                                  <p:childTnLst>
                                    <p:set>
                                      <p:cBhvr>
                                        <p:cTn id="80" dur="1" fill="hold">
                                          <p:stCondLst>
                                            <p:cond delay="0"/>
                                          </p:stCondLst>
                                        </p:cTn>
                                        <p:tgtEl>
                                          <p:spTgt spid="53">
                                            <p:txEl>
                                              <p:pRg st="1" end="1"/>
                                            </p:txEl>
                                          </p:spTgt>
                                        </p:tgtEl>
                                        <p:attrNameLst>
                                          <p:attrName>style.visibility</p:attrName>
                                        </p:attrNameLst>
                                      </p:cBhvr>
                                      <p:to>
                                        <p:strVal val="visible"/>
                                      </p:to>
                                    </p:set>
                                    <p:animEffect filter="wipe(left)" transition="in">
                                      <p:cBhvr additive="repl">
                                        <p:cTn id="81" dur="750"/>
                                        <p:tgtEl>
                                          <p:spTgt spid="53">
                                            <p:txEl>
                                              <p:pRg st="1" end="1"/>
                                            </p:txEl>
                                          </p:spTgt>
                                        </p:tgtEl>
                                      </p:cBhvr>
                                    </p:animEffect>
                                  </p:childTnLst>
                                </p:cTn>
                              </p:par>
                            </p:childTnLst>
                          </p:cTn>
                        </p:par>
                      </p:childTnLst>
                    </p:cTn>
                  </p:par>
                  <p:par>
                    <p:cTn id="82" nodeType="clickEffect" fill="hold">
                      <p:stCondLst>
                        <p:cond delay="indefinite"/>
                      </p:stCondLst>
                      <p:childTnLst>
                        <p:par>
                          <p:cTn id="83" nodeType="withEffect" fill="hold">
                            <p:stCondLst>
                              <p:cond delay="0"/>
                            </p:stCondLst>
                            <p:childTnLst>
                              <p:par>
                                <p:cTn id="84" nodeType="clickEffect" fill="hold" presetClass="entr" presetID="22" presetSubtype="8">
                                  <p:stCondLst>
                                    <p:cond delay="0"/>
                                  </p:stCondLst>
                                  <p:childTnLst>
                                    <p:set>
                                      <p:cBhvr>
                                        <p:cTn id="85" dur="1" fill="hold">
                                          <p:stCondLst>
                                            <p:cond delay="0"/>
                                          </p:stCondLst>
                                        </p:cTn>
                                        <p:tgtEl>
                                          <p:spTgt spid="53">
                                            <p:txEl>
                                              <p:pRg st="2" end="2"/>
                                            </p:txEl>
                                          </p:spTgt>
                                        </p:tgtEl>
                                        <p:attrNameLst>
                                          <p:attrName>style.visibility</p:attrName>
                                        </p:attrNameLst>
                                      </p:cBhvr>
                                      <p:to>
                                        <p:strVal val="visible"/>
                                      </p:to>
                                    </p:set>
                                    <p:animEffect filter="wipe(left)" transition="in">
                                      <p:cBhvr additive="repl">
                                        <p:cTn id="86" dur="750"/>
                                        <p:tgtEl>
                                          <p:spTgt spid="53">
                                            <p:txEl>
                                              <p:pRg st="2" end="2"/>
                                            </p:txEl>
                                          </p:spTgt>
                                        </p:tgtEl>
                                      </p:cBhvr>
                                    </p:animEffect>
                                  </p:childTnLst>
                                </p:cTn>
                              </p:par>
                            </p:childTnLst>
                          </p:cTn>
                        </p:par>
                      </p:childTnLst>
                    </p:cTn>
                  </p:par>
                  <p:par>
                    <p:cTn id="87" nodeType="clickEffect" fill="hold">
                      <p:stCondLst>
                        <p:cond delay="indefinite"/>
                      </p:stCondLst>
                      <p:childTnLst>
                        <p:par>
                          <p:cTn id="88" nodeType="withEffect" fill="hold">
                            <p:stCondLst>
                              <p:cond delay="0"/>
                            </p:stCondLst>
                            <p:childTnLst>
                              <p:par>
                                <p:cTn id="89" nodeType="clickEffect" fill="hold" presetClass="entr" presetID="22" presetSubtype="8">
                                  <p:stCondLst>
                                    <p:cond delay="0"/>
                                  </p:stCondLst>
                                  <p:childTnLst>
                                    <p:set>
                                      <p:cBhvr>
                                        <p:cTn id="90" dur="1" fill="hold">
                                          <p:stCondLst>
                                            <p:cond delay="0"/>
                                          </p:stCondLst>
                                        </p:cTn>
                                        <p:tgtEl>
                                          <p:spTgt spid="53">
                                            <p:txEl>
                                              <p:pRg st="3" end="3"/>
                                            </p:txEl>
                                          </p:spTgt>
                                        </p:tgtEl>
                                        <p:attrNameLst>
                                          <p:attrName>style.visibility</p:attrName>
                                        </p:attrNameLst>
                                      </p:cBhvr>
                                      <p:to>
                                        <p:strVal val="visible"/>
                                      </p:to>
                                    </p:set>
                                    <p:animEffect filter="wipe(left)" transition="in">
                                      <p:cBhvr additive="repl">
                                        <p:cTn id="91" dur="750"/>
                                        <p:tgtEl>
                                          <p:spTgt spid="53">
                                            <p:txEl>
                                              <p:pRg st="3" end="3"/>
                                            </p:txEl>
                                          </p:spTgt>
                                        </p:tgtEl>
                                      </p:cBhvr>
                                    </p:animEffect>
                                  </p:childTnLst>
                                </p:cTn>
                              </p:par>
                            </p:childTnLst>
                          </p:cTn>
                        </p:par>
                      </p:childTnLst>
                    </p:cTn>
                  </p:par>
                  <p:par>
                    <p:cTn id="92" nodeType="clickEffect" fill="hold">
                      <p:stCondLst>
                        <p:cond delay="indefinite"/>
                      </p:stCondLst>
                      <p:childTnLst>
                        <p:par>
                          <p:cTn id="93" nodeType="withEffect" fill="hold">
                            <p:stCondLst>
                              <p:cond delay="0"/>
                            </p:stCondLst>
                            <p:childTnLst>
                              <p:par>
                                <p:cTn id="94" nodeType="clickEffect" fill="hold" presetClass="entr" presetID="22" presetSubtype="8">
                                  <p:stCondLst>
                                    <p:cond delay="0"/>
                                  </p:stCondLst>
                                  <p:childTnLst>
                                    <p:set>
                                      <p:cBhvr>
                                        <p:cTn id="95" dur="1" fill="hold">
                                          <p:stCondLst>
                                            <p:cond delay="0"/>
                                          </p:stCondLst>
                                        </p:cTn>
                                        <p:tgtEl>
                                          <p:spTgt spid="51">
                                            <p:txEl>
                                              <p:pRg st="7" end="7"/>
                                            </p:txEl>
                                          </p:spTgt>
                                        </p:tgtEl>
                                        <p:attrNameLst>
                                          <p:attrName>style.visibility</p:attrName>
                                        </p:attrNameLst>
                                      </p:cBhvr>
                                      <p:to>
                                        <p:strVal val="visible"/>
                                      </p:to>
                                    </p:set>
                                    <p:animEffect filter="wipe(left)" transition="in">
                                      <p:cBhvr additive="repl">
                                        <p:cTn id="96" dur="750"/>
                                        <p:tgtEl>
                                          <p:spTgt spid="51">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55"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Market Price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When a market allocates a scarce resource, the people who get the resource are those who are willing to pay the market price.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Most of the scarce resources that you supply get allocated by market price.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You sell your labor services in a market, and you buy most of what you consume in markets.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 most goods and services, the market turns out to do a good job.</a:t>
            </a:r>
            <a:endParaRPr b="0" lang="en-US" sz="2400" strike="noStrike" u="none">
              <a:solidFill>
                <a:srgbClr val="000000"/>
              </a:solidFill>
              <a:effectLst/>
              <a:uFillTx/>
              <a:latin typeface="Arial"/>
            </a:endParaRPr>
          </a:p>
        </p:txBody>
      </p:sp>
    </p:spTree>
  </p:cSld>
  <p:transition spd="slow">
    <p:wipe dir="r"/>
  </p:transition>
  <p:timing>
    <p:tnLst>
      <p:par>
        <p:cTn id="97" dur="indefinite" restart="never" nodeType="tmRoot">
          <p:childTnLst>
            <p:seq>
              <p:cTn id="98" dur="indefinite" nodeType="mainSeq">
                <p:childTnLst>
                  <p:par>
                    <p:cTn id="99" nodeType="clickEffect" fill="hold">
                      <p:stCondLst>
                        <p:cond delay="indefinite"/>
                      </p:stCondLst>
                      <p:childTnLst>
                        <p:par>
                          <p:cTn id="100" nodeType="withEffect" fill="hold">
                            <p:stCondLst>
                              <p:cond delay="0"/>
                            </p:stCondLst>
                            <p:childTnLst>
                              <p:par>
                                <p:cTn id="101" nodeType="clickEffect" fill="hold" presetClass="entr" presetID="22" presetSubtype="8">
                                  <p:stCondLst>
                                    <p:cond delay="0"/>
                                  </p:stCondLst>
                                  <p:childTnLst>
                                    <p:set>
                                      <p:cBhvr>
                                        <p:cTn id="102" dur="1" fill="hold">
                                          <p:stCondLst>
                                            <p:cond delay="0"/>
                                          </p:stCondLst>
                                        </p:cTn>
                                        <p:tgtEl>
                                          <p:spTgt spid="55">
                                            <p:txEl>
                                              <p:pRg st="1" end="1"/>
                                            </p:txEl>
                                          </p:spTgt>
                                        </p:tgtEl>
                                        <p:attrNameLst>
                                          <p:attrName>style.visibility</p:attrName>
                                        </p:attrNameLst>
                                      </p:cBhvr>
                                      <p:to>
                                        <p:strVal val="visible"/>
                                      </p:to>
                                    </p:set>
                                    <p:animEffect filter="wipe(left)" transition="in">
                                      <p:cBhvr additive="repl">
                                        <p:cTn id="103" dur="750"/>
                                        <p:tgtEl>
                                          <p:spTgt spid="55">
                                            <p:txEl>
                                              <p:pRg st="1" end="1"/>
                                            </p:txEl>
                                          </p:spTgt>
                                        </p:tgtEl>
                                      </p:cBhvr>
                                    </p:animEffect>
                                  </p:childTnLst>
                                </p:cTn>
                              </p:par>
                            </p:childTnLst>
                          </p:cTn>
                        </p:par>
                      </p:childTnLst>
                    </p:cTn>
                  </p:par>
                  <p:par>
                    <p:cTn id="104" nodeType="clickEffect" fill="hold">
                      <p:stCondLst>
                        <p:cond delay="indefinite"/>
                      </p:stCondLst>
                      <p:childTnLst>
                        <p:par>
                          <p:cTn id="105" nodeType="withEffect" fill="hold">
                            <p:stCondLst>
                              <p:cond delay="0"/>
                            </p:stCondLst>
                            <p:childTnLst>
                              <p:par>
                                <p:cTn id="106" nodeType="clickEffect" fill="hold" presetClass="entr" presetID="22" presetSubtype="8">
                                  <p:stCondLst>
                                    <p:cond delay="0"/>
                                  </p:stCondLst>
                                  <p:childTnLst>
                                    <p:set>
                                      <p:cBhvr>
                                        <p:cTn id="107" dur="1" fill="hold">
                                          <p:stCondLst>
                                            <p:cond delay="0"/>
                                          </p:stCondLst>
                                        </p:cTn>
                                        <p:tgtEl>
                                          <p:spTgt spid="55">
                                            <p:txEl>
                                              <p:pRg st="2" end="2"/>
                                            </p:txEl>
                                          </p:spTgt>
                                        </p:tgtEl>
                                        <p:attrNameLst>
                                          <p:attrName>style.visibility</p:attrName>
                                        </p:attrNameLst>
                                      </p:cBhvr>
                                      <p:to>
                                        <p:strVal val="visible"/>
                                      </p:to>
                                    </p:set>
                                    <p:animEffect filter="wipe(left)" transition="in">
                                      <p:cBhvr additive="repl">
                                        <p:cTn id="108" dur="750"/>
                                        <p:tgtEl>
                                          <p:spTgt spid="55">
                                            <p:txEl>
                                              <p:pRg st="2" end="2"/>
                                            </p:txEl>
                                          </p:spTgt>
                                        </p:tgtEl>
                                      </p:cBhvr>
                                    </p:animEffect>
                                  </p:childTnLst>
                                </p:cTn>
                              </p:par>
                            </p:childTnLst>
                          </p:cTn>
                        </p:par>
                      </p:childTnLst>
                    </p:cTn>
                  </p:par>
                  <p:par>
                    <p:cTn id="109" nodeType="clickEffect" fill="hold">
                      <p:stCondLst>
                        <p:cond delay="indefinite"/>
                      </p:stCondLst>
                      <p:childTnLst>
                        <p:par>
                          <p:cTn id="110" nodeType="withEffect" fill="hold">
                            <p:stCondLst>
                              <p:cond delay="0"/>
                            </p:stCondLst>
                            <p:childTnLst>
                              <p:par>
                                <p:cTn id="111" nodeType="clickEffect" fill="hold" presetClass="entr" presetID="22" presetSubtype="8">
                                  <p:stCondLst>
                                    <p:cond delay="0"/>
                                  </p:stCondLst>
                                  <p:childTnLst>
                                    <p:set>
                                      <p:cBhvr>
                                        <p:cTn id="112" dur="1" fill="hold">
                                          <p:stCondLst>
                                            <p:cond delay="0"/>
                                          </p:stCondLst>
                                        </p:cTn>
                                        <p:tgtEl>
                                          <p:spTgt spid="55">
                                            <p:txEl>
                                              <p:pRg st="3" end="3"/>
                                            </p:txEl>
                                          </p:spTgt>
                                        </p:tgtEl>
                                        <p:attrNameLst>
                                          <p:attrName>style.visibility</p:attrName>
                                        </p:attrNameLst>
                                      </p:cBhvr>
                                      <p:to>
                                        <p:strVal val="visible"/>
                                      </p:to>
                                    </p:set>
                                    <p:animEffect filter="wipe(left)" transition="in">
                                      <p:cBhvr additive="repl">
                                        <p:cTn id="113" dur="750"/>
                                        <p:tgtEl>
                                          <p:spTgt spid="55">
                                            <p:txEl>
                                              <p:pRg st="3" end="3"/>
                                            </p:txEl>
                                          </p:spTgt>
                                        </p:tgtEl>
                                      </p:cBhvr>
                                    </p:animEffect>
                                  </p:childTnLst>
                                </p:cTn>
                              </p:par>
                            </p:childTnLst>
                          </p:cTn>
                        </p:par>
                      </p:childTnLst>
                    </p:cTn>
                  </p:par>
                  <p:par>
                    <p:cTn id="114" nodeType="clickEffect" fill="hold">
                      <p:stCondLst>
                        <p:cond delay="indefinite"/>
                      </p:stCondLst>
                      <p:childTnLst>
                        <p:par>
                          <p:cTn id="115" nodeType="withEffect" fill="hold">
                            <p:stCondLst>
                              <p:cond delay="0"/>
                            </p:stCondLst>
                            <p:childTnLst>
                              <p:par>
                                <p:cTn id="116" nodeType="clickEffect" fill="hold" presetClass="entr" presetID="22" presetSubtype="8">
                                  <p:stCondLst>
                                    <p:cond delay="0"/>
                                  </p:stCondLst>
                                  <p:childTnLst>
                                    <p:set>
                                      <p:cBhvr>
                                        <p:cTn id="117" dur="1" fill="hold">
                                          <p:stCondLst>
                                            <p:cond delay="0"/>
                                          </p:stCondLst>
                                        </p:cTn>
                                        <p:tgtEl>
                                          <p:spTgt spid="55">
                                            <p:txEl>
                                              <p:pRg st="4" end="4"/>
                                            </p:txEl>
                                          </p:spTgt>
                                        </p:tgtEl>
                                        <p:attrNameLst>
                                          <p:attrName>style.visibility</p:attrName>
                                        </p:attrNameLst>
                                      </p:cBhvr>
                                      <p:to>
                                        <p:strVal val="visible"/>
                                      </p:to>
                                    </p:set>
                                    <p:animEffect filter="wipe(left)" transition="in">
                                      <p:cBhvr additive="repl">
                                        <p:cTn id="118" dur="750"/>
                                        <p:tgtEl>
                                          <p:spTgt spid="5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5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Command</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Command system </a:t>
            </a:r>
            <a:r>
              <a:rPr b="0" lang="en-US" sz="2400" strike="noStrike" u="none">
                <a:solidFill>
                  <a:schemeClr val="dk1"/>
                </a:solidFill>
                <a:effectLst/>
                <a:uFillTx/>
                <a:latin typeface="Arial"/>
                <a:ea typeface="ＭＳ Ｐゴシック"/>
              </a:rPr>
              <a:t>allocates resources by the order (command) of someone in authority.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 example, if you have a job, most likely someone tells you what to do. Your labor time is allocated to specific tasks by command.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 command system works well in organizations with clear lines of authority but badly in an entire economy.</a:t>
            </a:r>
            <a:endParaRPr b="0" lang="en-US" sz="2400" strike="noStrike" u="none">
              <a:solidFill>
                <a:srgbClr val="000000"/>
              </a:solidFill>
              <a:effectLst/>
              <a:uFillTx/>
              <a:latin typeface="Arial"/>
            </a:endParaRPr>
          </a:p>
        </p:txBody>
      </p:sp>
    </p:spTree>
  </p:cSld>
  <p:transition spd="slow">
    <p:wipe dir="r"/>
  </p:transition>
  <p:timing>
    <p:tnLst>
      <p:par>
        <p:cTn id="119" dur="indefinite" restart="never" nodeType="tmRoot">
          <p:childTnLst>
            <p:seq>
              <p:cTn id="120" dur="indefinite" nodeType="mainSeq">
                <p:childTnLst>
                  <p:par>
                    <p:cTn id="121" nodeType="clickEffect" fill="hold">
                      <p:stCondLst>
                        <p:cond delay="indefinite"/>
                      </p:stCondLst>
                      <p:childTnLst>
                        <p:par>
                          <p:cTn id="122" nodeType="withEffect" fill="hold">
                            <p:stCondLst>
                              <p:cond delay="0"/>
                            </p:stCondLst>
                            <p:childTnLst>
                              <p:par>
                                <p:cTn id="123" nodeType="clickEffect" fill="hold" presetClass="entr" presetID="22" presetSubtype="8">
                                  <p:stCondLst>
                                    <p:cond delay="0"/>
                                  </p:stCondLst>
                                  <p:childTnLst>
                                    <p:set>
                                      <p:cBhvr>
                                        <p:cTn id="124" dur="1" fill="hold">
                                          <p:stCondLst>
                                            <p:cond delay="0"/>
                                          </p:stCondLst>
                                        </p:cTn>
                                        <p:tgtEl>
                                          <p:spTgt spid="57">
                                            <p:txEl>
                                              <p:pRg st="1" end="1"/>
                                            </p:txEl>
                                          </p:spTgt>
                                        </p:tgtEl>
                                        <p:attrNameLst>
                                          <p:attrName>style.visibility</p:attrName>
                                        </p:attrNameLst>
                                      </p:cBhvr>
                                      <p:to>
                                        <p:strVal val="visible"/>
                                      </p:to>
                                    </p:set>
                                    <p:animEffect filter="wipe(left)" transition="in">
                                      <p:cBhvr additive="repl">
                                        <p:cTn id="125" dur="750"/>
                                        <p:tgtEl>
                                          <p:spTgt spid="57">
                                            <p:txEl>
                                              <p:pRg st="1" end="1"/>
                                            </p:txEl>
                                          </p:spTgt>
                                        </p:tgtEl>
                                      </p:cBhvr>
                                    </p:animEffect>
                                  </p:childTnLst>
                                </p:cTn>
                              </p:par>
                            </p:childTnLst>
                          </p:cTn>
                        </p:par>
                      </p:childTnLst>
                    </p:cTn>
                  </p:par>
                  <p:par>
                    <p:cTn id="126" nodeType="clickEffect" fill="hold">
                      <p:stCondLst>
                        <p:cond delay="indefinite"/>
                      </p:stCondLst>
                      <p:childTnLst>
                        <p:par>
                          <p:cTn id="127" nodeType="withEffect" fill="hold">
                            <p:stCondLst>
                              <p:cond delay="0"/>
                            </p:stCondLst>
                            <p:childTnLst>
                              <p:par>
                                <p:cTn id="128" nodeType="clickEffect" fill="hold" presetClass="entr" presetID="22" presetSubtype="8">
                                  <p:stCondLst>
                                    <p:cond delay="0"/>
                                  </p:stCondLst>
                                  <p:childTnLst>
                                    <p:set>
                                      <p:cBhvr>
                                        <p:cTn id="129" dur="1" fill="hold">
                                          <p:stCondLst>
                                            <p:cond delay="0"/>
                                          </p:stCondLst>
                                        </p:cTn>
                                        <p:tgtEl>
                                          <p:spTgt spid="57">
                                            <p:txEl>
                                              <p:pRg st="2" end="2"/>
                                            </p:txEl>
                                          </p:spTgt>
                                        </p:tgtEl>
                                        <p:attrNameLst>
                                          <p:attrName>style.visibility</p:attrName>
                                        </p:attrNameLst>
                                      </p:cBhvr>
                                      <p:to>
                                        <p:strVal val="visible"/>
                                      </p:to>
                                    </p:set>
                                    <p:animEffect filter="wipe(left)" transition="in">
                                      <p:cBhvr additive="repl">
                                        <p:cTn id="130" dur="750"/>
                                        <p:tgtEl>
                                          <p:spTgt spid="57">
                                            <p:txEl>
                                              <p:pRg st="2" end="2"/>
                                            </p:txEl>
                                          </p:spTgt>
                                        </p:tgtEl>
                                      </p:cBhvr>
                                    </p:animEffect>
                                  </p:childTnLst>
                                </p:cTn>
                              </p:par>
                            </p:childTnLst>
                          </p:cTn>
                        </p:par>
                      </p:childTnLst>
                    </p:cTn>
                  </p:par>
                  <p:par>
                    <p:cTn id="131" nodeType="clickEffect" fill="hold">
                      <p:stCondLst>
                        <p:cond delay="indefinite"/>
                      </p:stCondLst>
                      <p:childTnLst>
                        <p:par>
                          <p:cTn id="132" nodeType="withEffect" fill="hold">
                            <p:stCondLst>
                              <p:cond delay="0"/>
                            </p:stCondLst>
                            <p:childTnLst>
                              <p:par>
                                <p:cTn id="133" nodeType="clickEffect" fill="hold" presetClass="entr" presetID="22" presetSubtype="8">
                                  <p:stCondLst>
                                    <p:cond delay="0"/>
                                  </p:stCondLst>
                                  <p:childTnLst>
                                    <p:set>
                                      <p:cBhvr>
                                        <p:cTn id="134" dur="1" fill="hold">
                                          <p:stCondLst>
                                            <p:cond delay="0"/>
                                          </p:stCondLst>
                                        </p:cTn>
                                        <p:tgtEl>
                                          <p:spTgt spid="57">
                                            <p:txEl>
                                              <p:pRg st="3" end="3"/>
                                            </p:txEl>
                                          </p:spTgt>
                                        </p:tgtEl>
                                        <p:attrNameLst>
                                          <p:attrName>style.visibility</p:attrName>
                                        </p:attrNameLst>
                                      </p:cBhvr>
                                      <p:to>
                                        <p:strVal val="visible"/>
                                      </p:to>
                                    </p:set>
                                    <p:animEffect filter="wipe(left)" transition="in">
                                      <p:cBhvr additive="repl">
                                        <p:cTn id="135" dur="750"/>
                                        <p:tgtEl>
                                          <p:spTgt spid="57">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5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Majority Rule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Majority rule allocates resources in the way that a majority of voters choose.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Societies use majority rule for decisions about tax rates that allocate resources between private and public use and tax dollars between competing uses such as defense and health care.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Majority rule works well when the decision affects lots of people and self-interest must be suppressed to use resources efficiently.</a:t>
            </a:r>
            <a:endParaRPr b="0" lang="en-US" sz="2400" strike="noStrike" u="none">
              <a:solidFill>
                <a:srgbClr val="000000"/>
              </a:solidFill>
              <a:effectLst/>
              <a:uFillTx/>
              <a:latin typeface="Arial"/>
            </a:endParaRPr>
          </a:p>
        </p:txBody>
      </p:sp>
    </p:spTree>
  </p:cSld>
  <p:transition spd="slow">
    <p:wipe dir="r"/>
  </p:transition>
  <p:timing>
    <p:tnLst>
      <p:par>
        <p:cTn id="136" dur="indefinite" restart="never" nodeType="tmRoot">
          <p:childTnLst>
            <p:seq>
              <p:cTn id="137" dur="indefinite" nodeType="mainSeq">
                <p:childTnLst>
                  <p:par>
                    <p:cTn id="138" nodeType="clickEffect" fill="hold">
                      <p:stCondLst>
                        <p:cond delay="indefinite"/>
                      </p:stCondLst>
                      <p:childTnLst>
                        <p:par>
                          <p:cTn id="139" nodeType="withEffect" fill="hold">
                            <p:stCondLst>
                              <p:cond delay="0"/>
                            </p:stCondLst>
                            <p:childTnLst>
                              <p:par>
                                <p:cTn id="140" nodeType="clickEffect" fill="hold" presetClass="entr" presetID="22" presetSubtype="8">
                                  <p:stCondLst>
                                    <p:cond delay="0"/>
                                  </p:stCondLst>
                                  <p:childTnLst>
                                    <p:set>
                                      <p:cBhvr>
                                        <p:cTn id="141" dur="1" fill="hold">
                                          <p:stCondLst>
                                            <p:cond delay="0"/>
                                          </p:stCondLst>
                                        </p:cTn>
                                        <p:tgtEl>
                                          <p:spTgt spid="59">
                                            <p:txEl>
                                              <p:pRg st="1" end="1"/>
                                            </p:txEl>
                                          </p:spTgt>
                                        </p:tgtEl>
                                        <p:attrNameLst>
                                          <p:attrName>style.visibility</p:attrName>
                                        </p:attrNameLst>
                                      </p:cBhvr>
                                      <p:to>
                                        <p:strVal val="visible"/>
                                      </p:to>
                                    </p:set>
                                    <p:animEffect filter="wipe(left)" transition="in">
                                      <p:cBhvr additive="repl">
                                        <p:cTn id="142" dur="750"/>
                                        <p:tgtEl>
                                          <p:spTgt spid="59">
                                            <p:txEl>
                                              <p:pRg st="1" end="1"/>
                                            </p:txEl>
                                          </p:spTgt>
                                        </p:tgtEl>
                                      </p:cBhvr>
                                    </p:animEffect>
                                  </p:childTnLst>
                                </p:cTn>
                              </p:par>
                            </p:childTnLst>
                          </p:cTn>
                        </p:par>
                      </p:childTnLst>
                    </p:cTn>
                  </p:par>
                  <p:par>
                    <p:cTn id="143" nodeType="clickEffect" fill="hold">
                      <p:stCondLst>
                        <p:cond delay="indefinite"/>
                      </p:stCondLst>
                      <p:childTnLst>
                        <p:par>
                          <p:cTn id="144" nodeType="withEffect" fill="hold">
                            <p:stCondLst>
                              <p:cond delay="0"/>
                            </p:stCondLst>
                            <p:childTnLst>
                              <p:par>
                                <p:cTn id="145" nodeType="clickEffect" fill="hold" presetClass="entr" presetID="22" presetSubtype="8">
                                  <p:stCondLst>
                                    <p:cond delay="0"/>
                                  </p:stCondLst>
                                  <p:childTnLst>
                                    <p:set>
                                      <p:cBhvr>
                                        <p:cTn id="146" dur="1" fill="hold">
                                          <p:stCondLst>
                                            <p:cond delay="0"/>
                                          </p:stCondLst>
                                        </p:cTn>
                                        <p:tgtEl>
                                          <p:spTgt spid="59">
                                            <p:txEl>
                                              <p:pRg st="2" end="2"/>
                                            </p:txEl>
                                          </p:spTgt>
                                        </p:tgtEl>
                                        <p:attrNameLst>
                                          <p:attrName>style.visibility</p:attrName>
                                        </p:attrNameLst>
                                      </p:cBhvr>
                                      <p:to>
                                        <p:strVal val="visible"/>
                                      </p:to>
                                    </p:set>
                                    <p:animEffect filter="wipe(left)" transition="in">
                                      <p:cBhvr additive="repl">
                                        <p:cTn id="147" dur="750"/>
                                        <p:tgtEl>
                                          <p:spTgt spid="59">
                                            <p:txEl>
                                              <p:pRg st="2" end="2"/>
                                            </p:txEl>
                                          </p:spTgt>
                                        </p:tgtEl>
                                      </p:cBhvr>
                                    </p:animEffect>
                                  </p:childTnLst>
                                </p:cTn>
                              </p:par>
                            </p:childTnLst>
                          </p:cTn>
                        </p:par>
                      </p:childTnLst>
                    </p:cTn>
                  </p:par>
                  <p:par>
                    <p:cTn id="148" nodeType="clickEffect" fill="hold">
                      <p:stCondLst>
                        <p:cond delay="indefinite"/>
                      </p:stCondLst>
                      <p:childTnLst>
                        <p:par>
                          <p:cTn id="149" nodeType="withEffect" fill="hold">
                            <p:stCondLst>
                              <p:cond delay="0"/>
                            </p:stCondLst>
                            <p:childTnLst>
                              <p:par>
                                <p:cTn id="150" nodeType="clickEffect" fill="hold" presetClass="entr" presetID="22" presetSubtype="8">
                                  <p:stCondLst>
                                    <p:cond delay="0"/>
                                  </p:stCondLst>
                                  <p:childTnLst>
                                    <p:set>
                                      <p:cBhvr>
                                        <p:cTn id="151" dur="1" fill="hold">
                                          <p:stCondLst>
                                            <p:cond delay="0"/>
                                          </p:stCondLst>
                                        </p:cTn>
                                        <p:tgtEl>
                                          <p:spTgt spid="59">
                                            <p:txEl>
                                              <p:pRg st="3" end="3"/>
                                            </p:txEl>
                                          </p:spTgt>
                                        </p:tgtEl>
                                        <p:attrNameLst>
                                          <p:attrName>style.visibility</p:attrName>
                                        </p:attrNameLst>
                                      </p:cBhvr>
                                      <p:to>
                                        <p:strVal val="visible"/>
                                      </p:to>
                                    </p:set>
                                    <p:animEffect filter="wipe(left)" transition="in">
                                      <p:cBhvr additive="repl">
                                        <p:cTn id="152" dur="750"/>
                                        <p:tgtEl>
                                          <p:spTgt spid="5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6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Contest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 contest allocates resources to a winner (or group of winners).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most obvious contests are sporting events but they occur in other arenas: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 example, the Oscars are a type of contest.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Contest works well when the efforts of the “players” are hard to monitor and reward directly.</a:t>
            </a:r>
            <a:endParaRPr b="0" lang="en-US" sz="2400" strike="noStrike" u="none">
              <a:solidFill>
                <a:srgbClr val="000000"/>
              </a:solidFill>
              <a:effectLst/>
              <a:uFillTx/>
              <a:latin typeface="Arial"/>
            </a:endParaRPr>
          </a:p>
        </p:txBody>
      </p:sp>
    </p:spTree>
  </p:cSld>
  <p:transition spd="slow">
    <p:wipe dir="r"/>
  </p:transition>
  <p:timing>
    <p:tnLst>
      <p:par>
        <p:cTn id="153" dur="indefinite" restart="never" nodeType="tmRoot">
          <p:childTnLst>
            <p:seq>
              <p:cTn id="154" dur="indefinite" nodeType="mainSeq">
                <p:childTnLst>
                  <p:par>
                    <p:cTn id="155" nodeType="clickEffect" fill="hold">
                      <p:stCondLst>
                        <p:cond delay="indefinite"/>
                      </p:stCondLst>
                      <p:childTnLst>
                        <p:par>
                          <p:cTn id="156" nodeType="withEffect" fill="hold">
                            <p:stCondLst>
                              <p:cond delay="0"/>
                            </p:stCondLst>
                            <p:childTnLst>
                              <p:par>
                                <p:cTn id="157" nodeType="clickEffect" fill="hold" presetClass="entr" presetID="22" presetSubtype="8">
                                  <p:stCondLst>
                                    <p:cond delay="0"/>
                                  </p:stCondLst>
                                  <p:childTnLst>
                                    <p:set>
                                      <p:cBhvr>
                                        <p:cTn id="158" dur="1" fill="hold">
                                          <p:stCondLst>
                                            <p:cond delay="0"/>
                                          </p:stCondLst>
                                        </p:cTn>
                                        <p:tgtEl>
                                          <p:spTgt spid="61">
                                            <p:txEl>
                                              <p:pRg st="1" end="1"/>
                                            </p:txEl>
                                          </p:spTgt>
                                        </p:tgtEl>
                                        <p:attrNameLst>
                                          <p:attrName>style.visibility</p:attrName>
                                        </p:attrNameLst>
                                      </p:cBhvr>
                                      <p:to>
                                        <p:strVal val="visible"/>
                                      </p:to>
                                    </p:set>
                                    <p:animEffect filter="wipe(left)" transition="in">
                                      <p:cBhvr additive="repl">
                                        <p:cTn id="159" dur="750"/>
                                        <p:tgtEl>
                                          <p:spTgt spid="61">
                                            <p:txEl>
                                              <p:pRg st="1" end="1"/>
                                            </p:txEl>
                                          </p:spTgt>
                                        </p:tgtEl>
                                      </p:cBhvr>
                                    </p:animEffect>
                                  </p:childTnLst>
                                </p:cTn>
                              </p:par>
                            </p:childTnLst>
                          </p:cTn>
                        </p:par>
                      </p:childTnLst>
                    </p:cTn>
                  </p:par>
                  <p:par>
                    <p:cTn id="160" nodeType="clickEffect" fill="hold">
                      <p:stCondLst>
                        <p:cond delay="indefinite"/>
                      </p:stCondLst>
                      <p:childTnLst>
                        <p:par>
                          <p:cTn id="161" nodeType="withEffect" fill="hold">
                            <p:stCondLst>
                              <p:cond delay="0"/>
                            </p:stCondLst>
                            <p:childTnLst>
                              <p:par>
                                <p:cTn id="162" nodeType="clickEffect" fill="hold" presetClass="entr" presetID="22" presetSubtype="8">
                                  <p:stCondLst>
                                    <p:cond delay="0"/>
                                  </p:stCondLst>
                                  <p:childTnLst>
                                    <p:set>
                                      <p:cBhvr>
                                        <p:cTn id="163" dur="1" fill="hold">
                                          <p:stCondLst>
                                            <p:cond delay="0"/>
                                          </p:stCondLst>
                                        </p:cTn>
                                        <p:tgtEl>
                                          <p:spTgt spid="61">
                                            <p:txEl>
                                              <p:pRg st="2" end="2"/>
                                            </p:txEl>
                                          </p:spTgt>
                                        </p:tgtEl>
                                        <p:attrNameLst>
                                          <p:attrName>style.visibility</p:attrName>
                                        </p:attrNameLst>
                                      </p:cBhvr>
                                      <p:to>
                                        <p:strVal val="visible"/>
                                      </p:to>
                                    </p:set>
                                    <p:animEffect filter="wipe(left)" transition="in">
                                      <p:cBhvr additive="repl">
                                        <p:cTn id="164" dur="750"/>
                                        <p:tgtEl>
                                          <p:spTgt spid="61">
                                            <p:txEl>
                                              <p:pRg st="2" end="2"/>
                                            </p:txEl>
                                          </p:spTgt>
                                        </p:tgtEl>
                                      </p:cBhvr>
                                    </p:animEffect>
                                  </p:childTnLst>
                                </p:cTn>
                              </p:par>
                            </p:childTnLst>
                          </p:cTn>
                        </p:par>
                      </p:childTnLst>
                    </p:cTn>
                  </p:par>
                  <p:par>
                    <p:cTn id="165" nodeType="clickEffect" fill="hold">
                      <p:stCondLst>
                        <p:cond delay="indefinite"/>
                      </p:stCondLst>
                      <p:childTnLst>
                        <p:par>
                          <p:cTn id="166" nodeType="withEffect" fill="hold">
                            <p:stCondLst>
                              <p:cond delay="0"/>
                            </p:stCondLst>
                            <p:childTnLst>
                              <p:par>
                                <p:cTn id="167" nodeType="clickEffect" fill="hold" presetClass="entr" presetID="22" presetSubtype="8">
                                  <p:stCondLst>
                                    <p:cond delay="0"/>
                                  </p:stCondLst>
                                  <p:childTnLst>
                                    <p:set>
                                      <p:cBhvr>
                                        <p:cTn id="168" dur="1" fill="hold">
                                          <p:stCondLst>
                                            <p:cond delay="0"/>
                                          </p:stCondLst>
                                        </p:cTn>
                                        <p:tgtEl>
                                          <p:spTgt spid="61">
                                            <p:txEl>
                                              <p:pRg st="3" end="3"/>
                                            </p:txEl>
                                          </p:spTgt>
                                        </p:tgtEl>
                                        <p:attrNameLst>
                                          <p:attrName>style.visibility</p:attrName>
                                        </p:attrNameLst>
                                      </p:cBhvr>
                                      <p:to>
                                        <p:strVal val="visible"/>
                                      </p:to>
                                    </p:set>
                                    <p:animEffect filter="wipe(left)" transition="in">
                                      <p:cBhvr additive="repl">
                                        <p:cTn id="169" dur="750"/>
                                        <p:tgtEl>
                                          <p:spTgt spid="61">
                                            <p:txEl>
                                              <p:pRg st="3" end="3"/>
                                            </p:txEl>
                                          </p:spTgt>
                                        </p:tgtEl>
                                      </p:cBhvr>
                                    </p:animEffect>
                                  </p:childTnLst>
                                </p:cTn>
                              </p:par>
                            </p:childTnLst>
                          </p:cTn>
                        </p:par>
                      </p:childTnLst>
                    </p:cTn>
                  </p:par>
                  <p:par>
                    <p:cTn id="170" nodeType="clickEffect" fill="hold">
                      <p:stCondLst>
                        <p:cond delay="indefinite"/>
                      </p:stCondLst>
                      <p:childTnLst>
                        <p:par>
                          <p:cTn id="171" nodeType="withEffect" fill="hold">
                            <p:stCondLst>
                              <p:cond delay="0"/>
                            </p:stCondLst>
                            <p:childTnLst>
                              <p:par>
                                <p:cTn id="172" nodeType="clickEffect" fill="hold" presetClass="entr" presetID="22" presetSubtype="8">
                                  <p:stCondLst>
                                    <p:cond delay="0"/>
                                  </p:stCondLst>
                                  <p:childTnLst>
                                    <p:set>
                                      <p:cBhvr>
                                        <p:cTn id="173" dur="1" fill="hold">
                                          <p:stCondLst>
                                            <p:cond delay="0"/>
                                          </p:stCondLst>
                                        </p:cTn>
                                        <p:tgtEl>
                                          <p:spTgt spid="61">
                                            <p:txEl>
                                              <p:pRg st="4" end="4"/>
                                            </p:txEl>
                                          </p:spTgt>
                                        </p:tgtEl>
                                        <p:attrNameLst>
                                          <p:attrName>style.visibility</p:attrName>
                                        </p:attrNameLst>
                                      </p:cBhvr>
                                      <p:to>
                                        <p:strVal val="visible"/>
                                      </p:to>
                                    </p:set>
                                    <p:animEffect filter="wipe(left)" transition="in">
                                      <p:cBhvr additive="repl">
                                        <p:cTn id="174" dur="750"/>
                                        <p:tgtEl>
                                          <p:spTgt spid="6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6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First-Come, First-Served</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 first-come, first-served allocates resources to those who are first in line.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Casual restaurants use first-come, first served to allocate tables. Supermarkets use first-come, first-served at checkout. Airlines use first-come, first-served to allocate standby seats.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First-come, first-served works best when scarce resources can serve just one person at a time in a sequence.</a:t>
            </a:r>
            <a:endParaRPr b="0" lang="en-US" sz="2400" strike="noStrike" u="none">
              <a:solidFill>
                <a:srgbClr val="000000"/>
              </a:solidFill>
              <a:effectLst/>
              <a:uFillTx/>
              <a:latin typeface="Arial"/>
            </a:endParaRPr>
          </a:p>
        </p:txBody>
      </p:sp>
    </p:spTree>
  </p:cSld>
  <p:transition spd="slow">
    <p:wipe dir="r"/>
  </p:transition>
  <p:timing>
    <p:tnLst>
      <p:par>
        <p:cTn id="175" dur="indefinite" restart="never" nodeType="tmRoot">
          <p:childTnLst>
            <p:seq>
              <p:cTn id="176" dur="indefinite" nodeType="mainSeq">
                <p:childTnLst>
                  <p:par>
                    <p:cTn id="177" nodeType="clickEffect" fill="hold">
                      <p:stCondLst>
                        <p:cond delay="indefinite"/>
                      </p:stCondLst>
                      <p:childTnLst>
                        <p:par>
                          <p:cTn id="178" nodeType="withEffect" fill="hold">
                            <p:stCondLst>
                              <p:cond delay="0"/>
                            </p:stCondLst>
                            <p:childTnLst>
                              <p:par>
                                <p:cTn id="179" nodeType="clickEffect" fill="hold" presetClass="entr" presetID="22" presetSubtype="8">
                                  <p:stCondLst>
                                    <p:cond delay="0"/>
                                  </p:stCondLst>
                                  <p:childTnLst>
                                    <p:set>
                                      <p:cBhvr>
                                        <p:cTn id="180" dur="1" fill="hold">
                                          <p:stCondLst>
                                            <p:cond delay="0"/>
                                          </p:stCondLst>
                                        </p:cTn>
                                        <p:tgtEl>
                                          <p:spTgt spid="63">
                                            <p:txEl>
                                              <p:pRg st="1" end="1"/>
                                            </p:txEl>
                                          </p:spTgt>
                                        </p:tgtEl>
                                        <p:attrNameLst>
                                          <p:attrName>style.visibility</p:attrName>
                                        </p:attrNameLst>
                                      </p:cBhvr>
                                      <p:to>
                                        <p:strVal val="visible"/>
                                      </p:to>
                                    </p:set>
                                    <p:animEffect filter="wipe(left)" transition="in">
                                      <p:cBhvr additive="repl">
                                        <p:cTn id="181" dur="750"/>
                                        <p:tgtEl>
                                          <p:spTgt spid="63">
                                            <p:txEl>
                                              <p:pRg st="1" end="1"/>
                                            </p:txEl>
                                          </p:spTgt>
                                        </p:tgtEl>
                                      </p:cBhvr>
                                    </p:animEffect>
                                  </p:childTnLst>
                                </p:cTn>
                              </p:par>
                            </p:childTnLst>
                          </p:cTn>
                        </p:par>
                      </p:childTnLst>
                    </p:cTn>
                  </p:par>
                  <p:par>
                    <p:cTn id="182" nodeType="clickEffect" fill="hold">
                      <p:stCondLst>
                        <p:cond delay="indefinite"/>
                      </p:stCondLst>
                      <p:childTnLst>
                        <p:par>
                          <p:cTn id="183" nodeType="withEffect" fill="hold">
                            <p:stCondLst>
                              <p:cond delay="0"/>
                            </p:stCondLst>
                            <p:childTnLst>
                              <p:par>
                                <p:cTn id="184" nodeType="clickEffect" fill="hold" presetClass="entr" presetID="22" presetSubtype="8">
                                  <p:stCondLst>
                                    <p:cond delay="0"/>
                                  </p:stCondLst>
                                  <p:childTnLst>
                                    <p:set>
                                      <p:cBhvr>
                                        <p:cTn id="185" dur="1" fill="hold">
                                          <p:stCondLst>
                                            <p:cond delay="0"/>
                                          </p:stCondLst>
                                        </p:cTn>
                                        <p:tgtEl>
                                          <p:spTgt spid="63">
                                            <p:txEl>
                                              <p:pRg st="2" end="2"/>
                                            </p:txEl>
                                          </p:spTgt>
                                        </p:tgtEl>
                                        <p:attrNameLst>
                                          <p:attrName>style.visibility</p:attrName>
                                        </p:attrNameLst>
                                      </p:cBhvr>
                                      <p:to>
                                        <p:strVal val="visible"/>
                                      </p:to>
                                    </p:set>
                                    <p:animEffect filter="wipe(left)" transition="in">
                                      <p:cBhvr additive="repl">
                                        <p:cTn id="186" dur="750"/>
                                        <p:tgtEl>
                                          <p:spTgt spid="63">
                                            <p:txEl>
                                              <p:pRg st="2" end="2"/>
                                            </p:txEl>
                                          </p:spTgt>
                                        </p:tgtEl>
                                      </p:cBhvr>
                                    </p:animEffect>
                                  </p:childTnLst>
                                </p:cTn>
                              </p:par>
                            </p:childTnLst>
                          </p:cTn>
                        </p:par>
                      </p:childTnLst>
                    </p:cTn>
                  </p:par>
                  <p:par>
                    <p:cTn id="187" nodeType="clickEffect" fill="hold">
                      <p:stCondLst>
                        <p:cond delay="indefinite"/>
                      </p:stCondLst>
                      <p:childTnLst>
                        <p:par>
                          <p:cTn id="188" nodeType="withEffect" fill="hold">
                            <p:stCondLst>
                              <p:cond delay="0"/>
                            </p:stCondLst>
                            <p:childTnLst>
                              <p:par>
                                <p:cTn id="189" nodeType="clickEffect" fill="hold" presetClass="entr" presetID="22" presetSubtype="8">
                                  <p:stCondLst>
                                    <p:cond delay="0"/>
                                  </p:stCondLst>
                                  <p:childTnLst>
                                    <p:set>
                                      <p:cBhvr>
                                        <p:cTn id="190" dur="1" fill="hold">
                                          <p:stCondLst>
                                            <p:cond delay="0"/>
                                          </p:stCondLst>
                                        </p:cTn>
                                        <p:tgtEl>
                                          <p:spTgt spid="63">
                                            <p:txEl>
                                              <p:pRg st="3" end="3"/>
                                            </p:txEl>
                                          </p:spTgt>
                                        </p:tgtEl>
                                        <p:attrNameLst>
                                          <p:attrName>style.visibility</p:attrName>
                                        </p:attrNameLst>
                                      </p:cBhvr>
                                      <p:to>
                                        <p:strVal val="visible"/>
                                      </p:to>
                                    </p:set>
                                    <p:animEffect filter="wipe(left)" transition="in">
                                      <p:cBhvr additive="repl">
                                        <p:cTn id="191" dur="750"/>
                                        <p:tgtEl>
                                          <p:spTgt spid="6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65"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Sharing Equally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When a resource is shared equally, everyone gets the same amount of it.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You might use this method to share a dessert in a  restaurant.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To make sharing equally work, people must be in agreement about its use and implementation.</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It works best for small groups who share common goals and ideals.</a:t>
            </a:r>
            <a:endParaRPr b="0" lang="en-US" sz="2400" strike="noStrike" u="none">
              <a:solidFill>
                <a:srgbClr val="000000"/>
              </a:solidFill>
              <a:effectLst/>
              <a:uFillTx/>
              <a:latin typeface="Arial"/>
            </a:endParaRPr>
          </a:p>
        </p:txBody>
      </p:sp>
    </p:spTree>
  </p:cSld>
  <p:transition spd="slow">
    <p:wipe dir="r"/>
  </p:transition>
  <p:timing>
    <p:tnLst>
      <p:par>
        <p:cTn id="192" dur="indefinite" restart="never" nodeType="tmRoot">
          <p:childTnLst>
            <p:seq>
              <p:cTn id="193" dur="indefinite" nodeType="mainSeq">
                <p:childTnLst>
                  <p:par>
                    <p:cTn id="194" nodeType="clickEffect" fill="hold">
                      <p:stCondLst>
                        <p:cond delay="indefinite"/>
                      </p:stCondLst>
                      <p:childTnLst>
                        <p:par>
                          <p:cTn id="195" nodeType="withEffect" fill="hold">
                            <p:stCondLst>
                              <p:cond delay="0"/>
                            </p:stCondLst>
                            <p:childTnLst>
                              <p:par>
                                <p:cTn id="196" nodeType="clickEffect" fill="hold" presetClass="entr" presetID="22" presetSubtype="8">
                                  <p:stCondLst>
                                    <p:cond delay="0"/>
                                  </p:stCondLst>
                                  <p:childTnLst>
                                    <p:set>
                                      <p:cBhvr>
                                        <p:cTn id="197" dur="1" fill="hold">
                                          <p:stCondLst>
                                            <p:cond delay="0"/>
                                          </p:stCondLst>
                                        </p:cTn>
                                        <p:tgtEl>
                                          <p:spTgt spid="65">
                                            <p:txEl>
                                              <p:pRg st="1" end="1"/>
                                            </p:txEl>
                                          </p:spTgt>
                                        </p:tgtEl>
                                        <p:attrNameLst>
                                          <p:attrName>style.visibility</p:attrName>
                                        </p:attrNameLst>
                                      </p:cBhvr>
                                      <p:to>
                                        <p:strVal val="visible"/>
                                      </p:to>
                                    </p:set>
                                    <p:animEffect filter="wipe(left)" transition="in">
                                      <p:cBhvr additive="repl">
                                        <p:cTn id="198" dur="750"/>
                                        <p:tgtEl>
                                          <p:spTgt spid="65">
                                            <p:txEl>
                                              <p:pRg st="1" end="1"/>
                                            </p:txEl>
                                          </p:spTgt>
                                        </p:tgtEl>
                                      </p:cBhvr>
                                    </p:animEffect>
                                  </p:childTnLst>
                                </p:cTn>
                              </p:par>
                            </p:childTnLst>
                          </p:cTn>
                        </p:par>
                      </p:childTnLst>
                    </p:cTn>
                  </p:par>
                  <p:par>
                    <p:cTn id="199" nodeType="clickEffect" fill="hold">
                      <p:stCondLst>
                        <p:cond delay="indefinite"/>
                      </p:stCondLst>
                      <p:childTnLst>
                        <p:par>
                          <p:cTn id="200" nodeType="withEffect" fill="hold">
                            <p:stCondLst>
                              <p:cond delay="0"/>
                            </p:stCondLst>
                            <p:childTnLst>
                              <p:par>
                                <p:cTn id="201" nodeType="clickEffect" fill="hold" presetClass="entr" presetID="22" presetSubtype="8">
                                  <p:stCondLst>
                                    <p:cond delay="0"/>
                                  </p:stCondLst>
                                  <p:childTnLst>
                                    <p:set>
                                      <p:cBhvr>
                                        <p:cTn id="202" dur="1" fill="hold">
                                          <p:stCondLst>
                                            <p:cond delay="0"/>
                                          </p:stCondLst>
                                        </p:cTn>
                                        <p:tgtEl>
                                          <p:spTgt spid="65">
                                            <p:txEl>
                                              <p:pRg st="2" end="2"/>
                                            </p:txEl>
                                          </p:spTgt>
                                        </p:tgtEl>
                                        <p:attrNameLst>
                                          <p:attrName>style.visibility</p:attrName>
                                        </p:attrNameLst>
                                      </p:cBhvr>
                                      <p:to>
                                        <p:strVal val="visible"/>
                                      </p:to>
                                    </p:set>
                                    <p:animEffect filter="wipe(left)" transition="in">
                                      <p:cBhvr additive="repl">
                                        <p:cTn id="203" dur="750"/>
                                        <p:tgtEl>
                                          <p:spTgt spid="65">
                                            <p:txEl>
                                              <p:pRg st="2" end="2"/>
                                            </p:txEl>
                                          </p:spTgt>
                                        </p:tgtEl>
                                      </p:cBhvr>
                                    </p:animEffect>
                                  </p:childTnLst>
                                </p:cTn>
                              </p:par>
                            </p:childTnLst>
                          </p:cTn>
                        </p:par>
                      </p:childTnLst>
                    </p:cTn>
                  </p:par>
                  <p:par>
                    <p:cTn id="204" nodeType="clickEffect" fill="hold">
                      <p:stCondLst>
                        <p:cond delay="indefinite"/>
                      </p:stCondLst>
                      <p:childTnLst>
                        <p:par>
                          <p:cTn id="205" nodeType="withEffect" fill="hold">
                            <p:stCondLst>
                              <p:cond delay="0"/>
                            </p:stCondLst>
                            <p:childTnLst>
                              <p:par>
                                <p:cTn id="206" nodeType="clickEffect" fill="hold" presetClass="entr" presetID="22" presetSubtype="8">
                                  <p:stCondLst>
                                    <p:cond delay="0"/>
                                  </p:stCondLst>
                                  <p:childTnLst>
                                    <p:set>
                                      <p:cBhvr>
                                        <p:cTn id="207" dur="1" fill="hold">
                                          <p:stCondLst>
                                            <p:cond delay="0"/>
                                          </p:stCondLst>
                                        </p:cTn>
                                        <p:tgtEl>
                                          <p:spTgt spid="65">
                                            <p:txEl>
                                              <p:pRg st="3" end="3"/>
                                            </p:txEl>
                                          </p:spTgt>
                                        </p:tgtEl>
                                        <p:attrNameLst>
                                          <p:attrName>style.visibility</p:attrName>
                                        </p:attrNameLst>
                                      </p:cBhvr>
                                      <p:to>
                                        <p:strVal val="visible"/>
                                      </p:to>
                                    </p:set>
                                    <p:animEffect filter="wipe(left)" transition="in">
                                      <p:cBhvr additive="repl">
                                        <p:cTn id="208" dur="750"/>
                                        <p:tgtEl>
                                          <p:spTgt spid="65">
                                            <p:txEl>
                                              <p:pRg st="3" end="3"/>
                                            </p:txEl>
                                          </p:spTgt>
                                        </p:tgtEl>
                                      </p:cBhvr>
                                    </p:animEffect>
                                  </p:childTnLst>
                                </p:cTn>
                              </p:par>
                            </p:childTnLst>
                          </p:cTn>
                        </p:par>
                      </p:childTnLst>
                    </p:cTn>
                  </p:par>
                  <p:par>
                    <p:cTn id="209" nodeType="clickEffect" fill="hold">
                      <p:stCondLst>
                        <p:cond delay="indefinite"/>
                      </p:stCondLst>
                      <p:childTnLst>
                        <p:par>
                          <p:cTn id="210" nodeType="withEffect" fill="hold">
                            <p:stCondLst>
                              <p:cond delay="0"/>
                            </p:stCondLst>
                            <p:childTnLst>
                              <p:par>
                                <p:cTn id="211" nodeType="clickEffect" fill="hold" presetClass="entr" presetID="22" presetSubtype="8">
                                  <p:stCondLst>
                                    <p:cond delay="0"/>
                                  </p:stCondLst>
                                  <p:childTnLst>
                                    <p:set>
                                      <p:cBhvr>
                                        <p:cTn id="212" dur="1" fill="hold">
                                          <p:stCondLst>
                                            <p:cond delay="0"/>
                                          </p:stCondLst>
                                        </p:cTn>
                                        <p:tgtEl>
                                          <p:spTgt spid="65">
                                            <p:txEl>
                                              <p:pRg st="4" end="4"/>
                                            </p:txEl>
                                          </p:spTgt>
                                        </p:tgtEl>
                                        <p:attrNameLst>
                                          <p:attrName>style.visibility</p:attrName>
                                        </p:attrNameLst>
                                      </p:cBhvr>
                                      <p:to>
                                        <p:strVal val="visible"/>
                                      </p:to>
                                    </p:set>
                                    <p:animEffect filter="wipe(left)" transition="in">
                                      <p:cBhvr additive="repl">
                                        <p:cTn id="213" dur="750"/>
                                        <p:tgtEl>
                                          <p:spTgt spid="6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6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Lottery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Lotteries allocate resources to those with the winning number, draw the lucky cards, or come up lucky.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State lotteries and casinos reallocate millions of dollars worth of goods and services each year, but lotteries are more widespread.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 example, tickets to Michael Jackson’s memorial service were allocated by lottery.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Lotteries work well when there is no effective way to distinguish among potential users of a scarce resource.</a:t>
            </a:r>
            <a:endParaRPr b="0" lang="en-US" sz="2400" strike="noStrike" u="none">
              <a:solidFill>
                <a:srgbClr val="000000"/>
              </a:solidFill>
              <a:effectLst/>
              <a:uFillTx/>
              <a:latin typeface="Arial"/>
            </a:endParaRPr>
          </a:p>
        </p:txBody>
      </p:sp>
    </p:spTree>
  </p:cSld>
  <p:transition spd="slow">
    <p:wipe dir="r"/>
  </p:transition>
  <p:timing>
    <p:tnLst>
      <p:par>
        <p:cTn id="214" dur="indefinite" restart="never" nodeType="tmRoot">
          <p:childTnLst>
            <p:seq>
              <p:cTn id="215" dur="indefinite" nodeType="mainSeq">
                <p:childTnLst>
                  <p:par>
                    <p:cTn id="216" nodeType="clickEffect" fill="hold">
                      <p:stCondLst>
                        <p:cond delay="indefinite"/>
                      </p:stCondLst>
                      <p:childTnLst>
                        <p:par>
                          <p:cTn id="217" nodeType="withEffect" fill="hold">
                            <p:stCondLst>
                              <p:cond delay="0"/>
                            </p:stCondLst>
                            <p:childTnLst>
                              <p:par>
                                <p:cTn id="218" nodeType="clickEffect" fill="hold" presetClass="entr" presetID="22" presetSubtype="8">
                                  <p:stCondLst>
                                    <p:cond delay="0"/>
                                  </p:stCondLst>
                                  <p:childTnLst>
                                    <p:set>
                                      <p:cBhvr>
                                        <p:cTn id="219" dur="1" fill="hold">
                                          <p:stCondLst>
                                            <p:cond delay="0"/>
                                          </p:stCondLst>
                                        </p:cTn>
                                        <p:tgtEl>
                                          <p:spTgt spid="67">
                                            <p:txEl>
                                              <p:pRg st="1" end="1"/>
                                            </p:txEl>
                                          </p:spTgt>
                                        </p:tgtEl>
                                        <p:attrNameLst>
                                          <p:attrName>style.visibility</p:attrName>
                                        </p:attrNameLst>
                                      </p:cBhvr>
                                      <p:to>
                                        <p:strVal val="visible"/>
                                      </p:to>
                                    </p:set>
                                    <p:animEffect filter="wipe(left)" transition="in">
                                      <p:cBhvr additive="repl">
                                        <p:cTn id="220" dur="750"/>
                                        <p:tgtEl>
                                          <p:spTgt spid="67">
                                            <p:txEl>
                                              <p:pRg st="1" end="1"/>
                                            </p:txEl>
                                          </p:spTgt>
                                        </p:tgtEl>
                                      </p:cBhvr>
                                    </p:animEffect>
                                  </p:childTnLst>
                                </p:cTn>
                              </p:par>
                            </p:childTnLst>
                          </p:cTn>
                        </p:par>
                      </p:childTnLst>
                    </p:cTn>
                  </p:par>
                  <p:par>
                    <p:cTn id="221" nodeType="clickEffect" fill="hold">
                      <p:stCondLst>
                        <p:cond delay="indefinite"/>
                      </p:stCondLst>
                      <p:childTnLst>
                        <p:par>
                          <p:cTn id="222" nodeType="withEffect" fill="hold">
                            <p:stCondLst>
                              <p:cond delay="0"/>
                            </p:stCondLst>
                            <p:childTnLst>
                              <p:par>
                                <p:cTn id="223" nodeType="clickEffect" fill="hold" presetClass="entr" presetID="22" presetSubtype="8">
                                  <p:stCondLst>
                                    <p:cond delay="0"/>
                                  </p:stCondLst>
                                  <p:childTnLst>
                                    <p:set>
                                      <p:cBhvr>
                                        <p:cTn id="224" dur="1" fill="hold">
                                          <p:stCondLst>
                                            <p:cond delay="0"/>
                                          </p:stCondLst>
                                        </p:cTn>
                                        <p:tgtEl>
                                          <p:spTgt spid="67">
                                            <p:txEl>
                                              <p:pRg st="2" end="2"/>
                                            </p:txEl>
                                          </p:spTgt>
                                        </p:tgtEl>
                                        <p:attrNameLst>
                                          <p:attrName>style.visibility</p:attrName>
                                        </p:attrNameLst>
                                      </p:cBhvr>
                                      <p:to>
                                        <p:strVal val="visible"/>
                                      </p:to>
                                    </p:set>
                                    <p:animEffect filter="wipe(left)" transition="in">
                                      <p:cBhvr additive="repl">
                                        <p:cTn id="225" dur="750"/>
                                        <p:tgtEl>
                                          <p:spTgt spid="67">
                                            <p:txEl>
                                              <p:pRg st="2" end="2"/>
                                            </p:txEl>
                                          </p:spTgt>
                                        </p:tgtEl>
                                      </p:cBhvr>
                                    </p:animEffect>
                                  </p:childTnLst>
                                </p:cTn>
                              </p:par>
                            </p:childTnLst>
                          </p:cTn>
                        </p:par>
                      </p:childTnLst>
                    </p:cTn>
                  </p:par>
                  <p:par>
                    <p:cTn id="226" nodeType="clickEffect" fill="hold">
                      <p:stCondLst>
                        <p:cond delay="indefinite"/>
                      </p:stCondLst>
                      <p:childTnLst>
                        <p:par>
                          <p:cTn id="227" nodeType="withEffect" fill="hold">
                            <p:stCondLst>
                              <p:cond delay="0"/>
                            </p:stCondLst>
                            <p:childTnLst>
                              <p:par>
                                <p:cTn id="228" nodeType="clickEffect" fill="hold" presetClass="entr" presetID="22" presetSubtype="8">
                                  <p:stCondLst>
                                    <p:cond delay="0"/>
                                  </p:stCondLst>
                                  <p:childTnLst>
                                    <p:set>
                                      <p:cBhvr>
                                        <p:cTn id="229" dur="1" fill="hold">
                                          <p:stCondLst>
                                            <p:cond delay="0"/>
                                          </p:stCondLst>
                                        </p:cTn>
                                        <p:tgtEl>
                                          <p:spTgt spid="67">
                                            <p:txEl>
                                              <p:pRg st="3" end="3"/>
                                            </p:txEl>
                                          </p:spTgt>
                                        </p:tgtEl>
                                        <p:attrNameLst>
                                          <p:attrName>style.visibility</p:attrName>
                                        </p:attrNameLst>
                                      </p:cBhvr>
                                      <p:to>
                                        <p:strVal val="visible"/>
                                      </p:to>
                                    </p:set>
                                    <p:animEffect filter="wipe(left)" transition="in">
                                      <p:cBhvr additive="repl">
                                        <p:cTn id="230" dur="750"/>
                                        <p:tgtEl>
                                          <p:spTgt spid="67">
                                            <p:txEl>
                                              <p:pRg st="3" end="3"/>
                                            </p:txEl>
                                          </p:spTgt>
                                        </p:tgtEl>
                                      </p:cBhvr>
                                    </p:animEffect>
                                  </p:childTnLst>
                                </p:cTn>
                              </p:par>
                            </p:childTnLst>
                          </p:cTn>
                        </p:par>
                      </p:childTnLst>
                    </p:cTn>
                  </p:par>
                  <p:par>
                    <p:cTn id="231" nodeType="clickEffect" fill="hold">
                      <p:stCondLst>
                        <p:cond delay="indefinite"/>
                      </p:stCondLst>
                      <p:childTnLst>
                        <p:par>
                          <p:cTn id="232" nodeType="withEffect" fill="hold">
                            <p:stCondLst>
                              <p:cond delay="0"/>
                            </p:stCondLst>
                            <p:childTnLst>
                              <p:par>
                                <p:cTn id="233" nodeType="clickEffect" fill="hold" presetClass="entr" presetID="22" presetSubtype="8">
                                  <p:stCondLst>
                                    <p:cond delay="0"/>
                                  </p:stCondLst>
                                  <p:childTnLst>
                                    <p:set>
                                      <p:cBhvr>
                                        <p:cTn id="234" dur="1" fill="hold">
                                          <p:stCondLst>
                                            <p:cond delay="0"/>
                                          </p:stCondLst>
                                        </p:cTn>
                                        <p:tgtEl>
                                          <p:spTgt spid="67">
                                            <p:txEl>
                                              <p:pRg st="4" end="4"/>
                                            </p:txEl>
                                          </p:spTgt>
                                        </p:tgtEl>
                                        <p:attrNameLst>
                                          <p:attrName>style.visibility</p:attrName>
                                        </p:attrNameLst>
                                      </p:cBhvr>
                                      <p:to>
                                        <p:strVal val="visible"/>
                                      </p:to>
                                    </p:set>
                                    <p:animEffect filter="wipe(left)" transition="in">
                                      <p:cBhvr additive="repl">
                                        <p:cTn id="235" dur="750"/>
                                        <p:tgtEl>
                                          <p:spTgt spid="67">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6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Personal Characteristics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Personal characteristics allocate resources to those with the “right” characteristics.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 example, people choose marriage partners on the basis of personal characteristics.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But this method gets used in unacceptable ways: allocating the best jobs to white males and discriminating against minorities and women.</a:t>
            </a:r>
            <a:endParaRPr b="0" lang="en-US" sz="2400" strike="noStrike" u="none">
              <a:solidFill>
                <a:srgbClr val="000000"/>
              </a:solidFill>
              <a:effectLst/>
              <a:uFillTx/>
              <a:latin typeface="Arial"/>
            </a:endParaRPr>
          </a:p>
        </p:txBody>
      </p:sp>
    </p:spTree>
  </p:cSld>
  <p:transition spd="slow">
    <p:wipe dir="r"/>
  </p:transition>
  <p:timing>
    <p:tnLst>
      <p:par>
        <p:cTn id="236" dur="indefinite" restart="never" nodeType="tmRoot">
          <p:childTnLst>
            <p:seq>
              <p:cTn id="237" dur="indefinite" nodeType="mainSeq">
                <p:childTnLst>
                  <p:par>
                    <p:cTn id="238" nodeType="clickEffect" fill="hold">
                      <p:stCondLst>
                        <p:cond delay="indefinite"/>
                      </p:stCondLst>
                      <p:childTnLst>
                        <p:par>
                          <p:cTn id="239" nodeType="withEffect" fill="hold">
                            <p:stCondLst>
                              <p:cond delay="0"/>
                            </p:stCondLst>
                            <p:childTnLst>
                              <p:par>
                                <p:cTn id="240" nodeType="clickEffect" fill="hold" presetClass="entr" presetID="22" presetSubtype="8">
                                  <p:stCondLst>
                                    <p:cond delay="0"/>
                                  </p:stCondLst>
                                  <p:childTnLst>
                                    <p:set>
                                      <p:cBhvr>
                                        <p:cTn id="241" dur="1" fill="hold">
                                          <p:stCondLst>
                                            <p:cond delay="0"/>
                                          </p:stCondLst>
                                        </p:cTn>
                                        <p:tgtEl>
                                          <p:spTgt spid="69">
                                            <p:txEl>
                                              <p:pRg st="1" end="1"/>
                                            </p:txEl>
                                          </p:spTgt>
                                        </p:tgtEl>
                                        <p:attrNameLst>
                                          <p:attrName>style.visibility</p:attrName>
                                        </p:attrNameLst>
                                      </p:cBhvr>
                                      <p:to>
                                        <p:strVal val="visible"/>
                                      </p:to>
                                    </p:set>
                                    <p:animEffect filter="wipe(left)" transition="in">
                                      <p:cBhvr additive="repl">
                                        <p:cTn id="242" dur="750"/>
                                        <p:tgtEl>
                                          <p:spTgt spid="69">
                                            <p:txEl>
                                              <p:pRg st="1" end="1"/>
                                            </p:txEl>
                                          </p:spTgt>
                                        </p:tgtEl>
                                      </p:cBhvr>
                                    </p:animEffect>
                                  </p:childTnLst>
                                </p:cTn>
                              </p:par>
                            </p:childTnLst>
                          </p:cTn>
                        </p:par>
                      </p:childTnLst>
                    </p:cTn>
                  </p:par>
                  <p:par>
                    <p:cTn id="243" nodeType="clickEffect" fill="hold">
                      <p:stCondLst>
                        <p:cond delay="indefinite"/>
                      </p:stCondLst>
                      <p:childTnLst>
                        <p:par>
                          <p:cTn id="244" nodeType="withEffect" fill="hold">
                            <p:stCondLst>
                              <p:cond delay="0"/>
                            </p:stCondLst>
                            <p:childTnLst>
                              <p:par>
                                <p:cTn id="245" nodeType="clickEffect" fill="hold" presetClass="entr" presetID="22" presetSubtype="8">
                                  <p:stCondLst>
                                    <p:cond delay="0"/>
                                  </p:stCondLst>
                                  <p:childTnLst>
                                    <p:set>
                                      <p:cBhvr>
                                        <p:cTn id="246" dur="1" fill="hold">
                                          <p:stCondLst>
                                            <p:cond delay="0"/>
                                          </p:stCondLst>
                                        </p:cTn>
                                        <p:tgtEl>
                                          <p:spTgt spid="69">
                                            <p:txEl>
                                              <p:pRg st="2" end="2"/>
                                            </p:txEl>
                                          </p:spTgt>
                                        </p:tgtEl>
                                        <p:attrNameLst>
                                          <p:attrName>style.visibility</p:attrName>
                                        </p:attrNameLst>
                                      </p:cBhvr>
                                      <p:to>
                                        <p:strVal val="visible"/>
                                      </p:to>
                                    </p:set>
                                    <p:animEffect filter="wipe(left)" transition="in">
                                      <p:cBhvr additive="repl">
                                        <p:cTn id="247" dur="750"/>
                                        <p:tgtEl>
                                          <p:spTgt spid="69">
                                            <p:txEl>
                                              <p:pRg st="2" end="2"/>
                                            </p:txEl>
                                          </p:spTgt>
                                        </p:tgtEl>
                                      </p:cBhvr>
                                    </p:animEffect>
                                  </p:childTnLst>
                                </p:cTn>
                              </p:par>
                            </p:childTnLst>
                          </p:cTn>
                        </p:par>
                      </p:childTnLst>
                    </p:cTn>
                  </p:par>
                  <p:par>
                    <p:cTn id="248" nodeType="clickEffect" fill="hold">
                      <p:stCondLst>
                        <p:cond delay="indefinite"/>
                      </p:stCondLst>
                      <p:childTnLst>
                        <p:par>
                          <p:cTn id="249" nodeType="withEffect" fill="hold">
                            <p:stCondLst>
                              <p:cond delay="0"/>
                            </p:stCondLst>
                            <p:childTnLst>
                              <p:par>
                                <p:cTn id="250" nodeType="clickEffect" fill="hold" presetClass="entr" presetID="22" presetSubtype="8">
                                  <p:stCondLst>
                                    <p:cond delay="0"/>
                                  </p:stCondLst>
                                  <p:childTnLst>
                                    <p:set>
                                      <p:cBhvr>
                                        <p:cTn id="251" dur="1" fill="hold">
                                          <p:stCondLst>
                                            <p:cond delay="0"/>
                                          </p:stCondLst>
                                        </p:cTn>
                                        <p:tgtEl>
                                          <p:spTgt spid="69">
                                            <p:txEl>
                                              <p:pRg st="3" end="3"/>
                                            </p:txEl>
                                          </p:spTgt>
                                        </p:tgtEl>
                                        <p:attrNameLst>
                                          <p:attrName>style.visibility</p:attrName>
                                        </p:attrNameLst>
                                      </p:cBhvr>
                                      <p:to>
                                        <p:strVal val="visible"/>
                                      </p:to>
                                    </p:set>
                                    <p:animEffect filter="wipe(left)" transition="in">
                                      <p:cBhvr additive="repl">
                                        <p:cTn id="252" dur="750"/>
                                        <p:tgtEl>
                                          <p:spTgt spid="6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7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Force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Force plays a role in allocating resources.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 example, war has played an enormous role historically in allocating resources.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Theft, the taking property of others without their consent, also plays a large role.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But force provides an effective way of allocating resources—for the state to transfer wealth from the rich to the poor and establish the legal framework in which voluntary exchange can take place in markets.</a:t>
            </a:r>
            <a:endParaRPr b="0" lang="en-US" sz="2400" strike="noStrike" u="none">
              <a:solidFill>
                <a:srgbClr val="000000"/>
              </a:solidFill>
              <a:effectLst/>
              <a:uFillTx/>
              <a:latin typeface="Arial"/>
            </a:endParaRPr>
          </a:p>
        </p:txBody>
      </p:sp>
    </p:spTree>
  </p:cSld>
  <p:transition spd="slow">
    <p:wipe dir="r"/>
  </p:transition>
  <p:timing>
    <p:tnLst>
      <p:par>
        <p:cTn id="253" dur="indefinite" restart="never" nodeType="tmRoot">
          <p:childTnLst>
            <p:seq>
              <p:cTn id="254" dur="indefinite" nodeType="mainSeq">
                <p:childTnLst>
                  <p:par>
                    <p:cTn id="255" nodeType="clickEffect" fill="hold">
                      <p:stCondLst>
                        <p:cond delay="indefinite"/>
                      </p:stCondLst>
                      <p:childTnLst>
                        <p:par>
                          <p:cTn id="256" nodeType="withEffect" fill="hold">
                            <p:stCondLst>
                              <p:cond delay="0"/>
                            </p:stCondLst>
                            <p:childTnLst>
                              <p:par>
                                <p:cTn id="257" nodeType="clickEffect" fill="hold" presetClass="entr" presetID="22" presetSubtype="8">
                                  <p:stCondLst>
                                    <p:cond delay="0"/>
                                  </p:stCondLst>
                                  <p:childTnLst>
                                    <p:set>
                                      <p:cBhvr>
                                        <p:cTn id="258" dur="1" fill="hold">
                                          <p:stCondLst>
                                            <p:cond delay="0"/>
                                          </p:stCondLst>
                                        </p:cTn>
                                        <p:tgtEl>
                                          <p:spTgt spid="71">
                                            <p:txEl>
                                              <p:pRg st="1" end="1"/>
                                            </p:txEl>
                                          </p:spTgt>
                                        </p:tgtEl>
                                        <p:attrNameLst>
                                          <p:attrName>style.visibility</p:attrName>
                                        </p:attrNameLst>
                                      </p:cBhvr>
                                      <p:to>
                                        <p:strVal val="visible"/>
                                      </p:to>
                                    </p:set>
                                    <p:animEffect filter="wipe(left)" transition="in">
                                      <p:cBhvr additive="repl">
                                        <p:cTn id="259" dur="750"/>
                                        <p:tgtEl>
                                          <p:spTgt spid="71">
                                            <p:txEl>
                                              <p:pRg st="1" end="1"/>
                                            </p:txEl>
                                          </p:spTgt>
                                        </p:tgtEl>
                                      </p:cBhvr>
                                    </p:animEffect>
                                  </p:childTnLst>
                                </p:cTn>
                              </p:par>
                            </p:childTnLst>
                          </p:cTn>
                        </p:par>
                      </p:childTnLst>
                    </p:cTn>
                  </p:par>
                  <p:par>
                    <p:cTn id="260" nodeType="clickEffect" fill="hold">
                      <p:stCondLst>
                        <p:cond delay="indefinite"/>
                      </p:stCondLst>
                      <p:childTnLst>
                        <p:par>
                          <p:cTn id="261" nodeType="withEffect" fill="hold">
                            <p:stCondLst>
                              <p:cond delay="0"/>
                            </p:stCondLst>
                            <p:childTnLst>
                              <p:par>
                                <p:cTn id="262" nodeType="clickEffect" fill="hold" presetClass="entr" presetID="22" presetSubtype="8">
                                  <p:stCondLst>
                                    <p:cond delay="0"/>
                                  </p:stCondLst>
                                  <p:childTnLst>
                                    <p:set>
                                      <p:cBhvr>
                                        <p:cTn id="263" dur="1" fill="hold">
                                          <p:stCondLst>
                                            <p:cond delay="0"/>
                                          </p:stCondLst>
                                        </p:cTn>
                                        <p:tgtEl>
                                          <p:spTgt spid="71">
                                            <p:txEl>
                                              <p:pRg st="2" end="2"/>
                                            </p:txEl>
                                          </p:spTgt>
                                        </p:tgtEl>
                                        <p:attrNameLst>
                                          <p:attrName>style.visibility</p:attrName>
                                        </p:attrNameLst>
                                      </p:cBhvr>
                                      <p:to>
                                        <p:strVal val="visible"/>
                                      </p:to>
                                    </p:set>
                                    <p:animEffect filter="wipe(left)" transition="in">
                                      <p:cBhvr additive="repl">
                                        <p:cTn id="264" dur="750"/>
                                        <p:tgtEl>
                                          <p:spTgt spid="71">
                                            <p:txEl>
                                              <p:pRg st="2" end="2"/>
                                            </p:txEl>
                                          </p:spTgt>
                                        </p:tgtEl>
                                      </p:cBhvr>
                                    </p:animEffect>
                                  </p:childTnLst>
                                </p:cTn>
                              </p:par>
                            </p:childTnLst>
                          </p:cTn>
                        </p:par>
                      </p:childTnLst>
                    </p:cTn>
                  </p:par>
                  <p:par>
                    <p:cTn id="265" nodeType="clickEffect" fill="hold">
                      <p:stCondLst>
                        <p:cond delay="indefinite"/>
                      </p:stCondLst>
                      <p:childTnLst>
                        <p:par>
                          <p:cTn id="266" nodeType="withEffect" fill="hold">
                            <p:stCondLst>
                              <p:cond delay="0"/>
                            </p:stCondLst>
                            <p:childTnLst>
                              <p:par>
                                <p:cTn id="267" nodeType="clickEffect" fill="hold" presetClass="entr" presetID="22" presetSubtype="8">
                                  <p:stCondLst>
                                    <p:cond delay="0"/>
                                  </p:stCondLst>
                                  <p:childTnLst>
                                    <p:set>
                                      <p:cBhvr>
                                        <p:cTn id="268" dur="1" fill="hold">
                                          <p:stCondLst>
                                            <p:cond delay="0"/>
                                          </p:stCondLst>
                                        </p:cTn>
                                        <p:tgtEl>
                                          <p:spTgt spid="71">
                                            <p:txEl>
                                              <p:pRg st="3" end="3"/>
                                            </p:txEl>
                                          </p:spTgt>
                                        </p:tgtEl>
                                        <p:attrNameLst>
                                          <p:attrName>style.visibility</p:attrName>
                                        </p:attrNameLst>
                                      </p:cBhvr>
                                      <p:to>
                                        <p:strVal val="visible"/>
                                      </p:to>
                                    </p:set>
                                    <p:animEffect filter="wipe(left)" transition="in">
                                      <p:cBhvr additive="repl">
                                        <p:cTn id="269" dur="750"/>
                                        <p:tgtEl>
                                          <p:spTgt spid="71">
                                            <p:txEl>
                                              <p:pRg st="3" end="3"/>
                                            </p:txEl>
                                          </p:spTgt>
                                        </p:tgtEl>
                                      </p:cBhvr>
                                    </p:animEffect>
                                  </p:childTnLst>
                                </p:cTn>
                              </p:par>
                            </p:childTnLst>
                          </p:cTn>
                        </p:par>
                      </p:childTnLst>
                    </p:cTn>
                  </p:par>
                  <p:par>
                    <p:cTn id="270" nodeType="clickEffect" fill="hold">
                      <p:stCondLst>
                        <p:cond delay="indefinite"/>
                      </p:stCondLst>
                      <p:childTnLst>
                        <p:par>
                          <p:cTn id="271" nodeType="withEffect" fill="hold">
                            <p:stCondLst>
                              <p:cond delay="0"/>
                            </p:stCondLst>
                            <p:childTnLst>
                              <p:par>
                                <p:cTn id="272" nodeType="clickEffect" fill="hold" presetClass="entr" presetID="22" presetSubtype="8">
                                  <p:stCondLst>
                                    <p:cond delay="0"/>
                                  </p:stCondLst>
                                  <p:childTnLst>
                                    <p:set>
                                      <p:cBhvr>
                                        <p:cTn id="273" dur="1" fill="hold">
                                          <p:stCondLst>
                                            <p:cond delay="0"/>
                                          </p:stCondLst>
                                        </p:cTn>
                                        <p:tgtEl>
                                          <p:spTgt spid="71">
                                            <p:txEl>
                                              <p:pRg st="4" end="4"/>
                                            </p:txEl>
                                          </p:spTgt>
                                        </p:tgtEl>
                                        <p:attrNameLst>
                                          <p:attrName>style.visibility</p:attrName>
                                        </p:attrNameLst>
                                      </p:cBhvr>
                                      <p:to>
                                        <p:strVal val="visible"/>
                                      </p:to>
                                    </p:set>
                                    <p:animEffect filter="wipe(left)" transition="in">
                                      <p:cBhvr additive="repl">
                                        <p:cTn id="274" dur="750"/>
                                        <p:tgtEl>
                                          <p:spTgt spid="7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7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200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Using Resources Efficiently</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1" lang="en-US" sz="2400" strike="noStrike" u="none">
                <a:solidFill>
                  <a:srgbClr val="e50030"/>
                </a:solidFill>
                <a:effectLst/>
                <a:uFillTx/>
                <a:latin typeface="Arial"/>
                <a:ea typeface="ＭＳ Ｐゴシック"/>
              </a:rPr>
              <a:t>Allocative efficiency </a:t>
            </a:r>
            <a:r>
              <a:rPr b="0" lang="en-US" sz="2400" strike="noStrike" u="none">
                <a:solidFill>
                  <a:schemeClr val="dk1"/>
                </a:solidFill>
                <a:effectLst/>
                <a:uFillTx/>
                <a:latin typeface="Arial"/>
                <a:ea typeface="ＭＳ Ｐゴシック"/>
              </a:rPr>
              <a:t>is a situation in which the quantities of goods and services produced are those that people value most highly.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It is not possible to produce more of one good or service without producing less of something else.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1" lang="en-CA" sz="2400" strike="noStrike" u="none">
                <a:solidFill>
                  <a:srgbClr val="00468f"/>
                </a:solidFill>
                <a:effectLst/>
                <a:uFillTx/>
                <a:latin typeface="Arial"/>
                <a:ea typeface="ＭＳ Ｐゴシック"/>
              </a:rPr>
              <a:t>Efficiency and the </a:t>
            </a:r>
            <a:r>
              <a:rPr b="1" i="1" lang="en-CA" sz="2400" strike="noStrike" u="none">
                <a:solidFill>
                  <a:srgbClr val="00468f"/>
                </a:solidFill>
                <a:effectLst/>
                <a:uFillTx/>
                <a:latin typeface="Arial"/>
                <a:ea typeface="ＭＳ Ｐゴシック"/>
              </a:rPr>
              <a:t>PPF</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CA" sz="2400" strike="noStrike" u="none">
                <a:solidFill>
                  <a:schemeClr val="dk1"/>
                </a:solidFill>
                <a:effectLst/>
                <a:uFillTx/>
                <a:latin typeface="Arial"/>
                <a:ea typeface="ＭＳ Ｐゴシック"/>
              </a:rPr>
              <a:t>Production efficiency—producing on </a:t>
            </a:r>
            <a:r>
              <a:rPr b="0" i="1" lang="en-CA" sz="2400" strike="noStrike" u="none">
                <a:solidFill>
                  <a:schemeClr val="dk1"/>
                </a:solidFill>
                <a:effectLst/>
                <a:uFillTx/>
                <a:latin typeface="Arial"/>
                <a:ea typeface="ＭＳ Ｐゴシック"/>
              </a:rPr>
              <a:t>PPF</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Producing at the highest-valued point on</a:t>
            </a:r>
            <a:r>
              <a:rPr b="0" i="1" lang="en-US" sz="2400" strike="noStrike" u="none">
                <a:solidFill>
                  <a:schemeClr val="dk1"/>
                </a:solidFill>
                <a:effectLst/>
                <a:uFillTx/>
                <a:latin typeface="Arial"/>
                <a:ea typeface="ＭＳ Ｐゴシック"/>
              </a:rPr>
              <a:t> PPF</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a:t>
            </a:r>
            <a:r>
              <a:rPr b="0" i="1" lang="en-US" sz="2400" strike="noStrike" u="none">
                <a:solidFill>
                  <a:schemeClr val="dk1"/>
                </a:solidFill>
                <a:effectLst/>
                <a:uFillTx/>
                <a:latin typeface="Arial"/>
                <a:ea typeface="ＭＳ Ｐゴシック"/>
              </a:rPr>
              <a:t>PPF</a:t>
            </a:r>
            <a:r>
              <a:rPr b="0" lang="en-US" sz="2400" strike="noStrike" u="none">
                <a:solidFill>
                  <a:schemeClr val="dk1"/>
                </a:solidFill>
                <a:effectLst/>
                <a:uFillTx/>
                <a:latin typeface="Arial"/>
                <a:ea typeface="ＭＳ Ｐゴシック"/>
              </a:rPr>
              <a:t> tells us what can be produced, but the </a:t>
            </a:r>
            <a:r>
              <a:rPr b="0" i="1" lang="en-US" sz="2400" strike="noStrike" u="none">
                <a:solidFill>
                  <a:schemeClr val="dk1"/>
                </a:solidFill>
                <a:effectLst/>
                <a:uFillTx/>
                <a:latin typeface="Arial"/>
                <a:ea typeface="ＭＳ Ｐゴシック"/>
              </a:rPr>
              <a:t>PPF </a:t>
            </a:r>
            <a:r>
              <a:rPr b="0" lang="en-US" sz="2400" strike="noStrike" u="none">
                <a:solidFill>
                  <a:schemeClr val="dk1"/>
                </a:solidFill>
                <a:effectLst/>
                <a:uFillTx/>
                <a:latin typeface="Arial"/>
                <a:ea typeface="ＭＳ Ｐゴシック"/>
              </a:rPr>
              <a:t>does </a:t>
            </a:r>
            <a:r>
              <a:rPr b="0" i="1" lang="en-US" sz="2400" strike="noStrike" u="none">
                <a:solidFill>
                  <a:schemeClr val="dk1"/>
                </a:solidFill>
                <a:effectLst/>
                <a:uFillTx/>
                <a:latin typeface="Arial"/>
                <a:ea typeface="ＭＳ Ｐゴシック"/>
              </a:rPr>
              <a:t>not</a:t>
            </a:r>
            <a:r>
              <a:rPr b="0" lang="en-US" sz="2400" strike="noStrike" u="none">
                <a:solidFill>
                  <a:schemeClr val="dk1"/>
                </a:solidFill>
                <a:effectLst/>
                <a:uFillTx/>
                <a:latin typeface="Arial"/>
                <a:ea typeface="ＭＳ Ｐゴシック"/>
              </a:rPr>
              <a:t> tell us about the </a:t>
            </a:r>
            <a:r>
              <a:rPr b="0" i="1" lang="en-US" sz="2400" strike="noStrike" u="none">
                <a:solidFill>
                  <a:schemeClr val="dk1"/>
                </a:solidFill>
                <a:effectLst/>
                <a:uFillTx/>
                <a:latin typeface="Arial"/>
                <a:ea typeface="ＭＳ Ｐゴシック"/>
              </a:rPr>
              <a:t>value</a:t>
            </a:r>
            <a:r>
              <a:rPr b="0" lang="en-US" sz="2400" strike="noStrike" u="none">
                <a:solidFill>
                  <a:schemeClr val="dk1"/>
                </a:solidFill>
                <a:effectLst/>
                <a:uFillTx/>
                <a:latin typeface="Arial"/>
                <a:ea typeface="ＭＳ Ｐゴシック"/>
              </a:rPr>
              <a:t> of what we produce.</a:t>
            </a:r>
            <a:endParaRPr b="0" lang="en-US" sz="2400" strike="noStrike" u="none">
              <a:solidFill>
                <a:srgbClr val="000000"/>
              </a:solidFill>
              <a:effectLst/>
              <a:uFillTx/>
              <a:latin typeface="Arial"/>
            </a:endParaRPr>
          </a:p>
        </p:txBody>
      </p:sp>
    </p:spTree>
  </p:cSld>
  <p:transition spd="slow">
    <p:wipe dir="r"/>
  </p:transition>
  <p:timing>
    <p:tnLst>
      <p:par>
        <p:cTn id="275" dur="indefinite" restart="never" nodeType="tmRoot">
          <p:childTnLst>
            <p:seq>
              <p:cTn id="276" dur="indefinite" nodeType="mainSeq">
                <p:childTnLst>
                  <p:par>
                    <p:cTn id="277" nodeType="clickEffect" fill="hold">
                      <p:stCondLst>
                        <p:cond delay="indefinite"/>
                      </p:stCondLst>
                      <p:childTnLst>
                        <p:par>
                          <p:cTn id="278" nodeType="withEffect" fill="hold">
                            <p:stCondLst>
                              <p:cond delay="0"/>
                            </p:stCondLst>
                            <p:childTnLst>
                              <p:par>
                                <p:cTn id="279" nodeType="clickEffect" fill="hold" presetClass="entr" presetID="22" presetSubtype="8">
                                  <p:stCondLst>
                                    <p:cond delay="0"/>
                                  </p:stCondLst>
                                  <p:childTnLst>
                                    <p:set>
                                      <p:cBhvr>
                                        <p:cTn id="280" dur="1" fill="hold">
                                          <p:stCondLst>
                                            <p:cond delay="0"/>
                                          </p:stCondLst>
                                        </p:cTn>
                                        <p:tgtEl>
                                          <p:spTgt spid="73">
                                            <p:txEl>
                                              <p:pRg st="1" end="1"/>
                                            </p:txEl>
                                          </p:spTgt>
                                        </p:tgtEl>
                                        <p:attrNameLst>
                                          <p:attrName>style.visibility</p:attrName>
                                        </p:attrNameLst>
                                      </p:cBhvr>
                                      <p:to>
                                        <p:strVal val="visible"/>
                                      </p:to>
                                    </p:set>
                                    <p:animEffect filter="wipe(left)" transition="in">
                                      <p:cBhvr additive="repl">
                                        <p:cTn id="281" dur="750"/>
                                        <p:tgtEl>
                                          <p:spTgt spid="73">
                                            <p:txEl>
                                              <p:pRg st="1" end="1"/>
                                            </p:txEl>
                                          </p:spTgt>
                                        </p:tgtEl>
                                      </p:cBhvr>
                                    </p:animEffect>
                                  </p:childTnLst>
                                </p:cTn>
                              </p:par>
                            </p:childTnLst>
                          </p:cTn>
                        </p:par>
                      </p:childTnLst>
                    </p:cTn>
                  </p:par>
                  <p:par>
                    <p:cTn id="282" nodeType="clickEffect" fill="hold">
                      <p:stCondLst>
                        <p:cond delay="indefinite"/>
                      </p:stCondLst>
                      <p:childTnLst>
                        <p:par>
                          <p:cTn id="283" nodeType="withEffect" fill="hold">
                            <p:stCondLst>
                              <p:cond delay="0"/>
                            </p:stCondLst>
                            <p:childTnLst>
                              <p:par>
                                <p:cTn id="284" nodeType="clickEffect" fill="hold" presetClass="entr" presetID="22" presetSubtype="8">
                                  <p:stCondLst>
                                    <p:cond delay="0"/>
                                  </p:stCondLst>
                                  <p:childTnLst>
                                    <p:set>
                                      <p:cBhvr>
                                        <p:cTn id="285" dur="1" fill="hold">
                                          <p:stCondLst>
                                            <p:cond delay="0"/>
                                          </p:stCondLst>
                                        </p:cTn>
                                        <p:tgtEl>
                                          <p:spTgt spid="73">
                                            <p:txEl>
                                              <p:pRg st="2" end="2"/>
                                            </p:txEl>
                                          </p:spTgt>
                                        </p:tgtEl>
                                        <p:attrNameLst>
                                          <p:attrName>style.visibility</p:attrName>
                                        </p:attrNameLst>
                                      </p:cBhvr>
                                      <p:to>
                                        <p:strVal val="visible"/>
                                      </p:to>
                                    </p:set>
                                    <p:animEffect filter="wipe(left)" transition="in">
                                      <p:cBhvr additive="repl">
                                        <p:cTn id="286" dur="750"/>
                                        <p:tgtEl>
                                          <p:spTgt spid="73">
                                            <p:txEl>
                                              <p:pRg st="2" end="2"/>
                                            </p:txEl>
                                          </p:spTgt>
                                        </p:tgtEl>
                                      </p:cBhvr>
                                    </p:animEffect>
                                  </p:childTnLst>
                                </p:cTn>
                              </p:par>
                            </p:childTnLst>
                          </p:cTn>
                        </p:par>
                      </p:childTnLst>
                    </p:cTn>
                  </p:par>
                  <p:par>
                    <p:cTn id="287" nodeType="clickEffect" fill="hold">
                      <p:stCondLst>
                        <p:cond delay="indefinite"/>
                      </p:stCondLst>
                      <p:childTnLst>
                        <p:par>
                          <p:cTn id="288" nodeType="withEffect" fill="hold">
                            <p:stCondLst>
                              <p:cond delay="0"/>
                            </p:stCondLst>
                            <p:childTnLst>
                              <p:par>
                                <p:cTn id="289" nodeType="clickEffect" fill="hold" presetClass="entr" presetID="22" presetSubtype="8">
                                  <p:stCondLst>
                                    <p:cond delay="0"/>
                                  </p:stCondLst>
                                  <p:childTnLst>
                                    <p:set>
                                      <p:cBhvr>
                                        <p:cTn id="290" dur="1" fill="hold">
                                          <p:stCondLst>
                                            <p:cond delay="0"/>
                                          </p:stCondLst>
                                        </p:cTn>
                                        <p:tgtEl>
                                          <p:spTgt spid="73">
                                            <p:txEl>
                                              <p:pRg st="3" end="3"/>
                                            </p:txEl>
                                          </p:spTgt>
                                        </p:tgtEl>
                                        <p:attrNameLst>
                                          <p:attrName>style.visibility</p:attrName>
                                        </p:attrNameLst>
                                      </p:cBhvr>
                                      <p:to>
                                        <p:strVal val="visible"/>
                                      </p:to>
                                    </p:set>
                                    <p:animEffect filter="wipe(left)" transition="in">
                                      <p:cBhvr additive="repl">
                                        <p:cTn id="291" dur="750"/>
                                        <p:tgtEl>
                                          <p:spTgt spid="73">
                                            <p:txEl>
                                              <p:pRg st="3" end="3"/>
                                            </p:txEl>
                                          </p:spTgt>
                                        </p:tgtEl>
                                      </p:cBhvr>
                                    </p:animEffect>
                                  </p:childTnLst>
                                </p:cTn>
                              </p:par>
                            </p:childTnLst>
                          </p:cTn>
                        </p:par>
                      </p:childTnLst>
                    </p:cTn>
                  </p:par>
                  <p:par>
                    <p:cTn id="292" nodeType="clickEffect" fill="hold">
                      <p:stCondLst>
                        <p:cond delay="indefinite"/>
                      </p:stCondLst>
                      <p:childTnLst>
                        <p:par>
                          <p:cTn id="293" nodeType="withEffect" fill="hold">
                            <p:stCondLst>
                              <p:cond delay="0"/>
                            </p:stCondLst>
                            <p:childTnLst>
                              <p:par>
                                <p:cTn id="294" nodeType="clickEffect" fill="hold" presetClass="entr" presetID="22" presetSubtype="8">
                                  <p:stCondLst>
                                    <p:cond delay="0"/>
                                  </p:stCondLst>
                                  <p:childTnLst>
                                    <p:set>
                                      <p:cBhvr>
                                        <p:cTn id="295" dur="1" fill="hold">
                                          <p:stCondLst>
                                            <p:cond delay="0"/>
                                          </p:stCondLst>
                                        </p:cTn>
                                        <p:tgtEl>
                                          <p:spTgt spid="73">
                                            <p:txEl>
                                              <p:pRg st="4" end="4"/>
                                            </p:txEl>
                                          </p:spTgt>
                                        </p:tgtEl>
                                        <p:attrNameLst>
                                          <p:attrName>style.visibility</p:attrName>
                                        </p:attrNameLst>
                                      </p:cBhvr>
                                      <p:to>
                                        <p:strVal val="visible"/>
                                      </p:to>
                                    </p:set>
                                    <p:animEffect filter="wipe(left)" transition="in">
                                      <p:cBhvr additive="repl">
                                        <p:cTn id="296" dur="750"/>
                                        <p:tgtEl>
                                          <p:spTgt spid="73">
                                            <p:txEl>
                                              <p:pRg st="4" end="4"/>
                                            </p:txEl>
                                          </p:spTgt>
                                        </p:tgtEl>
                                      </p:cBhvr>
                                    </p:animEffect>
                                  </p:childTnLst>
                                </p:cTn>
                              </p:par>
                            </p:childTnLst>
                          </p:cTn>
                        </p:par>
                      </p:childTnLst>
                    </p:cTn>
                  </p:par>
                  <p:par>
                    <p:cTn id="297" nodeType="clickEffect" fill="hold">
                      <p:stCondLst>
                        <p:cond delay="indefinite"/>
                      </p:stCondLst>
                      <p:childTnLst>
                        <p:par>
                          <p:cTn id="298" nodeType="withEffect" fill="hold">
                            <p:stCondLst>
                              <p:cond delay="0"/>
                            </p:stCondLst>
                            <p:childTnLst>
                              <p:par>
                                <p:cTn id="299" nodeType="clickEffect" fill="hold" presetClass="entr" presetID="22" presetSubtype="8">
                                  <p:stCondLst>
                                    <p:cond delay="0"/>
                                  </p:stCondLst>
                                  <p:childTnLst>
                                    <p:set>
                                      <p:cBhvr>
                                        <p:cTn id="300" dur="1" fill="hold">
                                          <p:stCondLst>
                                            <p:cond delay="0"/>
                                          </p:stCondLst>
                                        </p:cTn>
                                        <p:tgtEl>
                                          <p:spTgt spid="73">
                                            <p:txEl>
                                              <p:pRg st="5" end="5"/>
                                            </p:txEl>
                                          </p:spTgt>
                                        </p:tgtEl>
                                        <p:attrNameLst>
                                          <p:attrName>style.visibility</p:attrName>
                                        </p:attrNameLst>
                                      </p:cBhvr>
                                      <p:to>
                                        <p:strVal val="visible"/>
                                      </p:to>
                                    </p:set>
                                    <p:animEffect filter="wipe(left)" transition="in">
                                      <p:cBhvr additive="repl">
                                        <p:cTn id="301" dur="750"/>
                                        <p:tgtEl>
                                          <p:spTgt spid="73">
                                            <p:txEl>
                                              <p:pRg st="5" end="5"/>
                                            </p:txEl>
                                          </p:spTgt>
                                        </p:tgtEl>
                                      </p:cBhvr>
                                    </p:animEffect>
                                  </p:childTnLst>
                                </p:cTn>
                              </p:par>
                            </p:childTnLst>
                          </p:cTn>
                        </p:par>
                      </p:childTnLst>
                    </p:cTn>
                  </p:par>
                  <p:par>
                    <p:cTn id="302" nodeType="clickEffect" fill="hold">
                      <p:stCondLst>
                        <p:cond delay="indefinite"/>
                      </p:stCondLst>
                      <p:childTnLst>
                        <p:par>
                          <p:cTn id="303" nodeType="withEffect" fill="hold">
                            <p:stCondLst>
                              <p:cond delay="0"/>
                            </p:stCondLst>
                            <p:childTnLst>
                              <p:par>
                                <p:cTn id="304" nodeType="clickEffect" fill="hold" presetClass="entr" presetID="22" presetSubtype="8">
                                  <p:stCondLst>
                                    <p:cond delay="0"/>
                                  </p:stCondLst>
                                  <p:childTnLst>
                                    <p:set>
                                      <p:cBhvr>
                                        <p:cTn id="305" dur="1" fill="hold">
                                          <p:stCondLst>
                                            <p:cond delay="0"/>
                                          </p:stCondLst>
                                        </p:cTn>
                                        <p:tgtEl>
                                          <p:spTgt spid="73">
                                            <p:txEl>
                                              <p:pRg st="6" end="6"/>
                                            </p:txEl>
                                          </p:spTgt>
                                        </p:tgtEl>
                                        <p:attrNameLst>
                                          <p:attrName>style.visibility</p:attrName>
                                        </p:attrNameLst>
                                      </p:cBhvr>
                                      <p:to>
                                        <p:strVal val="visible"/>
                                      </p:to>
                                    </p:set>
                                    <p:animEffect filter="wipe(left)" transition="in">
                                      <p:cBhvr additive="repl">
                                        <p:cTn id="306" dur="750"/>
                                        <p:tgtEl>
                                          <p:spTgt spid="73">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75"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Marginal Benefit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i="1" lang="en-US" sz="2400" strike="noStrike" u="none">
                <a:solidFill>
                  <a:schemeClr val="dk1"/>
                </a:solidFill>
                <a:effectLst/>
                <a:uFillTx/>
                <a:latin typeface="Arial"/>
                <a:ea typeface="ＭＳ Ｐゴシック"/>
              </a:rPr>
              <a:t>Marginal benefit</a:t>
            </a:r>
            <a:r>
              <a:rPr b="0" lang="en-US" sz="2400" strike="noStrike" u="none">
                <a:solidFill>
                  <a:schemeClr val="dk1"/>
                </a:solidFill>
                <a:effectLst/>
                <a:uFillTx/>
                <a:latin typeface="Arial"/>
                <a:ea typeface="ＭＳ Ｐゴシック"/>
              </a:rPr>
              <a:t> is the benefit that a person receives from consuming one more unit of a good or service.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People’s </a:t>
            </a:r>
            <a:r>
              <a:rPr b="0" i="1" lang="en-US" sz="2400" strike="noStrike" u="none">
                <a:solidFill>
                  <a:schemeClr val="dk1"/>
                </a:solidFill>
                <a:effectLst/>
                <a:uFillTx/>
                <a:latin typeface="Arial"/>
                <a:ea typeface="ＭＳ Ｐゴシック"/>
              </a:rPr>
              <a:t>preferences</a:t>
            </a:r>
            <a:r>
              <a:rPr b="0" lang="en-US" sz="2400" strike="noStrike" u="none">
                <a:solidFill>
                  <a:schemeClr val="dk1"/>
                </a:solidFill>
                <a:effectLst/>
                <a:uFillTx/>
                <a:latin typeface="Arial"/>
                <a:ea typeface="ＭＳ Ｐゴシック"/>
              </a:rPr>
              <a:t> determine marginal benefit.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marginal benefit from a good is what people are </a:t>
            </a:r>
            <a:r>
              <a:rPr b="0" i="1" lang="en-US" sz="2400" strike="noStrike" u="none">
                <a:solidFill>
                  <a:schemeClr val="dk1"/>
                </a:solidFill>
                <a:effectLst/>
                <a:uFillTx/>
                <a:latin typeface="Arial"/>
                <a:ea typeface="ＭＳ Ｐゴシック"/>
              </a:rPr>
              <a:t>willing to forgo</a:t>
            </a:r>
            <a:r>
              <a:rPr b="0" lang="en-US" sz="2400" strike="noStrike" u="none">
                <a:solidFill>
                  <a:schemeClr val="dk1"/>
                </a:solidFill>
                <a:effectLst/>
                <a:uFillTx/>
                <a:latin typeface="Arial"/>
                <a:ea typeface="ＭＳ Ｐゴシック"/>
              </a:rPr>
              <a:t> to get one more unit of the good.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Marginal benefit decreases as the quantity of the good increases—the </a:t>
            </a:r>
            <a:r>
              <a:rPr b="0" i="1" lang="en-US" sz="2400" strike="noStrike" u="none">
                <a:solidFill>
                  <a:schemeClr val="dk1"/>
                </a:solidFill>
                <a:effectLst/>
                <a:uFillTx/>
                <a:latin typeface="Arial"/>
                <a:ea typeface="ＭＳ Ｐゴシック"/>
              </a:rPr>
              <a:t>principle of decreasing marginal benefit</a:t>
            </a: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p:txBody>
      </p:sp>
    </p:spTree>
  </p:cSld>
  <p:transition spd="slow">
    <p:wipe dir="r"/>
  </p:transition>
  <p:timing>
    <p:tnLst>
      <p:par>
        <p:cTn id="307" dur="indefinite" restart="never" nodeType="tmRoot">
          <p:childTnLst>
            <p:seq>
              <p:cTn id="308" dur="indefinite" nodeType="mainSeq">
                <p:childTnLst>
                  <p:par>
                    <p:cTn id="309" nodeType="clickEffect" fill="hold">
                      <p:stCondLst>
                        <p:cond delay="indefinite"/>
                      </p:stCondLst>
                      <p:childTnLst>
                        <p:par>
                          <p:cTn id="310" nodeType="withEffect" fill="hold">
                            <p:stCondLst>
                              <p:cond delay="0"/>
                            </p:stCondLst>
                            <p:childTnLst>
                              <p:par>
                                <p:cTn id="311" nodeType="clickEffect" fill="hold" presetClass="entr" presetID="22" presetSubtype="8">
                                  <p:stCondLst>
                                    <p:cond delay="0"/>
                                  </p:stCondLst>
                                  <p:childTnLst>
                                    <p:set>
                                      <p:cBhvr>
                                        <p:cTn id="312" dur="1" fill="hold">
                                          <p:stCondLst>
                                            <p:cond delay="0"/>
                                          </p:stCondLst>
                                        </p:cTn>
                                        <p:tgtEl>
                                          <p:spTgt spid="75">
                                            <p:txEl>
                                              <p:pRg st="1" end="1"/>
                                            </p:txEl>
                                          </p:spTgt>
                                        </p:tgtEl>
                                        <p:attrNameLst>
                                          <p:attrName>style.visibility</p:attrName>
                                        </p:attrNameLst>
                                      </p:cBhvr>
                                      <p:to>
                                        <p:strVal val="visible"/>
                                      </p:to>
                                    </p:set>
                                    <p:animEffect filter="wipe(left)" transition="in">
                                      <p:cBhvr additive="repl">
                                        <p:cTn id="313" dur="750"/>
                                        <p:tgtEl>
                                          <p:spTgt spid="75">
                                            <p:txEl>
                                              <p:pRg st="1" end="1"/>
                                            </p:txEl>
                                          </p:spTgt>
                                        </p:tgtEl>
                                      </p:cBhvr>
                                    </p:animEffect>
                                  </p:childTnLst>
                                </p:cTn>
                              </p:par>
                            </p:childTnLst>
                          </p:cTn>
                        </p:par>
                      </p:childTnLst>
                    </p:cTn>
                  </p:par>
                  <p:par>
                    <p:cTn id="314" nodeType="clickEffect" fill="hold">
                      <p:stCondLst>
                        <p:cond delay="indefinite"/>
                      </p:stCondLst>
                      <p:childTnLst>
                        <p:par>
                          <p:cTn id="315" nodeType="withEffect" fill="hold">
                            <p:stCondLst>
                              <p:cond delay="0"/>
                            </p:stCondLst>
                            <p:childTnLst>
                              <p:par>
                                <p:cTn id="316" nodeType="clickEffect" fill="hold" presetClass="entr" presetID="22" presetSubtype="8">
                                  <p:stCondLst>
                                    <p:cond delay="0"/>
                                  </p:stCondLst>
                                  <p:childTnLst>
                                    <p:set>
                                      <p:cBhvr>
                                        <p:cTn id="317" dur="1" fill="hold">
                                          <p:stCondLst>
                                            <p:cond delay="0"/>
                                          </p:stCondLst>
                                        </p:cTn>
                                        <p:tgtEl>
                                          <p:spTgt spid="75">
                                            <p:txEl>
                                              <p:pRg st="2" end="2"/>
                                            </p:txEl>
                                          </p:spTgt>
                                        </p:tgtEl>
                                        <p:attrNameLst>
                                          <p:attrName>style.visibility</p:attrName>
                                        </p:attrNameLst>
                                      </p:cBhvr>
                                      <p:to>
                                        <p:strVal val="visible"/>
                                      </p:to>
                                    </p:set>
                                    <p:animEffect filter="wipe(left)" transition="in">
                                      <p:cBhvr additive="repl">
                                        <p:cTn id="318" dur="750"/>
                                        <p:tgtEl>
                                          <p:spTgt spid="75">
                                            <p:txEl>
                                              <p:pRg st="2" end="2"/>
                                            </p:txEl>
                                          </p:spTgt>
                                        </p:tgtEl>
                                      </p:cBhvr>
                                    </p:animEffect>
                                  </p:childTnLst>
                                </p:cTn>
                              </p:par>
                            </p:childTnLst>
                          </p:cTn>
                        </p:par>
                      </p:childTnLst>
                    </p:cTn>
                  </p:par>
                  <p:par>
                    <p:cTn id="319" nodeType="clickEffect" fill="hold">
                      <p:stCondLst>
                        <p:cond delay="indefinite"/>
                      </p:stCondLst>
                      <p:childTnLst>
                        <p:par>
                          <p:cTn id="320" nodeType="withEffect" fill="hold">
                            <p:stCondLst>
                              <p:cond delay="0"/>
                            </p:stCondLst>
                            <p:childTnLst>
                              <p:par>
                                <p:cTn id="321" nodeType="clickEffect" fill="hold" presetClass="entr" presetID="22" presetSubtype="8">
                                  <p:stCondLst>
                                    <p:cond delay="0"/>
                                  </p:stCondLst>
                                  <p:childTnLst>
                                    <p:set>
                                      <p:cBhvr>
                                        <p:cTn id="322" dur="1" fill="hold">
                                          <p:stCondLst>
                                            <p:cond delay="0"/>
                                          </p:stCondLst>
                                        </p:cTn>
                                        <p:tgtEl>
                                          <p:spTgt spid="75">
                                            <p:txEl>
                                              <p:pRg st="3" end="3"/>
                                            </p:txEl>
                                          </p:spTgt>
                                        </p:tgtEl>
                                        <p:attrNameLst>
                                          <p:attrName>style.visibility</p:attrName>
                                        </p:attrNameLst>
                                      </p:cBhvr>
                                      <p:to>
                                        <p:strVal val="visible"/>
                                      </p:to>
                                    </p:set>
                                    <p:animEffect filter="wipe(left)" transition="in">
                                      <p:cBhvr additive="repl">
                                        <p:cTn id="323" dur="750"/>
                                        <p:tgtEl>
                                          <p:spTgt spid="75">
                                            <p:txEl>
                                              <p:pRg st="3" end="3"/>
                                            </p:txEl>
                                          </p:spTgt>
                                        </p:tgtEl>
                                      </p:cBhvr>
                                    </p:animEffect>
                                  </p:childTnLst>
                                </p:cTn>
                              </p:par>
                            </p:childTnLst>
                          </p:cTn>
                        </p:par>
                      </p:childTnLst>
                    </p:cTn>
                  </p:par>
                  <p:par>
                    <p:cTn id="324" nodeType="clickEffect" fill="hold">
                      <p:stCondLst>
                        <p:cond delay="indefinite"/>
                      </p:stCondLst>
                      <p:childTnLst>
                        <p:par>
                          <p:cTn id="325" nodeType="withEffect" fill="hold">
                            <p:stCondLst>
                              <p:cond delay="0"/>
                            </p:stCondLst>
                            <p:childTnLst>
                              <p:par>
                                <p:cTn id="326" nodeType="clickEffect" fill="hold" presetClass="entr" presetID="22" presetSubtype="8">
                                  <p:stCondLst>
                                    <p:cond delay="0"/>
                                  </p:stCondLst>
                                  <p:childTnLst>
                                    <p:set>
                                      <p:cBhvr>
                                        <p:cTn id="327" dur="1" fill="hold">
                                          <p:stCondLst>
                                            <p:cond delay="0"/>
                                          </p:stCondLst>
                                        </p:cTn>
                                        <p:tgtEl>
                                          <p:spTgt spid="75">
                                            <p:txEl>
                                              <p:pRg st="4" end="4"/>
                                            </p:txEl>
                                          </p:spTgt>
                                        </p:tgtEl>
                                        <p:attrNameLst>
                                          <p:attrName>style.visibility</p:attrName>
                                        </p:attrNameLst>
                                      </p:cBhvr>
                                      <p:to>
                                        <p:strVal val="visible"/>
                                      </p:to>
                                    </p:set>
                                    <p:animEffect filter="wipe(left)" transition="in">
                                      <p:cBhvr additive="repl">
                                        <p:cTn id="328" dur="750"/>
                                        <p:tgtEl>
                                          <p:spTgt spid="7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pic>
        <p:nvPicPr>
          <p:cNvPr id="77" name="Picture 7" descr="fig0601a.gif"/>
          <p:cNvPicPr/>
          <p:nvPr/>
        </p:nvPicPr>
        <p:blipFill>
          <a:blip r:embed="rId1"/>
          <a:stretch/>
        </p:blipFill>
        <p:spPr>
          <a:xfrm>
            <a:off x="3240000" y="1440000"/>
            <a:ext cx="5471280" cy="4742640"/>
          </a:xfrm>
          <a:prstGeom prst="rect">
            <a:avLst/>
          </a:prstGeom>
          <a:noFill/>
          <a:ln w="0">
            <a:noFill/>
          </a:ln>
        </p:spPr>
      </p:pic>
      <p:pic>
        <p:nvPicPr>
          <p:cNvPr id="78" name="Picture 8" descr="fig0601b.gif"/>
          <p:cNvPicPr/>
          <p:nvPr/>
        </p:nvPicPr>
        <p:blipFill>
          <a:blip r:embed="rId2"/>
          <a:stretch/>
        </p:blipFill>
        <p:spPr>
          <a:xfrm>
            <a:off x="3240000" y="1440000"/>
            <a:ext cx="5471280" cy="4742640"/>
          </a:xfrm>
          <a:prstGeom prst="rect">
            <a:avLst/>
          </a:prstGeom>
          <a:noFill/>
          <a:ln w="0">
            <a:noFill/>
          </a:ln>
        </p:spPr>
      </p:pic>
      <p:sp>
        <p:nvSpPr>
          <p:cNvPr id="79" name="PlaceHolder 2"/>
          <p:cNvSpPr>
            <a:spLocks noGrp="1"/>
          </p:cNvSpPr>
          <p:nvPr>
            <p:ph/>
          </p:nvPr>
        </p:nvSpPr>
        <p:spPr>
          <a:xfrm>
            <a:off x="360360" y="1440000"/>
            <a:ext cx="45158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Possibility </a:t>
            </a:r>
            <a:r>
              <a:rPr b="0" i="1" lang="en-US" sz="2400" strike="noStrike" u="none">
                <a:solidFill>
                  <a:srgbClr val="000000"/>
                </a:solidFill>
                <a:effectLst/>
                <a:uFillTx/>
                <a:latin typeface="Arial"/>
                <a:ea typeface="ＭＳ Ｐゴシック"/>
              </a:rPr>
              <a:t>A</a:t>
            </a:r>
            <a:r>
              <a:rPr b="0" lang="en-US" sz="2400" strike="noStrike" u="none">
                <a:solidFill>
                  <a:srgbClr val="000000"/>
                </a:solidFill>
                <a:effectLst/>
                <a:uFillTx/>
                <a:latin typeface="Arial"/>
                <a:ea typeface="ＭＳ Ｐゴシック"/>
              </a:rPr>
              <a:t> and point </a:t>
            </a:r>
            <a:r>
              <a:rPr b="0" i="1" lang="en-US" sz="2400" strike="noStrike" u="none">
                <a:solidFill>
                  <a:srgbClr val="000000"/>
                </a:solidFill>
                <a:effectLst/>
                <a:uFillTx/>
                <a:latin typeface="Arial"/>
                <a:ea typeface="ＭＳ Ｐゴシック"/>
              </a:rPr>
              <a:t>A</a:t>
            </a:r>
            <a:r>
              <a:rPr b="0" lang="en-US" sz="2400" strike="noStrike" u="none">
                <a:solidFill>
                  <a:srgbClr val="000000"/>
                </a:solidFill>
                <a:effectLst/>
                <a:uFillTx/>
                <a:latin typeface="Arial"/>
                <a:ea typeface="ＭＳ Ｐゴシック"/>
              </a:rPr>
              <a:t> tell us that if we produce 2,000 pizzas a day,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people are willing to give up 15 units of other goods and services to get one more pizza.</a:t>
            </a:r>
            <a:endParaRPr b="0" lang="en-US" sz="2400" strike="noStrike" u="none">
              <a:solidFill>
                <a:srgbClr val="000000"/>
              </a:solidFill>
              <a:effectLst/>
              <a:uFillTx/>
              <a:latin typeface="Arial"/>
            </a:endParaRPr>
          </a:p>
        </p:txBody>
      </p:sp>
    </p:spTree>
  </p:cSld>
  <p:transition spd="slow">
    <p:wipe dir="r"/>
  </p:transition>
  <p:timing>
    <p:tnLst>
      <p:par>
        <p:cTn id="329" dur="indefinite" restart="never" nodeType="tmRoot">
          <p:childTnLst>
            <p:seq>
              <p:cTn id="330" dur="indefinite" nodeType="mainSeq">
                <p:childTnLst>
                  <p:par>
                    <p:cTn id="331" nodeType="clickEffect" fill="hold">
                      <p:stCondLst>
                        <p:cond delay="0"/>
                      </p:stCondLst>
                      <p:childTnLst>
                        <p:par>
                          <p:cTn id="332" nodeType="withEffect" fill="hold">
                            <p:stCondLst>
                              <p:cond delay="0"/>
                            </p:stCondLst>
                            <p:childTnLst>
                              <p:par>
                                <p:cTn id="333" nodeType="withEffect" fill="hold" presetClass="entr" presetID="22" presetSubtype="4">
                                  <p:stCondLst>
                                    <p:cond delay="0"/>
                                  </p:stCondLst>
                                  <p:childTnLst>
                                    <p:set>
                                      <p:cBhvr>
                                        <p:cTn id="334" dur="1" fill="hold">
                                          <p:stCondLst>
                                            <p:cond delay="0"/>
                                          </p:stCondLst>
                                        </p:cTn>
                                        <p:tgtEl>
                                          <p:spTgt spid="78"/>
                                        </p:tgtEl>
                                        <p:attrNameLst>
                                          <p:attrName>style.visibility</p:attrName>
                                        </p:attrNameLst>
                                      </p:cBhvr>
                                      <p:to>
                                        <p:strVal val="visible"/>
                                      </p:to>
                                    </p:set>
                                    <p:animEffect filter="wipe(down)" transition="in">
                                      <p:cBhvr additive="repl">
                                        <p:cTn id="335" dur="1000"/>
                                        <p:tgtEl>
                                          <p:spTgt spid="78"/>
                                        </p:tgtEl>
                                      </p:cBhvr>
                                    </p:animEffect>
                                  </p:childTnLst>
                                </p:cTn>
                              </p:par>
                            </p:childTnLst>
                          </p:cTn>
                        </p:par>
                      </p:childTnLst>
                    </p:cTn>
                  </p:par>
                  <p:par>
                    <p:cTn id="336" nodeType="clickEffect" fill="hold">
                      <p:stCondLst>
                        <p:cond delay="indefinite"/>
                      </p:stCondLst>
                      <p:childTnLst>
                        <p:par>
                          <p:cTn id="337" nodeType="withEffect" fill="hold">
                            <p:stCondLst>
                              <p:cond delay="0"/>
                            </p:stCondLst>
                            <p:childTnLst>
                              <p:par>
                                <p:cTn id="338" nodeType="clickEffect" fill="hold" presetClass="entr" presetID="22" presetSubtype="8">
                                  <p:stCondLst>
                                    <p:cond delay="0"/>
                                  </p:stCondLst>
                                  <p:childTnLst>
                                    <p:set>
                                      <p:cBhvr>
                                        <p:cTn id="339" dur="1" fill="hold">
                                          <p:stCondLst>
                                            <p:cond delay="0"/>
                                          </p:stCondLst>
                                        </p:cTn>
                                        <p:tgtEl>
                                          <p:spTgt spid="79">
                                            <p:txEl>
                                              <p:pRg st="1" end="1"/>
                                            </p:txEl>
                                          </p:spTgt>
                                        </p:tgtEl>
                                        <p:attrNameLst>
                                          <p:attrName>style.visibility</p:attrName>
                                        </p:attrNameLst>
                                      </p:cBhvr>
                                      <p:to>
                                        <p:strVal val="visible"/>
                                      </p:to>
                                    </p:set>
                                    <p:animEffect filter="wipe(left)" transition="in">
                                      <p:cBhvr additive="repl">
                                        <p:cTn id="340" dur="750"/>
                                        <p:tgtEl>
                                          <p:spTgt spid="79">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80" name="Picture 6" descr="fig0601a.gif"/>
          <p:cNvPicPr/>
          <p:nvPr/>
        </p:nvPicPr>
        <p:blipFill>
          <a:blip r:embed="rId1"/>
          <a:stretch/>
        </p:blipFill>
        <p:spPr>
          <a:xfrm>
            <a:off x="1260360" y="539640"/>
            <a:ext cx="6565320" cy="5691960"/>
          </a:xfrm>
          <a:prstGeom prst="rect">
            <a:avLst/>
          </a:prstGeom>
          <a:noFill/>
          <a:ln w="0">
            <a:noFill/>
          </a:ln>
        </p:spPr>
      </p:pic>
      <p:pic>
        <p:nvPicPr>
          <p:cNvPr id="81" name="Picture 7" descr="fig0601b.gif"/>
          <p:cNvPicPr/>
          <p:nvPr/>
        </p:nvPicPr>
        <p:blipFill>
          <a:blip r:embed="rId2"/>
          <a:stretch/>
        </p:blipFill>
        <p:spPr>
          <a:xfrm>
            <a:off x="1260360" y="539640"/>
            <a:ext cx="6565320" cy="5691960"/>
          </a:xfrm>
          <a:prstGeom prst="rect">
            <a:avLst/>
          </a:prstGeom>
          <a:noFill/>
          <a:ln w="0">
            <a:noFill/>
          </a:ln>
        </p:spPr>
      </p:pic>
      <p:pic>
        <p:nvPicPr>
          <p:cNvPr id="82" name="Picture 8" descr="fig0601c.gif"/>
          <p:cNvPicPr/>
          <p:nvPr/>
        </p:nvPicPr>
        <p:blipFill>
          <a:blip r:embed="rId3"/>
          <a:stretch/>
        </p:blipFill>
        <p:spPr>
          <a:xfrm>
            <a:off x="1260360" y="539640"/>
            <a:ext cx="6565320" cy="5691960"/>
          </a:xfrm>
          <a:prstGeom prst="rect">
            <a:avLst/>
          </a:prstGeom>
          <a:noFill/>
          <a:ln w="0">
            <a:noFill/>
          </a:ln>
        </p:spPr>
      </p:pic>
      <p:pic>
        <p:nvPicPr>
          <p:cNvPr id="83" name="Picture 9" descr="fig0601d.gif"/>
          <p:cNvPicPr/>
          <p:nvPr/>
        </p:nvPicPr>
        <p:blipFill>
          <a:blip r:embed="rId4"/>
          <a:stretch/>
        </p:blipFill>
        <p:spPr>
          <a:xfrm>
            <a:off x="1260360" y="539640"/>
            <a:ext cx="6565320" cy="5691960"/>
          </a:xfrm>
          <a:prstGeom prst="rect">
            <a:avLst/>
          </a:prstGeom>
          <a:noFill/>
          <a:ln w="0">
            <a:noFill/>
          </a:ln>
        </p:spPr>
      </p:pic>
      <p:pic>
        <p:nvPicPr>
          <p:cNvPr id="84" name="Picture 10" descr="fig0601e.gif"/>
          <p:cNvPicPr/>
          <p:nvPr/>
        </p:nvPicPr>
        <p:blipFill>
          <a:blip r:embed="rId5"/>
          <a:stretch/>
        </p:blipFill>
        <p:spPr>
          <a:xfrm>
            <a:off x="1260360" y="539640"/>
            <a:ext cx="6565320" cy="5691960"/>
          </a:xfrm>
          <a:prstGeom prst="rect">
            <a:avLst/>
          </a:prstGeom>
          <a:noFill/>
          <a:ln w="0">
            <a:noFill/>
          </a:ln>
        </p:spPr>
      </p:pic>
    </p:spTree>
  </p:cSld>
  <p:transition spd="slow">
    <p:wipe dir="r"/>
  </p:transition>
  <p:timing>
    <p:tnLst>
      <p:par>
        <p:cTn id="341" dur="indefinite" restart="never" nodeType="tmRoot">
          <p:childTnLst>
            <p:seq>
              <p:cTn id="342" dur="indefinite" nodeType="mainSeq">
                <p:childTnLst>
                  <p:par>
                    <p:cTn id="343" nodeType="clickEffect" fill="hold">
                      <p:stCondLst>
                        <p:cond delay="indefinite"/>
                      </p:stCondLst>
                      <p:childTnLst>
                        <p:par>
                          <p:cTn id="344" nodeType="withEffect" fill="hold">
                            <p:stCondLst>
                              <p:cond delay="0"/>
                            </p:stCondLst>
                            <p:childTnLst>
                              <p:par>
                                <p:cTn id="345" nodeType="clickEffect" fill="hold" presetClass="entr" presetID="22" presetSubtype="4">
                                  <p:stCondLst>
                                    <p:cond delay="0"/>
                                  </p:stCondLst>
                                  <p:childTnLst>
                                    <p:set>
                                      <p:cBhvr>
                                        <p:cTn id="346" dur="1" fill="hold">
                                          <p:stCondLst>
                                            <p:cond delay="0"/>
                                          </p:stCondLst>
                                        </p:cTn>
                                        <p:tgtEl>
                                          <p:spTgt spid="81"/>
                                        </p:tgtEl>
                                        <p:attrNameLst>
                                          <p:attrName>style.visibility</p:attrName>
                                        </p:attrNameLst>
                                      </p:cBhvr>
                                      <p:to>
                                        <p:strVal val="visible"/>
                                      </p:to>
                                    </p:set>
                                    <p:animEffect filter="wipe(down)" transition="in">
                                      <p:cBhvr additive="repl">
                                        <p:cTn id="347" dur="1000"/>
                                        <p:tgtEl>
                                          <p:spTgt spid="81"/>
                                        </p:tgtEl>
                                      </p:cBhvr>
                                    </p:animEffect>
                                  </p:childTnLst>
                                </p:cTn>
                              </p:par>
                            </p:childTnLst>
                          </p:cTn>
                        </p:par>
                      </p:childTnLst>
                    </p:cTn>
                  </p:par>
                  <p:par>
                    <p:cTn id="348" nodeType="clickEffect" fill="hold">
                      <p:stCondLst>
                        <p:cond delay="indefinite"/>
                      </p:stCondLst>
                      <p:childTnLst>
                        <p:par>
                          <p:cTn id="349" nodeType="withEffect" fill="hold">
                            <p:stCondLst>
                              <p:cond delay="0"/>
                            </p:stCondLst>
                            <p:childTnLst>
                              <p:par>
                                <p:cTn id="350" nodeType="clickEffect" fill="hold" presetClass="entr" presetID="22" presetSubtype="4">
                                  <p:stCondLst>
                                    <p:cond delay="0"/>
                                  </p:stCondLst>
                                  <p:childTnLst>
                                    <p:set>
                                      <p:cBhvr>
                                        <p:cTn id="351" dur="1" fill="hold">
                                          <p:stCondLst>
                                            <p:cond delay="0"/>
                                          </p:stCondLst>
                                        </p:cTn>
                                        <p:tgtEl>
                                          <p:spTgt spid="82"/>
                                        </p:tgtEl>
                                        <p:attrNameLst>
                                          <p:attrName>style.visibility</p:attrName>
                                        </p:attrNameLst>
                                      </p:cBhvr>
                                      <p:to>
                                        <p:strVal val="visible"/>
                                      </p:to>
                                    </p:set>
                                    <p:animEffect filter="wipe(down)" transition="in">
                                      <p:cBhvr additive="repl">
                                        <p:cTn id="352" dur="1000"/>
                                        <p:tgtEl>
                                          <p:spTgt spid="82"/>
                                        </p:tgtEl>
                                      </p:cBhvr>
                                    </p:animEffect>
                                  </p:childTnLst>
                                </p:cTn>
                              </p:par>
                            </p:childTnLst>
                          </p:cTn>
                        </p:par>
                      </p:childTnLst>
                    </p:cTn>
                  </p:par>
                  <p:par>
                    <p:cTn id="353" nodeType="clickEffect" fill="hold">
                      <p:stCondLst>
                        <p:cond delay="indefinite"/>
                      </p:stCondLst>
                      <p:childTnLst>
                        <p:par>
                          <p:cTn id="354" nodeType="withEffect" fill="hold">
                            <p:stCondLst>
                              <p:cond delay="0"/>
                            </p:stCondLst>
                            <p:childTnLst>
                              <p:par>
                                <p:cTn id="355" nodeType="clickEffect" fill="hold" presetClass="entr" presetID="22" presetSubtype="4">
                                  <p:stCondLst>
                                    <p:cond delay="0"/>
                                  </p:stCondLst>
                                  <p:childTnLst>
                                    <p:set>
                                      <p:cBhvr>
                                        <p:cTn id="356" dur="1" fill="hold">
                                          <p:stCondLst>
                                            <p:cond delay="0"/>
                                          </p:stCondLst>
                                        </p:cTn>
                                        <p:tgtEl>
                                          <p:spTgt spid="83"/>
                                        </p:tgtEl>
                                        <p:attrNameLst>
                                          <p:attrName>style.visibility</p:attrName>
                                        </p:attrNameLst>
                                      </p:cBhvr>
                                      <p:to>
                                        <p:strVal val="visible"/>
                                      </p:to>
                                    </p:set>
                                    <p:animEffect filter="wipe(down)" transition="in">
                                      <p:cBhvr additive="repl">
                                        <p:cTn id="357" dur="1000"/>
                                        <p:tgtEl>
                                          <p:spTgt spid="83"/>
                                        </p:tgtEl>
                                      </p:cBhvr>
                                    </p:animEffect>
                                  </p:childTnLst>
                                </p:cTn>
                              </p:par>
                            </p:childTnLst>
                          </p:cTn>
                        </p:par>
                      </p:childTnLst>
                    </p:cTn>
                  </p:par>
                  <p:par>
                    <p:cTn id="358" nodeType="clickEffect" fill="hold">
                      <p:stCondLst>
                        <p:cond delay="indefinite"/>
                      </p:stCondLst>
                      <p:childTnLst>
                        <p:par>
                          <p:cTn id="359" nodeType="withEffect" fill="hold">
                            <p:stCondLst>
                              <p:cond delay="0"/>
                            </p:stCondLst>
                            <p:childTnLst>
                              <p:par>
                                <p:cTn id="360" nodeType="clickEffect" fill="hold" presetClass="entr" presetID="22" presetSubtype="1">
                                  <p:stCondLst>
                                    <p:cond delay="0"/>
                                  </p:stCondLst>
                                  <p:childTnLst>
                                    <p:set>
                                      <p:cBhvr>
                                        <p:cTn id="361" dur="1" fill="hold">
                                          <p:stCondLst>
                                            <p:cond delay="0"/>
                                          </p:stCondLst>
                                        </p:cTn>
                                        <p:tgtEl>
                                          <p:spTgt spid="84"/>
                                        </p:tgtEl>
                                        <p:attrNameLst>
                                          <p:attrName>style.visibility</p:attrName>
                                        </p:attrNameLst>
                                      </p:cBhvr>
                                      <p:to>
                                        <p:strVal val="visible"/>
                                      </p:to>
                                    </p:set>
                                    <p:animEffect filter="wipe(up)" transition="in">
                                      <p:cBhvr additive="repl">
                                        <p:cTn id="362" dur="10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pic>
        <p:nvPicPr>
          <p:cNvPr id="86" name="Picture 7" descr="fig0601a.gif"/>
          <p:cNvPicPr/>
          <p:nvPr/>
        </p:nvPicPr>
        <p:blipFill>
          <a:blip r:embed="rId1"/>
          <a:stretch/>
        </p:blipFill>
        <p:spPr>
          <a:xfrm>
            <a:off x="3240000" y="1440000"/>
            <a:ext cx="5471280" cy="4742640"/>
          </a:xfrm>
          <a:prstGeom prst="rect">
            <a:avLst/>
          </a:prstGeom>
          <a:noFill/>
          <a:ln w="0">
            <a:noFill/>
          </a:ln>
        </p:spPr>
      </p:pic>
      <p:pic>
        <p:nvPicPr>
          <p:cNvPr id="87" name="Picture 8" descr="fig0601b.gif"/>
          <p:cNvPicPr/>
          <p:nvPr/>
        </p:nvPicPr>
        <p:blipFill>
          <a:blip r:embed="rId2"/>
          <a:stretch/>
        </p:blipFill>
        <p:spPr>
          <a:xfrm>
            <a:off x="3240000" y="1440000"/>
            <a:ext cx="5471280" cy="4742640"/>
          </a:xfrm>
          <a:prstGeom prst="rect">
            <a:avLst/>
          </a:prstGeom>
          <a:noFill/>
          <a:ln w="0">
            <a:noFill/>
          </a:ln>
        </p:spPr>
      </p:pic>
      <p:pic>
        <p:nvPicPr>
          <p:cNvPr id="88" name="Picture 9" descr="fig0601c.gif"/>
          <p:cNvPicPr/>
          <p:nvPr/>
        </p:nvPicPr>
        <p:blipFill>
          <a:blip r:embed="rId3"/>
          <a:stretch/>
        </p:blipFill>
        <p:spPr>
          <a:xfrm>
            <a:off x="3240000" y="1440000"/>
            <a:ext cx="5471280" cy="4742640"/>
          </a:xfrm>
          <a:prstGeom prst="rect">
            <a:avLst/>
          </a:prstGeom>
          <a:noFill/>
          <a:ln w="0">
            <a:noFill/>
          </a:ln>
        </p:spPr>
      </p:pic>
      <p:sp>
        <p:nvSpPr>
          <p:cNvPr id="89" name="PlaceHolder 2"/>
          <p:cNvSpPr>
            <a:spLocks noGrp="1"/>
          </p:cNvSpPr>
          <p:nvPr>
            <p:ph/>
          </p:nvPr>
        </p:nvSpPr>
        <p:spPr>
          <a:xfrm>
            <a:off x="360360" y="1440000"/>
            <a:ext cx="44395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 </a:t>
            </a:r>
            <a:r>
              <a:rPr b="0" i="1" lang="en-US" sz="2400" strike="noStrike" u="none">
                <a:solidFill>
                  <a:srgbClr val="000000"/>
                </a:solidFill>
                <a:effectLst/>
                <a:uFillTx/>
                <a:latin typeface="Arial"/>
                <a:ea typeface="ＭＳ Ｐゴシック"/>
              </a:rPr>
              <a:t>B </a:t>
            </a:r>
            <a:r>
              <a:rPr b="0" lang="en-US" sz="2400" strike="noStrike" u="none">
                <a:solidFill>
                  <a:srgbClr val="000000"/>
                </a:solidFill>
                <a:effectLst/>
                <a:uFillTx/>
                <a:latin typeface="Arial"/>
                <a:ea typeface="ＭＳ Ｐゴシック"/>
              </a:rPr>
              <a:t>tells us that if we produce 4,000 pizzas a day,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people are willing to give up 10 units of other goods and services to get one more pizza.</a:t>
            </a:r>
            <a:endParaRPr b="0" lang="en-US" sz="2400" strike="noStrike" u="none">
              <a:solidFill>
                <a:srgbClr val="000000"/>
              </a:solidFill>
              <a:effectLst/>
              <a:uFillTx/>
              <a:latin typeface="Arial"/>
            </a:endParaRPr>
          </a:p>
        </p:txBody>
      </p:sp>
    </p:spTree>
  </p:cSld>
  <p:transition spd="slow">
    <p:wipe dir="r"/>
  </p:transition>
  <p:timing>
    <p:tnLst>
      <p:par>
        <p:cTn id="363" dur="indefinite" restart="never" nodeType="tmRoot">
          <p:childTnLst>
            <p:seq>
              <p:cTn id="364" dur="indefinite" nodeType="mainSeq">
                <p:childTnLst>
                  <p:par>
                    <p:cTn id="365" nodeType="clickEffect" fill="hold">
                      <p:stCondLst>
                        <p:cond delay="0"/>
                      </p:stCondLst>
                      <p:childTnLst>
                        <p:par>
                          <p:cTn id="366" nodeType="withEffect" fill="hold">
                            <p:stCondLst>
                              <p:cond delay="0"/>
                            </p:stCondLst>
                            <p:childTnLst>
                              <p:par>
                                <p:cTn id="367" nodeType="withEffect" fill="hold" presetClass="entr" presetID="22" presetSubtype="4">
                                  <p:stCondLst>
                                    <p:cond delay="0"/>
                                  </p:stCondLst>
                                  <p:childTnLst>
                                    <p:set>
                                      <p:cBhvr>
                                        <p:cTn id="368" dur="1" fill="hold">
                                          <p:stCondLst>
                                            <p:cond delay="0"/>
                                          </p:stCondLst>
                                        </p:cTn>
                                        <p:tgtEl>
                                          <p:spTgt spid="88"/>
                                        </p:tgtEl>
                                        <p:attrNameLst>
                                          <p:attrName>style.visibility</p:attrName>
                                        </p:attrNameLst>
                                      </p:cBhvr>
                                      <p:to>
                                        <p:strVal val="visible"/>
                                      </p:to>
                                    </p:set>
                                    <p:animEffect filter="wipe(down)" transition="in">
                                      <p:cBhvr additive="repl">
                                        <p:cTn id="369" dur="1000"/>
                                        <p:tgtEl>
                                          <p:spTgt spid="88"/>
                                        </p:tgtEl>
                                      </p:cBhvr>
                                    </p:animEffect>
                                  </p:childTnLst>
                                </p:cTn>
                              </p:par>
                            </p:childTnLst>
                          </p:cTn>
                        </p:par>
                      </p:childTnLst>
                    </p:cTn>
                  </p:par>
                  <p:par>
                    <p:cTn id="370" nodeType="clickEffect" fill="hold">
                      <p:stCondLst>
                        <p:cond delay="indefinite"/>
                      </p:stCondLst>
                      <p:childTnLst>
                        <p:par>
                          <p:cTn id="371" nodeType="withEffect" fill="hold">
                            <p:stCondLst>
                              <p:cond delay="0"/>
                            </p:stCondLst>
                            <p:childTnLst>
                              <p:par>
                                <p:cTn id="372" nodeType="clickEffect" fill="hold" presetClass="entr" presetID="22" presetSubtype="8">
                                  <p:stCondLst>
                                    <p:cond delay="0"/>
                                  </p:stCondLst>
                                  <p:childTnLst>
                                    <p:set>
                                      <p:cBhvr>
                                        <p:cTn id="373" dur="1" fill="hold">
                                          <p:stCondLst>
                                            <p:cond delay="0"/>
                                          </p:stCondLst>
                                        </p:cTn>
                                        <p:tgtEl>
                                          <p:spTgt spid="89">
                                            <p:txEl>
                                              <p:pRg st="1" end="1"/>
                                            </p:txEl>
                                          </p:spTgt>
                                        </p:tgtEl>
                                        <p:attrNameLst>
                                          <p:attrName>style.visibility</p:attrName>
                                        </p:attrNameLst>
                                      </p:cBhvr>
                                      <p:to>
                                        <p:strVal val="visible"/>
                                      </p:to>
                                    </p:set>
                                    <p:animEffect filter="wipe(left)" transition="in">
                                      <p:cBhvr additive="repl">
                                        <p:cTn id="374" dur="750"/>
                                        <p:tgtEl>
                                          <p:spTgt spid="89">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pic>
        <p:nvPicPr>
          <p:cNvPr id="91" name="Picture 7" descr="fig0601a.gif"/>
          <p:cNvPicPr/>
          <p:nvPr/>
        </p:nvPicPr>
        <p:blipFill>
          <a:blip r:embed="rId1"/>
          <a:stretch/>
        </p:blipFill>
        <p:spPr>
          <a:xfrm>
            <a:off x="3240000" y="1440000"/>
            <a:ext cx="5471280" cy="4742640"/>
          </a:xfrm>
          <a:prstGeom prst="rect">
            <a:avLst/>
          </a:prstGeom>
          <a:noFill/>
          <a:ln w="0">
            <a:noFill/>
          </a:ln>
        </p:spPr>
      </p:pic>
      <p:pic>
        <p:nvPicPr>
          <p:cNvPr id="92" name="Picture 8" descr="fig0601b.gif"/>
          <p:cNvPicPr/>
          <p:nvPr/>
        </p:nvPicPr>
        <p:blipFill>
          <a:blip r:embed="rId2"/>
          <a:stretch/>
        </p:blipFill>
        <p:spPr>
          <a:xfrm>
            <a:off x="3240000" y="1440000"/>
            <a:ext cx="5471280" cy="4742640"/>
          </a:xfrm>
          <a:prstGeom prst="rect">
            <a:avLst/>
          </a:prstGeom>
          <a:noFill/>
          <a:ln w="0">
            <a:noFill/>
          </a:ln>
        </p:spPr>
      </p:pic>
      <p:pic>
        <p:nvPicPr>
          <p:cNvPr id="93" name="Picture 9" descr="fig0601c.gif"/>
          <p:cNvPicPr/>
          <p:nvPr/>
        </p:nvPicPr>
        <p:blipFill>
          <a:blip r:embed="rId3"/>
          <a:stretch/>
        </p:blipFill>
        <p:spPr>
          <a:xfrm>
            <a:off x="3240000" y="1440000"/>
            <a:ext cx="5471280" cy="4742640"/>
          </a:xfrm>
          <a:prstGeom prst="rect">
            <a:avLst/>
          </a:prstGeom>
          <a:noFill/>
          <a:ln w="0">
            <a:noFill/>
          </a:ln>
        </p:spPr>
      </p:pic>
      <p:pic>
        <p:nvPicPr>
          <p:cNvPr id="94" name="Picture 10" descr="fig0601d.gif"/>
          <p:cNvPicPr/>
          <p:nvPr/>
        </p:nvPicPr>
        <p:blipFill>
          <a:blip r:embed="rId4"/>
          <a:stretch/>
        </p:blipFill>
        <p:spPr>
          <a:xfrm>
            <a:off x="3240000" y="1440000"/>
            <a:ext cx="5471280" cy="4742640"/>
          </a:xfrm>
          <a:prstGeom prst="rect">
            <a:avLst/>
          </a:prstGeom>
          <a:noFill/>
          <a:ln w="0">
            <a:noFill/>
          </a:ln>
        </p:spPr>
      </p:pic>
      <p:pic>
        <p:nvPicPr>
          <p:cNvPr id="95" name="Picture 11" descr="fig0601e.gif"/>
          <p:cNvPicPr/>
          <p:nvPr/>
        </p:nvPicPr>
        <p:blipFill>
          <a:blip r:embed="rId5"/>
          <a:stretch/>
        </p:blipFill>
        <p:spPr>
          <a:xfrm>
            <a:off x="3240000" y="1440000"/>
            <a:ext cx="5471280" cy="4742640"/>
          </a:xfrm>
          <a:prstGeom prst="rect">
            <a:avLst/>
          </a:prstGeom>
          <a:noFill/>
          <a:ln w="0">
            <a:noFill/>
          </a:ln>
        </p:spPr>
      </p:pic>
      <p:sp>
        <p:nvSpPr>
          <p:cNvPr id="96" name="PlaceHolder 2"/>
          <p:cNvSpPr>
            <a:spLocks noGrp="1"/>
          </p:cNvSpPr>
          <p:nvPr>
            <p:ph/>
          </p:nvPr>
        </p:nvSpPr>
        <p:spPr>
          <a:xfrm>
            <a:off x="360360" y="1440000"/>
            <a:ext cx="459180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tells us that if we produce 6,000 pizzas a day,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people are willing to give up 5 units of other goods and services to get one more pizza.</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line through points </a:t>
            </a:r>
            <a:r>
              <a:rPr b="0" i="1" lang="en-US" sz="2400" strike="noStrike" u="none">
                <a:solidFill>
                  <a:srgbClr val="000000"/>
                </a:solidFill>
                <a:effectLst/>
                <a:uFillTx/>
                <a:latin typeface="Arial"/>
                <a:ea typeface="ＭＳ Ｐゴシック"/>
              </a:rPr>
              <a:t>A</a:t>
            </a:r>
            <a:r>
              <a:rPr b="0" lang="en-US" sz="2400" strike="noStrike" u="none">
                <a:solidFill>
                  <a:srgbClr val="000000"/>
                </a:solidFill>
                <a:effectLst/>
                <a:uFillTx/>
                <a:latin typeface="Arial"/>
                <a:ea typeface="ＭＳ Ｐゴシック"/>
              </a:rPr>
              <a:t>, </a:t>
            </a:r>
            <a:r>
              <a:rPr b="0" i="1" lang="en-US" sz="2400" strike="noStrike" u="none">
                <a:solidFill>
                  <a:srgbClr val="000000"/>
                </a:solidFill>
                <a:effectLst/>
                <a:uFillTx/>
                <a:latin typeface="Arial"/>
                <a:ea typeface="ＭＳ Ｐゴシック"/>
              </a:rPr>
              <a:t>B</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is the marginal benefit curve.</a:t>
            </a:r>
            <a:endParaRPr b="0" lang="en-US" sz="2400" strike="noStrike" u="none">
              <a:solidFill>
                <a:srgbClr val="000000"/>
              </a:solidFill>
              <a:effectLst/>
              <a:uFillTx/>
              <a:latin typeface="Arial"/>
            </a:endParaRPr>
          </a:p>
        </p:txBody>
      </p:sp>
    </p:spTree>
  </p:cSld>
  <p:transition spd="slow">
    <p:wipe dir="r"/>
  </p:transition>
  <p:timing>
    <p:tnLst>
      <p:par>
        <p:cTn id="375" dur="indefinite" restart="never" nodeType="tmRoot">
          <p:childTnLst>
            <p:seq>
              <p:cTn id="376" dur="indefinite" nodeType="mainSeq">
                <p:childTnLst>
                  <p:par>
                    <p:cTn id="377" nodeType="clickEffect" fill="hold">
                      <p:stCondLst>
                        <p:cond delay="0"/>
                      </p:stCondLst>
                      <p:childTnLst>
                        <p:par>
                          <p:cTn id="378" nodeType="withEffect" fill="hold">
                            <p:stCondLst>
                              <p:cond delay="0"/>
                            </p:stCondLst>
                            <p:childTnLst>
                              <p:par>
                                <p:cTn id="379" nodeType="withEffect" fill="hold" presetClass="entr" presetID="22" presetSubtype="4">
                                  <p:stCondLst>
                                    <p:cond delay="0"/>
                                  </p:stCondLst>
                                  <p:childTnLst>
                                    <p:set>
                                      <p:cBhvr>
                                        <p:cTn id="380" dur="1" fill="hold">
                                          <p:stCondLst>
                                            <p:cond delay="0"/>
                                          </p:stCondLst>
                                        </p:cTn>
                                        <p:tgtEl>
                                          <p:spTgt spid="94"/>
                                        </p:tgtEl>
                                        <p:attrNameLst>
                                          <p:attrName>style.visibility</p:attrName>
                                        </p:attrNameLst>
                                      </p:cBhvr>
                                      <p:to>
                                        <p:strVal val="visible"/>
                                      </p:to>
                                    </p:set>
                                    <p:animEffect filter="wipe(down)" transition="in">
                                      <p:cBhvr additive="repl">
                                        <p:cTn id="381" dur="1000"/>
                                        <p:tgtEl>
                                          <p:spTgt spid="94"/>
                                        </p:tgtEl>
                                      </p:cBhvr>
                                    </p:animEffect>
                                  </p:childTnLst>
                                </p:cTn>
                              </p:par>
                            </p:childTnLst>
                          </p:cTn>
                        </p:par>
                      </p:childTnLst>
                    </p:cTn>
                  </p:par>
                  <p:par>
                    <p:cTn id="382" nodeType="clickEffect" fill="hold">
                      <p:stCondLst>
                        <p:cond delay="indefinite"/>
                      </p:stCondLst>
                      <p:childTnLst>
                        <p:par>
                          <p:cTn id="383" nodeType="withEffect" fill="hold">
                            <p:stCondLst>
                              <p:cond delay="0"/>
                            </p:stCondLst>
                            <p:childTnLst>
                              <p:par>
                                <p:cTn id="384" nodeType="clickEffect" fill="hold" presetClass="entr" presetID="22" presetSubtype="8">
                                  <p:stCondLst>
                                    <p:cond delay="0"/>
                                  </p:stCondLst>
                                  <p:childTnLst>
                                    <p:set>
                                      <p:cBhvr>
                                        <p:cTn id="385" dur="1" fill="hold">
                                          <p:stCondLst>
                                            <p:cond delay="0"/>
                                          </p:stCondLst>
                                        </p:cTn>
                                        <p:tgtEl>
                                          <p:spTgt spid="96">
                                            <p:txEl>
                                              <p:pRg st="1" end="1"/>
                                            </p:txEl>
                                          </p:spTgt>
                                        </p:tgtEl>
                                        <p:attrNameLst>
                                          <p:attrName>style.visibility</p:attrName>
                                        </p:attrNameLst>
                                      </p:cBhvr>
                                      <p:to>
                                        <p:strVal val="visible"/>
                                      </p:to>
                                    </p:set>
                                    <p:animEffect filter="wipe(left)" transition="in">
                                      <p:cBhvr additive="repl">
                                        <p:cTn id="386" dur="750"/>
                                        <p:tgtEl>
                                          <p:spTgt spid="96">
                                            <p:txEl>
                                              <p:pRg st="1" end="1"/>
                                            </p:txEl>
                                          </p:spTgt>
                                        </p:tgtEl>
                                      </p:cBhvr>
                                    </p:animEffect>
                                  </p:childTnLst>
                                </p:cTn>
                              </p:par>
                            </p:childTnLst>
                          </p:cTn>
                        </p:par>
                      </p:childTnLst>
                    </p:cTn>
                  </p:par>
                  <p:par>
                    <p:cTn id="387" nodeType="clickEffect" fill="hold">
                      <p:stCondLst>
                        <p:cond delay="indefinite"/>
                      </p:stCondLst>
                      <p:childTnLst>
                        <p:par>
                          <p:cTn id="388" nodeType="withEffect" fill="hold">
                            <p:stCondLst>
                              <p:cond delay="0"/>
                            </p:stCondLst>
                            <p:childTnLst>
                              <p:par>
                                <p:cTn id="389" nodeType="clickEffect" fill="hold" presetClass="entr" presetID="22" presetSubtype="8">
                                  <p:stCondLst>
                                    <p:cond delay="0"/>
                                  </p:stCondLst>
                                  <p:childTnLst>
                                    <p:set>
                                      <p:cBhvr>
                                        <p:cTn id="390" dur="1" fill="hold">
                                          <p:stCondLst>
                                            <p:cond delay="0"/>
                                          </p:stCondLst>
                                        </p:cTn>
                                        <p:tgtEl>
                                          <p:spTgt spid="96">
                                            <p:txEl>
                                              <p:pRg st="2" end="2"/>
                                            </p:txEl>
                                          </p:spTgt>
                                        </p:tgtEl>
                                        <p:attrNameLst>
                                          <p:attrName>style.visibility</p:attrName>
                                        </p:attrNameLst>
                                      </p:cBhvr>
                                      <p:to>
                                        <p:strVal val="visible"/>
                                      </p:to>
                                    </p:set>
                                    <p:animEffect filter="wipe(left)" transition="in">
                                      <p:cBhvr additive="repl">
                                        <p:cTn id="391" dur="750"/>
                                        <p:tgtEl>
                                          <p:spTgt spid="96">
                                            <p:txEl>
                                              <p:pRg st="2" end="2"/>
                                            </p:txEl>
                                          </p:spTgt>
                                        </p:tgtEl>
                                      </p:cBhvr>
                                    </p:animEffect>
                                  </p:childTnLst>
                                </p:cTn>
                              </p:par>
                              <p:par>
                                <p:cTn id="392" nodeType="withEffect" fill="hold" presetClass="entr" presetID="22" presetSubtype="1">
                                  <p:stCondLst>
                                    <p:cond delay="0"/>
                                  </p:stCondLst>
                                  <p:childTnLst>
                                    <p:set>
                                      <p:cBhvr>
                                        <p:cTn id="393" dur="1" fill="hold">
                                          <p:stCondLst>
                                            <p:cond delay="0"/>
                                          </p:stCondLst>
                                        </p:cTn>
                                        <p:tgtEl>
                                          <p:spTgt spid="95"/>
                                        </p:tgtEl>
                                        <p:attrNameLst>
                                          <p:attrName>style.visibility</p:attrName>
                                        </p:attrNameLst>
                                      </p:cBhvr>
                                      <p:to>
                                        <p:strVal val="visible"/>
                                      </p:to>
                                    </p:set>
                                    <p:animEffect filter="wipe(up)" transition="in">
                                      <p:cBhvr additive="repl">
                                        <p:cTn id="394" dur="10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98"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Marginal Cost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i="1" lang="en-US" sz="2400" strike="noStrike" u="none">
                <a:solidFill>
                  <a:schemeClr val="dk1"/>
                </a:solidFill>
                <a:effectLst/>
                <a:uFillTx/>
                <a:latin typeface="Arial"/>
                <a:ea typeface="ＭＳ Ｐゴシック"/>
              </a:rPr>
              <a:t>Marginal cost</a:t>
            </a:r>
            <a:r>
              <a:rPr b="0" lang="en-US" sz="2400" strike="noStrike" u="none">
                <a:solidFill>
                  <a:schemeClr val="dk1"/>
                </a:solidFill>
                <a:effectLst/>
                <a:uFillTx/>
                <a:latin typeface="Arial"/>
                <a:ea typeface="ＭＳ Ｐゴシック"/>
              </a:rPr>
              <a:t> is the opportunity cost of producing one more unit of a good or service and is measured by the slope of the </a:t>
            </a:r>
            <a:r>
              <a:rPr b="0" i="1" lang="en-US" sz="2400" strike="noStrike" u="none">
                <a:solidFill>
                  <a:schemeClr val="dk1"/>
                </a:solidFill>
                <a:effectLst/>
                <a:uFillTx/>
                <a:latin typeface="Arial"/>
                <a:ea typeface="ＭＳ Ｐゴシック"/>
              </a:rPr>
              <a:t>PPF</a:t>
            </a: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marginal cost of producing a good increases as more of the good is produced.</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marginal cost curve shows the amount of other goods and services that we must give up to produce one more pizza.</a:t>
            </a:r>
            <a:endParaRPr b="0" lang="en-US" sz="2400" strike="noStrike" u="none">
              <a:solidFill>
                <a:srgbClr val="000000"/>
              </a:solidFill>
              <a:effectLst/>
              <a:uFillTx/>
              <a:latin typeface="Arial"/>
            </a:endParaRPr>
          </a:p>
        </p:txBody>
      </p:sp>
    </p:spTree>
  </p:cSld>
  <p:transition spd="slow">
    <p:wipe dir="r"/>
  </p:transition>
  <p:timing>
    <p:tnLst>
      <p:par>
        <p:cTn id="395" dur="indefinite" restart="never" nodeType="tmRoot">
          <p:childTnLst>
            <p:seq>
              <p:cTn id="396" dur="indefinite" nodeType="mainSeq">
                <p:childTnLst>
                  <p:par>
                    <p:cTn id="397" nodeType="clickEffect" fill="hold">
                      <p:stCondLst>
                        <p:cond delay="indefinite"/>
                      </p:stCondLst>
                      <p:childTnLst>
                        <p:par>
                          <p:cTn id="398" nodeType="withEffect" fill="hold">
                            <p:stCondLst>
                              <p:cond delay="0"/>
                            </p:stCondLst>
                            <p:childTnLst>
                              <p:par>
                                <p:cTn id="399" nodeType="clickEffect" fill="hold" presetClass="entr" presetID="22" presetSubtype="8">
                                  <p:stCondLst>
                                    <p:cond delay="0"/>
                                  </p:stCondLst>
                                  <p:childTnLst>
                                    <p:set>
                                      <p:cBhvr>
                                        <p:cTn id="400" dur="1" fill="hold">
                                          <p:stCondLst>
                                            <p:cond delay="0"/>
                                          </p:stCondLst>
                                        </p:cTn>
                                        <p:tgtEl>
                                          <p:spTgt spid="98">
                                            <p:txEl>
                                              <p:pRg st="1" end="1"/>
                                            </p:txEl>
                                          </p:spTgt>
                                        </p:tgtEl>
                                        <p:attrNameLst>
                                          <p:attrName>style.visibility</p:attrName>
                                        </p:attrNameLst>
                                      </p:cBhvr>
                                      <p:to>
                                        <p:strVal val="visible"/>
                                      </p:to>
                                    </p:set>
                                    <p:animEffect filter="wipe(left)" transition="in">
                                      <p:cBhvr additive="repl">
                                        <p:cTn id="401" dur="750"/>
                                        <p:tgtEl>
                                          <p:spTgt spid="98">
                                            <p:txEl>
                                              <p:pRg st="1" end="1"/>
                                            </p:txEl>
                                          </p:spTgt>
                                        </p:tgtEl>
                                      </p:cBhvr>
                                    </p:animEffect>
                                  </p:childTnLst>
                                </p:cTn>
                              </p:par>
                            </p:childTnLst>
                          </p:cTn>
                        </p:par>
                      </p:childTnLst>
                    </p:cTn>
                  </p:par>
                  <p:par>
                    <p:cTn id="402" nodeType="clickEffect" fill="hold">
                      <p:stCondLst>
                        <p:cond delay="indefinite"/>
                      </p:stCondLst>
                      <p:childTnLst>
                        <p:par>
                          <p:cTn id="403" nodeType="withEffect" fill="hold">
                            <p:stCondLst>
                              <p:cond delay="0"/>
                            </p:stCondLst>
                            <p:childTnLst>
                              <p:par>
                                <p:cTn id="404" nodeType="clickEffect" fill="hold" presetClass="entr" presetID="22" presetSubtype="8">
                                  <p:stCondLst>
                                    <p:cond delay="0"/>
                                  </p:stCondLst>
                                  <p:childTnLst>
                                    <p:set>
                                      <p:cBhvr>
                                        <p:cTn id="405" dur="1" fill="hold">
                                          <p:stCondLst>
                                            <p:cond delay="0"/>
                                          </p:stCondLst>
                                        </p:cTn>
                                        <p:tgtEl>
                                          <p:spTgt spid="98">
                                            <p:txEl>
                                              <p:pRg st="2" end="2"/>
                                            </p:txEl>
                                          </p:spTgt>
                                        </p:tgtEl>
                                        <p:attrNameLst>
                                          <p:attrName>style.visibility</p:attrName>
                                        </p:attrNameLst>
                                      </p:cBhvr>
                                      <p:to>
                                        <p:strVal val="visible"/>
                                      </p:to>
                                    </p:set>
                                    <p:animEffect filter="wipe(left)" transition="in">
                                      <p:cBhvr additive="repl">
                                        <p:cTn id="406" dur="750"/>
                                        <p:tgtEl>
                                          <p:spTgt spid="98">
                                            <p:txEl>
                                              <p:pRg st="2" end="2"/>
                                            </p:txEl>
                                          </p:spTgt>
                                        </p:tgtEl>
                                      </p:cBhvr>
                                    </p:animEffect>
                                  </p:childTnLst>
                                </p:cTn>
                              </p:par>
                            </p:childTnLst>
                          </p:cTn>
                        </p:par>
                      </p:childTnLst>
                    </p:cTn>
                  </p:par>
                  <p:par>
                    <p:cTn id="407" nodeType="clickEffect" fill="hold">
                      <p:stCondLst>
                        <p:cond delay="indefinite"/>
                      </p:stCondLst>
                      <p:childTnLst>
                        <p:par>
                          <p:cTn id="408" nodeType="withEffect" fill="hold">
                            <p:stCondLst>
                              <p:cond delay="0"/>
                            </p:stCondLst>
                            <p:childTnLst>
                              <p:par>
                                <p:cTn id="409" nodeType="clickEffect" fill="hold" presetClass="entr" presetID="22" presetSubtype="8">
                                  <p:stCondLst>
                                    <p:cond delay="0"/>
                                  </p:stCondLst>
                                  <p:childTnLst>
                                    <p:set>
                                      <p:cBhvr>
                                        <p:cTn id="410" dur="1" fill="hold">
                                          <p:stCondLst>
                                            <p:cond delay="0"/>
                                          </p:stCondLst>
                                        </p:cTn>
                                        <p:tgtEl>
                                          <p:spTgt spid="98">
                                            <p:txEl>
                                              <p:pRg st="3" end="3"/>
                                            </p:txEl>
                                          </p:spTgt>
                                        </p:tgtEl>
                                        <p:attrNameLst>
                                          <p:attrName>style.visibility</p:attrName>
                                        </p:attrNameLst>
                                      </p:cBhvr>
                                      <p:to>
                                        <p:strVal val="visible"/>
                                      </p:to>
                                    </p:set>
                                    <p:animEffect filter="wipe(left)" transition="in">
                                      <p:cBhvr additive="repl">
                                        <p:cTn id="411" dur="750"/>
                                        <p:tgtEl>
                                          <p:spTgt spid="9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pic>
        <p:nvPicPr>
          <p:cNvPr id="100" name="Picture 7" descr="fig0602a.gif"/>
          <p:cNvPicPr/>
          <p:nvPr/>
        </p:nvPicPr>
        <p:blipFill>
          <a:blip r:embed="rId1"/>
          <a:stretch/>
        </p:blipFill>
        <p:spPr>
          <a:xfrm>
            <a:off x="3240000" y="1440000"/>
            <a:ext cx="5506200" cy="4742640"/>
          </a:xfrm>
          <a:prstGeom prst="rect">
            <a:avLst/>
          </a:prstGeom>
          <a:noFill/>
          <a:ln w="0">
            <a:noFill/>
          </a:ln>
        </p:spPr>
      </p:pic>
      <p:pic>
        <p:nvPicPr>
          <p:cNvPr id="101" name="Picture 8" descr="fig0602b.gif"/>
          <p:cNvPicPr/>
          <p:nvPr/>
        </p:nvPicPr>
        <p:blipFill>
          <a:blip r:embed="rId2"/>
          <a:stretch/>
        </p:blipFill>
        <p:spPr>
          <a:xfrm>
            <a:off x="3240000" y="1440000"/>
            <a:ext cx="5506200" cy="4742640"/>
          </a:xfrm>
          <a:prstGeom prst="rect">
            <a:avLst/>
          </a:prstGeom>
          <a:noFill/>
          <a:ln w="0">
            <a:noFill/>
          </a:ln>
        </p:spPr>
      </p:pic>
      <p:sp>
        <p:nvSpPr>
          <p:cNvPr id="102" name="PlaceHolder 2"/>
          <p:cNvSpPr>
            <a:spLocks noGrp="1"/>
          </p:cNvSpPr>
          <p:nvPr>
            <p:ph/>
          </p:nvPr>
        </p:nvSpPr>
        <p:spPr>
          <a:xfrm>
            <a:off x="360360" y="1440000"/>
            <a:ext cx="45158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Possibility </a:t>
            </a:r>
            <a:r>
              <a:rPr b="0" i="1" lang="en-US" sz="2400" strike="noStrike" u="none">
                <a:solidFill>
                  <a:srgbClr val="000000"/>
                </a:solidFill>
                <a:effectLst/>
                <a:uFillTx/>
                <a:latin typeface="Arial"/>
                <a:ea typeface="ＭＳ Ｐゴシック"/>
              </a:rPr>
              <a:t>A</a:t>
            </a:r>
            <a:r>
              <a:rPr b="0" lang="en-US" sz="2400" strike="noStrike" u="none">
                <a:solidFill>
                  <a:srgbClr val="000000"/>
                </a:solidFill>
                <a:effectLst/>
                <a:uFillTx/>
                <a:latin typeface="Arial"/>
                <a:ea typeface="ＭＳ Ｐゴシック"/>
              </a:rPr>
              <a:t> and point </a:t>
            </a:r>
            <a:r>
              <a:rPr b="0" i="1" lang="en-US" sz="2400" strike="noStrike" u="none">
                <a:solidFill>
                  <a:srgbClr val="000000"/>
                </a:solidFill>
                <a:effectLst/>
                <a:uFillTx/>
                <a:latin typeface="Arial"/>
                <a:ea typeface="ＭＳ Ｐゴシック"/>
              </a:rPr>
              <a:t>A</a:t>
            </a:r>
            <a:r>
              <a:rPr b="0" lang="en-US" sz="2400" strike="noStrike" u="none">
                <a:solidFill>
                  <a:srgbClr val="000000"/>
                </a:solidFill>
                <a:effectLst/>
                <a:uFillTx/>
                <a:latin typeface="Arial"/>
                <a:ea typeface="ＭＳ Ｐゴシック"/>
              </a:rPr>
              <a:t> tell us that if we produce 2,000 pizzas a day, </a:t>
            </a:r>
            <a:endParaRPr b="0" lang="en-US" sz="2400" strike="noStrike" u="none">
              <a:solidFill>
                <a:srgbClr val="000000"/>
              </a:solidFill>
              <a:effectLst/>
              <a:uFillTx/>
              <a:latin typeface="Arial"/>
            </a:endParaRPr>
          </a:p>
          <a:p>
            <a:pPr marL="360000" indent="0">
              <a:lnSpc>
                <a:spcPct val="100000"/>
              </a:lnSpc>
              <a:spcAft>
                <a:spcPts val="601"/>
              </a:spcAft>
              <a:buNone/>
              <a:tabLst>
                <a:tab algn="l" pos="0"/>
              </a:tabLst>
            </a:pPr>
            <a:r>
              <a:rPr b="0" lang="en-US" sz="2400" strike="noStrike" u="none">
                <a:solidFill>
                  <a:srgbClr val="000000"/>
                </a:solidFill>
                <a:effectLst/>
                <a:uFillTx/>
                <a:latin typeface="Arial"/>
                <a:ea typeface="ＭＳ Ｐゴシック"/>
              </a:rPr>
              <a:t>we must give up 5 units of other goods and services to produce one more pizza.</a:t>
            </a:r>
            <a:endParaRPr b="0" lang="en-US" sz="2400" strike="noStrike" u="none">
              <a:solidFill>
                <a:srgbClr val="000000"/>
              </a:solidFill>
              <a:effectLst/>
              <a:uFillTx/>
              <a:latin typeface="Arial"/>
            </a:endParaRPr>
          </a:p>
        </p:txBody>
      </p:sp>
    </p:spTree>
  </p:cSld>
  <p:transition spd="slow">
    <p:wipe dir="r"/>
  </p:transition>
  <p:timing>
    <p:tnLst>
      <p:par>
        <p:cTn id="412" dur="indefinite" restart="never" nodeType="tmRoot">
          <p:childTnLst>
            <p:seq>
              <p:cTn id="413" dur="indefinite" nodeType="mainSeq">
                <p:childTnLst>
                  <p:par>
                    <p:cTn id="414" nodeType="clickEffect" fill="hold">
                      <p:stCondLst>
                        <p:cond delay="0"/>
                      </p:stCondLst>
                      <p:childTnLst>
                        <p:par>
                          <p:cTn id="415" nodeType="withEffect" fill="hold">
                            <p:stCondLst>
                              <p:cond delay="0"/>
                            </p:stCondLst>
                            <p:childTnLst>
                              <p:par>
                                <p:cTn id="416" nodeType="withEffect" fill="hold" presetClass="entr" presetID="22" presetSubtype="4">
                                  <p:stCondLst>
                                    <p:cond delay="0"/>
                                  </p:stCondLst>
                                  <p:childTnLst>
                                    <p:set>
                                      <p:cBhvr>
                                        <p:cTn id="417" dur="1" fill="hold">
                                          <p:stCondLst>
                                            <p:cond delay="0"/>
                                          </p:stCondLst>
                                        </p:cTn>
                                        <p:tgtEl>
                                          <p:spTgt spid="101"/>
                                        </p:tgtEl>
                                        <p:attrNameLst>
                                          <p:attrName>style.visibility</p:attrName>
                                        </p:attrNameLst>
                                      </p:cBhvr>
                                      <p:to>
                                        <p:strVal val="visible"/>
                                      </p:to>
                                    </p:set>
                                    <p:animEffect filter="wipe(down)" transition="in">
                                      <p:cBhvr additive="repl">
                                        <p:cTn id="418" dur="1000"/>
                                        <p:tgtEl>
                                          <p:spTgt spid="101"/>
                                        </p:tgtEl>
                                      </p:cBhvr>
                                    </p:animEffect>
                                  </p:childTnLst>
                                </p:cTn>
                              </p:par>
                            </p:childTnLst>
                          </p:cTn>
                        </p:par>
                      </p:childTnLst>
                    </p:cTn>
                  </p:par>
                  <p:par>
                    <p:cTn id="419" nodeType="clickEffect" fill="hold">
                      <p:stCondLst>
                        <p:cond delay="indefinite"/>
                      </p:stCondLst>
                      <p:childTnLst>
                        <p:par>
                          <p:cTn id="420" nodeType="withEffect" fill="hold">
                            <p:stCondLst>
                              <p:cond delay="0"/>
                            </p:stCondLst>
                            <p:childTnLst>
                              <p:par>
                                <p:cTn id="421" nodeType="clickEffect" fill="hold" presetClass="entr" presetID="22" presetSubtype="8">
                                  <p:stCondLst>
                                    <p:cond delay="0"/>
                                  </p:stCondLst>
                                  <p:childTnLst>
                                    <p:set>
                                      <p:cBhvr>
                                        <p:cTn id="422" dur="1" fill="hold">
                                          <p:stCondLst>
                                            <p:cond delay="0"/>
                                          </p:stCondLst>
                                        </p:cTn>
                                        <p:tgtEl>
                                          <p:spTgt spid="102">
                                            <p:txEl>
                                              <p:pRg st="1" end="1"/>
                                            </p:txEl>
                                          </p:spTgt>
                                        </p:tgtEl>
                                        <p:attrNameLst>
                                          <p:attrName>style.visibility</p:attrName>
                                        </p:attrNameLst>
                                      </p:cBhvr>
                                      <p:to>
                                        <p:strVal val="visible"/>
                                      </p:to>
                                    </p:set>
                                    <p:animEffect filter="wipe(left)" transition="in">
                                      <p:cBhvr additive="repl">
                                        <p:cTn id="423" dur="750"/>
                                        <p:tgtEl>
                                          <p:spTgt spid="102">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03" name="Picture 11" descr="fig0602a.gif"/>
          <p:cNvPicPr/>
          <p:nvPr/>
        </p:nvPicPr>
        <p:blipFill>
          <a:blip r:embed="rId1"/>
          <a:stretch/>
        </p:blipFill>
        <p:spPr>
          <a:xfrm>
            <a:off x="1260360" y="539640"/>
            <a:ext cx="6608160" cy="5691960"/>
          </a:xfrm>
          <a:prstGeom prst="rect">
            <a:avLst/>
          </a:prstGeom>
          <a:noFill/>
          <a:ln w="0">
            <a:noFill/>
          </a:ln>
        </p:spPr>
      </p:pic>
      <p:pic>
        <p:nvPicPr>
          <p:cNvPr id="104" name="Picture 12" descr="fig0602b.gif"/>
          <p:cNvPicPr/>
          <p:nvPr/>
        </p:nvPicPr>
        <p:blipFill>
          <a:blip r:embed="rId2"/>
          <a:stretch/>
        </p:blipFill>
        <p:spPr>
          <a:xfrm>
            <a:off x="1260360" y="539640"/>
            <a:ext cx="6608160" cy="5691960"/>
          </a:xfrm>
          <a:prstGeom prst="rect">
            <a:avLst/>
          </a:prstGeom>
          <a:noFill/>
          <a:ln w="0">
            <a:noFill/>
          </a:ln>
        </p:spPr>
      </p:pic>
      <p:pic>
        <p:nvPicPr>
          <p:cNvPr id="105" name="Picture 13" descr="fig0602c.gif"/>
          <p:cNvPicPr/>
          <p:nvPr/>
        </p:nvPicPr>
        <p:blipFill>
          <a:blip r:embed="rId3"/>
          <a:stretch/>
        </p:blipFill>
        <p:spPr>
          <a:xfrm>
            <a:off x="1260360" y="539640"/>
            <a:ext cx="6608160" cy="5691960"/>
          </a:xfrm>
          <a:prstGeom prst="rect">
            <a:avLst/>
          </a:prstGeom>
          <a:noFill/>
          <a:ln w="0">
            <a:noFill/>
          </a:ln>
        </p:spPr>
      </p:pic>
      <p:pic>
        <p:nvPicPr>
          <p:cNvPr id="106" name="Picture 14" descr="fig0602d.gif"/>
          <p:cNvPicPr/>
          <p:nvPr/>
        </p:nvPicPr>
        <p:blipFill>
          <a:blip r:embed="rId4"/>
          <a:stretch/>
        </p:blipFill>
        <p:spPr>
          <a:xfrm>
            <a:off x="1260360" y="539640"/>
            <a:ext cx="6608160" cy="5691960"/>
          </a:xfrm>
          <a:prstGeom prst="rect">
            <a:avLst/>
          </a:prstGeom>
          <a:noFill/>
          <a:ln w="0">
            <a:noFill/>
          </a:ln>
        </p:spPr>
      </p:pic>
      <p:pic>
        <p:nvPicPr>
          <p:cNvPr id="107" name="Picture 15" descr="fig0602e.gif"/>
          <p:cNvPicPr/>
          <p:nvPr/>
        </p:nvPicPr>
        <p:blipFill>
          <a:blip r:embed="rId5"/>
          <a:stretch/>
        </p:blipFill>
        <p:spPr>
          <a:xfrm>
            <a:off x="1260360" y="539640"/>
            <a:ext cx="6608160" cy="5691960"/>
          </a:xfrm>
          <a:prstGeom prst="rect">
            <a:avLst/>
          </a:prstGeom>
          <a:noFill/>
          <a:ln w="0">
            <a:noFill/>
          </a:ln>
        </p:spPr>
      </p:pic>
    </p:spTree>
  </p:cSld>
  <p:transition spd="slow">
    <p:wipe dir="r"/>
  </p:transition>
  <p:timing>
    <p:tnLst>
      <p:par>
        <p:cTn id="424" dur="indefinite" restart="never" nodeType="tmRoot">
          <p:childTnLst>
            <p:seq>
              <p:cTn id="425" dur="indefinite" nodeType="mainSeq">
                <p:childTnLst>
                  <p:par>
                    <p:cTn id="426" nodeType="clickEffect" fill="hold">
                      <p:stCondLst>
                        <p:cond delay="indefinite"/>
                      </p:stCondLst>
                      <p:childTnLst>
                        <p:par>
                          <p:cTn id="427" nodeType="withEffect" fill="hold">
                            <p:stCondLst>
                              <p:cond delay="0"/>
                            </p:stCondLst>
                            <p:childTnLst>
                              <p:par>
                                <p:cTn id="428" nodeType="clickEffect" fill="hold" presetClass="entr" presetID="22" presetSubtype="4">
                                  <p:stCondLst>
                                    <p:cond delay="0"/>
                                  </p:stCondLst>
                                  <p:childTnLst>
                                    <p:set>
                                      <p:cBhvr>
                                        <p:cTn id="429" dur="1" fill="hold">
                                          <p:stCondLst>
                                            <p:cond delay="0"/>
                                          </p:stCondLst>
                                        </p:cTn>
                                        <p:tgtEl>
                                          <p:spTgt spid="104"/>
                                        </p:tgtEl>
                                        <p:attrNameLst>
                                          <p:attrName>style.visibility</p:attrName>
                                        </p:attrNameLst>
                                      </p:cBhvr>
                                      <p:to>
                                        <p:strVal val="visible"/>
                                      </p:to>
                                    </p:set>
                                    <p:animEffect filter="wipe(down)" transition="in">
                                      <p:cBhvr additive="repl">
                                        <p:cTn id="430" dur="1000"/>
                                        <p:tgtEl>
                                          <p:spTgt spid="104"/>
                                        </p:tgtEl>
                                      </p:cBhvr>
                                    </p:animEffect>
                                  </p:childTnLst>
                                </p:cTn>
                              </p:par>
                            </p:childTnLst>
                          </p:cTn>
                        </p:par>
                      </p:childTnLst>
                    </p:cTn>
                  </p:par>
                  <p:par>
                    <p:cTn id="431" nodeType="clickEffect" fill="hold">
                      <p:stCondLst>
                        <p:cond delay="indefinite"/>
                      </p:stCondLst>
                      <p:childTnLst>
                        <p:par>
                          <p:cTn id="432" nodeType="withEffect" fill="hold">
                            <p:stCondLst>
                              <p:cond delay="0"/>
                            </p:stCondLst>
                            <p:childTnLst>
                              <p:par>
                                <p:cTn id="433" nodeType="clickEffect" fill="hold" presetClass="entr" presetID="22" presetSubtype="4">
                                  <p:stCondLst>
                                    <p:cond delay="0"/>
                                  </p:stCondLst>
                                  <p:childTnLst>
                                    <p:set>
                                      <p:cBhvr>
                                        <p:cTn id="434" dur="1" fill="hold">
                                          <p:stCondLst>
                                            <p:cond delay="0"/>
                                          </p:stCondLst>
                                        </p:cTn>
                                        <p:tgtEl>
                                          <p:spTgt spid="105"/>
                                        </p:tgtEl>
                                        <p:attrNameLst>
                                          <p:attrName>style.visibility</p:attrName>
                                        </p:attrNameLst>
                                      </p:cBhvr>
                                      <p:to>
                                        <p:strVal val="visible"/>
                                      </p:to>
                                    </p:set>
                                    <p:animEffect filter="wipe(down)" transition="in">
                                      <p:cBhvr additive="repl">
                                        <p:cTn id="435" dur="1000"/>
                                        <p:tgtEl>
                                          <p:spTgt spid="105"/>
                                        </p:tgtEl>
                                      </p:cBhvr>
                                    </p:animEffect>
                                  </p:childTnLst>
                                </p:cTn>
                              </p:par>
                            </p:childTnLst>
                          </p:cTn>
                        </p:par>
                      </p:childTnLst>
                    </p:cTn>
                  </p:par>
                  <p:par>
                    <p:cTn id="436" nodeType="clickEffect" fill="hold">
                      <p:stCondLst>
                        <p:cond delay="indefinite"/>
                      </p:stCondLst>
                      <p:childTnLst>
                        <p:par>
                          <p:cTn id="437" nodeType="withEffect" fill="hold">
                            <p:stCondLst>
                              <p:cond delay="0"/>
                            </p:stCondLst>
                            <p:childTnLst>
                              <p:par>
                                <p:cTn id="438" nodeType="clickEffect" fill="hold" presetClass="entr" presetID="22" presetSubtype="4">
                                  <p:stCondLst>
                                    <p:cond delay="0"/>
                                  </p:stCondLst>
                                  <p:childTnLst>
                                    <p:set>
                                      <p:cBhvr>
                                        <p:cTn id="439" dur="1" fill="hold">
                                          <p:stCondLst>
                                            <p:cond delay="0"/>
                                          </p:stCondLst>
                                        </p:cTn>
                                        <p:tgtEl>
                                          <p:spTgt spid="106"/>
                                        </p:tgtEl>
                                        <p:attrNameLst>
                                          <p:attrName>style.visibility</p:attrName>
                                        </p:attrNameLst>
                                      </p:cBhvr>
                                      <p:to>
                                        <p:strVal val="visible"/>
                                      </p:to>
                                    </p:set>
                                    <p:animEffect filter="wipe(down)" transition="in">
                                      <p:cBhvr additive="repl">
                                        <p:cTn id="440" dur="1000"/>
                                        <p:tgtEl>
                                          <p:spTgt spid="106"/>
                                        </p:tgtEl>
                                      </p:cBhvr>
                                    </p:animEffect>
                                  </p:childTnLst>
                                </p:cTn>
                              </p:par>
                            </p:childTnLst>
                          </p:cTn>
                        </p:par>
                      </p:childTnLst>
                    </p:cTn>
                  </p:par>
                  <p:par>
                    <p:cTn id="441" nodeType="clickEffect" fill="hold">
                      <p:stCondLst>
                        <p:cond delay="indefinite"/>
                      </p:stCondLst>
                      <p:childTnLst>
                        <p:par>
                          <p:cTn id="442" nodeType="withEffect" fill="hold">
                            <p:stCondLst>
                              <p:cond delay="0"/>
                            </p:stCondLst>
                            <p:childTnLst>
                              <p:par>
                                <p:cTn id="443" nodeType="clickEffect" fill="hold" presetClass="entr" presetID="22" presetSubtype="4">
                                  <p:stCondLst>
                                    <p:cond delay="0"/>
                                  </p:stCondLst>
                                  <p:childTnLst>
                                    <p:set>
                                      <p:cBhvr>
                                        <p:cTn id="444" dur="1" fill="hold">
                                          <p:stCondLst>
                                            <p:cond delay="0"/>
                                          </p:stCondLst>
                                        </p:cTn>
                                        <p:tgtEl>
                                          <p:spTgt spid="107"/>
                                        </p:tgtEl>
                                        <p:attrNameLst>
                                          <p:attrName>style.visibility</p:attrName>
                                        </p:attrNameLst>
                                      </p:cBhvr>
                                      <p:to>
                                        <p:strVal val="visible"/>
                                      </p:to>
                                    </p:set>
                                    <p:animEffect filter="wipe(down)" transition="in">
                                      <p:cBhvr additive="repl">
                                        <p:cTn id="445" dur="10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pic>
        <p:nvPicPr>
          <p:cNvPr id="109" name="Picture 7" descr="fig0602a.gif"/>
          <p:cNvPicPr/>
          <p:nvPr/>
        </p:nvPicPr>
        <p:blipFill>
          <a:blip r:embed="rId1"/>
          <a:stretch/>
        </p:blipFill>
        <p:spPr>
          <a:xfrm>
            <a:off x="3240000" y="1440000"/>
            <a:ext cx="5506200" cy="4742640"/>
          </a:xfrm>
          <a:prstGeom prst="rect">
            <a:avLst/>
          </a:prstGeom>
          <a:noFill/>
          <a:ln w="0">
            <a:noFill/>
          </a:ln>
        </p:spPr>
      </p:pic>
      <p:pic>
        <p:nvPicPr>
          <p:cNvPr id="110" name="Picture 8" descr="fig0602b.gif"/>
          <p:cNvPicPr/>
          <p:nvPr/>
        </p:nvPicPr>
        <p:blipFill>
          <a:blip r:embed="rId2"/>
          <a:stretch/>
        </p:blipFill>
        <p:spPr>
          <a:xfrm>
            <a:off x="3240000" y="1440000"/>
            <a:ext cx="5506200" cy="4742640"/>
          </a:xfrm>
          <a:prstGeom prst="rect">
            <a:avLst/>
          </a:prstGeom>
          <a:noFill/>
          <a:ln w="0">
            <a:noFill/>
          </a:ln>
        </p:spPr>
      </p:pic>
      <p:pic>
        <p:nvPicPr>
          <p:cNvPr id="111" name="Picture 9" descr="fig0602c.gif"/>
          <p:cNvPicPr/>
          <p:nvPr/>
        </p:nvPicPr>
        <p:blipFill>
          <a:blip r:embed="rId3"/>
          <a:stretch/>
        </p:blipFill>
        <p:spPr>
          <a:xfrm>
            <a:off x="3240000" y="1440000"/>
            <a:ext cx="5506200" cy="4742640"/>
          </a:xfrm>
          <a:prstGeom prst="rect">
            <a:avLst/>
          </a:prstGeom>
          <a:noFill/>
          <a:ln w="0">
            <a:noFill/>
          </a:ln>
        </p:spPr>
      </p:pic>
      <p:sp>
        <p:nvSpPr>
          <p:cNvPr id="112" name="PlaceHolder 2"/>
          <p:cNvSpPr>
            <a:spLocks noGrp="1"/>
          </p:cNvSpPr>
          <p:nvPr>
            <p:ph/>
          </p:nvPr>
        </p:nvSpPr>
        <p:spPr>
          <a:xfrm>
            <a:off x="360360" y="1440000"/>
            <a:ext cx="482040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 </a:t>
            </a:r>
            <a:r>
              <a:rPr b="0" i="1" lang="en-US" sz="2400" strike="noStrike" u="none">
                <a:solidFill>
                  <a:srgbClr val="000000"/>
                </a:solidFill>
                <a:effectLst/>
                <a:uFillTx/>
                <a:latin typeface="Arial"/>
                <a:ea typeface="ＭＳ Ｐゴシック"/>
              </a:rPr>
              <a:t>B</a:t>
            </a:r>
            <a:r>
              <a:rPr b="0" lang="en-US" sz="2400" strike="noStrike" u="none">
                <a:solidFill>
                  <a:srgbClr val="000000"/>
                </a:solidFill>
                <a:effectLst/>
                <a:uFillTx/>
                <a:latin typeface="Arial"/>
                <a:ea typeface="ＭＳ Ｐゴシック"/>
              </a:rPr>
              <a:t> tells us that if we produce 4,000 pizzas a day, </a:t>
            </a:r>
            <a:endParaRPr b="0" lang="en-US" sz="2400" strike="noStrike" u="none">
              <a:solidFill>
                <a:srgbClr val="000000"/>
              </a:solidFill>
              <a:effectLst/>
              <a:uFillTx/>
              <a:latin typeface="Arial"/>
            </a:endParaRPr>
          </a:p>
          <a:p>
            <a:pPr marL="360000" indent="0">
              <a:lnSpc>
                <a:spcPct val="100000"/>
              </a:lnSpc>
              <a:spcAft>
                <a:spcPts val="601"/>
              </a:spcAft>
              <a:buNone/>
              <a:tabLst>
                <a:tab algn="l" pos="0"/>
              </a:tabLst>
            </a:pPr>
            <a:r>
              <a:rPr b="0" lang="en-US" sz="2400" strike="noStrike" u="none">
                <a:solidFill>
                  <a:srgbClr val="000000"/>
                </a:solidFill>
                <a:effectLst/>
                <a:uFillTx/>
                <a:latin typeface="Arial"/>
                <a:ea typeface="ＭＳ Ｐゴシック"/>
              </a:rPr>
              <a:t>we must give up 10 units of other goods and services to produce one more pizza.</a:t>
            </a:r>
            <a:endParaRPr b="0" lang="en-US" sz="2400" strike="noStrike" u="none">
              <a:solidFill>
                <a:srgbClr val="000000"/>
              </a:solidFill>
              <a:effectLst/>
              <a:uFillTx/>
              <a:latin typeface="Arial"/>
            </a:endParaRPr>
          </a:p>
        </p:txBody>
      </p:sp>
    </p:spTree>
  </p:cSld>
  <p:transition spd="slow">
    <p:wipe dir="r"/>
  </p:transition>
  <p:timing>
    <p:tnLst>
      <p:par>
        <p:cTn id="446" dur="indefinite" restart="never" nodeType="tmRoot">
          <p:childTnLst>
            <p:seq>
              <p:cTn id="447" dur="indefinite" nodeType="mainSeq">
                <p:childTnLst>
                  <p:par>
                    <p:cTn id="448" nodeType="clickEffect" fill="hold">
                      <p:stCondLst>
                        <p:cond delay="0"/>
                      </p:stCondLst>
                      <p:childTnLst>
                        <p:par>
                          <p:cTn id="449" nodeType="withEffect" fill="hold">
                            <p:stCondLst>
                              <p:cond delay="0"/>
                            </p:stCondLst>
                            <p:childTnLst>
                              <p:par>
                                <p:cTn id="450" nodeType="withEffect" fill="hold" presetClass="entr" presetID="22" presetSubtype="4">
                                  <p:stCondLst>
                                    <p:cond delay="0"/>
                                  </p:stCondLst>
                                  <p:childTnLst>
                                    <p:set>
                                      <p:cBhvr>
                                        <p:cTn id="451" dur="1" fill="hold">
                                          <p:stCondLst>
                                            <p:cond delay="0"/>
                                          </p:stCondLst>
                                        </p:cTn>
                                        <p:tgtEl>
                                          <p:spTgt spid="111"/>
                                        </p:tgtEl>
                                        <p:attrNameLst>
                                          <p:attrName>style.visibility</p:attrName>
                                        </p:attrNameLst>
                                      </p:cBhvr>
                                      <p:to>
                                        <p:strVal val="visible"/>
                                      </p:to>
                                    </p:set>
                                    <p:animEffect filter="wipe(down)" transition="in">
                                      <p:cBhvr additive="repl">
                                        <p:cTn id="452" dur="1000"/>
                                        <p:tgtEl>
                                          <p:spTgt spid="111"/>
                                        </p:tgtEl>
                                      </p:cBhvr>
                                    </p:animEffect>
                                  </p:childTnLst>
                                </p:cTn>
                              </p:par>
                            </p:childTnLst>
                          </p:cTn>
                        </p:par>
                      </p:childTnLst>
                    </p:cTn>
                  </p:par>
                  <p:par>
                    <p:cTn id="453" nodeType="clickEffect" fill="hold">
                      <p:stCondLst>
                        <p:cond delay="indefinite"/>
                      </p:stCondLst>
                      <p:childTnLst>
                        <p:par>
                          <p:cTn id="454" nodeType="withEffect" fill="hold">
                            <p:stCondLst>
                              <p:cond delay="0"/>
                            </p:stCondLst>
                            <p:childTnLst>
                              <p:par>
                                <p:cTn id="455" nodeType="clickEffect" fill="hold" presetClass="entr" presetID="22" presetSubtype="8">
                                  <p:stCondLst>
                                    <p:cond delay="0"/>
                                  </p:stCondLst>
                                  <p:childTnLst>
                                    <p:set>
                                      <p:cBhvr>
                                        <p:cTn id="456" dur="1" fill="hold">
                                          <p:stCondLst>
                                            <p:cond delay="0"/>
                                          </p:stCondLst>
                                        </p:cTn>
                                        <p:tgtEl>
                                          <p:spTgt spid="112">
                                            <p:txEl>
                                              <p:pRg st="1" end="1"/>
                                            </p:txEl>
                                          </p:spTgt>
                                        </p:tgtEl>
                                        <p:attrNameLst>
                                          <p:attrName>style.visibility</p:attrName>
                                        </p:attrNameLst>
                                      </p:cBhvr>
                                      <p:to>
                                        <p:strVal val="visible"/>
                                      </p:to>
                                    </p:set>
                                    <p:animEffect filter="wipe(left)" transition="in">
                                      <p:cBhvr additive="repl">
                                        <p:cTn id="457" dur="750"/>
                                        <p:tgtEl>
                                          <p:spTgt spid="112">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pic>
        <p:nvPicPr>
          <p:cNvPr id="114" name="Picture 7" descr="fig0602a.gif"/>
          <p:cNvPicPr/>
          <p:nvPr/>
        </p:nvPicPr>
        <p:blipFill>
          <a:blip r:embed="rId1"/>
          <a:stretch/>
        </p:blipFill>
        <p:spPr>
          <a:xfrm>
            <a:off x="3240000" y="1440000"/>
            <a:ext cx="5506200" cy="4742640"/>
          </a:xfrm>
          <a:prstGeom prst="rect">
            <a:avLst/>
          </a:prstGeom>
          <a:noFill/>
          <a:ln w="0">
            <a:noFill/>
          </a:ln>
        </p:spPr>
      </p:pic>
      <p:pic>
        <p:nvPicPr>
          <p:cNvPr id="115" name="Picture 8" descr="fig0602b.gif"/>
          <p:cNvPicPr/>
          <p:nvPr/>
        </p:nvPicPr>
        <p:blipFill>
          <a:blip r:embed="rId2"/>
          <a:stretch/>
        </p:blipFill>
        <p:spPr>
          <a:xfrm>
            <a:off x="3240000" y="1440000"/>
            <a:ext cx="5506200" cy="4742640"/>
          </a:xfrm>
          <a:prstGeom prst="rect">
            <a:avLst/>
          </a:prstGeom>
          <a:noFill/>
          <a:ln w="0">
            <a:noFill/>
          </a:ln>
        </p:spPr>
      </p:pic>
      <p:pic>
        <p:nvPicPr>
          <p:cNvPr id="116" name="Picture 9" descr="fig0602c.gif"/>
          <p:cNvPicPr/>
          <p:nvPr/>
        </p:nvPicPr>
        <p:blipFill>
          <a:blip r:embed="rId3"/>
          <a:stretch/>
        </p:blipFill>
        <p:spPr>
          <a:xfrm>
            <a:off x="3240000" y="1440000"/>
            <a:ext cx="5506200" cy="4742640"/>
          </a:xfrm>
          <a:prstGeom prst="rect">
            <a:avLst/>
          </a:prstGeom>
          <a:noFill/>
          <a:ln w="0">
            <a:noFill/>
          </a:ln>
        </p:spPr>
      </p:pic>
      <p:pic>
        <p:nvPicPr>
          <p:cNvPr id="117" name="Picture 10" descr="fig0602d.gif"/>
          <p:cNvPicPr/>
          <p:nvPr/>
        </p:nvPicPr>
        <p:blipFill>
          <a:blip r:embed="rId4"/>
          <a:stretch/>
        </p:blipFill>
        <p:spPr>
          <a:xfrm>
            <a:off x="3240000" y="1440000"/>
            <a:ext cx="5506200" cy="4742640"/>
          </a:xfrm>
          <a:prstGeom prst="rect">
            <a:avLst/>
          </a:prstGeom>
          <a:noFill/>
          <a:ln w="0">
            <a:noFill/>
          </a:ln>
        </p:spPr>
      </p:pic>
      <p:pic>
        <p:nvPicPr>
          <p:cNvPr id="118" name="Picture 11" descr="fig0602e.gif"/>
          <p:cNvPicPr/>
          <p:nvPr/>
        </p:nvPicPr>
        <p:blipFill>
          <a:blip r:embed="rId5"/>
          <a:stretch/>
        </p:blipFill>
        <p:spPr>
          <a:xfrm>
            <a:off x="3240000" y="1440000"/>
            <a:ext cx="5506200" cy="4742640"/>
          </a:xfrm>
          <a:prstGeom prst="rect">
            <a:avLst/>
          </a:prstGeom>
          <a:noFill/>
          <a:ln w="0">
            <a:noFill/>
          </a:ln>
        </p:spPr>
      </p:pic>
      <p:sp>
        <p:nvSpPr>
          <p:cNvPr id="119" name="PlaceHolder 2"/>
          <p:cNvSpPr>
            <a:spLocks noGrp="1"/>
          </p:cNvSpPr>
          <p:nvPr>
            <p:ph/>
          </p:nvPr>
        </p:nvSpPr>
        <p:spPr>
          <a:xfrm>
            <a:off x="360360" y="1440000"/>
            <a:ext cx="49730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tells us that if we produce 6,000 pizzas a day,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we must give up 15 units of other goods and services to produce one more pizza.</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line through points </a:t>
            </a:r>
            <a:r>
              <a:rPr b="0" i="1" lang="en-US" sz="2400" strike="noStrike" u="none">
                <a:solidFill>
                  <a:srgbClr val="000000"/>
                </a:solidFill>
                <a:effectLst/>
                <a:uFillTx/>
                <a:latin typeface="Arial"/>
                <a:ea typeface="ＭＳ Ｐゴシック"/>
              </a:rPr>
              <a:t>A</a:t>
            </a:r>
            <a:r>
              <a:rPr b="0" lang="en-US" sz="2400" strike="noStrike" u="none">
                <a:solidFill>
                  <a:srgbClr val="000000"/>
                </a:solidFill>
                <a:effectLst/>
                <a:uFillTx/>
                <a:latin typeface="Arial"/>
                <a:ea typeface="ＭＳ Ｐゴシック"/>
              </a:rPr>
              <a:t>, </a:t>
            </a:r>
            <a:r>
              <a:rPr b="0" i="1" lang="en-US" sz="2400" strike="noStrike" u="none">
                <a:solidFill>
                  <a:srgbClr val="000000"/>
                </a:solidFill>
                <a:effectLst/>
                <a:uFillTx/>
                <a:latin typeface="Arial"/>
                <a:ea typeface="ＭＳ Ｐゴシック"/>
              </a:rPr>
              <a:t>B</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is the marginal cost curve.</a:t>
            </a:r>
            <a:endParaRPr b="0" lang="en-US" sz="2400" strike="noStrike" u="none">
              <a:solidFill>
                <a:srgbClr val="000000"/>
              </a:solidFill>
              <a:effectLst/>
              <a:uFillTx/>
              <a:latin typeface="Arial"/>
            </a:endParaRPr>
          </a:p>
        </p:txBody>
      </p:sp>
    </p:spTree>
  </p:cSld>
  <p:transition spd="slow">
    <p:wipe dir="r"/>
  </p:transition>
  <p:timing>
    <p:tnLst>
      <p:par>
        <p:cTn id="458" dur="indefinite" restart="never" nodeType="tmRoot">
          <p:childTnLst>
            <p:seq>
              <p:cTn id="459" dur="indefinite" nodeType="mainSeq">
                <p:childTnLst>
                  <p:par>
                    <p:cTn id="460" nodeType="clickEffect" fill="hold">
                      <p:stCondLst>
                        <p:cond delay="0"/>
                      </p:stCondLst>
                      <p:childTnLst>
                        <p:par>
                          <p:cTn id="461" nodeType="withEffect" fill="hold">
                            <p:stCondLst>
                              <p:cond delay="0"/>
                            </p:stCondLst>
                            <p:childTnLst>
                              <p:par>
                                <p:cTn id="462" nodeType="withEffect" fill="hold" presetClass="entr" presetID="22" presetSubtype="4">
                                  <p:stCondLst>
                                    <p:cond delay="0"/>
                                  </p:stCondLst>
                                  <p:childTnLst>
                                    <p:set>
                                      <p:cBhvr>
                                        <p:cTn id="463" dur="1" fill="hold">
                                          <p:stCondLst>
                                            <p:cond delay="0"/>
                                          </p:stCondLst>
                                        </p:cTn>
                                        <p:tgtEl>
                                          <p:spTgt spid="117"/>
                                        </p:tgtEl>
                                        <p:attrNameLst>
                                          <p:attrName>style.visibility</p:attrName>
                                        </p:attrNameLst>
                                      </p:cBhvr>
                                      <p:to>
                                        <p:strVal val="visible"/>
                                      </p:to>
                                    </p:set>
                                    <p:animEffect filter="wipe(down)" transition="in">
                                      <p:cBhvr additive="repl">
                                        <p:cTn id="464" dur="1000"/>
                                        <p:tgtEl>
                                          <p:spTgt spid="117"/>
                                        </p:tgtEl>
                                      </p:cBhvr>
                                    </p:animEffect>
                                  </p:childTnLst>
                                </p:cTn>
                              </p:par>
                            </p:childTnLst>
                          </p:cTn>
                        </p:par>
                      </p:childTnLst>
                    </p:cTn>
                  </p:par>
                  <p:par>
                    <p:cTn id="465" nodeType="clickEffect" fill="hold">
                      <p:stCondLst>
                        <p:cond delay="indefinite"/>
                      </p:stCondLst>
                      <p:childTnLst>
                        <p:par>
                          <p:cTn id="466" nodeType="withEffect" fill="hold">
                            <p:stCondLst>
                              <p:cond delay="0"/>
                            </p:stCondLst>
                            <p:childTnLst>
                              <p:par>
                                <p:cTn id="467" nodeType="clickEffect" fill="hold" presetClass="entr" presetID="22" presetSubtype="8">
                                  <p:stCondLst>
                                    <p:cond delay="0"/>
                                  </p:stCondLst>
                                  <p:childTnLst>
                                    <p:set>
                                      <p:cBhvr>
                                        <p:cTn id="468" dur="1" fill="hold">
                                          <p:stCondLst>
                                            <p:cond delay="0"/>
                                          </p:stCondLst>
                                        </p:cTn>
                                        <p:tgtEl>
                                          <p:spTgt spid="119">
                                            <p:txEl>
                                              <p:pRg st="1" end="1"/>
                                            </p:txEl>
                                          </p:spTgt>
                                        </p:tgtEl>
                                        <p:attrNameLst>
                                          <p:attrName>style.visibility</p:attrName>
                                        </p:attrNameLst>
                                      </p:cBhvr>
                                      <p:to>
                                        <p:strVal val="visible"/>
                                      </p:to>
                                    </p:set>
                                    <p:animEffect filter="wipe(left)" transition="in">
                                      <p:cBhvr additive="repl">
                                        <p:cTn id="469" dur="750"/>
                                        <p:tgtEl>
                                          <p:spTgt spid="119">
                                            <p:txEl>
                                              <p:pRg st="1" end="1"/>
                                            </p:txEl>
                                          </p:spTgt>
                                        </p:tgtEl>
                                      </p:cBhvr>
                                    </p:animEffect>
                                  </p:childTnLst>
                                </p:cTn>
                              </p:par>
                            </p:childTnLst>
                          </p:cTn>
                        </p:par>
                      </p:childTnLst>
                    </p:cTn>
                  </p:par>
                  <p:par>
                    <p:cTn id="470" nodeType="clickEffect" fill="hold">
                      <p:stCondLst>
                        <p:cond delay="indefinite"/>
                      </p:stCondLst>
                      <p:childTnLst>
                        <p:par>
                          <p:cTn id="471" nodeType="withEffect" fill="hold">
                            <p:stCondLst>
                              <p:cond delay="0"/>
                            </p:stCondLst>
                            <p:childTnLst>
                              <p:par>
                                <p:cTn id="472" nodeType="clickEffect" fill="hold" presetClass="entr" presetID="22" presetSubtype="8">
                                  <p:stCondLst>
                                    <p:cond delay="0"/>
                                  </p:stCondLst>
                                  <p:childTnLst>
                                    <p:set>
                                      <p:cBhvr>
                                        <p:cTn id="473" dur="1" fill="hold">
                                          <p:stCondLst>
                                            <p:cond delay="0"/>
                                          </p:stCondLst>
                                        </p:cTn>
                                        <p:tgtEl>
                                          <p:spTgt spid="119">
                                            <p:txEl>
                                              <p:pRg st="2" end="2"/>
                                            </p:txEl>
                                          </p:spTgt>
                                        </p:tgtEl>
                                        <p:attrNameLst>
                                          <p:attrName>style.visibility</p:attrName>
                                        </p:attrNameLst>
                                      </p:cBhvr>
                                      <p:to>
                                        <p:strVal val="visible"/>
                                      </p:to>
                                    </p:set>
                                    <p:animEffect filter="wipe(left)" transition="in">
                                      <p:cBhvr additive="repl">
                                        <p:cTn id="474" dur="750"/>
                                        <p:tgtEl>
                                          <p:spTgt spid="119">
                                            <p:txEl>
                                              <p:pRg st="2" end="2"/>
                                            </p:txEl>
                                          </p:spTgt>
                                        </p:tgtEl>
                                      </p:cBhvr>
                                    </p:animEffect>
                                  </p:childTnLst>
                                </p:cTn>
                              </p:par>
                              <p:par>
                                <p:cTn id="475" nodeType="withEffect" fill="hold" presetClass="entr" presetID="22" presetSubtype="4">
                                  <p:stCondLst>
                                    <p:cond delay="0"/>
                                  </p:stCondLst>
                                  <p:childTnLst>
                                    <p:set>
                                      <p:cBhvr>
                                        <p:cTn id="476" dur="1" fill="hold">
                                          <p:stCondLst>
                                            <p:cond delay="0"/>
                                          </p:stCondLst>
                                        </p:cTn>
                                        <p:tgtEl>
                                          <p:spTgt spid="118"/>
                                        </p:tgtEl>
                                        <p:attrNameLst>
                                          <p:attrName>style.visibility</p:attrName>
                                        </p:attrNameLst>
                                      </p:cBhvr>
                                      <p:to>
                                        <p:strVal val="visible"/>
                                      </p:to>
                                    </p:set>
                                    <p:animEffect filter="wipe(down)" transition="in">
                                      <p:cBhvr additive="repl">
                                        <p:cTn id="477" dur="10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12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Efficient Allocation</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efficient allocation is the highest-valued allocation.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That is, the allocation is efficient if it is not possible to produce more of any good without producing less of something else that is valued more highly.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To find the efficient allocation, we compare marginal benefit and marginal cost.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6.3 on the next slide shows the efficient quantity of pizzas.</a:t>
            </a:r>
            <a:endParaRPr b="0" lang="en-US" sz="2400" strike="noStrike" u="none">
              <a:solidFill>
                <a:srgbClr val="000000"/>
              </a:solidFill>
              <a:effectLst/>
              <a:uFillTx/>
              <a:latin typeface="Arial"/>
            </a:endParaRPr>
          </a:p>
        </p:txBody>
      </p:sp>
    </p:spTree>
  </p:cSld>
  <p:transition spd="slow">
    <p:wipe dir="r"/>
  </p:transition>
  <p:timing>
    <p:tnLst>
      <p:par>
        <p:cTn id="478" dur="indefinite" restart="never" nodeType="tmRoot">
          <p:childTnLst>
            <p:seq>
              <p:cTn id="479" dur="indefinite" nodeType="mainSeq">
                <p:childTnLst>
                  <p:par>
                    <p:cTn id="480" nodeType="clickEffect" fill="hold">
                      <p:stCondLst>
                        <p:cond delay="indefinite"/>
                      </p:stCondLst>
                      <p:childTnLst>
                        <p:par>
                          <p:cTn id="481" nodeType="withEffect" fill="hold">
                            <p:stCondLst>
                              <p:cond delay="0"/>
                            </p:stCondLst>
                            <p:childTnLst>
                              <p:par>
                                <p:cTn id="482" nodeType="clickEffect" fill="hold" presetClass="entr" presetID="22" presetSubtype="8">
                                  <p:stCondLst>
                                    <p:cond delay="0"/>
                                  </p:stCondLst>
                                  <p:childTnLst>
                                    <p:set>
                                      <p:cBhvr>
                                        <p:cTn id="483" dur="1" fill="hold">
                                          <p:stCondLst>
                                            <p:cond delay="0"/>
                                          </p:stCondLst>
                                        </p:cTn>
                                        <p:tgtEl>
                                          <p:spTgt spid="121">
                                            <p:txEl>
                                              <p:pRg st="1" end="1"/>
                                            </p:txEl>
                                          </p:spTgt>
                                        </p:tgtEl>
                                        <p:attrNameLst>
                                          <p:attrName>style.visibility</p:attrName>
                                        </p:attrNameLst>
                                      </p:cBhvr>
                                      <p:to>
                                        <p:strVal val="visible"/>
                                      </p:to>
                                    </p:set>
                                    <p:animEffect filter="wipe(left)" transition="in">
                                      <p:cBhvr additive="repl">
                                        <p:cTn id="484" dur="750"/>
                                        <p:tgtEl>
                                          <p:spTgt spid="121">
                                            <p:txEl>
                                              <p:pRg st="1" end="1"/>
                                            </p:txEl>
                                          </p:spTgt>
                                        </p:tgtEl>
                                      </p:cBhvr>
                                    </p:animEffect>
                                  </p:childTnLst>
                                </p:cTn>
                              </p:par>
                            </p:childTnLst>
                          </p:cTn>
                        </p:par>
                      </p:childTnLst>
                    </p:cTn>
                  </p:par>
                  <p:par>
                    <p:cTn id="485" nodeType="clickEffect" fill="hold">
                      <p:stCondLst>
                        <p:cond delay="indefinite"/>
                      </p:stCondLst>
                      <p:childTnLst>
                        <p:par>
                          <p:cTn id="486" nodeType="withEffect" fill="hold">
                            <p:stCondLst>
                              <p:cond delay="0"/>
                            </p:stCondLst>
                            <p:childTnLst>
                              <p:par>
                                <p:cTn id="487" nodeType="clickEffect" fill="hold" presetClass="entr" presetID="22" presetSubtype="8">
                                  <p:stCondLst>
                                    <p:cond delay="0"/>
                                  </p:stCondLst>
                                  <p:childTnLst>
                                    <p:set>
                                      <p:cBhvr>
                                        <p:cTn id="488" dur="1" fill="hold">
                                          <p:stCondLst>
                                            <p:cond delay="0"/>
                                          </p:stCondLst>
                                        </p:cTn>
                                        <p:tgtEl>
                                          <p:spTgt spid="121">
                                            <p:txEl>
                                              <p:pRg st="2" end="2"/>
                                            </p:txEl>
                                          </p:spTgt>
                                        </p:tgtEl>
                                        <p:attrNameLst>
                                          <p:attrName>style.visibility</p:attrName>
                                        </p:attrNameLst>
                                      </p:cBhvr>
                                      <p:to>
                                        <p:strVal val="visible"/>
                                      </p:to>
                                    </p:set>
                                    <p:animEffect filter="wipe(left)" transition="in">
                                      <p:cBhvr additive="repl">
                                        <p:cTn id="489" dur="750"/>
                                        <p:tgtEl>
                                          <p:spTgt spid="121">
                                            <p:txEl>
                                              <p:pRg st="2" end="2"/>
                                            </p:txEl>
                                          </p:spTgt>
                                        </p:tgtEl>
                                      </p:cBhvr>
                                    </p:animEffect>
                                  </p:childTnLst>
                                </p:cTn>
                              </p:par>
                            </p:childTnLst>
                          </p:cTn>
                        </p:par>
                      </p:childTnLst>
                    </p:cTn>
                  </p:par>
                  <p:par>
                    <p:cTn id="490" nodeType="clickEffect" fill="hold">
                      <p:stCondLst>
                        <p:cond delay="indefinite"/>
                      </p:stCondLst>
                      <p:childTnLst>
                        <p:par>
                          <p:cTn id="491" nodeType="withEffect" fill="hold">
                            <p:stCondLst>
                              <p:cond delay="0"/>
                            </p:stCondLst>
                            <p:childTnLst>
                              <p:par>
                                <p:cTn id="492" nodeType="clickEffect" fill="hold" presetClass="entr" presetID="22" presetSubtype="8">
                                  <p:stCondLst>
                                    <p:cond delay="0"/>
                                  </p:stCondLst>
                                  <p:childTnLst>
                                    <p:set>
                                      <p:cBhvr>
                                        <p:cTn id="493" dur="1" fill="hold">
                                          <p:stCondLst>
                                            <p:cond delay="0"/>
                                          </p:stCondLst>
                                        </p:cTn>
                                        <p:tgtEl>
                                          <p:spTgt spid="121">
                                            <p:txEl>
                                              <p:pRg st="3" end="3"/>
                                            </p:txEl>
                                          </p:spTgt>
                                        </p:tgtEl>
                                        <p:attrNameLst>
                                          <p:attrName>style.visibility</p:attrName>
                                        </p:attrNameLst>
                                      </p:cBhvr>
                                      <p:to>
                                        <p:strVal val="visible"/>
                                      </p:to>
                                    </p:set>
                                    <p:animEffect filter="wipe(left)" transition="in">
                                      <p:cBhvr additive="repl">
                                        <p:cTn id="494" dur="750"/>
                                        <p:tgtEl>
                                          <p:spTgt spid="121">
                                            <p:txEl>
                                              <p:pRg st="3" end="3"/>
                                            </p:txEl>
                                          </p:spTgt>
                                        </p:tgtEl>
                                      </p:cBhvr>
                                    </p:animEffect>
                                  </p:childTnLst>
                                </p:cTn>
                              </p:par>
                            </p:childTnLst>
                          </p:cTn>
                        </p:par>
                      </p:childTnLst>
                    </p:cTn>
                  </p:par>
                  <p:par>
                    <p:cTn id="495" nodeType="clickEffect" fill="hold">
                      <p:stCondLst>
                        <p:cond delay="indefinite"/>
                      </p:stCondLst>
                      <p:childTnLst>
                        <p:par>
                          <p:cTn id="496" nodeType="withEffect" fill="hold">
                            <p:stCondLst>
                              <p:cond delay="0"/>
                            </p:stCondLst>
                            <p:childTnLst>
                              <p:par>
                                <p:cTn id="497" nodeType="clickEffect" fill="hold" presetClass="entr" presetID="22" presetSubtype="8">
                                  <p:stCondLst>
                                    <p:cond delay="0"/>
                                  </p:stCondLst>
                                  <p:childTnLst>
                                    <p:set>
                                      <p:cBhvr>
                                        <p:cTn id="498" dur="1" fill="hold">
                                          <p:stCondLst>
                                            <p:cond delay="0"/>
                                          </p:stCondLst>
                                        </p:cTn>
                                        <p:tgtEl>
                                          <p:spTgt spid="121">
                                            <p:txEl>
                                              <p:pRg st="4" end="4"/>
                                            </p:txEl>
                                          </p:spTgt>
                                        </p:tgtEl>
                                        <p:attrNameLst>
                                          <p:attrName>style.visibility</p:attrName>
                                        </p:attrNameLst>
                                      </p:cBhvr>
                                      <p:to>
                                        <p:strVal val="visible"/>
                                      </p:to>
                                    </p:set>
                                    <p:animEffect filter="wipe(left)" transition="in">
                                      <p:cBhvr additive="repl">
                                        <p:cTn id="499" dur="750"/>
                                        <p:tgtEl>
                                          <p:spTgt spid="12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123" name="PlaceHolder 2"/>
          <p:cNvSpPr>
            <a:spLocks noGrp="1"/>
          </p:cNvSpPr>
          <p:nvPr>
            <p:ph/>
          </p:nvPr>
        </p:nvSpPr>
        <p:spPr>
          <a:xfrm>
            <a:off x="360360" y="1440000"/>
            <a:ext cx="436320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Production efficiency occurs at all points on the </a:t>
            </a:r>
            <a:r>
              <a:rPr b="0" i="1" lang="en-US" sz="2400" strike="noStrike" u="none">
                <a:solidFill>
                  <a:srgbClr val="000000"/>
                </a:solidFill>
                <a:effectLst/>
                <a:uFillTx/>
                <a:latin typeface="Arial"/>
                <a:ea typeface="ＭＳ Ｐゴシック"/>
              </a:rPr>
              <a:t>PPF</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Allocative efficiency occurs at the intersection of the marginal benefit curve (</a:t>
            </a:r>
            <a:r>
              <a:rPr b="0" i="1" lang="en-US" sz="2400" strike="noStrike" u="none">
                <a:solidFill>
                  <a:srgbClr val="000000"/>
                </a:solidFill>
                <a:effectLst/>
                <a:uFillTx/>
                <a:latin typeface="Arial"/>
                <a:ea typeface="ＭＳ Ｐゴシック"/>
              </a:rPr>
              <a:t>MB</a:t>
            </a:r>
            <a:r>
              <a:rPr b="0" lang="en-US" sz="2400" strike="noStrike" u="none">
                <a:solidFill>
                  <a:srgbClr val="000000"/>
                </a:solidFill>
                <a:effectLst/>
                <a:uFillTx/>
                <a:latin typeface="Arial"/>
                <a:ea typeface="ＭＳ Ｐゴシック"/>
              </a:rPr>
              <a:t>) and the marginal cost curve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Allocative efficiency occurs at </a:t>
            </a:r>
            <a:r>
              <a:rPr b="0" i="1" lang="en-US" sz="2400" strike="noStrike" u="none">
                <a:solidFill>
                  <a:srgbClr val="000000"/>
                </a:solidFill>
                <a:effectLst/>
                <a:uFillTx/>
                <a:latin typeface="Arial"/>
                <a:ea typeface="ＭＳ Ｐゴシック"/>
              </a:rPr>
              <a:t>only one point</a:t>
            </a:r>
            <a:r>
              <a:rPr b="0" lang="en-US" sz="2400" strike="noStrike" u="none">
                <a:solidFill>
                  <a:srgbClr val="000000"/>
                </a:solidFill>
                <a:effectLst/>
                <a:uFillTx/>
                <a:latin typeface="Arial"/>
                <a:ea typeface="ＭＳ Ｐゴシック"/>
              </a:rPr>
              <a:t> on the </a:t>
            </a:r>
            <a:r>
              <a:rPr b="0" i="1" lang="en-US" sz="2400" strike="noStrike" u="none">
                <a:solidFill>
                  <a:srgbClr val="000000"/>
                </a:solidFill>
                <a:effectLst/>
                <a:uFillTx/>
                <a:latin typeface="Arial"/>
                <a:ea typeface="ＭＳ Ｐゴシック"/>
              </a:rPr>
              <a:t>PPF</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pic>
        <p:nvPicPr>
          <p:cNvPr id="124" name="Picture 2" descr=""/>
          <p:cNvPicPr/>
          <p:nvPr/>
        </p:nvPicPr>
        <p:blipFill>
          <a:blip r:embed="rId1"/>
          <a:stretch/>
        </p:blipFill>
        <p:spPr>
          <a:xfrm>
            <a:off x="4680000" y="1368360"/>
            <a:ext cx="4036320" cy="4585680"/>
          </a:xfrm>
          <a:prstGeom prst="rect">
            <a:avLst/>
          </a:prstGeom>
          <a:noFill/>
          <a:ln w="0">
            <a:noFill/>
          </a:ln>
        </p:spPr>
      </p:pic>
      <p:pic>
        <p:nvPicPr>
          <p:cNvPr id="125" name="Picture 4" descr=""/>
          <p:cNvPicPr/>
          <p:nvPr/>
        </p:nvPicPr>
        <p:blipFill>
          <a:blip r:embed="rId2"/>
          <a:stretch/>
        </p:blipFill>
        <p:spPr>
          <a:xfrm>
            <a:off x="4680000" y="1368360"/>
            <a:ext cx="4036320" cy="4585680"/>
          </a:xfrm>
          <a:prstGeom prst="rect">
            <a:avLst/>
          </a:prstGeom>
          <a:noFill/>
          <a:ln w="0">
            <a:noFill/>
          </a:ln>
        </p:spPr>
      </p:pic>
      <p:pic>
        <p:nvPicPr>
          <p:cNvPr id="126" name="Picture 5" descr=""/>
          <p:cNvPicPr/>
          <p:nvPr/>
        </p:nvPicPr>
        <p:blipFill>
          <a:blip r:embed="rId3"/>
          <a:stretch/>
        </p:blipFill>
        <p:spPr>
          <a:xfrm>
            <a:off x="4680000" y="1368360"/>
            <a:ext cx="4036320" cy="4585680"/>
          </a:xfrm>
          <a:prstGeom prst="rect">
            <a:avLst/>
          </a:prstGeom>
          <a:noFill/>
          <a:ln w="0">
            <a:noFill/>
          </a:ln>
        </p:spPr>
      </p:pic>
      <p:pic>
        <p:nvPicPr>
          <p:cNvPr id="127" name="Picture 6" descr=""/>
          <p:cNvPicPr/>
          <p:nvPr/>
        </p:nvPicPr>
        <p:blipFill>
          <a:blip r:embed="rId4"/>
          <a:stretch/>
        </p:blipFill>
        <p:spPr>
          <a:xfrm>
            <a:off x="4680000" y="1368360"/>
            <a:ext cx="4036320" cy="4585680"/>
          </a:xfrm>
          <a:prstGeom prst="rect">
            <a:avLst/>
          </a:prstGeom>
          <a:noFill/>
          <a:ln w="0">
            <a:noFill/>
          </a:ln>
        </p:spPr>
      </p:pic>
    </p:spTree>
  </p:cSld>
  <p:transition spd="slow">
    <p:wipe dir="r"/>
  </p:transition>
  <p:timing>
    <p:tnLst>
      <p:par>
        <p:cTn id="500" dur="indefinite" restart="never" nodeType="tmRoot">
          <p:childTnLst>
            <p:seq>
              <p:cTn id="501" dur="indefinite" nodeType="mainSeq">
                <p:childTnLst>
                  <p:par>
                    <p:cTn id="502" nodeType="clickEffect" fill="hold">
                      <p:stCondLst>
                        <p:cond delay="indefinite"/>
                      </p:stCondLst>
                      <p:childTnLst>
                        <p:par>
                          <p:cTn id="503" nodeType="withEffect" fill="hold">
                            <p:stCondLst>
                              <p:cond delay="0"/>
                            </p:stCondLst>
                            <p:childTnLst>
                              <p:par>
                                <p:cTn id="504" nodeType="clickEffect" fill="hold" presetClass="entr" presetID="22" presetSubtype="8">
                                  <p:stCondLst>
                                    <p:cond delay="0"/>
                                  </p:stCondLst>
                                  <p:childTnLst>
                                    <p:set>
                                      <p:cBhvr>
                                        <p:cTn id="505" dur="1" fill="hold">
                                          <p:stCondLst>
                                            <p:cond delay="0"/>
                                          </p:stCondLst>
                                        </p:cTn>
                                        <p:tgtEl>
                                          <p:spTgt spid="123">
                                            <p:txEl>
                                              <p:pRg st="1" end="1"/>
                                            </p:txEl>
                                          </p:spTgt>
                                        </p:tgtEl>
                                        <p:attrNameLst>
                                          <p:attrName>style.visibility</p:attrName>
                                        </p:attrNameLst>
                                      </p:cBhvr>
                                      <p:to>
                                        <p:strVal val="visible"/>
                                      </p:to>
                                    </p:set>
                                    <p:animEffect filter="wipe(left)" transition="in">
                                      <p:cBhvr additive="repl">
                                        <p:cTn id="506" dur="750"/>
                                        <p:tgtEl>
                                          <p:spTgt spid="123">
                                            <p:txEl>
                                              <p:pRg st="1" end="1"/>
                                            </p:txEl>
                                          </p:spTgt>
                                        </p:tgtEl>
                                      </p:cBhvr>
                                    </p:animEffect>
                                  </p:childTnLst>
                                </p:cTn>
                              </p:par>
                              <p:par>
                                <p:cTn id="507" nodeType="withEffect" fill="hold" presetClass="entr" presetID="10">
                                  <p:stCondLst>
                                    <p:cond delay="0"/>
                                  </p:stCondLst>
                                  <p:childTnLst>
                                    <p:set>
                                      <p:cBhvr>
                                        <p:cTn id="508" dur="1" fill="hold">
                                          <p:stCondLst>
                                            <p:cond delay="0"/>
                                          </p:stCondLst>
                                        </p:cTn>
                                        <p:tgtEl>
                                          <p:spTgt spid="125"/>
                                        </p:tgtEl>
                                        <p:attrNameLst>
                                          <p:attrName>style.visibility</p:attrName>
                                        </p:attrNameLst>
                                      </p:cBhvr>
                                      <p:to>
                                        <p:strVal val="visible"/>
                                      </p:to>
                                    </p:set>
                                    <p:animEffect filter="fade" transition="in">
                                      <p:cBhvr additive="repl">
                                        <p:cTn id="509" dur="500"/>
                                        <p:tgtEl>
                                          <p:spTgt spid="125"/>
                                        </p:tgtEl>
                                      </p:cBhvr>
                                    </p:animEffect>
                                  </p:childTnLst>
                                </p:cTn>
                              </p:par>
                              <p:par>
                                <p:cTn id="510" nodeType="withEffect" fill="hold" presetClass="entr" presetID="10">
                                  <p:stCondLst>
                                    <p:cond delay="500"/>
                                  </p:stCondLst>
                                  <p:childTnLst>
                                    <p:set>
                                      <p:cBhvr>
                                        <p:cTn id="511" dur="1" fill="hold">
                                          <p:stCondLst>
                                            <p:cond delay="0"/>
                                          </p:stCondLst>
                                        </p:cTn>
                                        <p:tgtEl>
                                          <p:spTgt spid="126"/>
                                        </p:tgtEl>
                                        <p:attrNameLst>
                                          <p:attrName>style.visibility</p:attrName>
                                        </p:attrNameLst>
                                      </p:cBhvr>
                                      <p:to>
                                        <p:strVal val="visible"/>
                                      </p:to>
                                    </p:set>
                                    <p:animEffect filter="fade" transition="in">
                                      <p:cBhvr additive="repl">
                                        <p:cTn id="512" dur="500"/>
                                        <p:tgtEl>
                                          <p:spTgt spid="126"/>
                                        </p:tgtEl>
                                      </p:cBhvr>
                                    </p:animEffect>
                                  </p:childTnLst>
                                </p:cTn>
                              </p:par>
                            </p:childTnLst>
                          </p:cTn>
                        </p:par>
                      </p:childTnLst>
                    </p:cTn>
                  </p:par>
                  <p:par>
                    <p:cTn id="513" nodeType="clickEffect" fill="hold">
                      <p:stCondLst>
                        <p:cond delay="indefinite"/>
                      </p:stCondLst>
                      <p:childTnLst>
                        <p:par>
                          <p:cTn id="514" nodeType="withEffect" fill="hold">
                            <p:stCondLst>
                              <p:cond delay="0"/>
                            </p:stCondLst>
                            <p:childTnLst>
                              <p:par>
                                <p:cTn id="515" nodeType="clickEffect" fill="hold" presetClass="entr" presetID="22" presetSubtype="8">
                                  <p:stCondLst>
                                    <p:cond delay="0"/>
                                  </p:stCondLst>
                                  <p:childTnLst>
                                    <p:set>
                                      <p:cBhvr>
                                        <p:cTn id="516" dur="1" fill="hold">
                                          <p:stCondLst>
                                            <p:cond delay="0"/>
                                          </p:stCondLst>
                                        </p:cTn>
                                        <p:tgtEl>
                                          <p:spTgt spid="123">
                                            <p:txEl>
                                              <p:pRg st="2" end="2"/>
                                            </p:txEl>
                                          </p:spTgt>
                                        </p:tgtEl>
                                        <p:attrNameLst>
                                          <p:attrName>style.visibility</p:attrName>
                                        </p:attrNameLst>
                                      </p:cBhvr>
                                      <p:to>
                                        <p:strVal val="visible"/>
                                      </p:to>
                                    </p:set>
                                    <p:animEffect filter="wipe(left)" transition="in">
                                      <p:cBhvr additive="repl">
                                        <p:cTn id="517" dur="750"/>
                                        <p:tgtEl>
                                          <p:spTgt spid="123">
                                            <p:txEl>
                                              <p:pRg st="2" end="2"/>
                                            </p:txEl>
                                          </p:spTgt>
                                        </p:tgtEl>
                                      </p:cBhvr>
                                    </p:animEffect>
                                  </p:childTnLst>
                                </p:cTn>
                              </p:par>
                              <p:par>
                                <p:cTn id="518" nodeType="withEffect" fill="hold" presetClass="entr" presetID="10">
                                  <p:stCondLst>
                                    <p:cond delay="0"/>
                                  </p:stCondLst>
                                  <p:childTnLst>
                                    <p:set>
                                      <p:cBhvr>
                                        <p:cTn id="519" dur="1" fill="hold">
                                          <p:stCondLst>
                                            <p:cond delay="0"/>
                                          </p:stCondLst>
                                        </p:cTn>
                                        <p:tgtEl>
                                          <p:spTgt spid="127"/>
                                        </p:tgtEl>
                                        <p:attrNameLst>
                                          <p:attrName>style.visibility</p:attrName>
                                        </p:attrNameLst>
                                      </p:cBhvr>
                                      <p:to>
                                        <p:strVal val="visible"/>
                                      </p:to>
                                    </p:set>
                                    <p:animEffect filter="fade" transition="in">
                                      <p:cBhvr additive="repl">
                                        <p:cTn id="520" dur="5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129" name="PlaceHolder 2"/>
          <p:cNvSpPr>
            <a:spLocks noGrp="1"/>
          </p:cNvSpPr>
          <p:nvPr>
            <p:ph/>
          </p:nvPr>
        </p:nvSpPr>
        <p:spPr>
          <a:xfrm>
            <a:off x="360360" y="1440000"/>
            <a:ext cx="4287240" cy="464760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When 2,000 pizzas are produced, marginal benefit exceeds marginal cost,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so the efficient quantity is larger.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Too few pizzas are being produced.</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Increase the quantity of pizzas by moving along the </a:t>
            </a:r>
            <a:r>
              <a:rPr b="0" i="1" lang="en-US" sz="2400" strike="noStrike" u="none">
                <a:solidFill>
                  <a:srgbClr val="000000"/>
                </a:solidFill>
                <a:effectLst/>
                <a:uFillTx/>
                <a:latin typeface="Arial"/>
                <a:ea typeface="ＭＳ Ｐゴシック"/>
              </a:rPr>
              <a:t>PPF</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pic>
        <p:nvPicPr>
          <p:cNvPr id="130" name="Picture 11" descr=""/>
          <p:cNvPicPr/>
          <p:nvPr/>
        </p:nvPicPr>
        <p:blipFill>
          <a:blip r:embed="rId1"/>
          <a:stretch/>
        </p:blipFill>
        <p:spPr>
          <a:xfrm>
            <a:off x="4680000" y="1368360"/>
            <a:ext cx="4036320" cy="4585680"/>
          </a:xfrm>
          <a:prstGeom prst="rect">
            <a:avLst/>
          </a:prstGeom>
          <a:noFill/>
          <a:ln w="0">
            <a:noFill/>
          </a:ln>
        </p:spPr>
      </p:pic>
      <p:pic>
        <p:nvPicPr>
          <p:cNvPr id="131" name="Picture 12" descr=""/>
          <p:cNvPicPr/>
          <p:nvPr/>
        </p:nvPicPr>
        <p:blipFill>
          <a:blip r:embed="rId2"/>
          <a:stretch/>
        </p:blipFill>
        <p:spPr>
          <a:xfrm>
            <a:off x="4680000" y="1368360"/>
            <a:ext cx="4036320" cy="4585680"/>
          </a:xfrm>
          <a:prstGeom prst="rect">
            <a:avLst/>
          </a:prstGeom>
          <a:noFill/>
          <a:ln w="0">
            <a:noFill/>
          </a:ln>
        </p:spPr>
      </p:pic>
      <p:pic>
        <p:nvPicPr>
          <p:cNvPr id="132" name="Picture 13" descr=""/>
          <p:cNvPicPr/>
          <p:nvPr/>
        </p:nvPicPr>
        <p:blipFill>
          <a:blip r:embed="rId3"/>
          <a:stretch/>
        </p:blipFill>
        <p:spPr>
          <a:xfrm>
            <a:off x="4680000" y="1368360"/>
            <a:ext cx="4036320" cy="4585680"/>
          </a:xfrm>
          <a:prstGeom prst="rect">
            <a:avLst/>
          </a:prstGeom>
          <a:noFill/>
          <a:ln w="0">
            <a:noFill/>
          </a:ln>
        </p:spPr>
      </p:pic>
      <p:pic>
        <p:nvPicPr>
          <p:cNvPr id="133" name="Picture 14" descr=""/>
          <p:cNvPicPr/>
          <p:nvPr/>
        </p:nvPicPr>
        <p:blipFill>
          <a:blip r:embed="rId4"/>
          <a:stretch/>
        </p:blipFill>
        <p:spPr>
          <a:xfrm>
            <a:off x="4680000" y="1368360"/>
            <a:ext cx="4036320" cy="4585680"/>
          </a:xfrm>
          <a:prstGeom prst="rect">
            <a:avLst/>
          </a:prstGeom>
          <a:noFill/>
          <a:ln w="0">
            <a:noFill/>
          </a:ln>
        </p:spPr>
      </p:pic>
      <p:pic>
        <p:nvPicPr>
          <p:cNvPr id="134" name="Picture 15" descr=""/>
          <p:cNvPicPr/>
          <p:nvPr/>
        </p:nvPicPr>
        <p:blipFill>
          <a:blip r:embed="rId5"/>
          <a:stretch/>
        </p:blipFill>
        <p:spPr>
          <a:xfrm>
            <a:off x="4680000" y="1368360"/>
            <a:ext cx="4036320" cy="4585680"/>
          </a:xfrm>
          <a:prstGeom prst="rect">
            <a:avLst/>
          </a:prstGeom>
          <a:noFill/>
          <a:ln w="0">
            <a:noFill/>
          </a:ln>
        </p:spPr>
      </p:pic>
      <p:pic>
        <p:nvPicPr>
          <p:cNvPr id="135" name="Picture 16" descr=""/>
          <p:cNvPicPr/>
          <p:nvPr/>
        </p:nvPicPr>
        <p:blipFill>
          <a:blip r:embed="rId6"/>
          <a:stretch/>
        </p:blipFill>
        <p:spPr>
          <a:xfrm>
            <a:off x="4680000" y="1368360"/>
            <a:ext cx="4036320" cy="4585680"/>
          </a:xfrm>
          <a:prstGeom prst="rect">
            <a:avLst/>
          </a:prstGeom>
          <a:noFill/>
          <a:ln w="0">
            <a:noFill/>
          </a:ln>
        </p:spPr>
      </p:pic>
      <p:pic>
        <p:nvPicPr>
          <p:cNvPr id="136" name="Picture 17" descr=""/>
          <p:cNvPicPr/>
          <p:nvPr/>
        </p:nvPicPr>
        <p:blipFill>
          <a:blip r:embed="rId7"/>
          <a:stretch/>
        </p:blipFill>
        <p:spPr>
          <a:xfrm>
            <a:off x="4680000" y="1368360"/>
            <a:ext cx="4036320" cy="4585680"/>
          </a:xfrm>
          <a:prstGeom prst="rect">
            <a:avLst/>
          </a:prstGeom>
          <a:noFill/>
          <a:ln w="0">
            <a:noFill/>
          </a:ln>
        </p:spPr>
      </p:pic>
    </p:spTree>
  </p:cSld>
  <p:transition spd="slow">
    <p:wipe dir="r"/>
  </p:transition>
  <p:timing>
    <p:tnLst>
      <p:par>
        <p:cTn id="521" dur="indefinite" restart="never" nodeType="tmRoot">
          <p:childTnLst>
            <p:seq>
              <p:cTn id="522" dur="indefinite" nodeType="mainSeq">
                <p:childTnLst>
                  <p:par>
                    <p:cTn id="523" nodeType="clickEffect" fill="hold">
                      <p:stCondLst>
                        <p:cond delay="0"/>
                      </p:stCondLst>
                      <p:childTnLst>
                        <p:par>
                          <p:cTn id="524" nodeType="withEffect" fill="hold">
                            <p:stCondLst>
                              <p:cond delay="0"/>
                            </p:stCondLst>
                            <p:childTnLst>
                              <p:par>
                                <p:cTn id="525" nodeType="withEffect" fill="hold" presetClass="entr" presetID="10">
                                  <p:stCondLst>
                                    <p:cond delay="0"/>
                                  </p:stCondLst>
                                  <p:childTnLst>
                                    <p:set>
                                      <p:cBhvr>
                                        <p:cTn id="526" dur="1" fill="hold">
                                          <p:stCondLst>
                                            <p:cond delay="0"/>
                                          </p:stCondLst>
                                        </p:cTn>
                                        <p:tgtEl>
                                          <p:spTgt spid="131"/>
                                        </p:tgtEl>
                                        <p:attrNameLst>
                                          <p:attrName>style.visibility</p:attrName>
                                        </p:attrNameLst>
                                      </p:cBhvr>
                                      <p:to>
                                        <p:strVal val="visible"/>
                                      </p:to>
                                    </p:set>
                                    <p:animEffect filter="fade" transition="in">
                                      <p:cBhvr additive="repl">
                                        <p:cTn id="527" dur="500"/>
                                        <p:tgtEl>
                                          <p:spTgt spid="131"/>
                                        </p:tgtEl>
                                      </p:cBhvr>
                                    </p:animEffect>
                                  </p:childTnLst>
                                </p:cTn>
                              </p:par>
                            </p:childTnLst>
                          </p:cTn>
                        </p:par>
                      </p:childTnLst>
                    </p:cTn>
                  </p:par>
                  <p:par>
                    <p:cTn id="528" nodeType="clickEffect" fill="hold">
                      <p:stCondLst>
                        <p:cond delay="indefinite"/>
                      </p:stCondLst>
                      <p:childTnLst>
                        <p:par>
                          <p:cTn id="529" nodeType="withEffect" fill="hold">
                            <p:stCondLst>
                              <p:cond delay="0"/>
                            </p:stCondLst>
                            <p:childTnLst>
                              <p:par>
                                <p:cTn id="530" nodeType="clickEffect" fill="hold" presetClass="entr" presetID="22" presetSubtype="8">
                                  <p:stCondLst>
                                    <p:cond delay="0"/>
                                  </p:stCondLst>
                                  <p:childTnLst>
                                    <p:set>
                                      <p:cBhvr>
                                        <p:cTn id="531" dur="1" fill="hold">
                                          <p:stCondLst>
                                            <p:cond delay="0"/>
                                          </p:stCondLst>
                                        </p:cTn>
                                        <p:tgtEl>
                                          <p:spTgt spid="129">
                                            <p:txEl>
                                              <p:pRg st="1" end="1"/>
                                            </p:txEl>
                                          </p:spTgt>
                                        </p:tgtEl>
                                        <p:attrNameLst>
                                          <p:attrName>style.visibility</p:attrName>
                                        </p:attrNameLst>
                                      </p:cBhvr>
                                      <p:to>
                                        <p:strVal val="visible"/>
                                      </p:to>
                                    </p:set>
                                    <p:animEffect filter="wipe(left)" transition="in">
                                      <p:cBhvr additive="repl">
                                        <p:cTn id="532" dur="750"/>
                                        <p:tgtEl>
                                          <p:spTgt spid="129">
                                            <p:txEl>
                                              <p:pRg st="1" end="1"/>
                                            </p:txEl>
                                          </p:spTgt>
                                        </p:tgtEl>
                                      </p:cBhvr>
                                    </p:animEffect>
                                  </p:childTnLst>
                                </p:cTn>
                              </p:par>
                              <p:par>
                                <p:cTn id="533" nodeType="withEffect" fill="hold" presetClass="entr" presetID="22" presetSubtype="8">
                                  <p:stCondLst>
                                    <p:cond delay="0"/>
                                  </p:stCondLst>
                                  <p:childTnLst>
                                    <p:set>
                                      <p:cBhvr>
                                        <p:cTn id="534" dur="1" fill="hold">
                                          <p:stCondLst>
                                            <p:cond delay="0"/>
                                          </p:stCondLst>
                                        </p:cTn>
                                        <p:tgtEl>
                                          <p:spTgt spid="132"/>
                                        </p:tgtEl>
                                        <p:attrNameLst>
                                          <p:attrName>style.visibility</p:attrName>
                                        </p:attrNameLst>
                                      </p:cBhvr>
                                      <p:to>
                                        <p:strVal val="visible"/>
                                      </p:to>
                                    </p:set>
                                    <p:animEffect filter="wipe(left)" transition="in">
                                      <p:cBhvr additive="repl">
                                        <p:cTn id="535" dur="1000"/>
                                        <p:tgtEl>
                                          <p:spTgt spid="132"/>
                                        </p:tgtEl>
                                      </p:cBhvr>
                                    </p:animEffect>
                                  </p:childTnLst>
                                </p:cTn>
                              </p:par>
                              <p:par>
                                <p:cTn id="536" nodeType="withEffect" fill="hold" presetClass="entr" presetID="10">
                                  <p:stCondLst>
                                    <p:cond delay="700"/>
                                  </p:stCondLst>
                                  <p:childTnLst>
                                    <p:set>
                                      <p:cBhvr>
                                        <p:cTn id="537" dur="1" fill="hold">
                                          <p:stCondLst>
                                            <p:cond delay="0"/>
                                          </p:stCondLst>
                                        </p:cTn>
                                        <p:tgtEl>
                                          <p:spTgt spid="133"/>
                                        </p:tgtEl>
                                        <p:attrNameLst>
                                          <p:attrName>style.visibility</p:attrName>
                                        </p:attrNameLst>
                                      </p:cBhvr>
                                      <p:to>
                                        <p:strVal val="visible"/>
                                      </p:to>
                                    </p:set>
                                    <p:animEffect filter="fade" transition="in">
                                      <p:cBhvr additive="repl">
                                        <p:cTn id="538" dur="500"/>
                                        <p:tgtEl>
                                          <p:spTgt spid="133"/>
                                        </p:tgtEl>
                                      </p:cBhvr>
                                    </p:animEffect>
                                  </p:childTnLst>
                                </p:cTn>
                              </p:par>
                            </p:childTnLst>
                          </p:cTn>
                        </p:par>
                      </p:childTnLst>
                    </p:cTn>
                  </p:par>
                  <p:par>
                    <p:cTn id="539" nodeType="clickEffect" fill="hold">
                      <p:stCondLst>
                        <p:cond delay="indefinite"/>
                      </p:stCondLst>
                      <p:childTnLst>
                        <p:par>
                          <p:cTn id="540" nodeType="withEffect" fill="hold">
                            <p:stCondLst>
                              <p:cond delay="0"/>
                            </p:stCondLst>
                            <p:childTnLst>
                              <p:par>
                                <p:cTn id="541" nodeType="clickEffect" fill="hold" presetClass="entr" presetID="22" presetSubtype="8">
                                  <p:stCondLst>
                                    <p:cond delay="0"/>
                                  </p:stCondLst>
                                  <p:childTnLst>
                                    <p:set>
                                      <p:cBhvr>
                                        <p:cTn id="542" dur="1" fill="hold">
                                          <p:stCondLst>
                                            <p:cond delay="0"/>
                                          </p:stCondLst>
                                        </p:cTn>
                                        <p:tgtEl>
                                          <p:spTgt spid="129">
                                            <p:txEl>
                                              <p:pRg st="2" end="2"/>
                                            </p:txEl>
                                          </p:spTgt>
                                        </p:tgtEl>
                                        <p:attrNameLst>
                                          <p:attrName>style.visibility</p:attrName>
                                        </p:attrNameLst>
                                      </p:cBhvr>
                                      <p:to>
                                        <p:strVal val="visible"/>
                                      </p:to>
                                    </p:set>
                                    <p:animEffect filter="wipe(left)" transition="in">
                                      <p:cBhvr additive="repl">
                                        <p:cTn id="543" dur="750"/>
                                        <p:tgtEl>
                                          <p:spTgt spid="129">
                                            <p:txEl>
                                              <p:pRg st="2" end="2"/>
                                            </p:txEl>
                                          </p:spTgt>
                                        </p:tgtEl>
                                      </p:cBhvr>
                                    </p:animEffect>
                                  </p:childTnLst>
                                </p:cTn>
                              </p:par>
                              <p:par>
                                <p:cTn id="544" nodeType="withEffect" fill="hold" presetClass="entr" presetID="10">
                                  <p:stCondLst>
                                    <p:cond delay="0"/>
                                  </p:stCondLst>
                                  <p:childTnLst>
                                    <p:set>
                                      <p:cBhvr>
                                        <p:cTn id="545" dur="1" fill="hold">
                                          <p:stCondLst>
                                            <p:cond delay="0"/>
                                          </p:stCondLst>
                                        </p:cTn>
                                        <p:tgtEl>
                                          <p:spTgt spid="134"/>
                                        </p:tgtEl>
                                        <p:attrNameLst>
                                          <p:attrName>style.visibility</p:attrName>
                                        </p:attrNameLst>
                                      </p:cBhvr>
                                      <p:to>
                                        <p:strVal val="visible"/>
                                      </p:to>
                                    </p:set>
                                    <p:animEffect filter="fade" transition="in">
                                      <p:cBhvr additive="repl">
                                        <p:cTn id="546" dur="500"/>
                                        <p:tgtEl>
                                          <p:spTgt spid="134"/>
                                        </p:tgtEl>
                                      </p:cBhvr>
                                    </p:animEffect>
                                  </p:childTnLst>
                                </p:cTn>
                              </p:par>
                            </p:childTnLst>
                          </p:cTn>
                        </p:par>
                      </p:childTnLst>
                    </p:cTn>
                  </p:par>
                  <p:par>
                    <p:cTn id="547" nodeType="clickEffect" fill="hold">
                      <p:stCondLst>
                        <p:cond delay="indefinite"/>
                      </p:stCondLst>
                      <p:childTnLst>
                        <p:par>
                          <p:cTn id="548" nodeType="withEffect" fill="hold">
                            <p:stCondLst>
                              <p:cond delay="0"/>
                            </p:stCondLst>
                            <p:childTnLst>
                              <p:par>
                                <p:cTn id="549" nodeType="clickEffect" fill="hold" presetClass="entr" presetID="22" presetSubtype="8">
                                  <p:stCondLst>
                                    <p:cond delay="0"/>
                                  </p:stCondLst>
                                  <p:childTnLst>
                                    <p:set>
                                      <p:cBhvr>
                                        <p:cTn id="550" dur="1" fill="hold">
                                          <p:stCondLst>
                                            <p:cond delay="0"/>
                                          </p:stCondLst>
                                        </p:cTn>
                                        <p:tgtEl>
                                          <p:spTgt spid="129">
                                            <p:txEl>
                                              <p:pRg st="3" end="3"/>
                                            </p:txEl>
                                          </p:spTgt>
                                        </p:tgtEl>
                                        <p:attrNameLst>
                                          <p:attrName>style.visibility</p:attrName>
                                        </p:attrNameLst>
                                      </p:cBhvr>
                                      <p:to>
                                        <p:strVal val="visible"/>
                                      </p:to>
                                    </p:set>
                                    <p:animEffect filter="wipe(left)" transition="in">
                                      <p:cBhvr additive="repl">
                                        <p:cTn id="551" dur="750"/>
                                        <p:tgtEl>
                                          <p:spTgt spid="129">
                                            <p:txEl>
                                              <p:pRg st="3" end="3"/>
                                            </p:txEl>
                                          </p:spTgt>
                                        </p:tgtEl>
                                      </p:cBhvr>
                                    </p:animEffect>
                                  </p:childTnLst>
                                </p:cTn>
                              </p:par>
                              <p:par>
                                <p:cTn id="552" nodeType="withEffect" fill="hold" presetClass="entr" presetID="22" presetSubtype="8">
                                  <p:stCondLst>
                                    <p:cond delay="0"/>
                                  </p:stCondLst>
                                  <p:childTnLst>
                                    <p:set>
                                      <p:cBhvr>
                                        <p:cTn id="553" dur="1" fill="hold">
                                          <p:stCondLst>
                                            <p:cond delay="0"/>
                                          </p:stCondLst>
                                        </p:cTn>
                                        <p:tgtEl>
                                          <p:spTgt spid="135"/>
                                        </p:tgtEl>
                                        <p:attrNameLst>
                                          <p:attrName>style.visibility</p:attrName>
                                        </p:attrNameLst>
                                      </p:cBhvr>
                                      <p:to>
                                        <p:strVal val="visible"/>
                                      </p:to>
                                    </p:set>
                                    <p:animEffect filter="wipe(left)" transition="in">
                                      <p:cBhvr additive="repl">
                                        <p:cTn id="554" dur="1000"/>
                                        <p:tgtEl>
                                          <p:spTgt spid="135"/>
                                        </p:tgtEl>
                                      </p:cBhvr>
                                    </p:animEffect>
                                  </p:childTnLst>
                                </p:cTn>
                              </p:par>
                              <p:par>
                                <p:cTn id="555" nodeType="withEffect" fill="hold" presetClass="entr" presetID="10">
                                  <p:stCondLst>
                                    <p:cond delay="700"/>
                                  </p:stCondLst>
                                  <p:childTnLst>
                                    <p:set>
                                      <p:cBhvr>
                                        <p:cTn id="556" dur="1" fill="hold">
                                          <p:stCondLst>
                                            <p:cond delay="0"/>
                                          </p:stCondLst>
                                        </p:cTn>
                                        <p:tgtEl>
                                          <p:spTgt spid="136"/>
                                        </p:tgtEl>
                                        <p:attrNameLst>
                                          <p:attrName>style.visibility</p:attrName>
                                        </p:attrNameLst>
                                      </p:cBhvr>
                                      <p:to>
                                        <p:strVal val="visible"/>
                                      </p:to>
                                    </p:set>
                                    <p:animEffect filter="fade" transition="in">
                                      <p:cBhvr additive="repl">
                                        <p:cTn id="557" dur="5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37" name="Picture 28" descr=""/>
          <p:cNvPicPr/>
          <p:nvPr/>
        </p:nvPicPr>
        <p:blipFill>
          <a:blip r:embed="rId1"/>
          <a:stretch/>
        </p:blipFill>
        <p:spPr>
          <a:xfrm>
            <a:off x="1871640" y="360360"/>
            <a:ext cx="5380920" cy="6114240"/>
          </a:xfrm>
          <a:prstGeom prst="rect">
            <a:avLst/>
          </a:prstGeom>
          <a:noFill/>
          <a:ln w="0">
            <a:noFill/>
          </a:ln>
        </p:spPr>
      </p:pic>
      <p:pic>
        <p:nvPicPr>
          <p:cNvPr id="138" name="Picture 29" descr=""/>
          <p:cNvPicPr/>
          <p:nvPr/>
        </p:nvPicPr>
        <p:blipFill>
          <a:blip r:embed="rId2"/>
          <a:stretch/>
        </p:blipFill>
        <p:spPr>
          <a:xfrm>
            <a:off x="1871640" y="360360"/>
            <a:ext cx="5380920" cy="6114240"/>
          </a:xfrm>
          <a:prstGeom prst="rect">
            <a:avLst/>
          </a:prstGeom>
          <a:noFill/>
          <a:ln w="0">
            <a:noFill/>
          </a:ln>
        </p:spPr>
      </p:pic>
      <p:pic>
        <p:nvPicPr>
          <p:cNvPr id="139" name="Picture 30" descr=""/>
          <p:cNvPicPr/>
          <p:nvPr/>
        </p:nvPicPr>
        <p:blipFill>
          <a:blip r:embed="rId3"/>
          <a:stretch/>
        </p:blipFill>
        <p:spPr>
          <a:xfrm>
            <a:off x="1871640" y="360360"/>
            <a:ext cx="5380920" cy="6114240"/>
          </a:xfrm>
          <a:prstGeom prst="rect">
            <a:avLst/>
          </a:prstGeom>
          <a:noFill/>
          <a:ln w="0">
            <a:noFill/>
          </a:ln>
        </p:spPr>
      </p:pic>
      <p:pic>
        <p:nvPicPr>
          <p:cNvPr id="140" name="Picture 31" descr=""/>
          <p:cNvPicPr/>
          <p:nvPr/>
        </p:nvPicPr>
        <p:blipFill>
          <a:blip r:embed="rId4"/>
          <a:stretch/>
        </p:blipFill>
        <p:spPr>
          <a:xfrm>
            <a:off x="1871640" y="360360"/>
            <a:ext cx="5380920" cy="6114240"/>
          </a:xfrm>
          <a:prstGeom prst="rect">
            <a:avLst/>
          </a:prstGeom>
          <a:noFill/>
          <a:ln w="0">
            <a:noFill/>
          </a:ln>
        </p:spPr>
      </p:pic>
      <p:pic>
        <p:nvPicPr>
          <p:cNvPr id="141" name="Picture 32" descr=""/>
          <p:cNvPicPr/>
          <p:nvPr/>
        </p:nvPicPr>
        <p:blipFill>
          <a:blip r:embed="rId5"/>
          <a:stretch/>
        </p:blipFill>
        <p:spPr>
          <a:xfrm>
            <a:off x="1871640" y="360360"/>
            <a:ext cx="5380920" cy="6114240"/>
          </a:xfrm>
          <a:prstGeom prst="rect">
            <a:avLst/>
          </a:prstGeom>
          <a:noFill/>
          <a:ln w="0">
            <a:noFill/>
          </a:ln>
        </p:spPr>
      </p:pic>
      <p:pic>
        <p:nvPicPr>
          <p:cNvPr id="142" name="Picture 33" descr=""/>
          <p:cNvPicPr/>
          <p:nvPr/>
        </p:nvPicPr>
        <p:blipFill>
          <a:blip r:embed="rId6"/>
          <a:stretch/>
        </p:blipFill>
        <p:spPr>
          <a:xfrm>
            <a:off x="1871640" y="360360"/>
            <a:ext cx="5380920" cy="6114240"/>
          </a:xfrm>
          <a:prstGeom prst="rect">
            <a:avLst/>
          </a:prstGeom>
          <a:noFill/>
          <a:ln w="0">
            <a:noFill/>
          </a:ln>
        </p:spPr>
      </p:pic>
      <p:pic>
        <p:nvPicPr>
          <p:cNvPr id="143" name="Picture 34" descr=""/>
          <p:cNvPicPr/>
          <p:nvPr/>
        </p:nvPicPr>
        <p:blipFill>
          <a:blip r:embed="rId7"/>
          <a:stretch/>
        </p:blipFill>
        <p:spPr>
          <a:xfrm>
            <a:off x="1871640" y="360360"/>
            <a:ext cx="5380920" cy="6114240"/>
          </a:xfrm>
          <a:prstGeom prst="rect">
            <a:avLst/>
          </a:prstGeom>
          <a:noFill/>
          <a:ln w="0">
            <a:noFill/>
          </a:ln>
        </p:spPr>
      </p:pic>
    </p:spTree>
  </p:cSld>
  <p:transition spd="slow">
    <p:wipe dir="r"/>
  </p:transition>
  <p:timing>
    <p:tnLst>
      <p:par>
        <p:cTn id="558" dur="indefinite" restart="never" nodeType="tmRoot">
          <p:childTnLst>
            <p:seq>
              <p:cTn id="559" dur="indefinite" nodeType="mainSeq">
                <p:childTnLst>
                  <p:par>
                    <p:cTn id="560" nodeType="clickEffect" fill="hold">
                      <p:stCondLst>
                        <p:cond delay="indefinite"/>
                      </p:stCondLst>
                      <p:childTnLst>
                        <p:par>
                          <p:cTn id="561" nodeType="withEffect" fill="hold">
                            <p:stCondLst>
                              <p:cond delay="0"/>
                            </p:stCondLst>
                            <p:childTnLst>
                              <p:par>
                                <p:cTn id="562" nodeType="clickEffect" fill="hold" presetClass="entr" presetID="10">
                                  <p:stCondLst>
                                    <p:cond delay="0"/>
                                  </p:stCondLst>
                                  <p:childTnLst>
                                    <p:set>
                                      <p:cBhvr>
                                        <p:cTn id="563" dur="1" fill="hold">
                                          <p:stCondLst>
                                            <p:cond delay="0"/>
                                          </p:stCondLst>
                                        </p:cTn>
                                        <p:tgtEl>
                                          <p:spTgt spid="138"/>
                                        </p:tgtEl>
                                        <p:attrNameLst>
                                          <p:attrName>style.visibility</p:attrName>
                                        </p:attrNameLst>
                                      </p:cBhvr>
                                      <p:to>
                                        <p:strVal val="visible"/>
                                      </p:to>
                                    </p:set>
                                    <p:animEffect filter="fade" transition="in">
                                      <p:cBhvr additive="repl">
                                        <p:cTn id="564" dur="500"/>
                                        <p:tgtEl>
                                          <p:spTgt spid="138"/>
                                        </p:tgtEl>
                                      </p:cBhvr>
                                    </p:animEffect>
                                  </p:childTnLst>
                                </p:cTn>
                              </p:par>
                            </p:childTnLst>
                          </p:cTn>
                        </p:par>
                      </p:childTnLst>
                    </p:cTn>
                  </p:par>
                  <p:par>
                    <p:cTn id="565" nodeType="clickEffect" fill="hold">
                      <p:stCondLst>
                        <p:cond delay="indefinite"/>
                      </p:stCondLst>
                      <p:childTnLst>
                        <p:par>
                          <p:cTn id="566" nodeType="withEffect" fill="hold">
                            <p:stCondLst>
                              <p:cond delay="0"/>
                            </p:stCondLst>
                            <p:childTnLst>
                              <p:par>
                                <p:cTn id="567" nodeType="clickEffect" fill="hold" presetClass="entr" presetID="22" presetSubtype="8">
                                  <p:stCondLst>
                                    <p:cond delay="0"/>
                                  </p:stCondLst>
                                  <p:childTnLst>
                                    <p:set>
                                      <p:cBhvr>
                                        <p:cTn id="568" dur="1" fill="hold">
                                          <p:stCondLst>
                                            <p:cond delay="0"/>
                                          </p:stCondLst>
                                        </p:cTn>
                                        <p:tgtEl>
                                          <p:spTgt spid="139"/>
                                        </p:tgtEl>
                                        <p:attrNameLst>
                                          <p:attrName>style.visibility</p:attrName>
                                        </p:attrNameLst>
                                      </p:cBhvr>
                                      <p:to>
                                        <p:strVal val="visible"/>
                                      </p:to>
                                    </p:set>
                                    <p:animEffect filter="wipe(left)" transition="in">
                                      <p:cBhvr additive="repl">
                                        <p:cTn id="569" dur="1000"/>
                                        <p:tgtEl>
                                          <p:spTgt spid="139"/>
                                        </p:tgtEl>
                                      </p:cBhvr>
                                    </p:animEffect>
                                  </p:childTnLst>
                                </p:cTn>
                              </p:par>
                            </p:childTnLst>
                          </p:cTn>
                        </p:par>
                      </p:childTnLst>
                    </p:cTn>
                  </p:par>
                  <p:par>
                    <p:cTn id="570" nodeType="clickEffect" fill="hold">
                      <p:stCondLst>
                        <p:cond delay="indefinite"/>
                      </p:stCondLst>
                      <p:childTnLst>
                        <p:par>
                          <p:cTn id="571" nodeType="withEffect" fill="hold">
                            <p:stCondLst>
                              <p:cond delay="0"/>
                            </p:stCondLst>
                            <p:childTnLst>
                              <p:par>
                                <p:cTn id="572" nodeType="clickEffect" fill="hold" presetClass="entr" presetID="10">
                                  <p:stCondLst>
                                    <p:cond delay="0"/>
                                  </p:stCondLst>
                                  <p:childTnLst>
                                    <p:set>
                                      <p:cBhvr>
                                        <p:cTn id="573" dur="1" fill="hold">
                                          <p:stCondLst>
                                            <p:cond delay="0"/>
                                          </p:stCondLst>
                                        </p:cTn>
                                        <p:tgtEl>
                                          <p:spTgt spid="140"/>
                                        </p:tgtEl>
                                        <p:attrNameLst>
                                          <p:attrName>style.visibility</p:attrName>
                                        </p:attrNameLst>
                                      </p:cBhvr>
                                      <p:to>
                                        <p:strVal val="visible"/>
                                      </p:to>
                                    </p:set>
                                    <p:animEffect filter="fade" transition="in">
                                      <p:cBhvr additive="repl">
                                        <p:cTn id="574" dur="500"/>
                                        <p:tgtEl>
                                          <p:spTgt spid="140"/>
                                        </p:tgtEl>
                                      </p:cBhvr>
                                    </p:animEffect>
                                  </p:childTnLst>
                                </p:cTn>
                              </p:par>
                            </p:childTnLst>
                          </p:cTn>
                        </p:par>
                      </p:childTnLst>
                    </p:cTn>
                  </p:par>
                  <p:par>
                    <p:cTn id="575" nodeType="clickEffect" fill="hold">
                      <p:stCondLst>
                        <p:cond delay="indefinite"/>
                      </p:stCondLst>
                      <p:childTnLst>
                        <p:par>
                          <p:cTn id="576" nodeType="withEffect" fill="hold">
                            <p:stCondLst>
                              <p:cond delay="0"/>
                            </p:stCondLst>
                            <p:childTnLst>
                              <p:par>
                                <p:cTn id="577" nodeType="clickEffect" fill="hold" presetClass="entr" presetID="10">
                                  <p:stCondLst>
                                    <p:cond delay="0"/>
                                  </p:stCondLst>
                                  <p:childTnLst>
                                    <p:set>
                                      <p:cBhvr>
                                        <p:cTn id="578" dur="1" fill="hold">
                                          <p:stCondLst>
                                            <p:cond delay="0"/>
                                          </p:stCondLst>
                                        </p:cTn>
                                        <p:tgtEl>
                                          <p:spTgt spid="141"/>
                                        </p:tgtEl>
                                        <p:attrNameLst>
                                          <p:attrName>style.visibility</p:attrName>
                                        </p:attrNameLst>
                                      </p:cBhvr>
                                      <p:to>
                                        <p:strVal val="visible"/>
                                      </p:to>
                                    </p:set>
                                    <p:animEffect filter="fade" transition="in">
                                      <p:cBhvr additive="repl">
                                        <p:cTn id="579" dur="500"/>
                                        <p:tgtEl>
                                          <p:spTgt spid="141"/>
                                        </p:tgtEl>
                                      </p:cBhvr>
                                    </p:animEffect>
                                  </p:childTnLst>
                                </p:cTn>
                              </p:par>
                            </p:childTnLst>
                          </p:cTn>
                        </p:par>
                      </p:childTnLst>
                    </p:cTn>
                  </p:par>
                  <p:par>
                    <p:cTn id="580" nodeType="clickEffect" fill="hold">
                      <p:stCondLst>
                        <p:cond delay="indefinite"/>
                      </p:stCondLst>
                      <p:childTnLst>
                        <p:par>
                          <p:cTn id="581" nodeType="withEffect" fill="hold">
                            <p:stCondLst>
                              <p:cond delay="0"/>
                            </p:stCondLst>
                            <p:childTnLst>
                              <p:par>
                                <p:cTn id="582" nodeType="clickEffect" fill="hold" presetClass="entr" presetID="22" presetSubtype="8">
                                  <p:stCondLst>
                                    <p:cond delay="0"/>
                                  </p:stCondLst>
                                  <p:childTnLst>
                                    <p:set>
                                      <p:cBhvr>
                                        <p:cTn id="583" dur="1" fill="hold">
                                          <p:stCondLst>
                                            <p:cond delay="0"/>
                                          </p:stCondLst>
                                        </p:cTn>
                                        <p:tgtEl>
                                          <p:spTgt spid="142"/>
                                        </p:tgtEl>
                                        <p:attrNameLst>
                                          <p:attrName>style.visibility</p:attrName>
                                        </p:attrNameLst>
                                      </p:cBhvr>
                                      <p:to>
                                        <p:strVal val="visible"/>
                                      </p:to>
                                    </p:set>
                                    <p:animEffect filter="wipe(left)" transition="in">
                                      <p:cBhvr additive="repl">
                                        <p:cTn id="584" dur="1000"/>
                                        <p:tgtEl>
                                          <p:spTgt spid="142"/>
                                        </p:tgtEl>
                                      </p:cBhvr>
                                    </p:animEffect>
                                  </p:childTnLst>
                                </p:cTn>
                              </p:par>
                            </p:childTnLst>
                          </p:cTn>
                        </p:par>
                      </p:childTnLst>
                    </p:cTn>
                  </p:par>
                  <p:par>
                    <p:cTn id="585" nodeType="clickEffect" fill="hold">
                      <p:stCondLst>
                        <p:cond delay="indefinite"/>
                      </p:stCondLst>
                      <p:childTnLst>
                        <p:par>
                          <p:cTn id="586" nodeType="withEffect" fill="hold">
                            <p:stCondLst>
                              <p:cond delay="0"/>
                            </p:stCondLst>
                            <p:childTnLst>
                              <p:par>
                                <p:cTn id="587" nodeType="clickEffect" fill="hold" presetClass="entr" presetID="10">
                                  <p:stCondLst>
                                    <p:cond delay="0"/>
                                  </p:stCondLst>
                                  <p:childTnLst>
                                    <p:set>
                                      <p:cBhvr>
                                        <p:cTn id="588" dur="1" fill="hold">
                                          <p:stCondLst>
                                            <p:cond delay="0"/>
                                          </p:stCondLst>
                                        </p:cTn>
                                        <p:tgtEl>
                                          <p:spTgt spid="143"/>
                                        </p:tgtEl>
                                        <p:attrNameLst>
                                          <p:attrName>style.visibility</p:attrName>
                                        </p:attrNameLst>
                                      </p:cBhvr>
                                      <p:to>
                                        <p:strVal val="visible"/>
                                      </p:to>
                                    </p:set>
                                    <p:animEffect filter="fade" transition="in">
                                      <p:cBhvr additive="repl">
                                        <p:cTn id="589" dur="5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Text Box 2"/>
          <p:cNvSpPr/>
          <p:nvPr/>
        </p:nvSpPr>
        <p:spPr>
          <a:xfrm>
            <a:off x="393840" y="2209680"/>
            <a:ext cx="4406040" cy="45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2400" strike="noStrike" u="none">
              <a:solidFill>
                <a:srgbClr val="000000"/>
              </a:solidFill>
              <a:effectLst/>
              <a:uFillTx/>
              <a:latin typeface="Arial"/>
              <a:ea typeface="ＭＳ Ｐゴシック"/>
            </a:endParaRPr>
          </a:p>
        </p:txBody>
      </p:sp>
      <p:sp>
        <p:nvSpPr>
          <p:cNvPr id="14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6.1  ALLOCATION METHODS AND EFFICIENCY</a:t>
            </a:r>
            <a:endParaRPr b="0" lang="en-US" sz="2600" strike="noStrike" u="none">
              <a:solidFill>
                <a:srgbClr val="000000"/>
              </a:solidFill>
              <a:effectLst/>
              <a:uFillTx/>
              <a:latin typeface="Arial"/>
            </a:endParaRPr>
          </a:p>
        </p:txBody>
      </p:sp>
      <p:sp>
        <p:nvSpPr>
          <p:cNvPr id="146" name="PlaceHolder 2"/>
          <p:cNvSpPr>
            <a:spLocks noGrp="1"/>
          </p:cNvSpPr>
          <p:nvPr>
            <p:ph/>
          </p:nvPr>
        </p:nvSpPr>
        <p:spPr>
          <a:xfrm>
            <a:off x="360360" y="1440000"/>
            <a:ext cx="4390200" cy="464760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startAt="2"/>
            </a:pPr>
            <a:r>
              <a:rPr b="0" lang="en-US" sz="2400" strike="noStrike" u="none">
                <a:solidFill>
                  <a:srgbClr val="000000"/>
                </a:solidFill>
                <a:effectLst/>
                <a:uFillTx/>
                <a:latin typeface="Arial"/>
                <a:ea typeface="ＭＳ Ｐゴシック"/>
              </a:rPr>
              <a:t>When 6,000 pizzas are produced, marginal cost exceeds marginal benefit,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so the efficient quantity is smaller.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Too many pizzas are being produced.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Decrease the quantity of pizzas by moving along the </a:t>
            </a:r>
            <a:r>
              <a:rPr b="0" i="1" lang="en-US" sz="2400" strike="noStrike" u="none">
                <a:solidFill>
                  <a:srgbClr val="000000"/>
                </a:solidFill>
                <a:effectLst/>
                <a:uFillTx/>
                <a:latin typeface="Arial"/>
                <a:ea typeface="ＭＳ Ｐゴシック"/>
              </a:rPr>
              <a:t>PPF</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pic>
        <p:nvPicPr>
          <p:cNvPr id="147" name="Picture 12" descr=""/>
          <p:cNvPicPr/>
          <p:nvPr/>
        </p:nvPicPr>
        <p:blipFill>
          <a:blip r:embed="rId1"/>
          <a:stretch/>
        </p:blipFill>
        <p:spPr>
          <a:xfrm>
            <a:off x="4680000" y="1368360"/>
            <a:ext cx="4036320" cy="4585680"/>
          </a:xfrm>
          <a:prstGeom prst="rect">
            <a:avLst/>
          </a:prstGeom>
          <a:noFill/>
          <a:ln w="0">
            <a:noFill/>
          </a:ln>
        </p:spPr>
      </p:pic>
      <p:pic>
        <p:nvPicPr>
          <p:cNvPr id="148" name="Picture 13" descr=""/>
          <p:cNvPicPr/>
          <p:nvPr/>
        </p:nvPicPr>
        <p:blipFill>
          <a:blip r:embed="rId2"/>
          <a:stretch/>
        </p:blipFill>
        <p:spPr>
          <a:xfrm>
            <a:off x="4680000" y="1368360"/>
            <a:ext cx="4036320" cy="4585680"/>
          </a:xfrm>
          <a:prstGeom prst="rect">
            <a:avLst/>
          </a:prstGeom>
          <a:noFill/>
          <a:ln w="0">
            <a:noFill/>
          </a:ln>
        </p:spPr>
      </p:pic>
      <p:pic>
        <p:nvPicPr>
          <p:cNvPr id="149" name="Picture 14" descr=""/>
          <p:cNvPicPr/>
          <p:nvPr/>
        </p:nvPicPr>
        <p:blipFill>
          <a:blip r:embed="rId3"/>
          <a:stretch/>
        </p:blipFill>
        <p:spPr>
          <a:xfrm>
            <a:off x="4680000" y="1368360"/>
            <a:ext cx="4036320" cy="4585680"/>
          </a:xfrm>
          <a:prstGeom prst="rect">
            <a:avLst/>
          </a:prstGeom>
          <a:noFill/>
          <a:ln w="0">
            <a:noFill/>
          </a:ln>
        </p:spPr>
      </p:pic>
      <p:pic>
        <p:nvPicPr>
          <p:cNvPr id="150" name="Picture 15" descr=""/>
          <p:cNvPicPr/>
          <p:nvPr/>
        </p:nvPicPr>
        <p:blipFill>
          <a:blip r:embed="rId4"/>
          <a:stretch/>
        </p:blipFill>
        <p:spPr>
          <a:xfrm>
            <a:off x="4680000" y="1368360"/>
            <a:ext cx="4036320" cy="4585680"/>
          </a:xfrm>
          <a:prstGeom prst="rect">
            <a:avLst/>
          </a:prstGeom>
          <a:noFill/>
          <a:ln w="0">
            <a:noFill/>
          </a:ln>
        </p:spPr>
      </p:pic>
      <p:pic>
        <p:nvPicPr>
          <p:cNvPr id="151" name="Picture 16" descr=""/>
          <p:cNvPicPr/>
          <p:nvPr/>
        </p:nvPicPr>
        <p:blipFill>
          <a:blip r:embed="rId5"/>
          <a:stretch/>
        </p:blipFill>
        <p:spPr>
          <a:xfrm>
            <a:off x="4680000" y="1368360"/>
            <a:ext cx="4036320" cy="4585680"/>
          </a:xfrm>
          <a:prstGeom prst="rect">
            <a:avLst/>
          </a:prstGeom>
          <a:noFill/>
          <a:ln w="0">
            <a:noFill/>
          </a:ln>
        </p:spPr>
      </p:pic>
      <p:pic>
        <p:nvPicPr>
          <p:cNvPr id="152" name="Picture 17" descr=""/>
          <p:cNvPicPr/>
          <p:nvPr/>
        </p:nvPicPr>
        <p:blipFill>
          <a:blip r:embed="rId6"/>
          <a:stretch/>
        </p:blipFill>
        <p:spPr>
          <a:xfrm>
            <a:off x="4680000" y="1368360"/>
            <a:ext cx="4036320" cy="4585680"/>
          </a:xfrm>
          <a:prstGeom prst="rect">
            <a:avLst/>
          </a:prstGeom>
          <a:noFill/>
          <a:ln w="0">
            <a:noFill/>
          </a:ln>
        </p:spPr>
      </p:pic>
      <p:pic>
        <p:nvPicPr>
          <p:cNvPr id="153" name="Picture 18" descr=""/>
          <p:cNvPicPr/>
          <p:nvPr/>
        </p:nvPicPr>
        <p:blipFill>
          <a:blip r:embed="rId7"/>
          <a:stretch/>
        </p:blipFill>
        <p:spPr>
          <a:xfrm>
            <a:off x="4680000" y="1368360"/>
            <a:ext cx="4036320" cy="4585680"/>
          </a:xfrm>
          <a:prstGeom prst="rect">
            <a:avLst/>
          </a:prstGeom>
          <a:noFill/>
          <a:ln w="0">
            <a:noFill/>
          </a:ln>
        </p:spPr>
      </p:pic>
    </p:spTree>
  </p:cSld>
  <p:transition spd="slow">
    <p:wipe dir="r"/>
  </p:transition>
  <p:timing>
    <p:tnLst>
      <p:par>
        <p:cTn id="590" dur="indefinite" restart="never" nodeType="tmRoot">
          <p:childTnLst>
            <p:seq>
              <p:cTn id="591" dur="indefinite" nodeType="mainSeq">
                <p:childTnLst>
                  <p:par>
                    <p:cTn id="592" nodeType="clickEffect" fill="hold">
                      <p:stCondLst>
                        <p:cond delay="0"/>
                      </p:stCondLst>
                      <p:childTnLst>
                        <p:par>
                          <p:cTn id="593" nodeType="withEffect" fill="hold">
                            <p:stCondLst>
                              <p:cond delay="0"/>
                            </p:stCondLst>
                            <p:childTnLst>
                              <p:par>
                                <p:cTn id="594" nodeType="withEffect" fill="hold" presetClass="entr" presetID="10">
                                  <p:stCondLst>
                                    <p:cond delay="0"/>
                                  </p:stCondLst>
                                  <p:childTnLst>
                                    <p:set>
                                      <p:cBhvr>
                                        <p:cTn id="595" dur="1" fill="hold">
                                          <p:stCondLst>
                                            <p:cond delay="0"/>
                                          </p:stCondLst>
                                        </p:cTn>
                                        <p:tgtEl>
                                          <p:spTgt spid="148"/>
                                        </p:tgtEl>
                                        <p:attrNameLst>
                                          <p:attrName>style.visibility</p:attrName>
                                        </p:attrNameLst>
                                      </p:cBhvr>
                                      <p:to>
                                        <p:strVal val="visible"/>
                                      </p:to>
                                    </p:set>
                                    <p:animEffect filter="fade" transition="in">
                                      <p:cBhvr additive="repl">
                                        <p:cTn id="596" dur="500"/>
                                        <p:tgtEl>
                                          <p:spTgt spid="148"/>
                                        </p:tgtEl>
                                      </p:cBhvr>
                                    </p:animEffect>
                                  </p:childTnLst>
                                </p:cTn>
                              </p:par>
                            </p:childTnLst>
                          </p:cTn>
                        </p:par>
                      </p:childTnLst>
                    </p:cTn>
                  </p:par>
                  <p:par>
                    <p:cTn id="597" nodeType="clickEffect" fill="hold">
                      <p:stCondLst>
                        <p:cond delay="indefinite"/>
                      </p:stCondLst>
                      <p:childTnLst>
                        <p:par>
                          <p:cTn id="598" nodeType="withEffect" fill="hold">
                            <p:stCondLst>
                              <p:cond delay="0"/>
                            </p:stCondLst>
                            <p:childTnLst>
                              <p:par>
                                <p:cTn id="599" nodeType="clickEffect" fill="hold" presetClass="entr" presetID="22" presetSubtype="8">
                                  <p:stCondLst>
                                    <p:cond delay="0"/>
                                  </p:stCondLst>
                                  <p:childTnLst>
                                    <p:set>
                                      <p:cBhvr>
                                        <p:cTn id="600" dur="1" fill="hold">
                                          <p:stCondLst>
                                            <p:cond delay="0"/>
                                          </p:stCondLst>
                                        </p:cTn>
                                        <p:tgtEl>
                                          <p:spTgt spid="146">
                                            <p:txEl>
                                              <p:pRg st="1" end="1"/>
                                            </p:txEl>
                                          </p:spTgt>
                                        </p:tgtEl>
                                        <p:attrNameLst>
                                          <p:attrName>style.visibility</p:attrName>
                                        </p:attrNameLst>
                                      </p:cBhvr>
                                      <p:to>
                                        <p:strVal val="visible"/>
                                      </p:to>
                                    </p:set>
                                    <p:animEffect filter="wipe(left)" transition="in">
                                      <p:cBhvr additive="repl">
                                        <p:cTn id="601" dur="750"/>
                                        <p:tgtEl>
                                          <p:spTgt spid="146">
                                            <p:txEl>
                                              <p:pRg st="1" end="1"/>
                                            </p:txEl>
                                          </p:spTgt>
                                        </p:tgtEl>
                                      </p:cBhvr>
                                    </p:animEffect>
                                  </p:childTnLst>
                                </p:cTn>
                              </p:par>
                              <p:par>
                                <p:cTn id="602" nodeType="withEffect" fill="hold" presetClass="entr" presetID="22" presetSubtype="2">
                                  <p:stCondLst>
                                    <p:cond delay="0"/>
                                  </p:stCondLst>
                                  <p:childTnLst>
                                    <p:set>
                                      <p:cBhvr>
                                        <p:cTn id="603" dur="1" fill="hold">
                                          <p:stCondLst>
                                            <p:cond delay="0"/>
                                          </p:stCondLst>
                                        </p:cTn>
                                        <p:tgtEl>
                                          <p:spTgt spid="149"/>
                                        </p:tgtEl>
                                        <p:attrNameLst>
                                          <p:attrName>style.visibility</p:attrName>
                                        </p:attrNameLst>
                                      </p:cBhvr>
                                      <p:to>
                                        <p:strVal val="visible"/>
                                      </p:to>
                                    </p:set>
                                    <p:animEffect filter="wipe(right)" transition="in">
                                      <p:cBhvr additive="repl">
                                        <p:cTn id="604" dur="1000"/>
                                        <p:tgtEl>
                                          <p:spTgt spid="149"/>
                                        </p:tgtEl>
                                      </p:cBhvr>
                                    </p:animEffect>
                                  </p:childTnLst>
                                </p:cTn>
                              </p:par>
                              <p:par>
                                <p:cTn id="605" nodeType="withEffect" fill="hold" presetClass="entr" presetID="10">
                                  <p:stCondLst>
                                    <p:cond delay="800"/>
                                  </p:stCondLst>
                                  <p:childTnLst>
                                    <p:set>
                                      <p:cBhvr>
                                        <p:cTn id="606" dur="1" fill="hold">
                                          <p:stCondLst>
                                            <p:cond delay="0"/>
                                          </p:stCondLst>
                                        </p:cTn>
                                        <p:tgtEl>
                                          <p:spTgt spid="150"/>
                                        </p:tgtEl>
                                        <p:attrNameLst>
                                          <p:attrName>style.visibility</p:attrName>
                                        </p:attrNameLst>
                                      </p:cBhvr>
                                      <p:to>
                                        <p:strVal val="visible"/>
                                      </p:to>
                                    </p:set>
                                    <p:animEffect filter="fade" transition="in">
                                      <p:cBhvr additive="repl">
                                        <p:cTn id="607" dur="500"/>
                                        <p:tgtEl>
                                          <p:spTgt spid="150"/>
                                        </p:tgtEl>
                                      </p:cBhvr>
                                    </p:animEffect>
                                  </p:childTnLst>
                                </p:cTn>
                              </p:par>
                            </p:childTnLst>
                          </p:cTn>
                        </p:par>
                      </p:childTnLst>
                    </p:cTn>
                  </p:par>
                  <p:par>
                    <p:cTn id="608" nodeType="clickEffect" fill="hold">
                      <p:stCondLst>
                        <p:cond delay="indefinite"/>
                      </p:stCondLst>
                      <p:childTnLst>
                        <p:par>
                          <p:cTn id="609" nodeType="withEffect" fill="hold">
                            <p:stCondLst>
                              <p:cond delay="0"/>
                            </p:stCondLst>
                            <p:childTnLst>
                              <p:par>
                                <p:cTn id="610" nodeType="clickEffect" fill="hold" presetClass="entr" presetID="22" presetSubtype="8">
                                  <p:stCondLst>
                                    <p:cond delay="0"/>
                                  </p:stCondLst>
                                  <p:childTnLst>
                                    <p:set>
                                      <p:cBhvr>
                                        <p:cTn id="611" dur="1" fill="hold">
                                          <p:stCondLst>
                                            <p:cond delay="0"/>
                                          </p:stCondLst>
                                        </p:cTn>
                                        <p:tgtEl>
                                          <p:spTgt spid="146">
                                            <p:txEl>
                                              <p:pRg st="2" end="2"/>
                                            </p:txEl>
                                          </p:spTgt>
                                        </p:tgtEl>
                                        <p:attrNameLst>
                                          <p:attrName>style.visibility</p:attrName>
                                        </p:attrNameLst>
                                      </p:cBhvr>
                                      <p:to>
                                        <p:strVal val="visible"/>
                                      </p:to>
                                    </p:set>
                                    <p:animEffect filter="wipe(left)" transition="in">
                                      <p:cBhvr additive="repl">
                                        <p:cTn id="612" dur="750"/>
                                        <p:tgtEl>
                                          <p:spTgt spid="146">
                                            <p:txEl>
                                              <p:pRg st="2" end="2"/>
                                            </p:txEl>
                                          </p:spTgt>
                                        </p:tgtEl>
                                      </p:cBhvr>
                                    </p:animEffect>
                                  </p:childTnLst>
                                </p:cTn>
                              </p:par>
                              <p:par>
                                <p:cTn id="613" nodeType="withEffect" fill="hold" presetClass="entr" presetID="10">
                                  <p:stCondLst>
                                    <p:cond delay="0"/>
                                  </p:stCondLst>
                                  <p:childTnLst>
                                    <p:set>
                                      <p:cBhvr>
                                        <p:cTn id="614" dur="1" fill="hold">
                                          <p:stCondLst>
                                            <p:cond delay="0"/>
                                          </p:stCondLst>
                                        </p:cTn>
                                        <p:tgtEl>
                                          <p:spTgt spid="151"/>
                                        </p:tgtEl>
                                        <p:attrNameLst>
                                          <p:attrName>style.visibility</p:attrName>
                                        </p:attrNameLst>
                                      </p:cBhvr>
                                      <p:to>
                                        <p:strVal val="visible"/>
                                      </p:to>
                                    </p:set>
                                    <p:animEffect filter="fade" transition="in">
                                      <p:cBhvr additive="repl">
                                        <p:cTn id="615" dur="500"/>
                                        <p:tgtEl>
                                          <p:spTgt spid="151"/>
                                        </p:tgtEl>
                                      </p:cBhvr>
                                    </p:animEffect>
                                  </p:childTnLst>
                                </p:cTn>
                              </p:par>
                            </p:childTnLst>
                          </p:cTn>
                        </p:par>
                      </p:childTnLst>
                    </p:cTn>
                  </p:par>
                  <p:par>
                    <p:cTn id="616" nodeType="clickEffect" fill="hold">
                      <p:stCondLst>
                        <p:cond delay="indefinite"/>
                      </p:stCondLst>
                      <p:childTnLst>
                        <p:par>
                          <p:cTn id="617" nodeType="withEffect" fill="hold">
                            <p:stCondLst>
                              <p:cond delay="0"/>
                            </p:stCondLst>
                            <p:childTnLst>
                              <p:par>
                                <p:cTn id="618" nodeType="clickEffect" fill="hold" presetClass="entr" presetID="22" presetSubtype="8">
                                  <p:stCondLst>
                                    <p:cond delay="0"/>
                                  </p:stCondLst>
                                  <p:childTnLst>
                                    <p:set>
                                      <p:cBhvr>
                                        <p:cTn id="619" dur="1" fill="hold">
                                          <p:stCondLst>
                                            <p:cond delay="0"/>
                                          </p:stCondLst>
                                        </p:cTn>
                                        <p:tgtEl>
                                          <p:spTgt spid="146">
                                            <p:txEl>
                                              <p:pRg st="3" end="3"/>
                                            </p:txEl>
                                          </p:spTgt>
                                        </p:tgtEl>
                                        <p:attrNameLst>
                                          <p:attrName>style.visibility</p:attrName>
                                        </p:attrNameLst>
                                      </p:cBhvr>
                                      <p:to>
                                        <p:strVal val="visible"/>
                                      </p:to>
                                    </p:set>
                                    <p:animEffect filter="wipe(left)" transition="in">
                                      <p:cBhvr additive="repl">
                                        <p:cTn id="620" dur="750"/>
                                        <p:tgtEl>
                                          <p:spTgt spid="146">
                                            <p:txEl>
                                              <p:pRg st="3" end="3"/>
                                            </p:txEl>
                                          </p:spTgt>
                                        </p:tgtEl>
                                      </p:cBhvr>
                                    </p:animEffect>
                                  </p:childTnLst>
                                </p:cTn>
                              </p:par>
                              <p:par>
                                <p:cTn id="621" nodeType="withEffect" fill="hold" presetClass="entr" presetID="22" presetSubtype="2">
                                  <p:stCondLst>
                                    <p:cond delay="0"/>
                                  </p:stCondLst>
                                  <p:childTnLst>
                                    <p:set>
                                      <p:cBhvr>
                                        <p:cTn id="622" dur="1" fill="hold">
                                          <p:stCondLst>
                                            <p:cond delay="0"/>
                                          </p:stCondLst>
                                        </p:cTn>
                                        <p:tgtEl>
                                          <p:spTgt spid="152"/>
                                        </p:tgtEl>
                                        <p:attrNameLst>
                                          <p:attrName>style.visibility</p:attrName>
                                        </p:attrNameLst>
                                      </p:cBhvr>
                                      <p:to>
                                        <p:strVal val="visible"/>
                                      </p:to>
                                    </p:set>
                                    <p:animEffect filter="wipe(right)" transition="in">
                                      <p:cBhvr additive="repl">
                                        <p:cTn id="623" dur="1000"/>
                                        <p:tgtEl>
                                          <p:spTgt spid="152"/>
                                        </p:tgtEl>
                                      </p:cBhvr>
                                    </p:animEffect>
                                  </p:childTnLst>
                                </p:cTn>
                              </p:par>
                              <p:par>
                                <p:cTn id="624" nodeType="withEffect" fill="hold" presetClass="entr" presetID="10">
                                  <p:stCondLst>
                                    <p:cond delay="700"/>
                                  </p:stCondLst>
                                  <p:childTnLst>
                                    <p:set>
                                      <p:cBhvr>
                                        <p:cTn id="625" dur="1" fill="hold">
                                          <p:stCondLst>
                                            <p:cond delay="0"/>
                                          </p:stCondLst>
                                        </p:cTn>
                                        <p:tgtEl>
                                          <p:spTgt spid="153"/>
                                        </p:tgtEl>
                                        <p:attrNameLst>
                                          <p:attrName>style.visibility</p:attrName>
                                        </p:attrNameLst>
                                      </p:cBhvr>
                                      <p:to>
                                        <p:strVal val="visible"/>
                                      </p:to>
                                    </p:set>
                                    <p:animEffect filter="fade" transition="in">
                                      <p:cBhvr additive="repl">
                                        <p:cTn id="626" dur="5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54" name="Picture 1" descr=""/>
          <p:cNvPicPr/>
          <p:nvPr/>
        </p:nvPicPr>
        <p:blipFill>
          <a:blip r:embed="rId1"/>
          <a:stretch/>
        </p:blipFill>
        <p:spPr>
          <a:xfrm>
            <a:off x="1871640" y="360360"/>
            <a:ext cx="5380920" cy="6114240"/>
          </a:xfrm>
          <a:prstGeom prst="rect">
            <a:avLst/>
          </a:prstGeom>
          <a:noFill/>
          <a:ln w="0">
            <a:noFill/>
          </a:ln>
        </p:spPr>
      </p:pic>
      <p:pic>
        <p:nvPicPr>
          <p:cNvPr id="155" name="Picture 2" descr=""/>
          <p:cNvPicPr/>
          <p:nvPr/>
        </p:nvPicPr>
        <p:blipFill>
          <a:blip r:embed="rId2"/>
          <a:stretch/>
        </p:blipFill>
        <p:spPr>
          <a:xfrm>
            <a:off x="1871640" y="360360"/>
            <a:ext cx="5380920" cy="6114240"/>
          </a:xfrm>
          <a:prstGeom prst="rect">
            <a:avLst/>
          </a:prstGeom>
          <a:noFill/>
          <a:ln w="0">
            <a:noFill/>
          </a:ln>
        </p:spPr>
      </p:pic>
      <p:pic>
        <p:nvPicPr>
          <p:cNvPr id="156" name="Picture 3" descr=""/>
          <p:cNvPicPr/>
          <p:nvPr/>
        </p:nvPicPr>
        <p:blipFill>
          <a:blip r:embed="rId3"/>
          <a:stretch/>
        </p:blipFill>
        <p:spPr>
          <a:xfrm>
            <a:off x="1871640" y="360360"/>
            <a:ext cx="5380920" cy="6114240"/>
          </a:xfrm>
          <a:prstGeom prst="rect">
            <a:avLst/>
          </a:prstGeom>
          <a:noFill/>
          <a:ln w="0">
            <a:noFill/>
          </a:ln>
        </p:spPr>
      </p:pic>
      <p:pic>
        <p:nvPicPr>
          <p:cNvPr id="157" name="Picture 4" descr=""/>
          <p:cNvPicPr/>
          <p:nvPr/>
        </p:nvPicPr>
        <p:blipFill>
          <a:blip r:embed="rId4"/>
          <a:stretch/>
        </p:blipFill>
        <p:spPr>
          <a:xfrm>
            <a:off x="1871640" y="360360"/>
            <a:ext cx="5380920" cy="6114240"/>
          </a:xfrm>
          <a:prstGeom prst="rect">
            <a:avLst/>
          </a:prstGeom>
          <a:noFill/>
          <a:ln w="0">
            <a:noFill/>
          </a:ln>
        </p:spPr>
      </p:pic>
      <p:pic>
        <p:nvPicPr>
          <p:cNvPr id="158" name="Picture 5" descr=""/>
          <p:cNvPicPr/>
          <p:nvPr/>
        </p:nvPicPr>
        <p:blipFill>
          <a:blip r:embed="rId5"/>
          <a:stretch/>
        </p:blipFill>
        <p:spPr>
          <a:xfrm>
            <a:off x="1871640" y="360360"/>
            <a:ext cx="5380920" cy="6114240"/>
          </a:xfrm>
          <a:prstGeom prst="rect">
            <a:avLst/>
          </a:prstGeom>
          <a:noFill/>
          <a:ln w="0">
            <a:noFill/>
          </a:ln>
        </p:spPr>
      </p:pic>
      <p:pic>
        <p:nvPicPr>
          <p:cNvPr id="159" name="Picture 6" descr=""/>
          <p:cNvPicPr/>
          <p:nvPr/>
        </p:nvPicPr>
        <p:blipFill>
          <a:blip r:embed="rId6"/>
          <a:stretch/>
        </p:blipFill>
        <p:spPr>
          <a:xfrm>
            <a:off x="1871640" y="360360"/>
            <a:ext cx="5380920" cy="6114240"/>
          </a:xfrm>
          <a:prstGeom prst="rect">
            <a:avLst/>
          </a:prstGeom>
          <a:noFill/>
          <a:ln w="0">
            <a:noFill/>
          </a:ln>
        </p:spPr>
      </p:pic>
      <p:pic>
        <p:nvPicPr>
          <p:cNvPr id="160" name="Picture 7" descr=""/>
          <p:cNvPicPr/>
          <p:nvPr/>
        </p:nvPicPr>
        <p:blipFill>
          <a:blip r:embed="rId7"/>
          <a:stretch/>
        </p:blipFill>
        <p:spPr>
          <a:xfrm>
            <a:off x="1871640" y="360360"/>
            <a:ext cx="5380920" cy="6114240"/>
          </a:xfrm>
          <a:prstGeom prst="rect">
            <a:avLst/>
          </a:prstGeom>
          <a:noFill/>
          <a:ln w="0">
            <a:noFill/>
          </a:ln>
        </p:spPr>
      </p:pic>
    </p:spTree>
  </p:cSld>
  <p:transition spd="slow">
    <p:wipe dir="r"/>
  </p:transition>
  <p:timing>
    <p:tnLst>
      <p:par>
        <p:cTn id="627" dur="indefinite" restart="never" nodeType="tmRoot">
          <p:childTnLst>
            <p:seq>
              <p:cTn id="628" dur="indefinite" nodeType="mainSeq">
                <p:childTnLst>
                  <p:par>
                    <p:cTn id="629" nodeType="clickEffect" fill="hold">
                      <p:stCondLst>
                        <p:cond delay="indefinite"/>
                      </p:stCondLst>
                      <p:childTnLst>
                        <p:par>
                          <p:cTn id="630" nodeType="withEffect" fill="hold">
                            <p:stCondLst>
                              <p:cond delay="0"/>
                            </p:stCondLst>
                            <p:childTnLst>
                              <p:par>
                                <p:cTn id="631" nodeType="clickEffect" fill="hold" presetClass="entr" presetID="10">
                                  <p:stCondLst>
                                    <p:cond delay="0"/>
                                  </p:stCondLst>
                                  <p:childTnLst>
                                    <p:set>
                                      <p:cBhvr>
                                        <p:cTn id="632" dur="1" fill="hold">
                                          <p:stCondLst>
                                            <p:cond delay="0"/>
                                          </p:stCondLst>
                                        </p:cTn>
                                        <p:tgtEl>
                                          <p:spTgt spid="155"/>
                                        </p:tgtEl>
                                        <p:attrNameLst>
                                          <p:attrName>style.visibility</p:attrName>
                                        </p:attrNameLst>
                                      </p:cBhvr>
                                      <p:to>
                                        <p:strVal val="visible"/>
                                      </p:to>
                                    </p:set>
                                    <p:animEffect filter="fade" transition="in">
                                      <p:cBhvr additive="repl">
                                        <p:cTn id="633" dur="500"/>
                                        <p:tgtEl>
                                          <p:spTgt spid="155"/>
                                        </p:tgtEl>
                                      </p:cBhvr>
                                    </p:animEffect>
                                  </p:childTnLst>
                                </p:cTn>
                              </p:par>
                            </p:childTnLst>
                          </p:cTn>
                        </p:par>
                      </p:childTnLst>
                    </p:cTn>
                  </p:par>
                  <p:par>
                    <p:cTn id="634" nodeType="clickEffect" fill="hold">
                      <p:stCondLst>
                        <p:cond delay="indefinite"/>
                      </p:stCondLst>
                      <p:childTnLst>
                        <p:par>
                          <p:cTn id="635" nodeType="withEffect" fill="hold">
                            <p:stCondLst>
                              <p:cond delay="0"/>
                            </p:stCondLst>
                            <p:childTnLst>
                              <p:par>
                                <p:cTn id="636" nodeType="clickEffect" fill="hold" presetClass="entr" presetID="22" presetSubtype="2">
                                  <p:stCondLst>
                                    <p:cond delay="0"/>
                                  </p:stCondLst>
                                  <p:childTnLst>
                                    <p:set>
                                      <p:cBhvr>
                                        <p:cTn id="637" dur="1" fill="hold">
                                          <p:stCondLst>
                                            <p:cond delay="0"/>
                                          </p:stCondLst>
                                        </p:cTn>
                                        <p:tgtEl>
                                          <p:spTgt spid="156"/>
                                        </p:tgtEl>
                                        <p:attrNameLst>
                                          <p:attrName>style.visibility</p:attrName>
                                        </p:attrNameLst>
                                      </p:cBhvr>
                                      <p:to>
                                        <p:strVal val="visible"/>
                                      </p:to>
                                    </p:set>
                                    <p:animEffect filter="wipe(right)" transition="in">
                                      <p:cBhvr additive="repl">
                                        <p:cTn id="638" dur="1000"/>
                                        <p:tgtEl>
                                          <p:spTgt spid="156"/>
                                        </p:tgtEl>
                                      </p:cBhvr>
                                    </p:animEffect>
                                  </p:childTnLst>
                                </p:cTn>
                              </p:par>
                            </p:childTnLst>
                          </p:cTn>
                        </p:par>
                      </p:childTnLst>
                    </p:cTn>
                  </p:par>
                  <p:par>
                    <p:cTn id="639" nodeType="clickEffect" fill="hold">
                      <p:stCondLst>
                        <p:cond delay="indefinite"/>
                      </p:stCondLst>
                      <p:childTnLst>
                        <p:par>
                          <p:cTn id="640" nodeType="withEffect" fill="hold">
                            <p:stCondLst>
                              <p:cond delay="0"/>
                            </p:stCondLst>
                            <p:childTnLst>
                              <p:par>
                                <p:cTn id="641" nodeType="clickEffect" fill="hold" presetClass="entr" presetID="10">
                                  <p:stCondLst>
                                    <p:cond delay="0"/>
                                  </p:stCondLst>
                                  <p:childTnLst>
                                    <p:set>
                                      <p:cBhvr>
                                        <p:cTn id="642" dur="1" fill="hold">
                                          <p:stCondLst>
                                            <p:cond delay="0"/>
                                          </p:stCondLst>
                                        </p:cTn>
                                        <p:tgtEl>
                                          <p:spTgt spid="157"/>
                                        </p:tgtEl>
                                        <p:attrNameLst>
                                          <p:attrName>style.visibility</p:attrName>
                                        </p:attrNameLst>
                                      </p:cBhvr>
                                      <p:to>
                                        <p:strVal val="visible"/>
                                      </p:to>
                                    </p:set>
                                    <p:animEffect filter="fade" transition="in">
                                      <p:cBhvr additive="repl">
                                        <p:cTn id="643" dur="500"/>
                                        <p:tgtEl>
                                          <p:spTgt spid="157"/>
                                        </p:tgtEl>
                                      </p:cBhvr>
                                    </p:animEffect>
                                  </p:childTnLst>
                                </p:cTn>
                              </p:par>
                            </p:childTnLst>
                          </p:cTn>
                        </p:par>
                      </p:childTnLst>
                    </p:cTn>
                  </p:par>
                  <p:par>
                    <p:cTn id="644" nodeType="clickEffect" fill="hold">
                      <p:stCondLst>
                        <p:cond delay="indefinite"/>
                      </p:stCondLst>
                      <p:childTnLst>
                        <p:par>
                          <p:cTn id="645" nodeType="withEffect" fill="hold">
                            <p:stCondLst>
                              <p:cond delay="0"/>
                            </p:stCondLst>
                            <p:childTnLst>
                              <p:par>
                                <p:cTn id="646" nodeType="clickEffect" fill="hold" presetClass="entr" presetID="10">
                                  <p:stCondLst>
                                    <p:cond delay="0"/>
                                  </p:stCondLst>
                                  <p:childTnLst>
                                    <p:set>
                                      <p:cBhvr>
                                        <p:cTn id="647" dur="1" fill="hold">
                                          <p:stCondLst>
                                            <p:cond delay="0"/>
                                          </p:stCondLst>
                                        </p:cTn>
                                        <p:tgtEl>
                                          <p:spTgt spid="158"/>
                                        </p:tgtEl>
                                        <p:attrNameLst>
                                          <p:attrName>style.visibility</p:attrName>
                                        </p:attrNameLst>
                                      </p:cBhvr>
                                      <p:to>
                                        <p:strVal val="visible"/>
                                      </p:to>
                                    </p:set>
                                    <p:animEffect filter="fade" transition="in">
                                      <p:cBhvr additive="repl">
                                        <p:cTn id="648" dur="500"/>
                                        <p:tgtEl>
                                          <p:spTgt spid="158"/>
                                        </p:tgtEl>
                                      </p:cBhvr>
                                    </p:animEffect>
                                  </p:childTnLst>
                                </p:cTn>
                              </p:par>
                            </p:childTnLst>
                          </p:cTn>
                        </p:par>
                      </p:childTnLst>
                    </p:cTn>
                  </p:par>
                  <p:par>
                    <p:cTn id="649" nodeType="clickEffect" fill="hold">
                      <p:stCondLst>
                        <p:cond delay="indefinite"/>
                      </p:stCondLst>
                      <p:childTnLst>
                        <p:par>
                          <p:cTn id="650" nodeType="withEffect" fill="hold">
                            <p:stCondLst>
                              <p:cond delay="0"/>
                            </p:stCondLst>
                            <p:childTnLst>
                              <p:par>
                                <p:cTn id="651" nodeType="clickEffect" fill="hold" presetClass="entr" presetID="22" presetSubtype="2">
                                  <p:stCondLst>
                                    <p:cond delay="0"/>
                                  </p:stCondLst>
                                  <p:childTnLst>
                                    <p:set>
                                      <p:cBhvr>
                                        <p:cTn id="652" dur="1" fill="hold">
                                          <p:stCondLst>
                                            <p:cond delay="0"/>
                                          </p:stCondLst>
                                        </p:cTn>
                                        <p:tgtEl>
                                          <p:spTgt spid="159"/>
                                        </p:tgtEl>
                                        <p:attrNameLst>
                                          <p:attrName>style.visibility</p:attrName>
                                        </p:attrNameLst>
                                      </p:cBhvr>
                                      <p:to>
                                        <p:strVal val="visible"/>
                                      </p:to>
                                    </p:set>
                                    <p:animEffect filter="wipe(right)" transition="in">
                                      <p:cBhvr additive="repl">
                                        <p:cTn id="653" dur="1000"/>
                                        <p:tgtEl>
                                          <p:spTgt spid="159"/>
                                        </p:tgtEl>
                                      </p:cBhvr>
                                    </p:animEffect>
                                  </p:childTnLst>
                                </p:cTn>
                              </p:par>
                            </p:childTnLst>
                          </p:cTn>
                        </p:par>
                      </p:childTnLst>
                    </p:cTn>
                  </p:par>
                  <p:par>
                    <p:cTn id="654" nodeType="clickEffect" fill="hold">
                      <p:stCondLst>
                        <p:cond delay="indefinite"/>
                      </p:stCondLst>
                      <p:childTnLst>
                        <p:par>
                          <p:cTn id="655" nodeType="withEffect" fill="hold">
                            <p:stCondLst>
                              <p:cond delay="0"/>
                            </p:stCondLst>
                            <p:childTnLst>
                              <p:par>
                                <p:cTn id="656" nodeType="clickEffect" fill="hold" presetClass="entr" presetID="10">
                                  <p:stCondLst>
                                    <p:cond delay="0"/>
                                  </p:stCondLst>
                                  <p:childTnLst>
                                    <p:set>
                                      <p:cBhvr>
                                        <p:cTn id="657" dur="1" fill="hold">
                                          <p:stCondLst>
                                            <p:cond delay="0"/>
                                          </p:stCondLst>
                                        </p:cTn>
                                        <p:tgtEl>
                                          <p:spTgt spid="160"/>
                                        </p:tgtEl>
                                        <p:attrNameLst>
                                          <p:attrName>style.visibility</p:attrName>
                                        </p:attrNameLst>
                                      </p:cBhvr>
                                      <p:to>
                                        <p:strVal val="visible"/>
                                      </p:to>
                                    </p:set>
                                    <p:animEffect filter="fade" transition="in">
                                      <p:cBhvr additive="repl">
                                        <p:cTn id="658" dur="5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6.2  VALUE, PRICE, AND CONSUMER SURPLUS</a:t>
            </a:r>
            <a:endParaRPr b="0" lang="en-US" sz="2600" strike="noStrike" u="none">
              <a:solidFill>
                <a:srgbClr val="000000"/>
              </a:solidFill>
              <a:effectLst/>
              <a:uFillTx/>
              <a:latin typeface="Arial"/>
            </a:endParaRPr>
          </a:p>
        </p:txBody>
      </p:sp>
      <p:sp>
        <p:nvSpPr>
          <p:cNvPr id="162"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Demand and Marginal Benefit</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Buyers distinguish between </a:t>
            </a:r>
            <a:r>
              <a:rPr b="0" i="1" lang="en-US" sz="2400" strike="noStrike" u="none">
                <a:solidFill>
                  <a:schemeClr val="dk1"/>
                </a:solidFill>
                <a:effectLst/>
                <a:uFillTx/>
                <a:latin typeface="Arial"/>
                <a:ea typeface="ＭＳ Ｐゴシック"/>
              </a:rPr>
              <a:t>value</a:t>
            </a:r>
            <a:r>
              <a:rPr b="0" lang="en-US" sz="2400" strike="noStrike" u="none">
                <a:solidFill>
                  <a:schemeClr val="dk1"/>
                </a:solidFill>
                <a:effectLst/>
                <a:uFillTx/>
                <a:latin typeface="Arial"/>
                <a:ea typeface="ＭＳ Ｐゴシック"/>
              </a:rPr>
              <a:t> and </a:t>
            </a:r>
            <a:r>
              <a:rPr b="0" i="1" lang="en-US" sz="2400" strike="noStrike" u="none">
                <a:solidFill>
                  <a:schemeClr val="dk1"/>
                </a:solidFill>
                <a:effectLst/>
                <a:uFillTx/>
                <a:latin typeface="Arial"/>
                <a:ea typeface="ＭＳ Ｐゴシック"/>
              </a:rPr>
              <a:t>price</a:t>
            </a: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Value is what the buyer gets.</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Price is what the buyer pays.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value of one more unit of a good or service is its marginal benefit.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Marginal benefit can be measured as the maximum price that people are willing to pay for another unit of the good or service.</a:t>
            </a:r>
            <a:endParaRPr b="0" lang="en-US" sz="2400" strike="noStrike" u="none">
              <a:solidFill>
                <a:srgbClr val="000000"/>
              </a:solidFill>
              <a:effectLst/>
              <a:uFillTx/>
              <a:latin typeface="Arial"/>
            </a:endParaRPr>
          </a:p>
        </p:txBody>
      </p:sp>
    </p:spTree>
  </p:cSld>
  <p:transition spd="slow">
    <p:wipe dir="r"/>
  </p:transition>
  <p:timing>
    <p:tnLst>
      <p:par>
        <p:cTn id="659" dur="indefinite" restart="never" nodeType="tmRoot">
          <p:childTnLst>
            <p:seq>
              <p:cTn id="660" dur="indefinite" nodeType="mainSeq">
                <p:childTnLst>
                  <p:par>
                    <p:cTn id="661" nodeType="clickEffect" fill="hold">
                      <p:stCondLst>
                        <p:cond delay="indefinite"/>
                      </p:stCondLst>
                      <p:childTnLst>
                        <p:par>
                          <p:cTn id="662" nodeType="withEffect" fill="hold">
                            <p:stCondLst>
                              <p:cond delay="0"/>
                            </p:stCondLst>
                            <p:childTnLst>
                              <p:par>
                                <p:cTn id="663" nodeType="clickEffect" fill="hold" presetClass="entr" presetID="22" presetSubtype="8">
                                  <p:stCondLst>
                                    <p:cond delay="0"/>
                                  </p:stCondLst>
                                  <p:childTnLst>
                                    <p:set>
                                      <p:cBhvr>
                                        <p:cTn id="664" dur="1" fill="hold">
                                          <p:stCondLst>
                                            <p:cond delay="0"/>
                                          </p:stCondLst>
                                        </p:cTn>
                                        <p:tgtEl>
                                          <p:spTgt spid="162">
                                            <p:txEl>
                                              <p:pRg st="1" end="1"/>
                                            </p:txEl>
                                          </p:spTgt>
                                        </p:tgtEl>
                                        <p:attrNameLst>
                                          <p:attrName>style.visibility</p:attrName>
                                        </p:attrNameLst>
                                      </p:cBhvr>
                                      <p:to>
                                        <p:strVal val="visible"/>
                                      </p:to>
                                    </p:set>
                                    <p:animEffect filter="wipe(left)" transition="in">
                                      <p:cBhvr additive="repl">
                                        <p:cTn id="665" dur="750"/>
                                        <p:tgtEl>
                                          <p:spTgt spid="162">
                                            <p:txEl>
                                              <p:pRg st="1" end="1"/>
                                            </p:txEl>
                                          </p:spTgt>
                                        </p:tgtEl>
                                      </p:cBhvr>
                                    </p:animEffect>
                                  </p:childTnLst>
                                </p:cTn>
                              </p:par>
                            </p:childTnLst>
                          </p:cTn>
                        </p:par>
                      </p:childTnLst>
                    </p:cTn>
                  </p:par>
                  <p:par>
                    <p:cTn id="666" nodeType="clickEffect" fill="hold">
                      <p:stCondLst>
                        <p:cond delay="indefinite"/>
                      </p:stCondLst>
                      <p:childTnLst>
                        <p:par>
                          <p:cTn id="667" nodeType="withEffect" fill="hold">
                            <p:stCondLst>
                              <p:cond delay="0"/>
                            </p:stCondLst>
                            <p:childTnLst>
                              <p:par>
                                <p:cTn id="668" nodeType="clickEffect" fill="hold" presetClass="entr" presetID="22" presetSubtype="8">
                                  <p:stCondLst>
                                    <p:cond delay="0"/>
                                  </p:stCondLst>
                                  <p:childTnLst>
                                    <p:set>
                                      <p:cBhvr>
                                        <p:cTn id="669" dur="1" fill="hold">
                                          <p:stCondLst>
                                            <p:cond delay="0"/>
                                          </p:stCondLst>
                                        </p:cTn>
                                        <p:tgtEl>
                                          <p:spTgt spid="162">
                                            <p:txEl>
                                              <p:pRg st="2" end="2"/>
                                            </p:txEl>
                                          </p:spTgt>
                                        </p:tgtEl>
                                        <p:attrNameLst>
                                          <p:attrName>style.visibility</p:attrName>
                                        </p:attrNameLst>
                                      </p:cBhvr>
                                      <p:to>
                                        <p:strVal val="visible"/>
                                      </p:to>
                                    </p:set>
                                    <p:animEffect filter="wipe(left)" transition="in">
                                      <p:cBhvr additive="repl">
                                        <p:cTn id="670" dur="750"/>
                                        <p:tgtEl>
                                          <p:spTgt spid="162">
                                            <p:txEl>
                                              <p:pRg st="2" end="2"/>
                                            </p:txEl>
                                          </p:spTgt>
                                        </p:tgtEl>
                                      </p:cBhvr>
                                    </p:animEffect>
                                  </p:childTnLst>
                                </p:cTn>
                              </p:par>
                            </p:childTnLst>
                          </p:cTn>
                        </p:par>
                      </p:childTnLst>
                    </p:cTn>
                  </p:par>
                  <p:par>
                    <p:cTn id="671" nodeType="clickEffect" fill="hold">
                      <p:stCondLst>
                        <p:cond delay="indefinite"/>
                      </p:stCondLst>
                      <p:childTnLst>
                        <p:par>
                          <p:cTn id="672" nodeType="withEffect" fill="hold">
                            <p:stCondLst>
                              <p:cond delay="0"/>
                            </p:stCondLst>
                            <p:childTnLst>
                              <p:par>
                                <p:cTn id="673" nodeType="clickEffect" fill="hold" presetClass="entr" presetID="22" presetSubtype="8">
                                  <p:stCondLst>
                                    <p:cond delay="0"/>
                                  </p:stCondLst>
                                  <p:childTnLst>
                                    <p:set>
                                      <p:cBhvr>
                                        <p:cTn id="674" dur="1" fill="hold">
                                          <p:stCondLst>
                                            <p:cond delay="0"/>
                                          </p:stCondLst>
                                        </p:cTn>
                                        <p:tgtEl>
                                          <p:spTgt spid="162">
                                            <p:txEl>
                                              <p:pRg st="3" end="3"/>
                                            </p:txEl>
                                          </p:spTgt>
                                        </p:tgtEl>
                                        <p:attrNameLst>
                                          <p:attrName>style.visibility</p:attrName>
                                        </p:attrNameLst>
                                      </p:cBhvr>
                                      <p:to>
                                        <p:strVal val="visible"/>
                                      </p:to>
                                    </p:set>
                                    <p:animEffect filter="wipe(left)" transition="in">
                                      <p:cBhvr additive="repl">
                                        <p:cTn id="675" dur="750"/>
                                        <p:tgtEl>
                                          <p:spTgt spid="162">
                                            <p:txEl>
                                              <p:pRg st="3" end="3"/>
                                            </p:txEl>
                                          </p:spTgt>
                                        </p:tgtEl>
                                      </p:cBhvr>
                                    </p:animEffect>
                                  </p:childTnLst>
                                </p:cTn>
                              </p:par>
                            </p:childTnLst>
                          </p:cTn>
                        </p:par>
                      </p:childTnLst>
                    </p:cTn>
                  </p:par>
                  <p:par>
                    <p:cTn id="676" nodeType="clickEffect" fill="hold">
                      <p:stCondLst>
                        <p:cond delay="indefinite"/>
                      </p:stCondLst>
                      <p:childTnLst>
                        <p:par>
                          <p:cTn id="677" nodeType="withEffect" fill="hold">
                            <p:stCondLst>
                              <p:cond delay="0"/>
                            </p:stCondLst>
                            <p:childTnLst>
                              <p:par>
                                <p:cTn id="678" nodeType="clickEffect" fill="hold" presetClass="entr" presetID="22" presetSubtype="8">
                                  <p:stCondLst>
                                    <p:cond delay="0"/>
                                  </p:stCondLst>
                                  <p:childTnLst>
                                    <p:set>
                                      <p:cBhvr>
                                        <p:cTn id="679" dur="1" fill="hold">
                                          <p:stCondLst>
                                            <p:cond delay="0"/>
                                          </p:stCondLst>
                                        </p:cTn>
                                        <p:tgtEl>
                                          <p:spTgt spid="162">
                                            <p:txEl>
                                              <p:pRg st="4" end="4"/>
                                            </p:txEl>
                                          </p:spTgt>
                                        </p:tgtEl>
                                        <p:attrNameLst>
                                          <p:attrName>style.visibility</p:attrName>
                                        </p:attrNameLst>
                                      </p:cBhvr>
                                      <p:to>
                                        <p:strVal val="visible"/>
                                      </p:to>
                                    </p:set>
                                    <p:animEffect filter="wipe(left)" transition="in">
                                      <p:cBhvr additive="repl">
                                        <p:cTn id="680" dur="750"/>
                                        <p:tgtEl>
                                          <p:spTgt spid="162">
                                            <p:txEl>
                                              <p:pRg st="4" end="4"/>
                                            </p:txEl>
                                          </p:spTgt>
                                        </p:tgtEl>
                                      </p:cBhvr>
                                    </p:animEffect>
                                  </p:childTnLst>
                                </p:cTn>
                              </p:par>
                            </p:childTnLst>
                          </p:cTn>
                        </p:par>
                      </p:childTnLst>
                    </p:cTn>
                  </p:par>
                  <p:par>
                    <p:cTn id="681" nodeType="clickEffect" fill="hold">
                      <p:stCondLst>
                        <p:cond delay="indefinite"/>
                      </p:stCondLst>
                      <p:childTnLst>
                        <p:par>
                          <p:cTn id="682" nodeType="withEffect" fill="hold">
                            <p:stCondLst>
                              <p:cond delay="0"/>
                            </p:stCondLst>
                            <p:childTnLst>
                              <p:par>
                                <p:cTn id="683" nodeType="clickEffect" fill="hold" presetClass="entr" presetID="22" presetSubtype="8">
                                  <p:stCondLst>
                                    <p:cond delay="0"/>
                                  </p:stCondLst>
                                  <p:childTnLst>
                                    <p:set>
                                      <p:cBhvr>
                                        <p:cTn id="684" dur="1" fill="hold">
                                          <p:stCondLst>
                                            <p:cond delay="0"/>
                                          </p:stCondLst>
                                        </p:cTn>
                                        <p:tgtEl>
                                          <p:spTgt spid="162">
                                            <p:txEl>
                                              <p:pRg st="5" end="5"/>
                                            </p:txEl>
                                          </p:spTgt>
                                        </p:tgtEl>
                                        <p:attrNameLst>
                                          <p:attrName>style.visibility</p:attrName>
                                        </p:attrNameLst>
                                      </p:cBhvr>
                                      <p:to>
                                        <p:strVal val="visible"/>
                                      </p:to>
                                    </p:set>
                                    <p:animEffect filter="wipe(left)" transition="in">
                                      <p:cBhvr additive="repl">
                                        <p:cTn id="685" dur="750"/>
                                        <p:tgtEl>
                                          <p:spTgt spid="162">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6.2  VALUE, PRICE, AND CONSUMER SURPLUS</a:t>
            </a:r>
            <a:endParaRPr b="0" lang="en-US" sz="2600" strike="noStrike" u="none">
              <a:solidFill>
                <a:srgbClr val="000000"/>
              </a:solidFill>
              <a:effectLst/>
              <a:uFillTx/>
              <a:latin typeface="Arial"/>
            </a:endParaRPr>
          </a:p>
        </p:txBody>
      </p:sp>
      <p:sp>
        <p:nvSpPr>
          <p:cNvPr id="164"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consumer will buy one more unit of a good or service if its price is less than or equal to the value the consumer places on it.</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 demand curve is a marginal benefit curve.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 example, the demand curve for pizzas tells us the dollars worth of other goods and services that people are willing to forgo to consume one more pizza.</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That is, the demand curve for pizzas shows the value the consumer places on each pizza.</a:t>
            </a:r>
            <a:endParaRPr b="0" lang="en-US" sz="2400" strike="noStrike" u="none">
              <a:solidFill>
                <a:srgbClr val="000000"/>
              </a:solidFill>
              <a:effectLst/>
              <a:uFillTx/>
              <a:latin typeface="Arial"/>
            </a:endParaRPr>
          </a:p>
        </p:txBody>
      </p:sp>
    </p:spTree>
  </p:cSld>
  <p:transition spd="slow">
    <p:wipe dir="r"/>
  </p:transition>
  <p:timing>
    <p:tnLst>
      <p:par>
        <p:cTn id="686" dur="indefinite" restart="never" nodeType="tmRoot">
          <p:childTnLst>
            <p:seq>
              <p:cTn id="687" dur="indefinite" nodeType="mainSeq">
                <p:childTnLst>
                  <p:par>
                    <p:cTn id="688" nodeType="clickEffect" fill="hold">
                      <p:stCondLst>
                        <p:cond delay="indefinite"/>
                      </p:stCondLst>
                      <p:childTnLst>
                        <p:par>
                          <p:cTn id="689" nodeType="withEffect" fill="hold">
                            <p:stCondLst>
                              <p:cond delay="0"/>
                            </p:stCondLst>
                            <p:childTnLst>
                              <p:par>
                                <p:cTn id="690" nodeType="clickEffect" fill="hold" presetClass="entr" presetID="22" presetSubtype="8">
                                  <p:stCondLst>
                                    <p:cond delay="0"/>
                                  </p:stCondLst>
                                  <p:childTnLst>
                                    <p:set>
                                      <p:cBhvr>
                                        <p:cTn id="691" dur="1" fill="hold">
                                          <p:stCondLst>
                                            <p:cond delay="0"/>
                                          </p:stCondLst>
                                        </p:cTn>
                                        <p:tgtEl>
                                          <p:spTgt spid="164">
                                            <p:txEl>
                                              <p:pRg st="1" end="1"/>
                                            </p:txEl>
                                          </p:spTgt>
                                        </p:tgtEl>
                                        <p:attrNameLst>
                                          <p:attrName>style.visibility</p:attrName>
                                        </p:attrNameLst>
                                      </p:cBhvr>
                                      <p:to>
                                        <p:strVal val="visible"/>
                                      </p:to>
                                    </p:set>
                                    <p:animEffect filter="wipe(left)" transition="in">
                                      <p:cBhvr additive="repl">
                                        <p:cTn id="692" dur="750"/>
                                        <p:tgtEl>
                                          <p:spTgt spid="164">
                                            <p:txEl>
                                              <p:pRg st="1" end="1"/>
                                            </p:txEl>
                                          </p:spTgt>
                                        </p:tgtEl>
                                      </p:cBhvr>
                                    </p:animEffect>
                                  </p:childTnLst>
                                </p:cTn>
                              </p:par>
                            </p:childTnLst>
                          </p:cTn>
                        </p:par>
                      </p:childTnLst>
                    </p:cTn>
                  </p:par>
                  <p:par>
                    <p:cTn id="693" nodeType="clickEffect" fill="hold">
                      <p:stCondLst>
                        <p:cond delay="indefinite"/>
                      </p:stCondLst>
                      <p:childTnLst>
                        <p:par>
                          <p:cTn id="694" nodeType="withEffect" fill="hold">
                            <p:stCondLst>
                              <p:cond delay="0"/>
                            </p:stCondLst>
                            <p:childTnLst>
                              <p:par>
                                <p:cTn id="695" nodeType="clickEffect" fill="hold" presetClass="entr" presetID="22" presetSubtype="8">
                                  <p:stCondLst>
                                    <p:cond delay="0"/>
                                  </p:stCondLst>
                                  <p:childTnLst>
                                    <p:set>
                                      <p:cBhvr>
                                        <p:cTn id="696" dur="1" fill="hold">
                                          <p:stCondLst>
                                            <p:cond delay="0"/>
                                          </p:stCondLst>
                                        </p:cTn>
                                        <p:tgtEl>
                                          <p:spTgt spid="164">
                                            <p:txEl>
                                              <p:pRg st="2" end="2"/>
                                            </p:txEl>
                                          </p:spTgt>
                                        </p:tgtEl>
                                        <p:attrNameLst>
                                          <p:attrName>style.visibility</p:attrName>
                                        </p:attrNameLst>
                                      </p:cBhvr>
                                      <p:to>
                                        <p:strVal val="visible"/>
                                      </p:to>
                                    </p:set>
                                    <p:animEffect filter="wipe(left)" transition="in">
                                      <p:cBhvr additive="repl">
                                        <p:cTn id="697" dur="750"/>
                                        <p:tgtEl>
                                          <p:spTgt spid="164">
                                            <p:txEl>
                                              <p:pRg st="2" end="2"/>
                                            </p:txEl>
                                          </p:spTgt>
                                        </p:tgtEl>
                                      </p:cBhvr>
                                    </p:animEffect>
                                  </p:childTnLst>
                                </p:cTn>
                              </p:par>
                            </p:childTnLst>
                          </p:cTn>
                        </p:par>
                      </p:childTnLst>
                    </p:cTn>
                  </p:par>
                  <p:par>
                    <p:cTn id="698" nodeType="clickEffect" fill="hold">
                      <p:stCondLst>
                        <p:cond delay="indefinite"/>
                      </p:stCondLst>
                      <p:childTnLst>
                        <p:par>
                          <p:cTn id="699" nodeType="withEffect" fill="hold">
                            <p:stCondLst>
                              <p:cond delay="0"/>
                            </p:stCondLst>
                            <p:childTnLst>
                              <p:par>
                                <p:cTn id="700" nodeType="clickEffect" fill="hold" presetClass="entr" presetID="22" presetSubtype="8">
                                  <p:stCondLst>
                                    <p:cond delay="0"/>
                                  </p:stCondLst>
                                  <p:childTnLst>
                                    <p:set>
                                      <p:cBhvr>
                                        <p:cTn id="701" dur="1" fill="hold">
                                          <p:stCondLst>
                                            <p:cond delay="0"/>
                                          </p:stCondLst>
                                        </p:cTn>
                                        <p:tgtEl>
                                          <p:spTgt spid="164">
                                            <p:txEl>
                                              <p:pRg st="3" end="3"/>
                                            </p:txEl>
                                          </p:spTgt>
                                        </p:tgtEl>
                                        <p:attrNameLst>
                                          <p:attrName>style.visibility</p:attrName>
                                        </p:attrNameLst>
                                      </p:cBhvr>
                                      <p:to>
                                        <p:strVal val="visible"/>
                                      </p:to>
                                    </p:set>
                                    <p:animEffect filter="wipe(left)" transition="in">
                                      <p:cBhvr additive="repl">
                                        <p:cTn id="702" dur="750"/>
                                        <p:tgtEl>
                                          <p:spTgt spid="16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6.2  VALUE, PRICE, AND CONSUMER SURPLUS </a:t>
            </a:r>
            <a:endParaRPr b="0" lang="en-US" sz="2600" strike="noStrike" u="none">
              <a:solidFill>
                <a:srgbClr val="000000"/>
              </a:solidFill>
              <a:effectLst/>
              <a:uFillTx/>
              <a:latin typeface="Arial"/>
            </a:endParaRPr>
          </a:p>
        </p:txBody>
      </p:sp>
      <p:sp>
        <p:nvSpPr>
          <p:cNvPr id="166" name="PlaceHolder 2"/>
          <p:cNvSpPr>
            <a:spLocks noGrp="1"/>
          </p:cNvSpPr>
          <p:nvPr>
            <p:ph/>
          </p:nvPr>
        </p:nvSpPr>
        <p:spPr>
          <a:xfrm>
            <a:off x="360360" y="1440000"/>
            <a:ext cx="42872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6.4 shows demand, willingness to pay, and marginal benefit.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demand curve shows: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quantity demanded at each price, other things remaining the same.</a:t>
            </a:r>
            <a:endParaRPr b="0" lang="en-US" sz="2400" strike="noStrike" u="none">
              <a:solidFill>
                <a:srgbClr val="000000"/>
              </a:solidFill>
              <a:effectLst/>
              <a:uFillTx/>
              <a:latin typeface="Arial"/>
            </a:endParaRPr>
          </a:p>
        </p:txBody>
      </p:sp>
      <p:pic>
        <p:nvPicPr>
          <p:cNvPr id="167" name="Picture 10" descr="fig0604aa.gif"/>
          <p:cNvPicPr/>
          <p:nvPr/>
        </p:nvPicPr>
        <p:blipFill>
          <a:blip r:embed="rId1"/>
          <a:stretch/>
        </p:blipFill>
        <p:spPr>
          <a:xfrm>
            <a:off x="4680000" y="1511280"/>
            <a:ext cx="4060080" cy="4350600"/>
          </a:xfrm>
          <a:prstGeom prst="rect">
            <a:avLst/>
          </a:prstGeom>
          <a:noFill/>
          <a:ln w="0">
            <a:noFill/>
          </a:ln>
        </p:spPr>
      </p:pic>
      <p:pic>
        <p:nvPicPr>
          <p:cNvPr id="168" name="Picture 11" descr="fig0604ab.gif"/>
          <p:cNvPicPr/>
          <p:nvPr/>
        </p:nvPicPr>
        <p:blipFill>
          <a:blip r:embed="rId2"/>
          <a:stretch/>
        </p:blipFill>
        <p:spPr>
          <a:xfrm>
            <a:off x="4680000" y="1511280"/>
            <a:ext cx="4060080" cy="4350600"/>
          </a:xfrm>
          <a:prstGeom prst="rect">
            <a:avLst/>
          </a:prstGeom>
          <a:noFill/>
          <a:ln w="0">
            <a:noFill/>
          </a:ln>
        </p:spPr>
      </p:pic>
      <p:pic>
        <p:nvPicPr>
          <p:cNvPr id="169" name="Picture 12" descr="fig0604ac.gif"/>
          <p:cNvPicPr/>
          <p:nvPr/>
        </p:nvPicPr>
        <p:blipFill>
          <a:blip r:embed="rId3"/>
          <a:stretch/>
        </p:blipFill>
        <p:spPr>
          <a:xfrm>
            <a:off x="4680000" y="1511280"/>
            <a:ext cx="4060080" cy="4350600"/>
          </a:xfrm>
          <a:prstGeom prst="rect">
            <a:avLst/>
          </a:prstGeom>
          <a:noFill/>
          <a:ln w="0">
            <a:noFill/>
          </a:ln>
        </p:spPr>
      </p:pic>
      <p:pic>
        <p:nvPicPr>
          <p:cNvPr id="170" name="Picture 13" descr="fig0604ad.gif"/>
          <p:cNvPicPr/>
          <p:nvPr/>
        </p:nvPicPr>
        <p:blipFill>
          <a:blip r:embed="rId4"/>
          <a:stretch/>
        </p:blipFill>
        <p:spPr>
          <a:xfrm>
            <a:off x="4680000" y="1511280"/>
            <a:ext cx="4060080" cy="4350600"/>
          </a:xfrm>
          <a:prstGeom prst="rect">
            <a:avLst/>
          </a:prstGeom>
          <a:noFill/>
          <a:ln w="0">
            <a:noFill/>
          </a:ln>
        </p:spPr>
      </p:pic>
    </p:spTree>
  </p:cSld>
  <p:transition spd="slow">
    <p:wipe dir="r"/>
  </p:transition>
  <p:timing>
    <p:tnLst>
      <p:par>
        <p:cTn id="703" dur="indefinite" restart="never" nodeType="tmRoot">
          <p:childTnLst>
            <p:seq>
              <p:cTn id="704" dur="indefinite" nodeType="mainSeq">
                <p:childTnLst>
                  <p:par>
                    <p:cTn id="705" nodeType="clickEffect" fill="hold">
                      <p:stCondLst>
                        <p:cond delay="indefinite"/>
                      </p:stCondLst>
                      <p:childTnLst>
                        <p:par>
                          <p:cTn id="706" nodeType="withEffect" fill="hold">
                            <p:stCondLst>
                              <p:cond delay="0"/>
                            </p:stCondLst>
                            <p:childTnLst>
                              <p:par>
                                <p:cTn id="707" nodeType="clickEffect" fill="hold" presetClass="entr" presetID="22" presetSubtype="8">
                                  <p:stCondLst>
                                    <p:cond delay="0"/>
                                  </p:stCondLst>
                                  <p:childTnLst>
                                    <p:set>
                                      <p:cBhvr>
                                        <p:cTn id="708" dur="1" fill="hold">
                                          <p:stCondLst>
                                            <p:cond delay="0"/>
                                          </p:stCondLst>
                                        </p:cTn>
                                        <p:tgtEl>
                                          <p:spTgt spid="166">
                                            <p:txEl>
                                              <p:pRg st="1" end="1"/>
                                            </p:txEl>
                                          </p:spTgt>
                                        </p:tgtEl>
                                        <p:attrNameLst>
                                          <p:attrName>style.visibility</p:attrName>
                                        </p:attrNameLst>
                                      </p:cBhvr>
                                      <p:to>
                                        <p:strVal val="visible"/>
                                      </p:to>
                                    </p:set>
                                    <p:animEffect filter="wipe(left)" transition="in">
                                      <p:cBhvr additive="repl">
                                        <p:cTn id="709" dur="750"/>
                                        <p:tgtEl>
                                          <p:spTgt spid="166">
                                            <p:txEl>
                                              <p:pRg st="1" end="1"/>
                                            </p:txEl>
                                          </p:spTgt>
                                        </p:tgtEl>
                                      </p:cBhvr>
                                    </p:animEffect>
                                  </p:childTnLst>
                                </p:cTn>
                              </p:par>
                            </p:childTnLst>
                          </p:cTn>
                        </p:par>
                      </p:childTnLst>
                    </p:cTn>
                  </p:par>
                  <p:par>
                    <p:cTn id="710" nodeType="clickEffect" fill="hold">
                      <p:stCondLst>
                        <p:cond delay="indefinite"/>
                      </p:stCondLst>
                      <p:childTnLst>
                        <p:par>
                          <p:cTn id="711" nodeType="withEffect" fill="hold">
                            <p:stCondLst>
                              <p:cond delay="0"/>
                            </p:stCondLst>
                            <p:childTnLst>
                              <p:par>
                                <p:cTn id="712" nodeType="clickEffect" fill="hold" presetClass="entr" presetID="22" presetSubtype="8">
                                  <p:stCondLst>
                                    <p:cond delay="0"/>
                                  </p:stCondLst>
                                  <p:childTnLst>
                                    <p:set>
                                      <p:cBhvr>
                                        <p:cTn id="713" dur="1" fill="hold">
                                          <p:stCondLst>
                                            <p:cond delay="0"/>
                                          </p:stCondLst>
                                        </p:cTn>
                                        <p:tgtEl>
                                          <p:spTgt spid="166">
                                            <p:txEl>
                                              <p:pRg st="2" end="2"/>
                                            </p:txEl>
                                          </p:spTgt>
                                        </p:tgtEl>
                                        <p:attrNameLst>
                                          <p:attrName>style.visibility</p:attrName>
                                        </p:attrNameLst>
                                      </p:cBhvr>
                                      <p:to>
                                        <p:strVal val="visible"/>
                                      </p:to>
                                    </p:set>
                                    <p:animEffect filter="wipe(left)" transition="in">
                                      <p:cBhvr additive="repl">
                                        <p:cTn id="714" dur="750"/>
                                        <p:tgtEl>
                                          <p:spTgt spid="166">
                                            <p:txEl>
                                              <p:pRg st="2" end="2"/>
                                            </p:txEl>
                                          </p:spTgt>
                                        </p:tgtEl>
                                      </p:cBhvr>
                                    </p:animEffect>
                                  </p:childTnLst>
                                </p:cTn>
                              </p:par>
                              <p:par>
                                <p:cTn id="715" nodeType="withEffect" fill="hold" presetClass="entr" presetID="22" presetSubtype="8">
                                  <p:stCondLst>
                                    <p:cond delay="0"/>
                                  </p:stCondLst>
                                  <p:childTnLst>
                                    <p:set>
                                      <p:cBhvr>
                                        <p:cTn id="716" dur="1" fill="hold">
                                          <p:stCondLst>
                                            <p:cond delay="0"/>
                                          </p:stCondLst>
                                        </p:cTn>
                                        <p:tgtEl>
                                          <p:spTgt spid="168"/>
                                        </p:tgtEl>
                                        <p:attrNameLst>
                                          <p:attrName>style.visibility</p:attrName>
                                        </p:attrNameLst>
                                      </p:cBhvr>
                                      <p:to>
                                        <p:strVal val="visible"/>
                                      </p:to>
                                    </p:set>
                                    <p:animEffect filter="wipe(left)" transition="in">
                                      <p:cBhvr additive="repl">
                                        <p:cTn id="717" dur="1000"/>
                                        <p:tgtEl>
                                          <p:spTgt spid="168"/>
                                        </p:tgtEl>
                                      </p:cBhvr>
                                    </p:animEffect>
                                  </p:childTnLst>
                                </p:cTn>
                              </p:par>
                              <p:par>
                                <p:cTn id="718" nodeType="withEffect" fill="hold" presetClass="entr" presetID="22" presetSubtype="1">
                                  <p:stCondLst>
                                    <p:cond delay="1200"/>
                                  </p:stCondLst>
                                  <p:childTnLst>
                                    <p:set>
                                      <p:cBhvr>
                                        <p:cTn id="719" dur="1" fill="hold">
                                          <p:stCondLst>
                                            <p:cond delay="0"/>
                                          </p:stCondLst>
                                        </p:cTn>
                                        <p:tgtEl>
                                          <p:spTgt spid="169"/>
                                        </p:tgtEl>
                                        <p:attrNameLst>
                                          <p:attrName>style.visibility</p:attrName>
                                        </p:attrNameLst>
                                      </p:cBhvr>
                                      <p:to>
                                        <p:strVal val="visible"/>
                                      </p:to>
                                    </p:set>
                                    <p:animEffect filter="wipe(up)" transition="in">
                                      <p:cBhvr additive="repl">
                                        <p:cTn id="720" dur="1000"/>
                                        <p:tgtEl>
                                          <p:spTgt spid="169"/>
                                        </p:tgtEl>
                                      </p:cBhvr>
                                    </p:animEffect>
                                  </p:childTnLst>
                                </p:cTn>
                              </p:par>
                              <p:par>
                                <p:cTn id="721" nodeType="withEffect" fill="hold" presetClass="entr" presetID="10">
                                  <p:stCondLst>
                                    <p:cond delay="2500"/>
                                  </p:stCondLst>
                                  <p:childTnLst>
                                    <p:set>
                                      <p:cBhvr>
                                        <p:cTn id="722" dur="1" fill="hold">
                                          <p:stCondLst>
                                            <p:cond delay="0"/>
                                          </p:stCondLst>
                                        </p:cTn>
                                        <p:tgtEl>
                                          <p:spTgt spid="170"/>
                                        </p:tgtEl>
                                        <p:attrNameLst>
                                          <p:attrName>style.visibility</p:attrName>
                                        </p:attrNameLst>
                                      </p:cBhvr>
                                      <p:to>
                                        <p:strVal val="visible"/>
                                      </p:to>
                                    </p:set>
                                    <p:animEffect filter="fade" transition="in">
                                      <p:cBhvr additive="repl">
                                        <p:cTn id="723" dur="5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71" name="Picture 5" descr="fig0604aa.gif"/>
          <p:cNvPicPr/>
          <p:nvPr/>
        </p:nvPicPr>
        <p:blipFill>
          <a:blip r:embed="rId1"/>
          <a:stretch/>
        </p:blipFill>
        <p:spPr>
          <a:xfrm>
            <a:off x="1828800" y="304920"/>
            <a:ext cx="5600160" cy="6000120"/>
          </a:xfrm>
          <a:prstGeom prst="rect">
            <a:avLst/>
          </a:prstGeom>
          <a:noFill/>
          <a:ln w="0">
            <a:noFill/>
          </a:ln>
        </p:spPr>
      </p:pic>
      <p:pic>
        <p:nvPicPr>
          <p:cNvPr id="172" name="Picture 6" descr="fig0604ab.gif"/>
          <p:cNvPicPr/>
          <p:nvPr/>
        </p:nvPicPr>
        <p:blipFill>
          <a:blip r:embed="rId2"/>
          <a:stretch/>
        </p:blipFill>
        <p:spPr>
          <a:xfrm>
            <a:off x="1828800" y="304920"/>
            <a:ext cx="5600160" cy="6000120"/>
          </a:xfrm>
          <a:prstGeom prst="rect">
            <a:avLst/>
          </a:prstGeom>
          <a:noFill/>
          <a:ln w="0">
            <a:noFill/>
          </a:ln>
        </p:spPr>
      </p:pic>
      <p:pic>
        <p:nvPicPr>
          <p:cNvPr id="173" name="Picture 7" descr="fig0604ac.gif"/>
          <p:cNvPicPr/>
          <p:nvPr/>
        </p:nvPicPr>
        <p:blipFill>
          <a:blip r:embed="rId3"/>
          <a:stretch/>
        </p:blipFill>
        <p:spPr>
          <a:xfrm>
            <a:off x="1828800" y="304920"/>
            <a:ext cx="5600160" cy="6000120"/>
          </a:xfrm>
          <a:prstGeom prst="rect">
            <a:avLst/>
          </a:prstGeom>
          <a:noFill/>
          <a:ln w="0">
            <a:noFill/>
          </a:ln>
        </p:spPr>
      </p:pic>
      <p:pic>
        <p:nvPicPr>
          <p:cNvPr id="174" name="Picture 8" descr="fig0604ad.gif"/>
          <p:cNvPicPr/>
          <p:nvPr/>
        </p:nvPicPr>
        <p:blipFill>
          <a:blip r:embed="rId4"/>
          <a:stretch/>
        </p:blipFill>
        <p:spPr>
          <a:xfrm>
            <a:off x="1828800" y="304920"/>
            <a:ext cx="5600160" cy="6000120"/>
          </a:xfrm>
          <a:prstGeom prst="rect">
            <a:avLst/>
          </a:prstGeom>
          <a:noFill/>
          <a:ln w="0">
            <a:noFill/>
          </a:ln>
        </p:spPr>
      </p:pic>
    </p:spTree>
  </p:cSld>
  <p:transition spd="slow">
    <p:wipe dir="r"/>
  </p:transition>
  <p:timing>
    <p:tnLst>
      <p:par>
        <p:cTn id="724" dur="indefinite" restart="never" nodeType="tmRoot">
          <p:childTnLst>
            <p:seq>
              <p:cTn id="725" dur="indefinite" nodeType="mainSeq">
                <p:childTnLst>
                  <p:par>
                    <p:cTn id="726" nodeType="clickEffect" fill="hold">
                      <p:stCondLst>
                        <p:cond delay="indefinite"/>
                      </p:stCondLst>
                      <p:childTnLst>
                        <p:par>
                          <p:cTn id="727" nodeType="withEffect" fill="hold">
                            <p:stCondLst>
                              <p:cond delay="0"/>
                            </p:stCondLst>
                            <p:childTnLst>
                              <p:par>
                                <p:cTn id="728" nodeType="clickEffect" fill="hold" presetClass="entr" presetID="22" presetSubtype="8">
                                  <p:stCondLst>
                                    <p:cond delay="0"/>
                                  </p:stCondLst>
                                  <p:childTnLst>
                                    <p:set>
                                      <p:cBhvr>
                                        <p:cTn id="729" dur="1" fill="hold">
                                          <p:stCondLst>
                                            <p:cond delay="0"/>
                                          </p:stCondLst>
                                        </p:cTn>
                                        <p:tgtEl>
                                          <p:spTgt spid="172"/>
                                        </p:tgtEl>
                                        <p:attrNameLst>
                                          <p:attrName>style.visibility</p:attrName>
                                        </p:attrNameLst>
                                      </p:cBhvr>
                                      <p:to>
                                        <p:strVal val="visible"/>
                                      </p:to>
                                    </p:set>
                                    <p:animEffect filter="wipe(left)" transition="in">
                                      <p:cBhvr additive="repl">
                                        <p:cTn id="730" dur="1000"/>
                                        <p:tgtEl>
                                          <p:spTgt spid="172"/>
                                        </p:tgtEl>
                                      </p:cBhvr>
                                    </p:animEffect>
                                  </p:childTnLst>
                                </p:cTn>
                              </p:par>
                            </p:childTnLst>
                          </p:cTn>
                        </p:par>
                      </p:childTnLst>
                    </p:cTn>
                  </p:par>
                  <p:par>
                    <p:cTn id="731" nodeType="clickEffect" fill="hold">
                      <p:stCondLst>
                        <p:cond delay="indefinite"/>
                      </p:stCondLst>
                      <p:childTnLst>
                        <p:par>
                          <p:cTn id="732" nodeType="withEffect" fill="hold">
                            <p:stCondLst>
                              <p:cond delay="0"/>
                            </p:stCondLst>
                            <p:childTnLst>
                              <p:par>
                                <p:cTn id="733" nodeType="clickEffect" fill="hold" presetClass="entr" presetID="22" presetSubtype="1">
                                  <p:stCondLst>
                                    <p:cond delay="0"/>
                                  </p:stCondLst>
                                  <p:childTnLst>
                                    <p:set>
                                      <p:cBhvr>
                                        <p:cTn id="734" dur="1" fill="hold">
                                          <p:stCondLst>
                                            <p:cond delay="0"/>
                                          </p:stCondLst>
                                        </p:cTn>
                                        <p:tgtEl>
                                          <p:spTgt spid="173"/>
                                        </p:tgtEl>
                                        <p:attrNameLst>
                                          <p:attrName>style.visibility</p:attrName>
                                        </p:attrNameLst>
                                      </p:cBhvr>
                                      <p:to>
                                        <p:strVal val="visible"/>
                                      </p:to>
                                    </p:set>
                                    <p:animEffect filter="wipe(up)" transition="in">
                                      <p:cBhvr additive="repl">
                                        <p:cTn id="735" dur="1000"/>
                                        <p:tgtEl>
                                          <p:spTgt spid="173"/>
                                        </p:tgtEl>
                                      </p:cBhvr>
                                    </p:animEffect>
                                  </p:childTnLst>
                                </p:cTn>
                              </p:par>
                            </p:childTnLst>
                          </p:cTn>
                        </p:par>
                        <p:par>
                          <p:cTn id="736" nodeType="afterEffect" fill="hold">
                            <p:stCondLst>
                              <p:cond delay="1000"/>
                            </p:stCondLst>
                            <p:childTnLst>
                              <p:par>
                                <p:cTn id="737" nodeType="afterEffect" fill="hold" presetClass="entr" presetID="10">
                                  <p:stCondLst>
                                    <p:cond delay="0"/>
                                  </p:stCondLst>
                                  <p:childTnLst>
                                    <p:set>
                                      <p:cBhvr>
                                        <p:cTn id="738" dur="1" fill="hold">
                                          <p:stCondLst>
                                            <p:cond delay="0"/>
                                          </p:stCondLst>
                                        </p:cTn>
                                        <p:tgtEl>
                                          <p:spTgt spid="174"/>
                                        </p:tgtEl>
                                        <p:attrNameLst>
                                          <p:attrName>style.visibility</p:attrName>
                                        </p:attrNameLst>
                                      </p:cBhvr>
                                      <p:to>
                                        <p:strVal val="visible"/>
                                      </p:to>
                                    </p:set>
                                    <p:animEffect filter="fade" transition="in">
                                      <p:cBhvr additive="repl">
                                        <p:cTn id="739" dur="500"/>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6.2  VALUE, PRICE, AND CONSUMER SURPLUS </a:t>
            </a:r>
            <a:endParaRPr b="0" lang="en-US" sz="2600" strike="noStrike" u="none">
              <a:solidFill>
                <a:srgbClr val="000000"/>
              </a:solidFill>
              <a:effectLst/>
              <a:uFillTx/>
              <a:latin typeface="Arial"/>
            </a:endParaRPr>
          </a:p>
        </p:txBody>
      </p:sp>
      <p:sp>
        <p:nvSpPr>
          <p:cNvPr id="176" name="PlaceHolder 2"/>
          <p:cNvSpPr>
            <a:spLocks noGrp="1"/>
          </p:cNvSpPr>
          <p:nvPr>
            <p:ph/>
          </p:nvPr>
        </p:nvSpPr>
        <p:spPr>
          <a:xfrm>
            <a:off x="360360" y="1440000"/>
            <a:ext cx="44395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6.4 shows demand, willingness to pay, and marginal benefit.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demand curve shows:</a:t>
            </a:r>
            <a:endParaRPr b="0" lang="en-US" sz="2400" strike="noStrike" u="none">
              <a:solidFill>
                <a:srgbClr val="000000"/>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startAt="2"/>
              <a:tabLst>
                <a:tab algn="l" pos="0"/>
              </a:tabLst>
            </a:pPr>
            <a:r>
              <a:rPr b="0" lang="en-US" sz="2400" strike="noStrike" u="none">
                <a:solidFill>
                  <a:srgbClr val="000000"/>
                </a:solidFill>
                <a:effectLst/>
                <a:uFillTx/>
                <a:latin typeface="Arial"/>
                <a:ea typeface="ＭＳ Ｐゴシック"/>
              </a:rPr>
              <a:t>The maximum price willingly paid for the last pizza available.</a:t>
            </a:r>
            <a:endParaRPr b="0" lang="en-US" sz="2400" strike="noStrike" u="none">
              <a:solidFill>
                <a:srgbClr val="000000"/>
              </a:solidFill>
              <a:effectLst/>
              <a:uFillTx/>
              <a:latin typeface="Arial"/>
            </a:endParaRPr>
          </a:p>
        </p:txBody>
      </p:sp>
      <p:pic>
        <p:nvPicPr>
          <p:cNvPr id="177" name="Picture 11" descr="fig0604ba.gif"/>
          <p:cNvPicPr/>
          <p:nvPr/>
        </p:nvPicPr>
        <p:blipFill>
          <a:blip r:embed="rId1"/>
          <a:stretch/>
        </p:blipFill>
        <p:spPr>
          <a:xfrm>
            <a:off x="4680000" y="1511280"/>
            <a:ext cx="4060080" cy="4350600"/>
          </a:xfrm>
          <a:prstGeom prst="rect">
            <a:avLst/>
          </a:prstGeom>
          <a:noFill/>
          <a:ln w="0">
            <a:noFill/>
          </a:ln>
        </p:spPr>
      </p:pic>
      <p:pic>
        <p:nvPicPr>
          <p:cNvPr id="178" name="Picture 12" descr="fig0604bb.gif"/>
          <p:cNvPicPr/>
          <p:nvPr/>
        </p:nvPicPr>
        <p:blipFill>
          <a:blip r:embed="rId2"/>
          <a:stretch/>
        </p:blipFill>
        <p:spPr>
          <a:xfrm>
            <a:off x="4680000" y="1511280"/>
            <a:ext cx="4060080" cy="4350600"/>
          </a:xfrm>
          <a:prstGeom prst="rect">
            <a:avLst/>
          </a:prstGeom>
          <a:noFill/>
          <a:ln w="0">
            <a:noFill/>
          </a:ln>
        </p:spPr>
      </p:pic>
      <p:pic>
        <p:nvPicPr>
          <p:cNvPr id="179" name="Picture 13" descr="fig0604bc.gif"/>
          <p:cNvPicPr/>
          <p:nvPr/>
        </p:nvPicPr>
        <p:blipFill>
          <a:blip r:embed="rId3"/>
          <a:stretch/>
        </p:blipFill>
        <p:spPr>
          <a:xfrm>
            <a:off x="4680000" y="1511280"/>
            <a:ext cx="4060080" cy="4350600"/>
          </a:xfrm>
          <a:prstGeom prst="rect">
            <a:avLst/>
          </a:prstGeom>
          <a:noFill/>
          <a:ln w="0">
            <a:noFill/>
          </a:ln>
        </p:spPr>
      </p:pic>
      <p:pic>
        <p:nvPicPr>
          <p:cNvPr id="180" name="Picture 14" descr="fig0604bd.gif"/>
          <p:cNvPicPr/>
          <p:nvPr/>
        </p:nvPicPr>
        <p:blipFill>
          <a:blip r:embed="rId4"/>
          <a:stretch/>
        </p:blipFill>
        <p:spPr>
          <a:xfrm>
            <a:off x="4680000" y="1511280"/>
            <a:ext cx="4060080" cy="4350600"/>
          </a:xfrm>
          <a:prstGeom prst="rect">
            <a:avLst/>
          </a:prstGeom>
          <a:noFill/>
          <a:ln w="0">
            <a:noFill/>
          </a:ln>
        </p:spPr>
      </p:pic>
    </p:spTree>
  </p:cSld>
  <p:transition spd="slow">
    <p:wipe dir="r"/>
  </p:transition>
  <p:timing>
    <p:tnLst>
      <p:par>
        <p:cTn id="740" dur="indefinite" restart="never" nodeType="tmRoot">
          <p:childTnLst>
            <p:seq>
              <p:cTn id="741" dur="indefinite" nodeType="mainSeq">
                <p:childTnLst>
                  <p:par>
                    <p:cTn id="742" nodeType="clickEffect" fill="hold">
                      <p:stCondLst>
                        <p:cond delay="indefinite"/>
                      </p:stCondLst>
                      <p:childTnLst>
                        <p:par>
                          <p:cTn id="743" nodeType="withEffect" fill="hold">
                            <p:stCondLst>
                              <p:cond delay="0"/>
                            </p:stCondLst>
                            <p:childTnLst>
                              <p:par>
                                <p:cTn id="744" nodeType="clickEffect" fill="hold" presetClass="entr" presetID="22" presetSubtype="8">
                                  <p:stCondLst>
                                    <p:cond delay="0"/>
                                  </p:stCondLst>
                                  <p:childTnLst>
                                    <p:set>
                                      <p:cBhvr>
                                        <p:cTn id="745" dur="1" fill="hold">
                                          <p:stCondLst>
                                            <p:cond delay="0"/>
                                          </p:stCondLst>
                                        </p:cTn>
                                        <p:tgtEl>
                                          <p:spTgt spid="176">
                                            <p:txEl>
                                              <p:pRg st="1" end="1"/>
                                            </p:txEl>
                                          </p:spTgt>
                                        </p:tgtEl>
                                        <p:attrNameLst>
                                          <p:attrName>style.visibility</p:attrName>
                                        </p:attrNameLst>
                                      </p:cBhvr>
                                      <p:to>
                                        <p:strVal val="visible"/>
                                      </p:to>
                                    </p:set>
                                    <p:animEffect filter="wipe(left)" transition="in">
                                      <p:cBhvr additive="repl">
                                        <p:cTn id="746" dur="750"/>
                                        <p:tgtEl>
                                          <p:spTgt spid="176">
                                            <p:txEl>
                                              <p:pRg st="1" end="1"/>
                                            </p:txEl>
                                          </p:spTgt>
                                        </p:tgtEl>
                                      </p:cBhvr>
                                    </p:animEffect>
                                  </p:childTnLst>
                                </p:cTn>
                              </p:par>
                            </p:childTnLst>
                          </p:cTn>
                        </p:par>
                      </p:childTnLst>
                    </p:cTn>
                  </p:par>
                  <p:par>
                    <p:cTn id="747" nodeType="clickEffect" fill="hold">
                      <p:stCondLst>
                        <p:cond delay="indefinite"/>
                      </p:stCondLst>
                      <p:childTnLst>
                        <p:par>
                          <p:cTn id="748" nodeType="withEffect" fill="hold">
                            <p:stCondLst>
                              <p:cond delay="0"/>
                            </p:stCondLst>
                            <p:childTnLst>
                              <p:par>
                                <p:cTn id="749" nodeType="clickEffect" fill="hold" presetClass="entr" presetID="22" presetSubtype="8">
                                  <p:stCondLst>
                                    <p:cond delay="0"/>
                                  </p:stCondLst>
                                  <p:childTnLst>
                                    <p:set>
                                      <p:cBhvr>
                                        <p:cTn id="750" dur="1" fill="hold">
                                          <p:stCondLst>
                                            <p:cond delay="0"/>
                                          </p:stCondLst>
                                        </p:cTn>
                                        <p:tgtEl>
                                          <p:spTgt spid="176">
                                            <p:txEl>
                                              <p:pRg st="2" end="2"/>
                                            </p:txEl>
                                          </p:spTgt>
                                        </p:tgtEl>
                                        <p:attrNameLst>
                                          <p:attrName>style.visibility</p:attrName>
                                        </p:attrNameLst>
                                      </p:cBhvr>
                                      <p:to>
                                        <p:strVal val="visible"/>
                                      </p:to>
                                    </p:set>
                                    <p:animEffect filter="wipe(left)" transition="in">
                                      <p:cBhvr additive="repl">
                                        <p:cTn id="751" dur="750"/>
                                        <p:tgtEl>
                                          <p:spTgt spid="176">
                                            <p:txEl>
                                              <p:pRg st="2" end="2"/>
                                            </p:txEl>
                                          </p:spTgt>
                                        </p:tgtEl>
                                      </p:cBhvr>
                                    </p:animEffect>
                                  </p:childTnLst>
                                </p:cTn>
                              </p:par>
                              <p:par>
                                <p:cTn id="752" nodeType="withEffect" fill="hold" presetClass="entr" presetID="22" presetSubtype="4">
                                  <p:stCondLst>
                                    <p:cond delay="0"/>
                                  </p:stCondLst>
                                  <p:childTnLst>
                                    <p:set>
                                      <p:cBhvr>
                                        <p:cTn id="753" dur="1" fill="hold">
                                          <p:stCondLst>
                                            <p:cond delay="0"/>
                                          </p:stCondLst>
                                        </p:cTn>
                                        <p:tgtEl>
                                          <p:spTgt spid="178"/>
                                        </p:tgtEl>
                                        <p:attrNameLst>
                                          <p:attrName>style.visibility</p:attrName>
                                        </p:attrNameLst>
                                      </p:cBhvr>
                                      <p:to>
                                        <p:strVal val="visible"/>
                                      </p:to>
                                    </p:set>
                                    <p:animEffect filter="wipe(down)" transition="in">
                                      <p:cBhvr additive="repl">
                                        <p:cTn id="754" dur="1000"/>
                                        <p:tgtEl>
                                          <p:spTgt spid="178"/>
                                        </p:tgtEl>
                                      </p:cBhvr>
                                    </p:animEffect>
                                  </p:childTnLst>
                                </p:cTn>
                              </p:par>
                              <p:par>
                                <p:cTn id="755" nodeType="withEffect" fill="hold" presetClass="entr" presetID="22" presetSubtype="2">
                                  <p:stCondLst>
                                    <p:cond delay="1300"/>
                                  </p:stCondLst>
                                  <p:childTnLst>
                                    <p:set>
                                      <p:cBhvr>
                                        <p:cTn id="756" dur="1" fill="hold">
                                          <p:stCondLst>
                                            <p:cond delay="0"/>
                                          </p:stCondLst>
                                        </p:cTn>
                                        <p:tgtEl>
                                          <p:spTgt spid="179"/>
                                        </p:tgtEl>
                                        <p:attrNameLst>
                                          <p:attrName>style.visibility</p:attrName>
                                        </p:attrNameLst>
                                      </p:cBhvr>
                                      <p:to>
                                        <p:strVal val="visible"/>
                                      </p:to>
                                    </p:set>
                                    <p:animEffect filter="wipe(right)" transition="in">
                                      <p:cBhvr additive="repl">
                                        <p:cTn id="757" dur="1000"/>
                                        <p:tgtEl>
                                          <p:spTgt spid="179"/>
                                        </p:tgtEl>
                                      </p:cBhvr>
                                    </p:animEffect>
                                  </p:childTnLst>
                                </p:cTn>
                              </p:par>
                              <p:par>
                                <p:cTn id="758" nodeType="withEffect" fill="hold" presetClass="entr" presetID="10">
                                  <p:stCondLst>
                                    <p:cond delay="2600"/>
                                  </p:stCondLst>
                                  <p:childTnLst>
                                    <p:set>
                                      <p:cBhvr>
                                        <p:cTn id="759" dur="1" fill="hold">
                                          <p:stCondLst>
                                            <p:cond delay="0"/>
                                          </p:stCondLst>
                                        </p:cTn>
                                        <p:tgtEl>
                                          <p:spTgt spid="180"/>
                                        </p:tgtEl>
                                        <p:attrNameLst>
                                          <p:attrName>style.visibility</p:attrName>
                                        </p:attrNameLst>
                                      </p:cBhvr>
                                      <p:to>
                                        <p:strVal val="visible"/>
                                      </p:to>
                                    </p:set>
                                    <p:animEffect filter="fade" transition="in">
                                      <p:cBhvr additive="repl">
                                        <p:cTn id="760" dur="5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81" name="Picture 9" descr="fig0604ba.gif"/>
          <p:cNvPicPr/>
          <p:nvPr/>
        </p:nvPicPr>
        <p:blipFill>
          <a:blip r:embed="rId1"/>
          <a:stretch/>
        </p:blipFill>
        <p:spPr>
          <a:xfrm>
            <a:off x="1828800" y="304920"/>
            <a:ext cx="5600160" cy="6000120"/>
          </a:xfrm>
          <a:prstGeom prst="rect">
            <a:avLst/>
          </a:prstGeom>
          <a:noFill/>
          <a:ln w="0">
            <a:noFill/>
          </a:ln>
        </p:spPr>
      </p:pic>
      <p:pic>
        <p:nvPicPr>
          <p:cNvPr id="182" name="Picture 10" descr="fig0604bb.gif"/>
          <p:cNvPicPr/>
          <p:nvPr/>
        </p:nvPicPr>
        <p:blipFill>
          <a:blip r:embed="rId2"/>
          <a:stretch/>
        </p:blipFill>
        <p:spPr>
          <a:xfrm>
            <a:off x="1828800" y="304920"/>
            <a:ext cx="5600160" cy="6000120"/>
          </a:xfrm>
          <a:prstGeom prst="rect">
            <a:avLst/>
          </a:prstGeom>
          <a:noFill/>
          <a:ln w="0">
            <a:noFill/>
          </a:ln>
        </p:spPr>
      </p:pic>
      <p:pic>
        <p:nvPicPr>
          <p:cNvPr id="183" name="Picture 11" descr="fig0604bc.gif"/>
          <p:cNvPicPr/>
          <p:nvPr/>
        </p:nvPicPr>
        <p:blipFill>
          <a:blip r:embed="rId3"/>
          <a:stretch/>
        </p:blipFill>
        <p:spPr>
          <a:xfrm>
            <a:off x="1828800" y="304920"/>
            <a:ext cx="5600160" cy="6000120"/>
          </a:xfrm>
          <a:prstGeom prst="rect">
            <a:avLst/>
          </a:prstGeom>
          <a:noFill/>
          <a:ln w="0">
            <a:noFill/>
          </a:ln>
        </p:spPr>
      </p:pic>
      <p:pic>
        <p:nvPicPr>
          <p:cNvPr id="184" name="Picture 12" descr="fig0604bd.gif"/>
          <p:cNvPicPr/>
          <p:nvPr/>
        </p:nvPicPr>
        <p:blipFill>
          <a:blip r:embed="rId4"/>
          <a:stretch/>
        </p:blipFill>
        <p:spPr>
          <a:xfrm>
            <a:off x="1828800" y="304920"/>
            <a:ext cx="5600160" cy="6000120"/>
          </a:xfrm>
          <a:prstGeom prst="rect">
            <a:avLst/>
          </a:prstGeom>
          <a:noFill/>
          <a:ln w="0">
            <a:noFill/>
          </a:ln>
        </p:spPr>
      </p:pic>
    </p:spTree>
  </p:cSld>
  <p:transition spd="slow">
    <p:wipe dir="r"/>
  </p:transition>
  <p:timing>
    <p:tnLst>
      <p:par>
        <p:cTn id="761" dur="indefinite" restart="never" nodeType="tmRoot">
          <p:childTnLst>
            <p:seq>
              <p:cTn id="762" dur="indefinite" nodeType="mainSeq">
                <p:childTnLst>
                  <p:par>
                    <p:cTn id="763" nodeType="clickEffect" fill="hold">
                      <p:stCondLst>
                        <p:cond delay="indefinite"/>
                      </p:stCondLst>
                      <p:childTnLst>
                        <p:par>
                          <p:cTn id="764" nodeType="withEffect" fill="hold">
                            <p:stCondLst>
                              <p:cond delay="0"/>
                            </p:stCondLst>
                            <p:childTnLst>
                              <p:par>
                                <p:cTn id="765" nodeType="clickEffect" fill="hold" presetClass="entr" presetID="22" presetSubtype="4">
                                  <p:stCondLst>
                                    <p:cond delay="0"/>
                                  </p:stCondLst>
                                  <p:childTnLst>
                                    <p:set>
                                      <p:cBhvr>
                                        <p:cTn id="766" dur="1" fill="hold">
                                          <p:stCondLst>
                                            <p:cond delay="0"/>
                                          </p:stCondLst>
                                        </p:cTn>
                                        <p:tgtEl>
                                          <p:spTgt spid="182"/>
                                        </p:tgtEl>
                                        <p:attrNameLst>
                                          <p:attrName>style.visibility</p:attrName>
                                        </p:attrNameLst>
                                      </p:cBhvr>
                                      <p:to>
                                        <p:strVal val="visible"/>
                                      </p:to>
                                    </p:set>
                                    <p:animEffect filter="wipe(down)" transition="in">
                                      <p:cBhvr additive="repl">
                                        <p:cTn id="767" dur="1000"/>
                                        <p:tgtEl>
                                          <p:spTgt spid="182"/>
                                        </p:tgtEl>
                                      </p:cBhvr>
                                    </p:animEffect>
                                  </p:childTnLst>
                                </p:cTn>
                              </p:par>
                            </p:childTnLst>
                          </p:cTn>
                        </p:par>
                      </p:childTnLst>
                    </p:cTn>
                  </p:par>
                  <p:par>
                    <p:cTn id="768" nodeType="clickEffect" fill="hold">
                      <p:stCondLst>
                        <p:cond delay="indefinite"/>
                      </p:stCondLst>
                      <p:childTnLst>
                        <p:par>
                          <p:cTn id="769" nodeType="withEffect" fill="hold">
                            <p:stCondLst>
                              <p:cond delay="0"/>
                            </p:stCondLst>
                            <p:childTnLst>
                              <p:par>
                                <p:cTn id="770" nodeType="clickEffect" fill="hold" presetClass="entr" presetID="22" presetSubtype="2">
                                  <p:stCondLst>
                                    <p:cond delay="0"/>
                                  </p:stCondLst>
                                  <p:childTnLst>
                                    <p:set>
                                      <p:cBhvr>
                                        <p:cTn id="771" dur="1" fill="hold">
                                          <p:stCondLst>
                                            <p:cond delay="0"/>
                                          </p:stCondLst>
                                        </p:cTn>
                                        <p:tgtEl>
                                          <p:spTgt spid="183"/>
                                        </p:tgtEl>
                                        <p:attrNameLst>
                                          <p:attrName>style.visibility</p:attrName>
                                        </p:attrNameLst>
                                      </p:cBhvr>
                                      <p:to>
                                        <p:strVal val="visible"/>
                                      </p:to>
                                    </p:set>
                                    <p:animEffect filter="wipe(right)" transition="in">
                                      <p:cBhvr additive="repl">
                                        <p:cTn id="772" dur="1000"/>
                                        <p:tgtEl>
                                          <p:spTgt spid="183"/>
                                        </p:tgtEl>
                                      </p:cBhvr>
                                    </p:animEffect>
                                  </p:childTnLst>
                                </p:cTn>
                              </p:par>
                            </p:childTnLst>
                          </p:cTn>
                        </p:par>
                        <p:par>
                          <p:cTn id="773" nodeType="afterEffect" fill="hold">
                            <p:stCondLst>
                              <p:cond delay="1000"/>
                            </p:stCondLst>
                            <p:childTnLst>
                              <p:par>
                                <p:cTn id="774" nodeType="afterEffect" fill="hold" presetClass="entr" presetID="10">
                                  <p:stCondLst>
                                    <p:cond delay="0"/>
                                  </p:stCondLst>
                                  <p:childTnLst>
                                    <p:set>
                                      <p:cBhvr>
                                        <p:cTn id="775" dur="1" fill="hold">
                                          <p:stCondLst>
                                            <p:cond delay="0"/>
                                          </p:stCondLst>
                                        </p:cTn>
                                        <p:tgtEl>
                                          <p:spTgt spid="184"/>
                                        </p:tgtEl>
                                        <p:attrNameLst>
                                          <p:attrName>style.visibility</p:attrName>
                                        </p:attrNameLst>
                                      </p:cBhvr>
                                      <p:to>
                                        <p:strVal val="visible"/>
                                      </p:to>
                                    </p:set>
                                    <p:animEffect filter="fade" transition="in">
                                      <p:cBhvr additive="repl">
                                        <p:cTn id="776" dur="5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6.2  VALUE, PRICE, AND CONSUMER SURPLUS</a:t>
            </a:r>
            <a:endParaRPr b="0" lang="en-US" sz="2600" strike="noStrike" u="none">
              <a:solidFill>
                <a:srgbClr val="000000"/>
              </a:solidFill>
              <a:effectLst/>
              <a:uFillTx/>
              <a:latin typeface="Arial"/>
            </a:endParaRPr>
          </a:p>
        </p:txBody>
      </p:sp>
      <p:sp>
        <p:nvSpPr>
          <p:cNvPr id="186"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Consumer Surplus</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1" lang="en-US" sz="2600" strike="noStrike" u="none">
                <a:solidFill>
                  <a:srgbClr val="ff0000"/>
                </a:solidFill>
                <a:effectLst/>
                <a:uFillTx/>
                <a:latin typeface="Arial"/>
                <a:ea typeface="ＭＳ Ｐゴシック"/>
              </a:rPr>
              <a:t>Consumer surplus</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is the marginal benefit from a good or service minus the price paid for it, summed over the quantity consumed.</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6.5 on the next slide shows the consumer surplus from pizzas</a:t>
            </a: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p:txBody>
      </p:sp>
    </p:spTree>
  </p:cSld>
  <p:transition spd="slow">
    <p:wipe dir="r"/>
  </p:transition>
  <p:timing>
    <p:tnLst>
      <p:par>
        <p:cTn id="777" dur="indefinite" restart="never" nodeType="tmRoot">
          <p:childTnLst>
            <p:seq>
              <p:cTn id="778" dur="indefinite" nodeType="mainSeq">
                <p:childTnLst>
                  <p:par>
                    <p:cTn id="779" nodeType="clickEffect" fill="hold">
                      <p:stCondLst>
                        <p:cond delay="indefinite"/>
                      </p:stCondLst>
                      <p:childTnLst>
                        <p:par>
                          <p:cTn id="780" nodeType="withEffect" fill="hold">
                            <p:stCondLst>
                              <p:cond delay="0"/>
                            </p:stCondLst>
                            <p:childTnLst>
                              <p:par>
                                <p:cTn id="781" nodeType="clickEffect" fill="hold" presetClass="entr" presetID="22" presetSubtype="8">
                                  <p:stCondLst>
                                    <p:cond delay="0"/>
                                  </p:stCondLst>
                                  <p:childTnLst>
                                    <p:set>
                                      <p:cBhvr>
                                        <p:cTn id="782" dur="1" fill="hold">
                                          <p:stCondLst>
                                            <p:cond delay="0"/>
                                          </p:stCondLst>
                                        </p:cTn>
                                        <p:tgtEl>
                                          <p:spTgt spid="186">
                                            <p:txEl>
                                              <p:pRg st="1" end="1"/>
                                            </p:txEl>
                                          </p:spTgt>
                                        </p:tgtEl>
                                        <p:attrNameLst>
                                          <p:attrName>style.visibility</p:attrName>
                                        </p:attrNameLst>
                                      </p:cBhvr>
                                      <p:to>
                                        <p:strVal val="visible"/>
                                      </p:to>
                                    </p:set>
                                    <p:animEffect filter="wipe(left)" transition="in">
                                      <p:cBhvr additive="repl">
                                        <p:cTn id="783" dur="750"/>
                                        <p:tgtEl>
                                          <p:spTgt spid="186">
                                            <p:txEl>
                                              <p:pRg st="1" end="1"/>
                                            </p:txEl>
                                          </p:spTgt>
                                        </p:tgtEl>
                                      </p:cBhvr>
                                    </p:animEffect>
                                  </p:childTnLst>
                                </p:cTn>
                              </p:par>
                            </p:childTnLst>
                          </p:cTn>
                        </p:par>
                      </p:childTnLst>
                    </p:cTn>
                  </p:par>
                  <p:par>
                    <p:cTn id="784" nodeType="clickEffect" fill="hold">
                      <p:stCondLst>
                        <p:cond delay="indefinite"/>
                      </p:stCondLst>
                      <p:childTnLst>
                        <p:par>
                          <p:cTn id="785" nodeType="withEffect" fill="hold">
                            <p:stCondLst>
                              <p:cond delay="0"/>
                            </p:stCondLst>
                            <p:childTnLst>
                              <p:par>
                                <p:cTn id="786" nodeType="clickEffect" fill="hold" presetClass="entr" presetID="22" presetSubtype="8">
                                  <p:stCondLst>
                                    <p:cond delay="0"/>
                                  </p:stCondLst>
                                  <p:childTnLst>
                                    <p:set>
                                      <p:cBhvr>
                                        <p:cTn id="787" dur="1" fill="hold">
                                          <p:stCondLst>
                                            <p:cond delay="0"/>
                                          </p:stCondLst>
                                        </p:cTn>
                                        <p:tgtEl>
                                          <p:spTgt spid="186">
                                            <p:txEl>
                                              <p:pRg st="2" end="2"/>
                                            </p:txEl>
                                          </p:spTgt>
                                        </p:tgtEl>
                                        <p:attrNameLst>
                                          <p:attrName>style.visibility</p:attrName>
                                        </p:attrNameLst>
                                      </p:cBhvr>
                                      <p:to>
                                        <p:strVal val="visible"/>
                                      </p:to>
                                    </p:set>
                                    <p:animEffect filter="wipe(left)" transition="in">
                                      <p:cBhvr additive="repl">
                                        <p:cTn id="788" dur="750"/>
                                        <p:tgtEl>
                                          <p:spTgt spid="18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7" name="Picture 9" descr="fig0605a.gif"/>
          <p:cNvPicPr/>
          <p:nvPr/>
        </p:nvPicPr>
        <p:blipFill>
          <a:blip r:embed="rId1"/>
          <a:stretch/>
        </p:blipFill>
        <p:spPr>
          <a:xfrm>
            <a:off x="4267080" y="1511280"/>
            <a:ext cx="4528440" cy="4500000"/>
          </a:xfrm>
          <a:prstGeom prst="rect">
            <a:avLst/>
          </a:prstGeom>
          <a:noFill/>
          <a:ln w="0">
            <a:noFill/>
          </a:ln>
        </p:spPr>
      </p:pic>
      <p:pic>
        <p:nvPicPr>
          <p:cNvPr id="188" name="Picture 10" descr="fig0605b.gif"/>
          <p:cNvPicPr/>
          <p:nvPr/>
        </p:nvPicPr>
        <p:blipFill>
          <a:blip r:embed="rId2"/>
          <a:stretch/>
        </p:blipFill>
        <p:spPr>
          <a:xfrm>
            <a:off x="4267080" y="1511280"/>
            <a:ext cx="4528440" cy="4500000"/>
          </a:xfrm>
          <a:prstGeom prst="rect">
            <a:avLst/>
          </a:prstGeom>
          <a:noFill/>
          <a:ln w="0">
            <a:noFill/>
          </a:ln>
        </p:spPr>
      </p:pic>
      <p:pic>
        <p:nvPicPr>
          <p:cNvPr id="189" name="Picture 11" descr="fig0605c.gif"/>
          <p:cNvPicPr/>
          <p:nvPr/>
        </p:nvPicPr>
        <p:blipFill>
          <a:blip r:embed="rId3"/>
          <a:stretch/>
        </p:blipFill>
        <p:spPr>
          <a:xfrm>
            <a:off x="4267080" y="1511280"/>
            <a:ext cx="4528440" cy="4500000"/>
          </a:xfrm>
          <a:prstGeom prst="rect">
            <a:avLst/>
          </a:prstGeom>
          <a:noFill/>
          <a:ln w="0">
            <a:noFill/>
          </a:ln>
        </p:spPr>
      </p:pic>
      <p:pic>
        <p:nvPicPr>
          <p:cNvPr id="190" name="Picture 12" descr="fig0605d.gif"/>
          <p:cNvPicPr/>
          <p:nvPr/>
        </p:nvPicPr>
        <p:blipFill>
          <a:blip r:embed="rId4"/>
          <a:stretch/>
        </p:blipFill>
        <p:spPr>
          <a:xfrm>
            <a:off x="4267080" y="1511280"/>
            <a:ext cx="4528440" cy="4500000"/>
          </a:xfrm>
          <a:prstGeom prst="rect">
            <a:avLst/>
          </a:prstGeom>
          <a:noFill/>
          <a:ln w="0">
            <a:noFill/>
          </a:ln>
        </p:spPr>
      </p:pic>
      <p:pic>
        <p:nvPicPr>
          <p:cNvPr id="191" name="Picture 13" descr="fig0605e.gif"/>
          <p:cNvPicPr/>
          <p:nvPr/>
        </p:nvPicPr>
        <p:blipFill>
          <a:blip r:embed="rId5"/>
          <a:stretch/>
        </p:blipFill>
        <p:spPr>
          <a:xfrm>
            <a:off x="4267080" y="1511280"/>
            <a:ext cx="4528440" cy="4500000"/>
          </a:xfrm>
          <a:prstGeom prst="rect">
            <a:avLst/>
          </a:prstGeom>
          <a:noFill/>
          <a:ln w="0">
            <a:noFill/>
          </a:ln>
        </p:spPr>
      </p:pic>
      <p:sp>
        <p:nvSpPr>
          <p:cNvPr id="19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6.2  VALUE, PRICE, AND CONSUMER SURPLUS </a:t>
            </a:r>
            <a:endParaRPr b="0" lang="en-US" sz="2600" strike="noStrike" u="none">
              <a:solidFill>
                <a:srgbClr val="000000"/>
              </a:solidFill>
              <a:effectLst/>
              <a:uFillTx/>
              <a:latin typeface="Arial"/>
            </a:endParaRPr>
          </a:p>
        </p:txBody>
      </p:sp>
      <p:sp>
        <p:nvSpPr>
          <p:cNvPr id="193"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lvl="1" marL="816120" indent="-457200">
              <a:lnSpc>
                <a:spcPct val="100000"/>
              </a:lnSpc>
              <a:spcBef>
                <a:spcPts val="601"/>
              </a:spcBef>
              <a:spcAft>
                <a:spcPts val="601"/>
              </a:spcAft>
              <a:buClr>
                <a:srgbClr val="000000"/>
              </a:buClr>
              <a:buFont typeface="OpenSymbol"/>
              <a:buAutoNum type="arabicPeriod"/>
              <a:tabLst>
                <a:tab algn="l" pos="457200"/>
              </a:tabLst>
            </a:pPr>
            <a:r>
              <a:rPr b="0" lang="en-US" sz="2400" strike="noStrike" u="none">
                <a:solidFill>
                  <a:srgbClr val="000000"/>
                </a:solidFill>
                <a:effectLst/>
                <a:uFillTx/>
                <a:latin typeface="Arial"/>
                <a:ea typeface="ＭＳ Ｐゴシック"/>
              </a:rPr>
              <a:t>The market price of a pizza is $10.</a:t>
            </a:r>
            <a:endParaRPr b="0" lang="en-US" sz="2400" strike="noStrike" u="none">
              <a:solidFill>
                <a:srgbClr val="000000"/>
              </a:solidFill>
              <a:effectLst/>
              <a:uFillTx/>
              <a:latin typeface="Arial"/>
            </a:endParaRPr>
          </a:p>
          <a:p>
            <a:pPr lvl="1" marL="816120" indent="-457200">
              <a:lnSpc>
                <a:spcPct val="100000"/>
              </a:lnSpc>
              <a:spcBef>
                <a:spcPts val="601"/>
              </a:spcBef>
              <a:spcAft>
                <a:spcPts val="601"/>
              </a:spcAft>
              <a:buClr>
                <a:srgbClr val="000000"/>
              </a:buClr>
              <a:buFont typeface="OpenSymbol"/>
              <a:buAutoNum type="arabicPeriod"/>
              <a:tabLst>
                <a:tab algn="l" pos="457200"/>
              </a:tabLst>
            </a:pPr>
            <a:r>
              <a:rPr b="0" lang="en-US" sz="2400" strike="noStrike" u="none">
                <a:solidFill>
                  <a:srgbClr val="000000"/>
                </a:solidFill>
                <a:effectLst/>
                <a:uFillTx/>
                <a:latin typeface="Arial"/>
                <a:ea typeface="ＭＳ Ｐゴシック"/>
              </a:rPr>
              <a:t>People buy 10,000 pizzas and spend $100,000 a day on pizzas.</a:t>
            </a:r>
            <a:endParaRPr b="0" lang="en-US" sz="2400" strike="noStrike" u="none">
              <a:solidFill>
                <a:srgbClr val="000000"/>
              </a:solidFill>
              <a:effectLst/>
              <a:uFillTx/>
              <a:latin typeface="Arial"/>
            </a:endParaRPr>
          </a:p>
          <a:p>
            <a:pPr lvl="1" marL="816120" indent="-457200">
              <a:lnSpc>
                <a:spcPct val="100000"/>
              </a:lnSpc>
              <a:spcBef>
                <a:spcPts val="601"/>
              </a:spcBef>
              <a:spcAft>
                <a:spcPts val="601"/>
              </a:spcAft>
              <a:buClr>
                <a:srgbClr val="000000"/>
              </a:buClr>
              <a:buFont typeface="OpenSymbol"/>
              <a:buAutoNum type="arabicPeriod"/>
              <a:tabLst>
                <a:tab algn="l" pos="457200"/>
              </a:tabLst>
            </a:pPr>
            <a:r>
              <a:rPr b="0" lang="en-US" sz="2400" strike="noStrike" u="none">
                <a:solidFill>
                  <a:srgbClr val="000000"/>
                </a:solidFill>
                <a:effectLst/>
                <a:uFillTx/>
                <a:latin typeface="Arial"/>
                <a:ea typeface="ＭＳ Ｐゴシック"/>
              </a:rPr>
              <a:t>But people are willing to pay $15 for the 5,000</a:t>
            </a:r>
            <a:r>
              <a:rPr b="0" lang="en-US" sz="2400" strike="noStrike" u="none" baseline="30000">
                <a:solidFill>
                  <a:srgbClr val="000000"/>
                </a:solidFill>
                <a:effectLst/>
                <a:uFillTx/>
                <a:latin typeface="Arial"/>
                <a:ea typeface="ＭＳ Ｐゴシック"/>
              </a:rPr>
              <a:t>th</a:t>
            </a:r>
            <a:r>
              <a:rPr b="0" lang="en-US" sz="2400" strike="noStrike" u="none">
                <a:solidFill>
                  <a:srgbClr val="000000"/>
                </a:solidFill>
                <a:effectLst/>
                <a:uFillTx/>
                <a:latin typeface="Arial"/>
                <a:ea typeface="ＭＳ Ｐゴシック"/>
              </a:rPr>
              <a:t> pizza, so consumer surplus from that pizza is $5.</a:t>
            </a:r>
            <a:endParaRPr b="0" lang="en-US" sz="2400" strike="noStrike" u="none">
              <a:solidFill>
                <a:srgbClr val="000000"/>
              </a:solidFill>
              <a:effectLst/>
              <a:uFillTx/>
              <a:latin typeface="Arial"/>
            </a:endParaRPr>
          </a:p>
        </p:txBody>
      </p:sp>
    </p:spTree>
  </p:cSld>
  <p:transition spd="slow">
    <p:wipe dir="r"/>
  </p:transition>
  <p:timing>
    <p:tnLst>
      <p:par>
        <p:cTn id="789" dur="indefinite" restart="never" nodeType="tmRoot">
          <p:childTnLst>
            <p:seq>
              <p:cTn id="790" dur="indefinite" nodeType="mainSeq">
                <p:childTnLst>
                  <p:par>
                    <p:cTn id="791" nodeType="clickEffect" fill="hold">
                      <p:stCondLst>
                        <p:cond delay="0"/>
                      </p:stCondLst>
                      <p:childTnLst>
                        <p:par>
                          <p:cTn id="792" nodeType="withEffect" fill="hold">
                            <p:stCondLst>
                              <p:cond delay="0"/>
                            </p:stCondLst>
                            <p:childTnLst>
                              <p:par>
                                <p:cTn id="793" nodeType="withEffect" fill="hold" presetClass="entr" presetID="22" presetSubtype="8">
                                  <p:stCondLst>
                                    <p:cond delay="0"/>
                                  </p:stCondLst>
                                  <p:childTnLst>
                                    <p:set>
                                      <p:cBhvr>
                                        <p:cTn id="794" dur="1" fill="hold">
                                          <p:stCondLst>
                                            <p:cond delay="0"/>
                                          </p:stCondLst>
                                        </p:cTn>
                                        <p:tgtEl>
                                          <p:spTgt spid="188"/>
                                        </p:tgtEl>
                                        <p:attrNameLst>
                                          <p:attrName>style.visibility</p:attrName>
                                        </p:attrNameLst>
                                      </p:cBhvr>
                                      <p:to>
                                        <p:strVal val="visible"/>
                                      </p:to>
                                    </p:set>
                                    <p:animEffect filter="wipe(left)" transition="in">
                                      <p:cBhvr additive="repl">
                                        <p:cTn id="795" dur="1000"/>
                                        <p:tgtEl>
                                          <p:spTgt spid="188"/>
                                        </p:tgtEl>
                                      </p:cBhvr>
                                    </p:animEffect>
                                  </p:childTnLst>
                                </p:cTn>
                              </p:par>
                            </p:childTnLst>
                          </p:cTn>
                        </p:par>
                      </p:childTnLst>
                    </p:cTn>
                  </p:par>
                  <p:par>
                    <p:cTn id="796" nodeType="clickEffect" fill="hold">
                      <p:stCondLst>
                        <p:cond delay="indefinite"/>
                      </p:stCondLst>
                      <p:childTnLst>
                        <p:par>
                          <p:cTn id="797" nodeType="withEffect" fill="hold">
                            <p:stCondLst>
                              <p:cond delay="0"/>
                            </p:stCondLst>
                            <p:childTnLst>
                              <p:par>
                                <p:cTn id="798" nodeType="clickEffect" fill="hold" presetClass="entr" presetID="22" presetSubtype="8">
                                  <p:stCondLst>
                                    <p:cond delay="0"/>
                                  </p:stCondLst>
                                  <p:childTnLst>
                                    <p:set>
                                      <p:cBhvr>
                                        <p:cTn id="799" dur="1" fill="hold">
                                          <p:stCondLst>
                                            <p:cond delay="0"/>
                                          </p:stCondLst>
                                        </p:cTn>
                                        <p:tgtEl>
                                          <p:spTgt spid="193">
                                            <p:txEl>
                                              <p:pRg st="1" end="1"/>
                                            </p:txEl>
                                          </p:spTgt>
                                        </p:tgtEl>
                                        <p:attrNameLst>
                                          <p:attrName>style.visibility</p:attrName>
                                        </p:attrNameLst>
                                      </p:cBhvr>
                                      <p:to>
                                        <p:strVal val="visible"/>
                                      </p:to>
                                    </p:set>
                                    <p:animEffect filter="wipe(left)" transition="in">
                                      <p:cBhvr additive="repl">
                                        <p:cTn id="800" dur="750"/>
                                        <p:tgtEl>
                                          <p:spTgt spid="193">
                                            <p:txEl>
                                              <p:pRg st="1" end="1"/>
                                            </p:txEl>
                                          </p:spTgt>
                                        </p:tgtEl>
                                      </p:cBhvr>
                                    </p:animEffect>
                                  </p:childTnLst>
                                </p:cTn>
                              </p:par>
                              <p:par>
                                <p:cTn id="801" nodeType="withEffect" fill="hold" presetClass="entr" presetID="10">
                                  <p:stCondLst>
                                    <p:cond delay="0"/>
                                  </p:stCondLst>
                                  <p:childTnLst>
                                    <p:set>
                                      <p:cBhvr>
                                        <p:cTn id="802" dur="1" fill="hold">
                                          <p:stCondLst>
                                            <p:cond delay="0"/>
                                          </p:stCondLst>
                                        </p:cTn>
                                        <p:tgtEl>
                                          <p:spTgt spid="189"/>
                                        </p:tgtEl>
                                        <p:attrNameLst>
                                          <p:attrName>style.visibility</p:attrName>
                                        </p:attrNameLst>
                                      </p:cBhvr>
                                      <p:to>
                                        <p:strVal val="visible"/>
                                      </p:to>
                                    </p:set>
                                    <p:animEffect filter="fade" transition="in">
                                      <p:cBhvr additive="repl">
                                        <p:cTn id="803" dur="500"/>
                                        <p:tgtEl>
                                          <p:spTgt spid="189"/>
                                        </p:tgtEl>
                                      </p:cBhvr>
                                    </p:animEffect>
                                  </p:childTnLst>
                                </p:cTn>
                              </p:par>
                            </p:childTnLst>
                          </p:cTn>
                        </p:par>
                      </p:childTnLst>
                    </p:cTn>
                  </p:par>
                  <p:par>
                    <p:cTn id="804" nodeType="clickEffect" fill="hold">
                      <p:stCondLst>
                        <p:cond delay="indefinite"/>
                      </p:stCondLst>
                      <p:childTnLst>
                        <p:par>
                          <p:cTn id="805" nodeType="withEffect" fill="hold">
                            <p:stCondLst>
                              <p:cond delay="0"/>
                            </p:stCondLst>
                            <p:childTnLst>
                              <p:par>
                                <p:cTn id="806" nodeType="clickEffect" fill="hold" presetClass="entr" presetID="22" presetSubtype="8">
                                  <p:stCondLst>
                                    <p:cond delay="0"/>
                                  </p:stCondLst>
                                  <p:childTnLst>
                                    <p:set>
                                      <p:cBhvr>
                                        <p:cTn id="807" dur="1" fill="hold">
                                          <p:stCondLst>
                                            <p:cond delay="0"/>
                                          </p:stCondLst>
                                        </p:cTn>
                                        <p:tgtEl>
                                          <p:spTgt spid="193">
                                            <p:txEl>
                                              <p:pRg st="2" end="2"/>
                                            </p:txEl>
                                          </p:spTgt>
                                        </p:tgtEl>
                                        <p:attrNameLst>
                                          <p:attrName>style.visibility</p:attrName>
                                        </p:attrNameLst>
                                      </p:cBhvr>
                                      <p:to>
                                        <p:strVal val="visible"/>
                                      </p:to>
                                    </p:set>
                                    <p:animEffect filter="wipe(left)" transition="in">
                                      <p:cBhvr additive="repl">
                                        <p:cTn id="808" dur="750"/>
                                        <p:tgtEl>
                                          <p:spTgt spid="193">
                                            <p:txEl>
                                              <p:pRg st="2" end="2"/>
                                            </p:txEl>
                                          </p:spTgt>
                                        </p:tgtEl>
                                      </p:cBhvr>
                                    </p:animEffect>
                                  </p:childTnLst>
                                </p:cTn>
                              </p:par>
                              <p:par>
                                <p:cTn id="809" nodeType="withEffect" fill="hold" presetClass="entr" presetID="10">
                                  <p:stCondLst>
                                    <p:cond delay="0"/>
                                  </p:stCondLst>
                                  <p:childTnLst>
                                    <p:set>
                                      <p:cBhvr>
                                        <p:cTn id="810" dur="1" fill="hold">
                                          <p:stCondLst>
                                            <p:cond delay="0"/>
                                          </p:stCondLst>
                                        </p:cTn>
                                        <p:tgtEl>
                                          <p:spTgt spid="190"/>
                                        </p:tgtEl>
                                        <p:attrNameLst>
                                          <p:attrName>style.visibility</p:attrName>
                                        </p:attrNameLst>
                                      </p:cBhvr>
                                      <p:to>
                                        <p:strVal val="visible"/>
                                      </p:to>
                                    </p:set>
                                    <p:animEffect filter="fade" transition="in">
                                      <p:cBhvr additive="repl">
                                        <p:cTn id="811" dur="500"/>
                                        <p:tgtEl>
                                          <p:spTgt spid="190"/>
                                        </p:tgtEl>
                                      </p:cBhvr>
                                    </p:animEffect>
                                  </p:childTnLst>
                                </p:cTn>
                              </p:par>
                              <p:par>
                                <p:cTn id="812" nodeType="withEffect" fill="hold" presetClass="entr" presetID="22" presetSubtype="4">
                                  <p:stCondLst>
                                    <p:cond delay="700"/>
                                  </p:stCondLst>
                                  <p:childTnLst>
                                    <p:set>
                                      <p:cBhvr>
                                        <p:cTn id="813" dur="1" fill="hold">
                                          <p:stCondLst>
                                            <p:cond delay="0"/>
                                          </p:stCondLst>
                                        </p:cTn>
                                        <p:tgtEl>
                                          <p:spTgt spid="191"/>
                                        </p:tgtEl>
                                        <p:attrNameLst>
                                          <p:attrName>style.visibility</p:attrName>
                                        </p:attrNameLst>
                                      </p:cBhvr>
                                      <p:to>
                                        <p:strVal val="visible"/>
                                      </p:to>
                                    </p:set>
                                    <p:animEffect filter="wipe(down)" transition="in">
                                      <p:cBhvr additive="repl">
                                        <p:cTn id="814" dur="1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94" name="Picture 6" descr="fig0605a.gif"/>
          <p:cNvPicPr/>
          <p:nvPr/>
        </p:nvPicPr>
        <p:blipFill>
          <a:blip r:embed="rId1"/>
          <a:stretch/>
        </p:blipFill>
        <p:spPr>
          <a:xfrm>
            <a:off x="1523880" y="304920"/>
            <a:ext cx="6038280" cy="6000120"/>
          </a:xfrm>
          <a:prstGeom prst="rect">
            <a:avLst/>
          </a:prstGeom>
          <a:noFill/>
          <a:ln w="0">
            <a:noFill/>
          </a:ln>
        </p:spPr>
      </p:pic>
      <p:pic>
        <p:nvPicPr>
          <p:cNvPr id="195" name="Picture 7" descr="fig0605b.gif"/>
          <p:cNvPicPr/>
          <p:nvPr/>
        </p:nvPicPr>
        <p:blipFill>
          <a:blip r:embed="rId2"/>
          <a:stretch/>
        </p:blipFill>
        <p:spPr>
          <a:xfrm>
            <a:off x="1523880" y="304920"/>
            <a:ext cx="6038280" cy="6000120"/>
          </a:xfrm>
          <a:prstGeom prst="rect">
            <a:avLst/>
          </a:prstGeom>
          <a:noFill/>
          <a:ln w="0">
            <a:noFill/>
          </a:ln>
        </p:spPr>
      </p:pic>
      <p:pic>
        <p:nvPicPr>
          <p:cNvPr id="196" name="Picture 8" descr="fig0605c.gif"/>
          <p:cNvPicPr/>
          <p:nvPr/>
        </p:nvPicPr>
        <p:blipFill>
          <a:blip r:embed="rId3"/>
          <a:stretch/>
        </p:blipFill>
        <p:spPr>
          <a:xfrm>
            <a:off x="1523880" y="304920"/>
            <a:ext cx="6038280" cy="6000120"/>
          </a:xfrm>
          <a:prstGeom prst="rect">
            <a:avLst/>
          </a:prstGeom>
          <a:noFill/>
          <a:ln w="0">
            <a:noFill/>
          </a:ln>
        </p:spPr>
      </p:pic>
      <p:pic>
        <p:nvPicPr>
          <p:cNvPr id="197" name="Picture 9" descr="fig0605d.gif"/>
          <p:cNvPicPr/>
          <p:nvPr/>
        </p:nvPicPr>
        <p:blipFill>
          <a:blip r:embed="rId4"/>
          <a:stretch/>
        </p:blipFill>
        <p:spPr>
          <a:xfrm>
            <a:off x="1523880" y="304920"/>
            <a:ext cx="6038280" cy="6000120"/>
          </a:xfrm>
          <a:prstGeom prst="rect">
            <a:avLst/>
          </a:prstGeom>
          <a:noFill/>
          <a:ln w="0">
            <a:noFill/>
          </a:ln>
        </p:spPr>
      </p:pic>
      <p:pic>
        <p:nvPicPr>
          <p:cNvPr id="198" name="Picture 10" descr="fig0605e.gif"/>
          <p:cNvPicPr/>
          <p:nvPr/>
        </p:nvPicPr>
        <p:blipFill>
          <a:blip r:embed="rId5"/>
          <a:stretch/>
        </p:blipFill>
        <p:spPr>
          <a:xfrm>
            <a:off x="1523880" y="304920"/>
            <a:ext cx="6038280" cy="6000120"/>
          </a:xfrm>
          <a:prstGeom prst="rect">
            <a:avLst/>
          </a:prstGeom>
          <a:noFill/>
          <a:ln w="0">
            <a:noFill/>
          </a:ln>
        </p:spPr>
      </p:pic>
      <p:pic>
        <p:nvPicPr>
          <p:cNvPr id="199" name="Picture 11" descr="fig0605f.gif"/>
          <p:cNvPicPr/>
          <p:nvPr/>
        </p:nvPicPr>
        <p:blipFill>
          <a:blip r:embed="rId6"/>
          <a:stretch/>
        </p:blipFill>
        <p:spPr>
          <a:xfrm>
            <a:off x="1523880" y="304920"/>
            <a:ext cx="6038280" cy="6000120"/>
          </a:xfrm>
          <a:prstGeom prst="rect">
            <a:avLst/>
          </a:prstGeom>
          <a:noFill/>
          <a:ln w="0">
            <a:noFill/>
          </a:ln>
        </p:spPr>
      </p:pic>
    </p:spTree>
  </p:cSld>
  <p:transition spd="slow">
    <p:wipe dir="r"/>
  </p:transition>
  <p:timing>
    <p:tnLst>
      <p:par>
        <p:cTn id="815" dur="indefinite" restart="never" nodeType="tmRoot">
          <p:childTnLst>
            <p:seq>
              <p:cTn id="816" dur="indefinite" nodeType="mainSeq">
                <p:childTnLst>
                  <p:par>
                    <p:cTn id="817" nodeType="clickEffect" fill="hold">
                      <p:stCondLst>
                        <p:cond delay="indefinite"/>
                      </p:stCondLst>
                      <p:childTnLst>
                        <p:par>
                          <p:cTn id="818" nodeType="withEffect" fill="hold">
                            <p:stCondLst>
                              <p:cond delay="0"/>
                            </p:stCondLst>
                            <p:childTnLst>
                              <p:par>
                                <p:cTn id="819" nodeType="clickEffect" fill="hold" presetClass="entr" presetID="22" presetSubtype="8">
                                  <p:stCondLst>
                                    <p:cond delay="0"/>
                                  </p:stCondLst>
                                  <p:childTnLst>
                                    <p:set>
                                      <p:cBhvr>
                                        <p:cTn id="820" dur="1" fill="hold">
                                          <p:stCondLst>
                                            <p:cond delay="0"/>
                                          </p:stCondLst>
                                        </p:cTn>
                                        <p:tgtEl>
                                          <p:spTgt spid="195"/>
                                        </p:tgtEl>
                                        <p:attrNameLst>
                                          <p:attrName>style.visibility</p:attrName>
                                        </p:attrNameLst>
                                      </p:cBhvr>
                                      <p:to>
                                        <p:strVal val="visible"/>
                                      </p:to>
                                    </p:set>
                                    <p:animEffect filter="wipe(left)" transition="in">
                                      <p:cBhvr additive="repl">
                                        <p:cTn id="821" dur="1000"/>
                                        <p:tgtEl>
                                          <p:spTgt spid="195"/>
                                        </p:tgtEl>
                                      </p:cBhvr>
                                    </p:animEffect>
                                  </p:childTnLst>
                                </p:cTn>
                              </p:par>
                            </p:childTnLst>
                          </p:cTn>
                        </p:par>
                      </p:childTnLst>
                    </p:cTn>
                  </p:par>
                  <p:par>
                    <p:cTn id="822" nodeType="clickEffect" fill="hold">
                      <p:stCondLst>
                        <p:cond delay="indefinite"/>
                      </p:stCondLst>
                      <p:childTnLst>
                        <p:par>
                          <p:cTn id="823" nodeType="withEffect" fill="hold">
                            <p:stCondLst>
                              <p:cond delay="0"/>
                            </p:stCondLst>
                            <p:childTnLst>
                              <p:par>
                                <p:cTn id="824" nodeType="clickEffect" fill="hold" presetClass="entr" presetID="10">
                                  <p:stCondLst>
                                    <p:cond delay="0"/>
                                  </p:stCondLst>
                                  <p:childTnLst>
                                    <p:set>
                                      <p:cBhvr>
                                        <p:cTn id="825" dur="1" fill="hold">
                                          <p:stCondLst>
                                            <p:cond delay="0"/>
                                          </p:stCondLst>
                                        </p:cTn>
                                        <p:tgtEl>
                                          <p:spTgt spid="196"/>
                                        </p:tgtEl>
                                        <p:attrNameLst>
                                          <p:attrName>style.visibility</p:attrName>
                                        </p:attrNameLst>
                                      </p:cBhvr>
                                      <p:to>
                                        <p:strVal val="visible"/>
                                      </p:to>
                                    </p:set>
                                    <p:animEffect filter="fade" transition="in">
                                      <p:cBhvr additive="repl">
                                        <p:cTn id="826" dur="500"/>
                                        <p:tgtEl>
                                          <p:spTgt spid="196"/>
                                        </p:tgtEl>
                                      </p:cBhvr>
                                    </p:animEffect>
                                  </p:childTnLst>
                                </p:cTn>
                              </p:par>
                            </p:childTnLst>
                          </p:cTn>
                        </p:par>
                      </p:childTnLst>
                    </p:cTn>
                  </p:par>
                  <p:par>
                    <p:cTn id="827" nodeType="clickEffect" fill="hold">
                      <p:stCondLst>
                        <p:cond delay="indefinite"/>
                      </p:stCondLst>
                      <p:childTnLst>
                        <p:par>
                          <p:cTn id="828" nodeType="withEffect" fill="hold">
                            <p:stCondLst>
                              <p:cond delay="0"/>
                            </p:stCondLst>
                            <p:childTnLst>
                              <p:par>
                                <p:cTn id="829" nodeType="clickEffect" fill="hold" presetClass="entr" presetID="10">
                                  <p:stCondLst>
                                    <p:cond delay="0"/>
                                  </p:stCondLst>
                                  <p:childTnLst>
                                    <p:set>
                                      <p:cBhvr>
                                        <p:cTn id="830" dur="1" fill="hold">
                                          <p:stCondLst>
                                            <p:cond delay="0"/>
                                          </p:stCondLst>
                                        </p:cTn>
                                        <p:tgtEl>
                                          <p:spTgt spid="197"/>
                                        </p:tgtEl>
                                        <p:attrNameLst>
                                          <p:attrName>style.visibility</p:attrName>
                                        </p:attrNameLst>
                                      </p:cBhvr>
                                      <p:to>
                                        <p:strVal val="visible"/>
                                      </p:to>
                                    </p:set>
                                    <p:animEffect filter="fade" transition="in">
                                      <p:cBhvr additive="repl">
                                        <p:cTn id="831" dur="500"/>
                                        <p:tgtEl>
                                          <p:spTgt spid="197"/>
                                        </p:tgtEl>
                                      </p:cBhvr>
                                    </p:animEffect>
                                  </p:childTnLst>
                                </p:cTn>
                              </p:par>
                            </p:childTnLst>
                          </p:cTn>
                        </p:par>
                        <p:par>
                          <p:cTn id="832" nodeType="afterEffect" fill="hold">
                            <p:stCondLst>
                              <p:cond delay="500"/>
                            </p:stCondLst>
                            <p:childTnLst>
                              <p:par>
                                <p:cTn id="833" nodeType="afterEffect" fill="hold" presetClass="entr" presetID="22" presetSubtype="4">
                                  <p:stCondLst>
                                    <p:cond delay="0"/>
                                  </p:stCondLst>
                                  <p:childTnLst>
                                    <p:set>
                                      <p:cBhvr>
                                        <p:cTn id="834" dur="1" fill="hold">
                                          <p:stCondLst>
                                            <p:cond delay="0"/>
                                          </p:stCondLst>
                                        </p:cTn>
                                        <p:tgtEl>
                                          <p:spTgt spid="198"/>
                                        </p:tgtEl>
                                        <p:attrNameLst>
                                          <p:attrName>style.visibility</p:attrName>
                                        </p:attrNameLst>
                                      </p:cBhvr>
                                      <p:to>
                                        <p:strVal val="visible"/>
                                      </p:to>
                                    </p:set>
                                    <p:animEffect filter="wipe(down)" transition="in">
                                      <p:cBhvr additive="repl">
                                        <p:cTn id="835" dur="1000"/>
                                        <p:tgtEl>
                                          <p:spTgt spid="198"/>
                                        </p:tgtEl>
                                      </p:cBhvr>
                                    </p:animEffect>
                                  </p:childTnLst>
                                </p:cTn>
                              </p:par>
                            </p:childTnLst>
                          </p:cTn>
                        </p:par>
                      </p:childTnLst>
                    </p:cTn>
                  </p:par>
                  <p:par>
                    <p:cTn id="836" nodeType="clickEffect" fill="hold">
                      <p:stCondLst>
                        <p:cond delay="indefinite"/>
                      </p:stCondLst>
                      <p:childTnLst>
                        <p:par>
                          <p:cTn id="837" nodeType="withEffect" fill="hold">
                            <p:stCondLst>
                              <p:cond delay="0"/>
                            </p:stCondLst>
                            <p:childTnLst>
                              <p:par>
                                <p:cTn id="838" nodeType="clickEffect" fill="hold" presetClass="entr" presetID="10">
                                  <p:stCondLst>
                                    <p:cond delay="0"/>
                                  </p:stCondLst>
                                  <p:childTnLst>
                                    <p:set>
                                      <p:cBhvr>
                                        <p:cTn id="839" dur="1" fill="hold">
                                          <p:stCondLst>
                                            <p:cond delay="0"/>
                                          </p:stCondLst>
                                        </p:cTn>
                                        <p:tgtEl>
                                          <p:spTgt spid="199"/>
                                        </p:tgtEl>
                                        <p:attrNameLst>
                                          <p:attrName>style.visibility</p:attrName>
                                        </p:attrNameLst>
                                      </p:cBhvr>
                                      <p:to>
                                        <p:strVal val="visible"/>
                                      </p:to>
                                    </p:set>
                                    <p:animEffect filter="fade" transition="in">
                                      <p:cBhvr additive="repl">
                                        <p:cTn id="840" dur="5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6.2  VALUE, PRICE, AND CONSUMER SURPLUS </a:t>
            </a:r>
            <a:endParaRPr b="0" lang="en-US" sz="2600" strike="noStrike" u="none">
              <a:solidFill>
                <a:srgbClr val="000000"/>
              </a:solidFill>
              <a:effectLst/>
              <a:uFillTx/>
              <a:latin typeface="Arial"/>
            </a:endParaRPr>
          </a:p>
        </p:txBody>
      </p:sp>
      <p:pic>
        <p:nvPicPr>
          <p:cNvPr id="201" name="Picture 9" descr="fig0605a.gif"/>
          <p:cNvPicPr/>
          <p:nvPr/>
        </p:nvPicPr>
        <p:blipFill>
          <a:blip r:embed="rId1"/>
          <a:stretch/>
        </p:blipFill>
        <p:spPr>
          <a:xfrm>
            <a:off x="4267080" y="1511280"/>
            <a:ext cx="4528440" cy="4500000"/>
          </a:xfrm>
          <a:prstGeom prst="rect">
            <a:avLst/>
          </a:prstGeom>
          <a:noFill/>
          <a:ln w="0">
            <a:noFill/>
          </a:ln>
        </p:spPr>
      </p:pic>
      <p:pic>
        <p:nvPicPr>
          <p:cNvPr id="202" name="Picture 10" descr="fig0605b.gif"/>
          <p:cNvPicPr/>
          <p:nvPr/>
        </p:nvPicPr>
        <p:blipFill>
          <a:blip r:embed="rId2"/>
          <a:stretch/>
        </p:blipFill>
        <p:spPr>
          <a:xfrm>
            <a:off x="4267080" y="1511280"/>
            <a:ext cx="4528440" cy="4500000"/>
          </a:xfrm>
          <a:prstGeom prst="rect">
            <a:avLst/>
          </a:prstGeom>
          <a:noFill/>
          <a:ln w="0">
            <a:noFill/>
          </a:ln>
        </p:spPr>
      </p:pic>
      <p:pic>
        <p:nvPicPr>
          <p:cNvPr id="203" name="Picture 11" descr="fig0605c.gif"/>
          <p:cNvPicPr/>
          <p:nvPr/>
        </p:nvPicPr>
        <p:blipFill>
          <a:blip r:embed="rId3"/>
          <a:stretch/>
        </p:blipFill>
        <p:spPr>
          <a:xfrm>
            <a:off x="4267080" y="1511280"/>
            <a:ext cx="4528440" cy="4500000"/>
          </a:xfrm>
          <a:prstGeom prst="rect">
            <a:avLst/>
          </a:prstGeom>
          <a:noFill/>
          <a:ln w="0">
            <a:noFill/>
          </a:ln>
        </p:spPr>
      </p:pic>
      <p:pic>
        <p:nvPicPr>
          <p:cNvPr id="204" name="Picture 12" descr="fig0605d.gif"/>
          <p:cNvPicPr/>
          <p:nvPr/>
        </p:nvPicPr>
        <p:blipFill>
          <a:blip r:embed="rId4"/>
          <a:stretch/>
        </p:blipFill>
        <p:spPr>
          <a:xfrm>
            <a:off x="4267080" y="1511280"/>
            <a:ext cx="4528440" cy="4500000"/>
          </a:xfrm>
          <a:prstGeom prst="rect">
            <a:avLst/>
          </a:prstGeom>
          <a:noFill/>
          <a:ln w="0">
            <a:noFill/>
          </a:ln>
        </p:spPr>
      </p:pic>
      <p:pic>
        <p:nvPicPr>
          <p:cNvPr id="205" name="Picture 13" descr="fig0605e.gif"/>
          <p:cNvPicPr/>
          <p:nvPr/>
        </p:nvPicPr>
        <p:blipFill>
          <a:blip r:embed="rId5"/>
          <a:stretch/>
        </p:blipFill>
        <p:spPr>
          <a:xfrm>
            <a:off x="4267080" y="1511280"/>
            <a:ext cx="4528440" cy="4500000"/>
          </a:xfrm>
          <a:prstGeom prst="rect">
            <a:avLst/>
          </a:prstGeom>
          <a:noFill/>
          <a:ln w="0">
            <a:noFill/>
          </a:ln>
        </p:spPr>
      </p:pic>
      <p:pic>
        <p:nvPicPr>
          <p:cNvPr id="206" name="Picture 14" descr="fig0605f.gif"/>
          <p:cNvPicPr/>
          <p:nvPr/>
        </p:nvPicPr>
        <p:blipFill>
          <a:blip r:embed="rId6"/>
          <a:stretch/>
        </p:blipFill>
        <p:spPr>
          <a:xfrm>
            <a:off x="4267080" y="1511280"/>
            <a:ext cx="4528440" cy="4500000"/>
          </a:xfrm>
          <a:prstGeom prst="rect">
            <a:avLst/>
          </a:prstGeom>
          <a:noFill/>
          <a:ln w="0">
            <a:noFill/>
          </a:ln>
        </p:spPr>
      </p:pic>
      <p:sp>
        <p:nvSpPr>
          <p:cNvPr id="207"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lvl="1" marL="816120" indent="-457200">
              <a:lnSpc>
                <a:spcPct val="100000"/>
              </a:lnSpc>
              <a:spcBef>
                <a:spcPts val="601"/>
              </a:spcBef>
              <a:spcAft>
                <a:spcPts val="601"/>
              </a:spcAft>
              <a:buClr>
                <a:srgbClr val="000000"/>
              </a:buClr>
              <a:buFont typeface="OpenSymbol"/>
              <a:buAutoNum type="arabicPeriod" startAt="4"/>
            </a:pPr>
            <a:r>
              <a:rPr b="0" lang="en-US" sz="2400" strike="noStrike" u="none">
                <a:solidFill>
                  <a:srgbClr val="000000"/>
                </a:solidFill>
                <a:effectLst/>
                <a:uFillTx/>
                <a:latin typeface="Arial"/>
                <a:ea typeface="ＭＳ Ｐゴシック"/>
              </a:rPr>
              <a:t>Consumer surplus from the 10,000 pizzas that people buy is the area of the green triangle.</a:t>
            </a:r>
            <a:endParaRPr b="0" lang="en-US" sz="2400" strike="noStrike" u="none">
              <a:solidFill>
                <a:srgbClr val="000000"/>
              </a:solidFill>
              <a:effectLst/>
              <a:uFillTx/>
              <a:latin typeface="Arial"/>
            </a:endParaRPr>
          </a:p>
          <a:p>
            <a:pPr marL="816120" indent="-45720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Consumer surplus from pizzas is $50,000.</a:t>
            </a:r>
            <a:endParaRPr b="0" lang="en-US" sz="2400" strike="noStrike" u="none">
              <a:solidFill>
                <a:srgbClr val="000000"/>
              </a:solidFill>
              <a:effectLst/>
              <a:uFillTx/>
              <a:latin typeface="Arial"/>
            </a:endParaRPr>
          </a:p>
          <a:p>
            <a:pPr marL="816120" indent="-45720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total benefit from pizzas is $150,000—the $100,000 that people spend on pizzas plus the $50,000 of consumer surplus.</a:t>
            </a:r>
            <a:endParaRPr b="0" lang="en-US" sz="2400" strike="noStrike" u="none">
              <a:solidFill>
                <a:srgbClr val="000000"/>
              </a:solidFill>
              <a:effectLst/>
              <a:uFillTx/>
              <a:latin typeface="Arial"/>
            </a:endParaRPr>
          </a:p>
        </p:txBody>
      </p:sp>
    </p:spTree>
  </p:cSld>
  <p:transition spd="slow">
    <p:wipe dir="r"/>
  </p:transition>
  <p:timing>
    <p:tnLst>
      <p:par>
        <p:cTn id="841" dur="indefinite" restart="never" nodeType="tmRoot">
          <p:childTnLst>
            <p:seq>
              <p:cTn id="842" dur="indefinite" nodeType="mainSeq">
                <p:childTnLst>
                  <p:par>
                    <p:cTn id="843" nodeType="clickEffect" fill="hold">
                      <p:stCondLst>
                        <p:cond delay="0"/>
                      </p:stCondLst>
                      <p:childTnLst>
                        <p:par>
                          <p:cTn id="844" nodeType="withEffect" fill="hold">
                            <p:stCondLst>
                              <p:cond delay="0"/>
                            </p:stCondLst>
                            <p:childTnLst>
                              <p:par>
                                <p:cTn id="845" nodeType="withEffect" fill="hold" presetClass="entr" presetID="10">
                                  <p:stCondLst>
                                    <p:cond delay="0"/>
                                  </p:stCondLst>
                                  <p:childTnLst>
                                    <p:set>
                                      <p:cBhvr>
                                        <p:cTn id="846" dur="1" fill="hold">
                                          <p:stCondLst>
                                            <p:cond delay="0"/>
                                          </p:stCondLst>
                                        </p:cTn>
                                        <p:tgtEl>
                                          <p:spTgt spid="206"/>
                                        </p:tgtEl>
                                        <p:attrNameLst>
                                          <p:attrName>style.visibility</p:attrName>
                                        </p:attrNameLst>
                                      </p:cBhvr>
                                      <p:to>
                                        <p:strVal val="visible"/>
                                      </p:to>
                                    </p:set>
                                    <p:animEffect filter="fade" transition="in">
                                      <p:cBhvr additive="repl">
                                        <p:cTn id="847" dur="500"/>
                                        <p:tgtEl>
                                          <p:spTgt spid="206"/>
                                        </p:tgtEl>
                                      </p:cBhvr>
                                    </p:animEffect>
                                  </p:childTnLst>
                                </p:cTn>
                              </p:par>
                            </p:childTnLst>
                          </p:cTn>
                        </p:par>
                      </p:childTnLst>
                    </p:cTn>
                  </p:par>
                  <p:par>
                    <p:cTn id="848" nodeType="clickEffect" fill="hold">
                      <p:stCondLst>
                        <p:cond delay="indefinite"/>
                      </p:stCondLst>
                      <p:childTnLst>
                        <p:par>
                          <p:cTn id="849" nodeType="withEffect" fill="hold">
                            <p:stCondLst>
                              <p:cond delay="0"/>
                            </p:stCondLst>
                            <p:childTnLst>
                              <p:par>
                                <p:cTn id="850" nodeType="clickEffect" fill="hold" presetClass="entr" presetID="22" presetSubtype="8">
                                  <p:stCondLst>
                                    <p:cond delay="0"/>
                                  </p:stCondLst>
                                  <p:childTnLst>
                                    <p:set>
                                      <p:cBhvr>
                                        <p:cTn id="851" dur="1" fill="hold">
                                          <p:stCondLst>
                                            <p:cond delay="0"/>
                                          </p:stCondLst>
                                        </p:cTn>
                                        <p:tgtEl>
                                          <p:spTgt spid="207">
                                            <p:txEl>
                                              <p:pRg st="1" end="1"/>
                                            </p:txEl>
                                          </p:spTgt>
                                        </p:tgtEl>
                                        <p:attrNameLst>
                                          <p:attrName>style.visibility</p:attrName>
                                        </p:attrNameLst>
                                      </p:cBhvr>
                                      <p:to>
                                        <p:strVal val="visible"/>
                                      </p:to>
                                    </p:set>
                                    <p:animEffect filter="wipe(left)" transition="in">
                                      <p:cBhvr additive="repl">
                                        <p:cTn id="852" dur="750"/>
                                        <p:tgtEl>
                                          <p:spTgt spid="207">
                                            <p:txEl>
                                              <p:pRg st="1" end="1"/>
                                            </p:txEl>
                                          </p:spTgt>
                                        </p:tgtEl>
                                      </p:cBhvr>
                                    </p:animEffect>
                                  </p:childTnLst>
                                </p:cTn>
                              </p:par>
                            </p:childTnLst>
                          </p:cTn>
                        </p:par>
                      </p:childTnLst>
                    </p:cTn>
                  </p:par>
                  <p:par>
                    <p:cTn id="853" nodeType="clickEffect" fill="hold">
                      <p:stCondLst>
                        <p:cond delay="indefinite"/>
                      </p:stCondLst>
                      <p:childTnLst>
                        <p:par>
                          <p:cTn id="854" nodeType="withEffect" fill="hold">
                            <p:stCondLst>
                              <p:cond delay="0"/>
                            </p:stCondLst>
                            <p:childTnLst>
                              <p:par>
                                <p:cTn id="855" nodeType="clickEffect" fill="hold" presetClass="entr" presetID="22" presetSubtype="8">
                                  <p:stCondLst>
                                    <p:cond delay="0"/>
                                  </p:stCondLst>
                                  <p:childTnLst>
                                    <p:set>
                                      <p:cBhvr>
                                        <p:cTn id="856" dur="1" fill="hold">
                                          <p:stCondLst>
                                            <p:cond delay="0"/>
                                          </p:stCondLst>
                                        </p:cTn>
                                        <p:tgtEl>
                                          <p:spTgt spid="207">
                                            <p:txEl>
                                              <p:pRg st="2" end="2"/>
                                            </p:txEl>
                                          </p:spTgt>
                                        </p:tgtEl>
                                        <p:attrNameLst>
                                          <p:attrName>style.visibility</p:attrName>
                                        </p:attrNameLst>
                                      </p:cBhvr>
                                      <p:to>
                                        <p:strVal val="visible"/>
                                      </p:to>
                                    </p:set>
                                    <p:animEffect filter="wipe(left)" transition="in">
                                      <p:cBhvr additive="repl">
                                        <p:cTn id="857" dur="750"/>
                                        <p:tgtEl>
                                          <p:spTgt spid="207">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6.3  COST, PRICE, AND PRODUCER SURPLUS</a:t>
            </a:r>
            <a:endParaRPr b="0" lang="en-US" sz="2600" strike="noStrike" u="none">
              <a:solidFill>
                <a:srgbClr val="000000"/>
              </a:solidFill>
              <a:effectLst/>
              <a:uFillTx/>
              <a:latin typeface="Arial"/>
            </a:endParaRPr>
          </a:p>
        </p:txBody>
      </p:sp>
      <p:sp>
        <p:nvSpPr>
          <p:cNvPr id="209" name="PlaceHolder 2"/>
          <p:cNvSpPr>
            <a:spLocks noGrp="1"/>
          </p:cNvSpPr>
          <p:nvPr>
            <p:ph/>
          </p:nvPr>
        </p:nvSpPr>
        <p:spPr>
          <a:xfrm>
            <a:off x="360360" y="1440000"/>
            <a:ext cx="840204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Supply and Marginal Cost</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Sellers distinguish between </a:t>
            </a:r>
            <a:r>
              <a:rPr b="0" i="1" lang="en-US" sz="2400" strike="noStrike" u="none">
                <a:solidFill>
                  <a:schemeClr val="dk1"/>
                </a:solidFill>
                <a:effectLst/>
                <a:uFillTx/>
                <a:latin typeface="Arial"/>
                <a:ea typeface="ＭＳ Ｐゴシック"/>
              </a:rPr>
              <a:t>cost</a:t>
            </a:r>
            <a:r>
              <a:rPr b="0" lang="en-US" sz="2400" strike="noStrike" u="none">
                <a:solidFill>
                  <a:schemeClr val="dk1"/>
                </a:solidFill>
                <a:effectLst/>
                <a:uFillTx/>
                <a:latin typeface="Arial"/>
                <a:ea typeface="ＭＳ Ｐゴシック"/>
              </a:rPr>
              <a:t> and </a:t>
            </a:r>
            <a:r>
              <a:rPr b="0" i="1" lang="en-US" sz="2400" strike="noStrike" u="none">
                <a:solidFill>
                  <a:schemeClr val="dk1"/>
                </a:solidFill>
                <a:effectLst/>
                <a:uFillTx/>
                <a:latin typeface="Arial"/>
                <a:ea typeface="ＭＳ Ｐゴシック"/>
              </a:rPr>
              <a:t>price</a:t>
            </a: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Cost is what a seller must give up to produce the good.</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Price is what a seller receives when the good is sold.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cost of producing one more unit of a good or service is its marginal cost.</a:t>
            </a:r>
            <a:endParaRPr b="0" lang="en-US" sz="2400" strike="noStrike" u="none">
              <a:solidFill>
                <a:srgbClr val="000000"/>
              </a:solidFill>
              <a:effectLst/>
              <a:uFillTx/>
              <a:latin typeface="Arial"/>
            </a:endParaRPr>
          </a:p>
        </p:txBody>
      </p:sp>
    </p:spTree>
  </p:cSld>
  <p:transition spd="slow">
    <p:wipe dir="r"/>
  </p:transition>
  <p:timing>
    <p:tnLst>
      <p:par>
        <p:cTn id="858" dur="indefinite" restart="never" nodeType="tmRoot">
          <p:childTnLst>
            <p:seq>
              <p:cTn id="859" dur="indefinite" nodeType="mainSeq">
                <p:childTnLst>
                  <p:par>
                    <p:cTn id="860" nodeType="clickEffect" fill="hold">
                      <p:stCondLst>
                        <p:cond delay="indefinite"/>
                      </p:stCondLst>
                      <p:childTnLst>
                        <p:par>
                          <p:cTn id="861" nodeType="withEffect" fill="hold">
                            <p:stCondLst>
                              <p:cond delay="0"/>
                            </p:stCondLst>
                            <p:childTnLst>
                              <p:par>
                                <p:cTn id="862" nodeType="clickEffect" fill="hold" presetClass="entr" presetID="22" presetSubtype="8">
                                  <p:stCondLst>
                                    <p:cond delay="0"/>
                                  </p:stCondLst>
                                  <p:childTnLst>
                                    <p:set>
                                      <p:cBhvr>
                                        <p:cTn id="863" dur="1" fill="hold">
                                          <p:stCondLst>
                                            <p:cond delay="0"/>
                                          </p:stCondLst>
                                        </p:cTn>
                                        <p:tgtEl>
                                          <p:spTgt spid="209">
                                            <p:txEl>
                                              <p:pRg st="1" end="1"/>
                                            </p:txEl>
                                          </p:spTgt>
                                        </p:tgtEl>
                                        <p:attrNameLst>
                                          <p:attrName>style.visibility</p:attrName>
                                        </p:attrNameLst>
                                      </p:cBhvr>
                                      <p:to>
                                        <p:strVal val="visible"/>
                                      </p:to>
                                    </p:set>
                                    <p:animEffect filter="wipe(left)" transition="in">
                                      <p:cBhvr additive="repl">
                                        <p:cTn id="864" dur="750"/>
                                        <p:tgtEl>
                                          <p:spTgt spid="209">
                                            <p:txEl>
                                              <p:pRg st="1" end="1"/>
                                            </p:txEl>
                                          </p:spTgt>
                                        </p:tgtEl>
                                      </p:cBhvr>
                                    </p:animEffect>
                                  </p:childTnLst>
                                </p:cTn>
                              </p:par>
                            </p:childTnLst>
                          </p:cTn>
                        </p:par>
                      </p:childTnLst>
                    </p:cTn>
                  </p:par>
                  <p:par>
                    <p:cTn id="865" nodeType="clickEffect" fill="hold">
                      <p:stCondLst>
                        <p:cond delay="indefinite"/>
                      </p:stCondLst>
                      <p:childTnLst>
                        <p:par>
                          <p:cTn id="866" nodeType="withEffect" fill="hold">
                            <p:stCondLst>
                              <p:cond delay="0"/>
                            </p:stCondLst>
                            <p:childTnLst>
                              <p:par>
                                <p:cTn id="867" nodeType="clickEffect" fill="hold" presetClass="entr" presetID="22" presetSubtype="8">
                                  <p:stCondLst>
                                    <p:cond delay="0"/>
                                  </p:stCondLst>
                                  <p:childTnLst>
                                    <p:set>
                                      <p:cBhvr>
                                        <p:cTn id="868" dur="1" fill="hold">
                                          <p:stCondLst>
                                            <p:cond delay="0"/>
                                          </p:stCondLst>
                                        </p:cTn>
                                        <p:tgtEl>
                                          <p:spTgt spid="209">
                                            <p:txEl>
                                              <p:pRg st="2" end="2"/>
                                            </p:txEl>
                                          </p:spTgt>
                                        </p:tgtEl>
                                        <p:attrNameLst>
                                          <p:attrName>style.visibility</p:attrName>
                                        </p:attrNameLst>
                                      </p:cBhvr>
                                      <p:to>
                                        <p:strVal val="visible"/>
                                      </p:to>
                                    </p:set>
                                    <p:animEffect filter="wipe(left)" transition="in">
                                      <p:cBhvr additive="repl">
                                        <p:cTn id="869" dur="750"/>
                                        <p:tgtEl>
                                          <p:spTgt spid="209">
                                            <p:txEl>
                                              <p:pRg st="2" end="2"/>
                                            </p:txEl>
                                          </p:spTgt>
                                        </p:tgtEl>
                                      </p:cBhvr>
                                    </p:animEffect>
                                  </p:childTnLst>
                                </p:cTn>
                              </p:par>
                            </p:childTnLst>
                          </p:cTn>
                        </p:par>
                      </p:childTnLst>
                    </p:cTn>
                  </p:par>
                  <p:par>
                    <p:cTn id="870" nodeType="clickEffect" fill="hold">
                      <p:stCondLst>
                        <p:cond delay="indefinite"/>
                      </p:stCondLst>
                      <p:childTnLst>
                        <p:par>
                          <p:cTn id="871" nodeType="withEffect" fill="hold">
                            <p:stCondLst>
                              <p:cond delay="0"/>
                            </p:stCondLst>
                            <p:childTnLst>
                              <p:par>
                                <p:cTn id="872" nodeType="clickEffect" fill="hold" presetClass="entr" presetID="22" presetSubtype="8">
                                  <p:stCondLst>
                                    <p:cond delay="0"/>
                                  </p:stCondLst>
                                  <p:childTnLst>
                                    <p:set>
                                      <p:cBhvr>
                                        <p:cTn id="873" dur="1" fill="hold">
                                          <p:stCondLst>
                                            <p:cond delay="0"/>
                                          </p:stCondLst>
                                        </p:cTn>
                                        <p:tgtEl>
                                          <p:spTgt spid="209">
                                            <p:txEl>
                                              <p:pRg st="3" end="3"/>
                                            </p:txEl>
                                          </p:spTgt>
                                        </p:tgtEl>
                                        <p:attrNameLst>
                                          <p:attrName>style.visibility</p:attrName>
                                        </p:attrNameLst>
                                      </p:cBhvr>
                                      <p:to>
                                        <p:strVal val="visible"/>
                                      </p:to>
                                    </p:set>
                                    <p:animEffect filter="wipe(left)" transition="in">
                                      <p:cBhvr additive="repl">
                                        <p:cTn id="874" dur="750"/>
                                        <p:tgtEl>
                                          <p:spTgt spid="209">
                                            <p:txEl>
                                              <p:pRg st="3" end="3"/>
                                            </p:txEl>
                                          </p:spTgt>
                                        </p:tgtEl>
                                      </p:cBhvr>
                                    </p:animEffect>
                                  </p:childTnLst>
                                </p:cTn>
                              </p:par>
                            </p:childTnLst>
                          </p:cTn>
                        </p:par>
                      </p:childTnLst>
                    </p:cTn>
                  </p:par>
                  <p:par>
                    <p:cTn id="875" nodeType="clickEffect" fill="hold">
                      <p:stCondLst>
                        <p:cond delay="indefinite"/>
                      </p:stCondLst>
                      <p:childTnLst>
                        <p:par>
                          <p:cTn id="876" nodeType="withEffect" fill="hold">
                            <p:stCondLst>
                              <p:cond delay="0"/>
                            </p:stCondLst>
                            <p:childTnLst>
                              <p:par>
                                <p:cTn id="877" nodeType="clickEffect" fill="hold" presetClass="entr" presetID="22" presetSubtype="8">
                                  <p:stCondLst>
                                    <p:cond delay="0"/>
                                  </p:stCondLst>
                                  <p:childTnLst>
                                    <p:set>
                                      <p:cBhvr>
                                        <p:cTn id="878" dur="1" fill="hold">
                                          <p:stCondLst>
                                            <p:cond delay="0"/>
                                          </p:stCondLst>
                                        </p:cTn>
                                        <p:tgtEl>
                                          <p:spTgt spid="209">
                                            <p:txEl>
                                              <p:pRg st="4" end="4"/>
                                            </p:txEl>
                                          </p:spTgt>
                                        </p:tgtEl>
                                        <p:attrNameLst>
                                          <p:attrName>style.visibility</p:attrName>
                                        </p:attrNameLst>
                                      </p:cBhvr>
                                      <p:to>
                                        <p:strVal val="visible"/>
                                      </p:to>
                                    </p:set>
                                    <p:animEffect filter="wipe(left)" transition="in">
                                      <p:cBhvr additive="repl">
                                        <p:cTn id="879" dur="750"/>
                                        <p:tgtEl>
                                          <p:spTgt spid="20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6.3  COST, PRICE, AND PRODUCER SURPLUS</a:t>
            </a:r>
            <a:endParaRPr b="0" lang="en-US" sz="2600" strike="noStrike" u="none">
              <a:solidFill>
                <a:srgbClr val="000000"/>
              </a:solidFill>
              <a:effectLst/>
              <a:uFillTx/>
              <a:latin typeface="Arial"/>
            </a:endParaRPr>
          </a:p>
        </p:txBody>
      </p:sp>
      <p:sp>
        <p:nvSpPr>
          <p:cNvPr id="21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seller will produce one more unit of a good or service if the price for which it can be sold exceeds or equals its marginal cost.</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 supply curve is a marginal cost curve.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 example, the supply curve of pizzas tells us the dollars worth of other goods and services that firms must forgo to produce one more pizza.</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That is, the supply curve of pizzas shows the seller’s cost of producing each unit of pizza.</a:t>
            </a:r>
            <a:endParaRPr b="0" lang="en-US" sz="2400" strike="noStrike" u="none">
              <a:solidFill>
                <a:srgbClr val="000000"/>
              </a:solidFill>
              <a:effectLst/>
              <a:uFillTx/>
              <a:latin typeface="Arial"/>
            </a:endParaRPr>
          </a:p>
        </p:txBody>
      </p:sp>
    </p:spTree>
  </p:cSld>
  <p:transition spd="slow">
    <p:wipe dir="r"/>
  </p:transition>
  <p:timing>
    <p:tnLst>
      <p:par>
        <p:cTn id="880" dur="indefinite" restart="never" nodeType="tmRoot">
          <p:childTnLst>
            <p:seq>
              <p:cTn id="881" dur="indefinite" nodeType="mainSeq">
                <p:childTnLst>
                  <p:par>
                    <p:cTn id="882" nodeType="clickEffect" fill="hold">
                      <p:stCondLst>
                        <p:cond delay="indefinite"/>
                      </p:stCondLst>
                      <p:childTnLst>
                        <p:par>
                          <p:cTn id="883" nodeType="withEffect" fill="hold">
                            <p:stCondLst>
                              <p:cond delay="0"/>
                            </p:stCondLst>
                            <p:childTnLst>
                              <p:par>
                                <p:cTn id="884" nodeType="clickEffect" fill="hold" presetClass="entr" presetID="22" presetSubtype="8">
                                  <p:stCondLst>
                                    <p:cond delay="0"/>
                                  </p:stCondLst>
                                  <p:childTnLst>
                                    <p:set>
                                      <p:cBhvr>
                                        <p:cTn id="885" dur="1" fill="hold">
                                          <p:stCondLst>
                                            <p:cond delay="0"/>
                                          </p:stCondLst>
                                        </p:cTn>
                                        <p:tgtEl>
                                          <p:spTgt spid="211">
                                            <p:txEl>
                                              <p:pRg st="1" end="1"/>
                                            </p:txEl>
                                          </p:spTgt>
                                        </p:tgtEl>
                                        <p:attrNameLst>
                                          <p:attrName>style.visibility</p:attrName>
                                        </p:attrNameLst>
                                      </p:cBhvr>
                                      <p:to>
                                        <p:strVal val="visible"/>
                                      </p:to>
                                    </p:set>
                                    <p:animEffect filter="wipe(left)" transition="in">
                                      <p:cBhvr additive="repl">
                                        <p:cTn id="886" dur="750"/>
                                        <p:tgtEl>
                                          <p:spTgt spid="211">
                                            <p:txEl>
                                              <p:pRg st="1" end="1"/>
                                            </p:txEl>
                                          </p:spTgt>
                                        </p:tgtEl>
                                      </p:cBhvr>
                                    </p:animEffect>
                                  </p:childTnLst>
                                </p:cTn>
                              </p:par>
                            </p:childTnLst>
                          </p:cTn>
                        </p:par>
                      </p:childTnLst>
                    </p:cTn>
                  </p:par>
                  <p:par>
                    <p:cTn id="887" nodeType="clickEffect" fill="hold">
                      <p:stCondLst>
                        <p:cond delay="indefinite"/>
                      </p:stCondLst>
                      <p:childTnLst>
                        <p:par>
                          <p:cTn id="888" nodeType="withEffect" fill="hold">
                            <p:stCondLst>
                              <p:cond delay="0"/>
                            </p:stCondLst>
                            <p:childTnLst>
                              <p:par>
                                <p:cTn id="889" nodeType="clickEffect" fill="hold" presetClass="entr" presetID="22" presetSubtype="8">
                                  <p:stCondLst>
                                    <p:cond delay="0"/>
                                  </p:stCondLst>
                                  <p:childTnLst>
                                    <p:set>
                                      <p:cBhvr>
                                        <p:cTn id="890" dur="1" fill="hold">
                                          <p:stCondLst>
                                            <p:cond delay="0"/>
                                          </p:stCondLst>
                                        </p:cTn>
                                        <p:tgtEl>
                                          <p:spTgt spid="211">
                                            <p:txEl>
                                              <p:pRg st="2" end="2"/>
                                            </p:txEl>
                                          </p:spTgt>
                                        </p:tgtEl>
                                        <p:attrNameLst>
                                          <p:attrName>style.visibility</p:attrName>
                                        </p:attrNameLst>
                                      </p:cBhvr>
                                      <p:to>
                                        <p:strVal val="visible"/>
                                      </p:to>
                                    </p:set>
                                    <p:animEffect filter="wipe(left)" transition="in">
                                      <p:cBhvr additive="repl">
                                        <p:cTn id="891" dur="750"/>
                                        <p:tgtEl>
                                          <p:spTgt spid="211">
                                            <p:txEl>
                                              <p:pRg st="2" end="2"/>
                                            </p:txEl>
                                          </p:spTgt>
                                        </p:tgtEl>
                                      </p:cBhvr>
                                    </p:animEffect>
                                  </p:childTnLst>
                                </p:cTn>
                              </p:par>
                            </p:childTnLst>
                          </p:cTn>
                        </p:par>
                      </p:childTnLst>
                    </p:cTn>
                  </p:par>
                  <p:par>
                    <p:cTn id="892" nodeType="clickEffect" fill="hold">
                      <p:stCondLst>
                        <p:cond delay="indefinite"/>
                      </p:stCondLst>
                      <p:childTnLst>
                        <p:par>
                          <p:cTn id="893" nodeType="withEffect" fill="hold">
                            <p:stCondLst>
                              <p:cond delay="0"/>
                            </p:stCondLst>
                            <p:childTnLst>
                              <p:par>
                                <p:cTn id="894" nodeType="clickEffect" fill="hold" presetClass="entr" presetID="22" presetSubtype="8">
                                  <p:stCondLst>
                                    <p:cond delay="0"/>
                                  </p:stCondLst>
                                  <p:childTnLst>
                                    <p:set>
                                      <p:cBhvr>
                                        <p:cTn id="895" dur="1" fill="hold">
                                          <p:stCondLst>
                                            <p:cond delay="0"/>
                                          </p:stCondLst>
                                        </p:cTn>
                                        <p:tgtEl>
                                          <p:spTgt spid="211">
                                            <p:txEl>
                                              <p:pRg st="3" end="3"/>
                                            </p:txEl>
                                          </p:spTgt>
                                        </p:tgtEl>
                                        <p:attrNameLst>
                                          <p:attrName>style.visibility</p:attrName>
                                        </p:attrNameLst>
                                      </p:cBhvr>
                                      <p:to>
                                        <p:strVal val="visible"/>
                                      </p:to>
                                    </p:set>
                                    <p:animEffect filter="wipe(left)" transition="in">
                                      <p:cBhvr additive="repl">
                                        <p:cTn id="896" dur="750"/>
                                        <p:tgtEl>
                                          <p:spTgt spid="21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6.3  COST, PRICE, AND PRODUCER SURPLUS </a:t>
            </a:r>
            <a:endParaRPr b="0" lang="en-US" sz="2600" strike="noStrike" u="none">
              <a:solidFill>
                <a:srgbClr val="000000"/>
              </a:solidFill>
              <a:effectLst/>
              <a:uFillTx/>
              <a:latin typeface="Arial"/>
            </a:endParaRPr>
          </a:p>
        </p:txBody>
      </p:sp>
      <p:sp>
        <p:nvSpPr>
          <p:cNvPr id="213"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6.6 shows supply, minimum supply price, and marginal cost.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supply curve shows:</a:t>
            </a:r>
            <a:endParaRPr b="0" lang="en-US" sz="2400" strike="noStrike" u="none">
              <a:solidFill>
                <a:srgbClr val="000000"/>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The quantity supplied at each price, other things remaining the same.</a:t>
            </a:r>
            <a:endParaRPr b="0" lang="en-US" sz="2400" strike="noStrike" u="none">
              <a:solidFill>
                <a:srgbClr val="000000"/>
              </a:solidFill>
              <a:effectLst/>
              <a:uFillTx/>
              <a:latin typeface="Arial"/>
            </a:endParaRPr>
          </a:p>
        </p:txBody>
      </p:sp>
      <p:pic>
        <p:nvPicPr>
          <p:cNvPr id="214" name="Picture 10" descr="fig0606aa.gif"/>
          <p:cNvPicPr/>
          <p:nvPr/>
        </p:nvPicPr>
        <p:blipFill>
          <a:blip r:embed="rId1"/>
          <a:stretch/>
        </p:blipFill>
        <p:spPr>
          <a:xfrm>
            <a:off x="4500720" y="1511280"/>
            <a:ext cx="4156920" cy="4500000"/>
          </a:xfrm>
          <a:prstGeom prst="rect">
            <a:avLst/>
          </a:prstGeom>
          <a:noFill/>
          <a:ln w="0">
            <a:noFill/>
          </a:ln>
        </p:spPr>
      </p:pic>
      <p:pic>
        <p:nvPicPr>
          <p:cNvPr id="215" name="Picture 11" descr="fig0606ab.gif"/>
          <p:cNvPicPr/>
          <p:nvPr/>
        </p:nvPicPr>
        <p:blipFill>
          <a:blip r:embed="rId2"/>
          <a:stretch/>
        </p:blipFill>
        <p:spPr>
          <a:xfrm>
            <a:off x="4500720" y="1511280"/>
            <a:ext cx="4156920" cy="4500000"/>
          </a:xfrm>
          <a:prstGeom prst="rect">
            <a:avLst/>
          </a:prstGeom>
          <a:noFill/>
          <a:ln w="0">
            <a:noFill/>
          </a:ln>
        </p:spPr>
      </p:pic>
      <p:pic>
        <p:nvPicPr>
          <p:cNvPr id="216" name="Picture 12" descr="fig0606ac.gif"/>
          <p:cNvPicPr/>
          <p:nvPr/>
        </p:nvPicPr>
        <p:blipFill>
          <a:blip r:embed="rId3"/>
          <a:stretch/>
        </p:blipFill>
        <p:spPr>
          <a:xfrm>
            <a:off x="4500720" y="1511280"/>
            <a:ext cx="4156920" cy="4500000"/>
          </a:xfrm>
          <a:prstGeom prst="rect">
            <a:avLst/>
          </a:prstGeom>
          <a:noFill/>
          <a:ln w="0">
            <a:noFill/>
          </a:ln>
        </p:spPr>
      </p:pic>
      <p:pic>
        <p:nvPicPr>
          <p:cNvPr id="217" name="Picture 13" descr="fig0606ad.gif"/>
          <p:cNvPicPr/>
          <p:nvPr/>
        </p:nvPicPr>
        <p:blipFill>
          <a:blip r:embed="rId4"/>
          <a:stretch/>
        </p:blipFill>
        <p:spPr>
          <a:xfrm>
            <a:off x="4500720" y="1511280"/>
            <a:ext cx="4156920" cy="4500000"/>
          </a:xfrm>
          <a:prstGeom prst="rect">
            <a:avLst/>
          </a:prstGeom>
          <a:noFill/>
          <a:ln w="0">
            <a:noFill/>
          </a:ln>
        </p:spPr>
      </p:pic>
    </p:spTree>
  </p:cSld>
  <p:transition spd="slow">
    <p:wipe dir="r"/>
  </p:transition>
  <p:timing>
    <p:tnLst>
      <p:par>
        <p:cTn id="897" dur="indefinite" restart="never" nodeType="tmRoot">
          <p:childTnLst>
            <p:seq>
              <p:cTn id="898" dur="indefinite" nodeType="mainSeq">
                <p:childTnLst>
                  <p:par>
                    <p:cTn id="899" nodeType="clickEffect" fill="hold">
                      <p:stCondLst>
                        <p:cond delay="0"/>
                      </p:stCondLst>
                      <p:childTnLst>
                        <p:par>
                          <p:cTn id="900" nodeType="withEffect" fill="hold">
                            <p:stCondLst>
                              <p:cond delay="0"/>
                            </p:stCondLst>
                            <p:childTnLst>
                              <p:par>
                                <p:cTn id="901" nodeType="withEffect" fill="hold" presetClass="entr" presetID="22" presetSubtype="8">
                                  <p:stCondLst>
                                    <p:cond delay="0"/>
                                  </p:stCondLst>
                                  <p:childTnLst>
                                    <p:set>
                                      <p:cBhvr>
                                        <p:cTn id="902" dur="1" fill="hold">
                                          <p:stCondLst>
                                            <p:cond delay="0"/>
                                          </p:stCondLst>
                                        </p:cTn>
                                        <p:tgtEl>
                                          <p:spTgt spid="215"/>
                                        </p:tgtEl>
                                        <p:attrNameLst>
                                          <p:attrName>style.visibility</p:attrName>
                                        </p:attrNameLst>
                                      </p:cBhvr>
                                      <p:to>
                                        <p:strVal val="visible"/>
                                      </p:to>
                                    </p:set>
                                    <p:animEffect filter="wipe(left)" transition="in">
                                      <p:cBhvr additive="repl">
                                        <p:cTn id="903" dur="1000"/>
                                        <p:tgtEl>
                                          <p:spTgt spid="215"/>
                                        </p:tgtEl>
                                      </p:cBhvr>
                                    </p:animEffect>
                                  </p:childTnLst>
                                </p:cTn>
                              </p:par>
                            </p:childTnLst>
                          </p:cTn>
                        </p:par>
                        <p:par>
                          <p:cTn id="904" nodeType="afterEffect" fill="hold">
                            <p:stCondLst>
                              <p:cond delay="1000"/>
                            </p:stCondLst>
                            <p:childTnLst>
                              <p:par>
                                <p:cTn id="905" nodeType="afterEffect" fill="hold" presetClass="entr" presetID="22" presetSubtype="1">
                                  <p:stCondLst>
                                    <p:cond delay="0"/>
                                  </p:stCondLst>
                                  <p:childTnLst>
                                    <p:set>
                                      <p:cBhvr>
                                        <p:cTn id="906" dur="1" fill="hold">
                                          <p:stCondLst>
                                            <p:cond delay="0"/>
                                          </p:stCondLst>
                                        </p:cTn>
                                        <p:tgtEl>
                                          <p:spTgt spid="216"/>
                                        </p:tgtEl>
                                        <p:attrNameLst>
                                          <p:attrName>style.visibility</p:attrName>
                                        </p:attrNameLst>
                                      </p:cBhvr>
                                      <p:to>
                                        <p:strVal val="visible"/>
                                      </p:to>
                                    </p:set>
                                    <p:animEffect filter="wipe(up)" transition="in">
                                      <p:cBhvr additive="repl">
                                        <p:cTn id="907" dur="1000"/>
                                        <p:tgtEl>
                                          <p:spTgt spid="216"/>
                                        </p:tgtEl>
                                      </p:cBhvr>
                                    </p:animEffect>
                                  </p:childTnLst>
                                </p:cTn>
                              </p:par>
                            </p:childTnLst>
                          </p:cTn>
                        </p:par>
                        <p:par>
                          <p:cTn id="908" nodeType="afterEffect" fill="hold">
                            <p:stCondLst>
                              <p:cond delay="2000"/>
                            </p:stCondLst>
                            <p:childTnLst>
                              <p:par>
                                <p:cTn id="909" nodeType="afterEffect" fill="hold" presetClass="entr" presetID="10">
                                  <p:stCondLst>
                                    <p:cond delay="0"/>
                                  </p:stCondLst>
                                  <p:childTnLst>
                                    <p:set>
                                      <p:cBhvr>
                                        <p:cTn id="910" dur="1" fill="hold">
                                          <p:stCondLst>
                                            <p:cond delay="0"/>
                                          </p:stCondLst>
                                        </p:cTn>
                                        <p:tgtEl>
                                          <p:spTgt spid="217"/>
                                        </p:tgtEl>
                                        <p:attrNameLst>
                                          <p:attrName>style.visibility</p:attrName>
                                        </p:attrNameLst>
                                      </p:cBhvr>
                                      <p:to>
                                        <p:strVal val="visible"/>
                                      </p:to>
                                    </p:set>
                                    <p:animEffect filter="fade" transition="in">
                                      <p:cBhvr additive="repl">
                                        <p:cTn id="911" dur="500"/>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18" name="Picture 9" descr="fig0606aa.gif"/>
          <p:cNvPicPr/>
          <p:nvPr/>
        </p:nvPicPr>
        <p:blipFill>
          <a:blip r:embed="rId1"/>
          <a:stretch/>
        </p:blipFill>
        <p:spPr>
          <a:xfrm>
            <a:off x="1828800" y="304920"/>
            <a:ext cx="5542920" cy="6000120"/>
          </a:xfrm>
          <a:prstGeom prst="rect">
            <a:avLst/>
          </a:prstGeom>
          <a:noFill/>
          <a:ln w="0">
            <a:noFill/>
          </a:ln>
        </p:spPr>
      </p:pic>
      <p:pic>
        <p:nvPicPr>
          <p:cNvPr id="219" name="Picture 10" descr="fig0606ab.gif"/>
          <p:cNvPicPr/>
          <p:nvPr/>
        </p:nvPicPr>
        <p:blipFill>
          <a:blip r:embed="rId2"/>
          <a:stretch/>
        </p:blipFill>
        <p:spPr>
          <a:xfrm>
            <a:off x="1828800" y="304920"/>
            <a:ext cx="5542920" cy="6000120"/>
          </a:xfrm>
          <a:prstGeom prst="rect">
            <a:avLst/>
          </a:prstGeom>
          <a:noFill/>
          <a:ln w="0">
            <a:noFill/>
          </a:ln>
        </p:spPr>
      </p:pic>
      <p:pic>
        <p:nvPicPr>
          <p:cNvPr id="220" name="Picture 11" descr="fig0606ac.gif"/>
          <p:cNvPicPr/>
          <p:nvPr/>
        </p:nvPicPr>
        <p:blipFill>
          <a:blip r:embed="rId3"/>
          <a:stretch/>
        </p:blipFill>
        <p:spPr>
          <a:xfrm>
            <a:off x="1828800" y="304920"/>
            <a:ext cx="5542920" cy="6000120"/>
          </a:xfrm>
          <a:prstGeom prst="rect">
            <a:avLst/>
          </a:prstGeom>
          <a:noFill/>
          <a:ln w="0">
            <a:noFill/>
          </a:ln>
        </p:spPr>
      </p:pic>
      <p:pic>
        <p:nvPicPr>
          <p:cNvPr id="221" name="Picture 12" descr="fig0606ad.gif"/>
          <p:cNvPicPr/>
          <p:nvPr/>
        </p:nvPicPr>
        <p:blipFill>
          <a:blip r:embed="rId4"/>
          <a:stretch/>
        </p:blipFill>
        <p:spPr>
          <a:xfrm>
            <a:off x="1828800" y="304920"/>
            <a:ext cx="5542920" cy="6000120"/>
          </a:xfrm>
          <a:prstGeom prst="rect">
            <a:avLst/>
          </a:prstGeom>
          <a:noFill/>
          <a:ln w="0">
            <a:noFill/>
          </a:ln>
        </p:spPr>
      </p:pic>
    </p:spTree>
  </p:cSld>
  <p:transition spd="slow">
    <p:wipe dir="r"/>
  </p:transition>
  <p:timing>
    <p:tnLst>
      <p:par>
        <p:cTn id="912" dur="indefinite" restart="never" nodeType="tmRoot">
          <p:childTnLst>
            <p:seq>
              <p:cTn id="913" dur="indefinite" nodeType="mainSeq">
                <p:childTnLst>
                  <p:par>
                    <p:cTn id="914" nodeType="clickEffect" fill="hold">
                      <p:stCondLst>
                        <p:cond delay="indefinite"/>
                      </p:stCondLst>
                      <p:childTnLst>
                        <p:par>
                          <p:cTn id="915" nodeType="withEffect" fill="hold">
                            <p:stCondLst>
                              <p:cond delay="0"/>
                            </p:stCondLst>
                            <p:childTnLst>
                              <p:par>
                                <p:cTn id="916" nodeType="clickEffect" fill="hold" presetClass="entr" presetID="22" presetSubtype="8">
                                  <p:stCondLst>
                                    <p:cond delay="0"/>
                                  </p:stCondLst>
                                  <p:childTnLst>
                                    <p:set>
                                      <p:cBhvr>
                                        <p:cTn id="917" dur="1" fill="hold">
                                          <p:stCondLst>
                                            <p:cond delay="0"/>
                                          </p:stCondLst>
                                        </p:cTn>
                                        <p:tgtEl>
                                          <p:spTgt spid="219"/>
                                        </p:tgtEl>
                                        <p:attrNameLst>
                                          <p:attrName>style.visibility</p:attrName>
                                        </p:attrNameLst>
                                      </p:cBhvr>
                                      <p:to>
                                        <p:strVal val="visible"/>
                                      </p:to>
                                    </p:set>
                                    <p:animEffect filter="wipe(left)" transition="in">
                                      <p:cBhvr additive="repl">
                                        <p:cTn id="918" dur="1000"/>
                                        <p:tgtEl>
                                          <p:spTgt spid="219"/>
                                        </p:tgtEl>
                                      </p:cBhvr>
                                    </p:animEffect>
                                  </p:childTnLst>
                                </p:cTn>
                              </p:par>
                            </p:childTnLst>
                          </p:cTn>
                        </p:par>
                      </p:childTnLst>
                    </p:cTn>
                  </p:par>
                  <p:par>
                    <p:cTn id="919" nodeType="clickEffect" fill="hold">
                      <p:stCondLst>
                        <p:cond delay="indefinite"/>
                      </p:stCondLst>
                      <p:childTnLst>
                        <p:par>
                          <p:cTn id="920" nodeType="withEffect" fill="hold">
                            <p:stCondLst>
                              <p:cond delay="0"/>
                            </p:stCondLst>
                            <p:childTnLst>
                              <p:par>
                                <p:cTn id="921" nodeType="clickEffect" fill="hold" presetClass="entr" presetID="22" presetSubtype="1">
                                  <p:stCondLst>
                                    <p:cond delay="0"/>
                                  </p:stCondLst>
                                  <p:childTnLst>
                                    <p:set>
                                      <p:cBhvr>
                                        <p:cTn id="922" dur="1" fill="hold">
                                          <p:stCondLst>
                                            <p:cond delay="0"/>
                                          </p:stCondLst>
                                        </p:cTn>
                                        <p:tgtEl>
                                          <p:spTgt spid="220"/>
                                        </p:tgtEl>
                                        <p:attrNameLst>
                                          <p:attrName>style.visibility</p:attrName>
                                        </p:attrNameLst>
                                      </p:cBhvr>
                                      <p:to>
                                        <p:strVal val="visible"/>
                                      </p:to>
                                    </p:set>
                                    <p:animEffect filter="wipe(up)" transition="in">
                                      <p:cBhvr additive="repl">
                                        <p:cTn id="923" dur="1000"/>
                                        <p:tgtEl>
                                          <p:spTgt spid="220"/>
                                        </p:tgtEl>
                                      </p:cBhvr>
                                    </p:animEffect>
                                  </p:childTnLst>
                                </p:cTn>
                              </p:par>
                            </p:childTnLst>
                          </p:cTn>
                        </p:par>
                        <p:par>
                          <p:cTn id="924" nodeType="afterEffect" fill="hold">
                            <p:stCondLst>
                              <p:cond delay="1000"/>
                            </p:stCondLst>
                            <p:childTnLst>
                              <p:par>
                                <p:cTn id="925" nodeType="afterEffect" fill="hold" presetClass="entr" presetID="10">
                                  <p:stCondLst>
                                    <p:cond delay="0"/>
                                  </p:stCondLst>
                                  <p:childTnLst>
                                    <p:set>
                                      <p:cBhvr>
                                        <p:cTn id="926" dur="1" fill="hold">
                                          <p:stCondLst>
                                            <p:cond delay="0"/>
                                          </p:stCondLst>
                                        </p:cTn>
                                        <p:tgtEl>
                                          <p:spTgt spid="221"/>
                                        </p:tgtEl>
                                        <p:attrNameLst>
                                          <p:attrName>style.visibility</p:attrName>
                                        </p:attrNameLst>
                                      </p:cBhvr>
                                      <p:to>
                                        <p:strVal val="visible"/>
                                      </p:to>
                                    </p:set>
                                    <p:animEffect filter="fade" transition="in">
                                      <p:cBhvr additive="repl">
                                        <p:cTn id="927" dur="5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6.3  COST, PRICE, AND PRODUCER SURPLUS </a:t>
            </a:r>
            <a:endParaRPr b="0" lang="en-US" sz="2600" strike="noStrike" u="none">
              <a:solidFill>
                <a:srgbClr val="000000"/>
              </a:solidFill>
              <a:effectLst/>
              <a:uFillTx/>
              <a:latin typeface="Arial"/>
            </a:endParaRPr>
          </a:p>
        </p:txBody>
      </p:sp>
      <p:sp>
        <p:nvSpPr>
          <p:cNvPr id="223" name="PlaceHolder 2"/>
          <p:cNvSpPr>
            <a:spLocks noGrp="1"/>
          </p:cNvSpPr>
          <p:nvPr>
            <p:ph/>
          </p:nvPr>
        </p:nvSpPr>
        <p:spPr>
          <a:xfrm>
            <a:off x="360360" y="1440000"/>
            <a:ext cx="42109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6.6 shows supply, minimum supply price, and marginal cost.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supply curve shows: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quantity supplied at each price, other things remaining the same.</a:t>
            </a:r>
            <a:endParaRPr b="0" lang="en-US" sz="2400" strike="noStrike" u="none">
              <a:solidFill>
                <a:srgbClr val="000000"/>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startAt="2"/>
              <a:tabLst>
                <a:tab algn="l" pos="0"/>
              </a:tabLst>
            </a:pPr>
            <a:r>
              <a:rPr b="0" lang="en-US" sz="2400" strike="noStrike" u="none">
                <a:solidFill>
                  <a:srgbClr val="000000"/>
                </a:solidFill>
                <a:effectLst/>
                <a:uFillTx/>
                <a:latin typeface="Arial"/>
                <a:ea typeface="ＭＳ Ｐゴシック"/>
              </a:rPr>
              <a:t>The minimum price that firms must be offered to supply a given quantity of pizzas.</a:t>
            </a:r>
            <a:endParaRPr b="0" lang="en-US" sz="2400" strike="noStrike" u="none">
              <a:solidFill>
                <a:srgbClr val="000000"/>
              </a:solidFill>
              <a:effectLst/>
              <a:uFillTx/>
              <a:latin typeface="Arial"/>
            </a:endParaRPr>
          </a:p>
        </p:txBody>
      </p:sp>
      <p:pic>
        <p:nvPicPr>
          <p:cNvPr id="224" name="Picture 11" descr="fig0606ba.gif"/>
          <p:cNvPicPr/>
          <p:nvPr/>
        </p:nvPicPr>
        <p:blipFill>
          <a:blip r:embed="rId1"/>
          <a:stretch/>
        </p:blipFill>
        <p:spPr>
          <a:xfrm>
            <a:off x="4500720" y="1511280"/>
            <a:ext cx="4156920" cy="4500000"/>
          </a:xfrm>
          <a:prstGeom prst="rect">
            <a:avLst/>
          </a:prstGeom>
          <a:noFill/>
          <a:ln w="0">
            <a:noFill/>
          </a:ln>
        </p:spPr>
      </p:pic>
      <p:pic>
        <p:nvPicPr>
          <p:cNvPr id="225" name="Picture 12" descr="fig0606bb.gif"/>
          <p:cNvPicPr/>
          <p:nvPr/>
        </p:nvPicPr>
        <p:blipFill>
          <a:blip r:embed="rId2"/>
          <a:stretch/>
        </p:blipFill>
        <p:spPr>
          <a:xfrm>
            <a:off x="4500720" y="1511280"/>
            <a:ext cx="4156920" cy="4500000"/>
          </a:xfrm>
          <a:prstGeom prst="rect">
            <a:avLst/>
          </a:prstGeom>
          <a:noFill/>
          <a:ln w="0">
            <a:noFill/>
          </a:ln>
        </p:spPr>
      </p:pic>
      <p:pic>
        <p:nvPicPr>
          <p:cNvPr id="226" name="Picture 13" descr="fig0606bc.gif"/>
          <p:cNvPicPr/>
          <p:nvPr/>
        </p:nvPicPr>
        <p:blipFill>
          <a:blip r:embed="rId3"/>
          <a:stretch/>
        </p:blipFill>
        <p:spPr>
          <a:xfrm>
            <a:off x="4500720" y="1511280"/>
            <a:ext cx="4156920" cy="4500000"/>
          </a:xfrm>
          <a:prstGeom prst="rect">
            <a:avLst/>
          </a:prstGeom>
          <a:noFill/>
          <a:ln w="0">
            <a:noFill/>
          </a:ln>
        </p:spPr>
      </p:pic>
      <p:pic>
        <p:nvPicPr>
          <p:cNvPr id="227" name="Picture 14" descr="fig0606bd.gif"/>
          <p:cNvPicPr/>
          <p:nvPr/>
        </p:nvPicPr>
        <p:blipFill>
          <a:blip r:embed="rId4"/>
          <a:stretch/>
        </p:blipFill>
        <p:spPr>
          <a:xfrm>
            <a:off x="4500720" y="1511280"/>
            <a:ext cx="4156920" cy="4500000"/>
          </a:xfrm>
          <a:prstGeom prst="rect">
            <a:avLst/>
          </a:prstGeom>
          <a:noFill/>
          <a:ln w="0">
            <a:noFill/>
          </a:ln>
        </p:spPr>
      </p:pic>
    </p:spTree>
  </p:cSld>
  <p:transition spd="slow">
    <p:wipe dir="r"/>
  </p:transition>
  <p:timing>
    <p:tnLst>
      <p:par>
        <p:cTn id="928" dur="indefinite" restart="never" nodeType="tmRoot">
          <p:childTnLst>
            <p:seq>
              <p:cTn id="929" dur="indefinite" nodeType="mainSeq">
                <p:childTnLst>
                  <p:par>
                    <p:cTn id="930" nodeType="clickEffect" fill="hold">
                      <p:stCondLst>
                        <p:cond delay="indefinite"/>
                      </p:stCondLst>
                      <p:childTnLst>
                        <p:par>
                          <p:cTn id="931" nodeType="withEffect" fill="hold">
                            <p:stCondLst>
                              <p:cond delay="0"/>
                            </p:stCondLst>
                            <p:childTnLst>
                              <p:par>
                                <p:cTn id="932" nodeType="clickEffect" fill="hold" presetClass="entr" presetID="22" presetSubtype="8">
                                  <p:stCondLst>
                                    <p:cond delay="0"/>
                                  </p:stCondLst>
                                  <p:childTnLst>
                                    <p:set>
                                      <p:cBhvr>
                                        <p:cTn id="933" dur="1" fill="hold">
                                          <p:stCondLst>
                                            <p:cond delay="0"/>
                                          </p:stCondLst>
                                        </p:cTn>
                                        <p:tgtEl>
                                          <p:spTgt spid="223">
                                            <p:txEl>
                                              <p:pRg st="1" end="1"/>
                                            </p:txEl>
                                          </p:spTgt>
                                        </p:tgtEl>
                                        <p:attrNameLst>
                                          <p:attrName>style.visibility</p:attrName>
                                        </p:attrNameLst>
                                      </p:cBhvr>
                                      <p:to>
                                        <p:strVal val="visible"/>
                                      </p:to>
                                    </p:set>
                                    <p:animEffect filter="wipe(left)" transition="in">
                                      <p:cBhvr additive="repl">
                                        <p:cTn id="934" dur="750"/>
                                        <p:tgtEl>
                                          <p:spTgt spid="223">
                                            <p:txEl>
                                              <p:pRg st="1" end="1"/>
                                            </p:txEl>
                                          </p:spTgt>
                                        </p:tgtEl>
                                      </p:cBhvr>
                                    </p:animEffect>
                                  </p:childTnLst>
                                </p:cTn>
                              </p:par>
                            </p:childTnLst>
                          </p:cTn>
                        </p:par>
                      </p:childTnLst>
                    </p:cTn>
                  </p:par>
                  <p:par>
                    <p:cTn id="935" nodeType="clickEffect" fill="hold">
                      <p:stCondLst>
                        <p:cond delay="indefinite"/>
                      </p:stCondLst>
                      <p:childTnLst>
                        <p:par>
                          <p:cTn id="936" nodeType="withEffect" fill="hold">
                            <p:stCondLst>
                              <p:cond delay="0"/>
                            </p:stCondLst>
                            <p:childTnLst>
                              <p:par>
                                <p:cTn id="937" nodeType="clickEffect" fill="hold" presetClass="entr" presetID="22" presetSubtype="8">
                                  <p:stCondLst>
                                    <p:cond delay="0"/>
                                  </p:stCondLst>
                                  <p:childTnLst>
                                    <p:set>
                                      <p:cBhvr>
                                        <p:cTn id="938" dur="1" fill="hold">
                                          <p:stCondLst>
                                            <p:cond delay="0"/>
                                          </p:stCondLst>
                                        </p:cTn>
                                        <p:tgtEl>
                                          <p:spTgt spid="223">
                                            <p:txEl>
                                              <p:pRg st="2" end="2"/>
                                            </p:txEl>
                                          </p:spTgt>
                                        </p:tgtEl>
                                        <p:attrNameLst>
                                          <p:attrName>style.visibility</p:attrName>
                                        </p:attrNameLst>
                                      </p:cBhvr>
                                      <p:to>
                                        <p:strVal val="visible"/>
                                      </p:to>
                                    </p:set>
                                    <p:animEffect filter="wipe(left)" transition="in">
                                      <p:cBhvr additive="repl">
                                        <p:cTn id="939" dur="750"/>
                                        <p:tgtEl>
                                          <p:spTgt spid="223">
                                            <p:txEl>
                                              <p:pRg st="2" end="2"/>
                                            </p:txEl>
                                          </p:spTgt>
                                        </p:tgtEl>
                                      </p:cBhvr>
                                    </p:animEffect>
                                  </p:childTnLst>
                                </p:cTn>
                              </p:par>
                              <p:par>
                                <p:cTn id="940" nodeType="withEffect" fill="hold" presetClass="entr" presetID="22" presetSubtype="4">
                                  <p:stCondLst>
                                    <p:cond delay="0"/>
                                  </p:stCondLst>
                                  <p:childTnLst>
                                    <p:set>
                                      <p:cBhvr>
                                        <p:cTn id="941" dur="1" fill="hold">
                                          <p:stCondLst>
                                            <p:cond delay="0"/>
                                          </p:stCondLst>
                                        </p:cTn>
                                        <p:tgtEl>
                                          <p:spTgt spid="225"/>
                                        </p:tgtEl>
                                        <p:attrNameLst>
                                          <p:attrName>style.visibility</p:attrName>
                                        </p:attrNameLst>
                                      </p:cBhvr>
                                      <p:to>
                                        <p:strVal val="visible"/>
                                      </p:to>
                                    </p:set>
                                    <p:animEffect filter="wipe(down)" transition="in">
                                      <p:cBhvr additive="repl">
                                        <p:cTn id="942" dur="1000"/>
                                        <p:tgtEl>
                                          <p:spTgt spid="225"/>
                                        </p:tgtEl>
                                      </p:cBhvr>
                                    </p:animEffect>
                                  </p:childTnLst>
                                </p:cTn>
                              </p:par>
                              <p:par>
                                <p:cTn id="943" nodeType="withEffect" fill="hold" presetClass="entr" presetID="22" presetSubtype="2">
                                  <p:stCondLst>
                                    <p:cond delay="1300"/>
                                  </p:stCondLst>
                                  <p:childTnLst>
                                    <p:set>
                                      <p:cBhvr>
                                        <p:cTn id="944" dur="1" fill="hold">
                                          <p:stCondLst>
                                            <p:cond delay="0"/>
                                          </p:stCondLst>
                                        </p:cTn>
                                        <p:tgtEl>
                                          <p:spTgt spid="226"/>
                                        </p:tgtEl>
                                        <p:attrNameLst>
                                          <p:attrName>style.visibility</p:attrName>
                                        </p:attrNameLst>
                                      </p:cBhvr>
                                      <p:to>
                                        <p:strVal val="visible"/>
                                      </p:to>
                                    </p:set>
                                    <p:animEffect filter="wipe(right)" transition="in">
                                      <p:cBhvr additive="repl">
                                        <p:cTn id="945" dur="1000"/>
                                        <p:tgtEl>
                                          <p:spTgt spid="226"/>
                                        </p:tgtEl>
                                      </p:cBhvr>
                                    </p:animEffect>
                                  </p:childTnLst>
                                </p:cTn>
                              </p:par>
                            </p:childTnLst>
                          </p:cTn>
                        </p:par>
                      </p:childTnLst>
                    </p:cTn>
                  </p:par>
                  <p:par>
                    <p:cTn id="946" nodeType="clickEffect" fill="hold">
                      <p:stCondLst>
                        <p:cond delay="indefinite"/>
                      </p:stCondLst>
                      <p:childTnLst>
                        <p:par>
                          <p:cTn id="947" nodeType="withEffect" fill="hold">
                            <p:stCondLst>
                              <p:cond delay="0"/>
                            </p:stCondLst>
                            <p:childTnLst>
                              <p:par>
                                <p:cTn id="948" nodeType="clickEffect" fill="hold" presetClass="entr" presetID="22" presetSubtype="8">
                                  <p:stCondLst>
                                    <p:cond delay="0"/>
                                  </p:stCondLst>
                                  <p:childTnLst>
                                    <p:set>
                                      <p:cBhvr>
                                        <p:cTn id="949" dur="1" fill="hold">
                                          <p:stCondLst>
                                            <p:cond delay="0"/>
                                          </p:stCondLst>
                                        </p:cTn>
                                        <p:tgtEl>
                                          <p:spTgt spid="223">
                                            <p:txEl>
                                              <p:pRg st="3" end="3"/>
                                            </p:txEl>
                                          </p:spTgt>
                                        </p:tgtEl>
                                        <p:attrNameLst>
                                          <p:attrName>style.visibility</p:attrName>
                                        </p:attrNameLst>
                                      </p:cBhvr>
                                      <p:to>
                                        <p:strVal val="visible"/>
                                      </p:to>
                                    </p:set>
                                    <p:animEffect filter="wipe(left)" transition="in">
                                      <p:cBhvr additive="repl">
                                        <p:cTn id="950" dur="750"/>
                                        <p:tgtEl>
                                          <p:spTgt spid="223">
                                            <p:txEl>
                                              <p:pRg st="3" end="3"/>
                                            </p:txEl>
                                          </p:spTgt>
                                        </p:tgtEl>
                                      </p:cBhvr>
                                    </p:animEffect>
                                  </p:childTnLst>
                                </p:cTn>
                              </p:par>
                              <p:par>
                                <p:cTn id="951" nodeType="withEffect" fill="hold" presetClass="entr" presetID="10">
                                  <p:stCondLst>
                                    <p:cond delay="0"/>
                                  </p:stCondLst>
                                  <p:childTnLst>
                                    <p:set>
                                      <p:cBhvr>
                                        <p:cTn id="952" dur="1" fill="hold">
                                          <p:stCondLst>
                                            <p:cond delay="0"/>
                                          </p:stCondLst>
                                        </p:cTn>
                                        <p:tgtEl>
                                          <p:spTgt spid="227"/>
                                        </p:tgtEl>
                                        <p:attrNameLst>
                                          <p:attrName>style.visibility</p:attrName>
                                        </p:attrNameLst>
                                      </p:cBhvr>
                                      <p:to>
                                        <p:strVal val="visible"/>
                                      </p:to>
                                    </p:set>
                                    <p:animEffect filter="fade" transition="in">
                                      <p:cBhvr additive="repl">
                                        <p:cTn id="953" dur="5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28" name="Picture 9" descr="fig0606ba.gif"/>
          <p:cNvPicPr/>
          <p:nvPr/>
        </p:nvPicPr>
        <p:blipFill>
          <a:blip r:embed="rId1"/>
          <a:stretch/>
        </p:blipFill>
        <p:spPr>
          <a:xfrm>
            <a:off x="1828800" y="304920"/>
            <a:ext cx="5542920" cy="6000120"/>
          </a:xfrm>
          <a:prstGeom prst="rect">
            <a:avLst/>
          </a:prstGeom>
          <a:noFill/>
          <a:ln w="0">
            <a:noFill/>
          </a:ln>
        </p:spPr>
      </p:pic>
      <p:pic>
        <p:nvPicPr>
          <p:cNvPr id="229" name="Picture 10" descr="fig0606bb.gif"/>
          <p:cNvPicPr/>
          <p:nvPr/>
        </p:nvPicPr>
        <p:blipFill>
          <a:blip r:embed="rId2"/>
          <a:stretch/>
        </p:blipFill>
        <p:spPr>
          <a:xfrm>
            <a:off x="1828800" y="304920"/>
            <a:ext cx="5542920" cy="6000120"/>
          </a:xfrm>
          <a:prstGeom prst="rect">
            <a:avLst/>
          </a:prstGeom>
          <a:noFill/>
          <a:ln w="0">
            <a:noFill/>
          </a:ln>
        </p:spPr>
      </p:pic>
      <p:pic>
        <p:nvPicPr>
          <p:cNvPr id="230" name="Picture 11" descr="fig0606bc.gif"/>
          <p:cNvPicPr/>
          <p:nvPr/>
        </p:nvPicPr>
        <p:blipFill>
          <a:blip r:embed="rId3"/>
          <a:stretch/>
        </p:blipFill>
        <p:spPr>
          <a:xfrm>
            <a:off x="1828800" y="304920"/>
            <a:ext cx="5542920" cy="6000120"/>
          </a:xfrm>
          <a:prstGeom prst="rect">
            <a:avLst/>
          </a:prstGeom>
          <a:noFill/>
          <a:ln w="0">
            <a:noFill/>
          </a:ln>
        </p:spPr>
      </p:pic>
      <p:pic>
        <p:nvPicPr>
          <p:cNvPr id="231" name="Picture 12" descr="fig0606bd.gif"/>
          <p:cNvPicPr/>
          <p:nvPr/>
        </p:nvPicPr>
        <p:blipFill>
          <a:blip r:embed="rId4"/>
          <a:stretch/>
        </p:blipFill>
        <p:spPr>
          <a:xfrm>
            <a:off x="1828800" y="304920"/>
            <a:ext cx="5542920" cy="6000120"/>
          </a:xfrm>
          <a:prstGeom prst="rect">
            <a:avLst/>
          </a:prstGeom>
          <a:noFill/>
          <a:ln w="0">
            <a:noFill/>
          </a:ln>
        </p:spPr>
      </p:pic>
    </p:spTree>
  </p:cSld>
  <p:transition spd="slow">
    <p:wipe dir="r"/>
  </p:transition>
  <p:timing>
    <p:tnLst>
      <p:par>
        <p:cTn id="954" dur="indefinite" restart="never" nodeType="tmRoot">
          <p:childTnLst>
            <p:seq>
              <p:cTn id="955" dur="indefinite" nodeType="mainSeq">
                <p:childTnLst>
                  <p:par>
                    <p:cTn id="956" nodeType="clickEffect" fill="hold">
                      <p:stCondLst>
                        <p:cond delay="indefinite"/>
                      </p:stCondLst>
                      <p:childTnLst>
                        <p:par>
                          <p:cTn id="957" nodeType="withEffect" fill="hold">
                            <p:stCondLst>
                              <p:cond delay="0"/>
                            </p:stCondLst>
                            <p:childTnLst>
                              <p:par>
                                <p:cTn id="958" nodeType="clickEffect" fill="hold" presetClass="entr" presetID="22" presetSubtype="4">
                                  <p:stCondLst>
                                    <p:cond delay="0"/>
                                  </p:stCondLst>
                                  <p:childTnLst>
                                    <p:set>
                                      <p:cBhvr>
                                        <p:cTn id="959" dur="1" fill="hold">
                                          <p:stCondLst>
                                            <p:cond delay="0"/>
                                          </p:stCondLst>
                                        </p:cTn>
                                        <p:tgtEl>
                                          <p:spTgt spid="229"/>
                                        </p:tgtEl>
                                        <p:attrNameLst>
                                          <p:attrName>style.visibility</p:attrName>
                                        </p:attrNameLst>
                                      </p:cBhvr>
                                      <p:to>
                                        <p:strVal val="visible"/>
                                      </p:to>
                                    </p:set>
                                    <p:animEffect filter="wipe(down)" transition="in">
                                      <p:cBhvr additive="repl">
                                        <p:cTn id="960" dur="1000"/>
                                        <p:tgtEl>
                                          <p:spTgt spid="229"/>
                                        </p:tgtEl>
                                      </p:cBhvr>
                                    </p:animEffect>
                                  </p:childTnLst>
                                </p:cTn>
                              </p:par>
                            </p:childTnLst>
                          </p:cTn>
                        </p:par>
                      </p:childTnLst>
                    </p:cTn>
                  </p:par>
                  <p:par>
                    <p:cTn id="961" nodeType="clickEffect" fill="hold">
                      <p:stCondLst>
                        <p:cond delay="indefinite"/>
                      </p:stCondLst>
                      <p:childTnLst>
                        <p:par>
                          <p:cTn id="962" nodeType="withEffect" fill="hold">
                            <p:stCondLst>
                              <p:cond delay="0"/>
                            </p:stCondLst>
                            <p:childTnLst>
                              <p:par>
                                <p:cTn id="963" nodeType="clickEffect" fill="hold" presetClass="entr" presetID="22" presetSubtype="2">
                                  <p:stCondLst>
                                    <p:cond delay="0"/>
                                  </p:stCondLst>
                                  <p:childTnLst>
                                    <p:set>
                                      <p:cBhvr>
                                        <p:cTn id="964" dur="1" fill="hold">
                                          <p:stCondLst>
                                            <p:cond delay="0"/>
                                          </p:stCondLst>
                                        </p:cTn>
                                        <p:tgtEl>
                                          <p:spTgt spid="230"/>
                                        </p:tgtEl>
                                        <p:attrNameLst>
                                          <p:attrName>style.visibility</p:attrName>
                                        </p:attrNameLst>
                                      </p:cBhvr>
                                      <p:to>
                                        <p:strVal val="visible"/>
                                      </p:to>
                                    </p:set>
                                    <p:animEffect filter="wipe(right)" transition="in">
                                      <p:cBhvr additive="repl">
                                        <p:cTn id="965" dur="1000"/>
                                        <p:tgtEl>
                                          <p:spTgt spid="230"/>
                                        </p:tgtEl>
                                      </p:cBhvr>
                                    </p:animEffect>
                                  </p:childTnLst>
                                </p:cTn>
                              </p:par>
                            </p:childTnLst>
                          </p:cTn>
                        </p:par>
                        <p:par>
                          <p:cTn id="966" nodeType="afterEffect" fill="hold">
                            <p:stCondLst>
                              <p:cond delay="1000"/>
                            </p:stCondLst>
                            <p:childTnLst>
                              <p:par>
                                <p:cTn id="967" nodeType="afterEffect" fill="hold" presetClass="entr" presetID="10">
                                  <p:stCondLst>
                                    <p:cond delay="0"/>
                                  </p:stCondLst>
                                  <p:childTnLst>
                                    <p:set>
                                      <p:cBhvr>
                                        <p:cTn id="968" dur="1" fill="hold">
                                          <p:stCondLst>
                                            <p:cond delay="0"/>
                                          </p:stCondLst>
                                        </p:cTn>
                                        <p:tgtEl>
                                          <p:spTgt spid="231"/>
                                        </p:tgtEl>
                                        <p:attrNameLst>
                                          <p:attrName>style.visibility</p:attrName>
                                        </p:attrNameLst>
                                      </p:cBhvr>
                                      <p:to>
                                        <p:strVal val="visible"/>
                                      </p:to>
                                    </p:set>
                                    <p:animEffect filter="fade" transition="in">
                                      <p:cBhvr additive="repl">
                                        <p:cTn id="969" dur="500"/>
                                        <p:tgtEl>
                                          <p:spTgt spid="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6.3  COST, PRICE, AND PRODUCER SURPLUS</a:t>
            </a:r>
            <a:endParaRPr b="0" lang="en-US" sz="2600" strike="noStrike" u="none">
              <a:solidFill>
                <a:srgbClr val="000000"/>
              </a:solidFill>
              <a:effectLst/>
              <a:uFillTx/>
              <a:latin typeface="Arial"/>
            </a:endParaRPr>
          </a:p>
        </p:txBody>
      </p:sp>
      <p:sp>
        <p:nvSpPr>
          <p:cNvPr id="23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Producer Surplus</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Producer surplus </a:t>
            </a:r>
            <a:r>
              <a:rPr b="0" lang="en-US" sz="2400" strike="noStrike" u="none">
                <a:solidFill>
                  <a:schemeClr val="dk1"/>
                </a:solidFill>
                <a:effectLst/>
                <a:uFillTx/>
                <a:latin typeface="Arial"/>
                <a:ea typeface="ＭＳ Ｐゴシック"/>
              </a:rPr>
              <a:t>is the price of a good minus the opportunity cost of producing it, summed over the quantity produced.</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6.7 shows the producer surplus for pizza producers.</a:t>
            </a:r>
            <a:endParaRPr b="0" lang="en-US" sz="2400" strike="noStrike" u="none">
              <a:solidFill>
                <a:srgbClr val="000000"/>
              </a:solidFill>
              <a:effectLst/>
              <a:uFillTx/>
              <a:latin typeface="Arial"/>
            </a:endParaRPr>
          </a:p>
        </p:txBody>
      </p:sp>
    </p:spTree>
  </p:cSld>
  <p:transition spd="slow">
    <p:wipe dir="r"/>
  </p:transition>
  <p:timing>
    <p:tnLst>
      <p:par>
        <p:cTn id="970" dur="indefinite" restart="never" nodeType="tmRoot">
          <p:childTnLst>
            <p:seq>
              <p:cTn id="971" dur="indefinite" nodeType="mainSeq">
                <p:childTnLst>
                  <p:par>
                    <p:cTn id="972" nodeType="clickEffect" fill="hold">
                      <p:stCondLst>
                        <p:cond delay="indefinite"/>
                      </p:stCondLst>
                      <p:childTnLst>
                        <p:par>
                          <p:cTn id="973" nodeType="withEffect" fill="hold">
                            <p:stCondLst>
                              <p:cond delay="0"/>
                            </p:stCondLst>
                            <p:childTnLst>
                              <p:par>
                                <p:cTn id="974" nodeType="clickEffect" fill="hold" presetClass="entr" presetID="22" presetSubtype="8">
                                  <p:stCondLst>
                                    <p:cond delay="0"/>
                                  </p:stCondLst>
                                  <p:childTnLst>
                                    <p:set>
                                      <p:cBhvr>
                                        <p:cTn id="975" dur="1" fill="hold">
                                          <p:stCondLst>
                                            <p:cond delay="0"/>
                                          </p:stCondLst>
                                        </p:cTn>
                                        <p:tgtEl>
                                          <p:spTgt spid="233">
                                            <p:txEl>
                                              <p:pRg st="1" end="1"/>
                                            </p:txEl>
                                          </p:spTgt>
                                        </p:tgtEl>
                                        <p:attrNameLst>
                                          <p:attrName>style.visibility</p:attrName>
                                        </p:attrNameLst>
                                      </p:cBhvr>
                                      <p:to>
                                        <p:strVal val="visible"/>
                                      </p:to>
                                    </p:set>
                                    <p:animEffect filter="wipe(left)" transition="in">
                                      <p:cBhvr additive="repl">
                                        <p:cTn id="976" dur="750"/>
                                        <p:tgtEl>
                                          <p:spTgt spid="233">
                                            <p:txEl>
                                              <p:pRg st="1" end="1"/>
                                            </p:txEl>
                                          </p:spTgt>
                                        </p:tgtEl>
                                      </p:cBhvr>
                                    </p:animEffect>
                                  </p:childTnLst>
                                </p:cTn>
                              </p:par>
                            </p:childTnLst>
                          </p:cTn>
                        </p:par>
                      </p:childTnLst>
                    </p:cTn>
                  </p:par>
                  <p:par>
                    <p:cTn id="977" nodeType="clickEffect" fill="hold">
                      <p:stCondLst>
                        <p:cond delay="indefinite"/>
                      </p:stCondLst>
                      <p:childTnLst>
                        <p:par>
                          <p:cTn id="978" nodeType="withEffect" fill="hold">
                            <p:stCondLst>
                              <p:cond delay="0"/>
                            </p:stCondLst>
                            <p:childTnLst>
                              <p:par>
                                <p:cTn id="979" nodeType="clickEffect" fill="hold" presetClass="entr" presetID="22" presetSubtype="8">
                                  <p:stCondLst>
                                    <p:cond delay="0"/>
                                  </p:stCondLst>
                                  <p:childTnLst>
                                    <p:set>
                                      <p:cBhvr>
                                        <p:cTn id="980" dur="1" fill="hold">
                                          <p:stCondLst>
                                            <p:cond delay="0"/>
                                          </p:stCondLst>
                                        </p:cTn>
                                        <p:tgtEl>
                                          <p:spTgt spid="233">
                                            <p:txEl>
                                              <p:pRg st="2" end="2"/>
                                            </p:txEl>
                                          </p:spTgt>
                                        </p:tgtEl>
                                        <p:attrNameLst>
                                          <p:attrName>style.visibility</p:attrName>
                                        </p:attrNameLst>
                                      </p:cBhvr>
                                      <p:to>
                                        <p:strVal val="visible"/>
                                      </p:to>
                                    </p:set>
                                    <p:animEffect filter="wipe(left)" transition="in">
                                      <p:cBhvr additive="repl">
                                        <p:cTn id="981" dur="750"/>
                                        <p:tgtEl>
                                          <p:spTgt spid="233">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4" name="Picture 7" descr="fig0607a.gif"/>
          <p:cNvPicPr/>
          <p:nvPr/>
        </p:nvPicPr>
        <p:blipFill>
          <a:blip r:embed="rId1"/>
          <a:stretch/>
        </p:blipFill>
        <p:spPr>
          <a:xfrm>
            <a:off x="4319640" y="1511280"/>
            <a:ext cx="4590360" cy="4709520"/>
          </a:xfrm>
          <a:prstGeom prst="rect">
            <a:avLst/>
          </a:prstGeom>
          <a:noFill/>
          <a:ln w="0">
            <a:noFill/>
          </a:ln>
        </p:spPr>
      </p:pic>
      <p:pic>
        <p:nvPicPr>
          <p:cNvPr id="235" name="Picture 8" descr="fig0607b.gif"/>
          <p:cNvPicPr/>
          <p:nvPr/>
        </p:nvPicPr>
        <p:blipFill>
          <a:blip r:embed="rId2"/>
          <a:stretch/>
        </p:blipFill>
        <p:spPr>
          <a:xfrm>
            <a:off x="4319640" y="1511280"/>
            <a:ext cx="4590360" cy="4709520"/>
          </a:xfrm>
          <a:prstGeom prst="rect">
            <a:avLst/>
          </a:prstGeom>
          <a:noFill/>
          <a:ln w="0">
            <a:noFill/>
          </a:ln>
        </p:spPr>
      </p:pic>
      <p:pic>
        <p:nvPicPr>
          <p:cNvPr id="236" name="Picture 9" descr="fig0607c.gif"/>
          <p:cNvPicPr/>
          <p:nvPr/>
        </p:nvPicPr>
        <p:blipFill>
          <a:blip r:embed="rId3"/>
          <a:stretch/>
        </p:blipFill>
        <p:spPr>
          <a:xfrm>
            <a:off x="4319640" y="1511280"/>
            <a:ext cx="4590360" cy="4709520"/>
          </a:xfrm>
          <a:prstGeom prst="rect">
            <a:avLst/>
          </a:prstGeom>
          <a:noFill/>
          <a:ln w="0">
            <a:noFill/>
          </a:ln>
        </p:spPr>
      </p:pic>
      <p:pic>
        <p:nvPicPr>
          <p:cNvPr id="237" name="Picture 10" descr="fig0607d.gif"/>
          <p:cNvPicPr/>
          <p:nvPr/>
        </p:nvPicPr>
        <p:blipFill>
          <a:blip r:embed="rId4"/>
          <a:stretch/>
        </p:blipFill>
        <p:spPr>
          <a:xfrm>
            <a:off x="4319640" y="1511280"/>
            <a:ext cx="4590360" cy="4709520"/>
          </a:xfrm>
          <a:prstGeom prst="rect">
            <a:avLst/>
          </a:prstGeom>
          <a:noFill/>
          <a:ln w="0">
            <a:noFill/>
          </a:ln>
        </p:spPr>
      </p:pic>
      <p:sp>
        <p:nvSpPr>
          <p:cNvPr id="23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6.3  COST, PRICE, AND PRODUCER SURPLUS </a:t>
            </a:r>
            <a:endParaRPr b="0" lang="en-US" sz="2600" strike="noStrike" u="none">
              <a:solidFill>
                <a:srgbClr val="000000"/>
              </a:solidFill>
              <a:effectLst/>
              <a:uFillTx/>
              <a:latin typeface="Arial"/>
            </a:endParaRPr>
          </a:p>
        </p:txBody>
      </p:sp>
      <p:sp>
        <p:nvSpPr>
          <p:cNvPr id="239"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lvl="1" marL="816120" indent="-457200">
              <a:lnSpc>
                <a:spcPct val="100000"/>
              </a:lnSpc>
              <a:spcBef>
                <a:spcPts val="601"/>
              </a:spcBef>
              <a:spcAft>
                <a:spcPts val="601"/>
              </a:spcAft>
              <a:buClr>
                <a:srgbClr val="000000"/>
              </a:buClr>
              <a:buFont typeface="OpenSymbol"/>
              <a:buAutoNum type="arabicPeriod"/>
            </a:pPr>
            <a:r>
              <a:rPr b="0" lang="en-US" sz="2400" strike="noStrike" u="none">
                <a:solidFill>
                  <a:srgbClr val="000000"/>
                </a:solidFill>
                <a:effectLst/>
                <a:uFillTx/>
                <a:latin typeface="Arial"/>
                <a:ea typeface="ＭＳ Ｐゴシック"/>
              </a:rPr>
              <a:t>The market price of a pizza is $10.</a:t>
            </a:r>
            <a:endParaRPr b="0" lang="en-US" sz="2400" strike="noStrike" u="none">
              <a:solidFill>
                <a:srgbClr val="000000"/>
              </a:solidFill>
              <a:effectLst/>
              <a:uFillTx/>
              <a:latin typeface="Arial"/>
            </a:endParaRPr>
          </a:p>
          <a:p>
            <a:pPr marL="816120" indent="-457200">
              <a:lnSpc>
                <a:spcPct val="100000"/>
              </a:lnSpc>
              <a:spcBef>
                <a:spcPts val="601"/>
              </a:spcBef>
              <a:spcAft>
                <a:spcPts val="601"/>
              </a:spcAft>
              <a:buNone/>
              <a:tabLst>
                <a:tab algn="l" pos="0"/>
              </a:tabLst>
            </a:pPr>
            <a:r>
              <a:rPr b="0" lang="en-CA" sz="2400" strike="noStrike" u="none">
                <a:solidFill>
                  <a:srgbClr val="000000"/>
                </a:solidFill>
                <a:effectLst/>
                <a:uFillTx/>
                <a:latin typeface="Arial"/>
                <a:ea typeface="ＭＳ Ｐゴシック"/>
              </a:rPr>
              <a:t>At that price producers plan to sell 10,000 pizzas.</a:t>
            </a:r>
            <a:endParaRPr b="0" lang="en-US" sz="2400" strike="noStrike" u="none">
              <a:solidFill>
                <a:srgbClr val="000000"/>
              </a:solidFill>
              <a:effectLst/>
              <a:uFillTx/>
              <a:latin typeface="Arial"/>
            </a:endParaRPr>
          </a:p>
          <a:p>
            <a:pPr marL="816120" indent="-45720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marginal cost of producing the 5,000</a:t>
            </a:r>
            <a:r>
              <a:rPr b="0" lang="en-US" sz="2400" strike="noStrike" u="none" baseline="30000">
                <a:solidFill>
                  <a:srgbClr val="000000"/>
                </a:solidFill>
                <a:effectLst/>
                <a:uFillTx/>
                <a:latin typeface="Arial"/>
                <a:ea typeface="ＭＳ Ｐゴシック"/>
              </a:rPr>
              <a:t>th</a:t>
            </a:r>
            <a:r>
              <a:rPr b="0" lang="en-US" sz="2400" strike="noStrike" u="none">
                <a:solidFill>
                  <a:srgbClr val="000000"/>
                </a:solidFill>
                <a:effectLst/>
                <a:uFillTx/>
                <a:latin typeface="Arial"/>
                <a:ea typeface="ＭＳ Ｐゴシック"/>
              </a:rPr>
              <a:t> pizza is $6, </a:t>
            </a:r>
            <a:endParaRPr b="0" lang="en-US" sz="2400" strike="noStrike" u="none">
              <a:solidFill>
                <a:srgbClr val="000000"/>
              </a:solidFill>
              <a:effectLst/>
              <a:uFillTx/>
              <a:latin typeface="Arial"/>
            </a:endParaRPr>
          </a:p>
          <a:p>
            <a:pPr lvl="1" marL="816120" indent="-457200">
              <a:lnSpc>
                <a:spcPct val="100000"/>
              </a:lnSpc>
              <a:spcBef>
                <a:spcPts val="601"/>
              </a:spcBef>
              <a:spcAft>
                <a:spcPts val="601"/>
              </a:spcAft>
              <a:buClr>
                <a:srgbClr val="000000"/>
              </a:buClr>
              <a:buFont typeface="OpenSymbol"/>
              <a:buAutoNum type="arabicPeriod" startAt="2"/>
              <a:tabLst>
                <a:tab algn="l" pos="0"/>
              </a:tabLst>
            </a:pPr>
            <a:r>
              <a:rPr b="0" lang="en-US" sz="2400" strike="noStrike" u="none">
                <a:solidFill>
                  <a:srgbClr val="000000"/>
                </a:solidFill>
                <a:effectLst/>
                <a:uFillTx/>
                <a:latin typeface="Arial"/>
                <a:ea typeface="ＭＳ Ｐゴシック"/>
              </a:rPr>
              <a:t>so the producer surplus on the 5,000th pizza is $4.</a:t>
            </a:r>
            <a:endParaRPr b="0" lang="en-US" sz="2400" strike="noStrike" u="none">
              <a:solidFill>
                <a:srgbClr val="000000"/>
              </a:solidFill>
              <a:effectLst/>
              <a:uFillTx/>
              <a:latin typeface="Arial"/>
            </a:endParaRPr>
          </a:p>
        </p:txBody>
      </p:sp>
    </p:spTree>
  </p:cSld>
  <p:transition spd="slow">
    <p:wipe dir="r"/>
  </p:transition>
  <p:timing>
    <p:tnLst>
      <p:par>
        <p:cTn id="982" dur="indefinite" restart="never" nodeType="tmRoot">
          <p:childTnLst>
            <p:seq>
              <p:cTn id="983" dur="indefinite" nodeType="mainSeq">
                <p:childTnLst>
                  <p:par>
                    <p:cTn id="984" nodeType="clickEffect" fill="hold">
                      <p:stCondLst>
                        <p:cond delay="0"/>
                      </p:stCondLst>
                      <p:childTnLst>
                        <p:par>
                          <p:cTn id="985" nodeType="withEffect" fill="hold">
                            <p:stCondLst>
                              <p:cond delay="0"/>
                            </p:stCondLst>
                            <p:childTnLst>
                              <p:par>
                                <p:cTn id="986" nodeType="withEffect" fill="hold" presetClass="entr" presetID="22" presetSubtype="8">
                                  <p:stCondLst>
                                    <p:cond delay="0"/>
                                  </p:stCondLst>
                                  <p:childTnLst>
                                    <p:set>
                                      <p:cBhvr>
                                        <p:cTn id="987" dur="1" fill="hold">
                                          <p:stCondLst>
                                            <p:cond delay="0"/>
                                          </p:stCondLst>
                                        </p:cTn>
                                        <p:tgtEl>
                                          <p:spTgt spid="235"/>
                                        </p:tgtEl>
                                        <p:attrNameLst>
                                          <p:attrName>style.visibility</p:attrName>
                                        </p:attrNameLst>
                                      </p:cBhvr>
                                      <p:to>
                                        <p:strVal val="visible"/>
                                      </p:to>
                                    </p:set>
                                    <p:animEffect filter="wipe(left)" transition="in">
                                      <p:cBhvr additive="repl">
                                        <p:cTn id="988" dur="1000"/>
                                        <p:tgtEl>
                                          <p:spTgt spid="235"/>
                                        </p:tgtEl>
                                      </p:cBhvr>
                                    </p:animEffect>
                                  </p:childTnLst>
                                </p:cTn>
                              </p:par>
                            </p:childTnLst>
                          </p:cTn>
                        </p:par>
                      </p:childTnLst>
                    </p:cTn>
                  </p:par>
                  <p:par>
                    <p:cTn id="989" nodeType="clickEffect" fill="hold">
                      <p:stCondLst>
                        <p:cond delay="indefinite"/>
                      </p:stCondLst>
                      <p:childTnLst>
                        <p:par>
                          <p:cTn id="990" nodeType="withEffect" fill="hold">
                            <p:stCondLst>
                              <p:cond delay="0"/>
                            </p:stCondLst>
                            <p:childTnLst>
                              <p:par>
                                <p:cTn id="991" nodeType="clickEffect" fill="hold" presetClass="entr" presetID="22" presetSubtype="8">
                                  <p:stCondLst>
                                    <p:cond delay="0"/>
                                  </p:stCondLst>
                                  <p:childTnLst>
                                    <p:set>
                                      <p:cBhvr>
                                        <p:cTn id="992" dur="1" fill="hold">
                                          <p:stCondLst>
                                            <p:cond delay="0"/>
                                          </p:stCondLst>
                                        </p:cTn>
                                        <p:tgtEl>
                                          <p:spTgt spid="239">
                                            <p:txEl>
                                              <p:pRg st="1" end="1"/>
                                            </p:txEl>
                                          </p:spTgt>
                                        </p:tgtEl>
                                        <p:attrNameLst>
                                          <p:attrName>style.visibility</p:attrName>
                                        </p:attrNameLst>
                                      </p:cBhvr>
                                      <p:to>
                                        <p:strVal val="visible"/>
                                      </p:to>
                                    </p:set>
                                    <p:animEffect filter="wipe(left)" transition="in">
                                      <p:cBhvr additive="repl">
                                        <p:cTn id="993" dur="750"/>
                                        <p:tgtEl>
                                          <p:spTgt spid="239">
                                            <p:txEl>
                                              <p:pRg st="1" end="1"/>
                                            </p:txEl>
                                          </p:spTgt>
                                        </p:tgtEl>
                                      </p:cBhvr>
                                    </p:animEffect>
                                  </p:childTnLst>
                                </p:cTn>
                              </p:par>
                            </p:childTnLst>
                          </p:cTn>
                        </p:par>
                      </p:childTnLst>
                    </p:cTn>
                  </p:par>
                  <p:par>
                    <p:cTn id="994" nodeType="clickEffect" fill="hold">
                      <p:stCondLst>
                        <p:cond delay="indefinite"/>
                      </p:stCondLst>
                      <p:childTnLst>
                        <p:par>
                          <p:cTn id="995" nodeType="withEffect" fill="hold">
                            <p:stCondLst>
                              <p:cond delay="0"/>
                            </p:stCondLst>
                            <p:childTnLst>
                              <p:par>
                                <p:cTn id="996" nodeType="clickEffect" fill="hold" presetClass="entr" presetID="22" presetSubtype="8">
                                  <p:stCondLst>
                                    <p:cond delay="0"/>
                                  </p:stCondLst>
                                  <p:childTnLst>
                                    <p:set>
                                      <p:cBhvr>
                                        <p:cTn id="997" dur="1" fill="hold">
                                          <p:stCondLst>
                                            <p:cond delay="0"/>
                                          </p:stCondLst>
                                        </p:cTn>
                                        <p:tgtEl>
                                          <p:spTgt spid="239">
                                            <p:txEl>
                                              <p:pRg st="2" end="2"/>
                                            </p:txEl>
                                          </p:spTgt>
                                        </p:tgtEl>
                                        <p:attrNameLst>
                                          <p:attrName>style.visibility</p:attrName>
                                        </p:attrNameLst>
                                      </p:cBhvr>
                                      <p:to>
                                        <p:strVal val="visible"/>
                                      </p:to>
                                    </p:set>
                                    <p:animEffect filter="wipe(left)" transition="in">
                                      <p:cBhvr additive="repl">
                                        <p:cTn id="998" dur="750"/>
                                        <p:tgtEl>
                                          <p:spTgt spid="239">
                                            <p:txEl>
                                              <p:pRg st="2" end="2"/>
                                            </p:txEl>
                                          </p:spTgt>
                                        </p:tgtEl>
                                      </p:cBhvr>
                                    </p:animEffect>
                                  </p:childTnLst>
                                </p:cTn>
                              </p:par>
                              <p:par>
                                <p:cTn id="999" nodeType="withEffect" fill="hold" presetClass="entr" presetID="10">
                                  <p:stCondLst>
                                    <p:cond delay="0"/>
                                  </p:stCondLst>
                                  <p:childTnLst>
                                    <p:set>
                                      <p:cBhvr>
                                        <p:cTn id="1000" dur="1" fill="hold">
                                          <p:stCondLst>
                                            <p:cond delay="0"/>
                                          </p:stCondLst>
                                        </p:cTn>
                                        <p:tgtEl>
                                          <p:spTgt spid="236"/>
                                        </p:tgtEl>
                                        <p:attrNameLst>
                                          <p:attrName>style.visibility</p:attrName>
                                        </p:attrNameLst>
                                      </p:cBhvr>
                                      <p:to>
                                        <p:strVal val="visible"/>
                                      </p:to>
                                    </p:set>
                                    <p:animEffect filter="fade" transition="in">
                                      <p:cBhvr additive="repl">
                                        <p:cTn id="1001" dur="500"/>
                                        <p:tgtEl>
                                          <p:spTgt spid="236"/>
                                        </p:tgtEl>
                                      </p:cBhvr>
                                    </p:animEffect>
                                  </p:childTnLst>
                                </p:cTn>
                              </p:par>
                            </p:childTnLst>
                          </p:cTn>
                        </p:par>
                      </p:childTnLst>
                    </p:cTn>
                  </p:par>
                  <p:par>
                    <p:cTn id="1002" nodeType="clickEffect" fill="hold">
                      <p:stCondLst>
                        <p:cond delay="indefinite"/>
                      </p:stCondLst>
                      <p:childTnLst>
                        <p:par>
                          <p:cTn id="1003" nodeType="withEffect" fill="hold">
                            <p:stCondLst>
                              <p:cond delay="0"/>
                            </p:stCondLst>
                            <p:childTnLst>
                              <p:par>
                                <p:cTn id="1004" nodeType="clickEffect" fill="hold" presetClass="entr" presetID="22" presetSubtype="8">
                                  <p:stCondLst>
                                    <p:cond delay="0"/>
                                  </p:stCondLst>
                                  <p:childTnLst>
                                    <p:set>
                                      <p:cBhvr>
                                        <p:cTn id="1005" dur="1" fill="hold">
                                          <p:stCondLst>
                                            <p:cond delay="0"/>
                                          </p:stCondLst>
                                        </p:cTn>
                                        <p:tgtEl>
                                          <p:spTgt spid="239">
                                            <p:txEl>
                                              <p:pRg st="3" end="3"/>
                                            </p:txEl>
                                          </p:spTgt>
                                        </p:tgtEl>
                                        <p:attrNameLst>
                                          <p:attrName>style.visibility</p:attrName>
                                        </p:attrNameLst>
                                      </p:cBhvr>
                                      <p:to>
                                        <p:strVal val="visible"/>
                                      </p:to>
                                    </p:set>
                                    <p:animEffect filter="wipe(left)" transition="in">
                                      <p:cBhvr additive="repl">
                                        <p:cTn id="1006" dur="750"/>
                                        <p:tgtEl>
                                          <p:spTgt spid="239">
                                            <p:txEl>
                                              <p:pRg st="3" end="3"/>
                                            </p:txEl>
                                          </p:spTgt>
                                        </p:tgtEl>
                                      </p:cBhvr>
                                    </p:animEffect>
                                  </p:childTnLst>
                                </p:cTn>
                              </p:par>
                              <p:par>
                                <p:cTn id="1007" nodeType="withEffect" fill="hold" presetClass="entr" presetID="22" presetSubtype="4">
                                  <p:stCondLst>
                                    <p:cond delay="200"/>
                                  </p:stCondLst>
                                  <p:childTnLst>
                                    <p:set>
                                      <p:cBhvr>
                                        <p:cTn id="1008" dur="1" fill="hold">
                                          <p:stCondLst>
                                            <p:cond delay="0"/>
                                          </p:stCondLst>
                                        </p:cTn>
                                        <p:tgtEl>
                                          <p:spTgt spid="237"/>
                                        </p:tgtEl>
                                        <p:attrNameLst>
                                          <p:attrName>style.visibility</p:attrName>
                                        </p:attrNameLst>
                                      </p:cBhvr>
                                      <p:to>
                                        <p:strVal val="visible"/>
                                      </p:to>
                                    </p:set>
                                    <p:animEffect filter="wipe(down)" transition="in">
                                      <p:cBhvr additive="repl">
                                        <p:cTn id="1009" dur="10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40" name="Picture 7" descr="fig0607a.gif"/>
          <p:cNvPicPr/>
          <p:nvPr/>
        </p:nvPicPr>
        <p:blipFill>
          <a:blip r:embed="rId1"/>
          <a:stretch/>
        </p:blipFill>
        <p:spPr>
          <a:xfrm>
            <a:off x="1714680" y="304920"/>
            <a:ext cx="5847480" cy="6000120"/>
          </a:xfrm>
          <a:prstGeom prst="rect">
            <a:avLst/>
          </a:prstGeom>
          <a:noFill/>
          <a:ln w="0">
            <a:noFill/>
          </a:ln>
        </p:spPr>
      </p:pic>
      <p:pic>
        <p:nvPicPr>
          <p:cNvPr id="241" name="Picture 8" descr="fig0607b.gif"/>
          <p:cNvPicPr/>
          <p:nvPr/>
        </p:nvPicPr>
        <p:blipFill>
          <a:blip r:embed="rId2"/>
          <a:stretch/>
        </p:blipFill>
        <p:spPr>
          <a:xfrm>
            <a:off x="1714680" y="304920"/>
            <a:ext cx="5847480" cy="6000120"/>
          </a:xfrm>
          <a:prstGeom prst="rect">
            <a:avLst/>
          </a:prstGeom>
          <a:noFill/>
          <a:ln w="0">
            <a:noFill/>
          </a:ln>
        </p:spPr>
      </p:pic>
      <p:pic>
        <p:nvPicPr>
          <p:cNvPr id="242" name="Picture 9" descr="fig0607c.gif"/>
          <p:cNvPicPr/>
          <p:nvPr/>
        </p:nvPicPr>
        <p:blipFill>
          <a:blip r:embed="rId3"/>
          <a:stretch/>
        </p:blipFill>
        <p:spPr>
          <a:xfrm>
            <a:off x="1714680" y="304920"/>
            <a:ext cx="5847480" cy="6000120"/>
          </a:xfrm>
          <a:prstGeom prst="rect">
            <a:avLst/>
          </a:prstGeom>
          <a:noFill/>
          <a:ln w="0">
            <a:noFill/>
          </a:ln>
        </p:spPr>
      </p:pic>
      <p:pic>
        <p:nvPicPr>
          <p:cNvPr id="243" name="Picture 10" descr="fig0607d.gif"/>
          <p:cNvPicPr/>
          <p:nvPr/>
        </p:nvPicPr>
        <p:blipFill>
          <a:blip r:embed="rId4"/>
          <a:stretch/>
        </p:blipFill>
        <p:spPr>
          <a:xfrm>
            <a:off x="1714680" y="304920"/>
            <a:ext cx="5847480" cy="6000120"/>
          </a:xfrm>
          <a:prstGeom prst="rect">
            <a:avLst/>
          </a:prstGeom>
          <a:noFill/>
          <a:ln w="0">
            <a:noFill/>
          </a:ln>
        </p:spPr>
      </p:pic>
      <p:pic>
        <p:nvPicPr>
          <p:cNvPr id="244" name="Picture 11" descr="fig0607e.gif"/>
          <p:cNvPicPr/>
          <p:nvPr/>
        </p:nvPicPr>
        <p:blipFill>
          <a:blip r:embed="rId5"/>
          <a:stretch/>
        </p:blipFill>
        <p:spPr>
          <a:xfrm>
            <a:off x="1714680" y="304920"/>
            <a:ext cx="5847480" cy="6000120"/>
          </a:xfrm>
          <a:prstGeom prst="rect">
            <a:avLst/>
          </a:prstGeom>
          <a:noFill/>
          <a:ln w="0">
            <a:noFill/>
          </a:ln>
        </p:spPr>
      </p:pic>
      <p:pic>
        <p:nvPicPr>
          <p:cNvPr id="245" name="Picture 12" descr="fig0607f.gif"/>
          <p:cNvPicPr/>
          <p:nvPr/>
        </p:nvPicPr>
        <p:blipFill>
          <a:blip r:embed="rId6"/>
          <a:stretch/>
        </p:blipFill>
        <p:spPr>
          <a:xfrm>
            <a:off x="1714680" y="304920"/>
            <a:ext cx="5847480" cy="6000120"/>
          </a:xfrm>
          <a:prstGeom prst="rect">
            <a:avLst/>
          </a:prstGeom>
          <a:noFill/>
          <a:ln w="0">
            <a:noFill/>
          </a:ln>
        </p:spPr>
      </p:pic>
    </p:spTree>
  </p:cSld>
  <p:transition spd="slow">
    <p:wipe dir="r"/>
  </p:transition>
  <p:timing>
    <p:tnLst>
      <p:par>
        <p:cTn id="1010" dur="indefinite" restart="never" nodeType="tmRoot">
          <p:childTnLst>
            <p:seq>
              <p:cTn id="1011" dur="indefinite" nodeType="mainSeq">
                <p:childTnLst>
                  <p:par>
                    <p:cTn id="1012" nodeType="clickEffect" fill="hold">
                      <p:stCondLst>
                        <p:cond delay="indefinite"/>
                      </p:stCondLst>
                      <p:childTnLst>
                        <p:par>
                          <p:cTn id="1013" nodeType="withEffect" fill="hold">
                            <p:stCondLst>
                              <p:cond delay="0"/>
                            </p:stCondLst>
                            <p:childTnLst>
                              <p:par>
                                <p:cTn id="1014" nodeType="clickEffect" fill="hold" presetClass="entr" presetID="22" presetSubtype="8">
                                  <p:stCondLst>
                                    <p:cond delay="0"/>
                                  </p:stCondLst>
                                  <p:childTnLst>
                                    <p:set>
                                      <p:cBhvr>
                                        <p:cTn id="1015" dur="1" fill="hold">
                                          <p:stCondLst>
                                            <p:cond delay="0"/>
                                          </p:stCondLst>
                                        </p:cTn>
                                        <p:tgtEl>
                                          <p:spTgt spid="241"/>
                                        </p:tgtEl>
                                        <p:attrNameLst>
                                          <p:attrName>style.visibility</p:attrName>
                                        </p:attrNameLst>
                                      </p:cBhvr>
                                      <p:to>
                                        <p:strVal val="visible"/>
                                      </p:to>
                                    </p:set>
                                    <p:animEffect filter="wipe(left)" transition="in">
                                      <p:cBhvr additive="repl">
                                        <p:cTn id="1016" dur="1000"/>
                                        <p:tgtEl>
                                          <p:spTgt spid="241"/>
                                        </p:tgtEl>
                                      </p:cBhvr>
                                    </p:animEffect>
                                  </p:childTnLst>
                                </p:cTn>
                              </p:par>
                            </p:childTnLst>
                          </p:cTn>
                        </p:par>
                      </p:childTnLst>
                    </p:cTn>
                  </p:par>
                  <p:par>
                    <p:cTn id="1017" nodeType="clickEffect" fill="hold">
                      <p:stCondLst>
                        <p:cond delay="indefinite"/>
                      </p:stCondLst>
                      <p:childTnLst>
                        <p:par>
                          <p:cTn id="1018" nodeType="withEffect" fill="hold">
                            <p:stCondLst>
                              <p:cond delay="0"/>
                            </p:stCondLst>
                            <p:childTnLst>
                              <p:par>
                                <p:cTn id="1019" nodeType="clickEffect" fill="hold" presetClass="entr" presetID="10">
                                  <p:stCondLst>
                                    <p:cond delay="0"/>
                                  </p:stCondLst>
                                  <p:childTnLst>
                                    <p:set>
                                      <p:cBhvr>
                                        <p:cTn id="1020" dur="1" fill="hold">
                                          <p:stCondLst>
                                            <p:cond delay="0"/>
                                          </p:stCondLst>
                                        </p:cTn>
                                        <p:tgtEl>
                                          <p:spTgt spid="242"/>
                                        </p:tgtEl>
                                        <p:attrNameLst>
                                          <p:attrName>style.visibility</p:attrName>
                                        </p:attrNameLst>
                                      </p:cBhvr>
                                      <p:to>
                                        <p:strVal val="visible"/>
                                      </p:to>
                                    </p:set>
                                    <p:animEffect filter="fade" transition="in">
                                      <p:cBhvr additive="repl">
                                        <p:cTn id="1021" dur="500"/>
                                        <p:tgtEl>
                                          <p:spTgt spid="242"/>
                                        </p:tgtEl>
                                      </p:cBhvr>
                                    </p:animEffect>
                                  </p:childTnLst>
                                </p:cTn>
                              </p:par>
                            </p:childTnLst>
                          </p:cTn>
                        </p:par>
                        <p:par>
                          <p:cTn id="1022" nodeType="afterEffect" fill="hold">
                            <p:stCondLst>
                              <p:cond delay="500"/>
                            </p:stCondLst>
                            <p:childTnLst>
                              <p:par>
                                <p:cTn id="1023" nodeType="afterEffect" fill="hold" presetClass="entr" presetID="22" presetSubtype="4">
                                  <p:stCondLst>
                                    <p:cond delay="0"/>
                                  </p:stCondLst>
                                  <p:childTnLst>
                                    <p:set>
                                      <p:cBhvr>
                                        <p:cTn id="1024" dur="1" fill="hold">
                                          <p:stCondLst>
                                            <p:cond delay="0"/>
                                          </p:stCondLst>
                                        </p:cTn>
                                        <p:tgtEl>
                                          <p:spTgt spid="243"/>
                                        </p:tgtEl>
                                        <p:attrNameLst>
                                          <p:attrName>style.visibility</p:attrName>
                                        </p:attrNameLst>
                                      </p:cBhvr>
                                      <p:to>
                                        <p:strVal val="visible"/>
                                      </p:to>
                                    </p:set>
                                    <p:animEffect filter="wipe(down)" transition="in">
                                      <p:cBhvr additive="repl">
                                        <p:cTn id="1025" dur="1000"/>
                                        <p:tgtEl>
                                          <p:spTgt spid="243"/>
                                        </p:tgtEl>
                                      </p:cBhvr>
                                    </p:animEffect>
                                  </p:childTnLst>
                                </p:cTn>
                              </p:par>
                            </p:childTnLst>
                          </p:cTn>
                        </p:par>
                      </p:childTnLst>
                    </p:cTn>
                  </p:par>
                  <p:par>
                    <p:cTn id="1026" nodeType="clickEffect" fill="hold">
                      <p:stCondLst>
                        <p:cond delay="indefinite"/>
                      </p:stCondLst>
                      <p:childTnLst>
                        <p:par>
                          <p:cTn id="1027" nodeType="withEffect" fill="hold">
                            <p:stCondLst>
                              <p:cond delay="0"/>
                            </p:stCondLst>
                            <p:childTnLst>
                              <p:par>
                                <p:cTn id="1028" nodeType="clickEffect" fill="hold" presetClass="entr" presetID="10">
                                  <p:stCondLst>
                                    <p:cond delay="0"/>
                                  </p:stCondLst>
                                  <p:childTnLst>
                                    <p:set>
                                      <p:cBhvr>
                                        <p:cTn id="1029" dur="1" fill="hold">
                                          <p:stCondLst>
                                            <p:cond delay="0"/>
                                          </p:stCondLst>
                                        </p:cTn>
                                        <p:tgtEl>
                                          <p:spTgt spid="244"/>
                                        </p:tgtEl>
                                        <p:attrNameLst>
                                          <p:attrName>style.visibility</p:attrName>
                                        </p:attrNameLst>
                                      </p:cBhvr>
                                      <p:to>
                                        <p:strVal val="visible"/>
                                      </p:to>
                                    </p:set>
                                    <p:animEffect filter="fade" transition="in">
                                      <p:cBhvr additive="repl">
                                        <p:cTn id="1030" dur="500"/>
                                        <p:tgtEl>
                                          <p:spTgt spid="244"/>
                                        </p:tgtEl>
                                      </p:cBhvr>
                                    </p:animEffect>
                                  </p:childTnLst>
                                </p:cTn>
                              </p:par>
                            </p:childTnLst>
                          </p:cTn>
                        </p:par>
                      </p:childTnLst>
                    </p:cTn>
                  </p:par>
                  <p:par>
                    <p:cTn id="1031" nodeType="clickEffect" fill="hold">
                      <p:stCondLst>
                        <p:cond delay="indefinite"/>
                      </p:stCondLst>
                      <p:childTnLst>
                        <p:par>
                          <p:cTn id="1032" nodeType="withEffect" fill="hold">
                            <p:stCondLst>
                              <p:cond delay="0"/>
                            </p:stCondLst>
                            <p:childTnLst>
                              <p:par>
                                <p:cTn id="1033" nodeType="clickEffect" fill="hold" presetClass="entr" presetID="10">
                                  <p:stCondLst>
                                    <p:cond delay="0"/>
                                  </p:stCondLst>
                                  <p:childTnLst>
                                    <p:set>
                                      <p:cBhvr>
                                        <p:cTn id="1034" dur="1" fill="hold">
                                          <p:stCondLst>
                                            <p:cond delay="0"/>
                                          </p:stCondLst>
                                        </p:cTn>
                                        <p:tgtEl>
                                          <p:spTgt spid="245"/>
                                        </p:tgtEl>
                                        <p:attrNameLst>
                                          <p:attrName>style.visibility</p:attrName>
                                        </p:attrNameLst>
                                      </p:cBhvr>
                                      <p:to>
                                        <p:strVal val="visible"/>
                                      </p:to>
                                    </p:set>
                                    <p:animEffect filter="fade" transition="in">
                                      <p:cBhvr additive="repl">
                                        <p:cTn id="1035" dur="5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6" name="Picture 7" descr="fig0607a.gif"/>
          <p:cNvPicPr/>
          <p:nvPr/>
        </p:nvPicPr>
        <p:blipFill>
          <a:blip r:embed="rId1"/>
          <a:stretch/>
        </p:blipFill>
        <p:spPr>
          <a:xfrm>
            <a:off x="4319640" y="1511280"/>
            <a:ext cx="4590360" cy="4709520"/>
          </a:xfrm>
          <a:prstGeom prst="rect">
            <a:avLst/>
          </a:prstGeom>
          <a:noFill/>
          <a:ln w="0">
            <a:noFill/>
          </a:ln>
        </p:spPr>
      </p:pic>
      <p:pic>
        <p:nvPicPr>
          <p:cNvPr id="247" name="Picture 8" descr="fig0607b.gif"/>
          <p:cNvPicPr/>
          <p:nvPr/>
        </p:nvPicPr>
        <p:blipFill>
          <a:blip r:embed="rId2"/>
          <a:stretch/>
        </p:blipFill>
        <p:spPr>
          <a:xfrm>
            <a:off x="4319640" y="1511280"/>
            <a:ext cx="4590360" cy="4709520"/>
          </a:xfrm>
          <a:prstGeom prst="rect">
            <a:avLst/>
          </a:prstGeom>
          <a:noFill/>
          <a:ln w="0">
            <a:noFill/>
          </a:ln>
        </p:spPr>
      </p:pic>
      <p:pic>
        <p:nvPicPr>
          <p:cNvPr id="248" name="Picture 9" descr="fig0607c.gif"/>
          <p:cNvPicPr/>
          <p:nvPr/>
        </p:nvPicPr>
        <p:blipFill>
          <a:blip r:embed="rId3"/>
          <a:stretch/>
        </p:blipFill>
        <p:spPr>
          <a:xfrm>
            <a:off x="4319640" y="1511280"/>
            <a:ext cx="4590360" cy="4709520"/>
          </a:xfrm>
          <a:prstGeom prst="rect">
            <a:avLst/>
          </a:prstGeom>
          <a:noFill/>
          <a:ln w="0">
            <a:noFill/>
          </a:ln>
        </p:spPr>
      </p:pic>
      <p:pic>
        <p:nvPicPr>
          <p:cNvPr id="249" name="Picture 10" descr="fig0607d.gif"/>
          <p:cNvPicPr/>
          <p:nvPr/>
        </p:nvPicPr>
        <p:blipFill>
          <a:blip r:embed="rId4"/>
          <a:stretch/>
        </p:blipFill>
        <p:spPr>
          <a:xfrm>
            <a:off x="4319640" y="1511280"/>
            <a:ext cx="4590360" cy="4709520"/>
          </a:xfrm>
          <a:prstGeom prst="rect">
            <a:avLst/>
          </a:prstGeom>
          <a:noFill/>
          <a:ln w="0">
            <a:noFill/>
          </a:ln>
        </p:spPr>
      </p:pic>
      <p:pic>
        <p:nvPicPr>
          <p:cNvPr id="250" name="Picture 11" descr="fig0607e.gif"/>
          <p:cNvPicPr/>
          <p:nvPr/>
        </p:nvPicPr>
        <p:blipFill>
          <a:blip r:embed="rId5"/>
          <a:stretch/>
        </p:blipFill>
        <p:spPr>
          <a:xfrm>
            <a:off x="4319640" y="1511280"/>
            <a:ext cx="4590360" cy="4709520"/>
          </a:xfrm>
          <a:prstGeom prst="rect">
            <a:avLst/>
          </a:prstGeom>
          <a:noFill/>
          <a:ln w="0">
            <a:noFill/>
          </a:ln>
        </p:spPr>
      </p:pic>
      <p:pic>
        <p:nvPicPr>
          <p:cNvPr id="251" name="Picture 17" descr="fig0607f.gif"/>
          <p:cNvPicPr/>
          <p:nvPr/>
        </p:nvPicPr>
        <p:blipFill>
          <a:blip r:embed="rId6"/>
          <a:stretch/>
        </p:blipFill>
        <p:spPr>
          <a:xfrm>
            <a:off x="4319640" y="1511280"/>
            <a:ext cx="4590360" cy="4709520"/>
          </a:xfrm>
          <a:prstGeom prst="rect">
            <a:avLst/>
          </a:prstGeom>
          <a:noFill/>
          <a:ln w="0">
            <a:noFill/>
          </a:ln>
        </p:spPr>
      </p:pic>
      <p:sp>
        <p:nvSpPr>
          <p:cNvPr id="25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6.3  COST, PRICE, AND PRODUCER SURPLUS </a:t>
            </a:r>
            <a:endParaRPr b="0" lang="en-US" sz="2600" strike="noStrike" u="none">
              <a:solidFill>
                <a:srgbClr val="000000"/>
              </a:solidFill>
              <a:effectLst/>
              <a:uFillTx/>
              <a:latin typeface="Arial"/>
            </a:endParaRPr>
          </a:p>
        </p:txBody>
      </p:sp>
      <p:sp>
        <p:nvSpPr>
          <p:cNvPr id="253"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lvl="1" marL="816120" indent="-457200">
              <a:lnSpc>
                <a:spcPct val="100000"/>
              </a:lnSpc>
              <a:spcBef>
                <a:spcPts val="601"/>
              </a:spcBef>
              <a:spcAft>
                <a:spcPts val="601"/>
              </a:spcAft>
              <a:buClr>
                <a:srgbClr val="000000"/>
              </a:buClr>
              <a:buFont typeface="OpenSymbol"/>
              <a:buAutoNum type="arabicPeriod" startAt="3"/>
            </a:pPr>
            <a:r>
              <a:rPr b="0" lang="en-US" sz="2400" strike="noStrike" u="none">
                <a:solidFill>
                  <a:srgbClr val="000000"/>
                </a:solidFill>
                <a:effectLst/>
                <a:uFillTx/>
                <a:latin typeface="Arial"/>
                <a:ea typeface="ＭＳ Ｐゴシック"/>
              </a:rPr>
              <a:t>Producer surplus from the 10,000 pizzas sold is $40,000 a day—the area of the blue triangle.</a:t>
            </a:r>
            <a:endParaRPr b="0" lang="en-US" sz="2400" strike="noStrike" u="none">
              <a:solidFill>
                <a:srgbClr val="000000"/>
              </a:solidFill>
              <a:effectLst/>
              <a:uFillTx/>
              <a:latin typeface="Arial"/>
            </a:endParaRPr>
          </a:p>
          <a:p>
            <a:pPr marL="816120" indent="-45720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cost of 10,000 pizzas is $60,000 a day—the red area under the marginal cost curve.</a:t>
            </a:r>
            <a:endParaRPr b="0" lang="en-US" sz="2400" strike="noStrike" u="none">
              <a:solidFill>
                <a:srgbClr val="000000"/>
              </a:solidFill>
              <a:effectLst/>
              <a:uFillTx/>
              <a:latin typeface="Arial"/>
            </a:endParaRPr>
          </a:p>
          <a:p>
            <a:pPr lvl="1" marL="816120" indent="-457200">
              <a:lnSpc>
                <a:spcPct val="100000"/>
              </a:lnSpc>
              <a:spcBef>
                <a:spcPts val="601"/>
              </a:spcBef>
              <a:spcAft>
                <a:spcPts val="601"/>
              </a:spcAft>
              <a:buClr>
                <a:srgbClr val="000000"/>
              </a:buClr>
              <a:buFont typeface="OpenSymbol"/>
              <a:buAutoNum type="arabicPeriod" startAt="4"/>
              <a:tabLst>
                <a:tab algn="l" pos="0"/>
              </a:tabLst>
            </a:pPr>
            <a:r>
              <a:rPr b="0" lang="en-US" sz="2400" strike="noStrike" u="none">
                <a:solidFill>
                  <a:srgbClr val="000000"/>
                </a:solidFill>
                <a:effectLst/>
                <a:uFillTx/>
                <a:latin typeface="Arial"/>
                <a:ea typeface="ＭＳ Ｐゴシック"/>
              </a:rPr>
              <a:t>The cost equals total revenue of $100,000 minus the producer surplus of $40,000.</a:t>
            </a:r>
            <a:endParaRPr b="0" lang="en-US" sz="2400" strike="noStrike" u="none">
              <a:solidFill>
                <a:srgbClr val="000000"/>
              </a:solidFill>
              <a:effectLst/>
              <a:uFillTx/>
              <a:latin typeface="Arial"/>
            </a:endParaRPr>
          </a:p>
        </p:txBody>
      </p:sp>
    </p:spTree>
  </p:cSld>
  <p:transition spd="slow">
    <p:wipe dir="r"/>
  </p:transition>
  <p:timing>
    <p:tnLst>
      <p:par>
        <p:cTn id="1036" dur="indefinite" restart="never" nodeType="tmRoot">
          <p:childTnLst>
            <p:seq>
              <p:cTn id="1037" dur="indefinite" nodeType="mainSeq">
                <p:childTnLst>
                  <p:par>
                    <p:cTn id="1038" nodeType="clickEffect" fill="hold">
                      <p:stCondLst>
                        <p:cond delay="0"/>
                      </p:stCondLst>
                      <p:childTnLst>
                        <p:par>
                          <p:cTn id="1039" nodeType="withEffect" fill="hold">
                            <p:stCondLst>
                              <p:cond delay="0"/>
                            </p:stCondLst>
                            <p:childTnLst>
                              <p:par>
                                <p:cTn id="1040" nodeType="withEffect" fill="hold" presetClass="entr" presetID="10">
                                  <p:stCondLst>
                                    <p:cond delay="0"/>
                                  </p:stCondLst>
                                  <p:childTnLst>
                                    <p:set>
                                      <p:cBhvr>
                                        <p:cTn id="1041" dur="1" fill="hold">
                                          <p:stCondLst>
                                            <p:cond delay="0"/>
                                          </p:stCondLst>
                                        </p:cTn>
                                        <p:tgtEl>
                                          <p:spTgt spid="250"/>
                                        </p:tgtEl>
                                        <p:attrNameLst>
                                          <p:attrName>style.visibility</p:attrName>
                                        </p:attrNameLst>
                                      </p:cBhvr>
                                      <p:to>
                                        <p:strVal val="visible"/>
                                      </p:to>
                                    </p:set>
                                    <p:animEffect filter="fade" transition="in">
                                      <p:cBhvr additive="repl">
                                        <p:cTn id="1042" dur="500"/>
                                        <p:tgtEl>
                                          <p:spTgt spid="250"/>
                                        </p:tgtEl>
                                      </p:cBhvr>
                                    </p:animEffect>
                                  </p:childTnLst>
                                </p:cTn>
                              </p:par>
                            </p:childTnLst>
                          </p:cTn>
                        </p:par>
                      </p:childTnLst>
                    </p:cTn>
                  </p:par>
                  <p:par>
                    <p:cTn id="1043" nodeType="clickEffect" fill="hold">
                      <p:stCondLst>
                        <p:cond delay="indefinite"/>
                      </p:stCondLst>
                      <p:childTnLst>
                        <p:par>
                          <p:cTn id="1044" nodeType="withEffect" fill="hold">
                            <p:stCondLst>
                              <p:cond delay="0"/>
                            </p:stCondLst>
                            <p:childTnLst>
                              <p:par>
                                <p:cTn id="1045" nodeType="clickEffect" fill="hold" presetClass="entr" presetID="22" presetSubtype="8">
                                  <p:stCondLst>
                                    <p:cond delay="0"/>
                                  </p:stCondLst>
                                  <p:childTnLst>
                                    <p:set>
                                      <p:cBhvr>
                                        <p:cTn id="1046" dur="1" fill="hold">
                                          <p:stCondLst>
                                            <p:cond delay="0"/>
                                          </p:stCondLst>
                                        </p:cTn>
                                        <p:tgtEl>
                                          <p:spTgt spid="253">
                                            <p:txEl>
                                              <p:pRg st="1" end="1"/>
                                            </p:txEl>
                                          </p:spTgt>
                                        </p:tgtEl>
                                        <p:attrNameLst>
                                          <p:attrName>style.visibility</p:attrName>
                                        </p:attrNameLst>
                                      </p:cBhvr>
                                      <p:to>
                                        <p:strVal val="visible"/>
                                      </p:to>
                                    </p:set>
                                    <p:animEffect filter="wipe(left)" transition="in">
                                      <p:cBhvr additive="repl">
                                        <p:cTn id="1047" dur="750"/>
                                        <p:tgtEl>
                                          <p:spTgt spid="253">
                                            <p:txEl>
                                              <p:pRg st="1" end="1"/>
                                            </p:txEl>
                                          </p:spTgt>
                                        </p:tgtEl>
                                      </p:cBhvr>
                                    </p:animEffect>
                                  </p:childTnLst>
                                </p:cTn>
                              </p:par>
                            </p:childTnLst>
                          </p:cTn>
                        </p:par>
                      </p:childTnLst>
                    </p:cTn>
                  </p:par>
                  <p:par>
                    <p:cTn id="1048" nodeType="clickEffect" fill="hold">
                      <p:stCondLst>
                        <p:cond delay="indefinite"/>
                      </p:stCondLst>
                      <p:childTnLst>
                        <p:par>
                          <p:cTn id="1049" nodeType="withEffect" fill="hold">
                            <p:stCondLst>
                              <p:cond delay="0"/>
                            </p:stCondLst>
                            <p:childTnLst>
                              <p:par>
                                <p:cTn id="1050" nodeType="clickEffect" fill="hold" presetClass="entr" presetID="22" presetSubtype="8">
                                  <p:stCondLst>
                                    <p:cond delay="0"/>
                                  </p:stCondLst>
                                  <p:childTnLst>
                                    <p:set>
                                      <p:cBhvr>
                                        <p:cTn id="1051" dur="1" fill="hold">
                                          <p:stCondLst>
                                            <p:cond delay="0"/>
                                          </p:stCondLst>
                                        </p:cTn>
                                        <p:tgtEl>
                                          <p:spTgt spid="253">
                                            <p:txEl>
                                              <p:pRg st="2" end="2"/>
                                            </p:txEl>
                                          </p:spTgt>
                                        </p:tgtEl>
                                        <p:attrNameLst>
                                          <p:attrName>style.visibility</p:attrName>
                                        </p:attrNameLst>
                                      </p:cBhvr>
                                      <p:to>
                                        <p:strVal val="visible"/>
                                      </p:to>
                                    </p:set>
                                    <p:animEffect filter="wipe(left)" transition="in">
                                      <p:cBhvr additive="repl">
                                        <p:cTn id="1052" dur="750"/>
                                        <p:tgtEl>
                                          <p:spTgt spid="253">
                                            <p:txEl>
                                              <p:pRg st="2" end="2"/>
                                            </p:txEl>
                                          </p:spTgt>
                                        </p:tgtEl>
                                      </p:cBhvr>
                                    </p:animEffect>
                                  </p:childTnLst>
                                </p:cTn>
                              </p:par>
                              <p:par>
                                <p:cTn id="1053" nodeType="withEffect" fill="hold" presetClass="entr" presetID="10">
                                  <p:stCondLst>
                                    <p:cond delay="0"/>
                                  </p:stCondLst>
                                  <p:childTnLst>
                                    <p:set>
                                      <p:cBhvr>
                                        <p:cTn id="1054" dur="1" fill="hold">
                                          <p:stCondLst>
                                            <p:cond delay="0"/>
                                          </p:stCondLst>
                                        </p:cTn>
                                        <p:tgtEl>
                                          <p:spTgt spid="251"/>
                                        </p:tgtEl>
                                        <p:attrNameLst>
                                          <p:attrName>style.visibility</p:attrName>
                                        </p:attrNameLst>
                                      </p:cBhvr>
                                      <p:to>
                                        <p:strVal val="visible"/>
                                      </p:to>
                                    </p:set>
                                    <p:animEffect filter="fade" transition="in">
                                      <p:cBhvr additive="repl">
                                        <p:cTn id="1055" dur="5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pic>
        <p:nvPicPr>
          <p:cNvPr id="255" name="Picture 16" descr="fig0608a.gif"/>
          <p:cNvPicPr/>
          <p:nvPr/>
        </p:nvPicPr>
        <p:blipFill>
          <a:blip r:embed="rId1"/>
          <a:stretch/>
        </p:blipFill>
        <p:spPr>
          <a:xfrm>
            <a:off x="4572000" y="1440000"/>
            <a:ext cx="4141080" cy="4245840"/>
          </a:xfrm>
          <a:prstGeom prst="rect">
            <a:avLst/>
          </a:prstGeom>
          <a:noFill/>
          <a:ln w="0">
            <a:noFill/>
          </a:ln>
        </p:spPr>
      </p:pic>
      <p:pic>
        <p:nvPicPr>
          <p:cNvPr id="256" name="Picture 17" descr="fig0608b.gif"/>
          <p:cNvPicPr/>
          <p:nvPr/>
        </p:nvPicPr>
        <p:blipFill>
          <a:blip r:embed="rId2"/>
          <a:stretch/>
        </p:blipFill>
        <p:spPr>
          <a:xfrm>
            <a:off x="4572000" y="1440000"/>
            <a:ext cx="4141080" cy="4245840"/>
          </a:xfrm>
          <a:prstGeom prst="rect">
            <a:avLst/>
          </a:prstGeom>
          <a:noFill/>
          <a:ln w="0">
            <a:noFill/>
          </a:ln>
        </p:spPr>
      </p:pic>
      <p:pic>
        <p:nvPicPr>
          <p:cNvPr id="257" name="Picture 18" descr="fig0608c.gif"/>
          <p:cNvPicPr/>
          <p:nvPr/>
        </p:nvPicPr>
        <p:blipFill>
          <a:blip r:embed="rId3"/>
          <a:stretch/>
        </p:blipFill>
        <p:spPr>
          <a:xfrm>
            <a:off x="4572000" y="1440000"/>
            <a:ext cx="4141080" cy="4245840"/>
          </a:xfrm>
          <a:prstGeom prst="rect">
            <a:avLst/>
          </a:prstGeom>
          <a:noFill/>
          <a:ln w="0">
            <a:noFill/>
          </a:ln>
        </p:spPr>
      </p:pic>
      <p:pic>
        <p:nvPicPr>
          <p:cNvPr id="258" name="Picture 19" descr="fig0608d.gif"/>
          <p:cNvPicPr/>
          <p:nvPr/>
        </p:nvPicPr>
        <p:blipFill>
          <a:blip r:embed="rId4"/>
          <a:stretch/>
        </p:blipFill>
        <p:spPr>
          <a:xfrm>
            <a:off x="4572000" y="1440000"/>
            <a:ext cx="4141080" cy="4245840"/>
          </a:xfrm>
          <a:prstGeom prst="rect">
            <a:avLst/>
          </a:prstGeom>
          <a:noFill/>
          <a:ln w="0">
            <a:noFill/>
          </a:ln>
        </p:spPr>
      </p:pic>
      <p:pic>
        <p:nvPicPr>
          <p:cNvPr id="259" name="Picture 20" descr="fig0608e.gif"/>
          <p:cNvPicPr/>
          <p:nvPr/>
        </p:nvPicPr>
        <p:blipFill>
          <a:blip r:embed="rId5"/>
          <a:stretch/>
        </p:blipFill>
        <p:spPr>
          <a:xfrm>
            <a:off x="4572000" y="1440000"/>
            <a:ext cx="4141080" cy="4245840"/>
          </a:xfrm>
          <a:prstGeom prst="rect">
            <a:avLst/>
          </a:prstGeom>
          <a:noFill/>
          <a:ln w="0">
            <a:noFill/>
          </a:ln>
        </p:spPr>
      </p:pic>
      <p:pic>
        <p:nvPicPr>
          <p:cNvPr id="260" name="Picture 21" descr="fig0608f.gif"/>
          <p:cNvPicPr/>
          <p:nvPr/>
        </p:nvPicPr>
        <p:blipFill>
          <a:blip r:embed="rId6"/>
          <a:stretch/>
        </p:blipFill>
        <p:spPr>
          <a:xfrm>
            <a:off x="4572000" y="1440000"/>
            <a:ext cx="4141080" cy="4245840"/>
          </a:xfrm>
          <a:prstGeom prst="rect">
            <a:avLst/>
          </a:prstGeom>
          <a:noFill/>
          <a:ln w="0">
            <a:noFill/>
          </a:ln>
        </p:spPr>
      </p:pic>
      <p:pic>
        <p:nvPicPr>
          <p:cNvPr id="261" name="Picture 22" descr="fig0608g.gif"/>
          <p:cNvPicPr/>
          <p:nvPr/>
        </p:nvPicPr>
        <p:blipFill>
          <a:blip r:embed="rId7"/>
          <a:stretch/>
        </p:blipFill>
        <p:spPr>
          <a:xfrm>
            <a:off x="4572000" y="1440000"/>
            <a:ext cx="4141080" cy="4245840"/>
          </a:xfrm>
          <a:prstGeom prst="rect">
            <a:avLst/>
          </a:prstGeom>
          <a:noFill/>
          <a:ln w="0">
            <a:noFill/>
          </a:ln>
        </p:spPr>
      </p:pic>
      <p:sp>
        <p:nvSpPr>
          <p:cNvPr id="262" name="PlaceHolder 2"/>
          <p:cNvSpPr>
            <a:spLocks noGrp="1"/>
          </p:cNvSpPr>
          <p:nvPr>
            <p:ph/>
          </p:nvPr>
        </p:nvSpPr>
        <p:spPr>
          <a:xfrm>
            <a:off x="360360" y="1440000"/>
            <a:ext cx="46681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6.8 shows an    efficient pizza market</a:t>
            </a:r>
            <a:endParaRPr b="0" lang="en-US" sz="2400" strike="noStrike" u="none">
              <a:solidFill>
                <a:srgbClr val="000000"/>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Market equilibrium</a:t>
            </a:r>
            <a:endParaRPr b="0" lang="en-US" sz="2400" strike="noStrike" u="none">
              <a:solidFill>
                <a:srgbClr val="000000"/>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Marginal cost curve</a:t>
            </a:r>
            <a:endParaRPr b="0" lang="en-US" sz="2400" strike="noStrike" u="none">
              <a:solidFill>
                <a:srgbClr val="000000"/>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Marginal benefit curve</a:t>
            </a:r>
            <a:endParaRPr b="0" lang="en-US" sz="2400" strike="noStrike" u="none">
              <a:solidFill>
                <a:srgbClr val="000000"/>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When marginal cost equals marginal benefit, quantity is efficient.</a:t>
            </a:r>
            <a:endParaRPr b="0" lang="en-US" sz="2400" strike="noStrike" u="none">
              <a:solidFill>
                <a:srgbClr val="000000"/>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Consumer surplus plus …</a:t>
            </a:r>
            <a:endParaRPr b="0" lang="en-US" sz="2400" strike="noStrike" u="none">
              <a:solidFill>
                <a:srgbClr val="000000"/>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Producer surplus is maximized.</a:t>
            </a:r>
            <a:endParaRPr b="0" lang="en-US" sz="2400" strike="noStrike" u="none">
              <a:solidFill>
                <a:srgbClr val="000000"/>
              </a:solidFill>
              <a:effectLst/>
              <a:uFillTx/>
              <a:latin typeface="Arial"/>
            </a:endParaRPr>
          </a:p>
        </p:txBody>
      </p:sp>
    </p:spTree>
  </p:cSld>
  <p:transition spd="slow">
    <p:wipe dir="r"/>
  </p:transition>
  <p:timing>
    <p:tnLst>
      <p:par>
        <p:cTn id="1056" dur="indefinite" restart="never" nodeType="tmRoot">
          <p:childTnLst>
            <p:seq>
              <p:cTn id="1057" dur="indefinite" nodeType="mainSeq">
                <p:childTnLst>
                  <p:par>
                    <p:cTn id="1058" nodeType="clickEffect" fill="hold">
                      <p:stCondLst>
                        <p:cond delay="indefinite"/>
                      </p:stCondLst>
                      <p:childTnLst>
                        <p:par>
                          <p:cTn id="1059" nodeType="withEffect" fill="hold">
                            <p:stCondLst>
                              <p:cond delay="0"/>
                            </p:stCondLst>
                            <p:childTnLst>
                              <p:par>
                                <p:cTn id="1060" nodeType="clickEffect" fill="hold" presetClass="entr" presetID="22" presetSubtype="8">
                                  <p:stCondLst>
                                    <p:cond delay="0"/>
                                  </p:stCondLst>
                                  <p:childTnLst>
                                    <p:set>
                                      <p:cBhvr>
                                        <p:cTn id="1061" dur="1" fill="hold">
                                          <p:stCondLst>
                                            <p:cond delay="0"/>
                                          </p:stCondLst>
                                        </p:cTn>
                                        <p:tgtEl>
                                          <p:spTgt spid="262">
                                            <p:txEl>
                                              <p:pRg st="1" end="1"/>
                                            </p:txEl>
                                          </p:spTgt>
                                        </p:tgtEl>
                                        <p:attrNameLst>
                                          <p:attrName>style.visibility</p:attrName>
                                        </p:attrNameLst>
                                      </p:cBhvr>
                                      <p:to>
                                        <p:strVal val="visible"/>
                                      </p:to>
                                    </p:set>
                                    <p:animEffect filter="wipe(left)" transition="in">
                                      <p:cBhvr additive="repl">
                                        <p:cTn id="1062" dur="750"/>
                                        <p:tgtEl>
                                          <p:spTgt spid="262">
                                            <p:txEl>
                                              <p:pRg st="1" end="1"/>
                                            </p:txEl>
                                          </p:spTgt>
                                        </p:tgtEl>
                                      </p:cBhvr>
                                    </p:animEffect>
                                  </p:childTnLst>
                                </p:cTn>
                              </p:par>
                              <p:par>
                                <p:cTn id="1063" nodeType="withEffect" fill="hold" presetClass="entr" presetID="10">
                                  <p:stCondLst>
                                    <p:cond delay="0"/>
                                  </p:stCondLst>
                                  <p:childTnLst>
                                    <p:set>
                                      <p:cBhvr>
                                        <p:cTn id="1064" dur="1" fill="hold">
                                          <p:stCondLst>
                                            <p:cond delay="0"/>
                                          </p:stCondLst>
                                        </p:cTn>
                                        <p:tgtEl>
                                          <p:spTgt spid="256"/>
                                        </p:tgtEl>
                                        <p:attrNameLst>
                                          <p:attrName>style.visibility</p:attrName>
                                        </p:attrNameLst>
                                      </p:cBhvr>
                                      <p:to>
                                        <p:strVal val="visible"/>
                                      </p:to>
                                    </p:set>
                                    <p:animEffect filter="fade" transition="in">
                                      <p:cBhvr additive="repl">
                                        <p:cTn id="1065" dur="500"/>
                                        <p:tgtEl>
                                          <p:spTgt spid="256"/>
                                        </p:tgtEl>
                                      </p:cBhvr>
                                    </p:animEffect>
                                  </p:childTnLst>
                                </p:cTn>
                              </p:par>
                            </p:childTnLst>
                          </p:cTn>
                        </p:par>
                      </p:childTnLst>
                    </p:cTn>
                  </p:par>
                  <p:par>
                    <p:cTn id="1066" nodeType="clickEffect" fill="hold">
                      <p:stCondLst>
                        <p:cond delay="indefinite"/>
                      </p:stCondLst>
                      <p:childTnLst>
                        <p:par>
                          <p:cTn id="1067" nodeType="withEffect" fill="hold">
                            <p:stCondLst>
                              <p:cond delay="0"/>
                            </p:stCondLst>
                            <p:childTnLst>
                              <p:par>
                                <p:cTn id="1068" nodeType="clickEffect" fill="hold" presetClass="entr" presetID="22" presetSubtype="8">
                                  <p:stCondLst>
                                    <p:cond delay="0"/>
                                  </p:stCondLst>
                                  <p:childTnLst>
                                    <p:set>
                                      <p:cBhvr>
                                        <p:cTn id="1069" dur="1" fill="hold">
                                          <p:stCondLst>
                                            <p:cond delay="0"/>
                                          </p:stCondLst>
                                        </p:cTn>
                                        <p:tgtEl>
                                          <p:spTgt spid="262">
                                            <p:txEl>
                                              <p:pRg st="2" end="2"/>
                                            </p:txEl>
                                          </p:spTgt>
                                        </p:tgtEl>
                                        <p:attrNameLst>
                                          <p:attrName>style.visibility</p:attrName>
                                        </p:attrNameLst>
                                      </p:cBhvr>
                                      <p:to>
                                        <p:strVal val="visible"/>
                                      </p:to>
                                    </p:set>
                                    <p:animEffect filter="wipe(left)" transition="in">
                                      <p:cBhvr additive="repl">
                                        <p:cTn id="1070" dur="750"/>
                                        <p:tgtEl>
                                          <p:spTgt spid="262">
                                            <p:txEl>
                                              <p:pRg st="2" end="2"/>
                                            </p:txEl>
                                          </p:spTgt>
                                        </p:tgtEl>
                                      </p:cBhvr>
                                    </p:animEffect>
                                  </p:childTnLst>
                                </p:cTn>
                              </p:par>
                              <p:par>
                                <p:cTn id="1071" nodeType="withEffect" fill="hold" presetClass="entr" presetID="10">
                                  <p:stCondLst>
                                    <p:cond delay="0"/>
                                  </p:stCondLst>
                                  <p:childTnLst>
                                    <p:set>
                                      <p:cBhvr>
                                        <p:cTn id="1072" dur="1" fill="hold">
                                          <p:stCondLst>
                                            <p:cond delay="0"/>
                                          </p:stCondLst>
                                        </p:cTn>
                                        <p:tgtEl>
                                          <p:spTgt spid="257"/>
                                        </p:tgtEl>
                                        <p:attrNameLst>
                                          <p:attrName>style.visibility</p:attrName>
                                        </p:attrNameLst>
                                      </p:cBhvr>
                                      <p:to>
                                        <p:strVal val="visible"/>
                                      </p:to>
                                    </p:set>
                                    <p:animEffect filter="fade" transition="in">
                                      <p:cBhvr additive="repl">
                                        <p:cTn id="1073" dur="500"/>
                                        <p:tgtEl>
                                          <p:spTgt spid="257"/>
                                        </p:tgtEl>
                                      </p:cBhvr>
                                    </p:animEffect>
                                  </p:childTnLst>
                                </p:cTn>
                              </p:par>
                            </p:childTnLst>
                          </p:cTn>
                        </p:par>
                      </p:childTnLst>
                    </p:cTn>
                  </p:par>
                  <p:par>
                    <p:cTn id="1074" nodeType="clickEffect" fill="hold">
                      <p:stCondLst>
                        <p:cond delay="indefinite"/>
                      </p:stCondLst>
                      <p:childTnLst>
                        <p:par>
                          <p:cTn id="1075" nodeType="withEffect" fill="hold">
                            <p:stCondLst>
                              <p:cond delay="0"/>
                            </p:stCondLst>
                            <p:childTnLst>
                              <p:par>
                                <p:cTn id="1076" nodeType="clickEffect" fill="hold" presetClass="entr" presetID="22" presetSubtype="8">
                                  <p:stCondLst>
                                    <p:cond delay="0"/>
                                  </p:stCondLst>
                                  <p:childTnLst>
                                    <p:set>
                                      <p:cBhvr>
                                        <p:cTn id="1077" dur="1" fill="hold">
                                          <p:stCondLst>
                                            <p:cond delay="0"/>
                                          </p:stCondLst>
                                        </p:cTn>
                                        <p:tgtEl>
                                          <p:spTgt spid="262">
                                            <p:txEl>
                                              <p:pRg st="3" end="3"/>
                                            </p:txEl>
                                          </p:spTgt>
                                        </p:tgtEl>
                                        <p:attrNameLst>
                                          <p:attrName>style.visibility</p:attrName>
                                        </p:attrNameLst>
                                      </p:cBhvr>
                                      <p:to>
                                        <p:strVal val="visible"/>
                                      </p:to>
                                    </p:set>
                                    <p:animEffect filter="wipe(left)" transition="in">
                                      <p:cBhvr additive="repl">
                                        <p:cTn id="1078" dur="750"/>
                                        <p:tgtEl>
                                          <p:spTgt spid="262">
                                            <p:txEl>
                                              <p:pRg st="3" end="3"/>
                                            </p:txEl>
                                          </p:spTgt>
                                        </p:tgtEl>
                                      </p:cBhvr>
                                    </p:animEffect>
                                  </p:childTnLst>
                                </p:cTn>
                              </p:par>
                              <p:par>
                                <p:cTn id="1079" nodeType="withEffect" fill="hold" presetClass="entr" presetID="10">
                                  <p:stCondLst>
                                    <p:cond delay="0"/>
                                  </p:stCondLst>
                                  <p:childTnLst>
                                    <p:set>
                                      <p:cBhvr>
                                        <p:cTn id="1080" dur="1" fill="hold">
                                          <p:stCondLst>
                                            <p:cond delay="0"/>
                                          </p:stCondLst>
                                        </p:cTn>
                                        <p:tgtEl>
                                          <p:spTgt spid="258"/>
                                        </p:tgtEl>
                                        <p:attrNameLst>
                                          <p:attrName>style.visibility</p:attrName>
                                        </p:attrNameLst>
                                      </p:cBhvr>
                                      <p:to>
                                        <p:strVal val="visible"/>
                                      </p:to>
                                    </p:set>
                                    <p:animEffect filter="fade" transition="in">
                                      <p:cBhvr additive="repl">
                                        <p:cTn id="1081" dur="500"/>
                                        <p:tgtEl>
                                          <p:spTgt spid="258"/>
                                        </p:tgtEl>
                                      </p:cBhvr>
                                    </p:animEffect>
                                  </p:childTnLst>
                                </p:cTn>
                              </p:par>
                            </p:childTnLst>
                          </p:cTn>
                        </p:par>
                      </p:childTnLst>
                    </p:cTn>
                  </p:par>
                  <p:par>
                    <p:cTn id="1082" nodeType="clickEffect" fill="hold">
                      <p:stCondLst>
                        <p:cond delay="indefinite"/>
                      </p:stCondLst>
                      <p:childTnLst>
                        <p:par>
                          <p:cTn id="1083" nodeType="withEffect" fill="hold">
                            <p:stCondLst>
                              <p:cond delay="0"/>
                            </p:stCondLst>
                            <p:childTnLst>
                              <p:par>
                                <p:cTn id="1084" nodeType="clickEffect" fill="hold" presetClass="entr" presetID="22" presetSubtype="8">
                                  <p:stCondLst>
                                    <p:cond delay="0"/>
                                  </p:stCondLst>
                                  <p:childTnLst>
                                    <p:set>
                                      <p:cBhvr>
                                        <p:cTn id="1085" dur="1" fill="hold">
                                          <p:stCondLst>
                                            <p:cond delay="0"/>
                                          </p:stCondLst>
                                        </p:cTn>
                                        <p:tgtEl>
                                          <p:spTgt spid="262">
                                            <p:txEl>
                                              <p:pRg st="4" end="4"/>
                                            </p:txEl>
                                          </p:spTgt>
                                        </p:tgtEl>
                                        <p:attrNameLst>
                                          <p:attrName>style.visibility</p:attrName>
                                        </p:attrNameLst>
                                      </p:cBhvr>
                                      <p:to>
                                        <p:strVal val="visible"/>
                                      </p:to>
                                    </p:set>
                                    <p:animEffect filter="wipe(left)" transition="in">
                                      <p:cBhvr additive="repl">
                                        <p:cTn id="1086" dur="750"/>
                                        <p:tgtEl>
                                          <p:spTgt spid="262">
                                            <p:txEl>
                                              <p:pRg st="4" end="4"/>
                                            </p:txEl>
                                          </p:spTgt>
                                        </p:tgtEl>
                                      </p:cBhvr>
                                    </p:animEffect>
                                  </p:childTnLst>
                                </p:cTn>
                              </p:par>
                              <p:par>
                                <p:cTn id="1087" nodeType="withEffect" fill="hold" presetClass="entr" presetID="10">
                                  <p:stCondLst>
                                    <p:cond delay="0"/>
                                  </p:stCondLst>
                                  <p:childTnLst>
                                    <p:set>
                                      <p:cBhvr>
                                        <p:cTn id="1088" dur="1" fill="hold">
                                          <p:stCondLst>
                                            <p:cond delay="0"/>
                                          </p:stCondLst>
                                        </p:cTn>
                                        <p:tgtEl>
                                          <p:spTgt spid="259"/>
                                        </p:tgtEl>
                                        <p:attrNameLst>
                                          <p:attrName>style.visibility</p:attrName>
                                        </p:attrNameLst>
                                      </p:cBhvr>
                                      <p:to>
                                        <p:strVal val="visible"/>
                                      </p:to>
                                    </p:set>
                                    <p:animEffect filter="fade" transition="in">
                                      <p:cBhvr additive="repl">
                                        <p:cTn id="1089" dur="500"/>
                                        <p:tgtEl>
                                          <p:spTgt spid="259"/>
                                        </p:tgtEl>
                                      </p:cBhvr>
                                    </p:animEffect>
                                  </p:childTnLst>
                                </p:cTn>
                              </p:par>
                            </p:childTnLst>
                          </p:cTn>
                        </p:par>
                      </p:childTnLst>
                    </p:cTn>
                  </p:par>
                  <p:par>
                    <p:cTn id="1090" nodeType="clickEffect" fill="hold">
                      <p:stCondLst>
                        <p:cond delay="indefinite"/>
                      </p:stCondLst>
                      <p:childTnLst>
                        <p:par>
                          <p:cTn id="1091" nodeType="withEffect" fill="hold">
                            <p:stCondLst>
                              <p:cond delay="0"/>
                            </p:stCondLst>
                            <p:childTnLst>
                              <p:par>
                                <p:cTn id="1092" nodeType="clickEffect" fill="hold" presetClass="entr" presetID="22" presetSubtype="8">
                                  <p:stCondLst>
                                    <p:cond delay="0"/>
                                  </p:stCondLst>
                                  <p:childTnLst>
                                    <p:set>
                                      <p:cBhvr>
                                        <p:cTn id="1093" dur="1" fill="hold">
                                          <p:stCondLst>
                                            <p:cond delay="0"/>
                                          </p:stCondLst>
                                        </p:cTn>
                                        <p:tgtEl>
                                          <p:spTgt spid="262">
                                            <p:txEl>
                                              <p:pRg st="5" end="5"/>
                                            </p:txEl>
                                          </p:spTgt>
                                        </p:tgtEl>
                                        <p:attrNameLst>
                                          <p:attrName>style.visibility</p:attrName>
                                        </p:attrNameLst>
                                      </p:cBhvr>
                                      <p:to>
                                        <p:strVal val="visible"/>
                                      </p:to>
                                    </p:set>
                                    <p:animEffect filter="wipe(left)" transition="in">
                                      <p:cBhvr additive="repl">
                                        <p:cTn id="1094" dur="750"/>
                                        <p:tgtEl>
                                          <p:spTgt spid="262">
                                            <p:txEl>
                                              <p:pRg st="5" end="5"/>
                                            </p:txEl>
                                          </p:spTgt>
                                        </p:tgtEl>
                                      </p:cBhvr>
                                    </p:animEffect>
                                  </p:childTnLst>
                                </p:cTn>
                              </p:par>
                              <p:par>
                                <p:cTn id="1095" nodeType="withEffect" fill="hold" presetClass="entr" presetID="10">
                                  <p:stCondLst>
                                    <p:cond delay="0"/>
                                  </p:stCondLst>
                                  <p:childTnLst>
                                    <p:set>
                                      <p:cBhvr>
                                        <p:cTn id="1096" dur="1" fill="hold">
                                          <p:stCondLst>
                                            <p:cond delay="0"/>
                                          </p:stCondLst>
                                        </p:cTn>
                                        <p:tgtEl>
                                          <p:spTgt spid="260"/>
                                        </p:tgtEl>
                                        <p:attrNameLst>
                                          <p:attrName>style.visibility</p:attrName>
                                        </p:attrNameLst>
                                      </p:cBhvr>
                                      <p:to>
                                        <p:strVal val="visible"/>
                                      </p:to>
                                    </p:set>
                                    <p:animEffect filter="fade" transition="in">
                                      <p:cBhvr additive="repl">
                                        <p:cTn id="1097" dur="500"/>
                                        <p:tgtEl>
                                          <p:spTgt spid="260"/>
                                        </p:tgtEl>
                                      </p:cBhvr>
                                    </p:animEffect>
                                  </p:childTnLst>
                                </p:cTn>
                              </p:par>
                            </p:childTnLst>
                          </p:cTn>
                        </p:par>
                      </p:childTnLst>
                    </p:cTn>
                  </p:par>
                  <p:par>
                    <p:cTn id="1098" nodeType="clickEffect" fill="hold">
                      <p:stCondLst>
                        <p:cond delay="indefinite"/>
                      </p:stCondLst>
                      <p:childTnLst>
                        <p:par>
                          <p:cTn id="1099" nodeType="withEffect" fill="hold">
                            <p:stCondLst>
                              <p:cond delay="0"/>
                            </p:stCondLst>
                            <p:childTnLst>
                              <p:par>
                                <p:cTn id="1100" nodeType="clickEffect" fill="hold" presetClass="entr" presetID="22" presetSubtype="8">
                                  <p:stCondLst>
                                    <p:cond delay="0"/>
                                  </p:stCondLst>
                                  <p:childTnLst>
                                    <p:set>
                                      <p:cBhvr>
                                        <p:cTn id="1101" dur="1" fill="hold">
                                          <p:stCondLst>
                                            <p:cond delay="0"/>
                                          </p:stCondLst>
                                        </p:cTn>
                                        <p:tgtEl>
                                          <p:spTgt spid="262">
                                            <p:txEl>
                                              <p:pRg st="6" end="6"/>
                                            </p:txEl>
                                          </p:spTgt>
                                        </p:tgtEl>
                                        <p:attrNameLst>
                                          <p:attrName>style.visibility</p:attrName>
                                        </p:attrNameLst>
                                      </p:cBhvr>
                                      <p:to>
                                        <p:strVal val="visible"/>
                                      </p:to>
                                    </p:set>
                                    <p:animEffect filter="wipe(left)" transition="in">
                                      <p:cBhvr additive="repl">
                                        <p:cTn id="1102" dur="750"/>
                                        <p:tgtEl>
                                          <p:spTgt spid="262">
                                            <p:txEl>
                                              <p:pRg st="6" end="6"/>
                                            </p:txEl>
                                          </p:spTgt>
                                        </p:tgtEl>
                                      </p:cBhvr>
                                    </p:animEffect>
                                  </p:childTnLst>
                                </p:cTn>
                              </p:par>
                              <p:par>
                                <p:cTn id="1103" nodeType="withEffect" fill="hold" presetClass="entr" presetID="10">
                                  <p:stCondLst>
                                    <p:cond delay="0"/>
                                  </p:stCondLst>
                                  <p:childTnLst>
                                    <p:set>
                                      <p:cBhvr>
                                        <p:cTn id="1104" dur="1" fill="hold">
                                          <p:stCondLst>
                                            <p:cond delay="0"/>
                                          </p:stCondLst>
                                        </p:cTn>
                                        <p:tgtEl>
                                          <p:spTgt spid="261"/>
                                        </p:tgtEl>
                                        <p:attrNameLst>
                                          <p:attrName>style.visibility</p:attrName>
                                        </p:attrNameLst>
                                      </p:cBhvr>
                                      <p:to>
                                        <p:strVal val="visible"/>
                                      </p:to>
                                    </p:set>
                                    <p:animEffect filter="fade" transition="in">
                                      <p:cBhvr additive="repl">
                                        <p:cTn id="1105" dur="5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63" name="Picture 8" descr="fig0608a.gif"/>
          <p:cNvPicPr/>
          <p:nvPr/>
        </p:nvPicPr>
        <p:blipFill>
          <a:blip r:embed="rId1"/>
          <a:stretch/>
        </p:blipFill>
        <p:spPr>
          <a:xfrm>
            <a:off x="1828800" y="380880"/>
            <a:ext cx="5734800" cy="5879520"/>
          </a:xfrm>
          <a:prstGeom prst="rect">
            <a:avLst/>
          </a:prstGeom>
          <a:noFill/>
          <a:ln w="0">
            <a:noFill/>
          </a:ln>
        </p:spPr>
      </p:pic>
      <p:pic>
        <p:nvPicPr>
          <p:cNvPr id="264" name="Picture 9" descr="fig0608b.gif"/>
          <p:cNvPicPr/>
          <p:nvPr/>
        </p:nvPicPr>
        <p:blipFill>
          <a:blip r:embed="rId2"/>
          <a:stretch/>
        </p:blipFill>
        <p:spPr>
          <a:xfrm>
            <a:off x="1828800" y="380880"/>
            <a:ext cx="5734800" cy="5879520"/>
          </a:xfrm>
          <a:prstGeom prst="rect">
            <a:avLst/>
          </a:prstGeom>
          <a:noFill/>
          <a:ln w="0">
            <a:noFill/>
          </a:ln>
        </p:spPr>
      </p:pic>
      <p:pic>
        <p:nvPicPr>
          <p:cNvPr id="265" name="Picture 10" descr="fig0608c.gif"/>
          <p:cNvPicPr/>
          <p:nvPr/>
        </p:nvPicPr>
        <p:blipFill>
          <a:blip r:embed="rId3"/>
          <a:stretch/>
        </p:blipFill>
        <p:spPr>
          <a:xfrm>
            <a:off x="1828800" y="380880"/>
            <a:ext cx="5734800" cy="5879520"/>
          </a:xfrm>
          <a:prstGeom prst="rect">
            <a:avLst/>
          </a:prstGeom>
          <a:noFill/>
          <a:ln w="0">
            <a:noFill/>
          </a:ln>
        </p:spPr>
      </p:pic>
      <p:pic>
        <p:nvPicPr>
          <p:cNvPr id="266" name="Picture 11" descr="fig0608d.gif"/>
          <p:cNvPicPr/>
          <p:nvPr/>
        </p:nvPicPr>
        <p:blipFill>
          <a:blip r:embed="rId4"/>
          <a:stretch/>
        </p:blipFill>
        <p:spPr>
          <a:xfrm>
            <a:off x="1828800" y="380880"/>
            <a:ext cx="5734800" cy="5879520"/>
          </a:xfrm>
          <a:prstGeom prst="rect">
            <a:avLst/>
          </a:prstGeom>
          <a:noFill/>
          <a:ln w="0">
            <a:noFill/>
          </a:ln>
        </p:spPr>
      </p:pic>
      <p:pic>
        <p:nvPicPr>
          <p:cNvPr id="267" name="Picture 12" descr="fig0608e.gif"/>
          <p:cNvPicPr/>
          <p:nvPr/>
        </p:nvPicPr>
        <p:blipFill>
          <a:blip r:embed="rId5"/>
          <a:stretch/>
        </p:blipFill>
        <p:spPr>
          <a:xfrm>
            <a:off x="1828800" y="380880"/>
            <a:ext cx="5734800" cy="5879520"/>
          </a:xfrm>
          <a:prstGeom prst="rect">
            <a:avLst/>
          </a:prstGeom>
          <a:noFill/>
          <a:ln w="0">
            <a:noFill/>
          </a:ln>
        </p:spPr>
      </p:pic>
      <p:pic>
        <p:nvPicPr>
          <p:cNvPr id="268" name="Picture 13" descr="fig0608f.gif"/>
          <p:cNvPicPr/>
          <p:nvPr/>
        </p:nvPicPr>
        <p:blipFill>
          <a:blip r:embed="rId6"/>
          <a:stretch/>
        </p:blipFill>
        <p:spPr>
          <a:xfrm>
            <a:off x="1828800" y="380880"/>
            <a:ext cx="5734800" cy="5879520"/>
          </a:xfrm>
          <a:prstGeom prst="rect">
            <a:avLst/>
          </a:prstGeom>
          <a:noFill/>
          <a:ln w="0">
            <a:noFill/>
          </a:ln>
        </p:spPr>
      </p:pic>
      <p:pic>
        <p:nvPicPr>
          <p:cNvPr id="269" name="Picture 14" descr="fig0608g.gif"/>
          <p:cNvPicPr/>
          <p:nvPr/>
        </p:nvPicPr>
        <p:blipFill>
          <a:blip r:embed="rId7"/>
          <a:stretch/>
        </p:blipFill>
        <p:spPr>
          <a:xfrm>
            <a:off x="1828800" y="380880"/>
            <a:ext cx="5734800" cy="5879520"/>
          </a:xfrm>
          <a:prstGeom prst="rect">
            <a:avLst/>
          </a:prstGeom>
          <a:noFill/>
          <a:ln w="0">
            <a:noFill/>
          </a:ln>
        </p:spPr>
      </p:pic>
    </p:spTree>
  </p:cSld>
  <p:transition spd="slow">
    <p:wipe dir="r"/>
  </p:transition>
  <p:timing>
    <p:tnLst>
      <p:par>
        <p:cTn id="1106" dur="indefinite" restart="never" nodeType="tmRoot">
          <p:childTnLst>
            <p:seq>
              <p:cTn id="1107" dur="indefinite" nodeType="mainSeq">
                <p:childTnLst>
                  <p:par>
                    <p:cTn id="1108" nodeType="clickEffect" fill="hold">
                      <p:stCondLst>
                        <p:cond delay="indefinite"/>
                      </p:stCondLst>
                      <p:childTnLst>
                        <p:par>
                          <p:cTn id="1109" nodeType="withEffect" fill="hold">
                            <p:stCondLst>
                              <p:cond delay="0"/>
                            </p:stCondLst>
                            <p:childTnLst>
                              <p:par>
                                <p:cTn id="1110" nodeType="clickEffect" fill="hold" presetClass="entr" presetID="10">
                                  <p:stCondLst>
                                    <p:cond delay="0"/>
                                  </p:stCondLst>
                                  <p:childTnLst>
                                    <p:set>
                                      <p:cBhvr>
                                        <p:cTn id="1111" dur="1" fill="hold">
                                          <p:stCondLst>
                                            <p:cond delay="0"/>
                                          </p:stCondLst>
                                        </p:cTn>
                                        <p:tgtEl>
                                          <p:spTgt spid="264"/>
                                        </p:tgtEl>
                                        <p:attrNameLst>
                                          <p:attrName>style.visibility</p:attrName>
                                        </p:attrNameLst>
                                      </p:cBhvr>
                                      <p:to>
                                        <p:strVal val="visible"/>
                                      </p:to>
                                    </p:set>
                                    <p:animEffect filter="fade" transition="in">
                                      <p:cBhvr additive="repl">
                                        <p:cTn id="1112" dur="500"/>
                                        <p:tgtEl>
                                          <p:spTgt spid="264"/>
                                        </p:tgtEl>
                                      </p:cBhvr>
                                    </p:animEffect>
                                  </p:childTnLst>
                                </p:cTn>
                              </p:par>
                            </p:childTnLst>
                          </p:cTn>
                        </p:par>
                      </p:childTnLst>
                    </p:cTn>
                  </p:par>
                  <p:par>
                    <p:cTn id="1113" nodeType="clickEffect" fill="hold">
                      <p:stCondLst>
                        <p:cond delay="indefinite"/>
                      </p:stCondLst>
                      <p:childTnLst>
                        <p:par>
                          <p:cTn id="1114" nodeType="withEffect" fill="hold">
                            <p:stCondLst>
                              <p:cond delay="0"/>
                            </p:stCondLst>
                            <p:childTnLst>
                              <p:par>
                                <p:cTn id="1115" nodeType="clickEffect" fill="hold" presetClass="entr" presetID="10">
                                  <p:stCondLst>
                                    <p:cond delay="0"/>
                                  </p:stCondLst>
                                  <p:childTnLst>
                                    <p:set>
                                      <p:cBhvr>
                                        <p:cTn id="1116" dur="1" fill="hold">
                                          <p:stCondLst>
                                            <p:cond delay="0"/>
                                          </p:stCondLst>
                                        </p:cTn>
                                        <p:tgtEl>
                                          <p:spTgt spid="265"/>
                                        </p:tgtEl>
                                        <p:attrNameLst>
                                          <p:attrName>style.visibility</p:attrName>
                                        </p:attrNameLst>
                                      </p:cBhvr>
                                      <p:to>
                                        <p:strVal val="visible"/>
                                      </p:to>
                                    </p:set>
                                    <p:animEffect filter="fade" transition="in">
                                      <p:cBhvr additive="repl">
                                        <p:cTn id="1117" dur="500"/>
                                        <p:tgtEl>
                                          <p:spTgt spid="265"/>
                                        </p:tgtEl>
                                      </p:cBhvr>
                                    </p:animEffect>
                                  </p:childTnLst>
                                </p:cTn>
                              </p:par>
                            </p:childTnLst>
                          </p:cTn>
                        </p:par>
                      </p:childTnLst>
                    </p:cTn>
                  </p:par>
                  <p:par>
                    <p:cTn id="1118" nodeType="clickEffect" fill="hold">
                      <p:stCondLst>
                        <p:cond delay="indefinite"/>
                      </p:stCondLst>
                      <p:childTnLst>
                        <p:par>
                          <p:cTn id="1119" nodeType="withEffect" fill="hold">
                            <p:stCondLst>
                              <p:cond delay="0"/>
                            </p:stCondLst>
                            <p:childTnLst>
                              <p:par>
                                <p:cTn id="1120" nodeType="clickEffect" fill="hold" presetClass="entr" presetID="10">
                                  <p:stCondLst>
                                    <p:cond delay="0"/>
                                  </p:stCondLst>
                                  <p:childTnLst>
                                    <p:set>
                                      <p:cBhvr>
                                        <p:cTn id="1121" dur="1" fill="hold">
                                          <p:stCondLst>
                                            <p:cond delay="0"/>
                                          </p:stCondLst>
                                        </p:cTn>
                                        <p:tgtEl>
                                          <p:spTgt spid="266"/>
                                        </p:tgtEl>
                                        <p:attrNameLst>
                                          <p:attrName>style.visibility</p:attrName>
                                        </p:attrNameLst>
                                      </p:cBhvr>
                                      <p:to>
                                        <p:strVal val="visible"/>
                                      </p:to>
                                    </p:set>
                                    <p:animEffect filter="fade" transition="in">
                                      <p:cBhvr additive="repl">
                                        <p:cTn id="1122" dur="500"/>
                                        <p:tgtEl>
                                          <p:spTgt spid="266"/>
                                        </p:tgtEl>
                                      </p:cBhvr>
                                    </p:animEffect>
                                  </p:childTnLst>
                                </p:cTn>
                              </p:par>
                            </p:childTnLst>
                          </p:cTn>
                        </p:par>
                      </p:childTnLst>
                    </p:cTn>
                  </p:par>
                  <p:par>
                    <p:cTn id="1123" nodeType="clickEffect" fill="hold">
                      <p:stCondLst>
                        <p:cond delay="indefinite"/>
                      </p:stCondLst>
                      <p:childTnLst>
                        <p:par>
                          <p:cTn id="1124" nodeType="withEffect" fill="hold">
                            <p:stCondLst>
                              <p:cond delay="0"/>
                            </p:stCondLst>
                            <p:childTnLst>
                              <p:par>
                                <p:cTn id="1125" nodeType="clickEffect" fill="hold" presetClass="entr" presetID="10">
                                  <p:stCondLst>
                                    <p:cond delay="0"/>
                                  </p:stCondLst>
                                  <p:childTnLst>
                                    <p:set>
                                      <p:cBhvr>
                                        <p:cTn id="1126" dur="1" fill="hold">
                                          <p:stCondLst>
                                            <p:cond delay="0"/>
                                          </p:stCondLst>
                                        </p:cTn>
                                        <p:tgtEl>
                                          <p:spTgt spid="267"/>
                                        </p:tgtEl>
                                        <p:attrNameLst>
                                          <p:attrName>style.visibility</p:attrName>
                                        </p:attrNameLst>
                                      </p:cBhvr>
                                      <p:to>
                                        <p:strVal val="visible"/>
                                      </p:to>
                                    </p:set>
                                    <p:animEffect filter="fade" transition="in">
                                      <p:cBhvr additive="repl">
                                        <p:cTn id="1127" dur="500"/>
                                        <p:tgtEl>
                                          <p:spTgt spid="267"/>
                                        </p:tgtEl>
                                      </p:cBhvr>
                                    </p:animEffect>
                                  </p:childTnLst>
                                </p:cTn>
                              </p:par>
                            </p:childTnLst>
                          </p:cTn>
                        </p:par>
                      </p:childTnLst>
                    </p:cTn>
                  </p:par>
                  <p:par>
                    <p:cTn id="1128" nodeType="clickEffect" fill="hold">
                      <p:stCondLst>
                        <p:cond delay="indefinite"/>
                      </p:stCondLst>
                      <p:childTnLst>
                        <p:par>
                          <p:cTn id="1129" nodeType="withEffect" fill="hold">
                            <p:stCondLst>
                              <p:cond delay="0"/>
                            </p:stCondLst>
                            <p:childTnLst>
                              <p:par>
                                <p:cTn id="1130" nodeType="clickEffect" fill="hold" presetClass="entr" presetID="10">
                                  <p:stCondLst>
                                    <p:cond delay="0"/>
                                  </p:stCondLst>
                                  <p:childTnLst>
                                    <p:set>
                                      <p:cBhvr>
                                        <p:cTn id="1131" dur="1" fill="hold">
                                          <p:stCondLst>
                                            <p:cond delay="0"/>
                                          </p:stCondLst>
                                        </p:cTn>
                                        <p:tgtEl>
                                          <p:spTgt spid="268"/>
                                        </p:tgtEl>
                                        <p:attrNameLst>
                                          <p:attrName>style.visibility</p:attrName>
                                        </p:attrNameLst>
                                      </p:cBhvr>
                                      <p:to>
                                        <p:strVal val="visible"/>
                                      </p:to>
                                    </p:set>
                                    <p:animEffect filter="fade" transition="in">
                                      <p:cBhvr additive="repl">
                                        <p:cTn id="1132" dur="500"/>
                                        <p:tgtEl>
                                          <p:spTgt spid="268"/>
                                        </p:tgtEl>
                                      </p:cBhvr>
                                    </p:animEffect>
                                  </p:childTnLst>
                                </p:cTn>
                              </p:par>
                            </p:childTnLst>
                          </p:cTn>
                        </p:par>
                      </p:childTnLst>
                    </p:cTn>
                  </p:par>
                  <p:par>
                    <p:cTn id="1133" nodeType="clickEffect" fill="hold">
                      <p:stCondLst>
                        <p:cond delay="indefinite"/>
                      </p:stCondLst>
                      <p:childTnLst>
                        <p:par>
                          <p:cTn id="1134" nodeType="withEffect" fill="hold">
                            <p:stCondLst>
                              <p:cond delay="0"/>
                            </p:stCondLst>
                            <p:childTnLst>
                              <p:par>
                                <p:cTn id="1135" nodeType="clickEffect" fill="hold" presetClass="entr" presetID="10">
                                  <p:stCondLst>
                                    <p:cond delay="0"/>
                                  </p:stCondLst>
                                  <p:childTnLst>
                                    <p:set>
                                      <p:cBhvr>
                                        <p:cTn id="1136" dur="1" fill="hold">
                                          <p:stCondLst>
                                            <p:cond delay="0"/>
                                          </p:stCondLst>
                                        </p:cTn>
                                        <p:tgtEl>
                                          <p:spTgt spid="269"/>
                                        </p:tgtEl>
                                        <p:attrNameLst>
                                          <p:attrName>style.visibility</p:attrName>
                                        </p:attrNameLst>
                                      </p:cBhvr>
                                      <p:to>
                                        <p:strVal val="visible"/>
                                      </p:to>
                                    </p:set>
                                    <p:animEffect filter="fade" transition="in">
                                      <p:cBhvr additive="repl">
                                        <p:cTn id="1137" dur="5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27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In a competitive market:</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The demand curve shows buyers’ marginal benefit. </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The supply curve shows the sellers’ marginal cost.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So at the equilibrium in a competitive market, marginal benefit equals marginal cost.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Resource allocation is efficient.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So the competitive market delivers the efficient quantity.</a:t>
            </a:r>
            <a:endParaRPr b="0" lang="en-US" sz="2400" strike="noStrike" u="none">
              <a:solidFill>
                <a:srgbClr val="000000"/>
              </a:solidFill>
              <a:effectLst/>
              <a:uFillTx/>
              <a:latin typeface="Arial"/>
            </a:endParaRPr>
          </a:p>
        </p:txBody>
      </p:sp>
    </p:spTree>
  </p:cSld>
  <p:transition spd="slow">
    <p:wipe dir="r"/>
  </p:transition>
  <p:timing>
    <p:tnLst>
      <p:par>
        <p:cTn id="1138" dur="indefinite" restart="never" nodeType="tmRoot">
          <p:childTnLst>
            <p:seq>
              <p:cTn id="1139" dur="indefinite" nodeType="mainSeq">
                <p:childTnLst>
                  <p:par>
                    <p:cTn id="1140" nodeType="clickEffect" fill="hold">
                      <p:stCondLst>
                        <p:cond delay="indefinite"/>
                      </p:stCondLst>
                      <p:childTnLst>
                        <p:par>
                          <p:cTn id="1141" nodeType="withEffect" fill="hold">
                            <p:stCondLst>
                              <p:cond delay="0"/>
                            </p:stCondLst>
                            <p:childTnLst>
                              <p:par>
                                <p:cTn id="1142" nodeType="clickEffect" fill="hold" presetClass="entr" presetID="22" presetSubtype="8">
                                  <p:stCondLst>
                                    <p:cond delay="0"/>
                                  </p:stCondLst>
                                  <p:childTnLst>
                                    <p:set>
                                      <p:cBhvr>
                                        <p:cTn id="1143" dur="1" fill="hold">
                                          <p:stCondLst>
                                            <p:cond delay="0"/>
                                          </p:stCondLst>
                                        </p:cTn>
                                        <p:tgtEl>
                                          <p:spTgt spid="271">
                                            <p:txEl>
                                              <p:pRg st="1" end="1"/>
                                            </p:txEl>
                                          </p:spTgt>
                                        </p:tgtEl>
                                        <p:attrNameLst>
                                          <p:attrName>style.visibility</p:attrName>
                                        </p:attrNameLst>
                                      </p:cBhvr>
                                      <p:to>
                                        <p:strVal val="visible"/>
                                      </p:to>
                                    </p:set>
                                    <p:animEffect filter="wipe(left)" transition="in">
                                      <p:cBhvr additive="repl">
                                        <p:cTn id="1144" dur="750"/>
                                        <p:tgtEl>
                                          <p:spTgt spid="271">
                                            <p:txEl>
                                              <p:pRg st="1" end="1"/>
                                            </p:txEl>
                                          </p:spTgt>
                                        </p:tgtEl>
                                      </p:cBhvr>
                                    </p:animEffect>
                                  </p:childTnLst>
                                </p:cTn>
                              </p:par>
                            </p:childTnLst>
                          </p:cTn>
                        </p:par>
                      </p:childTnLst>
                    </p:cTn>
                  </p:par>
                  <p:par>
                    <p:cTn id="1145" nodeType="clickEffect" fill="hold">
                      <p:stCondLst>
                        <p:cond delay="indefinite"/>
                      </p:stCondLst>
                      <p:childTnLst>
                        <p:par>
                          <p:cTn id="1146" nodeType="withEffect" fill="hold">
                            <p:stCondLst>
                              <p:cond delay="0"/>
                            </p:stCondLst>
                            <p:childTnLst>
                              <p:par>
                                <p:cTn id="1147" nodeType="clickEffect" fill="hold" presetClass="entr" presetID="22" presetSubtype="8">
                                  <p:stCondLst>
                                    <p:cond delay="0"/>
                                  </p:stCondLst>
                                  <p:childTnLst>
                                    <p:set>
                                      <p:cBhvr>
                                        <p:cTn id="1148" dur="1" fill="hold">
                                          <p:stCondLst>
                                            <p:cond delay="0"/>
                                          </p:stCondLst>
                                        </p:cTn>
                                        <p:tgtEl>
                                          <p:spTgt spid="271">
                                            <p:txEl>
                                              <p:pRg st="2" end="2"/>
                                            </p:txEl>
                                          </p:spTgt>
                                        </p:tgtEl>
                                        <p:attrNameLst>
                                          <p:attrName>style.visibility</p:attrName>
                                        </p:attrNameLst>
                                      </p:cBhvr>
                                      <p:to>
                                        <p:strVal val="visible"/>
                                      </p:to>
                                    </p:set>
                                    <p:animEffect filter="wipe(left)" transition="in">
                                      <p:cBhvr additive="repl">
                                        <p:cTn id="1149" dur="750"/>
                                        <p:tgtEl>
                                          <p:spTgt spid="271">
                                            <p:txEl>
                                              <p:pRg st="2" end="2"/>
                                            </p:txEl>
                                          </p:spTgt>
                                        </p:tgtEl>
                                      </p:cBhvr>
                                    </p:animEffect>
                                  </p:childTnLst>
                                </p:cTn>
                              </p:par>
                            </p:childTnLst>
                          </p:cTn>
                        </p:par>
                      </p:childTnLst>
                    </p:cTn>
                  </p:par>
                  <p:par>
                    <p:cTn id="1150" nodeType="clickEffect" fill="hold">
                      <p:stCondLst>
                        <p:cond delay="indefinite"/>
                      </p:stCondLst>
                      <p:childTnLst>
                        <p:par>
                          <p:cTn id="1151" nodeType="withEffect" fill="hold">
                            <p:stCondLst>
                              <p:cond delay="0"/>
                            </p:stCondLst>
                            <p:childTnLst>
                              <p:par>
                                <p:cTn id="1152" nodeType="clickEffect" fill="hold" presetClass="entr" presetID="22" presetSubtype="8">
                                  <p:stCondLst>
                                    <p:cond delay="0"/>
                                  </p:stCondLst>
                                  <p:childTnLst>
                                    <p:set>
                                      <p:cBhvr>
                                        <p:cTn id="1153" dur="1" fill="hold">
                                          <p:stCondLst>
                                            <p:cond delay="0"/>
                                          </p:stCondLst>
                                        </p:cTn>
                                        <p:tgtEl>
                                          <p:spTgt spid="271">
                                            <p:txEl>
                                              <p:pRg st="3" end="3"/>
                                            </p:txEl>
                                          </p:spTgt>
                                        </p:tgtEl>
                                        <p:attrNameLst>
                                          <p:attrName>style.visibility</p:attrName>
                                        </p:attrNameLst>
                                      </p:cBhvr>
                                      <p:to>
                                        <p:strVal val="visible"/>
                                      </p:to>
                                    </p:set>
                                    <p:animEffect filter="wipe(left)" transition="in">
                                      <p:cBhvr additive="repl">
                                        <p:cTn id="1154" dur="750"/>
                                        <p:tgtEl>
                                          <p:spTgt spid="271">
                                            <p:txEl>
                                              <p:pRg st="3" end="3"/>
                                            </p:txEl>
                                          </p:spTgt>
                                        </p:tgtEl>
                                      </p:cBhvr>
                                    </p:animEffect>
                                  </p:childTnLst>
                                </p:cTn>
                              </p:par>
                            </p:childTnLst>
                          </p:cTn>
                        </p:par>
                      </p:childTnLst>
                    </p:cTn>
                  </p:par>
                  <p:par>
                    <p:cTn id="1155" nodeType="clickEffect" fill="hold">
                      <p:stCondLst>
                        <p:cond delay="indefinite"/>
                      </p:stCondLst>
                      <p:childTnLst>
                        <p:par>
                          <p:cTn id="1156" nodeType="withEffect" fill="hold">
                            <p:stCondLst>
                              <p:cond delay="0"/>
                            </p:stCondLst>
                            <p:childTnLst>
                              <p:par>
                                <p:cTn id="1157" nodeType="clickEffect" fill="hold" presetClass="entr" presetID="22" presetSubtype="8">
                                  <p:stCondLst>
                                    <p:cond delay="0"/>
                                  </p:stCondLst>
                                  <p:childTnLst>
                                    <p:set>
                                      <p:cBhvr>
                                        <p:cTn id="1158" dur="1" fill="hold">
                                          <p:stCondLst>
                                            <p:cond delay="0"/>
                                          </p:stCondLst>
                                        </p:cTn>
                                        <p:tgtEl>
                                          <p:spTgt spid="271">
                                            <p:txEl>
                                              <p:pRg st="4" end="4"/>
                                            </p:txEl>
                                          </p:spTgt>
                                        </p:tgtEl>
                                        <p:attrNameLst>
                                          <p:attrName>style.visibility</p:attrName>
                                        </p:attrNameLst>
                                      </p:cBhvr>
                                      <p:to>
                                        <p:strVal val="visible"/>
                                      </p:to>
                                    </p:set>
                                    <p:animEffect filter="wipe(left)" transition="in">
                                      <p:cBhvr additive="repl">
                                        <p:cTn id="1159" dur="750"/>
                                        <p:tgtEl>
                                          <p:spTgt spid="271">
                                            <p:txEl>
                                              <p:pRg st="4" end="4"/>
                                            </p:txEl>
                                          </p:spTgt>
                                        </p:tgtEl>
                                      </p:cBhvr>
                                    </p:animEffect>
                                  </p:childTnLst>
                                </p:cTn>
                              </p:par>
                            </p:childTnLst>
                          </p:cTn>
                        </p:par>
                      </p:childTnLst>
                    </p:cTn>
                  </p:par>
                  <p:par>
                    <p:cTn id="1160" nodeType="clickEffect" fill="hold">
                      <p:stCondLst>
                        <p:cond delay="indefinite"/>
                      </p:stCondLst>
                      <p:childTnLst>
                        <p:par>
                          <p:cTn id="1161" nodeType="withEffect" fill="hold">
                            <p:stCondLst>
                              <p:cond delay="0"/>
                            </p:stCondLst>
                            <p:childTnLst>
                              <p:par>
                                <p:cTn id="1162" nodeType="clickEffect" fill="hold" presetClass="entr" presetID="22" presetSubtype="8">
                                  <p:stCondLst>
                                    <p:cond delay="0"/>
                                  </p:stCondLst>
                                  <p:childTnLst>
                                    <p:set>
                                      <p:cBhvr>
                                        <p:cTn id="1163" dur="1" fill="hold">
                                          <p:stCondLst>
                                            <p:cond delay="0"/>
                                          </p:stCondLst>
                                        </p:cTn>
                                        <p:tgtEl>
                                          <p:spTgt spid="271">
                                            <p:txEl>
                                              <p:pRg st="5" end="5"/>
                                            </p:txEl>
                                          </p:spTgt>
                                        </p:tgtEl>
                                        <p:attrNameLst>
                                          <p:attrName>style.visibility</p:attrName>
                                        </p:attrNameLst>
                                      </p:cBhvr>
                                      <p:to>
                                        <p:strVal val="visible"/>
                                      </p:to>
                                    </p:set>
                                    <p:animEffect filter="wipe(left)" transition="in">
                                      <p:cBhvr additive="repl">
                                        <p:cTn id="1164" dur="750"/>
                                        <p:tgtEl>
                                          <p:spTgt spid="271">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27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Total Surplus Is Maximized</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Total surplus </a:t>
            </a:r>
            <a:r>
              <a:rPr b="0" lang="en-US" sz="2400" strike="noStrike" u="none">
                <a:solidFill>
                  <a:schemeClr val="dk1"/>
                </a:solidFill>
                <a:effectLst/>
                <a:uFillTx/>
                <a:latin typeface="Arial"/>
                <a:ea typeface="ＭＳ Ｐゴシック"/>
              </a:rPr>
              <a:t>is the sum of consumer surplus and producer surplus.</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competitive equilibrium maximizes total surplus.</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Buyers seek the lowest possible price and sellers seek the highest possible price.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But as buyers and sellers pursue their self-interest, the social interest is served. </a:t>
            </a:r>
            <a:endParaRPr b="0" lang="en-US" sz="2400" strike="noStrike" u="none">
              <a:solidFill>
                <a:srgbClr val="000000"/>
              </a:solidFill>
              <a:effectLst/>
              <a:uFillTx/>
              <a:latin typeface="Arial"/>
            </a:endParaRPr>
          </a:p>
        </p:txBody>
      </p:sp>
    </p:spTree>
  </p:cSld>
  <p:transition spd="slow">
    <p:wipe dir="r"/>
  </p:transition>
  <p:timing>
    <p:tnLst>
      <p:par>
        <p:cTn id="1165" dur="indefinite" restart="never" nodeType="tmRoot">
          <p:childTnLst>
            <p:seq>
              <p:cTn id="1166" dur="indefinite" nodeType="mainSeq">
                <p:childTnLst>
                  <p:par>
                    <p:cTn id="1167" nodeType="clickEffect" fill="hold">
                      <p:stCondLst>
                        <p:cond delay="indefinite"/>
                      </p:stCondLst>
                      <p:childTnLst>
                        <p:par>
                          <p:cTn id="1168" nodeType="withEffect" fill="hold">
                            <p:stCondLst>
                              <p:cond delay="0"/>
                            </p:stCondLst>
                            <p:childTnLst>
                              <p:par>
                                <p:cTn id="1169" nodeType="clickEffect" fill="hold" presetClass="entr" presetID="22" presetSubtype="8">
                                  <p:stCondLst>
                                    <p:cond delay="0"/>
                                  </p:stCondLst>
                                  <p:childTnLst>
                                    <p:set>
                                      <p:cBhvr>
                                        <p:cTn id="1170" dur="1" fill="hold">
                                          <p:stCondLst>
                                            <p:cond delay="0"/>
                                          </p:stCondLst>
                                        </p:cTn>
                                        <p:tgtEl>
                                          <p:spTgt spid="273">
                                            <p:txEl>
                                              <p:pRg st="1" end="1"/>
                                            </p:txEl>
                                          </p:spTgt>
                                        </p:tgtEl>
                                        <p:attrNameLst>
                                          <p:attrName>style.visibility</p:attrName>
                                        </p:attrNameLst>
                                      </p:cBhvr>
                                      <p:to>
                                        <p:strVal val="visible"/>
                                      </p:to>
                                    </p:set>
                                    <p:animEffect filter="wipe(left)" transition="in">
                                      <p:cBhvr additive="repl">
                                        <p:cTn id="1171" dur="750"/>
                                        <p:tgtEl>
                                          <p:spTgt spid="273">
                                            <p:txEl>
                                              <p:pRg st="1" end="1"/>
                                            </p:txEl>
                                          </p:spTgt>
                                        </p:tgtEl>
                                      </p:cBhvr>
                                    </p:animEffect>
                                  </p:childTnLst>
                                </p:cTn>
                              </p:par>
                            </p:childTnLst>
                          </p:cTn>
                        </p:par>
                      </p:childTnLst>
                    </p:cTn>
                  </p:par>
                  <p:par>
                    <p:cTn id="1172" nodeType="clickEffect" fill="hold">
                      <p:stCondLst>
                        <p:cond delay="indefinite"/>
                      </p:stCondLst>
                      <p:childTnLst>
                        <p:par>
                          <p:cTn id="1173" nodeType="withEffect" fill="hold">
                            <p:stCondLst>
                              <p:cond delay="0"/>
                            </p:stCondLst>
                            <p:childTnLst>
                              <p:par>
                                <p:cTn id="1174" nodeType="clickEffect" fill="hold" presetClass="entr" presetID="22" presetSubtype="8">
                                  <p:stCondLst>
                                    <p:cond delay="0"/>
                                  </p:stCondLst>
                                  <p:childTnLst>
                                    <p:set>
                                      <p:cBhvr>
                                        <p:cTn id="1175" dur="1" fill="hold">
                                          <p:stCondLst>
                                            <p:cond delay="0"/>
                                          </p:stCondLst>
                                        </p:cTn>
                                        <p:tgtEl>
                                          <p:spTgt spid="273">
                                            <p:txEl>
                                              <p:pRg st="2" end="2"/>
                                            </p:txEl>
                                          </p:spTgt>
                                        </p:tgtEl>
                                        <p:attrNameLst>
                                          <p:attrName>style.visibility</p:attrName>
                                        </p:attrNameLst>
                                      </p:cBhvr>
                                      <p:to>
                                        <p:strVal val="visible"/>
                                      </p:to>
                                    </p:set>
                                    <p:animEffect filter="wipe(left)" transition="in">
                                      <p:cBhvr additive="repl">
                                        <p:cTn id="1176" dur="750"/>
                                        <p:tgtEl>
                                          <p:spTgt spid="273">
                                            <p:txEl>
                                              <p:pRg st="2" end="2"/>
                                            </p:txEl>
                                          </p:spTgt>
                                        </p:tgtEl>
                                      </p:cBhvr>
                                    </p:animEffect>
                                  </p:childTnLst>
                                </p:cTn>
                              </p:par>
                            </p:childTnLst>
                          </p:cTn>
                        </p:par>
                      </p:childTnLst>
                    </p:cTn>
                  </p:par>
                  <p:par>
                    <p:cTn id="1177" nodeType="clickEffect" fill="hold">
                      <p:stCondLst>
                        <p:cond delay="indefinite"/>
                      </p:stCondLst>
                      <p:childTnLst>
                        <p:par>
                          <p:cTn id="1178" nodeType="withEffect" fill="hold">
                            <p:stCondLst>
                              <p:cond delay="0"/>
                            </p:stCondLst>
                            <p:childTnLst>
                              <p:par>
                                <p:cTn id="1179" nodeType="clickEffect" fill="hold" presetClass="entr" presetID="22" presetSubtype="8">
                                  <p:stCondLst>
                                    <p:cond delay="0"/>
                                  </p:stCondLst>
                                  <p:childTnLst>
                                    <p:set>
                                      <p:cBhvr>
                                        <p:cTn id="1180" dur="1" fill="hold">
                                          <p:stCondLst>
                                            <p:cond delay="0"/>
                                          </p:stCondLst>
                                        </p:cTn>
                                        <p:tgtEl>
                                          <p:spTgt spid="273">
                                            <p:txEl>
                                              <p:pRg st="3" end="3"/>
                                            </p:txEl>
                                          </p:spTgt>
                                        </p:tgtEl>
                                        <p:attrNameLst>
                                          <p:attrName>style.visibility</p:attrName>
                                        </p:attrNameLst>
                                      </p:cBhvr>
                                      <p:to>
                                        <p:strVal val="visible"/>
                                      </p:to>
                                    </p:set>
                                    <p:animEffect filter="wipe(left)" transition="in">
                                      <p:cBhvr additive="repl">
                                        <p:cTn id="1181" dur="750"/>
                                        <p:tgtEl>
                                          <p:spTgt spid="273">
                                            <p:txEl>
                                              <p:pRg st="3" end="3"/>
                                            </p:txEl>
                                          </p:spTgt>
                                        </p:tgtEl>
                                      </p:cBhvr>
                                    </p:animEffect>
                                  </p:childTnLst>
                                </p:cTn>
                              </p:par>
                            </p:childTnLst>
                          </p:cTn>
                        </p:par>
                      </p:childTnLst>
                    </p:cTn>
                  </p:par>
                  <p:par>
                    <p:cTn id="1182" nodeType="clickEffect" fill="hold">
                      <p:stCondLst>
                        <p:cond delay="indefinite"/>
                      </p:stCondLst>
                      <p:childTnLst>
                        <p:par>
                          <p:cTn id="1183" nodeType="withEffect" fill="hold">
                            <p:stCondLst>
                              <p:cond delay="0"/>
                            </p:stCondLst>
                            <p:childTnLst>
                              <p:par>
                                <p:cTn id="1184" nodeType="clickEffect" fill="hold" presetClass="entr" presetID="22" presetSubtype="8">
                                  <p:stCondLst>
                                    <p:cond delay="0"/>
                                  </p:stCondLst>
                                  <p:childTnLst>
                                    <p:set>
                                      <p:cBhvr>
                                        <p:cTn id="1185" dur="1" fill="hold">
                                          <p:stCondLst>
                                            <p:cond delay="0"/>
                                          </p:stCondLst>
                                        </p:cTn>
                                        <p:tgtEl>
                                          <p:spTgt spid="273">
                                            <p:txEl>
                                              <p:pRg st="4" end="4"/>
                                            </p:txEl>
                                          </p:spTgt>
                                        </p:tgtEl>
                                        <p:attrNameLst>
                                          <p:attrName>style.visibility</p:attrName>
                                        </p:attrNameLst>
                                      </p:cBhvr>
                                      <p:to>
                                        <p:strVal val="visible"/>
                                      </p:to>
                                    </p:set>
                                    <p:animEffect filter="wipe(left)" transition="in">
                                      <p:cBhvr additive="repl">
                                        <p:cTn id="1186" dur="750"/>
                                        <p:tgtEl>
                                          <p:spTgt spid="27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275"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The Invisible Hand</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Adam Smith, in the </a:t>
            </a:r>
            <a:r>
              <a:rPr b="0" i="1" lang="en-US" sz="2400" strike="noStrike" u="none">
                <a:solidFill>
                  <a:schemeClr val="dk1"/>
                </a:solidFill>
                <a:effectLst/>
                <a:uFillTx/>
                <a:latin typeface="Arial"/>
                <a:ea typeface="ＭＳ Ｐゴシック"/>
              </a:rPr>
              <a:t>Wealth of Nations </a:t>
            </a:r>
            <a:r>
              <a:rPr b="0" lang="en-US" sz="2400" strike="noStrike" u="none">
                <a:solidFill>
                  <a:schemeClr val="dk1"/>
                </a:solidFill>
                <a:effectLst/>
                <a:uFillTx/>
                <a:latin typeface="Arial"/>
                <a:ea typeface="ＭＳ Ｐゴシック"/>
              </a:rPr>
              <a:t>(1776), suggested that competitive markets send resources to the uses in which they have the highest value.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Smith believed that each participant in a competitive market is “led by an invisible hand to promote an end which was no part of his intention.”</a:t>
            </a:r>
            <a:endParaRPr b="0" lang="en-US" sz="2400" strike="noStrike" u="none">
              <a:solidFill>
                <a:srgbClr val="000000"/>
              </a:solidFill>
              <a:effectLst/>
              <a:uFillTx/>
              <a:latin typeface="Arial"/>
            </a:endParaRPr>
          </a:p>
        </p:txBody>
      </p:sp>
    </p:spTree>
  </p:cSld>
  <p:transition spd="slow">
    <p:wipe dir="r"/>
  </p:transition>
  <p:timing>
    <p:tnLst>
      <p:par>
        <p:cTn id="1187" dur="indefinite" restart="never" nodeType="tmRoot">
          <p:childTnLst>
            <p:seq>
              <p:cTn id="1188" dur="indefinite" nodeType="mainSeq">
                <p:childTnLst>
                  <p:par>
                    <p:cTn id="1189" nodeType="clickEffect" fill="hold">
                      <p:stCondLst>
                        <p:cond delay="indefinite"/>
                      </p:stCondLst>
                      <p:childTnLst>
                        <p:par>
                          <p:cTn id="1190" nodeType="withEffect" fill="hold">
                            <p:stCondLst>
                              <p:cond delay="0"/>
                            </p:stCondLst>
                            <p:childTnLst>
                              <p:par>
                                <p:cTn id="1191" nodeType="clickEffect" fill="hold" presetClass="entr" presetID="22" presetSubtype="8">
                                  <p:stCondLst>
                                    <p:cond delay="0"/>
                                  </p:stCondLst>
                                  <p:childTnLst>
                                    <p:set>
                                      <p:cBhvr>
                                        <p:cTn id="1192" dur="1" fill="hold">
                                          <p:stCondLst>
                                            <p:cond delay="0"/>
                                          </p:stCondLst>
                                        </p:cTn>
                                        <p:tgtEl>
                                          <p:spTgt spid="275">
                                            <p:txEl>
                                              <p:pRg st="1" end="1"/>
                                            </p:txEl>
                                          </p:spTgt>
                                        </p:tgtEl>
                                        <p:attrNameLst>
                                          <p:attrName>style.visibility</p:attrName>
                                        </p:attrNameLst>
                                      </p:cBhvr>
                                      <p:to>
                                        <p:strVal val="visible"/>
                                      </p:to>
                                    </p:set>
                                    <p:animEffect filter="wipe(left)" transition="in">
                                      <p:cBhvr additive="repl">
                                        <p:cTn id="1193" dur="750"/>
                                        <p:tgtEl>
                                          <p:spTgt spid="275">
                                            <p:txEl>
                                              <p:pRg st="1" end="1"/>
                                            </p:txEl>
                                          </p:spTgt>
                                        </p:tgtEl>
                                      </p:cBhvr>
                                    </p:animEffect>
                                  </p:childTnLst>
                                </p:cTn>
                              </p:par>
                            </p:childTnLst>
                          </p:cTn>
                        </p:par>
                      </p:childTnLst>
                    </p:cTn>
                  </p:par>
                  <p:par>
                    <p:cTn id="1194" nodeType="clickEffect" fill="hold">
                      <p:stCondLst>
                        <p:cond delay="indefinite"/>
                      </p:stCondLst>
                      <p:childTnLst>
                        <p:par>
                          <p:cTn id="1195" nodeType="withEffect" fill="hold">
                            <p:stCondLst>
                              <p:cond delay="0"/>
                            </p:stCondLst>
                            <p:childTnLst>
                              <p:par>
                                <p:cTn id="1196" nodeType="clickEffect" fill="hold" presetClass="entr" presetID="22" presetSubtype="8">
                                  <p:stCondLst>
                                    <p:cond delay="0"/>
                                  </p:stCondLst>
                                  <p:childTnLst>
                                    <p:set>
                                      <p:cBhvr>
                                        <p:cTn id="1197" dur="1" fill="hold">
                                          <p:stCondLst>
                                            <p:cond delay="0"/>
                                          </p:stCondLst>
                                        </p:cTn>
                                        <p:tgtEl>
                                          <p:spTgt spid="275">
                                            <p:txEl>
                                              <p:pRg st="2" end="2"/>
                                            </p:txEl>
                                          </p:spTgt>
                                        </p:tgtEl>
                                        <p:attrNameLst>
                                          <p:attrName>style.visibility</p:attrName>
                                        </p:attrNameLst>
                                      </p:cBhvr>
                                      <p:to>
                                        <p:strVal val="visible"/>
                                      </p:to>
                                    </p:set>
                                    <p:animEffect filter="wipe(left)" transition="in">
                                      <p:cBhvr additive="repl">
                                        <p:cTn id="1198" dur="750"/>
                                        <p:tgtEl>
                                          <p:spTgt spid="275">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27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Market Failure</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Market failure </a:t>
            </a:r>
            <a:r>
              <a:rPr b="0" lang="en-US" sz="2400" strike="noStrike" u="none">
                <a:solidFill>
                  <a:schemeClr val="dk1"/>
                </a:solidFill>
                <a:effectLst/>
                <a:uFillTx/>
                <a:latin typeface="Arial"/>
                <a:ea typeface="ＭＳ Ｐゴシック"/>
              </a:rPr>
              <a:t>is a situation in which the market delivers an inefficient outcome.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Inefficiency can occur because:</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Too little is produced—underproduction.</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Too much is produced—overproduction.</a:t>
            </a:r>
            <a:endParaRPr b="0" lang="en-US" sz="2400" strike="noStrike" u="none">
              <a:solidFill>
                <a:srgbClr val="000000"/>
              </a:solidFill>
              <a:effectLst/>
              <a:uFillTx/>
              <a:latin typeface="Arial"/>
            </a:endParaRPr>
          </a:p>
        </p:txBody>
      </p:sp>
    </p:spTree>
  </p:cSld>
  <p:transition spd="slow">
    <p:wipe dir="r"/>
  </p:transition>
  <p:timing>
    <p:tnLst>
      <p:par>
        <p:cTn id="1199" dur="indefinite" restart="never" nodeType="tmRoot">
          <p:childTnLst>
            <p:seq>
              <p:cTn id="1200" dur="indefinite" nodeType="mainSeq">
                <p:childTnLst>
                  <p:par>
                    <p:cTn id="1201" nodeType="clickEffect" fill="hold">
                      <p:stCondLst>
                        <p:cond delay="indefinite"/>
                      </p:stCondLst>
                      <p:childTnLst>
                        <p:par>
                          <p:cTn id="1202" nodeType="withEffect" fill="hold">
                            <p:stCondLst>
                              <p:cond delay="0"/>
                            </p:stCondLst>
                            <p:childTnLst>
                              <p:par>
                                <p:cTn id="1203" nodeType="clickEffect" fill="hold" presetClass="entr" presetID="22" presetSubtype="8">
                                  <p:stCondLst>
                                    <p:cond delay="0"/>
                                  </p:stCondLst>
                                  <p:childTnLst>
                                    <p:set>
                                      <p:cBhvr>
                                        <p:cTn id="1204" dur="1" fill="hold">
                                          <p:stCondLst>
                                            <p:cond delay="0"/>
                                          </p:stCondLst>
                                        </p:cTn>
                                        <p:tgtEl>
                                          <p:spTgt spid="277">
                                            <p:txEl>
                                              <p:pRg st="1" end="1"/>
                                            </p:txEl>
                                          </p:spTgt>
                                        </p:tgtEl>
                                        <p:attrNameLst>
                                          <p:attrName>style.visibility</p:attrName>
                                        </p:attrNameLst>
                                      </p:cBhvr>
                                      <p:to>
                                        <p:strVal val="visible"/>
                                      </p:to>
                                    </p:set>
                                    <p:animEffect filter="wipe(left)" transition="in">
                                      <p:cBhvr additive="repl">
                                        <p:cTn id="1205" dur="1000"/>
                                        <p:tgtEl>
                                          <p:spTgt spid="277">
                                            <p:txEl>
                                              <p:pRg st="1" end="1"/>
                                            </p:txEl>
                                          </p:spTgt>
                                        </p:tgtEl>
                                      </p:cBhvr>
                                    </p:animEffect>
                                  </p:childTnLst>
                                </p:cTn>
                              </p:par>
                            </p:childTnLst>
                          </p:cTn>
                        </p:par>
                      </p:childTnLst>
                    </p:cTn>
                  </p:par>
                  <p:par>
                    <p:cTn id="1206" nodeType="clickEffect" fill="hold">
                      <p:stCondLst>
                        <p:cond delay="indefinite"/>
                      </p:stCondLst>
                      <p:childTnLst>
                        <p:par>
                          <p:cTn id="1207" nodeType="withEffect" fill="hold">
                            <p:stCondLst>
                              <p:cond delay="0"/>
                            </p:stCondLst>
                            <p:childTnLst>
                              <p:par>
                                <p:cTn id="1208" nodeType="clickEffect" fill="hold" presetClass="entr" presetID="22" presetSubtype="8">
                                  <p:stCondLst>
                                    <p:cond delay="0"/>
                                  </p:stCondLst>
                                  <p:childTnLst>
                                    <p:set>
                                      <p:cBhvr>
                                        <p:cTn id="1209" dur="1" fill="hold">
                                          <p:stCondLst>
                                            <p:cond delay="0"/>
                                          </p:stCondLst>
                                        </p:cTn>
                                        <p:tgtEl>
                                          <p:spTgt spid="277">
                                            <p:txEl>
                                              <p:pRg st="2" end="2"/>
                                            </p:txEl>
                                          </p:spTgt>
                                        </p:tgtEl>
                                        <p:attrNameLst>
                                          <p:attrName>style.visibility</p:attrName>
                                        </p:attrNameLst>
                                      </p:cBhvr>
                                      <p:to>
                                        <p:strVal val="visible"/>
                                      </p:to>
                                    </p:set>
                                    <p:animEffect filter="wipe(left)" transition="in">
                                      <p:cBhvr additive="repl">
                                        <p:cTn id="1210" dur="1000"/>
                                        <p:tgtEl>
                                          <p:spTgt spid="277">
                                            <p:txEl>
                                              <p:pRg st="2" end="2"/>
                                            </p:txEl>
                                          </p:spTgt>
                                        </p:tgtEl>
                                      </p:cBhvr>
                                    </p:animEffect>
                                  </p:childTnLst>
                                </p:cTn>
                              </p:par>
                            </p:childTnLst>
                          </p:cTn>
                        </p:par>
                      </p:childTnLst>
                    </p:cTn>
                  </p:par>
                  <p:par>
                    <p:cTn id="1211" nodeType="clickEffect" fill="hold">
                      <p:stCondLst>
                        <p:cond delay="indefinite"/>
                      </p:stCondLst>
                      <p:childTnLst>
                        <p:par>
                          <p:cTn id="1212" nodeType="withEffect" fill="hold">
                            <p:stCondLst>
                              <p:cond delay="0"/>
                            </p:stCondLst>
                            <p:childTnLst>
                              <p:par>
                                <p:cTn id="1213" nodeType="clickEffect" fill="hold" presetClass="entr" presetID="22" presetSubtype="8">
                                  <p:stCondLst>
                                    <p:cond delay="0"/>
                                  </p:stCondLst>
                                  <p:childTnLst>
                                    <p:set>
                                      <p:cBhvr>
                                        <p:cTn id="1214" dur="1" fill="hold">
                                          <p:stCondLst>
                                            <p:cond delay="0"/>
                                          </p:stCondLst>
                                        </p:cTn>
                                        <p:tgtEl>
                                          <p:spTgt spid="277">
                                            <p:txEl>
                                              <p:pRg st="3" end="3"/>
                                            </p:txEl>
                                          </p:spTgt>
                                        </p:tgtEl>
                                        <p:attrNameLst>
                                          <p:attrName>style.visibility</p:attrName>
                                        </p:attrNameLst>
                                      </p:cBhvr>
                                      <p:to>
                                        <p:strVal val="visible"/>
                                      </p:to>
                                    </p:set>
                                    <p:animEffect filter="wipe(left)" transition="in">
                                      <p:cBhvr additive="repl">
                                        <p:cTn id="1215" dur="1000"/>
                                        <p:tgtEl>
                                          <p:spTgt spid="277">
                                            <p:txEl>
                                              <p:pRg st="3" end="3"/>
                                            </p:txEl>
                                          </p:spTgt>
                                        </p:tgtEl>
                                      </p:cBhvr>
                                    </p:animEffect>
                                  </p:childTnLst>
                                </p:cTn>
                              </p:par>
                            </p:childTnLst>
                          </p:cTn>
                        </p:par>
                      </p:childTnLst>
                    </p:cTn>
                  </p:par>
                  <p:par>
                    <p:cTn id="1216" nodeType="clickEffect" fill="hold">
                      <p:stCondLst>
                        <p:cond delay="indefinite"/>
                      </p:stCondLst>
                      <p:childTnLst>
                        <p:par>
                          <p:cTn id="1217" nodeType="withEffect" fill="hold">
                            <p:stCondLst>
                              <p:cond delay="0"/>
                            </p:stCondLst>
                            <p:childTnLst>
                              <p:par>
                                <p:cTn id="1218" nodeType="clickEffect" fill="hold" presetClass="entr" presetID="22" presetSubtype="8">
                                  <p:stCondLst>
                                    <p:cond delay="0"/>
                                  </p:stCondLst>
                                  <p:childTnLst>
                                    <p:set>
                                      <p:cBhvr>
                                        <p:cTn id="1219" dur="1" fill="hold">
                                          <p:stCondLst>
                                            <p:cond delay="0"/>
                                          </p:stCondLst>
                                        </p:cTn>
                                        <p:tgtEl>
                                          <p:spTgt spid="277">
                                            <p:txEl>
                                              <p:pRg st="4" end="4"/>
                                            </p:txEl>
                                          </p:spTgt>
                                        </p:tgtEl>
                                        <p:attrNameLst>
                                          <p:attrName>style.visibility</p:attrName>
                                        </p:attrNameLst>
                                      </p:cBhvr>
                                      <p:to>
                                        <p:strVal val="visible"/>
                                      </p:to>
                                    </p:set>
                                    <p:animEffect filter="wipe(left)" transition="in">
                                      <p:cBhvr additive="repl">
                                        <p:cTn id="1220" dur="1000"/>
                                        <p:tgtEl>
                                          <p:spTgt spid="277">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27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Underproduction</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When a firm cuts production to less than the efficient quantity, a deadweight loss is created.</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Deadweight loss </a:t>
            </a:r>
            <a:r>
              <a:rPr b="0" lang="en-US" sz="2400" strike="noStrike" u="none">
                <a:solidFill>
                  <a:schemeClr val="dk1"/>
                </a:solidFill>
                <a:effectLst/>
                <a:uFillTx/>
                <a:latin typeface="Arial"/>
                <a:ea typeface="ＭＳ Ｐゴシック"/>
              </a:rPr>
              <a:t>is the decrease in total surplus that results from an inefficient underproduction or overproduction.</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deadweight loss is borne by the entire society. It is a social loss.</a:t>
            </a:r>
            <a:endParaRPr b="0" lang="en-US" sz="2400" strike="noStrike" u="none">
              <a:solidFill>
                <a:srgbClr val="000000"/>
              </a:solidFill>
              <a:effectLst/>
              <a:uFillTx/>
              <a:latin typeface="Arial"/>
            </a:endParaRPr>
          </a:p>
        </p:txBody>
      </p:sp>
    </p:spTree>
  </p:cSld>
  <p:transition spd="slow">
    <p:wipe dir="r"/>
  </p:transition>
  <p:timing>
    <p:tnLst>
      <p:par>
        <p:cTn id="1221" dur="indefinite" restart="never" nodeType="tmRoot">
          <p:childTnLst>
            <p:seq>
              <p:cTn id="1222" dur="indefinite" nodeType="mainSeq">
                <p:childTnLst>
                  <p:par>
                    <p:cTn id="1223" nodeType="clickEffect" fill="hold">
                      <p:stCondLst>
                        <p:cond delay="indefinite"/>
                      </p:stCondLst>
                      <p:childTnLst>
                        <p:par>
                          <p:cTn id="1224" nodeType="withEffect" fill="hold">
                            <p:stCondLst>
                              <p:cond delay="0"/>
                            </p:stCondLst>
                            <p:childTnLst>
                              <p:par>
                                <p:cTn id="1225" nodeType="clickEffect" fill="hold" presetClass="entr" presetID="22" presetSubtype="8">
                                  <p:stCondLst>
                                    <p:cond delay="0"/>
                                  </p:stCondLst>
                                  <p:childTnLst>
                                    <p:set>
                                      <p:cBhvr>
                                        <p:cTn id="1226" dur="1" fill="hold">
                                          <p:stCondLst>
                                            <p:cond delay="0"/>
                                          </p:stCondLst>
                                        </p:cTn>
                                        <p:tgtEl>
                                          <p:spTgt spid="279">
                                            <p:txEl>
                                              <p:pRg st="1" end="1"/>
                                            </p:txEl>
                                          </p:spTgt>
                                        </p:tgtEl>
                                        <p:attrNameLst>
                                          <p:attrName>style.visibility</p:attrName>
                                        </p:attrNameLst>
                                      </p:cBhvr>
                                      <p:to>
                                        <p:strVal val="visible"/>
                                      </p:to>
                                    </p:set>
                                    <p:animEffect filter="wipe(left)" transition="in">
                                      <p:cBhvr additive="repl">
                                        <p:cTn id="1227" dur="750"/>
                                        <p:tgtEl>
                                          <p:spTgt spid="279">
                                            <p:txEl>
                                              <p:pRg st="1" end="1"/>
                                            </p:txEl>
                                          </p:spTgt>
                                        </p:tgtEl>
                                      </p:cBhvr>
                                    </p:animEffect>
                                  </p:childTnLst>
                                </p:cTn>
                              </p:par>
                            </p:childTnLst>
                          </p:cTn>
                        </p:par>
                      </p:childTnLst>
                    </p:cTn>
                  </p:par>
                  <p:par>
                    <p:cTn id="1228" nodeType="clickEffect" fill="hold">
                      <p:stCondLst>
                        <p:cond delay="indefinite"/>
                      </p:stCondLst>
                      <p:childTnLst>
                        <p:par>
                          <p:cTn id="1229" nodeType="withEffect" fill="hold">
                            <p:stCondLst>
                              <p:cond delay="0"/>
                            </p:stCondLst>
                            <p:childTnLst>
                              <p:par>
                                <p:cTn id="1230" nodeType="clickEffect" fill="hold" presetClass="entr" presetID="22" presetSubtype="8">
                                  <p:stCondLst>
                                    <p:cond delay="0"/>
                                  </p:stCondLst>
                                  <p:childTnLst>
                                    <p:set>
                                      <p:cBhvr>
                                        <p:cTn id="1231" dur="1" fill="hold">
                                          <p:stCondLst>
                                            <p:cond delay="0"/>
                                          </p:stCondLst>
                                        </p:cTn>
                                        <p:tgtEl>
                                          <p:spTgt spid="279">
                                            <p:txEl>
                                              <p:pRg st="2" end="2"/>
                                            </p:txEl>
                                          </p:spTgt>
                                        </p:tgtEl>
                                        <p:attrNameLst>
                                          <p:attrName>style.visibility</p:attrName>
                                        </p:attrNameLst>
                                      </p:cBhvr>
                                      <p:to>
                                        <p:strVal val="visible"/>
                                      </p:to>
                                    </p:set>
                                    <p:animEffect filter="wipe(left)" transition="in">
                                      <p:cBhvr additive="repl">
                                        <p:cTn id="1232" dur="750"/>
                                        <p:tgtEl>
                                          <p:spTgt spid="279">
                                            <p:txEl>
                                              <p:pRg st="2" end="2"/>
                                            </p:txEl>
                                          </p:spTgt>
                                        </p:tgtEl>
                                      </p:cBhvr>
                                    </p:animEffect>
                                  </p:childTnLst>
                                </p:cTn>
                              </p:par>
                            </p:childTnLst>
                          </p:cTn>
                        </p:par>
                      </p:childTnLst>
                    </p:cTn>
                  </p:par>
                  <p:par>
                    <p:cTn id="1233" nodeType="clickEffect" fill="hold">
                      <p:stCondLst>
                        <p:cond delay="indefinite"/>
                      </p:stCondLst>
                      <p:childTnLst>
                        <p:par>
                          <p:cTn id="1234" nodeType="withEffect" fill="hold">
                            <p:stCondLst>
                              <p:cond delay="0"/>
                            </p:stCondLst>
                            <p:childTnLst>
                              <p:par>
                                <p:cTn id="1235" nodeType="clickEffect" fill="hold" presetClass="entr" presetID="22" presetSubtype="8">
                                  <p:stCondLst>
                                    <p:cond delay="0"/>
                                  </p:stCondLst>
                                  <p:childTnLst>
                                    <p:set>
                                      <p:cBhvr>
                                        <p:cTn id="1236" dur="1" fill="hold">
                                          <p:stCondLst>
                                            <p:cond delay="0"/>
                                          </p:stCondLst>
                                        </p:cTn>
                                        <p:tgtEl>
                                          <p:spTgt spid="279">
                                            <p:txEl>
                                              <p:pRg st="3" end="3"/>
                                            </p:txEl>
                                          </p:spTgt>
                                        </p:tgtEl>
                                        <p:attrNameLst>
                                          <p:attrName>style.visibility</p:attrName>
                                        </p:attrNameLst>
                                      </p:cBhvr>
                                      <p:to>
                                        <p:strVal val="visible"/>
                                      </p:to>
                                    </p:set>
                                    <p:animEffect filter="wipe(left)" transition="in">
                                      <p:cBhvr additive="repl">
                                        <p:cTn id="1237" dur="750"/>
                                        <p:tgtEl>
                                          <p:spTgt spid="27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281" name="PlaceHolder 2"/>
          <p:cNvSpPr>
            <a:spLocks noGrp="1"/>
          </p:cNvSpPr>
          <p:nvPr>
            <p:ph/>
          </p:nvPr>
        </p:nvSpPr>
        <p:spPr>
          <a:xfrm>
            <a:off x="360360" y="1440000"/>
            <a:ext cx="46681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6.9(a) shows the effects of underproduction.</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Efficient quantity is 10,000 pizzas.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If production is 5,000      pizzas a day: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Deadweight loss arises.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Total surplus is reduced       by the amount of the deadweight loss.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Underproduction is inefficient.</a:t>
            </a:r>
            <a:endParaRPr b="0" lang="en-US" sz="2400" strike="noStrike" u="none">
              <a:solidFill>
                <a:srgbClr val="000000"/>
              </a:solidFill>
              <a:effectLst/>
              <a:uFillTx/>
              <a:latin typeface="Arial"/>
            </a:endParaRPr>
          </a:p>
        </p:txBody>
      </p:sp>
      <p:pic>
        <p:nvPicPr>
          <p:cNvPr id="282" name="Picture 10" descr="fig0609aa.gif"/>
          <p:cNvPicPr/>
          <p:nvPr/>
        </p:nvPicPr>
        <p:blipFill>
          <a:blip r:embed="rId1"/>
          <a:stretch/>
        </p:blipFill>
        <p:spPr>
          <a:xfrm>
            <a:off x="4500720" y="1440000"/>
            <a:ext cx="4006080" cy="4500000"/>
          </a:xfrm>
          <a:prstGeom prst="rect">
            <a:avLst/>
          </a:prstGeom>
          <a:noFill/>
          <a:ln w="0">
            <a:noFill/>
          </a:ln>
        </p:spPr>
      </p:pic>
      <p:pic>
        <p:nvPicPr>
          <p:cNvPr id="283" name="Picture 11" descr="fig0609ab.gif"/>
          <p:cNvPicPr/>
          <p:nvPr/>
        </p:nvPicPr>
        <p:blipFill>
          <a:blip r:embed="rId2"/>
          <a:stretch/>
        </p:blipFill>
        <p:spPr>
          <a:xfrm>
            <a:off x="4500720" y="1440000"/>
            <a:ext cx="4006080" cy="4500000"/>
          </a:xfrm>
          <a:prstGeom prst="rect">
            <a:avLst/>
          </a:prstGeom>
          <a:noFill/>
          <a:ln w="0">
            <a:noFill/>
          </a:ln>
        </p:spPr>
      </p:pic>
      <p:pic>
        <p:nvPicPr>
          <p:cNvPr id="284" name="Picture 12" descr="fig0609ac.gif"/>
          <p:cNvPicPr/>
          <p:nvPr/>
        </p:nvPicPr>
        <p:blipFill>
          <a:blip r:embed="rId3"/>
          <a:stretch/>
        </p:blipFill>
        <p:spPr>
          <a:xfrm>
            <a:off x="4500720" y="1440000"/>
            <a:ext cx="4006080" cy="4500000"/>
          </a:xfrm>
          <a:prstGeom prst="rect">
            <a:avLst/>
          </a:prstGeom>
          <a:noFill/>
          <a:ln w="0">
            <a:noFill/>
          </a:ln>
        </p:spPr>
      </p:pic>
      <p:pic>
        <p:nvPicPr>
          <p:cNvPr id="285" name="Picture 15" descr="fig0609ad.gif"/>
          <p:cNvPicPr/>
          <p:nvPr/>
        </p:nvPicPr>
        <p:blipFill>
          <a:blip r:embed="rId4"/>
          <a:stretch/>
        </p:blipFill>
        <p:spPr>
          <a:xfrm>
            <a:off x="4500720" y="1440000"/>
            <a:ext cx="4006080" cy="4500000"/>
          </a:xfrm>
          <a:prstGeom prst="rect">
            <a:avLst/>
          </a:prstGeom>
          <a:noFill/>
          <a:ln w="0">
            <a:noFill/>
          </a:ln>
        </p:spPr>
      </p:pic>
      <p:pic>
        <p:nvPicPr>
          <p:cNvPr id="286" name="Picture 16" descr="fig0609ae.gif"/>
          <p:cNvPicPr/>
          <p:nvPr/>
        </p:nvPicPr>
        <p:blipFill>
          <a:blip r:embed="rId5"/>
          <a:stretch/>
        </p:blipFill>
        <p:spPr>
          <a:xfrm>
            <a:off x="4500720" y="1440000"/>
            <a:ext cx="4006080" cy="4500000"/>
          </a:xfrm>
          <a:prstGeom prst="rect">
            <a:avLst/>
          </a:prstGeom>
          <a:noFill/>
          <a:ln w="0">
            <a:noFill/>
          </a:ln>
        </p:spPr>
      </p:pic>
    </p:spTree>
  </p:cSld>
  <p:transition spd="slow">
    <p:wipe dir="r"/>
  </p:transition>
  <p:timing>
    <p:tnLst>
      <p:par>
        <p:cTn id="1238" dur="indefinite" restart="never" nodeType="tmRoot">
          <p:childTnLst>
            <p:seq>
              <p:cTn id="1239" dur="indefinite" nodeType="mainSeq">
                <p:childTnLst>
                  <p:par>
                    <p:cTn id="1240" nodeType="clickEffect" fill="hold">
                      <p:stCondLst>
                        <p:cond delay="indefinite"/>
                      </p:stCondLst>
                      <p:childTnLst>
                        <p:par>
                          <p:cTn id="1241" nodeType="withEffect" fill="hold">
                            <p:stCondLst>
                              <p:cond delay="0"/>
                            </p:stCondLst>
                            <p:childTnLst>
                              <p:par>
                                <p:cTn id="1242" nodeType="clickEffect" fill="hold" presetClass="entr" presetID="22" presetSubtype="8">
                                  <p:stCondLst>
                                    <p:cond delay="0"/>
                                  </p:stCondLst>
                                  <p:childTnLst>
                                    <p:set>
                                      <p:cBhvr>
                                        <p:cTn id="1243" dur="1" fill="hold">
                                          <p:stCondLst>
                                            <p:cond delay="0"/>
                                          </p:stCondLst>
                                        </p:cTn>
                                        <p:tgtEl>
                                          <p:spTgt spid="281">
                                            <p:txEl>
                                              <p:pRg st="0" end="0"/>
                                            </p:txEl>
                                          </p:spTgt>
                                        </p:tgtEl>
                                        <p:attrNameLst>
                                          <p:attrName>style.visibility</p:attrName>
                                        </p:attrNameLst>
                                      </p:cBhvr>
                                      <p:to>
                                        <p:strVal val="visible"/>
                                      </p:to>
                                    </p:set>
                                    <p:animEffect filter="wipe(left)" transition="in">
                                      <p:cBhvr additive="repl">
                                        <p:cTn id="1244" dur="500"/>
                                        <p:tgtEl>
                                          <p:spTgt spid="281">
                                            <p:txEl>
                                              <p:pRg st="0" end="0"/>
                                            </p:txEl>
                                          </p:spTgt>
                                        </p:tgtEl>
                                      </p:cBhvr>
                                    </p:animEffect>
                                  </p:childTnLst>
                                </p:cTn>
                              </p:par>
                            </p:childTnLst>
                          </p:cTn>
                        </p:par>
                      </p:childTnLst>
                    </p:cTn>
                  </p:par>
                  <p:par>
                    <p:cTn id="1245" nodeType="clickEffect" fill="hold">
                      <p:stCondLst>
                        <p:cond delay="indefinite"/>
                      </p:stCondLst>
                      <p:childTnLst>
                        <p:par>
                          <p:cTn id="1246" nodeType="withEffect" fill="hold">
                            <p:stCondLst>
                              <p:cond delay="0"/>
                            </p:stCondLst>
                            <p:childTnLst>
                              <p:par>
                                <p:cTn id="1247" nodeType="clickEffect" fill="hold" presetClass="entr" presetID="22" presetSubtype="8">
                                  <p:stCondLst>
                                    <p:cond delay="0"/>
                                  </p:stCondLst>
                                  <p:childTnLst>
                                    <p:set>
                                      <p:cBhvr>
                                        <p:cTn id="1248" dur="1" fill="hold">
                                          <p:stCondLst>
                                            <p:cond delay="0"/>
                                          </p:stCondLst>
                                        </p:cTn>
                                        <p:tgtEl>
                                          <p:spTgt spid="281">
                                            <p:txEl>
                                              <p:pRg st="1" end="1"/>
                                            </p:txEl>
                                          </p:spTgt>
                                        </p:tgtEl>
                                        <p:attrNameLst>
                                          <p:attrName>style.visibility</p:attrName>
                                        </p:attrNameLst>
                                      </p:cBhvr>
                                      <p:to>
                                        <p:strVal val="visible"/>
                                      </p:to>
                                    </p:set>
                                    <p:animEffect filter="wipe(left)" transition="in">
                                      <p:cBhvr additive="repl">
                                        <p:cTn id="1249" dur="500"/>
                                        <p:tgtEl>
                                          <p:spTgt spid="281">
                                            <p:txEl>
                                              <p:pRg st="1" end="1"/>
                                            </p:txEl>
                                          </p:spTgt>
                                        </p:tgtEl>
                                      </p:cBhvr>
                                    </p:animEffect>
                                  </p:childTnLst>
                                </p:cTn>
                              </p:par>
                              <p:par>
                                <p:cTn id="1250" nodeType="withEffect" fill="hold" presetClass="entr" presetID="22" presetSubtype="8">
                                  <p:stCondLst>
                                    <p:cond delay="0"/>
                                  </p:stCondLst>
                                  <p:childTnLst>
                                    <p:set>
                                      <p:cBhvr>
                                        <p:cTn id="1251" dur="1" fill="hold">
                                          <p:stCondLst>
                                            <p:cond delay="0"/>
                                          </p:stCondLst>
                                        </p:cTn>
                                        <p:tgtEl>
                                          <p:spTgt spid="283"/>
                                        </p:tgtEl>
                                        <p:attrNameLst>
                                          <p:attrName>style.visibility</p:attrName>
                                        </p:attrNameLst>
                                      </p:cBhvr>
                                      <p:to>
                                        <p:strVal val="visible"/>
                                      </p:to>
                                    </p:set>
                                    <p:animEffect filter="wipe(left)" transition="in">
                                      <p:cBhvr additive="repl">
                                        <p:cTn id="1252" dur="1000"/>
                                        <p:tgtEl>
                                          <p:spTgt spid="283"/>
                                        </p:tgtEl>
                                      </p:cBhvr>
                                    </p:animEffect>
                                  </p:childTnLst>
                                </p:cTn>
                              </p:par>
                            </p:childTnLst>
                          </p:cTn>
                        </p:par>
                      </p:childTnLst>
                    </p:cTn>
                  </p:par>
                  <p:par>
                    <p:cTn id="1253" nodeType="clickEffect" fill="hold">
                      <p:stCondLst>
                        <p:cond delay="indefinite"/>
                      </p:stCondLst>
                      <p:childTnLst>
                        <p:par>
                          <p:cTn id="1254" nodeType="withEffect" fill="hold">
                            <p:stCondLst>
                              <p:cond delay="0"/>
                            </p:stCondLst>
                            <p:childTnLst>
                              <p:par>
                                <p:cTn id="1255" nodeType="clickEffect" fill="hold" presetClass="entr" presetID="22" presetSubtype="8">
                                  <p:stCondLst>
                                    <p:cond delay="0"/>
                                  </p:stCondLst>
                                  <p:childTnLst>
                                    <p:set>
                                      <p:cBhvr>
                                        <p:cTn id="1256" dur="1" fill="hold">
                                          <p:stCondLst>
                                            <p:cond delay="0"/>
                                          </p:stCondLst>
                                        </p:cTn>
                                        <p:tgtEl>
                                          <p:spTgt spid="281">
                                            <p:txEl>
                                              <p:pRg st="2" end="2"/>
                                            </p:txEl>
                                          </p:spTgt>
                                        </p:tgtEl>
                                        <p:attrNameLst>
                                          <p:attrName>style.visibility</p:attrName>
                                        </p:attrNameLst>
                                      </p:cBhvr>
                                      <p:to>
                                        <p:strVal val="visible"/>
                                      </p:to>
                                    </p:set>
                                    <p:animEffect filter="wipe(left)" transition="in">
                                      <p:cBhvr additive="repl">
                                        <p:cTn id="1257" dur="500"/>
                                        <p:tgtEl>
                                          <p:spTgt spid="281">
                                            <p:txEl>
                                              <p:pRg st="2" end="2"/>
                                            </p:txEl>
                                          </p:spTgt>
                                        </p:tgtEl>
                                      </p:cBhvr>
                                    </p:animEffect>
                                  </p:childTnLst>
                                </p:cTn>
                              </p:par>
                              <p:par>
                                <p:cTn id="1258" nodeType="withEffect" fill="hold" presetClass="entr" presetID="22" presetSubtype="4">
                                  <p:stCondLst>
                                    <p:cond delay="0"/>
                                  </p:stCondLst>
                                  <p:childTnLst>
                                    <p:set>
                                      <p:cBhvr>
                                        <p:cTn id="1259" dur="1" fill="hold">
                                          <p:stCondLst>
                                            <p:cond delay="0"/>
                                          </p:stCondLst>
                                        </p:cTn>
                                        <p:tgtEl>
                                          <p:spTgt spid="284"/>
                                        </p:tgtEl>
                                        <p:attrNameLst>
                                          <p:attrName>style.visibility</p:attrName>
                                        </p:attrNameLst>
                                      </p:cBhvr>
                                      <p:to>
                                        <p:strVal val="visible"/>
                                      </p:to>
                                    </p:set>
                                    <p:animEffect filter="wipe(down)" transition="in">
                                      <p:cBhvr additive="repl">
                                        <p:cTn id="1260" dur="1000"/>
                                        <p:tgtEl>
                                          <p:spTgt spid="284"/>
                                        </p:tgtEl>
                                      </p:cBhvr>
                                    </p:animEffect>
                                  </p:childTnLst>
                                </p:cTn>
                              </p:par>
                            </p:childTnLst>
                          </p:cTn>
                        </p:par>
                      </p:childTnLst>
                    </p:cTn>
                  </p:par>
                  <p:par>
                    <p:cTn id="1261" nodeType="clickEffect" fill="hold">
                      <p:stCondLst>
                        <p:cond delay="indefinite"/>
                      </p:stCondLst>
                      <p:childTnLst>
                        <p:par>
                          <p:cTn id="1262" nodeType="withEffect" fill="hold">
                            <p:stCondLst>
                              <p:cond delay="0"/>
                            </p:stCondLst>
                            <p:childTnLst>
                              <p:par>
                                <p:cTn id="1263" nodeType="clickEffect" fill="hold" presetClass="entr" presetID="22" presetSubtype="8">
                                  <p:stCondLst>
                                    <p:cond delay="0"/>
                                  </p:stCondLst>
                                  <p:childTnLst>
                                    <p:set>
                                      <p:cBhvr>
                                        <p:cTn id="1264" dur="1" fill="hold">
                                          <p:stCondLst>
                                            <p:cond delay="0"/>
                                          </p:stCondLst>
                                        </p:cTn>
                                        <p:tgtEl>
                                          <p:spTgt spid="281">
                                            <p:txEl>
                                              <p:pRg st="3" end="3"/>
                                            </p:txEl>
                                          </p:spTgt>
                                        </p:tgtEl>
                                        <p:attrNameLst>
                                          <p:attrName>style.visibility</p:attrName>
                                        </p:attrNameLst>
                                      </p:cBhvr>
                                      <p:to>
                                        <p:strVal val="visible"/>
                                      </p:to>
                                    </p:set>
                                    <p:animEffect filter="wipe(left)" transition="in">
                                      <p:cBhvr additive="repl">
                                        <p:cTn id="1265" dur="500"/>
                                        <p:tgtEl>
                                          <p:spTgt spid="281">
                                            <p:txEl>
                                              <p:pRg st="3" end="3"/>
                                            </p:txEl>
                                          </p:spTgt>
                                        </p:tgtEl>
                                      </p:cBhvr>
                                    </p:animEffect>
                                  </p:childTnLst>
                                </p:cTn>
                              </p:par>
                              <p:par>
                                <p:cTn id="1266" nodeType="withEffect" fill="hold" presetClass="entr" presetID="22" presetSubtype="8">
                                  <p:stCondLst>
                                    <p:cond delay="0"/>
                                  </p:stCondLst>
                                  <p:childTnLst>
                                    <p:set>
                                      <p:cBhvr>
                                        <p:cTn id="1267" dur="1" fill="hold">
                                          <p:stCondLst>
                                            <p:cond delay="0"/>
                                          </p:stCondLst>
                                        </p:cTn>
                                        <p:tgtEl>
                                          <p:spTgt spid="285"/>
                                        </p:tgtEl>
                                        <p:attrNameLst>
                                          <p:attrName>style.visibility</p:attrName>
                                        </p:attrNameLst>
                                      </p:cBhvr>
                                      <p:to>
                                        <p:strVal val="visible"/>
                                      </p:to>
                                    </p:set>
                                    <p:animEffect filter="wipe(left)" transition="in">
                                      <p:cBhvr additive="repl">
                                        <p:cTn id="1268" dur="1000"/>
                                        <p:tgtEl>
                                          <p:spTgt spid="285"/>
                                        </p:tgtEl>
                                      </p:cBhvr>
                                    </p:animEffect>
                                  </p:childTnLst>
                                </p:cTn>
                              </p:par>
                              <p:par>
                                <p:cTn id="1269" nodeType="withEffect" fill="hold" presetClass="entr" presetID="10">
                                  <p:stCondLst>
                                    <p:cond delay="1100"/>
                                  </p:stCondLst>
                                  <p:childTnLst>
                                    <p:set>
                                      <p:cBhvr>
                                        <p:cTn id="1270" dur="1" fill="hold">
                                          <p:stCondLst>
                                            <p:cond delay="0"/>
                                          </p:stCondLst>
                                        </p:cTn>
                                        <p:tgtEl>
                                          <p:spTgt spid="286"/>
                                        </p:tgtEl>
                                        <p:attrNameLst>
                                          <p:attrName>style.visibility</p:attrName>
                                        </p:attrNameLst>
                                      </p:cBhvr>
                                      <p:to>
                                        <p:strVal val="visible"/>
                                      </p:to>
                                    </p:set>
                                    <p:animEffect filter="fade" transition="in">
                                      <p:cBhvr additive="repl">
                                        <p:cTn id="1271" dur="500"/>
                                        <p:tgtEl>
                                          <p:spTgt spid="286"/>
                                        </p:tgtEl>
                                      </p:cBhvr>
                                    </p:animEffect>
                                  </p:childTnLst>
                                </p:cTn>
                              </p:par>
                            </p:childTnLst>
                          </p:cTn>
                        </p:par>
                      </p:childTnLst>
                    </p:cTn>
                  </p:par>
                  <p:par>
                    <p:cTn id="1272" nodeType="clickEffect" fill="hold">
                      <p:stCondLst>
                        <p:cond delay="indefinite"/>
                      </p:stCondLst>
                      <p:childTnLst>
                        <p:par>
                          <p:cTn id="1273" nodeType="withEffect" fill="hold">
                            <p:stCondLst>
                              <p:cond delay="0"/>
                            </p:stCondLst>
                            <p:childTnLst>
                              <p:par>
                                <p:cTn id="1274" nodeType="clickEffect" fill="hold" presetClass="entr" presetID="22" presetSubtype="8">
                                  <p:stCondLst>
                                    <p:cond delay="0"/>
                                  </p:stCondLst>
                                  <p:childTnLst>
                                    <p:set>
                                      <p:cBhvr>
                                        <p:cTn id="1275" dur="1" fill="hold">
                                          <p:stCondLst>
                                            <p:cond delay="0"/>
                                          </p:stCondLst>
                                        </p:cTn>
                                        <p:tgtEl>
                                          <p:spTgt spid="281">
                                            <p:txEl>
                                              <p:pRg st="4" end="4"/>
                                            </p:txEl>
                                          </p:spTgt>
                                        </p:tgtEl>
                                        <p:attrNameLst>
                                          <p:attrName>style.visibility</p:attrName>
                                        </p:attrNameLst>
                                      </p:cBhvr>
                                      <p:to>
                                        <p:strVal val="visible"/>
                                      </p:to>
                                    </p:set>
                                    <p:animEffect filter="wipe(left)" transition="in">
                                      <p:cBhvr additive="repl">
                                        <p:cTn id="1276" dur="500"/>
                                        <p:tgtEl>
                                          <p:spTgt spid="281">
                                            <p:txEl>
                                              <p:pRg st="4" end="4"/>
                                            </p:txEl>
                                          </p:spTgt>
                                        </p:tgtEl>
                                      </p:cBhvr>
                                    </p:animEffect>
                                  </p:childTnLst>
                                </p:cTn>
                              </p:par>
                            </p:childTnLst>
                          </p:cTn>
                        </p:par>
                      </p:childTnLst>
                    </p:cTn>
                  </p:par>
                  <p:par>
                    <p:cTn id="1277" nodeType="clickEffect" fill="hold">
                      <p:stCondLst>
                        <p:cond delay="indefinite"/>
                      </p:stCondLst>
                      <p:childTnLst>
                        <p:par>
                          <p:cTn id="1278" nodeType="withEffect" fill="hold">
                            <p:stCondLst>
                              <p:cond delay="0"/>
                            </p:stCondLst>
                            <p:childTnLst>
                              <p:par>
                                <p:cTn id="1279" nodeType="clickEffect" fill="hold" presetClass="entr" presetID="22" presetSubtype="8">
                                  <p:stCondLst>
                                    <p:cond delay="0"/>
                                  </p:stCondLst>
                                  <p:childTnLst>
                                    <p:set>
                                      <p:cBhvr>
                                        <p:cTn id="1280" dur="1" fill="hold">
                                          <p:stCondLst>
                                            <p:cond delay="0"/>
                                          </p:stCondLst>
                                        </p:cTn>
                                        <p:tgtEl>
                                          <p:spTgt spid="281">
                                            <p:txEl>
                                              <p:pRg st="5" end="5"/>
                                            </p:txEl>
                                          </p:spTgt>
                                        </p:tgtEl>
                                        <p:attrNameLst>
                                          <p:attrName>style.visibility</p:attrName>
                                        </p:attrNameLst>
                                      </p:cBhvr>
                                      <p:to>
                                        <p:strVal val="visible"/>
                                      </p:to>
                                    </p:set>
                                    <p:animEffect filter="wipe(left)" transition="in">
                                      <p:cBhvr additive="repl">
                                        <p:cTn id="1281" dur="500"/>
                                        <p:tgtEl>
                                          <p:spTgt spid="281">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87" name="Picture 4" descr="fig0609aa.gif"/>
          <p:cNvPicPr/>
          <p:nvPr/>
        </p:nvPicPr>
        <p:blipFill>
          <a:blip r:embed="rId1"/>
          <a:stretch/>
        </p:blipFill>
        <p:spPr>
          <a:xfrm>
            <a:off x="1979640" y="431640"/>
            <a:ext cx="5342760" cy="6000120"/>
          </a:xfrm>
          <a:prstGeom prst="rect">
            <a:avLst/>
          </a:prstGeom>
          <a:noFill/>
          <a:ln w="0">
            <a:noFill/>
          </a:ln>
        </p:spPr>
      </p:pic>
      <p:pic>
        <p:nvPicPr>
          <p:cNvPr id="288" name="Picture 7" descr="fig0609ab.gif"/>
          <p:cNvPicPr/>
          <p:nvPr/>
        </p:nvPicPr>
        <p:blipFill>
          <a:blip r:embed="rId2"/>
          <a:stretch/>
        </p:blipFill>
        <p:spPr>
          <a:xfrm>
            <a:off x="1979640" y="431640"/>
            <a:ext cx="5342760" cy="6000120"/>
          </a:xfrm>
          <a:prstGeom prst="rect">
            <a:avLst/>
          </a:prstGeom>
          <a:noFill/>
          <a:ln w="0">
            <a:noFill/>
          </a:ln>
        </p:spPr>
      </p:pic>
      <p:pic>
        <p:nvPicPr>
          <p:cNvPr id="289" name="Picture 8" descr="fig0609ac.gif"/>
          <p:cNvPicPr/>
          <p:nvPr/>
        </p:nvPicPr>
        <p:blipFill>
          <a:blip r:embed="rId3"/>
          <a:stretch/>
        </p:blipFill>
        <p:spPr>
          <a:xfrm>
            <a:off x="1979640" y="431640"/>
            <a:ext cx="5342760" cy="6000120"/>
          </a:xfrm>
          <a:prstGeom prst="rect">
            <a:avLst/>
          </a:prstGeom>
          <a:noFill/>
          <a:ln w="0">
            <a:noFill/>
          </a:ln>
        </p:spPr>
      </p:pic>
      <p:pic>
        <p:nvPicPr>
          <p:cNvPr id="290" name="Picture 9" descr="fig0609ad.gif"/>
          <p:cNvPicPr/>
          <p:nvPr/>
        </p:nvPicPr>
        <p:blipFill>
          <a:blip r:embed="rId4"/>
          <a:stretch/>
        </p:blipFill>
        <p:spPr>
          <a:xfrm>
            <a:off x="1979640" y="431640"/>
            <a:ext cx="5342760" cy="6000120"/>
          </a:xfrm>
          <a:prstGeom prst="rect">
            <a:avLst/>
          </a:prstGeom>
          <a:noFill/>
          <a:ln w="0">
            <a:noFill/>
          </a:ln>
        </p:spPr>
      </p:pic>
      <p:pic>
        <p:nvPicPr>
          <p:cNvPr id="291" name="Picture 10" descr="fig0609ae.gif"/>
          <p:cNvPicPr/>
          <p:nvPr/>
        </p:nvPicPr>
        <p:blipFill>
          <a:blip r:embed="rId5"/>
          <a:stretch/>
        </p:blipFill>
        <p:spPr>
          <a:xfrm>
            <a:off x="1979640" y="431640"/>
            <a:ext cx="5342760" cy="6000120"/>
          </a:xfrm>
          <a:prstGeom prst="rect">
            <a:avLst/>
          </a:prstGeom>
          <a:noFill/>
          <a:ln w="0">
            <a:noFill/>
          </a:ln>
        </p:spPr>
      </p:pic>
    </p:spTree>
  </p:cSld>
  <p:transition spd="slow">
    <p:wipe dir="r"/>
  </p:transition>
  <p:timing>
    <p:tnLst>
      <p:par>
        <p:cTn id="1282" dur="indefinite" restart="never" nodeType="tmRoot">
          <p:childTnLst>
            <p:seq>
              <p:cTn id="1283" dur="indefinite" nodeType="mainSeq">
                <p:childTnLst>
                  <p:par>
                    <p:cTn id="1284" nodeType="clickEffect" fill="hold">
                      <p:stCondLst>
                        <p:cond delay="indefinite"/>
                      </p:stCondLst>
                      <p:childTnLst>
                        <p:par>
                          <p:cTn id="1285" nodeType="withEffect" fill="hold">
                            <p:stCondLst>
                              <p:cond delay="0"/>
                            </p:stCondLst>
                            <p:childTnLst>
                              <p:par>
                                <p:cTn id="1286" nodeType="clickEffect" fill="hold" presetClass="entr" presetID="22" presetSubtype="8">
                                  <p:stCondLst>
                                    <p:cond delay="0"/>
                                  </p:stCondLst>
                                  <p:childTnLst>
                                    <p:set>
                                      <p:cBhvr>
                                        <p:cTn id="1287" dur="1" fill="hold">
                                          <p:stCondLst>
                                            <p:cond delay="0"/>
                                          </p:stCondLst>
                                        </p:cTn>
                                        <p:tgtEl>
                                          <p:spTgt spid="288"/>
                                        </p:tgtEl>
                                        <p:attrNameLst>
                                          <p:attrName>style.visibility</p:attrName>
                                        </p:attrNameLst>
                                      </p:cBhvr>
                                      <p:to>
                                        <p:strVal val="visible"/>
                                      </p:to>
                                    </p:set>
                                    <p:animEffect filter="wipe(left)" transition="in">
                                      <p:cBhvr additive="repl">
                                        <p:cTn id="1288" dur="1000"/>
                                        <p:tgtEl>
                                          <p:spTgt spid="288"/>
                                        </p:tgtEl>
                                      </p:cBhvr>
                                    </p:animEffect>
                                  </p:childTnLst>
                                </p:cTn>
                              </p:par>
                            </p:childTnLst>
                          </p:cTn>
                        </p:par>
                      </p:childTnLst>
                    </p:cTn>
                  </p:par>
                  <p:par>
                    <p:cTn id="1289" nodeType="clickEffect" fill="hold">
                      <p:stCondLst>
                        <p:cond delay="indefinite"/>
                      </p:stCondLst>
                      <p:childTnLst>
                        <p:par>
                          <p:cTn id="1290" nodeType="withEffect" fill="hold">
                            <p:stCondLst>
                              <p:cond delay="0"/>
                            </p:stCondLst>
                            <p:childTnLst>
                              <p:par>
                                <p:cTn id="1291" nodeType="clickEffect" fill="hold" presetClass="entr" presetID="22" presetSubtype="4">
                                  <p:stCondLst>
                                    <p:cond delay="0"/>
                                  </p:stCondLst>
                                  <p:childTnLst>
                                    <p:set>
                                      <p:cBhvr>
                                        <p:cTn id="1292" dur="1" fill="hold">
                                          <p:stCondLst>
                                            <p:cond delay="0"/>
                                          </p:stCondLst>
                                        </p:cTn>
                                        <p:tgtEl>
                                          <p:spTgt spid="289"/>
                                        </p:tgtEl>
                                        <p:attrNameLst>
                                          <p:attrName>style.visibility</p:attrName>
                                        </p:attrNameLst>
                                      </p:cBhvr>
                                      <p:to>
                                        <p:strVal val="visible"/>
                                      </p:to>
                                    </p:set>
                                    <p:animEffect filter="wipe(down)" transition="in">
                                      <p:cBhvr additive="repl">
                                        <p:cTn id="1293" dur="1000"/>
                                        <p:tgtEl>
                                          <p:spTgt spid="289"/>
                                        </p:tgtEl>
                                      </p:cBhvr>
                                    </p:animEffect>
                                  </p:childTnLst>
                                </p:cTn>
                              </p:par>
                            </p:childTnLst>
                          </p:cTn>
                        </p:par>
                      </p:childTnLst>
                    </p:cTn>
                  </p:par>
                  <p:par>
                    <p:cTn id="1294" nodeType="clickEffect" fill="hold">
                      <p:stCondLst>
                        <p:cond delay="indefinite"/>
                      </p:stCondLst>
                      <p:childTnLst>
                        <p:par>
                          <p:cTn id="1295" nodeType="withEffect" fill="hold">
                            <p:stCondLst>
                              <p:cond delay="0"/>
                            </p:stCondLst>
                            <p:childTnLst>
                              <p:par>
                                <p:cTn id="1296" nodeType="clickEffect" fill="hold" presetClass="entr" presetID="22" presetSubtype="8">
                                  <p:stCondLst>
                                    <p:cond delay="0"/>
                                  </p:stCondLst>
                                  <p:childTnLst>
                                    <p:set>
                                      <p:cBhvr>
                                        <p:cTn id="1297" dur="1" fill="hold">
                                          <p:stCondLst>
                                            <p:cond delay="0"/>
                                          </p:stCondLst>
                                        </p:cTn>
                                        <p:tgtEl>
                                          <p:spTgt spid="290"/>
                                        </p:tgtEl>
                                        <p:attrNameLst>
                                          <p:attrName>style.visibility</p:attrName>
                                        </p:attrNameLst>
                                      </p:cBhvr>
                                      <p:to>
                                        <p:strVal val="visible"/>
                                      </p:to>
                                    </p:set>
                                    <p:animEffect filter="wipe(left)" transition="in">
                                      <p:cBhvr additive="repl">
                                        <p:cTn id="1298" dur="1000"/>
                                        <p:tgtEl>
                                          <p:spTgt spid="290"/>
                                        </p:tgtEl>
                                      </p:cBhvr>
                                    </p:animEffect>
                                  </p:childTnLst>
                                </p:cTn>
                              </p:par>
                            </p:childTnLst>
                          </p:cTn>
                        </p:par>
                      </p:childTnLst>
                    </p:cTn>
                  </p:par>
                  <p:par>
                    <p:cTn id="1299" nodeType="clickEffect" fill="hold">
                      <p:stCondLst>
                        <p:cond delay="indefinite"/>
                      </p:stCondLst>
                      <p:childTnLst>
                        <p:par>
                          <p:cTn id="1300" nodeType="withEffect" fill="hold">
                            <p:stCondLst>
                              <p:cond delay="0"/>
                            </p:stCondLst>
                            <p:childTnLst>
                              <p:par>
                                <p:cTn id="1301" nodeType="clickEffect" fill="hold" presetClass="entr" presetID="10">
                                  <p:stCondLst>
                                    <p:cond delay="0"/>
                                  </p:stCondLst>
                                  <p:childTnLst>
                                    <p:set>
                                      <p:cBhvr>
                                        <p:cTn id="1302" dur="1" fill="hold">
                                          <p:stCondLst>
                                            <p:cond delay="0"/>
                                          </p:stCondLst>
                                        </p:cTn>
                                        <p:tgtEl>
                                          <p:spTgt spid="291"/>
                                        </p:tgtEl>
                                        <p:attrNameLst>
                                          <p:attrName>style.visibility</p:attrName>
                                        </p:attrNameLst>
                                      </p:cBhvr>
                                      <p:to>
                                        <p:strVal val="visible"/>
                                      </p:to>
                                    </p:set>
                                    <p:animEffect filter="fade" transition="in">
                                      <p:cBhvr additive="repl">
                                        <p:cTn id="1303" dur="5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29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Overproduction</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When the government pays producers a subsidy, the quantity produced exceeds the efficient quantity.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 deadweight loss arises that reduces total surplus to less than its maximum.</a:t>
            </a:r>
            <a:endParaRPr b="0" lang="en-US" sz="2400" strike="noStrike" u="none">
              <a:solidFill>
                <a:srgbClr val="000000"/>
              </a:solidFill>
              <a:effectLst/>
              <a:uFillTx/>
              <a:latin typeface="Arial"/>
            </a:endParaRPr>
          </a:p>
        </p:txBody>
      </p:sp>
    </p:spTree>
  </p:cSld>
  <p:transition spd="slow">
    <p:wipe dir="r"/>
  </p:transition>
  <p:timing>
    <p:tnLst>
      <p:par>
        <p:cTn id="1304" dur="indefinite" restart="never" nodeType="tmRoot">
          <p:childTnLst>
            <p:seq>
              <p:cTn id="1305" dur="indefinite" nodeType="mainSeq">
                <p:childTnLst>
                  <p:par>
                    <p:cTn id="1306" nodeType="clickEffect" fill="hold">
                      <p:stCondLst>
                        <p:cond delay="indefinite"/>
                      </p:stCondLst>
                      <p:childTnLst>
                        <p:par>
                          <p:cTn id="1307" nodeType="withEffect" fill="hold">
                            <p:stCondLst>
                              <p:cond delay="0"/>
                            </p:stCondLst>
                            <p:childTnLst>
                              <p:par>
                                <p:cTn id="1308" nodeType="clickEffect" fill="hold" presetClass="entr" presetID="22" presetSubtype="8">
                                  <p:stCondLst>
                                    <p:cond delay="0"/>
                                  </p:stCondLst>
                                  <p:childTnLst>
                                    <p:set>
                                      <p:cBhvr>
                                        <p:cTn id="1309" dur="1" fill="hold">
                                          <p:stCondLst>
                                            <p:cond delay="0"/>
                                          </p:stCondLst>
                                        </p:cTn>
                                        <p:tgtEl>
                                          <p:spTgt spid="293">
                                            <p:txEl>
                                              <p:pRg st="1" end="1"/>
                                            </p:txEl>
                                          </p:spTgt>
                                        </p:tgtEl>
                                        <p:attrNameLst>
                                          <p:attrName>style.visibility</p:attrName>
                                        </p:attrNameLst>
                                      </p:cBhvr>
                                      <p:to>
                                        <p:strVal val="visible"/>
                                      </p:to>
                                    </p:set>
                                    <p:animEffect filter="wipe(left)" transition="in">
                                      <p:cBhvr additive="repl">
                                        <p:cTn id="1310" dur="750"/>
                                        <p:tgtEl>
                                          <p:spTgt spid="293">
                                            <p:txEl>
                                              <p:pRg st="1" end="1"/>
                                            </p:txEl>
                                          </p:spTgt>
                                        </p:tgtEl>
                                      </p:cBhvr>
                                    </p:animEffect>
                                  </p:childTnLst>
                                </p:cTn>
                              </p:par>
                            </p:childTnLst>
                          </p:cTn>
                        </p:par>
                      </p:childTnLst>
                    </p:cTn>
                  </p:par>
                  <p:par>
                    <p:cTn id="1311" nodeType="clickEffect" fill="hold">
                      <p:stCondLst>
                        <p:cond delay="indefinite"/>
                      </p:stCondLst>
                      <p:childTnLst>
                        <p:par>
                          <p:cTn id="1312" nodeType="withEffect" fill="hold">
                            <p:stCondLst>
                              <p:cond delay="0"/>
                            </p:stCondLst>
                            <p:childTnLst>
                              <p:par>
                                <p:cTn id="1313" nodeType="clickEffect" fill="hold" presetClass="entr" presetID="22" presetSubtype="8">
                                  <p:stCondLst>
                                    <p:cond delay="0"/>
                                  </p:stCondLst>
                                  <p:childTnLst>
                                    <p:set>
                                      <p:cBhvr>
                                        <p:cTn id="1314" dur="1" fill="hold">
                                          <p:stCondLst>
                                            <p:cond delay="0"/>
                                          </p:stCondLst>
                                        </p:cTn>
                                        <p:tgtEl>
                                          <p:spTgt spid="293">
                                            <p:txEl>
                                              <p:pRg st="2" end="2"/>
                                            </p:txEl>
                                          </p:spTgt>
                                        </p:tgtEl>
                                        <p:attrNameLst>
                                          <p:attrName>style.visibility</p:attrName>
                                        </p:attrNameLst>
                                      </p:cBhvr>
                                      <p:to>
                                        <p:strVal val="visible"/>
                                      </p:to>
                                    </p:set>
                                    <p:animEffect filter="wipe(left)" transition="in">
                                      <p:cBhvr additive="repl">
                                        <p:cTn id="1315" dur="750"/>
                                        <p:tgtEl>
                                          <p:spTgt spid="293">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295" name="PlaceHolder 2"/>
          <p:cNvSpPr>
            <a:spLocks noGrp="1"/>
          </p:cNvSpPr>
          <p:nvPr>
            <p:ph/>
          </p:nvPr>
        </p:nvSpPr>
        <p:spPr>
          <a:xfrm>
            <a:off x="360360" y="1440000"/>
            <a:ext cx="44395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6.9(b) shows the effects of overproduction.</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Efficient quantity is 10,000 pizzas.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If production is 15,000 pizzas: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 deadweight loss arises.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Total surplus is reduced by the amount of the deadweight loss.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Overproduction is inefficient.</a:t>
            </a:r>
            <a:endParaRPr b="0" lang="en-US" sz="2400" strike="noStrike" u="none">
              <a:solidFill>
                <a:srgbClr val="000000"/>
              </a:solidFill>
              <a:effectLst/>
              <a:uFillTx/>
              <a:latin typeface="Arial"/>
            </a:endParaRPr>
          </a:p>
        </p:txBody>
      </p:sp>
      <p:pic>
        <p:nvPicPr>
          <p:cNvPr id="296" name="Picture 11" descr="fig0609ba.gif"/>
          <p:cNvPicPr/>
          <p:nvPr/>
        </p:nvPicPr>
        <p:blipFill>
          <a:blip r:embed="rId1"/>
          <a:stretch/>
        </p:blipFill>
        <p:spPr>
          <a:xfrm>
            <a:off x="4500720" y="1440000"/>
            <a:ext cx="4006080" cy="4500000"/>
          </a:xfrm>
          <a:prstGeom prst="rect">
            <a:avLst/>
          </a:prstGeom>
          <a:noFill/>
          <a:ln w="0">
            <a:noFill/>
          </a:ln>
        </p:spPr>
      </p:pic>
      <p:pic>
        <p:nvPicPr>
          <p:cNvPr id="297" name="Picture 12" descr="fig0609bb.gif"/>
          <p:cNvPicPr/>
          <p:nvPr/>
        </p:nvPicPr>
        <p:blipFill>
          <a:blip r:embed="rId2"/>
          <a:stretch/>
        </p:blipFill>
        <p:spPr>
          <a:xfrm>
            <a:off x="4500720" y="1440000"/>
            <a:ext cx="4006080" cy="4500000"/>
          </a:xfrm>
          <a:prstGeom prst="rect">
            <a:avLst/>
          </a:prstGeom>
          <a:noFill/>
          <a:ln w="0">
            <a:noFill/>
          </a:ln>
        </p:spPr>
      </p:pic>
      <p:pic>
        <p:nvPicPr>
          <p:cNvPr id="298" name="Picture 13" descr="fig0609bc.gif"/>
          <p:cNvPicPr/>
          <p:nvPr/>
        </p:nvPicPr>
        <p:blipFill>
          <a:blip r:embed="rId3"/>
          <a:stretch/>
        </p:blipFill>
        <p:spPr>
          <a:xfrm>
            <a:off x="4500720" y="1440000"/>
            <a:ext cx="4006080" cy="4500000"/>
          </a:xfrm>
          <a:prstGeom prst="rect">
            <a:avLst/>
          </a:prstGeom>
          <a:noFill/>
          <a:ln w="0">
            <a:noFill/>
          </a:ln>
        </p:spPr>
      </p:pic>
      <p:pic>
        <p:nvPicPr>
          <p:cNvPr id="299" name="Picture 16" descr="fig0609bd.gif"/>
          <p:cNvPicPr/>
          <p:nvPr/>
        </p:nvPicPr>
        <p:blipFill>
          <a:blip r:embed="rId4"/>
          <a:stretch/>
        </p:blipFill>
        <p:spPr>
          <a:xfrm>
            <a:off x="4500720" y="1440000"/>
            <a:ext cx="4006080" cy="4500000"/>
          </a:xfrm>
          <a:prstGeom prst="rect">
            <a:avLst/>
          </a:prstGeom>
          <a:noFill/>
          <a:ln w="0">
            <a:noFill/>
          </a:ln>
        </p:spPr>
      </p:pic>
      <p:pic>
        <p:nvPicPr>
          <p:cNvPr id="300" name="Picture 17" descr="fig0609be.gif"/>
          <p:cNvPicPr/>
          <p:nvPr/>
        </p:nvPicPr>
        <p:blipFill>
          <a:blip r:embed="rId5"/>
          <a:stretch/>
        </p:blipFill>
        <p:spPr>
          <a:xfrm>
            <a:off x="4500720" y="1440000"/>
            <a:ext cx="4006080" cy="4500000"/>
          </a:xfrm>
          <a:prstGeom prst="rect">
            <a:avLst/>
          </a:prstGeom>
          <a:noFill/>
          <a:ln w="0">
            <a:noFill/>
          </a:ln>
        </p:spPr>
      </p:pic>
    </p:spTree>
  </p:cSld>
  <p:transition spd="slow">
    <p:wipe dir="r"/>
  </p:transition>
  <p:timing>
    <p:tnLst>
      <p:par>
        <p:cTn id="1316" dur="indefinite" restart="never" nodeType="tmRoot">
          <p:childTnLst>
            <p:seq>
              <p:cTn id="1317" dur="indefinite" nodeType="mainSeq">
                <p:childTnLst>
                  <p:par>
                    <p:cTn id="1318" nodeType="clickEffect" fill="hold">
                      <p:stCondLst>
                        <p:cond delay="indefinite"/>
                      </p:stCondLst>
                      <p:childTnLst>
                        <p:par>
                          <p:cTn id="1319" nodeType="withEffect" fill="hold">
                            <p:stCondLst>
                              <p:cond delay="0"/>
                            </p:stCondLst>
                            <p:childTnLst>
                              <p:par>
                                <p:cTn id="1320" nodeType="clickEffect" fill="hold" presetClass="entr" presetID="22" presetSubtype="8">
                                  <p:stCondLst>
                                    <p:cond delay="0"/>
                                  </p:stCondLst>
                                  <p:childTnLst>
                                    <p:set>
                                      <p:cBhvr>
                                        <p:cTn id="1321" dur="1" fill="hold">
                                          <p:stCondLst>
                                            <p:cond delay="0"/>
                                          </p:stCondLst>
                                        </p:cTn>
                                        <p:tgtEl>
                                          <p:spTgt spid="295">
                                            <p:txEl>
                                              <p:pRg st="0" end="0"/>
                                            </p:txEl>
                                          </p:spTgt>
                                        </p:tgtEl>
                                        <p:attrNameLst>
                                          <p:attrName>style.visibility</p:attrName>
                                        </p:attrNameLst>
                                      </p:cBhvr>
                                      <p:to>
                                        <p:strVal val="visible"/>
                                      </p:to>
                                    </p:set>
                                    <p:animEffect filter="wipe(left)" transition="in">
                                      <p:cBhvr additive="repl">
                                        <p:cTn id="1322" dur="750"/>
                                        <p:tgtEl>
                                          <p:spTgt spid="295">
                                            <p:txEl>
                                              <p:pRg st="0" end="0"/>
                                            </p:txEl>
                                          </p:spTgt>
                                        </p:tgtEl>
                                      </p:cBhvr>
                                    </p:animEffect>
                                  </p:childTnLst>
                                </p:cTn>
                              </p:par>
                            </p:childTnLst>
                          </p:cTn>
                        </p:par>
                      </p:childTnLst>
                    </p:cTn>
                  </p:par>
                  <p:par>
                    <p:cTn id="1323" nodeType="clickEffect" fill="hold">
                      <p:stCondLst>
                        <p:cond delay="indefinite"/>
                      </p:stCondLst>
                      <p:childTnLst>
                        <p:par>
                          <p:cTn id="1324" nodeType="withEffect" fill="hold">
                            <p:stCondLst>
                              <p:cond delay="0"/>
                            </p:stCondLst>
                            <p:childTnLst>
                              <p:par>
                                <p:cTn id="1325" nodeType="clickEffect" fill="hold" presetClass="entr" presetID="22" presetSubtype="8">
                                  <p:stCondLst>
                                    <p:cond delay="0"/>
                                  </p:stCondLst>
                                  <p:childTnLst>
                                    <p:set>
                                      <p:cBhvr>
                                        <p:cTn id="1326" dur="1" fill="hold">
                                          <p:stCondLst>
                                            <p:cond delay="0"/>
                                          </p:stCondLst>
                                        </p:cTn>
                                        <p:tgtEl>
                                          <p:spTgt spid="295">
                                            <p:txEl>
                                              <p:pRg st="1" end="1"/>
                                            </p:txEl>
                                          </p:spTgt>
                                        </p:tgtEl>
                                        <p:attrNameLst>
                                          <p:attrName>style.visibility</p:attrName>
                                        </p:attrNameLst>
                                      </p:cBhvr>
                                      <p:to>
                                        <p:strVal val="visible"/>
                                      </p:to>
                                    </p:set>
                                    <p:animEffect filter="wipe(left)" transition="in">
                                      <p:cBhvr additive="repl">
                                        <p:cTn id="1327" dur="750"/>
                                        <p:tgtEl>
                                          <p:spTgt spid="295">
                                            <p:txEl>
                                              <p:pRg st="1" end="1"/>
                                            </p:txEl>
                                          </p:spTgt>
                                        </p:tgtEl>
                                      </p:cBhvr>
                                    </p:animEffect>
                                  </p:childTnLst>
                                </p:cTn>
                              </p:par>
                              <p:par>
                                <p:cTn id="1328" nodeType="withEffect" fill="hold" presetClass="entr" presetID="22" presetSubtype="8">
                                  <p:stCondLst>
                                    <p:cond delay="0"/>
                                  </p:stCondLst>
                                  <p:childTnLst>
                                    <p:set>
                                      <p:cBhvr>
                                        <p:cTn id="1329" dur="1" fill="hold">
                                          <p:stCondLst>
                                            <p:cond delay="0"/>
                                          </p:stCondLst>
                                        </p:cTn>
                                        <p:tgtEl>
                                          <p:spTgt spid="297"/>
                                        </p:tgtEl>
                                        <p:attrNameLst>
                                          <p:attrName>style.visibility</p:attrName>
                                        </p:attrNameLst>
                                      </p:cBhvr>
                                      <p:to>
                                        <p:strVal val="visible"/>
                                      </p:to>
                                    </p:set>
                                    <p:animEffect filter="wipe(left)" transition="in">
                                      <p:cBhvr additive="repl">
                                        <p:cTn id="1330" dur="1000"/>
                                        <p:tgtEl>
                                          <p:spTgt spid="297"/>
                                        </p:tgtEl>
                                      </p:cBhvr>
                                    </p:animEffect>
                                  </p:childTnLst>
                                </p:cTn>
                              </p:par>
                            </p:childTnLst>
                          </p:cTn>
                        </p:par>
                      </p:childTnLst>
                    </p:cTn>
                  </p:par>
                  <p:par>
                    <p:cTn id="1331" nodeType="clickEffect" fill="hold">
                      <p:stCondLst>
                        <p:cond delay="indefinite"/>
                      </p:stCondLst>
                      <p:childTnLst>
                        <p:par>
                          <p:cTn id="1332" nodeType="withEffect" fill="hold">
                            <p:stCondLst>
                              <p:cond delay="0"/>
                            </p:stCondLst>
                            <p:childTnLst>
                              <p:par>
                                <p:cTn id="1333" nodeType="clickEffect" fill="hold" presetClass="entr" presetID="22" presetSubtype="8">
                                  <p:stCondLst>
                                    <p:cond delay="0"/>
                                  </p:stCondLst>
                                  <p:childTnLst>
                                    <p:set>
                                      <p:cBhvr>
                                        <p:cTn id="1334" dur="1" fill="hold">
                                          <p:stCondLst>
                                            <p:cond delay="0"/>
                                          </p:stCondLst>
                                        </p:cTn>
                                        <p:tgtEl>
                                          <p:spTgt spid="295">
                                            <p:txEl>
                                              <p:pRg st="2" end="2"/>
                                            </p:txEl>
                                          </p:spTgt>
                                        </p:tgtEl>
                                        <p:attrNameLst>
                                          <p:attrName>style.visibility</p:attrName>
                                        </p:attrNameLst>
                                      </p:cBhvr>
                                      <p:to>
                                        <p:strVal val="visible"/>
                                      </p:to>
                                    </p:set>
                                    <p:animEffect filter="wipe(left)" transition="in">
                                      <p:cBhvr additive="repl">
                                        <p:cTn id="1335" dur="750"/>
                                        <p:tgtEl>
                                          <p:spTgt spid="295">
                                            <p:txEl>
                                              <p:pRg st="2" end="2"/>
                                            </p:txEl>
                                          </p:spTgt>
                                        </p:tgtEl>
                                      </p:cBhvr>
                                    </p:animEffect>
                                  </p:childTnLst>
                                </p:cTn>
                              </p:par>
                              <p:par>
                                <p:cTn id="1336" nodeType="withEffect" fill="hold" presetClass="entr" presetID="22" presetSubtype="4">
                                  <p:stCondLst>
                                    <p:cond delay="0"/>
                                  </p:stCondLst>
                                  <p:childTnLst>
                                    <p:set>
                                      <p:cBhvr>
                                        <p:cTn id="1337" dur="1" fill="hold">
                                          <p:stCondLst>
                                            <p:cond delay="0"/>
                                          </p:stCondLst>
                                        </p:cTn>
                                        <p:tgtEl>
                                          <p:spTgt spid="298"/>
                                        </p:tgtEl>
                                        <p:attrNameLst>
                                          <p:attrName>style.visibility</p:attrName>
                                        </p:attrNameLst>
                                      </p:cBhvr>
                                      <p:to>
                                        <p:strVal val="visible"/>
                                      </p:to>
                                    </p:set>
                                    <p:animEffect filter="wipe(down)" transition="in">
                                      <p:cBhvr additive="repl">
                                        <p:cTn id="1338" dur="1000"/>
                                        <p:tgtEl>
                                          <p:spTgt spid="298"/>
                                        </p:tgtEl>
                                      </p:cBhvr>
                                    </p:animEffect>
                                  </p:childTnLst>
                                </p:cTn>
                              </p:par>
                            </p:childTnLst>
                          </p:cTn>
                        </p:par>
                      </p:childTnLst>
                    </p:cTn>
                  </p:par>
                  <p:par>
                    <p:cTn id="1339" nodeType="clickEffect" fill="hold">
                      <p:stCondLst>
                        <p:cond delay="indefinite"/>
                      </p:stCondLst>
                      <p:childTnLst>
                        <p:par>
                          <p:cTn id="1340" nodeType="withEffect" fill="hold">
                            <p:stCondLst>
                              <p:cond delay="0"/>
                            </p:stCondLst>
                            <p:childTnLst>
                              <p:par>
                                <p:cTn id="1341" nodeType="clickEffect" fill="hold" presetClass="entr" presetID="22" presetSubtype="8">
                                  <p:stCondLst>
                                    <p:cond delay="0"/>
                                  </p:stCondLst>
                                  <p:childTnLst>
                                    <p:set>
                                      <p:cBhvr>
                                        <p:cTn id="1342" dur="1" fill="hold">
                                          <p:stCondLst>
                                            <p:cond delay="0"/>
                                          </p:stCondLst>
                                        </p:cTn>
                                        <p:tgtEl>
                                          <p:spTgt spid="295">
                                            <p:txEl>
                                              <p:pRg st="3" end="3"/>
                                            </p:txEl>
                                          </p:spTgt>
                                        </p:tgtEl>
                                        <p:attrNameLst>
                                          <p:attrName>style.visibility</p:attrName>
                                        </p:attrNameLst>
                                      </p:cBhvr>
                                      <p:to>
                                        <p:strVal val="visible"/>
                                      </p:to>
                                    </p:set>
                                    <p:animEffect filter="wipe(left)" transition="in">
                                      <p:cBhvr additive="repl">
                                        <p:cTn id="1343" dur="750"/>
                                        <p:tgtEl>
                                          <p:spTgt spid="295">
                                            <p:txEl>
                                              <p:pRg st="3" end="3"/>
                                            </p:txEl>
                                          </p:spTgt>
                                        </p:tgtEl>
                                      </p:cBhvr>
                                    </p:animEffect>
                                  </p:childTnLst>
                                </p:cTn>
                              </p:par>
                              <p:par>
                                <p:cTn id="1344" nodeType="withEffect" fill="hold" presetClass="entr" presetID="22" presetSubtype="8">
                                  <p:stCondLst>
                                    <p:cond delay="0"/>
                                  </p:stCondLst>
                                  <p:childTnLst>
                                    <p:set>
                                      <p:cBhvr>
                                        <p:cTn id="1345" dur="1" fill="hold">
                                          <p:stCondLst>
                                            <p:cond delay="0"/>
                                          </p:stCondLst>
                                        </p:cTn>
                                        <p:tgtEl>
                                          <p:spTgt spid="299"/>
                                        </p:tgtEl>
                                        <p:attrNameLst>
                                          <p:attrName>style.visibility</p:attrName>
                                        </p:attrNameLst>
                                      </p:cBhvr>
                                      <p:to>
                                        <p:strVal val="visible"/>
                                      </p:to>
                                    </p:set>
                                    <p:animEffect filter="wipe(left)" transition="in">
                                      <p:cBhvr additive="repl">
                                        <p:cTn id="1346" dur="1000"/>
                                        <p:tgtEl>
                                          <p:spTgt spid="299"/>
                                        </p:tgtEl>
                                      </p:cBhvr>
                                    </p:animEffect>
                                  </p:childTnLst>
                                </p:cTn>
                              </p:par>
                              <p:par>
                                <p:cTn id="1347" nodeType="withEffect" fill="hold" presetClass="entr" presetID="10">
                                  <p:stCondLst>
                                    <p:cond delay="1100"/>
                                  </p:stCondLst>
                                  <p:childTnLst>
                                    <p:set>
                                      <p:cBhvr>
                                        <p:cTn id="1348" dur="1" fill="hold">
                                          <p:stCondLst>
                                            <p:cond delay="0"/>
                                          </p:stCondLst>
                                        </p:cTn>
                                        <p:tgtEl>
                                          <p:spTgt spid="300"/>
                                        </p:tgtEl>
                                        <p:attrNameLst>
                                          <p:attrName>style.visibility</p:attrName>
                                        </p:attrNameLst>
                                      </p:cBhvr>
                                      <p:to>
                                        <p:strVal val="visible"/>
                                      </p:to>
                                    </p:set>
                                    <p:animEffect filter="fade" transition="in">
                                      <p:cBhvr additive="repl">
                                        <p:cTn id="1349" dur="500"/>
                                        <p:tgtEl>
                                          <p:spTgt spid="300"/>
                                        </p:tgtEl>
                                      </p:cBhvr>
                                    </p:animEffect>
                                  </p:childTnLst>
                                </p:cTn>
                              </p:par>
                            </p:childTnLst>
                          </p:cTn>
                        </p:par>
                      </p:childTnLst>
                    </p:cTn>
                  </p:par>
                  <p:par>
                    <p:cTn id="1350" nodeType="clickEffect" fill="hold">
                      <p:stCondLst>
                        <p:cond delay="indefinite"/>
                      </p:stCondLst>
                      <p:childTnLst>
                        <p:par>
                          <p:cTn id="1351" nodeType="withEffect" fill="hold">
                            <p:stCondLst>
                              <p:cond delay="0"/>
                            </p:stCondLst>
                            <p:childTnLst>
                              <p:par>
                                <p:cTn id="1352" nodeType="clickEffect" fill="hold" presetClass="entr" presetID="22" presetSubtype="8">
                                  <p:stCondLst>
                                    <p:cond delay="0"/>
                                  </p:stCondLst>
                                  <p:childTnLst>
                                    <p:set>
                                      <p:cBhvr>
                                        <p:cTn id="1353" dur="1" fill="hold">
                                          <p:stCondLst>
                                            <p:cond delay="0"/>
                                          </p:stCondLst>
                                        </p:cTn>
                                        <p:tgtEl>
                                          <p:spTgt spid="295">
                                            <p:txEl>
                                              <p:pRg st="4" end="4"/>
                                            </p:txEl>
                                          </p:spTgt>
                                        </p:tgtEl>
                                        <p:attrNameLst>
                                          <p:attrName>style.visibility</p:attrName>
                                        </p:attrNameLst>
                                      </p:cBhvr>
                                      <p:to>
                                        <p:strVal val="visible"/>
                                      </p:to>
                                    </p:set>
                                    <p:animEffect filter="wipe(left)" transition="in">
                                      <p:cBhvr additive="repl">
                                        <p:cTn id="1354" dur="750"/>
                                        <p:tgtEl>
                                          <p:spTgt spid="295">
                                            <p:txEl>
                                              <p:pRg st="4" end="4"/>
                                            </p:txEl>
                                          </p:spTgt>
                                        </p:tgtEl>
                                      </p:cBhvr>
                                    </p:animEffect>
                                  </p:childTnLst>
                                </p:cTn>
                              </p:par>
                            </p:childTnLst>
                          </p:cTn>
                        </p:par>
                      </p:childTnLst>
                    </p:cTn>
                  </p:par>
                  <p:par>
                    <p:cTn id="1355" nodeType="clickEffect" fill="hold">
                      <p:stCondLst>
                        <p:cond delay="indefinite"/>
                      </p:stCondLst>
                      <p:childTnLst>
                        <p:par>
                          <p:cTn id="1356" nodeType="withEffect" fill="hold">
                            <p:stCondLst>
                              <p:cond delay="0"/>
                            </p:stCondLst>
                            <p:childTnLst>
                              <p:par>
                                <p:cTn id="1357" nodeType="clickEffect" fill="hold" presetClass="entr" presetID="22" presetSubtype="8">
                                  <p:stCondLst>
                                    <p:cond delay="0"/>
                                  </p:stCondLst>
                                  <p:childTnLst>
                                    <p:set>
                                      <p:cBhvr>
                                        <p:cTn id="1358" dur="1" fill="hold">
                                          <p:stCondLst>
                                            <p:cond delay="0"/>
                                          </p:stCondLst>
                                        </p:cTn>
                                        <p:tgtEl>
                                          <p:spTgt spid="295">
                                            <p:txEl>
                                              <p:pRg st="5" end="5"/>
                                            </p:txEl>
                                          </p:spTgt>
                                        </p:tgtEl>
                                        <p:attrNameLst>
                                          <p:attrName>style.visibility</p:attrName>
                                        </p:attrNameLst>
                                      </p:cBhvr>
                                      <p:to>
                                        <p:strVal val="visible"/>
                                      </p:to>
                                    </p:set>
                                    <p:animEffect filter="wipe(left)" transition="in">
                                      <p:cBhvr additive="repl">
                                        <p:cTn id="1359" dur="750"/>
                                        <p:tgtEl>
                                          <p:spTgt spid="295">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01" name="Picture 4" descr="fig0609ba.gif"/>
          <p:cNvPicPr/>
          <p:nvPr/>
        </p:nvPicPr>
        <p:blipFill>
          <a:blip r:embed="rId1"/>
          <a:stretch/>
        </p:blipFill>
        <p:spPr>
          <a:xfrm>
            <a:off x="1979640" y="431640"/>
            <a:ext cx="5342760" cy="6000120"/>
          </a:xfrm>
          <a:prstGeom prst="rect">
            <a:avLst/>
          </a:prstGeom>
          <a:noFill/>
          <a:ln w="0">
            <a:noFill/>
          </a:ln>
        </p:spPr>
      </p:pic>
      <p:pic>
        <p:nvPicPr>
          <p:cNvPr id="302" name="Picture 5" descr="fig0609bb.gif"/>
          <p:cNvPicPr/>
          <p:nvPr/>
        </p:nvPicPr>
        <p:blipFill>
          <a:blip r:embed="rId2"/>
          <a:stretch/>
        </p:blipFill>
        <p:spPr>
          <a:xfrm>
            <a:off x="1979640" y="431640"/>
            <a:ext cx="5342760" cy="6000120"/>
          </a:xfrm>
          <a:prstGeom prst="rect">
            <a:avLst/>
          </a:prstGeom>
          <a:noFill/>
          <a:ln w="0">
            <a:noFill/>
          </a:ln>
        </p:spPr>
      </p:pic>
      <p:pic>
        <p:nvPicPr>
          <p:cNvPr id="303" name="Picture 6" descr="fig0609bc.gif"/>
          <p:cNvPicPr/>
          <p:nvPr/>
        </p:nvPicPr>
        <p:blipFill>
          <a:blip r:embed="rId3"/>
          <a:stretch/>
        </p:blipFill>
        <p:spPr>
          <a:xfrm>
            <a:off x="1979640" y="431640"/>
            <a:ext cx="5342760" cy="6000120"/>
          </a:xfrm>
          <a:prstGeom prst="rect">
            <a:avLst/>
          </a:prstGeom>
          <a:noFill/>
          <a:ln w="0">
            <a:noFill/>
          </a:ln>
        </p:spPr>
      </p:pic>
      <p:pic>
        <p:nvPicPr>
          <p:cNvPr id="304" name="Picture 7" descr="fig0609bd.gif"/>
          <p:cNvPicPr/>
          <p:nvPr/>
        </p:nvPicPr>
        <p:blipFill>
          <a:blip r:embed="rId4"/>
          <a:stretch/>
        </p:blipFill>
        <p:spPr>
          <a:xfrm>
            <a:off x="1979640" y="431640"/>
            <a:ext cx="5342760" cy="6000120"/>
          </a:xfrm>
          <a:prstGeom prst="rect">
            <a:avLst/>
          </a:prstGeom>
          <a:noFill/>
          <a:ln w="0">
            <a:noFill/>
          </a:ln>
        </p:spPr>
      </p:pic>
      <p:pic>
        <p:nvPicPr>
          <p:cNvPr id="305" name="Picture 10" descr="fig0609be.gif"/>
          <p:cNvPicPr/>
          <p:nvPr/>
        </p:nvPicPr>
        <p:blipFill>
          <a:blip r:embed="rId5"/>
          <a:stretch/>
        </p:blipFill>
        <p:spPr>
          <a:xfrm>
            <a:off x="1979640" y="431640"/>
            <a:ext cx="5342760" cy="6000120"/>
          </a:xfrm>
          <a:prstGeom prst="rect">
            <a:avLst/>
          </a:prstGeom>
          <a:noFill/>
          <a:ln w="0">
            <a:noFill/>
          </a:ln>
        </p:spPr>
      </p:pic>
    </p:spTree>
  </p:cSld>
  <p:transition spd="slow">
    <p:wipe dir="r"/>
  </p:transition>
  <p:timing>
    <p:tnLst>
      <p:par>
        <p:cTn id="1360" dur="indefinite" restart="never" nodeType="tmRoot">
          <p:childTnLst>
            <p:seq>
              <p:cTn id="1361" dur="indefinite" nodeType="mainSeq">
                <p:childTnLst>
                  <p:par>
                    <p:cTn id="1362" nodeType="clickEffect" fill="hold">
                      <p:stCondLst>
                        <p:cond delay="indefinite"/>
                      </p:stCondLst>
                      <p:childTnLst>
                        <p:par>
                          <p:cTn id="1363" nodeType="withEffect" fill="hold">
                            <p:stCondLst>
                              <p:cond delay="0"/>
                            </p:stCondLst>
                            <p:childTnLst>
                              <p:par>
                                <p:cTn id="1364" nodeType="clickEffect" fill="hold" presetClass="entr" presetID="22" presetSubtype="8">
                                  <p:stCondLst>
                                    <p:cond delay="0"/>
                                  </p:stCondLst>
                                  <p:childTnLst>
                                    <p:set>
                                      <p:cBhvr>
                                        <p:cTn id="1365" dur="1" fill="hold">
                                          <p:stCondLst>
                                            <p:cond delay="0"/>
                                          </p:stCondLst>
                                        </p:cTn>
                                        <p:tgtEl>
                                          <p:spTgt spid="302"/>
                                        </p:tgtEl>
                                        <p:attrNameLst>
                                          <p:attrName>style.visibility</p:attrName>
                                        </p:attrNameLst>
                                      </p:cBhvr>
                                      <p:to>
                                        <p:strVal val="visible"/>
                                      </p:to>
                                    </p:set>
                                    <p:animEffect filter="wipe(left)" transition="in">
                                      <p:cBhvr additive="repl">
                                        <p:cTn id="1366" dur="1000"/>
                                        <p:tgtEl>
                                          <p:spTgt spid="302"/>
                                        </p:tgtEl>
                                      </p:cBhvr>
                                    </p:animEffect>
                                  </p:childTnLst>
                                </p:cTn>
                              </p:par>
                            </p:childTnLst>
                          </p:cTn>
                        </p:par>
                      </p:childTnLst>
                    </p:cTn>
                  </p:par>
                  <p:par>
                    <p:cTn id="1367" nodeType="clickEffect" fill="hold">
                      <p:stCondLst>
                        <p:cond delay="indefinite"/>
                      </p:stCondLst>
                      <p:childTnLst>
                        <p:par>
                          <p:cTn id="1368" nodeType="withEffect" fill="hold">
                            <p:stCondLst>
                              <p:cond delay="0"/>
                            </p:stCondLst>
                            <p:childTnLst>
                              <p:par>
                                <p:cTn id="1369" nodeType="clickEffect" fill="hold" presetClass="entr" presetID="22" presetSubtype="4">
                                  <p:stCondLst>
                                    <p:cond delay="0"/>
                                  </p:stCondLst>
                                  <p:childTnLst>
                                    <p:set>
                                      <p:cBhvr>
                                        <p:cTn id="1370" dur="1" fill="hold">
                                          <p:stCondLst>
                                            <p:cond delay="0"/>
                                          </p:stCondLst>
                                        </p:cTn>
                                        <p:tgtEl>
                                          <p:spTgt spid="303"/>
                                        </p:tgtEl>
                                        <p:attrNameLst>
                                          <p:attrName>style.visibility</p:attrName>
                                        </p:attrNameLst>
                                      </p:cBhvr>
                                      <p:to>
                                        <p:strVal val="visible"/>
                                      </p:to>
                                    </p:set>
                                    <p:animEffect filter="wipe(down)" transition="in">
                                      <p:cBhvr additive="repl">
                                        <p:cTn id="1371" dur="1000"/>
                                        <p:tgtEl>
                                          <p:spTgt spid="303"/>
                                        </p:tgtEl>
                                      </p:cBhvr>
                                    </p:animEffect>
                                  </p:childTnLst>
                                </p:cTn>
                              </p:par>
                            </p:childTnLst>
                          </p:cTn>
                        </p:par>
                      </p:childTnLst>
                    </p:cTn>
                  </p:par>
                  <p:par>
                    <p:cTn id="1372" nodeType="clickEffect" fill="hold">
                      <p:stCondLst>
                        <p:cond delay="indefinite"/>
                      </p:stCondLst>
                      <p:childTnLst>
                        <p:par>
                          <p:cTn id="1373" nodeType="withEffect" fill="hold">
                            <p:stCondLst>
                              <p:cond delay="0"/>
                            </p:stCondLst>
                            <p:childTnLst>
                              <p:par>
                                <p:cTn id="1374" nodeType="clickEffect" fill="hold" presetClass="entr" presetID="22" presetSubtype="8">
                                  <p:stCondLst>
                                    <p:cond delay="0"/>
                                  </p:stCondLst>
                                  <p:childTnLst>
                                    <p:set>
                                      <p:cBhvr>
                                        <p:cTn id="1375" dur="1" fill="hold">
                                          <p:stCondLst>
                                            <p:cond delay="0"/>
                                          </p:stCondLst>
                                        </p:cTn>
                                        <p:tgtEl>
                                          <p:spTgt spid="304"/>
                                        </p:tgtEl>
                                        <p:attrNameLst>
                                          <p:attrName>style.visibility</p:attrName>
                                        </p:attrNameLst>
                                      </p:cBhvr>
                                      <p:to>
                                        <p:strVal val="visible"/>
                                      </p:to>
                                    </p:set>
                                    <p:animEffect filter="wipe(left)" transition="in">
                                      <p:cBhvr additive="repl">
                                        <p:cTn id="1376" dur="1000"/>
                                        <p:tgtEl>
                                          <p:spTgt spid="304"/>
                                        </p:tgtEl>
                                      </p:cBhvr>
                                    </p:animEffect>
                                  </p:childTnLst>
                                </p:cTn>
                              </p:par>
                            </p:childTnLst>
                          </p:cTn>
                        </p:par>
                      </p:childTnLst>
                    </p:cTn>
                  </p:par>
                  <p:par>
                    <p:cTn id="1377" nodeType="clickEffect" fill="hold">
                      <p:stCondLst>
                        <p:cond delay="indefinite"/>
                      </p:stCondLst>
                      <p:childTnLst>
                        <p:par>
                          <p:cTn id="1378" nodeType="withEffect" fill="hold">
                            <p:stCondLst>
                              <p:cond delay="0"/>
                            </p:stCondLst>
                            <p:childTnLst>
                              <p:par>
                                <p:cTn id="1379" nodeType="clickEffect" fill="hold" presetClass="entr" presetID="10">
                                  <p:stCondLst>
                                    <p:cond delay="0"/>
                                  </p:stCondLst>
                                  <p:childTnLst>
                                    <p:set>
                                      <p:cBhvr>
                                        <p:cTn id="1380" dur="1" fill="hold">
                                          <p:stCondLst>
                                            <p:cond delay="0"/>
                                          </p:stCondLst>
                                        </p:cTn>
                                        <p:tgtEl>
                                          <p:spTgt spid="305"/>
                                        </p:tgtEl>
                                        <p:attrNameLst>
                                          <p:attrName>style.visibility</p:attrName>
                                        </p:attrNameLst>
                                      </p:cBhvr>
                                      <p:to>
                                        <p:strVal val="visible"/>
                                      </p:to>
                                    </p:set>
                                    <p:animEffect filter="fade" transition="in">
                                      <p:cBhvr additive="repl">
                                        <p:cTn id="1381" dur="500"/>
                                        <p:tgtEl>
                                          <p:spTgt spid="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30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Sources of Market Failure</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Markets generally do a good job of sending resources to where they are most highly valued.</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But obstacles to efficient that bring market failure are:</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rgbClr val="000000"/>
                </a:solidFill>
                <a:effectLst/>
                <a:uFillTx/>
                <a:latin typeface="Arial"/>
                <a:ea typeface="ＭＳ Ｐゴシック"/>
              </a:rPr>
              <a:t>Price and quantity regulations</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rgbClr val="000000"/>
                </a:solidFill>
                <a:effectLst/>
                <a:uFillTx/>
                <a:latin typeface="Arial"/>
                <a:ea typeface="ＭＳ Ｐゴシック"/>
              </a:rPr>
              <a:t>Taxes and subsidies</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rgbClr val="000000"/>
                </a:solidFill>
                <a:effectLst/>
                <a:uFillTx/>
                <a:latin typeface="Arial"/>
                <a:ea typeface="ＭＳ Ｐゴシック"/>
              </a:rPr>
              <a:t>Externalities</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rgbClr val="000000"/>
                </a:solidFill>
                <a:effectLst/>
                <a:uFillTx/>
                <a:latin typeface="Arial"/>
                <a:ea typeface="ＭＳ Ｐゴシック"/>
              </a:rPr>
              <a:t>Public goods and common resources</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rgbClr val="000000"/>
                </a:solidFill>
                <a:effectLst/>
                <a:uFillTx/>
                <a:latin typeface="Arial"/>
                <a:ea typeface="ＭＳ Ｐゴシック"/>
              </a:rPr>
              <a:t>Monopoly</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rgbClr val="000000"/>
                </a:solidFill>
                <a:effectLst/>
                <a:uFillTx/>
                <a:latin typeface="Arial"/>
                <a:ea typeface="ＭＳ Ｐゴシック"/>
              </a:rPr>
              <a:t>High transactions costs</a:t>
            </a:r>
            <a:endParaRPr b="0" lang="en-US" sz="2400" strike="noStrike" u="none">
              <a:solidFill>
                <a:srgbClr val="000000"/>
              </a:solidFill>
              <a:effectLst/>
              <a:uFillTx/>
              <a:latin typeface="Arial"/>
            </a:endParaRPr>
          </a:p>
        </p:txBody>
      </p:sp>
    </p:spTree>
  </p:cSld>
  <p:transition spd="slow">
    <p:wipe dir="r"/>
  </p:transition>
  <p:timing>
    <p:tnLst>
      <p:par>
        <p:cTn id="1382" dur="indefinite" restart="never" nodeType="tmRoot">
          <p:childTnLst>
            <p:seq>
              <p:cTn id="1383" dur="indefinite" nodeType="mainSeq">
                <p:childTnLst>
                  <p:par>
                    <p:cTn id="1384" nodeType="clickEffect" fill="hold">
                      <p:stCondLst>
                        <p:cond delay="indefinite"/>
                      </p:stCondLst>
                      <p:childTnLst>
                        <p:par>
                          <p:cTn id="1385" nodeType="withEffect" fill="hold">
                            <p:stCondLst>
                              <p:cond delay="0"/>
                            </p:stCondLst>
                            <p:childTnLst>
                              <p:par>
                                <p:cTn id="1386" nodeType="clickEffect" fill="hold" presetClass="entr" presetID="22" presetSubtype="8">
                                  <p:stCondLst>
                                    <p:cond delay="0"/>
                                  </p:stCondLst>
                                  <p:childTnLst>
                                    <p:set>
                                      <p:cBhvr>
                                        <p:cTn id="1387" dur="1" fill="hold">
                                          <p:stCondLst>
                                            <p:cond delay="0"/>
                                          </p:stCondLst>
                                        </p:cTn>
                                        <p:tgtEl>
                                          <p:spTgt spid="307">
                                            <p:txEl>
                                              <p:pRg st="1" end="1"/>
                                            </p:txEl>
                                          </p:spTgt>
                                        </p:tgtEl>
                                        <p:attrNameLst>
                                          <p:attrName>style.visibility</p:attrName>
                                        </p:attrNameLst>
                                      </p:cBhvr>
                                      <p:to>
                                        <p:strVal val="visible"/>
                                      </p:to>
                                    </p:set>
                                    <p:animEffect filter="wipe(left)" transition="in">
                                      <p:cBhvr additive="repl">
                                        <p:cTn id="1388" dur="750"/>
                                        <p:tgtEl>
                                          <p:spTgt spid="307">
                                            <p:txEl>
                                              <p:pRg st="1" end="1"/>
                                            </p:txEl>
                                          </p:spTgt>
                                        </p:tgtEl>
                                      </p:cBhvr>
                                    </p:animEffect>
                                  </p:childTnLst>
                                </p:cTn>
                              </p:par>
                            </p:childTnLst>
                          </p:cTn>
                        </p:par>
                      </p:childTnLst>
                    </p:cTn>
                  </p:par>
                  <p:par>
                    <p:cTn id="1389" nodeType="clickEffect" fill="hold">
                      <p:stCondLst>
                        <p:cond delay="indefinite"/>
                      </p:stCondLst>
                      <p:childTnLst>
                        <p:par>
                          <p:cTn id="1390" nodeType="withEffect" fill="hold">
                            <p:stCondLst>
                              <p:cond delay="0"/>
                            </p:stCondLst>
                            <p:childTnLst>
                              <p:par>
                                <p:cTn id="1391" nodeType="clickEffect" fill="hold" presetClass="entr" presetID="22" presetSubtype="8">
                                  <p:stCondLst>
                                    <p:cond delay="0"/>
                                  </p:stCondLst>
                                  <p:childTnLst>
                                    <p:set>
                                      <p:cBhvr>
                                        <p:cTn id="1392" dur="1" fill="hold">
                                          <p:stCondLst>
                                            <p:cond delay="0"/>
                                          </p:stCondLst>
                                        </p:cTn>
                                        <p:tgtEl>
                                          <p:spTgt spid="307">
                                            <p:txEl>
                                              <p:pRg st="2" end="2"/>
                                            </p:txEl>
                                          </p:spTgt>
                                        </p:tgtEl>
                                        <p:attrNameLst>
                                          <p:attrName>style.visibility</p:attrName>
                                        </p:attrNameLst>
                                      </p:cBhvr>
                                      <p:to>
                                        <p:strVal val="visible"/>
                                      </p:to>
                                    </p:set>
                                    <p:animEffect filter="wipe(left)" transition="in">
                                      <p:cBhvr additive="repl">
                                        <p:cTn id="1393" dur="750"/>
                                        <p:tgtEl>
                                          <p:spTgt spid="307">
                                            <p:txEl>
                                              <p:pRg st="2" end="2"/>
                                            </p:txEl>
                                          </p:spTgt>
                                        </p:tgtEl>
                                      </p:cBhvr>
                                    </p:animEffect>
                                  </p:childTnLst>
                                </p:cTn>
                              </p:par>
                            </p:childTnLst>
                          </p:cTn>
                        </p:par>
                      </p:childTnLst>
                    </p:cTn>
                  </p:par>
                  <p:par>
                    <p:cTn id="1394" nodeType="clickEffect" fill="hold">
                      <p:stCondLst>
                        <p:cond delay="indefinite"/>
                      </p:stCondLst>
                      <p:childTnLst>
                        <p:par>
                          <p:cTn id="1395" nodeType="withEffect" fill="hold">
                            <p:stCondLst>
                              <p:cond delay="0"/>
                            </p:stCondLst>
                            <p:childTnLst>
                              <p:par>
                                <p:cTn id="1396" nodeType="clickEffect" fill="hold" presetClass="entr" presetID="22" presetSubtype="8">
                                  <p:stCondLst>
                                    <p:cond delay="0"/>
                                  </p:stCondLst>
                                  <p:childTnLst>
                                    <p:set>
                                      <p:cBhvr>
                                        <p:cTn id="1397" dur="1" fill="hold">
                                          <p:stCondLst>
                                            <p:cond delay="0"/>
                                          </p:stCondLst>
                                        </p:cTn>
                                        <p:tgtEl>
                                          <p:spTgt spid="307">
                                            <p:txEl>
                                              <p:pRg st="3" end="3"/>
                                            </p:txEl>
                                          </p:spTgt>
                                        </p:tgtEl>
                                        <p:attrNameLst>
                                          <p:attrName>style.visibility</p:attrName>
                                        </p:attrNameLst>
                                      </p:cBhvr>
                                      <p:to>
                                        <p:strVal val="visible"/>
                                      </p:to>
                                    </p:set>
                                    <p:animEffect filter="wipe(left)" transition="in">
                                      <p:cBhvr additive="repl">
                                        <p:cTn id="1398" dur="750"/>
                                        <p:tgtEl>
                                          <p:spTgt spid="307">
                                            <p:txEl>
                                              <p:pRg st="3" end="3"/>
                                            </p:txEl>
                                          </p:spTgt>
                                        </p:tgtEl>
                                      </p:cBhvr>
                                    </p:animEffect>
                                  </p:childTnLst>
                                </p:cTn>
                              </p:par>
                            </p:childTnLst>
                          </p:cTn>
                        </p:par>
                      </p:childTnLst>
                    </p:cTn>
                  </p:par>
                  <p:par>
                    <p:cTn id="1399" nodeType="clickEffect" fill="hold">
                      <p:stCondLst>
                        <p:cond delay="indefinite"/>
                      </p:stCondLst>
                      <p:childTnLst>
                        <p:par>
                          <p:cTn id="1400" nodeType="withEffect" fill="hold">
                            <p:stCondLst>
                              <p:cond delay="0"/>
                            </p:stCondLst>
                            <p:childTnLst>
                              <p:par>
                                <p:cTn id="1401" nodeType="clickEffect" fill="hold" presetClass="entr" presetID="22" presetSubtype="8">
                                  <p:stCondLst>
                                    <p:cond delay="0"/>
                                  </p:stCondLst>
                                  <p:childTnLst>
                                    <p:set>
                                      <p:cBhvr>
                                        <p:cTn id="1402" dur="1" fill="hold">
                                          <p:stCondLst>
                                            <p:cond delay="0"/>
                                          </p:stCondLst>
                                        </p:cTn>
                                        <p:tgtEl>
                                          <p:spTgt spid="307">
                                            <p:txEl>
                                              <p:pRg st="4" end="4"/>
                                            </p:txEl>
                                          </p:spTgt>
                                        </p:tgtEl>
                                        <p:attrNameLst>
                                          <p:attrName>style.visibility</p:attrName>
                                        </p:attrNameLst>
                                      </p:cBhvr>
                                      <p:to>
                                        <p:strVal val="visible"/>
                                      </p:to>
                                    </p:set>
                                    <p:animEffect filter="wipe(left)" transition="in">
                                      <p:cBhvr additive="repl">
                                        <p:cTn id="1403" dur="750"/>
                                        <p:tgtEl>
                                          <p:spTgt spid="307">
                                            <p:txEl>
                                              <p:pRg st="4" end="4"/>
                                            </p:txEl>
                                          </p:spTgt>
                                        </p:tgtEl>
                                      </p:cBhvr>
                                    </p:animEffect>
                                  </p:childTnLst>
                                </p:cTn>
                              </p:par>
                            </p:childTnLst>
                          </p:cTn>
                        </p:par>
                      </p:childTnLst>
                    </p:cTn>
                  </p:par>
                  <p:par>
                    <p:cTn id="1404" nodeType="clickEffect" fill="hold">
                      <p:stCondLst>
                        <p:cond delay="indefinite"/>
                      </p:stCondLst>
                      <p:childTnLst>
                        <p:par>
                          <p:cTn id="1405" nodeType="withEffect" fill="hold">
                            <p:stCondLst>
                              <p:cond delay="0"/>
                            </p:stCondLst>
                            <p:childTnLst>
                              <p:par>
                                <p:cTn id="1406" nodeType="clickEffect" fill="hold" presetClass="entr" presetID="22" presetSubtype="8">
                                  <p:stCondLst>
                                    <p:cond delay="0"/>
                                  </p:stCondLst>
                                  <p:childTnLst>
                                    <p:set>
                                      <p:cBhvr>
                                        <p:cTn id="1407" dur="1" fill="hold">
                                          <p:stCondLst>
                                            <p:cond delay="0"/>
                                          </p:stCondLst>
                                        </p:cTn>
                                        <p:tgtEl>
                                          <p:spTgt spid="307">
                                            <p:txEl>
                                              <p:pRg st="5" end="5"/>
                                            </p:txEl>
                                          </p:spTgt>
                                        </p:tgtEl>
                                        <p:attrNameLst>
                                          <p:attrName>style.visibility</p:attrName>
                                        </p:attrNameLst>
                                      </p:cBhvr>
                                      <p:to>
                                        <p:strVal val="visible"/>
                                      </p:to>
                                    </p:set>
                                    <p:animEffect filter="wipe(left)" transition="in">
                                      <p:cBhvr additive="repl">
                                        <p:cTn id="1408" dur="750"/>
                                        <p:tgtEl>
                                          <p:spTgt spid="307">
                                            <p:txEl>
                                              <p:pRg st="5" end="5"/>
                                            </p:txEl>
                                          </p:spTgt>
                                        </p:tgtEl>
                                      </p:cBhvr>
                                    </p:animEffect>
                                  </p:childTnLst>
                                </p:cTn>
                              </p:par>
                            </p:childTnLst>
                          </p:cTn>
                        </p:par>
                      </p:childTnLst>
                    </p:cTn>
                  </p:par>
                  <p:par>
                    <p:cTn id="1409" nodeType="clickEffect" fill="hold">
                      <p:stCondLst>
                        <p:cond delay="indefinite"/>
                      </p:stCondLst>
                      <p:childTnLst>
                        <p:par>
                          <p:cTn id="1410" nodeType="withEffect" fill="hold">
                            <p:stCondLst>
                              <p:cond delay="0"/>
                            </p:stCondLst>
                            <p:childTnLst>
                              <p:par>
                                <p:cTn id="1411" nodeType="clickEffect" fill="hold" presetClass="entr" presetID="22" presetSubtype="8">
                                  <p:stCondLst>
                                    <p:cond delay="0"/>
                                  </p:stCondLst>
                                  <p:childTnLst>
                                    <p:set>
                                      <p:cBhvr>
                                        <p:cTn id="1412" dur="1" fill="hold">
                                          <p:stCondLst>
                                            <p:cond delay="0"/>
                                          </p:stCondLst>
                                        </p:cTn>
                                        <p:tgtEl>
                                          <p:spTgt spid="307">
                                            <p:txEl>
                                              <p:pRg st="6" end="6"/>
                                            </p:txEl>
                                          </p:spTgt>
                                        </p:tgtEl>
                                        <p:attrNameLst>
                                          <p:attrName>style.visibility</p:attrName>
                                        </p:attrNameLst>
                                      </p:cBhvr>
                                      <p:to>
                                        <p:strVal val="visible"/>
                                      </p:to>
                                    </p:set>
                                    <p:animEffect filter="wipe(left)" transition="in">
                                      <p:cBhvr additive="repl">
                                        <p:cTn id="1413" dur="750"/>
                                        <p:tgtEl>
                                          <p:spTgt spid="307">
                                            <p:txEl>
                                              <p:pRg st="6" end="6"/>
                                            </p:txEl>
                                          </p:spTgt>
                                        </p:tgtEl>
                                      </p:cBhvr>
                                    </p:animEffect>
                                  </p:childTnLst>
                                </p:cTn>
                              </p:par>
                            </p:childTnLst>
                          </p:cTn>
                        </p:par>
                      </p:childTnLst>
                    </p:cTn>
                  </p:par>
                  <p:par>
                    <p:cTn id="1414" nodeType="clickEffect" fill="hold">
                      <p:stCondLst>
                        <p:cond delay="indefinite"/>
                      </p:stCondLst>
                      <p:childTnLst>
                        <p:par>
                          <p:cTn id="1415" nodeType="withEffect" fill="hold">
                            <p:stCondLst>
                              <p:cond delay="0"/>
                            </p:stCondLst>
                            <p:childTnLst>
                              <p:par>
                                <p:cTn id="1416" nodeType="clickEffect" fill="hold" presetClass="entr" presetID="22" presetSubtype="8">
                                  <p:stCondLst>
                                    <p:cond delay="0"/>
                                  </p:stCondLst>
                                  <p:childTnLst>
                                    <p:set>
                                      <p:cBhvr>
                                        <p:cTn id="1417" dur="1" fill="hold">
                                          <p:stCondLst>
                                            <p:cond delay="0"/>
                                          </p:stCondLst>
                                        </p:cTn>
                                        <p:tgtEl>
                                          <p:spTgt spid="307">
                                            <p:txEl>
                                              <p:pRg st="7" end="7"/>
                                            </p:txEl>
                                          </p:spTgt>
                                        </p:tgtEl>
                                        <p:attrNameLst>
                                          <p:attrName>style.visibility</p:attrName>
                                        </p:attrNameLst>
                                      </p:cBhvr>
                                      <p:to>
                                        <p:strVal val="visible"/>
                                      </p:to>
                                    </p:set>
                                    <p:animEffect filter="wipe(left)" transition="in">
                                      <p:cBhvr additive="repl">
                                        <p:cTn id="1418" dur="750"/>
                                        <p:tgtEl>
                                          <p:spTgt spid="307">
                                            <p:txEl>
                                              <p:pRg st="7" end="7"/>
                                            </p:txEl>
                                          </p:spTgt>
                                        </p:tgtEl>
                                      </p:cBhvr>
                                    </p:animEffect>
                                  </p:childTnLst>
                                </p:cTn>
                              </p:par>
                            </p:childTnLst>
                          </p:cTn>
                        </p:par>
                      </p:childTnLst>
                    </p:cTn>
                  </p:par>
                  <p:par>
                    <p:cTn id="1419" nodeType="clickEffect" fill="hold">
                      <p:stCondLst>
                        <p:cond delay="indefinite"/>
                      </p:stCondLst>
                      <p:childTnLst>
                        <p:par>
                          <p:cTn id="1420" nodeType="withEffect" fill="hold">
                            <p:stCondLst>
                              <p:cond delay="0"/>
                            </p:stCondLst>
                            <p:childTnLst>
                              <p:par>
                                <p:cTn id="1421" nodeType="clickEffect" fill="hold" presetClass="entr" presetID="22" presetSubtype="8">
                                  <p:stCondLst>
                                    <p:cond delay="0"/>
                                  </p:stCondLst>
                                  <p:childTnLst>
                                    <p:set>
                                      <p:cBhvr>
                                        <p:cTn id="1422" dur="1" fill="hold">
                                          <p:stCondLst>
                                            <p:cond delay="0"/>
                                          </p:stCondLst>
                                        </p:cTn>
                                        <p:tgtEl>
                                          <p:spTgt spid="307">
                                            <p:txEl>
                                              <p:pRg st="8" end="8"/>
                                            </p:txEl>
                                          </p:spTgt>
                                        </p:tgtEl>
                                        <p:attrNameLst>
                                          <p:attrName>style.visibility</p:attrName>
                                        </p:attrNameLst>
                                      </p:cBhvr>
                                      <p:to>
                                        <p:strVal val="visible"/>
                                      </p:to>
                                    </p:set>
                                    <p:animEffect filter="wipe(left)" transition="in">
                                      <p:cBhvr additive="repl">
                                        <p:cTn id="1423" dur="750"/>
                                        <p:tgtEl>
                                          <p:spTgt spid="307">
                                            <p:txEl>
                                              <p:pRg st="8" end="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30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Price and Quantity Regulations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i="1" lang="en-US" sz="2400" strike="noStrike" u="none">
                <a:solidFill>
                  <a:schemeClr val="dk1"/>
                </a:solidFill>
                <a:effectLst/>
                <a:uFillTx/>
                <a:latin typeface="Arial"/>
                <a:ea typeface="ＭＳ Ｐゴシック"/>
              </a:rPr>
              <a:t>Price regulations</a:t>
            </a:r>
            <a:r>
              <a:rPr b="0" lang="en-US" sz="2400" strike="noStrike" u="none">
                <a:solidFill>
                  <a:schemeClr val="dk1"/>
                </a:solidFill>
                <a:effectLst/>
                <a:uFillTx/>
                <a:latin typeface="Arial"/>
                <a:ea typeface="ＭＳ Ｐゴシック"/>
              </a:rPr>
              <a:t> sometimes put a block on the price adjustments and lead to underproduction.</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i="1" lang="en-US" sz="2400" strike="noStrike" u="none">
                <a:solidFill>
                  <a:schemeClr val="dk1"/>
                </a:solidFill>
                <a:effectLst/>
                <a:uFillTx/>
                <a:latin typeface="Arial"/>
                <a:ea typeface="ＭＳ Ｐゴシック"/>
              </a:rPr>
              <a:t>Quantity regulations </a:t>
            </a:r>
            <a:r>
              <a:rPr b="0" lang="en-US" sz="2400" strike="noStrike" u="none">
                <a:solidFill>
                  <a:schemeClr val="dk1"/>
                </a:solidFill>
                <a:effectLst/>
                <a:uFillTx/>
                <a:latin typeface="Arial"/>
                <a:ea typeface="ＭＳ Ｐゴシック"/>
              </a:rPr>
              <a:t>that limit the amount that a farm is permitted to produce also leads to underproduction.</a:t>
            </a:r>
            <a:endParaRPr b="0" lang="en-US" sz="2400" strike="noStrike" u="none">
              <a:solidFill>
                <a:srgbClr val="000000"/>
              </a:solidFill>
              <a:effectLst/>
              <a:uFillTx/>
              <a:latin typeface="Arial"/>
            </a:endParaRPr>
          </a:p>
        </p:txBody>
      </p:sp>
    </p:spTree>
  </p:cSld>
  <p:transition spd="slow">
    <p:wipe dir="r"/>
  </p:transition>
  <p:timing>
    <p:tnLst>
      <p:par>
        <p:cTn id="1424" dur="indefinite" restart="never" nodeType="tmRoot">
          <p:childTnLst>
            <p:seq>
              <p:cTn id="1425" dur="indefinite" nodeType="mainSeq">
                <p:childTnLst>
                  <p:par>
                    <p:cTn id="1426" nodeType="clickEffect" fill="hold">
                      <p:stCondLst>
                        <p:cond delay="indefinite"/>
                      </p:stCondLst>
                      <p:childTnLst>
                        <p:par>
                          <p:cTn id="1427" nodeType="withEffect" fill="hold">
                            <p:stCondLst>
                              <p:cond delay="0"/>
                            </p:stCondLst>
                            <p:childTnLst>
                              <p:par>
                                <p:cTn id="1428" nodeType="clickEffect" fill="hold" presetClass="entr" presetID="22" presetSubtype="8">
                                  <p:stCondLst>
                                    <p:cond delay="0"/>
                                  </p:stCondLst>
                                  <p:childTnLst>
                                    <p:set>
                                      <p:cBhvr>
                                        <p:cTn id="1429" dur="1" fill="hold">
                                          <p:stCondLst>
                                            <p:cond delay="0"/>
                                          </p:stCondLst>
                                        </p:cTn>
                                        <p:tgtEl>
                                          <p:spTgt spid="309">
                                            <p:txEl>
                                              <p:pRg st="1" end="1"/>
                                            </p:txEl>
                                          </p:spTgt>
                                        </p:tgtEl>
                                        <p:attrNameLst>
                                          <p:attrName>style.visibility</p:attrName>
                                        </p:attrNameLst>
                                      </p:cBhvr>
                                      <p:to>
                                        <p:strVal val="visible"/>
                                      </p:to>
                                    </p:set>
                                    <p:animEffect filter="wipe(left)" transition="in">
                                      <p:cBhvr additive="repl">
                                        <p:cTn id="1430" dur="750"/>
                                        <p:tgtEl>
                                          <p:spTgt spid="309">
                                            <p:txEl>
                                              <p:pRg st="1" end="1"/>
                                            </p:txEl>
                                          </p:spTgt>
                                        </p:tgtEl>
                                      </p:cBhvr>
                                    </p:animEffect>
                                  </p:childTnLst>
                                </p:cTn>
                              </p:par>
                            </p:childTnLst>
                          </p:cTn>
                        </p:par>
                      </p:childTnLst>
                    </p:cTn>
                  </p:par>
                  <p:par>
                    <p:cTn id="1431" nodeType="clickEffect" fill="hold">
                      <p:stCondLst>
                        <p:cond delay="indefinite"/>
                      </p:stCondLst>
                      <p:childTnLst>
                        <p:par>
                          <p:cTn id="1432" nodeType="withEffect" fill="hold">
                            <p:stCondLst>
                              <p:cond delay="0"/>
                            </p:stCondLst>
                            <p:childTnLst>
                              <p:par>
                                <p:cTn id="1433" nodeType="clickEffect" fill="hold" presetClass="entr" presetID="22" presetSubtype="8">
                                  <p:stCondLst>
                                    <p:cond delay="0"/>
                                  </p:stCondLst>
                                  <p:childTnLst>
                                    <p:set>
                                      <p:cBhvr>
                                        <p:cTn id="1434" dur="1" fill="hold">
                                          <p:stCondLst>
                                            <p:cond delay="0"/>
                                          </p:stCondLst>
                                        </p:cTn>
                                        <p:tgtEl>
                                          <p:spTgt spid="309">
                                            <p:txEl>
                                              <p:pRg st="2" end="2"/>
                                            </p:txEl>
                                          </p:spTgt>
                                        </p:tgtEl>
                                        <p:attrNameLst>
                                          <p:attrName>style.visibility</p:attrName>
                                        </p:attrNameLst>
                                      </p:cBhvr>
                                      <p:to>
                                        <p:strVal val="visible"/>
                                      </p:to>
                                    </p:set>
                                    <p:animEffect filter="wipe(left)" transition="in">
                                      <p:cBhvr additive="repl">
                                        <p:cTn id="1435" dur="750"/>
                                        <p:tgtEl>
                                          <p:spTgt spid="30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31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Taxes and Subsidies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i="1" lang="en-US" sz="2400" strike="noStrike" u="none">
                <a:solidFill>
                  <a:schemeClr val="dk1"/>
                </a:solidFill>
                <a:effectLst/>
                <a:uFillTx/>
                <a:latin typeface="Arial"/>
                <a:ea typeface="ＭＳ Ｐゴシック"/>
              </a:rPr>
              <a:t>Taxes</a:t>
            </a:r>
            <a:r>
              <a:rPr b="0" lang="en-US" sz="2400" strike="noStrike" u="none">
                <a:solidFill>
                  <a:schemeClr val="dk1"/>
                </a:solidFill>
                <a:effectLst/>
                <a:uFillTx/>
                <a:latin typeface="Arial"/>
                <a:ea typeface="ＭＳ Ｐゴシック"/>
              </a:rPr>
              <a:t> increase the prices paid by buyers and lower the prices received by sellers.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So taxes </a:t>
            </a:r>
            <a:r>
              <a:rPr b="0" lang="en-CA" sz="2400" strike="noStrike" u="none">
                <a:solidFill>
                  <a:srgbClr val="000000"/>
                </a:solidFill>
                <a:effectLst/>
                <a:uFillTx/>
                <a:latin typeface="Arial"/>
                <a:ea typeface="ＭＳ Ｐゴシック"/>
              </a:rPr>
              <a:t>decrease the quantity produced and </a:t>
            </a:r>
            <a:r>
              <a:rPr b="0" lang="en-US" sz="2400" strike="noStrike" u="none">
                <a:solidFill>
                  <a:schemeClr val="dk1"/>
                </a:solidFill>
                <a:effectLst/>
                <a:uFillTx/>
                <a:latin typeface="Arial"/>
                <a:ea typeface="ＭＳ Ｐゴシック"/>
              </a:rPr>
              <a:t>lead to underproduction.</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i="1" lang="en-US" sz="2400" strike="noStrike" u="none">
                <a:solidFill>
                  <a:schemeClr val="dk1"/>
                </a:solidFill>
                <a:effectLst/>
                <a:uFillTx/>
                <a:latin typeface="Arial"/>
                <a:ea typeface="ＭＳ Ｐゴシック"/>
              </a:rPr>
              <a:t>Subsidies</a:t>
            </a:r>
            <a:r>
              <a:rPr b="0" lang="en-US" sz="2400" strike="noStrike" u="none">
                <a:solidFill>
                  <a:schemeClr val="dk1"/>
                </a:solidFill>
                <a:effectLst/>
                <a:uFillTx/>
                <a:latin typeface="Arial"/>
                <a:ea typeface="ＭＳ Ｐゴシック"/>
              </a:rPr>
              <a:t> lower the prices paid by buyers and increase the prices received by sellers.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CA" sz="2400" strike="noStrike" u="none">
                <a:solidFill>
                  <a:srgbClr val="000000"/>
                </a:solidFill>
                <a:effectLst/>
                <a:uFillTx/>
                <a:latin typeface="Arial"/>
                <a:ea typeface="ＭＳ Ｐゴシック"/>
              </a:rPr>
              <a:t>So subsidies increase the quantity produced and lead to overproduction.</a:t>
            </a:r>
            <a:endParaRPr b="0" lang="en-US" sz="2400" strike="noStrike" u="none">
              <a:solidFill>
                <a:srgbClr val="000000"/>
              </a:solidFill>
              <a:effectLst/>
              <a:uFillTx/>
              <a:latin typeface="Arial"/>
            </a:endParaRPr>
          </a:p>
        </p:txBody>
      </p:sp>
    </p:spTree>
  </p:cSld>
  <p:transition spd="slow">
    <p:wipe dir="r"/>
  </p:transition>
  <p:timing>
    <p:tnLst>
      <p:par>
        <p:cTn id="1436" dur="indefinite" restart="never" nodeType="tmRoot">
          <p:childTnLst>
            <p:seq>
              <p:cTn id="1437" dur="indefinite" nodeType="mainSeq">
                <p:childTnLst>
                  <p:par>
                    <p:cTn id="1438" nodeType="clickEffect" fill="hold">
                      <p:stCondLst>
                        <p:cond delay="indefinite"/>
                      </p:stCondLst>
                      <p:childTnLst>
                        <p:par>
                          <p:cTn id="1439" nodeType="withEffect" fill="hold">
                            <p:stCondLst>
                              <p:cond delay="0"/>
                            </p:stCondLst>
                            <p:childTnLst>
                              <p:par>
                                <p:cTn id="1440" nodeType="clickEffect" fill="hold" presetClass="entr" presetID="22" presetSubtype="8">
                                  <p:stCondLst>
                                    <p:cond delay="0"/>
                                  </p:stCondLst>
                                  <p:childTnLst>
                                    <p:set>
                                      <p:cBhvr>
                                        <p:cTn id="1441" dur="1" fill="hold">
                                          <p:stCondLst>
                                            <p:cond delay="0"/>
                                          </p:stCondLst>
                                        </p:cTn>
                                        <p:tgtEl>
                                          <p:spTgt spid="311">
                                            <p:txEl>
                                              <p:pRg st="1" end="1"/>
                                            </p:txEl>
                                          </p:spTgt>
                                        </p:tgtEl>
                                        <p:attrNameLst>
                                          <p:attrName>style.visibility</p:attrName>
                                        </p:attrNameLst>
                                      </p:cBhvr>
                                      <p:to>
                                        <p:strVal val="visible"/>
                                      </p:to>
                                    </p:set>
                                    <p:animEffect filter="wipe(left)" transition="in">
                                      <p:cBhvr additive="repl">
                                        <p:cTn id="1442" dur="750"/>
                                        <p:tgtEl>
                                          <p:spTgt spid="311">
                                            <p:txEl>
                                              <p:pRg st="1" end="1"/>
                                            </p:txEl>
                                          </p:spTgt>
                                        </p:tgtEl>
                                      </p:cBhvr>
                                    </p:animEffect>
                                  </p:childTnLst>
                                </p:cTn>
                              </p:par>
                            </p:childTnLst>
                          </p:cTn>
                        </p:par>
                      </p:childTnLst>
                    </p:cTn>
                  </p:par>
                  <p:par>
                    <p:cTn id="1443" nodeType="clickEffect" fill="hold">
                      <p:stCondLst>
                        <p:cond delay="indefinite"/>
                      </p:stCondLst>
                      <p:childTnLst>
                        <p:par>
                          <p:cTn id="1444" nodeType="withEffect" fill="hold">
                            <p:stCondLst>
                              <p:cond delay="0"/>
                            </p:stCondLst>
                            <p:childTnLst>
                              <p:par>
                                <p:cTn id="1445" nodeType="clickEffect" fill="hold" presetClass="entr" presetID="22" presetSubtype="8">
                                  <p:stCondLst>
                                    <p:cond delay="0"/>
                                  </p:stCondLst>
                                  <p:childTnLst>
                                    <p:set>
                                      <p:cBhvr>
                                        <p:cTn id="1446" dur="1" fill="hold">
                                          <p:stCondLst>
                                            <p:cond delay="0"/>
                                          </p:stCondLst>
                                        </p:cTn>
                                        <p:tgtEl>
                                          <p:spTgt spid="311">
                                            <p:txEl>
                                              <p:pRg st="2" end="2"/>
                                            </p:txEl>
                                          </p:spTgt>
                                        </p:tgtEl>
                                        <p:attrNameLst>
                                          <p:attrName>style.visibility</p:attrName>
                                        </p:attrNameLst>
                                      </p:cBhvr>
                                      <p:to>
                                        <p:strVal val="visible"/>
                                      </p:to>
                                    </p:set>
                                    <p:animEffect filter="wipe(left)" transition="in">
                                      <p:cBhvr additive="repl">
                                        <p:cTn id="1447" dur="750"/>
                                        <p:tgtEl>
                                          <p:spTgt spid="311">
                                            <p:txEl>
                                              <p:pRg st="2" end="2"/>
                                            </p:txEl>
                                          </p:spTgt>
                                        </p:tgtEl>
                                      </p:cBhvr>
                                    </p:animEffect>
                                  </p:childTnLst>
                                </p:cTn>
                              </p:par>
                            </p:childTnLst>
                          </p:cTn>
                        </p:par>
                      </p:childTnLst>
                    </p:cTn>
                  </p:par>
                  <p:par>
                    <p:cTn id="1448" nodeType="clickEffect" fill="hold">
                      <p:stCondLst>
                        <p:cond delay="indefinite"/>
                      </p:stCondLst>
                      <p:childTnLst>
                        <p:par>
                          <p:cTn id="1449" nodeType="withEffect" fill="hold">
                            <p:stCondLst>
                              <p:cond delay="0"/>
                            </p:stCondLst>
                            <p:childTnLst>
                              <p:par>
                                <p:cTn id="1450" nodeType="clickEffect" fill="hold" presetClass="entr" presetID="22" presetSubtype="8">
                                  <p:stCondLst>
                                    <p:cond delay="0"/>
                                  </p:stCondLst>
                                  <p:childTnLst>
                                    <p:set>
                                      <p:cBhvr>
                                        <p:cTn id="1451" dur="1" fill="hold">
                                          <p:stCondLst>
                                            <p:cond delay="0"/>
                                          </p:stCondLst>
                                        </p:cTn>
                                        <p:tgtEl>
                                          <p:spTgt spid="311">
                                            <p:txEl>
                                              <p:pRg st="3" end="3"/>
                                            </p:txEl>
                                          </p:spTgt>
                                        </p:tgtEl>
                                        <p:attrNameLst>
                                          <p:attrName>style.visibility</p:attrName>
                                        </p:attrNameLst>
                                      </p:cBhvr>
                                      <p:to>
                                        <p:strVal val="visible"/>
                                      </p:to>
                                    </p:set>
                                    <p:animEffect filter="wipe(left)" transition="in">
                                      <p:cBhvr additive="repl">
                                        <p:cTn id="1452" dur="750"/>
                                        <p:tgtEl>
                                          <p:spTgt spid="311">
                                            <p:txEl>
                                              <p:pRg st="3" end="3"/>
                                            </p:txEl>
                                          </p:spTgt>
                                        </p:tgtEl>
                                      </p:cBhvr>
                                    </p:animEffect>
                                  </p:childTnLst>
                                </p:cTn>
                              </p:par>
                            </p:childTnLst>
                          </p:cTn>
                        </p:par>
                      </p:childTnLst>
                    </p:cTn>
                  </p:par>
                  <p:par>
                    <p:cTn id="1453" nodeType="clickEffect" fill="hold">
                      <p:stCondLst>
                        <p:cond delay="indefinite"/>
                      </p:stCondLst>
                      <p:childTnLst>
                        <p:par>
                          <p:cTn id="1454" nodeType="withEffect" fill="hold">
                            <p:stCondLst>
                              <p:cond delay="0"/>
                            </p:stCondLst>
                            <p:childTnLst>
                              <p:par>
                                <p:cTn id="1455" nodeType="clickEffect" fill="hold" presetClass="entr" presetID="22" presetSubtype="8">
                                  <p:stCondLst>
                                    <p:cond delay="0"/>
                                  </p:stCondLst>
                                  <p:childTnLst>
                                    <p:set>
                                      <p:cBhvr>
                                        <p:cTn id="1456" dur="1" fill="hold">
                                          <p:stCondLst>
                                            <p:cond delay="0"/>
                                          </p:stCondLst>
                                        </p:cTn>
                                        <p:tgtEl>
                                          <p:spTgt spid="311">
                                            <p:txEl>
                                              <p:pRg st="4" end="4"/>
                                            </p:txEl>
                                          </p:spTgt>
                                        </p:tgtEl>
                                        <p:attrNameLst>
                                          <p:attrName>style.visibility</p:attrName>
                                        </p:attrNameLst>
                                      </p:cBhvr>
                                      <p:to>
                                        <p:strVal val="visible"/>
                                      </p:to>
                                    </p:set>
                                    <p:animEffect filter="wipe(left)" transition="in">
                                      <p:cBhvr additive="repl">
                                        <p:cTn id="1457" dur="750"/>
                                        <p:tgtEl>
                                          <p:spTgt spid="31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31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Externalities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An </a:t>
            </a:r>
            <a:r>
              <a:rPr b="0" i="1" lang="en-US" sz="2400" strike="noStrike" u="none">
                <a:solidFill>
                  <a:schemeClr val="dk1"/>
                </a:solidFill>
                <a:effectLst/>
                <a:uFillTx/>
                <a:latin typeface="Arial"/>
                <a:ea typeface="ＭＳ Ｐゴシック"/>
              </a:rPr>
              <a:t>externality</a:t>
            </a:r>
            <a:r>
              <a:rPr b="0" lang="en-US" sz="2400" strike="noStrike" u="none">
                <a:solidFill>
                  <a:schemeClr val="dk1"/>
                </a:solidFill>
                <a:effectLst/>
                <a:uFillTx/>
                <a:latin typeface="Arial"/>
                <a:ea typeface="ＭＳ Ｐゴシック"/>
              </a:rPr>
              <a:t> is a cost or benefit that affects someone other than the seller or the buyer of a good.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An electric utility creates an </a:t>
            </a:r>
            <a:r>
              <a:rPr b="0" i="1" lang="en-US" sz="2400" strike="noStrike" u="none">
                <a:solidFill>
                  <a:schemeClr val="dk1"/>
                </a:solidFill>
                <a:effectLst/>
                <a:uFillTx/>
                <a:latin typeface="Arial"/>
                <a:ea typeface="ＭＳ Ｐゴシック"/>
              </a:rPr>
              <a:t>external cost</a:t>
            </a:r>
            <a:r>
              <a:rPr b="0" lang="en-US" sz="2400" strike="noStrike" u="none">
                <a:solidFill>
                  <a:schemeClr val="dk1"/>
                </a:solidFill>
                <a:effectLst/>
                <a:uFillTx/>
                <a:latin typeface="Arial"/>
                <a:ea typeface="ＭＳ Ｐゴシック"/>
              </a:rPr>
              <a:t> by burning coal that creates acid rain.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utility doesn’t consider this cost when it chooses the quantity of power to produce. Overproduction results.</a:t>
            </a:r>
            <a:endParaRPr b="0" lang="en-US" sz="2400" strike="noStrike" u="none">
              <a:solidFill>
                <a:srgbClr val="000000"/>
              </a:solidFill>
              <a:effectLst/>
              <a:uFillTx/>
              <a:latin typeface="Arial"/>
            </a:endParaRPr>
          </a:p>
        </p:txBody>
      </p:sp>
    </p:spTree>
  </p:cSld>
  <p:transition spd="slow">
    <p:wipe dir="r"/>
  </p:transition>
  <p:timing>
    <p:tnLst>
      <p:par>
        <p:cTn id="1458" dur="indefinite" restart="never" nodeType="tmRoot">
          <p:childTnLst>
            <p:seq>
              <p:cTn id="1459" dur="indefinite" nodeType="mainSeq">
                <p:childTnLst>
                  <p:par>
                    <p:cTn id="1460" nodeType="clickEffect" fill="hold">
                      <p:stCondLst>
                        <p:cond delay="indefinite"/>
                      </p:stCondLst>
                      <p:childTnLst>
                        <p:par>
                          <p:cTn id="1461" nodeType="withEffect" fill="hold">
                            <p:stCondLst>
                              <p:cond delay="0"/>
                            </p:stCondLst>
                            <p:childTnLst>
                              <p:par>
                                <p:cTn id="1462" nodeType="clickEffect" fill="hold" presetClass="entr" presetID="22" presetSubtype="8">
                                  <p:stCondLst>
                                    <p:cond delay="0"/>
                                  </p:stCondLst>
                                  <p:childTnLst>
                                    <p:set>
                                      <p:cBhvr>
                                        <p:cTn id="1463" dur="1" fill="hold">
                                          <p:stCondLst>
                                            <p:cond delay="0"/>
                                          </p:stCondLst>
                                        </p:cTn>
                                        <p:tgtEl>
                                          <p:spTgt spid="313">
                                            <p:txEl>
                                              <p:pRg st="1" end="1"/>
                                            </p:txEl>
                                          </p:spTgt>
                                        </p:tgtEl>
                                        <p:attrNameLst>
                                          <p:attrName>style.visibility</p:attrName>
                                        </p:attrNameLst>
                                      </p:cBhvr>
                                      <p:to>
                                        <p:strVal val="visible"/>
                                      </p:to>
                                    </p:set>
                                    <p:animEffect filter="wipe(left)" transition="in">
                                      <p:cBhvr additive="repl">
                                        <p:cTn id="1464" dur="750"/>
                                        <p:tgtEl>
                                          <p:spTgt spid="313">
                                            <p:txEl>
                                              <p:pRg st="1" end="1"/>
                                            </p:txEl>
                                          </p:spTgt>
                                        </p:tgtEl>
                                      </p:cBhvr>
                                    </p:animEffect>
                                  </p:childTnLst>
                                </p:cTn>
                              </p:par>
                            </p:childTnLst>
                          </p:cTn>
                        </p:par>
                      </p:childTnLst>
                    </p:cTn>
                  </p:par>
                  <p:par>
                    <p:cTn id="1465" nodeType="clickEffect" fill="hold">
                      <p:stCondLst>
                        <p:cond delay="indefinite"/>
                      </p:stCondLst>
                      <p:childTnLst>
                        <p:par>
                          <p:cTn id="1466" nodeType="withEffect" fill="hold">
                            <p:stCondLst>
                              <p:cond delay="0"/>
                            </p:stCondLst>
                            <p:childTnLst>
                              <p:par>
                                <p:cTn id="1467" nodeType="clickEffect" fill="hold" presetClass="entr" presetID="22" presetSubtype="8">
                                  <p:stCondLst>
                                    <p:cond delay="0"/>
                                  </p:stCondLst>
                                  <p:childTnLst>
                                    <p:set>
                                      <p:cBhvr>
                                        <p:cTn id="1468" dur="1" fill="hold">
                                          <p:stCondLst>
                                            <p:cond delay="0"/>
                                          </p:stCondLst>
                                        </p:cTn>
                                        <p:tgtEl>
                                          <p:spTgt spid="313">
                                            <p:txEl>
                                              <p:pRg st="2" end="2"/>
                                            </p:txEl>
                                          </p:spTgt>
                                        </p:tgtEl>
                                        <p:attrNameLst>
                                          <p:attrName>style.visibility</p:attrName>
                                        </p:attrNameLst>
                                      </p:cBhvr>
                                      <p:to>
                                        <p:strVal val="visible"/>
                                      </p:to>
                                    </p:set>
                                    <p:animEffect filter="wipe(left)" transition="in">
                                      <p:cBhvr additive="repl">
                                        <p:cTn id="1469" dur="750"/>
                                        <p:tgtEl>
                                          <p:spTgt spid="313">
                                            <p:txEl>
                                              <p:pRg st="2" end="2"/>
                                            </p:txEl>
                                          </p:spTgt>
                                        </p:tgtEl>
                                      </p:cBhvr>
                                    </p:animEffect>
                                  </p:childTnLst>
                                </p:cTn>
                              </p:par>
                            </p:childTnLst>
                          </p:cTn>
                        </p:par>
                      </p:childTnLst>
                    </p:cTn>
                  </p:par>
                  <p:par>
                    <p:cTn id="1470" nodeType="clickEffect" fill="hold">
                      <p:stCondLst>
                        <p:cond delay="indefinite"/>
                      </p:stCondLst>
                      <p:childTnLst>
                        <p:par>
                          <p:cTn id="1471" nodeType="withEffect" fill="hold">
                            <p:stCondLst>
                              <p:cond delay="0"/>
                            </p:stCondLst>
                            <p:childTnLst>
                              <p:par>
                                <p:cTn id="1472" nodeType="clickEffect" fill="hold" presetClass="entr" presetID="22" presetSubtype="8">
                                  <p:stCondLst>
                                    <p:cond delay="0"/>
                                  </p:stCondLst>
                                  <p:childTnLst>
                                    <p:set>
                                      <p:cBhvr>
                                        <p:cTn id="1473" dur="1" fill="hold">
                                          <p:stCondLst>
                                            <p:cond delay="0"/>
                                          </p:stCondLst>
                                        </p:cTn>
                                        <p:tgtEl>
                                          <p:spTgt spid="313">
                                            <p:txEl>
                                              <p:pRg st="3" end="3"/>
                                            </p:txEl>
                                          </p:spTgt>
                                        </p:tgtEl>
                                        <p:attrNameLst>
                                          <p:attrName>style.visibility</p:attrName>
                                        </p:attrNameLst>
                                      </p:cBhvr>
                                      <p:to>
                                        <p:strVal val="visible"/>
                                      </p:to>
                                    </p:set>
                                    <p:animEffect filter="wipe(left)" transition="in">
                                      <p:cBhvr additive="repl">
                                        <p:cTn id="1474" dur="750"/>
                                        <p:tgtEl>
                                          <p:spTgt spid="31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315"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An apartment owner would provide an </a:t>
            </a:r>
            <a:r>
              <a:rPr b="0" i="1" lang="en-US" sz="2400" strike="noStrike" u="none">
                <a:solidFill>
                  <a:schemeClr val="dk1"/>
                </a:solidFill>
                <a:effectLst/>
                <a:uFillTx/>
                <a:latin typeface="Arial"/>
                <a:ea typeface="ＭＳ Ｐゴシック"/>
              </a:rPr>
              <a:t>external</a:t>
            </a:r>
            <a:r>
              <a:rPr b="0" lang="en-US" sz="2400" strike="noStrike" u="none">
                <a:solidFill>
                  <a:schemeClr val="dk1"/>
                </a:solidFill>
                <a:effectLst/>
                <a:uFillTx/>
                <a:latin typeface="Arial"/>
                <a:ea typeface="ＭＳ Ｐゴシック"/>
              </a:rPr>
              <a:t> </a:t>
            </a:r>
            <a:r>
              <a:rPr b="0" i="1" lang="en-US" sz="2400" strike="noStrike" u="none">
                <a:solidFill>
                  <a:schemeClr val="dk1"/>
                </a:solidFill>
                <a:effectLst/>
                <a:uFillTx/>
                <a:latin typeface="Arial"/>
                <a:ea typeface="ＭＳ Ｐゴシック"/>
              </a:rPr>
              <a:t>benefit</a:t>
            </a:r>
            <a:r>
              <a:rPr b="0" lang="en-US" sz="2400" strike="noStrike" u="none">
                <a:solidFill>
                  <a:schemeClr val="dk1"/>
                </a:solidFill>
                <a:effectLst/>
                <a:uFillTx/>
                <a:latin typeface="Arial"/>
                <a:ea typeface="ＭＳ Ｐゴシック"/>
              </a:rPr>
              <a:t> if she installed a smoke detector. But she doesn’t consider her neighbor’s marginal benefit and decides not to install the smoke detector.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result is underproduction.</a:t>
            </a:r>
            <a:endParaRPr b="0" lang="en-US" sz="2400" strike="noStrike" u="none">
              <a:solidFill>
                <a:srgbClr val="000000"/>
              </a:solidFill>
              <a:effectLst/>
              <a:uFillTx/>
              <a:latin typeface="Arial"/>
            </a:endParaRPr>
          </a:p>
        </p:txBody>
      </p:sp>
    </p:spTree>
  </p:cSld>
  <p:transition spd="slow">
    <p:wipe dir="r"/>
  </p:transition>
  <p:timing>
    <p:tnLst>
      <p:par>
        <p:cTn id="1475" dur="indefinite" restart="never" nodeType="tmRoot">
          <p:childTnLst>
            <p:seq>
              <p:cTn id="1476" dur="indefinite" nodeType="mainSeq">
                <p:childTnLst>
                  <p:par>
                    <p:cTn id="1477" nodeType="clickEffect" fill="hold">
                      <p:stCondLst>
                        <p:cond delay="indefinite"/>
                      </p:stCondLst>
                      <p:childTnLst>
                        <p:par>
                          <p:cTn id="1478" nodeType="withEffect" fill="hold">
                            <p:stCondLst>
                              <p:cond delay="0"/>
                            </p:stCondLst>
                            <p:childTnLst>
                              <p:par>
                                <p:cTn id="1479" nodeType="clickEffect" fill="hold" presetClass="entr" presetID="22" presetSubtype="8">
                                  <p:stCondLst>
                                    <p:cond delay="0"/>
                                  </p:stCondLst>
                                  <p:childTnLst>
                                    <p:set>
                                      <p:cBhvr>
                                        <p:cTn id="1480" dur="1" fill="hold">
                                          <p:stCondLst>
                                            <p:cond delay="0"/>
                                          </p:stCondLst>
                                        </p:cTn>
                                        <p:tgtEl>
                                          <p:spTgt spid="315">
                                            <p:txEl>
                                              <p:pRg st="1" end="1"/>
                                            </p:txEl>
                                          </p:spTgt>
                                        </p:tgtEl>
                                        <p:attrNameLst>
                                          <p:attrName>style.visibility</p:attrName>
                                        </p:attrNameLst>
                                      </p:cBhvr>
                                      <p:to>
                                        <p:strVal val="visible"/>
                                      </p:to>
                                    </p:set>
                                    <p:animEffect filter="wipe(left)" transition="in">
                                      <p:cBhvr additive="repl">
                                        <p:cTn id="1481" dur="750"/>
                                        <p:tgtEl>
                                          <p:spTgt spid="315">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31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Public Goods and Common Resources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 </a:t>
            </a:r>
            <a:r>
              <a:rPr b="0" i="1" lang="en-US" sz="2400" strike="noStrike" u="none">
                <a:solidFill>
                  <a:srgbClr val="000000"/>
                </a:solidFill>
                <a:effectLst/>
                <a:uFillTx/>
                <a:latin typeface="Arial"/>
                <a:ea typeface="ＭＳ Ｐゴシック"/>
              </a:rPr>
              <a:t>public good</a:t>
            </a:r>
            <a:r>
              <a:rPr b="0" lang="en-US" sz="2400" strike="noStrike" u="none">
                <a:solidFill>
                  <a:srgbClr val="000000"/>
                </a:solidFill>
                <a:effectLst/>
                <a:uFillTx/>
                <a:latin typeface="Arial"/>
                <a:ea typeface="ＭＳ Ｐゴシック"/>
              </a:rPr>
              <a:t> benefits everyone and no one can be excluded from its benefits</a:t>
            </a: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It is in everyone’s self-interest to avoid paying for a public good (called the f</a:t>
            </a:r>
            <a:r>
              <a:rPr b="0" lang="en-US" sz="2400" strike="noStrike" u="none">
                <a:solidFill>
                  <a:srgbClr val="000000"/>
                </a:solidFill>
                <a:effectLst/>
                <a:uFillTx/>
                <a:latin typeface="Arial"/>
                <a:ea typeface="ＭＳ Ｐゴシック"/>
              </a:rPr>
              <a:t>ree-rider problem), which leads to underproduction.</a:t>
            </a:r>
            <a:endParaRPr b="0" lang="en-US" sz="2400" strike="noStrike" u="none">
              <a:solidFill>
                <a:srgbClr val="000000"/>
              </a:solidFill>
              <a:effectLst/>
              <a:uFillTx/>
              <a:latin typeface="Arial"/>
            </a:endParaRPr>
          </a:p>
        </p:txBody>
      </p:sp>
    </p:spTree>
  </p:cSld>
  <p:transition spd="slow">
    <p:wipe dir="r"/>
  </p:transition>
  <p:timing>
    <p:tnLst>
      <p:par>
        <p:cTn id="1482" dur="indefinite" restart="never" nodeType="tmRoot">
          <p:childTnLst>
            <p:seq>
              <p:cTn id="1483" dur="indefinite" nodeType="mainSeq">
                <p:childTnLst>
                  <p:par>
                    <p:cTn id="1484" nodeType="clickEffect" fill="hold">
                      <p:stCondLst>
                        <p:cond delay="indefinite"/>
                      </p:stCondLst>
                      <p:childTnLst>
                        <p:par>
                          <p:cTn id="1485" nodeType="withEffect" fill="hold">
                            <p:stCondLst>
                              <p:cond delay="0"/>
                            </p:stCondLst>
                            <p:childTnLst>
                              <p:par>
                                <p:cTn id="1486" nodeType="clickEffect" fill="hold" presetClass="entr" presetID="22" presetSubtype="8">
                                  <p:stCondLst>
                                    <p:cond delay="0"/>
                                  </p:stCondLst>
                                  <p:childTnLst>
                                    <p:set>
                                      <p:cBhvr>
                                        <p:cTn id="1487" dur="1" fill="hold">
                                          <p:stCondLst>
                                            <p:cond delay="0"/>
                                          </p:stCondLst>
                                        </p:cTn>
                                        <p:tgtEl>
                                          <p:spTgt spid="317">
                                            <p:txEl>
                                              <p:pRg st="1" end="1"/>
                                            </p:txEl>
                                          </p:spTgt>
                                        </p:tgtEl>
                                        <p:attrNameLst>
                                          <p:attrName>style.visibility</p:attrName>
                                        </p:attrNameLst>
                                      </p:cBhvr>
                                      <p:to>
                                        <p:strVal val="visible"/>
                                      </p:to>
                                    </p:set>
                                    <p:animEffect filter="wipe(left)" transition="in">
                                      <p:cBhvr additive="repl">
                                        <p:cTn id="1488" dur="750"/>
                                        <p:tgtEl>
                                          <p:spTgt spid="317">
                                            <p:txEl>
                                              <p:pRg st="1" end="1"/>
                                            </p:txEl>
                                          </p:spTgt>
                                        </p:tgtEl>
                                      </p:cBhvr>
                                    </p:animEffect>
                                  </p:childTnLst>
                                </p:cTn>
                              </p:par>
                            </p:childTnLst>
                          </p:cTn>
                        </p:par>
                      </p:childTnLst>
                    </p:cTn>
                  </p:par>
                  <p:par>
                    <p:cTn id="1489" nodeType="clickEffect" fill="hold">
                      <p:stCondLst>
                        <p:cond delay="indefinite"/>
                      </p:stCondLst>
                      <p:childTnLst>
                        <p:par>
                          <p:cTn id="1490" nodeType="withEffect" fill="hold">
                            <p:stCondLst>
                              <p:cond delay="0"/>
                            </p:stCondLst>
                            <p:childTnLst>
                              <p:par>
                                <p:cTn id="1491" nodeType="clickEffect" fill="hold" presetClass="entr" presetID="22" presetSubtype="8">
                                  <p:stCondLst>
                                    <p:cond delay="0"/>
                                  </p:stCondLst>
                                  <p:childTnLst>
                                    <p:set>
                                      <p:cBhvr>
                                        <p:cTn id="1492" dur="1" fill="hold">
                                          <p:stCondLst>
                                            <p:cond delay="0"/>
                                          </p:stCondLst>
                                        </p:cTn>
                                        <p:tgtEl>
                                          <p:spTgt spid="317">
                                            <p:txEl>
                                              <p:pRg st="2" end="2"/>
                                            </p:txEl>
                                          </p:spTgt>
                                        </p:tgtEl>
                                        <p:attrNameLst>
                                          <p:attrName>style.visibility</p:attrName>
                                        </p:attrNameLst>
                                      </p:cBhvr>
                                      <p:to>
                                        <p:strVal val="visible"/>
                                      </p:to>
                                    </p:set>
                                    <p:animEffect filter="wipe(left)" transition="in">
                                      <p:cBhvr additive="repl">
                                        <p:cTn id="1493" dur="750"/>
                                        <p:tgtEl>
                                          <p:spTgt spid="317">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31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 </a:t>
            </a:r>
            <a:r>
              <a:rPr b="0" i="1" lang="en-US" sz="2400" strike="noStrike" u="none">
                <a:solidFill>
                  <a:srgbClr val="000000"/>
                </a:solidFill>
                <a:effectLst/>
                <a:uFillTx/>
                <a:latin typeface="Arial"/>
                <a:ea typeface="ＭＳ Ｐゴシック"/>
              </a:rPr>
              <a:t>common resource</a:t>
            </a:r>
            <a:r>
              <a:rPr b="0" lang="en-US" sz="2400" strike="noStrike" u="none">
                <a:solidFill>
                  <a:srgbClr val="000000"/>
                </a:solidFill>
                <a:effectLst/>
                <a:uFillTx/>
                <a:latin typeface="Arial"/>
                <a:ea typeface="ＭＳ Ｐゴシック"/>
              </a:rPr>
              <a:t> is owned by no one but used by everyone</a:t>
            </a: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It is in everyone’s self interest to ignore the costs of their own use of a common resource that fall on others (called </a:t>
            </a:r>
            <a:r>
              <a:rPr b="0" i="1" lang="en-US" sz="2400" strike="noStrike" u="none">
                <a:solidFill>
                  <a:schemeClr val="dk1"/>
                </a:solidFill>
                <a:effectLst/>
                <a:uFillTx/>
                <a:latin typeface="Arial"/>
                <a:ea typeface="ＭＳ Ｐゴシック"/>
              </a:rPr>
              <a:t>tragedy of the commons</a:t>
            </a:r>
            <a:r>
              <a:rPr b="0" lang="en-US" sz="2400" strike="noStrike" u="none">
                <a:solidFill>
                  <a:schemeClr val="dk1"/>
                </a:solidFill>
                <a:effectLst/>
                <a:uFillTx/>
                <a:latin typeface="Arial"/>
                <a:ea typeface="ＭＳ Ｐゴシック"/>
              </a:rPr>
              <a:t>), which leads to overproduction.</a:t>
            </a:r>
            <a:endParaRPr b="0" lang="en-US" sz="2400" strike="noStrike" u="none">
              <a:solidFill>
                <a:srgbClr val="000000"/>
              </a:solidFill>
              <a:effectLst/>
              <a:uFillTx/>
              <a:latin typeface="Arial"/>
            </a:endParaRPr>
          </a:p>
        </p:txBody>
      </p:sp>
    </p:spTree>
  </p:cSld>
  <p:transition spd="slow">
    <p:wipe dir="r"/>
  </p:transition>
  <p:timing>
    <p:tnLst>
      <p:par>
        <p:cTn id="1494" dur="indefinite" restart="never" nodeType="tmRoot">
          <p:childTnLst>
            <p:seq>
              <p:cTn id="1495" dur="indefinite" nodeType="mainSeq">
                <p:childTnLst>
                  <p:par>
                    <p:cTn id="1496" nodeType="clickEffect" fill="hold">
                      <p:stCondLst>
                        <p:cond delay="indefinite"/>
                      </p:stCondLst>
                      <p:childTnLst>
                        <p:par>
                          <p:cTn id="1497" nodeType="withEffect" fill="hold">
                            <p:stCondLst>
                              <p:cond delay="0"/>
                            </p:stCondLst>
                            <p:childTnLst>
                              <p:par>
                                <p:cTn id="1498" nodeType="clickEffect" fill="hold" presetClass="entr" presetID="22" presetSubtype="8">
                                  <p:stCondLst>
                                    <p:cond delay="0"/>
                                  </p:stCondLst>
                                  <p:childTnLst>
                                    <p:set>
                                      <p:cBhvr>
                                        <p:cTn id="1499" dur="1" fill="hold">
                                          <p:stCondLst>
                                            <p:cond delay="0"/>
                                          </p:stCondLst>
                                        </p:cTn>
                                        <p:tgtEl>
                                          <p:spTgt spid="319">
                                            <p:txEl>
                                              <p:pRg st="1" end="1"/>
                                            </p:txEl>
                                          </p:spTgt>
                                        </p:tgtEl>
                                        <p:attrNameLst>
                                          <p:attrName>style.visibility</p:attrName>
                                        </p:attrNameLst>
                                      </p:cBhvr>
                                      <p:to>
                                        <p:strVal val="visible"/>
                                      </p:to>
                                    </p:set>
                                    <p:animEffect filter="wipe(left)" transition="in">
                                      <p:cBhvr additive="repl">
                                        <p:cTn id="1500" dur="750"/>
                                        <p:tgtEl>
                                          <p:spTgt spid="319">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32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Monopoly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 </a:t>
            </a:r>
            <a:r>
              <a:rPr b="0" i="1" lang="en-US" sz="2400" strike="noStrike" u="none">
                <a:solidFill>
                  <a:srgbClr val="000000"/>
                </a:solidFill>
                <a:effectLst/>
                <a:uFillTx/>
                <a:latin typeface="Arial"/>
                <a:ea typeface="ＭＳ Ｐゴシック"/>
              </a:rPr>
              <a:t>monopoly</a:t>
            </a:r>
            <a:r>
              <a:rPr b="0" lang="en-US" sz="2400" strike="noStrike" u="none">
                <a:solidFill>
                  <a:srgbClr val="000000"/>
                </a:solidFill>
                <a:effectLst/>
                <a:uFillTx/>
                <a:latin typeface="Arial"/>
                <a:ea typeface="ＭＳ Ｐゴシック"/>
              </a:rPr>
              <a:t> is a firm that is sole provider of a good or service.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self-interest of a monopoly is to maximize its profit. To do so, a monopoly sets a price to achieve its self-interested goal.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As a result, a monopoly produces too little and underproduction results.</a:t>
            </a:r>
            <a:endParaRPr b="0" lang="en-US" sz="2400" strike="noStrike" u="none">
              <a:solidFill>
                <a:srgbClr val="000000"/>
              </a:solidFill>
              <a:effectLst/>
              <a:uFillTx/>
              <a:latin typeface="Arial"/>
            </a:endParaRPr>
          </a:p>
        </p:txBody>
      </p:sp>
    </p:spTree>
  </p:cSld>
  <p:transition spd="slow">
    <p:wipe dir="r"/>
  </p:transition>
  <p:timing>
    <p:tnLst>
      <p:par>
        <p:cTn id="1501" dur="indefinite" restart="never" nodeType="tmRoot">
          <p:childTnLst>
            <p:seq>
              <p:cTn id="1502" dur="indefinite" nodeType="mainSeq">
                <p:childTnLst>
                  <p:par>
                    <p:cTn id="1503" nodeType="clickEffect" fill="hold">
                      <p:stCondLst>
                        <p:cond delay="indefinite"/>
                      </p:stCondLst>
                      <p:childTnLst>
                        <p:par>
                          <p:cTn id="1504" nodeType="withEffect" fill="hold">
                            <p:stCondLst>
                              <p:cond delay="0"/>
                            </p:stCondLst>
                            <p:childTnLst>
                              <p:par>
                                <p:cTn id="1505" nodeType="clickEffect" fill="hold" presetClass="entr" presetID="22" presetSubtype="8">
                                  <p:stCondLst>
                                    <p:cond delay="0"/>
                                  </p:stCondLst>
                                  <p:childTnLst>
                                    <p:set>
                                      <p:cBhvr>
                                        <p:cTn id="1506" dur="1" fill="hold">
                                          <p:stCondLst>
                                            <p:cond delay="0"/>
                                          </p:stCondLst>
                                        </p:cTn>
                                        <p:tgtEl>
                                          <p:spTgt spid="321">
                                            <p:txEl>
                                              <p:pRg st="1" end="1"/>
                                            </p:txEl>
                                          </p:spTgt>
                                        </p:tgtEl>
                                        <p:attrNameLst>
                                          <p:attrName>style.visibility</p:attrName>
                                        </p:attrNameLst>
                                      </p:cBhvr>
                                      <p:to>
                                        <p:strVal val="visible"/>
                                      </p:to>
                                    </p:set>
                                    <p:animEffect filter="wipe(left)" transition="in">
                                      <p:cBhvr additive="repl">
                                        <p:cTn id="1507" dur="750"/>
                                        <p:tgtEl>
                                          <p:spTgt spid="321">
                                            <p:txEl>
                                              <p:pRg st="1" end="1"/>
                                            </p:txEl>
                                          </p:spTgt>
                                        </p:tgtEl>
                                      </p:cBhvr>
                                    </p:animEffect>
                                  </p:childTnLst>
                                </p:cTn>
                              </p:par>
                            </p:childTnLst>
                          </p:cTn>
                        </p:par>
                      </p:childTnLst>
                    </p:cTn>
                  </p:par>
                  <p:par>
                    <p:cTn id="1508" nodeType="clickEffect" fill="hold">
                      <p:stCondLst>
                        <p:cond delay="indefinite"/>
                      </p:stCondLst>
                      <p:childTnLst>
                        <p:par>
                          <p:cTn id="1509" nodeType="withEffect" fill="hold">
                            <p:stCondLst>
                              <p:cond delay="0"/>
                            </p:stCondLst>
                            <p:childTnLst>
                              <p:par>
                                <p:cTn id="1510" nodeType="clickEffect" fill="hold" presetClass="entr" presetID="22" presetSubtype="8">
                                  <p:stCondLst>
                                    <p:cond delay="0"/>
                                  </p:stCondLst>
                                  <p:childTnLst>
                                    <p:set>
                                      <p:cBhvr>
                                        <p:cTn id="1511" dur="1" fill="hold">
                                          <p:stCondLst>
                                            <p:cond delay="0"/>
                                          </p:stCondLst>
                                        </p:cTn>
                                        <p:tgtEl>
                                          <p:spTgt spid="321">
                                            <p:txEl>
                                              <p:pRg st="2" end="2"/>
                                            </p:txEl>
                                          </p:spTgt>
                                        </p:tgtEl>
                                        <p:attrNameLst>
                                          <p:attrName>style.visibility</p:attrName>
                                        </p:attrNameLst>
                                      </p:cBhvr>
                                      <p:to>
                                        <p:strVal val="visible"/>
                                      </p:to>
                                    </p:set>
                                    <p:animEffect filter="wipe(left)" transition="in">
                                      <p:cBhvr additive="repl">
                                        <p:cTn id="1512" dur="750"/>
                                        <p:tgtEl>
                                          <p:spTgt spid="321">
                                            <p:txEl>
                                              <p:pRg st="2" end="2"/>
                                            </p:txEl>
                                          </p:spTgt>
                                        </p:tgtEl>
                                      </p:cBhvr>
                                    </p:animEffect>
                                  </p:childTnLst>
                                </p:cTn>
                              </p:par>
                            </p:childTnLst>
                          </p:cTn>
                        </p:par>
                      </p:childTnLst>
                    </p:cTn>
                  </p:par>
                  <p:par>
                    <p:cTn id="1513" nodeType="clickEffect" fill="hold">
                      <p:stCondLst>
                        <p:cond delay="indefinite"/>
                      </p:stCondLst>
                      <p:childTnLst>
                        <p:par>
                          <p:cTn id="1514" nodeType="withEffect" fill="hold">
                            <p:stCondLst>
                              <p:cond delay="0"/>
                            </p:stCondLst>
                            <p:childTnLst>
                              <p:par>
                                <p:cTn id="1515" nodeType="clickEffect" fill="hold" presetClass="entr" presetID="22" presetSubtype="8">
                                  <p:stCondLst>
                                    <p:cond delay="0"/>
                                  </p:stCondLst>
                                  <p:childTnLst>
                                    <p:set>
                                      <p:cBhvr>
                                        <p:cTn id="1516" dur="1" fill="hold">
                                          <p:stCondLst>
                                            <p:cond delay="0"/>
                                          </p:stCondLst>
                                        </p:cTn>
                                        <p:tgtEl>
                                          <p:spTgt spid="321">
                                            <p:txEl>
                                              <p:pRg st="3" end="3"/>
                                            </p:txEl>
                                          </p:spTgt>
                                        </p:tgtEl>
                                        <p:attrNameLst>
                                          <p:attrName>style.visibility</p:attrName>
                                        </p:attrNameLst>
                                      </p:cBhvr>
                                      <p:to>
                                        <p:strVal val="visible"/>
                                      </p:to>
                                    </p:set>
                                    <p:animEffect filter="wipe(left)" transition="in">
                                      <p:cBhvr additive="repl">
                                        <p:cTn id="1517" dur="750"/>
                                        <p:tgtEl>
                                          <p:spTgt spid="32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32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High Transactions Costs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Transactions costs </a:t>
            </a:r>
            <a:r>
              <a:rPr b="0" lang="en-US" sz="2400" strike="noStrike" u="none">
                <a:solidFill>
                  <a:srgbClr val="000000"/>
                </a:solidFill>
                <a:effectLst/>
                <a:uFillTx/>
                <a:latin typeface="Arial"/>
                <a:ea typeface="ＭＳ Ｐゴシック"/>
              </a:rPr>
              <a:t>are the opportunity costs of making trades in a market.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 use market prices as the allocators of scarce resources, it must be worth bearing the opportunity cost of establishing a market.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Some markets are just too costly to operate.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transactions costs are high, the market might underproduce.</a:t>
            </a:r>
            <a:endParaRPr b="0" lang="en-US" sz="2400" strike="noStrike" u="none">
              <a:solidFill>
                <a:srgbClr val="000000"/>
              </a:solidFill>
              <a:effectLst/>
              <a:uFillTx/>
              <a:latin typeface="Arial"/>
            </a:endParaRPr>
          </a:p>
        </p:txBody>
      </p:sp>
    </p:spTree>
  </p:cSld>
  <p:transition spd="slow">
    <p:wipe dir="r"/>
  </p:transition>
  <p:timing>
    <p:tnLst>
      <p:par>
        <p:cTn id="1518" dur="indefinite" restart="never" nodeType="tmRoot">
          <p:childTnLst>
            <p:seq>
              <p:cTn id="1519" dur="indefinite" nodeType="mainSeq">
                <p:childTnLst>
                  <p:par>
                    <p:cTn id="1520" nodeType="clickEffect" fill="hold">
                      <p:stCondLst>
                        <p:cond delay="indefinite"/>
                      </p:stCondLst>
                      <p:childTnLst>
                        <p:par>
                          <p:cTn id="1521" nodeType="withEffect" fill="hold">
                            <p:stCondLst>
                              <p:cond delay="0"/>
                            </p:stCondLst>
                            <p:childTnLst>
                              <p:par>
                                <p:cTn id="1522" nodeType="clickEffect" fill="hold" presetClass="entr" presetID="22" presetSubtype="8">
                                  <p:stCondLst>
                                    <p:cond delay="0"/>
                                  </p:stCondLst>
                                  <p:childTnLst>
                                    <p:set>
                                      <p:cBhvr>
                                        <p:cTn id="1523" dur="1" fill="hold">
                                          <p:stCondLst>
                                            <p:cond delay="0"/>
                                          </p:stCondLst>
                                        </p:cTn>
                                        <p:tgtEl>
                                          <p:spTgt spid="323">
                                            <p:txEl>
                                              <p:pRg st="1" end="1"/>
                                            </p:txEl>
                                          </p:spTgt>
                                        </p:tgtEl>
                                        <p:attrNameLst>
                                          <p:attrName>style.visibility</p:attrName>
                                        </p:attrNameLst>
                                      </p:cBhvr>
                                      <p:to>
                                        <p:strVal val="visible"/>
                                      </p:to>
                                    </p:set>
                                    <p:animEffect filter="wipe(left)" transition="in">
                                      <p:cBhvr additive="repl">
                                        <p:cTn id="1524" dur="750"/>
                                        <p:tgtEl>
                                          <p:spTgt spid="323">
                                            <p:txEl>
                                              <p:pRg st="1" end="1"/>
                                            </p:txEl>
                                          </p:spTgt>
                                        </p:tgtEl>
                                      </p:cBhvr>
                                    </p:animEffect>
                                  </p:childTnLst>
                                </p:cTn>
                              </p:par>
                            </p:childTnLst>
                          </p:cTn>
                        </p:par>
                      </p:childTnLst>
                    </p:cTn>
                  </p:par>
                  <p:par>
                    <p:cTn id="1525" nodeType="clickEffect" fill="hold">
                      <p:stCondLst>
                        <p:cond delay="indefinite"/>
                      </p:stCondLst>
                      <p:childTnLst>
                        <p:par>
                          <p:cTn id="1526" nodeType="withEffect" fill="hold">
                            <p:stCondLst>
                              <p:cond delay="0"/>
                            </p:stCondLst>
                            <p:childTnLst>
                              <p:par>
                                <p:cTn id="1527" nodeType="clickEffect" fill="hold" presetClass="entr" presetID="22" presetSubtype="8">
                                  <p:stCondLst>
                                    <p:cond delay="0"/>
                                  </p:stCondLst>
                                  <p:childTnLst>
                                    <p:set>
                                      <p:cBhvr>
                                        <p:cTn id="1528" dur="1" fill="hold">
                                          <p:stCondLst>
                                            <p:cond delay="0"/>
                                          </p:stCondLst>
                                        </p:cTn>
                                        <p:tgtEl>
                                          <p:spTgt spid="323">
                                            <p:txEl>
                                              <p:pRg st="2" end="2"/>
                                            </p:txEl>
                                          </p:spTgt>
                                        </p:tgtEl>
                                        <p:attrNameLst>
                                          <p:attrName>style.visibility</p:attrName>
                                        </p:attrNameLst>
                                      </p:cBhvr>
                                      <p:to>
                                        <p:strVal val="visible"/>
                                      </p:to>
                                    </p:set>
                                    <p:animEffect filter="wipe(left)" transition="in">
                                      <p:cBhvr additive="repl">
                                        <p:cTn id="1529" dur="750"/>
                                        <p:tgtEl>
                                          <p:spTgt spid="323">
                                            <p:txEl>
                                              <p:pRg st="2" end="2"/>
                                            </p:txEl>
                                          </p:spTgt>
                                        </p:tgtEl>
                                      </p:cBhvr>
                                    </p:animEffect>
                                  </p:childTnLst>
                                </p:cTn>
                              </p:par>
                            </p:childTnLst>
                          </p:cTn>
                        </p:par>
                      </p:childTnLst>
                    </p:cTn>
                  </p:par>
                  <p:par>
                    <p:cTn id="1530" nodeType="clickEffect" fill="hold">
                      <p:stCondLst>
                        <p:cond delay="indefinite"/>
                      </p:stCondLst>
                      <p:childTnLst>
                        <p:par>
                          <p:cTn id="1531" nodeType="withEffect" fill="hold">
                            <p:stCondLst>
                              <p:cond delay="0"/>
                            </p:stCondLst>
                            <p:childTnLst>
                              <p:par>
                                <p:cTn id="1532" nodeType="clickEffect" fill="hold" presetClass="entr" presetID="22" presetSubtype="8">
                                  <p:stCondLst>
                                    <p:cond delay="0"/>
                                  </p:stCondLst>
                                  <p:childTnLst>
                                    <p:set>
                                      <p:cBhvr>
                                        <p:cTn id="1533" dur="1" fill="hold">
                                          <p:stCondLst>
                                            <p:cond delay="0"/>
                                          </p:stCondLst>
                                        </p:cTn>
                                        <p:tgtEl>
                                          <p:spTgt spid="323">
                                            <p:txEl>
                                              <p:pRg st="3" end="3"/>
                                            </p:txEl>
                                          </p:spTgt>
                                        </p:tgtEl>
                                        <p:attrNameLst>
                                          <p:attrName>style.visibility</p:attrName>
                                        </p:attrNameLst>
                                      </p:cBhvr>
                                      <p:to>
                                        <p:strVal val="visible"/>
                                      </p:to>
                                    </p:set>
                                    <p:animEffect filter="wipe(left)" transition="in">
                                      <p:cBhvr additive="repl">
                                        <p:cTn id="1534" dur="750"/>
                                        <p:tgtEl>
                                          <p:spTgt spid="323">
                                            <p:txEl>
                                              <p:pRg st="3" end="3"/>
                                            </p:txEl>
                                          </p:spTgt>
                                        </p:tgtEl>
                                      </p:cBhvr>
                                    </p:animEffect>
                                  </p:childTnLst>
                                </p:cTn>
                              </p:par>
                            </p:childTnLst>
                          </p:cTn>
                        </p:par>
                      </p:childTnLst>
                    </p:cTn>
                  </p:par>
                  <p:par>
                    <p:cTn id="1535" nodeType="clickEffect" fill="hold">
                      <p:stCondLst>
                        <p:cond delay="indefinite"/>
                      </p:stCondLst>
                      <p:childTnLst>
                        <p:par>
                          <p:cTn id="1536" nodeType="withEffect" fill="hold">
                            <p:stCondLst>
                              <p:cond delay="0"/>
                            </p:stCondLst>
                            <p:childTnLst>
                              <p:par>
                                <p:cTn id="1537" nodeType="clickEffect" fill="hold" presetClass="entr" presetID="22" presetSubtype="8">
                                  <p:stCondLst>
                                    <p:cond delay="0"/>
                                  </p:stCondLst>
                                  <p:childTnLst>
                                    <p:set>
                                      <p:cBhvr>
                                        <p:cTn id="1538" dur="1" fill="hold">
                                          <p:stCondLst>
                                            <p:cond delay="0"/>
                                          </p:stCondLst>
                                        </p:cTn>
                                        <p:tgtEl>
                                          <p:spTgt spid="323">
                                            <p:txEl>
                                              <p:pRg st="4" end="4"/>
                                            </p:txEl>
                                          </p:spTgt>
                                        </p:tgtEl>
                                        <p:attrNameLst>
                                          <p:attrName>style.visibility</p:attrName>
                                        </p:attrNameLst>
                                      </p:cBhvr>
                                      <p:to>
                                        <p:strVal val="visible"/>
                                      </p:to>
                                    </p:set>
                                    <p:animEffect filter="wipe(left)" transition="in">
                                      <p:cBhvr additive="repl">
                                        <p:cTn id="1539" dur="750"/>
                                        <p:tgtEl>
                                          <p:spTgt spid="32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sp>
        <p:nvSpPr>
          <p:cNvPr id="325"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2000" indent="-34200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Alternatives to the Market</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No one method allocates resources efficiently. But supplemented by other methods, markets do an amazingly good job.</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Table 6.1 on the next slide shows some possible remedies for market inefficiencies.</a:t>
            </a:r>
            <a:endParaRPr b="0" lang="en-US" sz="2400" strike="noStrike" u="none">
              <a:solidFill>
                <a:srgbClr val="000000"/>
              </a:solidFill>
              <a:effectLst/>
              <a:uFillTx/>
              <a:latin typeface="Arial"/>
            </a:endParaRPr>
          </a:p>
        </p:txBody>
      </p:sp>
    </p:spTree>
  </p:cSld>
  <p:transition spd="slow">
    <p:wipe dir="r"/>
  </p:transition>
  <p:timing>
    <p:tnLst>
      <p:par>
        <p:cTn id="1540" dur="indefinite" restart="never" nodeType="tmRoot">
          <p:childTnLst>
            <p:seq>
              <p:cTn id="1541" dur="indefinite" nodeType="mainSeq">
                <p:childTnLst>
                  <p:par>
                    <p:cTn id="1542" nodeType="clickEffect" fill="hold">
                      <p:stCondLst>
                        <p:cond delay="indefinite"/>
                      </p:stCondLst>
                      <p:childTnLst>
                        <p:par>
                          <p:cTn id="1543" nodeType="withEffect" fill="hold">
                            <p:stCondLst>
                              <p:cond delay="0"/>
                            </p:stCondLst>
                            <p:childTnLst>
                              <p:par>
                                <p:cTn id="1544" nodeType="clickEffect" fill="hold" presetClass="entr" presetID="22" presetSubtype="8">
                                  <p:stCondLst>
                                    <p:cond delay="0"/>
                                  </p:stCondLst>
                                  <p:childTnLst>
                                    <p:set>
                                      <p:cBhvr>
                                        <p:cTn id="1545" dur="1" fill="hold">
                                          <p:stCondLst>
                                            <p:cond delay="0"/>
                                          </p:stCondLst>
                                        </p:cTn>
                                        <p:tgtEl>
                                          <p:spTgt spid="325">
                                            <p:txEl>
                                              <p:pRg st="1" end="1"/>
                                            </p:txEl>
                                          </p:spTgt>
                                        </p:tgtEl>
                                        <p:attrNameLst>
                                          <p:attrName>style.visibility</p:attrName>
                                        </p:attrNameLst>
                                      </p:cBhvr>
                                      <p:to>
                                        <p:strVal val="visible"/>
                                      </p:to>
                                    </p:set>
                                    <p:animEffect filter="wipe(left)" transition="in">
                                      <p:cBhvr additive="repl">
                                        <p:cTn id="1546" dur="750"/>
                                        <p:tgtEl>
                                          <p:spTgt spid="325">
                                            <p:txEl>
                                              <p:pRg st="1" end="1"/>
                                            </p:txEl>
                                          </p:spTgt>
                                        </p:tgtEl>
                                      </p:cBhvr>
                                    </p:animEffect>
                                  </p:childTnLst>
                                </p:cTn>
                              </p:par>
                            </p:childTnLst>
                          </p:cTn>
                        </p:par>
                      </p:childTnLst>
                    </p:cTn>
                  </p:par>
                  <p:par>
                    <p:cTn id="1547" nodeType="clickEffect" fill="hold">
                      <p:stCondLst>
                        <p:cond delay="indefinite"/>
                      </p:stCondLst>
                      <p:childTnLst>
                        <p:par>
                          <p:cTn id="1548" nodeType="withEffect" fill="hold">
                            <p:stCondLst>
                              <p:cond delay="0"/>
                            </p:stCondLst>
                            <p:childTnLst>
                              <p:par>
                                <p:cTn id="1549" nodeType="clickEffect" fill="hold" presetClass="entr" presetID="22" presetSubtype="8">
                                  <p:stCondLst>
                                    <p:cond delay="0"/>
                                  </p:stCondLst>
                                  <p:childTnLst>
                                    <p:set>
                                      <p:cBhvr>
                                        <p:cTn id="1550" dur="1" fill="hold">
                                          <p:stCondLst>
                                            <p:cond delay="0"/>
                                          </p:stCondLst>
                                        </p:cTn>
                                        <p:tgtEl>
                                          <p:spTgt spid="325">
                                            <p:txEl>
                                              <p:pRg st="2" end="2"/>
                                            </p:txEl>
                                          </p:spTgt>
                                        </p:tgtEl>
                                        <p:attrNameLst>
                                          <p:attrName>style.visibility</p:attrName>
                                        </p:attrNameLst>
                                      </p:cBhvr>
                                      <p:to>
                                        <p:strVal val="visible"/>
                                      </p:to>
                                    </p:set>
                                    <p:animEffect filter="wipe(left)" transition="in">
                                      <p:cBhvr additive="repl">
                                        <p:cTn id="1551" dur="750"/>
                                        <p:tgtEl>
                                          <p:spTgt spid="325">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6.4  ARE MARKETS EFFICIENT?</a:t>
            </a:r>
            <a:endParaRPr b="0" lang="en-US" sz="2600" strike="noStrike" u="none">
              <a:solidFill>
                <a:srgbClr val="000000"/>
              </a:solidFill>
              <a:effectLst/>
              <a:uFillTx/>
              <a:latin typeface="Arial"/>
            </a:endParaRPr>
          </a:p>
        </p:txBody>
      </p:sp>
      <p:pic>
        <p:nvPicPr>
          <p:cNvPr id="327" name="Picture 1" descr="sve-tab0601.gif"/>
          <p:cNvPicPr/>
          <p:nvPr/>
        </p:nvPicPr>
        <p:blipFill>
          <a:blip r:embed="rId1"/>
          <a:stretch/>
        </p:blipFill>
        <p:spPr>
          <a:xfrm>
            <a:off x="304920" y="1600200"/>
            <a:ext cx="8571960" cy="4018680"/>
          </a:xfrm>
          <a:prstGeom prst="rect">
            <a:avLst/>
          </a:prstGeom>
          <a:noFill/>
          <a:ln w="0">
            <a:noFill/>
          </a:ln>
        </p:spPr>
      </p:pic>
    </p:spTree>
  </p:cSld>
  <p:transition spd="slow">
    <p:wipe dir="r"/>
  </p:transition>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6.5  ARE MARKETS FAIR?</a:t>
            </a:r>
            <a:endParaRPr b="0" lang="en-US" sz="2600" strike="noStrike" u="none">
              <a:solidFill>
                <a:srgbClr val="000000"/>
              </a:solidFill>
              <a:effectLst/>
              <a:uFillTx/>
              <a:latin typeface="Arial"/>
            </a:endParaRPr>
          </a:p>
        </p:txBody>
      </p:sp>
      <p:sp>
        <p:nvSpPr>
          <p:cNvPr id="329" name="PlaceHolder 2"/>
          <p:cNvSpPr>
            <a:spLocks noGrp="1"/>
          </p:cNvSpPr>
          <p:nvPr>
            <p:ph/>
          </p:nvPr>
        </p:nvSpPr>
        <p:spPr>
          <a:xfrm>
            <a:off x="360360" y="1440000"/>
            <a:ext cx="830016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Two broad and generally conflicting views of fairness are:</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CA" sz="2400" strike="noStrike" u="none">
                <a:solidFill>
                  <a:schemeClr val="dk1"/>
                </a:solidFill>
                <a:effectLst/>
                <a:uFillTx/>
                <a:latin typeface="Arial"/>
                <a:ea typeface="ＭＳ Ｐゴシック"/>
              </a:rPr>
              <a:t>It</a:t>
            </a:r>
            <a:r>
              <a:rPr b="0" lang="en-AU" sz="2400" strike="noStrike" u="none">
                <a:solidFill>
                  <a:schemeClr val="dk1"/>
                </a:solidFill>
                <a:effectLst/>
                <a:uFillTx/>
                <a:latin typeface="Arial"/>
                <a:ea typeface="ＭＳ Ｐゴシック"/>
              </a:rPr>
              <a:t>’s</a:t>
            </a:r>
            <a:r>
              <a:rPr b="0" lang="en-CA" sz="2400" strike="noStrike" u="none">
                <a:solidFill>
                  <a:schemeClr val="dk1"/>
                </a:solidFill>
                <a:effectLst/>
                <a:uFillTx/>
                <a:latin typeface="Arial"/>
                <a:ea typeface="ＭＳ Ｐゴシック"/>
              </a:rPr>
              <a:t> not fair if the </a:t>
            </a:r>
            <a:r>
              <a:rPr b="0" i="1" lang="en-CA" sz="2400" strike="noStrike" u="none">
                <a:solidFill>
                  <a:schemeClr val="dk1"/>
                </a:solidFill>
                <a:effectLst/>
                <a:uFillTx/>
                <a:latin typeface="Arial"/>
                <a:ea typeface="ＭＳ Ｐゴシック"/>
              </a:rPr>
              <a:t>rules</a:t>
            </a:r>
            <a:r>
              <a:rPr b="0" lang="en-CA" sz="2400" strike="noStrike" u="none">
                <a:solidFill>
                  <a:schemeClr val="dk1"/>
                </a:solidFill>
                <a:effectLst/>
                <a:uFillTx/>
                <a:latin typeface="Arial"/>
                <a:ea typeface="ＭＳ Ｐゴシック"/>
              </a:rPr>
              <a:t> aren’t fair.</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CA" sz="2400" strike="noStrike" u="none">
                <a:solidFill>
                  <a:schemeClr val="dk1"/>
                </a:solidFill>
                <a:effectLst/>
                <a:uFillTx/>
                <a:latin typeface="Arial"/>
                <a:ea typeface="ＭＳ Ｐゴシック"/>
              </a:rPr>
              <a:t>It</a:t>
            </a:r>
            <a:r>
              <a:rPr b="0" lang="en-AU" sz="2400" strike="noStrike" u="none">
                <a:solidFill>
                  <a:schemeClr val="dk1"/>
                </a:solidFill>
                <a:effectLst/>
                <a:uFillTx/>
                <a:latin typeface="Arial"/>
                <a:ea typeface="ＭＳ Ｐゴシック"/>
              </a:rPr>
              <a:t>’</a:t>
            </a:r>
            <a:r>
              <a:rPr b="0" lang="en-CA" sz="2400" strike="noStrike" u="none">
                <a:solidFill>
                  <a:schemeClr val="dk1"/>
                </a:solidFill>
                <a:effectLst/>
                <a:uFillTx/>
                <a:latin typeface="Arial"/>
                <a:ea typeface="ＭＳ Ｐゴシック"/>
              </a:rPr>
              <a:t>s not fair if the </a:t>
            </a:r>
            <a:r>
              <a:rPr b="0" i="1" lang="en-CA" sz="2400" strike="noStrike" u="none">
                <a:solidFill>
                  <a:schemeClr val="dk1"/>
                </a:solidFill>
                <a:effectLst/>
                <a:uFillTx/>
                <a:latin typeface="Arial"/>
                <a:ea typeface="ＭＳ Ｐゴシック"/>
              </a:rPr>
              <a:t>result</a:t>
            </a:r>
            <a:r>
              <a:rPr b="0" lang="en-CA" sz="2400" strike="noStrike" u="none">
                <a:solidFill>
                  <a:schemeClr val="dk1"/>
                </a:solidFill>
                <a:effectLst/>
                <a:uFillTx/>
                <a:latin typeface="Arial"/>
                <a:ea typeface="ＭＳ Ｐゴシック"/>
              </a:rPr>
              <a:t> isn’t fair.</a:t>
            </a:r>
            <a:endParaRPr b="0" lang="en-US" sz="2400" strike="noStrike" u="none">
              <a:solidFill>
                <a:srgbClr val="000000"/>
              </a:solidFill>
              <a:effectLst/>
              <a:uFillTx/>
              <a:latin typeface="Arial"/>
            </a:endParaRPr>
          </a:p>
        </p:txBody>
      </p:sp>
    </p:spTree>
  </p:cSld>
  <p:transition spd="slow">
    <p:wipe dir="r"/>
  </p:transition>
  <p:timing>
    <p:tnLst>
      <p:par>
        <p:cTn id="1552" dur="indefinite" restart="never" nodeType="tmRoot">
          <p:childTnLst>
            <p:seq>
              <p:cTn id="1553" dur="indefinite" nodeType="mainSeq">
                <p:childTnLst>
                  <p:par>
                    <p:cTn id="1554" nodeType="clickEffect" fill="hold">
                      <p:stCondLst>
                        <p:cond delay="indefinite"/>
                      </p:stCondLst>
                      <p:childTnLst>
                        <p:par>
                          <p:cTn id="1555" nodeType="withEffect" fill="hold">
                            <p:stCondLst>
                              <p:cond delay="0"/>
                            </p:stCondLst>
                            <p:childTnLst>
                              <p:par>
                                <p:cTn id="1556" nodeType="clickEffect" fill="hold" presetClass="entr" presetID="22" presetSubtype="8">
                                  <p:stCondLst>
                                    <p:cond delay="0"/>
                                  </p:stCondLst>
                                  <p:childTnLst>
                                    <p:set>
                                      <p:cBhvr>
                                        <p:cTn id="1557" dur="1" fill="hold">
                                          <p:stCondLst>
                                            <p:cond delay="0"/>
                                          </p:stCondLst>
                                        </p:cTn>
                                        <p:tgtEl>
                                          <p:spTgt spid="329">
                                            <p:txEl>
                                              <p:pRg st="1" end="1"/>
                                            </p:txEl>
                                          </p:spTgt>
                                        </p:tgtEl>
                                        <p:attrNameLst>
                                          <p:attrName>style.visibility</p:attrName>
                                        </p:attrNameLst>
                                      </p:cBhvr>
                                      <p:to>
                                        <p:strVal val="visible"/>
                                      </p:to>
                                    </p:set>
                                    <p:animEffect filter="wipe(left)" transition="in">
                                      <p:cBhvr additive="repl">
                                        <p:cTn id="1558" dur="750"/>
                                        <p:tgtEl>
                                          <p:spTgt spid="329">
                                            <p:txEl>
                                              <p:pRg st="1" end="1"/>
                                            </p:txEl>
                                          </p:spTgt>
                                        </p:tgtEl>
                                      </p:cBhvr>
                                    </p:animEffect>
                                  </p:childTnLst>
                                </p:cTn>
                              </p:par>
                            </p:childTnLst>
                          </p:cTn>
                        </p:par>
                      </p:childTnLst>
                    </p:cTn>
                  </p:par>
                  <p:par>
                    <p:cTn id="1559" nodeType="clickEffect" fill="hold">
                      <p:stCondLst>
                        <p:cond delay="indefinite"/>
                      </p:stCondLst>
                      <p:childTnLst>
                        <p:par>
                          <p:cTn id="1560" nodeType="withEffect" fill="hold">
                            <p:stCondLst>
                              <p:cond delay="0"/>
                            </p:stCondLst>
                            <p:childTnLst>
                              <p:par>
                                <p:cTn id="1561" nodeType="clickEffect" fill="hold" presetClass="entr" presetID="22" presetSubtype="8">
                                  <p:stCondLst>
                                    <p:cond delay="0"/>
                                  </p:stCondLst>
                                  <p:childTnLst>
                                    <p:set>
                                      <p:cBhvr>
                                        <p:cTn id="1562" dur="1" fill="hold">
                                          <p:stCondLst>
                                            <p:cond delay="0"/>
                                          </p:stCondLst>
                                        </p:cTn>
                                        <p:tgtEl>
                                          <p:spTgt spid="329">
                                            <p:txEl>
                                              <p:pRg st="2" end="2"/>
                                            </p:txEl>
                                          </p:spTgt>
                                        </p:tgtEl>
                                        <p:attrNameLst>
                                          <p:attrName>style.visibility</p:attrName>
                                        </p:attrNameLst>
                                      </p:cBhvr>
                                      <p:to>
                                        <p:strVal val="visible"/>
                                      </p:to>
                                    </p:set>
                                    <p:animEffect filter="wipe(left)" transition="in">
                                      <p:cBhvr additive="repl">
                                        <p:cTn id="1563" dur="750"/>
                                        <p:tgtEl>
                                          <p:spTgt spid="32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6.5  ARE MARKETS FAIR?</a:t>
            </a:r>
            <a:endParaRPr b="0" lang="en-US" sz="2600" strike="noStrike" u="none">
              <a:solidFill>
                <a:srgbClr val="000000"/>
              </a:solidFill>
              <a:effectLst/>
              <a:uFillTx/>
              <a:latin typeface="Arial"/>
            </a:endParaRPr>
          </a:p>
        </p:txBody>
      </p:sp>
      <p:sp>
        <p:nvSpPr>
          <p:cNvPr id="33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2000" indent="-34200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It’s Not Fair if the </a:t>
            </a:r>
            <a:r>
              <a:rPr b="1" i="1" lang="en-US" sz="2800" strike="noStrike" u="none">
                <a:solidFill>
                  <a:srgbClr val="00468f"/>
                </a:solidFill>
                <a:effectLst/>
                <a:uFillTx/>
                <a:latin typeface="Arial"/>
                <a:ea typeface="ＭＳ Ｐゴシック"/>
              </a:rPr>
              <a:t>Rules</a:t>
            </a:r>
            <a:r>
              <a:rPr b="1" lang="en-US" sz="2800" strike="noStrike" u="none">
                <a:solidFill>
                  <a:srgbClr val="00468f"/>
                </a:solidFill>
                <a:effectLst/>
                <a:uFillTx/>
                <a:latin typeface="Arial"/>
                <a:ea typeface="ＭＳ Ｐゴシック"/>
              </a:rPr>
              <a:t> Aren’t Fair</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This idea translates into “equality of opportunity.”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Harvard philosopher, Robert Nozick, in </a:t>
            </a:r>
            <a:r>
              <a:rPr b="0" i="1" lang="en-US" sz="2400" strike="noStrike" u="none">
                <a:solidFill>
                  <a:srgbClr val="000000"/>
                </a:solidFill>
                <a:effectLst/>
                <a:uFillTx/>
                <a:latin typeface="Arial"/>
                <a:ea typeface="ＭＳ Ｐゴシック"/>
              </a:rPr>
              <a:t>Anarchy, State, and Utopia</a:t>
            </a:r>
            <a:r>
              <a:rPr b="0" lang="en-US" sz="2400" strike="noStrike" u="none">
                <a:solidFill>
                  <a:srgbClr val="000000"/>
                </a:solidFill>
                <a:effectLst/>
                <a:uFillTx/>
                <a:latin typeface="Arial"/>
                <a:ea typeface="ＭＳ Ｐゴシック"/>
              </a:rPr>
              <a:t> (1974), argues that the rules must be fair and must respect two principles:</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rgbClr val="000000"/>
                </a:solidFill>
                <a:effectLst/>
                <a:uFillTx/>
                <a:latin typeface="Arial"/>
                <a:ea typeface="ＭＳ Ｐゴシック"/>
              </a:rPr>
              <a:t>The state must enforce laws that establish and protect private property.</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rgbClr val="000000"/>
                </a:solidFill>
                <a:effectLst/>
                <a:uFillTx/>
                <a:latin typeface="Arial"/>
                <a:ea typeface="ＭＳ Ｐゴシック"/>
              </a:rPr>
              <a:t>Private property may be transferred from one person to another only by voluntary exchange.</a:t>
            </a:r>
            <a:endParaRPr b="0" lang="en-US" sz="2400" strike="noStrike" u="none">
              <a:solidFill>
                <a:srgbClr val="000000"/>
              </a:solidFill>
              <a:effectLst/>
              <a:uFillTx/>
              <a:latin typeface="Arial"/>
            </a:endParaRPr>
          </a:p>
        </p:txBody>
      </p:sp>
    </p:spTree>
  </p:cSld>
  <p:transition spd="slow">
    <p:wipe dir="r"/>
  </p:transition>
  <p:timing>
    <p:tnLst>
      <p:par>
        <p:cTn id="1564" dur="indefinite" restart="never" nodeType="tmRoot">
          <p:childTnLst>
            <p:seq>
              <p:cTn id="1565" dur="indefinite" nodeType="mainSeq">
                <p:childTnLst>
                  <p:par>
                    <p:cTn id="1566" nodeType="clickEffect" fill="hold">
                      <p:stCondLst>
                        <p:cond delay="indefinite"/>
                      </p:stCondLst>
                      <p:childTnLst>
                        <p:par>
                          <p:cTn id="1567" nodeType="withEffect" fill="hold">
                            <p:stCondLst>
                              <p:cond delay="0"/>
                            </p:stCondLst>
                            <p:childTnLst>
                              <p:par>
                                <p:cTn id="1568" nodeType="clickEffect" fill="hold" presetClass="entr" presetID="22" presetSubtype="8">
                                  <p:stCondLst>
                                    <p:cond delay="0"/>
                                  </p:stCondLst>
                                  <p:childTnLst>
                                    <p:set>
                                      <p:cBhvr>
                                        <p:cTn id="1569" dur="1" fill="hold">
                                          <p:stCondLst>
                                            <p:cond delay="0"/>
                                          </p:stCondLst>
                                        </p:cTn>
                                        <p:tgtEl>
                                          <p:spTgt spid="331">
                                            <p:txEl>
                                              <p:pRg st="1" end="1"/>
                                            </p:txEl>
                                          </p:spTgt>
                                        </p:tgtEl>
                                        <p:attrNameLst>
                                          <p:attrName>style.visibility</p:attrName>
                                        </p:attrNameLst>
                                      </p:cBhvr>
                                      <p:to>
                                        <p:strVal val="visible"/>
                                      </p:to>
                                    </p:set>
                                    <p:animEffect filter="wipe(left)" transition="in">
                                      <p:cBhvr additive="repl">
                                        <p:cTn id="1570" dur="750"/>
                                        <p:tgtEl>
                                          <p:spTgt spid="331">
                                            <p:txEl>
                                              <p:pRg st="1" end="1"/>
                                            </p:txEl>
                                          </p:spTgt>
                                        </p:tgtEl>
                                      </p:cBhvr>
                                    </p:animEffect>
                                  </p:childTnLst>
                                </p:cTn>
                              </p:par>
                            </p:childTnLst>
                          </p:cTn>
                        </p:par>
                      </p:childTnLst>
                    </p:cTn>
                  </p:par>
                  <p:par>
                    <p:cTn id="1571" nodeType="clickEffect" fill="hold">
                      <p:stCondLst>
                        <p:cond delay="indefinite"/>
                      </p:stCondLst>
                      <p:childTnLst>
                        <p:par>
                          <p:cTn id="1572" nodeType="withEffect" fill="hold">
                            <p:stCondLst>
                              <p:cond delay="0"/>
                            </p:stCondLst>
                            <p:childTnLst>
                              <p:par>
                                <p:cTn id="1573" nodeType="clickEffect" fill="hold" presetClass="entr" presetID="22" presetSubtype="8">
                                  <p:stCondLst>
                                    <p:cond delay="0"/>
                                  </p:stCondLst>
                                  <p:childTnLst>
                                    <p:set>
                                      <p:cBhvr>
                                        <p:cTn id="1574" dur="1" fill="hold">
                                          <p:stCondLst>
                                            <p:cond delay="0"/>
                                          </p:stCondLst>
                                        </p:cTn>
                                        <p:tgtEl>
                                          <p:spTgt spid="331">
                                            <p:txEl>
                                              <p:pRg st="2" end="2"/>
                                            </p:txEl>
                                          </p:spTgt>
                                        </p:tgtEl>
                                        <p:attrNameLst>
                                          <p:attrName>style.visibility</p:attrName>
                                        </p:attrNameLst>
                                      </p:cBhvr>
                                      <p:to>
                                        <p:strVal val="visible"/>
                                      </p:to>
                                    </p:set>
                                    <p:animEffect filter="wipe(left)" transition="in">
                                      <p:cBhvr additive="repl">
                                        <p:cTn id="1575" dur="750"/>
                                        <p:tgtEl>
                                          <p:spTgt spid="331">
                                            <p:txEl>
                                              <p:pRg st="2" end="2"/>
                                            </p:txEl>
                                          </p:spTgt>
                                        </p:tgtEl>
                                      </p:cBhvr>
                                    </p:animEffect>
                                  </p:childTnLst>
                                </p:cTn>
                              </p:par>
                            </p:childTnLst>
                          </p:cTn>
                        </p:par>
                      </p:childTnLst>
                    </p:cTn>
                  </p:par>
                  <p:par>
                    <p:cTn id="1576" nodeType="clickEffect" fill="hold">
                      <p:stCondLst>
                        <p:cond delay="indefinite"/>
                      </p:stCondLst>
                      <p:childTnLst>
                        <p:par>
                          <p:cTn id="1577" nodeType="withEffect" fill="hold">
                            <p:stCondLst>
                              <p:cond delay="0"/>
                            </p:stCondLst>
                            <p:childTnLst>
                              <p:par>
                                <p:cTn id="1578" nodeType="clickEffect" fill="hold" presetClass="entr" presetID="22" presetSubtype="8">
                                  <p:stCondLst>
                                    <p:cond delay="0"/>
                                  </p:stCondLst>
                                  <p:childTnLst>
                                    <p:set>
                                      <p:cBhvr>
                                        <p:cTn id="1579" dur="1" fill="hold">
                                          <p:stCondLst>
                                            <p:cond delay="0"/>
                                          </p:stCondLst>
                                        </p:cTn>
                                        <p:tgtEl>
                                          <p:spTgt spid="331">
                                            <p:txEl>
                                              <p:pRg st="3" end="3"/>
                                            </p:txEl>
                                          </p:spTgt>
                                        </p:tgtEl>
                                        <p:attrNameLst>
                                          <p:attrName>style.visibility</p:attrName>
                                        </p:attrNameLst>
                                      </p:cBhvr>
                                      <p:to>
                                        <p:strVal val="visible"/>
                                      </p:to>
                                    </p:set>
                                    <p:animEffect filter="wipe(left)" transition="in">
                                      <p:cBhvr additive="repl">
                                        <p:cTn id="1580" dur="750"/>
                                        <p:tgtEl>
                                          <p:spTgt spid="331">
                                            <p:txEl>
                                              <p:pRg st="3" end="3"/>
                                            </p:txEl>
                                          </p:spTgt>
                                        </p:tgtEl>
                                      </p:cBhvr>
                                    </p:animEffect>
                                  </p:childTnLst>
                                </p:cTn>
                              </p:par>
                            </p:childTnLst>
                          </p:cTn>
                        </p:par>
                      </p:childTnLst>
                    </p:cTn>
                  </p:par>
                  <p:par>
                    <p:cTn id="1581" nodeType="clickEffect" fill="hold">
                      <p:stCondLst>
                        <p:cond delay="indefinite"/>
                      </p:stCondLst>
                      <p:childTnLst>
                        <p:par>
                          <p:cTn id="1582" nodeType="withEffect" fill="hold">
                            <p:stCondLst>
                              <p:cond delay="0"/>
                            </p:stCondLst>
                            <p:childTnLst>
                              <p:par>
                                <p:cTn id="1583" nodeType="clickEffect" fill="hold" presetClass="entr" presetID="22" presetSubtype="8">
                                  <p:stCondLst>
                                    <p:cond delay="0"/>
                                  </p:stCondLst>
                                  <p:childTnLst>
                                    <p:set>
                                      <p:cBhvr>
                                        <p:cTn id="1584" dur="1" fill="hold">
                                          <p:stCondLst>
                                            <p:cond delay="0"/>
                                          </p:stCondLst>
                                        </p:cTn>
                                        <p:tgtEl>
                                          <p:spTgt spid="331">
                                            <p:txEl>
                                              <p:pRg st="4" end="4"/>
                                            </p:txEl>
                                          </p:spTgt>
                                        </p:tgtEl>
                                        <p:attrNameLst>
                                          <p:attrName>style.visibility</p:attrName>
                                        </p:attrNameLst>
                                      </p:cBhvr>
                                      <p:to>
                                        <p:strVal val="visible"/>
                                      </p:to>
                                    </p:set>
                                    <p:animEffect filter="wipe(left)" transition="in">
                                      <p:cBhvr additive="repl">
                                        <p:cTn id="1585" dur="750"/>
                                        <p:tgtEl>
                                          <p:spTgt spid="33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6.5  ARE MARKETS FAIR?</a:t>
            </a:r>
            <a:endParaRPr b="0" lang="en-US" sz="2600" strike="noStrike" u="none">
              <a:solidFill>
                <a:srgbClr val="000000"/>
              </a:solidFill>
              <a:effectLst/>
              <a:uFillTx/>
              <a:latin typeface="Arial"/>
            </a:endParaRPr>
          </a:p>
        </p:txBody>
      </p:sp>
      <p:sp>
        <p:nvSpPr>
          <p:cNvPr id="33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It’s Not Fair if the </a:t>
            </a:r>
            <a:r>
              <a:rPr b="1" i="1" lang="en-US" sz="2800" strike="noStrike" u="none">
                <a:solidFill>
                  <a:srgbClr val="00468f"/>
                </a:solidFill>
                <a:effectLst/>
                <a:uFillTx/>
                <a:latin typeface="Arial"/>
                <a:ea typeface="ＭＳ Ｐゴシック"/>
              </a:rPr>
              <a:t>Result</a:t>
            </a:r>
            <a:r>
              <a:rPr b="1" lang="en-US" sz="2800" strike="noStrike" u="none">
                <a:solidFill>
                  <a:srgbClr val="00468f"/>
                </a:solidFill>
                <a:effectLst/>
                <a:uFillTx/>
                <a:latin typeface="Arial"/>
                <a:ea typeface="ＭＳ Ｐゴシック"/>
              </a:rPr>
              <a:t> Isn’t Fair</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fair rules approach is consistent with allocative efficiency, but the distribution might be “too unequal.”</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Most people recognize that there is no easy answer or principle to guide the amount of equality.</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fair results approach conflicts with efficiency and leads to what is called the “big tradeoff.”</a:t>
            </a:r>
            <a:endParaRPr b="0" lang="en-US" sz="2400" strike="noStrike" u="none">
              <a:solidFill>
                <a:srgbClr val="000000"/>
              </a:solidFill>
              <a:effectLst/>
              <a:uFillTx/>
              <a:latin typeface="Arial"/>
            </a:endParaRPr>
          </a:p>
        </p:txBody>
      </p:sp>
    </p:spTree>
  </p:cSld>
  <p:transition spd="slow">
    <p:wipe dir="r"/>
  </p:transition>
  <p:timing>
    <p:tnLst>
      <p:par>
        <p:cTn id="1586" dur="indefinite" restart="never" nodeType="tmRoot">
          <p:childTnLst>
            <p:seq>
              <p:cTn id="1587" dur="indefinite" nodeType="mainSeq">
                <p:childTnLst>
                  <p:par>
                    <p:cTn id="1588" nodeType="clickEffect" fill="hold">
                      <p:stCondLst>
                        <p:cond delay="indefinite"/>
                      </p:stCondLst>
                      <p:childTnLst>
                        <p:par>
                          <p:cTn id="1589" nodeType="withEffect" fill="hold">
                            <p:stCondLst>
                              <p:cond delay="0"/>
                            </p:stCondLst>
                            <p:childTnLst>
                              <p:par>
                                <p:cTn id="1590" nodeType="clickEffect" fill="hold" presetClass="entr" presetID="22" presetSubtype="8">
                                  <p:stCondLst>
                                    <p:cond delay="0"/>
                                  </p:stCondLst>
                                  <p:childTnLst>
                                    <p:set>
                                      <p:cBhvr>
                                        <p:cTn id="1591" dur="1" fill="hold">
                                          <p:stCondLst>
                                            <p:cond delay="0"/>
                                          </p:stCondLst>
                                        </p:cTn>
                                        <p:tgtEl>
                                          <p:spTgt spid="333">
                                            <p:txEl>
                                              <p:pRg st="1" end="1"/>
                                            </p:txEl>
                                          </p:spTgt>
                                        </p:tgtEl>
                                        <p:attrNameLst>
                                          <p:attrName>style.visibility</p:attrName>
                                        </p:attrNameLst>
                                      </p:cBhvr>
                                      <p:to>
                                        <p:strVal val="visible"/>
                                      </p:to>
                                    </p:set>
                                    <p:animEffect filter="wipe(left)" transition="in">
                                      <p:cBhvr additive="repl">
                                        <p:cTn id="1592" dur="750"/>
                                        <p:tgtEl>
                                          <p:spTgt spid="333">
                                            <p:txEl>
                                              <p:pRg st="1" end="1"/>
                                            </p:txEl>
                                          </p:spTgt>
                                        </p:tgtEl>
                                      </p:cBhvr>
                                    </p:animEffect>
                                  </p:childTnLst>
                                </p:cTn>
                              </p:par>
                            </p:childTnLst>
                          </p:cTn>
                        </p:par>
                      </p:childTnLst>
                    </p:cTn>
                  </p:par>
                  <p:par>
                    <p:cTn id="1593" nodeType="clickEffect" fill="hold">
                      <p:stCondLst>
                        <p:cond delay="indefinite"/>
                      </p:stCondLst>
                      <p:childTnLst>
                        <p:par>
                          <p:cTn id="1594" nodeType="withEffect" fill="hold">
                            <p:stCondLst>
                              <p:cond delay="0"/>
                            </p:stCondLst>
                            <p:childTnLst>
                              <p:par>
                                <p:cTn id="1595" nodeType="clickEffect" fill="hold" presetClass="entr" presetID="22" presetSubtype="8">
                                  <p:stCondLst>
                                    <p:cond delay="0"/>
                                  </p:stCondLst>
                                  <p:childTnLst>
                                    <p:set>
                                      <p:cBhvr>
                                        <p:cTn id="1596" dur="1" fill="hold">
                                          <p:stCondLst>
                                            <p:cond delay="0"/>
                                          </p:stCondLst>
                                        </p:cTn>
                                        <p:tgtEl>
                                          <p:spTgt spid="333">
                                            <p:txEl>
                                              <p:pRg st="2" end="2"/>
                                            </p:txEl>
                                          </p:spTgt>
                                        </p:tgtEl>
                                        <p:attrNameLst>
                                          <p:attrName>style.visibility</p:attrName>
                                        </p:attrNameLst>
                                      </p:cBhvr>
                                      <p:to>
                                        <p:strVal val="visible"/>
                                      </p:to>
                                    </p:set>
                                    <p:animEffect filter="wipe(left)" transition="in">
                                      <p:cBhvr additive="repl">
                                        <p:cTn id="1597" dur="750"/>
                                        <p:tgtEl>
                                          <p:spTgt spid="333">
                                            <p:txEl>
                                              <p:pRg st="2" end="2"/>
                                            </p:txEl>
                                          </p:spTgt>
                                        </p:tgtEl>
                                      </p:cBhvr>
                                    </p:animEffect>
                                  </p:childTnLst>
                                </p:cTn>
                              </p:par>
                            </p:childTnLst>
                          </p:cTn>
                        </p:par>
                      </p:childTnLst>
                    </p:cTn>
                  </p:par>
                  <p:par>
                    <p:cTn id="1598" nodeType="clickEffect" fill="hold">
                      <p:stCondLst>
                        <p:cond delay="indefinite"/>
                      </p:stCondLst>
                      <p:childTnLst>
                        <p:par>
                          <p:cTn id="1599" nodeType="withEffect" fill="hold">
                            <p:stCondLst>
                              <p:cond delay="0"/>
                            </p:stCondLst>
                            <p:childTnLst>
                              <p:par>
                                <p:cTn id="1600" nodeType="clickEffect" fill="hold" presetClass="entr" presetID="22" presetSubtype="8">
                                  <p:stCondLst>
                                    <p:cond delay="0"/>
                                  </p:stCondLst>
                                  <p:childTnLst>
                                    <p:set>
                                      <p:cBhvr>
                                        <p:cTn id="1601" dur="1" fill="hold">
                                          <p:stCondLst>
                                            <p:cond delay="0"/>
                                          </p:stCondLst>
                                        </p:cTn>
                                        <p:tgtEl>
                                          <p:spTgt spid="333">
                                            <p:txEl>
                                              <p:pRg st="3" end="3"/>
                                            </p:txEl>
                                          </p:spTgt>
                                        </p:tgtEl>
                                        <p:attrNameLst>
                                          <p:attrName>style.visibility</p:attrName>
                                        </p:attrNameLst>
                                      </p:cBhvr>
                                      <p:to>
                                        <p:strVal val="visible"/>
                                      </p:to>
                                    </p:set>
                                    <p:animEffect filter="wipe(left)" transition="in">
                                      <p:cBhvr additive="repl">
                                        <p:cTn id="1602" dur="750"/>
                                        <p:tgtEl>
                                          <p:spTgt spid="33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6.5  ARE MARKETS FAIR?</a:t>
            </a:r>
            <a:endParaRPr b="0" lang="en-US" sz="2600" strike="noStrike" u="none">
              <a:solidFill>
                <a:srgbClr val="000000"/>
              </a:solidFill>
              <a:effectLst/>
              <a:uFillTx/>
              <a:latin typeface="Arial"/>
            </a:endParaRPr>
          </a:p>
        </p:txBody>
      </p:sp>
      <p:sp>
        <p:nvSpPr>
          <p:cNvPr id="335"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a:t>
            </a:r>
            <a:r>
              <a:rPr b="1" lang="en-US" sz="2400" strike="noStrike" u="none">
                <a:solidFill>
                  <a:srgbClr val="ff0000"/>
                </a:solidFill>
                <a:effectLst/>
                <a:uFillTx/>
                <a:latin typeface="Arial"/>
                <a:ea typeface="ＭＳ Ｐゴシック"/>
              </a:rPr>
              <a:t> big tradeoff </a:t>
            </a:r>
            <a:r>
              <a:rPr b="0" lang="en-US" sz="2400" strike="noStrike" u="none">
                <a:solidFill>
                  <a:schemeClr val="dk1"/>
                </a:solidFill>
                <a:effectLst/>
                <a:uFillTx/>
                <a:latin typeface="Arial"/>
                <a:ea typeface="ＭＳ Ｐゴシック"/>
              </a:rPr>
              <a:t>is a</a:t>
            </a:r>
            <a:r>
              <a:rPr b="0" lang="en-US" sz="2400" strike="noStrike" u="none">
                <a:solidFill>
                  <a:srgbClr val="000000"/>
                </a:solidFill>
                <a:effectLst/>
                <a:uFillTx/>
                <a:latin typeface="Arial"/>
                <a:ea typeface="ＭＳ Ｐゴシック"/>
              </a:rPr>
              <a:t> tradeoff between efficiency and fairness that recognizes the cost of making income transfers.</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tradeoff is between the size of the economic pie and the degree of equality with which it is shared. </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greater the amount of income redistribution through income taxes, the greater is the inefficiency</a:t>
            </a:r>
            <a:r>
              <a:rPr b="0" lang="en-US" sz="2400" strike="noStrike" u="none">
                <a:solidFill>
                  <a:srgbClr val="000000"/>
                </a:solidFill>
                <a:effectLst/>
                <a:uFillTx/>
                <a:latin typeface="Arial"/>
                <a:ea typeface="ＭＳ Ｐゴシック"/>
              </a:rPr>
              <a:t>—</a:t>
            </a:r>
            <a:r>
              <a:rPr b="0" lang="en-US" sz="2400" strike="noStrike" u="none">
                <a:solidFill>
                  <a:schemeClr val="dk1"/>
                </a:solidFill>
                <a:effectLst/>
                <a:uFillTx/>
                <a:latin typeface="Arial"/>
                <a:ea typeface="ＭＳ Ｐゴシック"/>
              </a:rPr>
              <a:t>the smaller is the economic pie</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spTree>
  </p:cSld>
  <p:transition spd="slow">
    <p:wipe dir="r"/>
  </p:transition>
  <p:timing>
    <p:tnLst>
      <p:par>
        <p:cTn id="1603" dur="indefinite" restart="never" nodeType="tmRoot">
          <p:childTnLst>
            <p:seq>
              <p:cTn id="1604" dur="indefinite" nodeType="mainSeq">
                <p:childTnLst>
                  <p:par>
                    <p:cTn id="1605" nodeType="clickEffect" fill="hold">
                      <p:stCondLst>
                        <p:cond delay="indefinite"/>
                      </p:stCondLst>
                      <p:childTnLst>
                        <p:par>
                          <p:cTn id="1606" nodeType="withEffect" fill="hold">
                            <p:stCondLst>
                              <p:cond delay="0"/>
                            </p:stCondLst>
                            <p:childTnLst>
                              <p:par>
                                <p:cTn id="1607" nodeType="clickEffect" fill="hold" presetClass="entr" presetID="22" presetSubtype="8">
                                  <p:stCondLst>
                                    <p:cond delay="0"/>
                                  </p:stCondLst>
                                  <p:childTnLst>
                                    <p:set>
                                      <p:cBhvr>
                                        <p:cTn id="1608" dur="1" fill="hold">
                                          <p:stCondLst>
                                            <p:cond delay="0"/>
                                          </p:stCondLst>
                                        </p:cTn>
                                        <p:tgtEl>
                                          <p:spTgt spid="335">
                                            <p:txEl>
                                              <p:pRg st="1" end="1"/>
                                            </p:txEl>
                                          </p:spTgt>
                                        </p:tgtEl>
                                        <p:attrNameLst>
                                          <p:attrName>style.visibility</p:attrName>
                                        </p:attrNameLst>
                                      </p:cBhvr>
                                      <p:to>
                                        <p:strVal val="visible"/>
                                      </p:to>
                                    </p:set>
                                    <p:animEffect filter="wipe(left)" transition="in">
                                      <p:cBhvr additive="repl">
                                        <p:cTn id="1609" dur="750"/>
                                        <p:tgtEl>
                                          <p:spTgt spid="335">
                                            <p:txEl>
                                              <p:pRg st="1" end="1"/>
                                            </p:txEl>
                                          </p:spTgt>
                                        </p:tgtEl>
                                      </p:cBhvr>
                                    </p:animEffect>
                                  </p:childTnLst>
                                </p:cTn>
                              </p:par>
                            </p:childTnLst>
                          </p:cTn>
                        </p:par>
                      </p:childTnLst>
                    </p:cTn>
                  </p:par>
                  <p:par>
                    <p:cTn id="1610" nodeType="clickEffect" fill="hold">
                      <p:stCondLst>
                        <p:cond delay="indefinite"/>
                      </p:stCondLst>
                      <p:childTnLst>
                        <p:par>
                          <p:cTn id="1611" nodeType="withEffect" fill="hold">
                            <p:stCondLst>
                              <p:cond delay="0"/>
                            </p:stCondLst>
                            <p:childTnLst>
                              <p:par>
                                <p:cTn id="1612" nodeType="clickEffect" fill="hold" presetClass="entr" presetID="22" presetSubtype="8">
                                  <p:stCondLst>
                                    <p:cond delay="0"/>
                                  </p:stCondLst>
                                  <p:childTnLst>
                                    <p:set>
                                      <p:cBhvr>
                                        <p:cTn id="1613" dur="1" fill="hold">
                                          <p:stCondLst>
                                            <p:cond delay="0"/>
                                          </p:stCondLst>
                                        </p:cTn>
                                        <p:tgtEl>
                                          <p:spTgt spid="335">
                                            <p:txEl>
                                              <p:pRg st="2" end="2"/>
                                            </p:txEl>
                                          </p:spTgt>
                                        </p:tgtEl>
                                        <p:attrNameLst>
                                          <p:attrName>style.visibility</p:attrName>
                                        </p:attrNameLst>
                                      </p:cBhvr>
                                      <p:to>
                                        <p:strVal val="visible"/>
                                      </p:to>
                                    </p:set>
                                    <p:animEffect filter="wipe(left)" transition="in">
                                      <p:cBhvr additive="repl">
                                        <p:cTn id="1614" dur="750"/>
                                        <p:tgtEl>
                                          <p:spTgt spid="335">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6.5  ARE MARKETS FAIR?</a:t>
            </a:r>
            <a:endParaRPr b="0" lang="en-US" sz="2600" strike="noStrike" u="none">
              <a:solidFill>
                <a:srgbClr val="000000"/>
              </a:solidFill>
              <a:effectLst/>
              <a:uFillTx/>
              <a:latin typeface="Arial"/>
            </a:endParaRPr>
          </a:p>
        </p:txBody>
      </p:sp>
      <p:sp>
        <p:nvSpPr>
          <p:cNvPr id="33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Taking all the costs of income transfers into account, the fair distribution of the economic pie is the one that makes the poorest person as well off as possible.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“fair results” ideas require a change in the results after the game is over. Some say that this in itself is unfair</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spTree>
  </p:cSld>
  <p:transition spd="slow">
    <p:wipe dir="r"/>
  </p:transition>
  <p:timing>
    <p:tnLst>
      <p:par>
        <p:cTn id="1615" dur="indefinite" restart="never" nodeType="tmRoot">
          <p:childTnLst>
            <p:seq>
              <p:cTn id="1616" dur="indefinite" nodeType="mainSeq">
                <p:childTnLst>
                  <p:par>
                    <p:cTn id="1617" nodeType="clickEffect" fill="hold">
                      <p:stCondLst>
                        <p:cond delay="indefinite"/>
                      </p:stCondLst>
                      <p:childTnLst>
                        <p:par>
                          <p:cTn id="1618" nodeType="withEffect" fill="hold">
                            <p:stCondLst>
                              <p:cond delay="0"/>
                            </p:stCondLst>
                            <p:childTnLst>
                              <p:par>
                                <p:cTn id="1619" nodeType="clickEffect" fill="hold" presetClass="entr" presetID="22" presetSubtype="8">
                                  <p:stCondLst>
                                    <p:cond delay="0"/>
                                  </p:stCondLst>
                                  <p:childTnLst>
                                    <p:set>
                                      <p:cBhvr>
                                        <p:cTn id="1620" dur="1" fill="hold">
                                          <p:stCondLst>
                                            <p:cond delay="0"/>
                                          </p:stCondLst>
                                        </p:cTn>
                                        <p:tgtEl>
                                          <p:spTgt spid="337">
                                            <p:txEl>
                                              <p:pRg st="1" end="1"/>
                                            </p:txEl>
                                          </p:spTgt>
                                        </p:tgtEl>
                                        <p:attrNameLst>
                                          <p:attrName>style.visibility</p:attrName>
                                        </p:attrNameLst>
                                      </p:cBhvr>
                                      <p:to>
                                        <p:strVal val="visible"/>
                                      </p:to>
                                    </p:set>
                                    <p:animEffect filter="wipe(left)" transition="in">
                                      <p:cBhvr additive="repl">
                                        <p:cTn id="1621" dur="750"/>
                                        <p:tgtEl>
                                          <p:spTgt spid="337">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6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9_newdesign">
  <a:themeElements>
    <a:clrScheme name="1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10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11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5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2_foundations">
  <a:themeElements>
    <a:clrScheme name="2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foundations">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6_foundations">
  <a:themeElements>
    <a:clrScheme name="3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foundations">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Foundations 2e</Template>
  <TotalTime>8137</TotalTime>
  <Application>LibreOffice/25.2.3.2$MacOSX_AARCH64 LibreOffice_project/bbb074479178df812d175f709636b368952c2ce3</Application>
  <AppVersion>15.0000</AppVersion>
  <Words>4807</Words>
  <Paragraphs>431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2000-11-24T17:02:06Z</dcterms:created>
  <dc:creator>Robin Bade and Michael Parkin</dc:creator>
  <dc:description/>
  <dc:language>en-US</dc:language>
  <cp:lastModifiedBy/>
  <dcterms:modified xsi:type="dcterms:W3CDTF">2025-07-29T05:12:52Z</dcterms:modified>
  <cp:revision>194</cp:revision>
  <dc:subject/>
  <dc:title>Chapter 6</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13</vt:i4>
  </property>
  <property fmtid="{D5CDD505-2E9C-101B-9397-08002B2CF9AE}" pid="3" name="Notes">
    <vt:i4>77</vt:i4>
  </property>
  <property fmtid="{D5CDD505-2E9C-101B-9397-08002B2CF9AE}" pid="4" name="PresentationFormat">
    <vt:lpwstr>On-screen Show (4:3)</vt:lpwstr>
  </property>
  <property fmtid="{D5CDD505-2E9C-101B-9397-08002B2CF9AE}" pid="5" name="Slides">
    <vt:i4>77</vt:i4>
  </property>
</Properties>
</file>