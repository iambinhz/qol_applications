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tif" ContentType="image/tiff"/>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Lst>
  <p:notesMasterIdLst>
    <p:notesMasterId r:id="rId66"/>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x="9144000" cy="6858000" type="screen4x3"/>
  <p:notesSz cx="6858000" cy="9144000"/>
  <p:defaultText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74697"/>
  </p:normalViewPr>
  <p:slideViewPr>
    <p:cSldViewPr snapToGrid="0">
      <p:cViewPr varScale="1">
        <p:scale>
          <a:sx n="118" d="100"/>
          <a:sy n="118" d="100"/>
        </p:scale>
        <p:origin x="330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3" Type="http://schemas.openxmlformats.org/officeDocument/2006/relationships/slideMaster" Target="slideMasters/slideMaster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4" Type="http://schemas.openxmlformats.org/officeDocument/2006/relationships/slideMaster" Target="slideMasters/slideMaster4.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2" name="PlaceHolder 1"/>
          <p:cNvSpPr>
            <a:spLocks noGrp="1" noRot="1" noChangeAspect="1"/>
          </p:cNvSpPr>
          <p:nvPr>
            <p:ph type="sldImg"/>
          </p:nvPr>
        </p:nvSpPr>
        <p:spPr>
          <a:xfrm>
            <a:off x="0" y="764280"/>
            <a:ext cx="0" cy="0"/>
          </a:xfrm>
          <a:prstGeom prst="rect">
            <a:avLst/>
          </a:prstGeom>
          <a:noFill/>
          <a:ln w="0">
            <a:noFill/>
          </a:ln>
        </p:spPr>
        <p:txBody>
          <a:bodyPr lIns="0" tIns="0" rIns="0" bIns="0" anchor="ctr">
            <a:noAutofit/>
          </a:bodyPr>
          <a:lstStyle/>
          <a:p>
            <a:r>
              <a:rPr lang="en-US" sz="1800" b="0" u="none" strike="noStrike">
                <a:solidFill>
                  <a:schemeClr val="dk1"/>
                </a:solidFill>
                <a:effectLst/>
                <a:uFillTx/>
                <a:latin typeface="Arial"/>
              </a:rPr>
              <a:t>Click to move the slide</a:t>
            </a:r>
          </a:p>
        </p:txBody>
      </p:sp>
      <p:sp>
        <p:nvSpPr>
          <p:cNvPr id="3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lstStyle/>
          <a:p>
            <a:pPr indent="0">
              <a:buNone/>
            </a:pPr>
            <a:r>
              <a:rPr lang="en-US" sz="2000" b="0" u="none" strike="noStrike">
                <a:solidFill>
                  <a:srgbClr val="000000"/>
                </a:solidFill>
                <a:effectLst/>
                <a:uFillTx/>
                <a:latin typeface="Arial"/>
              </a:rPr>
              <a:t>Click to edit the notes format</a:t>
            </a:r>
          </a:p>
        </p:txBody>
      </p:sp>
      <p:sp>
        <p:nvSpPr>
          <p:cNvPr id="34" name="PlaceHolder 3"/>
          <p:cNvSpPr>
            <a:spLocks noGrp="1"/>
          </p:cNvSpPr>
          <p:nvPr>
            <p:ph type="hdr"/>
          </p:nvPr>
        </p:nvSpPr>
        <p:spPr>
          <a:xfrm>
            <a:off x="0" y="0"/>
            <a:ext cx="3372840" cy="502560"/>
          </a:xfrm>
          <a:prstGeom prst="rect">
            <a:avLst/>
          </a:prstGeom>
          <a:noFill/>
          <a:ln w="0">
            <a:noFill/>
          </a:ln>
        </p:spPr>
        <p:txBody>
          <a:bodyPr lIns="0" tIns="0" rIns="0" bIns="0" anchor="t">
            <a:noAutofit/>
          </a:bodyPr>
          <a:lstStyle/>
          <a:p>
            <a:pPr indent="0">
              <a:buNone/>
            </a:pPr>
            <a:r>
              <a:rPr lang="en-US" sz="1400" b="0" u="none" strike="noStrike">
                <a:solidFill>
                  <a:srgbClr val="000000"/>
                </a:solidFill>
                <a:effectLst/>
                <a:uFillTx/>
                <a:latin typeface="Times New Roman"/>
              </a:rPr>
              <a:t>&lt;header&gt;</a:t>
            </a:r>
          </a:p>
        </p:txBody>
      </p:sp>
      <p:sp>
        <p:nvSpPr>
          <p:cNvPr id="3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3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p>
        </p:txBody>
      </p:sp>
      <p:sp>
        <p:nvSpPr>
          <p:cNvPr id="3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F71DED17-1BF1-404F-9633-6D702C2F1638}"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1143000" y="685800"/>
            <a:ext cx="4573080" cy="3428640"/>
          </a:xfrm>
          <a:prstGeom prst="rect">
            <a:avLst/>
          </a:prstGeom>
          <a:ln w="0">
            <a:noFill/>
          </a:ln>
        </p:spPr>
      </p:sp>
      <p:sp>
        <p:nvSpPr>
          <p:cNvPr id="339" name="PlaceHolder 2"/>
          <p:cNvSpPr>
            <a:spLocks noGrp="1"/>
          </p:cNvSpPr>
          <p:nvPr>
            <p:ph type="body"/>
          </p:nvPr>
        </p:nvSpPr>
        <p:spPr>
          <a:xfrm>
            <a:off x="685800" y="4343400"/>
            <a:ext cx="5486040" cy="4114440"/>
          </a:xfrm>
          <a:prstGeom prst="rect">
            <a:avLst/>
          </a:prstGeom>
          <a:noFill/>
          <a:ln w="0">
            <a:noFill/>
          </a:ln>
        </p:spPr>
        <p:txBody>
          <a:bodyPr lIns="91440" tIns="45720" rIns="91440" bIns="45720" anchor="t">
            <a:noAutofit/>
          </a:bodyPr>
          <a:lstStyle/>
          <a:p>
            <a:pPr indent="0">
              <a:buNone/>
            </a:pPr>
            <a:endParaRPr lang="en-US" sz="1800" b="0" u="none" strike="noStrike">
              <a:solidFill>
                <a:srgbClr val="000000"/>
              </a:solidFill>
              <a:effectLst/>
              <a:uFillTx/>
              <a:latin typeface="Arial"/>
            </a:endParaRPr>
          </a:p>
        </p:txBody>
      </p:sp>
      <p:sp>
        <p:nvSpPr>
          <p:cNvPr id="340" name="PlaceHolder 3"/>
          <p:cNvSpPr>
            <a:spLocks noGrp="1"/>
          </p:cNvSpPr>
          <p:nvPr>
            <p:ph type="sldNum" idx="4"/>
          </p:nvPr>
        </p:nvSpPr>
        <p:spPr>
          <a:xfrm>
            <a:off x="0" y="0"/>
            <a:ext cx="0" cy="0"/>
          </a:xfrm>
          <a:prstGeom prst="rect">
            <a:avLst/>
          </a:prstGeom>
          <a:noFill/>
          <a:ln w="0">
            <a:noFill/>
          </a:ln>
        </p:spPr>
        <p:txBody>
          <a:bodyPr lIns="91440" tIns="0" rIns="91440" bIns="0" anchor="b">
            <a:noAutofit/>
          </a:bodyPr>
          <a:lstStyle>
            <a:lvl1pPr indent="0" algn="r" defTabSz="914400">
              <a:lnSpc>
                <a:spcPct val="100000"/>
              </a:lnSpc>
              <a:buNone/>
              <a:tabLst>
                <a:tab pos="0" algn="l"/>
              </a:tabLst>
              <a:defRPr lang="en-US" sz="1200" b="0" u="none" strike="noStrike">
                <a:solidFill>
                  <a:srgbClr val="000000"/>
                </a:solidFill>
                <a:effectLst/>
                <a:uFillTx/>
                <a:latin typeface="Arial"/>
                <a:ea typeface="MS PGothic"/>
              </a:defRPr>
            </a:lvl1pPr>
          </a:lstStyle>
          <a:p>
            <a:pPr indent="0" algn="r" defTabSz="914400">
              <a:lnSpc>
                <a:spcPct val="100000"/>
              </a:lnSpc>
              <a:buNone/>
              <a:tabLst>
                <a:tab pos="0" algn="l"/>
              </a:tabLst>
            </a:pPr>
            <a:fld id="{31B0D916-AE9F-47C3-B0DD-D59D5EF4D7F2}" type="slidenum">
              <a:rPr lang="en-US" sz="1200" b="0" u="none" strike="noStrike">
                <a:solidFill>
                  <a:srgbClr val="000000"/>
                </a:solidFill>
                <a:effectLst/>
                <a:uFillTx/>
                <a:latin typeface="Arial"/>
                <a:ea typeface="MS PGothic"/>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p:cNvSpPr>
          <p:nvPr>
            <p:ph type="sldNum" idx="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692676E2-198C-4978-9183-485883A6AA72}" type="slidenum">
              <a:rPr lang="en-CA" sz="1200" b="0" u="none" strike="noStrike">
                <a:solidFill>
                  <a:schemeClr val="dk1"/>
                </a:solidFill>
                <a:effectLst/>
                <a:uFillTx/>
                <a:latin typeface="Tahoma"/>
                <a:ea typeface="ＭＳ Ｐゴシック"/>
              </a:rPr>
              <a:t>2</a:t>
            </a:fld>
            <a:endParaRPr lang="en-US" sz="1200" b="0" u="none" strike="noStrike">
              <a:solidFill>
                <a:srgbClr val="000000"/>
              </a:solidFill>
              <a:effectLst/>
              <a:uFillTx/>
              <a:latin typeface="Times New Roman"/>
            </a:endParaRPr>
          </a:p>
        </p:txBody>
      </p:sp>
      <p:sp>
        <p:nvSpPr>
          <p:cNvPr id="342" name="PlaceHolder 2"/>
          <p:cNvSpPr>
            <a:spLocks noGrp="1" noRot="1" noChangeAspect="1"/>
          </p:cNvSpPr>
          <p:nvPr>
            <p:ph type="sldImg"/>
          </p:nvPr>
        </p:nvSpPr>
        <p:spPr>
          <a:xfrm>
            <a:off x="1143000" y="685800"/>
            <a:ext cx="4572000" cy="3429000"/>
          </a:xfrm>
          <a:prstGeom prst="rect">
            <a:avLst/>
          </a:prstGeom>
          <a:ln w="0">
            <a:noFill/>
          </a:ln>
        </p:spPr>
      </p:sp>
      <p:sp>
        <p:nvSpPr>
          <p:cNvPr id="343"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lnSpc>
                <a:spcPct val="100000"/>
              </a:lnSpc>
              <a:buNone/>
            </a:pPr>
            <a:endParaRPr lang="en-US" sz="1600" b="0" u="none" strike="noStrike" dirty="0">
              <a:solidFill>
                <a:srgbClr val="000000"/>
              </a:solidFill>
              <a:effectLst/>
              <a:uFillTx/>
              <a:latin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p:cNvSpPr>
          <p:nvPr>
            <p:ph type="sldNum" idx="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C78904C7-4F74-4C02-8A52-EA622603E0CD}" type="slidenum">
              <a:rPr lang="en-CA" sz="1200" b="0" u="none" strike="noStrike">
                <a:solidFill>
                  <a:schemeClr val="dk1"/>
                </a:solidFill>
                <a:effectLst/>
                <a:uFillTx/>
                <a:latin typeface="Tahoma"/>
                <a:ea typeface="ＭＳ Ｐゴシック"/>
              </a:rPr>
              <a:t>3</a:t>
            </a:fld>
            <a:endParaRPr lang="en-US" sz="1200" b="0" u="none" strike="noStrike">
              <a:solidFill>
                <a:srgbClr val="000000"/>
              </a:solidFill>
              <a:effectLst/>
              <a:uFillTx/>
              <a:latin typeface="Times New Roman"/>
            </a:endParaRPr>
          </a:p>
        </p:txBody>
      </p:sp>
      <p:sp>
        <p:nvSpPr>
          <p:cNvPr id="345" name="PlaceHolder 2"/>
          <p:cNvSpPr>
            <a:spLocks noGrp="1" noRot="1" noChangeAspect="1"/>
          </p:cNvSpPr>
          <p:nvPr>
            <p:ph type="sldImg"/>
          </p:nvPr>
        </p:nvSpPr>
        <p:spPr>
          <a:xfrm>
            <a:off x="1143000" y="685800"/>
            <a:ext cx="4571640" cy="3428640"/>
          </a:xfrm>
          <a:prstGeom prst="rect">
            <a:avLst/>
          </a:prstGeom>
          <a:ln w="0">
            <a:noFill/>
          </a:ln>
        </p:spPr>
      </p:sp>
      <p:sp>
        <p:nvSpPr>
          <p:cNvPr id="346"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p:cNvSpPr>
          <p:nvPr>
            <p:ph type="sldNum" idx="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E33FD0E-1D6A-4D00-8C67-6E6B777186E6}" type="slidenum">
              <a:rPr lang="en-CA" sz="1200" b="0" u="none" strike="noStrike">
                <a:solidFill>
                  <a:schemeClr val="dk1"/>
                </a:solidFill>
                <a:effectLst/>
                <a:uFillTx/>
                <a:latin typeface="Tahoma"/>
                <a:ea typeface="ＭＳ Ｐゴシック"/>
              </a:rPr>
              <a:t>4</a:t>
            </a:fld>
            <a:endParaRPr lang="en-US" sz="1200" b="0" u="none" strike="noStrike">
              <a:solidFill>
                <a:srgbClr val="000000"/>
              </a:solidFill>
              <a:effectLst/>
              <a:uFillTx/>
              <a:latin typeface="Times New Roman"/>
            </a:endParaRPr>
          </a:p>
        </p:txBody>
      </p:sp>
      <p:sp>
        <p:nvSpPr>
          <p:cNvPr id="348" name="PlaceHolder 2"/>
          <p:cNvSpPr>
            <a:spLocks noGrp="1" noRot="1" noChangeAspect="1"/>
          </p:cNvSpPr>
          <p:nvPr>
            <p:ph type="sldImg"/>
          </p:nvPr>
        </p:nvSpPr>
        <p:spPr>
          <a:xfrm>
            <a:off x="465138" y="204788"/>
            <a:ext cx="5929312" cy="4446587"/>
          </a:xfrm>
          <a:prstGeom prst="rect">
            <a:avLst/>
          </a:prstGeom>
          <a:ln w="0">
            <a:noFill/>
          </a:ln>
        </p:spPr>
      </p:sp>
      <p:sp>
        <p:nvSpPr>
          <p:cNvPr id="349" name="PlaceHolder 3"/>
          <p:cNvSpPr>
            <a:spLocks noGrp="1"/>
          </p:cNvSpPr>
          <p:nvPr>
            <p:ph type="body"/>
          </p:nvPr>
        </p:nvSpPr>
        <p:spPr>
          <a:xfrm>
            <a:off x="762120" y="4838760"/>
            <a:ext cx="5257440" cy="4000320"/>
          </a:xfrm>
          <a:prstGeom prst="rect">
            <a:avLst/>
          </a:prstGeom>
          <a:noFill/>
          <a:ln w="0">
            <a:noFill/>
          </a:ln>
        </p:spPr>
        <p:txBody>
          <a:bodyPr lIns="84600" tIns="42120" rIns="84600" bIns="42120" numCol="1" spcCol="0" anchor="t">
            <a:noAutofit/>
          </a:bodyPr>
          <a:lstStyle/>
          <a:p>
            <a:pPr indent="0">
              <a:lnSpc>
                <a:spcPct val="100000"/>
              </a:lnSpc>
              <a:buNone/>
            </a:pPr>
            <a:endParaRPr lang="en-US" sz="1000" b="0" u="none" strike="noStrike" dirty="0">
              <a:solidFill>
                <a:srgbClr val="000000"/>
              </a:solidFill>
              <a:effectLst/>
              <a:uFillTx/>
              <a:latin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p:cNvSpPr>
          <p:nvPr>
            <p:ph type="sldNum" idx="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CDC249C-E5F1-45B9-9888-53987DE4B12F}" type="slidenum">
              <a:rPr lang="en-CA" sz="1200" b="0" u="none" strike="noStrike">
                <a:solidFill>
                  <a:schemeClr val="dk1"/>
                </a:solidFill>
                <a:effectLst/>
                <a:uFillTx/>
                <a:latin typeface="Tahoma"/>
                <a:ea typeface="ＭＳ Ｐゴシック"/>
              </a:rPr>
              <a:t>5</a:t>
            </a:fld>
            <a:endParaRPr lang="en-US" sz="1200" b="0" u="none" strike="noStrike">
              <a:solidFill>
                <a:srgbClr val="000000"/>
              </a:solidFill>
              <a:effectLst/>
              <a:uFillTx/>
              <a:latin typeface="Times New Roman"/>
            </a:endParaRPr>
          </a:p>
        </p:txBody>
      </p:sp>
      <p:sp>
        <p:nvSpPr>
          <p:cNvPr id="351" name="PlaceHolder 2"/>
          <p:cNvSpPr>
            <a:spLocks noGrp="1" noRot="1" noChangeAspect="1"/>
          </p:cNvSpPr>
          <p:nvPr>
            <p:ph type="sldImg"/>
          </p:nvPr>
        </p:nvSpPr>
        <p:spPr>
          <a:xfrm>
            <a:off x="1143000" y="685800"/>
            <a:ext cx="4572000" cy="3429000"/>
          </a:xfrm>
          <a:prstGeom prst="rect">
            <a:avLst/>
          </a:prstGeom>
          <a:ln w="0">
            <a:noFill/>
          </a:ln>
        </p:spPr>
      </p:sp>
      <p:sp>
        <p:nvSpPr>
          <p:cNvPr id="352"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lnSpc>
                <a:spcPct val="80000"/>
              </a:lnSpc>
              <a:buNone/>
            </a:pPr>
            <a:endParaRPr lang="en-US" sz="1000" b="0" u="none" strike="noStrike" dirty="0">
              <a:solidFill>
                <a:srgbClr val="000000"/>
              </a:solidFill>
              <a:effectLst/>
              <a:uFillTx/>
              <a:latin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p:cNvSpPr>
          <p:nvPr>
            <p:ph type="sldNum" idx="9"/>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568FF30F-AB90-4E1D-A52A-9E1C3D68FB4B}" type="slidenum">
              <a:rPr lang="en-CA" sz="1200" b="0" u="none" strike="noStrike">
                <a:solidFill>
                  <a:schemeClr val="dk1"/>
                </a:solidFill>
                <a:effectLst/>
                <a:uFillTx/>
                <a:latin typeface="Tahoma"/>
                <a:ea typeface="ＭＳ Ｐゴシック"/>
              </a:rPr>
              <a:t>6</a:t>
            </a:fld>
            <a:endParaRPr lang="en-US" sz="1200" b="0" u="none" strike="noStrike">
              <a:solidFill>
                <a:srgbClr val="000000"/>
              </a:solidFill>
              <a:effectLst/>
              <a:uFillTx/>
              <a:latin typeface="Times New Roman"/>
            </a:endParaRPr>
          </a:p>
        </p:txBody>
      </p:sp>
      <p:sp>
        <p:nvSpPr>
          <p:cNvPr id="354" name="PlaceHolder 2"/>
          <p:cNvSpPr>
            <a:spLocks noGrp="1" noRot="1" noChangeAspect="1"/>
          </p:cNvSpPr>
          <p:nvPr>
            <p:ph type="sldImg"/>
          </p:nvPr>
        </p:nvSpPr>
        <p:spPr>
          <a:xfrm>
            <a:off x="1143000" y="685800"/>
            <a:ext cx="4572000" cy="3429000"/>
          </a:xfrm>
          <a:prstGeom prst="rect">
            <a:avLst/>
          </a:prstGeom>
          <a:ln w="0">
            <a:noFill/>
          </a:ln>
        </p:spPr>
      </p:sp>
      <p:sp>
        <p:nvSpPr>
          <p:cNvPr id="355"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lnSpc>
                <a:spcPct val="100000"/>
              </a:lnSpc>
              <a:buNone/>
            </a:pPr>
            <a:endParaRPr lang="en-US" sz="1600" b="0" u="none" strike="noStrike" dirty="0">
              <a:solidFill>
                <a:srgbClr val="000000"/>
              </a:solidFill>
              <a:effectLst/>
              <a:uFillTx/>
              <a:latin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p:cNvSpPr>
          <p:nvPr>
            <p:ph type="sldNum" idx="10"/>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C9BCF5E-1863-4D45-AEDB-1C0B43CCAE91}" type="slidenum">
              <a:rPr lang="en-CA" sz="1200" b="0" u="none" strike="noStrike">
                <a:solidFill>
                  <a:schemeClr val="dk1"/>
                </a:solidFill>
                <a:effectLst/>
                <a:uFillTx/>
                <a:latin typeface="Tahoma"/>
                <a:ea typeface="ＭＳ Ｐゴシック"/>
              </a:rPr>
              <a:t>7</a:t>
            </a:fld>
            <a:endParaRPr lang="en-US" sz="1200" b="0" u="none" strike="noStrike">
              <a:solidFill>
                <a:srgbClr val="000000"/>
              </a:solidFill>
              <a:effectLst/>
              <a:uFillTx/>
              <a:latin typeface="Times New Roman"/>
            </a:endParaRPr>
          </a:p>
        </p:txBody>
      </p:sp>
      <p:sp>
        <p:nvSpPr>
          <p:cNvPr id="357" name="PlaceHolder 2"/>
          <p:cNvSpPr>
            <a:spLocks noGrp="1" noRot="1" noChangeAspect="1"/>
          </p:cNvSpPr>
          <p:nvPr>
            <p:ph type="sldImg"/>
          </p:nvPr>
        </p:nvSpPr>
        <p:spPr>
          <a:xfrm>
            <a:off x="1143000" y="685800"/>
            <a:ext cx="4571640" cy="3428640"/>
          </a:xfrm>
          <a:prstGeom prst="rect">
            <a:avLst/>
          </a:prstGeom>
          <a:ln w="0">
            <a:noFill/>
          </a:ln>
        </p:spPr>
      </p:sp>
      <p:sp>
        <p:nvSpPr>
          <p:cNvPr id="358"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p:cNvSpPr>
          <p:nvPr>
            <p:ph type="sldNum" idx="11"/>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6E80D4A1-963D-4E94-B92C-4C1D3411134D}" type="slidenum">
              <a:rPr lang="en-CA" sz="1200" b="0" u="none" strike="noStrike">
                <a:solidFill>
                  <a:schemeClr val="dk1"/>
                </a:solidFill>
                <a:effectLst/>
                <a:uFillTx/>
                <a:latin typeface="Tahoma"/>
                <a:ea typeface="ＭＳ Ｐゴシック"/>
              </a:rPr>
              <a:t>8</a:t>
            </a:fld>
            <a:endParaRPr lang="en-US" sz="1200" b="0" u="none" strike="noStrike">
              <a:solidFill>
                <a:srgbClr val="000000"/>
              </a:solidFill>
              <a:effectLst/>
              <a:uFillTx/>
              <a:latin typeface="Times New Roman"/>
            </a:endParaRPr>
          </a:p>
        </p:txBody>
      </p:sp>
      <p:sp>
        <p:nvSpPr>
          <p:cNvPr id="360" name="PlaceHolder 2"/>
          <p:cNvSpPr>
            <a:spLocks noGrp="1" noRot="1" noChangeAspect="1"/>
          </p:cNvSpPr>
          <p:nvPr>
            <p:ph type="sldImg"/>
          </p:nvPr>
        </p:nvSpPr>
        <p:spPr>
          <a:xfrm>
            <a:off x="465120" y="204840"/>
            <a:ext cx="5928840" cy="4446360"/>
          </a:xfrm>
          <a:prstGeom prst="rect">
            <a:avLst/>
          </a:prstGeom>
          <a:ln w="0">
            <a:noFill/>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PlaceHolder 1"/>
          <p:cNvSpPr>
            <a:spLocks noGrp="1"/>
          </p:cNvSpPr>
          <p:nvPr>
            <p:ph type="sldNum" idx="12"/>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89651440-79EA-4008-A87A-B8E1EA071B09}" type="slidenum">
              <a:rPr lang="en-CA" sz="1200" b="0" u="none" strike="noStrike">
                <a:solidFill>
                  <a:schemeClr val="dk1"/>
                </a:solidFill>
                <a:effectLst/>
                <a:uFillTx/>
                <a:latin typeface="Tahoma"/>
                <a:ea typeface="ＭＳ Ｐゴシック"/>
              </a:rPr>
              <a:t>9</a:t>
            </a:fld>
            <a:endParaRPr lang="en-US" sz="1200" b="0" u="none" strike="noStrike">
              <a:solidFill>
                <a:srgbClr val="000000"/>
              </a:solidFill>
              <a:effectLst/>
              <a:uFillTx/>
              <a:latin typeface="Times New Roman"/>
            </a:endParaRPr>
          </a:p>
        </p:txBody>
      </p:sp>
      <p:sp>
        <p:nvSpPr>
          <p:cNvPr id="362" name="PlaceHolder 2"/>
          <p:cNvSpPr>
            <a:spLocks noGrp="1" noRot="1" noChangeAspect="1"/>
          </p:cNvSpPr>
          <p:nvPr>
            <p:ph type="sldImg"/>
          </p:nvPr>
        </p:nvSpPr>
        <p:spPr>
          <a:xfrm>
            <a:off x="1143000" y="685800"/>
            <a:ext cx="4572000" cy="3429000"/>
          </a:xfrm>
          <a:prstGeom prst="rect">
            <a:avLst/>
          </a:prstGeom>
          <a:ln w="0">
            <a:noFill/>
          </a:ln>
        </p:spPr>
      </p:sp>
      <p:sp>
        <p:nvSpPr>
          <p:cNvPr id="363"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4" name="PlaceHolder 1"/>
          <p:cNvSpPr>
            <a:spLocks noGrp="1"/>
          </p:cNvSpPr>
          <p:nvPr>
            <p:ph type="sldNum" idx="13"/>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809D7F0D-4266-4C13-B9EE-70705116804F}" type="slidenum">
              <a:rPr lang="en-CA" sz="1200" b="0" u="none" strike="noStrike">
                <a:solidFill>
                  <a:schemeClr val="dk1"/>
                </a:solidFill>
                <a:effectLst/>
                <a:uFillTx/>
                <a:latin typeface="Tahoma"/>
                <a:ea typeface="ＭＳ Ｐゴシック"/>
              </a:rPr>
              <a:t>10</a:t>
            </a:fld>
            <a:endParaRPr lang="en-US" sz="1200" b="0" u="none" strike="noStrike">
              <a:solidFill>
                <a:srgbClr val="000000"/>
              </a:solidFill>
              <a:effectLst/>
              <a:uFillTx/>
              <a:latin typeface="Times New Roman"/>
            </a:endParaRPr>
          </a:p>
        </p:txBody>
      </p:sp>
      <p:sp>
        <p:nvSpPr>
          <p:cNvPr id="365" name="PlaceHolder 2"/>
          <p:cNvSpPr>
            <a:spLocks noGrp="1" noRot="1" noChangeAspect="1"/>
          </p:cNvSpPr>
          <p:nvPr>
            <p:ph type="sldImg"/>
          </p:nvPr>
        </p:nvSpPr>
        <p:spPr>
          <a:xfrm>
            <a:off x="1143000" y="685800"/>
            <a:ext cx="4571640" cy="3428640"/>
          </a:xfrm>
          <a:prstGeom prst="rect">
            <a:avLst/>
          </a:prstGeom>
          <a:ln w="0">
            <a:noFill/>
          </a:ln>
        </p:spPr>
      </p:sp>
      <p:sp>
        <p:nvSpPr>
          <p:cNvPr id="366"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7" name="PlaceHolder 1"/>
          <p:cNvSpPr>
            <a:spLocks noGrp="1"/>
          </p:cNvSpPr>
          <p:nvPr>
            <p:ph type="sldNum" idx="14"/>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C42EC68-6E61-43EE-9638-8A95AD9C3ADB}" type="slidenum">
              <a:rPr lang="en-CA" sz="1200" b="0" u="none" strike="noStrike">
                <a:solidFill>
                  <a:schemeClr val="dk1"/>
                </a:solidFill>
                <a:effectLst/>
                <a:uFillTx/>
                <a:latin typeface="Tahoma"/>
                <a:ea typeface="ＭＳ Ｐゴシック"/>
              </a:rPr>
              <a:t>11</a:t>
            </a:fld>
            <a:endParaRPr lang="en-US" sz="1200" b="0" u="none" strike="noStrike">
              <a:solidFill>
                <a:srgbClr val="000000"/>
              </a:solidFill>
              <a:effectLst/>
              <a:uFillTx/>
              <a:latin typeface="Times New Roman"/>
            </a:endParaRPr>
          </a:p>
        </p:txBody>
      </p:sp>
      <p:sp>
        <p:nvSpPr>
          <p:cNvPr id="368" name="PlaceHolder 2"/>
          <p:cNvSpPr>
            <a:spLocks noGrp="1" noRot="1" noChangeAspect="1"/>
          </p:cNvSpPr>
          <p:nvPr>
            <p:ph type="sldImg"/>
          </p:nvPr>
        </p:nvSpPr>
        <p:spPr>
          <a:xfrm>
            <a:off x="465120" y="204840"/>
            <a:ext cx="5928840" cy="4446360"/>
          </a:xfrm>
          <a:prstGeom prst="rect">
            <a:avLst/>
          </a:prstGeom>
          <a:ln w="0">
            <a:noFill/>
          </a:ln>
        </p:spPr>
      </p:sp>
      <p:sp>
        <p:nvSpPr>
          <p:cNvPr id="369"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 name="PlaceHolder 1"/>
          <p:cNvSpPr>
            <a:spLocks noGrp="1"/>
          </p:cNvSpPr>
          <p:nvPr>
            <p:ph type="sldNum" idx="1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9AF52EA-82CA-4F23-BDAF-C0D5A0A02024}" type="slidenum">
              <a:rPr lang="en-CA" sz="1200" b="0" u="none" strike="noStrike">
                <a:solidFill>
                  <a:schemeClr val="dk1"/>
                </a:solidFill>
                <a:effectLst/>
                <a:uFillTx/>
                <a:latin typeface="Tahoma"/>
                <a:ea typeface="ＭＳ Ｐゴシック"/>
              </a:rPr>
              <a:t>12</a:t>
            </a:fld>
            <a:endParaRPr lang="en-US" sz="1200" b="0" u="none" strike="noStrike">
              <a:solidFill>
                <a:srgbClr val="000000"/>
              </a:solidFill>
              <a:effectLst/>
              <a:uFillTx/>
              <a:latin typeface="Times New Roman"/>
            </a:endParaRPr>
          </a:p>
        </p:txBody>
      </p:sp>
      <p:sp>
        <p:nvSpPr>
          <p:cNvPr id="371" name="PlaceHolder 2"/>
          <p:cNvSpPr>
            <a:spLocks noGrp="1" noRot="1" noChangeAspect="1"/>
          </p:cNvSpPr>
          <p:nvPr>
            <p:ph type="sldImg"/>
          </p:nvPr>
        </p:nvSpPr>
        <p:spPr>
          <a:xfrm>
            <a:off x="1143000" y="685800"/>
            <a:ext cx="4572000" cy="3429000"/>
          </a:xfrm>
          <a:prstGeom prst="rect">
            <a:avLst/>
          </a:prstGeom>
          <a:ln w="0">
            <a:noFill/>
          </a:ln>
        </p:spPr>
      </p:sp>
      <p:sp>
        <p:nvSpPr>
          <p:cNvPr id="372"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3" name="PlaceHolder 1"/>
          <p:cNvSpPr>
            <a:spLocks noGrp="1"/>
          </p:cNvSpPr>
          <p:nvPr>
            <p:ph type="sldNum" idx="1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5E54D758-030A-45DD-B7C3-0121277E0649}" type="slidenum">
              <a:rPr lang="en-CA" sz="1200" b="0" u="none" strike="noStrike">
                <a:solidFill>
                  <a:schemeClr val="dk1"/>
                </a:solidFill>
                <a:effectLst/>
                <a:uFillTx/>
                <a:latin typeface="Tahoma"/>
                <a:ea typeface="ＭＳ Ｐゴシック"/>
              </a:rPr>
              <a:t>13</a:t>
            </a:fld>
            <a:endParaRPr lang="en-US" sz="1200" b="0" u="none" strike="noStrike">
              <a:solidFill>
                <a:srgbClr val="000000"/>
              </a:solidFill>
              <a:effectLst/>
              <a:uFillTx/>
              <a:latin typeface="Times New Roman"/>
            </a:endParaRPr>
          </a:p>
        </p:txBody>
      </p:sp>
      <p:sp>
        <p:nvSpPr>
          <p:cNvPr id="374" name="PlaceHolder 2"/>
          <p:cNvSpPr>
            <a:spLocks noGrp="1" noRot="1" noChangeAspect="1"/>
          </p:cNvSpPr>
          <p:nvPr>
            <p:ph type="sldImg"/>
          </p:nvPr>
        </p:nvSpPr>
        <p:spPr>
          <a:xfrm>
            <a:off x="1143000" y="685800"/>
            <a:ext cx="4571640" cy="3428640"/>
          </a:xfrm>
          <a:prstGeom prst="rect">
            <a:avLst/>
          </a:prstGeom>
          <a:ln w="0">
            <a:noFill/>
          </a:ln>
        </p:spPr>
      </p:sp>
      <p:sp>
        <p:nvSpPr>
          <p:cNvPr id="375"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6" name="PlaceHolder 1"/>
          <p:cNvSpPr>
            <a:spLocks noGrp="1"/>
          </p:cNvSpPr>
          <p:nvPr>
            <p:ph type="sldNum" idx="1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7FD2325-CAEB-4905-AEBF-442A5B8453B2}" type="slidenum">
              <a:rPr lang="en-CA" sz="1200" b="0" u="none" strike="noStrike">
                <a:solidFill>
                  <a:schemeClr val="dk1"/>
                </a:solidFill>
                <a:effectLst/>
                <a:uFillTx/>
                <a:latin typeface="Tahoma"/>
                <a:ea typeface="ＭＳ Ｐゴシック"/>
              </a:rPr>
              <a:t>14</a:t>
            </a:fld>
            <a:endParaRPr lang="en-US" sz="1200" b="0" u="none" strike="noStrike">
              <a:solidFill>
                <a:srgbClr val="000000"/>
              </a:solidFill>
              <a:effectLst/>
              <a:uFillTx/>
              <a:latin typeface="Times New Roman"/>
            </a:endParaRPr>
          </a:p>
        </p:txBody>
      </p:sp>
      <p:sp>
        <p:nvSpPr>
          <p:cNvPr id="377" name="PlaceHolder 2"/>
          <p:cNvSpPr>
            <a:spLocks noGrp="1" noRot="1" noChangeAspect="1"/>
          </p:cNvSpPr>
          <p:nvPr>
            <p:ph type="sldImg"/>
          </p:nvPr>
        </p:nvSpPr>
        <p:spPr>
          <a:xfrm>
            <a:off x="465120" y="204840"/>
            <a:ext cx="5928840" cy="4446360"/>
          </a:xfrm>
          <a:prstGeom prst="rect">
            <a:avLst/>
          </a:prstGeom>
          <a:ln w="0">
            <a:noFill/>
          </a:ln>
        </p:spPr>
      </p:sp>
      <p:sp>
        <p:nvSpPr>
          <p:cNvPr id="378"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PlaceHolder 1"/>
          <p:cNvSpPr>
            <a:spLocks noGrp="1"/>
          </p:cNvSpPr>
          <p:nvPr>
            <p:ph type="sldNum" idx="1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4B3FE973-0BED-40D8-A24C-9549A90F897F}" type="slidenum">
              <a:rPr lang="en-CA" sz="1200" b="0" u="none" strike="noStrike">
                <a:solidFill>
                  <a:schemeClr val="dk1"/>
                </a:solidFill>
                <a:effectLst/>
                <a:uFillTx/>
                <a:latin typeface="Tahoma"/>
                <a:ea typeface="ＭＳ Ｐゴシック"/>
              </a:rPr>
              <a:t>15</a:t>
            </a:fld>
            <a:endParaRPr lang="en-US" sz="1200" b="0" u="none" strike="noStrike">
              <a:solidFill>
                <a:srgbClr val="000000"/>
              </a:solidFill>
              <a:effectLst/>
              <a:uFillTx/>
              <a:latin typeface="Times New Roman"/>
            </a:endParaRPr>
          </a:p>
        </p:txBody>
      </p:sp>
      <p:sp>
        <p:nvSpPr>
          <p:cNvPr id="380" name="PlaceHolder 2"/>
          <p:cNvSpPr>
            <a:spLocks noGrp="1" noRot="1" noChangeAspect="1"/>
          </p:cNvSpPr>
          <p:nvPr>
            <p:ph type="sldImg"/>
          </p:nvPr>
        </p:nvSpPr>
        <p:spPr>
          <a:xfrm>
            <a:off x="1143000" y="685800"/>
            <a:ext cx="4572000" cy="3429000"/>
          </a:xfrm>
          <a:prstGeom prst="rect">
            <a:avLst/>
          </a:prstGeom>
          <a:ln w="0">
            <a:noFill/>
          </a:ln>
        </p:spPr>
      </p:sp>
      <p:sp>
        <p:nvSpPr>
          <p:cNvPr id="381"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lnSpc>
                <a:spcPct val="80000"/>
              </a:lnSpc>
              <a:buNone/>
            </a:pPr>
            <a:endParaRPr lang="en-US" sz="1200" b="0" u="none" strike="noStrike" dirty="0">
              <a:solidFill>
                <a:srgbClr val="000000"/>
              </a:solidFill>
              <a:effectLst/>
              <a:uFillTx/>
              <a:latin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2" name="PlaceHolder 1"/>
          <p:cNvSpPr>
            <a:spLocks noGrp="1"/>
          </p:cNvSpPr>
          <p:nvPr>
            <p:ph type="sldNum" idx="19"/>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7EC08822-F4EA-4005-BE63-E3D71B2DDB3A}" type="slidenum">
              <a:rPr lang="en-CA" sz="1200" b="0" u="none" strike="noStrike">
                <a:solidFill>
                  <a:schemeClr val="dk1"/>
                </a:solidFill>
                <a:effectLst/>
                <a:uFillTx/>
                <a:latin typeface="Tahoma"/>
                <a:ea typeface="ＭＳ Ｐゴシック"/>
              </a:rPr>
              <a:t>16</a:t>
            </a:fld>
            <a:endParaRPr lang="en-US" sz="1200" b="0" u="none" strike="noStrike">
              <a:solidFill>
                <a:srgbClr val="000000"/>
              </a:solidFill>
              <a:effectLst/>
              <a:uFillTx/>
              <a:latin typeface="Times New Roman"/>
            </a:endParaRPr>
          </a:p>
        </p:txBody>
      </p:sp>
      <p:sp>
        <p:nvSpPr>
          <p:cNvPr id="383" name="PlaceHolder 2"/>
          <p:cNvSpPr>
            <a:spLocks noGrp="1" noRot="1" noChangeAspect="1"/>
          </p:cNvSpPr>
          <p:nvPr>
            <p:ph type="sldImg"/>
          </p:nvPr>
        </p:nvSpPr>
        <p:spPr>
          <a:xfrm>
            <a:off x="465120" y="204840"/>
            <a:ext cx="5928840" cy="4446360"/>
          </a:xfrm>
          <a:prstGeom prst="rect">
            <a:avLst/>
          </a:prstGeom>
          <a:ln w="0">
            <a:noFill/>
          </a:ln>
        </p:spPr>
      </p:sp>
      <p:sp>
        <p:nvSpPr>
          <p:cNvPr id="384"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 name="PlaceHolder 1"/>
          <p:cNvSpPr>
            <a:spLocks noGrp="1"/>
          </p:cNvSpPr>
          <p:nvPr>
            <p:ph type="sldNum" idx="20"/>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ED36B9A6-3F0A-4850-8D9E-671D73719D41}" type="slidenum">
              <a:rPr lang="en-CA" sz="1200" b="0" u="none" strike="noStrike">
                <a:solidFill>
                  <a:schemeClr val="dk1"/>
                </a:solidFill>
                <a:effectLst/>
                <a:uFillTx/>
                <a:latin typeface="Tahoma"/>
                <a:ea typeface="ＭＳ Ｐゴシック"/>
              </a:rPr>
              <a:t>17</a:t>
            </a:fld>
            <a:endParaRPr lang="en-US" sz="1200" b="0" u="none" strike="noStrike">
              <a:solidFill>
                <a:srgbClr val="000000"/>
              </a:solidFill>
              <a:effectLst/>
              <a:uFillTx/>
              <a:latin typeface="Times New Roman"/>
            </a:endParaRPr>
          </a:p>
        </p:txBody>
      </p:sp>
      <p:sp>
        <p:nvSpPr>
          <p:cNvPr id="386" name="PlaceHolder 2"/>
          <p:cNvSpPr>
            <a:spLocks noGrp="1" noRot="1" noChangeAspect="1"/>
          </p:cNvSpPr>
          <p:nvPr>
            <p:ph type="sldImg"/>
          </p:nvPr>
        </p:nvSpPr>
        <p:spPr>
          <a:xfrm>
            <a:off x="1143000" y="685800"/>
            <a:ext cx="4572000" cy="3429000"/>
          </a:xfrm>
          <a:prstGeom prst="rect">
            <a:avLst/>
          </a:prstGeom>
          <a:ln w="0">
            <a:noFill/>
          </a:ln>
        </p:spPr>
      </p:sp>
      <p:sp>
        <p:nvSpPr>
          <p:cNvPr id="387"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8" name="PlaceHolder 1"/>
          <p:cNvSpPr>
            <a:spLocks noGrp="1"/>
          </p:cNvSpPr>
          <p:nvPr>
            <p:ph type="sldNum" idx="21"/>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B0089348-B7D1-4D16-A6B4-57D31FB05C1C}" type="slidenum">
              <a:rPr lang="en-CA" sz="1200" b="0" u="none" strike="noStrike">
                <a:solidFill>
                  <a:schemeClr val="dk1"/>
                </a:solidFill>
                <a:effectLst/>
                <a:uFillTx/>
                <a:latin typeface="Tahoma"/>
                <a:ea typeface="ＭＳ Ｐゴシック"/>
              </a:rPr>
              <a:t>18</a:t>
            </a:fld>
            <a:endParaRPr lang="en-US" sz="1200" b="0" u="none" strike="noStrike">
              <a:solidFill>
                <a:srgbClr val="000000"/>
              </a:solidFill>
              <a:effectLst/>
              <a:uFillTx/>
              <a:latin typeface="Times New Roman"/>
            </a:endParaRPr>
          </a:p>
        </p:txBody>
      </p:sp>
      <p:sp>
        <p:nvSpPr>
          <p:cNvPr id="389" name="PlaceHolder 2"/>
          <p:cNvSpPr>
            <a:spLocks noGrp="1" noRot="1" noChangeAspect="1"/>
          </p:cNvSpPr>
          <p:nvPr>
            <p:ph type="sldImg"/>
          </p:nvPr>
        </p:nvSpPr>
        <p:spPr>
          <a:xfrm>
            <a:off x="465120" y="204840"/>
            <a:ext cx="5928840" cy="4446360"/>
          </a:xfrm>
          <a:prstGeom prst="rect">
            <a:avLst/>
          </a:prstGeom>
          <a:ln w="0">
            <a:noFill/>
          </a:ln>
        </p:spPr>
      </p:sp>
      <p:sp>
        <p:nvSpPr>
          <p:cNvPr id="390"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1" name="PlaceHolder 1"/>
          <p:cNvSpPr>
            <a:spLocks noGrp="1"/>
          </p:cNvSpPr>
          <p:nvPr>
            <p:ph type="sldNum" idx="22"/>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BA93FB86-DDD3-43FC-A4F6-AFE96950AFE0}" type="slidenum">
              <a:rPr lang="en-CA" sz="1200" b="0" u="none" strike="noStrike">
                <a:solidFill>
                  <a:schemeClr val="dk1"/>
                </a:solidFill>
                <a:effectLst/>
                <a:uFillTx/>
                <a:latin typeface="Tahoma"/>
                <a:ea typeface="ＭＳ Ｐゴシック"/>
              </a:rPr>
              <a:t>19</a:t>
            </a:fld>
            <a:endParaRPr lang="en-US" sz="1200" b="0" u="none" strike="noStrike">
              <a:solidFill>
                <a:srgbClr val="000000"/>
              </a:solidFill>
              <a:effectLst/>
              <a:uFillTx/>
              <a:latin typeface="Times New Roman"/>
            </a:endParaRPr>
          </a:p>
        </p:txBody>
      </p:sp>
      <p:sp>
        <p:nvSpPr>
          <p:cNvPr id="392" name="PlaceHolder 2"/>
          <p:cNvSpPr>
            <a:spLocks noGrp="1" noRot="1" noChangeAspect="1"/>
          </p:cNvSpPr>
          <p:nvPr>
            <p:ph type="sldImg"/>
          </p:nvPr>
        </p:nvSpPr>
        <p:spPr>
          <a:xfrm>
            <a:off x="465120" y="204840"/>
            <a:ext cx="5928840" cy="4446360"/>
          </a:xfrm>
          <a:prstGeom prst="rect">
            <a:avLst/>
          </a:prstGeom>
          <a:ln w="0">
            <a:noFill/>
          </a:ln>
        </p:spPr>
      </p:sp>
      <p:sp>
        <p:nvSpPr>
          <p:cNvPr id="393" name="PlaceHolder 3"/>
          <p:cNvSpPr>
            <a:spLocks noGrp="1"/>
          </p:cNvSpPr>
          <p:nvPr>
            <p:ph type="body"/>
          </p:nvPr>
        </p:nvSpPr>
        <p:spPr>
          <a:xfrm>
            <a:off x="465120" y="4838760"/>
            <a:ext cx="592884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4" name="PlaceHolder 1"/>
          <p:cNvSpPr>
            <a:spLocks noGrp="1"/>
          </p:cNvSpPr>
          <p:nvPr>
            <p:ph type="sldNum" idx="23"/>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61F016F-4D1E-4E01-973D-DD4DBC233744}" type="slidenum">
              <a:rPr lang="en-CA" sz="1200" b="0" u="none" strike="noStrike">
                <a:solidFill>
                  <a:schemeClr val="dk1"/>
                </a:solidFill>
                <a:effectLst/>
                <a:uFillTx/>
                <a:latin typeface="Tahoma"/>
                <a:ea typeface="ＭＳ Ｐゴシック"/>
              </a:rPr>
              <a:t>20</a:t>
            </a:fld>
            <a:endParaRPr lang="en-US" sz="1200" b="0" u="none" strike="noStrike">
              <a:solidFill>
                <a:srgbClr val="000000"/>
              </a:solidFill>
              <a:effectLst/>
              <a:uFillTx/>
              <a:latin typeface="Times New Roman"/>
            </a:endParaRPr>
          </a:p>
        </p:txBody>
      </p:sp>
      <p:sp>
        <p:nvSpPr>
          <p:cNvPr id="395" name="PlaceHolder 2"/>
          <p:cNvSpPr>
            <a:spLocks noGrp="1" noRot="1" noChangeAspect="1"/>
          </p:cNvSpPr>
          <p:nvPr>
            <p:ph type="sldImg"/>
          </p:nvPr>
        </p:nvSpPr>
        <p:spPr>
          <a:xfrm>
            <a:off x="465120" y="204840"/>
            <a:ext cx="5928840" cy="4446360"/>
          </a:xfrm>
          <a:prstGeom prst="rect">
            <a:avLst/>
          </a:prstGeom>
          <a:ln w="0">
            <a:noFill/>
          </a:ln>
        </p:spPr>
      </p:sp>
      <p:sp>
        <p:nvSpPr>
          <p:cNvPr id="396"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7" name="PlaceHolder 1"/>
          <p:cNvSpPr>
            <a:spLocks noGrp="1"/>
          </p:cNvSpPr>
          <p:nvPr>
            <p:ph type="sldNum" idx="24"/>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1ADA59C-7F71-4355-BF72-D365FE95496D}" type="slidenum">
              <a:rPr lang="en-CA" sz="1200" b="0" u="none" strike="noStrike">
                <a:solidFill>
                  <a:schemeClr val="dk1"/>
                </a:solidFill>
                <a:effectLst/>
                <a:uFillTx/>
                <a:latin typeface="Tahoma"/>
                <a:ea typeface="ＭＳ Ｐゴシック"/>
              </a:rPr>
              <a:t>21</a:t>
            </a:fld>
            <a:endParaRPr lang="en-US" sz="1200" b="0" u="none" strike="noStrike">
              <a:solidFill>
                <a:srgbClr val="000000"/>
              </a:solidFill>
              <a:effectLst/>
              <a:uFillTx/>
              <a:latin typeface="Times New Roman"/>
            </a:endParaRPr>
          </a:p>
        </p:txBody>
      </p:sp>
      <p:sp>
        <p:nvSpPr>
          <p:cNvPr id="398" name="PlaceHolder 2"/>
          <p:cNvSpPr>
            <a:spLocks noGrp="1" noRot="1" noChangeAspect="1"/>
          </p:cNvSpPr>
          <p:nvPr>
            <p:ph type="sldImg"/>
          </p:nvPr>
        </p:nvSpPr>
        <p:spPr>
          <a:xfrm>
            <a:off x="465120" y="204840"/>
            <a:ext cx="5928840" cy="4446360"/>
          </a:xfrm>
          <a:prstGeom prst="rect">
            <a:avLst/>
          </a:prstGeom>
          <a:ln w="0">
            <a:noFill/>
          </a:ln>
        </p:spPr>
      </p:sp>
      <p:sp>
        <p:nvSpPr>
          <p:cNvPr id="399"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0" name="PlaceHolder 1"/>
          <p:cNvSpPr>
            <a:spLocks noGrp="1"/>
          </p:cNvSpPr>
          <p:nvPr>
            <p:ph type="sldNum" idx="2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BDB02D1F-CCFD-4EFA-8030-958B4B5C5553}" type="slidenum">
              <a:rPr lang="en-CA" sz="1200" b="0" u="none" strike="noStrike">
                <a:solidFill>
                  <a:schemeClr val="dk1"/>
                </a:solidFill>
                <a:effectLst/>
                <a:uFillTx/>
                <a:latin typeface="Tahoma"/>
                <a:ea typeface="ＭＳ Ｐゴシック"/>
              </a:rPr>
              <a:t>22</a:t>
            </a:fld>
            <a:endParaRPr lang="en-US" sz="1200" b="0" u="none" strike="noStrike">
              <a:solidFill>
                <a:srgbClr val="000000"/>
              </a:solidFill>
              <a:effectLst/>
              <a:uFillTx/>
              <a:latin typeface="Times New Roman"/>
            </a:endParaRPr>
          </a:p>
        </p:txBody>
      </p:sp>
      <p:sp>
        <p:nvSpPr>
          <p:cNvPr id="401" name="PlaceHolder 2"/>
          <p:cNvSpPr>
            <a:spLocks noGrp="1" noRot="1" noChangeAspect="1"/>
          </p:cNvSpPr>
          <p:nvPr>
            <p:ph type="sldImg"/>
          </p:nvPr>
        </p:nvSpPr>
        <p:spPr>
          <a:xfrm>
            <a:off x="1143000" y="685800"/>
            <a:ext cx="4571640" cy="3428640"/>
          </a:xfrm>
          <a:prstGeom prst="rect">
            <a:avLst/>
          </a:prstGeom>
          <a:ln w="0">
            <a:noFill/>
          </a:ln>
        </p:spPr>
      </p:sp>
      <p:sp>
        <p:nvSpPr>
          <p:cNvPr id="402"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3" name="PlaceHolder 1"/>
          <p:cNvSpPr>
            <a:spLocks noGrp="1"/>
          </p:cNvSpPr>
          <p:nvPr>
            <p:ph type="sldNum" idx="2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96C899E0-F4C9-4389-9D3E-A16146397922}" type="slidenum">
              <a:rPr lang="en-CA" sz="1200" b="0" u="none" strike="noStrike">
                <a:solidFill>
                  <a:schemeClr val="dk1"/>
                </a:solidFill>
                <a:effectLst/>
                <a:uFillTx/>
                <a:latin typeface="Tahoma"/>
                <a:ea typeface="ＭＳ Ｐゴシック"/>
              </a:rPr>
              <a:t>23</a:t>
            </a:fld>
            <a:endParaRPr lang="en-US" sz="1200" b="0" u="none" strike="noStrike">
              <a:solidFill>
                <a:srgbClr val="000000"/>
              </a:solidFill>
              <a:effectLst/>
              <a:uFillTx/>
              <a:latin typeface="Times New Roman"/>
            </a:endParaRPr>
          </a:p>
        </p:txBody>
      </p:sp>
      <p:sp>
        <p:nvSpPr>
          <p:cNvPr id="404" name="PlaceHolder 2"/>
          <p:cNvSpPr>
            <a:spLocks noGrp="1" noRot="1" noChangeAspect="1"/>
          </p:cNvSpPr>
          <p:nvPr>
            <p:ph type="sldImg"/>
          </p:nvPr>
        </p:nvSpPr>
        <p:spPr>
          <a:xfrm>
            <a:off x="1143000" y="685800"/>
            <a:ext cx="4572000" cy="3429000"/>
          </a:xfrm>
          <a:prstGeom prst="rect">
            <a:avLst/>
          </a:prstGeom>
          <a:ln w="0">
            <a:noFill/>
          </a:ln>
        </p:spPr>
      </p:sp>
      <p:sp>
        <p:nvSpPr>
          <p:cNvPr id="405"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6" name="PlaceHolder 1"/>
          <p:cNvSpPr>
            <a:spLocks noGrp="1"/>
          </p:cNvSpPr>
          <p:nvPr>
            <p:ph type="sldNum" idx="2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C60F073E-FDBB-481E-AE44-BCAA3831C709}" type="slidenum">
              <a:rPr lang="en-CA" sz="1200" b="0" u="none" strike="noStrike">
                <a:solidFill>
                  <a:schemeClr val="dk1"/>
                </a:solidFill>
                <a:effectLst/>
                <a:uFillTx/>
                <a:latin typeface="Tahoma"/>
                <a:ea typeface="ＭＳ Ｐゴシック"/>
              </a:rPr>
              <a:t>24</a:t>
            </a:fld>
            <a:endParaRPr lang="en-US" sz="1200" b="0" u="none" strike="noStrike">
              <a:solidFill>
                <a:srgbClr val="000000"/>
              </a:solidFill>
              <a:effectLst/>
              <a:uFillTx/>
              <a:latin typeface="Times New Roman"/>
            </a:endParaRPr>
          </a:p>
        </p:txBody>
      </p:sp>
      <p:sp>
        <p:nvSpPr>
          <p:cNvPr id="407" name="PlaceHolder 2"/>
          <p:cNvSpPr>
            <a:spLocks noGrp="1" noRot="1" noChangeAspect="1"/>
          </p:cNvSpPr>
          <p:nvPr>
            <p:ph type="sldImg"/>
          </p:nvPr>
        </p:nvSpPr>
        <p:spPr>
          <a:xfrm>
            <a:off x="1143000" y="685800"/>
            <a:ext cx="4571640" cy="3428640"/>
          </a:xfrm>
          <a:prstGeom prst="rect">
            <a:avLst/>
          </a:prstGeom>
          <a:ln w="0">
            <a:noFill/>
          </a:ln>
        </p:spPr>
      </p:sp>
      <p:sp>
        <p:nvSpPr>
          <p:cNvPr id="408"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 name="PlaceHolder 1"/>
          <p:cNvSpPr>
            <a:spLocks noGrp="1"/>
          </p:cNvSpPr>
          <p:nvPr>
            <p:ph type="sldNum" idx="2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586B46B7-ED96-4335-AB62-644CBA534AD9}" type="slidenum">
              <a:rPr lang="en-CA" sz="1200" b="0" u="none" strike="noStrike">
                <a:solidFill>
                  <a:schemeClr val="dk1"/>
                </a:solidFill>
                <a:effectLst/>
                <a:uFillTx/>
                <a:latin typeface="Tahoma"/>
                <a:ea typeface="ＭＳ Ｐゴシック"/>
              </a:rPr>
              <a:t>25</a:t>
            </a:fld>
            <a:endParaRPr lang="en-US" sz="1200" b="0" u="none" strike="noStrike">
              <a:solidFill>
                <a:srgbClr val="000000"/>
              </a:solidFill>
              <a:effectLst/>
              <a:uFillTx/>
              <a:latin typeface="Times New Roman"/>
            </a:endParaRPr>
          </a:p>
        </p:txBody>
      </p:sp>
      <p:sp>
        <p:nvSpPr>
          <p:cNvPr id="410" name="PlaceHolder 2"/>
          <p:cNvSpPr>
            <a:spLocks noGrp="1" noRot="1" noChangeAspect="1"/>
          </p:cNvSpPr>
          <p:nvPr>
            <p:ph type="sldImg"/>
          </p:nvPr>
        </p:nvSpPr>
        <p:spPr>
          <a:xfrm>
            <a:off x="1143000" y="685800"/>
            <a:ext cx="4571640" cy="3428640"/>
          </a:xfrm>
          <a:prstGeom prst="rect">
            <a:avLst/>
          </a:prstGeom>
          <a:ln w="0">
            <a:noFill/>
          </a:ln>
        </p:spPr>
      </p:sp>
      <p:sp>
        <p:nvSpPr>
          <p:cNvPr id="411"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 name="PlaceHolder 1"/>
          <p:cNvSpPr>
            <a:spLocks noGrp="1"/>
          </p:cNvSpPr>
          <p:nvPr>
            <p:ph type="sldNum" idx="29"/>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517281E9-EDBE-448F-95C6-0763FB89F360}" type="slidenum">
              <a:rPr lang="en-CA" sz="1200" b="0" u="none" strike="noStrike">
                <a:solidFill>
                  <a:schemeClr val="dk1"/>
                </a:solidFill>
                <a:effectLst/>
                <a:uFillTx/>
                <a:latin typeface="Tahoma"/>
                <a:ea typeface="ＭＳ Ｐゴシック"/>
              </a:rPr>
              <a:t>26</a:t>
            </a:fld>
            <a:endParaRPr lang="en-US" sz="1200" b="0" u="none" strike="noStrike">
              <a:solidFill>
                <a:srgbClr val="000000"/>
              </a:solidFill>
              <a:effectLst/>
              <a:uFillTx/>
              <a:latin typeface="Times New Roman"/>
            </a:endParaRPr>
          </a:p>
        </p:txBody>
      </p:sp>
      <p:sp>
        <p:nvSpPr>
          <p:cNvPr id="413" name="PlaceHolder 2"/>
          <p:cNvSpPr>
            <a:spLocks noGrp="1" noRot="1" noChangeAspect="1"/>
          </p:cNvSpPr>
          <p:nvPr>
            <p:ph type="sldImg"/>
          </p:nvPr>
        </p:nvSpPr>
        <p:spPr>
          <a:xfrm>
            <a:off x="1143000" y="685800"/>
            <a:ext cx="4571640" cy="3428640"/>
          </a:xfrm>
          <a:prstGeom prst="rect">
            <a:avLst/>
          </a:prstGeom>
          <a:ln w="0">
            <a:noFill/>
          </a:ln>
        </p:spPr>
      </p:sp>
      <p:sp>
        <p:nvSpPr>
          <p:cNvPr id="414"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5" name="PlaceHolder 1"/>
          <p:cNvSpPr>
            <a:spLocks noGrp="1"/>
          </p:cNvSpPr>
          <p:nvPr>
            <p:ph type="sldNum" idx="30"/>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C6C63891-B2DB-4006-A7D5-4D103B7120C6}" type="slidenum">
              <a:rPr lang="en-CA" sz="1200" b="0" u="none" strike="noStrike">
                <a:solidFill>
                  <a:schemeClr val="dk1"/>
                </a:solidFill>
                <a:effectLst/>
                <a:uFillTx/>
                <a:latin typeface="Tahoma"/>
                <a:ea typeface="ＭＳ Ｐゴシック"/>
              </a:rPr>
              <a:t>27</a:t>
            </a:fld>
            <a:endParaRPr lang="en-US" sz="1200" b="0" u="none" strike="noStrike">
              <a:solidFill>
                <a:srgbClr val="000000"/>
              </a:solidFill>
              <a:effectLst/>
              <a:uFillTx/>
              <a:latin typeface="Times New Roman"/>
            </a:endParaRPr>
          </a:p>
        </p:txBody>
      </p:sp>
      <p:sp>
        <p:nvSpPr>
          <p:cNvPr id="416" name="PlaceHolder 2"/>
          <p:cNvSpPr>
            <a:spLocks noGrp="1" noRot="1" noChangeAspect="1"/>
          </p:cNvSpPr>
          <p:nvPr>
            <p:ph type="sldImg"/>
          </p:nvPr>
        </p:nvSpPr>
        <p:spPr>
          <a:xfrm>
            <a:off x="1143000" y="685800"/>
            <a:ext cx="4571640" cy="3428640"/>
          </a:xfrm>
          <a:prstGeom prst="rect">
            <a:avLst/>
          </a:prstGeom>
          <a:ln w="0">
            <a:noFill/>
          </a:ln>
        </p:spPr>
      </p:sp>
      <p:sp>
        <p:nvSpPr>
          <p:cNvPr id="417"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 name="PlaceHolder 1"/>
          <p:cNvSpPr>
            <a:spLocks noGrp="1"/>
          </p:cNvSpPr>
          <p:nvPr>
            <p:ph type="sldNum" idx="31"/>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B9E41451-3D22-4098-BE4E-9BAB207D70AF}" type="slidenum">
              <a:rPr lang="en-CA" sz="1200" b="0" u="none" strike="noStrike">
                <a:solidFill>
                  <a:schemeClr val="dk1"/>
                </a:solidFill>
                <a:effectLst/>
                <a:uFillTx/>
                <a:latin typeface="Tahoma"/>
                <a:ea typeface="ＭＳ Ｐゴシック"/>
              </a:rPr>
              <a:t>28</a:t>
            </a:fld>
            <a:endParaRPr lang="en-US" sz="1200" b="0" u="none" strike="noStrike">
              <a:solidFill>
                <a:srgbClr val="000000"/>
              </a:solidFill>
              <a:effectLst/>
              <a:uFillTx/>
              <a:latin typeface="Times New Roman"/>
            </a:endParaRPr>
          </a:p>
        </p:txBody>
      </p:sp>
      <p:sp>
        <p:nvSpPr>
          <p:cNvPr id="419" name="PlaceHolder 2"/>
          <p:cNvSpPr>
            <a:spLocks noGrp="1" noRot="1" noChangeAspect="1"/>
          </p:cNvSpPr>
          <p:nvPr>
            <p:ph type="sldImg"/>
          </p:nvPr>
        </p:nvSpPr>
        <p:spPr>
          <a:xfrm>
            <a:off x="465120" y="204840"/>
            <a:ext cx="5928840" cy="4446360"/>
          </a:xfrm>
          <a:prstGeom prst="rect">
            <a:avLst/>
          </a:prstGeom>
          <a:ln w="0">
            <a:noFill/>
          </a:ln>
        </p:spPr>
      </p:sp>
      <p:sp>
        <p:nvSpPr>
          <p:cNvPr id="420"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 name="PlaceHolder 1"/>
          <p:cNvSpPr>
            <a:spLocks noGrp="1"/>
          </p:cNvSpPr>
          <p:nvPr>
            <p:ph type="sldNum" idx="32"/>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19E9D397-461A-4E8E-A62C-F6F94BB9699E}" type="slidenum">
              <a:rPr lang="en-CA" sz="1200" b="0" u="none" strike="noStrike">
                <a:solidFill>
                  <a:schemeClr val="dk1"/>
                </a:solidFill>
                <a:effectLst/>
                <a:uFillTx/>
                <a:latin typeface="Tahoma"/>
                <a:ea typeface="ＭＳ Ｐゴシック"/>
              </a:rPr>
              <a:t>29</a:t>
            </a:fld>
            <a:endParaRPr lang="en-US" sz="1200" b="0" u="none" strike="noStrike">
              <a:solidFill>
                <a:srgbClr val="000000"/>
              </a:solidFill>
              <a:effectLst/>
              <a:uFillTx/>
              <a:latin typeface="Times New Roman"/>
            </a:endParaRPr>
          </a:p>
        </p:txBody>
      </p:sp>
      <p:sp>
        <p:nvSpPr>
          <p:cNvPr id="422" name="PlaceHolder 2"/>
          <p:cNvSpPr>
            <a:spLocks noGrp="1" noRot="1" noChangeAspect="1"/>
          </p:cNvSpPr>
          <p:nvPr>
            <p:ph type="sldImg"/>
          </p:nvPr>
        </p:nvSpPr>
        <p:spPr>
          <a:xfrm>
            <a:off x="1143000" y="685800"/>
            <a:ext cx="4572000" cy="3429000"/>
          </a:xfrm>
          <a:prstGeom prst="rect">
            <a:avLst/>
          </a:prstGeom>
          <a:ln w="0">
            <a:noFill/>
          </a:ln>
        </p:spPr>
      </p:sp>
      <p:sp>
        <p:nvSpPr>
          <p:cNvPr id="423"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4" name="PlaceHolder 1"/>
          <p:cNvSpPr>
            <a:spLocks noGrp="1"/>
          </p:cNvSpPr>
          <p:nvPr>
            <p:ph type="sldNum" idx="33"/>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4FBACF63-6FA0-40A0-A2A4-6F8C934C1FBE}" type="slidenum">
              <a:rPr lang="en-CA" sz="1200" b="0" u="none" strike="noStrike">
                <a:solidFill>
                  <a:schemeClr val="dk1"/>
                </a:solidFill>
                <a:effectLst/>
                <a:uFillTx/>
                <a:latin typeface="Tahoma"/>
                <a:ea typeface="ＭＳ Ｐゴシック"/>
              </a:rPr>
              <a:t>30</a:t>
            </a:fld>
            <a:endParaRPr lang="en-US" sz="1200" b="0" u="none" strike="noStrike">
              <a:solidFill>
                <a:srgbClr val="000000"/>
              </a:solidFill>
              <a:effectLst/>
              <a:uFillTx/>
              <a:latin typeface="Times New Roman"/>
            </a:endParaRPr>
          </a:p>
        </p:txBody>
      </p:sp>
      <p:sp>
        <p:nvSpPr>
          <p:cNvPr id="425" name="PlaceHolder 2"/>
          <p:cNvSpPr>
            <a:spLocks noGrp="1" noRot="1" noChangeAspect="1"/>
          </p:cNvSpPr>
          <p:nvPr>
            <p:ph type="sldImg"/>
          </p:nvPr>
        </p:nvSpPr>
        <p:spPr>
          <a:xfrm>
            <a:off x="465120" y="204840"/>
            <a:ext cx="5928840" cy="4446360"/>
          </a:xfrm>
          <a:prstGeom prst="rect">
            <a:avLst/>
          </a:prstGeom>
          <a:ln w="0">
            <a:noFill/>
          </a:ln>
        </p:spPr>
      </p:sp>
      <p:sp>
        <p:nvSpPr>
          <p:cNvPr id="426"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 name="PlaceHolder 1"/>
          <p:cNvSpPr>
            <a:spLocks noGrp="1"/>
          </p:cNvSpPr>
          <p:nvPr>
            <p:ph type="sldNum" idx="34"/>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46FA495E-127F-4775-BAE9-27032926366B}" type="slidenum">
              <a:rPr lang="en-CA" sz="1200" b="0" u="none" strike="noStrike">
                <a:solidFill>
                  <a:schemeClr val="dk1"/>
                </a:solidFill>
                <a:effectLst/>
                <a:uFillTx/>
                <a:latin typeface="Tahoma"/>
                <a:ea typeface="ＭＳ Ｐゴシック"/>
              </a:rPr>
              <a:t>31</a:t>
            </a:fld>
            <a:endParaRPr lang="en-US" sz="1200" b="0" u="none" strike="noStrike">
              <a:solidFill>
                <a:srgbClr val="000000"/>
              </a:solidFill>
              <a:effectLst/>
              <a:uFillTx/>
              <a:latin typeface="Times New Roman"/>
            </a:endParaRPr>
          </a:p>
        </p:txBody>
      </p:sp>
      <p:sp>
        <p:nvSpPr>
          <p:cNvPr id="428" name="PlaceHolder 2"/>
          <p:cNvSpPr>
            <a:spLocks noGrp="1" noRot="1" noChangeAspect="1"/>
          </p:cNvSpPr>
          <p:nvPr>
            <p:ph type="sldImg"/>
          </p:nvPr>
        </p:nvSpPr>
        <p:spPr>
          <a:xfrm>
            <a:off x="1143000" y="685800"/>
            <a:ext cx="4571640" cy="3428640"/>
          </a:xfrm>
          <a:prstGeom prst="rect">
            <a:avLst/>
          </a:prstGeom>
          <a:ln w="0">
            <a:noFill/>
          </a:ln>
        </p:spPr>
      </p:sp>
      <p:sp>
        <p:nvSpPr>
          <p:cNvPr id="429"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PlaceHolder 1"/>
          <p:cNvSpPr>
            <a:spLocks noGrp="1"/>
          </p:cNvSpPr>
          <p:nvPr>
            <p:ph type="sldNum" idx="3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37AA4745-CA4B-40BE-A47B-B626957563A3}" type="slidenum">
              <a:rPr lang="en-CA" sz="1200" b="0" u="none" strike="noStrike">
                <a:solidFill>
                  <a:schemeClr val="dk1"/>
                </a:solidFill>
                <a:effectLst/>
                <a:uFillTx/>
                <a:latin typeface="Tahoma"/>
                <a:ea typeface="ＭＳ Ｐゴシック"/>
              </a:rPr>
              <a:t>32</a:t>
            </a:fld>
            <a:endParaRPr lang="en-US" sz="1200" b="0" u="none" strike="noStrike">
              <a:solidFill>
                <a:srgbClr val="000000"/>
              </a:solidFill>
              <a:effectLst/>
              <a:uFillTx/>
              <a:latin typeface="Times New Roman"/>
            </a:endParaRPr>
          </a:p>
        </p:txBody>
      </p:sp>
      <p:sp>
        <p:nvSpPr>
          <p:cNvPr id="431" name="PlaceHolder 2"/>
          <p:cNvSpPr>
            <a:spLocks noGrp="1" noRot="1" noChangeAspect="1"/>
          </p:cNvSpPr>
          <p:nvPr>
            <p:ph type="sldImg"/>
          </p:nvPr>
        </p:nvSpPr>
        <p:spPr>
          <a:xfrm>
            <a:off x="1143000" y="685800"/>
            <a:ext cx="4572000" cy="3429000"/>
          </a:xfrm>
          <a:prstGeom prst="rect">
            <a:avLst/>
          </a:prstGeom>
          <a:ln w="0">
            <a:noFill/>
          </a:ln>
        </p:spPr>
      </p:sp>
      <p:sp>
        <p:nvSpPr>
          <p:cNvPr id="432"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lnSpc>
                <a:spcPct val="80000"/>
              </a:lnSpc>
              <a:buNone/>
            </a:pPr>
            <a:endParaRPr lang="en-US" sz="1200" b="0" u="none" strike="noStrike" dirty="0">
              <a:solidFill>
                <a:srgbClr val="000000"/>
              </a:solidFill>
              <a:effectLst/>
              <a:uFillTx/>
              <a:latin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PlaceHolder 1"/>
          <p:cNvSpPr>
            <a:spLocks noGrp="1"/>
          </p:cNvSpPr>
          <p:nvPr>
            <p:ph type="sldNum" idx="3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A3CDE41-D160-4F27-AA23-CD0FDEA4BE82}" type="slidenum">
              <a:rPr lang="en-CA" sz="1200" b="0" u="none" strike="noStrike">
                <a:solidFill>
                  <a:schemeClr val="dk1"/>
                </a:solidFill>
                <a:effectLst/>
                <a:uFillTx/>
                <a:latin typeface="Tahoma"/>
                <a:ea typeface="ＭＳ Ｐゴシック"/>
              </a:rPr>
              <a:t>33</a:t>
            </a:fld>
            <a:endParaRPr lang="en-US" sz="1200" b="0" u="none" strike="noStrike">
              <a:solidFill>
                <a:srgbClr val="000000"/>
              </a:solidFill>
              <a:effectLst/>
              <a:uFillTx/>
              <a:latin typeface="Times New Roman"/>
            </a:endParaRPr>
          </a:p>
        </p:txBody>
      </p:sp>
      <p:sp>
        <p:nvSpPr>
          <p:cNvPr id="434" name="PlaceHolder 2"/>
          <p:cNvSpPr>
            <a:spLocks noGrp="1" noRot="1" noChangeAspect="1"/>
          </p:cNvSpPr>
          <p:nvPr>
            <p:ph type="sldImg"/>
          </p:nvPr>
        </p:nvSpPr>
        <p:spPr>
          <a:xfrm>
            <a:off x="465120" y="204840"/>
            <a:ext cx="5928840" cy="4446360"/>
          </a:xfrm>
          <a:prstGeom prst="rect">
            <a:avLst/>
          </a:prstGeom>
          <a:ln w="0">
            <a:noFill/>
          </a:ln>
        </p:spPr>
      </p:sp>
      <p:sp>
        <p:nvSpPr>
          <p:cNvPr id="435"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PlaceHolder 1"/>
          <p:cNvSpPr>
            <a:spLocks noGrp="1"/>
          </p:cNvSpPr>
          <p:nvPr>
            <p:ph type="sldNum" idx="3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445FA23C-57D5-4381-9573-4BFED6F938E7}" type="slidenum">
              <a:rPr lang="en-CA" sz="1200" b="0" u="none" strike="noStrike">
                <a:solidFill>
                  <a:schemeClr val="dk1"/>
                </a:solidFill>
                <a:effectLst/>
                <a:uFillTx/>
                <a:latin typeface="Tahoma"/>
                <a:ea typeface="ＭＳ Ｐゴシック"/>
              </a:rPr>
              <a:t>34</a:t>
            </a:fld>
            <a:endParaRPr lang="en-US" sz="1200" b="0" u="none" strike="noStrike">
              <a:solidFill>
                <a:srgbClr val="000000"/>
              </a:solidFill>
              <a:effectLst/>
              <a:uFillTx/>
              <a:latin typeface="Times New Roman"/>
            </a:endParaRPr>
          </a:p>
        </p:txBody>
      </p:sp>
      <p:sp>
        <p:nvSpPr>
          <p:cNvPr id="437" name="PlaceHolder 2"/>
          <p:cNvSpPr>
            <a:spLocks noGrp="1" noRot="1" noChangeAspect="1"/>
          </p:cNvSpPr>
          <p:nvPr>
            <p:ph type="sldImg"/>
          </p:nvPr>
        </p:nvSpPr>
        <p:spPr>
          <a:xfrm>
            <a:off x="465120" y="204840"/>
            <a:ext cx="5928840" cy="4446360"/>
          </a:xfrm>
          <a:prstGeom prst="rect">
            <a:avLst/>
          </a:prstGeom>
          <a:ln w="0">
            <a:noFill/>
          </a:ln>
        </p:spPr>
      </p:sp>
      <p:sp>
        <p:nvSpPr>
          <p:cNvPr id="438" name="PlaceHolder 3"/>
          <p:cNvSpPr>
            <a:spLocks noGrp="1"/>
          </p:cNvSpPr>
          <p:nvPr>
            <p:ph type="body"/>
          </p:nvPr>
        </p:nvSpPr>
        <p:spPr>
          <a:xfrm>
            <a:off x="220680" y="4838760"/>
            <a:ext cx="6416280" cy="3481200"/>
          </a:xfrm>
          <a:prstGeom prst="rect">
            <a:avLst/>
          </a:prstGeom>
          <a:noFill/>
          <a:ln w="0">
            <a:no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PlaceHolder 1"/>
          <p:cNvSpPr>
            <a:spLocks noGrp="1"/>
          </p:cNvSpPr>
          <p:nvPr>
            <p:ph type="sldNum" idx="3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F5AE9BCC-1464-4C30-AE05-1F37CD6D4885}" type="slidenum">
              <a:rPr lang="en-CA" sz="1200" b="0" u="none" strike="noStrike">
                <a:solidFill>
                  <a:schemeClr val="dk1"/>
                </a:solidFill>
                <a:effectLst/>
                <a:uFillTx/>
                <a:latin typeface="Tahoma"/>
                <a:ea typeface="ＭＳ Ｐゴシック"/>
              </a:rPr>
              <a:t>35</a:t>
            </a:fld>
            <a:endParaRPr lang="en-US" sz="1200" b="0" u="none" strike="noStrike">
              <a:solidFill>
                <a:srgbClr val="000000"/>
              </a:solidFill>
              <a:effectLst/>
              <a:uFillTx/>
              <a:latin typeface="Times New Roman"/>
            </a:endParaRPr>
          </a:p>
        </p:txBody>
      </p:sp>
      <p:sp>
        <p:nvSpPr>
          <p:cNvPr id="440" name="PlaceHolder 2"/>
          <p:cNvSpPr>
            <a:spLocks noGrp="1" noRot="1" noChangeAspect="1"/>
          </p:cNvSpPr>
          <p:nvPr>
            <p:ph type="sldImg"/>
          </p:nvPr>
        </p:nvSpPr>
        <p:spPr>
          <a:xfrm>
            <a:off x="1143000" y="685800"/>
            <a:ext cx="4571640" cy="3428640"/>
          </a:xfrm>
          <a:prstGeom prst="rect">
            <a:avLst/>
          </a:prstGeom>
          <a:ln w="0">
            <a:noFill/>
          </a:ln>
        </p:spPr>
      </p:sp>
      <p:sp>
        <p:nvSpPr>
          <p:cNvPr id="441"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2" name="PlaceHolder 1"/>
          <p:cNvSpPr>
            <a:spLocks noGrp="1"/>
          </p:cNvSpPr>
          <p:nvPr>
            <p:ph type="sldNum" idx="39"/>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C6A30EBB-294C-498B-9CF9-F8625868D10A}" type="slidenum">
              <a:rPr lang="en-CA" sz="1200" b="0" u="none" strike="noStrike">
                <a:solidFill>
                  <a:schemeClr val="dk1"/>
                </a:solidFill>
                <a:effectLst/>
                <a:uFillTx/>
                <a:latin typeface="Tahoma"/>
                <a:ea typeface="ＭＳ Ｐゴシック"/>
              </a:rPr>
              <a:t>36</a:t>
            </a:fld>
            <a:endParaRPr lang="en-US" sz="1200" b="0" u="none" strike="noStrike">
              <a:solidFill>
                <a:srgbClr val="000000"/>
              </a:solidFill>
              <a:effectLst/>
              <a:uFillTx/>
              <a:latin typeface="Times New Roman"/>
            </a:endParaRPr>
          </a:p>
        </p:txBody>
      </p:sp>
      <p:sp>
        <p:nvSpPr>
          <p:cNvPr id="443" name="PlaceHolder 2"/>
          <p:cNvSpPr>
            <a:spLocks noGrp="1" noRot="1" noChangeAspect="1"/>
          </p:cNvSpPr>
          <p:nvPr>
            <p:ph type="sldImg"/>
          </p:nvPr>
        </p:nvSpPr>
        <p:spPr>
          <a:xfrm>
            <a:off x="1143000" y="685800"/>
            <a:ext cx="4571640" cy="3428640"/>
          </a:xfrm>
          <a:prstGeom prst="rect">
            <a:avLst/>
          </a:prstGeom>
          <a:ln w="0">
            <a:noFill/>
          </a:ln>
        </p:spPr>
      </p:sp>
      <p:sp>
        <p:nvSpPr>
          <p:cNvPr id="444"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5" name="PlaceHolder 1"/>
          <p:cNvSpPr>
            <a:spLocks noGrp="1"/>
          </p:cNvSpPr>
          <p:nvPr>
            <p:ph type="sldNum" idx="40"/>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0050D15-F813-4DD5-890C-617413E86AEE}" type="slidenum">
              <a:rPr lang="en-CA" sz="1200" b="0" u="none" strike="noStrike">
                <a:solidFill>
                  <a:schemeClr val="dk1"/>
                </a:solidFill>
                <a:effectLst/>
                <a:uFillTx/>
                <a:latin typeface="Tahoma"/>
                <a:ea typeface="ＭＳ Ｐゴシック"/>
              </a:rPr>
              <a:t>37</a:t>
            </a:fld>
            <a:endParaRPr lang="en-US" sz="1200" b="0" u="none" strike="noStrike">
              <a:solidFill>
                <a:srgbClr val="000000"/>
              </a:solidFill>
              <a:effectLst/>
              <a:uFillTx/>
              <a:latin typeface="Times New Roman"/>
            </a:endParaRPr>
          </a:p>
        </p:txBody>
      </p:sp>
      <p:sp>
        <p:nvSpPr>
          <p:cNvPr id="446" name="PlaceHolder 2"/>
          <p:cNvSpPr>
            <a:spLocks noGrp="1" noRot="1" noChangeAspect="1"/>
          </p:cNvSpPr>
          <p:nvPr>
            <p:ph type="sldImg"/>
          </p:nvPr>
        </p:nvSpPr>
        <p:spPr>
          <a:xfrm>
            <a:off x="465120" y="204840"/>
            <a:ext cx="5928840" cy="4446360"/>
          </a:xfrm>
          <a:prstGeom prst="rect">
            <a:avLst/>
          </a:prstGeom>
          <a:ln w="0">
            <a:noFill/>
          </a:ln>
        </p:spPr>
      </p:sp>
      <p:sp>
        <p:nvSpPr>
          <p:cNvPr id="447"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8" name="PlaceHolder 1"/>
          <p:cNvSpPr>
            <a:spLocks noGrp="1"/>
          </p:cNvSpPr>
          <p:nvPr>
            <p:ph type="sldNum" idx="41"/>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4EA6B8CD-B6B9-4703-A81D-AB5FA7C9524E}" type="slidenum">
              <a:rPr lang="en-CA" sz="1200" b="0" u="none" strike="noStrike">
                <a:solidFill>
                  <a:srgbClr val="000000"/>
                </a:solidFill>
                <a:effectLst/>
                <a:uFillTx/>
                <a:latin typeface="Tahoma"/>
                <a:ea typeface="ＭＳ Ｐゴシック"/>
              </a:rPr>
              <a:t>38</a:t>
            </a:fld>
            <a:endParaRPr lang="en-US" sz="1200" b="0" u="none" strike="noStrike">
              <a:solidFill>
                <a:srgbClr val="000000"/>
              </a:solidFill>
              <a:effectLst/>
              <a:uFillTx/>
              <a:latin typeface="Times New Roman"/>
            </a:endParaRPr>
          </a:p>
        </p:txBody>
      </p:sp>
      <p:sp>
        <p:nvSpPr>
          <p:cNvPr id="449" name="PlaceHolder 2"/>
          <p:cNvSpPr>
            <a:spLocks noGrp="1" noRot="1" noChangeAspect="1"/>
          </p:cNvSpPr>
          <p:nvPr>
            <p:ph type="sldImg"/>
          </p:nvPr>
        </p:nvSpPr>
        <p:spPr>
          <a:xfrm>
            <a:off x="1143000" y="685800"/>
            <a:ext cx="4572000" cy="3429000"/>
          </a:xfrm>
          <a:prstGeom prst="rect">
            <a:avLst/>
          </a:prstGeom>
          <a:ln w="0">
            <a:noFill/>
          </a:ln>
        </p:spPr>
      </p:sp>
      <p:sp>
        <p:nvSpPr>
          <p:cNvPr id="450"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p:cNvSpPr>
          <p:nvPr>
            <p:ph type="sldNum" idx="42"/>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545076F7-D9E1-4C9F-85C2-8D1107418A46}" type="slidenum">
              <a:rPr lang="en-CA" sz="1200" b="0" u="none" strike="noStrike">
                <a:solidFill>
                  <a:schemeClr val="dk1"/>
                </a:solidFill>
                <a:effectLst/>
                <a:uFillTx/>
                <a:latin typeface="Tahoma"/>
                <a:ea typeface="ＭＳ Ｐゴシック"/>
              </a:rPr>
              <a:t>39</a:t>
            </a:fld>
            <a:endParaRPr lang="en-US" sz="1200" b="0" u="none" strike="noStrike">
              <a:solidFill>
                <a:srgbClr val="000000"/>
              </a:solidFill>
              <a:effectLst/>
              <a:uFillTx/>
              <a:latin typeface="Times New Roman"/>
            </a:endParaRPr>
          </a:p>
        </p:txBody>
      </p:sp>
      <p:sp>
        <p:nvSpPr>
          <p:cNvPr id="452" name="PlaceHolder 2"/>
          <p:cNvSpPr>
            <a:spLocks noGrp="1" noRot="1" noChangeAspect="1"/>
          </p:cNvSpPr>
          <p:nvPr>
            <p:ph type="sldImg"/>
          </p:nvPr>
        </p:nvSpPr>
        <p:spPr>
          <a:xfrm>
            <a:off x="1143000" y="685800"/>
            <a:ext cx="4571640" cy="3428640"/>
          </a:xfrm>
          <a:prstGeom prst="rect">
            <a:avLst/>
          </a:prstGeom>
          <a:ln w="0">
            <a:noFill/>
          </a:ln>
        </p:spPr>
      </p:sp>
      <p:sp>
        <p:nvSpPr>
          <p:cNvPr id="453"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p:cNvSpPr>
          <p:nvPr>
            <p:ph type="sldNum" idx="43"/>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3786308-D572-45B7-BFE8-310BCF85C1A5}" type="slidenum">
              <a:rPr lang="en-CA" sz="1200" b="0" u="none" strike="noStrike">
                <a:solidFill>
                  <a:schemeClr val="dk1"/>
                </a:solidFill>
                <a:effectLst/>
                <a:uFillTx/>
                <a:latin typeface="Tahoma"/>
                <a:ea typeface="ＭＳ Ｐゴシック"/>
              </a:rPr>
              <a:t>40</a:t>
            </a:fld>
            <a:endParaRPr lang="en-US" sz="1200" b="0" u="none" strike="noStrike">
              <a:solidFill>
                <a:srgbClr val="000000"/>
              </a:solidFill>
              <a:effectLst/>
              <a:uFillTx/>
              <a:latin typeface="Times New Roman"/>
            </a:endParaRPr>
          </a:p>
        </p:txBody>
      </p:sp>
      <p:sp>
        <p:nvSpPr>
          <p:cNvPr id="455" name="PlaceHolder 2"/>
          <p:cNvSpPr>
            <a:spLocks noGrp="1" noRot="1" noChangeAspect="1"/>
          </p:cNvSpPr>
          <p:nvPr>
            <p:ph type="sldImg"/>
          </p:nvPr>
        </p:nvSpPr>
        <p:spPr>
          <a:xfrm>
            <a:off x="1143000" y="685800"/>
            <a:ext cx="4572000" cy="3429000"/>
          </a:xfrm>
          <a:prstGeom prst="rect">
            <a:avLst/>
          </a:prstGeom>
          <a:ln w="0">
            <a:noFill/>
          </a:ln>
        </p:spPr>
      </p:sp>
      <p:sp>
        <p:nvSpPr>
          <p:cNvPr id="456"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p:cNvSpPr>
          <p:nvPr>
            <p:ph type="sldNum" idx="44"/>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F4C5F1D-6E45-4361-9BC0-A53A3646FA16}" type="slidenum">
              <a:rPr lang="en-CA" sz="1200" b="0" u="none" strike="noStrike">
                <a:solidFill>
                  <a:schemeClr val="dk1"/>
                </a:solidFill>
                <a:effectLst/>
                <a:uFillTx/>
                <a:latin typeface="Tahoma"/>
                <a:ea typeface="ＭＳ Ｐゴシック"/>
              </a:rPr>
              <a:t>41</a:t>
            </a:fld>
            <a:endParaRPr lang="en-US" sz="1200" b="0" u="none" strike="noStrike">
              <a:solidFill>
                <a:srgbClr val="000000"/>
              </a:solidFill>
              <a:effectLst/>
              <a:uFillTx/>
              <a:latin typeface="Times New Roman"/>
            </a:endParaRPr>
          </a:p>
        </p:txBody>
      </p:sp>
      <p:sp>
        <p:nvSpPr>
          <p:cNvPr id="458" name="PlaceHolder 2"/>
          <p:cNvSpPr>
            <a:spLocks noGrp="1" noRot="1" noChangeAspect="1"/>
          </p:cNvSpPr>
          <p:nvPr>
            <p:ph type="sldImg"/>
          </p:nvPr>
        </p:nvSpPr>
        <p:spPr>
          <a:xfrm>
            <a:off x="1143000" y="685800"/>
            <a:ext cx="4571640" cy="3428640"/>
          </a:xfrm>
          <a:prstGeom prst="rect">
            <a:avLst/>
          </a:prstGeom>
          <a:ln w="0">
            <a:noFill/>
          </a:ln>
        </p:spPr>
      </p:sp>
      <p:sp>
        <p:nvSpPr>
          <p:cNvPr id="459"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p:cNvSpPr>
          <p:nvPr>
            <p:ph type="sldNum" idx="4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07F54D8-503C-46DE-AECA-8002D6BEA89A}" type="slidenum">
              <a:rPr lang="en-CA" sz="1200" b="0" u="none" strike="noStrike">
                <a:solidFill>
                  <a:schemeClr val="dk1"/>
                </a:solidFill>
                <a:effectLst/>
                <a:uFillTx/>
                <a:latin typeface="Tahoma"/>
                <a:ea typeface="ＭＳ Ｐゴシック"/>
              </a:rPr>
              <a:t>42</a:t>
            </a:fld>
            <a:endParaRPr lang="en-US" sz="1200" b="0" u="none" strike="noStrike">
              <a:solidFill>
                <a:srgbClr val="000000"/>
              </a:solidFill>
              <a:effectLst/>
              <a:uFillTx/>
              <a:latin typeface="Times New Roman"/>
            </a:endParaRPr>
          </a:p>
        </p:txBody>
      </p:sp>
      <p:sp>
        <p:nvSpPr>
          <p:cNvPr id="461" name="PlaceHolder 2"/>
          <p:cNvSpPr>
            <a:spLocks noGrp="1" noRot="1" noChangeAspect="1"/>
          </p:cNvSpPr>
          <p:nvPr>
            <p:ph type="sldImg"/>
          </p:nvPr>
        </p:nvSpPr>
        <p:spPr>
          <a:xfrm>
            <a:off x="1143000" y="685800"/>
            <a:ext cx="4571640" cy="3428640"/>
          </a:xfrm>
          <a:prstGeom prst="rect">
            <a:avLst/>
          </a:prstGeom>
          <a:ln w="0">
            <a:noFill/>
          </a:ln>
        </p:spPr>
      </p:sp>
      <p:sp>
        <p:nvSpPr>
          <p:cNvPr id="462"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p:cNvSpPr>
          <p:nvPr>
            <p:ph type="sldNum" idx="4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AF001881-A26A-4824-8DF2-DBDC64B6F1BC}" type="slidenum">
              <a:rPr lang="en-CA" sz="1200" b="0" u="none" strike="noStrike">
                <a:solidFill>
                  <a:srgbClr val="000000"/>
                </a:solidFill>
                <a:effectLst/>
                <a:uFillTx/>
                <a:latin typeface="Tahoma"/>
                <a:ea typeface="ＭＳ Ｐゴシック"/>
              </a:rPr>
              <a:t>43</a:t>
            </a:fld>
            <a:endParaRPr lang="en-US" sz="1200" b="0" u="none" strike="noStrike">
              <a:solidFill>
                <a:srgbClr val="000000"/>
              </a:solidFill>
              <a:effectLst/>
              <a:uFillTx/>
              <a:latin typeface="Times New Roman"/>
            </a:endParaRPr>
          </a:p>
        </p:txBody>
      </p:sp>
      <p:sp>
        <p:nvSpPr>
          <p:cNvPr id="464" name="PlaceHolder 2"/>
          <p:cNvSpPr>
            <a:spLocks noGrp="1" noRot="1" noChangeAspect="1"/>
          </p:cNvSpPr>
          <p:nvPr>
            <p:ph type="sldImg"/>
          </p:nvPr>
        </p:nvSpPr>
        <p:spPr>
          <a:xfrm>
            <a:off x="465120" y="204840"/>
            <a:ext cx="5928840" cy="4446360"/>
          </a:xfrm>
          <a:prstGeom prst="rect">
            <a:avLst/>
          </a:prstGeom>
          <a:ln w="0">
            <a:noFill/>
          </a:ln>
        </p:spPr>
      </p:sp>
      <p:sp>
        <p:nvSpPr>
          <p:cNvPr id="465"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p:cNvSpPr>
          <p:nvPr>
            <p:ph type="sldNum" idx="4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095CF477-4E32-494A-B6BD-F9A6F8505438}" type="slidenum">
              <a:rPr lang="en-CA" sz="1200" b="0" u="none" strike="noStrike">
                <a:solidFill>
                  <a:schemeClr val="dk1"/>
                </a:solidFill>
                <a:effectLst/>
                <a:uFillTx/>
                <a:latin typeface="Tahoma"/>
                <a:ea typeface="ＭＳ Ｐゴシック"/>
              </a:rPr>
              <a:t>44</a:t>
            </a:fld>
            <a:endParaRPr lang="en-US" sz="1200" b="0" u="none" strike="noStrike">
              <a:solidFill>
                <a:srgbClr val="000000"/>
              </a:solidFill>
              <a:effectLst/>
              <a:uFillTx/>
              <a:latin typeface="Times New Roman"/>
            </a:endParaRPr>
          </a:p>
        </p:txBody>
      </p:sp>
      <p:sp>
        <p:nvSpPr>
          <p:cNvPr id="467" name="PlaceHolder 2"/>
          <p:cNvSpPr>
            <a:spLocks noGrp="1" noRot="1" noChangeAspect="1"/>
          </p:cNvSpPr>
          <p:nvPr>
            <p:ph type="sldImg"/>
          </p:nvPr>
        </p:nvSpPr>
        <p:spPr>
          <a:xfrm>
            <a:off x="1143000" y="685800"/>
            <a:ext cx="4572000" cy="3429000"/>
          </a:xfrm>
          <a:prstGeom prst="rect">
            <a:avLst/>
          </a:prstGeom>
          <a:ln w="0">
            <a:noFill/>
          </a:ln>
        </p:spPr>
      </p:sp>
      <p:sp>
        <p:nvSpPr>
          <p:cNvPr id="468"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p:cNvSpPr>
          <p:nvPr>
            <p:ph type="sldNum" idx="4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4A65C9C0-366A-4E86-9F7E-9230001E13F0}" type="slidenum">
              <a:rPr lang="en-CA" sz="1200" b="0" u="none" strike="noStrike">
                <a:solidFill>
                  <a:srgbClr val="000000"/>
                </a:solidFill>
                <a:effectLst/>
                <a:uFillTx/>
                <a:latin typeface="Tahoma"/>
                <a:ea typeface="ＭＳ Ｐゴシック"/>
              </a:rPr>
              <a:t>45</a:t>
            </a:fld>
            <a:endParaRPr lang="en-US" sz="1200" b="0" u="none" strike="noStrike">
              <a:solidFill>
                <a:srgbClr val="000000"/>
              </a:solidFill>
              <a:effectLst/>
              <a:uFillTx/>
              <a:latin typeface="Times New Roman"/>
            </a:endParaRPr>
          </a:p>
        </p:txBody>
      </p:sp>
      <p:sp>
        <p:nvSpPr>
          <p:cNvPr id="470" name="PlaceHolder 2"/>
          <p:cNvSpPr>
            <a:spLocks noGrp="1" noRot="1" noChangeAspect="1"/>
          </p:cNvSpPr>
          <p:nvPr>
            <p:ph type="sldImg"/>
          </p:nvPr>
        </p:nvSpPr>
        <p:spPr>
          <a:xfrm>
            <a:off x="465120" y="204840"/>
            <a:ext cx="5928840" cy="4446360"/>
          </a:xfrm>
          <a:prstGeom prst="rect">
            <a:avLst/>
          </a:prstGeom>
          <a:ln w="0">
            <a:noFill/>
          </a:ln>
        </p:spPr>
      </p:sp>
      <p:sp>
        <p:nvSpPr>
          <p:cNvPr id="471"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p:cNvSpPr>
          <p:nvPr>
            <p:ph type="sldNum" idx="49"/>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18B6A98A-BB7B-4CAB-971A-BAA535B414C7}" type="slidenum">
              <a:rPr lang="en-CA" sz="1200" b="0" u="none" strike="noStrike">
                <a:solidFill>
                  <a:schemeClr val="dk1"/>
                </a:solidFill>
                <a:effectLst/>
                <a:uFillTx/>
                <a:latin typeface="Tahoma"/>
                <a:ea typeface="ＭＳ Ｐゴシック"/>
              </a:rPr>
              <a:t>46</a:t>
            </a:fld>
            <a:endParaRPr lang="en-US" sz="1200" b="0" u="none" strike="noStrike">
              <a:solidFill>
                <a:srgbClr val="000000"/>
              </a:solidFill>
              <a:effectLst/>
              <a:uFillTx/>
              <a:latin typeface="Times New Roman"/>
            </a:endParaRPr>
          </a:p>
        </p:txBody>
      </p:sp>
      <p:sp>
        <p:nvSpPr>
          <p:cNvPr id="473" name="PlaceHolder 2"/>
          <p:cNvSpPr>
            <a:spLocks noGrp="1" noRot="1" noChangeAspect="1"/>
          </p:cNvSpPr>
          <p:nvPr>
            <p:ph type="sldImg"/>
          </p:nvPr>
        </p:nvSpPr>
        <p:spPr>
          <a:xfrm>
            <a:off x="465120" y="204840"/>
            <a:ext cx="5928840" cy="4446360"/>
          </a:xfrm>
          <a:prstGeom prst="rect">
            <a:avLst/>
          </a:prstGeom>
          <a:ln w="0">
            <a:noFill/>
          </a:ln>
        </p:spPr>
      </p:sp>
      <p:sp>
        <p:nvSpPr>
          <p:cNvPr id="474"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p:cNvSpPr>
          <p:nvPr>
            <p:ph type="sldNum" idx="50"/>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62102957-5569-441B-94F7-C21DE746AC1F}" type="slidenum">
              <a:rPr lang="en-CA" sz="1200" b="0" u="none" strike="noStrike">
                <a:solidFill>
                  <a:schemeClr val="dk1"/>
                </a:solidFill>
                <a:effectLst/>
                <a:uFillTx/>
                <a:latin typeface="Tahoma"/>
                <a:ea typeface="ＭＳ Ｐゴシック"/>
              </a:rPr>
              <a:t>47</a:t>
            </a:fld>
            <a:endParaRPr lang="en-US" sz="1200" b="0" u="none" strike="noStrike">
              <a:solidFill>
                <a:srgbClr val="000000"/>
              </a:solidFill>
              <a:effectLst/>
              <a:uFillTx/>
              <a:latin typeface="Times New Roman"/>
            </a:endParaRPr>
          </a:p>
        </p:txBody>
      </p:sp>
      <p:sp>
        <p:nvSpPr>
          <p:cNvPr id="476" name="PlaceHolder 2"/>
          <p:cNvSpPr>
            <a:spLocks noGrp="1" noRot="1" noChangeAspect="1"/>
          </p:cNvSpPr>
          <p:nvPr>
            <p:ph type="sldImg"/>
          </p:nvPr>
        </p:nvSpPr>
        <p:spPr>
          <a:xfrm>
            <a:off x="465120" y="204840"/>
            <a:ext cx="5928840" cy="4446360"/>
          </a:xfrm>
          <a:prstGeom prst="rect">
            <a:avLst/>
          </a:prstGeom>
          <a:ln w="0">
            <a:noFill/>
          </a:ln>
        </p:spPr>
      </p:sp>
      <p:sp>
        <p:nvSpPr>
          <p:cNvPr id="477"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p:cNvSpPr>
          <p:nvPr>
            <p:ph type="sldNum" idx="51"/>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60813426-3523-4541-B1C3-98DA9F8ADAE6}" type="slidenum">
              <a:rPr lang="en-CA" sz="1200" b="0" u="none" strike="noStrike">
                <a:solidFill>
                  <a:schemeClr val="dk1"/>
                </a:solidFill>
                <a:effectLst/>
                <a:uFillTx/>
                <a:latin typeface="Tahoma"/>
                <a:ea typeface="ＭＳ Ｐゴシック"/>
              </a:rPr>
              <a:t>48</a:t>
            </a:fld>
            <a:endParaRPr lang="en-US" sz="1200" b="0" u="none" strike="noStrike">
              <a:solidFill>
                <a:srgbClr val="000000"/>
              </a:solidFill>
              <a:effectLst/>
              <a:uFillTx/>
              <a:latin typeface="Times New Roman"/>
            </a:endParaRPr>
          </a:p>
        </p:txBody>
      </p:sp>
      <p:sp>
        <p:nvSpPr>
          <p:cNvPr id="479" name="PlaceHolder 2"/>
          <p:cNvSpPr>
            <a:spLocks noGrp="1" noRot="1" noChangeAspect="1"/>
          </p:cNvSpPr>
          <p:nvPr>
            <p:ph type="sldImg"/>
          </p:nvPr>
        </p:nvSpPr>
        <p:spPr>
          <a:xfrm>
            <a:off x="465120" y="204840"/>
            <a:ext cx="5928840" cy="4446360"/>
          </a:xfrm>
          <a:prstGeom prst="rect">
            <a:avLst/>
          </a:prstGeom>
          <a:ln w="0">
            <a:noFill/>
          </a:ln>
        </p:spPr>
      </p:sp>
      <p:sp>
        <p:nvSpPr>
          <p:cNvPr id="480"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p:cNvSpPr>
          <p:nvPr>
            <p:ph type="sldNum" idx="52"/>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DB4D32C9-F43A-4248-AEBF-0BF063863F01}" type="slidenum">
              <a:rPr lang="en-CA" sz="1200" b="0" u="none" strike="noStrike">
                <a:solidFill>
                  <a:schemeClr val="dk1"/>
                </a:solidFill>
                <a:effectLst/>
                <a:uFillTx/>
                <a:latin typeface="Tahoma"/>
                <a:ea typeface="ＭＳ Ｐゴシック"/>
              </a:rPr>
              <a:t>49</a:t>
            </a:fld>
            <a:endParaRPr lang="en-US" sz="1200" b="0" u="none" strike="noStrike">
              <a:solidFill>
                <a:srgbClr val="000000"/>
              </a:solidFill>
              <a:effectLst/>
              <a:uFillTx/>
              <a:latin typeface="Times New Roman"/>
            </a:endParaRPr>
          </a:p>
        </p:txBody>
      </p:sp>
      <p:sp>
        <p:nvSpPr>
          <p:cNvPr id="482" name="PlaceHolder 2"/>
          <p:cNvSpPr>
            <a:spLocks noGrp="1" noRot="1" noChangeAspect="1"/>
          </p:cNvSpPr>
          <p:nvPr>
            <p:ph type="sldImg"/>
          </p:nvPr>
        </p:nvSpPr>
        <p:spPr>
          <a:xfrm>
            <a:off x="465138" y="204788"/>
            <a:ext cx="5929312" cy="4446587"/>
          </a:xfrm>
          <a:prstGeom prst="rect">
            <a:avLst/>
          </a:prstGeom>
          <a:ln w="0">
            <a:noFill/>
          </a:ln>
        </p:spPr>
      </p:sp>
      <p:sp>
        <p:nvSpPr>
          <p:cNvPr id="483" name="PlaceHolder 3"/>
          <p:cNvSpPr>
            <a:spLocks noGrp="1"/>
          </p:cNvSpPr>
          <p:nvPr>
            <p:ph type="body"/>
          </p:nvPr>
        </p:nvSpPr>
        <p:spPr>
          <a:xfrm>
            <a:off x="465120" y="4838760"/>
            <a:ext cx="5928840" cy="3481200"/>
          </a:xfrm>
          <a:prstGeom prst="rect">
            <a:avLst/>
          </a:prstGeom>
          <a:solidFill>
            <a:srgbClr val="FFFFFF"/>
          </a:solidFill>
          <a:ln w="0">
            <a:solidFill>
              <a:srgbClr val="000000"/>
            </a:solidFill>
          </a:ln>
        </p:spPr>
        <p:txBody>
          <a:bodyPr lIns="84600" tIns="42120" rIns="84600" bIns="42120" numCol="1" spcCol="0" anchor="t">
            <a:noAutofit/>
          </a:bodyPr>
          <a:lstStyle/>
          <a:p>
            <a:pPr indent="0">
              <a:lnSpc>
                <a:spcPct val="100000"/>
              </a:lnSpc>
              <a:buNone/>
            </a:pPr>
            <a:endParaRPr lang="en-US" sz="2400" b="0" u="none" strike="noStrike" dirty="0">
              <a:solidFill>
                <a:srgbClr val="000000"/>
              </a:solidFill>
              <a:effectLst/>
              <a:uFillTx/>
              <a:latin typeface="Aria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p:cNvSpPr>
          <p:nvPr>
            <p:ph type="sldNum" idx="53"/>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F783A34E-45FA-4A50-837F-FE02C29F68B5}" type="slidenum">
              <a:rPr lang="en-CA" sz="1200" b="0" u="none" strike="noStrike">
                <a:solidFill>
                  <a:srgbClr val="000000"/>
                </a:solidFill>
                <a:effectLst/>
                <a:uFillTx/>
                <a:latin typeface="Tahoma"/>
                <a:ea typeface="ＭＳ Ｐゴシック"/>
              </a:rPr>
              <a:t>50</a:t>
            </a:fld>
            <a:endParaRPr lang="en-US" sz="1200" b="0" u="none" strike="noStrike">
              <a:solidFill>
                <a:srgbClr val="000000"/>
              </a:solidFill>
              <a:effectLst/>
              <a:uFillTx/>
              <a:latin typeface="Times New Roman"/>
            </a:endParaRPr>
          </a:p>
        </p:txBody>
      </p:sp>
      <p:sp>
        <p:nvSpPr>
          <p:cNvPr id="485" name="PlaceHolder 2"/>
          <p:cNvSpPr>
            <a:spLocks noGrp="1" noRot="1" noChangeAspect="1"/>
          </p:cNvSpPr>
          <p:nvPr>
            <p:ph type="sldImg"/>
          </p:nvPr>
        </p:nvSpPr>
        <p:spPr>
          <a:xfrm>
            <a:off x="1143000" y="685800"/>
            <a:ext cx="4572000" cy="3429000"/>
          </a:xfrm>
          <a:prstGeom prst="rect">
            <a:avLst/>
          </a:prstGeom>
          <a:ln w="0">
            <a:noFill/>
          </a:ln>
        </p:spPr>
      </p:sp>
      <p:sp>
        <p:nvSpPr>
          <p:cNvPr id="486" name="PlaceHolder 3"/>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p:cNvSpPr>
          <p:nvPr>
            <p:ph type="sldNum" idx="54"/>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A8B2D13C-E11B-4D3E-8947-F4538A9320C2}" type="slidenum">
              <a:rPr lang="en-CA" sz="1200" b="0" u="none" strike="noStrike">
                <a:solidFill>
                  <a:schemeClr val="dk1"/>
                </a:solidFill>
                <a:effectLst/>
                <a:uFillTx/>
                <a:latin typeface="Tahoma"/>
                <a:ea typeface="ＭＳ Ｐゴシック"/>
              </a:rPr>
              <a:t>51</a:t>
            </a:fld>
            <a:endParaRPr lang="en-US" sz="1200" b="0" u="none" strike="noStrike">
              <a:solidFill>
                <a:srgbClr val="000000"/>
              </a:solidFill>
              <a:effectLst/>
              <a:uFillTx/>
              <a:latin typeface="Times New Roman"/>
            </a:endParaRPr>
          </a:p>
        </p:txBody>
      </p:sp>
      <p:sp>
        <p:nvSpPr>
          <p:cNvPr id="488" name="PlaceHolder 2"/>
          <p:cNvSpPr>
            <a:spLocks noGrp="1" noRot="1" noChangeAspect="1"/>
          </p:cNvSpPr>
          <p:nvPr>
            <p:ph type="sldImg"/>
          </p:nvPr>
        </p:nvSpPr>
        <p:spPr>
          <a:xfrm>
            <a:off x="465120" y="204840"/>
            <a:ext cx="5928840" cy="4446360"/>
          </a:xfrm>
          <a:prstGeom prst="rect">
            <a:avLst/>
          </a:prstGeom>
          <a:ln w="0">
            <a:noFill/>
          </a:ln>
        </p:spPr>
      </p:sp>
      <p:sp>
        <p:nvSpPr>
          <p:cNvPr id="489"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 name="PlaceHolder 1"/>
          <p:cNvSpPr>
            <a:spLocks noGrp="1"/>
          </p:cNvSpPr>
          <p:nvPr>
            <p:ph type="sldNum" idx="55"/>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3B2F353E-1DF8-4AA1-A669-0626A155CBA8}" type="slidenum">
              <a:rPr lang="en-CA" sz="1200" b="0" u="none" strike="noStrike">
                <a:solidFill>
                  <a:srgbClr val="000000"/>
                </a:solidFill>
                <a:effectLst/>
                <a:uFillTx/>
                <a:latin typeface="Tahoma"/>
                <a:ea typeface="ＭＳ Ｐゴシック"/>
              </a:rPr>
              <a:t>52</a:t>
            </a:fld>
            <a:endParaRPr lang="en-US" sz="1200" b="0" u="none" strike="noStrike">
              <a:solidFill>
                <a:srgbClr val="000000"/>
              </a:solidFill>
              <a:effectLst/>
              <a:uFillTx/>
              <a:latin typeface="Times New Roman"/>
            </a:endParaRPr>
          </a:p>
        </p:txBody>
      </p:sp>
      <p:sp>
        <p:nvSpPr>
          <p:cNvPr id="491" name="PlaceHolder 2"/>
          <p:cNvSpPr>
            <a:spLocks noGrp="1" noRot="1" noChangeAspect="1"/>
          </p:cNvSpPr>
          <p:nvPr>
            <p:ph type="sldImg"/>
          </p:nvPr>
        </p:nvSpPr>
        <p:spPr>
          <a:xfrm>
            <a:off x="465120" y="204840"/>
            <a:ext cx="5928840" cy="4446360"/>
          </a:xfrm>
          <a:prstGeom prst="rect">
            <a:avLst/>
          </a:prstGeom>
          <a:ln w="0">
            <a:noFill/>
          </a:ln>
        </p:spPr>
      </p:sp>
      <p:sp>
        <p:nvSpPr>
          <p:cNvPr id="492"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3" name="PlaceHolder 1"/>
          <p:cNvSpPr>
            <a:spLocks noGrp="1"/>
          </p:cNvSpPr>
          <p:nvPr>
            <p:ph type="sldNum" idx="56"/>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chemeClr val="dk1"/>
                </a:solidFill>
                <a:effectLst/>
                <a:uFillTx/>
                <a:latin typeface="Tahoma"/>
                <a:ea typeface="ＭＳ Ｐゴシック"/>
              </a:defRPr>
            </a:lvl1pPr>
          </a:lstStyle>
          <a:p>
            <a:pPr indent="0" algn="r">
              <a:lnSpc>
                <a:spcPct val="100000"/>
              </a:lnSpc>
              <a:buNone/>
            </a:pPr>
            <a:fld id="{99D70871-7EE1-49A4-ADB3-1BD308A219B7}" type="slidenum">
              <a:rPr lang="en-CA" sz="1200" b="0" u="none" strike="noStrike">
                <a:solidFill>
                  <a:schemeClr val="dk1"/>
                </a:solidFill>
                <a:effectLst/>
                <a:uFillTx/>
                <a:latin typeface="Tahoma"/>
                <a:ea typeface="ＭＳ Ｐゴシック"/>
              </a:rPr>
              <a:t>53</a:t>
            </a:fld>
            <a:endParaRPr lang="en-US" sz="1200" b="0" u="none" strike="noStrike">
              <a:solidFill>
                <a:srgbClr val="000000"/>
              </a:solidFill>
              <a:effectLst/>
              <a:uFillTx/>
              <a:latin typeface="Times New Roman"/>
            </a:endParaRPr>
          </a:p>
        </p:txBody>
      </p:sp>
      <p:sp>
        <p:nvSpPr>
          <p:cNvPr id="494" name="PlaceHolder 2"/>
          <p:cNvSpPr>
            <a:spLocks noGrp="1" noRot="1" noChangeAspect="1"/>
          </p:cNvSpPr>
          <p:nvPr>
            <p:ph type="sldImg"/>
          </p:nvPr>
        </p:nvSpPr>
        <p:spPr>
          <a:xfrm>
            <a:off x="465120" y="204840"/>
            <a:ext cx="5928840" cy="4446360"/>
          </a:xfrm>
          <a:prstGeom prst="rect">
            <a:avLst/>
          </a:prstGeom>
          <a:ln w="0">
            <a:noFill/>
          </a:ln>
        </p:spPr>
      </p:sp>
      <p:sp>
        <p:nvSpPr>
          <p:cNvPr id="495" name="PlaceHolder 3"/>
          <p:cNvSpPr>
            <a:spLocks noGrp="1"/>
          </p:cNvSpPr>
          <p:nvPr>
            <p:ph type="body"/>
          </p:nvPr>
        </p:nvSpPr>
        <p:spPr>
          <a:xfrm>
            <a:off x="220680" y="4838760"/>
            <a:ext cx="6416280" cy="3481200"/>
          </a:xfrm>
          <a:prstGeom prst="rect">
            <a:avLst/>
          </a:prstGeom>
          <a:solidFill>
            <a:srgbClr val="FFFFFF"/>
          </a:solidFill>
          <a:ln w="0">
            <a:solidFill>
              <a:srgbClr val="000000"/>
            </a:solidFill>
          </a:ln>
        </p:spPr>
        <p:txBody>
          <a:bodyPr lIns="84600" tIns="42120" rIns="84600" bIns="42120" numCol="1" spcCol="0" anchor="t">
            <a:noAutofit/>
          </a:bodyPr>
          <a:lstStyle/>
          <a:p>
            <a:pPr indent="0">
              <a:buNone/>
            </a:pPr>
            <a:endParaRPr lang="en-US" sz="1800" b="0" u="none" strike="noStrike">
              <a:solidFill>
                <a:srgbClr val="000000"/>
              </a:solidFill>
              <a:effectLst/>
              <a:uFillTx/>
              <a:latin typeface="Aria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 name="PlaceHolder 1"/>
          <p:cNvSpPr>
            <a:spLocks noGrp="1" noRot="1" noChangeAspect="1"/>
          </p:cNvSpPr>
          <p:nvPr>
            <p:ph type="sldImg"/>
          </p:nvPr>
        </p:nvSpPr>
        <p:spPr>
          <a:xfrm>
            <a:off x="1143000" y="685800"/>
            <a:ext cx="4571640" cy="3428640"/>
          </a:xfrm>
          <a:prstGeom prst="rect">
            <a:avLst/>
          </a:prstGeom>
          <a:ln w="0">
            <a:noFill/>
          </a:ln>
        </p:spPr>
      </p:sp>
      <p:sp>
        <p:nvSpPr>
          <p:cNvPr id="497" name="PlaceHolder 2"/>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
        <p:nvSpPr>
          <p:cNvPr id="498" name="PlaceHolder 3"/>
          <p:cNvSpPr>
            <a:spLocks noGrp="1"/>
          </p:cNvSpPr>
          <p:nvPr>
            <p:ph type="sldNum" idx="57"/>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FAB8933F-FAC2-489D-AEF8-5C676DD391BB}" type="slidenum">
              <a:rPr lang="en-CA" sz="1200" b="0" u="none" strike="noStrike">
                <a:solidFill>
                  <a:srgbClr val="000000"/>
                </a:solidFill>
                <a:effectLst/>
                <a:uFillTx/>
                <a:latin typeface="Tahoma"/>
                <a:ea typeface="ＭＳ Ｐゴシック"/>
              </a:rPr>
              <a:t>54</a:t>
            </a:fld>
            <a:endParaRPr lang="en-US" sz="1200" b="0" u="none" strike="noStrike">
              <a:solidFill>
                <a:srgbClr val="000000"/>
              </a:solidFill>
              <a:effectLst/>
              <a:uFillTx/>
              <a:latin typeface="Times New Roman"/>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PlaceHolder 1"/>
          <p:cNvSpPr>
            <a:spLocks noGrp="1" noRot="1" noChangeAspect="1"/>
          </p:cNvSpPr>
          <p:nvPr>
            <p:ph type="sldImg"/>
          </p:nvPr>
        </p:nvSpPr>
        <p:spPr>
          <a:xfrm>
            <a:off x="1143000" y="685800"/>
            <a:ext cx="4571640" cy="3428640"/>
          </a:xfrm>
          <a:prstGeom prst="rect">
            <a:avLst/>
          </a:prstGeom>
          <a:ln w="0">
            <a:noFill/>
          </a:ln>
        </p:spPr>
      </p:sp>
      <p:sp>
        <p:nvSpPr>
          <p:cNvPr id="500" name="PlaceHolder 2"/>
          <p:cNvSpPr>
            <a:spLocks noGrp="1"/>
          </p:cNvSpPr>
          <p:nvPr>
            <p:ph type="body"/>
          </p:nvPr>
        </p:nvSpPr>
        <p:spPr>
          <a:xfrm>
            <a:off x="914400" y="4343400"/>
            <a:ext cx="5028840" cy="4114440"/>
          </a:xfrm>
          <a:prstGeom prst="rect">
            <a:avLst/>
          </a:prstGeom>
          <a:noFill/>
          <a:ln w="0">
            <a:noFill/>
          </a:ln>
        </p:spPr>
        <p:txBody>
          <a:bodyPr lIns="91440" tIns="45720" rIns="91440" bIns="45720" numCol="1" spcCol="0" anchor="t">
            <a:noAutofit/>
          </a:bodyPr>
          <a:lstStyle/>
          <a:p>
            <a:pPr indent="0">
              <a:buNone/>
            </a:pPr>
            <a:endParaRPr lang="en-US" sz="1800" b="0" u="none" strike="noStrike">
              <a:solidFill>
                <a:srgbClr val="000000"/>
              </a:solidFill>
              <a:effectLst/>
              <a:uFillTx/>
              <a:latin typeface="Arial"/>
            </a:endParaRPr>
          </a:p>
        </p:txBody>
      </p:sp>
      <p:sp>
        <p:nvSpPr>
          <p:cNvPr id="501" name="PlaceHolder 3"/>
          <p:cNvSpPr>
            <a:spLocks noGrp="1"/>
          </p:cNvSpPr>
          <p:nvPr>
            <p:ph type="sldNum" idx="58"/>
          </p:nvPr>
        </p:nvSpPr>
        <p:spPr>
          <a:xfrm>
            <a:off x="3886200" y="8686800"/>
            <a:ext cx="2971440" cy="456840"/>
          </a:xfrm>
          <a:prstGeom prst="rect">
            <a:avLst/>
          </a:prstGeom>
          <a:noFill/>
          <a:ln w="0">
            <a:noFill/>
          </a:ln>
        </p:spPr>
        <p:txBody>
          <a:bodyPr lIns="91440" tIns="45720" rIns="91440" bIns="45720" numCol="1" spcCol="0" anchor="b">
            <a:noAutofit/>
          </a:bodyPr>
          <a:lstStyle>
            <a:lvl1pPr indent="0" algn="r">
              <a:lnSpc>
                <a:spcPct val="100000"/>
              </a:lnSpc>
              <a:buNone/>
              <a:defRPr lang="en-CA" sz="1200" b="0" u="none" strike="noStrike">
                <a:solidFill>
                  <a:srgbClr val="000000"/>
                </a:solidFill>
                <a:effectLst/>
                <a:uFillTx/>
                <a:latin typeface="Tahoma"/>
                <a:ea typeface="ＭＳ Ｐゴシック"/>
              </a:defRPr>
            </a:lvl1pPr>
          </a:lstStyle>
          <a:p>
            <a:pPr indent="0" algn="r">
              <a:lnSpc>
                <a:spcPct val="100000"/>
              </a:lnSpc>
              <a:buNone/>
            </a:pPr>
            <a:fld id="{C9EC848D-72E5-496F-BD95-874F4CD4CDAD}" type="slidenum">
              <a:rPr lang="en-CA" sz="1200" b="0" u="none" strike="noStrike">
                <a:solidFill>
                  <a:srgbClr val="000000"/>
                </a:solidFill>
                <a:effectLst/>
                <a:uFillTx/>
                <a:latin typeface="Tahoma"/>
                <a:ea typeface="ＭＳ Ｐゴシック"/>
              </a:rPr>
              <a:t>55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Arial"/>
            </a:endParaRPr>
          </a:p>
        </p:txBody>
      </p:sp>
      <p:sp>
        <p:nvSpPr>
          <p:cNvPr id="7"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Defaul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Arial"/>
            </a:endParaRPr>
          </a:p>
        </p:txBody>
      </p:sp>
      <p:sp>
        <p:nvSpPr>
          <p:cNvPr id="12"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Default 1">
    <p:spTree>
      <p:nvGrpSpPr>
        <p:cNvPr id="1" name=""/>
        <p:cNvGrpSpPr/>
        <p:nvPr/>
      </p:nvGrpSpPr>
      <p:grpSpPr>
        <a:xfrm>
          <a:off x="0" y="0"/>
          <a:ext cx="0" cy="0"/>
          <a:chOff x="0" y="0"/>
          <a:chExt cx="0" cy="0"/>
        </a:xfrm>
      </p:grpSpPr>
      <p:sp>
        <p:nvSpPr>
          <p:cNvPr id="17" name="PlaceHolder 1"/>
          <p:cNvSpPr>
            <a:spLocks noGrp="1"/>
          </p:cNvSpPr>
          <p:nvPr>
            <p:ph type="title"/>
          </p:nvPr>
        </p:nvSpPr>
        <p:spPr>
          <a:xfrm>
            <a:off x="457200" y="273600"/>
            <a:ext cx="8229240" cy="114480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Arial"/>
            </a:endParaRPr>
          </a:p>
        </p:txBody>
      </p:sp>
      <p:sp>
        <p:nvSpPr>
          <p:cNvPr id="18"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Default 2">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Default 3">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 preserve="1">
  <p:cSld name="Blank">
    <p:spTree>
      <p:nvGrpSpPr>
        <p:cNvPr id="1" name=""/>
        <p:cNvGrpSpPr/>
        <p:nvPr/>
      </p:nvGrpSpPr>
      <p:grpSpPr>
        <a:xfrm>
          <a:off x="0" y="0"/>
          <a:ext cx="0" cy="0"/>
          <a:chOff x="0" y="0"/>
          <a:chExt cx="0" cy="0"/>
        </a:xfrm>
      </p:grpSpPr>
      <p:sp>
        <p:nvSpPr>
          <p:cNvPr id="30" name="PlaceHolder 1"/>
          <p:cNvSpPr>
            <a:spLocks noGrp="1"/>
          </p:cNvSpPr>
          <p:nvPr>
            <p:ph type="title"/>
          </p:nvPr>
        </p:nvSpPr>
        <p:spPr>
          <a:xfrm>
            <a:off x="457200" y="273600"/>
            <a:ext cx="8229240" cy="1144800"/>
          </a:xfrm>
          <a:prstGeom prst="rect">
            <a:avLst/>
          </a:prstGeom>
          <a:noFill/>
          <a:ln w="0">
            <a:noFill/>
          </a:ln>
        </p:spPr>
        <p:txBody>
          <a:bodyPr lIns="0" tIns="0" rIns="0" bIns="0" anchor="ctr">
            <a:spAutoFit/>
          </a:bodyPr>
          <a:lstStyle/>
          <a:p>
            <a:pPr indent="0">
              <a:buNone/>
            </a:pPr>
            <a:endParaRPr lang="en-US" sz="1800" b="0" u="none" strike="noStrike">
              <a:solidFill>
                <a:schemeClr val="dk1"/>
              </a:solidFill>
              <a:effectLst/>
              <a:uFillTx/>
              <a:latin typeface="Arial"/>
            </a:endParaRPr>
          </a:p>
        </p:txBody>
      </p:sp>
      <p:sp>
        <p:nvSpPr>
          <p:cNvPr id="31" name="PlaceHolder 2"/>
          <p:cNvSpPr>
            <a:spLocks noGrp="1"/>
          </p:cNvSpPr>
          <p:nvPr>
            <p:ph/>
          </p:nvPr>
        </p:nvSpPr>
        <p:spPr>
          <a:xfrm>
            <a:off x="457200" y="1604520"/>
            <a:ext cx="8229240" cy="3977280"/>
          </a:xfrm>
          <a:prstGeom prst="rect">
            <a:avLst/>
          </a:prstGeom>
          <a:noFill/>
          <a:ln w="0">
            <a:noFill/>
          </a:ln>
        </p:spPr>
        <p:txBody>
          <a:bodyPr lIns="0" tIns="0" rIns="0" bIns="0" anchor="t">
            <a:normAutofit/>
          </a:bodyPr>
          <a:lstStyle/>
          <a:p>
            <a:pPr indent="0">
              <a:spcBef>
                <a:spcPts val="1417"/>
              </a:spcBef>
              <a:buNone/>
            </a:pPr>
            <a:endParaRPr lang="en-US" sz="3200" b="0" u="none" strike="noStrike">
              <a:solidFill>
                <a:schemeClr val="dk1"/>
              </a:solidFill>
              <a:effectLst/>
              <a:uFillTx/>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3" Type="http://schemas.openxmlformats.org/officeDocument/2006/relationships/theme" Target="../theme/theme7.xml"/><Relationship Id="rId2" Type="http://schemas.openxmlformats.org/officeDocument/2006/relationships/slideLayout" Target="../slideLayouts/slideLayout8.xml"/><Relationship Id="rId1" Type="http://schemas.openxmlformats.org/officeDocument/2006/relationships/slideLayout" Target="../slideLayouts/slideLayout7.xml"/><Relationship Id="rId4" Type="http://schemas.openxmlformats.org/officeDocument/2006/relationships/image" Target="../media/image3.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Text Box 2"/>
          <p:cNvSpPr/>
          <p:nvPr/>
        </p:nvSpPr>
        <p:spPr>
          <a:xfrm>
            <a:off x="4022640" y="66294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pPr>
            <a:r>
              <a:rPr lang="en-US" sz="800" b="0" u="none" strike="noStrike">
                <a:solidFill>
                  <a:srgbClr val="000000"/>
                </a:solidFill>
                <a:effectLst/>
                <a:uFillTx/>
                <a:latin typeface="Arial"/>
                <a:ea typeface="ＭＳ Ｐゴシック"/>
              </a:rPr>
              <a:t>© 2018 Pearson</a:t>
            </a:r>
            <a:endParaRPr lang="en-US" sz="800" b="0" u="none" strike="noStrike">
              <a:solidFill>
                <a:srgbClr val="000000"/>
              </a:solidFill>
              <a:effectLst/>
              <a:uFillTx/>
              <a:latin typeface="Arial"/>
            </a:endParaRPr>
          </a:p>
        </p:txBody>
      </p:sp>
      <p:sp>
        <p:nvSpPr>
          <p:cNvPr id="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CA" sz="2400" b="0" u="none" strike="noStrike">
                <a:solidFill>
                  <a:schemeClr val="dk1"/>
                </a:solidFill>
                <a:effectLst/>
                <a:uFillTx/>
                <a:latin typeface="Arial"/>
              </a:rPr>
              <a:t>Click to edit the title text format</a:t>
            </a:r>
          </a:p>
        </p:txBody>
      </p:sp>
      <p:sp>
        <p:nvSpPr>
          <p:cNvPr id="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CA" sz="2800" b="1" u="none" strike="noStrike">
                <a:solidFill>
                  <a:srgbClr val="FB1B2A"/>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CA"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CA"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CA"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 name="Text Box 2"/>
          <p:cNvSpPr/>
          <p:nvPr/>
        </p:nvSpPr>
        <p:spPr>
          <a:xfrm>
            <a:off x="4022640" y="66438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pPr>
            <a:r>
              <a:rPr lang="en-US" sz="800" b="0" u="none" strike="noStrike">
                <a:solidFill>
                  <a:srgbClr val="000000"/>
                </a:solidFill>
                <a:effectLst/>
                <a:uFillTx/>
                <a:latin typeface="Arial"/>
                <a:ea typeface="ＭＳ Ｐゴシック"/>
              </a:rPr>
              <a:t>© 2018 Pearson</a:t>
            </a:r>
            <a:endParaRPr lang="en-US" sz="800" b="0" u="none" strike="noStrike">
              <a:solidFill>
                <a:srgbClr val="000000"/>
              </a:solidFill>
              <a:effectLst/>
              <a:uFillTx/>
              <a:latin typeface="Arial"/>
            </a:endParaRPr>
          </a:p>
        </p:txBody>
      </p:sp>
      <p:sp>
        <p:nvSpPr>
          <p:cNvPr id="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Click to edit Master title style</a:t>
            </a:r>
            <a:endParaRPr lang="en-CA" sz="2600" b="0" u="none" strike="noStrike">
              <a:solidFill>
                <a:schemeClr val="dk1"/>
              </a:solidFill>
              <a:effectLst/>
              <a:uFillTx/>
              <a:latin typeface="Arial"/>
            </a:endParaRPr>
          </a:p>
        </p:txBody>
      </p:sp>
      <p:sp>
        <p:nvSpPr>
          <p:cNvPr id="5" name="PlaceHolder 2"/>
          <p:cNvSpPr>
            <a:spLocks noGrp="1"/>
          </p:cNvSpPr>
          <p:nvPr>
            <p:ph type="body"/>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561"/>
              </a:spcBef>
              <a:buClr>
                <a:srgbClr val="00468F"/>
              </a:buClr>
              <a:buFont typeface="Webdings" charset="2"/>
              <a:buChar char=""/>
            </a:pPr>
            <a:r>
              <a:rPr lang="en-US" sz="2800" b="1" u="none" strike="noStrike">
                <a:solidFill>
                  <a:srgbClr val="00468F"/>
                </a:solidFill>
                <a:effectLst/>
                <a:uFillTx/>
                <a:latin typeface="Arial"/>
                <a:ea typeface="ＭＳ Ｐゴシック"/>
              </a:rPr>
              <a:t>Click to edit Master text styles</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Second level</a:t>
            </a:r>
            <a:endParaRPr lang="en-CA" sz="2400" b="1" u="none" strike="noStrike">
              <a:solidFill>
                <a:srgbClr val="00468F"/>
              </a:solidFill>
              <a:effectLst/>
              <a:uFillTx/>
              <a:latin typeface="Arial"/>
            </a:endParaRPr>
          </a:p>
          <a:p>
            <a:pPr marL="1079640" lvl="2" indent="-288000">
              <a:lnSpc>
                <a:spcPct val="100000"/>
              </a:lnSpc>
              <a:spcBef>
                <a:spcPts val="601"/>
              </a:spcBef>
              <a:spcAft>
                <a:spcPts val="601"/>
              </a:spcAft>
              <a:buClr>
                <a:srgbClr val="00468F"/>
              </a:buClr>
              <a:buFont typeface="Symbol" charset="2"/>
              <a:buChar char=""/>
            </a:pPr>
            <a:r>
              <a:rPr lang="en-US" sz="2400" b="0" u="none" strike="noStrike">
                <a:solidFill>
                  <a:schemeClr val="dk1"/>
                </a:solidFill>
                <a:effectLst/>
                <a:uFillTx/>
                <a:latin typeface="Arial"/>
                <a:ea typeface="ＭＳ Ｐゴシック"/>
              </a:rPr>
              <a:t>Third level</a:t>
            </a:r>
            <a:endParaRPr lang="en-CA" sz="2400" b="0" u="none" strike="noStrike">
              <a:solidFill>
                <a:schemeClr val="dk1"/>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ＭＳ Ｐゴシック"/>
              </a:rPr>
              <a:t>Fourth level</a:t>
            </a:r>
            <a:endParaRPr lang="en-CA" sz="2000" b="0" u="none" strike="noStrike">
              <a:solidFill>
                <a:schemeClr val="dk1"/>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ＭＳ Ｐゴシック"/>
              </a:rPr>
              <a:t>Fifth level</a:t>
            </a:r>
            <a:endParaRPr lang="en-CA"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 name="Text Box 2"/>
          <p:cNvSpPr/>
          <p:nvPr/>
        </p:nvSpPr>
        <p:spPr>
          <a:xfrm>
            <a:off x="4022640" y="66294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pPr>
            <a:r>
              <a:rPr lang="en-US" sz="800" b="0" u="none" strike="noStrike">
                <a:solidFill>
                  <a:srgbClr val="000000"/>
                </a:solidFill>
                <a:effectLst/>
                <a:uFillTx/>
                <a:latin typeface="Arial"/>
                <a:ea typeface="ＭＳ Ｐゴシック"/>
              </a:rPr>
              <a:t>© 2018 Pearson</a:t>
            </a:r>
            <a:endParaRPr lang="en-US" sz="800" b="0" u="none" strike="noStrike">
              <a:solidFill>
                <a:srgbClr val="000000"/>
              </a:solidFill>
              <a:effectLst/>
              <a:uFillTx/>
              <a:latin typeface="Arial"/>
            </a:endParaRPr>
          </a:p>
        </p:txBody>
      </p:sp>
      <p:sp>
        <p:nvSpPr>
          <p:cNvPr id="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Click to edit Master title style</a:t>
            </a:r>
            <a:endParaRPr lang="en-CA" sz="2600" b="0" u="none" strike="noStrike">
              <a:solidFill>
                <a:schemeClr val="dk1"/>
              </a:solidFill>
              <a:effectLst/>
              <a:uFillTx/>
              <a:latin typeface="Arial"/>
            </a:endParaRPr>
          </a:p>
        </p:txBody>
      </p:sp>
      <p:sp>
        <p:nvSpPr>
          <p:cNvPr id="10" name="PlaceHolder 2"/>
          <p:cNvSpPr>
            <a:spLocks noGrp="1"/>
          </p:cNvSpPr>
          <p:nvPr>
            <p:ph type="body"/>
          </p:nvPr>
        </p:nvSpPr>
        <p:spPr>
          <a:xfrm>
            <a:off x="360000" y="1440000"/>
            <a:ext cx="4114440" cy="4647960"/>
          </a:xfrm>
          <a:prstGeom prst="rect">
            <a:avLst/>
          </a:prstGeom>
          <a:noFill/>
          <a:ln w="0">
            <a:noFill/>
          </a:ln>
        </p:spPr>
        <p:txBody>
          <a:bodyPr lIns="91440" tIns="45720" rIns="91440" bIns="45720" numCol="1" spcCol="0" anchor="t">
            <a:noAutofit/>
          </a:bodyPr>
          <a:lstStyle/>
          <a:p>
            <a:pPr marL="343080" indent="-343080">
              <a:lnSpc>
                <a:spcPct val="100000"/>
              </a:lnSpc>
              <a:spcBef>
                <a:spcPts val="561"/>
              </a:spcBef>
              <a:buClr>
                <a:srgbClr val="00468F"/>
              </a:buClr>
              <a:buFont typeface="Webdings" charset="2"/>
              <a:buChar char=""/>
            </a:pPr>
            <a:r>
              <a:rPr lang="en-US" sz="2800" b="1" u="none" strike="noStrike">
                <a:solidFill>
                  <a:srgbClr val="00468F"/>
                </a:solidFill>
                <a:effectLst/>
                <a:uFillTx/>
                <a:latin typeface="Arial"/>
                <a:ea typeface="ＭＳ Ｐゴシック"/>
              </a:rPr>
              <a:t>Click to edit Master text styles</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Second level</a:t>
            </a:r>
            <a:endParaRPr lang="en-CA" sz="2400" b="1" u="none" strike="noStrike">
              <a:solidFill>
                <a:srgbClr val="00468F"/>
              </a:solidFill>
              <a:effectLst/>
              <a:uFillTx/>
              <a:latin typeface="Arial"/>
            </a:endParaRPr>
          </a:p>
          <a:p>
            <a:pPr marL="1143000" lvl="2" indent="-228600">
              <a:lnSpc>
                <a:spcPct val="100000"/>
              </a:lnSpc>
              <a:spcBef>
                <a:spcPts val="479"/>
              </a:spcBef>
              <a:buClr>
                <a:srgbClr val="00468F"/>
              </a:buClr>
              <a:buFont typeface="Symbol" charset="2"/>
              <a:buChar char=""/>
            </a:pPr>
            <a:r>
              <a:rPr lang="en-US" sz="2400" b="0" u="none" strike="noStrike">
                <a:solidFill>
                  <a:schemeClr val="dk1"/>
                </a:solidFill>
                <a:effectLst/>
                <a:uFillTx/>
                <a:latin typeface="Arial"/>
                <a:ea typeface="ＭＳ Ｐゴシック"/>
              </a:rPr>
              <a:t>Third level</a:t>
            </a:r>
            <a:endParaRPr lang="en-CA" sz="2400" b="0" u="none" strike="noStrike">
              <a:solidFill>
                <a:schemeClr val="dk1"/>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ＭＳ Ｐゴシック"/>
              </a:rPr>
              <a:t>Fourth level</a:t>
            </a:r>
            <a:endParaRPr lang="en-CA" sz="2000" b="0" u="none" strike="noStrike">
              <a:solidFill>
                <a:schemeClr val="dk1"/>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ＭＳ Ｐゴシック"/>
              </a:rPr>
              <a:t>Fifth level</a:t>
            </a:r>
            <a:endParaRPr lang="en-CA"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3" name="Picture 7">
            <a:hlinkClick r:id="" action="ppaction://hlinkshowjump?jump=nextslide"/>
          </p:cNvPr>
          <p:cNvPicPr/>
          <p:nvPr/>
        </p:nvPicPr>
        <p:blipFill>
          <a:blip r:embed="rId3"/>
          <a:stretch/>
        </p:blipFill>
        <p:spPr>
          <a:xfrm>
            <a:off x="8640720" y="6480000"/>
            <a:ext cx="221760" cy="221760"/>
          </a:xfrm>
          <a:prstGeom prst="rect">
            <a:avLst/>
          </a:prstGeom>
          <a:noFill/>
          <a:ln w="0">
            <a:noFill/>
          </a:ln>
        </p:spPr>
      </p:pic>
      <p:sp>
        <p:nvSpPr>
          <p:cNvPr id="14" name="Text Box 2"/>
          <p:cNvSpPr/>
          <p:nvPr/>
        </p:nvSpPr>
        <p:spPr>
          <a:xfrm>
            <a:off x="4098960" y="66438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pPr>
            <a:r>
              <a:rPr lang="en-US" sz="800" b="0" u="none" strike="noStrike">
                <a:solidFill>
                  <a:srgbClr val="000000"/>
                </a:solidFill>
                <a:effectLst/>
                <a:uFillTx/>
                <a:latin typeface="Arial"/>
                <a:ea typeface="ＭＳ Ｐゴシック"/>
              </a:rPr>
              <a:t>© 2018 Pearson</a:t>
            </a:r>
            <a:endParaRPr lang="en-US" sz="800" b="0" u="none" strike="noStrike">
              <a:solidFill>
                <a:srgbClr val="000000"/>
              </a:solidFill>
              <a:effectLst/>
              <a:uFillTx/>
              <a:latin typeface="Arial"/>
            </a:endParaRPr>
          </a:p>
        </p:txBody>
      </p:sp>
      <p:sp>
        <p:nvSpPr>
          <p:cNvPr id="1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Click to edit Master title style</a:t>
            </a:r>
            <a:endParaRPr lang="en-CA" sz="2600" b="0" u="none" strike="noStrike">
              <a:solidFill>
                <a:schemeClr val="dk1"/>
              </a:solidFill>
              <a:effectLst/>
              <a:uFillTx/>
              <a:latin typeface="Arial"/>
            </a:endParaRPr>
          </a:p>
        </p:txBody>
      </p:sp>
      <p:sp>
        <p:nvSpPr>
          <p:cNvPr id="16" name="PlaceHolder 2"/>
          <p:cNvSpPr>
            <a:spLocks noGrp="1"/>
          </p:cNvSpPr>
          <p:nvPr>
            <p:ph type="body"/>
          </p:nvPr>
        </p:nvSpPr>
        <p:spPr>
          <a:xfrm>
            <a:off x="360000" y="1440000"/>
            <a:ext cx="4114440" cy="4647960"/>
          </a:xfrm>
          <a:prstGeom prst="rect">
            <a:avLst/>
          </a:prstGeom>
          <a:noFill/>
          <a:ln w="0">
            <a:noFill/>
          </a:ln>
        </p:spPr>
        <p:txBody>
          <a:bodyPr lIns="91440" tIns="45720" rIns="91440" bIns="45720" numCol="1" spcCol="0" anchor="t">
            <a:noAutofit/>
          </a:bodyPr>
          <a:lstStyle/>
          <a:p>
            <a:pPr marL="343080" indent="-343080">
              <a:lnSpc>
                <a:spcPct val="100000"/>
              </a:lnSpc>
              <a:spcBef>
                <a:spcPts val="561"/>
              </a:spcBef>
              <a:buClr>
                <a:srgbClr val="00468F"/>
              </a:buClr>
              <a:buFont typeface="Webdings" charset="2"/>
              <a:buChar char=""/>
            </a:pPr>
            <a:r>
              <a:rPr lang="en-US" sz="2800" b="1" u="none" strike="noStrike">
                <a:solidFill>
                  <a:srgbClr val="00468F"/>
                </a:solidFill>
                <a:effectLst/>
                <a:uFillTx/>
                <a:latin typeface="Arial"/>
                <a:ea typeface="ＭＳ Ｐゴシック"/>
              </a:rPr>
              <a:t>Click to edit Master text styles</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Second level</a:t>
            </a:r>
            <a:endParaRPr lang="en-CA" sz="2400" b="1" u="none" strike="noStrike">
              <a:solidFill>
                <a:srgbClr val="00468F"/>
              </a:solidFill>
              <a:effectLst/>
              <a:uFillTx/>
              <a:latin typeface="Arial"/>
            </a:endParaRPr>
          </a:p>
          <a:p>
            <a:pPr marL="1143000" lvl="2" indent="-228600">
              <a:lnSpc>
                <a:spcPct val="100000"/>
              </a:lnSpc>
              <a:spcBef>
                <a:spcPts val="479"/>
              </a:spcBef>
              <a:buClr>
                <a:srgbClr val="00468F"/>
              </a:buClr>
              <a:buFont typeface="Symbol" charset="2"/>
              <a:buChar char=""/>
            </a:pPr>
            <a:r>
              <a:rPr lang="en-US" sz="2400" b="0" u="none" strike="noStrike">
                <a:solidFill>
                  <a:schemeClr val="dk1"/>
                </a:solidFill>
                <a:effectLst/>
                <a:uFillTx/>
                <a:latin typeface="Arial"/>
                <a:ea typeface="ＭＳ Ｐゴシック"/>
              </a:rPr>
              <a:t>Third level</a:t>
            </a:r>
            <a:endParaRPr lang="en-CA" sz="2400" b="0" u="none" strike="noStrike">
              <a:solidFill>
                <a:schemeClr val="dk1"/>
              </a:solidFill>
              <a:effectLst/>
              <a:uFillTx/>
              <a:latin typeface="Arial"/>
            </a:endParaRPr>
          </a:p>
          <a:p>
            <a:pPr marL="1600200" lvl="3" indent="-228600">
              <a:lnSpc>
                <a:spcPct val="100000"/>
              </a:lnSpc>
              <a:spcBef>
                <a:spcPts val="400"/>
              </a:spcBef>
              <a:buClr>
                <a:srgbClr val="000000"/>
              </a:buClr>
              <a:buFont typeface="Symbol" charset="2"/>
              <a:buChar char=""/>
            </a:pPr>
            <a:r>
              <a:rPr lang="en-US" sz="2000" b="0" u="none" strike="noStrike">
                <a:solidFill>
                  <a:schemeClr val="dk1"/>
                </a:solidFill>
                <a:effectLst/>
                <a:uFillTx/>
                <a:latin typeface="Arial"/>
                <a:ea typeface="ＭＳ Ｐゴシック"/>
              </a:rPr>
              <a:t>Fourth level</a:t>
            </a:r>
            <a:endParaRPr lang="en-CA" sz="2000" b="0" u="none" strike="noStrike">
              <a:solidFill>
                <a:schemeClr val="dk1"/>
              </a:solidFill>
              <a:effectLst/>
              <a:uFillTx/>
              <a:latin typeface="Arial"/>
            </a:endParaRPr>
          </a:p>
          <a:p>
            <a:pPr marL="2057400" lvl="4" indent="-228600">
              <a:lnSpc>
                <a:spcPct val="100000"/>
              </a:lnSpc>
              <a:spcBef>
                <a:spcPts val="400"/>
              </a:spcBef>
              <a:buClr>
                <a:srgbClr val="000000"/>
              </a:buClr>
              <a:buFont typeface="OpenSymbol"/>
              <a:buChar char="»"/>
            </a:pPr>
            <a:r>
              <a:rPr lang="en-US" sz="2000" b="0" u="none" strike="noStrike">
                <a:solidFill>
                  <a:schemeClr val="dk1"/>
                </a:solidFill>
                <a:effectLst/>
                <a:uFillTx/>
                <a:latin typeface="Arial"/>
                <a:ea typeface="ＭＳ Ｐゴシック"/>
              </a:rPr>
              <a:t>Fifth level</a:t>
            </a:r>
            <a:endParaRPr lang="en-CA" sz="2000" b="0" u="none" strike="noStrike">
              <a:solidFill>
                <a:schemeClr val="dk1"/>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pic>
        <p:nvPicPr>
          <p:cNvPr id="19" name="Picture 4">
            <a:hlinkClick r:id="" action="ppaction://hlinkshowjump?jump=previousslide"/>
          </p:cNvPr>
          <p:cNvPicPr/>
          <p:nvPr/>
        </p:nvPicPr>
        <p:blipFill>
          <a:blip r:embed="rId3"/>
          <a:stretch/>
        </p:blipFill>
        <p:spPr>
          <a:xfrm>
            <a:off x="8640720" y="6480000"/>
            <a:ext cx="221760" cy="221760"/>
          </a:xfrm>
          <a:prstGeom prst="rect">
            <a:avLst/>
          </a:prstGeom>
          <a:noFill/>
          <a:ln w="0">
            <a:noFill/>
          </a:ln>
        </p:spPr>
      </p:pic>
      <p:sp>
        <p:nvSpPr>
          <p:cNvPr id="20" name="Text Box 2"/>
          <p:cNvSpPr/>
          <p:nvPr/>
        </p:nvSpPr>
        <p:spPr>
          <a:xfrm>
            <a:off x="4022640" y="66438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spcBef>
                <a:spcPts val="400"/>
              </a:spcBef>
            </a:pPr>
            <a:r>
              <a:rPr lang="en-US" sz="800" b="0" u="none" strike="noStrike">
                <a:solidFill>
                  <a:srgbClr val="000000"/>
                </a:solidFill>
                <a:effectLst/>
                <a:uFillTx/>
                <a:latin typeface="Arial"/>
                <a:ea typeface="ＭＳ Ｐゴシック"/>
              </a:rPr>
              <a:t>© 2018 Pearson</a:t>
            </a:r>
            <a:endParaRPr lang="en-US" sz="800" b="0" u="none" strike="noStrike">
              <a:solidFill>
                <a:srgbClr val="000000"/>
              </a:solidFill>
              <a:effectLst/>
              <a:uFillTx/>
              <a:latin typeface="Arial"/>
            </a:endParaRPr>
          </a:p>
        </p:txBody>
      </p:sp>
      <p:sp>
        <p:nvSpPr>
          <p:cNvPr id="21"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CA" sz="2400" b="0" u="none" strike="noStrike">
                <a:solidFill>
                  <a:schemeClr val="dk1"/>
                </a:solidFill>
                <a:effectLst/>
                <a:uFillTx/>
                <a:latin typeface="Arial"/>
              </a:rPr>
              <a:t>Click to edit the title text format</a:t>
            </a:r>
          </a:p>
        </p:txBody>
      </p:sp>
      <p:sp>
        <p:nvSpPr>
          <p:cNvPr id="22"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CA" sz="3200" b="0" u="none" strike="noStrike">
                <a:solidFill>
                  <a:schemeClr val="dk1"/>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CA"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CA"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CA"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Text Box 3"/>
          <p:cNvSpPr/>
          <p:nvPr/>
        </p:nvSpPr>
        <p:spPr>
          <a:xfrm>
            <a:off x="3718080" y="6629400"/>
            <a:ext cx="1692000" cy="213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a:lnSpc>
                <a:spcPct val="100000"/>
              </a:lnSpc>
              <a:spcBef>
                <a:spcPts val="400"/>
              </a:spcBef>
            </a:pPr>
            <a:r>
              <a:rPr lang="en-US" sz="800" b="0" u="none" strike="noStrike">
                <a:solidFill>
                  <a:srgbClr val="000000"/>
                </a:solidFill>
                <a:effectLst/>
                <a:uFillTx/>
                <a:latin typeface="Arial"/>
              </a:rPr>
              <a:t>© 2018 Pearson</a:t>
            </a:r>
          </a:p>
        </p:txBody>
      </p:sp>
      <p:sp>
        <p:nvSpPr>
          <p:cNvPr id="24"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CA" sz="2400" b="0" u="none" strike="noStrike">
                <a:solidFill>
                  <a:schemeClr val="dk1"/>
                </a:solidFill>
                <a:effectLst/>
                <a:uFillTx/>
                <a:latin typeface="Arial"/>
              </a:rPr>
              <a:t>Click to edit the title text format</a:t>
            </a:r>
          </a:p>
        </p:txBody>
      </p:sp>
      <p:sp>
        <p:nvSpPr>
          <p:cNvPr id="25"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CA" sz="2800" b="1" u="none" strike="noStrike">
                <a:solidFill>
                  <a:srgbClr val="FB1B2A"/>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CA"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CA"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CA"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CA" sz="2000" b="0" u="none" strike="noStrike">
                <a:solidFill>
                  <a:schemeClr val="dk1"/>
                </a:solidFill>
                <a:effectLs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6" name="Text Box 13"/>
          <p:cNvSpPr/>
          <p:nvPr/>
        </p:nvSpPr>
        <p:spPr>
          <a:xfrm>
            <a:off x="185760" y="6416640"/>
            <a:ext cx="8642160" cy="1886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algn="r" defTabSz="914400">
              <a:lnSpc>
                <a:spcPct val="100000"/>
              </a:lnSpc>
            </a:pPr>
            <a:r>
              <a:rPr lang="en-US" sz="1200" b="0" u="none" strike="noStrike">
                <a:solidFill>
                  <a:srgbClr val="000000"/>
                </a:solidFill>
                <a:effectLst/>
                <a:uFillTx/>
                <a:latin typeface="Arial"/>
                <a:ea typeface="Verdana"/>
              </a:rPr>
              <a:t>© 2022 Pearson Education Limited. All Rights Reserved.</a:t>
            </a:r>
            <a:endParaRPr lang="en-US" sz="1200" b="0" u="none" strike="noStrike">
              <a:solidFill>
                <a:srgbClr val="000000"/>
              </a:solidFill>
              <a:effectLst/>
              <a:uFillTx/>
              <a:latin typeface="Arial"/>
            </a:endParaRPr>
          </a:p>
        </p:txBody>
      </p:sp>
      <p:pic>
        <p:nvPicPr>
          <p:cNvPr id="27" name="Picture 8" descr="Pearson Logo"/>
          <p:cNvPicPr/>
          <p:nvPr/>
        </p:nvPicPr>
        <p:blipFill>
          <a:blip r:embed="rId4"/>
          <a:stretch/>
        </p:blipFill>
        <p:spPr>
          <a:xfrm>
            <a:off x="457200" y="6377040"/>
            <a:ext cx="917280" cy="279000"/>
          </a:xfrm>
          <a:prstGeom prst="rect">
            <a:avLst/>
          </a:prstGeom>
          <a:noFill/>
          <a:ln w="0">
            <a:noFill/>
          </a:ln>
        </p:spPr>
      </p:pic>
      <p:sp>
        <p:nvSpPr>
          <p:cNvPr id="28" name="PlaceHolder 1"/>
          <p:cNvSpPr>
            <a:spLocks noGrp="1"/>
          </p:cNvSpPr>
          <p:nvPr>
            <p:ph type="title"/>
          </p:nvPr>
        </p:nvSpPr>
        <p:spPr>
          <a:xfrm>
            <a:off x="457200" y="273600"/>
            <a:ext cx="8229240" cy="1144800"/>
          </a:xfrm>
          <a:prstGeom prst="rect">
            <a:avLst/>
          </a:prstGeom>
          <a:noFill/>
          <a:ln w="0">
            <a:noFill/>
          </a:ln>
        </p:spPr>
        <p:txBody>
          <a:bodyPr lIns="0" tIns="0" rIns="0" bIns="0" anchor="ctr">
            <a:noAutofit/>
          </a:bodyPr>
          <a:lstStyle/>
          <a:p>
            <a:pPr indent="0">
              <a:buNone/>
            </a:pPr>
            <a:r>
              <a:rPr lang="en-US" sz="1800" b="0" u="none" strike="noStrike">
                <a:solidFill>
                  <a:schemeClr val="dk1"/>
                </a:solidFill>
                <a:effectLst/>
                <a:uFillTx/>
                <a:latin typeface="Arial"/>
              </a:rPr>
              <a:t>Click to edit the title text format</a:t>
            </a:r>
          </a:p>
        </p:txBody>
      </p:sp>
      <p:sp>
        <p:nvSpPr>
          <p:cNvPr id="29" name="PlaceHolder 2"/>
          <p:cNvSpPr>
            <a:spLocks noGrp="1"/>
          </p:cNvSpPr>
          <p:nvPr>
            <p:ph type="body"/>
          </p:nvPr>
        </p:nvSpPr>
        <p:spPr>
          <a:xfrm>
            <a:off x="457200" y="1604520"/>
            <a:ext cx="82292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Arial"/>
              </a:rPr>
              <a:t>Click to edit the outline text format</a:t>
            </a: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Arial"/>
              </a:rPr>
              <a:t>Second Outline Level</a:t>
            </a: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Arial"/>
              </a:rPr>
              <a:t>Third Outline Level</a:t>
            </a: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Arial"/>
              </a:rPr>
              <a:t>Fourth Outline Level</a:t>
            </a: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Fifth Outline Level</a:t>
            </a: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Sixth Outline Level</a:t>
            </a: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Arial"/>
              </a:rPr>
              <a:t>Seventh Outline Level</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tif"/><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5.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 Id="rId9"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23.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31.png"/><Relationship Id="rId7" Type="http://schemas.openxmlformats.org/officeDocument/2006/relationships/image" Target="../media/image35.png"/><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 Id="rId9" Type="http://schemas.openxmlformats.org/officeDocument/2006/relationships/image" Target="../media/image37.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3" Type="http://schemas.openxmlformats.org/officeDocument/2006/relationships/image" Target="../media/image38.png"/><Relationship Id="rId7" Type="http://schemas.openxmlformats.org/officeDocument/2006/relationships/image" Target="../media/image42.png"/><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image" Target="../media/image41.png"/><Relationship Id="rId5" Type="http://schemas.openxmlformats.org/officeDocument/2006/relationships/image" Target="../media/image40.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38.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45.png"/><Relationship Id="rId7" Type="http://schemas.openxmlformats.org/officeDocument/2006/relationships/image" Target="../media/image49.png"/><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51.png"/></Relationships>
</file>

<file path=ppt/slides/_rels/slide3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54.png"/><Relationship Id="rId4" Type="http://schemas.openxmlformats.org/officeDocument/2006/relationships/image" Target="../media/image53.png"/></Relationships>
</file>

<file path=ppt/slides/_rels/slide40.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0.xml"/><Relationship Id="rId1" Type="http://schemas.openxmlformats.org/officeDocument/2006/relationships/slideLayout" Target="../slideLayouts/slideLayout5.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1.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1.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2.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42.xml"/><Relationship Id="rId1" Type="http://schemas.openxmlformats.org/officeDocument/2006/relationships/slideLayout" Target="../slideLayouts/slideLayout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43.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60.png"/><Relationship Id="rId4" Type="http://schemas.openxmlformats.org/officeDocument/2006/relationships/image" Target="../media/image59.png"/></Relationships>
</file>

<file path=ppt/slides/_rels/slide44.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4.xml"/><Relationship Id="rId1" Type="http://schemas.openxmlformats.org/officeDocument/2006/relationships/slideLayout" Target="../slideLayouts/slideLayout5.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4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46.xml.rels><?xml version="1.0" encoding="UTF-8" standalone="yes"?>
<Relationships xmlns="http://schemas.openxmlformats.org/package/2006/relationships"><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7.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48.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4.png"/></Relationships>
</file>

<file path=ppt/slides/_rels/slide4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9.xml"/><Relationship Id="rId1" Type="http://schemas.openxmlformats.org/officeDocument/2006/relationships/slideLayout" Target="../slideLayouts/slideLayout4.xml"/><Relationship Id="rId4" Type="http://schemas.openxmlformats.org/officeDocument/2006/relationships/image" Target="../media/image66.png"/></Relationships>
</file>

<file path=ppt/slides/_rels/slide50.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50.xml"/><Relationship Id="rId1" Type="http://schemas.openxmlformats.org/officeDocument/2006/relationships/slideLayout" Target="../slideLayouts/slideLayout5.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1.xml"/><Relationship Id="rId1" Type="http://schemas.openxmlformats.org/officeDocument/2006/relationships/slideLayout" Target="../slideLayouts/slideLayout3.xml"/><Relationship Id="rId5" Type="http://schemas.openxmlformats.org/officeDocument/2006/relationships/image" Target="../media/image67.png"/><Relationship Id="rId4" Type="http://schemas.openxmlformats.org/officeDocument/2006/relationships/image" Target="../media/image66.png"/></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52.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notesSlide" Target="../notesSlides/notesSlide53.xml"/><Relationship Id="rId1" Type="http://schemas.openxmlformats.org/officeDocument/2006/relationships/slideLayout" Target="../slideLayouts/slideLayout3.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8" Type="http://schemas.openxmlformats.org/officeDocument/2006/relationships/image" Target="../media/image71.jpe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55.xml"/><Relationship Id="rId1" Type="http://schemas.openxmlformats.org/officeDocument/2006/relationships/slideLayout" Target="../slideLayouts/slideLayout6.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56.xml.rels><?xml version="1.0" encoding="UTF-8" standalone="yes"?>
<Relationships xmlns="http://schemas.openxmlformats.org/package/2006/relationships"><Relationship Id="rId2" Type="http://schemas.openxmlformats.org/officeDocument/2006/relationships/image" Target="../media/image77.gif"/><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image" Target="../media/image78.gif"/><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image" Target="../media/image79.gif"/><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 Placeholder 1"/>
          <p:cNvSpPr/>
          <p:nvPr/>
        </p:nvSpPr>
        <p:spPr>
          <a:xfrm>
            <a:off x="4859280" y="3502080"/>
            <a:ext cx="3528720" cy="103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spcBef>
                <a:spcPts val="1199"/>
              </a:spcBef>
              <a:tabLst>
                <a:tab pos="0" algn="l"/>
              </a:tabLst>
            </a:pPr>
            <a:r>
              <a:rPr lang="en-US" sz="3000" b="0" u="none" strike="noStrike">
                <a:solidFill>
                  <a:srgbClr val="000000"/>
                </a:solidFill>
                <a:effectLst/>
                <a:uFillTx/>
                <a:latin typeface="Arial"/>
              </a:rPr>
              <a:t>Chapter 2</a:t>
            </a:r>
          </a:p>
          <a:p>
            <a:pPr defTabSz="914400">
              <a:lnSpc>
                <a:spcPct val="100000"/>
              </a:lnSpc>
              <a:spcBef>
                <a:spcPts val="1199"/>
              </a:spcBef>
              <a:tabLst>
                <a:tab pos="0" algn="l"/>
              </a:tabLst>
            </a:pPr>
            <a:r>
              <a:rPr lang="en-US" sz="2200" b="0" u="none" strike="noStrike">
                <a:solidFill>
                  <a:srgbClr val="000000"/>
                </a:solidFill>
                <a:effectLst/>
                <a:uFillTx/>
                <a:latin typeface="Arial"/>
              </a:rPr>
              <a:t>The economic problem</a:t>
            </a:r>
          </a:p>
        </p:txBody>
      </p:sp>
      <p:sp>
        <p:nvSpPr>
          <p:cNvPr id="39" name="Title 4"/>
          <p:cNvSpPr/>
          <p:nvPr/>
        </p:nvSpPr>
        <p:spPr>
          <a:xfrm>
            <a:off x="407880" y="237960"/>
            <a:ext cx="8051400" cy="1531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defTabSz="914400">
              <a:lnSpc>
                <a:spcPct val="100000"/>
              </a:lnSpc>
              <a:spcBef>
                <a:spcPts val="601"/>
              </a:spcBef>
            </a:pPr>
            <a:r>
              <a:rPr lang="en-US" sz="3600" b="1" u="none" strike="noStrike">
                <a:solidFill>
                  <a:srgbClr val="007FA3"/>
                </a:solidFill>
                <a:effectLst/>
                <a:uFillTx/>
                <a:latin typeface="Arial"/>
              </a:rPr>
              <a:t>Economics</a:t>
            </a:r>
            <a:endParaRPr lang="en-US" sz="3600" b="0" u="none" strike="noStrike">
              <a:solidFill>
                <a:srgbClr val="000000"/>
              </a:solidFill>
              <a:effectLst/>
              <a:uFillTx/>
              <a:latin typeface="Arial"/>
            </a:endParaRPr>
          </a:p>
          <a:p>
            <a:pPr defTabSz="914400">
              <a:lnSpc>
                <a:spcPct val="100000"/>
              </a:lnSpc>
              <a:spcBef>
                <a:spcPts val="601"/>
              </a:spcBef>
            </a:pPr>
            <a:r>
              <a:rPr lang="en-US" sz="2400" b="0" u="none" strike="noStrike">
                <a:solidFill>
                  <a:srgbClr val="007FA3"/>
                </a:solidFill>
                <a:effectLst/>
                <a:uFillTx/>
                <a:latin typeface="Arial"/>
              </a:rPr>
              <a:t>Eleventh European Edition</a:t>
            </a:r>
            <a:endParaRPr lang="en-US" sz="2400" b="0" u="none" strike="noStrike">
              <a:solidFill>
                <a:srgbClr val="000000"/>
              </a:solidFill>
              <a:effectLst/>
              <a:uFillTx/>
              <a:latin typeface="Arial"/>
            </a:endParaRPr>
          </a:p>
        </p:txBody>
      </p:sp>
      <p:pic>
        <p:nvPicPr>
          <p:cNvPr id="40" name="Picture 29"/>
          <p:cNvPicPr/>
          <p:nvPr/>
        </p:nvPicPr>
        <p:blipFill>
          <a:blip r:embed="rId3"/>
          <a:stretch/>
        </p:blipFill>
        <p:spPr>
          <a:xfrm>
            <a:off x="539640" y="1312920"/>
            <a:ext cx="3600000" cy="4922280"/>
          </a:xfrm>
          <a:prstGeom prst="rect">
            <a:avLst/>
          </a:prstGeom>
          <a:noFill/>
          <a:ln w="0">
            <a:noFill/>
          </a:ln>
          <a:effectLst>
            <a:outerShdw blurRad="50760" dist="37674" dir="2700000" algn="tl" rotWithShape="0">
              <a:srgbClr val="000000">
                <a:alpha val="40000"/>
              </a:srgbClr>
            </a:outerShdw>
          </a:effectLst>
        </p:spPr>
      </p:pic>
      <p:sp>
        <p:nvSpPr>
          <p:cNvPr id="41" name="Text Placeholder 3"/>
          <p:cNvSpPr/>
          <p:nvPr/>
        </p:nvSpPr>
        <p:spPr>
          <a:xfrm>
            <a:off x="4859280" y="1962000"/>
            <a:ext cx="3528720" cy="10350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defTabSz="914400">
              <a:lnSpc>
                <a:spcPct val="100000"/>
              </a:lnSpc>
              <a:spcBef>
                <a:spcPts val="1199"/>
              </a:spcBef>
              <a:tabLst>
                <a:tab pos="0" algn="l"/>
              </a:tabLst>
            </a:pPr>
            <a:r>
              <a:rPr lang="en-US" sz="3000" b="0" u="none" strike="noStrike">
                <a:solidFill>
                  <a:srgbClr val="000000"/>
                </a:solidFill>
                <a:effectLst/>
                <a:uFillTx/>
                <a:latin typeface="Arial"/>
              </a:rPr>
              <a:t>Part 1</a:t>
            </a:r>
          </a:p>
          <a:p>
            <a:pPr defTabSz="914400">
              <a:lnSpc>
                <a:spcPct val="100000"/>
              </a:lnSpc>
              <a:spcBef>
                <a:spcPts val="1199"/>
              </a:spcBef>
              <a:tabLst>
                <a:tab pos="0" algn="l"/>
              </a:tabLst>
            </a:pPr>
            <a:r>
              <a:rPr lang="en-US" sz="2200" b="0" u="none" strike="noStrike">
                <a:solidFill>
                  <a:srgbClr val="000000"/>
                </a:solidFill>
                <a:effectLst/>
                <a:uFillTx/>
                <a:latin typeface="Arial"/>
              </a:rPr>
              <a:t>The scope of economics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8"/>
          <p:cNvPicPr/>
          <p:nvPr/>
        </p:nvPicPr>
        <p:blipFill>
          <a:blip r:embed="rId3"/>
          <a:stretch/>
        </p:blipFill>
        <p:spPr>
          <a:xfrm>
            <a:off x="225360" y="304920"/>
            <a:ext cx="8610120" cy="1923840"/>
          </a:xfrm>
          <a:prstGeom prst="rect">
            <a:avLst/>
          </a:prstGeom>
          <a:noFill/>
          <a:ln w="0">
            <a:noFill/>
          </a:ln>
        </p:spPr>
      </p:pic>
      <p:sp>
        <p:nvSpPr>
          <p:cNvPr id="43" name="Text Box 5"/>
          <p:cNvSpPr/>
          <p:nvPr/>
        </p:nvSpPr>
        <p:spPr>
          <a:xfrm>
            <a:off x="6019920" y="452160"/>
            <a:ext cx="115704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spAutoFit/>
          </a:bodyPr>
          <a:lstStyle/>
          <a:p>
            <a:pPr algn="ctr">
              <a:lnSpc>
                <a:spcPct val="100000"/>
              </a:lnSpc>
              <a:spcBef>
                <a:spcPts val="3600"/>
              </a:spcBef>
            </a:pPr>
            <a:r>
              <a:rPr lang="en-US" sz="7200" b="1" u="none" strike="noStrike">
                <a:solidFill>
                  <a:schemeClr val="lt1"/>
                </a:solidFill>
                <a:effectLst/>
                <a:uFillTx/>
                <a:latin typeface="Arial"/>
                <a:ea typeface="ＭＳ Ｐゴシック"/>
              </a:rPr>
              <a:t>2</a:t>
            </a:r>
            <a:endParaRPr lang="en-US" sz="7200" b="0" u="none" strike="noStrike">
              <a:solidFill>
                <a:srgbClr val="000000"/>
              </a:solidFill>
              <a:effectLst/>
              <a:uFillTx/>
              <a:latin typeface="Arial"/>
            </a:endParaRPr>
          </a:p>
        </p:txBody>
      </p:sp>
      <p:sp>
        <p:nvSpPr>
          <p:cNvPr id="44" name="TextBox 6"/>
          <p:cNvSpPr/>
          <p:nvPr/>
        </p:nvSpPr>
        <p:spPr>
          <a:xfrm>
            <a:off x="225360" y="2362320"/>
            <a:ext cx="6098760" cy="821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CA" sz="2400" b="1" u="none" strike="noStrike">
                <a:solidFill>
                  <a:schemeClr val="dk1"/>
                </a:solidFill>
                <a:effectLst/>
                <a:uFillTx/>
                <a:latin typeface="Arial"/>
                <a:ea typeface="ＭＳ Ｐゴシック"/>
              </a:rPr>
              <a:t>When you have completed your </a:t>
            </a:r>
            <a:br>
              <a:rPr sz="2400"/>
            </a:br>
            <a:r>
              <a:rPr lang="en-CA" sz="2400" b="1" u="none" strike="noStrike">
                <a:solidFill>
                  <a:schemeClr val="dk1"/>
                </a:solidFill>
                <a:effectLst/>
                <a:uFillTx/>
                <a:latin typeface="Arial"/>
                <a:ea typeface="ＭＳ Ｐゴシック"/>
              </a:rPr>
              <a:t>study of this chapter, you will be able to</a:t>
            </a:r>
            <a:endParaRPr lang="en-US" sz="2400" b="0" u="none" strike="noStrike">
              <a:solidFill>
                <a:srgbClr val="000000"/>
              </a:solidFill>
              <a:effectLst/>
              <a:uFillTx/>
              <a:latin typeface="Arial"/>
            </a:endParaRPr>
          </a:p>
        </p:txBody>
      </p:sp>
      <p:sp>
        <p:nvSpPr>
          <p:cNvPr id="45" name="TextBox 7"/>
          <p:cNvSpPr/>
          <p:nvPr/>
        </p:nvSpPr>
        <p:spPr>
          <a:xfrm>
            <a:off x="225360" y="3489480"/>
            <a:ext cx="8686440" cy="3084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114480" defTabSz="114480">
              <a:lnSpc>
                <a:spcPct val="100000"/>
              </a:lnSpc>
              <a:spcBef>
                <a:spcPts val="479"/>
              </a:spcBef>
              <a:spcAft>
                <a:spcPts val="1199"/>
              </a:spcAft>
              <a:tabLst>
                <a:tab pos="399960" algn="l"/>
              </a:tabLst>
            </a:pPr>
            <a:r>
              <a:rPr lang="en-US" sz="2400" b="1" u="none" strike="noStrike">
                <a:solidFill>
                  <a:srgbClr val="FF0000"/>
                </a:solidFill>
                <a:effectLst/>
                <a:uFillTx/>
                <a:latin typeface="Arial"/>
                <a:ea typeface="ＭＳ Ｐゴシック"/>
              </a:rPr>
              <a:t>1</a:t>
            </a:r>
            <a:r>
              <a:rPr lang="en-US" sz="2400" b="1" u="none" strike="noStrike">
                <a:solidFill>
                  <a:schemeClr val="dk1"/>
                </a:solidFill>
                <a:effectLst/>
                <a:uFillTx/>
                <a:latin typeface="Arial"/>
                <a:ea typeface="ＭＳ Ｐゴシック"/>
              </a:rPr>
              <a:t> </a:t>
            </a:r>
            <a:r>
              <a:rPr lang="en-US" sz="2400" b="0" u="none" strike="noStrike">
                <a:solidFill>
                  <a:schemeClr val="dk1"/>
                </a:solidFill>
                <a:effectLst/>
                <a:uFillTx/>
                <a:latin typeface="Arial"/>
                <a:ea typeface="ＭＳ Ｐゴシック"/>
              </a:rPr>
              <a:t>Explain and illustrate the concepts of scarcity, production 	efficiency, and tradeoff using the production possibilities 	frontier.</a:t>
            </a:r>
            <a:endParaRPr lang="en-US" sz="2400" b="0" u="none" strike="noStrike">
              <a:solidFill>
                <a:srgbClr val="000000"/>
              </a:solidFill>
              <a:effectLst/>
              <a:uFillTx/>
              <a:latin typeface="Arial"/>
            </a:endParaRPr>
          </a:p>
          <a:p>
            <a:pPr marL="114480" defTabSz="114480">
              <a:lnSpc>
                <a:spcPct val="100000"/>
              </a:lnSpc>
              <a:spcBef>
                <a:spcPts val="479"/>
              </a:spcBef>
              <a:spcAft>
                <a:spcPts val="1199"/>
              </a:spcAft>
              <a:tabLst>
                <a:tab pos="399960" algn="l"/>
              </a:tabLst>
            </a:pPr>
            <a:r>
              <a:rPr lang="en-US" sz="2400" b="1" u="none" strike="noStrike">
                <a:solidFill>
                  <a:srgbClr val="FF0000"/>
                </a:solidFill>
                <a:effectLst/>
                <a:uFillTx/>
                <a:latin typeface="Arial"/>
                <a:ea typeface="ＭＳ Ｐゴシック"/>
              </a:rPr>
              <a:t>2 </a:t>
            </a:r>
            <a:r>
              <a:rPr lang="en-US" sz="2400" b="0" u="none" strike="noStrike">
                <a:solidFill>
                  <a:schemeClr val="dk1"/>
                </a:solidFill>
                <a:effectLst/>
                <a:uFillTx/>
                <a:latin typeface="Arial"/>
                <a:ea typeface="ＭＳ Ｐゴシック"/>
              </a:rPr>
              <a:t>Calculate opportunity cost.</a:t>
            </a:r>
            <a:endParaRPr lang="en-US" sz="2400" b="0" u="none" strike="noStrike">
              <a:solidFill>
                <a:srgbClr val="000000"/>
              </a:solidFill>
              <a:effectLst/>
              <a:uFillTx/>
              <a:latin typeface="Arial"/>
            </a:endParaRPr>
          </a:p>
          <a:p>
            <a:pPr marL="114480" defTabSz="114480">
              <a:lnSpc>
                <a:spcPct val="100000"/>
              </a:lnSpc>
              <a:spcBef>
                <a:spcPts val="479"/>
              </a:spcBef>
              <a:spcAft>
                <a:spcPts val="1199"/>
              </a:spcAft>
              <a:tabLst>
                <a:tab pos="399960" algn="l"/>
              </a:tabLst>
            </a:pPr>
            <a:r>
              <a:rPr lang="en-US" sz="2400" b="1" u="none" strike="noStrike">
                <a:solidFill>
                  <a:srgbClr val="FF0000"/>
                </a:solidFill>
                <a:effectLst/>
                <a:uFillTx/>
                <a:latin typeface="Arial"/>
                <a:ea typeface="ＭＳ Ｐゴシック"/>
              </a:rPr>
              <a:t>3 </a:t>
            </a:r>
            <a:r>
              <a:rPr lang="en-US" sz="2400" b="0" u="none" strike="noStrike">
                <a:solidFill>
                  <a:schemeClr val="dk1"/>
                </a:solidFill>
                <a:effectLst/>
                <a:uFillTx/>
                <a:latin typeface="Arial"/>
                <a:ea typeface="ＭＳ Ｐゴシック"/>
              </a:rPr>
              <a:t>Explain what makes production possibilities expand.</a:t>
            </a:r>
            <a:endParaRPr lang="en-US" sz="2400" b="0" u="none" strike="noStrike">
              <a:solidFill>
                <a:srgbClr val="000000"/>
              </a:solidFill>
              <a:effectLst/>
              <a:uFillTx/>
              <a:latin typeface="Arial"/>
            </a:endParaRPr>
          </a:p>
          <a:p>
            <a:pPr marL="114480" defTabSz="114480">
              <a:lnSpc>
                <a:spcPct val="100000"/>
              </a:lnSpc>
              <a:spcBef>
                <a:spcPts val="479"/>
              </a:spcBef>
              <a:spcAft>
                <a:spcPts val="1199"/>
              </a:spcAft>
              <a:tabLst>
                <a:tab pos="399960" algn="l"/>
              </a:tabLst>
            </a:pPr>
            <a:r>
              <a:rPr lang="en-US" sz="2400" b="1" u="none" strike="noStrike">
                <a:solidFill>
                  <a:srgbClr val="FF0000"/>
                </a:solidFill>
                <a:effectLst/>
                <a:uFillTx/>
                <a:latin typeface="Arial"/>
                <a:ea typeface="ＭＳ Ｐゴシック"/>
              </a:rPr>
              <a:t>4 </a:t>
            </a:r>
            <a:r>
              <a:rPr lang="en-US" sz="2400" b="0" u="none" strike="noStrike">
                <a:solidFill>
                  <a:schemeClr val="dk1"/>
                </a:solidFill>
                <a:effectLst/>
                <a:uFillTx/>
                <a:latin typeface="Arial"/>
                <a:ea typeface="ＭＳ Ｐゴシック"/>
              </a:rPr>
              <a:t>Explain how people gain from specialization and trade.</a:t>
            </a:r>
            <a:endParaRPr lang="en-US" sz="2400" b="0" u="none" strike="noStrike">
              <a:solidFill>
                <a:srgbClr val="000000"/>
              </a:solidFill>
              <a:effectLst/>
              <a:uFillTx/>
              <a:latin typeface="Arial"/>
            </a:endParaRPr>
          </a:p>
        </p:txBody>
      </p:sp>
      <p:sp>
        <p:nvSpPr>
          <p:cNvPr id="46" name="TextBox 9"/>
          <p:cNvSpPr/>
          <p:nvPr/>
        </p:nvSpPr>
        <p:spPr>
          <a:xfrm>
            <a:off x="5843520" y="1830240"/>
            <a:ext cx="2971440" cy="336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en-CA" sz="1600" b="0" u="none" strike="noStrike">
                <a:solidFill>
                  <a:schemeClr val="lt1"/>
                </a:solidFill>
                <a:effectLst/>
                <a:uFillTx/>
                <a:latin typeface="Arial"/>
                <a:ea typeface="ＭＳ Ｐゴシック"/>
              </a:rPr>
              <a:t>CHAPTER CHECKLIST</a:t>
            </a:r>
            <a:endParaRPr lang="en-US" sz="1600" b="0" u="none" strike="noStrike">
              <a:solidFill>
                <a:srgbClr val="000000"/>
              </a:solidFill>
              <a:effectLst/>
              <a:uFillTx/>
              <a:latin typeface="Arial"/>
            </a:endParaRPr>
          </a:p>
        </p:txBody>
      </p:sp>
      <p:sp>
        <p:nvSpPr>
          <p:cNvPr id="47" name="Rectangle 1"/>
          <p:cNvSpPr/>
          <p:nvPr/>
        </p:nvSpPr>
        <p:spPr>
          <a:xfrm>
            <a:off x="144360" y="1224000"/>
            <a:ext cx="4176360" cy="5234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r>
              <a:rPr lang="en-CA" sz="2800" b="1" u="none" strike="noStrike">
                <a:solidFill>
                  <a:schemeClr val="dk1"/>
                </a:solidFill>
                <a:effectLst/>
                <a:uFillTx/>
                <a:latin typeface="Arial"/>
                <a:ea typeface="ＭＳ Ｐゴシック"/>
              </a:rPr>
              <a:t>The Economic Problem</a:t>
            </a:r>
            <a:endParaRPr lang="en-US" sz="2800" b="0" u="none" strike="noStrike">
              <a:solidFill>
                <a:srgbClr val="000000"/>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wipe(left)">
                                      <p:cBhvr additive="repl">
                                        <p:cTn id="7" dur="500"/>
                                        <p:tgtEl>
                                          <p:spTgt spid="44"/>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45">
                                            <p:txEl>
                                              <p:pRg st="0" end="0"/>
                                            </p:txEl>
                                          </p:spTgt>
                                        </p:tgtEl>
                                        <p:attrNameLst>
                                          <p:attrName>style.visibility</p:attrName>
                                        </p:attrNameLst>
                                      </p:cBhvr>
                                      <p:to>
                                        <p:strVal val="visible"/>
                                      </p:to>
                                    </p:set>
                                    <p:animEffect transition="in" filter="wipe(left)">
                                      <p:cBhvr additive="repl">
                                        <p:cTn id="12" dur="1000"/>
                                        <p:tgtEl>
                                          <p:spTgt spid="45">
                                            <p:txEl>
                                              <p:pRg st="0" end="0"/>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45">
                                            <p:txEl>
                                              <p:pRg st="1" end="1"/>
                                            </p:txEl>
                                          </p:spTgt>
                                        </p:tgtEl>
                                        <p:attrNameLst>
                                          <p:attrName>style.visibility</p:attrName>
                                        </p:attrNameLst>
                                      </p:cBhvr>
                                      <p:to>
                                        <p:strVal val="visible"/>
                                      </p:to>
                                    </p:set>
                                    <p:animEffect transition="in" filter="wipe(left)">
                                      <p:cBhvr additive="repl">
                                        <p:cTn id="17" dur="1000"/>
                                        <p:tgtEl>
                                          <p:spTgt spid="45">
                                            <p:txEl>
                                              <p:pRg st="1" end="1"/>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45">
                                            <p:txEl>
                                              <p:pRg st="2" end="2"/>
                                            </p:txEl>
                                          </p:spTgt>
                                        </p:tgtEl>
                                        <p:attrNameLst>
                                          <p:attrName>style.visibility</p:attrName>
                                        </p:attrNameLst>
                                      </p:cBhvr>
                                      <p:to>
                                        <p:strVal val="visible"/>
                                      </p:to>
                                    </p:set>
                                    <p:animEffect transition="in" filter="wipe(left)">
                                      <p:cBhvr additive="repl">
                                        <p:cTn id="22" dur="1000"/>
                                        <p:tgtEl>
                                          <p:spTgt spid="45">
                                            <p:txEl>
                                              <p:pRg st="2" end="2"/>
                                            </p:txEl>
                                          </p:spTgt>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8" fill="hold" nodeType="clickEffect">
                                  <p:stCondLst>
                                    <p:cond delay="0"/>
                                  </p:stCondLst>
                                  <p:childTnLst>
                                    <p:set>
                                      <p:cBhvr>
                                        <p:cTn id="26" dur="1" fill="hold">
                                          <p:stCondLst>
                                            <p:cond delay="0"/>
                                          </p:stCondLst>
                                        </p:cTn>
                                        <p:tgtEl>
                                          <p:spTgt spid="45">
                                            <p:txEl>
                                              <p:pRg st="3" end="3"/>
                                            </p:txEl>
                                          </p:spTgt>
                                        </p:tgtEl>
                                        <p:attrNameLst>
                                          <p:attrName>style.visibility</p:attrName>
                                        </p:attrNameLst>
                                      </p:cBhvr>
                                      <p:to>
                                        <p:strVal val="visible"/>
                                      </p:to>
                                    </p:set>
                                    <p:animEffect transition="in" filter="wipe(left)">
                                      <p:cBhvr additive="repl">
                                        <p:cTn id="27" dur="1000"/>
                                        <p:tgtEl>
                                          <p:spTgt spid="4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49"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Production Possibilities Frontier</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1" u="none" strike="noStrike">
                <a:solidFill>
                  <a:srgbClr val="E50030"/>
                </a:solidFill>
                <a:effectLst/>
                <a:uFillTx/>
                <a:latin typeface="Arial"/>
                <a:ea typeface="ＭＳ Ｐゴシック"/>
              </a:rPr>
              <a:t>Production possibilities frontier </a:t>
            </a:r>
            <a:r>
              <a:rPr lang="en-US" sz="2400" b="0" u="none" strike="noStrike">
                <a:solidFill>
                  <a:schemeClr val="dk1"/>
                </a:solidFill>
                <a:effectLst/>
                <a:uFillTx/>
                <a:latin typeface="Arial"/>
                <a:ea typeface="ＭＳ Ｐゴシック"/>
              </a:rPr>
              <a:t>is the boundary between the combinations of goods and services that can be produced and the combinations that cannot be produced, given the available factors of production and the state of technology.</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The </a:t>
            </a:r>
            <a:r>
              <a:rPr lang="en-US" sz="2400" b="0" i="1" u="none" strike="noStrike">
                <a:solidFill>
                  <a:schemeClr val="dk1"/>
                </a:solidFill>
                <a:effectLst/>
                <a:uFillTx/>
                <a:latin typeface="Arial"/>
                <a:ea typeface="ＭＳ Ｐゴシック"/>
              </a:rPr>
              <a:t>PPF</a:t>
            </a:r>
            <a:r>
              <a:rPr lang="en-US" sz="2400" b="0" u="none" strike="noStrike">
                <a:solidFill>
                  <a:schemeClr val="dk1"/>
                </a:solidFill>
                <a:effectLst/>
                <a:uFillTx/>
                <a:latin typeface="Arial"/>
                <a:ea typeface="ＭＳ Ｐゴシック"/>
              </a:rPr>
              <a:t> is a valuable tool for illustrating the effects of scarcity and its consequences.</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49">
                                            <p:txEl>
                                              <p:pRg st="1" end="1"/>
                                            </p:txEl>
                                          </p:spTgt>
                                        </p:tgtEl>
                                        <p:attrNameLst>
                                          <p:attrName>style.visibility</p:attrName>
                                        </p:attrNameLst>
                                      </p:cBhvr>
                                      <p:to>
                                        <p:strVal val="visible"/>
                                      </p:to>
                                    </p:set>
                                    <p:animEffect transition="in" filter="wipe(left)">
                                      <p:cBhvr additive="repl">
                                        <p:cTn id="7" dur="500"/>
                                        <p:tgtEl>
                                          <p:spTgt spid="49">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49">
                                            <p:txEl>
                                              <p:pRg st="2" end="2"/>
                                            </p:txEl>
                                          </p:spTgt>
                                        </p:tgtEl>
                                        <p:attrNameLst>
                                          <p:attrName>style.visibility</p:attrName>
                                        </p:attrNameLst>
                                      </p:cBhvr>
                                      <p:to>
                                        <p:strVal val="visible"/>
                                      </p:to>
                                    </p:set>
                                    <p:animEffect transition="in" filter="wipe(left)">
                                      <p:cBhvr additive="repl">
                                        <p:cTn id="12" dur="500"/>
                                        <p:tgtEl>
                                          <p:spTgt spid="4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 name="Picture 11"/>
          <p:cNvPicPr/>
          <p:nvPr/>
        </p:nvPicPr>
        <p:blipFill>
          <a:blip r:embed="rId3"/>
          <a:stretch/>
        </p:blipFill>
        <p:spPr>
          <a:xfrm>
            <a:off x="3060720" y="1079640"/>
            <a:ext cx="5552640" cy="5584320"/>
          </a:xfrm>
          <a:prstGeom prst="rect">
            <a:avLst/>
          </a:prstGeom>
          <a:noFill/>
          <a:ln w="0">
            <a:noFill/>
          </a:ln>
        </p:spPr>
      </p:pic>
      <p:pic>
        <p:nvPicPr>
          <p:cNvPr id="51" name="Picture 12"/>
          <p:cNvPicPr/>
          <p:nvPr/>
        </p:nvPicPr>
        <p:blipFill>
          <a:blip r:embed="rId4"/>
          <a:stretch/>
        </p:blipFill>
        <p:spPr>
          <a:xfrm>
            <a:off x="3060720" y="1079640"/>
            <a:ext cx="5552640" cy="5584320"/>
          </a:xfrm>
          <a:prstGeom prst="rect">
            <a:avLst/>
          </a:prstGeom>
          <a:noFill/>
          <a:ln w="0">
            <a:noFill/>
          </a:ln>
        </p:spPr>
      </p:pic>
      <p:pic>
        <p:nvPicPr>
          <p:cNvPr id="52" name="Picture 20"/>
          <p:cNvPicPr/>
          <p:nvPr/>
        </p:nvPicPr>
        <p:blipFill>
          <a:blip r:embed="rId5"/>
          <a:stretch/>
        </p:blipFill>
        <p:spPr>
          <a:xfrm>
            <a:off x="3060720" y="1079640"/>
            <a:ext cx="5552640" cy="5584320"/>
          </a:xfrm>
          <a:prstGeom prst="rect">
            <a:avLst/>
          </a:prstGeom>
          <a:noFill/>
          <a:ln w="0">
            <a:noFill/>
          </a:ln>
        </p:spPr>
      </p:pic>
      <p:pic>
        <p:nvPicPr>
          <p:cNvPr id="53" name="Picture 21"/>
          <p:cNvPicPr/>
          <p:nvPr/>
        </p:nvPicPr>
        <p:blipFill>
          <a:blip r:embed="rId6"/>
          <a:stretch/>
        </p:blipFill>
        <p:spPr>
          <a:xfrm>
            <a:off x="3060720" y="1079640"/>
            <a:ext cx="5552640" cy="5584320"/>
          </a:xfrm>
          <a:prstGeom prst="rect">
            <a:avLst/>
          </a:prstGeom>
          <a:noFill/>
          <a:ln w="0">
            <a:noFill/>
          </a:ln>
        </p:spPr>
      </p:pic>
      <p:pic>
        <p:nvPicPr>
          <p:cNvPr id="54" name="Picture 22"/>
          <p:cNvPicPr/>
          <p:nvPr/>
        </p:nvPicPr>
        <p:blipFill>
          <a:blip r:embed="rId7"/>
          <a:stretch/>
        </p:blipFill>
        <p:spPr>
          <a:xfrm>
            <a:off x="3060720" y="1079640"/>
            <a:ext cx="5552640" cy="5584320"/>
          </a:xfrm>
          <a:prstGeom prst="rect">
            <a:avLst/>
          </a:prstGeom>
          <a:noFill/>
          <a:ln w="0">
            <a:noFill/>
          </a:ln>
        </p:spPr>
      </p:pic>
      <p:pic>
        <p:nvPicPr>
          <p:cNvPr id="55" name="Picture 23"/>
          <p:cNvPicPr/>
          <p:nvPr/>
        </p:nvPicPr>
        <p:blipFill>
          <a:blip r:embed="rId8"/>
          <a:stretch/>
        </p:blipFill>
        <p:spPr>
          <a:xfrm>
            <a:off x="3060720" y="1079640"/>
            <a:ext cx="5552640" cy="5584320"/>
          </a:xfrm>
          <a:prstGeom prst="rect">
            <a:avLst/>
          </a:prstGeom>
          <a:noFill/>
          <a:ln w="0">
            <a:noFill/>
          </a:ln>
        </p:spPr>
      </p:pic>
      <p:pic>
        <p:nvPicPr>
          <p:cNvPr id="56" name="Picture 24"/>
          <p:cNvPicPr/>
          <p:nvPr/>
        </p:nvPicPr>
        <p:blipFill>
          <a:blip r:embed="rId9"/>
          <a:stretch/>
        </p:blipFill>
        <p:spPr>
          <a:xfrm>
            <a:off x="3060720" y="1079640"/>
            <a:ext cx="5552640" cy="5584320"/>
          </a:xfrm>
          <a:prstGeom prst="rect">
            <a:avLst/>
          </a:prstGeom>
          <a:noFill/>
          <a:ln w="0">
            <a:noFill/>
          </a:ln>
        </p:spPr>
      </p:pic>
      <p:pic>
        <p:nvPicPr>
          <p:cNvPr id="57" name="Picture 25"/>
          <p:cNvPicPr/>
          <p:nvPr/>
        </p:nvPicPr>
        <p:blipFill>
          <a:blip r:embed="rId10"/>
          <a:stretch/>
        </p:blipFill>
        <p:spPr>
          <a:xfrm>
            <a:off x="3060720" y="1079640"/>
            <a:ext cx="5552640" cy="5584320"/>
          </a:xfrm>
          <a:prstGeom prst="rect">
            <a:avLst/>
          </a:prstGeom>
          <a:noFill/>
          <a:ln w="0">
            <a:noFill/>
          </a:ln>
        </p:spPr>
      </p:pic>
      <p:sp>
        <p:nvSpPr>
          <p:cNvPr id="5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59" name="PlaceHolder 2"/>
          <p:cNvSpPr>
            <a:spLocks noGrp="1"/>
          </p:cNvSpPr>
          <p:nvPr>
            <p:ph/>
          </p:nvPr>
        </p:nvSpPr>
        <p:spPr>
          <a:xfrm>
            <a:off x="360360" y="1440000"/>
            <a:ext cx="4114440" cy="351288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Figure 3.1 shows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for smartphones and bikes. </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Each point on the graph represents a column of the table.</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The line through the points is the </a:t>
            </a:r>
            <a:r>
              <a:rPr lang="en-US" sz="2400" b="0" i="1" u="none" strike="noStrike">
                <a:solidFill>
                  <a:srgbClr val="000000"/>
                </a:solidFill>
                <a:effectLst/>
                <a:uFillTx/>
                <a:latin typeface="Arial"/>
                <a:ea typeface="ＭＳ Ｐゴシック"/>
              </a:rPr>
              <a:t>PPF.</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59">
                                            <p:txEl>
                                              <p:pRg st="1" end="1"/>
                                            </p:txEl>
                                          </p:spTgt>
                                        </p:tgtEl>
                                        <p:attrNameLst>
                                          <p:attrName>style.visibility</p:attrName>
                                        </p:attrNameLst>
                                      </p:cBhvr>
                                      <p:to>
                                        <p:strVal val="visible"/>
                                      </p:to>
                                    </p:set>
                                    <p:animEffect transition="in" filter="wipe(left)">
                                      <p:cBhvr additive="repl">
                                        <p:cTn id="7" dur="500"/>
                                        <p:tgtEl>
                                          <p:spTgt spid="59">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51"/>
                                        </p:tgtEl>
                                        <p:attrNameLst>
                                          <p:attrName>style.visibility</p:attrName>
                                        </p:attrNameLst>
                                      </p:cBhvr>
                                      <p:to>
                                        <p:strVal val="visible"/>
                                      </p:to>
                                    </p:set>
                                    <p:animEffect transition="in" filter="wipe(down)">
                                      <p:cBhvr additive="repl">
                                        <p:cTn id="10" dur="750"/>
                                        <p:tgtEl>
                                          <p:spTgt spid="51"/>
                                        </p:tgtEl>
                                      </p:cBhvr>
                                    </p:animEffect>
                                  </p:childTnLst>
                                </p:cTn>
                              </p:par>
                              <p:par>
                                <p:cTn id="11" presetID="22" presetClass="entr" presetSubtype="4" fill="hold" nodeType="withEffect">
                                  <p:stCondLst>
                                    <p:cond delay="700"/>
                                  </p:stCondLst>
                                  <p:childTnLst>
                                    <p:set>
                                      <p:cBhvr>
                                        <p:cTn id="12" dur="1" fill="hold">
                                          <p:stCondLst>
                                            <p:cond delay="0"/>
                                          </p:stCondLst>
                                        </p:cTn>
                                        <p:tgtEl>
                                          <p:spTgt spid="52"/>
                                        </p:tgtEl>
                                        <p:attrNameLst>
                                          <p:attrName>style.visibility</p:attrName>
                                        </p:attrNameLst>
                                      </p:cBhvr>
                                      <p:to>
                                        <p:strVal val="visible"/>
                                      </p:to>
                                    </p:set>
                                    <p:animEffect transition="in" filter="wipe(down)">
                                      <p:cBhvr additive="repl">
                                        <p:cTn id="13" dur="750"/>
                                        <p:tgtEl>
                                          <p:spTgt spid="52"/>
                                        </p:tgtEl>
                                      </p:cBhvr>
                                    </p:animEffect>
                                  </p:childTnLst>
                                </p:cTn>
                              </p:par>
                              <p:par>
                                <p:cTn id="14" presetID="22" presetClass="entr" presetSubtype="4" fill="hold" nodeType="withEffect">
                                  <p:stCondLst>
                                    <p:cond delay="1500"/>
                                  </p:stCondLst>
                                  <p:childTnLst>
                                    <p:set>
                                      <p:cBhvr>
                                        <p:cTn id="15" dur="1" fill="hold">
                                          <p:stCondLst>
                                            <p:cond delay="0"/>
                                          </p:stCondLst>
                                        </p:cTn>
                                        <p:tgtEl>
                                          <p:spTgt spid="53"/>
                                        </p:tgtEl>
                                        <p:attrNameLst>
                                          <p:attrName>style.visibility</p:attrName>
                                        </p:attrNameLst>
                                      </p:cBhvr>
                                      <p:to>
                                        <p:strVal val="visible"/>
                                      </p:to>
                                    </p:set>
                                    <p:animEffect transition="in" filter="wipe(down)">
                                      <p:cBhvr additive="repl">
                                        <p:cTn id="16" dur="750"/>
                                        <p:tgtEl>
                                          <p:spTgt spid="53"/>
                                        </p:tgtEl>
                                      </p:cBhvr>
                                    </p:animEffect>
                                  </p:childTnLst>
                                </p:cTn>
                              </p:par>
                              <p:par>
                                <p:cTn id="17" presetID="22" presetClass="entr" presetSubtype="4" fill="hold" nodeType="withEffect">
                                  <p:stCondLst>
                                    <p:cond delay="2400"/>
                                  </p:stCondLst>
                                  <p:childTnLst>
                                    <p:set>
                                      <p:cBhvr>
                                        <p:cTn id="18" dur="1" fill="hold">
                                          <p:stCondLst>
                                            <p:cond delay="0"/>
                                          </p:stCondLst>
                                        </p:cTn>
                                        <p:tgtEl>
                                          <p:spTgt spid="54"/>
                                        </p:tgtEl>
                                        <p:attrNameLst>
                                          <p:attrName>style.visibility</p:attrName>
                                        </p:attrNameLst>
                                      </p:cBhvr>
                                      <p:to>
                                        <p:strVal val="visible"/>
                                      </p:to>
                                    </p:set>
                                    <p:animEffect transition="in" filter="wipe(down)">
                                      <p:cBhvr additive="repl">
                                        <p:cTn id="19" dur="750"/>
                                        <p:tgtEl>
                                          <p:spTgt spid="54"/>
                                        </p:tgtEl>
                                      </p:cBhvr>
                                    </p:animEffect>
                                  </p:childTnLst>
                                </p:cTn>
                              </p:par>
                              <p:par>
                                <p:cTn id="20" presetID="22" presetClass="entr" presetSubtype="4" fill="hold" nodeType="withEffect">
                                  <p:stCondLst>
                                    <p:cond delay="3200"/>
                                  </p:stCondLst>
                                  <p:childTnLst>
                                    <p:set>
                                      <p:cBhvr>
                                        <p:cTn id="21" dur="1" fill="hold">
                                          <p:stCondLst>
                                            <p:cond delay="0"/>
                                          </p:stCondLst>
                                        </p:cTn>
                                        <p:tgtEl>
                                          <p:spTgt spid="55"/>
                                        </p:tgtEl>
                                        <p:attrNameLst>
                                          <p:attrName>style.visibility</p:attrName>
                                        </p:attrNameLst>
                                      </p:cBhvr>
                                      <p:to>
                                        <p:strVal val="visible"/>
                                      </p:to>
                                    </p:set>
                                    <p:animEffect transition="in" filter="wipe(down)">
                                      <p:cBhvr additive="repl">
                                        <p:cTn id="22" dur="750"/>
                                        <p:tgtEl>
                                          <p:spTgt spid="55"/>
                                        </p:tgtEl>
                                      </p:cBhvr>
                                    </p:animEffect>
                                  </p:childTnLst>
                                </p:cTn>
                              </p:par>
                              <p:par>
                                <p:cTn id="23" presetID="22" presetClass="entr" presetSubtype="4" fill="hold" nodeType="withEffect">
                                  <p:stCondLst>
                                    <p:cond delay="4000"/>
                                  </p:stCondLst>
                                  <p:childTnLst>
                                    <p:set>
                                      <p:cBhvr>
                                        <p:cTn id="24" dur="1" fill="hold">
                                          <p:stCondLst>
                                            <p:cond delay="0"/>
                                          </p:stCondLst>
                                        </p:cTn>
                                        <p:tgtEl>
                                          <p:spTgt spid="56"/>
                                        </p:tgtEl>
                                        <p:attrNameLst>
                                          <p:attrName>style.visibility</p:attrName>
                                        </p:attrNameLst>
                                      </p:cBhvr>
                                      <p:to>
                                        <p:strVal val="visible"/>
                                      </p:to>
                                    </p:set>
                                    <p:animEffect transition="in" filter="wipe(down)">
                                      <p:cBhvr additive="repl">
                                        <p:cTn id="25" dur="750"/>
                                        <p:tgtEl>
                                          <p:spTgt spid="56"/>
                                        </p:tgtEl>
                                      </p:cBhvr>
                                    </p:animEffect>
                                  </p:childTnLst>
                                </p:cTn>
                              </p:par>
                            </p:childTnLst>
                          </p:cTn>
                        </p:par>
                      </p:childTnLst>
                    </p:cTn>
                  </p:par>
                  <p:par>
                    <p:cTn id="26" fill="hold" nodeType="clickEffect">
                      <p:stCondLst>
                        <p:cond delay="indefinite"/>
                      </p:stCondLst>
                      <p:childTnLst>
                        <p:par>
                          <p:cTn id="27" fill="hold" nodeType="withEffect">
                            <p:stCondLst>
                              <p:cond delay="0"/>
                            </p:stCondLst>
                            <p:childTnLst>
                              <p:par>
                                <p:cTn id="28" presetID="22" presetClass="entr" presetSubtype="8" fill="hold" nodeType="clickEffect">
                                  <p:stCondLst>
                                    <p:cond delay="0"/>
                                  </p:stCondLst>
                                  <p:childTnLst>
                                    <p:set>
                                      <p:cBhvr>
                                        <p:cTn id="29" dur="1" fill="hold">
                                          <p:stCondLst>
                                            <p:cond delay="0"/>
                                          </p:stCondLst>
                                        </p:cTn>
                                        <p:tgtEl>
                                          <p:spTgt spid="59">
                                            <p:txEl>
                                              <p:pRg st="2" end="2"/>
                                            </p:txEl>
                                          </p:spTgt>
                                        </p:tgtEl>
                                        <p:attrNameLst>
                                          <p:attrName>style.visibility</p:attrName>
                                        </p:attrNameLst>
                                      </p:cBhvr>
                                      <p:to>
                                        <p:strVal val="visible"/>
                                      </p:to>
                                    </p:set>
                                    <p:animEffect transition="in" filter="wipe(left)">
                                      <p:cBhvr additive="repl">
                                        <p:cTn id="30" dur="500"/>
                                        <p:tgtEl>
                                          <p:spTgt spid="59">
                                            <p:txEl>
                                              <p:pRg st="2" end="2"/>
                                            </p:txEl>
                                          </p:spTgt>
                                        </p:tgtEl>
                                      </p:cBhvr>
                                    </p:animEffect>
                                  </p:childTnLst>
                                </p:cTn>
                              </p:par>
                              <p:par>
                                <p:cTn id="31" presetID="22" presetClass="entr" presetSubtype="8" fill="hold" nodeType="withEffect">
                                  <p:stCondLst>
                                    <p:cond delay="0"/>
                                  </p:stCondLst>
                                  <p:childTnLst>
                                    <p:set>
                                      <p:cBhvr>
                                        <p:cTn id="32" dur="1" fill="hold">
                                          <p:stCondLst>
                                            <p:cond delay="0"/>
                                          </p:stCondLst>
                                        </p:cTn>
                                        <p:tgtEl>
                                          <p:spTgt spid="57"/>
                                        </p:tgtEl>
                                        <p:attrNameLst>
                                          <p:attrName>style.visibility</p:attrName>
                                        </p:attrNameLst>
                                      </p:cBhvr>
                                      <p:to>
                                        <p:strVal val="visible"/>
                                      </p:to>
                                    </p:set>
                                    <p:animEffect transition="in" filter="wipe(left)">
                                      <p:cBhvr additive="repl">
                                        <p:cTn id="33" dur="1500"/>
                                        <p:tgtEl>
                                          <p:spTgt spid="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 name="Picture 9"/>
          <p:cNvPicPr/>
          <p:nvPr/>
        </p:nvPicPr>
        <p:blipFill>
          <a:blip r:embed="rId3"/>
          <a:stretch/>
        </p:blipFill>
        <p:spPr>
          <a:xfrm>
            <a:off x="1446120" y="395280"/>
            <a:ext cx="5981400" cy="6014520"/>
          </a:xfrm>
          <a:prstGeom prst="rect">
            <a:avLst/>
          </a:prstGeom>
          <a:noFill/>
          <a:ln w="0">
            <a:noFill/>
          </a:ln>
        </p:spPr>
      </p:pic>
      <p:pic>
        <p:nvPicPr>
          <p:cNvPr id="61" name="Picture 10"/>
          <p:cNvPicPr/>
          <p:nvPr/>
        </p:nvPicPr>
        <p:blipFill>
          <a:blip r:embed="rId4"/>
          <a:stretch/>
        </p:blipFill>
        <p:spPr>
          <a:xfrm>
            <a:off x="1446120" y="395280"/>
            <a:ext cx="5981400" cy="6014520"/>
          </a:xfrm>
          <a:prstGeom prst="rect">
            <a:avLst/>
          </a:prstGeom>
          <a:noFill/>
          <a:ln w="0">
            <a:noFill/>
          </a:ln>
        </p:spPr>
      </p:pic>
      <p:pic>
        <p:nvPicPr>
          <p:cNvPr id="62" name="Picture 11"/>
          <p:cNvPicPr/>
          <p:nvPr/>
        </p:nvPicPr>
        <p:blipFill>
          <a:blip r:embed="rId5"/>
          <a:stretch/>
        </p:blipFill>
        <p:spPr>
          <a:xfrm>
            <a:off x="1446120" y="395280"/>
            <a:ext cx="5981400" cy="6014520"/>
          </a:xfrm>
          <a:prstGeom prst="rect">
            <a:avLst/>
          </a:prstGeom>
          <a:noFill/>
          <a:ln w="0">
            <a:noFill/>
          </a:ln>
        </p:spPr>
      </p:pic>
      <p:pic>
        <p:nvPicPr>
          <p:cNvPr id="63" name="Picture 12"/>
          <p:cNvPicPr/>
          <p:nvPr/>
        </p:nvPicPr>
        <p:blipFill>
          <a:blip r:embed="rId6"/>
          <a:stretch/>
        </p:blipFill>
        <p:spPr>
          <a:xfrm>
            <a:off x="1446120" y="395280"/>
            <a:ext cx="5981400" cy="6014520"/>
          </a:xfrm>
          <a:prstGeom prst="rect">
            <a:avLst/>
          </a:prstGeom>
          <a:noFill/>
          <a:ln w="0">
            <a:noFill/>
          </a:ln>
        </p:spPr>
      </p:pic>
      <p:pic>
        <p:nvPicPr>
          <p:cNvPr id="64" name="Picture 13"/>
          <p:cNvPicPr/>
          <p:nvPr/>
        </p:nvPicPr>
        <p:blipFill>
          <a:blip r:embed="rId7"/>
          <a:stretch/>
        </p:blipFill>
        <p:spPr>
          <a:xfrm>
            <a:off x="1446120" y="395280"/>
            <a:ext cx="5981400" cy="6014520"/>
          </a:xfrm>
          <a:prstGeom prst="rect">
            <a:avLst/>
          </a:prstGeom>
          <a:noFill/>
          <a:ln w="0">
            <a:noFill/>
          </a:ln>
        </p:spPr>
      </p:pic>
      <p:pic>
        <p:nvPicPr>
          <p:cNvPr id="65" name="Picture 14"/>
          <p:cNvPicPr/>
          <p:nvPr/>
        </p:nvPicPr>
        <p:blipFill>
          <a:blip r:embed="rId8"/>
          <a:stretch/>
        </p:blipFill>
        <p:spPr>
          <a:xfrm>
            <a:off x="1446120" y="395280"/>
            <a:ext cx="5981400" cy="6014520"/>
          </a:xfrm>
          <a:prstGeom prst="rect">
            <a:avLst/>
          </a:prstGeom>
          <a:noFill/>
          <a:ln w="0">
            <a:noFill/>
          </a:ln>
        </p:spPr>
      </p:pic>
      <p:pic>
        <p:nvPicPr>
          <p:cNvPr id="66" name="Picture 15"/>
          <p:cNvPicPr/>
          <p:nvPr/>
        </p:nvPicPr>
        <p:blipFill>
          <a:blip r:embed="rId9"/>
          <a:stretch/>
        </p:blipFill>
        <p:spPr>
          <a:xfrm>
            <a:off x="1446120" y="395280"/>
            <a:ext cx="5981400" cy="6014520"/>
          </a:xfrm>
          <a:prstGeom prst="rect">
            <a:avLst/>
          </a:prstGeom>
          <a:noFill/>
          <a:ln w="0">
            <a:noFill/>
          </a:ln>
        </p:spPr>
      </p:pic>
      <p:pic>
        <p:nvPicPr>
          <p:cNvPr id="67" name="Picture 16"/>
          <p:cNvPicPr/>
          <p:nvPr/>
        </p:nvPicPr>
        <p:blipFill>
          <a:blip r:embed="rId10"/>
          <a:stretch/>
        </p:blipFill>
        <p:spPr>
          <a:xfrm>
            <a:off x="1446120" y="395280"/>
            <a:ext cx="5981400" cy="60145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4"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animEffect transition="in" filter="wipe(down)">
                                      <p:cBhvr additive="repl">
                                        <p:cTn id="7" dur="750"/>
                                        <p:tgtEl>
                                          <p:spTgt spid="61"/>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4" fill="hold" nodeType="clickEffect">
                                  <p:stCondLst>
                                    <p:cond delay="0"/>
                                  </p:stCondLst>
                                  <p:childTnLst>
                                    <p:set>
                                      <p:cBhvr>
                                        <p:cTn id="11" dur="1" fill="hold">
                                          <p:stCondLst>
                                            <p:cond delay="0"/>
                                          </p:stCondLst>
                                        </p:cTn>
                                        <p:tgtEl>
                                          <p:spTgt spid="62"/>
                                        </p:tgtEl>
                                        <p:attrNameLst>
                                          <p:attrName>style.visibility</p:attrName>
                                        </p:attrNameLst>
                                      </p:cBhvr>
                                      <p:to>
                                        <p:strVal val="visible"/>
                                      </p:to>
                                    </p:set>
                                    <p:animEffect transition="in" filter="wipe(down)">
                                      <p:cBhvr additive="repl">
                                        <p:cTn id="12" dur="750"/>
                                        <p:tgtEl>
                                          <p:spTgt spid="62"/>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4" fill="hold" nodeType="clickEffect">
                                  <p:stCondLst>
                                    <p:cond delay="0"/>
                                  </p:stCondLst>
                                  <p:childTnLst>
                                    <p:set>
                                      <p:cBhvr>
                                        <p:cTn id="16" dur="1" fill="hold">
                                          <p:stCondLst>
                                            <p:cond delay="0"/>
                                          </p:stCondLst>
                                        </p:cTn>
                                        <p:tgtEl>
                                          <p:spTgt spid="63"/>
                                        </p:tgtEl>
                                        <p:attrNameLst>
                                          <p:attrName>style.visibility</p:attrName>
                                        </p:attrNameLst>
                                      </p:cBhvr>
                                      <p:to>
                                        <p:strVal val="visible"/>
                                      </p:to>
                                    </p:set>
                                    <p:animEffect transition="in" filter="wipe(down)">
                                      <p:cBhvr additive="repl">
                                        <p:cTn id="17" dur="750"/>
                                        <p:tgtEl>
                                          <p:spTgt spid="63"/>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4"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wipe(down)">
                                      <p:cBhvr additive="repl">
                                        <p:cTn id="22" dur="750"/>
                                        <p:tgtEl>
                                          <p:spTgt spid="64"/>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4" fill="hold" nodeType="clickEffect">
                                  <p:stCondLst>
                                    <p:cond delay="0"/>
                                  </p:stCondLst>
                                  <p:childTnLst>
                                    <p:set>
                                      <p:cBhvr>
                                        <p:cTn id="26" dur="1" fill="hold">
                                          <p:stCondLst>
                                            <p:cond delay="0"/>
                                          </p:stCondLst>
                                        </p:cTn>
                                        <p:tgtEl>
                                          <p:spTgt spid="65"/>
                                        </p:tgtEl>
                                        <p:attrNameLst>
                                          <p:attrName>style.visibility</p:attrName>
                                        </p:attrNameLst>
                                      </p:cBhvr>
                                      <p:to>
                                        <p:strVal val="visible"/>
                                      </p:to>
                                    </p:set>
                                    <p:animEffect transition="in" filter="wipe(down)">
                                      <p:cBhvr additive="repl">
                                        <p:cTn id="27" dur="750"/>
                                        <p:tgtEl>
                                          <p:spTgt spid="65"/>
                                        </p:tgtEl>
                                      </p:cBhvr>
                                    </p:animEffect>
                                  </p:childTnLst>
                                </p:cTn>
                              </p:par>
                            </p:childTnLst>
                          </p:cTn>
                        </p:par>
                      </p:childTnLst>
                    </p:cTn>
                  </p:par>
                  <p:par>
                    <p:cTn id="28" fill="hold" nodeType="clickEffect">
                      <p:stCondLst>
                        <p:cond delay="indefinite"/>
                      </p:stCondLst>
                      <p:childTnLst>
                        <p:par>
                          <p:cTn id="29" fill="hold" nodeType="withEffect">
                            <p:stCondLst>
                              <p:cond delay="0"/>
                            </p:stCondLst>
                            <p:childTnLst>
                              <p:par>
                                <p:cTn id="30" presetID="22" presetClass="entr" presetSubtype="4" fill="hold" nodeType="clickEffect">
                                  <p:stCondLst>
                                    <p:cond delay="0"/>
                                  </p:stCondLst>
                                  <p:childTnLst>
                                    <p:set>
                                      <p:cBhvr>
                                        <p:cTn id="31" dur="1" fill="hold">
                                          <p:stCondLst>
                                            <p:cond delay="0"/>
                                          </p:stCondLst>
                                        </p:cTn>
                                        <p:tgtEl>
                                          <p:spTgt spid="66"/>
                                        </p:tgtEl>
                                        <p:attrNameLst>
                                          <p:attrName>style.visibility</p:attrName>
                                        </p:attrNameLst>
                                      </p:cBhvr>
                                      <p:to>
                                        <p:strVal val="visible"/>
                                      </p:to>
                                    </p:set>
                                    <p:animEffect transition="in" filter="wipe(down)">
                                      <p:cBhvr additive="repl">
                                        <p:cTn id="32" dur="750"/>
                                        <p:tgtEl>
                                          <p:spTgt spid="66"/>
                                        </p:tgtEl>
                                      </p:cBhvr>
                                    </p:animEffect>
                                  </p:childTnLst>
                                </p:cTn>
                              </p:par>
                            </p:childTnLst>
                          </p:cTn>
                        </p:par>
                      </p:childTnLst>
                    </p:cTn>
                  </p:par>
                  <p:par>
                    <p:cTn id="33" fill="hold" nodeType="clickEffect">
                      <p:stCondLst>
                        <p:cond delay="indefinite"/>
                      </p:stCondLst>
                      <p:childTnLst>
                        <p:par>
                          <p:cTn id="34" fill="hold" nodeType="withEffect">
                            <p:stCondLst>
                              <p:cond delay="0"/>
                            </p:stCondLst>
                            <p:childTnLst>
                              <p:par>
                                <p:cTn id="35" presetID="22" presetClass="entr" presetSubtype="8"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wipe(left)">
                                      <p:cBhvr additive="repl">
                                        <p:cTn id="37" dur="15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69"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How the </a:t>
            </a:r>
            <a:r>
              <a:rPr lang="en-US" sz="2800" b="1" i="1" u="none" strike="noStrike">
                <a:solidFill>
                  <a:srgbClr val="00468F"/>
                </a:solidFill>
                <a:effectLst/>
                <a:uFillTx/>
                <a:latin typeface="Arial"/>
                <a:ea typeface="ＭＳ Ｐゴシック"/>
              </a:rPr>
              <a:t>PPF</a:t>
            </a:r>
            <a:r>
              <a:rPr lang="en-US" sz="2800" b="1" u="none" strike="noStrike">
                <a:solidFill>
                  <a:srgbClr val="00468F"/>
                </a:solidFill>
                <a:effectLst/>
                <a:uFillTx/>
                <a:latin typeface="Arial"/>
                <a:ea typeface="ＭＳ Ｐゴシック"/>
              </a:rPr>
              <a:t> Illustrates </a:t>
            </a:r>
            <a:r>
              <a:rPr lang="en-CA" sz="2800" b="1" u="none" strike="noStrike">
                <a:solidFill>
                  <a:srgbClr val="00468F"/>
                </a:solidFill>
                <a:effectLst/>
                <a:uFillTx/>
                <a:latin typeface="Arial"/>
                <a:ea typeface="ＭＳ Ｐゴシック"/>
              </a:rPr>
              <a:t>Scarcity and Its Consequences</a:t>
            </a:r>
            <a:endParaRPr lang="en-CA" sz="2800" b="1" u="none" strike="noStrike">
              <a:solidFill>
                <a:srgbClr val="00468F"/>
              </a:solidFill>
              <a:effectLst/>
              <a:uFillTx/>
              <a:latin typeface="Arial"/>
            </a:endParaRPr>
          </a:p>
          <a:p>
            <a:pPr marL="36000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The </a:t>
            </a:r>
            <a:r>
              <a:rPr lang="en-US" sz="2400" b="0" i="1" u="none" strike="noStrike">
                <a:solidFill>
                  <a:schemeClr val="dk1"/>
                </a:solidFill>
                <a:effectLst/>
                <a:uFillTx/>
                <a:latin typeface="Arial"/>
                <a:ea typeface="ＭＳ Ｐゴシック"/>
              </a:rPr>
              <a:t>PPF </a:t>
            </a:r>
            <a:r>
              <a:rPr lang="en-US" sz="2400" b="0" u="none" strike="noStrike">
                <a:solidFill>
                  <a:schemeClr val="dk1"/>
                </a:solidFill>
                <a:effectLst/>
                <a:uFillTx/>
                <a:latin typeface="Arial"/>
                <a:ea typeface="ＭＳ Ｐゴシック"/>
              </a:rPr>
              <a:t>puts three distinctions in sharp focus: </a:t>
            </a:r>
            <a:endParaRPr lang="en-CA" sz="2400" b="1" u="none" strike="noStrike">
              <a:solidFill>
                <a:srgbClr val="00468F"/>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Attainable and unattainable combinations</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Efficient and inefficient production</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Tradeoffs and free lunches</a:t>
            </a:r>
            <a:endParaRPr lang="en-CA" sz="2400" b="0" u="none" strike="noStrike">
              <a:solidFill>
                <a:schemeClr val="dk1"/>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69">
                                            <p:txEl>
                                              <p:pRg st="1" end="1"/>
                                            </p:txEl>
                                          </p:spTgt>
                                        </p:tgtEl>
                                        <p:attrNameLst>
                                          <p:attrName>style.visibility</p:attrName>
                                        </p:attrNameLst>
                                      </p:cBhvr>
                                      <p:to>
                                        <p:strVal val="visible"/>
                                      </p:to>
                                    </p:set>
                                    <p:animEffect transition="in" filter="wipe(left)">
                                      <p:cBhvr additive="repl">
                                        <p:cTn id="7" dur="500"/>
                                        <p:tgtEl>
                                          <p:spTgt spid="69">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69">
                                            <p:txEl>
                                              <p:pRg st="2" end="2"/>
                                            </p:txEl>
                                          </p:spTgt>
                                        </p:tgtEl>
                                        <p:attrNameLst>
                                          <p:attrName>style.visibility</p:attrName>
                                        </p:attrNameLst>
                                      </p:cBhvr>
                                      <p:to>
                                        <p:strVal val="visible"/>
                                      </p:to>
                                    </p:set>
                                    <p:animEffect transition="in" filter="wipe(left)">
                                      <p:cBhvr additive="repl">
                                        <p:cTn id="12" dur="500"/>
                                        <p:tgtEl>
                                          <p:spTgt spid="69">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69">
                                            <p:txEl>
                                              <p:pRg st="3" end="3"/>
                                            </p:txEl>
                                          </p:spTgt>
                                        </p:tgtEl>
                                        <p:attrNameLst>
                                          <p:attrName>style.visibility</p:attrName>
                                        </p:attrNameLst>
                                      </p:cBhvr>
                                      <p:to>
                                        <p:strVal val="visible"/>
                                      </p:to>
                                    </p:set>
                                    <p:animEffect transition="in" filter="wipe(left)">
                                      <p:cBhvr additive="repl">
                                        <p:cTn id="17" dur="500"/>
                                        <p:tgtEl>
                                          <p:spTgt spid="69">
                                            <p:txEl>
                                              <p:pRg st="3" end="3"/>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69">
                                            <p:txEl>
                                              <p:pRg st="4" end="4"/>
                                            </p:txEl>
                                          </p:spTgt>
                                        </p:tgtEl>
                                        <p:attrNameLst>
                                          <p:attrName>style.visibility</p:attrName>
                                        </p:attrNameLst>
                                      </p:cBhvr>
                                      <p:to>
                                        <p:strVal val="visible"/>
                                      </p:to>
                                    </p:set>
                                    <p:animEffect transition="in" filter="wipe(left)">
                                      <p:cBhvr additive="repl">
                                        <p:cTn id="22" dur="500"/>
                                        <p:tgtEl>
                                          <p:spTgt spid="6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71"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00468F"/>
                </a:solidFill>
                <a:effectLst/>
                <a:uFillTx/>
                <a:latin typeface="Arial"/>
                <a:ea typeface="ＭＳ Ｐゴシック"/>
              </a:rPr>
              <a:t>Attainable and Unattainable Combinations</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Because the </a:t>
            </a:r>
            <a:r>
              <a:rPr lang="en-US" sz="2400" b="0" i="1" u="none" strike="noStrike">
                <a:solidFill>
                  <a:schemeClr val="dk1"/>
                </a:solidFill>
                <a:effectLst/>
                <a:uFillTx/>
                <a:latin typeface="Arial"/>
                <a:ea typeface="ＭＳ Ｐゴシック"/>
              </a:rPr>
              <a:t>PPF</a:t>
            </a:r>
            <a:r>
              <a:rPr lang="en-US" sz="2400" b="0" u="none" strike="noStrike">
                <a:solidFill>
                  <a:schemeClr val="dk1"/>
                </a:solidFill>
                <a:effectLst/>
                <a:uFillTx/>
                <a:latin typeface="Arial"/>
                <a:ea typeface="ＭＳ Ｐゴシック"/>
              </a:rPr>
              <a:t> shows the limits to production, it separates attainable combinations from unattainable ones.</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Figure 3.2  on the next slide illustrates the attainable and unattainable combinations.</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71">
                                            <p:txEl>
                                              <p:pRg st="1" end="1"/>
                                            </p:txEl>
                                          </p:spTgt>
                                        </p:tgtEl>
                                        <p:attrNameLst>
                                          <p:attrName>style.visibility</p:attrName>
                                        </p:attrNameLst>
                                      </p:cBhvr>
                                      <p:to>
                                        <p:strVal val="visible"/>
                                      </p:to>
                                    </p:set>
                                    <p:animEffect transition="in" filter="wipe(left)">
                                      <p:cBhvr additive="repl">
                                        <p:cTn id="7" dur="500"/>
                                        <p:tgtEl>
                                          <p:spTgt spid="71">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71">
                                            <p:txEl>
                                              <p:pRg st="2" end="2"/>
                                            </p:txEl>
                                          </p:spTgt>
                                        </p:tgtEl>
                                        <p:attrNameLst>
                                          <p:attrName>style.visibility</p:attrName>
                                        </p:attrNameLst>
                                      </p:cBhvr>
                                      <p:to>
                                        <p:strVal val="visible"/>
                                      </p:to>
                                    </p:set>
                                    <p:animEffect transition="in" filter="wipe(left)">
                                      <p:cBhvr additive="repl">
                                        <p:cTn id="12" dur="500"/>
                                        <p:tgtEl>
                                          <p:spTgt spid="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Text Box 8"/>
          <p:cNvSpPr/>
          <p:nvPr/>
        </p:nvSpPr>
        <p:spPr>
          <a:xfrm>
            <a:off x="212760" y="1677960"/>
            <a:ext cx="183960" cy="4568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nSpc>
                <a:spcPct val="100000"/>
              </a:lnSpc>
            </a:pPr>
            <a:endParaRPr lang="en-US" sz="2400" b="0" u="none" strike="noStrike">
              <a:solidFill>
                <a:schemeClr val="dk1"/>
              </a:solidFill>
              <a:effectLst/>
              <a:uFillTx/>
              <a:latin typeface="Arial"/>
              <a:ea typeface="ＭＳ Ｐゴシック"/>
            </a:endParaRPr>
          </a:p>
        </p:txBody>
      </p:sp>
      <p:sp>
        <p:nvSpPr>
          <p:cNvPr id="73"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74" name="PlaceHolder 2"/>
          <p:cNvSpPr>
            <a:spLocks noGrp="1"/>
          </p:cNvSpPr>
          <p:nvPr>
            <p:ph/>
          </p:nvPr>
        </p:nvSpPr>
        <p:spPr>
          <a:xfrm>
            <a:off x="360360" y="1440000"/>
            <a:ext cx="382536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We can produce at any point inside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or on the frontier.</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We cannot produce at any point outside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such as point </a:t>
            </a:r>
            <a:r>
              <a:rPr lang="en-US" sz="2400" b="0" i="1" u="none" strike="noStrike">
                <a:solidFill>
                  <a:srgbClr val="000000"/>
                </a:solidFill>
                <a:effectLst/>
                <a:uFillTx/>
                <a:latin typeface="Arial"/>
                <a:ea typeface="ＭＳ Ｐゴシック"/>
              </a:rPr>
              <a:t>G</a:t>
            </a:r>
            <a:r>
              <a:rPr lang="en-US" sz="2400" b="0" u="none" strike="noStrike">
                <a:solidFill>
                  <a:srgbClr val="000000"/>
                </a:solidFill>
                <a:effectLst/>
                <a:uFillTx/>
                <a:latin typeface="Arial"/>
                <a:ea typeface="ＭＳ Ｐゴシック"/>
              </a:rPr>
              <a:t>.</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separates attainable combinations from unattainable combinations.</a:t>
            </a:r>
            <a:endParaRPr lang="en-CA" sz="2400" b="1" u="none" strike="noStrike">
              <a:solidFill>
                <a:srgbClr val="00468F"/>
              </a:solidFill>
              <a:effectLst/>
              <a:uFillTx/>
              <a:latin typeface="Arial"/>
            </a:endParaRPr>
          </a:p>
        </p:txBody>
      </p:sp>
      <p:pic>
        <p:nvPicPr>
          <p:cNvPr id="75" name="Picture 9"/>
          <p:cNvPicPr/>
          <p:nvPr/>
        </p:nvPicPr>
        <p:blipFill>
          <a:blip r:embed="rId3"/>
          <a:stretch/>
        </p:blipFill>
        <p:spPr>
          <a:xfrm>
            <a:off x="4176720" y="1368360"/>
            <a:ext cx="4479480" cy="4814640"/>
          </a:xfrm>
          <a:prstGeom prst="rect">
            <a:avLst/>
          </a:prstGeom>
          <a:noFill/>
          <a:ln w="0">
            <a:noFill/>
          </a:ln>
        </p:spPr>
      </p:pic>
      <p:pic>
        <p:nvPicPr>
          <p:cNvPr id="76" name="Picture 10"/>
          <p:cNvPicPr/>
          <p:nvPr/>
        </p:nvPicPr>
        <p:blipFill>
          <a:blip r:embed="rId4"/>
          <a:stretch/>
        </p:blipFill>
        <p:spPr>
          <a:xfrm>
            <a:off x="4176720" y="1368360"/>
            <a:ext cx="4479480" cy="4814640"/>
          </a:xfrm>
          <a:prstGeom prst="rect">
            <a:avLst/>
          </a:prstGeom>
          <a:noFill/>
          <a:ln w="0">
            <a:noFill/>
          </a:ln>
        </p:spPr>
      </p:pic>
      <p:pic>
        <p:nvPicPr>
          <p:cNvPr id="77" name="Picture 11"/>
          <p:cNvPicPr/>
          <p:nvPr/>
        </p:nvPicPr>
        <p:blipFill>
          <a:blip r:embed="rId5"/>
          <a:stretch/>
        </p:blipFill>
        <p:spPr>
          <a:xfrm>
            <a:off x="4176720" y="1368360"/>
            <a:ext cx="4479480" cy="4814640"/>
          </a:xfrm>
          <a:prstGeom prst="rect">
            <a:avLst/>
          </a:prstGeom>
          <a:noFill/>
          <a:ln w="0">
            <a:noFill/>
          </a:ln>
        </p:spPr>
      </p:pic>
      <p:pic>
        <p:nvPicPr>
          <p:cNvPr id="78" name="Picture 12"/>
          <p:cNvPicPr/>
          <p:nvPr/>
        </p:nvPicPr>
        <p:blipFill>
          <a:blip r:embed="rId6"/>
          <a:stretch/>
        </p:blipFill>
        <p:spPr>
          <a:xfrm>
            <a:off x="4176720" y="1368360"/>
            <a:ext cx="4479480" cy="4814640"/>
          </a:xfrm>
          <a:prstGeom prst="rect">
            <a:avLst/>
          </a:prstGeom>
          <a:noFill/>
          <a:ln w="0">
            <a:noFill/>
          </a:ln>
        </p:spPr>
      </p:pic>
      <p:pic>
        <p:nvPicPr>
          <p:cNvPr id="79" name="Picture 13"/>
          <p:cNvPicPr/>
          <p:nvPr/>
        </p:nvPicPr>
        <p:blipFill>
          <a:blip r:embed="rId7"/>
          <a:stretch/>
        </p:blipFill>
        <p:spPr>
          <a:xfrm>
            <a:off x="417672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76"/>
                                        </p:tgtEl>
                                        <p:attrNameLst>
                                          <p:attrName>style.visibility</p:attrName>
                                        </p:attrNameLst>
                                      </p:cBhvr>
                                      <p:to>
                                        <p:strVal val="visible"/>
                                      </p:to>
                                    </p:set>
                                    <p:animEffect transition="in" filter="fade">
                                      <p:cBhvr additive="repl">
                                        <p:cTn id="7" dur="500"/>
                                        <p:tgtEl>
                                          <p:spTgt spid="76"/>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74">
                                            <p:txEl>
                                              <p:pRg st="1" end="1"/>
                                            </p:txEl>
                                          </p:spTgt>
                                        </p:tgtEl>
                                        <p:attrNameLst>
                                          <p:attrName>style.visibility</p:attrName>
                                        </p:attrNameLst>
                                      </p:cBhvr>
                                      <p:to>
                                        <p:strVal val="visible"/>
                                      </p:to>
                                    </p:set>
                                    <p:animEffect transition="in" filter="wipe(left)">
                                      <p:cBhvr additive="repl">
                                        <p:cTn id="12" dur="500"/>
                                        <p:tgtEl>
                                          <p:spTgt spid="74">
                                            <p:txEl>
                                              <p:pRg st="1" end="1"/>
                                            </p:txEl>
                                          </p:spTgt>
                                        </p:tgtEl>
                                      </p:cBhvr>
                                    </p:animEffect>
                                  </p:childTnLst>
                                </p:cTn>
                              </p:par>
                              <p:par>
                                <p:cTn id="13" presetID="10" presetClass="entr" fill="hold" nodeType="withEffect">
                                  <p:stCondLst>
                                    <p:cond delay="0"/>
                                  </p:stCondLst>
                                  <p:childTnLst>
                                    <p:set>
                                      <p:cBhvr>
                                        <p:cTn id="14" dur="1" fill="hold">
                                          <p:stCondLst>
                                            <p:cond delay="0"/>
                                          </p:stCondLst>
                                        </p:cTn>
                                        <p:tgtEl>
                                          <p:spTgt spid="77"/>
                                        </p:tgtEl>
                                        <p:attrNameLst>
                                          <p:attrName>style.visibility</p:attrName>
                                        </p:attrNameLst>
                                      </p:cBhvr>
                                      <p:to>
                                        <p:strVal val="visible"/>
                                      </p:to>
                                    </p:set>
                                    <p:animEffect transition="in" filter="fade">
                                      <p:cBhvr additive="repl">
                                        <p:cTn id="15" dur="500"/>
                                        <p:tgtEl>
                                          <p:spTgt spid="77"/>
                                        </p:tgtEl>
                                      </p:cBhvr>
                                    </p:animEffect>
                                  </p:childTnLst>
                                </p:cTn>
                              </p:par>
                            </p:childTnLst>
                          </p:cTn>
                        </p:par>
                      </p:childTnLst>
                    </p:cTn>
                  </p:par>
                  <p:par>
                    <p:cTn id="16" fill="hold" nodeType="clickEffect">
                      <p:stCondLst>
                        <p:cond delay="indefinite"/>
                      </p:stCondLst>
                      <p:childTnLst>
                        <p:par>
                          <p:cTn id="17" fill="hold" nodeType="withEffect">
                            <p:stCondLst>
                              <p:cond delay="0"/>
                            </p:stCondLst>
                            <p:childTnLst>
                              <p:par>
                                <p:cTn id="18" presetID="22" presetClass="entr" presetSubtype="8" fill="hold" nodeType="clickEffect">
                                  <p:stCondLst>
                                    <p:cond delay="0"/>
                                  </p:stCondLst>
                                  <p:childTnLst>
                                    <p:set>
                                      <p:cBhvr>
                                        <p:cTn id="19" dur="1" fill="hold">
                                          <p:stCondLst>
                                            <p:cond delay="0"/>
                                          </p:stCondLst>
                                        </p:cTn>
                                        <p:tgtEl>
                                          <p:spTgt spid="74">
                                            <p:txEl>
                                              <p:pRg st="2" end="2"/>
                                            </p:txEl>
                                          </p:spTgt>
                                        </p:tgtEl>
                                        <p:attrNameLst>
                                          <p:attrName>style.visibility</p:attrName>
                                        </p:attrNameLst>
                                      </p:cBhvr>
                                      <p:to>
                                        <p:strVal val="visible"/>
                                      </p:to>
                                    </p:set>
                                    <p:animEffect transition="in" filter="wipe(left)">
                                      <p:cBhvr additive="repl">
                                        <p:cTn id="20" dur="500"/>
                                        <p:tgtEl>
                                          <p:spTgt spid="74">
                                            <p:txEl>
                                              <p:pRg st="2" end="2"/>
                                            </p:txEl>
                                          </p:spTgt>
                                        </p:tgtEl>
                                      </p:cBhvr>
                                    </p:animEffect>
                                  </p:childTnLst>
                                </p:cTn>
                              </p:par>
                              <p:par>
                                <p:cTn id="21" presetID="10" presetClass="entr" fill="hold" nodeType="withEffect">
                                  <p:stCondLst>
                                    <p:cond delay="0"/>
                                  </p:stCondLst>
                                  <p:childTnLst>
                                    <p:set>
                                      <p:cBhvr>
                                        <p:cTn id="22" dur="1" fill="hold">
                                          <p:stCondLst>
                                            <p:cond delay="0"/>
                                          </p:stCondLst>
                                        </p:cTn>
                                        <p:tgtEl>
                                          <p:spTgt spid="78"/>
                                        </p:tgtEl>
                                        <p:attrNameLst>
                                          <p:attrName>style.visibility</p:attrName>
                                        </p:attrNameLst>
                                      </p:cBhvr>
                                      <p:to>
                                        <p:strVal val="visible"/>
                                      </p:to>
                                    </p:set>
                                    <p:animEffect transition="in" filter="fade">
                                      <p:cBhvr additive="repl">
                                        <p:cTn id="23" dur="500"/>
                                        <p:tgtEl>
                                          <p:spTgt spid="78"/>
                                        </p:tgtEl>
                                      </p:cBhvr>
                                    </p:animEffect>
                                  </p:childTnLst>
                                </p:cTn>
                              </p:par>
                              <p:par>
                                <p:cTn id="24" presetID="10" presetClass="entr" fill="hold" nodeType="withEffect">
                                  <p:stCondLst>
                                    <p:cond delay="800"/>
                                  </p:stCondLst>
                                  <p:childTnLst>
                                    <p:set>
                                      <p:cBhvr>
                                        <p:cTn id="25" dur="1" fill="hold">
                                          <p:stCondLst>
                                            <p:cond delay="0"/>
                                          </p:stCondLst>
                                        </p:cTn>
                                        <p:tgtEl>
                                          <p:spTgt spid="79"/>
                                        </p:tgtEl>
                                        <p:attrNameLst>
                                          <p:attrName>style.visibility</p:attrName>
                                        </p:attrNameLst>
                                      </p:cBhvr>
                                      <p:to>
                                        <p:strVal val="visible"/>
                                      </p:to>
                                    </p:set>
                                    <p:animEffect transition="in" filter="fade">
                                      <p:cBhvr additive="repl">
                                        <p:cTn id="26" dur="50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6"/>
          <p:cNvPicPr/>
          <p:nvPr/>
        </p:nvPicPr>
        <p:blipFill>
          <a:blip r:embed="rId3"/>
          <a:stretch/>
        </p:blipFill>
        <p:spPr>
          <a:xfrm>
            <a:off x="1619280" y="360360"/>
            <a:ext cx="5600520" cy="6019560"/>
          </a:xfrm>
          <a:prstGeom prst="rect">
            <a:avLst/>
          </a:prstGeom>
          <a:noFill/>
          <a:ln w="0">
            <a:noFill/>
          </a:ln>
        </p:spPr>
      </p:pic>
      <p:pic>
        <p:nvPicPr>
          <p:cNvPr id="81" name="Picture 7"/>
          <p:cNvPicPr/>
          <p:nvPr/>
        </p:nvPicPr>
        <p:blipFill>
          <a:blip r:embed="rId4"/>
          <a:stretch/>
        </p:blipFill>
        <p:spPr>
          <a:xfrm>
            <a:off x="1619280" y="360360"/>
            <a:ext cx="5600520" cy="6019560"/>
          </a:xfrm>
          <a:prstGeom prst="rect">
            <a:avLst/>
          </a:prstGeom>
          <a:noFill/>
          <a:ln w="0">
            <a:noFill/>
          </a:ln>
        </p:spPr>
      </p:pic>
      <p:pic>
        <p:nvPicPr>
          <p:cNvPr id="82" name="Picture 8"/>
          <p:cNvPicPr/>
          <p:nvPr/>
        </p:nvPicPr>
        <p:blipFill>
          <a:blip r:embed="rId5"/>
          <a:stretch/>
        </p:blipFill>
        <p:spPr>
          <a:xfrm>
            <a:off x="1619280" y="360360"/>
            <a:ext cx="5600520" cy="6019560"/>
          </a:xfrm>
          <a:prstGeom prst="rect">
            <a:avLst/>
          </a:prstGeom>
          <a:noFill/>
          <a:ln w="0">
            <a:noFill/>
          </a:ln>
        </p:spPr>
      </p:pic>
      <p:pic>
        <p:nvPicPr>
          <p:cNvPr id="83" name="Picture 9"/>
          <p:cNvPicPr/>
          <p:nvPr/>
        </p:nvPicPr>
        <p:blipFill>
          <a:blip r:embed="rId6"/>
          <a:stretch/>
        </p:blipFill>
        <p:spPr>
          <a:xfrm>
            <a:off x="1619280" y="360360"/>
            <a:ext cx="5600520" cy="6019560"/>
          </a:xfrm>
          <a:prstGeom prst="rect">
            <a:avLst/>
          </a:prstGeom>
          <a:noFill/>
          <a:ln w="0">
            <a:noFill/>
          </a:ln>
        </p:spPr>
      </p:pic>
      <p:pic>
        <p:nvPicPr>
          <p:cNvPr id="84" name="Picture 10"/>
          <p:cNvPicPr/>
          <p:nvPr/>
        </p:nvPicPr>
        <p:blipFill>
          <a:blip r:embed="rId7"/>
          <a:stretch/>
        </p:blipFill>
        <p:spPr>
          <a:xfrm>
            <a:off x="1619280" y="360360"/>
            <a:ext cx="5600520" cy="60195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0" presetClass="entr"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additive="repl">
                                        <p:cTn id="7" dur="500"/>
                                        <p:tgtEl>
                                          <p:spTgt spid="81"/>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82"/>
                                        </p:tgtEl>
                                        <p:attrNameLst>
                                          <p:attrName>style.visibility</p:attrName>
                                        </p:attrNameLst>
                                      </p:cBhvr>
                                      <p:to>
                                        <p:strVal val="visible"/>
                                      </p:to>
                                    </p:set>
                                    <p:animEffect transition="in" filter="fade">
                                      <p:cBhvr additive="repl">
                                        <p:cTn id="12" dur="500"/>
                                        <p:tgtEl>
                                          <p:spTgt spid="82"/>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10" presetClass="entr" fill="hold" nodeType="clickEffect">
                                  <p:stCondLst>
                                    <p:cond delay="0"/>
                                  </p:stCondLst>
                                  <p:childTnLst>
                                    <p:set>
                                      <p:cBhvr>
                                        <p:cTn id="16" dur="1" fill="hold">
                                          <p:stCondLst>
                                            <p:cond delay="0"/>
                                          </p:stCondLst>
                                        </p:cTn>
                                        <p:tgtEl>
                                          <p:spTgt spid="83"/>
                                        </p:tgtEl>
                                        <p:attrNameLst>
                                          <p:attrName>style.visibility</p:attrName>
                                        </p:attrNameLst>
                                      </p:cBhvr>
                                      <p:to>
                                        <p:strVal val="visible"/>
                                      </p:to>
                                    </p:set>
                                    <p:animEffect transition="in" filter="fade">
                                      <p:cBhvr additive="repl">
                                        <p:cTn id="17" dur="500"/>
                                        <p:tgtEl>
                                          <p:spTgt spid="83"/>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fade">
                                      <p:cBhvr additive="repl">
                                        <p:cTn id="22"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86"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00468F"/>
                </a:solidFill>
                <a:effectLst/>
                <a:uFillTx/>
                <a:latin typeface="Arial"/>
                <a:ea typeface="ＭＳ Ｐゴシック"/>
              </a:rPr>
              <a:t>Efficient and Inefficient Production</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1" u="none" strike="noStrike">
                <a:solidFill>
                  <a:srgbClr val="E50030"/>
                </a:solidFill>
                <a:effectLst/>
                <a:uFillTx/>
                <a:latin typeface="Arial"/>
                <a:ea typeface="ＭＳ Ｐゴシック"/>
              </a:rPr>
              <a:t>Production efficiency </a:t>
            </a:r>
            <a:r>
              <a:rPr lang="en-US" sz="2400" b="0" u="none" strike="noStrike">
                <a:solidFill>
                  <a:schemeClr val="dk1"/>
                </a:solidFill>
                <a:effectLst/>
                <a:uFillTx/>
                <a:latin typeface="Arial"/>
                <a:ea typeface="ＭＳ Ｐゴシック"/>
              </a:rPr>
              <a:t>is a situation in which we cannot produce more of one good or service without producing less of something else.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Figure 3.3 on the next slide illustrates the distinction between efficient and inefficient production.</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86">
                                            <p:txEl>
                                              <p:pRg st="1" end="1"/>
                                            </p:txEl>
                                          </p:spTgt>
                                        </p:tgtEl>
                                        <p:attrNameLst>
                                          <p:attrName>style.visibility</p:attrName>
                                        </p:attrNameLst>
                                      </p:cBhvr>
                                      <p:to>
                                        <p:strVal val="visible"/>
                                      </p:to>
                                    </p:set>
                                    <p:animEffect transition="in" filter="wipe(left)">
                                      <p:cBhvr additive="repl">
                                        <p:cTn id="7" dur="500"/>
                                        <p:tgtEl>
                                          <p:spTgt spid="86">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86">
                                            <p:txEl>
                                              <p:pRg st="2" end="2"/>
                                            </p:txEl>
                                          </p:spTgt>
                                        </p:tgtEl>
                                        <p:attrNameLst>
                                          <p:attrName>style.visibility</p:attrName>
                                        </p:attrNameLst>
                                      </p:cBhvr>
                                      <p:to>
                                        <p:strVal val="visible"/>
                                      </p:to>
                                    </p:set>
                                    <p:animEffect transition="in" filter="wipe(left)">
                                      <p:cBhvr additive="repl">
                                        <p:cTn id="12" dur="500"/>
                                        <p:tgtEl>
                                          <p:spTgt spid="8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88" name="PlaceHolder 2"/>
          <p:cNvSpPr>
            <a:spLocks noGrp="1"/>
          </p:cNvSpPr>
          <p:nvPr>
            <p:ph/>
          </p:nvPr>
        </p:nvSpPr>
        <p:spPr>
          <a:xfrm>
            <a:off x="360360" y="1440000"/>
            <a:ext cx="3830400" cy="511308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a:pPr>
            <a:r>
              <a:rPr lang="en-US" sz="2400" b="0" u="none" strike="noStrike">
                <a:solidFill>
                  <a:srgbClr val="000000"/>
                </a:solidFill>
                <a:effectLst/>
                <a:uFillTx/>
                <a:latin typeface="Arial"/>
                <a:ea typeface="ＭＳ Ｐゴシック"/>
              </a:rPr>
              <a:t>When production is </a:t>
            </a:r>
            <a:r>
              <a:rPr lang="en-US" sz="2400" b="0" i="1" u="none" strike="noStrike">
                <a:solidFill>
                  <a:srgbClr val="000000"/>
                </a:solidFill>
                <a:effectLst/>
                <a:uFillTx/>
                <a:latin typeface="Arial"/>
                <a:ea typeface="ＭＳ Ｐゴシック"/>
              </a:rPr>
              <a:t>on</a:t>
            </a:r>
            <a:r>
              <a:rPr lang="en-US" sz="2400" b="0" u="none" strike="noStrike">
                <a:solidFill>
                  <a:srgbClr val="000000"/>
                </a:solidFill>
                <a:effectLst/>
                <a:uFillTx/>
                <a:latin typeface="Arial"/>
                <a:ea typeface="ＭＳ Ｐゴシック"/>
              </a:rPr>
              <a:t>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such as at point </a:t>
            </a:r>
            <a:r>
              <a:rPr lang="en-US" sz="2400" b="0" i="1" u="none" strike="noStrike">
                <a:solidFill>
                  <a:srgbClr val="000000"/>
                </a:solidFill>
                <a:effectLst/>
                <a:uFillTx/>
                <a:latin typeface="Arial"/>
                <a:ea typeface="ＭＳ Ｐゴシック"/>
              </a:rPr>
              <a:t>E</a:t>
            </a:r>
            <a:r>
              <a:rPr lang="en-US" sz="2400" b="0" u="none" strike="noStrike">
                <a:solidFill>
                  <a:srgbClr val="000000"/>
                </a:solidFill>
                <a:effectLst/>
                <a:uFillTx/>
                <a:latin typeface="Arial"/>
                <a:ea typeface="ＭＳ Ｐゴシック"/>
              </a:rPr>
              <a:t> or </a:t>
            </a:r>
            <a:r>
              <a:rPr lang="en-US" sz="2400" b="0" i="1" u="none" strike="noStrike">
                <a:solidFill>
                  <a:srgbClr val="000000"/>
                </a:solidFill>
                <a:effectLst/>
                <a:uFillTx/>
                <a:latin typeface="Arial"/>
                <a:ea typeface="ＭＳ Ｐゴシック"/>
              </a:rPr>
              <a:t>D</a:t>
            </a:r>
            <a:r>
              <a:rPr lang="en-US" sz="2400" b="0" u="none" strike="noStrike">
                <a:solidFill>
                  <a:srgbClr val="000000"/>
                </a:solidFill>
                <a:effectLst/>
                <a:uFillTx/>
                <a:latin typeface="Arial"/>
                <a:ea typeface="ＭＳ Ｐゴシック"/>
              </a:rPr>
              <a:t>, production is efficient.</a:t>
            </a:r>
            <a:endParaRPr lang="en-CA" sz="2400" b="1" u="none" strike="noStrik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lang="en-US" sz="2400" b="0" u="none" strike="noStrike">
                <a:solidFill>
                  <a:srgbClr val="000000"/>
                </a:solidFill>
                <a:effectLst/>
                <a:uFillTx/>
                <a:latin typeface="Arial"/>
                <a:ea typeface="ＭＳ Ｐゴシック"/>
              </a:rPr>
              <a:t>If production were </a:t>
            </a:r>
            <a:r>
              <a:rPr lang="en-US" sz="2400" b="0" i="1" u="none" strike="noStrike">
                <a:solidFill>
                  <a:srgbClr val="000000"/>
                </a:solidFill>
                <a:effectLst/>
                <a:uFillTx/>
                <a:latin typeface="Arial"/>
                <a:ea typeface="ＭＳ Ｐゴシック"/>
              </a:rPr>
              <a:t>inside</a:t>
            </a:r>
            <a:r>
              <a:rPr lang="en-US" sz="2400" b="0" u="none" strike="noStrike">
                <a:solidFill>
                  <a:srgbClr val="000000"/>
                </a:solidFill>
                <a:effectLst/>
                <a:uFillTx/>
                <a:latin typeface="Arial"/>
                <a:ea typeface="ＭＳ Ｐゴシック"/>
              </a:rPr>
              <a:t>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such as at point </a:t>
            </a:r>
            <a:r>
              <a:rPr lang="en-US" sz="2400" b="0" i="1" u="none" strike="noStrike">
                <a:solidFill>
                  <a:srgbClr val="000000"/>
                </a:solidFill>
                <a:effectLst/>
                <a:uFillTx/>
                <a:latin typeface="Arial"/>
                <a:ea typeface="ＭＳ Ｐゴシック"/>
              </a:rPr>
              <a:t>H, </a:t>
            </a:r>
            <a:r>
              <a:rPr lang="en-US" sz="2400" b="0" u="none" strike="noStrike">
                <a:solidFill>
                  <a:srgbClr val="000000"/>
                </a:solidFill>
                <a:effectLst/>
                <a:uFillTx/>
                <a:latin typeface="Arial"/>
                <a:ea typeface="ＭＳ Ｐゴシック"/>
              </a:rPr>
              <a:t>more goods could be produced without forgoing either good.</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Production inside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is inefficient. </a:t>
            </a:r>
            <a:endParaRPr lang="en-CA" sz="2400" b="1" u="none" strike="noStrike">
              <a:solidFill>
                <a:srgbClr val="00468F"/>
              </a:solidFill>
              <a:effectLst/>
              <a:uFillTx/>
              <a:latin typeface="Arial"/>
            </a:endParaRPr>
          </a:p>
        </p:txBody>
      </p:sp>
      <p:pic>
        <p:nvPicPr>
          <p:cNvPr id="89" name="Picture 6"/>
          <p:cNvPicPr/>
          <p:nvPr/>
        </p:nvPicPr>
        <p:blipFill>
          <a:blip r:embed="rId3"/>
          <a:stretch/>
        </p:blipFill>
        <p:spPr>
          <a:xfrm>
            <a:off x="4176720" y="1368360"/>
            <a:ext cx="4479480" cy="4814640"/>
          </a:xfrm>
          <a:prstGeom prst="rect">
            <a:avLst/>
          </a:prstGeom>
          <a:noFill/>
          <a:ln w="0">
            <a:noFill/>
          </a:ln>
        </p:spPr>
      </p:pic>
      <p:pic>
        <p:nvPicPr>
          <p:cNvPr id="90" name="Picture 7"/>
          <p:cNvPicPr/>
          <p:nvPr/>
        </p:nvPicPr>
        <p:blipFill>
          <a:blip r:embed="rId4"/>
          <a:stretch/>
        </p:blipFill>
        <p:spPr>
          <a:xfrm>
            <a:off x="4176720" y="1368360"/>
            <a:ext cx="4479480" cy="4814640"/>
          </a:xfrm>
          <a:prstGeom prst="rect">
            <a:avLst/>
          </a:prstGeom>
          <a:noFill/>
          <a:ln w="0">
            <a:noFill/>
          </a:ln>
        </p:spPr>
      </p:pic>
      <p:pic>
        <p:nvPicPr>
          <p:cNvPr id="91" name="Picture 8"/>
          <p:cNvPicPr/>
          <p:nvPr/>
        </p:nvPicPr>
        <p:blipFill>
          <a:blip r:embed="rId5"/>
          <a:stretch/>
        </p:blipFill>
        <p:spPr>
          <a:xfrm>
            <a:off x="417672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88">
                                            <p:txEl>
                                              <p:pRg st="1" end="1"/>
                                            </p:txEl>
                                          </p:spTgt>
                                        </p:tgtEl>
                                        <p:attrNameLst>
                                          <p:attrName>style.visibility</p:attrName>
                                        </p:attrNameLst>
                                      </p:cBhvr>
                                      <p:to>
                                        <p:strVal val="visible"/>
                                      </p:to>
                                    </p:set>
                                    <p:animEffect transition="in" filter="wipe(left)">
                                      <p:cBhvr additive="repl">
                                        <p:cTn id="7" dur="500"/>
                                        <p:tgtEl>
                                          <p:spTgt spid="88">
                                            <p:txEl>
                                              <p:pRg st="1" end="1"/>
                                            </p:txEl>
                                          </p:spTgt>
                                        </p:tgtEl>
                                      </p:cBhvr>
                                    </p:animEffect>
                                  </p:childTnLst>
                                </p:cTn>
                              </p:par>
                              <p:par>
                                <p:cTn id="8" presetID="10" presetClass="entr" fill="hold" nodeType="withEffect">
                                  <p:stCondLst>
                                    <p:cond delay="0"/>
                                  </p:stCondLst>
                                  <p:childTnLst>
                                    <p:set>
                                      <p:cBhvr>
                                        <p:cTn id="9" dur="1" fill="hold">
                                          <p:stCondLst>
                                            <p:cond delay="0"/>
                                          </p:stCondLst>
                                        </p:cTn>
                                        <p:tgtEl>
                                          <p:spTgt spid="90"/>
                                        </p:tgtEl>
                                        <p:attrNameLst>
                                          <p:attrName>style.visibility</p:attrName>
                                        </p:attrNameLst>
                                      </p:cBhvr>
                                      <p:to>
                                        <p:strVal val="visible"/>
                                      </p:to>
                                    </p:set>
                                    <p:animEffect transition="in" filter="fade">
                                      <p:cBhvr additive="repl">
                                        <p:cTn id="10" dur="500"/>
                                        <p:tgtEl>
                                          <p:spTgt spid="90"/>
                                        </p:tgtEl>
                                      </p:cBhvr>
                                    </p:animEffec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22" presetClass="entr" presetSubtype="8" fill="hold" nodeType="clickEffect">
                                  <p:stCondLst>
                                    <p:cond delay="0"/>
                                  </p:stCondLst>
                                  <p:childTnLst>
                                    <p:set>
                                      <p:cBhvr>
                                        <p:cTn id="14" dur="1" fill="hold">
                                          <p:stCondLst>
                                            <p:cond delay="0"/>
                                          </p:stCondLst>
                                        </p:cTn>
                                        <p:tgtEl>
                                          <p:spTgt spid="88">
                                            <p:txEl>
                                              <p:pRg st="2" end="2"/>
                                            </p:txEl>
                                          </p:spTgt>
                                        </p:tgtEl>
                                        <p:attrNameLst>
                                          <p:attrName>style.visibility</p:attrName>
                                        </p:attrNameLst>
                                      </p:cBhvr>
                                      <p:to>
                                        <p:strVal val="visible"/>
                                      </p:to>
                                    </p:set>
                                    <p:animEffect transition="in" filter="wipe(left)">
                                      <p:cBhvr additive="repl">
                                        <p:cTn id="15" dur="500"/>
                                        <p:tgtEl>
                                          <p:spTgt spid="88">
                                            <p:txEl>
                                              <p:pRg st="2" end="2"/>
                                            </p:txEl>
                                          </p:spTgt>
                                        </p:tgtEl>
                                      </p:cBhvr>
                                    </p:animEffect>
                                  </p:childTnLst>
                                </p:cTn>
                              </p:par>
                              <p:par>
                                <p:cTn id="16" presetID="10" presetClass="entr" fill="hold" nodeType="withEffect">
                                  <p:stCondLst>
                                    <p:cond delay="0"/>
                                  </p:stCondLst>
                                  <p:childTnLst>
                                    <p:set>
                                      <p:cBhvr>
                                        <p:cTn id="17" dur="1" fill="hold">
                                          <p:stCondLst>
                                            <p:cond delay="0"/>
                                          </p:stCondLst>
                                        </p:cTn>
                                        <p:tgtEl>
                                          <p:spTgt spid="91"/>
                                        </p:tgtEl>
                                        <p:attrNameLst>
                                          <p:attrName>style.visibility</p:attrName>
                                        </p:attrNameLst>
                                      </p:cBhvr>
                                      <p:to>
                                        <p:strVal val="visible"/>
                                      </p:to>
                                    </p:set>
                                    <p:animEffect transition="in" filter="fade">
                                      <p:cBhvr additive="repl">
                                        <p:cTn id="18" dur="5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 name="Picture 6"/>
          <p:cNvPicPr/>
          <p:nvPr/>
        </p:nvPicPr>
        <p:blipFill>
          <a:blip r:embed="rId3"/>
          <a:stretch/>
        </p:blipFill>
        <p:spPr>
          <a:xfrm>
            <a:off x="1619280" y="360360"/>
            <a:ext cx="5600520" cy="6019560"/>
          </a:xfrm>
          <a:prstGeom prst="rect">
            <a:avLst/>
          </a:prstGeom>
          <a:noFill/>
          <a:ln w="0">
            <a:noFill/>
          </a:ln>
        </p:spPr>
      </p:pic>
      <p:pic>
        <p:nvPicPr>
          <p:cNvPr id="93" name="Picture 7"/>
          <p:cNvPicPr/>
          <p:nvPr/>
        </p:nvPicPr>
        <p:blipFill>
          <a:blip r:embed="rId4"/>
          <a:stretch/>
        </p:blipFill>
        <p:spPr>
          <a:xfrm>
            <a:off x="1619280" y="360360"/>
            <a:ext cx="5600520" cy="6019560"/>
          </a:xfrm>
          <a:prstGeom prst="rect">
            <a:avLst/>
          </a:prstGeom>
          <a:noFill/>
          <a:ln w="0">
            <a:noFill/>
          </a:ln>
        </p:spPr>
      </p:pic>
      <p:pic>
        <p:nvPicPr>
          <p:cNvPr id="94" name="Picture 12"/>
          <p:cNvPicPr/>
          <p:nvPr/>
        </p:nvPicPr>
        <p:blipFill>
          <a:blip r:embed="rId5"/>
          <a:stretch/>
        </p:blipFill>
        <p:spPr>
          <a:xfrm>
            <a:off x="1619280" y="360360"/>
            <a:ext cx="5600520" cy="6019560"/>
          </a:xfrm>
          <a:prstGeom prst="rect">
            <a:avLst/>
          </a:prstGeom>
          <a:noFill/>
          <a:ln w="0">
            <a:noFill/>
          </a:ln>
        </p:spPr>
      </p:pic>
      <p:pic>
        <p:nvPicPr>
          <p:cNvPr id="95" name="Picture 13"/>
          <p:cNvPicPr/>
          <p:nvPr/>
        </p:nvPicPr>
        <p:blipFill>
          <a:blip r:embed="rId6"/>
          <a:stretch/>
        </p:blipFill>
        <p:spPr>
          <a:xfrm>
            <a:off x="1619280" y="360360"/>
            <a:ext cx="5600520" cy="6019560"/>
          </a:xfrm>
          <a:prstGeom prst="rect">
            <a:avLst/>
          </a:prstGeom>
          <a:noFill/>
          <a:ln w="0">
            <a:noFill/>
          </a:ln>
        </p:spPr>
      </p:pic>
      <p:pic>
        <p:nvPicPr>
          <p:cNvPr id="96" name="Picture 14"/>
          <p:cNvPicPr/>
          <p:nvPr/>
        </p:nvPicPr>
        <p:blipFill>
          <a:blip r:embed="rId7"/>
          <a:stretch/>
        </p:blipFill>
        <p:spPr>
          <a:xfrm>
            <a:off x="1619280" y="360360"/>
            <a:ext cx="5600520" cy="60195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0" presetClass="entr" fill="hold" nodeType="clickEffect">
                                  <p:stCondLst>
                                    <p:cond delay="0"/>
                                  </p:stCondLst>
                                  <p:childTnLst>
                                    <p:set>
                                      <p:cBhvr>
                                        <p:cTn id="6" dur="1" fill="hold">
                                          <p:stCondLst>
                                            <p:cond delay="0"/>
                                          </p:stCondLst>
                                        </p:cTn>
                                        <p:tgtEl>
                                          <p:spTgt spid="93"/>
                                        </p:tgtEl>
                                        <p:attrNameLst>
                                          <p:attrName>style.visibility</p:attrName>
                                        </p:attrNameLst>
                                      </p:cBhvr>
                                      <p:to>
                                        <p:strVal val="visible"/>
                                      </p:to>
                                    </p:set>
                                    <p:animEffect transition="in" filter="fade">
                                      <p:cBhvr additive="repl">
                                        <p:cTn id="7" dur="500"/>
                                        <p:tgtEl>
                                          <p:spTgt spid="93"/>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94"/>
                                        </p:tgtEl>
                                        <p:attrNameLst>
                                          <p:attrName>style.visibility</p:attrName>
                                        </p:attrNameLst>
                                      </p:cBhvr>
                                      <p:to>
                                        <p:strVal val="visible"/>
                                      </p:to>
                                    </p:set>
                                    <p:animEffect transition="in" filter="fade">
                                      <p:cBhvr additive="repl">
                                        <p:cTn id="12" dur="500"/>
                                        <p:tgtEl>
                                          <p:spTgt spid="94"/>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4" fill="hold" nodeType="clickEffect">
                                  <p:stCondLst>
                                    <p:cond delay="0"/>
                                  </p:stCondLst>
                                  <p:childTnLst>
                                    <p:set>
                                      <p:cBhvr>
                                        <p:cTn id="16" dur="1" fill="hold">
                                          <p:stCondLst>
                                            <p:cond delay="0"/>
                                          </p:stCondLst>
                                        </p:cTn>
                                        <p:tgtEl>
                                          <p:spTgt spid="95"/>
                                        </p:tgtEl>
                                        <p:attrNameLst>
                                          <p:attrName>style.visibility</p:attrName>
                                        </p:attrNameLst>
                                      </p:cBhvr>
                                      <p:to>
                                        <p:strVal val="visible"/>
                                      </p:to>
                                    </p:set>
                                    <p:animEffect transition="in" filter="wipe(down)">
                                      <p:cBhvr additive="repl">
                                        <p:cTn id="17" dur="750"/>
                                        <p:tgtEl>
                                          <p:spTgt spid="95"/>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4" fill="hold" nodeType="clickEffect">
                                  <p:stCondLst>
                                    <p:cond delay="0"/>
                                  </p:stCondLst>
                                  <p:childTnLst>
                                    <p:set>
                                      <p:cBhvr>
                                        <p:cTn id="21" dur="1" fill="hold">
                                          <p:stCondLst>
                                            <p:cond delay="0"/>
                                          </p:stCondLst>
                                        </p:cTn>
                                        <p:tgtEl>
                                          <p:spTgt spid="96"/>
                                        </p:tgtEl>
                                        <p:attrNameLst>
                                          <p:attrName>style.visibility</p:attrName>
                                        </p:attrNameLst>
                                      </p:cBhvr>
                                      <p:to>
                                        <p:strVal val="visible"/>
                                      </p:to>
                                    </p:set>
                                    <p:animEffect transition="in" filter="wipe(down)">
                                      <p:cBhvr additive="repl">
                                        <p:cTn id="22" dur="750"/>
                                        <p:tgtEl>
                                          <p:spTgt spid="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98"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00468F"/>
                </a:solidFill>
                <a:effectLst/>
                <a:uFillTx/>
                <a:latin typeface="Arial"/>
                <a:ea typeface="ＭＳ Ｐゴシック"/>
              </a:rPr>
              <a:t>Tradeoffs and Free Lunches</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A</a:t>
            </a:r>
            <a:r>
              <a:rPr lang="en-US" sz="2400" b="1" u="none" strike="noStrike">
                <a:solidFill>
                  <a:srgbClr val="E50030"/>
                </a:solidFill>
                <a:effectLst/>
                <a:uFillTx/>
                <a:latin typeface="Arial"/>
                <a:ea typeface="ＭＳ Ｐゴシック"/>
              </a:rPr>
              <a:t> tradeoff</a:t>
            </a:r>
            <a:r>
              <a:rPr lang="en-US" sz="2400" b="1" u="none" strike="noStrike">
                <a:solidFill>
                  <a:srgbClr val="FF3300"/>
                </a:solidFill>
                <a:effectLst/>
                <a:uFillTx/>
                <a:latin typeface="Arial"/>
                <a:ea typeface="ＭＳ Ｐゴシック"/>
              </a:rPr>
              <a:t> </a:t>
            </a:r>
            <a:r>
              <a:rPr lang="en-US" sz="2400" b="0" u="none" strike="noStrike">
                <a:solidFill>
                  <a:schemeClr val="dk1"/>
                </a:solidFill>
                <a:effectLst/>
                <a:uFillTx/>
                <a:latin typeface="Arial"/>
                <a:ea typeface="ＭＳ Ｐゴシック"/>
              </a:rPr>
              <a:t>is an exchange—giving up one thing to get something else.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A free lunch</a:t>
            </a:r>
            <a:r>
              <a:rPr lang="en-US" sz="2400" b="1" u="none" strike="noStrike">
                <a:solidFill>
                  <a:srgbClr val="FF3300"/>
                </a:solidFill>
                <a:effectLst/>
                <a:uFillTx/>
                <a:latin typeface="Arial"/>
                <a:ea typeface="ＭＳ Ｐゴシック"/>
              </a:rPr>
              <a:t> </a:t>
            </a:r>
            <a:r>
              <a:rPr lang="en-US" sz="2400" b="0" u="none" strike="noStrike">
                <a:solidFill>
                  <a:schemeClr val="dk1"/>
                </a:solidFill>
                <a:effectLst/>
                <a:uFillTx/>
                <a:latin typeface="Arial"/>
                <a:ea typeface="ＭＳ Ｐゴシック"/>
              </a:rPr>
              <a:t>is a gift—getting something without giving up something else.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Figure 3.3 on the next slide illustrates the distinction between a tradeoff and a free lunch.</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98">
                                            <p:txEl>
                                              <p:pRg st="1" end="1"/>
                                            </p:txEl>
                                          </p:spTgt>
                                        </p:tgtEl>
                                        <p:attrNameLst>
                                          <p:attrName>style.visibility</p:attrName>
                                        </p:attrNameLst>
                                      </p:cBhvr>
                                      <p:to>
                                        <p:strVal val="visible"/>
                                      </p:to>
                                    </p:set>
                                    <p:animEffect transition="in" filter="wipe(left)">
                                      <p:cBhvr additive="repl">
                                        <p:cTn id="7" dur="500"/>
                                        <p:tgtEl>
                                          <p:spTgt spid="98">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98">
                                            <p:txEl>
                                              <p:pRg st="2" end="2"/>
                                            </p:txEl>
                                          </p:spTgt>
                                        </p:tgtEl>
                                        <p:attrNameLst>
                                          <p:attrName>style.visibility</p:attrName>
                                        </p:attrNameLst>
                                      </p:cBhvr>
                                      <p:to>
                                        <p:strVal val="visible"/>
                                      </p:to>
                                    </p:set>
                                    <p:animEffect transition="in" filter="wipe(left)">
                                      <p:cBhvr additive="repl">
                                        <p:cTn id="12" dur="500"/>
                                        <p:tgtEl>
                                          <p:spTgt spid="98">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98">
                                            <p:txEl>
                                              <p:pRg st="3" end="3"/>
                                            </p:txEl>
                                          </p:spTgt>
                                        </p:tgtEl>
                                        <p:attrNameLst>
                                          <p:attrName>style.visibility</p:attrName>
                                        </p:attrNameLst>
                                      </p:cBhvr>
                                      <p:to>
                                        <p:strVal val="visible"/>
                                      </p:to>
                                    </p:set>
                                    <p:animEffect transition="in" filter="wipe(left)">
                                      <p:cBhvr additive="repl">
                                        <p:cTn id="17" dur="500"/>
                                        <p:tgtEl>
                                          <p:spTgt spid="9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3.1  PRODUCTION POSSIBILITIES</a:t>
            </a:r>
            <a:endParaRPr lang="en-CA" sz="2600" b="0" u="none" strike="noStrike">
              <a:solidFill>
                <a:schemeClr val="dk1"/>
              </a:solidFill>
              <a:effectLst/>
              <a:uFillTx/>
              <a:latin typeface="Arial"/>
            </a:endParaRPr>
          </a:p>
        </p:txBody>
      </p:sp>
      <p:sp>
        <p:nvSpPr>
          <p:cNvPr id="100" name="PlaceHolder 2"/>
          <p:cNvSpPr>
            <a:spLocks noGrp="1"/>
          </p:cNvSpPr>
          <p:nvPr>
            <p:ph/>
          </p:nvPr>
        </p:nvSpPr>
        <p:spPr>
          <a:xfrm>
            <a:off x="360360" y="1440000"/>
            <a:ext cx="3816000" cy="464796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startAt="3"/>
            </a:pPr>
            <a:r>
              <a:rPr lang="en-US" sz="2400" b="0" u="none" strike="noStrike">
                <a:solidFill>
                  <a:srgbClr val="000000"/>
                </a:solidFill>
                <a:effectLst/>
                <a:uFillTx/>
                <a:latin typeface="Arial"/>
                <a:ea typeface="ＭＳ Ｐゴシック"/>
              </a:rPr>
              <a:t>When production is </a:t>
            </a:r>
            <a:r>
              <a:rPr lang="en-US" sz="2400" b="0" i="1" u="none" strike="noStrike">
                <a:solidFill>
                  <a:srgbClr val="000000"/>
                </a:solidFill>
                <a:effectLst/>
                <a:uFillTx/>
                <a:latin typeface="Arial"/>
                <a:ea typeface="ＭＳ Ｐゴシック"/>
              </a:rPr>
              <a:t>on</a:t>
            </a:r>
            <a:r>
              <a:rPr lang="en-US" sz="2400" b="0" u="none" strike="noStrike">
                <a:solidFill>
                  <a:srgbClr val="000000"/>
                </a:solidFill>
                <a:effectLst/>
                <a:uFillTx/>
                <a:latin typeface="Arial"/>
                <a:ea typeface="ＭＳ Ｐゴシック"/>
              </a:rPr>
              <a:t>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we face a tradeoff. </a:t>
            </a:r>
            <a:endParaRPr lang="en-CA" sz="2400" b="1" u="none" strike="noStrik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lang="en-US" sz="2400" b="0" u="none" strike="noStrike">
                <a:solidFill>
                  <a:srgbClr val="000000"/>
                </a:solidFill>
                <a:effectLst/>
                <a:uFillTx/>
                <a:latin typeface="Arial"/>
                <a:ea typeface="ＭＳ Ｐゴシック"/>
              </a:rPr>
              <a:t>If production were </a:t>
            </a:r>
            <a:r>
              <a:rPr lang="en-US" sz="2400" b="0" i="1" u="none" strike="noStrike">
                <a:solidFill>
                  <a:srgbClr val="000000"/>
                </a:solidFill>
                <a:effectLst/>
                <a:uFillTx/>
                <a:latin typeface="Arial"/>
                <a:ea typeface="ＭＳ Ｐゴシック"/>
              </a:rPr>
              <a:t>inside</a:t>
            </a:r>
            <a:r>
              <a:rPr lang="en-US" sz="2400" b="0" u="none" strike="noStrike">
                <a:solidFill>
                  <a:srgbClr val="000000"/>
                </a:solidFill>
                <a:effectLst/>
                <a:uFillTx/>
                <a:latin typeface="Arial"/>
                <a:ea typeface="ＭＳ Ｐゴシック"/>
              </a:rPr>
              <a:t>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there </a:t>
            </a:r>
            <a:r>
              <a:rPr lang="en-US" sz="2400" b="0" i="1" u="none" strike="noStrike">
                <a:solidFill>
                  <a:srgbClr val="000000"/>
                </a:solidFill>
                <a:effectLst/>
                <a:uFillTx/>
                <a:latin typeface="Arial"/>
                <a:ea typeface="ＭＳ Ｐゴシック"/>
              </a:rPr>
              <a:t>would be</a:t>
            </a:r>
            <a:r>
              <a:rPr lang="en-US" sz="2400" b="0" u="none" strike="noStrike">
                <a:solidFill>
                  <a:srgbClr val="000000"/>
                </a:solidFill>
                <a:effectLst/>
                <a:uFillTx/>
                <a:latin typeface="Arial"/>
                <a:ea typeface="ＭＳ Ｐゴシック"/>
              </a:rPr>
              <a:t> a free lunch.</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point </a:t>
            </a:r>
            <a:r>
              <a:rPr lang="en-US" sz="2400" b="0" i="1" u="none" strike="noStrike">
                <a:solidFill>
                  <a:srgbClr val="000000"/>
                </a:solidFill>
                <a:effectLst/>
                <a:uFillTx/>
                <a:latin typeface="Arial"/>
                <a:ea typeface="ＭＳ Ｐゴシック"/>
              </a:rPr>
              <a:t>H</a:t>
            </a:r>
            <a:r>
              <a:rPr lang="en-US" sz="2400" b="0" u="none" strike="noStrike">
                <a:solidFill>
                  <a:srgbClr val="000000"/>
                </a:solidFill>
                <a:effectLst/>
                <a:uFillTx/>
                <a:latin typeface="Arial"/>
                <a:ea typeface="ＭＳ Ｐゴシック"/>
              </a:rPr>
              <a:t> to point </a:t>
            </a:r>
            <a:r>
              <a:rPr lang="en-US" sz="2400" b="0" i="1" u="none" strike="noStrike">
                <a:solidFill>
                  <a:srgbClr val="000000"/>
                </a:solidFill>
                <a:effectLst/>
                <a:uFillTx/>
                <a:latin typeface="Arial"/>
                <a:ea typeface="ＭＳ Ｐゴシック"/>
              </a:rPr>
              <a:t>D</a:t>
            </a:r>
            <a:r>
              <a:rPr lang="en-US" sz="2400" b="0" u="none" strike="noStrike">
                <a:solidFill>
                  <a:srgbClr val="000000"/>
                </a:solidFill>
                <a:effectLst/>
                <a:uFillTx/>
                <a:latin typeface="Arial"/>
                <a:ea typeface="ＭＳ Ｐゴシック"/>
              </a:rPr>
              <a:t> does not involve a tradeoff.</a:t>
            </a:r>
            <a:endParaRPr lang="en-CA" sz="2400" b="1" u="none" strike="noStrike">
              <a:solidFill>
                <a:srgbClr val="00468F"/>
              </a:solidFill>
              <a:effectLst/>
              <a:uFillTx/>
              <a:latin typeface="Arial"/>
            </a:endParaRPr>
          </a:p>
        </p:txBody>
      </p:sp>
      <p:pic>
        <p:nvPicPr>
          <p:cNvPr id="101" name="Picture 8"/>
          <p:cNvPicPr/>
          <p:nvPr/>
        </p:nvPicPr>
        <p:blipFill>
          <a:blip r:embed="rId3"/>
          <a:stretch/>
        </p:blipFill>
        <p:spPr>
          <a:xfrm>
            <a:off x="4176720" y="1368360"/>
            <a:ext cx="4479480" cy="4814640"/>
          </a:xfrm>
          <a:prstGeom prst="rect">
            <a:avLst/>
          </a:prstGeom>
          <a:noFill/>
          <a:ln w="0">
            <a:noFill/>
          </a:ln>
        </p:spPr>
      </p:pic>
      <p:pic>
        <p:nvPicPr>
          <p:cNvPr id="102" name="Picture 9"/>
          <p:cNvPicPr/>
          <p:nvPr/>
        </p:nvPicPr>
        <p:blipFill>
          <a:blip r:embed="rId4"/>
          <a:stretch/>
        </p:blipFill>
        <p:spPr>
          <a:xfrm>
            <a:off x="4176720" y="1368360"/>
            <a:ext cx="4479480" cy="4814640"/>
          </a:xfrm>
          <a:prstGeom prst="rect">
            <a:avLst/>
          </a:prstGeom>
          <a:noFill/>
          <a:ln w="0">
            <a:noFill/>
          </a:ln>
        </p:spPr>
      </p:pic>
      <p:pic>
        <p:nvPicPr>
          <p:cNvPr id="103" name="Picture 10"/>
          <p:cNvPicPr/>
          <p:nvPr/>
        </p:nvPicPr>
        <p:blipFill>
          <a:blip r:embed="rId5"/>
          <a:stretch/>
        </p:blipFill>
        <p:spPr>
          <a:xfrm>
            <a:off x="4176720" y="1368360"/>
            <a:ext cx="4479480" cy="4814640"/>
          </a:xfrm>
          <a:prstGeom prst="rect">
            <a:avLst/>
          </a:prstGeom>
          <a:noFill/>
          <a:ln w="0">
            <a:noFill/>
          </a:ln>
        </p:spPr>
      </p:pic>
      <p:pic>
        <p:nvPicPr>
          <p:cNvPr id="104" name="Picture 11"/>
          <p:cNvPicPr/>
          <p:nvPr/>
        </p:nvPicPr>
        <p:blipFill>
          <a:blip r:embed="rId6"/>
          <a:stretch/>
        </p:blipFill>
        <p:spPr>
          <a:xfrm>
            <a:off x="4176720" y="1368360"/>
            <a:ext cx="4479480" cy="4814640"/>
          </a:xfrm>
          <a:prstGeom prst="rect">
            <a:avLst/>
          </a:prstGeom>
          <a:noFill/>
          <a:ln w="0">
            <a:noFill/>
          </a:ln>
        </p:spPr>
      </p:pic>
      <p:pic>
        <p:nvPicPr>
          <p:cNvPr id="105" name="Picture 12"/>
          <p:cNvPicPr/>
          <p:nvPr/>
        </p:nvPicPr>
        <p:blipFill>
          <a:blip r:embed="rId7"/>
          <a:stretch/>
        </p:blipFill>
        <p:spPr>
          <a:xfrm>
            <a:off x="417672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4" fill="hold" nodeType="withEffect">
                                  <p:stCondLst>
                                    <p:cond delay="0"/>
                                  </p:stCondLst>
                                  <p:childTnLst>
                                    <p:set>
                                      <p:cBhvr>
                                        <p:cTn id="6" dur="1" fill="hold">
                                          <p:stCondLst>
                                            <p:cond delay="0"/>
                                          </p:stCondLst>
                                        </p:cTn>
                                        <p:tgtEl>
                                          <p:spTgt spid="104"/>
                                        </p:tgtEl>
                                        <p:attrNameLst>
                                          <p:attrName>style.visibility</p:attrName>
                                        </p:attrNameLst>
                                      </p:cBhvr>
                                      <p:to>
                                        <p:strVal val="visible"/>
                                      </p:to>
                                    </p:set>
                                    <p:animEffect transition="in" filter="wipe(down)">
                                      <p:cBhvr additive="repl">
                                        <p:cTn id="7" dur="750"/>
                                        <p:tgtEl>
                                          <p:spTgt spid="104"/>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00">
                                            <p:txEl>
                                              <p:pRg st="1" end="1"/>
                                            </p:txEl>
                                          </p:spTgt>
                                        </p:tgtEl>
                                        <p:attrNameLst>
                                          <p:attrName>style.visibility</p:attrName>
                                        </p:attrNameLst>
                                      </p:cBhvr>
                                      <p:to>
                                        <p:strVal val="visible"/>
                                      </p:to>
                                    </p:set>
                                    <p:animEffect transition="in" filter="wipe(left)">
                                      <p:cBhvr additive="repl">
                                        <p:cTn id="12" dur="500"/>
                                        <p:tgtEl>
                                          <p:spTgt spid="100">
                                            <p:txEl>
                                              <p:pRg st="1" end="1"/>
                                            </p:txEl>
                                          </p:spTgt>
                                        </p:tgtEl>
                                      </p:cBhvr>
                                    </p:animEffect>
                                  </p:childTnLst>
                                </p:cTn>
                              </p:par>
                              <p:par>
                                <p:cTn id="13" presetID="22" presetClass="entr" presetSubtype="4" fill="hold" nodeType="withEffect">
                                  <p:stCondLst>
                                    <p:cond delay="0"/>
                                  </p:stCondLst>
                                  <p:childTnLst>
                                    <p:set>
                                      <p:cBhvr>
                                        <p:cTn id="14" dur="1" fill="hold">
                                          <p:stCondLst>
                                            <p:cond delay="0"/>
                                          </p:stCondLst>
                                        </p:cTn>
                                        <p:tgtEl>
                                          <p:spTgt spid="105"/>
                                        </p:tgtEl>
                                        <p:attrNameLst>
                                          <p:attrName>style.visibility</p:attrName>
                                        </p:attrNameLst>
                                      </p:cBhvr>
                                      <p:to>
                                        <p:strVal val="visible"/>
                                      </p:to>
                                    </p:set>
                                    <p:animEffect transition="in" filter="wipe(down)">
                                      <p:cBhvr additive="repl">
                                        <p:cTn id="15" dur="750"/>
                                        <p:tgtEl>
                                          <p:spTgt spid="105"/>
                                        </p:tgtEl>
                                      </p:cBhvr>
                                    </p:animEffect>
                                  </p:childTnLst>
                                </p:cTn>
                              </p:par>
                            </p:childTnLst>
                          </p:cTn>
                        </p:par>
                      </p:childTnLst>
                    </p:cTn>
                  </p:par>
                  <p:par>
                    <p:cTn id="16" fill="hold" nodeType="clickEffect">
                      <p:stCondLst>
                        <p:cond delay="indefinite"/>
                      </p:stCondLst>
                      <p:childTnLst>
                        <p:par>
                          <p:cTn id="17" fill="hold" nodeType="withEffect">
                            <p:stCondLst>
                              <p:cond delay="0"/>
                            </p:stCondLst>
                            <p:childTnLst>
                              <p:par>
                                <p:cTn id="18" presetID="22" presetClass="entr" presetSubtype="8" fill="hold" nodeType="clickEffect">
                                  <p:stCondLst>
                                    <p:cond delay="0"/>
                                  </p:stCondLst>
                                  <p:childTnLst>
                                    <p:set>
                                      <p:cBhvr>
                                        <p:cTn id="19" dur="1" fill="hold">
                                          <p:stCondLst>
                                            <p:cond delay="0"/>
                                          </p:stCondLst>
                                        </p:cTn>
                                        <p:tgtEl>
                                          <p:spTgt spid="100">
                                            <p:txEl>
                                              <p:pRg st="2" end="2"/>
                                            </p:txEl>
                                          </p:spTgt>
                                        </p:tgtEl>
                                        <p:attrNameLst>
                                          <p:attrName>style.visibility</p:attrName>
                                        </p:attrNameLst>
                                      </p:cBhvr>
                                      <p:to>
                                        <p:strVal val="visible"/>
                                      </p:to>
                                    </p:set>
                                    <p:animEffect transition="in" filter="wipe(left)">
                                      <p:cBhvr additive="repl">
                                        <p:cTn id="20" dur="500"/>
                                        <p:tgtEl>
                                          <p:spTgt spid="10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07"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The Opportunity Cost of a Smartphone</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The opportunity cost of producing a smartphone is the decrease in the quantity of bikes divided by the increase in the number of smartphones as we move along the </a:t>
            </a:r>
            <a:r>
              <a:rPr lang="en-US" sz="2400" b="0" i="1" u="none" strike="noStrike">
                <a:solidFill>
                  <a:schemeClr val="dk1"/>
                </a:solidFill>
                <a:effectLst/>
                <a:uFillTx/>
                <a:latin typeface="Arial"/>
                <a:ea typeface="ＭＳ Ｐゴシック"/>
              </a:rPr>
              <a:t>PPF.</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Figure 3.4 illustrates the calculation of the opportunity cost of producing a smartphone.</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07">
                                            <p:txEl>
                                              <p:pRg st="1" end="1"/>
                                            </p:txEl>
                                          </p:spTgt>
                                        </p:tgtEl>
                                        <p:attrNameLst>
                                          <p:attrName>style.visibility</p:attrName>
                                        </p:attrNameLst>
                                      </p:cBhvr>
                                      <p:to>
                                        <p:strVal val="visible"/>
                                      </p:to>
                                    </p:set>
                                    <p:animEffect transition="in" filter="wipe(left)">
                                      <p:cBhvr additive="repl">
                                        <p:cTn id="7" dur="500"/>
                                        <p:tgtEl>
                                          <p:spTgt spid="107">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07">
                                            <p:txEl>
                                              <p:pRg st="2" end="2"/>
                                            </p:txEl>
                                          </p:spTgt>
                                        </p:tgtEl>
                                        <p:attrNameLst>
                                          <p:attrName>style.visibility</p:attrName>
                                        </p:attrNameLst>
                                      </p:cBhvr>
                                      <p:to>
                                        <p:strVal val="visible"/>
                                      </p:to>
                                    </p:set>
                                    <p:animEffect transition="in" filter="wipe(left)">
                                      <p:cBhvr additive="repl">
                                        <p:cTn id="12" dur="500"/>
                                        <p:tgtEl>
                                          <p:spTgt spid="1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09" name="PlaceHolder 2"/>
          <p:cNvSpPr>
            <a:spLocks noGrp="1"/>
          </p:cNvSpPr>
          <p:nvPr>
            <p:ph/>
          </p:nvPr>
        </p:nvSpPr>
        <p:spPr>
          <a:xfrm>
            <a:off x="360360" y="1440000"/>
            <a:ext cx="830052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a:t>
            </a:r>
            <a:r>
              <a:rPr lang="en-US" sz="2400" b="0" i="1" u="none" strike="noStrike">
                <a:solidFill>
                  <a:srgbClr val="000000"/>
                </a:solidFill>
                <a:effectLst/>
                <a:uFillTx/>
                <a:latin typeface="Arial"/>
                <a:ea typeface="ＭＳ Ｐゴシック"/>
              </a:rPr>
              <a:t>A</a:t>
            </a:r>
            <a:r>
              <a:rPr lang="en-US" sz="2400" b="0" u="none" strike="noStrike">
                <a:solidFill>
                  <a:srgbClr val="000000"/>
                </a:solidFill>
                <a:effectLst/>
                <a:uFillTx/>
                <a:latin typeface="Arial"/>
                <a:ea typeface="ＭＳ Ｐゴシック"/>
              </a:rPr>
              <a:t> to </a:t>
            </a:r>
            <a:r>
              <a:rPr lang="en-US" sz="2400" b="0" i="1" u="none" strike="noStrike">
                <a:solidFill>
                  <a:srgbClr val="000000"/>
                </a:solidFill>
                <a:effectLst/>
                <a:uFillTx/>
                <a:latin typeface="Arial"/>
                <a:ea typeface="ＭＳ Ｐゴシック"/>
              </a:rPr>
              <a:t>B</a:t>
            </a:r>
            <a:r>
              <a:rPr lang="en-US" sz="2400" b="0" u="none" strike="noStrike">
                <a:solidFill>
                  <a:srgbClr val="000000"/>
                </a:solidFill>
                <a:effectLst/>
                <a:uFillTx/>
                <a:latin typeface="Arial"/>
                <a:ea typeface="ＭＳ Ｐゴシック"/>
              </a:rPr>
              <a:t>, 1 smartphone costs 1 bike</a:t>
            </a:r>
            <a:endParaRPr lang="en-CA" sz="2400" b="1" u="none" strike="noStrike">
              <a:solidFill>
                <a:srgbClr val="00468F"/>
              </a:solidFill>
              <a:effectLst/>
              <a:uFillTx/>
              <a:latin typeface="Arial"/>
            </a:endParaRPr>
          </a:p>
        </p:txBody>
      </p:sp>
      <p:pic>
        <p:nvPicPr>
          <p:cNvPr id="110" name="Picture 6"/>
          <p:cNvPicPr/>
          <p:nvPr/>
        </p:nvPicPr>
        <p:blipFill>
          <a:blip r:embed="rId3"/>
          <a:stretch/>
        </p:blipFill>
        <p:spPr>
          <a:xfrm>
            <a:off x="720720" y="2052720"/>
            <a:ext cx="7924320" cy="4239720"/>
          </a:xfrm>
          <a:prstGeom prst="rect">
            <a:avLst/>
          </a:prstGeom>
          <a:noFill/>
          <a:ln w="0">
            <a:noFill/>
          </a:ln>
        </p:spPr>
      </p:pic>
      <p:pic>
        <p:nvPicPr>
          <p:cNvPr id="111" name="Picture 7"/>
          <p:cNvPicPr/>
          <p:nvPr/>
        </p:nvPicPr>
        <p:blipFill>
          <a:blip r:embed="rId4"/>
          <a:stretch/>
        </p:blipFill>
        <p:spPr>
          <a:xfrm>
            <a:off x="720720" y="2052720"/>
            <a:ext cx="7924320" cy="4239720"/>
          </a:xfrm>
          <a:prstGeom prst="rect">
            <a:avLst/>
          </a:prstGeom>
          <a:noFill/>
          <a:ln w="0">
            <a:noFill/>
          </a:ln>
        </p:spPr>
      </p:pic>
      <p:pic>
        <p:nvPicPr>
          <p:cNvPr id="112" name="Picture 8"/>
          <p:cNvPicPr/>
          <p:nvPr/>
        </p:nvPicPr>
        <p:blipFill>
          <a:blip r:embed="rId5"/>
          <a:stretch/>
        </p:blipFill>
        <p:spPr>
          <a:xfrm>
            <a:off x="720720" y="2052720"/>
            <a:ext cx="7924320" cy="42397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111"/>
                                        </p:tgtEl>
                                        <p:attrNameLst>
                                          <p:attrName>style.visibility</p:attrName>
                                        </p:attrNameLst>
                                      </p:cBhvr>
                                      <p:to>
                                        <p:strVal val="visible"/>
                                      </p:to>
                                    </p:set>
                                    <p:animEffect transition="in" filter="fade">
                                      <p:cBhvr additive="repl">
                                        <p:cTn id="7" dur="500"/>
                                        <p:tgtEl>
                                          <p:spTgt spid="111"/>
                                        </p:tgtEl>
                                      </p:cBhvr>
                                    </p:animEffect>
                                  </p:childTnLst>
                                </p:cTn>
                              </p:par>
                            </p:childTnLst>
                          </p:cTn>
                        </p:par>
                        <p:par>
                          <p:cTn id="8" fill="hold" nodeType="afterEffect">
                            <p:stCondLst>
                              <p:cond delay="500"/>
                            </p:stCondLst>
                            <p:childTnLst>
                              <p:par>
                                <p:cTn id="9" presetID="22" presetClass="entr" presetSubtype="8" fill="hold" nodeType="afterEffect">
                                  <p:stCondLst>
                                    <p:cond delay="0"/>
                                  </p:stCondLst>
                                  <p:childTnLst>
                                    <p:set>
                                      <p:cBhvr>
                                        <p:cTn id="10" dur="1" fill="hold">
                                          <p:stCondLst>
                                            <p:cond delay="0"/>
                                          </p:stCondLst>
                                        </p:cTn>
                                        <p:tgtEl>
                                          <p:spTgt spid="112"/>
                                        </p:tgtEl>
                                        <p:attrNameLst>
                                          <p:attrName>style.visibility</p:attrName>
                                        </p:attrNameLst>
                                      </p:cBhvr>
                                      <p:to>
                                        <p:strVal val="visible"/>
                                      </p:to>
                                    </p:set>
                                    <p:animEffect transition="in" filter="wipe(left)">
                                      <p:cBhvr additive="repl">
                                        <p:cTn id="11" dur="75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3" name="Picture 8"/>
          <p:cNvPicPr/>
          <p:nvPr/>
        </p:nvPicPr>
        <p:blipFill>
          <a:blip r:embed="rId3"/>
          <a:stretch/>
        </p:blipFill>
        <p:spPr>
          <a:xfrm>
            <a:off x="314280" y="998640"/>
            <a:ext cx="8534160" cy="4566960"/>
          </a:xfrm>
          <a:prstGeom prst="rect">
            <a:avLst/>
          </a:prstGeom>
          <a:noFill/>
          <a:ln w="0">
            <a:noFill/>
          </a:ln>
        </p:spPr>
      </p:pic>
      <p:pic>
        <p:nvPicPr>
          <p:cNvPr id="114" name="Picture 9"/>
          <p:cNvPicPr/>
          <p:nvPr/>
        </p:nvPicPr>
        <p:blipFill>
          <a:blip r:embed="rId4"/>
          <a:stretch/>
        </p:blipFill>
        <p:spPr>
          <a:xfrm>
            <a:off x="314280" y="998640"/>
            <a:ext cx="8534160" cy="4566960"/>
          </a:xfrm>
          <a:prstGeom prst="rect">
            <a:avLst/>
          </a:prstGeom>
          <a:noFill/>
          <a:ln w="0">
            <a:noFill/>
          </a:ln>
        </p:spPr>
      </p:pic>
      <p:pic>
        <p:nvPicPr>
          <p:cNvPr id="115" name="Picture 10"/>
          <p:cNvPicPr/>
          <p:nvPr/>
        </p:nvPicPr>
        <p:blipFill>
          <a:blip r:embed="rId5"/>
          <a:stretch/>
        </p:blipFill>
        <p:spPr>
          <a:xfrm>
            <a:off x="314280" y="998640"/>
            <a:ext cx="8534160" cy="4566960"/>
          </a:xfrm>
          <a:prstGeom prst="rect">
            <a:avLst/>
          </a:prstGeom>
          <a:noFill/>
          <a:ln w="0">
            <a:noFill/>
          </a:ln>
        </p:spPr>
      </p:pic>
      <p:pic>
        <p:nvPicPr>
          <p:cNvPr id="116" name="Picture 11"/>
          <p:cNvPicPr/>
          <p:nvPr/>
        </p:nvPicPr>
        <p:blipFill>
          <a:blip r:embed="rId6"/>
          <a:stretch/>
        </p:blipFill>
        <p:spPr>
          <a:xfrm>
            <a:off x="314280" y="998640"/>
            <a:ext cx="8534160" cy="4566960"/>
          </a:xfrm>
          <a:prstGeom prst="rect">
            <a:avLst/>
          </a:prstGeom>
          <a:noFill/>
          <a:ln w="0">
            <a:noFill/>
          </a:ln>
        </p:spPr>
      </p:pic>
      <p:pic>
        <p:nvPicPr>
          <p:cNvPr id="117" name="Picture 12"/>
          <p:cNvPicPr/>
          <p:nvPr/>
        </p:nvPicPr>
        <p:blipFill>
          <a:blip r:embed="rId7"/>
          <a:stretch/>
        </p:blipFill>
        <p:spPr>
          <a:xfrm>
            <a:off x="314280" y="998640"/>
            <a:ext cx="8534160" cy="4566960"/>
          </a:xfrm>
          <a:prstGeom prst="rect">
            <a:avLst/>
          </a:prstGeom>
          <a:noFill/>
          <a:ln w="0">
            <a:noFill/>
          </a:ln>
        </p:spPr>
      </p:pic>
      <p:pic>
        <p:nvPicPr>
          <p:cNvPr id="118" name="Picture 13"/>
          <p:cNvPicPr/>
          <p:nvPr/>
        </p:nvPicPr>
        <p:blipFill>
          <a:blip r:embed="rId8"/>
          <a:stretch/>
        </p:blipFill>
        <p:spPr>
          <a:xfrm>
            <a:off x="314280" y="998640"/>
            <a:ext cx="8534160" cy="4566960"/>
          </a:xfrm>
          <a:prstGeom prst="rect">
            <a:avLst/>
          </a:prstGeom>
          <a:noFill/>
          <a:ln w="0">
            <a:noFill/>
          </a:ln>
        </p:spPr>
      </p:pic>
      <p:pic>
        <p:nvPicPr>
          <p:cNvPr id="119" name="Picture 20"/>
          <p:cNvPicPr/>
          <p:nvPr/>
        </p:nvPicPr>
        <p:blipFill>
          <a:blip r:embed="rId9"/>
          <a:stretch/>
        </p:blipFill>
        <p:spPr>
          <a:xfrm>
            <a:off x="314280" y="998640"/>
            <a:ext cx="8534160" cy="45669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0" presetClass="entr" fill="hold" nodeType="clickEffect">
                                  <p:stCondLst>
                                    <p:cond delay="0"/>
                                  </p:stCondLst>
                                  <p:childTnLst>
                                    <p:set>
                                      <p:cBhvr>
                                        <p:cTn id="6" dur="1" fill="hold">
                                          <p:stCondLst>
                                            <p:cond delay="0"/>
                                          </p:stCondLst>
                                        </p:cTn>
                                        <p:tgtEl>
                                          <p:spTgt spid="114"/>
                                        </p:tgtEl>
                                        <p:attrNameLst>
                                          <p:attrName>style.visibility</p:attrName>
                                        </p:attrNameLst>
                                      </p:cBhvr>
                                      <p:to>
                                        <p:strVal val="visible"/>
                                      </p:to>
                                    </p:set>
                                    <p:animEffect transition="in" filter="fade">
                                      <p:cBhvr additive="repl">
                                        <p:cTn id="7" dur="500"/>
                                        <p:tgtEl>
                                          <p:spTgt spid="114"/>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15"/>
                                        </p:tgtEl>
                                        <p:attrNameLst>
                                          <p:attrName>style.visibility</p:attrName>
                                        </p:attrNameLst>
                                      </p:cBhvr>
                                      <p:to>
                                        <p:strVal val="visible"/>
                                      </p:to>
                                    </p:set>
                                    <p:animEffect transition="in" filter="wipe(left)">
                                      <p:cBhvr additive="repl">
                                        <p:cTn id="12" dur="750"/>
                                        <p:tgtEl>
                                          <p:spTgt spid="115"/>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16"/>
                                        </p:tgtEl>
                                        <p:attrNameLst>
                                          <p:attrName>style.visibility</p:attrName>
                                        </p:attrNameLst>
                                      </p:cBhvr>
                                      <p:to>
                                        <p:strVal val="visible"/>
                                      </p:to>
                                    </p:set>
                                    <p:animEffect transition="in" filter="wipe(left)">
                                      <p:cBhvr additive="repl">
                                        <p:cTn id="17" dur="750"/>
                                        <p:tgtEl>
                                          <p:spTgt spid="116"/>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117"/>
                                        </p:tgtEl>
                                        <p:attrNameLst>
                                          <p:attrName>style.visibility</p:attrName>
                                        </p:attrNameLst>
                                      </p:cBhvr>
                                      <p:to>
                                        <p:strVal val="visible"/>
                                      </p:to>
                                    </p:set>
                                    <p:animEffect transition="in" filter="wipe(left)">
                                      <p:cBhvr additive="repl">
                                        <p:cTn id="22" dur="750"/>
                                        <p:tgtEl>
                                          <p:spTgt spid="117"/>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8" fill="hold" nodeType="clickEffect">
                                  <p:stCondLst>
                                    <p:cond delay="0"/>
                                  </p:stCondLst>
                                  <p:childTnLst>
                                    <p:set>
                                      <p:cBhvr>
                                        <p:cTn id="26" dur="1" fill="hold">
                                          <p:stCondLst>
                                            <p:cond delay="0"/>
                                          </p:stCondLst>
                                        </p:cTn>
                                        <p:tgtEl>
                                          <p:spTgt spid="118"/>
                                        </p:tgtEl>
                                        <p:attrNameLst>
                                          <p:attrName>style.visibility</p:attrName>
                                        </p:attrNameLst>
                                      </p:cBhvr>
                                      <p:to>
                                        <p:strVal val="visible"/>
                                      </p:to>
                                    </p:set>
                                    <p:animEffect transition="in" filter="wipe(left)">
                                      <p:cBhvr additive="repl">
                                        <p:cTn id="27" dur="750"/>
                                        <p:tgtEl>
                                          <p:spTgt spid="118"/>
                                        </p:tgtEl>
                                      </p:cBhvr>
                                    </p:animEffect>
                                  </p:childTnLst>
                                </p:cTn>
                              </p:par>
                            </p:childTnLst>
                          </p:cTn>
                        </p:par>
                      </p:childTnLst>
                    </p:cTn>
                  </p:par>
                  <p:par>
                    <p:cTn id="28" fill="hold" nodeType="clickEffect">
                      <p:stCondLst>
                        <p:cond delay="indefinite"/>
                      </p:stCondLst>
                      <p:childTnLst>
                        <p:par>
                          <p:cTn id="29" fill="hold" nodeType="withEffect">
                            <p:stCondLst>
                              <p:cond delay="0"/>
                            </p:stCondLst>
                            <p:childTnLst>
                              <p:par>
                                <p:cTn id="30" presetID="22" presetClass="entr" presetSubtype="8" fill="hold" nodeType="clickEffect">
                                  <p:stCondLst>
                                    <p:cond delay="0"/>
                                  </p:stCondLst>
                                  <p:childTnLst>
                                    <p:set>
                                      <p:cBhvr>
                                        <p:cTn id="31" dur="1" fill="hold">
                                          <p:stCondLst>
                                            <p:cond delay="0"/>
                                          </p:stCondLst>
                                        </p:cTn>
                                        <p:tgtEl>
                                          <p:spTgt spid="119"/>
                                        </p:tgtEl>
                                        <p:attrNameLst>
                                          <p:attrName>style.visibility</p:attrName>
                                        </p:attrNameLst>
                                      </p:cBhvr>
                                      <p:to>
                                        <p:strVal val="visible"/>
                                      </p:to>
                                    </p:set>
                                    <p:animEffect transition="in" filter="wipe(left)">
                                      <p:cBhvr additive="repl">
                                        <p:cTn id="32" dur="750"/>
                                        <p:tgtEl>
                                          <p:spTgt spid="1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PlaceHolder 1"/>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a:t>
            </a:r>
            <a:r>
              <a:rPr lang="en-US" sz="2400" b="0" i="1" u="none" strike="noStrike">
                <a:solidFill>
                  <a:srgbClr val="000000"/>
                </a:solidFill>
                <a:effectLst/>
                <a:uFillTx/>
                <a:latin typeface="Arial"/>
                <a:ea typeface="ＭＳ Ｐゴシック"/>
              </a:rPr>
              <a:t>B</a:t>
            </a:r>
            <a:r>
              <a:rPr lang="en-US" sz="2400" b="0" u="none" strike="noStrike">
                <a:solidFill>
                  <a:srgbClr val="000000"/>
                </a:solidFill>
                <a:effectLst/>
                <a:uFillTx/>
                <a:latin typeface="Arial"/>
                <a:ea typeface="ＭＳ Ｐゴシック"/>
              </a:rPr>
              <a:t> to </a:t>
            </a:r>
            <a:r>
              <a:rPr lang="en-US" sz="2400" b="0" i="1" u="none" strike="noStrike">
                <a:solidFill>
                  <a:srgbClr val="000000"/>
                </a:solidFill>
                <a:effectLst/>
                <a:uFillTx/>
                <a:latin typeface="Arial"/>
                <a:ea typeface="ＭＳ Ｐゴシック"/>
              </a:rPr>
              <a:t>C</a:t>
            </a:r>
            <a:r>
              <a:rPr lang="en-US" sz="2400" b="0" u="none" strike="noStrike">
                <a:solidFill>
                  <a:srgbClr val="000000"/>
                </a:solidFill>
                <a:effectLst/>
                <a:uFillTx/>
                <a:latin typeface="Arial"/>
                <a:ea typeface="ＭＳ Ｐゴシック"/>
              </a:rPr>
              <a:t>, 1 smartphone costs 2 bikes.</a:t>
            </a:r>
            <a:endParaRPr lang="en-CA" sz="2400" b="1" u="none" strike="noStrike">
              <a:solidFill>
                <a:srgbClr val="00468F"/>
              </a:solidFill>
              <a:effectLst/>
              <a:uFillTx/>
              <a:latin typeface="Arial"/>
            </a:endParaRPr>
          </a:p>
        </p:txBody>
      </p:sp>
      <p:sp>
        <p:nvSpPr>
          <p:cNvPr id="121"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pic>
        <p:nvPicPr>
          <p:cNvPr id="122" name="Picture 7"/>
          <p:cNvPicPr/>
          <p:nvPr/>
        </p:nvPicPr>
        <p:blipFill>
          <a:blip r:embed="rId3"/>
          <a:stretch/>
        </p:blipFill>
        <p:spPr>
          <a:xfrm>
            <a:off x="720720" y="2052720"/>
            <a:ext cx="7924320" cy="4239720"/>
          </a:xfrm>
          <a:prstGeom prst="rect">
            <a:avLst/>
          </a:prstGeom>
          <a:noFill/>
          <a:ln w="0">
            <a:noFill/>
          </a:ln>
        </p:spPr>
      </p:pic>
      <p:pic>
        <p:nvPicPr>
          <p:cNvPr id="123" name="Picture 8"/>
          <p:cNvPicPr/>
          <p:nvPr/>
        </p:nvPicPr>
        <p:blipFill>
          <a:blip r:embed="rId4"/>
          <a:stretch/>
        </p:blipFill>
        <p:spPr>
          <a:xfrm>
            <a:off x="720720" y="2052720"/>
            <a:ext cx="7924320" cy="4239720"/>
          </a:xfrm>
          <a:prstGeom prst="rect">
            <a:avLst/>
          </a:prstGeom>
          <a:noFill/>
          <a:ln w="0">
            <a:noFill/>
          </a:ln>
        </p:spPr>
      </p:pic>
      <p:pic>
        <p:nvPicPr>
          <p:cNvPr id="124" name="Picture 9"/>
          <p:cNvPicPr/>
          <p:nvPr/>
        </p:nvPicPr>
        <p:blipFill>
          <a:blip r:embed="rId5"/>
          <a:stretch/>
        </p:blipFill>
        <p:spPr>
          <a:xfrm>
            <a:off x="720720" y="2052720"/>
            <a:ext cx="7924320" cy="4239720"/>
          </a:xfrm>
          <a:prstGeom prst="rect">
            <a:avLst/>
          </a:prstGeom>
          <a:noFill/>
          <a:ln w="0">
            <a:noFill/>
          </a:ln>
        </p:spPr>
      </p:pic>
      <p:pic>
        <p:nvPicPr>
          <p:cNvPr id="125" name="Picture 10"/>
          <p:cNvPicPr/>
          <p:nvPr/>
        </p:nvPicPr>
        <p:blipFill>
          <a:blip r:embed="rId6"/>
          <a:stretch/>
        </p:blipFill>
        <p:spPr>
          <a:xfrm>
            <a:off x="720720" y="2052720"/>
            <a:ext cx="7924320" cy="42397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8" fill="hold" nodeType="withEffect">
                                  <p:stCondLst>
                                    <p:cond delay="0"/>
                                  </p:stCondLst>
                                  <p:childTnLst>
                                    <p:set>
                                      <p:cBhvr>
                                        <p:cTn id="6" dur="1" fill="hold">
                                          <p:stCondLst>
                                            <p:cond delay="0"/>
                                          </p:stCondLst>
                                        </p:cTn>
                                        <p:tgtEl>
                                          <p:spTgt spid="125"/>
                                        </p:tgtEl>
                                        <p:attrNameLst>
                                          <p:attrName>style.visibility</p:attrName>
                                        </p:attrNameLst>
                                      </p:cBhvr>
                                      <p:to>
                                        <p:strVal val="visible"/>
                                      </p:to>
                                    </p:set>
                                    <p:animEffect transition="in" filter="wipe(left)">
                                      <p:cBhvr additive="repl">
                                        <p:cTn id="7" dur="750"/>
                                        <p:tgtEl>
                                          <p:spTgt spid="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a:t>
            </a:r>
            <a:r>
              <a:rPr lang="en-US" sz="2400" b="0" i="1" u="none" strike="noStrike">
                <a:solidFill>
                  <a:srgbClr val="000000"/>
                </a:solidFill>
                <a:effectLst/>
                <a:uFillTx/>
                <a:latin typeface="Arial"/>
                <a:ea typeface="ＭＳ Ｐゴシック"/>
              </a:rPr>
              <a:t>C</a:t>
            </a:r>
            <a:r>
              <a:rPr lang="en-US" sz="2400" b="0" u="none" strike="noStrike">
                <a:solidFill>
                  <a:srgbClr val="000000"/>
                </a:solidFill>
                <a:effectLst/>
                <a:uFillTx/>
                <a:latin typeface="Arial"/>
                <a:ea typeface="ＭＳ Ｐゴシック"/>
              </a:rPr>
              <a:t> to </a:t>
            </a:r>
            <a:r>
              <a:rPr lang="en-US" sz="2400" b="0" i="1" u="none" strike="noStrike">
                <a:solidFill>
                  <a:srgbClr val="000000"/>
                </a:solidFill>
                <a:effectLst/>
                <a:uFillTx/>
                <a:latin typeface="Arial"/>
                <a:ea typeface="ＭＳ Ｐゴシック"/>
              </a:rPr>
              <a:t>D</a:t>
            </a:r>
            <a:r>
              <a:rPr lang="en-US" sz="2400" b="0" u="none" strike="noStrike">
                <a:solidFill>
                  <a:srgbClr val="000000"/>
                </a:solidFill>
                <a:effectLst/>
                <a:uFillTx/>
                <a:latin typeface="Arial"/>
                <a:ea typeface="ＭＳ Ｐゴシック"/>
              </a:rPr>
              <a:t>, 1 smartphone costs 3 bikes.</a:t>
            </a:r>
            <a:endParaRPr lang="en-CA" sz="2400" b="1" u="none" strike="noStrike">
              <a:solidFill>
                <a:srgbClr val="00468F"/>
              </a:solidFill>
              <a:effectLst/>
              <a:uFillTx/>
              <a:latin typeface="Arial"/>
            </a:endParaRPr>
          </a:p>
        </p:txBody>
      </p:sp>
      <p:sp>
        <p:nvSpPr>
          <p:cNvPr id="127"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pic>
        <p:nvPicPr>
          <p:cNvPr id="128" name="Picture 8"/>
          <p:cNvPicPr/>
          <p:nvPr/>
        </p:nvPicPr>
        <p:blipFill>
          <a:blip r:embed="rId3"/>
          <a:stretch/>
        </p:blipFill>
        <p:spPr>
          <a:xfrm>
            <a:off x="720720" y="2052720"/>
            <a:ext cx="7924320" cy="4239720"/>
          </a:xfrm>
          <a:prstGeom prst="rect">
            <a:avLst/>
          </a:prstGeom>
          <a:noFill/>
          <a:ln w="0">
            <a:noFill/>
          </a:ln>
        </p:spPr>
      </p:pic>
      <p:pic>
        <p:nvPicPr>
          <p:cNvPr id="129" name="Picture 9"/>
          <p:cNvPicPr/>
          <p:nvPr/>
        </p:nvPicPr>
        <p:blipFill>
          <a:blip r:embed="rId4"/>
          <a:stretch/>
        </p:blipFill>
        <p:spPr>
          <a:xfrm>
            <a:off x="720720" y="2052720"/>
            <a:ext cx="7924320" cy="4239720"/>
          </a:xfrm>
          <a:prstGeom prst="rect">
            <a:avLst/>
          </a:prstGeom>
          <a:noFill/>
          <a:ln w="0">
            <a:noFill/>
          </a:ln>
        </p:spPr>
      </p:pic>
      <p:pic>
        <p:nvPicPr>
          <p:cNvPr id="130" name="Picture 10"/>
          <p:cNvPicPr/>
          <p:nvPr/>
        </p:nvPicPr>
        <p:blipFill>
          <a:blip r:embed="rId5"/>
          <a:stretch/>
        </p:blipFill>
        <p:spPr>
          <a:xfrm>
            <a:off x="720720" y="2052720"/>
            <a:ext cx="7924320" cy="4239720"/>
          </a:xfrm>
          <a:prstGeom prst="rect">
            <a:avLst/>
          </a:prstGeom>
          <a:noFill/>
          <a:ln w="0">
            <a:noFill/>
          </a:ln>
        </p:spPr>
      </p:pic>
      <p:pic>
        <p:nvPicPr>
          <p:cNvPr id="131" name="Picture 11"/>
          <p:cNvPicPr/>
          <p:nvPr/>
        </p:nvPicPr>
        <p:blipFill>
          <a:blip r:embed="rId6"/>
          <a:stretch/>
        </p:blipFill>
        <p:spPr>
          <a:xfrm>
            <a:off x="720720" y="2052720"/>
            <a:ext cx="7924320" cy="4239720"/>
          </a:xfrm>
          <a:prstGeom prst="rect">
            <a:avLst/>
          </a:prstGeom>
          <a:noFill/>
          <a:ln w="0">
            <a:noFill/>
          </a:ln>
        </p:spPr>
      </p:pic>
      <p:pic>
        <p:nvPicPr>
          <p:cNvPr id="132" name="Picture 12"/>
          <p:cNvPicPr/>
          <p:nvPr/>
        </p:nvPicPr>
        <p:blipFill>
          <a:blip r:embed="rId7"/>
          <a:stretch/>
        </p:blipFill>
        <p:spPr>
          <a:xfrm>
            <a:off x="720720" y="2052720"/>
            <a:ext cx="7924320" cy="42397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8" fill="hold"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wipe(left)">
                                      <p:cBhvr additive="repl">
                                        <p:cTn id="7" dur="750"/>
                                        <p:tgtEl>
                                          <p:spTgt spid="1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 name="PlaceHolder 1"/>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a:t>
            </a:r>
            <a:r>
              <a:rPr lang="en-US" sz="2400" b="0" i="1" u="none" strike="noStrike">
                <a:solidFill>
                  <a:srgbClr val="000000"/>
                </a:solidFill>
                <a:effectLst/>
                <a:uFillTx/>
                <a:latin typeface="Arial"/>
                <a:ea typeface="ＭＳ Ｐゴシック"/>
              </a:rPr>
              <a:t>D</a:t>
            </a:r>
            <a:r>
              <a:rPr lang="en-US" sz="2400" b="0" u="none" strike="noStrike">
                <a:solidFill>
                  <a:srgbClr val="000000"/>
                </a:solidFill>
                <a:effectLst/>
                <a:uFillTx/>
                <a:latin typeface="Arial"/>
                <a:ea typeface="ＭＳ Ｐゴシック"/>
              </a:rPr>
              <a:t> to </a:t>
            </a:r>
            <a:r>
              <a:rPr lang="en-US" sz="2400" b="0" i="1" u="none" strike="noStrike">
                <a:solidFill>
                  <a:srgbClr val="000000"/>
                </a:solidFill>
                <a:effectLst/>
                <a:uFillTx/>
                <a:latin typeface="Arial"/>
                <a:ea typeface="ＭＳ Ｐゴシック"/>
              </a:rPr>
              <a:t>E</a:t>
            </a:r>
            <a:r>
              <a:rPr lang="en-US" sz="2400" b="0" u="none" strike="noStrike">
                <a:solidFill>
                  <a:srgbClr val="000000"/>
                </a:solidFill>
                <a:effectLst/>
                <a:uFillTx/>
                <a:latin typeface="Arial"/>
                <a:ea typeface="ＭＳ Ｐゴシック"/>
              </a:rPr>
              <a:t>, 1 smartphone costs 4 bikes.</a:t>
            </a:r>
            <a:endParaRPr lang="en-CA" sz="2400" b="1" u="none" strike="noStrike">
              <a:solidFill>
                <a:srgbClr val="00468F"/>
              </a:solidFill>
              <a:effectLst/>
              <a:uFillTx/>
              <a:latin typeface="Arial"/>
            </a:endParaRPr>
          </a:p>
        </p:txBody>
      </p:sp>
      <p:sp>
        <p:nvSpPr>
          <p:cNvPr id="134"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pic>
        <p:nvPicPr>
          <p:cNvPr id="135" name="Picture 9"/>
          <p:cNvPicPr/>
          <p:nvPr/>
        </p:nvPicPr>
        <p:blipFill>
          <a:blip r:embed="rId3"/>
          <a:stretch/>
        </p:blipFill>
        <p:spPr>
          <a:xfrm>
            <a:off x="720720" y="2052720"/>
            <a:ext cx="7924320" cy="4239720"/>
          </a:xfrm>
          <a:prstGeom prst="rect">
            <a:avLst/>
          </a:prstGeom>
          <a:noFill/>
          <a:ln w="0">
            <a:noFill/>
          </a:ln>
        </p:spPr>
      </p:pic>
      <p:pic>
        <p:nvPicPr>
          <p:cNvPr id="136" name="Picture 10"/>
          <p:cNvPicPr/>
          <p:nvPr/>
        </p:nvPicPr>
        <p:blipFill>
          <a:blip r:embed="rId4"/>
          <a:stretch/>
        </p:blipFill>
        <p:spPr>
          <a:xfrm>
            <a:off x="720720" y="2052720"/>
            <a:ext cx="7924320" cy="4239720"/>
          </a:xfrm>
          <a:prstGeom prst="rect">
            <a:avLst/>
          </a:prstGeom>
          <a:noFill/>
          <a:ln w="0">
            <a:noFill/>
          </a:ln>
        </p:spPr>
      </p:pic>
      <p:pic>
        <p:nvPicPr>
          <p:cNvPr id="137" name="Picture 11"/>
          <p:cNvPicPr/>
          <p:nvPr/>
        </p:nvPicPr>
        <p:blipFill>
          <a:blip r:embed="rId5"/>
          <a:stretch/>
        </p:blipFill>
        <p:spPr>
          <a:xfrm>
            <a:off x="720720" y="2052720"/>
            <a:ext cx="7924320" cy="4239720"/>
          </a:xfrm>
          <a:prstGeom prst="rect">
            <a:avLst/>
          </a:prstGeom>
          <a:noFill/>
          <a:ln w="0">
            <a:noFill/>
          </a:ln>
        </p:spPr>
      </p:pic>
      <p:pic>
        <p:nvPicPr>
          <p:cNvPr id="138" name="Picture 12"/>
          <p:cNvPicPr/>
          <p:nvPr/>
        </p:nvPicPr>
        <p:blipFill>
          <a:blip r:embed="rId6"/>
          <a:stretch/>
        </p:blipFill>
        <p:spPr>
          <a:xfrm>
            <a:off x="720720" y="2052720"/>
            <a:ext cx="7924320" cy="4239720"/>
          </a:xfrm>
          <a:prstGeom prst="rect">
            <a:avLst/>
          </a:prstGeom>
          <a:noFill/>
          <a:ln w="0">
            <a:noFill/>
          </a:ln>
        </p:spPr>
      </p:pic>
      <p:pic>
        <p:nvPicPr>
          <p:cNvPr id="139" name="Picture 13"/>
          <p:cNvPicPr/>
          <p:nvPr/>
        </p:nvPicPr>
        <p:blipFill>
          <a:blip r:embed="rId7"/>
          <a:stretch/>
        </p:blipFill>
        <p:spPr>
          <a:xfrm>
            <a:off x="720720" y="2052720"/>
            <a:ext cx="7924320" cy="4239720"/>
          </a:xfrm>
          <a:prstGeom prst="rect">
            <a:avLst/>
          </a:prstGeom>
          <a:noFill/>
          <a:ln w="0">
            <a:noFill/>
          </a:ln>
        </p:spPr>
      </p:pic>
      <p:pic>
        <p:nvPicPr>
          <p:cNvPr id="140" name="Picture 14"/>
          <p:cNvPicPr/>
          <p:nvPr/>
        </p:nvPicPr>
        <p:blipFill>
          <a:blip r:embed="rId8"/>
          <a:stretch/>
        </p:blipFill>
        <p:spPr>
          <a:xfrm>
            <a:off x="720720" y="2052720"/>
            <a:ext cx="7924320" cy="42397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8" fill="hold" nodeType="withEffect">
                                  <p:stCondLst>
                                    <p:cond delay="0"/>
                                  </p:stCondLst>
                                  <p:childTnLst>
                                    <p:set>
                                      <p:cBhvr>
                                        <p:cTn id="6" dur="1" fill="hold">
                                          <p:stCondLst>
                                            <p:cond delay="0"/>
                                          </p:stCondLst>
                                        </p:cTn>
                                        <p:tgtEl>
                                          <p:spTgt spid="140"/>
                                        </p:tgtEl>
                                        <p:attrNameLst>
                                          <p:attrName>style.visibility</p:attrName>
                                        </p:attrNameLst>
                                      </p:cBhvr>
                                      <p:to>
                                        <p:strVal val="visible"/>
                                      </p:to>
                                    </p:set>
                                    <p:animEffect transition="in" filter="wipe(left)">
                                      <p:cBhvr additive="repl">
                                        <p:cTn id="7" dur="75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PlaceHolder 1"/>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Moving from </a:t>
            </a:r>
            <a:r>
              <a:rPr lang="en-US" sz="2400" b="0" i="1" u="none" strike="noStrike">
                <a:solidFill>
                  <a:srgbClr val="000000"/>
                </a:solidFill>
                <a:effectLst/>
                <a:uFillTx/>
                <a:latin typeface="Arial"/>
                <a:ea typeface="ＭＳ Ｐゴシック"/>
              </a:rPr>
              <a:t>E</a:t>
            </a:r>
            <a:r>
              <a:rPr lang="en-US" sz="2400" b="0" u="none" strike="noStrike">
                <a:solidFill>
                  <a:srgbClr val="000000"/>
                </a:solidFill>
                <a:effectLst/>
                <a:uFillTx/>
                <a:latin typeface="Arial"/>
                <a:ea typeface="ＭＳ Ｐゴシック"/>
              </a:rPr>
              <a:t> to </a:t>
            </a:r>
            <a:r>
              <a:rPr lang="en-US" sz="2400" b="0" i="1" u="none" strike="noStrike">
                <a:solidFill>
                  <a:srgbClr val="000000"/>
                </a:solidFill>
                <a:effectLst/>
                <a:uFillTx/>
                <a:latin typeface="Arial"/>
                <a:ea typeface="ＭＳ Ｐゴシック"/>
              </a:rPr>
              <a:t>F</a:t>
            </a:r>
            <a:r>
              <a:rPr lang="en-US" sz="2400" b="0" u="none" strike="noStrike">
                <a:solidFill>
                  <a:srgbClr val="000000"/>
                </a:solidFill>
                <a:effectLst/>
                <a:uFillTx/>
                <a:latin typeface="Arial"/>
                <a:ea typeface="ＭＳ Ｐゴシック"/>
              </a:rPr>
              <a:t>, 1 smartphone costs 5 bikes.</a:t>
            </a:r>
            <a:endParaRPr lang="en-CA" sz="2400" b="1" u="none" strike="noStrike">
              <a:solidFill>
                <a:srgbClr val="00468F"/>
              </a:solidFill>
              <a:effectLst/>
              <a:uFillTx/>
              <a:latin typeface="Arial"/>
            </a:endParaRPr>
          </a:p>
        </p:txBody>
      </p:sp>
      <p:sp>
        <p:nvSpPr>
          <p:cNvPr id="142"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pic>
        <p:nvPicPr>
          <p:cNvPr id="143" name="Picture 10"/>
          <p:cNvPicPr/>
          <p:nvPr/>
        </p:nvPicPr>
        <p:blipFill>
          <a:blip r:embed="rId3"/>
          <a:stretch/>
        </p:blipFill>
        <p:spPr>
          <a:xfrm>
            <a:off x="720720" y="2052720"/>
            <a:ext cx="7924320" cy="4239720"/>
          </a:xfrm>
          <a:prstGeom prst="rect">
            <a:avLst/>
          </a:prstGeom>
          <a:noFill/>
          <a:ln w="0">
            <a:noFill/>
          </a:ln>
        </p:spPr>
      </p:pic>
      <p:pic>
        <p:nvPicPr>
          <p:cNvPr id="144" name="Picture 11"/>
          <p:cNvPicPr/>
          <p:nvPr/>
        </p:nvPicPr>
        <p:blipFill>
          <a:blip r:embed="rId4"/>
          <a:stretch/>
        </p:blipFill>
        <p:spPr>
          <a:xfrm>
            <a:off x="720720" y="2052720"/>
            <a:ext cx="7924320" cy="4239720"/>
          </a:xfrm>
          <a:prstGeom prst="rect">
            <a:avLst/>
          </a:prstGeom>
          <a:noFill/>
          <a:ln w="0">
            <a:noFill/>
          </a:ln>
        </p:spPr>
      </p:pic>
      <p:pic>
        <p:nvPicPr>
          <p:cNvPr id="145" name="Picture 12"/>
          <p:cNvPicPr/>
          <p:nvPr/>
        </p:nvPicPr>
        <p:blipFill>
          <a:blip r:embed="rId5"/>
          <a:stretch/>
        </p:blipFill>
        <p:spPr>
          <a:xfrm>
            <a:off x="720720" y="2052720"/>
            <a:ext cx="7924320" cy="4239720"/>
          </a:xfrm>
          <a:prstGeom prst="rect">
            <a:avLst/>
          </a:prstGeom>
          <a:noFill/>
          <a:ln w="0">
            <a:noFill/>
          </a:ln>
        </p:spPr>
      </p:pic>
      <p:pic>
        <p:nvPicPr>
          <p:cNvPr id="146" name="Picture 13"/>
          <p:cNvPicPr/>
          <p:nvPr/>
        </p:nvPicPr>
        <p:blipFill>
          <a:blip r:embed="rId6"/>
          <a:stretch/>
        </p:blipFill>
        <p:spPr>
          <a:xfrm>
            <a:off x="720720" y="2052720"/>
            <a:ext cx="7924320" cy="4239720"/>
          </a:xfrm>
          <a:prstGeom prst="rect">
            <a:avLst/>
          </a:prstGeom>
          <a:noFill/>
          <a:ln w="0">
            <a:noFill/>
          </a:ln>
        </p:spPr>
      </p:pic>
      <p:pic>
        <p:nvPicPr>
          <p:cNvPr id="147" name="Picture 14"/>
          <p:cNvPicPr/>
          <p:nvPr/>
        </p:nvPicPr>
        <p:blipFill>
          <a:blip r:embed="rId7"/>
          <a:stretch/>
        </p:blipFill>
        <p:spPr>
          <a:xfrm>
            <a:off x="720720" y="2052720"/>
            <a:ext cx="7924320" cy="4239720"/>
          </a:xfrm>
          <a:prstGeom prst="rect">
            <a:avLst/>
          </a:prstGeom>
          <a:noFill/>
          <a:ln w="0">
            <a:noFill/>
          </a:ln>
        </p:spPr>
      </p:pic>
      <p:pic>
        <p:nvPicPr>
          <p:cNvPr id="148" name="Picture 15"/>
          <p:cNvPicPr/>
          <p:nvPr/>
        </p:nvPicPr>
        <p:blipFill>
          <a:blip r:embed="rId8"/>
          <a:stretch/>
        </p:blipFill>
        <p:spPr>
          <a:xfrm>
            <a:off x="720720" y="2052720"/>
            <a:ext cx="7924320" cy="4239720"/>
          </a:xfrm>
          <a:prstGeom prst="rect">
            <a:avLst/>
          </a:prstGeom>
          <a:noFill/>
          <a:ln w="0">
            <a:noFill/>
          </a:ln>
        </p:spPr>
      </p:pic>
      <p:pic>
        <p:nvPicPr>
          <p:cNvPr id="149" name="Picture 16"/>
          <p:cNvPicPr/>
          <p:nvPr/>
        </p:nvPicPr>
        <p:blipFill>
          <a:blip r:embed="rId9"/>
          <a:stretch/>
        </p:blipFill>
        <p:spPr>
          <a:xfrm>
            <a:off x="720720" y="2052720"/>
            <a:ext cx="7924320" cy="42397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8" fill="hold" nodeType="withEffect">
                                  <p:stCondLst>
                                    <p:cond delay="0"/>
                                  </p:stCondLst>
                                  <p:childTnLst>
                                    <p:set>
                                      <p:cBhvr>
                                        <p:cTn id="6" dur="1" fill="hold">
                                          <p:stCondLst>
                                            <p:cond delay="0"/>
                                          </p:stCondLst>
                                        </p:cTn>
                                        <p:tgtEl>
                                          <p:spTgt spid="149"/>
                                        </p:tgtEl>
                                        <p:attrNameLst>
                                          <p:attrName>style.visibility</p:attrName>
                                        </p:attrNameLst>
                                      </p:cBhvr>
                                      <p:to>
                                        <p:strVal val="visible"/>
                                      </p:to>
                                    </p:set>
                                    <p:animEffect transition="in" filter="wipe(left)">
                                      <p:cBhvr additive="repl">
                                        <p:cTn id="7" dur="75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 name="Picture 10"/>
          <p:cNvPicPr/>
          <p:nvPr/>
        </p:nvPicPr>
        <p:blipFill>
          <a:blip r:embed="rId3"/>
          <a:stretch/>
        </p:blipFill>
        <p:spPr>
          <a:xfrm>
            <a:off x="1440000" y="1440000"/>
            <a:ext cx="6835320" cy="5173200"/>
          </a:xfrm>
          <a:prstGeom prst="rect">
            <a:avLst/>
          </a:prstGeom>
          <a:noFill/>
          <a:ln w="0">
            <a:noFill/>
          </a:ln>
        </p:spPr>
      </p:pic>
      <p:pic>
        <p:nvPicPr>
          <p:cNvPr id="151" name="Picture 11"/>
          <p:cNvPicPr/>
          <p:nvPr/>
        </p:nvPicPr>
        <p:blipFill>
          <a:blip r:embed="rId4"/>
          <a:stretch/>
        </p:blipFill>
        <p:spPr>
          <a:xfrm>
            <a:off x="1440000" y="1440000"/>
            <a:ext cx="6835320" cy="5173200"/>
          </a:xfrm>
          <a:prstGeom prst="rect">
            <a:avLst/>
          </a:prstGeom>
          <a:noFill/>
          <a:ln w="0">
            <a:noFill/>
          </a:ln>
        </p:spPr>
      </p:pic>
      <p:pic>
        <p:nvPicPr>
          <p:cNvPr id="152" name="Picture 12"/>
          <p:cNvPicPr/>
          <p:nvPr/>
        </p:nvPicPr>
        <p:blipFill>
          <a:blip r:embed="rId5"/>
          <a:stretch/>
        </p:blipFill>
        <p:spPr>
          <a:xfrm>
            <a:off x="1440000" y="1440000"/>
            <a:ext cx="6835320" cy="5173200"/>
          </a:xfrm>
          <a:prstGeom prst="rect">
            <a:avLst/>
          </a:prstGeom>
          <a:noFill/>
          <a:ln w="0">
            <a:noFill/>
          </a:ln>
        </p:spPr>
      </p:pic>
      <p:pic>
        <p:nvPicPr>
          <p:cNvPr id="153" name="Picture 13"/>
          <p:cNvPicPr/>
          <p:nvPr/>
        </p:nvPicPr>
        <p:blipFill>
          <a:blip r:embed="rId6"/>
          <a:stretch/>
        </p:blipFill>
        <p:spPr>
          <a:xfrm>
            <a:off x="1440000" y="1440000"/>
            <a:ext cx="6835320" cy="5173200"/>
          </a:xfrm>
          <a:prstGeom prst="rect">
            <a:avLst/>
          </a:prstGeom>
          <a:noFill/>
          <a:ln w="0">
            <a:noFill/>
          </a:ln>
        </p:spPr>
      </p:pic>
      <p:pic>
        <p:nvPicPr>
          <p:cNvPr id="154" name="Picture 20"/>
          <p:cNvPicPr/>
          <p:nvPr/>
        </p:nvPicPr>
        <p:blipFill>
          <a:blip r:embed="rId7"/>
          <a:stretch/>
        </p:blipFill>
        <p:spPr>
          <a:xfrm>
            <a:off x="1440000" y="1440000"/>
            <a:ext cx="6835320" cy="5173200"/>
          </a:xfrm>
          <a:prstGeom prst="rect">
            <a:avLst/>
          </a:prstGeom>
          <a:noFill/>
          <a:ln w="0">
            <a:noFill/>
          </a:ln>
        </p:spPr>
      </p:pic>
      <p:pic>
        <p:nvPicPr>
          <p:cNvPr id="155" name="Picture 21"/>
          <p:cNvPicPr/>
          <p:nvPr/>
        </p:nvPicPr>
        <p:blipFill>
          <a:blip r:embed="rId8"/>
          <a:stretch/>
        </p:blipFill>
        <p:spPr>
          <a:xfrm>
            <a:off x="1440000" y="1440000"/>
            <a:ext cx="6835320" cy="5173200"/>
          </a:xfrm>
          <a:prstGeom prst="rect">
            <a:avLst/>
          </a:prstGeom>
          <a:noFill/>
          <a:ln w="0">
            <a:noFill/>
          </a:ln>
        </p:spPr>
      </p:pic>
      <p:pic>
        <p:nvPicPr>
          <p:cNvPr id="156" name="Picture 22"/>
          <p:cNvPicPr/>
          <p:nvPr/>
        </p:nvPicPr>
        <p:blipFill>
          <a:blip r:embed="rId9"/>
          <a:stretch/>
        </p:blipFill>
        <p:spPr>
          <a:xfrm>
            <a:off x="1440000" y="1440000"/>
            <a:ext cx="6835320" cy="5173200"/>
          </a:xfrm>
          <a:prstGeom prst="rect">
            <a:avLst/>
          </a:prstGeom>
          <a:noFill/>
          <a:ln w="0">
            <a:noFill/>
          </a:ln>
        </p:spPr>
      </p:pic>
      <p:sp>
        <p:nvSpPr>
          <p:cNvPr id="15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58" name="PlaceHolder 2"/>
          <p:cNvSpPr>
            <a:spLocks noGrp="1"/>
          </p:cNvSpPr>
          <p:nvPr>
            <p:ph/>
          </p:nvPr>
        </p:nvSpPr>
        <p:spPr>
          <a:xfrm>
            <a:off x="360360" y="1440000"/>
            <a:ext cx="411444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pPr>
            <a:r>
              <a:rPr lang="en-CA" sz="2400" b="1" u="none" strike="noStrike">
                <a:solidFill>
                  <a:schemeClr val="dk1"/>
                </a:solidFill>
                <a:effectLst/>
                <a:uFillTx/>
                <a:latin typeface="Arial"/>
                <a:ea typeface="ＭＳ Ｐゴシック"/>
              </a:rPr>
              <a:t>Increasing Opportunity Cost</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pPr>
            <a:r>
              <a:rPr lang="en-CA" sz="2400" b="0" u="none" strike="noStrike">
                <a:solidFill>
                  <a:srgbClr val="000000"/>
                </a:solidFill>
                <a:effectLst/>
                <a:uFillTx/>
                <a:latin typeface="Arial"/>
                <a:ea typeface="ＭＳ Ｐゴシック"/>
              </a:rPr>
              <a:t>The</a:t>
            </a:r>
            <a:r>
              <a:rPr lang="en-US" sz="2400" b="0" u="none" strike="noStrike">
                <a:solidFill>
                  <a:srgbClr val="000000"/>
                </a:solidFill>
                <a:effectLst/>
                <a:uFillTx/>
                <a:latin typeface="Arial"/>
                <a:ea typeface="ＭＳ Ｐゴシック"/>
              </a:rPr>
              <a:t> opportunity cost of a smartphone increases as more smartphones are produced.</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58">
                                            <p:txEl>
                                              <p:pRg st="1" end="1"/>
                                            </p:txEl>
                                          </p:spTgt>
                                        </p:tgtEl>
                                        <p:attrNameLst>
                                          <p:attrName>style.visibility</p:attrName>
                                        </p:attrNameLst>
                                      </p:cBhvr>
                                      <p:to>
                                        <p:strVal val="visible"/>
                                      </p:to>
                                    </p:set>
                                    <p:animEffect transition="in" filter="wipe(left)">
                                      <p:cBhvr additive="repl">
                                        <p:cTn id="7" dur="500"/>
                                        <p:tgtEl>
                                          <p:spTgt spid="158">
                                            <p:txEl>
                                              <p:pRg st="1" end="1"/>
                                            </p:txEl>
                                          </p:spTgt>
                                        </p:tgtEl>
                                      </p:cBhvr>
                                    </p:animEffect>
                                  </p:childTnLst>
                                </p:cTn>
                              </p:par>
                              <p:par>
                                <p:cTn id="8" presetID="22" presetClass="entr" presetSubtype="4" fill="hold" nodeType="withEffect">
                                  <p:stCondLst>
                                    <p:cond delay="0"/>
                                  </p:stCondLst>
                                  <p:childTnLst>
                                    <p:set>
                                      <p:cBhvr>
                                        <p:cTn id="9" dur="1" fill="hold">
                                          <p:stCondLst>
                                            <p:cond delay="0"/>
                                          </p:stCondLst>
                                        </p:cTn>
                                        <p:tgtEl>
                                          <p:spTgt spid="151"/>
                                        </p:tgtEl>
                                        <p:attrNameLst>
                                          <p:attrName>style.visibility</p:attrName>
                                        </p:attrNameLst>
                                      </p:cBhvr>
                                      <p:to>
                                        <p:strVal val="visible"/>
                                      </p:to>
                                    </p:set>
                                    <p:animEffect transition="in" filter="wipe(down)">
                                      <p:cBhvr additive="repl">
                                        <p:cTn id="10" dur="1250"/>
                                        <p:tgtEl>
                                          <p:spTgt spid="151"/>
                                        </p:tgtEl>
                                      </p:cBhvr>
                                    </p:animEffect>
                                  </p:childTnLst>
                                </p:cTn>
                              </p:par>
                              <p:par>
                                <p:cTn id="11" presetID="22" presetClass="entr" presetSubtype="4" fill="hold" nodeType="withEffect">
                                  <p:stCondLst>
                                    <p:cond delay="1500"/>
                                  </p:stCondLst>
                                  <p:childTnLst>
                                    <p:set>
                                      <p:cBhvr>
                                        <p:cTn id="12" dur="1" fill="hold">
                                          <p:stCondLst>
                                            <p:cond delay="0"/>
                                          </p:stCondLst>
                                        </p:cTn>
                                        <p:tgtEl>
                                          <p:spTgt spid="152"/>
                                        </p:tgtEl>
                                        <p:attrNameLst>
                                          <p:attrName>style.visibility</p:attrName>
                                        </p:attrNameLst>
                                      </p:cBhvr>
                                      <p:to>
                                        <p:strVal val="visible"/>
                                      </p:to>
                                    </p:set>
                                    <p:animEffect transition="in" filter="wipe(down)">
                                      <p:cBhvr additive="repl">
                                        <p:cTn id="13" dur="1250"/>
                                        <p:tgtEl>
                                          <p:spTgt spid="152"/>
                                        </p:tgtEl>
                                      </p:cBhvr>
                                    </p:animEffect>
                                  </p:childTnLst>
                                </p:cTn>
                              </p:par>
                              <p:par>
                                <p:cTn id="14" presetID="22" presetClass="entr" presetSubtype="4" fill="hold" nodeType="withEffect">
                                  <p:stCondLst>
                                    <p:cond delay="3000"/>
                                  </p:stCondLst>
                                  <p:childTnLst>
                                    <p:set>
                                      <p:cBhvr>
                                        <p:cTn id="15" dur="1" fill="hold">
                                          <p:stCondLst>
                                            <p:cond delay="0"/>
                                          </p:stCondLst>
                                        </p:cTn>
                                        <p:tgtEl>
                                          <p:spTgt spid="153"/>
                                        </p:tgtEl>
                                        <p:attrNameLst>
                                          <p:attrName>style.visibility</p:attrName>
                                        </p:attrNameLst>
                                      </p:cBhvr>
                                      <p:to>
                                        <p:strVal val="visible"/>
                                      </p:to>
                                    </p:set>
                                    <p:animEffect transition="in" filter="wipe(down)">
                                      <p:cBhvr additive="repl">
                                        <p:cTn id="16" dur="1250"/>
                                        <p:tgtEl>
                                          <p:spTgt spid="153"/>
                                        </p:tgtEl>
                                      </p:cBhvr>
                                    </p:animEffect>
                                  </p:childTnLst>
                                </p:cTn>
                              </p:par>
                              <p:par>
                                <p:cTn id="17" presetID="22" presetClass="entr" presetSubtype="4" fill="hold" nodeType="withEffect">
                                  <p:stCondLst>
                                    <p:cond delay="4500"/>
                                  </p:stCondLst>
                                  <p:childTnLst>
                                    <p:set>
                                      <p:cBhvr>
                                        <p:cTn id="18" dur="1" fill="hold">
                                          <p:stCondLst>
                                            <p:cond delay="0"/>
                                          </p:stCondLst>
                                        </p:cTn>
                                        <p:tgtEl>
                                          <p:spTgt spid="154"/>
                                        </p:tgtEl>
                                        <p:attrNameLst>
                                          <p:attrName>style.visibility</p:attrName>
                                        </p:attrNameLst>
                                      </p:cBhvr>
                                      <p:to>
                                        <p:strVal val="visible"/>
                                      </p:to>
                                    </p:set>
                                    <p:animEffect transition="in" filter="wipe(down)">
                                      <p:cBhvr additive="repl">
                                        <p:cTn id="19" dur="1250"/>
                                        <p:tgtEl>
                                          <p:spTgt spid="154"/>
                                        </p:tgtEl>
                                      </p:cBhvr>
                                    </p:animEffect>
                                  </p:childTnLst>
                                </p:cTn>
                              </p:par>
                              <p:par>
                                <p:cTn id="20" presetID="22" presetClass="entr" presetSubtype="4" fill="hold" nodeType="withEffect">
                                  <p:stCondLst>
                                    <p:cond delay="6000"/>
                                  </p:stCondLst>
                                  <p:childTnLst>
                                    <p:set>
                                      <p:cBhvr>
                                        <p:cTn id="21" dur="1" fill="hold">
                                          <p:stCondLst>
                                            <p:cond delay="0"/>
                                          </p:stCondLst>
                                        </p:cTn>
                                        <p:tgtEl>
                                          <p:spTgt spid="155"/>
                                        </p:tgtEl>
                                        <p:attrNameLst>
                                          <p:attrName>style.visibility</p:attrName>
                                        </p:attrNameLst>
                                      </p:cBhvr>
                                      <p:to>
                                        <p:strVal val="visible"/>
                                      </p:to>
                                    </p:set>
                                    <p:animEffect transition="in" filter="wipe(down)">
                                      <p:cBhvr additive="repl">
                                        <p:cTn id="22" dur="1250"/>
                                        <p:tgtEl>
                                          <p:spTgt spid="155"/>
                                        </p:tgtEl>
                                      </p:cBhvr>
                                    </p:animEffect>
                                  </p:childTnLst>
                                </p:cTn>
                              </p:par>
                              <p:par>
                                <p:cTn id="23" presetID="10" presetClass="entr" fill="hold" nodeType="withEffect">
                                  <p:stCondLst>
                                    <p:cond delay="7100"/>
                                  </p:stCondLst>
                                  <p:childTnLst>
                                    <p:set>
                                      <p:cBhvr>
                                        <p:cTn id="24" dur="1" fill="hold">
                                          <p:stCondLst>
                                            <p:cond delay="0"/>
                                          </p:stCondLst>
                                        </p:cTn>
                                        <p:tgtEl>
                                          <p:spTgt spid="156"/>
                                        </p:tgtEl>
                                        <p:attrNameLst>
                                          <p:attrName>style.visibility</p:attrName>
                                        </p:attrNameLst>
                                      </p:cBhvr>
                                      <p:to>
                                        <p:strVal val="visible"/>
                                      </p:to>
                                    </p:set>
                                    <p:animEffect transition="in" filter="fade">
                                      <p:cBhvr additive="repl">
                                        <p:cTn id="25" dur="500"/>
                                        <p:tgtEl>
                                          <p:spTgt spid="1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9" name="Picture 13"/>
          <p:cNvPicPr/>
          <p:nvPr/>
        </p:nvPicPr>
        <p:blipFill>
          <a:blip r:embed="rId3"/>
          <a:stretch/>
        </p:blipFill>
        <p:spPr>
          <a:xfrm>
            <a:off x="612720" y="395280"/>
            <a:ext cx="7687800" cy="5820840"/>
          </a:xfrm>
          <a:prstGeom prst="rect">
            <a:avLst/>
          </a:prstGeom>
          <a:noFill/>
          <a:ln w="0">
            <a:noFill/>
          </a:ln>
        </p:spPr>
      </p:pic>
      <p:pic>
        <p:nvPicPr>
          <p:cNvPr id="160" name="Picture 14"/>
          <p:cNvPicPr/>
          <p:nvPr/>
        </p:nvPicPr>
        <p:blipFill>
          <a:blip r:embed="rId4"/>
          <a:stretch/>
        </p:blipFill>
        <p:spPr>
          <a:xfrm>
            <a:off x="612720" y="395280"/>
            <a:ext cx="7687800" cy="5820840"/>
          </a:xfrm>
          <a:prstGeom prst="rect">
            <a:avLst/>
          </a:prstGeom>
          <a:noFill/>
          <a:ln w="0">
            <a:noFill/>
          </a:ln>
        </p:spPr>
      </p:pic>
      <p:pic>
        <p:nvPicPr>
          <p:cNvPr id="161" name="Picture 15"/>
          <p:cNvPicPr/>
          <p:nvPr/>
        </p:nvPicPr>
        <p:blipFill>
          <a:blip r:embed="rId5"/>
          <a:stretch/>
        </p:blipFill>
        <p:spPr>
          <a:xfrm>
            <a:off x="612720" y="395280"/>
            <a:ext cx="7687800" cy="5820840"/>
          </a:xfrm>
          <a:prstGeom prst="rect">
            <a:avLst/>
          </a:prstGeom>
          <a:noFill/>
          <a:ln w="0">
            <a:noFill/>
          </a:ln>
        </p:spPr>
      </p:pic>
      <p:pic>
        <p:nvPicPr>
          <p:cNvPr id="162" name="Picture 16"/>
          <p:cNvPicPr/>
          <p:nvPr/>
        </p:nvPicPr>
        <p:blipFill>
          <a:blip r:embed="rId6"/>
          <a:stretch/>
        </p:blipFill>
        <p:spPr>
          <a:xfrm>
            <a:off x="612720" y="395280"/>
            <a:ext cx="7687800" cy="5820840"/>
          </a:xfrm>
          <a:prstGeom prst="rect">
            <a:avLst/>
          </a:prstGeom>
          <a:noFill/>
          <a:ln w="0">
            <a:noFill/>
          </a:ln>
        </p:spPr>
      </p:pic>
      <p:pic>
        <p:nvPicPr>
          <p:cNvPr id="163" name="Picture 17"/>
          <p:cNvPicPr/>
          <p:nvPr/>
        </p:nvPicPr>
        <p:blipFill>
          <a:blip r:embed="rId7"/>
          <a:stretch/>
        </p:blipFill>
        <p:spPr>
          <a:xfrm>
            <a:off x="612720" y="395280"/>
            <a:ext cx="7687800" cy="5820840"/>
          </a:xfrm>
          <a:prstGeom prst="rect">
            <a:avLst/>
          </a:prstGeom>
          <a:noFill/>
          <a:ln w="0">
            <a:noFill/>
          </a:ln>
        </p:spPr>
      </p:pic>
      <p:pic>
        <p:nvPicPr>
          <p:cNvPr id="164" name="Picture 19"/>
          <p:cNvPicPr/>
          <p:nvPr/>
        </p:nvPicPr>
        <p:blipFill>
          <a:blip r:embed="rId8"/>
          <a:stretch/>
        </p:blipFill>
        <p:spPr>
          <a:xfrm>
            <a:off x="612720" y="395280"/>
            <a:ext cx="7687800" cy="5820840"/>
          </a:xfrm>
          <a:prstGeom prst="rect">
            <a:avLst/>
          </a:prstGeom>
          <a:noFill/>
          <a:ln w="0">
            <a:noFill/>
          </a:ln>
        </p:spPr>
      </p:pic>
      <p:pic>
        <p:nvPicPr>
          <p:cNvPr id="165" name="Picture 20"/>
          <p:cNvPicPr/>
          <p:nvPr/>
        </p:nvPicPr>
        <p:blipFill>
          <a:blip r:embed="rId9"/>
          <a:stretch/>
        </p:blipFill>
        <p:spPr>
          <a:xfrm>
            <a:off x="612720" y="395280"/>
            <a:ext cx="7687800" cy="58208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4" fill="hold" nodeType="clickEffect">
                                  <p:stCondLst>
                                    <p:cond delay="0"/>
                                  </p:stCondLst>
                                  <p:childTnLst>
                                    <p:set>
                                      <p:cBhvr>
                                        <p:cTn id="6" dur="1" fill="hold">
                                          <p:stCondLst>
                                            <p:cond delay="0"/>
                                          </p:stCondLst>
                                        </p:cTn>
                                        <p:tgtEl>
                                          <p:spTgt spid="160"/>
                                        </p:tgtEl>
                                        <p:attrNameLst>
                                          <p:attrName>style.visibility</p:attrName>
                                        </p:attrNameLst>
                                      </p:cBhvr>
                                      <p:to>
                                        <p:strVal val="visible"/>
                                      </p:to>
                                    </p:set>
                                    <p:animEffect transition="in" filter="wipe(down)">
                                      <p:cBhvr additive="repl">
                                        <p:cTn id="7" dur="1250"/>
                                        <p:tgtEl>
                                          <p:spTgt spid="160"/>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4" fill="hold" nodeType="clickEffect">
                                  <p:stCondLst>
                                    <p:cond delay="0"/>
                                  </p:stCondLst>
                                  <p:childTnLst>
                                    <p:set>
                                      <p:cBhvr>
                                        <p:cTn id="11" dur="1" fill="hold">
                                          <p:stCondLst>
                                            <p:cond delay="0"/>
                                          </p:stCondLst>
                                        </p:cTn>
                                        <p:tgtEl>
                                          <p:spTgt spid="161"/>
                                        </p:tgtEl>
                                        <p:attrNameLst>
                                          <p:attrName>style.visibility</p:attrName>
                                        </p:attrNameLst>
                                      </p:cBhvr>
                                      <p:to>
                                        <p:strVal val="visible"/>
                                      </p:to>
                                    </p:set>
                                    <p:animEffect transition="in" filter="wipe(down)">
                                      <p:cBhvr additive="repl">
                                        <p:cTn id="12" dur="1250"/>
                                        <p:tgtEl>
                                          <p:spTgt spid="161"/>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4" fill="hold" nodeType="clickEffect">
                                  <p:stCondLst>
                                    <p:cond delay="0"/>
                                  </p:stCondLst>
                                  <p:childTnLst>
                                    <p:set>
                                      <p:cBhvr>
                                        <p:cTn id="16" dur="1" fill="hold">
                                          <p:stCondLst>
                                            <p:cond delay="0"/>
                                          </p:stCondLst>
                                        </p:cTn>
                                        <p:tgtEl>
                                          <p:spTgt spid="162"/>
                                        </p:tgtEl>
                                        <p:attrNameLst>
                                          <p:attrName>style.visibility</p:attrName>
                                        </p:attrNameLst>
                                      </p:cBhvr>
                                      <p:to>
                                        <p:strVal val="visible"/>
                                      </p:to>
                                    </p:set>
                                    <p:animEffect transition="in" filter="wipe(down)">
                                      <p:cBhvr additive="repl">
                                        <p:cTn id="17" dur="1250"/>
                                        <p:tgtEl>
                                          <p:spTgt spid="162"/>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4" fill="hold" nodeType="clickEffect">
                                  <p:stCondLst>
                                    <p:cond delay="0"/>
                                  </p:stCondLst>
                                  <p:childTnLst>
                                    <p:set>
                                      <p:cBhvr>
                                        <p:cTn id="21" dur="1" fill="hold">
                                          <p:stCondLst>
                                            <p:cond delay="0"/>
                                          </p:stCondLst>
                                        </p:cTn>
                                        <p:tgtEl>
                                          <p:spTgt spid="163"/>
                                        </p:tgtEl>
                                        <p:attrNameLst>
                                          <p:attrName>style.visibility</p:attrName>
                                        </p:attrNameLst>
                                      </p:cBhvr>
                                      <p:to>
                                        <p:strVal val="visible"/>
                                      </p:to>
                                    </p:set>
                                    <p:animEffect transition="in" filter="wipe(down)">
                                      <p:cBhvr additive="repl">
                                        <p:cTn id="22" dur="1250"/>
                                        <p:tgtEl>
                                          <p:spTgt spid="163"/>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4" fill="hold" nodeType="clickEffect">
                                  <p:stCondLst>
                                    <p:cond delay="0"/>
                                  </p:stCondLst>
                                  <p:childTnLst>
                                    <p:set>
                                      <p:cBhvr>
                                        <p:cTn id="26" dur="1" fill="hold">
                                          <p:stCondLst>
                                            <p:cond delay="0"/>
                                          </p:stCondLst>
                                        </p:cTn>
                                        <p:tgtEl>
                                          <p:spTgt spid="164"/>
                                        </p:tgtEl>
                                        <p:attrNameLst>
                                          <p:attrName>style.visibility</p:attrName>
                                        </p:attrNameLst>
                                      </p:cBhvr>
                                      <p:to>
                                        <p:strVal val="visible"/>
                                      </p:to>
                                    </p:set>
                                    <p:animEffect transition="in" filter="wipe(down)">
                                      <p:cBhvr additive="repl">
                                        <p:cTn id="27" dur="1250"/>
                                        <p:tgtEl>
                                          <p:spTgt spid="164"/>
                                        </p:tgtEl>
                                      </p:cBhvr>
                                    </p:animEffect>
                                  </p:childTnLst>
                                </p:cTn>
                              </p:par>
                            </p:childTnLst>
                          </p:cTn>
                        </p:par>
                        <p:par>
                          <p:cTn id="28" fill="hold" nodeType="afterEffect">
                            <p:stCondLst>
                              <p:cond delay="1250"/>
                            </p:stCondLst>
                            <p:childTnLst>
                              <p:par>
                                <p:cTn id="29" presetID="10" presetClass="entr" fill="hold" nodeType="afterEffect">
                                  <p:stCondLst>
                                    <p:cond delay="0"/>
                                  </p:stCondLst>
                                  <p:childTnLst>
                                    <p:set>
                                      <p:cBhvr>
                                        <p:cTn id="30" dur="1" fill="hold">
                                          <p:stCondLst>
                                            <p:cond delay="0"/>
                                          </p:stCondLst>
                                        </p:cTn>
                                        <p:tgtEl>
                                          <p:spTgt spid="165"/>
                                        </p:tgtEl>
                                        <p:attrNameLst>
                                          <p:attrName>style.visibility</p:attrName>
                                        </p:attrNameLst>
                                      </p:cBhvr>
                                      <p:to>
                                        <p:strVal val="visible"/>
                                      </p:to>
                                    </p:set>
                                    <p:animEffect transition="in" filter="fade">
                                      <p:cBhvr additive="repl">
                                        <p:cTn id="31" dur="5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Rectangle 2"/>
          <p:cNvSpPr/>
          <p:nvPr/>
        </p:nvSpPr>
        <p:spPr>
          <a:xfrm>
            <a:off x="380880" y="1739880"/>
            <a:ext cx="81529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2400" b="0" u="none" strike="noStrike">
              <a:solidFill>
                <a:srgbClr val="1566B0"/>
              </a:solidFill>
              <a:effectLst/>
              <a:uFillTx/>
              <a:latin typeface="Arial"/>
              <a:ea typeface="ＭＳ Ｐゴシック"/>
            </a:endParaRPr>
          </a:p>
        </p:txBody>
      </p:sp>
      <p:sp>
        <p:nvSpPr>
          <p:cNvPr id="1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68"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Opportunity Cost and the Slope of the </a:t>
            </a:r>
            <a:r>
              <a:rPr lang="en-US" sz="2800" b="1" i="1" u="none" strike="noStrike">
                <a:solidFill>
                  <a:srgbClr val="00468F"/>
                </a:solidFill>
                <a:effectLst/>
                <a:uFillTx/>
                <a:latin typeface="Arial"/>
                <a:ea typeface="ＭＳ Ｐゴシック"/>
              </a:rPr>
              <a:t>PPF</a:t>
            </a:r>
            <a:r>
              <a:rPr lang="en-US" sz="2800" b="1" u="none" strike="noStrike">
                <a:solidFill>
                  <a:srgbClr val="00468F"/>
                </a:solidFill>
                <a:effectLst/>
                <a:uFillTx/>
                <a:latin typeface="Arial"/>
                <a:ea typeface="ＭＳ Ｐゴシック"/>
              </a:rPr>
              <a:t> </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The magnitude of the slope of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measures opportunity cost.</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The slope of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in Figure 3.4 measures the opportunity cost of a smartphone.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is bowed outward. As more smartphones are produced, the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becomes steeper and the opportunity cost of a smartphone increases. </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68">
                                            <p:txEl>
                                              <p:pRg st="1" end="1"/>
                                            </p:txEl>
                                          </p:spTgt>
                                        </p:tgtEl>
                                        <p:attrNameLst>
                                          <p:attrName>style.visibility</p:attrName>
                                        </p:attrNameLst>
                                      </p:cBhvr>
                                      <p:to>
                                        <p:strVal val="visible"/>
                                      </p:to>
                                    </p:set>
                                    <p:animEffect transition="in" filter="wipe(left)">
                                      <p:cBhvr additive="repl">
                                        <p:cTn id="7" dur="500"/>
                                        <p:tgtEl>
                                          <p:spTgt spid="168">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68">
                                            <p:txEl>
                                              <p:pRg st="2" end="2"/>
                                            </p:txEl>
                                          </p:spTgt>
                                        </p:tgtEl>
                                        <p:attrNameLst>
                                          <p:attrName>style.visibility</p:attrName>
                                        </p:attrNameLst>
                                      </p:cBhvr>
                                      <p:to>
                                        <p:strVal val="visible"/>
                                      </p:to>
                                    </p:set>
                                    <p:animEffect transition="in" filter="wipe(left)">
                                      <p:cBhvr additive="repl">
                                        <p:cTn id="12" dur="500"/>
                                        <p:tgtEl>
                                          <p:spTgt spid="168">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68">
                                            <p:txEl>
                                              <p:pRg st="3" end="3"/>
                                            </p:txEl>
                                          </p:spTgt>
                                        </p:tgtEl>
                                        <p:attrNameLst>
                                          <p:attrName>style.visibility</p:attrName>
                                        </p:attrNameLst>
                                      </p:cBhvr>
                                      <p:to>
                                        <p:strVal val="visible"/>
                                      </p:to>
                                    </p:set>
                                    <p:animEffect transition="in" filter="wipe(left)">
                                      <p:cBhvr additive="repl">
                                        <p:cTn id="17" dur="500"/>
                                        <p:tgtEl>
                                          <p:spTgt spid="16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Rectangle 2"/>
          <p:cNvSpPr/>
          <p:nvPr/>
        </p:nvSpPr>
        <p:spPr>
          <a:xfrm>
            <a:off x="380880" y="1739880"/>
            <a:ext cx="81529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2400" b="0" u="none" strike="noStrike">
              <a:solidFill>
                <a:srgbClr val="1566B0"/>
              </a:solidFill>
              <a:effectLst/>
              <a:uFillTx/>
              <a:latin typeface="Arial"/>
              <a:ea typeface="ＭＳ Ｐゴシック"/>
            </a:endParaRPr>
          </a:p>
        </p:txBody>
      </p:sp>
      <p:sp>
        <p:nvSpPr>
          <p:cNvPr id="17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71"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Opportunity Cost Is a Ratio</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The opportunity cost of a smartphone is the quantity of bikes forgone divided by the increase in the quantity of smartphones gained. </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The opportunity cost of a bike is the quantity of smartphones forgone divided by the increase in the quantity of bikes gained.</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When the opportunity cost of a smartphone is </a:t>
            </a:r>
            <a:r>
              <a:rPr lang="en-US" sz="2400" b="0" i="1" u="none" strike="noStrike">
                <a:solidFill>
                  <a:srgbClr val="000000"/>
                </a:solidFill>
                <a:effectLst/>
                <a:uFillTx/>
                <a:latin typeface="Arial"/>
                <a:ea typeface="ＭＳ Ｐゴシック"/>
              </a:rPr>
              <a:t>x</a:t>
            </a:r>
            <a:r>
              <a:rPr lang="en-US" sz="2400" b="0" u="none" strike="noStrike">
                <a:solidFill>
                  <a:srgbClr val="000000"/>
                </a:solidFill>
                <a:effectLst/>
                <a:uFillTx/>
                <a:latin typeface="Arial"/>
                <a:ea typeface="ＭＳ Ｐゴシック"/>
              </a:rPr>
              <a:t> bikes, the opportunity cost of a bike is 1/</a:t>
            </a:r>
            <a:r>
              <a:rPr lang="en-US" sz="2400" b="0" i="1" u="none" strike="noStrike">
                <a:solidFill>
                  <a:srgbClr val="000000"/>
                </a:solidFill>
                <a:effectLst/>
                <a:uFillTx/>
                <a:latin typeface="Arial"/>
                <a:ea typeface="ＭＳ Ｐゴシック"/>
              </a:rPr>
              <a:t>x</a:t>
            </a:r>
            <a:r>
              <a:rPr lang="en-US" sz="2400" b="0" u="none" strike="noStrike">
                <a:solidFill>
                  <a:srgbClr val="000000"/>
                </a:solidFill>
                <a:effectLst/>
                <a:uFillTx/>
                <a:latin typeface="Arial"/>
                <a:ea typeface="ＭＳ Ｐゴシック"/>
              </a:rPr>
              <a:t> smartphones. </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71">
                                            <p:txEl>
                                              <p:pRg st="1" end="1"/>
                                            </p:txEl>
                                          </p:spTgt>
                                        </p:tgtEl>
                                        <p:attrNameLst>
                                          <p:attrName>style.visibility</p:attrName>
                                        </p:attrNameLst>
                                      </p:cBhvr>
                                      <p:to>
                                        <p:strVal val="visible"/>
                                      </p:to>
                                    </p:set>
                                    <p:animEffect transition="in" filter="wipe(left)">
                                      <p:cBhvr additive="repl">
                                        <p:cTn id="7" dur="500"/>
                                        <p:tgtEl>
                                          <p:spTgt spid="171">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71">
                                            <p:txEl>
                                              <p:pRg st="2" end="2"/>
                                            </p:txEl>
                                          </p:spTgt>
                                        </p:tgtEl>
                                        <p:attrNameLst>
                                          <p:attrName>style.visibility</p:attrName>
                                        </p:attrNameLst>
                                      </p:cBhvr>
                                      <p:to>
                                        <p:strVal val="visible"/>
                                      </p:to>
                                    </p:set>
                                    <p:animEffect transition="in" filter="wipe(left)">
                                      <p:cBhvr additive="repl">
                                        <p:cTn id="12" dur="500"/>
                                        <p:tgtEl>
                                          <p:spTgt spid="171">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71">
                                            <p:txEl>
                                              <p:pRg st="3" end="3"/>
                                            </p:txEl>
                                          </p:spTgt>
                                        </p:tgtEl>
                                        <p:attrNameLst>
                                          <p:attrName>style.visibility</p:attrName>
                                        </p:attrNameLst>
                                      </p:cBhvr>
                                      <p:to>
                                        <p:strVal val="visible"/>
                                      </p:to>
                                    </p:set>
                                    <p:animEffect transition="in" filter="wipe(left)">
                                      <p:cBhvr additive="repl">
                                        <p:cTn id="17" dur="500"/>
                                        <p:tgtEl>
                                          <p:spTgt spid="17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3.2  OPPORTUNITY COST</a:t>
            </a:r>
            <a:endParaRPr lang="en-CA" sz="2600" b="0" u="none" strike="noStrike">
              <a:solidFill>
                <a:schemeClr val="dk1"/>
              </a:solidFill>
              <a:effectLst/>
              <a:uFillTx/>
              <a:latin typeface="Arial"/>
            </a:endParaRPr>
          </a:p>
        </p:txBody>
      </p:sp>
      <p:sp>
        <p:nvSpPr>
          <p:cNvPr id="173"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2000" indent="-34200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Increasing Opportunity Costs Are Everywhere</a:t>
            </a:r>
            <a:endParaRPr lang="en-CA" sz="2800" b="1" u="none" strike="noStrike">
              <a:solidFill>
                <a:srgbClr val="00468F"/>
              </a:solidFill>
              <a:effectLst/>
              <a:uFillTx/>
              <a:latin typeface="Arial"/>
            </a:endParaRPr>
          </a:p>
          <a:p>
            <a:pPr marL="36000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Almost every activity has an increasing opportunity cost.</a:t>
            </a:r>
            <a:endParaRPr lang="en-CA" sz="2400" b="1" u="none" strike="noStrike">
              <a:solidFill>
                <a:srgbClr val="00468F"/>
              </a:solidFill>
              <a:effectLst/>
              <a:uFillTx/>
              <a:latin typeface="Arial"/>
            </a:endParaRPr>
          </a:p>
          <a:p>
            <a:pPr marL="571680" indent="0">
              <a:lnSpc>
                <a:spcPct val="100000"/>
              </a:lnSpc>
              <a:spcBef>
                <a:spcPts val="601"/>
              </a:spcBef>
              <a:spcAft>
                <a:spcPts val="601"/>
              </a:spcAft>
              <a:buNone/>
            </a:pP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73">
                                            <p:txEl>
                                              <p:pRg st="1" end="1"/>
                                            </p:txEl>
                                          </p:spTgt>
                                        </p:tgtEl>
                                        <p:attrNameLst>
                                          <p:attrName>style.visibility</p:attrName>
                                        </p:attrNameLst>
                                      </p:cBhvr>
                                      <p:to>
                                        <p:strVal val="visible"/>
                                      </p:to>
                                    </p:set>
                                    <p:animEffect transition="in" filter="wipe(left)">
                                      <p:cBhvr additive="repl">
                                        <p:cTn id="7" dur="500"/>
                                        <p:tgtEl>
                                          <p:spTgt spid="17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Rectangle 2"/>
          <p:cNvSpPr/>
          <p:nvPr/>
        </p:nvSpPr>
        <p:spPr>
          <a:xfrm>
            <a:off x="380880" y="1739880"/>
            <a:ext cx="81529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endParaRPr lang="en-US" sz="2400" b="0" u="none" strike="noStrike">
              <a:solidFill>
                <a:srgbClr val="1566B0"/>
              </a:solidFill>
              <a:effectLst/>
              <a:uFillTx/>
              <a:latin typeface="Arial"/>
              <a:ea typeface="ＭＳ Ｐゴシック"/>
            </a:endParaRPr>
          </a:p>
        </p:txBody>
      </p:sp>
      <p:sp>
        <p:nvSpPr>
          <p:cNvPr id="17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3.3  ECONOMIC GROWTH</a:t>
            </a:r>
            <a:endParaRPr lang="en-CA" sz="2600" b="0" u="none" strike="noStrike">
              <a:solidFill>
                <a:schemeClr val="dk1"/>
              </a:solidFill>
              <a:effectLst/>
              <a:uFillTx/>
              <a:latin typeface="Arial"/>
            </a:endParaRPr>
          </a:p>
        </p:txBody>
      </p:sp>
      <p:sp>
        <p:nvSpPr>
          <p:cNvPr id="176"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FF0000"/>
                </a:solidFill>
                <a:effectLst/>
                <a:uFillTx/>
                <a:latin typeface="Arial"/>
                <a:ea typeface="ＭＳ Ｐゴシック"/>
              </a:rPr>
              <a:t>Economic growth </a:t>
            </a:r>
            <a:r>
              <a:rPr lang="en-US" sz="2400" b="0" u="none" strike="noStrike">
                <a:solidFill>
                  <a:srgbClr val="000000"/>
                </a:solidFill>
                <a:effectLst/>
                <a:uFillTx/>
                <a:latin typeface="Arial"/>
                <a:ea typeface="ＭＳ Ｐゴシック"/>
              </a:rPr>
              <a:t>is the sustained expansion of production possibilities. </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An economy grows when it develops better technology, improves the quality of labor, or increases the quantity of capital.</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When an economy’s resources increase, its production possibilities expand and its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shifts outward. </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AU" sz="2400" b="0" u="none" strike="noStrike">
                <a:solidFill>
                  <a:srgbClr val="000000"/>
                </a:solidFill>
                <a:effectLst/>
                <a:uFillTx/>
                <a:latin typeface="Arial"/>
                <a:ea typeface="ＭＳ Ｐゴシック"/>
              </a:rPr>
              <a:t>To study economic growth, we begin at the </a:t>
            </a:r>
            <a:r>
              <a:rPr lang="en-AU" sz="2400" b="0" i="1" u="none" strike="noStrike">
                <a:solidFill>
                  <a:srgbClr val="000000"/>
                </a:solidFill>
                <a:effectLst/>
                <a:uFillTx/>
                <a:latin typeface="Arial"/>
                <a:ea typeface="ＭＳ Ｐゴシック"/>
              </a:rPr>
              <a:t>PPF</a:t>
            </a:r>
            <a:r>
              <a:rPr lang="en-AU" sz="2400" b="0" u="none" strike="noStrike">
                <a:solidFill>
                  <a:srgbClr val="000000"/>
                </a:solidFill>
                <a:effectLst/>
                <a:uFillTx/>
                <a:latin typeface="Arial"/>
                <a:ea typeface="ＭＳ Ｐゴシック"/>
              </a:rPr>
              <a:t> with consumption goods on one axis and a capital good on the other. </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76">
                                            <p:txEl>
                                              <p:pRg st="1" end="1"/>
                                            </p:txEl>
                                          </p:spTgt>
                                        </p:tgtEl>
                                        <p:attrNameLst>
                                          <p:attrName>style.visibility</p:attrName>
                                        </p:attrNameLst>
                                      </p:cBhvr>
                                      <p:to>
                                        <p:strVal val="visible"/>
                                      </p:to>
                                    </p:set>
                                    <p:animEffect transition="in" filter="wipe(left)">
                                      <p:cBhvr additive="repl">
                                        <p:cTn id="7" dur="500"/>
                                        <p:tgtEl>
                                          <p:spTgt spid="176">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76">
                                            <p:txEl>
                                              <p:pRg st="2" end="2"/>
                                            </p:txEl>
                                          </p:spTgt>
                                        </p:tgtEl>
                                        <p:attrNameLst>
                                          <p:attrName>style.visibility</p:attrName>
                                        </p:attrNameLst>
                                      </p:cBhvr>
                                      <p:to>
                                        <p:strVal val="visible"/>
                                      </p:to>
                                    </p:set>
                                    <p:animEffect transition="in" filter="wipe(left)">
                                      <p:cBhvr additive="repl">
                                        <p:cTn id="12" dur="500"/>
                                        <p:tgtEl>
                                          <p:spTgt spid="176">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76">
                                            <p:txEl>
                                              <p:pRg st="3" end="3"/>
                                            </p:txEl>
                                          </p:spTgt>
                                        </p:tgtEl>
                                        <p:attrNameLst>
                                          <p:attrName>style.visibility</p:attrName>
                                        </p:attrNameLst>
                                      </p:cBhvr>
                                      <p:to>
                                        <p:strVal val="visible"/>
                                      </p:to>
                                    </p:set>
                                    <p:animEffect transition="in" filter="wipe(left)">
                                      <p:cBhvr additive="repl">
                                        <p:cTn id="17" dur="500"/>
                                        <p:tgtEl>
                                          <p:spTgt spid="17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3.3  ECONOMIC GROWTH</a:t>
            </a:r>
            <a:endParaRPr lang="en-CA" sz="2600" b="0" u="none" strike="noStrike">
              <a:solidFill>
                <a:schemeClr val="dk1"/>
              </a:solidFill>
              <a:effectLst/>
              <a:uFillTx/>
              <a:latin typeface="Arial"/>
            </a:endParaRPr>
          </a:p>
        </p:txBody>
      </p:sp>
      <p:sp>
        <p:nvSpPr>
          <p:cNvPr id="178" name="PlaceHolder 2"/>
          <p:cNvSpPr>
            <a:spLocks noGrp="1"/>
          </p:cNvSpPr>
          <p:nvPr>
            <p:ph/>
          </p:nvPr>
        </p:nvSpPr>
        <p:spPr>
          <a:xfrm>
            <a:off x="360360" y="1440000"/>
            <a:ext cx="411444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If we produce at point </a:t>
            </a:r>
            <a:r>
              <a:rPr lang="en-US" sz="2400" b="0" i="1" u="none" strike="noStrike">
                <a:solidFill>
                  <a:srgbClr val="000000"/>
                </a:solidFill>
                <a:effectLst/>
                <a:uFillTx/>
                <a:latin typeface="Arial"/>
                <a:ea typeface="ＭＳ Ｐゴシック"/>
              </a:rPr>
              <a:t>J</a:t>
            </a:r>
            <a:r>
              <a:rPr lang="en-US" sz="2400" b="0" u="none" strike="noStrike">
                <a:solidFill>
                  <a:srgbClr val="000000"/>
                </a:solidFill>
                <a:effectLst/>
                <a:uFillTx/>
                <a:latin typeface="Arial"/>
                <a:ea typeface="ＭＳ Ｐゴシック"/>
              </a:rPr>
              <a:t>, we produce only smart-phone factories and no smartphones.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If we produce at point </a:t>
            </a:r>
            <a:r>
              <a:rPr lang="en-US" sz="2400" b="0" i="1" u="none" strike="noStrike">
                <a:solidFill>
                  <a:srgbClr val="000000"/>
                </a:solidFill>
                <a:effectLst/>
                <a:uFillTx/>
                <a:latin typeface="Arial"/>
                <a:ea typeface="ＭＳ Ｐゴシック"/>
              </a:rPr>
              <a:t>L</a:t>
            </a:r>
            <a:r>
              <a:rPr lang="en-US" sz="2400" b="0" u="none" strike="noStrike">
                <a:solidFill>
                  <a:srgbClr val="000000"/>
                </a:solidFill>
                <a:effectLst/>
                <a:uFillTx/>
                <a:latin typeface="Arial"/>
                <a:ea typeface="ＭＳ Ｐゴシック"/>
              </a:rPr>
              <a:t>, we produce smartphones and no smartphone factories.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At </a:t>
            </a:r>
            <a:r>
              <a:rPr lang="en-US" sz="2400" b="0" i="1" u="none" strike="noStrike">
                <a:solidFill>
                  <a:srgbClr val="000000"/>
                </a:solidFill>
                <a:effectLst/>
                <a:uFillTx/>
                <a:latin typeface="Arial"/>
                <a:ea typeface="ＭＳ Ｐゴシック"/>
              </a:rPr>
              <a:t>L</a:t>
            </a:r>
            <a:r>
              <a:rPr lang="en-US" sz="2400" b="0" u="none" strike="noStrike">
                <a:solidFill>
                  <a:srgbClr val="000000"/>
                </a:solidFill>
                <a:effectLst/>
                <a:uFillTx/>
                <a:latin typeface="Arial"/>
                <a:ea typeface="ＭＳ Ｐゴシック"/>
              </a:rPr>
              <a:t>, consumption remains at 5 million smartphones every year.</a:t>
            </a:r>
            <a:endParaRPr lang="en-CA" sz="2400" b="1" u="none" strike="noStrike">
              <a:solidFill>
                <a:srgbClr val="00468F"/>
              </a:solidFill>
              <a:effectLst/>
              <a:uFillTx/>
              <a:latin typeface="Arial"/>
            </a:endParaRPr>
          </a:p>
        </p:txBody>
      </p:sp>
      <p:pic>
        <p:nvPicPr>
          <p:cNvPr id="179" name="Picture 9"/>
          <p:cNvPicPr/>
          <p:nvPr/>
        </p:nvPicPr>
        <p:blipFill>
          <a:blip r:embed="rId3"/>
          <a:stretch/>
        </p:blipFill>
        <p:spPr>
          <a:xfrm>
            <a:off x="424800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78">
                                            <p:txEl>
                                              <p:pRg st="1" end="1"/>
                                            </p:txEl>
                                          </p:spTgt>
                                        </p:tgtEl>
                                        <p:attrNameLst>
                                          <p:attrName>style.visibility</p:attrName>
                                        </p:attrNameLst>
                                      </p:cBhvr>
                                      <p:to>
                                        <p:strVal val="visible"/>
                                      </p:to>
                                    </p:set>
                                    <p:animEffect transition="in" filter="wipe(left)">
                                      <p:cBhvr additive="repl">
                                        <p:cTn id="7" dur="500"/>
                                        <p:tgtEl>
                                          <p:spTgt spid="178">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78">
                                            <p:txEl>
                                              <p:pRg st="2" end="2"/>
                                            </p:txEl>
                                          </p:spTgt>
                                        </p:tgtEl>
                                        <p:attrNameLst>
                                          <p:attrName>style.visibility</p:attrName>
                                        </p:attrNameLst>
                                      </p:cBhvr>
                                      <p:to>
                                        <p:strVal val="visible"/>
                                      </p:to>
                                    </p:set>
                                    <p:animEffect transition="in" filter="wipe(left)">
                                      <p:cBhvr additive="repl">
                                        <p:cTn id="12" dur="500"/>
                                        <p:tgtEl>
                                          <p:spTgt spid="17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0" name="Picture 5"/>
          <p:cNvPicPr/>
          <p:nvPr/>
        </p:nvPicPr>
        <p:blipFill>
          <a:blip r:embed="rId3"/>
          <a:stretch/>
        </p:blipFill>
        <p:spPr>
          <a:xfrm>
            <a:off x="1601640" y="317520"/>
            <a:ext cx="5600520" cy="6019560"/>
          </a:xfrm>
          <a:prstGeom prst="rect">
            <a:avLst/>
          </a:prstGeom>
          <a:noFill/>
          <a:ln w="0">
            <a:noFill/>
          </a:ln>
        </p:spPr>
      </p:pic>
      <p:pic>
        <p:nvPicPr>
          <p:cNvPr id="181" name="Picture 6"/>
          <p:cNvPicPr/>
          <p:nvPr/>
        </p:nvPicPr>
        <p:blipFill>
          <a:blip r:embed="rId4"/>
          <a:stretch/>
        </p:blipFill>
        <p:spPr>
          <a:xfrm>
            <a:off x="1601640" y="317520"/>
            <a:ext cx="5600520" cy="6019560"/>
          </a:xfrm>
          <a:prstGeom prst="rect">
            <a:avLst/>
          </a:prstGeom>
          <a:noFill/>
          <a:ln w="0">
            <a:noFill/>
          </a:ln>
        </p:spPr>
      </p:pic>
      <p:pic>
        <p:nvPicPr>
          <p:cNvPr id="182" name="Picture 7"/>
          <p:cNvPicPr/>
          <p:nvPr/>
        </p:nvPicPr>
        <p:blipFill>
          <a:blip r:embed="rId5"/>
          <a:stretch/>
        </p:blipFill>
        <p:spPr>
          <a:xfrm>
            <a:off x="1601640" y="317520"/>
            <a:ext cx="5600520" cy="6019560"/>
          </a:xfrm>
          <a:prstGeom prst="rect">
            <a:avLst/>
          </a:prstGeom>
          <a:noFill/>
          <a:ln w="0">
            <a:noFill/>
          </a:ln>
        </p:spPr>
      </p:pic>
      <p:pic>
        <p:nvPicPr>
          <p:cNvPr id="183" name="Picture 8"/>
          <p:cNvPicPr/>
          <p:nvPr/>
        </p:nvPicPr>
        <p:blipFill>
          <a:blip r:embed="rId6"/>
          <a:stretch/>
        </p:blipFill>
        <p:spPr>
          <a:xfrm>
            <a:off x="1601640" y="317520"/>
            <a:ext cx="5600520" cy="6019560"/>
          </a:xfrm>
          <a:prstGeom prst="rect">
            <a:avLst/>
          </a:prstGeom>
          <a:noFill/>
          <a:ln w="0">
            <a:noFill/>
          </a:ln>
        </p:spPr>
      </p:pic>
      <p:pic>
        <p:nvPicPr>
          <p:cNvPr id="184" name="Picture 9"/>
          <p:cNvPicPr/>
          <p:nvPr/>
        </p:nvPicPr>
        <p:blipFill>
          <a:blip r:embed="rId7"/>
          <a:stretch/>
        </p:blipFill>
        <p:spPr>
          <a:xfrm>
            <a:off x="1601640" y="317520"/>
            <a:ext cx="5600520" cy="60195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0" presetClass="entr" fill="hold" nodeType="clickEffect">
                                  <p:stCondLst>
                                    <p:cond delay="0"/>
                                  </p:stCondLst>
                                  <p:childTnLst>
                                    <p:set>
                                      <p:cBhvr>
                                        <p:cTn id="6" dur="1" fill="hold">
                                          <p:stCondLst>
                                            <p:cond delay="0"/>
                                          </p:stCondLst>
                                        </p:cTn>
                                        <p:tgtEl>
                                          <p:spTgt spid="181"/>
                                        </p:tgtEl>
                                        <p:attrNameLst>
                                          <p:attrName>style.visibility</p:attrName>
                                        </p:attrNameLst>
                                      </p:cBhvr>
                                      <p:to>
                                        <p:strVal val="visible"/>
                                      </p:to>
                                    </p:set>
                                    <p:animEffect transition="in" filter="fade">
                                      <p:cBhvr additive="repl">
                                        <p:cTn id="7" dur="500"/>
                                        <p:tgtEl>
                                          <p:spTgt spid="181"/>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182"/>
                                        </p:tgtEl>
                                        <p:attrNameLst>
                                          <p:attrName>style.visibility</p:attrName>
                                        </p:attrNameLst>
                                      </p:cBhvr>
                                      <p:to>
                                        <p:strVal val="visible"/>
                                      </p:to>
                                    </p:set>
                                    <p:animEffect transition="in" filter="fade">
                                      <p:cBhvr additive="repl">
                                        <p:cTn id="12" dur="500"/>
                                        <p:tgtEl>
                                          <p:spTgt spid="182"/>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83"/>
                                        </p:tgtEl>
                                        <p:attrNameLst>
                                          <p:attrName>style.visibility</p:attrName>
                                        </p:attrNameLst>
                                      </p:cBhvr>
                                      <p:to>
                                        <p:strVal val="visible"/>
                                      </p:to>
                                    </p:set>
                                    <p:animEffect transition="in" filter="wipe(left)">
                                      <p:cBhvr additive="repl">
                                        <p:cTn id="17" dur="750"/>
                                        <p:tgtEl>
                                          <p:spTgt spid="183"/>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184"/>
                                        </p:tgtEl>
                                        <p:attrNameLst>
                                          <p:attrName>style.visibility</p:attrName>
                                        </p:attrNameLst>
                                      </p:cBhvr>
                                      <p:to>
                                        <p:strVal val="visible"/>
                                      </p:to>
                                    </p:set>
                                    <p:animEffect transition="in" filter="fade">
                                      <p:cBhvr additive="repl">
                                        <p:cTn id="22"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5" name="Picture 7"/>
          <p:cNvPicPr/>
          <p:nvPr/>
        </p:nvPicPr>
        <p:blipFill>
          <a:blip r:embed="rId3"/>
          <a:stretch/>
        </p:blipFill>
        <p:spPr>
          <a:xfrm>
            <a:off x="4248000" y="1368360"/>
            <a:ext cx="4479480" cy="4814640"/>
          </a:xfrm>
          <a:prstGeom prst="rect">
            <a:avLst/>
          </a:prstGeom>
          <a:noFill/>
          <a:ln w="0">
            <a:noFill/>
          </a:ln>
        </p:spPr>
      </p:pic>
      <p:pic>
        <p:nvPicPr>
          <p:cNvPr id="186" name="Picture 8"/>
          <p:cNvPicPr/>
          <p:nvPr/>
        </p:nvPicPr>
        <p:blipFill>
          <a:blip r:embed="rId4"/>
          <a:stretch/>
        </p:blipFill>
        <p:spPr>
          <a:xfrm>
            <a:off x="4248000" y="1368360"/>
            <a:ext cx="4479480" cy="4814640"/>
          </a:xfrm>
          <a:prstGeom prst="rect">
            <a:avLst/>
          </a:prstGeom>
          <a:noFill/>
          <a:ln w="0">
            <a:noFill/>
          </a:ln>
        </p:spPr>
      </p:pic>
      <p:pic>
        <p:nvPicPr>
          <p:cNvPr id="187" name="Picture 9"/>
          <p:cNvPicPr/>
          <p:nvPr/>
        </p:nvPicPr>
        <p:blipFill>
          <a:blip r:embed="rId5"/>
          <a:stretch/>
        </p:blipFill>
        <p:spPr>
          <a:xfrm>
            <a:off x="4248000" y="1368360"/>
            <a:ext cx="4479480" cy="4814640"/>
          </a:xfrm>
          <a:prstGeom prst="rect">
            <a:avLst/>
          </a:prstGeom>
          <a:noFill/>
          <a:ln w="0">
            <a:noFill/>
          </a:ln>
        </p:spPr>
      </p:pic>
      <p:pic>
        <p:nvPicPr>
          <p:cNvPr id="188" name="Picture 10"/>
          <p:cNvPicPr/>
          <p:nvPr/>
        </p:nvPicPr>
        <p:blipFill>
          <a:blip r:embed="rId6"/>
          <a:stretch/>
        </p:blipFill>
        <p:spPr>
          <a:xfrm>
            <a:off x="4248000" y="1368360"/>
            <a:ext cx="4479480" cy="4814640"/>
          </a:xfrm>
          <a:prstGeom prst="rect">
            <a:avLst/>
          </a:prstGeom>
          <a:noFill/>
          <a:ln w="0">
            <a:noFill/>
          </a:ln>
        </p:spPr>
      </p:pic>
      <p:pic>
        <p:nvPicPr>
          <p:cNvPr id="189" name="Picture 11"/>
          <p:cNvPicPr/>
          <p:nvPr/>
        </p:nvPicPr>
        <p:blipFill>
          <a:blip r:embed="rId7"/>
          <a:stretch/>
        </p:blipFill>
        <p:spPr>
          <a:xfrm>
            <a:off x="4248000" y="1368360"/>
            <a:ext cx="4479480" cy="4814640"/>
          </a:xfrm>
          <a:prstGeom prst="rect">
            <a:avLst/>
          </a:prstGeom>
          <a:noFill/>
          <a:ln w="0">
            <a:noFill/>
          </a:ln>
        </p:spPr>
      </p:pic>
      <p:sp>
        <p:nvSpPr>
          <p:cNvPr id="19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3.3  ECONOMIC GROWTH</a:t>
            </a:r>
            <a:endParaRPr lang="en-CA" sz="2600" b="0" u="none" strike="noStrike">
              <a:solidFill>
                <a:schemeClr val="dk1"/>
              </a:solidFill>
              <a:effectLst/>
              <a:uFillTx/>
              <a:latin typeface="Arial"/>
            </a:endParaRPr>
          </a:p>
        </p:txBody>
      </p:sp>
      <p:sp>
        <p:nvSpPr>
          <p:cNvPr id="191" name="PlaceHolder 2"/>
          <p:cNvSpPr>
            <a:spLocks noGrp="1"/>
          </p:cNvSpPr>
          <p:nvPr>
            <p:ph/>
          </p:nvPr>
        </p:nvSpPr>
        <p:spPr>
          <a:xfrm>
            <a:off x="360360" y="1440000"/>
            <a:ext cx="4114440" cy="518904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a:pPr>
            <a:r>
              <a:rPr lang="en-US" sz="2400" b="0" u="none" strike="noStrike">
                <a:solidFill>
                  <a:srgbClr val="000000"/>
                </a:solidFill>
                <a:effectLst/>
                <a:uFillTx/>
                <a:latin typeface="Arial"/>
                <a:ea typeface="ＭＳ Ｐゴシック"/>
              </a:rPr>
              <a:t>But if we cut production of smart- phones to 3 million this year, we can produce 2 smartphone factories at point </a:t>
            </a:r>
            <a:r>
              <a:rPr lang="en-US" sz="2400" b="0" i="1" u="none" strike="noStrike">
                <a:solidFill>
                  <a:srgbClr val="000000"/>
                </a:solidFill>
                <a:effectLst/>
                <a:uFillTx/>
                <a:latin typeface="Arial"/>
                <a:ea typeface="ＭＳ Ｐゴシック"/>
              </a:rPr>
              <a:t>K.</a:t>
            </a:r>
            <a:endParaRPr lang="en-CA" sz="2400" b="1" u="none" strike="noStrik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a:pPr>
            <a:r>
              <a:rPr lang="en-US" sz="2400" b="0" u="none" strike="noStrike">
                <a:solidFill>
                  <a:srgbClr val="000000"/>
                </a:solidFill>
                <a:effectLst/>
                <a:uFillTx/>
                <a:latin typeface="Arial"/>
                <a:ea typeface="ＭＳ Ｐゴシック"/>
              </a:rPr>
              <a:t>Then next year, our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rotates outward because we have more capital.</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We can produce at a point outside our original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 such as </a:t>
            </a:r>
            <a:r>
              <a:rPr lang="en-US" sz="2400" b="0" i="1" u="none" strike="noStrike">
                <a:solidFill>
                  <a:srgbClr val="000000"/>
                </a:solidFill>
                <a:effectLst/>
                <a:uFillTx/>
                <a:latin typeface="Arial"/>
                <a:ea typeface="ＭＳ Ｐゴシック"/>
              </a:rPr>
              <a:t>K</a:t>
            </a:r>
            <a:r>
              <a:rPr lang="en-US" sz="2400" b="0" u="none" strike="noStrike">
                <a:solidFill>
                  <a:srgbClr val="000000"/>
                </a:solidFill>
                <a:effectLst/>
                <a:uFillTx/>
                <a:latin typeface="Arial"/>
                <a:ea typeface="ＭＳ Ｐゴシック"/>
              </a:rPr>
              <a:t>'.</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186"/>
                                        </p:tgtEl>
                                        <p:attrNameLst>
                                          <p:attrName>style.visibility</p:attrName>
                                        </p:attrNameLst>
                                      </p:cBhvr>
                                      <p:to>
                                        <p:strVal val="visible"/>
                                      </p:to>
                                    </p:set>
                                    <p:animEffect transition="in" filter="fade">
                                      <p:cBhvr additive="repl">
                                        <p:cTn id="7" dur="500"/>
                                        <p:tgtEl>
                                          <p:spTgt spid="186"/>
                                        </p:tgtEl>
                                      </p:cBhvr>
                                    </p:animEffect>
                                  </p:childTnLst>
                                </p:cTn>
                              </p:par>
                              <p:par>
                                <p:cTn id="8" presetID="10" presetClass="entr" fill="hold" nodeType="withEffect">
                                  <p:stCondLst>
                                    <p:cond delay="0"/>
                                  </p:stCondLst>
                                  <p:childTnLst>
                                    <p:set>
                                      <p:cBhvr>
                                        <p:cTn id="9" dur="1" fill="hold">
                                          <p:stCondLst>
                                            <p:cond delay="0"/>
                                          </p:stCondLst>
                                        </p:cTn>
                                        <p:tgtEl>
                                          <p:spTgt spid="187"/>
                                        </p:tgtEl>
                                        <p:attrNameLst>
                                          <p:attrName>style.visibility</p:attrName>
                                        </p:attrNameLst>
                                      </p:cBhvr>
                                      <p:to>
                                        <p:strVal val="visible"/>
                                      </p:to>
                                    </p:set>
                                    <p:animEffect transition="in" filter="fade">
                                      <p:cBhvr additive="repl">
                                        <p:cTn id="10" dur="500"/>
                                        <p:tgtEl>
                                          <p:spTgt spid="187"/>
                                        </p:tgtEl>
                                      </p:cBhvr>
                                    </p:animEffect>
                                  </p:childTnLst>
                                </p:cTn>
                              </p:par>
                            </p:childTnLst>
                          </p:cTn>
                        </p:par>
                      </p:childTnLst>
                    </p:cTn>
                  </p:par>
                  <p:par>
                    <p:cTn id="11" fill="hold" nodeType="clickEffect">
                      <p:stCondLst>
                        <p:cond delay="indefinite"/>
                      </p:stCondLst>
                      <p:childTnLst>
                        <p:par>
                          <p:cTn id="12" fill="hold" nodeType="withEffect">
                            <p:stCondLst>
                              <p:cond delay="0"/>
                            </p:stCondLst>
                            <p:childTnLst>
                              <p:par>
                                <p:cTn id="13" presetID="22" presetClass="entr" presetSubtype="8" fill="hold" nodeType="clickEffect">
                                  <p:stCondLst>
                                    <p:cond delay="0"/>
                                  </p:stCondLst>
                                  <p:childTnLst>
                                    <p:set>
                                      <p:cBhvr>
                                        <p:cTn id="14" dur="1" fill="hold">
                                          <p:stCondLst>
                                            <p:cond delay="0"/>
                                          </p:stCondLst>
                                        </p:cTn>
                                        <p:tgtEl>
                                          <p:spTgt spid="191">
                                            <p:txEl>
                                              <p:pRg st="1" end="1"/>
                                            </p:txEl>
                                          </p:spTgt>
                                        </p:tgtEl>
                                        <p:attrNameLst>
                                          <p:attrName>style.visibility</p:attrName>
                                        </p:attrNameLst>
                                      </p:cBhvr>
                                      <p:to>
                                        <p:strVal val="visible"/>
                                      </p:to>
                                    </p:set>
                                    <p:animEffect transition="in" filter="wipe(left)">
                                      <p:cBhvr additive="repl">
                                        <p:cTn id="15" dur="500"/>
                                        <p:tgtEl>
                                          <p:spTgt spid="191">
                                            <p:txEl>
                                              <p:pRg st="1" end="1"/>
                                            </p:txEl>
                                          </p:spTgt>
                                        </p:tgtEl>
                                      </p:cBhvr>
                                    </p:animEffect>
                                  </p:childTnLst>
                                </p:cTn>
                              </p:par>
                              <p:par>
                                <p:cTn id="16" presetID="22" presetClass="entr" presetSubtype="8" fill="hold" nodeType="withEffect">
                                  <p:stCondLst>
                                    <p:cond delay="0"/>
                                  </p:stCondLst>
                                  <p:childTnLst>
                                    <p:set>
                                      <p:cBhvr>
                                        <p:cTn id="17" dur="1" fill="hold">
                                          <p:stCondLst>
                                            <p:cond delay="0"/>
                                          </p:stCondLst>
                                        </p:cTn>
                                        <p:tgtEl>
                                          <p:spTgt spid="188"/>
                                        </p:tgtEl>
                                        <p:attrNameLst>
                                          <p:attrName>style.visibility</p:attrName>
                                        </p:attrNameLst>
                                      </p:cBhvr>
                                      <p:to>
                                        <p:strVal val="visible"/>
                                      </p:to>
                                    </p:set>
                                    <p:animEffect transition="in" filter="wipe(left)">
                                      <p:cBhvr additive="repl">
                                        <p:cTn id="18" dur="750"/>
                                        <p:tgtEl>
                                          <p:spTgt spid="188"/>
                                        </p:tgtEl>
                                      </p:cBhvr>
                                    </p:animEffect>
                                  </p:childTnLst>
                                </p:cTn>
                              </p:par>
                            </p:childTnLst>
                          </p:cTn>
                        </p:par>
                      </p:childTnLst>
                    </p:cTn>
                  </p:par>
                  <p:par>
                    <p:cTn id="19" fill="hold" nodeType="clickEffect">
                      <p:stCondLst>
                        <p:cond delay="indefinite"/>
                      </p:stCondLst>
                      <p:childTnLst>
                        <p:par>
                          <p:cTn id="20" fill="hold" nodeType="withEffect">
                            <p:stCondLst>
                              <p:cond delay="0"/>
                            </p:stCondLst>
                            <p:childTnLst>
                              <p:par>
                                <p:cTn id="21" presetID="22" presetClass="entr" presetSubtype="8" fill="hold" nodeType="clickEffect">
                                  <p:stCondLst>
                                    <p:cond delay="0"/>
                                  </p:stCondLst>
                                  <p:childTnLst>
                                    <p:set>
                                      <p:cBhvr>
                                        <p:cTn id="22" dur="1" fill="hold">
                                          <p:stCondLst>
                                            <p:cond delay="0"/>
                                          </p:stCondLst>
                                        </p:cTn>
                                        <p:tgtEl>
                                          <p:spTgt spid="191">
                                            <p:txEl>
                                              <p:pRg st="2" end="2"/>
                                            </p:txEl>
                                          </p:spTgt>
                                        </p:tgtEl>
                                        <p:attrNameLst>
                                          <p:attrName>style.visibility</p:attrName>
                                        </p:attrNameLst>
                                      </p:cBhvr>
                                      <p:to>
                                        <p:strVal val="visible"/>
                                      </p:to>
                                    </p:set>
                                    <p:animEffect transition="in" filter="wipe(left)">
                                      <p:cBhvr additive="repl">
                                        <p:cTn id="23" dur="500"/>
                                        <p:tgtEl>
                                          <p:spTgt spid="191">
                                            <p:txEl>
                                              <p:pRg st="2" end="2"/>
                                            </p:txEl>
                                          </p:spTgt>
                                        </p:tgtEl>
                                      </p:cBhvr>
                                    </p:animEffect>
                                  </p:childTnLst>
                                </p:cTn>
                              </p:par>
                              <p:par>
                                <p:cTn id="24" presetID="10" presetClass="entr" fill="hold" nodeType="withEffect">
                                  <p:stCondLst>
                                    <p:cond delay="0"/>
                                  </p:stCondLst>
                                  <p:childTnLst>
                                    <p:set>
                                      <p:cBhvr>
                                        <p:cTn id="25" dur="1" fill="hold">
                                          <p:stCondLst>
                                            <p:cond delay="0"/>
                                          </p:stCondLst>
                                        </p:cTn>
                                        <p:tgtEl>
                                          <p:spTgt spid="189"/>
                                        </p:tgtEl>
                                        <p:attrNameLst>
                                          <p:attrName>style.visibility</p:attrName>
                                        </p:attrNameLst>
                                      </p:cBhvr>
                                      <p:to>
                                        <p:strVal val="visible"/>
                                      </p:to>
                                    </p:set>
                                    <p:animEffect transition="in" filter="fade">
                                      <p:cBhvr additive="repl">
                                        <p:cTn id="26" dur="500"/>
                                        <p:tgtEl>
                                          <p:spTgt spid="1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193"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AU" sz="2400" b="0" u="none" strike="noStrike">
                <a:solidFill>
                  <a:schemeClr val="dk1"/>
                </a:solidFill>
                <a:effectLst/>
                <a:uFillTx/>
                <a:latin typeface="Arial"/>
                <a:ea typeface="ＭＳ Ｐゴシック"/>
              </a:rPr>
              <a:t>When one person (or nation) is more productive than another—needs fewer inputs or takes less time to produce a good or perform a production task—we say that this person (or nation) has an </a:t>
            </a:r>
            <a:r>
              <a:rPr lang="en-US" sz="2400" b="1" u="none" strike="noStrike">
                <a:solidFill>
                  <a:srgbClr val="E50030"/>
                </a:solidFill>
                <a:effectLst/>
                <a:uFillTx/>
                <a:latin typeface="Arial"/>
                <a:ea typeface="ＭＳ Ｐゴシック"/>
              </a:rPr>
              <a:t>absolute advantage</a:t>
            </a:r>
            <a:r>
              <a:rPr lang="en-US" sz="2400" b="0" u="none" strike="noStrike">
                <a:solidFill>
                  <a:schemeClr val="dk1"/>
                </a:solidFill>
                <a:effectLst/>
                <a:uFillTx/>
                <a:latin typeface="Arial"/>
                <a:ea typeface="ＭＳ Ｐゴシック"/>
              </a:rPr>
              <a:t>.</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People and nations can gain from specializing in production of the goods in which they have a comparative advantage and then trading.</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93">
                                            <p:txEl>
                                              <p:pRg st="1" end="1"/>
                                            </p:txEl>
                                          </p:spTgt>
                                        </p:tgtEl>
                                        <p:attrNameLst>
                                          <p:attrName>style.visibility</p:attrName>
                                        </p:attrNameLst>
                                      </p:cBhvr>
                                      <p:to>
                                        <p:strVal val="visible"/>
                                      </p:to>
                                    </p:set>
                                    <p:animEffect transition="in" filter="wipe(left)">
                                      <p:cBhvr additive="repl">
                                        <p:cTn id="7" dur="500"/>
                                        <p:tgtEl>
                                          <p:spTgt spid="19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195"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43080" indent="-343080">
              <a:lnSpc>
                <a:spcPct val="100000"/>
              </a:lnSpc>
              <a:spcBef>
                <a:spcPts val="601"/>
              </a:spcBef>
              <a:spcAft>
                <a:spcPts val="601"/>
              </a:spcAft>
              <a:buClr>
                <a:srgbClr val="00468F"/>
              </a:buClr>
              <a:buFont typeface="Webdings" charset="2"/>
              <a:buChar char=""/>
            </a:pPr>
            <a:r>
              <a:rPr lang="en-US" sz="2800" b="1" u="none" strike="noStrike">
                <a:solidFill>
                  <a:srgbClr val="00468F"/>
                </a:solidFill>
                <a:effectLst/>
                <a:uFillTx/>
                <a:latin typeface="Arial"/>
                <a:ea typeface="ＭＳ Ｐゴシック"/>
              </a:rPr>
              <a:t>Comparative Advantage</a:t>
            </a:r>
            <a:endParaRPr lang="en-CA" sz="28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1" u="none" strike="noStrike">
                <a:solidFill>
                  <a:srgbClr val="E50030"/>
                </a:solidFill>
                <a:effectLst/>
                <a:uFillTx/>
                <a:latin typeface="Arial"/>
                <a:ea typeface="ＭＳ Ｐゴシック"/>
              </a:rPr>
              <a:t>Comparative advantage </a:t>
            </a:r>
            <a:r>
              <a:rPr lang="en-US" sz="2400" b="0" u="none" strike="noStrike">
                <a:solidFill>
                  <a:schemeClr val="dk1"/>
                </a:solidFill>
                <a:effectLst/>
                <a:uFillTx/>
                <a:latin typeface="Arial"/>
                <a:ea typeface="ＭＳ Ｐゴシック"/>
              </a:rPr>
              <a:t>is the ability of a person to perform an activity or produce a good or service at a lower opportunity cost than someone else.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Liz and Joe operate smoothie bars and produce smoothies and salads.</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95">
                                            <p:txEl>
                                              <p:pRg st="1" end="1"/>
                                            </p:txEl>
                                          </p:spTgt>
                                        </p:tgtEl>
                                        <p:attrNameLst>
                                          <p:attrName>style.visibility</p:attrName>
                                        </p:attrNameLst>
                                      </p:cBhvr>
                                      <p:to>
                                        <p:strVal val="visible"/>
                                      </p:to>
                                    </p:set>
                                    <p:animEffect transition="in" filter="wipe(left)">
                                      <p:cBhvr additive="repl">
                                        <p:cTn id="7" dur="500"/>
                                        <p:tgtEl>
                                          <p:spTgt spid="195">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95">
                                            <p:txEl>
                                              <p:pRg st="2" end="2"/>
                                            </p:txEl>
                                          </p:spTgt>
                                        </p:tgtEl>
                                        <p:attrNameLst>
                                          <p:attrName>style.visibility</p:attrName>
                                        </p:attrNameLst>
                                      </p:cBhvr>
                                      <p:to>
                                        <p:strVal val="visible"/>
                                      </p:to>
                                    </p:set>
                                    <p:animEffect transition="in" filter="wipe(left)">
                                      <p:cBhvr additive="repl">
                                        <p:cTn id="12" dur="500"/>
                                        <p:tgtEl>
                                          <p:spTgt spid="1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197" name="PlaceHolder 2"/>
          <p:cNvSpPr>
            <a:spLocks noGrp="1"/>
          </p:cNvSpPr>
          <p:nvPr>
            <p:ph/>
          </p:nvPr>
        </p:nvSpPr>
        <p:spPr>
          <a:xfrm>
            <a:off x="360360" y="1440000"/>
            <a:ext cx="4287600" cy="42843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1" u="none" strike="noStrike">
                <a:solidFill>
                  <a:srgbClr val="00468F"/>
                </a:solidFill>
                <a:effectLst/>
                <a:uFillTx/>
                <a:latin typeface="Arial"/>
                <a:ea typeface="ＭＳ Ｐゴシック"/>
              </a:rPr>
              <a:t>Liz's Smoothie Bar</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In an hour, Liz can produce either 30 smoothies or </a:t>
            </a:r>
            <a:br>
              <a:rPr sz="2400"/>
            </a:br>
            <a:r>
              <a:rPr lang="en-US" sz="2400" b="0" u="none" strike="noStrike">
                <a:solidFill>
                  <a:srgbClr val="000000"/>
                </a:solidFill>
                <a:effectLst/>
                <a:uFillTx/>
                <a:latin typeface="Arial"/>
                <a:ea typeface="ＭＳ Ｐゴシック"/>
              </a:rPr>
              <a:t>30 salads.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Liz's opportunity cost of producing 1 smoothie is </a:t>
            </a:r>
            <a:br>
              <a:rPr sz="2400"/>
            </a:br>
            <a:r>
              <a:rPr lang="en-US" sz="2400" b="0" u="none" strike="noStrike">
                <a:solidFill>
                  <a:srgbClr val="000000"/>
                </a:solidFill>
                <a:effectLst/>
                <a:uFillTx/>
                <a:latin typeface="Arial"/>
                <a:ea typeface="ＭＳ Ｐゴシック"/>
              </a:rPr>
              <a:t>1 salad.</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Liz's opportunity cost of producing 1 salad is </a:t>
            </a:r>
            <a:br>
              <a:rPr sz="2400"/>
            </a:br>
            <a:r>
              <a:rPr lang="en-US" sz="2400" b="0" u="none" strike="noStrike">
                <a:solidFill>
                  <a:srgbClr val="000000"/>
                </a:solidFill>
                <a:effectLst/>
                <a:uFillTx/>
                <a:latin typeface="Arial"/>
                <a:ea typeface="ＭＳ Ｐゴシック"/>
              </a:rPr>
              <a:t>1 smoothie. </a:t>
            </a:r>
            <a:endParaRPr lang="en-CA" sz="2400" b="1" u="none" strike="noStrike">
              <a:solidFill>
                <a:srgbClr val="00468F"/>
              </a:solidFill>
              <a:effectLst/>
              <a:uFillTx/>
              <a:latin typeface="Arial"/>
            </a:endParaRPr>
          </a:p>
        </p:txBody>
      </p:sp>
      <p:pic>
        <p:nvPicPr>
          <p:cNvPr id="198" name="Picture 2" descr="tab1.gif"/>
          <p:cNvPicPr/>
          <p:nvPr/>
        </p:nvPicPr>
        <p:blipFill>
          <a:blip r:embed="rId3"/>
          <a:stretch/>
        </p:blipFill>
        <p:spPr>
          <a:xfrm>
            <a:off x="4788000" y="2052720"/>
            <a:ext cx="3752640" cy="2066400"/>
          </a:xfrm>
          <a:prstGeom prst="rect">
            <a:avLst/>
          </a:prstGeom>
          <a:noFill/>
          <a:ln w="0">
            <a:noFill/>
          </a:ln>
        </p:spPr>
      </p:pic>
      <p:sp>
        <p:nvSpPr>
          <p:cNvPr id="199" name="Text Box 14"/>
          <p:cNvSpPr/>
          <p:nvPr/>
        </p:nvSpPr>
        <p:spPr>
          <a:xfrm>
            <a:off x="360360" y="5724360"/>
            <a:ext cx="8381520" cy="829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60000">
              <a:lnSpc>
                <a:spcPct val="100000"/>
              </a:lnSpc>
              <a:spcBef>
                <a:spcPts val="601"/>
              </a:spcBef>
              <a:spcAft>
                <a:spcPts val="601"/>
              </a:spcAft>
            </a:pPr>
            <a:r>
              <a:rPr lang="en-US" sz="2400" b="0" u="none" strike="noStrike">
                <a:solidFill>
                  <a:schemeClr val="dk1"/>
                </a:solidFill>
                <a:effectLst/>
                <a:uFillTx/>
                <a:latin typeface="Arial"/>
                <a:ea typeface="ＭＳ Ｐゴシック"/>
              </a:rPr>
              <a:t>Each hour, Liz splits her time equally between smoothies and salads and produces 15 smoothies and 15 salads. </a:t>
            </a:r>
            <a:endParaRPr lang="en-US" sz="2400" b="0" u="none" strike="noStrike">
              <a:solidFill>
                <a:srgbClr val="000000"/>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197">
                                            <p:txEl>
                                              <p:pRg st="1" end="1"/>
                                            </p:txEl>
                                          </p:spTgt>
                                        </p:tgtEl>
                                        <p:attrNameLst>
                                          <p:attrName>style.visibility</p:attrName>
                                        </p:attrNameLst>
                                      </p:cBhvr>
                                      <p:to>
                                        <p:strVal val="visible"/>
                                      </p:to>
                                    </p:set>
                                    <p:animEffect transition="in" filter="wipe(left)">
                                      <p:cBhvr additive="repl">
                                        <p:cTn id="7" dur="500"/>
                                        <p:tgtEl>
                                          <p:spTgt spid="197">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197">
                                            <p:txEl>
                                              <p:pRg st="2" end="2"/>
                                            </p:txEl>
                                          </p:spTgt>
                                        </p:tgtEl>
                                        <p:attrNameLst>
                                          <p:attrName>style.visibility</p:attrName>
                                        </p:attrNameLst>
                                      </p:cBhvr>
                                      <p:to>
                                        <p:strVal val="visible"/>
                                      </p:to>
                                    </p:set>
                                    <p:animEffect transition="in" filter="wipe(left)">
                                      <p:cBhvr additive="repl">
                                        <p:cTn id="12" dur="500"/>
                                        <p:tgtEl>
                                          <p:spTgt spid="197">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197">
                                            <p:txEl>
                                              <p:pRg st="3" end="3"/>
                                            </p:txEl>
                                          </p:spTgt>
                                        </p:tgtEl>
                                        <p:attrNameLst>
                                          <p:attrName>style.visibility</p:attrName>
                                        </p:attrNameLst>
                                      </p:cBhvr>
                                      <p:to>
                                        <p:strVal val="visible"/>
                                      </p:to>
                                    </p:set>
                                    <p:animEffect transition="in" filter="wipe(left)">
                                      <p:cBhvr additive="repl">
                                        <p:cTn id="17" dur="500"/>
                                        <p:tgtEl>
                                          <p:spTgt spid="197">
                                            <p:txEl>
                                              <p:pRg st="3" end="3"/>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199"/>
                                        </p:tgtEl>
                                        <p:attrNameLst>
                                          <p:attrName>style.visibility</p:attrName>
                                        </p:attrNameLst>
                                      </p:cBhvr>
                                      <p:to>
                                        <p:strVal val="visible"/>
                                      </p:to>
                                    </p:set>
                                    <p:animEffect transition="in" filter="wipe(left)">
                                      <p:cBhvr additive="repl">
                                        <p:cTn id="22" dur="500"/>
                                        <p:tgtEl>
                                          <p:spTgt spid="1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PlaceHolder 1"/>
          <p:cNvSpPr>
            <a:spLocks noGrp="1"/>
          </p:cNvSpPr>
          <p:nvPr>
            <p:ph/>
          </p:nvPr>
        </p:nvSpPr>
        <p:spPr>
          <a:xfrm>
            <a:off x="360360" y="1440000"/>
            <a:ext cx="4287600" cy="30603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1" u="none" strike="noStrike">
                <a:solidFill>
                  <a:srgbClr val="00468F"/>
                </a:solidFill>
                <a:effectLst/>
                <a:uFillTx/>
                <a:latin typeface="Arial"/>
                <a:ea typeface="ＭＳ Ｐゴシック"/>
              </a:rPr>
              <a:t>Joe's Smoothie Bar</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In an hour, Joe can produce either 6 smoothies or 30 salads.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Joe's opportunity cost of producing 1 smoothie is </a:t>
            </a:r>
            <a:br>
              <a:rPr sz="2400"/>
            </a:br>
            <a:r>
              <a:rPr lang="en-US" sz="2400" b="0" u="none" strike="noStrike">
                <a:solidFill>
                  <a:srgbClr val="000000"/>
                </a:solidFill>
                <a:effectLst/>
                <a:uFillTx/>
                <a:latin typeface="Arial"/>
                <a:ea typeface="ＭＳ Ｐゴシック"/>
              </a:rPr>
              <a:t>5 salads.</a:t>
            </a:r>
            <a:endParaRPr lang="en-CA" sz="2400" b="1" u="none" strike="noStrike">
              <a:solidFill>
                <a:srgbClr val="00468F"/>
              </a:solidFill>
              <a:effectLst/>
              <a:uFillTx/>
              <a:latin typeface="Arial"/>
            </a:endParaRPr>
          </a:p>
        </p:txBody>
      </p:sp>
      <p:sp>
        <p:nvSpPr>
          <p:cNvPr id="201"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02" name="Text Box 8"/>
          <p:cNvSpPr/>
          <p:nvPr/>
        </p:nvSpPr>
        <p:spPr>
          <a:xfrm>
            <a:off x="360360" y="4500720"/>
            <a:ext cx="8554680" cy="1722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60000">
              <a:lnSpc>
                <a:spcPct val="100000"/>
              </a:lnSpc>
              <a:spcBef>
                <a:spcPts val="601"/>
              </a:spcBef>
              <a:spcAft>
                <a:spcPts val="601"/>
              </a:spcAft>
            </a:pPr>
            <a:r>
              <a:rPr lang="en-US" sz="2400" b="0" u="none" strike="noStrike">
                <a:solidFill>
                  <a:srgbClr val="000000"/>
                </a:solidFill>
                <a:effectLst/>
                <a:uFillTx/>
                <a:latin typeface="Arial"/>
                <a:ea typeface="ＭＳ Ｐゴシック"/>
              </a:rPr>
              <a:t>Joe's opportunity cost of producing 1 salad is 1/5 smoothie. </a:t>
            </a:r>
            <a:endParaRPr lang="en-US" sz="2400" b="0" u="none" strike="noStrike">
              <a:solidFill>
                <a:srgbClr val="000000"/>
              </a:solidFill>
              <a:effectLst/>
              <a:uFillTx/>
              <a:latin typeface="Arial"/>
            </a:endParaRPr>
          </a:p>
          <a:p>
            <a:pPr marL="360000">
              <a:lnSpc>
                <a:spcPct val="100000"/>
              </a:lnSpc>
              <a:spcBef>
                <a:spcPts val="601"/>
              </a:spcBef>
              <a:spcAft>
                <a:spcPts val="601"/>
              </a:spcAft>
            </a:pPr>
            <a:r>
              <a:rPr lang="en-US" sz="2400" b="0" u="none" strike="noStrike">
                <a:solidFill>
                  <a:schemeClr val="dk1"/>
                </a:solidFill>
                <a:effectLst/>
                <a:uFillTx/>
                <a:latin typeface="Arial"/>
                <a:ea typeface="ＭＳ Ｐゴシック"/>
              </a:rPr>
              <a:t>Each hour, Joe spends 50 minutes producing smoothies and makes 5 smoothies. In the other 10 minutes, he produces 5 salads. </a:t>
            </a:r>
            <a:endParaRPr lang="en-US" sz="2400" b="0" u="none" strike="noStrike">
              <a:solidFill>
                <a:srgbClr val="000000"/>
              </a:solidFill>
              <a:effectLst/>
              <a:uFillTx/>
              <a:latin typeface="Arial"/>
            </a:endParaRPr>
          </a:p>
        </p:txBody>
      </p:sp>
      <p:pic>
        <p:nvPicPr>
          <p:cNvPr id="203" name="Picture 2" descr="tab2.gif"/>
          <p:cNvPicPr/>
          <p:nvPr/>
        </p:nvPicPr>
        <p:blipFill>
          <a:blip r:embed="rId3"/>
          <a:stretch/>
        </p:blipFill>
        <p:spPr>
          <a:xfrm>
            <a:off x="4788000" y="2052720"/>
            <a:ext cx="3752640" cy="206640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200">
                                            <p:txEl>
                                              <p:pRg st="1" end="1"/>
                                            </p:txEl>
                                          </p:spTgt>
                                        </p:tgtEl>
                                        <p:attrNameLst>
                                          <p:attrName>style.visibility</p:attrName>
                                        </p:attrNameLst>
                                      </p:cBhvr>
                                      <p:to>
                                        <p:strVal val="visible"/>
                                      </p:to>
                                    </p:set>
                                    <p:animEffect transition="in" filter="wipe(left)">
                                      <p:cBhvr additive="repl">
                                        <p:cTn id="7" dur="500"/>
                                        <p:tgtEl>
                                          <p:spTgt spid="200">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00">
                                            <p:txEl>
                                              <p:pRg st="2" end="2"/>
                                            </p:txEl>
                                          </p:spTgt>
                                        </p:tgtEl>
                                        <p:attrNameLst>
                                          <p:attrName>style.visibility</p:attrName>
                                        </p:attrNameLst>
                                      </p:cBhvr>
                                      <p:to>
                                        <p:strVal val="visible"/>
                                      </p:to>
                                    </p:set>
                                    <p:animEffect transition="in" filter="wipe(left)">
                                      <p:cBhvr additive="repl">
                                        <p:cTn id="12" dur="500"/>
                                        <p:tgtEl>
                                          <p:spTgt spid="200">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202">
                                            <p:txEl>
                                              <p:pRg st="0" end="0"/>
                                            </p:txEl>
                                          </p:spTgt>
                                        </p:tgtEl>
                                        <p:attrNameLst>
                                          <p:attrName>style.visibility</p:attrName>
                                        </p:attrNameLst>
                                      </p:cBhvr>
                                      <p:to>
                                        <p:strVal val="visible"/>
                                      </p:to>
                                    </p:set>
                                    <p:animEffect transition="in" filter="wipe(left)">
                                      <p:cBhvr additive="repl">
                                        <p:cTn id="17" dur="500"/>
                                        <p:tgtEl>
                                          <p:spTgt spid="202">
                                            <p:txEl>
                                              <p:pRg st="0" end="0"/>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202">
                                            <p:txEl>
                                              <p:pRg st="1" end="1"/>
                                            </p:txEl>
                                          </p:spTgt>
                                        </p:tgtEl>
                                        <p:attrNameLst>
                                          <p:attrName>style.visibility</p:attrName>
                                        </p:attrNameLst>
                                      </p:cBhvr>
                                      <p:to>
                                        <p:strVal val="visible"/>
                                      </p:to>
                                    </p:set>
                                    <p:animEffect transition="in" filter="wipe(left)">
                                      <p:cBhvr additive="repl">
                                        <p:cTn id="22" dur="500"/>
                                        <p:tgtEl>
                                          <p:spTgt spid="20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05" name="PlaceHolder 2"/>
          <p:cNvSpPr>
            <a:spLocks noGrp="1"/>
          </p:cNvSpPr>
          <p:nvPr>
            <p:ph/>
          </p:nvPr>
        </p:nvSpPr>
        <p:spPr>
          <a:xfrm>
            <a:off x="360360" y="1440000"/>
            <a:ext cx="809748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00468F"/>
                </a:solidFill>
                <a:effectLst/>
                <a:uFillTx/>
                <a:latin typeface="Arial"/>
                <a:ea typeface="ＭＳ Ｐゴシック"/>
              </a:rPr>
              <a:t>Liz’s Comparative Advantage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Liz’s opportunity cost of a smoothie is 1 salad.</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Joe’s opportunity cost of a smoothie is 5 salads.</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Liz’s opportunity cost of a smoothie is less than Joe’s, so Liz has a comparative advantage in producing smoothies.</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205">
                                            <p:txEl>
                                              <p:pRg st="1" end="1"/>
                                            </p:txEl>
                                          </p:spTgt>
                                        </p:tgtEl>
                                        <p:attrNameLst>
                                          <p:attrName>style.visibility</p:attrName>
                                        </p:attrNameLst>
                                      </p:cBhvr>
                                      <p:to>
                                        <p:strVal val="visible"/>
                                      </p:to>
                                    </p:set>
                                    <p:animEffect transition="in" filter="wipe(left)">
                                      <p:cBhvr additive="repl">
                                        <p:cTn id="7" dur="500"/>
                                        <p:tgtEl>
                                          <p:spTgt spid="205">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05">
                                            <p:txEl>
                                              <p:pRg st="2" end="2"/>
                                            </p:txEl>
                                          </p:spTgt>
                                        </p:tgtEl>
                                        <p:attrNameLst>
                                          <p:attrName>style.visibility</p:attrName>
                                        </p:attrNameLst>
                                      </p:cBhvr>
                                      <p:to>
                                        <p:strVal val="visible"/>
                                      </p:to>
                                    </p:set>
                                    <p:animEffect transition="in" filter="wipe(left)">
                                      <p:cBhvr additive="repl">
                                        <p:cTn id="12" dur="500"/>
                                        <p:tgtEl>
                                          <p:spTgt spid="205">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205">
                                            <p:txEl>
                                              <p:pRg st="3" end="3"/>
                                            </p:txEl>
                                          </p:spTgt>
                                        </p:tgtEl>
                                        <p:attrNameLst>
                                          <p:attrName>style.visibility</p:attrName>
                                        </p:attrNameLst>
                                      </p:cBhvr>
                                      <p:to>
                                        <p:strVal val="visible"/>
                                      </p:to>
                                    </p:set>
                                    <p:animEffect transition="in" filter="wipe(left)">
                                      <p:cBhvr additive="repl">
                                        <p:cTn id="17" dur="500"/>
                                        <p:tgtEl>
                                          <p:spTgt spid="20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07"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58920" indent="0">
              <a:lnSpc>
                <a:spcPct val="100000"/>
              </a:lnSpc>
              <a:spcBef>
                <a:spcPts val="601"/>
              </a:spcBef>
              <a:spcAft>
                <a:spcPts val="601"/>
              </a:spcAft>
              <a:buNone/>
            </a:pPr>
            <a:r>
              <a:rPr lang="en-US" sz="2400" b="1" u="none" strike="noStrike">
                <a:solidFill>
                  <a:srgbClr val="00468F"/>
                </a:solidFill>
                <a:effectLst/>
                <a:uFillTx/>
                <a:latin typeface="Arial"/>
                <a:ea typeface="ＭＳ Ｐゴシック"/>
              </a:rPr>
              <a:t>Joe’s Comparative Advantage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Joe’s opportunity cost of a salad is 1/5 smoothie.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Liz’s opportunity cost of a salad is 1 smoothie.</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Joe’s opportunity cost of a salad is </a:t>
            </a:r>
            <a:r>
              <a:rPr lang="en-US" sz="2400" b="0" i="1" u="none" strike="noStrike">
                <a:solidFill>
                  <a:schemeClr val="dk1"/>
                </a:solidFill>
                <a:effectLst/>
                <a:uFillTx/>
                <a:latin typeface="Arial"/>
                <a:ea typeface="ＭＳ Ｐゴシック"/>
              </a:rPr>
              <a:t>less</a:t>
            </a:r>
            <a:r>
              <a:rPr lang="en-US" sz="2400" b="0" u="none" strike="noStrike">
                <a:solidFill>
                  <a:schemeClr val="dk1"/>
                </a:solidFill>
                <a:effectLst/>
                <a:uFillTx/>
                <a:latin typeface="Arial"/>
                <a:ea typeface="ＭＳ Ｐゴシック"/>
              </a:rPr>
              <a:t> than Liz’s, … </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so Joe has a comparative advantage in producing salads.</a:t>
            </a:r>
            <a:endParaRPr lang="en-CA" sz="2400" b="1" u="none" strike="noStrike">
              <a:solidFill>
                <a:srgbClr val="00468F"/>
              </a:solidFill>
              <a:effectLst/>
              <a:uFillTx/>
              <a:latin typeface="Arial"/>
            </a:endParaRPr>
          </a:p>
          <a:p>
            <a:pPr marL="35892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To keep things simple, we assume that Liz’s and Joe’s opportunity costs are constant.</a:t>
            </a:r>
            <a:endParaRPr lang="en-CA" sz="2400" b="1" u="none" strike="noStrike">
              <a:solidFill>
                <a:srgbClr val="00468F"/>
              </a:solidFill>
              <a:effectLst/>
              <a:uFillTx/>
              <a:latin typeface="Arial"/>
            </a:endParaRPr>
          </a:p>
        </p:txBody>
      </p:sp>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207">
                                            <p:txEl>
                                              <p:pRg st="1" end="1"/>
                                            </p:txEl>
                                          </p:spTgt>
                                        </p:tgtEl>
                                        <p:attrNameLst>
                                          <p:attrName>style.visibility</p:attrName>
                                        </p:attrNameLst>
                                      </p:cBhvr>
                                      <p:to>
                                        <p:strVal val="visible"/>
                                      </p:to>
                                    </p:set>
                                    <p:animEffect transition="in" filter="wipe(left)">
                                      <p:cBhvr additive="repl">
                                        <p:cTn id="7" dur="500"/>
                                        <p:tgtEl>
                                          <p:spTgt spid="207">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07">
                                            <p:txEl>
                                              <p:pRg st="2" end="2"/>
                                            </p:txEl>
                                          </p:spTgt>
                                        </p:tgtEl>
                                        <p:attrNameLst>
                                          <p:attrName>style.visibility</p:attrName>
                                        </p:attrNameLst>
                                      </p:cBhvr>
                                      <p:to>
                                        <p:strVal val="visible"/>
                                      </p:to>
                                    </p:set>
                                    <p:animEffect transition="in" filter="wipe(left)">
                                      <p:cBhvr additive="repl">
                                        <p:cTn id="12" dur="500"/>
                                        <p:tgtEl>
                                          <p:spTgt spid="207">
                                            <p:txEl>
                                              <p:pRg st="2" end="2"/>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207">
                                            <p:txEl>
                                              <p:pRg st="3" end="3"/>
                                            </p:txEl>
                                          </p:spTgt>
                                        </p:tgtEl>
                                        <p:attrNameLst>
                                          <p:attrName>style.visibility</p:attrName>
                                        </p:attrNameLst>
                                      </p:cBhvr>
                                      <p:to>
                                        <p:strVal val="visible"/>
                                      </p:to>
                                    </p:set>
                                    <p:animEffect transition="in" filter="wipe(left)">
                                      <p:cBhvr additive="repl">
                                        <p:cTn id="17" dur="500"/>
                                        <p:tgtEl>
                                          <p:spTgt spid="207">
                                            <p:txEl>
                                              <p:pRg st="3" end="3"/>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207">
                                            <p:txEl>
                                              <p:pRg st="4" end="4"/>
                                            </p:txEl>
                                          </p:spTgt>
                                        </p:tgtEl>
                                        <p:attrNameLst>
                                          <p:attrName>style.visibility</p:attrName>
                                        </p:attrNameLst>
                                      </p:cBhvr>
                                      <p:to>
                                        <p:strVal val="visible"/>
                                      </p:to>
                                    </p:set>
                                    <p:animEffect transition="in" filter="wipe(left)">
                                      <p:cBhvr additive="repl">
                                        <p:cTn id="22" dur="500"/>
                                        <p:tgtEl>
                                          <p:spTgt spid="207">
                                            <p:txEl>
                                              <p:pRg st="4" end="4"/>
                                            </p:txEl>
                                          </p:spTgt>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22" presetClass="entr" presetSubtype="8" fill="hold" nodeType="clickEffect">
                                  <p:stCondLst>
                                    <p:cond delay="0"/>
                                  </p:stCondLst>
                                  <p:childTnLst>
                                    <p:set>
                                      <p:cBhvr>
                                        <p:cTn id="26" dur="1" fill="hold">
                                          <p:stCondLst>
                                            <p:cond delay="0"/>
                                          </p:stCondLst>
                                        </p:cTn>
                                        <p:tgtEl>
                                          <p:spTgt spid="207">
                                            <p:txEl>
                                              <p:pRg st="5" end="5"/>
                                            </p:txEl>
                                          </p:spTgt>
                                        </p:tgtEl>
                                        <p:attrNameLst>
                                          <p:attrName>style.visibility</p:attrName>
                                        </p:attrNameLst>
                                      </p:cBhvr>
                                      <p:to>
                                        <p:strVal val="visible"/>
                                      </p:to>
                                    </p:set>
                                    <p:animEffect transition="in" filter="wipe(left)">
                                      <p:cBhvr additive="repl">
                                        <p:cTn id="27" dur="500"/>
                                        <p:tgtEl>
                                          <p:spTgt spid="2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PlaceHolder 1"/>
          <p:cNvSpPr>
            <a:spLocks noGrp="1"/>
          </p:cNvSpPr>
          <p:nvPr>
            <p:ph/>
          </p:nvPr>
        </p:nvSpPr>
        <p:spPr>
          <a:xfrm>
            <a:off x="360360" y="1440000"/>
            <a:ext cx="840240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 and Joe produce at a point</a:t>
            </a:r>
            <a:r>
              <a:rPr lang="en-US" sz="2400" b="0" i="1" u="none" strike="noStrike">
                <a:solidFill>
                  <a:srgbClr val="000000"/>
                </a:solidFill>
                <a:effectLst/>
                <a:uFillTx/>
                <a:latin typeface="Arial"/>
                <a:ea typeface="ＭＳ Ｐゴシック"/>
              </a:rPr>
              <a:t> </a:t>
            </a:r>
            <a:r>
              <a:rPr lang="en-US" sz="2400" b="0" u="none" strike="noStrike">
                <a:solidFill>
                  <a:srgbClr val="000000"/>
                </a:solidFill>
                <a:effectLst/>
                <a:uFillTx/>
                <a:latin typeface="Arial"/>
                <a:ea typeface="ＭＳ Ｐゴシック"/>
              </a:rPr>
              <a:t>on their</a:t>
            </a:r>
            <a:r>
              <a:rPr lang="en-US" sz="2400" b="0" i="1" u="none" strike="noStrike">
                <a:solidFill>
                  <a:srgbClr val="000000"/>
                </a:solidFill>
                <a:effectLst/>
                <a:uFillTx/>
                <a:latin typeface="Arial"/>
                <a:ea typeface="ＭＳ Ｐゴシック"/>
              </a:rPr>
              <a:t> PPF</a:t>
            </a:r>
            <a:r>
              <a:rPr lang="en-US" sz="2400" b="0" u="none" strike="noStrike">
                <a:solidFill>
                  <a:srgbClr val="000000"/>
                </a:solidFill>
                <a:effectLst/>
                <a:uFillTx/>
                <a:latin typeface="Arial"/>
                <a:ea typeface="ＭＳ Ｐゴシック"/>
              </a:rPr>
              <a:t>s</a:t>
            </a:r>
            <a:r>
              <a:rPr lang="en-US" sz="2400" b="0" i="1" u="none" strike="noStrike">
                <a:solidFill>
                  <a:srgbClr val="000000"/>
                </a:solidFill>
                <a:effectLst/>
                <a:uFillTx/>
                <a:latin typeface="Arial"/>
                <a:ea typeface="ＭＳ Ｐゴシック"/>
              </a:rPr>
              <a:t>.</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 has a comparative advantage in producing smoothies.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Joe has a comparative advantage in producing salads.   </a:t>
            </a:r>
            <a:endParaRPr lang="en-CA" sz="2400" b="1" u="none" strike="noStrike">
              <a:solidFill>
                <a:srgbClr val="00468F"/>
              </a:solidFill>
              <a:effectLst/>
              <a:uFillTx/>
              <a:latin typeface="Arial"/>
            </a:endParaRPr>
          </a:p>
        </p:txBody>
      </p:sp>
      <p:sp>
        <p:nvSpPr>
          <p:cNvPr id="209"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210" name="Picture 3"/>
          <p:cNvPicPr/>
          <p:nvPr/>
        </p:nvPicPr>
        <p:blipFill>
          <a:blip r:embed="rId3"/>
          <a:stretch/>
        </p:blipFill>
        <p:spPr>
          <a:xfrm>
            <a:off x="1008000" y="2987640"/>
            <a:ext cx="7132320" cy="3627000"/>
          </a:xfrm>
          <a:prstGeom prst="rect">
            <a:avLst/>
          </a:prstGeom>
          <a:noFill/>
          <a:ln w="0">
            <a:noFill/>
          </a:ln>
        </p:spPr>
      </p:pic>
      <p:pic>
        <p:nvPicPr>
          <p:cNvPr id="211" name="Picture 4"/>
          <p:cNvPicPr/>
          <p:nvPr/>
        </p:nvPicPr>
        <p:blipFill>
          <a:blip r:embed="rId4"/>
          <a:stretch/>
        </p:blipFill>
        <p:spPr>
          <a:xfrm>
            <a:off x="1008000" y="2987640"/>
            <a:ext cx="7132320" cy="3627000"/>
          </a:xfrm>
          <a:prstGeom prst="rect">
            <a:avLst/>
          </a:prstGeom>
          <a:noFill/>
          <a:ln w="0">
            <a:noFill/>
          </a:ln>
        </p:spPr>
      </p:pic>
      <p:pic>
        <p:nvPicPr>
          <p:cNvPr id="212" name="Picture 5"/>
          <p:cNvPicPr/>
          <p:nvPr/>
        </p:nvPicPr>
        <p:blipFill>
          <a:blip r:embed="rId5"/>
          <a:stretch/>
        </p:blipFill>
        <p:spPr>
          <a:xfrm>
            <a:off x="1008000" y="2987640"/>
            <a:ext cx="7132320" cy="3627000"/>
          </a:xfrm>
          <a:prstGeom prst="rect">
            <a:avLst/>
          </a:prstGeom>
          <a:noFill/>
          <a:ln w="0">
            <a:noFill/>
          </a:ln>
        </p:spPr>
      </p:pic>
      <p:pic>
        <p:nvPicPr>
          <p:cNvPr id="213" name="Picture 6"/>
          <p:cNvPicPr/>
          <p:nvPr/>
        </p:nvPicPr>
        <p:blipFill>
          <a:blip r:embed="rId6"/>
          <a:stretch/>
        </p:blipFill>
        <p:spPr>
          <a:xfrm>
            <a:off x="1008000" y="2987640"/>
            <a:ext cx="7132320" cy="3627000"/>
          </a:xfrm>
          <a:prstGeom prst="rect">
            <a:avLst/>
          </a:prstGeom>
          <a:noFill/>
          <a:ln w="0">
            <a:noFill/>
          </a:ln>
        </p:spPr>
      </p:pic>
      <p:pic>
        <p:nvPicPr>
          <p:cNvPr id="214" name="Picture 7"/>
          <p:cNvPicPr/>
          <p:nvPr/>
        </p:nvPicPr>
        <p:blipFill>
          <a:blip r:embed="rId7"/>
          <a:stretch/>
        </p:blipFill>
        <p:spPr>
          <a:xfrm>
            <a:off x="1008000" y="2987640"/>
            <a:ext cx="7132320" cy="3627000"/>
          </a:xfrm>
          <a:prstGeom prst="rect">
            <a:avLst/>
          </a:prstGeom>
          <a:noFill/>
          <a:ln w="0">
            <a:noFill/>
          </a:ln>
        </p:spPr>
      </p:pic>
      <p:pic>
        <p:nvPicPr>
          <p:cNvPr id="215" name="Picture 8"/>
          <p:cNvPicPr/>
          <p:nvPr/>
        </p:nvPicPr>
        <p:blipFill>
          <a:blip r:embed="rId8"/>
          <a:stretch/>
        </p:blipFill>
        <p:spPr>
          <a:xfrm>
            <a:off x="1008000" y="2987640"/>
            <a:ext cx="7132320" cy="3627000"/>
          </a:xfrm>
          <a:prstGeom prst="rect">
            <a:avLst/>
          </a:prstGeom>
          <a:noFill/>
          <a:ln w="0">
            <a:noFill/>
          </a:ln>
        </p:spPr>
      </p:pic>
      <p:pic>
        <p:nvPicPr>
          <p:cNvPr id="216" name="Picture 9"/>
          <p:cNvPicPr/>
          <p:nvPr/>
        </p:nvPicPr>
        <p:blipFill>
          <a:blip r:embed="rId9"/>
          <a:stretch/>
        </p:blipFill>
        <p:spPr>
          <a:xfrm>
            <a:off x="1008000" y="2987640"/>
            <a:ext cx="7132320" cy="362700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1" fill="hold" nodeType="with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wipe(up)">
                                      <p:cBhvr additive="repl">
                                        <p:cTn id="7" dur="750"/>
                                        <p:tgtEl>
                                          <p:spTgt spid="211"/>
                                        </p:tgtEl>
                                      </p:cBhvr>
                                    </p:animEffect>
                                  </p:childTnLst>
                                </p:cTn>
                              </p:par>
                              <p:par>
                                <p:cTn id="8" presetID="10" presetClass="entr" fill="hold" nodeType="withEffect">
                                  <p:stCondLst>
                                    <p:cond delay="900"/>
                                  </p:stCondLst>
                                  <p:childTnLst>
                                    <p:set>
                                      <p:cBhvr>
                                        <p:cTn id="9" dur="1" fill="hold">
                                          <p:stCondLst>
                                            <p:cond delay="0"/>
                                          </p:stCondLst>
                                        </p:cTn>
                                        <p:tgtEl>
                                          <p:spTgt spid="212"/>
                                        </p:tgtEl>
                                        <p:attrNameLst>
                                          <p:attrName>style.visibility</p:attrName>
                                        </p:attrNameLst>
                                      </p:cBhvr>
                                      <p:to>
                                        <p:strVal val="visible"/>
                                      </p:to>
                                    </p:set>
                                    <p:animEffect transition="in" filter="fade">
                                      <p:cBhvr additive="repl">
                                        <p:cTn id="10" dur="500"/>
                                        <p:tgtEl>
                                          <p:spTgt spid="212"/>
                                        </p:tgtEl>
                                      </p:cBhvr>
                                    </p:animEffect>
                                  </p:childTnLst>
                                </p:cTn>
                              </p:par>
                              <p:par>
                                <p:cTn id="11" presetID="22" presetClass="entr" presetSubtype="1" fill="hold" nodeType="withEffect">
                                  <p:stCondLst>
                                    <p:cond delay="1600"/>
                                  </p:stCondLst>
                                  <p:childTnLst>
                                    <p:set>
                                      <p:cBhvr>
                                        <p:cTn id="12" dur="1" fill="hold">
                                          <p:stCondLst>
                                            <p:cond delay="0"/>
                                          </p:stCondLst>
                                        </p:cTn>
                                        <p:tgtEl>
                                          <p:spTgt spid="213"/>
                                        </p:tgtEl>
                                        <p:attrNameLst>
                                          <p:attrName>style.visibility</p:attrName>
                                        </p:attrNameLst>
                                      </p:cBhvr>
                                      <p:to>
                                        <p:strVal val="visible"/>
                                      </p:to>
                                    </p:set>
                                    <p:animEffect transition="in" filter="wipe(up)">
                                      <p:cBhvr additive="repl">
                                        <p:cTn id="13" dur="750"/>
                                        <p:tgtEl>
                                          <p:spTgt spid="213"/>
                                        </p:tgtEl>
                                      </p:cBhvr>
                                    </p:animEffect>
                                  </p:childTnLst>
                                </p:cTn>
                              </p:par>
                              <p:par>
                                <p:cTn id="14" presetID="10" presetClass="entr" fill="hold" nodeType="withEffect">
                                  <p:stCondLst>
                                    <p:cond delay="2500"/>
                                  </p:stCondLst>
                                  <p:childTnLst>
                                    <p:set>
                                      <p:cBhvr>
                                        <p:cTn id="15" dur="1" fill="hold">
                                          <p:stCondLst>
                                            <p:cond delay="0"/>
                                          </p:stCondLst>
                                        </p:cTn>
                                        <p:tgtEl>
                                          <p:spTgt spid="214"/>
                                        </p:tgtEl>
                                        <p:attrNameLst>
                                          <p:attrName>style.visibility</p:attrName>
                                        </p:attrNameLst>
                                      </p:cBhvr>
                                      <p:to>
                                        <p:strVal val="visible"/>
                                      </p:to>
                                    </p:set>
                                    <p:animEffect transition="in" filter="fade">
                                      <p:cBhvr additive="repl">
                                        <p:cTn id="16" dur="500"/>
                                        <p:tgtEl>
                                          <p:spTgt spid="214"/>
                                        </p:tgtEl>
                                      </p:cBhvr>
                                    </p:animEffect>
                                  </p:childTnLst>
                                </p:cTn>
                              </p:par>
                            </p:childTnLst>
                          </p:cTn>
                        </p:par>
                      </p:childTnLst>
                    </p:cTn>
                  </p:par>
                  <p:par>
                    <p:cTn id="17" fill="hold" nodeType="clickEffect">
                      <p:stCondLst>
                        <p:cond delay="indefinite"/>
                      </p:stCondLst>
                      <p:childTnLst>
                        <p:par>
                          <p:cTn id="18" fill="hold" nodeType="withEffect">
                            <p:stCondLst>
                              <p:cond delay="0"/>
                            </p:stCondLst>
                            <p:childTnLst>
                              <p:par>
                                <p:cTn id="19" presetID="22" presetClass="entr" presetSubtype="8" fill="hold" nodeType="clickEffect">
                                  <p:stCondLst>
                                    <p:cond delay="0"/>
                                  </p:stCondLst>
                                  <p:childTnLst>
                                    <p:set>
                                      <p:cBhvr>
                                        <p:cTn id="20" dur="1" fill="hold">
                                          <p:stCondLst>
                                            <p:cond delay="0"/>
                                          </p:stCondLst>
                                        </p:cTn>
                                        <p:tgtEl>
                                          <p:spTgt spid="208">
                                            <p:txEl>
                                              <p:pRg st="1" end="1"/>
                                            </p:txEl>
                                          </p:spTgt>
                                        </p:tgtEl>
                                        <p:attrNameLst>
                                          <p:attrName>style.visibility</p:attrName>
                                        </p:attrNameLst>
                                      </p:cBhvr>
                                      <p:to>
                                        <p:strVal val="visible"/>
                                      </p:to>
                                    </p:set>
                                    <p:animEffect transition="in" filter="wipe(left)">
                                      <p:cBhvr additive="repl">
                                        <p:cTn id="21" dur="500"/>
                                        <p:tgtEl>
                                          <p:spTgt spid="208">
                                            <p:txEl>
                                              <p:pRg st="1" end="1"/>
                                            </p:txEl>
                                          </p:spTgt>
                                        </p:tgtEl>
                                      </p:cBhvr>
                                    </p:animEffect>
                                  </p:childTnLst>
                                </p:cTn>
                              </p:par>
                              <p:par>
                                <p:cTn id="22" presetID="10" presetClass="entr" fill="hold" nodeType="withEffect">
                                  <p:stCondLst>
                                    <p:cond delay="0"/>
                                  </p:stCondLst>
                                  <p:childTnLst>
                                    <p:set>
                                      <p:cBhvr>
                                        <p:cTn id="23" dur="1" fill="hold">
                                          <p:stCondLst>
                                            <p:cond delay="0"/>
                                          </p:stCondLst>
                                        </p:cTn>
                                        <p:tgtEl>
                                          <p:spTgt spid="215"/>
                                        </p:tgtEl>
                                        <p:attrNameLst>
                                          <p:attrName>style.visibility</p:attrName>
                                        </p:attrNameLst>
                                      </p:cBhvr>
                                      <p:to>
                                        <p:strVal val="visible"/>
                                      </p:to>
                                    </p:set>
                                    <p:animEffect transition="in" filter="fade">
                                      <p:cBhvr additive="repl">
                                        <p:cTn id="24" dur="500"/>
                                        <p:tgtEl>
                                          <p:spTgt spid="215"/>
                                        </p:tgtEl>
                                      </p:cBhvr>
                                    </p:animEffect>
                                  </p:childTnLst>
                                </p:cTn>
                              </p:par>
                            </p:childTnLst>
                          </p:cTn>
                        </p:par>
                      </p:childTnLst>
                    </p:cTn>
                  </p:par>
                  <p:par>
                    <p:cTn id="25" fill="hold" nodeType="clickEffect">
                      <p:stCondLst>
                        <p:cond delay="indefinite"/>
                      </p:stCondLst>
                      <p:childTnLst>
                        <p:par>
                          <p:cTn id="26" fill="hold" nodeType="withEffect">
                            <p:stCondLst>
                              <p:cond delay="0"/>
                            </p:stCondLst>
                            <p:childTnLst>
                              <p:par>
                                <p:cTn id="27" presetID="22" presetClass="entr" presetSubtype="8" fill="hold" nodeType="clickEffect">
                                  <p:stCondLst>
                                    <p:cond delay="0"/>
                                  </p:stCondLst>
                                  <p:childTnLst>
                                    <p:set>
                                      <p:cBhvr>
                                        <p:cTn id="28" dur="1" fill="hold">
                                          <p:stCondLst>
                                            <p:cond delay="0"/>
                                          </p:stCondLst>
                                        </p:cTn>
                                        <p:tgtEl>
                                          <p:spTgt spid="208">
                                            <p:txEl>
                                              <p:pRg st="2" end="2"/>
                                            </p:txEl>
                                          </p:spTgt>
                                        </p:tgtEl>
                                        <p:attrNameLst>
                                          <p:attrName>style.visibility</p:attrName>
                                        </p:attrNameLst>
                                      </p:cBhvr>
                                      <p:to>
                                        <p:strVal val="visible"/>
                                      </p:to>
                                    </p:set>
                                    <p:animEffect transition="in" filter="wipe(left)">
                                      <p:cBhvr additive="repl">
                                        <p:cTn id="29" dur="500"/>
                                        <p:tgtEl>
                                          <p:spTgt spid="208">
                                            <p:txEl>
                                              <p:pRg st="2" end="2"/>
                                            </p:txEl>
                                          </p:spTgt>
                                        </p:tgtEl>
                                      </p:cBhvr>
                                    </p:animEffect>
                                  </p:childTnLst>
                                </p:cTn>
                              </p:par>
                              <p:par>
                                <p:cTn id="30" presetID="10" presetClass="entr" fill="hold" nodeType="withEffect">
                                  <p:stCondLst>
                                    <p:cond delay="0"/>
                                  </p:stCondLst>
                                  <p:childTnLst>
                                    <p:set>
                                      <p:cBhvr>
                                        <p:cTn id="31" dur="1" fill="hold">
                                          <p:stCondLst>
                                            <p:cond delay="0"/>
                                          </p:stCondLst>
                                        </p:cTn>
                                        <p:tgtEl>
                                          <p:spTgt spid="216"/>
                                        </p:tgtEl>
                                        <p:attrNameLst>
                                          <p:attrName>style.visibility</p:attrName>
                                        </p:attrNameLst>
                                      </p:cBhvr>
                                      <p:to>
                                        <p:strVal val="visible"/>
                                      </p:to>
                                    </p:set>
                                    <p:animEffect transition="in" filter="fade">
                                      <p:cBhvr additive="repl">
                                        <p:cTn id="32" dur="500"/>
                                        <p:tgtEl>
                                          <p:spTgt spid="2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7" name="Picture 8"/>
          <p:cNvPicPr/>
          <p:nvPr/>
        </p:nvPicPr>
        <p:blipFill>
          <a:blip r:embed="rId3"/>
          <a:stretch/>
        </p:blipFill>
        <p:spPr>
          <a:xfrm>
            <a:off x="108000" y="1260360"/>
            <a:ext cx="8915040" cy="4533480"/>
          </a:xfrm>
          <a:prstGeom prst="rect">
            <a:avLst/>
          </a:prstGeom>
          <a:noFill/>
          <a:ln w="0">
            <a:noFill/>
          </a:ln>
        </p:spPr>
      </p:pic>
      <p:pic>
        <p:nvPicPr>
          <p:cNvPr id="218" name="Picture 15"/>
          <p:cNvPicPr/>
          <p:nvPr/>
        </p:nvPicPr>
        <p:blipFill>
          <a:blip r:embed="rId4"/>
          <a:stretch/>
        </p:blipFill>
        <p:spPr>
          <a:xfrm>
            <a:off x="108000" y="1260360"/>
            <a:ext cx="8915040" cy="4533480"/>
          </a:xfrm>
          <a:prstGeom prst="rect">
            <a:avLst/>
          </a:prstGeom>
          <a:noFill/>
          <a:ln w="0">
            <a:noFill/>
          </a:ln>
        </p:spPr>
      </p:pic>
      <p:pic>
        <p:nvPicPr>
          <p:cNvPr id="219" name="Picture 16"/>
          <p:cNvPicPr/>
          <p:nvPr/>
        </p:nvPicPr>
        <p:blipFill>
          <a:blip r:embed="rId5"/>
          <a:stretch/>
        </p:blipFill>
        <p:spPr>
          <a:xfrm>
            <a:off x="108000" y="1260360"/>
            <a:ext cx="8915040" cy="4533480"/>
          </a:xfrm>
          <a:prstGeom prst="rect">
            <a:avLst/>
          </a:prstGeom>
          <a:noFill/>
          <a:ln w="0">
            <a:noFill/>
          </a:ln>
        </p:spPr>
      </p:pic>
      <p:pic>
        <p:nvPicPr>
          <p:cNvPr id="220" name="Picture 17"/>
          <p:cNvPicPr/>
          <p:nvPr/>
        </p:nvPicPr>
        <p:blipFill>
          <a:blip r:embed="rId6"/>
          <a:stretch/>
        </p:blipFill>
        <p:spPr>
          <a:xfrm>
            <a:off x="108000" y="1260360"/>
            <a:ext cx="8915040" cy="4533480"/>
          </a:xfrm>
          <a:prstGeom prst="rect">
            <a:avLst/>
          </a:prstGeom>
          <a:noFill/>
          <a:ln w="0">
            <a:noFill/>
          </a:ln>
        </p:spPr>
      </p:pic>
      <p:pic>
        <p:nvPicPr>
          <p:cNvPr id="221" name="Picture 18"/>
          <p:cNvPicPr/>
          <p:nvPr/>
        </p:nvPicPr>
        <p:blipFill>
          <a:blip r:embed="rId7"/>
          <a:stretch/>
        </p:blipFill>
        <p:spPr>
          <a:xfrm>
            <a:off x="108000" y="1260360"/>
            <a:ext cx="8915040" cy="4533480"/>
          </a:xfrm>
          <a:prstGeom prst="rect">
            <a:avLst/>
          </a:prstGeom>
          <a:noFill/>
          <a:ln w="0">
            <a:noFill/>
          </a:ln>
        </p:spPr>
      </p:pic>
      <p:pic>
        <p:nvPicPr>
          <p:cNvPr id="222" name="Picture 19"/>
          <p:cNvPicPr/>
          <p:nvPr/>
        </p:nvPicPr>
        <p:blipFill>
          <a:blip r:embed="rId8"/>
          <a:stretch/>
        </p:blipFill>
        <p:spPr>
          <a:xfrm>
            <a:off x="108000" y="1260360"/>
            <a:ext cx="8915040" cy="4533480"/>
          </a:xfrm>
          <a:prstGeom prst="rect">
            <a:avLst/>
          </a:prstGeom>
          <a:noFill/>
          <a:ln w="0">
            <a:noFill/>
          </a:ln>
        </p:spPr>
      </p:pic>
      <p:pic>
        <p:nvPicPr>
          <p:cNvPr id="223" name="Picture 20"/>
          <p:cNvPicPr/>
          <p:nvPr/>
        </p:nvPicPr>
        <p:blipFill>
          <a:blip r:embed="rId9"/>
          <a:stretch/>
        </p:blipFill>
        <p:spPr>
          <a:xfrm>
            <a:off x="108000" y="1260360"/>
            <a:ext cx="8915040" cy="453348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1"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wipe(up)">
                                      <p:cBhvr additive="repl">
                                        <p:cTn id="7" dur="750"/>
                                        <p:tgtEl>
                                          <p:spTgt spid="218"/>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219"/>
                                        </p:tgtEl>
                                        <p:attrNameLst>
                                          <p:attrName>style.visibility</p:attrName>
                                        </p:attrNameLst>
                                      </p:cBhvr>
                                      <p:to>
                                        <p:strVal val="visible"/>
                                      </p:to>
                                    </p:set>
                                    <p:animEffect transition="in" filter="fade">
                                      <p:cBhvr additive="repl">
                                        <p:cTn id="12" dur="500"/>
                                        <p:tgtEl>
                                          <p:spTgt spid="219"/>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1" fill="hold" nodeType="clickEffect">
                                  <p:stCondLst>
                                    <p:cond delay="0"/>
                                  </p:stCondLst>
                                  <p:childTnLst>
                                    <p:set>
                                      <p:cBhvr>
                                        <p:cTn id="16" dur="1" fill="hold">
                                          <p:stCondLst>
                                            <p:cond delay="0"/>
                                          </p:stCondLst>
                                        </p:cTn>
                                        <p:tgtEl>
                                          <p:spTgt spid="220"/>
                                        </p:tgtEl>
                                        <p:attrNameLst>
                                          <p:attrName>style.visibility</p:attrName>
                                        </p:attrNameLst>
                                      </p:cBhvr>
                                      <p:to>
                                        <p:strVal val="visible"/>
                                      </p:to>
                                    </p:set>
                                    <p:animEffect transition="in" filter="wipe(up)">
                                      <p:cBhvr additive="repl">
                                        <p:cTn id="17" dur="750"/>
                                        <p:tgtEl>
                                          <p:spTgt spid="220"/>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221"/>
                                        </p:tgtEl>
                                        <p:attrNameLst>
                                          <p:attrName>style.visibility</p:attrName>
                                        </p:attrNameLst>
                                      </p:cBhvr>
                                      <p:to>
                                        <p:strVal val="visible"/>
                                      </p:to>
                                    </p:set>
                                    <p:animEffect transition="in" filter="fade">
                                      <p:cBhvr additive="repl">
                                        <p:cTn id="22" dur="500"/>
                                        <p:tgtEl>
                                          <p:spTgt spid="221"/>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10" presetClass="entr" fill="hold" nodeType="clickEffect">
                                  <p:stCondLst>
                                    <p:cond delay="0"/>
                                  </p:stCondLst>
                                  <p:childTnLst>
                                    <p:set>
                                      <p:cBhvr>
                                        <p:cTn id="26" dur="1" fill="hold">
                                          <p:stCondLst>
                                            <p:cond delay="0"/>
                                          </p:stCondLst>
                                        </p:cTn>
                                        <p:tgtEl>
                                          <p:spTgt spid="222"/>
                                        </p:tgtEl>
                                        <p:attrNameLst>
                                          <p:attrName>style.visibility</p:attrName>
                                        </p:attrNameLst>
                                      </p:cBhvr>
                                      <p:to>
                                        <p:strVal val="visible"/>
                                      </p:to>
                                    </p:set>
                                    <p:animEffect transition="in" filter="fade">
                                      <p:cBhvr additive="repl">
                                        <p:cTn id="27" dur="500"/>
                                        <p:tgtEl>
                                          <p:spTgt spid="222"/>
                                        </p:tgtEl>
                                      </p:cBhvr>
                                    </p:animEffect>
                                  </p:childTnLst>
                                </p:cTn>
                              </p:par>
                            </p:childTnLst>
                          </p:cTn>
                        </p:par>
                      </p:childTnLst>
                    </p:cTn>
                  </p:par>
                  <p:par>
                    <p:cTn id="28" fill="hold" nodeType="clickEffect">
                      <p:stCondLst>
                        <p:cond delay="indefinite"/>
                      </p:stCondLst>
                      <p:childTnLst>
                        <p:par>
                          <p:cTn id="29" fill="hold" nodeType="withEffect">
                            <p:stCondLst>
                              <p:cond delay="0"/>
                            </p:stCondLst>
                            <p:childTnLst>
                              <p:par>
                                <p:cTn id="30" presetID="10" presetClass="entr" fill="hold" nodeType="clickEffect">
                                  <p:stCondLst>
                                    <p:cond delay="0"/>
                                  </p:stCondLst>
                                  <p:childTnLst>
                                    <p:set>
                                      <p:cBhvr>
                                        <p:cTn id="31" dur="1" fill="hold">
                                          <p:stCondLst>
                                            <p:cond delay="0"/>
                                          </p:stCondLst>
                                        </p:cTn>
                                        <p:tgtEl>
                                          <p:spTgt spid="223"/>
                                        </p:tgtEl>
                                        <p:attrNameLst>
                                          <p:attrName>style.visibility</p:attrName>
                                        </p:attrNameLst>
                                      </p:cBhvr>
                                      <p:to>
                                        <p:strVal val="visible"/>
                                      </p:to>
                                    </p:set>
                                    <p:animEffect transition="in" filter="fade">
                                      <p:cBhvr additive="repl">
                                        <p:cTn id="32" dur="500"/>
                                        <p:tgtEl>
                                          <p:spTgt spid="2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25" name="PlaceHolder 2"/>
          <p:cNvSpPr>
            <a:spLocks noGrp="1"/>
          </p:cNvSpPr>
          <p:nvPr>
            <p:ph/>
          </p:nvPr>
        </p:nvSpPr>
        <p:spPr>
          <a:xfrm>
            <a:off x="360360" y="1440000"/>
            <a:ext cx="4668480" cy="4647960"/>
          </a:xfrm>
          <a:prstGeom prst="rect">
            <a:avLst/>
          </a:prstGeom>
          <a:noFill/>
          <a:ln w="0">
            <a:noFill/>
          </a:ln>
        </p:spPr>
        <p:txBody>
          <a:bodyPr lIns="91440" tIns="45720" rIns="91440" bIns="45720" numCol="1" spcCol="0" anchor="t">
            <a:noAutofit/>
          </a:bodyPr>
          <a:lstStyle/>
          <a:p>
            <a:pPr marL="343080" indent="-343080">
              <a:lnSpc>
                <a:spcPct val="100000"/>
              </a:lnSpc>
              <a:spcBef>
                <a:spcPts val="561"/>
              </a:spcBef>
              <a:buClr>
                <a:srgbClr val="00468F"/>
              </a:buClr>
              <a:buFont typeface="Webdings" charset="2"/>
              <a:buChar char=""/>
            </a:pPr>
            <a:r>
              <a:rPr lang="en-US" sz="2800" b="1" u="none" strike="noStrike">
                <a:solidFill>
                  <a:srgbClr val="00468F"/>
                </a:solidFill>
                <a:effectLst/>
                <a:uFillTx/>
                <a:latin typeface="Arial"/>
                <a:ea typeface="ＭＳ Ｐゴシック"/>
              </a:rPr>
              <a:t>Achieving Gains from Trade</a:t>
            </a:r>
            <a:endParaRPr lang="en-CA" sz="2800" b="1" u="none" strike="noStrike">
              <a:solidFill>
                <a:srgbClr val="00468F"/>
              </a:solidFill>
              <a:effectLst/>
              <a:uFillTx/>
              <a:latin typeface="Arial"/>
            </a:endParaRPr>
          </a:p>
          <a:p>
            <a:pPr marL="36000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Liz and Joe specialize in producing the good in which they have a comparative advantage: </a:t>
            </a:r>
            <a:endParaRPr lang="en-CA" sz="2400" b="1" u="none" strike="noStrike">
              <a:solidFill>
                <a:srgbClr val="00468F"/>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rgbClr val="000000"/>
                </a:solidFill>
                <a:effectLst/>
                <a:uFillTx/>
                <a:latin typeface="Arial"/>
                <a:ea typeface="ＭＳ Ｐゴシック"/>
              </a:rPr>
              <a:t>Liz produces 30 smoothies.</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rgbClr val="000000"/>
                </a:solidFill>
                <a:effectLst/>
                <a:uFillTx/>
                <a:latin typeface="Arial"/>
                <a:ea typeface="ＭＳ Ｐゴシック"/>
              </a:rPr>
              <a:t>Joe produces 30 salads.</a:t>
            </a:r>
            <a:endParaRPr lang="en-CA" sz="2400" b="0" u="none" strike="noStrike">
              <a:solidFill>
                <a:schemeClr val="dk1"/>
              </a:solidFill>
              <a:effectLst/>
              <a:uFillTx/>
              <a:latin typeface="Arial"/>
            </a:endParaRPr>
          </a:p>
        </p:txBody>
      </p:sp>
      <p:pic>
        <p:nvPicPr>
          <p:cNvPr id="226" name="Picture 2" descr="tab3a.gif"/>
          <p:cNvPicPr/>
          <p:nvPr/>
        </p:nvPicPr>
        <p:blipFill>
          <a:blip r:embed="rId3"/>
          <a:stretch/>
        </p:blipFill>
        <p:spPr>
          <a:xfrm>
            <a:off x="5410080" y="1523880"/>
            <a:ext cx="2849040" cy="5157360"/>
          </a:xfrm>
          <a:prstGeom prst="rect">
            <a:avLst/>
          </a:prstGeom>
          <a:noFill/>
          <a:ln w="0">
            <a:noFill/>
          </a:ln>
        </p:spPr>
      </p:pic>
      <p:pic>
        <p:nvPicPr>
          <p:cNvPr id="227" name="Picture 8" descr="tab3b.gif"/>
          <p:cNvPicPr/>
          <p:nvPr/>
        </p:nvPicPr>
        <p:blipFill>
          <a:blip r:embed="rId4"/>
          <a:stretch/>
        </p:blipFill>
        <p:spPr>
          <a:xfrm>
            <a:off x="5410080" y="1523880"/>
            <a:ext cx="2849040" cy="5157360"/>
          </a:xfrm>
          <a:prstGeom prst="rect">
            <a:avLst/>
          </a:prstGeom>
          <a:noFill/>
          <a:ln w="0">
            <a:noFill/>
          </a:ln>
        </p:spPr>
      </p:pic>
      <p:pic>
        <p:nvPicPr>
          <p:cNvPr id="228" name="Picture 9" descr="tab3c.gif"/>
          <p:cNvPicPr/>
          <p:nvPr/>
        </p:nvPicPr>
        <p:blipFill>
          <a:blip r:embed="rId5"/>
          <a:stretch/>
        </p:blipFill>
        <p:spPr>
          <a:xfrm>
            <a:off x="5410080" y="1523880"/>
            <a:ext cx="2849040" cy="51573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225">
                                            <p:txEl>
                                              <p:pRg st="1" end="1"/>
                                            </p:txEl>
                                          </p:spTgt>
                                        </p:tgtEl>
                                        <p:attrNameLst>
                                          <p:attrName>style.visibility</p:attrName>
                                        </p:attrNameLst>
                                      </p:cBhvr>
                                      <p:to>
                                        <p:strVal val="visible"/>
                                      </p:to>
                                    </p:set>
                                    <p:animEffect transition="in" filter="wipe(left)">
                                      <p:cBhvr additive="repl">
                                        <p:cTn id="7" dur="500"/>
                                        <p:tgtEl>
                                          <p:spTgt spid="225">
                                            <p:txEl>
                                              <p:pRg st="1" end="1"/>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25">
                                            <p:txEl>
                                              <p:pRg st="2" end="2"/>
                                            </p:txEl>
                                          </p:spTgt>
                                        </p:tgtEl>
                                        <p:attrNameLst>
                                          <p:attrName>style.visibility</p:attrName>
                                        </p:attrNameLst>
                                      </p:cBhvr>
                                      <p:to>
                                        <p:strVal val="visible"/>
                                      </p:to>
                                    </p:set>
                                    <p:animEffect transition="in" filter="wipe(left)">
                                      <p:cBhvr additive="repl">
                                        <p:cTn id="12" dur="500"/>
                                        <p:tgtEl>
                                          <p:spTgt spid="225">
                                            <p:txEl>
                                              <p:pRg st="2" end="2"/>
                                            </p:txEl>
                                          </p:spTgt>
                                        </p:tgtEl>
                                      </p:cBhvr>
                                    </p:animEffect>
                                  </p:childTnLst>
                                </p:cTn>
                              </p:par>
                              <p:par>
                                <p:cTn id="13" presetID="10" presetClass="entr" fill="hold" nodeType="withEffect">
                                  <p:stCondLst>
                                    <p:cond delay="0"/>
                                  </p:stCondLst>
                                  <p:childTnLst>
                                    <p:set>
                                      <p:cBhvr>
                                        <p:cTn id="14" dur="1" fill="hold">
                                          <p:stCondLst>
                                            <p:cond delay="0"/>
                                          </p:stCondLst>
                                        </p:cTn>
                                        <p:tgtEl>
                                          <p:spTgt spid="227"/>
                                        </p:tgtEl>
                                        <p:attrNameLst>
                                          <p:attrName>style.visibility</p:attrName>
                                        </p:attrNameLst>
                                      </p:cBhvr>
                                      <p:to>
                                        <p:strVal val="visible"/>
                                      </p:to>
                                    </p:set>
                                    <p:animEffect transition="in" filter="fade">
                                      <p:cBhvr additive="repl">
                                        <p:cTn id="15" dur="500"/>
                                        <p:tgtEl>
                                          <p:spTgt spid="227"/>
                                        </p:tgtEl>
                                      </p:cBhvr>
                                    </p:animEffect>
                                  </p:childTnLst>
                                </p:cTn>
                              </p:par>
                            </p:childTnLst>
                          </p:cTn>
                        </p:par>
                      </p:childTnLst>
                    </p:cTn>
                  </p:par>
                  <p:par>
                    <p:cTn id="16" fill="hold" nodeType="clickEffect">
                      <p:stCondLst>
                        <p:cond delay="indefinite"/>
                      </p:stCondLst>
                      <p:childTnLst>
                        <p:par>
                          <p:cTn id="17" fill="hold" nodeType="withEffect">
                            <p:stCondLst>
                              <p:cond delay="0"/>
                            </p:stCondLst>
                            <p:childTnLst>
                              <p:par>
                                <p:cTn id="18" presetID="22" presetClass="entr" presetSubtype="8" fill="hold" nodeType="clickEffect">
                                  <p:stCondLst>
                                    <p:cond delay="0"/>
                                  </p:stCondLst>
                                  <p:childTnLst>
                                    <p:set>
                                      <p:cBhvr>
                                        <p:cTn id="19" dur="1" fill="hold">
                                          <p:stCondLst>
                                            <p:cond delay="0"/>
                                          </p:stCondLst>
                                        </p:cTn>
                                        <p:tgtEl>
                                          <p:spTgt spid="225">
                                            <p:txEl>
                                              <p:pRg st="3" end="3"/>
                                            </p:txEl>
                                          </p:spTgt>
                                        </p:tgtEl>
                                        <p:attrNameLst>
                                          <p:attrName>style.visibility</p:attrName>
                                        </p:attrNameLst>
                                      </p:cBhvr>
                                      <p:to>
                                        <p:strVal val="visible"/>
                                      </p:to>
                                    </p:set>
                                    <p:animEffect transition="in" filter="wipe(left)">
                                      <p:cBhvr additive="repl">
                                        <p:cTn id="20" dur="500"/>
                                        <p:tgtEl>
                                          <p:spTgt spid="225">
                                            <p:txEl>
                                              <p:pRg st="3" end="3"/>
                                            </p:txEl>
                                          </p:spTgt>
                                        </p:tgtEl>
                                      </p:cBhvr>
                                    </p:animEffect>
                                  </p:childTnLst>
                                </p:cTn>
                              </p:par>
                              <p:par>
                                <p:cTn id="21" presetID="10" presetClass="entr" fill="hold" nodeType="withEffect">
                                  <p:stCondLst>
                                    <p:cond delay="0"/>
                                  </p:stCondLst>
                                  <p:childTnLst>
                                    <p:set>
                                      <p:cBhvr>
                                        <p:cTn id="22" dur="1" fill="hold">
                                          <p:stCondLst>
                                            <p:cond delay="0"/>
                                          </p:stCondLst>
                                        </p:cTn>
                                        <p:tgtEl>
                                          <p:spTgt spid="228"/>
                                        </p:tgtEl>
                                        <p:attrNameLst>
                                          <p:attrName>style.visibility</p:attrName>
                                        </p:attrNameLst>
                                      </p:cBhvr>
                                      <p:to>
                                        <p:strVal val="visible"/>
                                      </p:to>
                                    </p:set>
                                    <p:animEffect transition="in" filter="fade">
                                      <p:cBhvr additive="repl">
                                        <p:cTn id="23" dur="500"/>
                                        <p:tgtEl>
                                          <p:spTgt spid="2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9" name="Picture 2" descr="tab3a.gif"/>
          <p:cNvPicPr/>
          <p:nvPr/>
        </p:nvPicPr>
        <p:blipFill>
          <a:blip r:embed="rId3"/>
          <a:stretch/>
        </p:blipFill>
        <p:spPr>
          <a:xfrm>
            <a:off x="2666880" y="228600"/>
            <a:ext cx="3495240" cy="6325920"/>
          </a:xfrm>
          <a:prstGeom prst="rect">
            <a:avLst/>
          </a:prstGeom>
          <a:noFill/>
          <a:ln w="0">
            <a:noFill/>
          </a:ln>
        </p:spPr>
      </p:pic>
      <p:pic>
        <p:nvPicPr>
          <p:cNvPr id="230" name="Picture 3" descr="tab3b.gif"/>
          <p:cNvPicPr/>
          <p:nvPr/>
        </p:nvPicPr>
        <p:blipFill>
          <a:blip r:embed="rId4"/>
          <a:stretch/>
        </p:blipFill>
        <p:spPr>
          <a:xfrm>
            <a:off x="2666880" y="228600"/>
            <a:ext cx="3495240" cy="6325920"/>
          </a:xfrm>
          <a:prstGeom prst="rect">
            <a:avLst/>
          </a:prstGeom>
          <a:noFill/>
          <a:ln w="0">
            <a:noFill/>
          </a:ln>
        </p:spPr>
      </p:pic>
      <p:pic>
        <p:nvPicPr>
          <p:cNvPr id="231" name="Picture 4" descr="tab3c.gif"/>
          <p:cNvPicPr/>
          <p:nvPr/>
        </p:nvPicPr>
        <p:blipFill>
          <a:blip r:embed="rId5"/>
          <a:stretch/>
        </p:blipFill>
        <p:spPr>
          <a:xfrm>
            <a:off x="2666880" y="228600"/>
            <a:ext cx="3495240" cy="6325920"/>
          </a:xfrm>
          <a:prstGeom prst="rect">
            <a:avLst/>
          </a:prstGeom>
          <a:noFill/>
          <a:ln w="0">
            <a:noFill/>
          </a:ln>
        </p:spPr>
      </p:pic>
      <p:pic>
        <p:nvPicPr>
          <p:cNvPr id="232" name="Picture 5" descr="tab3d.gif"/>
          <p:cNvPicPr/>
          <p:nvPr/>
        </p:nvPicPr>
        <p:blipFill>
          <a:blip r:embed="rId6"/>
          <a:stretch/>
        </p:blipFill>
        <p:spPr>
          <a:xfrm>
            <a:off x="2666880" y="228600"/>
            <a:ext cx="3495240" cy="6325920"/>
          </a:xfrm>
          <a:prstGeom prst="rect">
            <a:avLst/>
          </a:prstGeom>
          <a:noFill/>
          <a:ln w="0">
            <a:noFill/>
          </a:ln>
        </p:spPr>
      </p:pic>
      <p:pic>
        <p:nvPicPr>
          <p:cNvPr id="233" name="Picture 6" descr="tab3e.gif"/>
          <p:cNvPicPr/>
          <p:nvPr/>
        </p:nvPicPr>
        <p:blipFill>
          <a:blip r:embed="rId7"/>
          <a:stretch/>
        </p:blipFill>
        <p:spPr>
          <a:xfrm>
            <a:off x="2666880" y="228600"/>
            <a:ext cx="3495240" cy="6325920"/>
          </a:xfrm>
          <a:prstGeom prst="rect">
            <a:avLst/>
          </a:prstGeom>
          <a:noFill/>
          <a:ln w="0">
            <a:noFill/>
          </a:ln>
        </p:spPr>
      </p:pic>
      <p:pic>
        <p:nvPicPr>
          <p:cNvPr id="234" name="Picture 7" descr="tab3f.gif"/>
          <p:cNvPicPr/>
          <p:nvPr/>
        </p:nvPicPr>
        <p:blipFill>
          <a:blip r:embed="rId8"/>
          <a:stretch/>
        </p:blipFill>
        <p:spPr>
          <a:xfrm>
            <a:off x="2666880" y="228600"/>
            <a:ext cx="3495240" cy="632592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10" presetClass="entr" fill="hold" nodeType="clickEffect">
                                  <p:stCondLst>
                                    <p:cond delay="0"/>
                                  </p:stCondLst>
                                  <p:childTnLst>
                                    <p:set>
                                      <p:cBhvr>
                                        <p:cTn id="6" dur="1" fill="hold">
                                          <p:stCondLst>
                                            <p:cond delay="0"/>
                                          </p:stCondLst>
                                        </p:cTn>
                                        <p:tgtEl>
                                          <p:spTgt spid="230"/>
                                        </p:tgtEl>
                                        <p:attrNameLst>
                                          <p:attrName>style.visibility</p:attrName>
                                        </p:attrNameLst>
                                      </p:cBhvr>
                                      <p:to>
                                        <p:strVal val="visible"/>
                                      </p:to>
                                    </p:set>
                                    <p:animEffect transition="in" filter="fade">
                                      <p:cBhvr additive="repl">
                                        <p:cTn id="7" dur="500"/>
                                        <p:tgtEl>
                                          <p:spTgt spid="230"/>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231"/>
                                        </p:tgtEl>
                                        <p:attrNameLst>
                                          <p:attrName>style.visibility</p:attrName>
                                        </p:attrNameLst>
                                      </p:cBhvr>
                                      <p:to>
                                        <p:strVal val="visible"/>
                                      </p:to>
                                    </p:set>
                                    <p:animEffect transition="in" filter="fade">
                                      <p:cBhvr additive="repl">
                                        <p:cTn id="12" dur="500"/>
                                        <p:tgtEl>
                                          <p:spTgt spid="231"/>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10" presetClass="entr" fill="hold" nodeType="clickEffect">
                                  <p:stCondLst>
                                    <p:cond delay="0"/>
                                  </p:stCondLst>
                                  <p:childTnLst>
                                    <p:set>
                                      <p:cBhvr>
                                        <p:cTn id="16" dur="1" fill="hold">
                                          <p:stCondLst>
                                            <p:cond delay="0"/>
                                          </p:stCondLst>
                                        </p:cTn>
                                        <p:tgtEl>
                                          <p:spTgt spid="232"/>
                                        </p:tgtEl>
                                        <p:attrNameLst>
                                          <p:attrName>style.visibility</p:attrName>
                                        </p:attrNameLst>
                                      </p:cBhvr>
                                      <p:to>
                                        <p:strVal val="visible"/>
                                      </p:to>
                                    </p:set>
                                    <p:animEffect transition="in" filter="fade">
                                      <p:cBhvr additive="repl">
                                        <p:cTn id="17" dur="500"/>
                                        <p:tgtEl>
                                          <p:spTgt spid="232"/>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233"/>
                                        </p:tgtEl>
                                        <p:attrNameLst>
                                          <p:attrName>style.visibility</p:attrName>
                                        </p:attrNameLst>
                                      </p:cBhvr>
                                      <p:to>
                                        <p:strVal val="visible"/>
                                      </p:to>
                                    </p:set>
                                    <p:animEffect transition="in" filter="fade">
                                      <p:cBhvr additive="repl">
                                        <p:cTn id="22" dur="500"/>
                                        <p:tgtEl>
                                          <p:spTgt spid="233"/>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10" presetClass="entr" fill="hold" nodeType="clickEffect">
                                  <p:stCondLst>
                                    <p:cond delay="0"/>
                                  </p:stCondLst>
                                  <p:childTnLst>
                                    <p:set>
                                      <p:cBhvr>
                                        <p:cTn id="26" dur="1" fill="hold">
                                          <p:stCondLst>
                                            <p:cond delay="0"/>
                                          </p:stCondLst>
                                        </p:cTn>
                                        <p:tgtEl>
                                          <p:spTgt spid="234"/>
                                        </p:tgtEl>
                                        <p:attrNameLst>
                                          <p:attrName>style.visibility</p:attrName>
                                        </p:attrNameLst>
                                      </p:cBhvr>
                                      <p:to>
                                        <p:strVal val="visible"/>
                                      </p:to>
                                    </p:set>
                                    <p:animEffect transition="in" filter="fade">
                                      <p:cBhvr additive="repl">
                                        <p:cTn id="27" dur="500"/>
                                        <p:tgtEl>
                                          <p:spTgt spid="2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36" name="PlaceHolder 2"/>
          <p:cNvSpPr>
            <a:spLocks noGrp="1"/>
          </p:cNvSpPr>
          <p:nvPr>
            <p:ph/>
          </p:nvPr>
        </p:nvSpPr>
        <p:spPr>
          <a:xfrm>
            <a:off x="360360" y="1440000"/>
            <a:ext cx="459216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Liz and Joe trade:</a:t>
            </a:r>
            <a:endParaRPr lang="en-CA" sz="2400" b="1" u="none" strike="noStrike">
              <a:solidFill>
                <a:srgbClr val="00468F"/>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Liz sells Joe 10 smoothies and buys 20 salads.</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Joe sells Liz 10 salads and buys 20 smoothies.</a:t>
            </a:r>
            <a:endParaRPr lang="en-CA" sz="2400" b="0" u="none" strike="noStrike">
              <a:solidFill>
                <a:schemeClr val="dk1"/>
              </a:solidFill>
              <a:effectLst/>
              <a:uFillTx/>
              <a:latin typeface="Arial"/>
            </a:endParaRPr>
          </a:p>
          <a:p>
            <a:pPr marL="360000" indent="0">
              <a:lnSpc>
                <a:spcPct val="100000"/>
              </a:lnSpc>
              <a:spcBef>
                <a:spcPts val="601"/>
              </a:spcBef>
              <a:spcAft>
                <a:spcPts val="601"/>
              </a:spcAft>
              <a:buNone/>
            </a:pPr>
            <a:r>
              <a:rPr lang="en-US" sz="2400" b="0" u="none" strike="noStrike">
                <a:solidFill>
                  <a:srgbClr val="000000"/>
                </a:solidFill>
                <a:effectLst/>
                <a:uFillTx/>
                <a:latin typeface="Arial"/>
                <a:ea typeface="ＭＳ Ｐゴシック"/>
              </a:rPr>
              <a:t>After trade:</a:t>
            </a:r>
            <a:endParaRPr lang="en-CA" sz="2400" b="1" u="none" strike="noStrike">
              <a:solidFill>
                <a:srgbClr val="00468F"/>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rgbClr val="000000"/>
                </a:solidFill>
                <a:effectLst/>
                <a:uFillTx/>
                <a:latin typeface="Arial"/>
                <a:ea typeface="ＭＳ Ｐゴシック"/>
              </a:rPr>
              <a:t>Liz has 20 smoothies and 20 salads.</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rgbClr val="000000"/>
                </a:solidFill>
                <a:effectLst/>
                <a:uFillTx/>
                <a:latin typeface="Arial"/>
                <a:ea typeface="ＭＳ Ｐゴシック"/>
              </a:rPr>
              <a:t>Joe has 10 smoothies and 10 salads.</a:t>
            </a:r>
            <a:endParaRPr lang="en-CA" sz="2400" b="0" u="none" strike="noStrike">
              <a:solidFill>
                <a:schemeClr val="dk1"/>
              </a:solidFill>
              <a:effectLst/>
              <a:uFillTx/>
              <a:latin typeface="Arial"/>
            </a:endParaRPr>
          </a:p>
        </p:txBody>
      </p:sp>
      <p:pic>
        <p:nvPicPr>
          <p:cNvPr id="237" name="Picture 2" descr="tab3a.gif"/>
          <p:cNvPicPr/>
          <p:nvPr/>
        </p:nvPicPr>
        <p:blipFill>
          <a:blip r:embed="rId3"/>
          <a:stretch/>
        </p:blipFill>
        <p:spPr>
          <a:xfrm>
            <a:off x="5410080" y="1523880"/>
            <a:ext cx="2849040" cy="5157360"/>
          </a:xfrm>
          <a:prstGeom prst="rect">
            <a:avLst/>
          </a:prstGeom>
          <a:noFill/>
          <a:ln w="0">
            <a:noFill/>
          </a:ln>
        </p:spPr>
      </p:pic>
      <p:pic>
        <p:nvPicPr>
          <p:cNvPr id="238" name="Picture 10" descr="tab3b.gif"/>
          <p:cNvPicPr/>
          <p:nvPr/>
        </p:nvPicPr>
        <p:blipFill>
          <a:blip r:embed="rId4"/>
          <a:stretch/>
        </p:blipFill>
        <p:spPr>
          <a:xfrm>
            <a:off x="5410080" y="1523880"/>
            <a:ext cx="2849040" cy="5157360"/>
          </a:xfrm>
          <a:prstGeom prst="rect">
            <a:avLst/>
          </a:prstGeom>
          <a:noFill/>
          <a:ln w="0">
            <a:noFill/>
          </a:ln>
        </p:spPr>
      </p:pic>
      <p:pic>
        <p:nvPicPr>
          <p:cNvPr id="239" name="Picture 11" descr="tab3c.gif"/>
          <p:cNvPicPr/>
          <p:nvPr/>
        </p:nvPicPr>
        <p:blipFill>
          <a:blip r:embed="rId5"/>
          <a:stretch/>
        </p:blipFill>
        <p:spPr>
          <a:xfrm>
            <a:off x="5410080" y="1523880"/>
            <a:ext cx="2849040" cy="5157360"/>
          </a:xfrm>
          <a:prstGeom prst="rect">
            <a:avLst/>
          </a:prstGeom>
          <a:noFill/>
          <a:ln w="0">
            <a:noFill/>
          </a:ln>
        </p:spPr>
      </p:pic>
      <p:pic>
        <p:nvPicPr>
          <p:cNvPr id="240" name="Picture 12" descr="tab3d.gif"/>
          <p:cNvPicPr/>
          <p:nvPr/>
        </p:nvPicPr>
        <p:blipFill>
          <a:blip r:embed="rId6"/>
          <a:stretch/>
        </p:blipFill>
        <p:spPr>
          <a:xfrm>
            <a:off x="5410080" y="1523880"/>
            <a:ext cx="2849040" cy="5157360"/>
          </a:xfrm>
          <a:prstGeom prst="rect">
            <a:avLst/>
          </a:prstGeom>
          <a:noFill/>
          <a:ln w="0">
            <a:noFill/>
          </a:ln>
        </p:spPr>
      </p:pic>
      <p:pic>
        <p:nvPicPr>
          <p:cNvPr id="241" name="Picture 13" descr="tab3e.gif"/>
          <p:cNvPicPr/>
          <p:nvPr/>
        </p:nvPicPr>
        <p:blipFill>
          <a:blip r:embed="rId7"/>
          <a:stretch/>
        </p:blipFill>
        <p:spPr>
          <a:xfrm>
            <a:off x="5410080" y="1523880"/>
            <a:ext cx="2849040" cy="51573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240"/>
                                        </p:tgtEl>
                                        <p:attrNameLst>
                                          <p:attrName>style.visibility</p:attrName>
                                        </p:attrNameLst>
                                      </p:cBhvr>
                                      <p:to>
                                        <p:strVal val="visible"/>
                                      </p:to>
                                    </p:set>
                                    <p:animEffect transition="in" filter="fade">
                                      <p:cBhvr additive="repl">
                                        <p:cTn id="7" dur="500"/>
                                        <p:tgtEl>
                                          <p:spTgt spid="240"/>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36">
                                            <p:txEl>
                                              <p:pRg st="1" end="1"/>
                                            </p:txEl>
                                          </p:spTgt>
                                        </p:tgtEl>
                                        <p:attrNameLst>
                                          <p:attrName>style.visibility</p:attrName>
                                        </p:attrNameLst>
                                      </p:cBhvr>
                                      <p:to>
                                        <p:strVal val="visible"/>
                                      </p:to>
                                    </p:set>
                                    <p:animEffect transition="in" filter="wipe(left)">
                                      <p:cBhvr additive="repl">
                                        <p:cTn id="12" dur="500"/>
                                        <p:tgtEl>
                                          <p:spTgt spid="236">
                                            <p:txEl>
                                              <p:pRg st="1" end="1"/>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236">
                                            <p:txEl>
                                              <p:pRg st="2" end="2"/>
                                            </p:txEl>
                                          </p:spTgt>
                                        </p:tgtEl>
                                        <p:attrNameLst>
                                          <p:attrName>style.visibility</p:attrName>
                                        </p:attrNameLst>
                                      </p:cBhvr>
                                      <p:to>
                                        <p:strVal val="visible"/>
                                      </p:to>
                                    </p:set>
                                    <p:animEffect transition="in" filter="wipe(left)">
                                      <p:cBhvr additive="repl">
                                        <p:cTn id="17" dur="500"/>
                                        <p:tgtEl>
                                          <p:spTgt spid="236">
                                            <p:txEl>
                                              <p:pRg st="2" end="2"/>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236">
                                            <p:txEl>
                                              <p:pRg st="3" end="3"/>
                                            </p:txEl>
                                          </p:spTgt>
                                        </p:tgtEl>
                                        <p:attrNameLst>
                                          <p:attrName>style.visibility</p:attrName>
                                        </p:attrNameLst>
                                      </p:cBhvr>
                                      <p:to>
                                        <p:strVal val="visible"/>
                                      </p:to>
                                    </p:set>
                                    <p:animEffect transition="in" filter="wipe(left)">
                                      <p:cBhvr additive="repl">
                                        <p:cTn id="22" dur="500"/>
                                        <p:tgtEl>
                                          <p:spTgt spid="236">
                                            <p:txEl>
                                              <p:pRg st="3" end="3"/>
                                            </p:txEl>
                                          </p:spTgt>
                                        </p:tgtEl>
                                      </p:cBhvr>
                                    </p:animEffect>
                                  </p:childTnLst>
                                </p:cTn>
                              </p:par>
                              <p:par>
                                <p:cTn id="23" presetID="10" presetClass="entr" fill="hold" nodeType="withEffect">
                                  <p:stCondLst>
                                    <p:cond delay="0"/>
                                  </p:stCondLst>
                                  <p:childTnLst>
                                    <p:set>
                                      <p:cBhvr>
                                        <p:cTn id="24" dur="1" fill="hold">
                                          <p:stCondLst>
                                            <p:cond delay="0"/>
                                          </p:stCondLst>
                                        </p:cTn>
                                        <p:tgtEl>
                                          <p:spTgt spid="241"/>
                                        </p:tgtEl>
                                        <p:attrNameLst>
                                          <p:attrName>style.visibility</p:attrName>
                                        </p:attrNameLst>
                                      </p:cBhvr>
                                      <p:to>
                                        <p:strVal val="visible"/>
                                      </p:to>
                                    </p:set>
                                    <p:animEffect transition="in" filter="fade">
                                      <p:cBhvr additive="repl">
                                        <p:cTn id="25" dur="500"/>
                                        <p:tgtEl>
                                          <p:spTgt spid="241"/>
                                        </p:tgtEl>
                                      </p:cBhvr>
                                    </p:animEffect>
                                  </p:childTnLst>
                                </p:cTn>
                              </p:par>
                            </p:childTnLst>
                          </p:cTn>
                        </p:par>
                      </p:childTnLst>
                    </p:cTn>
                  </p:par>
                  <p:par>
                    <p:cTn id="26" fill="hold" nodeType="clickEffect">
                      <p:stCondLst>
                        <p:cond delay="indefinite"/>
                      </p:stCondLst>
                      <p:childTnLst>
                        <p:par>
                          <p:cTn id="27" fill="hold" nodeType="withEffect">
                            <p:stCondLst>
                              <p:cond delay="0"/>
                            </p:stCondLst>
                            <p:childTnLst>
                              <p:par>
                                <p:cTn id="28" presetID="22" presetClass="entr" presetSubtype="8" fill="hold" nodeType="clickEffect">
                                  <p:stCondLst>
                                    <p:cond delay="0"/>
                                  </p:stCondLst>
                                  <p:childTnLst>
                                    <p:set>
                                      <p:cBhvr>
                                        <p:cTn id="29" dur="1" fill="hold">
                                          <p:stCondLst>
                                            <p:cond delay="0"/>
                                          </p:stCondLst>
                                        </p:cTn>
                                        <p:tgtEl>
                                          <p:spTgt spid="236">
                                            <p:txEl>
                                              <p:pRg st="4" end="4"/>
                                            </p:txEl>
                                          </p:spTgt>
                                        </p:tgtEl>
                                        <p:attrNameLst>
                                          <p:attrName>style.visibility</p:attrName>
                                        </p:attrNameLst>
                                      </p:cBhvr>
                                      <p:to>
                                        <p:strVal val="visible"/>
                                      </p:to>
                                    </p:set>
                                    <p:animEffect transition="in" filter="wipe(left)">
                                      <p:cBhvr additive="repl">
                                        <p:cTn id="30" dur="500"/>
                                        <p:tgtEl>
                                          <p:spTgt spid="236">
                                            <p:txEl>
                                              <p:pRg st="4" end="4"/>
                                            </p:txEl>
                                          </p:spTgt>
                                        </p:tgtEl>
                                      </p:cBhvr>
                                    </p:animEffect>
                                  </p:childTnLst>
                                </p:cTn>
                              </p:par>
                            </p:childTnLst>
                          </p:cTn>
                        </p:par>
                      </p:childTnLst>
                    </p:cTn>
                  </p:par>
                  <p:par>
                    <p:cTn id="31" fill="hold" nodeType="clickEffect">
                      <p:stCondLst>
                        <p:cond delay="indefinite"/>
                      </p:stCondLst>
                      <p:childTnLst>
                        <p:par>
                          <p:cTn id="32" fill="hold" nodeType="withEffect">
                            <p:stCondLst>
                              <p:cond delay="0"/>
                            </p:stCondLst>
                            <p:childTnLst>
                              <p:par>
                                <p:cTn id="33" presetID="22" presetClass="entr" presetSubtype="8" fill="hold" nodeType="clickEffect">
                                  <p:stCondLst>
                                    <p:cond delay="0"/>
                                  </p:stCondLst>
                                  <p:childTnLst>
                                    <p:set>
                                      <p:cBhvr>
                                        <p:cTn id="34" dur="1" fill="hold">
                                          <p:stCondLst>
                                            <p:cond delay="0"/>
                                          </p:stCondLst>
                                        </p:cTn>
                                        <p:tgtEl>
                                          <p:spTgt spid="236">
                                            <p:txEl>
                                              <p:pRg st="5" end="5"/>
                                            </p:txEl>
                                          </p:spTgt>
                                        </p:tgtEl>
                                        <p:attrNameLst>
                                          <p:attrName>style.visibility</p:attrName>
                                        </p:attrNameLst>
                                      </p:cBhvr>
                                      <p:to>
                                        <p:strVal val="visible"/>
                                      </p:to>
                                    </p:set>
                                    <p:animEffect transition="in" filter="wipe(left)">
                                      <p:cBhvr additive="repl">
                                        <p:cTn id="35" dur="500"/>
                                        <p:tgtEl>
                                          <p:spTgt spid="23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43" name="PlaceHolder 2"/>
          <p:cNvSpPr>
            <a:spLocks noGrp="1"/>
          </p:cNvSpPr>
          <p:nvPr>
            <p:ph/>
          </p:nvPr>
        </p:nvSpPr>
        <p:spPr>
          <a:xfrm>
            <a:off x="360360" y="1440000"/>
            <a:ext cx="459216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pPr>
            <a:r>
              <a:rPr lang="en-US" sz="2400" b="0" u="none" strike="noStrike">
                <a:solidFill>
                  <a:schemeClr val="dk1"/>
                </a:solidFill>
                <a:effectLst/>
                <a:uFillTx/>
                <a:latin typeface="Arial"/>
                <a:ea typeface="ＭＳ Ｐゴシック"/>
              </a:rPr>
              <a:t>Gains from trade:</a:t>
            </a:r>
            <a:endParaRPr lang="en-CA" sz="2400" b="1" u="none" strike="noStrike">
              <a:solidFill>
                <a:srgbClr val="00468F"/>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Liz gains 5 smoothies and 5 salads an hour.</a:t>
            </a:r>
            <a:endParaRPr lang="en-CA" sz="2400" b="0" u="none" strike="noStrike">
              <a:solidFill>
                <a:schemeClr val="dk1"/>
              </a:solidFill>
              <a:effectLst/>
              <a:uFillTx/>
              <a:latin typeface="Arial"/>
            </a:endParaRPr>
          </a:p>
          <a:p>
            <a:pPr marL="703080" lvl="2" indent="-343080">
              <a:lnSpc>
                <a:spcPct val="100000"/>
              </a:lnSpc>
              <a:spcBef>
                <a:spcPts val="601"/>
              </a:spcBef>
              <a:spcAft>
                <a:spcPts val="601"/>
              </a:spcAft>
              <a:buClr>
                <a:srgbClr val="00468F"/>
              </a:buClr>
              <a:buFont typeface="Arial"/>
              <a:buChar char="•"/>
            </a:pPr>
            <a:r>
              <a:rPr lang="en-US" sz="2400" b="0" u="none" strike="noStrike">
                <a:solidFill>
                  <a:schemeClr val="dk1"/>
                </a:solidFill>
                <a:effectLst/>
                <a:uFillTx/>
                <a:latin typeface="Arial"/>
                <a:ea typeface="ＭＳ Ｐゴシック"/>
              </a:rPr>
              <a:t>Joe gains 5 smoothies and 5 salads an hour.</a:t>
            </a:r>
            <a:endParaRPr lang="en-CA" sz="2400" b="0" u="none" strike="noStrike">
              <a:solidFill>
                <a:schemeClr val="dk1"/>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Figure 3.8 on the next slide illustrates the gains from trade.</a:t>
            </a:r>
            <a:endParaRPr lang="en-CA" sz="2400" b="1" u="none" strike="noStrike">
              <a:solidFill>
                <a:srgbClr val="00468F"/>
              </a:solidFill>
              <a:effectLst/>
              <a:uFillTx/>
              <a:latin typeface="Arial"/>
            </a:endParaRPr>
          </a:p>
        </p:txBody>
      </p:sp>
      <p:pic>
        <p:nvPicPr>
          <p:cNvPr id="244" name="Picture 2" descr="tab3a.gif"/>
          <p:cNvPicPr/>
          <p:nvPr/>
        </p:nvPicPr>
        <p:blipFill>
          <a:blip r:embed="rId3"/>
          <a:stretch/>
        </p:blipFill>
        <p:spPr>
          <a:xfrm>
            <a:off x="5410080" y="1523880"/>
            <a:ext cx="2849040" cy="5157360"/>
          </a:xfrm>
          <a:prstGeom prst="rect">
            <a:avLst/>
          </a:prstGeom>
          <a:noFill/>
          <a:ln w="0">
            <a:noFill/>
          </a:ln>
        </p:spPr>
      </p:pic>
      <p:pic>
        <p:nvPicPr>
          <p:cNvPr id="245" name="Picture 11" descr="tab3b.gif"/>
          <p:cNvPicPr/>
          <p:nvPr/>
        </p:nvPicPr>
        <p:blipFill>
          <a:blip r:embed="rId4"/>
          <a:stretch/>
        </p:blipFill>
        <p:spPr>
          <a:xfrm>
            <a:off x="5410080" y="1523880"/>
            <a:ext cx="2849040" cy="5157360"/>
          </a:xfrm>
          <a:prstGeom prst="rect">
            <a:avLst/>
          </a:prstGeom>
          <a:noFill/>
          <a:ln w="0">
            <a:noFill/>
          </a:ln>
        </p:spPr>
      </p:pic>
      <p:pic>
        <p:nvPicPr>
          <p:cNvPr id="246" name="Picture 12" descr="tab3c.gif"/>
          <p:cNvPicPr/>
          <p:nvPr/>
        </p:nvPicPr>
        <p:blipFill>
          <a:blip r:embed="rId5"/>
          <a:stretch/>
        </p:blipFill>
        <p:spPr>
          <a:xfrm>
            <a:off x="5410080" y="1523880"/>
            <a:ext cx="2849040" cy="5157360"/>
          </a:xfrm>
          <a:prstGeom prst="rect">
            <a:avLst/>
          </a:prstGeom>
          <a:noFill/>
          <a:ln w="0">
            <a:noFill/>
          </a:ln>
        </p:spPr>
      </p:pic>
      <p:pic>
        <p:nvPicPr>
          <p:cNvPr id="247" name="Picture 13" descr="tab3d.gif"/>
          <p:cNvPicPr/>
          <p:nvPr/>
        </p:nvPicPr>
        <p:blipFill>
          <a:blip r:embed="rId6"/>
          <a:stretch/>
        </p:blipFill>
        <p:spPr>
          <a:xfrm>
            <a:off x="5410080" y="1523880"/>
            <a:ext cx="2849040" cy="5157360"/>
          </a:xfrm>
          <a:prstGeom prst="rect">
            <a:avLst/>
          </a:prstGeom>
          <a:noFill/>
          <a:ln w="0">
            <a:noFill/>
          </a:ln>
        </p:spPr>
      </p:pic>
      <p:pic>
        <p:nvPicPr>
          <p:cNvPr id="248" name="Picture 14" descr="tab3e.gif"/>
          <p:cNvPicPr/>
          <p:nvPr/>
        </p:nvPicPr>
        <p:blipFill>
          <a:blip r:embed="rId7"/>
          <a:stretch/>
        </p:blipFill>
        <p:spPr>
          <a:xfrm>
            <a:off x="5410080" y="1523880"/>
            <a:ext cx="2849040" cy="5157360"/>
          </a:xfrm>
          <a:prstGeom prst="rect">
            <a:avLst/>
          </a:prstGeom>
          <a:noFill/>
          <a:ln w="0">
            <a:noFill/>
          </a:ln>
        </p:spPr>
      </p:pic>
      <p:pic>
        <p:nvPicPr>
          <p:cNvPr id="249" name="Picture 15" descr="tab3f.gif"/>
          <p:cNvPicPr/>
          <p:nvPr/>
        </p:nvPicPr>
        <p:blipFill>
          <a:blip r:embed="rId8"/>
          <a:stretch/>
        </p:blipFill>
        <p:spPr>
          <a:xfrm>
            <a:off x="5410080" y="1523880"/>
            <a:ext cx="2849040" cy="51573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additive="repl">
                                        <p:cTn id="7" dur="500"/>
                                        <p:tgtEl>
                                          <p:spTgt spid="249"/>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243">
                                            <p:txEl>
                                              <p:pRg st="1" end="1"/>
                                            </p:txEl>
                                          </p:spTgt>
                                        </p:tgtEl>
                                        <p:attrNameLst>
                                          <p:attrName>style.visibility</p:attrName>
                                        </p:attrNameLst>
                                      </p:cBhvr>
                                      <p:to>
                                        <p:strVal val="visible"/>
                                      </p:to>
                                    </p:set>
                                    <p:animEffect transition="in" filter="wipe(left)">
                                      <p:cBhvr additive="repl">
                                        <p:cTn id="12" dur="500"/>
                                        <p:tgtEl>
                                          <p:spTgt spid="243">
                                            <p:txEl>
                                              <p:pRg st="1" end="1"/>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243">
                                            <p:txEl>
                                              <p:pRg st="2" end="2"/>
                                            </p:txEl>
                                          </p:spTgt>
                                        </p:tgtEl>
                                        <p:attrNameLst>
                                          <p:attrName>style.visibility</p:attrName>
                                        </p:attrNameLst>
                                      </p:cBhvr>
                                      <p:to>
                                        <p:strVal val="visible"/>
                                      </p:to>
                                    </p:set>
                                    <p:animEffect transition="in" filter="wipe(left)">
                                      <p:cBhvr additive="repl">
                                        <p:cTn id="17" dur="500"/>
                                        <p:tgtEl>
                                          <p:spTgt spid="243">
                                            <p:txEl>
                                              <p:pRg st="2" end="2"/>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243">
                                            <p:txEl>
                                              <p:pRg st="3" end="3"/>
                                            </p:txEl>
                                          </p:spTgt>
                                        </p:tgtEl>
                                        <p:attrNameLst>
                                          <p:attrName>style.visibility</p:attrName>
                                        </p:attrNameLst>
                                      </p:cBhvr>
                                      <p:to>
                                        <p:strVal val="visible"/>
                                      </p:to>
                                    </p:set>
                                    <p:animEffect transition="in" filter="wipe(left)">
                                      <p:cBhvr additive="repl">
                                        <p:cTn id="22" dur="500"/>
                                        <p:tgtEl>
                                          <p:spTgt spid="2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51" name="PlaceHolder 2"/>
          <p:cNvSpPr>
            <a:spLocks noGrp="1"/>
          </p:cNvSpPr>
          <p:nvPr>
            <p:ph/>
          </p:nvPr>
        </p:nvSpPr>
        <p:spPr>
          <a:xfrm>
            <a:off x="360360" y="1440000"/>
            <a:ext cx="8300520" cy="464796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a:pPr>
            <a:r>
              <a:rPr lang="en-US" sz="2400" b="0" u="none" strike="noStrike">
                <a:solidFill>
                  <a:srgbClr val="000000"/>
                </a:solidFill>
                <a:effectLst/>
                <a:uFillTx/>
                <a:latin typeface="Arial"/>
                <a:ea typeface="ＭＳ Ｐゴシック"/>
              </a:rPr>
              <a:t>Liz and Joe each produce at point </a:t>
            </a:r>
            <a:r>
              <a:rPr lang="en-US" sz="2400" b="0" i="1" u="none" strike="noStrike">
                <a:solidFill>
                  <a:srgbClr val="000000"/>
                </a:solidFill>
                <a:effectLst/>
                <a:uFillTx/>
                <a:latin typeface="Arial"/>
                <a:ea typeface="ＭＳ Ｐゴシック"/>
              </a:rPr>
              <a:t>A </a:t>
            </a:r>
            <a:r>
              <a:rPr lang="en-US" sz="2400" b="0" u="none" strike="noStrike">
                <a:solidFill>
                  <a:srgbClr val="000000"/>
                </a:solidFill>
                <a:effectLst/>
                <a:uFillTx/>
                <a:latin typeface="Arial"/>
                <a:ea typeface="ＭＳ Ｐゴシック"/>
              </a:rPr>
              <a:t>on their</a:t>
            </a:r>
            <a:r>
              <a:rPr lang="en-US" sz="2400" b="0" i="1" u="none" strike="noStrike">
                <a:solidFill>
                  <a:srgbClr val="000000"/>
                </a:solidFill>
                <a:effectLst/>
                <a:uFillTx/>
                <a:latin typeface="Arial"/>
                <a:ea typeface="ＭＳ Ｐゴシック"/>
              </a:rPr>
              <a:t> PPF</a:t>
            </a:r>
            <a:r>
              <a:rPr lang="en-US" sz="2400" b="0" u="none" strike="noStrike">
                <a:solidFill>
                  <a:srgbClr val="000000"/>
                </a:solidFill>
                <a:effectLst/>
                <a:uFillTx/>
                <a:latin typeface="Arial"/>
                <a:ea typeface="ＭＳ Ｐゴシック"/>
              </a:rPr>
              <a:t>s</a:t>
            </a:r>
            <a:r>
              <a:rPr lang="en-US" sz="2400" b="0" i="1" u="none" strike="noStrike">
                <a:solidFill>
                  <a:srgbClr val="000000"/>
                </a:solidFill>
                <a:effectLst/>
                <a:uFillTx/>
                <a:latin typeface="Arial"/>
                <a:ea typeface="ＭＳ Ｐゴシック"/>
              </a:rPr>
              <a:t>.</a:t>
            </a:r>
            <a:endParaRPr lang="en-CA" sz="2400" b="1" u="none" strike="noStrike">
              <a:solidFill>
                <a:srgbClr val="00468F"/>
              </a:solidFill>
              <a:effectLst/>
              <a:uFillTx/>
              <a:latin typeface="Arial"/>
            </a:endParaRPr>
          </a:p>
        </p:txBody>
      </p:sp>
      <p:pic>
        <p:nvPicPr>
          <p:cNvPr id="252" name="Picture 8"/>
          <p:cNvPicPr/>
          <p:nvPr/>
        </p:nvPicPr>
        <p:blipFill>
          <a:blip r:embed="rId3"/>
          <a:stretch/>
        </p:blipFill>
        <p:spPr>
          <a:xfrm>
            <a:off x="685800" y="2549520"/>
            <a:ext cx="7578360" cy="3854160"/>
          </a:xfrm>
          <a:prstGeom prst="rect">
            <a:avLst/>
          </a:prstGeom>
          <a:noFill/>
          <a:ln w="0">
            <a:noFill/>
          </a:ln>
        </p:spPr>
      </p:pic>
      <p:pic>
        <p:nvPicPr>
          <p:cNvPr id="253" name="Picture 9"/>
          <p:cNvPicPr/>
          <p:nvPr/>
        </p:nvPicPr>
        <p:blipFill>
          <a:blip r:embed="rId4"/>
          <a:stretch/>
        </p:blipFill>
        <p:spPr>
          <a:xfrm>
            <a:off x="685800" y="2549520"/>
            <a:ext cx="7578360" cy="3854160"/>
          </a:xfrm>
          <a:prstGeom prst="rect">
            <a:avLst/>
          </a:prstGeom>
          <a:noFill/>
          <a:ln w="0">
            <a:noFill/>
          </a:ln>
        </p:spPr>
      </p:pic>
      <p:pic>
        <p:nvPicPr>
          <p:cNvPr id="254" name="Picture 10"/>
          <p:cNvPicPr/>
          <p:nvPr/>
        </p:nvPicPr>
        <p:blipFill>
          <a:blip r:embed="rId5"/>
          <a:stretch/>
        </p:blipFill>
        <p:spPr>
          <a:xfrm>
            <a:off x="685800" y="2549520"/>
            <a:ext cx="7578360" cy="38541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1" fill="hold" nodeType="withEffect">
                                  <p:stCondLst>
                                    <p:cond delay="0"/>
                                  </p:stCondLst>
                                  <p:childTnLst>
                                    <p:set>
                                      <p:cBhvr>
                                        <p:cTn id="6" dur="1" fill="hold">
                                          <p:stCondLst>
                                            <p:cond delay="0"/>
                                          </p:stCondLst>
                                        </p:cTn>
                                        <p:tgtEl>
                                          <p:spTgt spid="253"/>
                                        </p:tgtEl>
                                        <p:attrNameLst>
                                          <p:attrName>style.visibility</p:attrName>
                                        </p:attrNameLst>
                                      </p:cBhvr>
                                      <p:to>
                                        <p:strVal val="visible"/>
                                      </p:to>
                                    </p:set>
                                    <p:animEffect transition="in" filter="wipe(up)">
                                      <p:cBhvr additive="repl">
                                        <p:cTn id="7" dur="1000"/>
                                        <p:tgtEl>
                                          <p:spTgt spid="253"/>
                                        </p:tgtEl>
                                      </p:cBhvr>
                                    </p:animEffect>
                                  </p:childTnLst>
                                </p:cTn>
                              </p:par>
                              <p:par>
                                <p:cTn id="8" presetID="10" presetClass="entr" fill="hold" nodeType="withEffect">
                                  <p:stCondLst>
                                    <p:cond delay="1500"/>
                                  </p:stCondLst>
                                  <p:childTnLst>
                                    <p:set>
                                      <p:cBhvr>
                                        <p:cTn id="9" dur="1" fill="hold">
                                          <p:stCondLst>
                                            <p:cond delay="0"/>
                                          </p:stCondLst>
                                        </p:cTn>
                                        <p:tgtEl>
                                          <p:spTgt spid="254"/>
                                        </p:tgtEl>
                                        <p:attrNameLst>
                                          <p:attrName>style.visibility</p:attrName>
                                        </p:attrNameLst>
                                      </p:cBhvr>
                                      <p:to>
                                        <p:strVal val="visible"/>
                                      </p:to>
                                    </p:set>
                                    <p:animEffect transition="in" filter="fade">
                                      <p:cBhvr additive="repl">
                                        <p:cTn id="10" dur="500"/>
                                        <p:tgtEl>
                                          <p:spTgt spid="2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5" name="Picture 8"/>
          <p:cNvPicPr/>
          <p:nvPr/>
        </p:nvPicPr>
        <p:blipFill>
          <a:blip r:embed="rId3"/>
          <a:stretch/>
        </p:blipFill>
        <p:spPr>
          <a:xfrm>
            <a:off x="108000" y="1332000"/>
            <a:ext cx="8915040" cy="4533480"/>
          </a:xfrm>
          <a:prstGeom prst="rect">
            <a:avLst/>
          </a:prstGeom>
          <a:noFill/>
          <a:ln w="0">
            <a:noFill/>
          </a:ln>
        </p:spPr>
      </p:pic>
      <p:pic>
        <p:nvPicPr>
          <p:cNvPr id="256" name="Picture 15"/>
          <p:cNvPicPr/>
          <p:nvPr/>
        </p:nvPicPr>
        <p:blipFill>
          <a:blip r:embed="rId4"/>
          <a:stretch/>
        </p:blipFill>
        <p:spPr>
          <a:xfrm>
            <a:off x="108000" y="1332000"/>
            <a:ext cx="8915040" cy="4533480"/>
          </a:xfrm>
          <a:prstGeom prst="rect">
            <a:avLst/>
          </a:prstGeom>
          <a:noFill/>
          <a:ln w="0">
            <a:noFill/>
          </a:ln>
        </p:spPr>
      </p:pic>
      <p:pic>
        <p:nvPicPr>
          <p:cNvPr id="257" name="Picture 16"/>
          <p:cNvPicPr/>
          <p:nvPr/>
        </p:nvPicPr>
        <p:blipFill>
          <a:blip r:embed="rId5"/>
          <a:stretch/>
        </p:blipFill>
        <p:spPr>
          <a:xfrm>
            <a:off x="108000" y="1332000"/>
            <a:ext cx="8915040" cy="4533480"/>
          </a:xfrm>
          <a:prstGeom prst="rect">
            <a:avLst/>
          </a:prstGeom>
          <a:noFill/>
          <a:ln w="0">
            <a:noFill/>
          </a:ln>
        </p:spPr>
      </p:pic>
      <p:pic>
        <p:nvPicPr>
          <p:cNvPr id="258" name="Picture 17"/>
          <p:cNvPicPr/>
          <p:nvPr/>
        </p:nvPicPr>
        <p:blipFill>
          <a:blip r:embed="rId6"/>
          <a:stretch/>
        </p:blipFill>
        <p:spPr>
          <a:xfrm>
            <a:off x="108000" y="1332000"/>
            <a:ext cx="8915040" cy="4533480"/>
          </a:xfrm>
          <a:prstGeom prst="rect">
            <a:avLst/>
          </a:prstGeom>
          <a:noFill/>
          <a:ln w="0">
            <a:noFill/>
          </a:ln>
        </p:spPr>
      </p:pic>
      <p:pic>
        <p:nvPicPr>
          <p:cNvPr id="259" name="Picture 18"/>
          <p:cNvPicPr/>
          <p:nvPr/>
        </p:nvPicPr>
        <p:blipFill>
          <a:blip r:embed="rId7"/>
          <a:stretch/>
        </p:blipFill>
        <p:spPr>
          <a:xfrm>
            <a:off x="108000" y="1332000"/>
            <a:ext cx="8915040" cy="4533480"/>
          </a:xfrm>
          <a:prstGeom prst="rect">
            <a:avLst/>
          </a:prstGeom>
          <a:noFill/>
          <a:ln w="0">
            <a:noFill/>
          </a:ln>
        </p:spPr>
      </p:pic>
      <p:pic>
        <p:nvPicPr>
          <p:cNvPr id="260" name="Picture 19"/>
          <p:cNvPicPr/>
          <p:nvPr/>
        </p:nvPicPr>
        <p:blipFill>
          <a:blip r:embed="rId8"/>
          <a:stretch/>
        </p:blipFill>
        <p:spPr>
          <a:xfrm>
            <a:off x="108000" y="1332000"/>
            <a:ext cx="8915040" cy="4533480"/>
          </a:xfrm>
          <a:prstGeom prst="rect">
            <a:avLst/>
          </a:prstGeom>
          <a:noFill/>
          <a:ln w="0">
            <a:noFill/>
          </a:ln>
        </p:spPr>
      </p:pic>
      <p:pic>
        <p:nvPicPr>
          <p:cNvPr id="261" name="Picture 20"/>
          <p:cNvPicPr/>
          <p:nvPr/>
        </p:nvPicPr>
        <p:blipFill>
          <a:blip r:embed="rId9"/>
          <a:stretch/>
        </p:blipFill>
        <p:spPr>
          <a:xfrm>
            <a:off x="108000" y="1332000"/>
            <a:ext cx="8915040" cy="453348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1" fill="hold" nodeType="clickEffect">
                                  <p:stCondLst>
                                    <p:cond delay="0"/>
                                  </p:stCondLst>
                                  <p:childTnLst>
                                    <p:set>
                                      <p:cBhvr>
                                        <p:cTn id="6" dur="1" fill="hold">
                                          <p:stCondLst>
                                            <p:cond delay="0"/>
                                          </p:stCondLst>
                                        </p:cTn>
                                        <p:tgtEl>
                                          <p:spTgt spid="256"/>
                                        </p:tgtEl>
                                        <p:attrNameLst>
                                          <p:attrName>style.visibility</p:attrName>
                                        </p:attrNameLst>
                                      </p:cBhvr>
                                      <p:to>
                                        <p:strVal val="visible"/>
                                      </p:to>
                                    </p:set>
                                    <p:animEffect transition="in" filter="wipe(up)">
                                      <p:cBhvr additive="repl">
                                        <p:cTn id="7" dur="1000"/>
                                        <p:tgtEl>
                                          <p:spTgt spid="256"/>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10" presetClass="entr" fill="hold" nodeType="clickEffect">
                                  <p:stCondLst>
                                    <p:cond delay="0"/>
                                  </p:stCondLst>
                                  <p:childTnLst>
                                    <p:set>
                                      <p:cBhvr>
                                        <p:cTn id="11" dur="1" fill="hold">
                                          <p:stCondLst>
                                            <p:cond delay="0"/>
                                          </p:stCondLst>
                                        </p:cTn>
                                        <p:tgtEl>
                                          <p:spTgt spid="257"/>
                                        </p:tgtEl>
                                        <p:attrNameLst>
                                          <p:attrName>style.visibility</p:attrName>
                                        </p:attrNameLst>
                                      </p:cBhvr>
                                      <p:to>
                                        <p:strVal val="visible"/>
                                      </p:to>
                                    </p:set>
                                    <p:animEffect transition="in" filter="fade">
                                      <p:cBhvr additive="repl">
                                        <p:cTn id="12" dur="500"/>
                                        <p:tgtEl>
                                          <p:spTgt spid="257"/>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16" presetClass="entr" presetSubtype="42" fill="hold" nodeType="clickEffect">
                                  <p:stCondLst>
                                    <p:cond delay="0"/>
                                  </p:stCondLst>
                                  <p:childTnLst>
                                    <p:set>
                                      <p:cBhvr>
                                        <p:cTn id="16" dur="1" fill="hold">
                                          <p:stCondLst>
                                            <p:cond delay="0"/>
                                          </p:stCondLst>
                                        </p:cTn>
                                        <p:tgtEl>
                                          <p:spTgt spid="258"/>
                                        </p:tgtEl>
                                        <p:attrNameLst>
                                          <p:attrName>style.visibility</p:attrName>
                                        </p:attrNameLst>
                                      </p:cBhvr>
                                      <p:to>
                                        <p:strVal val="visible"/>
                                      </p:to>
                                    </p:set>
                                    <p:animEffect transition="in" filter="barn(outHorizontal)">
                                      <p:cBhvr additive="repl">
                                        <p:cTn id="17" dur="1000"/>
                                        <p:tgtEl>
                                          <p:spTgt spid="258"/>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259"/>
                                        </p:tgtEl>
                                        <p:attrNameLst>
                                          <p:attrName>style.visibility</p:attrName>
                                        </p:attrNameLst>
                                      </p:cBhvr>
                                      <p:to>
                                        <p:strVal val="visible"/>
                                      </p:to>
                                    </p:set>
                                    <p:animEffect transition="in" filter="fade">
                                      <p:cBhvr additive="repl">
                                        <p:cTn id="22" dur="500"/>
                                        <p:tgtEl>
                                          <p:spTgt spid="259"/>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16" presetClass="entr" presetSubtype="26" fill="hold" nodeType="clickEffect">
                                  <p:stCondLst>
                                    <p:cond delay="0"/>
                                  </p:stCondLst>
                                  <p:childTnLst>
                                    <p:set>
                                      <p:cBhvr>
                                        <p:cTn id="26" dur="1" fill="hold">
                                          <p:stCondLst>
                                            <p:cond delay="0"/>
                                          </p:stCondLst>
                                        </p:cTn>
                                        <p:tgtEl>
                                          <p:spTgt spid="260"/>
                                        </p:tgtEl>
                                        <p:attrNameLst>
                                          <p:attrName>style.visibility</p:attrName>
                                        </p:attrNameLst>
                                      </p:cBhvr>
                                      <p:to>
                                        <p:strVal val="visible"/>
                                      </p:to>
                                    </p:set>
                                    <p:animEffect transition="in" filter="barn(inHorizontal)">
                                      <p:cBhvr additive="repl">
                                        <p:cTn id="27" dur="1000"/>
                                        <p:tgtEl>
                                          <p:spTgt spid="260"/>
                                        </p:tgtEl>
                                      </p:cBhvr>
                                    </p:animEffect>
                                  </p:childTnLst>
                                </p:cTn>
                              </p:par>
                            </p:childTnLst>
                          </p:cTn>
                        </p:par>
                      </p:childTnLst>
                    </p:cTn>
                  </p:par>
                  <p:par>
                    <p:cTn id="28" fill="hold" nodeType="clickEffect">
                      <p:stCondLst>
                        <p:cond delay="indefinite"/>
                      </p:stCondLst>
                      <p:childTnLst>
                        <p:par>
                          <p:cTn id="29" fill="hold" nodeType="withEffect">
                            <p:stCondLst>
                              <p:cond delay="0"/>
                            </p:stCondLst>
                            <p:childTnLst>
                              <p:par>
                                <p:cTn id="30" presetID="10" presetClass="entr" fill="hold" nodeType="clickEffect">
                                  <p:stCondLst>
                                    <p:cond delay="0"/>
                                  </p:stCondLst>
                                  <p:childTnLst>
                                    <p:set>
                                      <p:cBhvr>
                                        <p:cTn id="31" dur="1" fill="hold">
                                          <p:stCondLst>
                                            <p:cond delay="0"/>
                                          </p:stCondLst>
                                        </p:cTn>
                                        <p:tgtEl>
                                          <p:spTgt spid="261"/>
                                        </p:tgtEl>
                                        <p:attrNameLst>
                                          <p:attrName>style.visibility</p:attrName>
                                        </p:attrNameLst>
                                      </p:cBhvr>
                                      <p:to>
                                        <p:strVal val="visible"/>
                                      </p:to>
                                    </p:set>
                                    <p:animEffect transition="in" filter="fade">
                                      <p:cBhvr additive="repl">
                                        <p:cTn id="32" dur="500"/>
                                        <p:tgtEl>
                                          <p:spTgt spid="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p:cNvSpPr>
          <p:nvPr>
            <p:ph/>
          </p:nvPr>
        </p:nvSpPr>
        <p:spPr>
          <a:xfrm>
            <a:off x="360360" y="1440000"/>
            <a:ext cx="840240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 has a comparative advantage in producing smoothies.</a:t>
            </a:r>
            <a:endParaRPr lang="en-CA" sz="2400" b="1" u="none" strike="noStrike">
              <a:solidFill>
                <a:srgbClr val="00468F"/>
              </a:solidFill>
              <a:effectLst/>
              <a:uFillTx/>
              <a:latin typeface="Arial"/>
            </a:endParaRPr>
          </a:p>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Joe has a comparative advantage in producing salads.  </a:t>
            </a:r>
            <a:endParaRPr lang="en-CA" sz="2400" b="1" u="none" strike="noStrike">
              <a:solidFill>
                <a:srgbClr val="00468F"/>
              </a:solidFill>
              <a:effectLst/>
              <a:uFillTx/>
              <a:latin typeface="Arial"/>
            </a:endParaRPr>
          </a:p>
        </p:txBody>
      </p:sp>
      <p:sp>
        <p:nvSpPr>
          <p:cNvPr id="263"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264" name="Picture 8"/>
          <p:cNvPicPr/>
          <p:nvPr/>
        </p:nvPicPr>
        <p:blipFill>
          <a:blip r:embed="rId3"/>
          <a:stretch/>
        </p:blipFill>
        <p:spPr>
          <a:xfrm>
            <a:off x="685800" y="2549520"/>
            <a:ext cx="7578360" cy="3854160"/>
          </a:xfrm>
          <a:prstGeom prst="rect">
            <a:avLst/>
          </a:prstGeom>
          <a:noFill/>
          <a:ln w="0">
            <a:noFill/>
          </a:ln>
        </p:spPr>
      </p:pic>
      <p:pic>
        <p:nvPicPr>
          <p:cNvPr id="265" name="Picture 9"/>
          <p:cNvPicPr/>
          <p:nvPr/>
        </p:nvPicPr>
        <p:blipFill>
          <a:blip r:embed="rId4"/>
          <a:stretch/>
        </p:blipFill>
        <p:spPr>
          <a:xfrm>
            <a:off x="685800" y="2549520"/>
            <a:ext cx="7578360" cy="3854160"/>
          </a:xfrm>
          <a:prstGeom prst="rect">
            <a:avLst/>
          </a:prstGeom>
          <a:noFill/>
          <a:ln w="0">
            <a:noFill/>
          </a:ln>
        </p:spPr>
      </p:pic>
      <p:pic>
        <p:nvPicPr>
          <p:cNvPr id="266" name="Picture 10"/>
          <p:cNvPicPr/>
          <p:nvPr/>
        </p:nvPicPr>
        <p:blipFill>
          <a:blip r:embed="rId5"/>
          <a:stretch/>
        </p:blipFill>
        <p:spPr>
          <a:xfrm>
            <a:off x="685800" y="2549520"/>
            <a:ext cx="7578360" cy="38541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262">
                                            <p:txEl>
                                              <p:pRg st="1" end="1"/>
                                            </p:txEl>
                                          </p:spTgt>
                                        </p:tgtEl>
                                        <p:attrNameLst>
                                          <p:attrName>style.visibility</p:attrName>
                                        </p:attrNameLst>
                                      </p:cBhvr>
                                      <p:to>
                                        <p:strVal val="visible"/>
                                      </p:to>
                                    </p:set>
                                    <p:animEffect transition="in" filter="wipe(left)">
                                      <p:cBhvr additive="repl">
                                        <p:cTn id="7" dur="500"/>
                                        <p:tgtEl>
                                          <p:spTgt spid="26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sp>
        <p:nvSpPr>
          <p:cNvPr id="268" name="PlaceHolder 2"/>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startAt="2"/>
            </a:pPr>
            <a:r>
              <a:rPr lang="en-US" sz="2400" b="0" u="none" strike="noStrike">
                <a:solidFill>
                  <a:srgbClr val="000000"/>
                </a:solidFill>
                <a:effectLst/>
                <a:uFillTx/>
                <a:latin typeface="Arial"/>
                <a:ea typeface="ＭＳ Ｐゴシック"/>
              </a:rPr>
              <a:t>Liz and Joe specialize in producing the good in which they have a comparative advantage.</a:t>
            </a:r>
            <a:endParaRPr lang="en-CA" sz="2400" b="1" u="none" strike="noStrike">
              <a:solidFill>
                <a:srgbClr val="00468F"/>
              </a:solidFill>
              <a:effectLst/>
              <a:uFillTx/>
              <a:latin typeface="Arial"/>
            </a:endParaRPr>
          </a:p>
        </p:txBody>
      </p:sp>
      <p:pic>
        <p:nvPicPr>
          <p:cNvPr id="269" name="Picture 10"/>
          <p:cNvPicPr/>
          <p:nvPr/>
        </p:nvPicPr>
        <p:blipFill>
          <a:blip r:embed="rId3"/>
          <a:stretch/>
        </p:blipFill>
        <p:spPr>
          <a:xfrm>
            <a:off x="685800" y="2549520"/>
            <a:ext cx="7578360" cy="3854160"/>
          </a:xfrm>
          <a:prstGeom prst="rect">
            <a:avLst/>
          </a:prstGeom>
          <a:noFill/>
          <a:ln w="0">
            <a:noFill/>
          </a:ln>
        </p:spPr>
      </p:pic>
      <p:pic>
        <p:nvPicPr>
          <p:cNvPr id="270" name="Picture 11"/>
          <p:cNvPicPr/>
          <p:nvPr/>
        </p:nvPicPr>
        <p:blipFill>
          <a:blip r:embed="rId4"/>
          <a:stretch/>
        </p:blipFill>
        <p:spPr>
          <a:xfrm>
            <a:off x="685800" y="2549520"/>
            <a:ext cx="7578360" cy="3854160"/>
          </a:xfrm>
          <a:prstGeom prst="rect">
            <a:avLst/>
          </a:prstGeom>
          <a:noFill/>
          <a:ln w="0">
            <a:noFill/>
          </a:ln>
        </p:spPr>
      </p:pic>
      <p:pic>
        <p:nvPicPr>
          <p:cNvPr id="271" name="Picture 12"/>
          <p:cNvPicPr/>
          <p:nvPr/>
        </p:nvPicPr>
        <p:blipFill>
          <a:blip r:embed="rId5"/>
          <a:stretch/>
        </p:blipFill>
        <p:spPr>
          <a:xfrm>
            <a:off x="685800" y="2549520"/>
            <a:ext cx="7578360" cy="3854160"/>
          </a:xfrm>
          <a:prstGeom prst="rect">
            <a:avLst/>
          </a:prstGeom>
          <a:noFill/>
          <a:ln w="0">
            <a:noFill/>
          </a:ln>
        </p:spPr>
      </p:pic>
      <p:pic>
        <p:nvPicPr>
          <p:cNvPr id="272" name="Picture 13"/>
          <p:cNvPicPr/>
          <p:nvPr/>
        </p:nvPicPr>
        <p:blipFill>
          <a:blip r:embed="rId6"/>
          <a:stretch/>
        </p:blipFill>
        <p:spPr>
          <a:xfrm>
            <a:off x="685800" y="2549520"/>
            <a:ext cx="7578360" cy="3854160"/>
          </a:xfrm>
          <a:prstGeom prst="rect">
            <a:avLst/>
          </a:prstGeom>
          <a:noFill/>
          <a:ln w="0">
            <a:noFill/>
          </a:ln>
        </p:spPr>
      </p:pic>
      <p:pic>
        <p:nvPicPr>
          <p:cNvPr id="273" name="Picture 14"/>
          <p:cNvPicPr/>
          <p:nvPr/>
        </p:nvPicPr>
        <p:blipFill>
          <a:blip r:embed="rId7"/>
          <a:stretch/>
        </p:blipFill>
        <p:spPr>
          <a:xfrm>
            <a:off x="685800" y="2549520"/>
            <a:ext cx="7578360" cy="38541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6" presetClass="entr" presetSubtype="42" fill="hold" nodeType="withEffect">
                                  <p:stCondLst>
                                    <p:cond delay="0"/>
                                  </p:stCondLst>
                                  <p:childTnLst>
                                    <p:set>
                                      <p:cBhvr>
                                        <p:cTn id="6" dur="1" fill="hold">
                                          <p:stCondLst>
                                            <p:cond delay="0"/>
                                          </p:stCondLst>
                                        </p:cTn>
                                        <p:tgtEl>
                                          <p:spTgt spid="272"/>
                                        </p:tgtEl>
                                        <p:attrNameLst>
                                          <p:attrName>style.visibility</p:attrName>
                                        </p:attrNameLst>
                                      </p:cBhvr>
                                      <p:to>
                                        <p:strVal val="visible"/>
                                      </p:to>
                                    </p:set>
                                    <p:animEffect transition="in" filter="barn(outHorizontal)">
                                      <p:cBhvr additive="repl">
                                        <p:cTn id="7" dur="1000"/>
                                        <p:tgtEl>
                                          <p:spTgt spid="272"/>
                                        </p:tgtEl>
                                      </p:cBhvr>
                                    </p:animEffect>
                                  </p:childTnLst>
                                </p:cTn>
                              </p:par>
                              <p:par>
                                <p:cTn id="8" presetID="10" presetClass="entr" fill="hold" nodeType="withEffect">
                                  <p:stCondLst>
                                    <p:cond delay="0"/>
                                  </p:stCondLst>
                                  <p:childTnLst>
                                    <p:set>
                                      <p:cBhvr>
                                        <p:cTn id="9" dur="1" fill="hold">
                                          <p:stCondLst>
                                            <p:cond delay="0"/>
                                          </p:stCondLst>
                                        </p:cTn>
                                        <p:tgtEl>
                                          <p:spTgt spid="273"/>
                                        </p:tgtEl>
                                        <p:attrNameLst>
                                          <p:attrName>style.visibility</p:attrName>
                                        </p:attrNameLst>
                                      </p:cBhvr>
                                      <p:to>
                                        <p:strVal val="visible"/>
                                      </p:to>
                                    </p:set>
                                    <p:animEffect transition="in" filter="fade">
                                      <p:cBhvr additive="repl">
                                        <p:cTn id="10" dur="500"/>
                                        <p:tgtEl>
                                          <p:spTgt spid="2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p:cNvSpPr>
          <p:nvPr>
            <p:ph/>
          </p:nvPr>
        </p:nvSpPr>
        <p:spPr>
          <a:xfrm>
            <a:off x="360360" y="1440000"/>
            <a:ext cx="8229240" cy="428904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US" sz="2400" b="0" u="none" strike="noStrike">
                <a:solidFill>
                  <a:srgbClr val="000000"/>
                </a:solidFill>
                <a:effectLst/>
                <a:uFillTx/>
                <a:latin typeface="Arial"/>
                <a:ea typeface="ＭＳ Ｐゴシック"/>
              </a:rPr>
              <a:t>Liz and Joe trade salads and smoothies at a price of </a:t>
            </a:r>
            <a:br>
              <a:rPr sz="2400"/>
            </a:br>
            <a:r>
              <a:rPr lang="en-US" sz="2400" b="0" u="none" strike="noStrike">
                <a:solidFill>
                  <a:srgbClr val="000000"/>
                </a:solidFill>
                <a:effectLst/>
                <a:uFillTx/>
                <a:latin typeface="Arial"/>
                <a:ea typeface="ＭＳ Ｐゴシック"/>
              </a:rPr>
              <a:t>2 salads per smoothie. </a:t>
            </a:r>
            <a:endParaRPr lang="en-CA" sz="2400" b="1" u="none" strike="noStrike">
              <a:solidFill>
                <a:srgbClr val="00468F"/>
              </a:solidFill>
              <a:effectLst/>
              <a:uFillTx/>
              <a:latin typeface="Arial"/>
            </a:endParaRPr>
          </a:p>
        </p:txBody>
      </p:sp>
      <p:sp>
        <p:nvSpPr>
          <p:cNvPr id="275"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276" name="Picture 9"/>
          <p:cNvPicPr/>
          <p:nvPr/>
        </p:nvPicPr>
        <p:blipFill>
          <a:blip r:embed="rId3"/>
          <a:stretch/>
        </p:blipFill>
        <p:spPr>
          <a:xfrm>
            <a:off x="685800" y="2549520"/>
            <a:ext cx="7578360" cy="3854160"/>
          </a:xfrm>
          <a:prstGeom prst="rect">
            <a:avLst/>
          </a:prstGeom>
          <a:noFill/>
          <a:ln w="0">
            <a:noFill/>
          </a:ln>
        </p:spPr>
      </p:pic>
      <p:pic>
        <p:nvPicPr>
          <p:cNvPr id="277" name="Picture 10"/>
          <p:cNvPicPr/>
          <p:nvPr/>
        </p:nvPicPr>
        <p:blipFill>
          <a:blip r:embed="rId4"/>
          <a:stretch/>
        </p:blipFill>
        <p:spPr>
          <a:xfrm>
            <a:off x="685800" y="2549520"/>
            <a:ext cx="7578360" cy="3854160"/>
          </a:xfrm>
          <a:prstGeom prst="rect">
            <a:avLst/>
          </a:prstGeom>
          <a:noFill/>
          <a:ln w="0">
            <a:noFill/>
          </a:ln>
        </p:spPr>
      </p:pic>
      <p:pic>
        <p:nvPicPr>
          <p:cNvPr id="278" name="Picture 11"/>
          <p:cNvPicPr/>
          <p:nvPr/>
        </p:nvPicPr>
        <p:blipFill>
          <a:blip r:embed="rId5"/>
          <a:stretch/>
        </p:blipFill>
        <p:spPr>
          <a:xfrm>
            <a:off x="685800" y="2549520"/>
            <a:ext cx="7578360" cy="3854160"/>
          </a:xfrm>
          <a:prstGeom prst="rect">
            <a:avLst/>
          </a:prstGeom>
          <a:noFill/>
          <a:ln w="0">
            <a:noFill/>
          </a:ln>
        </p:spPr>
      </p:pic>
      <p:pic>
        <p:nvPicPr>
          <p:cNvPr id="279" name="Picture 12"/>
          <p:cNvPicPr/>
          <p:nvPr/>
        </p:nvPicPr>
        <p:blipFill>
          <a:blip r:embed="rId6"/>
          <a:stretch/>
        </p:blipFill>
        <p:spPr>
          <a:xfrm>
            <a:off x="685800" y="2549520"/>
            <a:ext cx="7578360" cy="3854160"/>
          </a:xfrm>
          <a:prstGeom prst="rect">
            <a:avLst/>
          </a:prstGeom>
          <a:noFill/>
          <a:ln w="0">
            <a:noFill/>
          </a:ln>
        </p:spPr>
      </p:pic>
      <p:pic>
        <p:nvPicPr>
          <p:cNvPr id="280" name="Picture 13"/>
          <p:cNvPicPr/>
          <p:nvPr/>
        </p:nvPicPr>
        <p:blipFill>
          <a:blip r:embed="rId7"/>
          <a:stretch/>
        </p:blipFill>
        <p:spPr>
          <a:xfrm>
            <a:off x="685800" y="2549520"/>
            <a:ext cx="7578360" cy="3854160"/>
          </a:xfrm>
          <a:prstGeom prst="rect">
            <a:avLst/>
          </a:prstGeom>
          <a:noFill/>
          <a:ln w="0">
            <a:noFill/>
          </a:ln>
        </p:spPr>
      </p:pic>
      <p:pic>
        <p:nvPicPr>
          <p:cNvPr id="281" name="Picture 14"/>
          <p:cNvPicPr/>
          <p:nvPr/>
        </p:nvPicPr>
        <p:blipFill>
          <a:blip r:embed="rId8"/>
          <a:stretch/>
        </p:blipFill>
        <p:spPr>
          <a:xfrm>
            <a:off x="685800" y="2549520"/>
            <a:ext cx="7578360" cy="38541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6" presetClass="entr" presetSubtype="26" fill="hold" nodeType="withEffect">
                                  <p:stCondLst>
                                    <p:cond delay="0"/>
                                  </p:stCondLst>
                                  <p:childTnLst>
                                    <p:set>
                                      <p:cBhvr>
                                        <p:cTn id="6" dur="1" fill="hold">
                                          <p:stCondLst>
                                            <p:cond delay="0"/>
                                          </p:stCondLst>
                                        </p:cTn>
                                        <p:tgtEl>
                                          <p:spTgt spid="281"/>
                                        </p:tgtEl>
                                        <p:attrNameLst>
                                          <p:attrName>style.visibility</p:attrName>
                                        </p:attrNameLst>
                                      </p:cBhvr>
                                      <p:to>
                                        <p:strVal val="visible"/>
                                      </p:to>
                                    </p:set>
                                    <p:animEffect transition="in" filter="barn(inHorizontal)">
                                      <p:cBhvr additive="repl">
                                        <p:cTn id="7" dur="1000"/>
                                        <p:tgtEl>
                                          <p:spTgt spid="2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 name="PlaceHolder 1"/>
          <p:cNvSpPr>
            <a:spLocks noGrp="1"/>
          </p:cNvSpPr>
          <p:nvPr>
            <p:ph/>
          </p:nvPr>
        </p:nvSpPr>
        <p:spPr>
          <a:xfrm>
            <a:off x="360360" y="1440000"/>
            <a:ext cx="8478360" cy="428904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startAt="3"/>
            </a:pPr>
            <a:r>
              <a:rPr lang="en-US" sz="2400" b="0" u="none" strike="noStrike">
                <a:solidFill>
                  <a:srgbClr val="000000"/>
                </a:solidFill>
                <a:effectLst/>
                <a:uFillTx/>
                <a:latin typeface="Arial"/>
                <a:ea typeface="ＭＳ Ｐゴシック"/>
              </a:rPr>
              <a:t>Liz and Joe consume at point </a:t>
            </a:r>
            <a:r>
              <a:rPr lang="en-US" sz="2400" b="0" i="1" u="none" strike="noStrike">
                <a:solidFill>
                  <a:srgbClr val="000000"/>
                </a:solidFill>
                <a:effectLst/>
                <a:uFillTx/>
                <a:latin typeface="Arial"/>
                <a:ea typeface="ＭＳ Ｐゴシック"/>
              </a:rPr>
              <a:t>C</a:t>
            </a:r>
            <a:r>
              <a:rPr lang="en-US" sz="2400" b="0" u="none" strike="noStrike">
                <a:solidFill>
                  <a:srgbClr val="000000"/>
                </a:solidFill>
                <a:effectLst/>
                <a:uFillTx/>
                <a:latin typeface="Arial"/>
                <a:ea typeface="ＭＳ Ｐゴシック"/>
              </a:rPr>
              <a:t>, which is outside their </a:t>
            </a:r>
            <a:r>
              <a:rPr lang="en-US" sz="2400" b="0" i="1" u="none" strike="noStrike">
                <a:solidFill>
                  <a:srgbClr val="000000"/>
                </a:solidFill>
                <a:effectLst/>
                <a:uFillTx/>
                <a:latin typeface="Arial"/>
                <a:ea typeface="ＭＳ Ｐゴシック"/>
              </a:rPr>
              <a:t>PPF</a:t>
            </a:r>
            <a:r>
              <a:rPr lang="en-US" sz="2400" b="0" u="none" strike="noStrike">
                <a:solidFill>
                  <a:srgbClr val="000000"/>
                </a:solidFill>
                <a:effectLst/>
                <a:uFillTx/>
                <a:latin typeface="Arial"/>
                <a:ea typeface="ＭＳ Ｐゴシック"/>
              </a:rPr>
              <a:t>s. </a:t>
            </a:r>
            <a:r>
              <a:rPr lang="en-AU" sz="2400" b="0" u="none" strike="noStrike">
                <a:solidFill>
                  <a:srgbClr val="000000"/>
                </a:solidFill>
                <a:effectLst/>
                <a:uFillTx/>
                <a:latin typeface="Arial"/>
                <a:ea typeface="ＭＳ Ｐゴシック"/>
              </a:rPr>
              <a:t>Both gain from specialization and trade.</a:t>
            </a:r>
            <a:endParaRPr lang="en-CA" sz="2400" b="1" u="none" strike="noStrike">
              <a:solidFill>
                <a:srgbClr val="00468F"/>
              </a:solidFill>
              <a:effectLst/>
              <a:uFillTx/>
              <a:latin typeface="Arial"/>
            </a:endParaRPr>
          </a:p>
        </p:txBody>
      </p:sp>
      <p:sp>
        <p:nvSpPr>
          <p:cNvPr id="283"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284" name="Picture 11"/>
          <p:cNvPicPr/>
          <p:nvPr/>
        </p:nvPicPr>
        <p:blipFill>
          <a:blip r:embed="rId3"/>
          <a:stretch/>
        </p:blipFill>
        <p:spPr>
          <a:xfrm>
            <a:off x="685800" y="2549520"/>
            <a:ext cx="7578360" cy="3854160"/>
          </a:xfrm>
          <a:prstGeom prst="rect">
            <a:avLst/>
          </a:prstGeom>
          <a:noFill/>
          <a:ln w="0">
            <a:noFill/>
          </a:ln>
        </p:spPr>
      </p:pic>
      <p:pic>
        <p:nvPicPr>
          <p:cNvPr id="285" name="Picture 12"/>
          <p:cNvPicPr/>
          <p:nvPr/>
        </p:nvPicPr>
        <p:blipFill>
          <a:blip r:embed="rId4"/>
          <a:stretch/>
        </p:blipFill>
        <p:spPr>
          <a:xfrm>
            <a:off x="685800" y="2549520"/>
            <a:ext cx="7578360" cy="3854160"/>
          </a:xfrm>
          <a:prstGeom prst="rect">
            <a:avLst/>
          </a:prstGeom>
          <a:noFill/>
          <a:ln w="0">
            <a:noFill/>
          </a:ln>
        </p:spPr>
      </p:pic>
      <p:pic>
        <p:nvPicPr>
          <p:cNvPr id="286" name="Picture 13"/>
          <p:cNvPicPr/>
          <p:nvPr/>
        </p:nvPicPr>
        <p:blipFill>
          <a:blip r:embed="rId5"/>
          <a:stretch/>
        </p:blipFill>
        <p:spPr>
          <a:xfrm>
            <a:off x="685800" y="2549520"/>
            <a:ext cx="7578360" cy="3854160"/>
          </a:xfrm>
          <a:prstGeom prst="rect">
            <a:avLst/>
          </a:prstGeom>
          <a:noFill/>
          <a:ln w="0">
            <a:noFill/>
          </a:ln>
        </p:spPr>
      </p:pic>
      <p:pic>
        <p:nvPicPr>
          <p:cNvPr id="287" name="Picture 14"/>
          <p:cNvPicPr/>
          <p:nvPr/>
        </p:nvPicPr>
        <p:blipFill>
          <a:blip r:embed="rId6"/>
          <a:stretch/>
        </p:blipFill>
        <p:spPr>
          <a:xfrm>
            <a:off x="685800" y="2549520"/>
            <a:ext cx="7578360" cy="3854160"/>
          </a:xfrm>
          <a:prstGeom prst="rect">
            <a:avLst/>
          </a:prstGeom>
          <a:noFill/>
          <a:ln w="0">
            <a:noFill/>
          </a:ln>
        </p:spPr>
      </p:pic>
      <p:pic>
        <p:nvPicPr>
          <p:cNvPr id="288" name="Picture 15"/>
          <p:cNvPicPr/>
          <p:nvPr/>
        </p:nvPicPr>
        <p:blipFill>
          <a:blip r:embed="rId7"/>
          <a:stretch/>
        </p:blipFill>
        <p:spPr>
          <a:xfrm>
            <a:off x="685800" y="2549520"/>
            <a:ext cx="7578360" cy="3854160"/>
          </a:xfrm>
          <a:prstGeom prst="rect">
            <a:avLst/>
          </a:prstGeom>
          <a:noFill/>
          <a:ln w="0">
            <a:noFill/>
          </a:ln>
        </p:spPr>
      </p:pic>
      <p:pic>
        <p:nvPicPr>
          <p:cNvPr id="289" name="Picture 17"/>
          <p:cNvPicPr/>
          <p:nvPr/>
        </p:nvPicPr>
        <p:blipFill>
          <a:blip r:embed="rId8"/>
          <a:stretch/>
        </p:blipFill>
        <p:spPr>
          <a:xfrm>
            <a:off x="685800" y="2549520"/>
            <a:ext cx="7578360" cy="3854160"/>
          </a:xfrm>
          <a:prstGeom prst="rect">
            <a:avLst/>
          </a:prstGeom>
          <a:noFill/>
          <a:ln w="0">
            <a:noFill/>
          </a:ln>
        </p:spPr>
      </p:pic>
      <p:pic>
        <p:nvPicPr>
          <p:cNvPr id="290" name="Picture 18"/>
          <p:cNvPicPr/>
          <p:nvPr/>
        </p:nvPicPr>
        <p:blipFill>
          <a:blip r:embed="rId9"/>
          <a:stretch/>
        </p:blipFill>
        <p:spPr>
          <a:xfrm>
            <a:off x="685800" y="2549520"/>
            <a:ext cx="7578360" cy="38541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290"/>
                                        </p:tgtEl>
                                        <p:attrNameLst>
                                          <p:attrName>style.visibility</p:attrName>
                                        </p:attrNameLst>
                                      </p:cBhvr>
                                      <p:to>
                                        <p:strVal val="visible"/>
                                      </p:to>
                                    </p:set>
                                    <p:animEffect transition="in" filter="fade">
                                      <p:cBhvr additive="repl">
                                        <p:cTn id="7" dur="500"/>
                                        <p:tgtEl>
                                          <p:spTgt spid="2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 name="PlaceHolder 1"/>
          <p:cNvSpPr>
            <a:spLocks noGrp="1"/>
          </p:cNvSpPr>
          <p:nvPr>
            <p:ph/>
          </p:nvPr>
        </p:nvSpPr>
        <p:spPr>
          <a:xfrm>
            <a:off x="360360" y="1440000"/>
            <a:ext cx="3779640" cy="4647960"/>
          </a:xfrm>
          <a:prstGeom prst="rect">
            <a:avLst/>
          </a:prstGeom>
          <a:noFill/>
          <a:ln w="0">
            <a:noFill/>
          </a:ln>
        </p:spPr>
        <p:txBody>
          <a:bodyPr lIns="91440" tIns="45720" rIns="91440" bIns="45720" numCol="1" spcCol="0" anchor="t">
            <a:noAutofit/>
          </a:bodyPr>
          <a:lstStyle/>
          <a:p>
            <a:pPr marL="360000" indent="0">
              <a:lnSpc>
                <a:spcPct val="100000"/>
              </a:lnSpc>
              <a:spcBef>
                <a:spcPts val="601"/>
              </a:spcBef>
              <a:spcAft>
                <a:spcPts val="601"/>
              </a:spcAft>
              <a:buNone/>
              <a:tabLst>
                <a:tab pos="0" algn="l"/>
              </a:tabLst>
            </a:pPr>
            <a:r>
              <a:rPr lang="en-CA" sz="2400" b="0" u="none" strike="noStrike">
                <a:solidFill>
                  <a:srgbClr val="000000"/>
                </a:solidFill>
                <a:effectLst/>
                <a:uFillTx/>
                <a:latin typeface="Arial"/>
                <a:ea typeface="ＭＳ Ｐゴシック"/>
              </a:rPr>
              <a:t>Figure 3.9 shows that although Liz and Joe have constant opportunity costs, the society has increasing opportunity cost.</a:t>
            </a:r>
            <a:endParaRPr lang="en-CA" sz="2400" b="1" u="none" strike="noStrike">
              <a:solidFill>
                <a:srgbClr val="00468F"/>
              </a:solidFill>
              <a:effectLst/>
              <a:uFillTx/>
              <a:latin typeface="Arial"/>
            </a:endParaRPr>
          </a:p>
        </p:txBody>
      </p:sp>
      <p:sp>
        <p:nvSpPr>
          <p:cNvPr id="292"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293" name="Picture 4"/>
          <p:cNvPicPr/>
          <p:nvPr/>
        </p:nvPicPr>
        <p:blipFill>
          <a:blip r:embed="rId3"/>
          <a:stretch/>
        </p:blipFill>
        <p:spPr>
          <a:xfrm>
            <a:off x="4140360" y="1368360"/>
            <a:ext cx="4479480" cy="4814640"/>
          </a:xfrm>
          <a:prstGeom prst="rect">
            <a:avLst/>
          </a:prstGeom>
          <a:noFill/>
          <a:ln w="0">
            <a:noFill/>
          </a:ln>
        </p:spPr>
      </p:pic>
      <p:pic>
        <p:nvPicPr>
          <p:cNvPr id="294" name="Picture 5"/>
          <p:cNvPicPr/>
          <p:nvPr/>
        </p:nvPicPr>
        <p:blipFill>
          <a:blip r:embed="rId4"/>
          <a:stretch/>
        </p:blipFill>
        <p:spPr>
          <a:xfrm>
            <a:off x="414036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1" fill="hold" nodeType="with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wipe(up)">
                                      <p:cBhvr additive="repl">
                                        <p:cTn id="7" dur="1000"/>
                                        <p:tgtEl>
                                          <p:spTgt spid="2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5" name="Picture 8"/>
          <p:cNvPicPr/>
          <p:nvPr/>
        </p:nvPicPr>
        <p:blipFill>
          <a:blip r:embed="rId3"/>
          <a:stretch/>
        </p:blipFill>
        <p:spPr>
          <a:xfrm>
            <a:off x="1692360" y="303120"/>
            <a:ext cx="5600520" cy="6019560"/>
          </a:xfrm>
          <a:prstGeom prst="rect">
            <a:avLst/>
          </a:prstGeom>
          <a:noFill/>
          <a:ln w="0">
            <a:noFill/>
          </a:ln>
        </p:spPr>
      </p:pic>
      <p:pic>
        <p:nvPicPr>
          <p:cNvPr id="296" name="Picture 9"/>
          <p:cNvPicPr/>
          <p:nvPr/>
        </p:nvPicPr>
        <p:blipFill>
          <a:blip r:embed="rId4"/>
          <a:stretch/>
        </p:blipFill>
        <p:spPr>
          <a:xfrm>
            <a:off x="1692360" y="303120"/>
            <a:ext cx="5600520" cy="6019560"/>
          </a:xfrm>
          <a:prstGeom prst="rect">
            <a:avLst/>
          </a:prstGeom>
          <a:noFill/>
          <a:ln w="0">
            <a:noFill/>
          </a:ln>
        </p:spPr>
      </p:pic>
      <p:pic>
        <p:nvPicPr>
          <p:cNvPr id="297" name="Picture 10"/>
          <p:cNvPicPr/>
          <p:nvPr/>
        </p:nvPicPr>
        <p:blipFill>
          <a:blip r:embed="rId5"/>
          <a:stretch/>
        </p:blipFill>
        <p:spPr>
          <a:xfrm>
            <a:off x="1692360" y="303120"/>
            <a:ext cx="5600520" cy="6019560"/>
          </a:xfrm>
          <a:prstGeom prst="rect">
            <a:avLst/>
          </a:prstGeom>
          <a:noFill/>
          <a:ln w="0">
            <a:noFill/>
          </a:ln>
        </p:spPr>
      </p:pic>
      <p:pic>
        <p:nvPicPr>
          <p:cNvPr id="298" name="Picture 11"/>
          <p:cNvPicPr/>
          <p:nvPr/>
        </p:nvPicPr>
        <p:blipFill>
          <a:blip r:embed="rId6"/>
          <a:stretch/>
        </p:blipFill>
        <p:spPr>
          <a:xfrm>
            <a:off x="1692360" y="303120"/>
            <a:ext cx="5600520" cy="6019560"/>
          </a:xfrm>
          <a:prstGeom prst="rect">
            <a:avLst/>
          </a:prstGeom>
          <a:noFill/>
          <a:ln w="0">
            <a:noFill/>
          </a:ln>
        </p:spPr>
      </p:pic>
      <p:pic>
        <p:nvPicPr>
          <p:cNvPr id="299" name="Picture 12"/>
          <p:cNvPicPr/>
          <p:nvPr/>
        </p:nvPicPr>
        <p:blipFill>
          <a:blip r:embed="rId7"/>
          <a:stretch/>
        </p:blipFill>
        <p:spPr>
          <a:xfrm>
            <a:off x="1692360" y="303120"/>
            <a:ext cx="5600520" cy="6019560"/>
          </a:xfrm>
          <a:prstGeom prst="rect">
            <a:avLst/>
          </a:prstGeom>
          <a:noFill/>
          <a:ln w="0">
            <a:noFill/>
          </a:ln>
        </p:spPr>
      </p:pic>
      <p:pic>
        <p:nvPicPr>
          <p:cNvPr id="300" name="Picture 13"/>
          <p:cNvPicPr/>
          <p:nvPr/>
        </p:nvPicPr>
        <p:blipFill>
          <a:blip r:embed="rId8"/>
          <a:stretch/>
        </p:blipFill>
        <p:spPr>
          <a:xfrm>
            <a:off x="1692360" y="303120"/>
            <a:ext cx="5600520" cy="601956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1" fill="hold" nodeType="clickEffect">
                                  <p:stCondLst>
                                    <p:cond delay="0"/>
                                  </p:stCondLst>
                                  <p:childTnLst>
                                    <p:set>
                                      <p:cBhvr>
                                        <p:cTn id="6" dur="1" fill="hold">
                                          <p:stCondLst>
                                            <p:cond delay="0"/>
                                          </p:stCondLst>
                                        </p:cTn>
                                        <p:tgtEl>
                                          <p:spTgt spid="296"/>
                                        </p:tgtEl>
                                        <p:attrNameLst>
                                          <p:attrName>style.visibility</p:attrName>
                                        </p:attrNameLst>
                                      </p:cBhvr>
                                      <p:to>
                                        <p:strVal val="visible"/>
                                      </p:to>
                                    </p:set>
                                    <p:animEffect transition="in" filter="wipe(up)">
                                      <p:cBhvr additive="repl">
                                        <p:cTn id="7" dur="1000"/>
                                        <p:tgtEl>
                                          <p:spTgt spid="296"/>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1" fill="hold" nodeType="clickEffect">
                                  <p:stCondLst>
                                    <p:cond delay="0"/>
                                  </p:stCondLst>
                                  <p:childTnLst>
                                    <p:set>
                                      <p:cBhvr>
                                        <p:cTn id="11" dur="1" fill="hold">
                                          <p:stCondLst>
                                            <p:cond delay="0"/>
                                          </p:stCondLst>
                                        </p:cTn>
                                        <p:tgtEl>
                                          <p:spTgt spid="297"/>
                                        </p:tgtEl>
                                        <p:attrNameLst>
                                          <p:attrName>style.visibility</p:attrName>
                                        </p:attrNameLst>
                                      </p:cBhvr>
                                      <p:to>
                                        <p:strVal val="visible"/>
                                      </p:to>
                                    </p:set>
                                    <p:animEffect transition="in" filter="wipe(up)">
                                      <p:cBhvr additive="repl">
                                        <p:cTn id="12" dur="1000"/>
                                        <p:tgtEl>
                                          <p:spTgt spid="297"/>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1" fill="hold" nodeType="clickEffect">
                                  <p:stCondLst>
                                    <p:cond delay="0"/>
                                  </p:stCondLst>
                                  <p:childTnLst>
                                    <p:set>
                                      <p:cBhvr>
                                        <p:cTn id="16" dur="1" fill="hold">
                                          <p:stCondLst>
                                            <p:cond delay="0"/>
                                          </p:stCondLst>
                                        </p:cTn>
                                        <p:tgtEl>
                                          <p:spTgt spid="298"/>
                                        </p:tgtEl>
                                        <p:attrNameLst>
                                          <p:attrName>style.visibility</p:attrName>
                                        </p:attrNameLst>
                                      </p:cBhvr>
                                      <p:to>
                                        <p:strVal val="visible"/>
                                      </p:to>
                                    </p:set>
                                    <p:animEffect transition="in" filter="wipe(up)">
                                      <p:cBhvr additive="repl">
                                        <p:cTn id="17" dur="1000"/>
                                        <p:tgtEl>
                                          <p:spTgt spid="298"/>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10" presetClass="entr" fill="hold" nodeType="clickEffect">
                                  <p:stCondLst>
                                    <p:cond delay="0"/>
                                  </p:stCondLst>
                                  <p:childTnLst>
                                    <p:set>
                                      <p:cBhvr>
                                        <p:cTn id="21" dur="1" fill="hold">
                                          <p:stCondLst>
                                            <p:cond delay="0"/>
                                          </p:stCondLst>
                                        </p:cTn>
                                        <p:tgtEl>
                                          <p:spTgt spid="299"/>
                                        </p:tgtEl>
                                        <p:attrNameLst>
                                          <p:attrName>style.visibility</p:attrName>
                                        </p:attrNameLst>
                                      </p:cBhvr>
                                      <p:to>
                                        <p:strVal val="visible"/>
                                      </p:to>
                                    </p:set>
                                    <p:animEffect transition="in" filter="fade">
                                      <p:cBhvr additive="repl">
                                        <p:cTn id="22" dur="500"/>
                                        <p:tgtEl>
                                          <p:spTgt spid="299"/>
                                        </p:tgtEl>
                                      </p:cBhvr>
                                    </p:animEffect>
                                  </p:childTnLst>
                                </p:cTn>
                              </p:par>
                            </p:childTnLst>
                          </p:cTn>
                        </p:par>
                      </p:childTnLst>
                    </p:cTn>
                  </p:par>
                  <p:par>
                    <p:cTn id="23" fill="hold" nodeType="clickEffect">
                      <p:stCondLst>
                        <p:cond delay="indefinite"/>
                      </p:stCondLst>
                      <p:childTnLst>
                        <p:par>
                          <p:cTn id="24" fill="hold" nodeType="withEffect">
                            <p:stCondLst>
                              <p:cond delay="0"/>
                            </p:stCondLst>
                            <p:childTnLst>
                              <p:par>
                                <p:cTn id="25" presetID="10" presetClass="entr" fill="hold" nodeType="clickEffect">
                                  <p:stCondLst>
                                    <p:cond delay="0"/>
                                  </p:stCondLst>
                                  <p:childTnLst>
                                    <p:set>
                                      <p:cBhvr>
                                        <p:cTn id="26" dur="1" fill="hold">
                                          <p:stCondLst>
                                            <p:cond delay="0"/>
                                          </p:stCondLst>
                                        </p:cTn>
                                        <p:tgtEl>
                                          <p:spTgt spid="300"/>
                                        </p:tgtEl>
                                        <p:attrNameLst>
                                          <p:attrName>style.visibility</p:attrName>
                                        </p:attrNameLst>
                                      </p:cBhvr>
                                      <p:to>
                                        <p:strVal val="visible"/>
                                      </p:to>
                                    </p:set>
                                    <p:animEffect transition="in" filter="fade">
                                      <p:cBhvr additive="repl">
                                        <p:cTn id="27" dur="500"/>
                                        <p:tgtEl>
                                          <p:spTgt spid="3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p:cNvSpPr>
          <p:nvPr>
            <p:ph/>
          </p:nvPr>
        </p:nvSpPr>
        <p:spPr>
          <a:xfrm>
            <a:off x="360360" y="1440000"/>
            <a:ext cx="3846240" cy="464796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a:pPr>
            <a:r>
              <a:rPr lang="en-AU" sz="2400" b="0" u="none" strike="noStrike">
                <a:solidFill>
                  <a:srgbClr val="000000"/>
                </a:solidFill>
                <a:effectLst/>
                <a:uFillTx/>
                <a:latin typeface="Arial"/>
                <a:ea typeface="ＭＳ Ｐゴシック"/>
              </a:rPr>
              <a:t>The first 30 smoothies can be produced (by Liz) for 1 salad per smoothie, but the 31st smoothie produced (by Joe) costs 5 salads. </a:t>
            </a:r>
            <a:endParaRPr lang="en-CA" sz="2400" b="1" u="none" strike="noStrike">
              <a:solidFill>
                <a:srgbClr val="00468F"/>
              </a:solidFill>
              <a:effectLst/>
              <a:uFillTx/>
              <a:latin typeface="Arial"/>
            </a:endParaRPr>
          </a:p>
        </p:txBody>
      </p:sp>
      <p:sp>
        <p:nvSpPr>
          <p:cNvPr id="302"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303" name="Picture 4"/>
          <p:cNvPicPr/>
          <p:nvPr/>
        </p:nvPicPr>
        <p:blipFill>
          <a:blip r:embed="rId3"/>
          <a:stretch/>
        </p:blipFill>
        <p:spPr>
          <a:xfrm>
            <a:off x="4130640" y="1368360"/>
            <a:ext cx="4479480" cy="4814640"/>
          </a:xfrm>
          <a:prstGeom prst="rect">
            <a:avLst/>
          </a:prstGeom>
          <a:noFill/>
          <a:ln w="0">
            <a:noFill/>
          </a:ln>
        </p:spPr>
      </p:pic>
      <p:pic>
        <p:nvPicPr>
          <p:cNvPr id="304" name="Picture 5"/>
          <p:cNvPicPr/>
          <p:nvPr/>
        </p:nvPicPr>
        <p:blipFill>
          <a:blip r:embed="rId4"/>
          <a:stretch/>
        </p:blipFill>
        <p:spPr>
          <a:xfrm>
            <a:off x="4130640" y="1368360"/>
            <a:ext cx="4479480" cy="4814640"/>
          </a:xfrm>
          <a:prstGeom prst="rect">
            <a:avLst/>
          </a:prstGeom>
          <a:noFill/>
          <a:ln w="0">
            <a:noFill/>
          </a:ln>
        </p:spPr>
      </p:pic>
      <p:pic>
        <p:nvPicPr>
          <p:cNvPr id="305" name="Picture 6"/>
          <p:cNvPicPr/>
          <p:nvPr/>
        </p:nvPicPr>
        <p:blipFill>
          <a:blip r:embed="rId5"/>
          <a:stretch/>
        </p:blipFill>
        <p:spPr>
          <a:xfrm>
            <a:off x="413064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1" fill="hold" nodeType="withEffect">
                                  <p:stCondLst>
                                    <p:cond delay="0"/>
                                  </p:stCondLst>
                                  <p:childTnLst>
                                    <p:set>
                                      <p:cBhvr>
                                        <p:cTn id="6" dur="1" fill="hold">
                                          <p:stCondLst>
                                            <p:cond delay="0"/>
                                          </p:stCondLst>
                                        </p:cTn>
                                        <p:tgtEl>
                                          <p:spTgt spid="305"/>
                                        </p:tgtEl>
                                        <p:attrNameLst>
                                          <p:attrName>style.visibility</p:attrName>
                                        </p:attrNameLst>
                                      </p:cBhvr>
                                      <p:to>
                                        <p:strVal val="visible"/>
                                      </p:to>
                                    </p:set>
                                    <p:animEffect transition="in" filter="wipe(up)">
                                      <p:cBhvr additive="repl">
                                        <p:cTn id="7" dur="1000"/>
                                        <p:tgtEl>
                                          <p:spTgt spid="30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6" name="PlaceHolder 1"/>
          <p:cNvSpPr>
            <a:spLocks noGrp="1"/>
          </p:cNvSpPr>
          <p:nvPr>
            <p:ph/>
          </p:nvPr>
        </p:nvSpPr>
        <p:spPr>
          <a:xfrm>
            <a:off x="360360" y="1440000"/>
            <a:ext cx="3779640" cy="464796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startAt="2"/>
            </a:pPr>
            <a:r>
              <a:rPr lang="en-AU" sz="2400" b="0" u="none" strike="noStrike">
                <a:solidFill>
                  <a:srgbClr val="000000"/>
                </a:solidFill>
                <a:effectLst/>
                <a:uFillTx/>
                <a:latin typeface="Arial"/>
                <a:ea typeface="ＭＳ Ｐゴシック"/>
              </a:rPr>
              <a:t>Similarly, first 30 salads can be produced (by Joe) for 1/5 smoothie per salad, but the 31st salad produced (by Liz) costs 1 smoothie. </a:t>
            </a:r>
            <a:endParaRPr lang="en-CA" sz="2400" b="1" u="none" strike="noStrike">
              <a:solidFill>
                <a:srgbClr val="00468F"/>
              </a:solidFill>
              <a:effectLst/>
              <a:uFillTx/>
              <a:latin typeface="Arial"/>
            </a:endParaRPr>
          </a:p>
        </p:txBody>
      </p:sp>
      <p:sp>
        <p:nvSpPr>
          <p:cNvPr id="307"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308" name="Picture 4"/>
          <p:cNvPicPr/>
          <p:nvPr/>
        </p:nvPicPr>
        <p:blipFill>
          <a:blip r:embed="rId3"/>
          <a:stretch/>
        </p:blipFill>
        <p:spPr>
          <a:xfrm>
            <a:off x="4140360" y="1368360"/>
            <a:ext cx="4479480" cy="4814640"/>
          </a:xfrm>
          <a:prstGeom prst="rect">
            <a:avLst/>
          </a:prstGeom>
          <a:noFill/>
          <a:ln w="0">
            <a:noFill/>
          </a:ln>
        </p:spPr>
      </p:pic>
      <p:pic>
        <p:nvPicPr>
          <p:cNvPr id="309" name="Picture 5"/>
          <p:cNvPicPr/>
          <p:nvPr/>
        </p:nvPicPr>
        <p:blipFill>
          <a:blip r:embed="rId4"/>
          <a:stretch/>
        </p:blipFill>
        <p:spPr>
          <a:xfrm>
            <a:off x="4140360" y="1368360"/>
            <a:ext cx="4479480" cy="4814640"/>
          </a:xfrm>
          <a:prstGeom prst="rect">
            <a:avLst/>
          </a:prstGeom>
          <a:noFill/>
          <a:ln w="0">
            <a:noFill/>
          </a:ln>
        </p:spPr>
      </p:pic>
      <p:pic>
        <p:nvPicPr>
          <p:cNvPr id="310" name="Picture 6"/>
          <p:cNvPicPr/>
          <p:nvPr/>
        </p:nvPicPr>
        <p:blipFill>
          <a:blip r:embed="rId5"/>
          <a:stretch/>
        </p:blipFill>
        <p:spPr>
          <a:xfrm>
            <a:off x="4140360" y="1368360"/>
            <a:ext cx="4479480" cy="4814640"/>
          </a:xfrm>
          <a:prstGeom prst="rect">
            <a:avLst/>
          </a:prstGeom>
          <a:noFill/>
          <a:ln w="0">
            <a:noFill/>
          </a:ln>
        </p:spPr>
      </p:pic>
      <p:pic>
        <p:nvPicPr>
          <p:cNvPr id="311" name="Picture 7"/>
          <p:cNvPicPr/>
          <p:nvPr/>
        </p:nvPicPr>
        <p:blipFill>
          <a:blip r:embed="rId6"/>
          <a:stretch/>
        </p:blipFill>
        <p:spPr>
          <a:xfrm>
            <a:off x="414036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22" presetClass="entr" presetSubtype="1" fill="hold" nodeType="withEffect">
                                  <p:stCondLst>
                                    <p:cond delay="0"/>
                                  </p:stCondLst>
                                  <p:childTnLst>
                                    <p:set>
                                      <p:cBhvr>
                                        <p:cTn id="6" dur="1" fill="hold">
                                          <p:stCondLst>
                                            <p:cond delay="0"/>
                                          </p:stCondLst>
                                        </p:cTn>
                                        <p:tgtEl>
                                          <p:spTgt spid="311"/>
                                        </p:tgtEl>
                                        <p:attrNameLst>
                                          <p:attrName>style.visibility</p:attrName>
                                        </p:attrNameLst>
                                      </p:cBhvr>
                                      <p:to>
                                        <p:strVal val="visible"/>
                                      </p:to>
                                    </p:set>
                                    <p:animEffect transition="in" filter="wipe(up)">
                                      <p:cBhvr additive="repl">
                                        <p:cTn id="7" dur="1000"/>
                                        <p:tgtEl>
                                          <p:spTgt spid="3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2" name="PlaceHolder 1"/>
          <p:cNvSpPr>
            <a:spLocks noGrp="1"/>
          </p:cNvSpPr>
          <p:nvPr>
            <p:ph/>
          </p:nvPr>
        </p:nvSpPr>
        <p:spPr>
          <a:xfrm>
            <a:off x="360360" y="1440000"/>
            <a:ext cx="3906360" cy="4647960"/>
          </a:xfrm>
          <a:prstGeom prst="rect">
            <a:avLst/>
          </a:prstGeom>
          <a:noFill/>
          <a:ln w="0">
            <a:noFill/>
          </a:ln>
        </p:spPr>
        <p:txBody>
          <a:bodyPr lIns="91440" tIns="45720" rIns="91440" bIns="45720" numCol="1" spcCol="0" anchor="t">
            <a:noAutofit/>
          </a:bodyPr>
          <a:lstStyle/>
          <a:p>
            <a:pPr marL="817200" indent="-457200">
              <a:lnSpc>
                <a:spcPct val="100000"/>
              </a:lnSpc>
              <a:spcBef>
                <a:spcPts val="601"/>
              </a:spcBef>
              <a:spcAft>
                <a:spcPts val="601"/>
              </a:spcAft>
              <a:buClr>
                <a:srgbClr val="000000"/>
              </a:buClr>
              <a:buFont typeface="Arial"/>
              <a:buAutoNum type="arabicPeriod" startAt="3"/>
            </a:pPr>
            <a:r>
              <a:rPr lang="en-AU" sz="2400" b="0" u="none" strike="noStrike">
                <a:solidFill>
                  <a:srgbClr val="000000"/>
                </a:solidFill>
                <a:effectLst/>
                <a:uFillTx/>
                <a:latin typeface="Arial"/>
                <a:ea typeface="ＭＳ Ｐゴシック"/>
              </a:rPr>
              <a:t>When Liz and Joe specialize, they produce efficiently on the economy’s </a:t>
            </a:r>
            <a:r>
              <a:rPr lang="en-AU" sz="2400" b="0" i="1" u="none" strike="noStrike">
                <a:solidFill>
                  <a:srgbClr val="000000"/>
                </a:solidFill>
                <a:effectLst/>
                <a:uFillTx/>
                <a:latin typeface="Arial"/>
                <a:ea typeface="ＭＳ Ｐゴシック"/>
              </a:rPr>
              <a:t>PPF</a:t>
            </a:r>
            <a:r>
              <a:rPr lang="en-AU" sz="2400" b="0" u="none" strike="noStrike">
                <a:solidFill>
                  <a:srgbClr val="000000"/>
                </a:solidFill>
                <a:effectLst/>
                <a:uFillTx/>
                <a:latin typeface="Arial"/>
                <a:ea typeface="ＭＳ Ｐゴシック"/>
              </a:rPr>
              <a:t>. </a:t>
            </a:r>
            <a:endParaRPr lang="en-CA" sz="2400" b="1" u="none" strike="noStrike">
              <a:solidFill>
                <a:srgbClr val="00468F"/>
              </a:solidFill>
              <a:effectLst/>
              <a:uFillTx/>
              <a:latin typeface="Arial"/>
            </a:endParaRPr>
          </a:p>
          <a:p>
            <a:pPr marL="817200" indent="-457200">
              <a:lnSpc>
                <a:spcPct val="100000"/>
              </a:lnSpc>
              <a:spcBef>
                <a:spcPts val="601"/>
              </a:spcBef>
              <a:spcAft>
                <a:spcPts val="601"/>
              </a:spcAft>
              <a:buClr>
                <a:srgbClr val="000000"/>
              </a:buClr>
              <a:buFont typeface="Arial"/>
              <a:buAutoNum type="arabicPeriod" startAt="3"/>
            </a:pPr>
            <a:r>
              <a:rPr lang="en-AU" sz="2400" b="0" u="none" strike="noStrike">
                <a:solidFill>
                  <a:srgbClr val="000000"/>
                </a:solidFill>
                <a:effectLst/>
                <a:uFillTx/>
                <a:latin typeface="Arial"/>
                <a:ea typeface="ＭＳ Ｐゴシック"/>
              </a:rPr>
              <a:t>But without specialization and trade, they produce at an inefficient point inside the economy’s </a:t>
            </a:r>
            <a:r>
              <a:rPr lang="en-AU" sz="2400" b="0" i="1" u="none" strike="noStrike">
                <a:solidFill>
                  <a:srgbClr val="000000"/>
                </a:solidFill>
                <a:effectLst/>
                <a:uFillTx/>
                <a:latin typeface="Arial"/>
                <a:ea typeface="ＭＳ Ｐゴシック"/>
              </a:rPr>
              <a:t>PPF</a:t>
            </a:r>
            <a:r>
              <a:rPr lang="en-CA" sz="2400" b="0" u="none" strike="noStrike">
                <a:solidFill>
                  <a:srgbClr val="000000"/>
                </a:solidFill>
                <a:effectLst/>
                <a:uFillTx/>
                <a:latin typeface="Arial"/>
                <a:ea typeface="ＭＳ Ｐゴシック"/>
              </a:rPr>
              <a:t>.</a:t>
            </a:r>
            <a:endParaRPr lang="en-CA" sz="2400" b="1" u="none" strike="noStrike">
              <a:solidFill>
                <a:srgbClr val="00468F"/>
              </a:solidFill>
              <a:effectLst/>
              <a:uFillTx/>
              <a:latin typeface="Arial"/>
            </a:endParaRPr>
          </a:p>
        </p:txBody>
      </p:sp>
      <p:sp>
        <p:nvSpPr>
          <p:cNvPr id="313" name="PlaceHolder 2"/>
          <p:cNvSpPr>
            <a:spLocks noGrp="1"/>
          </p:cNvSpPr>
          <p:nvPr>
            <p:ph type="title"/>
          </p:nvPr>
        </p:nvSpPr>
        <p:spPr>
          <a:xfrm>
            <a:off x="431640" y="539640"/>
            <a:ext cx="8229240" cy="533160"/>
          </a:xfrm>
          <a:prstGeom prst="rect">
            <a:avLst/>
          </a:prstGeom>
          <a:gradFill rotWithShape="0">
            <a:gsLst>
              <a:gs pos="0">
                <a:srgbClr val="00468F"/>
              </a:gs>
              <a:gs pos="100000">
                <a:srgbClr val="648FBB"/>
              </a:gs>
            </a:gsLst>
            <a:lin ang="0"/>
          </a:gradFill>
          <a:ln w="0">
            <a:noFill/>
          </a:ln>
        </p:spPr>
        <p:txBody>
          <a:bodyPr lIns="91440" tIns="45720" rIns="91440" bIns="45720" numCol="1" spcCol="0" anchor="ctr">
            <a:noAutofit/>
          </a:bodyPr>
          <a:lstStyle/>
          <a:p>
            <a:pPr indent="0">
              <a:lnSpc>
                <a:spcPct val="100000"/>
              </a:lnSpc>
              <a:buNone/>
            </a:pPr>
            <a:r>
              <a:rPr lang="en-US" sz="2600" b="1" u="none" strike="noStrike">
                <a:solidFill>
                  <a:schemeClr val="lt1"/>
                </a:solidFill>
                <a:effectLst/>
                <a:uFillTx/>
                <a:latin typeface="Arial"/>
                <a:ea typeface="ＭＳ Ｐゴシック"/>
              </a:rPr>
              <a:t>3.4  SPECIALIZATION AND TRADE</a:t>
            </a:r>
            <a:endParaRPr lang="en-CA" sz="2600" b="0" u="none" strike="noStrike">
              <a:solidFill>
                <a:schemeClr val="dk1"/>
              </a:solidFill>
              <a:effectLst/>
              <a:uFillTx/>
              <a:latin typeface="Arial"/>
            </a:endParaRPr>
          </a:p>
        </p:txBody>
      </p:sp>
      <p:pic>
        <p:nvPicPr>
          <p:cNvPr id="314" name="Picture 4"/>
          <p:cNvPicPr/>
          <p:nvPr/>
        </p:nvPicPr>
        <p:blipFill>
          <a:blip r:embed="rId3"/>
          <a:stretch/>
        </p:blipFill>
        <p:spPr>
          <a:xfrm>
            <a:off x="4140360" y="1368360"/>
            <a:ext cx="4479480" cy="4814640"/>
          </a:xfrm>
          <a:prstGeom prst="rect">
            <a:avLst/>
          </a:prstGeom>
          <a:noFill/>
          <a:ln w="0">
            <a:noFill/>
          </a:ln>
        </p:spPr>
      </p:pic>
      <p:pic>
        <p:nvPicPr>
          <p:cNvPr id="315" name="Picture 5"/>
          <p:cNvPicPr/>
          <p:nvPr/>
        </p:nvPicPr>
        <p:blipFill>
          <a:blip r:embed="rId4"/>
          <a:stretch/>
        </p:blipFill>
        <p:spPr>
          <a:xfrm>
            <a:off x="4140360" y="1368360"/>
            <a:ext cx="4479480" cy="4814640"/>
          </a:xfrm>
          <a:prstGeom prst="rect">
            <a:avLst/>
          </a:prstGeom>
          <a:noFill/>
          <a:ln w="0">
            <a:noFill/>
          </a:ln>
        </p:spPr>
      </p:pic>
      <p:pic>
        <p:nvPicPr>
          <p:cNvPr id="316" name="Picture 6"/>
          <p:cNvPicPr/>
          <p:nvPr/>
        </p:nvPicPr>
        <p:blipFill>
          <a:blip r:embed="rId5"/>
          <a:stretch/>
        </p:blipFill>
        <p:spPr>
          <a:xfrm>
            <a:off x="4140360" y="1368360"/>
            <a:ext cx="4479480" cy="4814640"/>
          </a:xfrm>
          <a:prstGeom prst="rect">
            <a:avLst/>
          </a:prstGeom>
          <a:noFill/>
          <a:ln w="0">
            <a:noFill/>
          </a:ln>
        </p:spPr>
      </p:pic>
      <p:pic>
        <p:nvPicPr>
          <p:cNvPr id="317" name="Picture 7"/>
          <p:cNvPicPr/>
          <p:nvPr/>
        </p:nvPicPr>
        <p:blipFill>
          <a:blip r:embed="rId6"/>
          <a:stretch/>
        </p:blipFill>
        <p:spPr>
          <a:xfrm>
            <a:off x="4140360" y="1368360"/>
            <a:ext cx="4479480" cy="4814640"/>
          </a:xfrm>
          <a:prstGeom prst="rect">
            <a:avLst/>
          </a:prstGeom>
          <a:noFill/>
          <a:ln w="0">
            <a:noFill/>
          </a:ln>
        </p:spPr>
      </p:pic>
      <p:pic>
        <p:nvPicPr>
          <p:cNvPr id="318" name="Picture 8"/>
          <p:cNvPicPr/>
          <p:nvPr/>
        </p:nvPicPr>
        <p:blipFill>
          <a:blip r:embed="rId7"/>
          <a:stretch/>
        </p:blipFill>
        <p:spPr>
          <a:xfrm>
            <a:off x="4140360" y="1368360"/>
            <a:ext cx="4479480" cy="4814640"/>
          </a:xfrm>
          <a:prstGeom prst="rect">
            <a:avLst/>
          </a:prstGeom>
          <a:noFill/>
          <a:ln w="0">
            <a:noFill/>
          </a:ln>
        </p:spPr>
      </p:pic>
      <p:pic>
        <p:nvPicPr>
          <p:cNvPr id="319" name="Picture 10"/>
          <p:cNvPicPr/>
          <p:nvPr/>
        </p:nvPicPr>
        <p:blipFill>
          <a:blip r:embed="rId8"/>
          <a:stretch/>
        </p:blipFill>
        <p:spPr>
          <a:xfrm>
            <a:off x="4140360" y="1368360"/>
            <a:ext cx="4479480" cy="48146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318"/>
                                        </p:tgtEl>
                                        <p:attrNameLst>
                                          <p:attrName>style.visibility</p:attrName>
                                        </p:attrNameLst>
                                      </p:cBhvr>
                                      <p:to>
                                        <p:strVal val="visible"/>
                                      </p:to>
                                    </p:set>
                                    <p:animEffect transition="in" filter="fade">
                                      <p:cBhvr additive="repl">
                                        <p:cTn id="7" dur="500"/>
                                        <p:tgtEl>
                                          <p:spTgt spid="318"/>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312">
                                            <p:txEl>
                                              <p:pRg st="1" end="1"/>
                                            </p:txEl>
                                          </p:spTgt>
                                        </p:tgtEl>
                                        <p:attrNameLst>
                                          <p:attrName>style.visibility</p:attrName>
                                        </p:attrNameLst>
                                      </p:cBhvr>
                                      <p:to>
                                        <p:strVal val="visible"/>
                                      </p:to>
                                    </p:set>
                                    <p:animEffect transition="in" filter="wipe(left)">
                                      <p:cBhvr additive="repl">
                                        <p:cTn id="12" dur="500"/>
                                        <p:tgtEl>
                                          <p:spTgt spid="312">
                                            <p:txEl>
                                              <p:pRg st="1" end="1"/>
                                            </p:txEl>
                                          </p:spTgt>
                                        </p:tgtEl>
                                      </p:cBhvr>
                                    </p:animEffect>
                                  </p:childTnLst>
                                </p:cTn>
                              </p:par>
                              <p:par>
                                <p:cTn id="13" presetID="10" presetClass="entr" fill="hold" nodeType="withEffect">
                                  <p:stCondLst>
                                    <p:cond delay="0"/>
                                  </p:stCondLst>
                                  <p:childTnLst>
                                    <p:set>
                                      <p:cBhvr>
                                        <p:cTn id="14" dur="1" fill="hold">
                                          <p:stCondLst>
                                            <p:cond delay="0"/>
                                          </p:stCondLst>
                                        </p:cTn>
                                        <p:tgtEl>
                                          <p:spTgt spid="319"/>
                                        </p:tgtEl>
                                        <p:attrNameLst>
                                          <p:attrName>style.visibility</p:attrName>
                                        </p:attrNameLst>
                                      </p:cBhvr>
                                      <p:to>
                                        <p:strVal val="visible"/>
                                      </p:to>
                                    </p:set>
                                    <p:animEffect transition="in" filter="fade">
                                      <p:cBhvr additive="repl">
                                        <p:cTn id="15" dur="500"/>
                                        <p:tgtEl>
                                          <p:spTgt spid="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 name="Rectangle 2"/>
          <p:cNvSpPr/>
          <p:nvPr/>
        </p:nvSpPr>
        <p:spPr>
          <a:xfrm>
            <a:off x="360360" y="1511280"/>
            <a:ext cx="8151480" cy="47638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108000">
              <a:lnSpc>
                <a:spcPct val="100000"/>
              </a:lnSpc>
              <a:spcBef>
                <a:spcPts val="601"/>
              </a:spcBef>
              <a:spcAft>
                <a:spcPts val="601"/>
              </a:spcAft>
            </a:pPr>
            <a:r>
              <a:rPr lang="en-US" sz="2400" b="0" u="none" strike="noStrike">
                <a:solidFill>
                  <a:srgbClr val="000000"/>
                </a:solidFill>
                <a:effectLst/>
                <a:uFillTx/>
                <a:latin typeface="Arial"/>
                <a:ea typeface="ＭＳ Ｐゴシック"/>
              </a:rPr>
              <a:t>Wind power is not free. </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US" sz="2400" b="0" u="none" strike="noStrike">
                <a:solidFill>
                  <a:srgbClr val="000000"/>
                </a:solidFill>
                <a:effectLst/>
                <a:uFillTx/>
                <a:latin typeface="Arial"/>
                <a:ea typeface="ＭＳ Ｐゴシック"/>
              </a:rPr>
              <a:t>Its opportunity cost includes the huge amounts of other goods and services we give up to build wind turbines and transmission lines.</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AU" sz="2400" b="0" u="none" strike="noStrike">
                <a:solidFill>
                  <a:srgbClr val="000000"/>
                </a:solidFill>
                <a:effectLst/>
                <a:uFillTx/>
                <a:latin typeface="Arial"/>
                <a:ea typeface="ＭＳ Ｐゴシック"/>
              </a:rPr>
              <a:t>Wind turbines can produce electricity only when the wind is strong enough, but advances in technology are enabling turbines to operate in lower wind conditions.</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US" sz="2400" b="0" u="none" strike="noStrike">
                <a:solidFill>
                  <a:srgbClr val="000000"/>
                </a:solidFill>
                <a:effectLst/>
                <a:uFillTx/>
                <a:latin typeface="Arial"/>
                <a:ea typeface="ＭＳ Ｐゴシック"/>
              </a:rPr>
              <a:t>Also some of the best wind farm locations are a long way from major population centers, so transmission lines would be long and power transmission losses large.</a:t>
            </a:r>
            <a:endParaRPr lang="en-US" sz="2400" b="0" u="none" strike="noStrike">
              <a:solidFill>
                <a:srgbClr val="000000"/>
              </a:solidFill>
              <a:effectLst/>
              <a:uFillTx/>
              <a:latin typeface="Arial"/>
            </a:endParaRPr>
          </a:p>
        </p:txBody>
      </p:sp>
      <p:sp>
        <p:nvSpPr>
          <p:cNvPr id="321" name="Rectangle 4"/>
          <p:cNvSpPr/>
          <p:nvPr/>
        </p:nvSpPr>
        <p:spPr>
          <a:xfrm>
            <a:off x="3708360" y="1268280"/>
            <a:ext cx="5443200" cy="3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u="none" strike="noStrike">
              <a:solidFill>
                <a:srgbClr val="FFFFFF"/>
              </a:solidFill>
              <a:effectLst/>
              <a:uFillTx/>
              <a:latin typeface="Arial"/>
              <a:ea typeface="ＭＳ Ｐゴシック"/>
            </a:endParaRPr>
          </a:p>
        </p:txBody>
      </p:sp>
      <p:pic>
        <p:nvPicPr>
          <p:cNvPr id="322" name="Picture 1"/>
          <p:cNvPicPr/>
          <p:nvPr/>
        </p:nvPicPr>
        <p:blipFill>
          <a:blip r:embed="rId3"/>
          <a:stretch/>
        </p:blipFill>
        <p:spPr>
          <a:xfrm>
            <a:off x="-12600" y="0"/>
            <a:ext cx="6256080" cy="12380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2" presetClass="entr" presetSubtype="8" fill="hold" nodeType="clickEffect">
                                  <p:stCondLst>
                                    <p:cond delay="0"/>
                                  </p:stCondLst>
                                  <p:childTnLst>
                                    <p:set>
                                      <p:cBhvr>
                                        <p:cTn id="6" dur="1" fill="hold">
                                          <p:stCondLst>
                                            <p:cond delay="0"/>
                                          </p:stCondLst>
                                        </p:cTn>
                                        <p:tgtEl>
                                          <p:spTgt spid="320">
                                            <p:txEl>
                                              <p:pRg st="0" end="0"/>
                                            </p:txEl>
                                          </p:spTgt>
                                        </p:tgtEl>
                                        <p:attrNameLst>
                                          <p:attrName>style.visibility</p:attrName>
                                        </p:attrNameLst>
                                      </p:cBhvr>
                                      <p:to>
                                        <p:strVal val="visible"/>
                                      </p:to>
                                    </p:set>
                                    <p:animEffect transition="in" filter="wipe(left)">
                                      <p:cBhvr additive="repl">
                                        <p:cTn id="7" dur="500"/>
                                        <p:tgtEl>
                                          <p:spTgt spid="320">
                                            <p:txEl>
                                              <p:pRg st="0" end="0"/>
                                            </p:txEl>
                                          </p:spTgt>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320">
                                            <p:txEl>
                                              <p:pRg st="1" end="1"/>
                                            </p:txEl>
                                          </p:spTgt>
                                        </p:tgtEl>
                                        <p:attrNameLst>
                                          <p:attrName>style.visibility</p:attrName>
                                        </p:attrNameLst>
                                      </p:cBhvr>
                                      <p:to>
                                        <p:strVal val="visible"/>
                                      </p:to>
                                    </p:set>
                                    <p:animEffect transition="in" filter="wipe(left)">
                                      <p:cBhvr additive="repl">
                                        <p:cTn id="12" dur="500"/>
                                        <p:tgtEl>
                                          <p:spTgt spid="320">
                                            <p:txEl>
                                              <p:pRg st="1" end="1"/>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320">
                                            <p:txEl>
                                              <p:pRg st="2" end="2"/>
                                            </p:txEl>
                                          </p:spTgt>
                                        </p:tgtEl>
                                        <p:attrNameLst>
                                          <p:attrName>style.visibility</p:attrName>
                                        </p:attrNameLst>
                                      </p:cBhvr>
                                      <p:to>
                                        <p:strVal val="visible"/>
                                      </p:to>
                                    </p:set>
                                    <p:animEffect transition="in" filter="wipe(left)">
                                      <p:cBhvr additive="repl">
                                        <p:cTn id="17" dur="500"/>
                                        <p:tgtEl>
                                          <p:spTgt spid="320">
                                            <p:txEl>
                                              <p:pRg st="2" end="2"/>
                                            </p:txEl>
                                          </p:spTgt>
                                        </p:tgtEl>
                                      </p:cBhvr>
                                    </p:animEffect>
                                  </p:childTnLst>
                                </p:cTn>
                              </p:par>
                            </p:childTnLst>
                          </p:cTn>
                        </p:par>
                      </p:childTnLst>
                    </p:cTn>
                  </p:par>
                  <p:par>
                    <p:cTn id="18" fill="hold" nodeType="clickEffect">
                      <p:stCondLst>
                        <p:cond delay="indefinite"/>
                      </p:stCondLst>
                      <p:childTnLst>
                        <p:par>
                          <p:cTn id="19" fill="hold" nodeType="withEffect">
                            <p:stCondLst>
                              <p:cond delay="0"/>
                            </p:stCondLst>
                            <p:childTnLst>
                              <p:par>
                                <p:cTn id="20" presetID="22" presetClass="entr" presetSubtype="8" fill="hold" nodeType="clickEffect">
                                  <p:stCondLst>
                                    <p:cond delay="0"/>
                                  </p:stCondLst>
                                  <p:childTnLst>
                                    <p:set>
                                      <p:cBhvr>
                                        <p:cTn id="21" dur="1" fill="hold">
                                          <p:stCondLst>
                                            <p:cond delay="0"/>
                                          </p:stCondLst>
                                        </p:cTn>
                                        <p:tgtEl>
                                          <p:spTgt spid="320">
                                            <p:txEl>
                                              <p:pRg st="3" end="3"/>
                                            </p:txEl>
                                          </p:spTgt>
                                        </p:tgtEl>
                                        <p:attrNameLst>
                                          <p:attrName>style.visibility</p:attrName>
                                        </p:attrNameLst>
                                      </p:cBhvr>
                                      <p:to>
                                        <p:strVal val="visible"/>
                                      </p:to>
                                    </p:set>
                                    <p:animEffect transition="in" filter="wipe(left)">
                                      <p:cBhvr additive="repl">
                                        <p:cTn id="22" dur="500"/>
                                        <p:tgtEl>
                                          <p:spTgt spid="32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 name="Rectangle 2"/>
          <p:cNvSpPr/>
          <p:nvPr/>
        </p:nvSpPr>
        <p:spPr>
          <a:xfrm>
            <a:off x="360360" y="1511280"/>
            <a:ext cx="3490560" cy="518436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pPr marL="108000">
              <a:lnSpc>
                <a:spcPct val="100000"/>
              </a:lnSpc>
              <a:spcBef>
                <a:spcPts val="601"/>
              </a:spcBef>
              <a:spcAft>
                <a:spcPts val="601"/>
              </a:spcAft>
            </a:pPr>
            <a:r>
              <a:rPr lang="en-US" sz="2400" b="0" u="none" strike="noStrike">
                <a:solidFill>
                  <a:srgbClr val="000000"/>
                </a:solidFill>
                <a:effectLst/>
                <a:uFillTx/>
                <a:latin typeface="Arial"/>
                <a:ea typeface="ＭＳ Ｐゴシック"/>
              </a:rPr>
              <a:t>Point </a:t>
            </a:r>
            <a:r>
              <a:rPr lang="en-US" sz="2400" b="0" i="1" u="none" strike="noStrike">
                <a:solidFill>
                  <a:srgbClr val="000000"/>
                </a:solidFill>
                <a:effectLst/>
                <a:uFillTx/>
                <a:latin typeface="Arial"/>
                <a:ea typeface="ＭＳ Ｐゴシック"/>
              </a:rPr>
              <a:t>A</a:t>
            </a:r>
            <a:r>
              <a:rPr lang="en-US" sz="2400" b="0" u="none" strike="noStrike">
                <a:solidFill>
                  <a:srgbClr val="000000"/>
                </a:solidFill>
                <a:effectLst/>
                <a:uFillTx/>
                <a:latin typeface="Arial"/>
                <a:ea typeface="ＭＳ Ｐゴシック"/>
              </a:rPr>
              <a:t> is a point of efficient electricity production. </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US" sz="2400" b="0" u="none" strike="noStrike">
                <a:solidFill>
                  <a:srgbClr val="000000"/>
                </a:solidFill>
                <a:effectLst/>
                <a:uFillTx/>
                <a:latin typeface="Arial"/>
                <a:ea typeface="ＭＳ Ｐゴシック"/>
              </a:rPr>
              <a:t>If the United States produces </a:t>
            </a:r>
            <a:r>
              <a:rPr lang="en-AU" sz="2400" b="0" u="none" strike="noStrike">
                <a:solidFill>
                  <a:srgbClr val="000000"/>
                </a:solidFill>
                <a:effectLst/>
                <a:uFillTx/>
                <a:latin typeface="Arial"/>
                <a:ea typeface="ＭＳ Ｐゴシック"/>
              </a:rPr>
              <a:t>most of its electricity using wind power, …</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AU" sz="2400" b="0" u="none" strike="noStrike">
                <a:solidFill>
                  <a:srgbClr val="000000"/>
                </a:solidFill>
                <a:effectLst/>
                <a:uFillTx/>
                <a:latin typeface="Arial"/>
                <a:ea typeface="ＭＳ Ｐゴシック"/>
              </a:rPr>
              <a:t>it would be operating inside the </a:t>
            </a:r>
            <a:r>
              <a:rPr lang="en-AU" sz="2400" b="0" i="1" u="none" strike="noStrike">
                <a:solidFill>
                  <a:srgbClr val="000000"/>
                </a:solidFill>
                <a:effectLst/>
                <a:uFillTx/>
                <a:latin typeface="Arial"/>
                <a:ea typeface="ＭＳ Ｐゴシック"/>
              </a:rPr>
              <a:t>PPF</a:t>
            </a:r>
            <a:r>
              <a:rPr lang="en-AU" sz="2400" b="0" u="none" strike="noStrike">
                <a:solidFill>
                  <a:srgbClr val="000000"/>
                </a:solidFill>
                <a:effectLst/>
                <a:uFillTx/>
                <a:latin typeface="Arial"/>
                <a:ea typeface="ＭＳ Ｐゴシック"/>
              </a:rPr>
              <a:t> at a point such as </a:t>
            </a:r>
            <a:r>
              <a:rPr lang="en-AU" sz="2400" b="0" i="1" u="none" strike="noStrike">
                <a:solidFill>
                  <a:srgbClr val="000000"/>
                </a:solidFill>
                <a:effectLst/>
                <a:uFillTx/>
                <a:latin typeface="Arial"/>
                <a:ea typeface="ＭＳ Ｐゴシック"/>
              </a:rPr>
              <a:t>Z</a:t>
            </a:r>
            <a:r>
              <a:rPr lang="en-AU" sz="2400" b="0" u="none" strike="noStrike">
                <a:solidFill>
                  <a:srgbClr val="000000"/>
                </a:solidFill>
                <a:effectLst/>
                <a:uFillTx/>
                <a:latin typeface="Arial"/>
                <a:ea typeface="ＭＳ Ｐゴシック"/>
              </a:rPr>
              <a:t>.</a:t>
            </a:r>
            <a:endParaRPr lang="en-US" sz="2400" b="0" u="none" strike="noStrike">
              <a:solidFill>
                <a:srgbClr val="000000"/>
              </a:solidFill>
              <a:effectLst/>
              <a:uFillTx/>
              <a:latin typeface="Arial"/>
            </a:endParaRPr>
          </a:p>
          <a:p>
            <a:pPr marL="108000">
              <a:lnSpc>
                <a:spcPct val="100000"/>
              </a:lnSpc>
              <a:spcBef>
                <a:spcPts val="601"/>
              </a:spcBef>
              <a:spcAft>
                <a:spcPts val="601"/>
              </a:spcAft>
            </a:pPr>
            <a:r>
              <a:rPr lang="en-AU" sz="2400" b="0" u="none" strike="noStrike">
                <a:solidFill>
                  <a:srgbClr val="000000"/>
                </a:solidFill>
                <a:effectLst/>
                <a:uFillTx/>
                <a:latin typeface="Arial"/>
                <a:ea typeface="ＭＳ Ｐゴシック"/>
              </a:rPr>
              <a:t>Inefficient production.</a:t>
            </a:r>
            <a:endParaRPr lang="en-US" sz="2400" b="0" u="none" strike="noStrike">
              <a:solidFill>
                <a:srgbClr val="000000"/>
              </a:solidFill>
              <a:effectLst/>
              <a:uFillTx/>
              <a:latin typeface="Arial"/>
            </a:endParaRPr>
          </a:p>
        </p:txBody>
      </p:sp>
      <p:sp>
        <p:nvSpPr>
          <p:cNvPr id="324" name="Rectangle 4"/>
          <p:cNvSpPr/>
          <p:nvPr/>
        </p:nvSpPr>
        <p:spPr>
          <a:xfrm>
            <a:off x="3708360" y="1268280"/>
            <a:ext cx="5443200" cy="360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u="none" strike="noStrike">
              <a:solidFill>
                <a:srgbClr val="FFFFFF"/>
              </a:solidFill>
              <a:effectLst/>
              <a:uFillTx/>
              <a:latin typeface="Arial"/>
              <a:ea typeface="ＭＳ Ｐゴシック"/>
            </a:endParaRPr>
          </a:p>
        </p:txBody>
      </p:sp>
      <p:sp>
        <p:nvSpPr>
          <p:cNvPr id="325" name="Rectangle 5"/>
          <p:cNvSpPr/>
          <p:nvPr/>
        </p:nvSpPr>
        <p:spPr>
          <a:xfrm>
            <a:off x="3708360" y="1197000"/>
            <a:ext cx="5435280" cy="5029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US" sz="1800" b="0" u="none" strike="noStrike">
              <a:solidFill>
                <a:srgbClr val="FFFFFF"/>
              </a:solidFill>
              <a:effectLst/>
              <a:uFillTx/>
              <a:latin typeface="Arial"/>
              <a:ea typeface="ＭＳ Ｐゴシック"/>
            </a:endParaRPr>
          </a:p>
        </p:txBody>
      </p:sp>
      <p:pic>
        <p:nvPicPr>
          <p:cNvPr id="326" name="Picture 6" descr="eoco0301a_thumb.gif"/>
          <p:cNvPicPr/>
          <p:nvPr/>
        </p:nvPicPr>
        <p:blipFill>
          <a:blip r:embed="rId3"/>
          <a:stretch/>
        </p:blipFill>
        <p:spPr>
          <a:xfrm>
            <a:off x="3992400" y="1752480"/>
            <a:ext cx="4998600" cy="4514400"/>
          </a:xfrm>
          <a:prstGeom prst="rect">
            <a:avLst/>
          </a:prstGeom>
          <a:noFill/>
          <a:ln w="0">
            <a:noFill/>
          </a:ln>
        </p:spPr>
      </p:pic>
      <p:pic>
        <p:nvPicPr>
          <p:cNvPr id="327" name="Picture 7" descr="eoco0301b_thumb.gif"/>
          <p:cNvPicPr/>
          <p:nvPr/>
        </p:nvPicPr>
        <p:blipFill>
          <a:blip r:embed="rId4"/>
          <a:stretch/>
        </p:blipFill>
        <p:spPr>
          <a:xfrm>
            <a:off x="3992400" y="1752480"/>
            <a:ext cx="4998600" cy="4514400"/>
          </a:xfrm>
          <a:prstGeom prst="rect">
            <a:avLst/>
          </a:prstGeom>
          <a:noFill/>
          <a:ln w="0">
            <a:noFill/>
          </a:ln>
        </p:spPr>
      </p:pic>
      <p:pic>
        <p:nvPicPr>
          <p:cNvPr id="328" name="Picture 8" descr="eoco0301c_thumb.gif"/>
          <p:cNvPicPr/>
          <p:nvPr/>
        </p:nvPicPr>
        <p:blipFill>
          <a:blip r:embed="rId5"/>
          <a:stretch/>
        </p:blipFill>
        <p:spPr>
          <a:xfrm>
            <a:off x="3992400" y="1752480"/>
            <a:ext cx="4998600" cy="4514400"/>
          </a:xfrm>
          <a:prstGeom prst="rect">
            <a:avLst/>
          </a:prstGeom>
          <a:noFill/>
          <a:ln w="0">
            <a:noFill/>
          </a:ln>
        </p:spPr>
      </p:pic>
      <p:pic>
        <p:nvPicPr>
          <p:cNvPr id="329" name="Picture 9" descr="eoco0301d_thumb.gif"/>
          <p:cNvPicPr/>
          <p:nvPr/>
        </p:nvPicPr>
        <p:blipFill>
          <a:blip r:embed="rId6"/>
          <a:stretch/>
        </p:blipFill>
        <p:spPr>
          <a:xfrm>
            <a:off x="3992400" y="1752480"/>
            <a:ext cx="4998600" cy="4514400"/>
          </a:xfrm>
          <a:prstGeom prst="rect">
            <a:avLst/>
          </a:prstGeom>
          <a:noFill/>
          <a:ln w="0">
            <a:noFill/>
          </a:ln>
        </p:spPr>
      </p:pic>
      <p:pic>
        <p:nvPicPr>
          <p:cNvPr id="330" name="Picture 10" descr="eoco0301e_thumb.gif"/>
          <p:cNvPicPr/>
          <p:nvPr/>
        </p:nvPicPr>
        <p:blipFill>
          <a:blip r:embed="rId7"/>
          <a:stretch/>
        </p:blipFill>
        <p:spPr>
          <a:xfrm>
            <a:off x="3992400" y="1752480"/>
            <a:ext cx="4998600" cy="4514400"/>
          </a:xfrm>
          <a:prstGeom prst="rect">
            <a:avLst/>
          </a:prstGeom>
          <a:noFill/>
          <a:ln w="0">
            <a:noFill/>
          </a:ln>
        </p:spPr>
      </p:pic>
      <p:pic>
        <p:nvPicPr>
          <p:cNvPr id="331" name="Picture 11"/>
          <p:cNvPicPr/>
          <p:nvPr/>
        </p:nvPicPr>
        <p:blipFill>
          <a:blip r:embed="rId8"/>
          <a:stretch/>
        </p:blipFill>
        <p:spPr>
          <a:xfrm>
            <a:off x="-12600" y="0"/>
            <a:ext cx="6256080" cy="1238040"/>
          </a:xfrm>
          <a:prstGeom prst="rect">
            <a:avLst/>
          </a:prstGeom>
          <a:noFill/>
          <a:ln w="0">
            <a:noFill/>
          </a:ln>
        </p:spPr>
      </p:pic>
    </p:spTree>
  </p:cSld>
  <p:clrMapOvr>
    <a:masterClrMapping/>
  </p:clrMapOvr>
  <p:transition spd="slow">
    <p:wipe dir="r"/>
  </p:transition>
  <p:timing>
    <p:tnLst>
      <p:par>
        <p:cTn id="1" dur="indefinite" restart="never" nodeType="tmRoot">
          <p:childTnLst>
            <p:seq>
              <p:cTn id="2" dur="indefinite" nodeType="mainSeq">
                <p:childTnLst>
                  <p:par>
                    <p:cTn id="3" fill="hold" nodeType="clickEffect">
                      <p:stCondLst>
                        <p:cond delay="0"/>
                      </p:stCondLst>
                      <p:childTnLst>
                        <p:par>
                          <p:cTn id="4" fill="hold" nodeType="withEffect">
                            <p:stCondLst>
                              <p:cond delay="0"/>
                            </p:stCondLst>
                            <p:childTnLst>
                              <p:par>
                                <p:cTn id="5" presetID="10" presetClass="entr" fill="hold" nodeType="withEffect">
                                  <p:stCondLst>
                                    <p:cond delay="0"/>
                                  </p:stCondLst>
                                  <p:childTnLst>
                                    <p:set>
                                      <p:cBhvr>
                                        <p:cTn id="6" dur="1" fill="hold">
                                          <p:stCondLst>
                                            <p:cond delay="0"/>
                                          </p:stCondLst>
                                        </p:cTn>
                                        <p:tgtEl>
                                          <p:spTgt spid="328"/>
                                        </p:tgtEl>
                                        <p:attrNameLst>
                                          <p:attrName>style.visibility</p:attrName>
                                        </p:attrNameLst>
                                      </p:cBhvr>
                                      <p:to>
                                        <p:strVal val="visible"/>
                                      </p:to>
                                    </p:set>
                                    <p:animEffect transition="in" filter="fade">
                                      <p:cBhvr additive="repl">
                                        <p:cTn id="7" dur="500"/>
                                        <p:tgtEl>
                                          <p:spTgt spid="328"/>
                                        </p:tgtEl>
                                      </p:cBhvr>
                                    </p:animEffect>
                                  </p:childTnLst>
                                </p:cTn>
                              </p:par>
                            </p:childTnLst>
                          </p:cTn>
                        </p:par>
                      </p:childTnLst>
                    </p:cTn>
                  </p:par>
                  <p:par>
                    <p:cTn id="8" fill="hold" nodeType="clickEffect">
                      <p:stCondLst>
                        <p:cond delay="indefinite"/>
                      </p:stCondLst>
                      <p:childTnLst>
                        <p:par>
                          <p:cTn id="9" fill="hold" nodeType="withEffect">
                            <p:stCondLst>
                              <p:cond delay="0"/>
                            </p:stCondLst>
                            <p:childTnLst>
                              <p:par>
                                <p:cTn id="10" presetID="22" presetClass="entr" presetSubtype="8" fill="hold" nodeType="clickEffect">
                                  <p:stCondLst>
                                    <p:cond delay="0"/>
                                  </p:stCondLst>
                                  <p:childTnLst>
                                    <p:set>
                                      <p:cBhvr>
                                        <p:cTn id="11" dur="1" fill="hold">
                                          <p:stCondLst>
                                            <p:cond delay="0"/>
                                          </p:stCondLst>
                                        </p:cTn>
                                        <p:tgtEl>
                                          <p:spTgt spid="323">
                                            <p:txEl>
                                              <p:pRg st="1" end="1"/>
                                            </p:txEl>
                                          </p:spTgt>
                                        </p:tgtEl>
                                        <p:attrNameLst>
                                          <p:attrName>style.visibility</p:attrName>
                                        </p:attrNameLst>
                                      </p:cBhvr>
                                      <p:to>
                                        <p:strVal val="visible"/>
                                      </p:to>
                                    </p:set>
                                    <p:animEffect transition="in" filter="wipe(left)">
                                      <p:cBhvr additive="repl">
                                        <p:cTn id="12" dur="500"/>
                                        <p:tgtEl>
                                          <p:spTgt spid="323">
                                            <p:txEl>
                                              <p:pRg st="1" end="1"/>
                                            </p:txEl>
                                          </p:spTgt>
                                        </p:tgtEl>
                                      </p:cBhvr>
                                    </p:animEffect>
                                  </p:childTnLst>
                                </p:cTn>
                              </p:par>
                            </p:childTnLst>
                          </p:cTn>
                        </p:par>
                      </p:childTnLst>
                    </p:cTn>
                  </p:par>
                  <p:par>
                    <p:cTn id="13" fill="hold" nodeType="clickEffect">
                      <p:stCondLst>
                        <p:cond delay="indefinite"/>
                      </p:stCondLst>
                      <p:childTnLst>
                        <p:par>
                          <p:cTn id="14" fill="hold" nodeType="withEffect">
                            <p:stCondLst>
                              <p:cond delay="0"/>
                            </p:stCondLst>
                            <p:childTnLst>
                              <p:par>
                                <p:cTn id="15" presetID="22" presetClass="entr" presetSubtype="8" fill="hold" nodeType="clickEffect">
                                  <p:stCondLst>
                                    <p:cond delay="0"/>
                                  </p:stCondLst>
                                  <p:childTnLst>
                                    <p:set>
                                      <p:cBhvr>
                                        <p:cTn id="16" dur="1" fill="hold">
                                          <p:stCondLst>
                                            <p:cond delay="0"/>
                                          </p:stCondLst>
                                        </p:cTn>
                                        <p:tgtEl>
                                          <p:spTgt spid="323">
                                            <p:txEl>
                                              <p:pRg st="2" end="2"/>
                                            </p:txEl>
                                          </p:spTgt>
                                        </p:tgtEl>
                                        <p:attrNameLst>
                                          <p:attrName>style.visibility</p:attrName>
                                        </p:attrNameLst>
                                      </p:cBhvr>
                                      <p:to>
                                        <p:strVal val="visible"/>
                                      </p:to>
                                    </p:set>
                                    <p:animEffect transition="in" filter="wipe(left)">
                                      <p:cBhvr additive="repl">
                                        <p:cTn id="17" dur="500"/>
                                        <p:tgtEl>
                                          <p:spTgt spid="323">
                                            <p:txEl>
                                              <p:pRg st="2" end="2"/>
                                            </p:txEl>
                                          </p:spTgt>
                                        </p:tgtEl>
                                      </p:cBhvr>
                                    </p:animEffect>
                                  </p:childTnLst>
                                </p:cTn>
                              </p:par>
                            </p:childTnLst>
                          </p:cTn>
                        </p:par>
                        <p:par>
                          <p:cTn id="18" fill="hold" nodeType="afterEffect">
                            <p:stCondLst>
                              <p:cond delay="500"/>
                            </p:stCondLst>
                            <p:childTnLst>
                              <p:par>
                                <p:cTn id="19" presetID="22" presetClass="entr" presetSubtype="1" fill="hold" nodeType="afterEffect">
                                  <p:stCondLst>
                                    <p:cond delay="0"/>
                                  </p:stCondLst>
                                  <p:childTnLst>
                                    <p:set>
                                      <p:cBhvr>
                                        <p:cTn id="20" dur="1" fill="hold">
                                          <p:stCondLst>
                                            <p:cond delay="0"/>
                                          </p:stCondLst>
                                        </p:cTn>
                                        <p:tgtEl>
                                          <p:spTgt spid="329"/>
                                        </p:tgtEl>
                                        <p:attrNameLst>
                                          <p:attrName>style.visibility</p:attrName>
                                        </p:attrNameLst>
                                      </p:cBhvr>
                                      <p:to>
                                        <p:strVal val="visible"/>
                                      </p:to>
                                    </p:set>
                                    <p:animEffect transition="in" filter="wipe(up)">
                                      <p:cBhvr additive="repl">
                                        <p:cTn id="21" dur="2000"/>
                                        <p:tgtEl>
                                          <p:spTgt spid="329"/>
                                        </p:tgtEl>
                                      </p:cBhvr>
                                    </p:animEffect>
                                  </p:childTnLst>
                                </p:cTn>
                              </p:par>
                            </p:childTnLst>
                          </p:cTn>
                        </p:par>
                        <p:par>
                          <p:cTn id="22" fill="hold" nodeType="afterEffect">
                            <p:stCondLst>
                              <p:cond delay="2500"/>
                            </p:stCondLst>
                            <p:childTnLst>
                              <p:par>
                                <p:cTn id="23" presetID="10" presetClass="entr" fill="hold" nodeType="afterEffect">
                                  <p:stCondLst>
                                    <p:cond delay="0"/>
                                  </p:stCondLst>
                                  <p:childTnLst>
                                    <p:set>
                                      <p:cBhvr>
                                        <p:cTn id="24" dur="1" fill="hold">
                                          <p:stCondLst>
                                            <p:cond delay="0"/>
                                          </p:stCondLst>
                                        </p:cTn>
                                        <p:tgtEl>
                                          <p:spTgt spid="330"/>
                                        </p:tgtEl>
                                        <p:attrNameLst>
                                          <p:attrName>style.visibility</p:attrName>
                                        </p:attrNameLst>
                                      </p:cBhvr>
                                      <p:to>
                                        <p:strVal val="visible"/>
                                      </p:to>
                                    </p:set>
                                    <p:animEffect transition="in" filter="fade">
                                      <p:cBhvr additive="repl">
                                        <p:cTn id="25" dur="500"/>
                                        <p:tgtEl>
                                          <p:spTgt spid="330"/>
                                        </p:tgtEl>
                                      </p:cBhvr>
                                    </p:animEffect>
                                  </p:childTnLst>
                                </p:cTn>
                              </p:par>
                            </p:childTnLst>
                          </p:cTn>
                        </p:par>
                      </p:childTnLst>
                    </p:cTn>
                  </p:par>
                  <p:par>
                    <p:cTn id="26" fill="hold" nodeType="clickEffect">
                      <p:stCondLst>
                        <p:cond delay="indefinite"/>
                      </p:stCondLst>
                      <p:childTnLst>
                        <p:par>
                          <p:cTn id="27" fill="hold" nodeType="withEffect">
                            <p:stCondLst>
                              <p:cond delay="0"/>
                            </p:stCondLst>
                            <p:childTnLst>
                              <p:par>
                                <p:cTn id="28" presetID="22" presetClass="entr" presetSubtype="8" fill="hold" nodeType="clickEffect">
                                  <p:stCondLst>
                                    <p:cond delay="0"/>
                                  </p:stCondLst>
                                  <p:childTnLst>
                                    <p:set>
                                      <p:cBhvr>
                                        <p:cTn id="29" dur="1" fill="hold">
                                          <p:stCondLst>
                                            <p:cond delay="0"/>
                                          </p:stCondLst>
                                        </p:cTn>
                                        <p:tgtEl>
                                          <p:spTgt spid="323">
                                            <p:txEl>
                                              <p:pRg st="3" end="3"/>
                                            </p:txEl>
                                          </p:spTgt>
                                        </p:tgtEl>
                                        <p:attrNameLst>
                                          <p:attrName>style.visibility</p:attrName>
                                        </p:attrNameLst>
                                      </p:cBhvr>
                                      <p:to>
                                        <p:strVal val="visible"/>
                                      </p:to>
                                    </p:set>
                                    <p:animEffect transition="in" filter="wipe(left)">
                                      <p:cBhvr additive="repl">
                                        <p:cTn id="30" dur="500"/>
                                        <p:tgtEl>
                                          <p:spTgt spid="32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p:cNvSpPr>
          <p:nvPr>
            <p:ph type="title"/>
          </p:nvPr>
        </p:nvSpPr>
        <p:spPr>
          <a:xfrm>
            <a:off x="329040" y="297000"/>
            <a:ext cx="8562960" cy="1034280"/>
          </a:xfrm>
          <a:prstGeom prst="rect">
            <a:avLst/>
          </a:prstGeom>
          <a:noFill/>
          <a:ln w="0">
            <a:noFill/>
          </a:ln>
        </p:spPr>
        <p:txBody>
          <a:bodyPr lIns="91440" tIns="45720" rIns="91440" bIns="45720" numCol="1" spcCol="0" anchor="ctr">
            <a:noAutofit/>
          </a:bodyPr>
          <a:lstStyle/>
          <a:p>
            <a:pPr indent="0">
              <a:lnSpc>
                <a:spcPct val="100000"/>
              </a:lnSpc>
              <a:buNone/>
            </a:pPr>
            <a:r>
              <a:rPr lang="en-US" sz="3200" b="1" u="none" strike="noStrike">
                <a:solidFill>
                  <a:srgbClr val="007FA3"/>
                </a:solidFill>
                <a:effectLst/>
                <a:uFillTx/>
                <a:latin typeface="Arial"/>
              </a:rPr>
              <a:t>Figure 2.8 </a:t>
            </a:r>
            <a:br>
              <a:rPr sz="3200"/>
            </a:br>
            <a:r>
              <a:rPr lang="en-US" sz="3200" b="1" u="none" strike="noStrike">
                <a:solidFill>
                  <a:srgbClr val="007FA3"/>
                </a:solidFill>
                <a:effectLst/>
                <a:uFillTx/>
                <a:latin typeface="Arial"/>
              </a:rPr>
              <a:t>Circular flows in the market economy</a:t>
            </a:r>
            <a:endParaRPr lang="en-US" sz="3200" b="0" u="none" strike="noStrike">
              <a:solidFill>
                <a:schemeClr val="dk1"/>
              </a:solidFill>
              <a:effectLst/>
              <a:uFillTx/>
              <a:latin typeface="Arial"/>
            </a:endParaRPr>
          </a:p>
        </p:txBody>
      </p:sp>
      <p:pic>
        <p:nvPicPr>
          <p:cNvPr id="333" name="Picture 26"/>
          <p:cNvPicPr/>
          <p:nvPr/>
        </p:nvPicPr>
        <p:blipFill>
          <a:blip r:embed="rId2"/>
          <a:stretch/>
        </p:blipFill>
        <p:spPr>
          <a:xfrm>
            <a:off x="793440" y="1404000"/>
            <a:ext cx="7556760" cy="4833000"/>
          </a:xfrm>
          <a:prstGeom prst="rect">
            <a:avLst/>
          </a:prstGeom>
          <a:noFill/>
          <a:ln w="0">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329040" y="297000"/>
            <a:ext cx="8562960" cy="1034280"/>
          </a:xfrm>
          <a:prstGeom prst="rect">
            <a:avLst/>
          </a:prstGeom>
          <a:noFill/>
          <a:ln w="0">
            <a:noFill/>
          </a:ln>
        </p:spPr>
        <p:txBody>
          <a:bodyPr lIns="91440" tIns="45720" rIns="91440" bIns="45720" numCol="1" spcCol="0" anchor="ctr">
            <a:noAutofit/>
          </a:bodyPr>
          <a:lstStyle/>
          <a:p>
            <a:pPr indent="0">
              <a:lnSpc>
                <a:spcPct val="100000"/>
              </a:lnSpc>
              <a:buNone/>
            </a:pPr>
            <a:r>
              <a:rPr lang="en-US" sz="3200" b="1" u="none" strike="noStrike">
                <a:solidFill>
                  <a:srgbClr val="007FA3"/>
                </a:solidFill>
                <a:effectLst/>
                <a:uFillTx/>
                <a:latin typeface="Arial"/>
              </a:rPr>
              <a:t>Figure 1 </a:t>
            </a:r>
            <a:br>
              <a:rPr sz="3200"/>
            </a:br>
            <a:r>
              <a:rPr lang="en-US" sz="3200" b="1" u="none" strike="noStrike">
                <a:solidFill>
                  <a:srgbClr val="007FA3"/>
                </a:solidFill>
                <a:effectLst/>
                <a:uFillTx/>
                <a:latin typeface="Arial"/>
              </a:rPr>
              <a:t>The UK economy in 2022</a:t>
            </a:r>
            <a:endParaRPr lang="en-US" sz="3200" b="0" u="none" strike="noStrike">
              <a:solidFill>
                <a:schemeClr val="dk1"/>
              </a:solidFill>
              <a:effectLst/>
              <a:uFillTx/>
              <a:latin typeface="Arial"/>
            </a:endParaRPr>
          </a:p>
        </p:txBody>
      </p:sp>
      <p:pic>
        <p:nvPicPr>
          <p:cNvPr id="335" name="Picture 27"/>
          <p:cNvPicPr/>
          <p:nvPr/>
        </p:nvPicPr>
        <p:blipFill>
          <a:blip r:embed="rId2"/>
          <a:stretch/>
        </p:blipFill>
        <p:spPr>
          <a:xfrm>
            <a:off x="1897200" y="1413720"/>
            <a:ext cx="5349240" cy="4874040"/>
          </a:xfrm>
          <a:prstGeom prst="rect">
            <a:avLst/>
          </a:prstGeom>
          <a:noFill/>
          <a:ln w="0">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329040" y="297000"/>
            <a:ext cx="8562960" cy="1034280"/>
          </a:xfrm>
          <a:prstGeom prst="rect">
            <a:avLst/>
          </a:prstGeom>
          <a:noFill/>
          <a:ln w="0">
            <a:noFill/>
          </a:ln>
        </p:spPr>
        <p:txBody>
          <a:bodyPr lIns="91440" tIns="45720" rIns="91440" bIns="45720" numCol="1" spcCol="0" anchor="ctr">
            <a:noAutofit/>
          </a:bodyPr>
          <a:lstStyle/>
          <a:p>
            <a:pPr indent="0">
              <a:lnSpc>
                <a:spcPct val="100000"/>
              </a:lnSpc>
              <a:buNone/>
            </a:pPr>
            <a:r>
              <a:rPr lang="en-US" sz="3200" b="1" u="none" strike="noStrike">
                <a:solidFill>
                  <a:srgbClr val="007FA3"/>
                </a:solidFill>
                <a:effectLst/>
                <a:uFillTx/>
                <a:latin typeface="Arial"/>
              </a:rPr>
              <a:t>Figure 2 </a:t>
            </a:r>
            <a:br>
              <a:rPr sz="3200"/>
            </a:br>
            <a:r>
              <a:rPr lang="en-US" sz="3200" b="1" u="none" strike="noStrike">
                <a:solidFill>
                  <a:srgbClr val="007FA3"/>
                </a:solidFill>
                <a:effectLst/>
                <a:uFillTx/>
                <a:latin typeface="Arial"/>
              </a:rPr>
              <a:t>The UK economy in 2030</a:t>
            </a:r>
            <a:endParaRPr lang="en-US" sz="3200" b="0" u="none" strike="noStrike">
              <a:solidFill>
                <a:schemeClr val="dk1"/>
              </a:solidFill>
              <a:effectLst/>
              <a:uFillTx/>
              <a:latin typeface="Arial"/>
            </a:endParaRPr>
          </a:p>
        </p:txBody>
      </p:sp>
      <p:pic>
        <p:nvPicPr>
          <p:cNvPr id="337" name="Picture 28"/>
          <p:cNvPicPr/>
          <p:nvPr/>
        </p:nvPicPr>
        <p:blipFill>
          <a:blip r:embed="rId2"/>
          <a:stretch/>
        </p:blipFill>
        <p:spPr>
          <a:xfrm>
            <a:off x="1881720" y="1425600"/>
            <a:ext cx="5379840" cy="4902120"/>
          </a:xfrm>
          <a:prstGeom prst="rect">
            <a:avLst/>
          </a:prstGeom>
          <a:noFill/>
          <a:ln w="0">
            <a:noFill/>
          </a:ln>
        </p:spPr>
      </p:pic>
    </p:spTree>
  </p:cSld>
  <p:clrMapOvr>
    <a:masterClrMapping/>
  </p:clrMapOvr>
</p:sld>
</file>

<file path=ppt/theme/theme1.xml><?xml version="1.0" encoding="utf-8"?>
<a:theme xmlns:a="http://schemas.openxmlformats.org/drawingml/2006/main" name="6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9_newdesign">
  <a:themeElements>
    <a:clrScheme name="1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1_new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10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11_newdesign">
  <a:themeElements>
    <a:clrScheme name="3_new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3_new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5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7_Custom Design">
  <a:themeElements>
    <a:clrScheme name="3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Custom 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3_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Foundations 2e</Template>
  <TotalTime>9922</TotalTime>
  <Words>1915</Words>
  <Application>Microsoft Macintosh PowerPoint</Application>
  <PresentationFormat>On-screen Show (4:3)</PresentationFormat>
  <Paragraphs>234</Paragraphs>
  <Slides>58</Slides>
  <Notes>55</Notes>
  <HiddenSlides>0</HiddenSlides>
  <MMClips>0</MMClips>
  <ScaleCrop>false</ScaleCrop>
  <HeadingPairs>
    <vt:vector size="6" baseType="variant">
      <vt:variant>
        <vt:lpstr>Fonts Used</vt:lpstr>
      </vt:variant>
      <vt:variant>
        <vt:i4>7</vt:i4>
      </vt:variant>
      <vt:variant>
        <vt:lpstr>Theme</vt:lpstr>
      </vt:variant>
      <vt:variant>
        <vt:i4>7</vt:i4>
      </vt:variant>
      <vt:variant>
        <vt:lpstr>Slide Titles</vt:lpstr>
      </vt:variant>
      <vt:variant>
        <vt:i4>58</vt:i4>
      </vt:variant>
    </vt:vector>
  </HeadingPairs>
  <TitlesOfParts>
    <vt:vector size="72" baseType="lpstr">
      <vt:lpstr>OpenSymbol</vt:lpstr>
      <vt:lpstr>Arial</vt:lpstr>
      <vt:lpstr>Symbol</vt:lpstr>
      <vt:lpstr>Tahoma</vt:lpstr>
      <vt:lpstr>Times New Roman</vt:lpstr>
      <vt:lpstr>Webdings</vt:lpstr>
      <vt:lpstr>Wingdings</vt:lpstr>
      <vt:lpstr>6_Custom Design</vt:lpstr>
      <vt:lpstr>9_newdesign</vt:lpstr>
      <vt:lpstr>10_newdesign</vt:lpstr>
      <vt:lpstr>11_newdesign</vt:lpstr>
      <vt:lpstr>5_Custom Design</vt:lpstr>
      <vt:lpstr>7_Custom Design</vt:lpstr>
      <vt:lpstr>3_Default Design</vt:lpstr>
      <vt:lpstr>PowerPoint Presentation</vt:lpstr>
      <vt:lpstr>PowerPoint Presentation</vt:lpstr>
      <vt:lpstr>3.1  PRODUCTION POSSIBILITIES</vt:lpstr>
      <vt:lpstr>3.1  PRODUCTION POSSIBILITIES</vt:lpstr>
      <vt:lpstr>PowerPoint Presentation</vt:lpstr>
      <vt:lpstr>3.1  PRODUCTION POSSIBILITIES</vt:lpstr>
      <vt:lpstr>3.1  PRODUCTION POSSIBILITIES</vt:lpstr>
      <vt:lpstr>3.1  PRODUCTION POSSIBILITIES</vt:lpstr>
      <vt:lpstr>PowerPoint Presentation</vt:lpstr>
      <vt:lpstr>3.1  PRODUCTION POSSIBILITIES</vt:lpstr>
      <vt:lpstr>3.1  PRODUCTION POSSIBILITIES</vt:lpstr>
      <vt:lpstr>PowerPoint Presentation</vt:lpstr>
      <vt:lpstr>3.1  PRODUCTION POSSIBILITIES</vt:lpstr>
      <vt:lpstr>3.1  PRODUCTION POSSIBILITIES</vt:lpstr>
      <vt:lpstr>3.2  OPPORTUNITY COST</vt:lpstr>
      <vt:lpstr>3.2  OPPORTUNITY COST</vt:lpstr>
      <vt:lpstr>PowerPoint Presentation</vt:lpstr>
      <vt:lpstr>3.2  OPPORTUNITY COST</vt:lpstr>
      <vt:lpstr>3.2  OPPORTUNITY COST</vt:lpstr>
      <vt:lpstr>3.2  OPPORTUNITY COST</vt:lpstr>
      <vt:lpstr>3.2  OPPORTUNITY COST</vt:lpstr>
      <vt:lpstr>3.2  OPPORTUNITY COST</vt:lpstr>
      <vt:lpstr>PowerPoint Presentation</vt:lpstr>
      <vt:lpstr>3.2  OPPORTUNITY COST</vt:lpstr>
      <vt:lpstr>3.2  OPPORTUNITY COST</vt:lpstr>
      <vt:lpstr>3.2  OPPORTUNITY COST</vt:lpstr>
      <vt:lpstr>3.3  ECONOMIC GROWTH</vt:lpstr>
      <vt:lpstr>3.3  ECONOMIC GROWTH</vt:lpstr>
      <vt:lpstr>PowerPoint Presentation</vt:lpstr>
      <vt:lpstr>3.3  ECONOMIC GROWTH</vt:lpstr>
      <vt:lpstr>3.4  SPECIALIZATION AND TRADE</vt:lpstr>
      <vt:lpstr>3.4  SPECIALIZATION AND TRADE</vt:lpstr>
      <vt:lpstr>3.4  SPECIALIZATION AND TRADE</vt:lpstr>
      <vt:lpstr>3.4  SPECIALIZATION AND TRADE</vt:lpstr>
      <vt:lpstr>3.4  SPECIALIZATION AND TRADE</vt:lpstr>
      <vt:lpstr>3.4  SPECIALIZATION AND TRADE</vt:lpstr>
      <vt:lpstr>3.4  SPECIALIZATION AND TRADE</vt:lpstr>
      <vt:lpstr>PowerPoint Presentation</vt:lpstr>
      <vt:lpstr>3.4  SPECIALIZATION AND TRADE</vt:lpstr>
      <vt:lpstr>PowerPoint Presentation</vt:lpstr>
      <vt:lpstr>3.4  SPECIALIZATION AND TRADE</vt:lpstr>
      <vt:lpstr>3.4  SPECIALIZATION AND TRADE</vt:lpstr>
      <vt:lpstr>3.4  SPECIALIZATION AND TRADE</vt:lpstr>
      <vt:lpstr>PowerPoint Presentation</vt:lpstr>
      <vt:lpstr>3.4  SPECIALIZATION AND TRADE</vt:lpstr>
      <vt:lpstr>3.4  SPECIALIZATION AND TRADE</vt:lpstr>
      <vt:lpstr>3.4  SPECIALIZATION AND TRADE</vt:lpstr>
      <vt:lpstr>3.4  SPECIALIZATION AND TRADE</vt:lpstr>
      <vt:lpstr>3.4  SPECIALIZATION AND TRADE</vt:lpstr>
      <vt:lpstr>PowerPoint Presentation</vt:lpstr>
      <vt:lpstr>3.4  SPECIALIZATION AND TRADE</vt:lpstr>
      <vt:lpstr>3.4  SPECIALIZATION AND TRADE</vt:lpstr>
      <vt:lpstr>3.4  SPECIALIZATION AND TRADE</vt:lpstr>
      <vt:lpstr>PowerPoint Presentation</vt:lpstr>
      <vt:lpstr>PowerPoint Presentation</vt:lpstr>
      <vt:lpstr>Figure 2.8  Circular flows in the market economy</vt:lpstr>
      <vt:lpstr>Figure 1  The UK economy in 2022</vt:lpstr>
      <vt:lpstr>Figure 2  The UK economy in 2030</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dc:title>
  <dc:subject/>
  <dc:creator>Robin Bade and Michael Parkin</dc:creator>
  <dc:description/>
  <cp:lastModifiedBy>Le Mai. Huong</cp:lastModifiedBy>
  <cp:revision>227</cp:revision>
  <cp:lastPrinted>2001-04-24T18:42:16Z</cp:lastPrinted>
  <dcterms:created xsi:type="dcterms:W3CDTF">2000-11-24T17:02:06Z</dcterms:created>
  <dcterms:modified xsi:type="dcterms:W3CDTF">2025-10-05T14:16:20Z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HiddenSlides">
    <vt:i4>10</vt:i4>
  </property>
  <property fmtid="{D5CDD505-2E9C-101B-9397-08002B2CF9AE}" pid="3" name="Notes">
    <vt:i4>56</vt:i4>
  </property>
  <property fmtid="{D5CDD505-2E9C-101B-9397-08002B2CF9AE}" pid="4" name="PresentationFormat">
    <vt:lpwstr>On-screen Show (4:3)</vt:lpwstr>
  </property>
  <property fmtid="{D5CDD505-2E9C-101B-9397-08002B2CF9AE}" pid="5" name="Slides">
    <vt:i4>56</vt:i4>
  </property>
</Properties>
</file>