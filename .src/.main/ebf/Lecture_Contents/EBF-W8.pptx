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media/image17.png" ContentType="image/png"/>
  <Override PartName="/ppt/media/image92.png" ContentType="image/png"/>
  <Override PartName="/ppt/media/image37.png" ContentType="image/png"/>
  <Override PartName="/ppt/media/image21.png" ContentType="image/png"/>
  <Override PartName="/ppt/media/image35.png" ContentType="image/png"/>
  <Override PartName="/ppt/media/image1.jpeg" ContentType="image/jpeg"/>
  <Override PartName="/ppt/media/image83.png" ContentType="image/png"/>
  <Override PartName="/ppt/media/image41.png" ContentType="image/png"/>
  <Override PartName="/ppt/media/image36.png" ContentType="image/png"/>
  <Override PartName="/ppt/media/image38.png" ContentType="image/png"/>
  <Override PartName="/ppt/media/image39.png" ContentType="image/png"/>
  <Override PartName="/ppt/media/image18.png" ContentType="image/png"/>
  <Override PartName="/ppt/media/image2.jpeg" ContentType="image/jpeg"/>
  <Override PartName="/ppt/media/image100.png" ContentType="image/png"/>
  <Override PartName="/ppt/media/image93.png" ContentType="image/png"/>
  <Override PartName="/ppt/media/image19.png" ContentType="image/png"/>
  <Override PartName="/ppt/media/image101.png" ContentType="image/png"/>
  <Override PartName="/ppt/media/image94.png" ContentType="image/png"/>
  <Override PartName="/ppt/media/image20.png" ContentType="image/png"/>
  <Override PartName="/ppt/media/image79.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30.png" ContentType="image/png"/>
  <Override PartName="/ppt/media/image89.png" ContentType="image/png"/>
  <Override PartName="/ppt/media/image31.png" ContentType="image/png"/>
  <Override PartName="/ppt/media/image32.png" ContentType="image/png"/>
  <Override PartName="/ppt/media/image33.png" ContentType="image/png"/>
  <Override PartName="/ppt/media/image34.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8.png" ContentType="image/png"/>
  <Override PartName="/ppt/media/image4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95.png" ContentType="image/png"/>
  <Override PartName="/ppt/media/image102.png" ContentType="image/png"/>
  <Override PartName="/ppt/media/image57.png" ContentType="image/png"/>
  <Override PartName="/ppt/media/image103.png" ContentType="image/png"/>
  <Override PartName="/ppt/media/image58.png" ContentType="image/png"/>
  <Override PartName="/ppt/media/image59.png" ContentType="image/png"/>
  <Override PartName="/ppt/media/image60.png" ContentType="image/png"/>
  <Override PartName="/ppt/media/image61.png" ContentType="image/png"/>
  <Override PartName="/ppt/media/image62.png" ContentType="image/png"/>
  <Override PartName="/ppt/media/image63.png" ContentType="image/png"/>
  <Override PartName="/ppt/media/image64.png" ContentType="image/png"/>
  <Override PartName="/ppt/media/image65.png" ContentType="image/png"/>
  <Override PartName="/ppt/media/image66.png" ContentType="image/png"/>
  <Override PartName="/ppt/media/image96.jpeg" ContentType="image/jpeg"/>
  <Override PartName="/ppt/media/image67.png" ContentType="image/png"/>
  <Override PartName="/ppt/media/image68.png" ContentType="image/png"/>
  <Override PartName="/ppt/media/image11.png" ContentType="image/png"/>
  <Override PartName="/ppt/media/image73.png" ContentType="image/png"/>
  <Override PartName="/ppt/media/image4.png" ContentType="image/png"/>
  <Override PartName="/ppt/media/image70.png" ContentType="image/png"/>
  <Override PartName="/ppt/media/image12.png" ContentType="image/png"/>
  <Override PartName="/ppt/media/image74.png" ContentType="image/png"/>
  <Override PartName="/ppt/media/image5.png" ContentType="image/png"/>
  <Override PartName="/ppt/media/image29.png" ContentType="image/png"/>
  <Override PartName="/ppt/media/image6.png" ContentType="image/png"/>
  <Override PartName="/ppt/media/image75.png" ContentType="image/png"/>
  <Override PartName="/ppt/media/image7.png" ContentType="image/png"/>
  <Override PartName="/ppt/media/image76.png" ContentType="image/png"/>
  <Override PartName="/ppt/media/image8.png" ContentType="image/png"/>
  <Override PartName="/ppt/media/image77.png" ContentType="image/png"/>
  <Override PartName="/ppt/media/image9.png" ContentType="image/png"/>
  <Override PartName="/ppt/media/image78.png" ContentType="image/png"/>
  <Override PartName="/ppt/media/image16.png" ContentType="image/png"/>
  <Override PartName="/ppt/media/image91.png" ContentType="image/png"/>
  <Override PartName="/ppt/media/image81.png" ContentType="image/png"/>
  <Override PartName="/ppt/media/image82.png" ContentType="image/png"/>
  <Override PartName="/ppt/media/image84.png" ContentType="image/png"/>
  <Override PartName="/ppt/media/image87.png" ContentType="image/png"/>
  <Override PartName="/ppt/media/image10.png" ContentType="image/png"/>
  <Override PartName="/ppt/media/image69.png" ContentType="image/png"/>
  <Override PartName="/ppt/media/image72.png" ContentType="image/png"/>
  <Override PartName="/ppt/media/image3.png" ContentType="image/png"/>
  <Override PartName="/ppt/media/image88.png" ContentType="image/png"/>
  <Override PartName="/ppt/media/image85.png" ContentType="image/png"/>
  <Override PartName="/ppt/media/image14.png" ContentType="image/png"/>
  <Override PartName="/ppt/media/image98.png" ContentType="image/png"/>
  <Override PartName="/ppt/media/image71.png" ContentType="image/png"/>
  <Override PartName="/ppt/media/image13.png" ContentType="image/png"/>
  <Override PartName="/ppt/media/image97.png" ContentType="image/png"/>
  <Override PartName="/ppt/media/image15.png" ContentType="image/png"/>
  <Override PartName="/ppt/media/image90.png" ContentType="image/png"/>
  <Override PartName="/ppt/media/image80.png" ContentType="image/png"/>
  <Override PartName="/ppt/media/image40.png" ContentType="image/png"/>
  <Override PartName="/ppt/media/image99.png" ContentType="image/png"/>
  <Override PartName="/ppt/media/image86.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27.xml" ContentType="application/vnd.openxmlformats-officedocument.presentationml.slide+xml"/>
  <Override PartName="/ppt/slides/slide60.xml" ContentType="application/vnd.openxmlformats-officedocument.presentationml.slide+xml"/>
  <Override PartName="/ppt/slides/slide28.xml" ContentType="application/vnd.openxmlformats-officedocument.presentationml.slide+xml"/>
  <Override PartName="/ppt/slides/slide61.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55.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56.xml" ContentType="application/vnd.openxmlformats-officedocument.presentationml.slide+xml"/>
  <Override PartName="/ppt/slides/slide38.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57.xml" ContentType="application/vnd.openxmlformats-officedocument.presentationml.slide+xml"/>
  <Override PartName="/ppt/slides/_rels/slide74.xml.rels" ContentType="application/vnd.openxmlformats-package.relationships+xml"/>
  <Override PartName="/ppt/slides/_rels/slide59.xml.rels" ContentType="application/vnd.openxmlformats-package.relationships+xml"/>
  <Override PartName="/ppt/slides/_rels/slide68.xml.rels" ContentType="application/vnd.openxmlformats-package.relationships+xml"/>
  <Override PartName="/ppt/slides/_rels/slide73.xml.rels" ContentType="application/vnd.openxmlformats-package.relationships+xml"/>
  <Override PartName="/ppt/slides/_rels/slide58.xml.rels" ContentType="application/vnd.openxmlformats-package.relationships+xml"/>
  <Override PartName="/ppt/slides/_rels/slide67.xml.rels" ContentType="application/vnd.openxmlformats-package.relationships+xml"/>
  <Override PartName="/ppt/slides/_rels/slide72.xml.rels" ContentType="application/vnd.openxmlformats-package.relationships+xml"/>
  <Override PartName="/ppt/slides/_rels/slide39.xml.rels" ContentType="application/vnd.openxmlformats-package.relationships+xml"/>
  <Override PartName="/ppt/slides/_rels/slide57.xml.rels" ContentType="application/vnd.openxmlformats-package.relationships+xml"/>
  <Override PartName="/ppt/slides/_rels/slide66.xml.rels" ContentType="application/vnd.openxmlformats-package.relationships+xml"/>
  <Override PartName="/ppt/slides/_rels/slide71.xml.rels" ContentType="application/vnd.openxmlformats-package.relationships+xml"/>
  <Override PartName="/ppt/slides/_rels/slide38.xml.rels" ContentType="application/vnd.openxmlformats-package.relationships+xml"/>
  <Override PartName="/ppt/slides/_rels/slide56.xml.rels" ContentType="application/vnd.openxmlformats-package.relationships+xml"/>
  <Override PartName="/ppt/slides/_rels/slide65.xml.rels" ContentType="application/vnd.openxmlformats-package.relationships+xml"/>
  <Override PartName="/ppt/slides/_rels/slide70.xml.rels" ContentType="application/vnd.openxmlformats-package.relationships+xml"/>
  <Override PartName="/ppt/slides/_rels/slide37.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29.xml.rels" ContentType="application/vnd.openxmlformats-package.relationships+xml"/>
  <Override PartName="/ppt/slides/_rels/slide61.xml.rels" ContentType="application/vnd.openxmlformats-package.relationships+xml"/>
  <Override PartName="/ppt/slides/_rels/slide28.xml.rels" ContentType="application/vnd.openxmlformats-package.relationships+xml"/>
  <Override PartName="/ppt/slides/_rels/slide60.xml.rels" ContentType="application/vnd.openxmlformats-package.relationships+xml"/>
  <Override PartName="/ppt/slides/_rels/slide27.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4.xml.rels" ContentType="application/vnd.openxmlformats-package.relationships+xml"/>
  <Override PartName="/ppt/slides/_rels/slide44.xml.rels" ContentType="application/vnd.openxmlformats-package.relationships+xml"/>
  <Override PartName="/ppt/slides/_rels/slide9.xml.rels" ContentType="application/vnd.openxmlformats-package.relationships+xml"/>
  <Override PartName="/ppt/slides/_rels/slide49.xml.rels" ContentType="application/vnd.openxmlformats-package.relationships+xml"/>
  <Override PartName="/ppt/slides/_rels/slide3.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48.xml.rels" ContentType="application/vnd.openxmlformats-package.relationships+xml"/>
  <Override PartName="/ppt/slides/_rels/slide2.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47.xml.rels" ContentType="application/vnd.openxmlformats-package.relationships+xml"/>
  <Override PartName="/ppt/slides/_rels/slide1.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46.xml.rels" ContentType="application/vnd.openxmlformats-package.relationships+xml"/>
  <Override PartName="/ppt/slides/_rels/slide40.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52.xml.rels" ContentType="application/vnd.openxmlformats-package.relationships+xml"/>
  <Override PartName="/ppt/slides/_rels/slide19.xml.rels" ContentType="application/vnd.openxmlformats-package.relationships+xml"/>
  <Override PartName="/ppt/slides/_rels/slide33.xml.rels" ContentType="application/vnd.openxmlformats-package.relationships+xml"/>
  <Override PartName="/ppt/slides/_rels/slide51.xml.rels" ContentType="application/vnd.openxmlformats-package.relationships+xml"/>
  <Override PartName="/ppt/slides/_rels/slide18.xml.rels" ContentType="application/vnd.openxmlformats-package.relationships+xml"/>
  <Override PartName="/ppt/slides/_rels/slide32.xml.rels" ContentType="application/vnd.openxmlformats-package.relationships+xml"/>
  <Override PartName="/ppt/slides/_rels/slide50.xml.rels" ContentType="application/vnd.openxmlformats-package.relationships+xml"/>
  <Override PartName="/ppt/slides/_rels/slide17.xml.rels" ContentType="application/vnd.openxmlformats-package.relationships+xml"/>
  <Override PartName="/ppt/slides/_rels/slide16.xml.rels" ContentType="application/vnd.openxmlformats-package.relationships+xml"/>
  <Override PartName="/ppt/slides/_rels/slide6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31.xml.rels" ContentType="application/vnd.openxmlformats-package.relationships+xml"/>
  <Override PartName="/ppt/slides/slide39.xml" ContentType="application/vnd.openxmlformats-officedocument.presentationml.slide+xml"/>
  <Override PartName="/ppt/slides/slide72.xml" ContentType="application/vnd.openxmlformats-officedocument.presentationml.slide+xml"/>
  <Override PartName="/ppt/slides/slide67.xml" ContentType="application/vnd.openxmlformats-officedocument.presentationml.slide+xml"/>
  <Override PartName="/ppt/slides/slide58.xml" ContentType="application/vnd.openxmlformats-officedocument.presentationml.slide+xml"/>
  <Override PartName="/ppt/slides/slide73.xml" ContentType="application/vnd.openxmlformats-officedocument.presentationml.slide+xml"/>
  <Override PartName="/ppt/slides/slide68.xml" ContentType="application/vnd.openxmlformats-officedocument.presentationml.slide+xml"/>
  <Override PartName="/ppt/slides/slide59.xml" ContentType="application/vnd.openxmlformats-officedocument.presentationml.slide+xml"/>
  <Override PartName="/ppt/slides/slide74.xml" ContentType="application/vnd.openxmlformats-officedocument.presentationml.slide+xml"/>
  <Override PartName="/ppt/notesSlides/_rels/notesSlide74.xml.rels" ContentType="application/vnd.openxmlformats-package.relationships+xml"/>
  <Override PartName="/ppt/notesSlides/_rels/notesSlide59.xml.rels" ContentType="application/vnd.openxmlformats-package.relationships+xml"/>
  <Override PartName="/ppt/notesSlides/_rels/notesSlide68.xml.rels" ContentType="application/vnd.openxmlformats-package.relationships+xml"/>
  <Override PartName="/ppt/notesSlides/_rels/notesSlide73.xml.rels" ContentType="application/vnd.openxmlformats-package.relationships+xml"/>
  <Override PartName="/ppt/notesSlides/_rels/notesSlide58.xml.rels" ContentType="application/vnd.openxmlformats-package.relationships+xml"/>
  <Override PartName="/ppt/notesSlides/_rels/notesSlide67.xml.rels" ContentType="application/vnd.openxmlformats-package.relationships+xml"/>
  <Override PartName="/ppt/notesSlides/_rels/notesSlide72.xml.rels" ContentType="application/vnd.openxmlformats-package.relationships+xml"/>
  <Override PartName="/ppt/notesSlides/_rels/notesSlide57.xml.rels" ContentType="application/vnd.openxmlformats-package.relationships+xml"/>
  <Override PartName="/ppt/notesSlides/_rels/notesSlide66.xml.rels" ContentType="application/vnd.openxmlformats-package.relationships+xml"/>
  <Override PartName="/ppt/notesSlides/_rels/notesSlide71.xml.rels" ContentType="application/vnd.openxmlformats-package.relationships+xml"/>
  <Override PartName="/ppt/notesSlides/_rels/notesSlide56.xml.rels" ContentType="application/vnd.openxmlformats-package.relationships+xml"/>
  <Override PartName="/ppt/notesSlides/_rels/notesSlide65.xml.rels" ContentType="application/vnd.openxmlformats-package.relationships+xml"/>
  <Override PartName="/ppt/notesSlides/_rels/notesSlide70.xml.rels" ContentType="application/vnd.openxmlformats-package.relationships+xml"/>
  <Override PartName="/ppt/notesSlides/_rels/notesSlide55.xml.rels" ContentType="application/vnd.openxmlformats-package.relationships+xml"/>
  <Override PartName="/ppt/notesSlides/_rels/notesSlide64.xml.rels" ContentType="application/vnd.openxmlformats-package.relationships+xml"/>
  <Override PartName="/ppt/notesSlides/_rels/notesSlide29.xml.rels" ContentType="application/vnd.openxmlformats-package.relationships+xml"/>
  <Override PartName="/ppt/notesSlides/_rels/notesSlide28.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27.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7.xml.rels" ContentType="application/vnd.openxmlformats-package.relationships+xml"/>
  <Override PartName="/ppt/notesSlides/_rels/notesSlide61.xml.rels" ContentType="application/vnd.openxmlformats-package.relationships+xml"/>
  <Override PartName="/ppt/notesSlides/_rels/notesSlide49.xml.rels" ContentType="application/vnd.openxmlformats-package.relationships+xml"/>
  <Override PartName="/ppt/notesSlides/_rels/notesSlide48.xml.rels" ContentType="application/vnd.openxmlformats-package.relationships+xml"/>
  <Override PartName="/ppt/notesSlides/_rels/notesSlide47.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0.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51.xml.rels" ContentType="application/vnd.openxmlformats-package.relationships+xml"/>
  <Override PartName="/ppt/notesSlides/_rels/notesSlide18.xml.rels" ContentType="application/vnd.openxmlformats-package.relationships+xml"/>
  <Override PartName="/ppt/notesSlides/_rels/notesSlide50.xml.rels" ContentType="application/vnd.openxmlformats-package.relationships+xml"/>
  <Override PartName="/ppt/notesSlides/_rels/notesSlide17.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7.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42.xml" ContentType="application/vnd.openxmlformats-officedocument.presentationml.notesSlide+xml"/>
  <Override PartName="/ppt/notesSlides/notesSlide9.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27.xml" ContentType="application/vnd.openxmlformats-officedocument.presentationml.notesSlide+xml"/>
  <Override PartName="/ppt/notesSlides/notesSlide60.xml" ContentType="application/vnd.openxmlformats-officedocument.presentationml.notesSlide+xml"/>
  <Override PartName="/ppt/notesSlides/notesSlide28.xml" ContentType="application/vnd.openxmlformats-officedocument.presentationml.notesSlide+xml"/>
  <Override PartName="/ppt/notesSlides/notesSlide61.xml" ContentType="application/vnd.openxmlformats-officedocument.presentationml.notesSlide+xml"/>
  <Override PartName="/ppt/notesSlides/notesSlide29.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55.xml" ContentType="application/vnd.openxmlformats-officedocument.presentationml.notesSlide+xml"/>
  <Override PartName="/ppt/notesSlides/notesSlide70.xml" ContentType="application/vnd.openxmlformats-officedocument.presentationml.notesSlide+xml"/>
  <Override PartName="/ppt/notesSlides/notesSlide65.xml" ContentType="application/vnd.openxmlformats-officedocument.presentationml.notesSlide+xml"/>
  <Override PartName="/ppt/notesSlides/notesSlide56.xml" ContentType="application/vnd.openxmlformats-officedocument.presentationml.notesSlide+xml"/>
  <Override PartName="/ppt/notesSlides/notesSlide71.xml" ContentType="application/vnd.openxmlformats-officedocument.presentationml.notesSlide+xml"/>
  <Override PartName="/ppt/notesSlides/notesSlide66.xml" ContentType="application/vnd.openxmlformats-officedocument.presentationml.notesSlide+xml"/>
  <Override PartName="/ppt/notesSlides/notesSlide57.xml" ContentType="application/vnd.openxmlformats-officedocument.presentationml.notesSlide+xml"/>
  <Override PartName="/ppt/notesSlides/notesSlide72.xml" ContentType="application/vnd.openxmlformats-officedocument.presentationml.notesSlide+xml"/>
  <Override PartName="/ppt/notesSlides/notesSlide67.xml" ContentType="application/vnd.openxmlformats-officedocument.presentationml.notesSlide+xml"/>
  <Override PartName="/ppt/notesSlides/notesSlide58.xml" ContentType="application/vnd.openxmlformats-officedocument.presentationml.notesSlide+xml"/>
  <Override PartName="/ppt/notesSlides/notesSlide73.xml" ContentType="application/vnd.openxmlformats-officedocument.presentationml.notesSlide+xml"/>
  <Override PartName="/ppt/notesSlides/notesSlide68.xml" ContentType="application/vnd.openxmlformats-officedocument.presentationml.notesSlide+xml"/>
  <Override PartName="/ppt/notesSlides/notesSlide59.xml" ContentType="application/vnd.openxmlformats-officedocument.presentationml.notesSlide+xml"/>
  <Override PartName="/ppt/notesSlides/notesSlide7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2400" strike="noStrike" u="none">
                <a:solidFill>
                  <a:schemeClr val="dk1"/>
                </a:solidFill>
                <a:effectLst/>
                <a:uFillTx/>
                <a:latin typeface="Arial"/>
              </a:rPr>
              <a:t>Click to move the slide</a:t>
            </a:r>
            <a:endParaRPr b="0" lang="en-CA" sz="2400" strike="noStrike" u="none">
              <a:solidFill>
                <a:schemeClr val="dk1"/>
              </a:solidFill>
              <a:effectLst/>
              <a:uFillTx/>
              <a:latin typeface="Arial"/>
            </a:endParaRPr>
          </a:p>
        </p:txBody>
      </p:sp>
      <p:sp>
        <p:nvSpPr>
          <p:cNvPr id="3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2"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4"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F1E7A2F-12EF-4B39-9B42-2FCAF89454DC}"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Num" idx="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41A79C4-960B-4890-A98D-7EC7266105F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1" name="PlaceHolder 2"/>
          <p:cNvSpPr>
            <a:spLocks noGrp="1"/>
          </p:cNvSpPr>
          <p:nvPr>
            <p:ph type="sldImg"/>
          </p:nvPr>
        </p:nvSpPr>
        <p:spPr>
          <a:xfrm>
            <a:off x="1143000" y="685800"/>
            <a:ext cx="4571640" cy="3428640"/>
          </a:xfrm>
          <a:prstGeom prst="rect">
            <a:avLst/>
          </a:prstGeom>
          <a:ln w="0">
            <a:noFill/>
          </a:ln>
        </p:spPr>
      </p:sp>
      <p:sp>
        <p:nvSpPr>
          <p:cNvPr id="4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CA" sz="2000" strike="noStrike" u="none">
                <a:solidFill>
                  <a:srgbClr val="000000"/>
                </a:solidFill>
                <a:effectLst/>
                <a:uFillTx/>
                <a:latin typeface="Arial"/>
                <a:ea typeface="ＭＳ Ｐゴシック"/>
              </a:rPr>
              <a:t>Notes and teaching tips: 4, 8, 14, 15, </a:t>
            </a:r>
            <a:r>
              <a:rPr b="0" lang="en-GB" sz="2000" strike="noStrike" u="none">
                <a:solidFill>
                  <a:srgbClr val="000000"/>
                </a:solidFill>
                <a:effectLst/>
                <a:uFillTx/>
                <a:latin typeface="Arial"/>
                <a:ea typeface="ＭＳ Ｐゴシック"/>
              </a:rPr>
              <a:t>16, 17, 30, 60, 62, 64, and 67. </a:t>
            </a:r>
            <a:endParaRPr b="0" lang="en-US" sz="2000" strike="noStrike" u="none">
              <a:solidFill>
                <a:srgbClr val="000000"/>
              </a:solidFill>
              <a:effectLst/>
              <a:uFillTx/>
              <a:latin typeface="Arial"/>
            </a:endParaRPr>
          </a:p>
          <a:p>
            <a:pPr indent="0">
              <a:lnSpc>
                <a:spcPct val="100000"/>
              </a:lnSpc>
              <a:buNone/>
            </a:pPr>
            <a:r>
              <a:rPr b="0" lang="en-CA" sz="2000" strike="noStrike" u="none">
                <a:solidFill>
                  <a:srgbClr val="000000"/>
                </a:solidFill>
                <a:effectLst/>
                <a:uFillTx/>
                <a:latin typeface="Arial"/>
                <a:ea typeface="ＭＳ Ｐゴシック"/>
              </a:rPr>
              <a:t>To view a full-screen figure during a class, click the red </a:t>
            </a:r>
            <a:r>
              <a:rPr b="0" lang="en-CA" sz="2000" strike="noStrike" u="none">
                <a:solidFill>
                  <a:srgbClr val="000000"/>
                </a:solidFill>
                <a:effectLst/>
                <a:uFillTx/>
                <a:latin typeface="Arial"/>
                <a:ea typeface="ＭＳ Ｐゴシック"/>
              </a:rPr>
              <a:t>“expand” button.</a:t>
            </a:r>
            <a:endParaRPr b="0" lang="en-US" sz="2000" strike="noStrike" u="none">
              <a:solidFill>
                <a:srgbClr val="000000"/>
              </a:solidFill>
              <a:effectLst/>
              <a:uFillTx/>
              <a:latin typeface="Arial"/>
            </a:endParaRPr>
          </a:p>
          <a:p>
            <a:pPr indent="0">
              <a:lnSpc>
                <a:spcPct val="100000"/>
              </a:lnSpc>
              <a:buNone/>
            </a:pPr>
            <a:r>
              <a:rPr b="0" lang="en-CA" sz="2000" strike="noStrike" u="none">
                <a:solidFill>
                  <a:srgbClr val="000000"/>
                </a:solidFill>
                <a:effectLst/>
                <a:uFillTx/>
                <a:latin typeface="Arial"/>
                <a:ea typeface="ＭＳ Ｐゴシック"/>
              </a:rPr>
              <a:t>To return to the previous slide, click the red “shrink” button.</a:t>
            </a:r>
            <a:endParaRPr b="0" lang="en-US" sz="2000" strike="noStrike" u="none">
              <a:solidFill>
                <a:srgbClr val="000000"/>
              </a:solidFill>
              <a:effectLst/>
              <a:uFillTx/>
              <a:latin typeface="Arial"/>
            </a:endParaRPr>
          </a:p>
          <a:p>
            <a:pPr indent="0">
              <a:lnSpc>
                <a:spcPct val="100000"/>
              </a:lnSpc>
              <a:buNone/>
            </a:pPr>
            <a:r>
              <a:rPr b="0" lang="en-CA" sz="2000" strike="noStrike" u="none">
                <a:solidFill>
                  <a:srgbClr val="000000"/>
                </a:solidFill>
                <a:effectLst/>
                <a:uFillTx/>
                <a:latin typeface="Arial"/>
                <a:ea typeface="ＭＳ Ｐゴシック"/>
              </a:rPr>
              <a:t>To advance to the next slide, click anywhere on the full screen figure.</a:t>
            </a:r>
            <a:endParaRPr b="0" lang="en-US" sz="2000" strike="noStrike" u="none">
              <a:solidFill>
                <a:srgbClr val="000000"/>
              </a:solidFill>
              <a:effectLst/>
              <a:uFillTx/>
              <a:latin typeface="Arial"/>
            </a:endParaRPr>
          </a:p>
          <a:p>
            <a:pPr indent="0">
              <a:lnSpc>
                <a:spcPct val="100000"/>
              </a:lnSpc>
              <a:buNone/>
            </a:pPr>
            <a:r>
              <a:rPr b="0" lang="en-CA" sz="2000" strike="noStrike" u="none">
                <a:solidFill>
                  <a:srgbClr val="000000"/>
                </a:solidFill>
                <a:effectLst/>
                <a:uFillTx/>
                <a:latin typeface="Arial"/>
                <a:ea typeface="ＭＳ Ｐゴシック"/>
              </a:rPr>
              <a:t>To enhance your lecture, check out the Lecture Launchers, Land Mines, and Class Activities in the Instructor’s Manual.</a:t>
            </a:r>
            <a:r>
              <a:rPr b="0" lang="en-US"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Num" idx="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FD58E81-B3BC-40A2-926C-C5F24F084AF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4" name="PlaceHolder 2"/>
          <p:cNvSpPr>
            <a:spLocks noGrp="1"/>
          </p:cNvSpPr>
          <p:nvPr>
            <p:ph type="sldImg"/>
          </p:nvPr>
        </p:nvSpPr>
        <p:spPr>
          <a:xfrm>
            <a:off x="1143000" y="685800"/>
            <a:ext cx="4571640" cy="3428640"/>
          </a:xfrm>
          <a:prstGeom prst="rect">
            <a:avLst/>
          </a:prstGeom>
          <a:ln w="0">
            <a:noFill/>
          </a:ln>
        </p:spPr>
      </p:sp>
      <p:sp>
        <p:nvSpPr>
          <p:cNvPr id="485" name="PlaceHolder 3"/>
          <p:cNvSpPr>
            <a:spLocks noGrp="1"/>
          </p:cNvSpPr>
          <p:nvPr>
            <p:ph type="body"/>
          </p:nvPr>
        </p:nvSpPr>
        <p:spPr>
          <a:xfrm>
            <a:off x="914400" y="4343400"/>
            <a:ext cx="5028840" cy="403812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This chapter serves as the basis for the next four chapters. You need to tell students this fact because without it you will definitely lose some of the class. How so? They won’t realize that this chapter is critical until they are unable to grasp the next four chapters. At that point, several possibilities exist, all unpleasant: These students flunk the course, these students drop the course, or these students camp out in your office. Most likely no one would be happy with any of these outcomes, so launch your lecture by motivating your students with the important information that Chapter 14 is truly a key to Chapters 15, 16, 17, and 18!</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Num" idx="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4AC3652-CDB6-4D41-991B-2F29B061F60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7" name="PlaceHolder 2"/>
          <p:cNvSpPr>
            <a:spLocks noGrp="1"/>
          </p:cNvSpPr>
          <p:nvPr>
            <p:ph type="sldImg"/>
          </p:nvPr>
        </p:nvSpPr>
        <p:spPr>
          <a:xfrm>
            <a:off x="1143000" y="685800"/>
            <a:ext cx="4571640" cy="3428640"/>
          </a:xfrm>
          <a:prstGeom prst="rect">
            <a:avLst/>
          </a:prstGeom>
          <a:ln w="0">
            <a:noFill/>
          </a:ln>
        </p:spPr>
      </p:sp>
      <p:sp>
        <p:nvSpPr>
          <p:cNvPr id="4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Num" idx="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89025C8-97B9-44F7-8AF6-2762E5C35EB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0" name="PlaceHolder 2"/>
          <p:cNvSpPr>
            <a:spLocks noGrp="1"/>
          </p:cNvSpPr>
          <p:nvPr>
            <p:ph type="sldImg"/>
          </p:nvPr>
        </p:nvSpPr>
        <p:spPr>
          <a:xfrm>
            <a:off x="1143000" y="685800"/>
            <a:ext cx="4571640" cy="3428640"/>
          </a:xfrm>
          <a:prstGeom prst="rect">
            <a:avLst/>
          </a:prstGeom>
          <a:ln w="0">
            <a:noFill/>
          </a:ln>
        </p:spPr>
      </p:sp>
      <p:sp>
        <p:nvSpPr>
          <p:cNvPr id="4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Num" idx="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B66DE04-A681-469C-92C6-F113CB42CFE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3" name="PlaceHolder 2"/>
          <p:cNvSpPr>
            <a:spLocks noGrp="1"/>
          </p:cNvSpPr>
          <p:nvPr>
            <p:ph type="sldImg"/>
          </p:nvPr>
        </p:nvSpPr>
        <p:spPr>
          <a:xfrm>
            <a:off x="1143000" y="685800"/>
            <a:ext cx="4571640" cy="3428640"/>
          </a:xfrm>
          <a:prstGeom prst="rect">
            <a:avLst/>
          </a:prstGeom>
          <a:ln w="0">
            <a:noFill/>
          </a:ln>
        </p:spPr>
      </p:sp>
      <p:sp>
        <p:nvSpPr>
          <p:cNvPr id="4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Num" idx="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C76A7FF-D587-48AA-97DD-EE3152F6570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6" name="PlaceHolder 2"/>
          <p:cNvSpPr>
            <a:spLocks noGrp="1"/>
          </p:cNvSpPr>
          <p:nvPr>
            <p:ph type="sldImg"/>
          </p:nvPr>
        </p:nvSpPr>
        <p:spPr>
          <a:xfrm>
            <a:off x="1143000" y="685800"/>
            <a:ext cx="4571640" cy="3428640"/>
          </a:xfrm>
          <a:prstGeom prst="rect">
            <a:avLst/>
          </a:prstGeom>
          <a:ln w="0">
            <a:noFill/>
          </a:ln>
        </p:spPr>
      </p:sp>
      <p:sp>
        <p:nvSpPr>
          <p:cNvPr id="4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Watch out for persistent confusion between economic profit and accounting profit. You can avoid some of this by thoroughly drilling them in opportunity cost, so that they understand that non-money cost is still cost.</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Num" idx="1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65E5BD9-8F93-4E41-B960-1F872CFF553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9" name="PlaceHolder 2"/>
          <p:cNvSpPr>
            <a:spLocks noGrp="1"/>
          </p:cNvSpPr>
          <p:nvPr>
            <p:ph type="sldImg"/>
          </p:nvPr>
        </p:nvSpPr>
        <p:spPr>
          <a:xfrm>
            <a:off x="1143000" y="685800"/>
            <a:ext cx="4571640" cy="3428640"/>
          </a:xfrm>
          <a:prstGeom prst="rect">
            <a:avLst/>
          </a:prstGeom>
          <a:ln w="0">
            <a:noFill/>
          </a:ln>
        </p:spPr>
      </p:sp>
      <p:sp>
        <p:nvSpPr>
          <p:cNvPr id="50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Num" idx="1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A57D3F7-C407-4AC6-90D7-5866D9FAEC55}"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2" name="PlaceHolder 2"/>
          <p:cNvSpPr>
            <a:spLocks noGrp="1"/>
          </p:cNvSpPr>
          <p:nvPr>
            <p:ph type="sldImg"/>
          </p:nvPr>
        </p:nvSpPr>
        <p:spPr>
          <a:xfrm>
            <a:off x="1143000" y="685800"/>
            <a:ext cx="4571640" cy="3428640"/>
          </a:xfrm>
          <a:prstGeom prst="rect">
            <a:avLst/>
          </a:prstGeom>
          <a:ln w="0">
            <a:noFill/>
          </a:ln>
        </p:spPr>
      </p:sp>
      <p:sp>
        <p:nvSpPr>
          <p:cNvPr id="5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Num" idx="1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058DC7A-6E1D-40F5-8D81-54E28CEBC59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5" name="PlaceHolder 2"/>
          <p:cNvSpPr>
            <a:spLocks noGrp="1"/>
          </p:cNvSpPr>
          <p:nvPr>
            <p:ph type="sldImg"/>
          </p:nvPr>
        </p:nvSpPr>
        <p:spPr>
          <a:xfrm>
            <a:off x="1143000" y="685800"/>
            <a:ext cx="4571640" cy="3428640"/>
          </a:xfrm>
          <a:prstGeom prst="rect">
            <a:avLst/>
          </a:prstGeom>
          <a:ln w="0">
            <a:noFill/>
          </a:ln>
        </p:spPr>
      </p:sp>
      <p:sp>
        <p:nvSpPr>
          <p:cNvPr id="5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Num" idx="1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793D6B5-020D-48AA-A231-1F69DE1A770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8" name="PlaceHolder 2"/>
          <p:cNvSpPr>
            <a:spLocks noGrp="1"/>
          </p:cNvSpPr>
          <p:nvPr>
            <p:ph type="sldImg"/>
          </p:nvPr>
        </p:nvSpPr>
        <p:spPr>
          <a:xfrm>
            <a:off x="1143000" y="685800"/>
            <a:ext cx="4571640" cy="3428640"/>
          </a:xfrm>
          <a:prstGeom prst="rect">
            <a:avLst/>
          </a:prstGeom>
          <a:ln w="0">
            <a:noFill/>
          </a:ln>
        </p:spPr>
      </p:sp>
      <p:sp>
        <p:nvSpPr>
          <p:cNvPr id="5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Num" idx="1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CD47B8D-0AD6-45C9-942B-273A0B1C5EF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11" name="PlaceHolder 2"/>
          <p:cNvSpPr>
            <a:spLocks noGrp="1"/>
          </p:cNvSpPr>
          <p:nvPr>
            <p:ph type="sldImg"/>
          </p:nvPr>
        </p:nvSpPr>
        <p:spPr>
          <a:xfrm>
            <a:off x="1143000" y="685800"/>
            <a:ext cx="4571640" cy="3428640"/>
          </a:xfrm>
          <a:prstGeom prst="rect">
            <a:avLst/>
          </a:prstGeom>
          <a:ln w="0">
            <a:noFill/>
          </a:ln>
        </p:spPr>
      </p:sp>
      <p:sp>
        <p:nvSpPr>
          <p:cNvPr id="5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Num" idx="1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2723FF9-5F9F-4045-B9C9-812B25BCFAF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14" name="PlaceHolder 2"/>
          <p:cNvSpPr>
            <a:spLocks noGrp="1"/>
          </p:cNvSpPr>
          <p:nvPr>
            <p:ph type="sldImg"/>
          </p:nvPr>
        </p:nvSpPr>
        <p:spPr>
          <a:xfrm>
            <a:off x="1143000" y="685800"/>
            <a:ext cx="4571640" cy="3428640"/>
          </a:xfrm>
          <a:prstGeom prst="rect">
            <a:avLst/>
          </a:prstGeom>
          <a:ln w="0">
            <a:noFill/>
          </a:ln>
        </p:spPr>
      </p:sp>
      <p:sp>
        <p:nvSpPr>
          <p:cNvPr id="5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Help the students to understand that the difference between the long run and short run is not related to calendar time. Compare the street vendor, who is a firm owner operating out of a food truck, to the giant automaker firm, Ford. Ask them how long it would take for the food vendor to double the size of his or her plant (truck, oven, etc.) versus Ford to double its plant size (factory buildings covering multiple blocks, sophisticated computerized assembly lines and robotics, etc.). They will realize that the length of time covered by the long run differs among firms.</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Num" idx="1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0F4E4CB-0DB5-4349-903E-334CE090950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17" name="PlaceHolder 2"/>
          <p:cNvSpPr>
            <a:spLocks noGrp="1"/>
          </p:cNvSpPr>
          <p:nvPr>
            <p:ph type="sldImg"/>
          </p:nvPr>
        </p:nvSpPr>
        <p:spPr>
          <a:xfrm>
            <a:off x="1143000" y="685800"/>
            <a:ext cx="4571640" cy="3428640"/>
          </a:xfrm>
          <a:prstGeom prst="rect">
            <a:avLst/>
          </a:prstGeom>
          <a:ln w="0">
            <a:noFill/>
          </a:ln>
        </p:spPr>
      </p:sp>
      <p:sp>
        <p:nvSpPr>
          <p:cNvPr id="5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Arial"/>
                <a:ea typeface="ＭＳ Ｐゴシック"/>
              </a:rPr>
              <a:t>This chapter has a plethora of definitions. Students must learn the definitions, but they are </a:t>
            </a:r>
            <a:r>
              <a:rPr b="0" i="1" lang="en-AU" sz="2000" strike="noStrike" u="none">
                <a:solidFill>
                  <a:srgbClr val="000000"/>
                </a:solidFill>
                <a:effectLst/>
                <a:uFillTx/>
                <a:latin typeface="Arial"/>
                <a:ea typeface="ＭＳ Ｐゴシック"/>
              </a:rPr>
              <a:t>secondary </a:t>
            </a:r>
            <a:r>
              <a:rPr b="0" lang="en-AU" sz="2000" strike="noStrike" u="none">
                <a:solidFill>
                  <a:srgbClr val="000000"/>
                </a:solidFill>
                <a:effectLst/>
                <a:uFillTx/>
                <a:latin typeface="Arial"/>
                <a:ea typeface="ＭＳ Ｐゴシック"/>
              </a:rPr>
              <a:t>to the concepts they define and the insights they bring. Focus on </a:t>
            </a:r>
            <a:r>
              <a:rPr b="0" i="1" lang="en-AU" sz="2000" strike="noStrike" u="none">
                <a:solidFill>
                  <a:srgbClr val="000000"/>
                </a:solidFill>
                <a:effectLst/>
                <a:uFillTx/>
                <a:latin typeface="Arial"/>
                <a:ea typeface="ＭＳ Ｐゴシック"/>
              </a:rPr>
              <a:t>why </a:t>
            </a:r>
            <a:r>
              <a:rPr b="0" lang="en-AU" sz="2000" strike="noStrike" u="none">
                <a:solidFill>
                  <a:srgbClr val="000000"/>
                </a:solidFill>
                <a:effectLst/>
                <a:uFillTx/>
                <a:latin typeface="Arial"/>
                <a:ea typeface="ＭＳ Ｐゴシック"/>
              </a:rPr>
              <a:t>productivity measures and cost measures are useful for decision making. Managers must frequently make quick decisions with little information. If managers have knowledge of a useful relationship between input measures and production cost measures they can use their understanding of this link to make </a:t>
            </a:r>
            <a:r>
              <a:rPr b="0" i="1" lang="en-AU" sz="2000" strike="noStrike" u="none">
                <a:solidFill>
                  <a:srgbClr val="000000"/>
                </a:solidFill>
                <a:effectLst/>
                <a:uFillTx/>
                <a:latin typeface="Arial"/>
                <a:ea typeface="ＭＳ Ｐゴシック"/>
              </a:rPr>
              <a:t>inferences </a:t>
            </a:r>
            <a:r>
              <a:rPr b="0" lang="en-AU" sz="2000" strike="noStrike" u="none">
                <a:solidFill>
                  <a:srgbClr val="000000"/>
                </a:solidFill>
                <a:effectLst/>
                <a:uFillTx/>
                <a:latin typeface="Arial"/>
                <a:ea typeface="ＭＳ Ｐゴシック"/>
              </a:rPr>
              <a:t>about how production costs might behave when the firm’s output must change to accommodate market changes.</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Num" idx="1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198B7A1-2FD7-4E84-8AF1-909C22EBA83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20" name="PlaceHolder 2"/>
          <p:cNvSpPr>
            <a:spLocks noGrp="1"/>
          </p:cNvSpPr>
          <p:nvPr>
            <p:ph type="sldImg"/>
          </p:nvPr>
        </p:nvSpPr>
        <p:spPr>
          <a:xfrm>
            <a:off x="1143000" y="685800"/>
            <a:ext cx="4571640" cy="3428640"/>
          </a:xfrm>
          <a:prstGeom prst="rect">
            <a:avLst/>
          </a:prstGeom>
          <a:ln w="0">
            <a:noFill/>
          </a:ln>
        </p:spPr>
      </p:sp>
      <p:sp>
        <p:nvSpPr>
          <p:cNvPr id="5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GB" sz="1200" strike="noStrike" u="none">
                <a:solidFill>
                  <a:srgbClr val="000000"/>
                </a:solidFill>
                <a:effectLst/>
                <a:uFillTx/>
                <a:latin typeface="Arial"/>
                <a:ea typeface="ＭＳ Ｐゴシック"/>
              </a:rPr>
              <a:t>This chapter is one more place where an in-class experiment has a huge payoff and is definitely recommended. The experiment teaches students about the product curves, and a related assignment that we describe later teaches them about the short-run cost curves. Allow 30 to 40 minutes for this production experiment. This experiment motivates the students to go beyond memorizing the cost and productivity definitions by getting them directly involved with generating their own data and productivity and cost measures. This is a fun exercise that will illustrate the concept of diminishing returns to labor, as well as how short run productivity measures and cost measures are related. Students genuinely enjoy and learn from this exercise, even though it might seem childish. You have two inputs: Capital: A table (of which the class must have an unobstructed view), some tear-off scratch pads with about 500 sheets of paper, a fully loaded stapler, and a back-up stapler (also fully loaded). Labor: Provided by your students. The capital and labor are used to produce “widgets.” A widget is a piece of paper, torn from a pad, folded twice very carefully so that the corners of the paper align, and stapled. The first fold bisects the paper along its long side and the second fold is at right angles to the first. Once folded, a staple is used to hold the folds in place. A widget is fragile and breaks if it falls off the table. Start the experiment by hiring a manager from your class and appointing an auditor. Get the manager to hire a quality controller, an accountant, and some workers. Tell the manager that he or she must produce widgets as efficiently as possible and that he or she can discuss the process with his workers and with the class.</a:t>
            </a:r>
            <a:endParaRPr b="0" lang="en-US" sz="1200" strike="noStrike" u="none">
              <a:solidFill>
                <a:srgbClr val="000000"/>
              </a:solidFill>
              <a:effectLst/>
              <a:uFillTx/>
              <a:latin typeface="Arial"/>
            </a:endParaRPr>
          </a:p>
          <a:p>
            <a:pPr indent="0">
              <a:lnSpc>
                <a:spcPct val="80000"/>
              </a:lnSpc>
              <a:buNone/>
            </a:pPr>
            <a:r>
              <a:rPr b="0" lang="en-GB" sz="1200" strike="noStrike" u="none">
                <a:solidFill>
                  <a:srgbClr val="000000"/>
                </a:solidFill>
                <a:effectLst/>
                <a:uFillTx/>
                <a:latin typeface="Arial"/>
                <a:ea typeface="ＭＳ Ｐゴシック"/>
              </a:rPr>
              <a:t>[Continued on next slide]</a:t>
            </a:r>
            <a:endParaRPr b="0" lang="en-US"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Num" idx="1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85343DC-AD32-4244-95C3-088AF9DA9CD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23" name="PlaceHolder 2"/>
          <p:cNvSpPr>
            <a:spLocks noGrp="1"/>
          </p:cNvSpPr>
          <p:nvPr>
            <p:ph type="sldImg"/>
          </p:nvPr>
        </p:nvSpPr>
        <p:spPr>
          <a:xfrm>
            <a:off x="1143000" y="685800"/>
            <a:ext cx="4571640" cy="3428640"/>
          </a:xfrm>
          <a:prstGeom prst="rect">
            <a:avLst/>
          </a:prstGeom>
          <a:ln w="0">
            <a:noFill/>
          </a:ln>
        </p:spPr>
      </p:sp>
      <p:sp>
        <p:nvSpPr>
          <p:cNvPr id="52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AU" sz="1200" strike="noStrike" u="none">
                <a:solidFill>
                  <a:srgbClr val="000000"/>
                </a:solidFill>
                <a:effectLst/>
                <a:uFillTx/>
                <a:latin typeface="Arial"/>
                <a:ea typeface="ＭＳ Ｐゴシック"/>
              </a:rPr>
              <a:t>Start the experiment by defining that a day lasts for 1 minute. Get the class to keep time. On day 1, have 1 worker produce widgets. On day 2, have 2 workers, and so on. You’ll probably run for 10 to 12 days before you get to almost zero marginal product. Record the inputs and outputs in a table on the board. Have some fun with quality control, shirking, and cheating. The auditor must ensure that old widgets and partly made widgets don’t get used in a subsequent day. Each day must start clean. Now comes the assignment (Stage 1): Get the students to calculate marginal product and average product from the total product numbers that you’re recorded on the board. Get them to make graphs of the total product, marginal product, and average product curves. Get them to describe the curves and to explain their similarities with and differences to the curves for smoothies in the textbook. The first assignment covers only production. If you want, you can extend the experiment with another assignment (Stage 2): Use the data from your widget production experiment. Tell the students the cost of the capi240 tal and the wage rate of a worker. (Make up the numbers. Any will do.) Tell the students to calculate total cost, marginal cost, and average cost. Get them to make graphs of the total cost, marginal cost, and average cost curves. Get them to describe the curves and to explain their similarities with and differences to the curves for smoothies in the textbook. This assignment and the previous one make an outstanding assignment for credit or extra credit.</a:t>
            </a:r>
            <a:r>
              <a:rPr b="0" lang="en-GB" sz="1200" strike="noStrike" u="none">
                <a:solidFill>
                  <a:srgbClr val="000000"/>
                </a:solidFill>
                <a:effectLst/>
                <a:uFillTx/>
                <a:latin typeface="Arial"/>
                <a:ea typeface="ＭＳ Ｐゴシック"/>
              </a:rPr>
              <a:t> </a:t>
            </a:r>
            <a:endParaRPr b="0" lang="en-US"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Num" idx="1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17F7943-C63F-4C4F-BDDB-19DCF171DB4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26" name="PlaceHolder 2"/>
          <p:cNvSpPr>
            <a:spLocks noGrp="1"/>
          </p:cNvSpPr>
          <p:nvPr>
            <p:ph type="sldImg"/>
          </p:nvPr>
        </p:nvSpPr>
        <p:spPr>
          <a:xfrm>
            <a:off x="1143000" y="685800"/>
            <a:ext cx="4571640" cy="3428640"/>
          </a:xfrm>
          <a:prstGeom prst="rect">
            <a:avLst/>
          </a:prstGeom>
          <a:ln w="0">
            <a:noFill/>
          </a:ln>
        </p:spPr>
      </p:sp>
      <p:sp>
        <p:nvSpPr>
          <p:cNvPr id="52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Num" idx="2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0C7AEAF-F755-437C-8A98-A708AB6495D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29" name="PlaceHolder 2"/>
          <p:cNvSpPr>
            <a:spLocks noGrp="1"/>
          </p:cNvSpPr>
          <p:nvPr>
            <p:ph type="sldImg"/>
          </p:nvPr>
        </p:nvSpPr>
        <p:spPr>
          <a:xfrm>
            <a:off x="1143000" y="685800"/>
            <a:ext cx="4571640" cy="3428640"/>
          </a:xfrm>
          <a:prstGeom prst="rect">
            <a:avLst/>
          </a:prstGeom>
          <a:ln w="0">
            <a:noFill/>
          </a:ln>
        </p:spPr>
      </p:sp>
      <p:sp>
        <p:nvSpPr>
          <p:cNvPr id="53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Num" idx="2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B78B3A0-362E-402B-824D-3041130E73C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32" name="PlaceHolder 2"/>
          <p:cNvSpPr>
            <a:spLocks noGrp="1"/>
          </p:cNvSpPr>
          <p:nvPr>
            <p:ph type="sldImg"/>
          </p:nvPr>
        </p:nvSpPr>
        <p:spPr>
          <a:xfrm>
            <a:off x="1143000" y="685800"/>
            <a:ext cx="4571640" cy="3428640"/>
          </a:xfrm>
          <a:prstGeom prst="rect">
            <a:avLst/>
          </a:prstGeom>
          <a:ln w="0">
            <a:noFill/>
          </a:ln>
        </p:spPr>
      </p:sp>
      <p:sp>
        <p:nvSpPr>
          <p:cNvPr id="53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Num" idx="2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37D4BE0-F711-4CEA-98FF-F14ED105BF6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35" name="PlaceHolder 2"/>
          <p:cNvSpPr>
            <a:spLocks noGrp="1"/>
          </p:cNvSpPr>
          <p:nvPr>
            <p:ph type="sldImg"/>
          </p:nvPr>
        </p:nvSpPr>
        <p:spPr>
          <a:xfrm>
            <a:off x="1143000" y="685800"/>
            <a:ext cx="4571640" cy="3428640"/>
          </a:xfrm>
          <a:prstGeom prst="rect">
            <a:avLst/>
          </a:prstGeom>
          <a:ln w="0">
            <a:noFill/>
          </a:ln>
        </p:spPr>
      </p:sp>
      <p:sp>
        <p:nvSpPr>
          <p:cNvPr id="53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Num" idx="2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B5A327C-CC17-4AB3-9EE7-1D4DB97CA8C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38" name="PlaceHolder 2"/>
          <p:cNvSpPr>
            <a:spLocks noGrp="1"/>
          </p:cNvSpPr>
          <p:nvPr>
            <p:ph type="sldImg"/>
          </p:nvPr>
        </p:nvSpPr>
        <p:spPr>
          <a:xfrm>
            <a:off x="1143000" y="685800"/>
            <a:ext cx="4571640" cy="3428640"/>
          </a:xfrm>
          <a:prstGeom prst="rect">
            <a:avLst/>
          </a:prstGeom>
          <a:ln w="0">
            <a:noFill/>
          </a:ln>
        </p:spPr>
      </p:sp>
      <p:sp>
        <p:nvSpPr>
          <p:cNvPr id="53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Num" idx="2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77E129E-3F2D-413B-AB9C-814DCD98DAF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41" name="PlaceHolder 2"/>
          <p:cNvSpPr>
            <a:spLocks noGrp="1"/>
          </p:cNvSpPr>
          <p:nvPr>
            <p:ph type="sldImg"/>
          </p:nvPr>
        </p:nvSpPr>
        <p:spPr>
          <a:xfrm>
            <a:off x="1143000" y="685800"/>
            <a:ext cx="4571640" cy="3428640"/>
          </a:xfrm>
          <a:prstGeom prst="rect">
            <a:avLst/>
          </a:prstGeom>
          <a:ln w="0">
            <a:noFill/>
          </a:ln>
        </p:spPr>
      </p:sp>
      <p:sp>
        <p:nvSpPr>
          <p:cNvPr id="54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Num" idx="2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C882BFA-9D55-42F2-95A2-C63493AA14E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44" name="PlaceHolder 2"/>
          <p:cNvSpPr>
            <a:spLocks noGrp="1"/>
          </p:cNvSpPr>
          <p:nvPr>
            <p:ph type="sldImg"/>
          </p:nvPr>
        </p:nvSpPr>
        <p:spPr>
          <a:xfrm>
            <a:off x="1143000" y="685800"/>
            <a:ext cx="4571640" cy="3428640"/>
          </a:xfrm>
          <a:prstGeom prst="rect">
            <a:avLst/>
          </a:prstGeom>
          <a:ln w="0">
            <a:noFill/>
          </a:ln>
        </p:spPr>
      </p:sp>
      <p:sp>
        <p:nvSpPr>
          <p:cNvPr id="54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Num" idx="2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804D123-D0BA-424A-822B-B00D270E5E6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47" name="PlaceHolder 2"/>
          <p:cNvSpPr>
            <a:spLocks noGrp="1"/>
          </p:cNvSpPr>
          <p:nvPr>
            <p:ph type="sldImg"/>
          </p:nvPr>
        </p:nvSpPr>
        <p:spPr>
          <a:xfrm>
            <a:off x="1143000" y="685800"/>
            <a:ext cx="4571640" cy="3428640"/>
          </a:xfrm>
          <a:prstGeom prst="rect">
            <a:avLst/>
          </a:prstGeom>
          <a:ln w="0">
            <a:noFill/>
          </a:ln>
        </p:spPr>
      </p:sp>
      <p:sp>
        <p:nvSpPr>
          <p:cNvPr id="54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Num" idx="2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0F285EC-FAFB-4D55-95F7-E81F78974B5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50" name="PlaceHolder 2"/>
          <p:cNvSpPr>
            <a:spLocks noGrp="1"/>
          </p:cNvSpPr>
          <p:nvPr>
            <p:ph type="sldImg"/>
          </p:nvPr>
        </p:nvSpPr>
        <p:spPr>
          <a:xfrm>
            <a:off x="1143000" y="685800"/>
            <a:ext cx="4571640" cy="3428640"/>
          </a:xfrm>
          <a:prstGeom prst="rect">
            <a:avLst/>
          </a:prstGeom>
          <a:ln w="0">
            <a:noFill/>
          </a:ln>
        </p:spPr>
      </p:sp>
      <p:sp>
        <p:nvSpPr>
          <p:cNvPr id="55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Num" idx="2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19C2503-ABD6-4BE5-BE32-4B613416A97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53" name="PlaceHolder 2"/>
          <p:cNvSpPr>
            <a:spLocks noGrp="1"/>
          </p:cNvSpPr>
          <p:nvPr>
            <p:ph type="sldImg"/>
          </p:nvPr>
        </p:nvSpPr>
        <p:spPr>
          <a:xfrm>
            <a:off x="1143000" y="685800"/>
            <a:ext cx="4571640" cy="3428640"/>
          </a:xfrm>
          <a:prstGeom prst="rect">
            <a:avLst/>
          </a:prstGeom>
          <a:ln w="0">
            <a:noFill/>
          </a:ln>
        </p:spPr>
      </p:sp>
      <p:sp>
        <p:nvSpPr>
          <p:cNvPr id="55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Num" idx="2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E5B27E5-1DCE-446F-A52B-313E15B11DF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56" name="PlaceHolder 2"/>
          <p:cNvSpPr>
            <a:spLocks noGrp="1"/>
          </p:cNvSpPr>
          <p:nvPr>
            <p:ph type="sldImg"/>
          </p:nvPr>
        </p:nvSpPr>
        <p:spPr>
          <a:xfrm>
            <a:off x="1143000" y="685800"/>
            <a:ext cx="4571640" cy="3428640"/>
          </a:xfrm>
          <a:prstGeom prst="rect">
            <a:avLst/>
          </a:prstGeom>
          <a:ln w="0">
            <a:noFill/>
          </a:ln>
        </p:spPr>
      </p:sp>
      <p:sp>
        <p:nvSpPr>
          <p:cNvPr id="55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Num" idx="3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D617B84-2098-43B2-A98F-B2A5373134D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59" name="PlaceHolder 2"/>
          <p:cNvSpPr>
            <a:spLocks noGrp="1"/>
          </p:cNvSpPr>
          <p:nvPr>
            <p:ph type="sldImg"/>
          </p:nvPr>
        </p:nvSpPr>
        <p:spPr>
          <a:xfrm>
            <a:off x="1143000" y="685800"/>
            <a:ext cx="4571640" cy="3428640"/>
          </a:xfrm>
          <a:prstGeom prst="rect">
            <a:avLst/>
          </a:prstGeom>
          <a:ln w="0">
            <a:noFill/>
          </a:ln>
        </p:spPr>
      </p:sp>
      <p:sp>
        <p:nvSpPr>
          <p:cNvPr id="56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Num" idx="3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A5443A2-3D5A-4D2B-87B8-0E2D240DD1C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62" name="PlaceHolder 2"/>
          <p:cNvSpPr>
            <a:spLocks noGrp="1"/>
          </p:cNvSpPr>
          <p:nvPr>
            <p:ph type="sldImg"/>
          </p:nvPr>
        </p:nvSpPr>
        <p:spPr>
          <a:xfrm>
            <a:off x="1143000" y="685800"/>
            <a:ext cx="4571640" cy="3428640"/>
          </a:xfrm>
          <a:prstGeom prst="rect">
            <a:avLst/>
          </a:prstGeom>
          <a:ln w="0">
            <a:noFill/>
          </a:ln>
        </p:spPr>
      </p:sp>
      <p:sp>
        <p:nvSpPr>
          <p:cNvPr id="56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1600" strike="noStrike" u="none">
                <a:solidFill>
                  <a:srgbClr val="000000"/>
                </a:solidFill>
                <a:effectLst/>
                <a:uFillTx/>
                <a:latin typeface="Arial"/>
                <a:ea typeface="ＭＳ Ｐゴシック"/>
              </a:rPr>
              <a:t>The grade point average versus marginal grade example (see slide 69) in the text is outstanding to use in class to describe how the marginal product and marginal cost curves relate to the average product and average cost curves. Once students can tell a story using the same intuition, they find drawing those curves much easier. While you have the curves drawn on the board or overhead, physically pull the average cost curves down (while marginal cost is below) or pull them up (when the marginal cost curve rises above). Use theatrics: raise your hands over your head and “pull down the curves.” If you have a more sports-oriented class, you can try using a batting average percentage and at-bat outcome example (if you had a .300 batting average and you struck out at your next at-bat [the marginal factor], your batting average is pulled down).</a:t>
            </a:r>
            <a:r>
              <a:rPr b="0" lang="en-GB" sz="1600" strike="noStrike" u="none">
                <a:solidFill>
                  <a:srgbClr val="000000"/>
                </a:solidFill>
                <a:effectLst/>
                <a:uFillTx/>
                <a:latin typeface="Arial"/>
                <a:ea typeface="ＭＳ Ｐゴシック"/>
              </a:rPr>
              <a:t> </a:t>
            </a:r>
            <a:endParaRPr b="0" lang="en-US" sz="16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Num" idx="3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8DC6F77-E887-44DE-9873-435F38ACD8C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65" name="PlaceHolder 2"/>
          <p:cNvSpPr>
            <a:spLocks noGrp="1"/>
          </p:cNvSpPr>
          <p:nvPr>
            <p:ph type="sldImg"/>
          </p:nvPr>
        </p:nvSpPr>
        <p:spPr>
          <a:xfrm>
            <a:off x="1143000" y="685800"/>
            <a:ext cx="4571640" cy="3428640"/>
          </a:xfrm>
          <a:prstGeom prst="rect">
            <a:avLst/>
          </a:prstGeom>
          <a:ln w="0">
            <a:noFill/>
          </a:ln>
        </p:spPr>
      </p:sp>
      <p:sp>
        <p:nvSpPr>
          <p:cNvPr id="56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Num" idx="3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AF48BD7-2EBA-47CE-BC45-0622E029FA8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68" name="PlaceHolder 2"/>
          <p:cNvSpPr>
            <a:spLocks noGrp="1"/>
          </p:cNvSpPr>
          <p:nvPr>
            <p:ph type="sldImg"/>
          </p:nvPr>
        </p:nvSpPr>
        <p:spPr>
          <a:xfrm>
            <a:off x="1143000" y="685800"/>
            <a:ext cx="4571640" cy="3428640"/>
          </a:xfrm>
          <a:prstGeom prst="rect">
            <a:avLst/>
          </a:prstGeom>
          <a:ln w="0">
            <a:noFill/>
          </a:ln>
        </p:spPr>
      </p:sp>
      <p:sp>
        <p:nvSpPr>
          <p:cNvPr id="56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Num" idx="3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CB56681-ABF1-4EF9-961E-D17E4190509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71" name="PlaceHolder 2"/>
          <p:cNvSpPr>
            <a:spLocks noGrp="1"/>
          </p:cNvSpPr>
          <p:nvPr>
            <p:ph type="sldImg"/>
          </p:nvPr>
        </p:nvSpPr>
        <p:spPr>
          <a:xfrm>
            <a:off x="1143000" y="685800"/>
            <a:ext cx="4571640" cy="3428640"/>
          </a:xfrm>
          <a:prstGeom prst="rect">
            <a:avLst/>
          </a:prstGeom>
          <a:ln w="0">
            <a:noFill/>
          </a:ln>
        </p:spPr>
      </p:sp>
      <p:sp>
        <p:nvSpPr>
          <p:cNvPr id="57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Num" idx="3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401E67D-C7B1-4AB2-AB53-84399C0BB70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74" name="PlaceHolder 2"/>
          <p:cNvSpPr>
            <a:spLocks noGrp="1"/>
          </p:cNvSpPr>
          <p:nvPr>
            <p:ph type="sldImg"/>
          </p:nvPr>
        </p:nvSpPr>
        <p:spPr>
          <a:xfrm>
            <a:off x="1143000" y="685800"/>
            <a:ext cx="4571640" cy="3428640"/>
          </a:xfrm>
          <a:prstGeom prst="rect">
            <a:avLst/>
          </a:prstGeom>
          <a:ln w="0">
            <a:noFill/>
          </a:ln>
        </p:spPr>
      </p:sp>
      <p:sp>
        <p:nvSpPr>
          <p:cNvPr id="57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Num" idx="3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CE455A5-75C1-41ED-9D97-68D9A0E9846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77" name="PlaceHolder 2"/>
          <p:cNvSpPr>
            <a:spLocks noGrp="1"/>
          </p:cNvSpPr>
          <p:nvPr>
            <p:ph type="sldImg"/>
          </p:nvPr>
        </p:nvSpPr>
        <p:spPr>
          <a:xfrm>
            <a:off x="1143000" y="685800"/>
            <a:ext cx="4571640" cy="3428640"/>
          </a:xfrm>
          <a:prstGeom prst="rect">
            <a:avLst/>
          </a:prstGeom>
          <a:ln w="0">
            <a:noFill/>
          </a:ln>
        </p:spPr>
      </p:sp>
      <p:sp>
        <p:nvSpPr>
          <p:cNvPr id="57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Num" idx="3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7081EB4-17A5-4C27-9F12-FB6AE756C87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80" name="PlaceHolder 2"/>
          <p:cNvSpPr>
            <a:spLocks noGrp="1"/>
          </p:cNvSpPr>
          <p:nvPr>
            <p:ph type="sldImg"/>
          </p:nvPr>
        </p:nvSpPr>
        <p:spPr>
          <a:xfrm>
            <a:off x="1143000" y="685800"/>
            <a:ext cx="4571640" cy="3428640"/>
          </a:xfrm>
          <a:prstGeom prst="rect">
            <a:avLst/>
          </a:prstGeom>
          <a:ln w="0">
            <a:noFill/>
          </a:ln>
        </p:spPr>
      </p:sp>
      <p:sp>
        <p:nvSpPr>
          <p:cNvPr id="58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Num" idx="3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5F1918A-6A58-4877-94FB-18421DDD84D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83" name="PlaceHolder 2"/>
          <p:cNvSpPr>
            <a:spLocks noGrp="1"/>
          </p:cNvSpPr>
          <p:nvPr>
            <p:ph type="sldImg"/>
          </p:nvPr>
        </p:nvSpPr>
        <p:spPr>
          <a:xfrm>
            <a:off x="1143000" y="685800"/>
            <a:ext cx="4571640" cy="3428640"/>
          </a:xfrm>
          <a:prstGeom prst="rect">
            <a:avLst/>
          </a:prstGeom>
          <a:ln w="0">
            <a:noFill/>
          </a:ln>
        </p:spPr>
      </p:sp>
      <p:sp>
        <p:nvSpPr>
          <p:cNvPr id="58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Num" idx="3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7B7D150-A1D1-4B7F-B5BF-50364B19F41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86" name="PlaceHolder 2"/>
          <p:cNvSpPr>
            <a:spLocks noGrp="1"/>
          </p:cNvSpPr>
          <p:nvPr>
            <p:ph type="sldImg"/>
          </p:nvPr>
        </p:nvSpPr>
        <p:spPr>
          <a:xfrm>
            <a:off x="1143000" y="685800"/>
            <a:ext cx="4571640" cy="3428640"/>
          </a:xfrm>
          <a:prstGeom prst="rect">
            <a:avLst/>
          </a:prstGeom>
          <a:ln w="0">
            <a:noFill/>
          </a:ln>
        </p:spPr>
      </p:sp>
      <p:sp>
        <p:nvSpPr>
          <p:cNvPr id="58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Num" idx="4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DC47A5D-7914-4A8D-B031-B11B715D628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89" name="PlaceHolder 2"/>
          <p:cNvSpPr>
            <a:spLocks noGrp="1"/>
          </p:cNvSpPr>
          <p:nvPr>
            <p:ph type="sldImg"/>
          </p:nvPr>
        </p:nvSpPr>
        <p:spPr>
          <a:xfrm>
            <a:off x="1143000" y="685800"/>
            <a:ext cx="4571640" cy="3428640"/>
          </a:xfrm>
          <a:prstGeom prst="rect">
            <a:avLst/>
          </a:prstGeom>
          <a:ln w="0">
            <a:noFill/>
          </a:ln>
        </p:spPr>
      </p:sp>
      <p:sp>
        <p:nvSpPr>
          <p:cNvPr id="59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Num" idx="4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A4949FD-B72C-442D-9D63-0E04CFAB60C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92" name="PlaceHolder 2"/>
          <p:cNvSpPr>
            <a:spLocks noGrp="1"/>
          </p:cNvSpPr>
          <p:nvPr>
            <p:ph type="sldImg"/>
          </p:nvPr>
        </p:nvSpPr>
        <p:spPr>
          <a:xfrm>
            <a:off x="1143000" y="685800"/>
            <a:ext cx="4571640" cy="3428640"/>
          </a:xfrm>
          <a:prstGeom prst="rect">
            <a:avLst/>
          </a:prstGeom>
          <a:ln w="0">
            <a:noFill/>
          </a:ln>
        </p:spPr>
      </p:sp>
      <p:sp>
        <p:nvSpPr>
          <p:cNvPr id="59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Num" idx="4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B0C6018-ABA5-4148-945B-4BE05C79F14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95" name="PlaceHolder 2"/>
          <p:cNvSpPr>
            <a:spLocks noGrp="1"/>
          </p:cNvSpPr>
          <p:nvPr>
            <p:ph type="sldImg"/>
          </p:nvPr>
        </p:nvSpPr>
        <p:spPr>
          <a:xfrm>
            <a:off x="1143000" y="685800"/>
            <a:ext cx="4571640" cy="3428640"/>
          </a:xfrm>
          <a:prstGeom prst="rect">
            <a:avLst/>
          </a:prstGeom>
          <a:ln w="0">
            <a:noFill/>
          </a:ln>
        </p:spPr>
      </p:sp>
      <p:sp>
        <p:nvSpPr>
          <p:cNvPr id="59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Num" idx="4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A7D4948-902C-4B27-87A0-84CB1A69653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98" name="PlaceHolder 2"/>
          <p:cNvSpPr>
            <a:spLocks noGrp="1"/>
          </p:cNvSpPr>
          <p:nvPr>
            <p:ph type="sldImg"/>
          </p:nvPr>
        </p:nvSpPr>
        <p:spPr>
          <a:xfrm>
            <a:off x="1143000" y="685800"/>
            <a:ext cx="4571640" cy="3428640"/>
          </a:xfrm>
          <a:prstGeom prst="rect">
            <a:avLst/>
          </a:prstGeom>
          <a:ln w="0">
            <a:noFill/>
          </a:ln>
        </p:spPr>
      </p:sp>
      <p:sp>
        <p:nvSpPr>
          <p:cNvPr id="59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Num" idx="4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EFF98B2-23E9-4A45-BE31-EC25A6ADF44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01" name="PlaceHolder 2"/>
          <p:cNvSpPr>
            <a:spLocks noGrp="1"/>
          </p:cNvSpPr>
          <p:nvPr>
            <p:ph type="sldImg"/>
          </p:nvPr>
        </p:nvSpPr>
        <p:spPr>
          <a:xfrm>
            <a:off x="1143000" y="685800"/>
            <a:ext cx="4571640" cy="3428640"/>
          </a:xfrm>
          <a:prstGeom prst="rect">
            <a:avLst/>
          </a:prstGeom>
          <a:ln w="0">
            <a:noFill/>
          </a:ln>
        </p:spPr>
      </p:sp>
      <p:sp>
        <p:nvSpPr>
          <p:cNvPr id="60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Num" idx="4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4DC8F02-5EF6-4CB3-9405-E767B249034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04" name="PlaceHolder 2"/>
          <p:cNvSpPr>
            <a:spLocks noGrp="1"/>
          </p:cNvSpPr>
          <p:nvPr>
            <p:ph type="sldImg"/>
          </p:nvPr>
        </p:nvSpPr>
        <p:spPr>
          <a:xfrm>
            <a:off x="1143000" y="685800"/>
            <a:ext cx="4571640" cy="3428640"/>
          </a:xfrm>
          <a:prstGeom prst="rect">
            <a:avLst/>
          </a:prstGeom>
          <a:ln w="0">
            <a:noFill/>
          </a:ln>
        </p:spPr>
      </p:sp>
      <p:sp>
        <p:nvSpPr>
          <p:cNvPr id="60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Num" idx="4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8A1CE55-809F-4B97-BD60-BD8177BCFC19}"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07" name="PlaceHolder 2"/>
          <p:cNvSpPr>
            <a:spLocks noGrp="1"/>
          </p:cNvSpPr>
          <p:nvPr>
            <p:ph type="sldImg"/>
          </p:nvPr>
        </p:nvSpPr>
        <p:spPr>
          <a:xfrm>
            <a:off x="1143000" y="685800"/>
            <a:ext cx="4571640" cy="3428640"/>
          </a:xfrm>
          <a:prstGeom prst="rect">
            <a:avLst/>
          </a:prstGeom>
          <a:ln w="0">
            <a:noFill/>
          </a:ln>
        </p:spPr>
      </p:sp>
      <p:sp>
        <p:nvSpPr>
          <p:cNvPr id="60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Num" idx="4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4361348-E673-4D47-8542-7716257AEA5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10" name="PlaceHolder 2"/>
          <p:cNvSpPr>
            <a:spLocks noGrp="1"/>
          </p:cNvSpPr>
          <p:nvPr>
            <p:ph type="sldImg"/>
          </p:nvPr>
        </p:nvSpPr>
        <p:spPr>
          <a:xfrm>
            <a:off x="1143000" y="685800"/>
            <a:ext cx="4571640" cy="3428640"/>
          </a:xfrm>
          <a:prstGeom prst="rect">
            <a:avLst/>
          </a:prstGeom>
          <a:ln w="0">
            <a:noFill/>
          </a:ln>
        </p:spPr>
      </p:sp>
      <p:sp>
        <p:nvSpPr>
          <p:cNvPr id="61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Num" idx="4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A0F94F2-A4DB-4598-9539-DC263FCA424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13" name="PlaceHolder 2"/>
          <p:cNvSpPr>
            <a:spLocks noGrp="1"/>
          </p:cNvSpPr>
          <p:nvPr>
            <p:ph type="sldImg"/>
          </p:nvPr>
        </p:nvSpPr>
        <p:spPr>
          <a:xfrm>
            <a:off x="1143000" y="685800"/>
            <a:ext cx="4571640" cy="3428640"/>
          </a:xfrm>
          <a:prstGeom prst="rect">
            <a:avLst/>
          </a:prstGeom>
          <a:ln w="0">
            <a:noFill/>
          </a:ln>
        </p:spPr>
      </p:sp>
      <p:sp>
        <p:nvSpPr>
          <p:cNvPr id="61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Num" idx="4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A17D54E-F7A7-4FC3-89DA-2662473568E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16" name="PlaceHolder 2"/>
          <p:cNvSpPr>
            <a:spLocks noGrp="1"/>
          </p:cNvSpPr>
          <p:nvPr>
            <p:ph type="sldImg"/>
          </p:nvPr>
        </p:nvSpPr>
        <p:spPr>
          <a:xfrm>
            <a:off x="1143000" y="685800"/>
            <a:ext cx="4571640" cy="3428640"/>
          </a:xfrm>
          <a:prstGeom prst="rect">
            <a:avLst/>
          </a:prstGeom>
          <a:ln w="0">
            <a:noFill/>
          </a:ln>
        </p:spPr>
      </p:sp>
      <p:sp>
        <p:nvSpPr>
          <p:cNvPr id="61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Num" idx="5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47D7097-00F3-42B2-BB27-01ABE109071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19" name="PlaceHolder 2"/>
          <p:cNvSpPr>
            <a:spLocks noGrp="1"/>
          </p:cNvSpPr>
          <p:nvPr>
            <p:ph type="sldImg"/>
          </p:nvPr>
        </p:nvSpPr>
        <p:spPr>
          <a:xfrm>
            <a:off x="1143000" y="685800"/>
            <a:ext cx="4571640" cy="3428640"/>
          </a:xfrm>
          <a:prstGeom prst="rect">
            <a:avLst/>
          </a:prstGeom>
          <a:ln w="0">
            <a:noFill/>
          </a:ln>
        </p:spPr>
      </p:sp>
      <p:sp>
        <p:nvSpPr>
          <p:cNvPr id="62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Num" idx="5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6EAD7A8-7E48-489F-8842-0CECC4C02EB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22" name="PlaceHolder 2"/>
          <p:cNvSpPr>
            <a:spLocks noGrp="1"/>
          </p:cNvSpPr>
          <p:nvPr>
            <p:ph type="sldImg"/>
          </p:nvPr>
        </p:nvSpPr>
        <p:spPr>
          <a:xfrm>
            <a:off x="1143000" y="685800"/>
            <a:ext cx="4571640" cy="3428640"/>
          </a:xfrm>
          <a:prstGeom prst="rect">
            <a:avLst/>
          </a:prstGeom>
          <a:ln w="0">
            <a:noFill/>
          </a:ln>
        </p:spPr>
      </p:sp>
      <p:sp>
        <p:nvSpPr>
          <p:cNvPr id="62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Num" idx="5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60053F2-050F-4089-87F2-609F2863F49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25" name="PlaceHolder 2"/>
          <p:cNvSpPr>
            <a:spLocks noGrp="1"/>
          </p:cNvSpPr>
          <p:nvPr>
            <p:ph type="sldImg"/>
          </p:nvPr>
        </p:nvSpPr>
        <p:spPr>
          <a:xfrm>
            <a:off x="1143000" y="685800"/>
            <a:ext cx="4571640" cy="3428640"/>
          </a:xfrm>
          <a:prstGeom prst="rect">
            <a:avLst/>
          </a:prstGeom>
          <a:ln w="0">
            <a:noFill/>
          </a:ln>
        </p:spPr>
      </p:sp>
      <p:sp>
        <p:nvSpPr>
          <p:cNvPr id="62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Num" idx="5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15C5D54-A1FD-4320-B028-12EB38FFA929}"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28" name="PlaceHolder 2"/>
          <p:cNvSpPr>
            <a:spLocks noGrp="1"/>
          </p:cNvSpPr>
          <p:nvPr>
            <p:ph type="sldImg"/>
          </p:nvPr>
        </p:nvSpPr>
        <p:spPr>
          <a:xfrm>
            <a:off x="1143000" y="685800"/>
            <a:ext cx="4571640" cy="3428640"/>
          </a:xfrm>
          <a:prstGeom prst="rect">
            <a:avLst/>
          </a:prstGeom>
          <a:ln w="0">
            <a:noFill/>
          </a:ln>
        </p:spPr>
      </p:sp>
      <p:sp>
        <p:nvSpPr>
          <p:cNvPr id="62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Num" idx="5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6D1973B-CEA2-4DF8-A63C-4181FD8BA8A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31" name="PlaceHolder 2"/>
          <p:cNvSpPr>
            <a:spLocks noGrp="1"/>
          </p:cNvSpPr>
          <p:nvPr>
            <p:ph type="sldImg"/>
          </p:nvPr>
        </p:nvSpPr>
        <p:spPr>
          <a:xfrm>
            <a:off x="1143000" y="685800"/>
            <a:ext cx="4571640" cy="3428640"/>
          </a:xfrm>
          <a:prstGeom prst="rect">
            <a:avLst/>
          </a:prstGeom>
          <a:ln w="0">
            <a:noFill/>
          </a:ln>
        </p:spPr>
      </p:sp>
      <p:sp>
        <p:nvSpPr>
          <p:cNvPr id="63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Num" idx="5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F71CE8B-BFC6-4653-B952-A19B36CBFB3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34" name="PlaceHolder 2"/>
          <p:cNvSpPr>
            <a:spLocks noGrp="1"/>
          </p:cNvSpPr>
          <p:nvPr>
            <p:ph type="sldImg"/>
          </p:nvPr>
        </p:nvSpPr>
        <p:spPr>
          <a:xfrm>
            <a:off x="1143000" y="685800"/>
            <a:ext cx="4571640" cy="3428640"/>
          </a:xfrm>
          <a:prstGeom prst="rect">
            <a:avLst/>
          </a:prstGeom>
          <a:ln w="0">
            <a:noFill/>
          </a:ln>
        </p:spPr>
      </p:sp>
      <p:sp>
        <p:nvSpPr>
          <p:cNvPr id="63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Num" idx="5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D20E9F3-5695-48FA-B6B2-0B479CAF2CD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37" name="PlaceHolder 2"/>
          <p:cNvSpPr>
            <a:spLocks noGrp="1"/>
          </p:cNvSpPr>
          <p:nvPr>
            <p:ph type="sldImg"/>
          </p:nvPr>
        </p:nvSpPr>
        <p:spPr>
          <a:xfrm>
            <a:off x="1143000" y="685800"/>
            <a:ext cx="4571640" cy="3428640"/>
          </a:xfrm>
          <a:prstGeom prst="rect">
            <a:avLst/>
          </a:prstGeom>
          <a:ln w="0">
            <a:noFill/>
          </a:ln>
        </p:spPr>
      </p:sp>
      <p:sp>
        <p:nvSpPr>
          <p:cNvPr id="63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Num" idx="5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99D950D-853F-4C5A-9622-E4AEF5B1F3C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40" name="PlaceHolder 2"/>
          <p:cNvSpPr>
            <a:spLocks noGrp="1"/>
          </p:cNvSpPr>
          <p:nvPr>
            <p:ph type="sldImg"/>
          </p:nvPr>
        </p:nvSpPr>
        <p:spPr>
          <a:xfrm>
            <a:off x="1143000" y="685800"/>
            <a:ext cx="4571640" cy="3428640"/>
          </a:xfrm>
          <a:prstGeom prst="rect">
            <a:avLst/>
          </a:prstGeom>
          <a:ln w="0">
            <a:noFill/>
          </a:ln>
        </p:spPr>
      </p:sp>
      <p:sp>
        <p:nvSpPr>
          <p:cNvPr id="64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Num" idx="5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517E6D9-B800-4F72-A851-17724D18F8B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43" name="PlaceHolder 2"/>
          <p:cNvSpPr>
            <a:spLocks noGrp="1"/>
          </p:cNvSpPr>
          <p:nvPr>
            <p:ph type="sldImg"/>
          </p:nvPr>
        </p:nvSpPr>
        <p:spPr>
          <a:xfrm>
            <a:off x="1143000" y="685800"/>
            <a:ext cx="4571640" cy="3428640"/>
          </a:xfrm>
          <a:prstGeom prst="rect">
            <a:avLst/>
          </a:prstGeom>
          <a:ln w="0">
            <a:noFill/>
          </a:ln>
        </p:spPr>
      </p:sp>
      <p:sp>
        <p:nvSpPr>
          <p:cNvPr id="64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Num" idx="5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F7A6904-714F-4AB4-84EC-5947112EDEF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46" name="PlaceHolder 2"/>
          <p:cNvSpPr>
            <a:spLocks noGrp="1"/>
          </p:cNvSpPr>
          <p:nvPr>
            <p:ph type="sldImg"/>
          </p:nvPr>
        </p:nvSpPr>
        <p:spPr>
          <a:xfrm>
            <a:off x="1143000" y="685800"/>
            <a:ext cx="4571640" cy="3428640"/>
          </a:xfrm>
          <a:prstGeom prst="rect">
            <a:avLst/>
          </a:prstGeom>
          <a:ln w="0">
            <a:noFill/>
          </a:ln>
        </p:spPr>
      </p:sp>
      <p:sp>
        <p:nvSpPr>
          <p:cNvPr id="64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Num" idx="6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A7CF703-35BB-48E4-8FE8-E0B1D42DCC1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49" name="PlaceHolder 2"/>
          <p:cNvSpPr>
            <a:spLocks noGrp="1"/>
          </p:cNvSpPr>
          <p:nvPr>
            <p:ph type="sldImg"/>
          </p:nvPr>
        </p:nvSpPr>
        <p:spPr>
          <a:xfrm>
            <a:off x="1143000" y="685800"/>
            <a:ext cx="4571640" cy="3428640"/>
          </a:xfrm>
          <a:prstGeom prst="rect">
            <a:avLst/>
          </a:prstGeom>
          <a:ln w="0">
            <a:noFill/>
          </a:ln>
        </p:spPr>
      </p:sp>
      <p:sp>
        <p:nvSpPr>
          <p:cNvPr id="65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Num" idx="6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366C1BC-9147-43FE-A16A-F0164A4611F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52" name="PlaceHolder 2"/>
          <p:cNvSpPr>
            <a:spLocks noGrp="1"/>
          </p:cNvSpPr>
          <p:nvPr>
            <p:ph type="sldImg"/>
          </p:nvPr>
        </p:nvSpPr>
        <p:spPr>
          <a:xfrm>
            <a:off x="1143000" y="685800"/>
            <a:ext cx="4571640" cy="3428640"/>
          </a:xfrm>
          <a:prstGeom prst="rect">
            <a:avLst/>
          </a:prstGeom>
          <a:ln w="0">
            <a:noFill/>
          </a:ln>
        </p:spPr>
      </p:sp>
      <p:sp>
        <p:nvSpPr>
          <p:cNvPr id="65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Distinguish between decreasing marginal product in the short run versus diseconomies of scale in the long run. Decreasing returns occur when additional units of labor are combined with a fixed amount of capital. Diseconomies of scale do not occur for the same reason, because in the long run both labor and capital can change. Diseconomies of scale occur because of chaos, organizational overloads, etc</a:t>
            </a:r>
            <a:endParaRPr b="0" lang="en-US" sz="20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Num" idx="6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85CF912-0164-4A4C-BA5E-E46F2CA75EF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55" name="PlaceHolder 2"/>
          <p:cNvSpPr>
            <a:spLocks noGrp="1"/>
          </p:cNvSpPr>
          <p:nvPr>
            <p:ph type="sldImg"/>
          </p:nvPr>
        </p:nvSpPr>
        <p:spPr>
          <a:xfrm>
            <a:off x="1143000" y="685800"/>
            <a:ext cx="4571640" cy="3428640"/>
          </a:xfrm>
          <a:prstGeom prst="rect">
            <a:avLst/>
          </a:prstGeom>
          <a:ln w="0">
            <a:noFill/>
          </a:ln>
        </p:spPr>
      </p:sp>
      <p:sp>
        <p:nvSpPr>
          <p:cNvPr id="65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Num" idx="6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B7CDBA8-EFA0-41F5-9053-16C3FD26008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58" name="PlaceHolder 2"/>
          <p:cNvSpPr>
            <a:spLocks noGrp="1"/>
          </p:cNvSpPr>
          <p:nvPr>
            <p:ph type="sldImg"/>
          </p:nvPr>
        </p:nvSpPr>
        <p:spPr>
          <a:xfrm>
            <a:off x="1143000" y="685800"/>
            <a:ext cx="4571640" cy="3428640"/>
          </a:xfrm>
          <a:prstGeom prst="rect">
            <a:avLst/>
          </a:prstGeom>
          <a:ln w="0">
            <a:noFill/>
          </a:ln>
        </p:spPr>
      </p:sp>
      <p:sp>
        <p:nvSpPr>
          <p:cNvPr id="65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Point out to the students that the long-run average cost curve yields the lowest average cost of production possible when plant size is free to change. Once a firm commits to a specific plant size, it is locked into a specific short run cost curve configuration. Any significant departure from the range of output per period that best suits that configuration means the firm will incur higher short-run average total costs than it would have had it chosen a more appropriate plant size. If the firm’s competitors chose their plant size more wisely, the firm might have a tough time surviving! This observation explains why successful firms often spend much money on long run market analysis.</a:t>
            </a:r>
            <a:endParaRPr b="0" lang="en-US" sz="20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Num" idx="6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BD883F1-980F-4B28-81B7-1C60940C0E5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61" name="PlaceHolder 2"/>
          <p:cNvSpPr>
            <a:spLocks noGrp="1"/>
          </p:cNvSpPr>
          <p:nvPr>
            <p:ph type="sldImg"/>
          </p:nvPr>
        </p:nvSpPr>
        <p:spPr>
          <a:xfrm>
            <a:off x="1143000" y="685800"/>
            <a:ext cx="4571640" cy="3428640"/>
          </a:xfrm>
          <a:prstGeom prst="rect">
            <a:avLst/>
          </a:prstGeom>
          <a:ln w="0">
            <a:noFill/>
          </a:ln>
        </p:spPr>
      </p:sp>
      <p:sp>
        <p:nvSpPr>
          <p:cNvPr id="66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Num" idx="6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DAAA418-6A56-45EE-AF31-2AE5D8BB360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64" name="PlaceHolder 2"/>
          <p:cNvSpPr>
            <a:spLocks noGrp="1"/>
          </p:cNvSpPr>
          <p:nvPr>
            <p:ph type="sldImg"/>
          </p:nvPr>
        </p:nvSpPr>
        <p:spPr>
          <a:xfrm>
            <a:off x="1143000" y="685800"/>
            <a:ext cx="4571640" cy="3428640"/>
          </a:xfrm>
          <a:prstGeom prst="rect">
            <a:avLst/>
          </a:prstGeom>
          <a:ln w="0">
            <a:noFill/>
          </a:ln>
        </p:spPr>
      </p:sp>
      <p:sp>
        <p:nvSpPr>
          <p:cNvPr id="66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Point out to the students that the long-run average cost curve yields the lowest average cost of production possible when plant size is free to change. Once a firm commits to a specific plant size, it is locked into a specific short run cost curve configuration. Any significant departure from the range of output per period that best suits that configuration means the firm will incur higher short-run average total costs than it would have had it chosen a more appropriate plant size. If the firm’s competitors chose their plant size more wisely, the firm might have a tough time surviving! This observation explains why successful firms often spend much money on long run market analysis.</a:t>
            </a:r>
            <a:endParaRPr b="0" lang="en-US" sz="20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Num" idx="6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766704D8-D306-4F65-B74F-6BC420E59219}" type="slidenum">
              <a:rPr b="0" lang="en-CA" sz="1200" strike="noStrike" u="none">
                <a:solidFill>
                  <a:srgbClr val="000000"/>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67" name="PlaceHolder 2"/>
          <p:cNvSpPr>
            <a:spLocks noGrp="1"/>
          </p:cNvSpPr>
          <p:nvPr>
            <p:ph type="sldImg"/>
          </p:nvPr>
        </p:nvSpPr>
        <p:spPr>
          <a:xfrm>
            <a:off x="1143000" y="685800"/>
            <a:ext cx="4571640" cy="3428640"/>
          </a:xfrm>
          <a:prstGeom prst="rect">
            <a:avLst/>
          </a:prstGeom>
          <a:ln w="0">
            <a:noFill/>
          </a:ln>
        </p:spPr>
      </p:sp>
      <p:sp>
        <p:nvSpPr>
          <p:cNvPr id="66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Num" idx="6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E3874C4-1D49-4476-8E9A-1B4E406F5D8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70" name="PlaceHolder 2"/>
          <p:cNvSpPr>
            <a:spLocks noGrp="1"/>
          </p:cNvSpPr>
          <p:nvPr>
            <p:ph type="sldImg"/>
          </p:nvPr>
        </p:nvSpPr>
        <p:spPr>
          <a:xfrm>
            <a:off x="1143000" y="685800"/>
            <a:ext cx="4571640" cy="3428640"/>
          </a:xfrm>
          <a:prstGeom prst="rect">
            <a:avLst/>
          </a:prstGeom>
          <a:ln w="0">
            <a:noFill/>
          </a:ln>
        </p:spPr>
      </p:sp>
      <p:sp>
        <p:nvSpPr>
          <p:cNvPr id="67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Num" idx="6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45D1E6B-42C0-4343-956B-4445A6DA98E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73" name="PlaceHolder 2"/>
          <p:cNvSpPr>
            <a:spLocks noGrp="1"/>
          </p:cNvSpPr>
          <p:nvPr>
            <p:ph type="sldImg"/>
          </p:nvPr>
        </p:nvSpPr>
        <p:spPr>
          <a:xfrm>
            <a:off x="1143000" y="685800"/>
            <a:ext cx="4571640" cy="3428640"/>
          </a:xfrm>
          <a:prstGeom prst="rect">
            <a:avLst/>
          </a:prstGeom>
          <a:ln w="0">
            <a:noFill/>
          </a:ln>
        </p:spPr>
      </p:sp>
      <p:sp>
        <p:nvSpPr>
          <p:cNvPr id="67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Arial"/>
                <a:ea typeface="ＭＳ Ｐゴシック"/>
              </a:rPr>
              <a:t>Leave your students with two big ideas:</a:t>
            </a:r>
            <a:endParaRPr b="0" lang="en-US" sz="2000" strike="noStrike" u="none">
              <a:solidFill>
                <a:srgbClr val="000000"/>
              </a:solidFill>
              <a:effectLst/>
              <a:uFillTx/>
              <a:latin typeface="Arial"/>
            </a:endParaRPr>
          </a:p>
          <a:p>
            <a:pPr indent="0">
              <a:lnSpc>
                <a:spcPct val="100000"/>
              </a:lnSpc>
              <a:buNone/>
            </a:pPr>
            <a:r>
              <a:rPr b="0" lang="en-AU" sz="2000" strike="noStrike" u="none">
                <a:solidFill>
                  <a:srgbClr val="000000"/>
                </a:solidFill>
                <a:effectLst/>
                <a:uFillTx/>
                <a:latin typeface="Arial"/>
                <a:ea typeface="ＭＳ Ｐゴシック"/>
              </a:rPr>
              <a:t>First, a firm’s long-run production costs depend on the </a:t>
            </a:r>
            <a:r>
              <a:rPr b="0" i="1" lang="en-AU" sz="2000" strike="noStrike" u="none">
                <a:solidFill>
                  <a:srgbClr val="000000"/>
                </a:solidFill>
                <a:effectLst/>
                <a:uFillTx/>
                <a:latin typeface="Arial"/>
                <a:ea typeface="ＭＳ Ｐゴシック"/>
              </a:rPr>
              <a:t>freedom to choose all </a:t>
            </a:r>
            <a:r>
              <a:rPr b="0" lang="en-AU" sz="2000" strike="noStrike" u="none">
                <a:solidFill>
                  <a:srgbClr val="000000"/>
                </a:solidFill>
                <a:effectLst/>
                <a:uFillTx/>
                <a:latin typeface="Arial"/>
                <a:ea typeface="ＭＳ Ｐゴシック"/>
              </a:rPr>
              <a:t>inputs. Long-run flexibility enables firms to produce at a lower cost than is possible in the short run when some inputs are fixed.</a:t>
            </a:r>
            <a:endParaRPr b="0" lang="en-US" sz="2000" strike="noStrike" u="none">
              <a:solidFill>
                <a:srgbClr val="000000"/>
              </a:solidFill>
              <a:effectLst/>
              <a:uFillTx/>
              <a:latin typeface="Arial"/>
            </a:endParaRPr>
          </a:p>
          <a:p>
            <a:pPr indent="0">
              <a:lnSpc>
                <a:spcPct val="100000"/>
              </a:lnSpc>
              <a:buNone/>
            </a:pPr>
            <a:r>
              <a:rPr b="0" lang="en-AU" sz="2000" strike="noStrike" u="none">
                <a:solidFill>
                  <a:srgbClr val="000000"/>
                </a:solidFill>
                <a:effectLst/>
                <a:uFillTx/>
                <a:latin typeface="Arial"/>
                <a:ea typeface="ＭＳ Ｐゴシック"/>
              </a:rPr>
              <a:t>Second, in the short run, with one or more fixed inputs, production costs vary with output in a </a:t>
            </a:r>
            <a:r>
              <a:rPr b="0" i="1" lang="en-AU" sz="2000" strike="noStrike" u="none">
                <a:solidFill>
                  <a:srgbClr val="000000"/>
                </a:solidFill>
                <a:effectLst/>
                <a:uFillTx/>
                <a:latin typeface="Arial"/>
                <a:ea typeface="ＭＳ Ｐゴシック"/>
              </a:rPr>
              <a:t>predictable way </a:t>
            </a:r>
            <a:r>
              <a:rPr b="0" lang="en-AU" sz="2000" strike="noStrike" u="none">
                <a:solidFill>
                  <a:srgbClr val="000000"/>
                </a:solidFill>
                <a:effectLst/>
                <a:uFillTx/>
                <a:latin typeface="Arial"/>
                <a:ea typeface="ＭＳ Ｐゴシック"/>
              </a:rPr>
              <a:t>because they are </a:t>
            </a:r>
            <a:r>
              <a:rPr b="0" i="1" lang="en-AU" sz="2000" strike="noStrike" u="none">
                <a:solidFill>
                  <a:srgbClr val="000000"/>
                </a:solidFill>
                <a:effectLst/>
                <a:uFillTx/>
                <a:latin typeface="Arial"/>
                <a:ea typeface="ＭＳ Ｐゴシック"/>
              </a:rPr>
              <a:t>directly linked </a:t>
            </a:r>
            <a:r>
              <a:rPr b="0" lang="en-AU" sz="2000" strike="noStrike" u="none">
                <a:solidFill>
                  <a:srgbClr val="000000"/>
                </a:solidFill>
                <a:effectLst/>
                <a:uFillTx/>
                <a:latin typeface="Arial"/>
                <a:ea typeface="ＭＳ Ｐゴシック"/>
              </a:rPr>
              <a:t>to input productivity.</a:t>
            </a:r>
            <a:r>
              <a:rPr b="0" lang="en-GB" sz="2000" strike="noStrike" u="none">
                <a:solidFill>
                  <a:srgbClr val="000000"/>
                </a:solidFill>
                <a:effectLst/>
                <a:uFillTx/>
                <a:latin typeface="Arial"/>
                <a:ea typeface="ＭＳ Ｐゴシック"/>
              </a:rPr>
              <a:t> </a:t>
            </a:r>
            <a:endParaRPr b="0" lang="en-US" sz="20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Num" idx="6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897BFB4-3278-4BC4-9EC6-638399ABC89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76" name="PlaceHolder 2"/>
          <p:cNvSpPr>
            <a:spLocks noGrp="1"/>
          </p:cNvSpPr>
          <p:nvPr>
            <p:ph type="sldImg"/>
          </p:nvPr>
        </p:nvSpPr>
        <p:spPr>
          <a:xfrm>
            <a:off x="1143000" y="685800"/>
            <a:ext cx="4571640" cy="3428640"/>
          </a:xfrm>
          <a:prstGeom prst="rect">
            <a:avLst/>
          </a:prstGeom>
          <a:ln w="0">
            <a:noFill/>
          </a:ln>
        </p:spPr>
      </p:sp>
      <p:sp>
        <p:nvSpPr>
          <p:cNvPr id="67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Num" idx="7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6B406A0-BF6B-4FDA-9745-B45427B3F1D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679" name="PlaceHolder 2"/>
          <p:cNvSpPr>
            <a:spLocks noGrp="1"/>
          </p:cNvSpPr>
          <p:nvPr>
            <p:ph type="sldImg"/>
          </p:nvPr>
        </p:nvSpPr>
        <p:spPr>
          <a:xfrm>
            <a:off x="1143000" y="685800"/>
            <a:ext cx="4571640" cy="3428640"/>
          </a:xfrm>
          <a:prstGeom prst="rect">
            <a:avLst/>
          </a:prstGeom>
          <a:ln w="0">
            <a:noFill/>
          </a:ln>
        </p:spPr>
      </p:sp>
      <p:sp>
        <p:nvSpPr>
          <p:cNvPr id="68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3" name="PlaceHolder 3"/>
          <p:cNvSpPr>
            <a:spLocks noGrp="1"/>
          </p:cNvSpPr>
          <p:nvPr>
            <p:ph type="sldNum" idx="7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F55121A-26BD-4355-8D09-23903AAF2CC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6" name="PlaceHolder 3"/>
          <p:cNvSpPr>
            <a:spLocks noGrp="1"/>
          </p:cNvSpPr>
          <p:nvPr>
            <p:ph type="sldNum" idx="7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2E890D8-1BAE-47A6-A39B-4BB4A112BB2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9" name="PlaceHolder 3"/>
          <p:cNvSpPr>
            <a:spLocks noGrp="1"/>
          </p:cNvSpPr>
          <p:nvPr>
            <p:ph type="sldNum" idx="7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6C26AAF-0ECF-4FFE-B2D9-BCCAED2BE85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2" name="PlaceHolder 3"/>
          <p:cNvSpPr>
            <a:spLocks noGrp="1"/>
          </p:cNvSpPr>
          <p:nvPr>
            <p:ph type="sldNum" idx="7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1FBF3CE-383C-42C9-BBD5-22844F82A7B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5" name="PlaceHolder 3"/>
          <p:cNvSpPr>
            <a:spLocks noGrp="1"/>
          </p:cNvSpPr>
          <p:nvPr>
            <p:ph type="sldNum" idx="7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4CE95BC-12D8-48A3-9925-4F65D143DB2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8" name="PlaceHolder 3"/>
          <p:cNvSpPr>
            <a:spLocks noGrp="1"/>
          </p:cNvSpPr>
          <p:nvPr>
            <p:ph type="sldNum" idx="7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388F60C-7762-4C4D-B16D-044C1233ECF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701" name="PlaceHolder 3"/>
          <p:cNvSpPr>
            <a:spLocks noGrp="1"/>
          </p:cNvSpPr>
          <p:nvPr>
            <p:ph type="sldNum" idx="7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2A96F59-5258-4DB4-AC14-AE94644DC4A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2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fb1b2a"/>
                </a:solidFill>
                <a:effectLst/>
                <a:uFillTx/>
                <a:latin typeface="Arial"/>
              </a:rPr>
              <a:t>Click to edit the outline text format</a:t>
            </a:r>
            <a:endParaRPr b="1" lang="en-CA" sz="2800" strike="noStrike" u="none">
              <a:solidFill>
                <a:srgbClr val="fb1b2a"/>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079640" indent="-28800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4"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4" descr="">
            <a:hlinkClick r:id="" action="ppaction://hlinkshowjump?jump=previousslide"/>
          </p:cNvPr>
          <p:cNvPicPr/>
          <p:nvPr/>
        </p:nvPicPr>
        <p:blipFill>
          <a:blip r:embed="rId2"/>
          <a:stretch/>
        </p:blipFill>
        <p:spPr>
          <a:xfrm>
            <a:off x="8640720" y="6480000"/>
            <a:ext cx="221760" cy="221760"/>
          </a:xfrm>
          <a:prstGeom prst="rect">
            <a:avLst/>
          </a:prstGeom>
          <a:noFill/>
          <a:ln w="0">
            <a:noFill/>
          </a:ln>
        </p:spPr>
      </p:pic>
      <p:sp>
        <p:nvSpPr>
          <p:cNvPr id="2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trike="noStrike" u="none">
                <a:solidFill>
                  <a:schemeClr val="dk1"/>
                </a:solidFill>
                <a:effectLst/>
                <a:uFillTx/>
                <a:latin typeface="Arial"/>
              </a:rPr>
              <a:t>Click to edit the outline text format</a:t>
            </a:r>
            <a:endParaRPr b="0" lang="en-CA"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2.xml"/><Relationship Id="rId8"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4.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slideLayout" Target="../slideLayouts/slideLayout5.xml"/><Relationship Id="rId1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3.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slideLayout" Target="../slideLayouts/slideLayout3.xml"/><Relationship Id="rId1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slideLayout" Target="../slideLayouts/slideLayout4.xml"/><Relationship Id="rId1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slideLayout" Target="../slideLayouts/slideLayout5.xml"/><Relationship Id="rId1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slideLayout" Target="../slideLayouts/slideLayout4.xml"/><Relationship Id="rId1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50.png"/><Relationship Id="rId20" Type="http://schemas.openxmlformats.org/officeDocument/2006/relationships/image" Target="../media/image51.png"/><Relationship Id="rId21" Type="http://schemas.openxmlformats.org/officeDocument/2006/relationships/image" Target="../media/image52.png"/><Relationship Id="rId22" Type="http://schemas.openxmlformats.org/officeDocument/2006/relationships/slideLayout" Target="../slideLayouts/slideLayout5.xml"/><Relationship Id="rId2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slideLayout" Target="../slideLayouts/slideLayout3.xml"/><Relationship Id="rId20"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49.png"/><Relationship Id="rId19" Type="http://schemas.openxmlformats.org/officeDocument/2006/relationships/image" Target="../media/image50.png"/><Relationship Id="rId20" Type="http://schemas.openxmlformats.org/officeDocument/2006/relationships/image" Target="../media/image51.png"/><Relationship Id="rId21" Type="http://schemas.openxmlformats.org/officeDocument/2006/relationships/image" Target="../media/image52.png"/><Relationship Id="rId22" Type="http://schemas.openxmlformats.org/officeDocument/2006/relationships/slideLayout" Target="../slideLayouts/slideLayout3.xml"/><Relationship Id="rId2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4.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slideLayout" Target="../slideLayouts/slideLayout5.xml"/><Relationship Id="rId1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slideLayout" Target="../slideLayouts/slideLayout3.xml"/><Relationship Id="rId1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slideLayout" Target="../slideLayouts/slideLayout3.xml"/><Relationship Id="rId1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2.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slideLayout" Target="../slideLayouts/slideLayout4.xml"/><Relationship Id="rId6"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slideLayout" Target="../slideLayouts/slideLayout5.xml"/><Relationship Id="rId7"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slideLayout" Target="../slideLayouts/slideLayout3.xml"/><Relationship Id="rId7"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2.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slideLayout" Target="../slideLayouts/slideLayout4.xml"/><Relationship Id="rId6"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slideLayout" Target="../slideLayouts/slideLayout5.xml"/><Relationship Id="rId8"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slideLayout" Target="../slideLayouts/slideLayout3.xml"/><Relationship Id="rId8"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2.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slideLayout" Target="../slideLayouts/slideLayout4.xml"/><Relationship Id="rId5"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slideLayout" Target="../slideLayouts/slideLayout5.xml"/><Relationship Id="rId10"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slideLayout" Target="../slideLayouts/slideLayout3.xml"/><Relationship Id="rId7"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slideLayout" Target="../slideLayouts/slideLayout3.xml"/><Relationship Id="rId10"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slideLayout" Target="../slideLayouts/slideLayout4.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image" Target="../media/image94.png"/><Relationship Id="rId9" Type="http://schemas.openxmlformats.org/officeDocument/2006/relationships/image" Target="../media/image95.png"/><Relationship Id="rId10" Type="http://schemas.openxmlformats.org/officeDocument/2006/relationships/slideLayout" Target="../slideLayouts/slideLayout5.xml"/><Relationship Id="rId11"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slideLayout" Target="../slideLayouts/slideLayout3.xml"/><Relationship Id="rId7"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slideLayout" Target="../slideLayouts/slideLayout2.xml"/><Relationship Id="rId8"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slideLayout" Target="../slideLayouts/slideLayout2.xml"/><Relationship Id="rId9"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image" Target="../media/image94.png"/><Relationship Id="rId9" Type="http://schemas.openxmlformats.org/officeDocument/2006/relationships/slideLayout" Target="../slideLayouts/slideLayout2.xml"/><Relationship Id="rId10"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 Id="rId8" Type="http://schemas.openxmlformats.org/officeDocument/2006/relationships/image" Target="../media/image94.png"/><Relationship Id="rId9" Type="http://schemas.openxmlformats.org/officeDocument/2006/relationships/image" Target="../media/image95.png"/><Relationship Id="rId10" Type="http://schemas.openxmlformats.org/officeDocument/2006/relationships/slideLayout" Target="../slideLayouts/slideLayout2.xml"/><Relationship Id="rId11"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96.jpeg"/><Relationship Id="rId2" Type="http://schemas.openxmlformats.org/officeDocument/2006/relationships/slideLayout" Target="../slideLayouts/slideLayout8.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6.jpeg"/><Relationship Id="rId4" Type="http://schemas.openxmlformats.org/officeDocument/2006/relationships/slideLayout" Target="../slideLayouts/slideLayout8.xml"/><Relationship Id="rId5"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96.jpeg"/><Relationship Id="rId5" Type="http://schemas.openxmlformats.org/officeDocument/2006/relationships/slideLayout" Target="../slideLayouts/slideLayout8.xml"/><Relationship Id="rId6"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96.jpeg"/><Relationship Id="rId6" Type="http://schemas.openxmlformats.org/officeDocument/2006/relationships/slideLayout" Target="../slideLayouts/slideLayout8.xml"/><Relationship Id="rId7"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96.jpeg"/><Relationship Id="rId7" Type="http://schemas.openxmlformats.org/officeDocument/2006/relationships/slideLayout" Target="../slideLayouts/slideLayout8.xml"/><Relationship Id="rId8"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96.jpeg"/><Relationship Id="rId8" Type="http://schemas.openxmlformats.org/officeDocument/2006/relationships/slideLayout" Target="../slideLayouts/slideLayout8.xml"/><Relationship Id="rId9"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96.jpeg"/><Relationship Id="rId9" Type="http://schemas.openxmlformats.org/officeDocument/2006/relationships/slideLayout" Target="../slideLayouts/slideLayout8.xml"/><Relationship Id="rId10" Type="http://schemas.openxmlformats.org/officeDocument/2006/relationships/notesSlide" Target="../notesSlides/notesSlide7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Picture 7" descr=""/>
          <p:cNvPicPr/>
          <p:nvPr/>
        </p:nvPicPr>
        <p:blipFill>
          <a:blip r:embed="rId1"/>
          <a:stretch/>
        </p:blipFill>
        <p:spPr>
          <a:xfrm>
            <a:off x="228600" y="380880"/>
            <a:ext cx="8683200" cy="2209320"/>
          </a:xfrm>
          <a:prstGeom prst="rect">
            <a:avLst/>
          </a:prstGeom>
          <a:noFill/>
          <a:ln w="0">
            <a:noFill/>
          </a:ln>
        </p:spPr>
      </p:pic>
      <p:sp>
        <p:nvSpPr>
          <p:cNvPr id="36" name="Text Box 3"/>
          <p:cNvSpPr/>
          <p:nvPr/>
        </p:nvSpPr>
        <p:spPr>
          <a:xfrm>
            <a:off x="225360" y="1494000"/>
            <a:ext cx="4422240" cy="491760"/>
          </a:xfrm>
          <a:prstGeom prst="rect">
            <a:avLst/>
          </a:prstGeom>
          <a:noFill/>
          <a:ln w="0">
            <a:noFill/>
          </a:ln>
        </p:spPr>
        <p:style>
          <a:lnRef idx="0"/>
          <a:fillRef idx="0"/>
          <a:effectRef idx="0"/>
          <a:fontRef idx="minor"/>
        </p:style>
        <p:txBody>
          <a:bodyPr lIns="0" rIns="90000" tIns="0" bIns="0" anchor="t">
            <a:spAutoFit/>
          </a:bodyPr>
          <a:p>
            <a:pPr>
              <a:lnSpc>
                <a:spcPct val="100000"/>
              </a:lnSpc>
              <a:spcBef>
                <a:spcPts val="1599"/>
              </a:spcBef>
            </a:pPr>
            <a:r>
              <a:rPr b="1" lang="en-US" sz="3200" strike="noStrike" u="none">
                <a:solidFill>
                  <a:schemeClr val="dk1"/>
                </a:solidFill>
                <a:effectLst/>
                <a:uFillTx/>
                <a:latin typeface="Arial"/>
                <a:ea typeface="ＭＳ Ｐゴシック"/>
              </a:rPr>
              <a:t>Production and Cost</a:t>
            </a:r>
            <a:endParaRPr b="0" lang="en-US" sz="3200" strike="noStrike" u="none">
              <a:solidFill>
                <a:srgbClr val="000000"/>
              </a:solidFill>
              <a:effectLst/>
              <a:uFillTx/>
              <a:latin typeface="Arial"/>
            </a:endParaRPr>
          </a:p>
        </p:txBody>
      </p:sp>
      <p:sp>
        <p:nvSpPr>
          <p:cNvPr id="37" name="Text Box 5"/>
          <p:cNvSpPr/>
          <p:nvPr/>
        </p:nvSpPr>
        <p:spPr>
          <a:xfrm>
            <a:off x="6083280" y="700560"/>
            <a:ext cx="1157040" cy="109764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10</a:t>
            </a:r>
            <a:endParaRPr b="0" lang="en-US" sz="7200" strike="noStrike" u="none">
              <a:solidFill>
                <a:srgbClr val="000000"/>
              </a:solidFill>
              <a:effectLst/>
              <a:uFillTx/>
              <a:latin typeface="Arial"/>
            </a:endParaRPr>
          </a:p>
        </p:txBody>
      </p:sp>
      <p:sp>
        <p:nvSpPr>
          <p:cNvPr id="38" name="TextBox 6"/>
          <p:cNvSpPr/>
          <p:nvPr/>
        </p:nvSpPr>
        <p:spPr>
          <a:xfrm>
            <a:off x="225360" y="222552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39" name="TextBox 7"/>
          <p:cNvSpPr/>
          <p:nvPr/>
        </p:nvSpPr>
        <p:spPr>
          <a:xfrm>
            <a:off x="380880" y="3095640"/>
            <a:ext cx="8305560" cy="3507840"/>
          </a:xfrm>
          <a:prstGeom prst="rect">
            <a:avLst/>
          </a:prstGeom>
          <a:noFill/>
          <a:ln w="0">
            <a:noFill/>
          </a:ln>
        </p:spPr>
        <p:style>
          <a:lnRef idx="0"/>
          <a:fillRef idx="0"/>
          <a:effectRef idx="0"/>
          <a:fontRef idx="minor"/>
        </p:style>
        <p:txBody>
          <a:bodyPr lIns="90000" rIns="90000" tIns="45000" bIns="45000" anchor="t">
            <a:spAutoFit/>
          </a:bodyPr>
          <a:p>
            <a:pPr marL="108000" defTabSz="176040">
              <a:lnSpc>
                <a:spcPct val="100000"/>
              </a:lnSpc>
              <a:spcBef>
                <a:spcPts val="601"/>
              </a:spcBef>
              <a:spcAft>
                <a:spcPts val="601"/>
              </a:spcAft>
              <a:tabLst>
                <a:tab algn="l" pos="457200"/>
              </a:tabLs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and distinguish between the economic and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accounting measures of a firm’s cost of production </a:t>
            </a:r>
            <a:br>
              <a:rPr sz="2400"/>
            </a:b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and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profit.</a:t>
            </a:r>
            <a:endParaRPr b="0" lang="en-US" sz="2400" strike="noStrike" u="none">
              <a:solidFill>
                <a:srgbClr val="000000"/>
              </a:solidFill>
              <a:effectLst/>
              <a:uFillTx/>
              <a:latin typeface="Arial"/>
            </a:endParaRPr>
          </a:p>
          <a:p>
            <a:pPr marL="108000" defTabSz="176040">
              <a:lnSpc>
                <a:spcPct val="100000"/>
              </a:lnSpc>
              <a:spcBef>
                <a:spcPts val="601"/>
              </a:spcBef>
              <a:spcAft>
                <a:spcPts val="601"/>
              </a:spcAft>
              <a:tabLst>
                <a:tab algn="l" pos="457200"/>
              </a:tabLs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the relationship between a firm’s output and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labor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employed in the short run.</a:t>
            </a:r>
            <a:endParaRPr b="0" lang="en-US" sz="2400" strike="noStrike" u="none">
              <a:solidFill>
                <a:srgbClr val="000000"/>
              </a:solidFill>
              <a:effectLst/>
              <a:uFillTx/>
              <a:latin typeface="Arial"/>
            </a:endParaRPr>
          </a:p>
          <a:p>
            <a:pPr marL="108000" defTabSz="176040">
              <a:lnSpc>
                <a:spcPct val="100000"/>
              </a:lnSpc>
              <a:spcBef>
                <a:spcPts val="601"/>
              </a:spcBef>
              <a:spcAft>
                <a:spcPts val="601"/>
              </a:spcAft>
              <a:tabLst>
                <a:tab algn="l" pos="457200"/>
              </a:tabLst>
            </a:pPr>
            <a:r>
              <a:rPr b="1" lang="en-US" sz="2400" strike="noStrike" u="none">
                <a:solidFill>
                  <a:srgbClr val="ff0000"/>
                </a:solidFill>
                <a:effectLst/>
                <a:uFillTx/>
                <a:latin typeface="Arial"/>
                <a:ea typeface="ＭＳ Ｐゴシック"/>
              </a:rPr>
              <a:t>3</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the relationship between a firm’s output and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costs in the short run.</a:t>
            </a:r>
            <a:endParaRPr b="0" lang="en-US" sz="2400" strike="noStrike" u="none">
              <a:solidFill>
                <a:srgbClr val="000000"/>
              </a:solidFill>
              <a:effectLst/>
              <a:uFillTx/>
              <a:latin typeface="Arial"/>
            </a:endParaRPr>
          </a:p>
          <a:p>
            <a:pPr marL="108000" defTabSz="176040">
              <a:lnSpc>
                <a:spcPct val="100000"/>
              </a:lnSpc>
              <a:spcBef>
                <a:spcPts val="601"/>
              </a:spcBef>
              <a:spcAft>
                <a:spcPts val="601"/>
              </a:spcAft>
              <a:tabLst>
                <a:tab algn="l" pos="457200"/>
              </a:tabLst>
            </a:pPr>
            <a:r>
              <a:rPr b="1" lang="en-US" sz="2400" strike="noStrike" u="none">
                <a:solidFill>
                  <a:srgbClr val="ff0000"/>
                </a:solidFill>
                <a:effectLst/>
                <a:uFillTx/>
                <a:latin typeface="Arial"/>
                <a:ea typeface="ＭＳ Ｐゴシック"/>
              </a:rPr>
              <a:t>4</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Derive and explain a firm’s long-run average cost curve.</a:t>
            </a:r>
            <a:endParaRPr b="0" lang="en-US" sz="2400" strike="noStrike" u="none">
              <a:solidFill>
                <a:srgbClr val="000000"/>
              </a:solidFill>
              <a:effectLst/>
              <a:uFillTx/>
              <a:latin typeface="Arial"/>
            </a:endParaRPr>
          </a:p>
        </p:txBody>
      </p:sp>
      <p:sp>
        <p:nvSpPr>
          <p:cNvPr id="40"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38"/>
                                        </p:tgtEl>
                                        <p:attrNameLst>
                                          <p:attrName>style.visibility</p:attrName>
                                        </p:attrNameLst>
                                      </p:cBhvr>
                                      <p:to>
                                        <p:strVal val="visible"/>
                                      </p:to>
                                    </p:set>
                                    <p:animEffect filter="wipe(left)" transition="in">
                                      <p:cBhvr additive="repl">
                                        <p:cTn id="7" dur="500"/>
                                        <p:tgtEl>
                                          <p:spTgt spid="38"/>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39">
                                            <p:txEl>
                                              <p:pRg st="0" end="0"/>
                                            </p:txEl>
                                          </p:spTgt>
                                        </p:tgtEl>
                                        <p:attrNameLst>
                                          <p:attrName>style.visibility</p:attrName>
                                        </p:attrNameLst>
                                      </p:cBhvr>
                                      <p:to>
                                        <p:strVal val="visible"/>
                                      </p:to>
                                    </p:set>
                                    <p:animEffect filter="wipe(left)" transition="in">
                                      <p:cBhvr additive="repl">
                                        <p:cTn id="12" dur="1000"/>
                                        <p:tgtEl>
                                          <p:spTgt spid="39">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39">
                                            <p:txEl>
                                              <p:pRg st="1" end="1"/>
                                            </p:txEl>
                                          </p:spTgt>
                                        </p:tgtEl>
                                        <p:attrNameLst>
                                          <p:attrName>style.visibility</p:attrName>
                                        </p:attrNameLst>
                                      </p:cBhvr>
                                      <p:to>
                                        <p:strVal val="visible"/>
                                      </p:to>
                                    </p:set>
                                    <p:animEffect filter="wipe(left)" transition="in">
                                      <p:cBhvr additive="repl">
                                        <p:cTn id="17" dur="1000"/>
                                        <p:tgtEl>
                                          <p:spTgt spid="39">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39">
                                            <p:txEl>
                                              <p:pRg st="2" end="2"/>
                                            </p:txEl>
                                          </p:spTgt>
                                        </p:tgtEl>
                                        <p:attrNameLst>
                                          <p:attrName>style.visibility</p:attrName>
                                        </p:attrNameLst>
                                      </p:cBhvr>
                                      <p:to>
                                        <p:strVal val="visible"/>
                                      </p:to>
                                    </p:set>
                                    <p:animEffect filter="wipe(left)" transition="in">
                                      <p:cBhvr additive="repl">
                                        <p:cTn id="22" dur="1000"/>
                                        <p:tgtEl>
                                          <p:spTgt spid="39">
                                            <p:txEl>
                                              <p:pRg st="2" end="2"/>
                                            </p:txEl>
                                          </p:spTgt>
                                        </p:tgtEl>
                                      </p:cBhvr>
                                    </p:animEffect>
                                  </p:childTnLst>
                                </p:cTn>
                              </p:par>
                            </p:childTnLst>
                          </p:cTn>
                        </p:par>
                      </p:childTnLst>
                    </p:cTn>
                  </p:par>
                  <p:par>
                    <p:cTn id="23" nodeType="clickEffect" fill="hold">
                      <p:stCondLst>
                        <p:cond delay="indefinite"/>
                      </p:stCondLst>
                      <p:childTnLst>
                        <p:par>
                          <p:cTn id="24" nodeType="withEffect" fill="hold">
                            <p:stCondLst>
                              <p:cond delay="0"/>
                            </p:stCondLst>
                            <p:childTnLst>
                              <p:par>
                                <p:cTn id="25" nodeType="clickEffect" fill="hold" presetClass="entr" presetID="22" presetSubtype="8">
                                  <p:stCondLst>
                                    <p:cond delay="0"/>
                                  </p:stCondLst>
                                  <p:childTnLst>
                                    <p:set>
                                      <p:cBhvr>
                                        <p:cTn id="26" dur="1" fill="hold">
                                          <p:stCondLst>
                                            <p:cond delay="0"/>
                                          </p:stCondLst>
                                        </p:cTn>
                                        <p:tgtEl>
                                          <p:spTgt spid="39">
                                            <p:txEl>
                                              <p:pRg st="3" end="3"/>
                                            </p:txEl>
                                          </p:spTgt>
                                        </p:tgtEl>
                                        <p:attrNameLst>
                                          <p:attrName>style.visibility</p:attrName>
                                        </p:attrNameLst>
                                      </p:cBhvr>
                                      <p:to>
                                        <p:strVal val="visible"/>
                                      </p:to>
                                    </p:set>
                                    <p:animEffect filter="wipe(left)" transition="in">
                                      <p:cBhvr additive="repl">
                                        <p:cTn id="27" dur="1000"/>
                                        <p:tgtEl>
                                          <p:spTgt spid="3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4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AU" sz="2800" strike="noStrike" u="none">
                <a:solidFill>
                  <a:srgbClr val="00468f"/>
                </a:solidFill>
                <a:effectLst/>
                <a:uFillTx/>
                <a:latin typeface="Arial"/>
                <a:ea typeface="MS Mincho"/>
              </a:rPr>
              <a:t>The Firm’s Goal</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AU" sz="2400" strike="noStrike" u="none">
                <a:solidFill>
                  <a:schemeClr val="dk1"/>
                </a:solidFill>
                <a:effectLst/>
                <a:uFillTx/>
                <a:latin typeface="Arial"/>
                <a:ea typeface="MS Mincho"/>
              </a:rPr>
              <a:t>To maximize profit</a:t>
            </a:r>
            <a:endParaRPr b="1" lang="en-CA" sz="2400" strike="noStrike" u="none">
              <a:solidFill>
                <a:srgbClr val="00468f"/>
              </a:solidFill>
              <a:effectLst/>
              <a:uFillTx/>
              <a:latin typeface="Arial"/>
            </a:endParaRPr>
          </a:p>
          <a:p>
            <a:pPr marL="343080" indent="-343080" algn="just">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Accounting Cost and Profit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 accountant measures cost and profit to ensure that the firm pays the correct amount of income tax and to show the bank how the firm has used its bank loan.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Economists predict the decisions that a firm makes to maximize its profit. These decisions respond to </a:t>
            </a:r>
            <a:r>
              <a:rPr b="0" i="1" lang="en-US" sz="2400" strike="noStrike" u="none">
                <a:solidFill>
                  <a:schemeClr val="dk1"/>
                </a:solidFill>
                <a:effectLst/>
                <a:uFillTx/>
                <a:latin typeface="Arial"/>
                <a:ea typeface="ＭＳ Ｐゴシック"/>
              </a:rPr>
              <a:t>opportunity cost</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economic profit</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p:txBody>
      </p:sp>
    </p:spTree>
  </p:cSld>
  <p:transition spd="slow">
    <p:wipe dir="r"/>
  </p:transition>
  <p:timing>
    <p:tnLst>
      <p:par>
        <p:cTn id="28" dur="indefinite" restart="never" nodeType="tmRoot">
          <p:childTnLst>
            <p:seq>
              <p:cTn id="29" dur="indefinite" nodeType="mainSeq">
                <p:childTnLst>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2">
                                            <p:txEl>
                                              <p:pRg st="1" end="1"/>
                                            </p:txEl>
                                          </p:spTgt>
                                        </p:tgtEl>
                                        <p:attrNameLst>
                                          <p:attrName>style.visibility</p:attrName>
                                        </p:attrNameLst>
                                      </p:cBhvr>
                                      <p:to>
                                        <p:strVal val="visible"/>
                                      </p:to>
                                    </p:set>
                                    <p:animEffect filter="wipe(left)" transition="in">
                                      <p:cBhvr additive="repl">
                                        <p:cTn id="34" dur="500"/>
                                        <p:tgtEl>
                                          <p:spTgt spid="42">
                                            <p:txEl>
                                              <p:pRg st="1" end="1"/>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2">
                                            <p:txEl>
                                              <p:pRg st="2" end="2"/>
                                            </p:txEl>
                                          </p:spTgt>
                                        </p:tgtEl>
                                        <p:attrNameLst>
                                          <p:attrName>style.visibility</p:attrName>
                                        </p:attrNameLst>
                                      </p:cBhvr>
                                      <p:to>
                                        <p:strVal val="visible"/>
                                      </p:to>
                                    </p:set>
                                    <p:animEffect filter="wipe(left)" transition="in">
                                      <p:cBhvr additive="repl">
                                        <p:cTn id="39" dur="500"/>
                                        <p:tgtEl>
                                          <p:spTgt spid="42">
                                            <p:txEl>
                                              <p:pRg st="2" end="2"/>
                                            </p:txEl>
                                          </p:spTgt>
                                        </p:tgtEl>
                                      </p:cBhvr>
                                    </p:animEffect>
                                  </p:childTnLst>
                                </p:cTn>
                              </p:par>
                            </p:childTnLst>
                          </p:cTn>
                        </p:par>
                      </p:childTnLst>
                    </p:cTn>
                  </p:par>
                  <p:par>
                    <p:cTn id="40" nodeType="clickEffect" fill="hold">
                      <p:stCondLst>
                        <p:cond delay="indefinite"/>
                      </p:stCondLst>
                      <p:childTnLst>
                        <p:par>
                          <p:cTn id="41" nodeType="withEffect" fill="hold">
                            <p:stCondLst>
                              <p:cond delay="0"/>
                            </p:stCondLst>
                            <p:childTnLst>
                              <p:par>
                                <p:cTn id="42" nodeType="clickEffect" fill="hold" presetClass="entr" presetID="22" presetSubtype="8">
                                  <p:stCondLst>
                                    <p:cond delay="0"/>
                                  </p:stCondLst>
                                  <p:childTnLst>
                                    <p:set>
                                      <p:cBhvr>
                                        <p:cTn id="43" dur="1" fill="hold">
                                          <p:stCondLst>
                                            <p:cond delay="0"/>
                                          </p:stCondLst>
                                        </p:cTn>
                                        <p:tgtEl>
                                          <p:spTgt spid="42">
                                            <p:txEl>
                                              <p:pRg st="3" end="3"/>
                                            </p:txEl>
                                          </p:spTgt>
                                        </p:tgtEl>
                                        <p:attrNameLst>
                                          <p:attrName>style.visibility</p:attrName>
                                        </p:attrNameLst>
                                      </p:cBhvr>
                                      <p:to>
                                        <p:strVal val="visible"/>
                                      </p:to>
                                    </p:set>
                                    <p:animEffect filter="wipe(left)" transition="in">
                                      <p:cBhvr additive="repl">
                                        <p:cTn id="44" dur="500"/>
                                        <p:tgtEl>
                                          <p:spTgt spid="42">
                                            <p:txEl>
                                              <p:pRg st="3" end="3"/>
                                            </p:txEl>
                                          </p:spTgt>
                                        </p:tgtEl>
                                      </p:cBhvr>
                                    </p:animEffect>
                                  </p:childTnLst>
                                </p:cTn>
                              </p:par>
                            </p:childTnLst>
                          </p:cTn>
                        </p:par>
                      </p:childTnLst>
                    </p:cTn>
                  </p:par>
                  <p:par>
                    <p:cTn id="45" nodeType="clickEffect" fill="hold">
                      <p:stCondLst>
                        <p:cond delay="indefinite"/>
                      </p:stCondLst>
                      <p:childTnLst>
                        <p:par>
                          <p:cTn id="46" nodeType="withEffect" fill="hold">
                            <p:stCondLst>
                              <p:cond delay="0"/>
                            </p:stCondLst>
                            <p:childTnLst>
                              <p:par>
                                <p:cTn id="47" nodeType="clickEffect" fill="hold" presetClass="entr" presetID="22" presetSubtype="8">
                                  <p:stCondLst>
                                    <p:cond delay="0"/>
                                  </p:stCondLst>
                                  <p:childTnLst>
                                    <p:set>
                                      <p:cBhvr>
                                        <p:cTn id="48" dur="1" fill="hold">
                                          <p:stCondLst>
                                            <p:cond delay="0"/>
                                          </p:stCondLst>
                                        </p:cTn>
                                        <p:tgtEl>
                                          <p:spTgt spid="42">
                                            <p:txEl>
                                              <p:pRg st="4" end="4"/>
                                            </p:txEl>
                                          </p:spTgt>
                                        </p:tgtEl>
                                        <p:attrNameLst>
                                          <p:attrName>style.visibility</p:attrName>
                                        </p:attrNameLst>
                                      </p:cBhvr>
                                      <p:to>
                                        <p:strVal val="visible"/>
                                      </p:to>
                                    </p:set>
                                    <p:animEffect filter="wipe(left)" transition="in">
                                      <p:cBhvr additive="repl">
                                        <p:cTn id="49" dur="500"/>
                                        <p:tgtEl>
                                          <p:spTgt spid="4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4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AU" sz="2800" strike="noStrike" u="none">
                <a:solidFill>
                  <a:srgbClr val="00468f"/>
                </a:solidFill>
                <a:effectLst/>
                <a:uFillTx/>
                <a:latin typeface="Arial"/>
                <a:ea typeface="MS Mincho"/>
              </a:rPr>
              <a:t>Opportunity Cost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highest-valued alternative forgone is the opportunity cost of a firm’s production.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This opportunity cost is the amount that the firm must pay the owners of the factors of production it employs to attract them from their best alternative use.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So a firm’s opportunity cost of production is the cost of the factors of production it employs.</a:t>
            </a:r>
            <a:endParaRPr b="1" lang="en-CA" sz="2400" strike="noStrike" u="none">
              <a:solidFill>
                <a:srgbClr val="00468f"/>
              </a:solidFill>
              <a:effectLst/>
              <a:uFillTx/>
              <a:latin typeface="Arial"/>
            </a:endParaRPr>
          </a:p>
        </p:txBody>
      </p:sp>
    </p:spTree>
  </p:cSld>
  <p:transition spd="slow">
    <p:wipe dir="r"/>
  </p:transition>
  <p:timing>
    <p:tnLst>
      <p:par>
        <p:cTn id="50" dur="indefinite" restart="never" nodeType="tmRoot">
          <p:childTnLst>
            <p:seq>
              <p:cTn id="51" dur="indefinite" nodeType="mainSeq">
                <p:childTnLst>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44">
                                            <p:txEl>
                                              <p:pRg st="1" end="1"/>
                                            </p:txEl>
                                          </p:spTgt>
                                        </p:tgtEl>
                                        <p:attrNameLst>
                                          <p:attrName>style.visibility</p:attrName>
                                        </p:attrNameLst>
                                      </p:cBhvr>
                                      <p:to>
                                        <p:strVal val="visible"/>
                                      </p:to>
                                    </p:set>
                                    <p:animEffect filter="wipe(left)" transition="in">
                                      <p:cBhvr additive="repl">
                                        <p:cTn id="56" dur="500"/>
                                        <p:tgtEl>
                                          <p:spTgt spid="44">
                                            <p:txEl>
                                              <p:pRg st="1" end="1"/>
                                            </p:txEl>
                                          </p:spTgt>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44">
                                            <p:txEl>
                                              <p:pRg st="2" end="2"/>
                                            </p:txEl>
                                          </p:spTgt>
                                        </p:tgtEl>
                                        <p:attrNameLst>
                                          <p:attrName>style.visibility</p:attrName>
                                        </p:attrNameLst>
                                      </p:cBhvr>
                                      <p:to>
                                        <p:strVal val="visible"/>
                                      </p:to>
                                    </p:set>
                                    <p:animEffect filter="wipe(left)" transition="in">
                                      <p:cBhvr additive="repl">
                                        <p:cTn id="61" dur="500"/>
                                        <p:tgtEl>
                                          <p:spTgt spid="44">
                                            <p:txEl>
                                              <p:pRg st="2" end="2"/>
                                            </p:txEl>
                                          </p:spTgt>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44">
                                            <p:txEl>
                                              <p:pRg st="3" end="3"/>
                                            </p:txEl>
                                          </p:spTgt>
                                        </p:tgtEl>
                                        <p:attrNameLst>
                                          <p:attrName>style.visibility</p:attrName>
                                        </p:attrNameLst>
                                      </p:cBhvr>
                                      <p:to>
                                        <p:strVal val="visible"/>
                                      </p:to>
                                    </p:set>
                                    <p:animEffect filter="wipe(left)" transition="in">
                                      <p:cBhvr additive="repl">
                                        <p:cTn id="66" dur="500"/>
                                        <p:tgtEl>
                                          <p:spTgt spid="4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4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MS Mincho"/>
              </a:rPr>
              <a:t>Explicit Costs and Implicit Costs</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a:t>
            </a:r>
            <a:r>
              <a:rPr b="1" lang="en-US" sz="2400" strike="noStrike" u="none">
                <a:solidFill>
                  <a:srgbClr val="ff0000"/>
                </a:solidFill>
                <a:effectLst/>
                <a:uFillTx/>
                <a:latin typeface="Arial"/>
                <a:ea typeface="ＭＳ Ｐゴシック"/>
              </a:rPr>
              <a:t> explicit cost</a:t>
            </a:r>
            <a:r>
              <a:rPr b="0"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is a cost paid in money.</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a:t>
            </a:r>
            <a:r>
              <a:rPr b="1" lang="en-US" sz="2400" strike="noStrike" u="none">
                <a:solidFill>
                  <a:srgbClr val="ff0000"/>
                </a:solidFill>
                <a:effectLst/>
                <a:uFillTx/>
                <a:latin typeface="Arial"/>
                <a:ea typeface="ＭＳ Ｐゴシック"/>
              </a:rPr>
              <a:t> implicit cost</a:t>
            </a:r>
            <a:r>
              <a:rPr b="0" lang="en-US" sz="2400" strike="noStrike" u="none">
                <a:solidFill>
                  <a:schemeClr val="dk1"/>
                </a:solidFill>
                <a:effectLst/>
                <a:uFillTx/>
                <a:latin typeface="Arial"/>
                <a:ea typeface="ＭＳ Ｐゴシック"/>
              </a:rPr>
              <a:t> is an opportunity cost incurred by a firm when it uses a factor of production for which it does not make a direct money payment.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two main implicit costs are economic depreciation and the cost of using the firm owner’s resources.</a:t>
            </a:r>
            <a:endParaRPr b="1" lang="en-CA" sz="2400" strike="noStrike" u="none">
              <a:solidFill>
                <a:srgbClr val="00468f"/>
              </a:solidFill>
              <a:effectLst/>
              <a:uFillTx/>
              <a:latin typeface="Arial"/>
            </a:endParaRPr>
          </a:p>
        </p:txBody>
      </p:sp>
    </p:spTree>
  </p:cSld>
  <p:transition spd="slow">
    <p:wipe dir="r"/>
  </p:transition>
  <p:timing>
    <p:tnLst>
      <p:par>
        <p:cTn id="67" dur="indefinite" restart="never" nodeType="tmRoot">
          <p:childTnLst>
            <p:seq>
              <p:cTn id="68" dur="indefinite" nodeType="mainSeq">
                <p:childTnLst>
                  <p:par>
                    <p:cTn id="69" nodeType="clickEffect" fill="hold">
                      <p:stCondLst>
                        <p:cond delay="indefinite"/>
                      </p:stCondLst>
                      <p:childTnLst>
                        <p:par>
                          <p:cTn id="70" nodeType="withEffect" fill="hold">
                            <p:stCondLst>
                              <p:cond delay="0"/>
                            </p:stCondLst>
                            <p:childTnLst>
                              <p:par>
                                <p:cTn id="71" nodeType="clickEffect" fill="hold" presetClass="entr" presetID="22" presetSubtype="8">
                                  <p:stCondLst>
                                    <p:cond delay="0"/>
                                  </p:stCondLst>
                                  <p:childTnLst>
                                    <p:set>
                                      <p:cBhvr>
                                        <p:cTn id="72" dur="1" fill="hold">
                                          <p:stCondLst>
                                            <p:cond delay="0"/>
                                          </p:stCondLst>
                                        </p:cTn>
                                        <p:tgtEl>
                                          <p:spTgt spid="46">
                                            <p:txEl>
                                              <p:pRg st="1" end="1"/>
                                            </p:txEl>
                                          </p:spTgt>
                                        </p:tgtEl>
                                        <p:attrNameLst>
                                          <p:attrName>style.visibility</p:attrName>
                                        </p:attrNameLst>
                                      </p:cBhvr>
                                      <p:to>
                                        <p:strVal val="visible"/>
                                      </p:to>
                                    </p:set>
                                    <p:animEffect filter="wipe(left)" transition="in">
                                      <p:cBhvr additive="repl">
                                        <p:cTn id="73" dur="500"/>
                                        <p:tgtEl>
                                          <p:spTgt spid="46">
                                            <p:txEl>
                                              <p:pRg st="1" end="1"/>
                                            </p:txEl>
                                          </p:spTgt>
                                        </p:tgtEl>
                                      </p:cBhvr>
                                    </p:animEffect>
                                  </p:childTnLst>
                                </p:cTn>
                              </p:par>
                            </p:childTnLst>
                          </p:cTn>
                        </p:par>
                      </p:childTnLst>
                    </p:cTn>
                  </p:par>
                  <p:par>
                    <p:cTn id="74" nodeType="clickEffect" fill="hold">
                      <p:stCondLst>
                        <p:cond delay="indefinite"/>
                      </p:stCondLst>
                      <p:childTnLst>
                        <p:par>
                          <p:cTn id="75" nodeType="withEffect" fill="hold">
                            <p:stCondLst>
                              <p:cond delay="0"/>
                            </p:stCondLst>
                            <p:childTnLst>
                              <p:par>
                                <p:cTn id="76" nodeType="clickEffect" fill="hold" presetClass="entr" presetID="22" presetSubtype="8">
                                  <p:stCondLst>
                                    <p:cond delay="0"/>
                                  </p:stCondLst>
                                  <p:childTnLst>
                                    <p:set>
                                      <p:cBhvr>
                                        <p:cTn id="77" dur="1" fill="hold">
                                          <p:stCondLst>
                                            <p:cond delay="0"/>
                                          </p:stCondLst>
                                        </p:cTn>
                                        <p:tgtEl>
                                          <p:spTgt spid="46">
                                            <p:txEl>
                                              <p:pRg st="2" end="2"/>
                                            </p:txEl>
                                          </p:spTgt>
                                        </p:tgtEl>
                                        <p:attrNameLst>
                                          <p:attrName>style.visibility</p:attrName>
                                        </p:attrNameLst>
                                      </p:cBhvr>
                                      <p:to>
                                        <p:strVal val="visible"/>
                                      </p:to>
                                    </p:set>
                                    <p:animEffect filter="wipe(left)" transition="in">
                                      <p:cBhvr additive="repl">
                                        <p:cTn id="78" dur="500"/>
                                        <p:tgtEl>
                                          <p:spTgt spid="46">
                                            <p:txEl>
                                              <p:pRg st="2" end="2"/>
                                            </p:txEl>
                                          </p:spTgt>
                                        </p:tgtEl>
                                      </p:cBhvr>
                                    </p:animEffect>
                                  </p:childTnLst>
                                </p:cTn>
                              </p:par>
                            </p:childTnLst>
                          </p:cTn>
                        </p:par>
                      </p:childTnLst>
                    </p:cTn>
                  </p:par>
                  <p:par>
                    <p:cTn id="79" nodeType="clickEffect" fill="hold">
                      <p:stCondLst>
                        <p:cond delay="indefinite"/>
                      </p:stCondLst>
                      <p:childTnLst>
                        <p:par>
                          <p:cTn id="80" nodeType="withEffect" fill="hold">
                            <p:stCondLst>
                              <p:cond delay="0"/>
                            </p:stCondLst>
                            <p:childTnLst>
                              <p:par>
                                <p:cTn id="81" nodeType="clickEffect" fill="hold" presetClass="entr" presetID="22" presetSubtype="8">
                                  <p:stCondLst>
                                    <p:cond delay="0"/>
                                  </p:stCondLst>
                                  <p:childTnLst>
                                    <p:set>
                                      <p:cBhvr>
                                        <p:cTn id="82" dur="1" fill="hold">
                                          <p:stCondLst>
                                            <p:cond delay="0"/>
                                          </p:stCondLst>
                                        </p:cTn>
                                        <p:tgtEl>
                                          <p:spTgt spid="46">
                                            <p:txEl>
                                              <p:pRg st="3" end="3"/>
                                            </p:txEl>
                                          </p:spTgt>
                                        </p:tgtEl>
                                        <p:attrNameLst>
                                          <p:attrName>style.visibility</p:attrName>
                                        </p:attrNameLst>
                                      </p:cBhvr>
                                      <p:to>
                                        <p:strVal val="visible"/>
                                      </p:to>
                                    </p:set>
                                    <p:animEffect filter="wipe(left)" transition="in">
                                      <p:cBhvr additive="repl">
                                        <p:cTn id="83" dur="500"/>
                                        <p:tgtEl>
                                          <p:spTgt spid="4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4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499"/>
              </a:spcBef>
              <a:spcAft>
                <a:spcPts val="601"/>
              </a:spcAft>
              <a:buNone/>
            </a:pPr>
            <a:r>
              <a:rPr b="1" lang="en-US" sz="2400" strike="noStrike" u="none">
                <a:solidFill>
                  <a:srgbClr val="ff0000"/>
                </a:solidFill>
                <a:effectLst/>
                <a:uFillTx/>
                <a:latin typeface="Arial"/>
                <a:ea typeface="ＭＳ Ｐゴシック"/>
              </a:rPr>
              <a:t>Economic depreciation</a:t>
            </a:r>
            <a:r>
              <a:rPr b="0" lang="en-US" sz="2400" strike="noStrike" u="none">
                <a:solidFill>
                  <a:schemeClr val="dk1"/>
                </a:solidFill>
                <a:effectLst/>
                <a:uFillTx/>
                <a:latin typeface="Arial"/>
                <a:ea typeface="ＭＳ Ｐゴシック"/>
              </a:rPr>
              <a:t> is an opportunity cost of a firm using capital that it owns—measured as the change in the </a:t>
            </a:r>
            <a:r>
              <a:rPr b="0" i="1" lang="en-US" sz="2400" strike="noStrike" u="none">
                <a:solidFill>
                  <a:schemeClr val="dk1"/>
                </a:solidFill>
                <a:effectLst/>
                <a:uFillTx/>
                <a:latin typeface="Arial"/>
                <a:ea typeface="ＭＳ Ｐゴシック"/>
              </a:rPr>
              <a:t>market</a:t>
            </a:r>
            <a:r>
              <a:rPr b="0" lang="en-US" sz="2400" strike="noStrike" u="none">
                <a:solidFill>
                  <a:schemeClr val="dk1"/>
                </a:solidFill>
                <a:effectLst/>
                <a:uFillTx/>
                <a:latin typeface="Arial"/>
                <a:ea typeface="ＭＳ Ｐゴシック"/>
              </a:rPr>
              <a:t> value of capital over a given period.</a:t>
            </a:r>
            <a:endParaRPr b="1" lang="en-CA" sz="2400" strike="noStrike" u="none">
              <a:solidFill>
                <a:srgbClr val="00468f"/>
              </a:solidFill>
              <a:effectLst/>
              <a:uFillTx/>
              <a:latin typeface="Arial"/>
            </a:endParaRPr>
          </a:p>
          <a:p>
            <a:pPr marL="360000" indent="0">
              <a:lnSpc>
                <a:spcPct val="100000"/>
              </a:lnSpc>
              <a:spcBef>
                <a:spcPts val="499"/>
              </a:spcBef>
              <a:spcAft>
                <a:spcPts val="601"/>
              </a:spcAft>
              <a:buNone/>
            </a:pPr>
            <a:r>
              <a:rPr b="1" lang="en-US" sz="2400" strike="noStrike" u="none">
                <a:solidFill>
                  <a:srgbClr val="ff0000"/>
                </a:solidFill>
                <a:effectLst/>
                <a:uFillTx/>
                <a:latin typeface="Arial"/>
                <a:ea typeface="ＭＳ Ｐゴシック"/>
              </a:rPr>
              <a:t>Normal profit</a:t>
            </a:r>
            <a:r>
              <a:rPr b="0"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is the return to entrepreneurship. </a:t>
            </a:r>
            <a:endParaRPr b="1" lang="en-CA" sz="2400" strike="noStrike" u="none">
              <a:solidFill>
                <a:srgbClr val="00468f"/>
              </a:solidFill>
              <a:effectLst/>
              <a:uFillTx/>
              <a:latin typeface="Arial"/>
            </a:endParaRPr>
          </a:p>
          <a:p>
            <a:pPr marL="360000" indent="0">
              <a:lnSpc>
                <a:spcPct val="100000"/>
              </a:lnSpc>
              <a:spcBef>
                <a:spcPts val="499"/>
              </a:spcBef>
              <a:spcAft>
                <a:spcPts val="601"/>
              </a:spcAft>
              <a:buNone/>
            </a:pPr>
            <a:r>
              <a:rPr b="0" lang="en-US" sz="2400" strike="noStrike" u="none">
                <a:solidFill>
                  <a:schemeClr val="dk1"/>
                </a:solidFill>
                <a:effectLst/>
                <a:uFillTx/>
                <a:latin typeface="Arial"/>
                <a:ea typeface="ＭＳ Ｐゴシック"/>
              </a:rPr>
              <a:t>Normal profit is part of a firm’s opportunity cost because it is the cost of the entrepreneur not running another firm.</a:t>
            </a:r>
            <a:endParaRPr b="1" lang="en-CA" sz="2400" strike="noStrike" u="none">
              <a:solidFill>
                <a:srgbClr val="00468f"/>
              </a:solidFill>
              <a:effectLst/>
              <a:uFillTx/>
              <a:latin typeface="Arial"/>
            </a:endParaRPr>
          </a:p>
          <a:p>
            <a:pPr marL="460440" indent="-3240">
              <a:lnSpc>
                <a:spcPct val="100000"/>
              </a:lnSpc>
              <a:spcBef>
                <a:spcPts val="499"/>
              </a:spcBef>
              <a:spcAft>
                <a:spcPts val="601"/>
              </a:spcAft>
              <a:buNone/>
              <a:tabLst>
                <a:tab algn="l" pos="0"/>
              </a:tabLst>
            </a:pPr>
            <a:endParaRPr b="1" lang="en-CA" sz="2400" strike="noStrike" u="none">
              <a:solidFill>
                <a:srgbClr val="00468f"/>
              </a:solidFill>
              <a:effectLst/>
              <a:uFillTx/>
              <a:latin typeface="Arial"/>
            </a:endParaRPr>
          </a:p>
        </p:txBody>
      </p:sp>
    </p:spTree>
  </p:cSld>
  <p:transition spd="slow">
    <p:wipe dir="r"/>
  </p:transition>
  <p:timing>
    <p:tnLst>
      <p:par>
        <p:cTn id="84" dur="indefinite" restart="never" nodeType="tmRoot">
          <p:childTnLst>
            <p:seq>
              <p:cTn id="85" dur="indefinite" nodeType="mainSeq">
                <p:childTnLst>
                  <p:par>
                    <p:cTn id="86" nodeType="clickEffect" fill="hold">
                      <p:stCondLst>
                        <p:cond delay="indefinite"/>
                      </p:stCondLst>
                      <p:childTnLst>
                        <p:par>
                          <p:cTn id="87" nodeType="withEffect" fill="hold">
                            <p:stCondLst>
                              <p:cond delay="0"/>
                            </p:stCondLst>
                            <p:childTnLst>
                              <p:par>
                                <p:cTn id="88" nodeType="clickEffect" fill="hold" presetClass="entr" presetID="22" presetSubtype="8">
                                  <p:stCondLst>
                                    <p:cond delay="0"/>
                                  </p:stCondLst>
                                  <p:childTnLst>
                                    <p:set>
                                      <p:cBhvr>
                                        <p:cTn id="89" dur="1" fill="hold">
                                          <p:stCondLst>
                                            <p:cond delay="0"/>
                                          </p:stCondLst>
                                        </p:cTn>
                                        <p:tgtEl>
                                          <p:spTgt spid="48">
                                            <p:txEl>
                                              <p:pRg st="1" end="1"/>
                                            </p:txEl>
                                          </p:spTgt>
                                        </p:tgtEl>
                                        <p:attrNameLst>
                                          <p:attrName>style.visibility</p:attrName>
                                        </p:attrNameLst>
                                      </p:cBhvr>
                                      <p:to>
                                        <p:strVal val="visible"/>
                                      </p:to>
                                    </p:set>
                                    <p:animEffect filter="wipe(left)" transition="in">
                                      <p:cBhvr additive="repl">
                                        <p:cTn id="90" dur="500"/>
                                        <p:tgtEl>
                                          <p:spTgt spid="48">
                                            <p:txEl>
                                              <p:pRg st="1" end="1"/>
                                            </p:txEl>
                                          </p:spTgt>
                                        </p:tgtEl>
                                      </p:cBhvr>
                                    </p:animEffect>
                                  </p:childTnLst>
                                </p:cTn>
                              </p:par>
                            </p:childTnLst>
                          </p:cTn>
                        </p:par>
                      </p:childTnLst>
                    </p:cTn>
                  </p:par>
                  <p:par>
                    <p:cTn id="91" nodeType="clickEffect" fill="hold">
                      <p:stCondLst>
                        <p:cond delay="indefinite"/>
                      </p:stCondLst>
                      <p:childTnLst>
                        <p:par>
                          <p:cTn id="92" nodeType="withEffect" fill="hold">
                            <p:stCondLst>
                              <p:cond delay="0"/>
                            </p:stCondLst>
                            <p:childTnLst>
                              <p:par>
                                <p:cTn id="93" nodeType="clickEffect" fill="hold" presetClass="entr" presetID="22" presetSubtype="8">
                                  <p:stCondLst>
                                    <p:cond delay="0"/>
                                  </p:stCondLst>
                                  <p:childTnLst>
                                    <p:set>
                                      <p:cBhvr>
                                        <p:cTn id="94" dur="1" fill="hold">
                                          <p:stCondLst>
                                            <p:cond delay="0"/>
                                          </p:stCondLst>
                                        </p:cTn>
                                        <p:tgtEl>
                                          <p:spTgt spid="48">
                                            <p:txEl>
                                              <p:pRg st="2" end="2"/>
                                            </p:txEl>
                                          </p:spTgt>
                                        </p:tgtEl>
                                        <p:attrNameLst>
                                          <p:attrName>style.visibility</p:attrName>
                                        </p:attrNameLst>
                                      </p:cBhvr>
                                      <p:to>
                                        <p:strVal val="visible"/>
                                      </p:to>
                                    </p:set>
                                    <p:animEffect filter="wipe(left)" transition="in">
                                      <p:cBhvr additive="repl">
                                        <p:cTn id="95" dur="500"/>
                                        <p:tgtEl>
                                          <p:spTgt spid="4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5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Economic Profit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firm’s </a:t>
            </a:r>
            <a:r>
              <a:rPr b="1" lang="en-US" sz="2400" strike="noStrike" u="none">
                <a:solidFill>
                  <a:srgbClr val="ff0000"/>
                </a:solidFill>
                <a:effectLst/>
                <a:uFillTx/>
                <a:latin typeface="Arial"/>
                <a:ea typeface="ＭＳ Ｐゴシック"/>
              </a:rPr>
              <a:t>economic profit</a:t>
            </a:r>
            <a:r>
              <a:rPr b="0" lang="en-US" sz="2400" strike="noStrike" u="none">
                <a:solidFill>
                  <a:schemeClr val="dk1"/>
                </a:solidFill>
                <a:effectLst/>
                <a:uFillTx/>
                <a:latin typeface="Arial"/>
                <a:ea typeface="ＭＳ Ｐゴシック"/>
              </a:rPr>
              <a:t> equals total revenue minus total cost.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cost is the sum of the explicit costs and implicit costs and is the opportunity cost of production.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one of the firm’s implicit costs is </a:t>
            </a:r>
            <a:r>
              <a:rPr b="0" i="1" lang="en-US" sz="2400" strike="noStrike" u="none">
                <a:solidFill>
                  <a:schemeClr val="dk1"/>
                </a:solidFill>
                <a:effectLst/>
                <a:uFillTx/>
                <a:latin typeface="Arial"/>
                <a:ea typeface="ＭＳ Ｐゴシック"/>
              </a:rPr>
              <a:t>normal profit</a:t>
            </a:r>
            <a:r>
              <a:rPr b="0" lang="en-US" sz="2400" strike="noStrike" u="none">
                <a:solidFill>
                  <a:schemeClr val="dk1"/>
                </a:solidFill>
                <a:effectLst/>
                <a:uFillTx/>
                <a:latin typeface="Arial"/>
                <a:ea typeface="ＭＳ Ｐゴシック"/>
              </a:rPr>
              <a:t>, the return to the entrepreneur equals normal profit plus economic profit.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a firm incurs an economic loss, the entrepreneur receives less than normal profit.</a:t>
            </a:r>
            <a:endParaRPr b="1" lang="en-CA" sz="2400" strike="noStrike" u="none">
              <a:solidFill>
                <a:srgbClr val="00468f"/>
              </a:solidFill>
              <a:effectLst/>
              <a:uFillTx/>
              <a:latin typeface="Arial"/>
            </a:endParaRPr>
          </a:p>
        </p:txBody>
      </p:sp>
    </p:spTree>
  </p:cSld>
  <p:transition spd="slow">
    <p:wipe dir="r"/>
  </p:transition>
  <p:timing>
    <p:tnLst>
      <p:par>
        <p:cTn id="96" dur="indefinite" restart="never" nodeType="tmRoot">
          <p:childTnLst>
            <p:seq>
              <p:cTn id="97" dur="indefinite" nodeType="mainSeq">
                <p:childTnLst>
                  <p:par>
                    <p:cTn id="98" nodeType="clickEffect" fill="hold">
                      <p:stCondLst>
                        <p:cond delay="indefinite"/>
                      </p:stCondLst>
                      <p:childTnLst>
                        <p:par>
                          <p:cTn id="99" nodeType="withEffect" fill="hold">
                            <p:stCondLst>
                              <p:cond delay="0"/>
                            </p:stCondLst>
                            <p:childTnLst>
                              <p:par>
                                <p:cTn id="100" nodeType="clickEffect" fill="hold" presetClass="entr" presetID="22" presetSubtype="8">
                                  <p:stCondLst>
                                    <p:cond delay="0"/>
                                  </p:stCondLst>
                                  <p:childTnLst>
                                    <p:set>
                                      <p:cBhvr>
                                        <p:cTn id="101" dur="1" fill="hold">
                                          <p:stCondLst>
                                            <p:cond delay="0"/>
                                          </p:stCondLst>
                                        </p:cTn>
                                        <p:tgtEl>
                                          <p:spTgt spid="50">
                                            <p:txEl>
                                              <p:pRg st="1" end="1"/>
                                            </p:txEl>
                                          </p:spTgt>
                                        </p:tgtEl>
                                        <p:attrNameLst>
                                          <p:attrName>style.visibility</p:attrName>
                                        </p:attrNameLst>
                                      </p:cBhvr>
                                      <p:to>
                                        <p:strVal val="visible"/>
                                      </p:to>
                                    </p:set>
                                    <p:animEffect filter="wipe(left)" transition="in">
                                      <p:cBhvr additive="repl">
                                        <p:cTn id="102" dur="500"/>
                                        <p:tgtEl>
                                          <p:spTgt spid="50">
                                            <p:txEl>
                                              <p:pRg st="1" end="1"/>
                                            </p:txEl>
                                          </p:spTgt>
                                        </p:tgtEl>
                                      </p:cBhvr>
                                    </p:animEffect>
                                  </p:childTnLst>
                                </p:cTn>
                              </p:par>
                            </p:childTnLst>
                          </p:cTn>
                        </p:par>
                      </p:childTnLst>
                    </p:cTn>
                  </p:par>
                  <p:par>
                    <p:cTn id="103" nodeType="clickEffect" fill="hold">
                      <p:stCondLst>
                        <p:cond delay="indefinite"/>
                      </p:stCondLst>
                      <p:childTnLst>
                        <p:par>
                          <p:cTn id="104" nodeType="withEffect" fill="hold">
                            <p:stCondLst>
                              <p:cond delay="0"/>
                            </p:stCondLst>
                            <p:childTnLst>
                              <p:par>
                                <p:cTn id="105" nodeType="clickEffect" fill="hold" presetClass="entr" presetID="22" presetSubtype="8">
                                  <p:stCondLst>
                                    <p:cond delay="0"/>
                                  </p:stCondLst>
                                  <p:childTnLst>
                                    <p:set>
                                      <p:cBhvr>
                                        <p:cTn id="106" dur="1" fill="hold">
                                          <p:stCondLst>
                                            <p:cond delay="0"/>
                                          </p:stCondLst>
                                        </p:cTn>
                                        <p:tgtEl>
                                          <p:spTgt spid="50">
                                            <p:txEl>
                                              <p:pRg st="2" end="2"/>
                                            </p:txEl>
                                          </p:spTgt>
                                        </p:tgtEl>
                                        <p:attrNameLst>
                                          <p:attrName>style.visibility</p:attrName>
                                        </p:attrNameLst>
                                      </p:cBhvr>
                                      <p:to>
                                        <p:strVal val="visible"/>
                                      </p:to>
                                    </p:set>
                                    <p:animEffect filter="wipe(left)" transition="in">
                                      <p:cBhvr additive="repl">
                                        <p:cTn id="107" dur="500"/>
                                        <p:tgtEl>
                                          <p:spTgt spid="50">
                                            <p:txEl>
                                              <p:pRg st="2" end="2"/>
                                            </p:txEl>
                                          </p:spTgt>
                                        </p:tgtEl>
                                      </p:cBhvr>
                                    </p:animEffect>
                                  </p:childTnLst>
                                </p:cTn>
                              </p:par>
                            </p:childTnLst>
                          </p:cTn>
                        </p:par>
                      </p:childTnLst>
                    </p:cTn>
                  </p:par>
                  <p:par>
                    <p:cTn id="108" nodeType="clickEffect" fill="hold">
                      <p:stCondLst>
                        <p:cond delay="indefinite"/>
                      </p:stCondLst>
                      <p:childTnLst>
                        <p:par>
                          <p:cTn id="109" nodeType="withEffect" fill="hold">
                            <p:stCondLst>
                              <p:cond delay="0"/>
                            </p:stCondLst>
                            <p:childTnLst>
                              <p:par>
                                <p:cTn id="110" nodeType="clickEffect" fill="hold" presetClass="entr" presetID="22" presetSubtype="8">
                                  <p:stCondLst>
                                    <p:cond delay="0"/>
                                  </p:stCondLst>
                                  <p:childTnLst>
                                    <p:set>
                                      <p:cBhvr>
                                        <p:cTn id="111" dur="1" fill="hold">
                                          <p:stCondLst>
                                            <p:cond delay="0"/>
                                          </p:stCondLst>
                                        </p:cTn>
                                        <p:tgtEl>
                                          <p:spTgt spid="50">
                                            <p:txEl>
                                              <p:pRg st="3" end="3"/>
                                            </p:txEl>
                                          </p:spTgt>
                                        </p:tgtEl>
                                        <p:attrNameLst>
                                          <p:attrName>style.visibility</p:attrName>
                                        </p:attrNameLst>
                                      </p:cBhvr>
                                      <p:to>
                                        <p:strVal val="visible"/>
                                      </p:to>
                                    </p:set>
                                    <p:animEffect filter="wipe(left)" transition="in">
                                      <p:cBhvr additive="repl">
                                        <p:cTn id="112" dur="500"/>
                                        <p:tgtEl>
                                          <p:spTgt spid="50">
                                            <p:txEl>
                                              <p:pRg st="3" end="3"/>
                                            </p:txEl>
                                          </p:spTgt>
                                        </p:tgtEl>
                                      </p:cBhvr>
                                    </p:animEffect>
                                  </p:childTnLst>
                                </p:cTn>
                              </p:par>
                            </p:childTnLst>
                          </p:cTn>
                        </p:par>
                      </p:childTnLst>
                    </p:cTn>
                  </p:par>
                  <p:par>
                    <p:cTn id="113" nodeType="clickEffect" fill="hold">
                      <p:stCondLst>
                        <p:cond delay="indefinite"/>
                      </p:stCondLst>
                      <p:childTnLst>
                        <p:par>
                          <p:cTn id="114" nodeType="withEffect" fill="hold">
                            <p:stCondLst>
                              <p:cond delay="0"/>
                            </p:stCondLst>
                            <p:childTnLst>
                              <p:par>
                                <p:cTn id="115" nodeType="clickEffect" fill="hold" presetClass="entr" presetID="22" presetSubtype="8">
                                  <p:stCondLst>
                                    <p:cond delay="0"/>
                                  </p:stCondLst>
                                  <p:childTnLst>
                                    <p:set>
                                      <p:cBhvr>
                                        <p:cTn id="116" dur="1" fill="hold">
                                          <p:stCondLst>
                                            <p:cond delay="0"/>
                                          </p:stCondLst>
                                        </p:cTn>
                                        <p:tgtEl>
                                          <p:spTgt spid="50">
                                            <p:txEl>
                                              <p:pRg st="4" end="4"/>
                                            </p:txEl>
                                          </p:spTgt>
                                        </p:tgtEl>
                                        <p:attrNameLst>
                                          <p:attrName>style.visibility</p:attrName>
                                        </p:attrNameLst>
                                      </p:cBhvr>
                                      <p:to>
                                        <p:strVal val="visible"/>
                                      </p:to>
                                    </p:set>
                                    <p:animEffect filter="wipe(left)" transition="in">
                                      <p:cBhvr additive="repl">
                                        <p:cTn id="117" dur="500"/>
                                        <p:tgtEl>
                                          <p:spTgt spid="5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pic>
        <p:nvPicPr>
          <p:cNvPr id="52" name="Picture 1" descr=""/>
          <p:cNvPicPr/>
          <p:nvPr/>
        </p:nvPicPr>
        <p:blipFill>
          <a:blip r:embed="rId1"/>
          <a:stretch/>
        </p:blipFill>
        <p:spPr>
          <a:xfrm>
            <a:off x="1447920" y="1523880"/>
            <a:ext cx="6048000" cy="4723920"/>
          </a:xfrm>
          <a:prstGeom prst="rect">
            <a:avLst/>
          </a:prstGeom>
          <a:noFill/>
          <a:ln w="0">
            <a:noFill/>
          </a:ln>
        </p:spPr>
      </p:pic>
      <p:pic>
        <p:nvPicPr>
          <p:cNvPr id="53" name="Picture 2" descr=""/>
          <p:cNvPicPr/>
          <p:nvPr/>
        </p:nvPicPr>
        <p:blipFill>
          <a:blip r:embed="rId2"/>
          <a:stretch/>
        </p:blipFill>
        <p:spPr>
          <a:xfrm>
            <a:off x="1447920" y="1523880"/>
            <a:ext cx="6048000" cy="4723920"/>
          </a:xfrm>
          <a:prstGeom prst="rect">
            <a:avLst/>
          </a:prstGeom>
          <a:noFill/>
          <a:ln w="0">
            <a:noFill/>
          </a:ln>
        </p:spPr>
      </p:pic>
      <p:pic>
        <p:nvPicPr>
          <p:cNvPr id="54" name="Picture 3" descr=""/>
          <p:cNvPicPr/>
          <p:nvPr/>
        </p:nvPicPr>
        <p:blipFill>
          <a:blip r:embed="rId3"/>
          <a:stretch/>
        </p:blipFill>
        <p:spPr>
          <a:xfrm>
            <a:off x="1447920" y="1523880"/>
            <a:ext cx="6048000" cy="4723920"/>
          </a:xfrm>
          <a:prstGeom prst="rect">
            <a:avLst/>
          </a:prstGeom>
          <a:noFill/>
          <a:ln w="0">
            <a:noFill/>
          </a:ln>
        </p:spPr>
      </p:pic>
      <p:pic>
        <p:nvPicPr>
          <p:cNvPr id="55" name="Picture 4" descr=""/>
          <p:cNvPicPr/>
          <p:nvPr/>
        </p:nvPicPr>
        <p:blipFill>
          <a:blip r:embed="rId4"/>
          <a:stretch/>
        </p:blipFill>
        <p:spPr>
          <a:xfrm>
            <a:off x="1447920" y="1523880"/>
            <a:ext cx="6048000" cy="4723920"/>
          </a:xfrm>
          <a:prstGeom prst="rect">
            <a:avLst/>
          </a:prstGeom>
          <a:noFill/>
          <a:ln w="0">
            <a:noFill/>
          </a:ln>
        </p:spPr>
      </p:pic>
      <p:pic>
        <p:nvPicPr>
          <p:cNvPr id="56" name="Picture 5" descr=""/>
          <p:cNvPicPr/>
          <p:nvPr/>
        </p:nvPicPr>
        <p:blipFill>
          <a:blip r:embed="rId5"/>
          <a:stretch/>
        </p:blipFill>
        <p:spPr>
          <a:xfrm>
            <a:off x="1447920" y="1523880"/>
            <a:ext cx="6048000" cy="4723920"/>
          </a:xfrm>
          <a:prstGeom prst="rect">
            <a:avLst/>
          </a:prstGeom>
          <a:noFill/>
          <a:ln w="0">
            <a:noFill/>
          </a:ln>
        </p:spPr>
      </p:pic>
      <p:pic>
        <p:nvPicPr>
          <p:cNvPr id="57" name="Picture 6" descr=""/>
          <p:cNvPicPr/>
          <p:nvPr/>
        </p:nvPicPr>
        <p:blipFill>
          <a:blip r:embed="rId6"/>
          <a:stretch/>
        </p:blipFill>
        <p:spPr>
          <a:xfrm>
            <a:off x="1447920" y="1523880"/>
            <a:ext cx="6048000" cy="4723920"/>
          </a:xfrm>
          <a:prstGeom prst="rect">
            <a:avLst/>
          </a:prstGeom>
          <a:noFill/>
          <a:ln w="0">
            <a:noFill/>
          </a:ln>
        </p:spPr>
      </p:pic>
    </p:spTree>
  </p:cSld>
  <p:transition spd="slow">
    <p:wipe dir="r"/>
  </p:transition>
  <p:timing>
    <p:tnLst>
      <p:par>
        <p:cTn id="118" dur="indefinite" restart="never" nodeType="tmRoot">
          <p:childTnLst>
            <p:seq>
              <p:cTn id="119" dur="indefinite" nodeType="mainSeq">
                <p:childTnLst>
                  <p:par>
                    <p:cTn id="120" nodeType="clickEffect" fill="hold">
                      <p:stCondLst>
                        <p:cond delay="indefinite"/>
                      </p:stCondLst>
                      <p:childTnLst>
                        <p:par>
                          <p:cTn id="121" nodeType="withEffect" fill="hold">
                            <p:stCondLst>
                              <p:cond delay="0"/>
                            </p:stCondLst>
                            <p:childTnLst>
                              <p:par>
                                <p:cTn id="122" nodeType="clickEffect" fill="hold" presetClass="entr" presetID="22" presetSubtype="8">
                                  <p:stCondLst>
                                    <p:cond delay="0"/>
                                  </p:stCondLst>
                                  <p:childTnLst>
                                    <p:set>
                                      <p:cBhvr>
                                        <p:cTn id="123" dur="1" fill="hold">
                                          <p:stCondLst>
                                            <p:cond delay="0"/>
                                          </p:stCondLst>
                                        </p:cTn>
                                        <p:tgtEl>
                                          <p:spTgt spid="53"/>
                                        </p:tgtEl>
                                        <p:attrNameLst>
                                          <p:attrName>style.visibility</p:attrName>
                                        </p:attrNameLst>
                                      </p:cBhvr>
                                      <p:to>
                                        <p:strVal val="visible"/>
                                      </p:to>
                                    </p:set>
                                    <p:animEffect filter="wipe(left)" transition="in">
                                      <p:cBhvr additive="repl">
                                        <p:cTn id="124" dur="1250"/>
                                        <p:tgtEl>
                                          <p:spTgt spid="53"/>
                                        </p:tgtEl>
                                      </p:cBhvr>
                                    </p:animEffect>
                                  </p:childTnLst>
                                </p:cTn>
                              </p:par>
                            </p:childTnLst>
                          </p:cTn>
                        </p:par>
                      </p:childTnLst>
                    </p:cTn>
                  </p:par>
                  <p:par>
                    <p:cTn id="125" nodeType="clickEffect" fill="hold">
                      <p:stCondLst>
                        <p:cond delay="indefinite"/>
                      </p:stCondLst>
                      <p:childTnLst>
                        <p:par>
                          <p:cTn id="126" nodeType="withEffect" fill="hold">
                            <p:stCondLst>
                              <p:cond delay="0"/>
                            </p:stCondLst>
                            <p:childTnLst>
                              <p:par>
                                <p:cTn id="127" nodeType="clickEffect" fill="hold" presetClass="entr" presetID="22" presetSubtype="8">
                                  <p:stCondLst>
                                    <p:cond delay="0"/>
                                  </p:stCondLst>
                                  <p:childTnLst>
                                    <p:set>
                                      <p:cBhvr>
                                        <p:cTn id="128" dur="1" fill="hold">
                                          <p:stCondLst>
                                            <p:cond delay="0"/>
                                          </p:stCondLst>
                                        </p:cTn>
                                        <p:tgtEl>
                                          <p:spTgt spid="54"/>
                                        </p:tgtEl>
                                        <p:attrNameLst>
                                          <p:attrName>style.visibility</p:attrName>
                                        </p:attrNameLst>
                                      </p:cBhvr>
                                      <p:to>
                                        <p:strVal val="visible"/>
                                      </p:to>
                                    </p:set>
                                    <p:animEffect filter="wipe(left)" transition="in">
                                      <p:cBhvr additive="repl">
                                        <p:cTn id="129" dur="1250"/>
                                        <p:tgtEl>
                                          <p:spTgt spid="54"/>
                                        </p:tgtEl>
                                      </p:cBhvr>
                                    </p:animEffect>
                                  </p:childTnLst>
                                </p:cTn>
                              </p:par>
                            </p:childTnLst>
                          </p:cTn>
                        </p:par>
                      </p:childTnLst>
                    </p:cTn>
                  </p:par>
                  <p:par>
                    <p:cTn id="130" nodeType="clickEffect" fill="hold">
                      <p:stCondLst>
                        <p:cond delay="indefinite"/>
                      </p:stCondLst>
                      <p:childTnLst>
                        <p:par>
                          <p:cTn id="131" nodeType="withEffect" fill="hold">
                            <p:stCondLst>
                              <p:cond delay="0"/>
                            </p:stCondLst>
                            <p:childTnLst>
                              <p:par>
                                <p:cTn id="132" nodeType="clickEffect" fill="hold" presetClass="entr" presetID="22" presetSubtype="8">
                                  <p:stCondLst>
                                    <p:cond delay="0"/>
                                  </p:stCondLst>
                                  <p:childTnLst>
                                    <p:set>
                                      <p:cBhvr>
                                        <p:cTn id="133" dur="1" fill="hold">
                                          <p:stCondLst>
                                            <p:cond delay="0"/>
                                          </p:stCondLst>
                                        </p:cTn>
                                        <p:tgtEl>
                                          <p:spTgt spid="55"/>
                                        </p:tgtEl>
                                        <p:attrNameLst>
                                          <p:attrName>style.visibility</p:attrName>
                                        </p:attrNameLst>
                                      </p:cBhvr>
                                      <p:to>
                                        <p:strVal val="visible"/>
                                      </p:to>
                                    </p:set>
                                    <p:animEffect filter="wipe(left)" transition="in">
                                      <p:cBhvr additive="repl">
                                        <p:cTn id="134" dur="1250"/>
                                        <p:tgtEl>
                                          <p:spTgt spid="55"/>
                                        </p:tgtEl>
                                      </p:cBhvr>
                                    </p:animEffect>
                                  </p:childTnLst>
                                </p:cTn>
                              </p:par>
                            </p:childTnLst>
                          </p:cTn>
                        </p:par>
                      </p:childTnLst>
                    </p:cTn>
                  </p:par>
                  <p:par>
                    <p:cTn id="135" nodeType="clickEffect" fill="hold">
                      <p:stCondLst>
                        <p:cond delay="indefinite"/>
                      </p:stCondLst>
                      <p:childTnLst>
                        <p:par>
                          <p:cTn id="136" nodeType="withEffect" fill="hold">
                            <p:stCondLst>
                              <p:cond delay="0"/>
                            </p:stCondLst>
                            <p:childTnLst>
                              <p:par>
                                <p:cTn id="137" nodeType="clickEffect" fill="hold" presetClass="entr" presetID="22" presetSubtype="8">
                                  <p:stCondLst>
                                    <p:cond delay="0"/>
                                  </p:stCondLst>
                                  <p:childTnLst>
                                    <p:set>
                                      <p:cBhvr>
                                        <p:cTn id="138" dur="1" fill="hold">
                                          <p:stCondLst>
                                            <p:cond delay="0"/>
                                          </p:stCondLst>
                                        </p:cTn>
                                        <p:tgtEl>
                                          <p:spTgt spid="56"/>
                                        </p:tgtEl>
                                        <p:attrNameLst>
                                          <p:attrName>style.visibility</p:attrName>
                                        </p:attrNameLst>
                                      </p:cBhvr>
                                      <p:to>
                                        <p:strVal val="visible"/>
                                      </p:to>
                                    </p:set>
                                    <p:animEffect filter="wipe(left)" transition="in">
                                      <p:cBhvr additive="repl">
                                        <p:cTn id="139" dur="1250"/>
                                        <p:tgtEl>
                                          <p:spTgt spid="56"/>
                                        </p:tgtEl>
                                      </p:cBhvr>
                                    </p:animEffect>
                                  </p:childTnLst>
                                </p:cTn>
                              </p:par>
                            </p:childTnLst>
                          </p:cTn>
                        </p:par>
                      </p:childTnLst>
                    </p:cTn>
                  </p:par>
                  <p:par>
                    <p:cTn id="140" nodeType="clickEffect" fill="hold">
                      <p:stCondLst>
                        <p:cond delay="indefinite"/>
                      </p:stCondLst>
                      <p:childTnLst>
                        <p:par>
                          <p:cTn id="141" nodeType="withEffect" fill="hold">
                            <p:stCondLst>
                              <p:cond delay="0"/>
                            </p:stCondLst>
                            <p:childTnLst>
                              <p:par>
                                <p:cTn id="142" nodeType="clickEffect" fill="hold" presetClass="entr" presetID="22" presetSubtype="8">
                                  <p:stCondLst>
                                    <p:cond delay="0"/>
                                  </p:stCondLst>
                                  <p:childTnLst>
                                    <p:set>
                                      <p:cBhvr>
                                        <p:cTn id="143" dur="1" fill="hold">
                                          <p:stCondLst>
                                            <p:cond delay="0"/>
                                          </p:stCondLst>
                                        </p:cTn>
                                        <p:tgtEl>
                                          <p:spTgt spid="57"/>
                                        </p:tgtEl>
                                        <p:attrNameLst>
                                          <p:attrName>style.visibility</p:attrName>
                                        </p:attrNameLst>
                                      </p:cBhvr>
                                      <p:to>
                                        <p:strVal val="visible"/>
                                      </p:to>
                                    </p:set>
                                    <p:animEffect filter="wipe(left)" transition="in">
                                      <p:cBhvr additive="repl">
                                        <p:cTn id="144" dur="1250"/>
                                        <p:tgtEl>
                                          <p:spTgt spid="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Picture 15" descr="fig1301a.gif"/>
          <p:cNvPicPr/>
          <p:nvPr/>
        </p:nvPicPr>
        <p:blipFill>
          <a:blip r:embed="rId1"/>
          <a:stretch/>
        </p:blipFill>
        <p:spPr>
          <a:xfrm>
            <a:off x="3240000" y="1440000"/>
            <a:ext cx="5552640" cy="3565080"/>
          </a:xfrm>
          <a:prstGeom prst="rect">
            <a:avLst/>
          </a:prstGeom>
          <a:noFill/>
          <a:ln w="0">
            <a:noFill/>
          </a:ln>
        </p:spPr>
      </p:pic>
      <p:pic>
        <p:nvPicPr>
          <p:cNvPr id="59" name="Picture 16" descr="fig1301b.gif"/>
          <p:cNvPicPr/>
          <p:nvPr/>
        </p:nvPicPr>
        <p:blipFill>
          <a:blip r:embed="rId2"/>
          <a:stretch/>
        </p:blipFill>
        <p:spPr>
          <a:xfrm>
            <a:off x="3240000" y="1440000"/>
            <a:ext cx="5552640" cy="3566880"/>
          </a:xfrm>
          <a:prstGeom prst="rect">
            <a:avLst/>
          </a:prstGeom>
          <a:noFill/>
          <a:ln w="0">
            <a:noFill/>
          </a:ln>
        </p:spPr>
      </p:pic>
      <p:pic>
        <p:nvPicPr>
          <p:cNvPr id="60" name="Picture 17" descr="fig1301c.gif"/>
          <p:cNvPicPr/>
          <p:nvPr/>
        </p:nvPicPr>
        <p:blipFill>
          <a:blip r:embed="rId3"/>
          <a:stretch/>
        </p:blipFill>
        <p:spPr>
          <a:xfrm>
            <a:off x="3240000" y="1440000"/>
            <a:ext cx="5552640" cy="3566880"/>
          </a:xfrm>
          <a:prstGeom prst="rect">
            <a:avLst/>
          </a:prstGeom>
          <a:noFill/>
          <a:ln w="0">
            <a:noFill/>
          </a:ln>
        </p:spPr>
      </p:pic>
      <p:pic>
        <p:nvPicPr>
          <p:cNvPr id="61" name="Picture 18" descr="fig1301d.gif"/>
          <p:cNvPicPr/>
          <p:nvPr/>
        </p:nvPicPr>
        <p:blipFill>
          <a:blip r:embed="rId4"/>
          <a:stretch/>
        </p:blipFill>
        <p:spPr>
          <a:xfrm>
            <a:off x="3240000" y="1440000"/>
            <a:ext cx="5552640" cy="3566880"/>
          </a:xfrm>
          <a:prstGeom prst="rect">
            <a:avLst/>
          </a:prstGeom>
          <a:noFill/>
          <a:ln w="0">
            <a:noFill/>
          </a:ln>
        </p:spPr>
      </p:pic>
      <p:sp>
        <p:nvSpPr>
          <p:cNvPr id="6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63" name="PlaceHolder 2"/>
          <p:cNvSpPr>
            <a:spLocks noGrp="1"/>
          </p:cNvSpPr>
          <p:nvPr>
            <p:ph/>
          </p:nvPr>
        </p:nvSpPr>
        <p:spPr>
          <a:xfrm>
            <a:off x="360360" y="1440000"/>
            <a:ext cx="32968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14.1     shows two views   of cost and profit.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revenue equals price multiplied by quantity sold.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Economists measure economic profit as total revenue minus opportunity cost.</a:t>
            </a:r>
            <a:endParaRPr b="1" lang="en-CA" sz="2400" strike="noStrike" u="none">
              <a:solidFill>
                <a:srgbClr val="00468f"/>
              </a:solidFill>
              <a:effectLst/>
              <a:uFillTx/>
              <a:latin typeface="Arial"/>
            </a:endParaRPr>
          </a:p>
        </p:txBody>
      </p:sp>
    </p:spTree>
  </p:cSld>
  <p:transition spd="med">
    <p:wipe dir="r"/>
  </p:transition>
  <p:timing>
    <p:tnLst>
      <p:par>
        <p:cTn id="145" dur="indefinite" restart="never" nodeType="tmRoot">
          <p:childTnLst>
            <p:seq>
              <p:cTn id="146" dur="indefinite" nodeType="mainSeq">
                <p:childTnLst>
                  <p:par>
                    <p:cTn id="147" nodeType="clickEffect" fill="hold">
                      <p:stCondLst>
                        <p:cond delay="indefinite"/>
                      </p:stCondLst>
                      <p:childTnLst>
                        <p:par>
                          <p:cTn id="148" nodeType="withEffect" fill="hold">
                            <p:stCondLst>
                              <p:cond delay="0"/>
                            </p:stCondLst>
                            <p:childTnLst>
                              <p:par>
                                <p:cTn id="149" nodeType="clickEffect" fill="hold" presetClass="entr" presetID="22" presetSubtype="8">
                                  <p:stCondLst>
                                    <p:cond delay="0"/>
                                  </p:stCondLst>
                                  <p:childTnLst>
                                    <p:set>
                                      <p:cBhvr>
                                        <p:cTn id="150" dur="1" fill="hold">
                                          <p:stCondLst>
                                            <p:cond delay="0"/>
                                          </p:stCondLst>
                                        </p:cTn>
                                        <p:tgtEl>
                                          <p:spTgt spid="63">
                                            <p:txEl>
                                              <p:pRg st="1" end="1"/>
                                            </p:txEl>
                                          </p:spTgt>
                                        </p:tgtEl>
                                        <p:attrNameLst>
                                          <p:attrName>style.visibility</p:attrName>
                                        </p:attrNameLst>
                                      </p:cBhvr>
                                      <p:to>
                                        <p:strVal val="visible"/>
                                      </p:to>
                                    </p:set>
                                    <p:animEffect filter="wipe(left)" transition="in">
                                      <p:cBhvr additive="repl">
                                        <p:cTn id="151" dur="500"/>
                                        <p:tgtEl>
                                          <p:spTgt spid="63">
                                            <p:txEl>
                                              <p:pRg st="1" end="1"/>
                                            </p:txEl>
                                          </p:spTgt>
                                        </p:tgtEl>
                                      </p:cBhvr>
                                    </p:animEffect>
                                  </p:childTnLst>
                                </p:cTn>
                              </p:par>
                              <p:par>
                                <p:cTn id="152" nodeType="withEffect" fill="hold" presetClass="entr" presetID="22" presetSubtype="4">
                                  <p:stCondLst>
                                    <p:cond delay="0"/>
                                  </p:stCondLst>
                                  <p:childTnLst>
                                    <p:set>
                                      <p:cBhvr>
                                        <p:cTn id="153" dur="1" fill="hold">
                                          <p:stCondLst>
                                            <p:cond delay="0"/>
                                          </p:stCondLst>
                                        </p:cTn>
                                        <p:tgtEl>
                                          <p:spTgt spid="59"/>
                                        </p:tgtEl>
                                        <p:attrNameLst>
                                          <p:attrName>style.visibility</p:attrName>
                                        </p:attrNameLst>
                                      </p:cBhvr>
                                      <p:to>
                                        <p:strVal val="visible"/>
                                      </p:to>
                                    </p:set>
                                    <p:animEffect filter="wipe(down)" transition="in">
                                      <p:cBhvr additive="repl">
                                        <p:cTn id="154" dur="1000"/>
                                        <p:tgtEl>
                                          <p:spTgt spid="59"/>
                                        </p:tgtEl>
                                      </p:cBhvr>
                                    </p:animEffect>
                                  </p:childTnLst>
                                </p:cTn>
                              </p:par>
                            </p:childTnLst>
                          </p:cTn>
                        </p:par>
                      </p:childTnLst>
                    </p:cTn>
                  </p:par>
                  <p:par>
                    <p:cTn id="155" nodeType="clickEffect" fill="hold">
                      <p:stCondLst>
                        <p:cond delay="indefinite"/>
                      </p:stCondLst>
                      <p:childTnLst>
                        <p:par>
                          <p:cTn id="156" nodeType="withEffect" fill="hold">
                            <p:stCondLst>
                              <p:cond delay="0"/>
                            </p:stCondLst>
                            <p:childTnLst>
                              <p:par>
                                <p:cTn id="157" nodeType="clickEffect" fill="hold" presetClass="entr" presetID="22" presetSubtype="8">
                                  <p:stCondLst>
                                    <p:cond delay="0"/>
                                  </p:stCondLst>
                                  <p:childTnLst>
                                    <p:set>
                                      <p:cBhvr>
                                        <p:cTn id="158" dur="1" fill="hold">
                                          <p:stCondLst>
                                            <p:cond delay="0"/>
                                          </p:stCondLst>
                                        </p:cTn>
                                        <p:tgtEl>
                                          <p:spTgt spid="63">
                                            <p:txEl>
                                              <p:pRg st="2" end="2"/>
                                            </p:txEl>
                                          </p:spTgt>
                                        </p:tgtEl>
                                        <p:attrNameLst>
                                          <p:attrName>style.visibility</p:attrName>
                                        </p:attrNameLst>
                                      </p:cBhvr>
                                      <p:to>
                                        <p:strVal val="visible"/>
                                      </p:to>
                                    </p:set>
                                    <p:animEffect filter="wipe(left)" transition="in">
                                      <p:cBhvr additive="repl">
                                        <p:cTn id="159" dur="500"/>
                                        <p:tgtEl>
                                          <p:spTgt spid="63">
                                            <p:txEl>
                                              <p:pRg st="2" end="2"/>
                                            </p:txEl>
                                          </p:spTgt>
                                        </p:tgtEl>
                                      </p:cBhvr>
                                    </p:animEffect>
                                  </p:childTnLst>
                                </p:cTn>
                              </p:par>
                              <p:par>
                                <p:cTn id="160" nodeType="withEffect" fill="hold" presetClass="entr" presetID="22" presetSubtype="4">
                                  <p:stCondLst>
                                    <p:cond delay="0"/>
                                  </p:stCondLst>
                                  <p:childTnLst>
                                    <p:set>
                                      <p:cBhvr>
                                        <p:cTn id="161" dur="1" fill="hold">
                                          <p:stCondLst>
                                            <p:cond delay="0"/>
                                          </p:stCondLst>
                                        </p:cTn>
                                        <p:tgtEl>
                                          <p:spTgt spid="60"/>
                                        </p:tgtEl>
                                        <p:attrNameLst>
                                          <p:attrName>style.visibility</p:attrName>
                                        </p:attrNameLst>
                                      </p:cBhvr>
                                      <p:to>
                                        <p:strVal val="visible"/>
                                      </p:to>
                                    </p:set>
                                    <p:animEffect filter="wipe(down)" transition="in">
                                      <p:cBhvr additive="repl">
                                        <p:cTn id="162" dur="1000"/>
                                        <p:tgtEl>
                                          <p:spTgt spid="60"/>
                                        </p:tgtEl>
                                      </p:cBhvr>
                                    </p:animEffect>
                                  </p:childTnLst>
                                </p:cTn>
                              </p:par>
                              <p:par>
                                <p:cTn id="163" nodeType="withEffect" fill="hold" presetClass="entr" presetID="22" presetSubtype="4">
                                  <p:stCondLst>
                                    <p:cond delay="500"/>
                                  </p:stCondLst>
                                  <p:childTnLst>
                                    <p:set>
                                      <p:cBhvr>
                                        <p:cTn id="164" dur="1" fill="hold">
                                          <p:stCondLst>
                                            <p:cond delay="0"/>
                                          </p:stCondLst>
                                        </p:cTn>
                                        <p:tgtEl>
                                          <p:spTgt spid="61"/>
                                        </p:tgtEl>
                                        <p:attrNameLst>
                                          <p:attrName>style.visibility</p:attrName>
                                        </p:attrNameLst>
                                      </p:cBhvr>
                                      <p:to>
                                        <p:strVal val="visible"/>
                                      </p:to>
                                    </p:set>
                                    <p:animEffect filter="wipe(down)" transition="in">
                                      <p:cBhvr additive="repl">
                                        <p:cTn id="165" dur="1000"/>
                                        <p:tgtEl>
                                          <p:spTgt spid="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64" name="Picture 11" descr="fig1301a.gif"/>
          <p:cNvPicPr/>
          <p:nvPr/>
        </p:nvPicPr>
        <p:blipFill>
          <a:blip r:embed="rId1"/>
          <a:stretch/>
        </p:blipFill>
        <p:spPr>
          <a:xfrm>
            <a:off x="380880" y="765000"/>
            <a:ext cx="8143560" cy="5229000"/>
          </a:xfrm>
          <a:prstGeom prst="rect">
            <a:avLst/>
          </a:prstGeom>
          <a:noFill/>
          <a:ln w="0">
            <a:noFill/>
          </a:ln>
        </p:spPr>
      </p:pic>
      <p:pic>
        <p:nvPicPr>
          <p:cNvPr id="65" name="Picture 12" descr="fig1301b.gif"/>
          <p:cNvPicPr/>
          <p:nvPr/>
        </p:nvPicPr>
        <p:blipFill>
          <a:blip r:embed="rId2"/>
          <a:stretch/>
        </p:blipFill>
        <p:spPr>
          <a:xfrm>
            <a:off x="380880" y="762120"/>
            <a:ext cx="8143560" cy="5230440"/>
          </a:xfrm>
          <a:prstGeom prst="rect">
            <a:avLst/>
          </a:prstGeom>
          <a:noFill/>
          <a:ln w="0">
            <a:noFill/>
          </a:ln>
        </p:spPr>
      </p:pic>
      <p:pic>
        <p:nvPicPr>
          <p:cNvPr id="66" name="Picture 13" descr="fig1301c.gif"/>
          <p:cNvPicPr/>
          <p:nvPr/>
        </p:nvPicPr>
        <p:blipFill>
          <a:blip r:embed="rId3"/>
          <a:stretch/>
        </p:blipFill>
        <p:spPr>
          <a:xfrm>
            <a:off x="380880" y="762120"/>
            <a:ext cx="8143560" cy="5230440"/>
          </a:xfrm>
          <a:prstGeom prst="rect">
            <a:avLst/>
          </a:prstGeom>
          <a:noFill/>
          <a:ln w="0">
            <a:noFill/>
          </a:ln>
        </p:spPr>
      </p:pic>
      <p:pic>
        <p:nvPicPr>
          <p:cNvPr id="67" name="Picture 14" descr="fig1301d.gif"/>
          <p:cNvPicPr/>
          <p:nvPr/>
        </p:nvPicPr>
        <p:blipFill>
          <a:blip r:embed="rId4"/>
          <a:stretch/>
        </p:blipFill>
        <p:spPr>
          <a:xfrm>
            <a:off x="380880" y="762120"/>
            <a:ext cx="8143560" cy="5230440"/>
          </a:xfrm>
          <a:prstGeom prst="rect">
            <a:avLst/>
          </a:prstGeom>
          <a:noFill/>
          <a:ln w="0">
            <a:noFill/>
          </a:ln>
        </p:spPr>
      </p:pic>
      <p:pic>
        <p:nvPicPr>
          <p:cNvPr id="68" name="Picture 15" descr="fig1301e.gif"/>
          <p:cNvPicPr/>
          <p:nvPr/>
        </p:nvPicPr>
        <p:blipFill>
          <a:blip r:embed="rId5"/>
          <a:stretch/>
        </p:blipFill>
        <p:spPr>
          <a:xfrm>
            <a:off x="380880" y="762120"/>
            <a:ext cx="8143560" cy="5230440"/>
          </a:xfrm>
          <a:prstGeom prst="rect">
            <a:avLst/>
          </a:prstGeom>
          <a:noFill/>
          <a:ln w="0">
            <a:noFill/>
          </a:ln>
        </p:spPr>
      </p:pic>
      <p:pic>
        <p:nvPicPr>
          <p:cNvPr id="69" name="Picture 16" descr="fig1301f.gif"/>
          <p:cNvPicPr/>
          <p:nvPr/>
        </p:nvPicPr>
        <p:blipFill>
          <a:blip r:embed="rId6"/>
          <a:stretch/>
        </p:blipFill>
        <p:spPr>
          <a:xfrm>
            <a:off x="380880" y="762120"/>
            <a:ext cx="8143560" cy="5230440"/>
          </a:xfrm>
          <a:prstGeom prst="rect">
            <a:avLst/>
          </a:prstGeom>
          <a:noFill/>
          <a:ln w="0">
            <a:noFill/>
          </a:ln>
        </p:spPr>
      </p:pic>
      <p:pic>
        <p:nvPicPr>
          <p:cNvPr id="70" name="Picture 17" descr="fig1301g.gif"/>
          <p:cNvPicPr/>
          <p:nvPr/>
        </p:nvPicPr>
        <p:blipFill>
          <a:blip r:embed="rId7"/>
          <a:stretch/>
        </p:blipFill>
        <p:spPr>
          <a:xfrm>
            <a:off x="380880" y="762120"/>
            <a:ext cx="8143560" cy="5230440"/>
          </a:xfrm>
          <a:prstGeom prst="rect">
            <a:avLst/>
          </a:prstGeom>
          <a:noFill/>
          <a:ln w="0">
            <a:noFill/>
          </a:ln>
        </p:spPr>
      </p:pic>
      <p:pic>
        <p:nvPicPr>
          <p:cNvPr id="71" name="Picture 18" descr="fig1301h.gif"/>
          <p:cNvPicPr/>
          <p:nvPr/>
        </p:nvPicPr>
        <p:blipFill>
          <a:blip r:embed="rId8"/>
          <a:stretch/>
        </p:blipFill>
        <p:spPr>
          <a:xfrm>
            <a:off x="380880" y="762120"/>
            <a:ext cx="8143560" cy="5230440"/>
          </a:xfrm>
          <a:prstGeom prst="rect">
            <a:avLst/>
          </a:prstGeom>
          <a:noFill/>
          <a:ln w="0">
            <a:noFill/>
          </a:ln>
        </p:spPr>
      </p:pic>
      <p:pic>
        <p:nvPicPr>
          <p:cNvPr id="72" name="Picture 19" descr="fig1301i.gif"/>
          <p:cNvPicPr/>
          <p:nvPr/>
        </p:nvPicPr>
        <p:blipFill>
          <a:blip r:embed="rId9"/>
          <a:stretch/>
        </p:blipFill>
        <p:spPr>
          <a:xfrm>
            <a:off x="380880" y="762120"/>
            <a:ext cx="8143560" cy="5230440"/>
          </a:xfrm>
          <a:prstGeom prst="rect">
            <a:avLst/>
          </a:prstGeom>
          <a:noFill/>
          <a:ln w="0">
            <a:noFill/>
          </a:ln>
        </p:spPr>
      </p:pic>
      <p:pic>
        <p:nvPicPr>
          <p:cNvPr id="73" name="Picture 20" descr="fig1301j.gif"/>
          <p:cNvPicPr/>
          <p:nvPr/>
        </p:nvPicPr>
        <p:blipFill>
          <a:blip r:embed="rId10"/>
          <a:stretch/>
        </p:blipFill>
        <p:spPr>
          <a:xfrm>
            <a:off x="380880" y="762120"/>
            <a:ext cx="8143560" cy="5230440"/>
          </a:xfrm>
          <a:prstGeom prst="rect">
            <a:avLst/>
          </a:prstGeom>
          <a:noFill/>
          <a:ln w="0">
            <a:noFill/>
          </a:ln>
        </p:spPr>
      </p:pic>
    </p:spTree>
  </p:cSld>
  <p:transition spd="slow">
    <p:wipe dir="r"/>
  </p:transition>
  <p:timing>
    <p:tnLst>
      <p:par>
        <p:cTn id="166" dur="indefinite" restart="never" nodeType="tmRoot">
          <p:childTnLst>
            <p:seq>
              <p:cTn id="167" dur="indefinite" nodeType="mainSeq">
                <p:childTnLst>
                  <p:par>
                    <p:cTn id="168" nodeType="clickEffect" fill="hold">
                      <p:stCondLst>
                        <p:cond delay="indefinite"/>
                      </p:stCondLst>
                      <p:childTnLst>
                        <p:par>
                          <p:cTn id="169" nodeType="withEffect" fill="hold">
                            <p:stCondLst>
                              <p:cond delay="0"/>
                            </p:stCondLst>
                            <p:childTnLst>
                              <p:par>
                                <p:cTn id="170" nodeType="clickEffect" fill="hold" presetClass="entr" presetID="22" presetSubtype="4">
                                  <p:stCondLst>
                                    <p:cond delay="0"/>
                                  </p:stCondLst>
                                  <p:childTnLst>
                                    <p:set>
                                      <p:cBhvr>
                                        <p:cTn id="171" dur="1" fill="hold">
                                          <p:stCondLst>
                                            <p:cond delay="0"/>
                                          </p:stCondLst>
                                        </p:cTn>
                                        <p:tgtEl>
                                          <p:spTgt spid="65"/>
                                        </p:tgtEl>
                                        <p:attrNameLst>
                                          <p:attrName>style.visibility</p:attrName>
                                        </p:attrNameLst>
                                      </p:cBhvr>
                                      <p:to>
                                        <p:strVal val="visible"/>
                                      </p:to>
                                    </p:set>
                                    <p:animEffect filter="wipe(down)" transition="in">
                                      <p:cBhvr additive="repl">
                                        <p:cTn id="172" dur="1000"/>
                                        <p:tgtEl>
                                          <p:spTgt spid="65"/>
                                        </p:tgtEl>
                                      </p:cBhvr>
                                    </p:animEffect>
                                  </p:childTnLst>
                                </p:cTn>
                              </p:par>
                            </p:childTnLst>
                          </p:cTn>
                        </p:par>
                      </p:childTnLst>
                    </p:cTn>
                  </p:par>
                  <p:par>
                    <p:cTn id="173" nodeType="clickEffect" fill="hold">
                      <p:stCondLst>
                        <p:cond delay="indefinite"/>
                      </p:stCondLst>
                      <p:childTnLst>
                        <p:par>
                          <p:cTn id="174" nodeType="withEffect" fill="hold">
                            <p:stCondLst>
                              <p:cond delay="0"/>
                            </p:stCondLst>
                            <p:childTnLst>
                              <p:par>
                                <p:cTn id="175" nodeType="clickEffect" fill="hold" presetClass="entr" presetID="22" presetSubtype="4">
                                  <p:stCondLst>
                                    <p:cond delay="0"/>
                                  </p:stCondLst>
                                  <p:childTnLst>
                                    <p:set>
                                      <p:cBhvr>
                                        <p:cTn id="176" dur="1" fill="hold">
                                          <p:stCondLst>
                                            <p:cond delay="0"/>
                                          </p:stCondLst>
                                        </p:cTn>
                                        <p:tgtEl>
                                          <p:spTgt spid="66"/>
                                        </p:tgtEl>
                                        <p:attrNameLst>
                                          <p:attrName>style.visibility</p:attrName>
                                        </p:attrNameLst>
                                      </p:cBhvr>
                                      <p:to>
                                        <p:strVal val="visible"/>
                                      </p:to>
                                    </p:set>
                                    <p:animEffect filter="wipe(down)" transition="in">
                                      <p:cBhvr additive="repl">
                                        <p:cTn id="177" dur="1000"/>
                                        <p:tgtEl>
                                          <p:spTgt spid="66"/>
                                        </p:tgtEl>
                                      </p:cBhvr>
                                    </p:animEffect>
                                  </p:childTnLst>
                                </p:cTn>
                              </p:par>
                            </p:childTnLst>
                          </p:cTn>
                        </p:par>
                      </p:childTnLst>
                    </p:cTn>
                  </p:par>
                  <p:par>
                    <p:cTn id="178" nodeType="clickEffect" fill="hold">
                      <p:stCondLst>
                        <p:cond delay="indefinite"/>
                      </p:stCondLst>
                      <p:childTnLst>
                        <p:par>
                          <p:cTn id="179" nodeType="withEffect" fill="hold">
                            <p:stCondLst>
                              <p:cond delay="0"/>
                            </p:stCondLst>
                            <p:childTnLst>
                              <p:par>
                                <p:cTn id="180" nodeType="clickEffect" fill="hold" presetClass="entr" presetID="22" presetSubtype="4">
                                  <p:stCondLst>
                                    <p:cond delay="0"/>
                                  </p:stCondLst>
                                  <p:childTnLst>
                                    <p:set>
                                      <p:cBhvr>
                                        <p:cTn id="181" dur="1" fill="hold">
                                          <p:stCondLst>
                                            <p:cond delay="0"/>
                                          </p:stCondLst>
                                        </p:cTn>
                                        <p:tgtEl>
                                          <p:spTgt spid="67"/>
                                        </p:tgtEl>
                                        <p:attrNameLst>
                                          <p:attrName>style.visibility</p:attrName>
                                        </p:attrNameLst>
                                      </p:cBhvr>
                                      <p:to>
                                        <p:strVal val="visible"/>
                                      </p:to>
                                    </p:set>
                                    <p:animEffect filter="wipe(down)" transition="in">
                                      <p:cBhvr additive="repl">
                                        <p:cTn id="182" dur="1000"/>
                                        <p:tgtEl>
                                          <p:spTgt spid="67"/>
                                        </p:tgtEl>
                                      </p:cBhvr>
                                    </p:animEffect>
                                  </p:childTnLst>
                                </p:cTn>
                              </p:par>
                            </p:childTnLst>
                          </p:cTn>
                        </p:par>
                      </p:childTnLst>
                    </p:cTn>
                  </p:par>
                  <p:par>
                    <p:cTn id="183" nodeType="clickEffect" fill="hold">
                      <p:stCondLst>
                        <p:cond delay="indefinite"/>
                      </p:stCondLst>
                      <p:childTnLst>
                        <p:par>
                          <p:cTn id="184" nodeType="withEffect" fill="hold">
                            <p:stCondLst>
                              <p:cond delay="0"/>
                            </p:stCondLst>
                            <p:childTnLst>
                              <p:par>
                                <p:cTn id="185" nodeType="clickEffect" fill="hold" presetClass="entr" presetID="22" presetSubtype="4">
                                  <p:stCondLst>
                                    <p:cond delay="0"/>
                                  </p:stCondLst>
                                  <p:childTnLst>
                                    <p:set>
                                      <p:cBhvr>
                                        <p:cTn id="186" dur="1" fill="hold">
                                          <p:stCondLst>
                                            <p:cond delay="0"/>
                                          </p:stCondLst>
                                        </p:cTn>
                                        <p:tgtEl>
                                          <p:spTgt spid="68"/>
                                        </p:tgtEl>
                                        <p:attrNameLst>
                                          <p:attrName>style.visibility</p:attrName>
                                        </p:attrNameLst>
                                      </p:cBhvr>
                                      <p:to>
                                        <p:strVal val="visible"/>
                                      </p:to>
                                    </p:set>
                                    <p:animEffect filter="wipe(down)" transition="in">
                                      <p:cBhvr additive="repl">
                                        <p:cTn id="187" dur="1000"/>
                                        <p:tgtEl>
                                          <p:spTgt spid="68"/>
                                        </p:tgtEl>
                                      </p:cBhvr>
                                    </p:animEffect>
                                  </p:childTnLst>
                                </p:cTn>
                              </p:par>
                            </p:childTnLst>
                          </p:cTn>
                        </p:par>
                      </p:childTnLst>
                    </p:cTn>
                  </p:par>
                  <p:par>
                    <p:cTn id="188" nodeType="clickEffect" fill="hold">
                      <p:stCondLst>
                        <p:cond delay="indefinite"/>
                      </p:stCondLst>
                      <p:childTnLst>
                        <p:par>
                          <p:cTn id="189" nodeType="withEffect" fill="hold">
                            <p:stCondLst>
                              <p:cond delay="0"/>
                            </p:stCondLst>
                            <p:childTnLst>
                              <p:par>
                                <p:cTn id="190" nodeType="clickEffect" fill="hold" presetClass="entr" presetID="22" presetSubtype="4">
                                  <p:stCondLst>
                                    <p:cond delay="0"/>
                                  </p:stCondLst>
                                  <p:childTnLst>
                                    <p:set>
                                      <p:cBhvr>
                                        <p:cTn id="191" dur="1" fill="hold">
                                          <p:stCondLst>
                                            <p:cond delay="0"/>
                                          </p:stCondLst>
                                        </p:cTn>
                                        <p:tgtEl>
                                          <p:spTgt spid="69"/>
                                        </p:tgtEl>
                                        <p:attrNameLst>
                                          <p:attrName>style.visibility</p:attrName>
                                        </p:attrNameLst>
                                      </p:cBhvr>
                                      <p:to>
                                        <p:strVal val="visible"/>
                                      </p:to>
                                    </p:set>
                                    <p:animEffect filter="wipe(down)" transition="in">
                                      <p:cBhvr additive="repl">
                                        <p:cTn id="192" dur="1000"/>
                                        <p:tgtEl>
                                          <p:spTgt spid="69"/>
                                        </p:tgtEl>
                                      </p:cBhvr>
                                    </p:animEffect>
                                  </p:childTnLst>
                                </p:cTn>
                              </p:par>
                            </p:childTnLst>
                          </p:cTn>
                        </p:par>
                      </p:childTnLst>
                    </p:cTn>
                  </p:par>
                  <p:par>
                    <p:cTn id="193" nodeType="clickEffect" fill="hold">
                      <p:stCondLst>
                        <p:cond delay="indefinite"/>
                      </p:stCondLst>
                      <p:childTnLst>
                        <p:par>
                          <p:cTn id="194" nodeType="withEffect" fill="hold">
                            <p:stCondLst>
                              <p:cond delay="0"/>
                            </p:stCondLst>
                            <p:childTnLst>
                              <p:par>
                                <p:cTn id="195" nodeType="clickEffect" fill="hold" presetClass="entr" presetID="22" presetSubtype="4">
                                  <p:stCondLst>
                                    <p:cond delay="0"/>
                                  </p:stCondLst>
                                  <p:childTnLst>
                                    <p:set>
                                      <p:cBhvr>
                                        <p:cTn id="196" dur="1" fill="hold">
                                          <p:stCondLst>
                                            <p:cond delay="0"/>
                                          </p:stCondLst>
                                        </p:cTn>
                                        <p:tgtEl>
                                          <p:spTgt spid="70"/>
                                        </p:tgtEl>
                                        <p:attrNameLst>
                                          <p:attrName>style.visibility</p:attrName>
                                        </p:attrNameLst>
                                      </p:cBhvr>
                                      <p:to>
                                        <p:strVal val="visible"/>
                                      </p:to>
                                    </p:set>
                                    <p:animEffect filter="wipe(down)" transition="in">
                                      <p:cBhvr additive="repl">
                                        <p:cTn id="197" dur="1000"/>
                                        <p:tgtEl>
                                          <p:spTgt spid="70"/>
                                        </p:tgtEl>
                                      </p:cBhvr>
                                    </p:animEffect>
                                  </p:childTnLst>
                                </p:cTn>
                              </p:par>
                            </p:childTnLst>
                          </p:cTn>
                        </p:par>
                      </p:childTnLst>
                    </p:cTn>
                  </p:par>
                  <p:par>
                    <p:cTn id="198" nodeType="clickEffect" fill="hold">
                      <p:stCondLst>
                        <p:cond delay="indefinite"/>
                      </p:stCondLst>
                      <p:childTnLst>
                        <p:par>
                          <p:cTn id="199" nodeType="withEffect" fill="hold">
                            <p:stCondLst>
                              <p:cond delay="0"/>
                            </p:stCondLst>
                            <p:childTnLst>
                              <p:par>
                                <p:cTn id="200" nodeType="clickEffect" fill="hold" presetClass="entr" presetID="22" presetSubtype="4">
                                  <p:stCondLst>
                                    <p:cond delay="0"/>
                                  </p:stCondLst>
                                  <p:childTnLst>
                                    <p:set>
                                      <p:cBhvr>
                                        <p:cTn id="201" dur="1" fill="hold">
                                          <p:stCondLst>
                                            <p:cond delay="0"/>
                                          </p:stCondLst>
                                        </p:cTn>
                                        <p:tgtEl>
                                          <p:spTgt spid="71"/>
                                        </p:tgtEl>
                                        <p:attrNameLst>
                                          <p:attrName>style.visibility</p:attrName>
                                        </p:attrNameLst>
                                      </p:cBhvr>
                                      <p:to>
                                        <p:strVal val="visible"/>
                                      </p:to>
                                    </p:set>
                                    <p:animEffect filter="wipe(down)" transition="in">
                                      <p:cBhvr additive="repl">
                                        <p:cTn id="202" dur="1000"/>
                                        <p:tgtEl>
                                          <p:spTgt spid="71"/>
                                        </p:tgtEl>
                                      </p:cBhvr>
                                    </p:animEffect>
                                  </p:childTnLst>
                                </p:cTn>
                              </p:par>
                            </p:childTnLst>
                          </p:cTn>
                        </p:par>
                      </p:childTnLst>
                    </p:cTn>
                  </p:par>
                  <p:par>
                    <p:cTn id="203" nodeType="clickEffect" fill="hold">
                      <p:stCondLst>
                        <p:cond delay="indefinite"/>
                      </p:stCondLst>
                      <p:childTnLst>
                        <p:par>
                          <p:cTn id="204" nodeType="withEffect" fill="hold">
                            <p:stCondLst>
                              <p:cond delay="0"/>
                            </p:stCondLst>
                            <p:childTnLst>
                              <p:par>
                                <p:cTn id="205" nodeType="clickEffect" fill="hold" presetClass="entr" presetID="22" presetSubtype="4">
                                  <p:stCondLst>
                                    <p:cond delay="0"/>
                                  </p:stCondLst>
                                  <p:childTnLst>
                                    <p:set>
                                      <p:cBhvr>
                                        <p:cTn id="206" dur="1" fill="hold">
                                          <p:stCondLst>
                                            <p:cond delay="0"/>
                                          </p:stCondLst>
                                        </p:cTn>
                                        <p:tgtEl>
                                          <p:spTgt spid="72"/>
                                        </p:tgtEl>
                                        <p:attrNameLst>
                                          <p:attrName>style.visibility</p:attrName>
                                        </p:attrNameLst>
                                      </p:cBhvr>
                                      <p:to>
                                        <p:strVal val="visible"/>
                                      </p:to>
                                    </p:set>
                                    <p:animEffect filter="wipe(down)" transition="in">
                                      <p:cBhvr additive="repl">
                                        <p:cTn id="207" dur="1000"/>
                                        <p:tgtEl>
                                          <p:spTgt spid="72"/>
                                        </p:tgtEl>
                                      </p:cBhvr>
                                    </p:animEffect>
                                  </p:childTnLst>
                                </p:cTn>
                              </p:par>
                            </p:childTnLst>
                          </p:cTn>
                        </p:par>
                      </p:childTnLst>
                    </p:cTn>
                  </p:par>
                  <p:par>
                    <p:cTn id="208" nodeType="clickEffect" fill="hold">
                      <p:stCondLst>
                        <p:cond delay="indefinite"/>
                      </p:stCondLst>
                      <p:childTnLst>
                        <p:par>
                          <p:cTn id="209" nodeType="withEffect" fill="hold">
                            <p:stCondLst>
                              <p:cond delay="0"/>
                            </p:stCondLst>
                            <p:childTnLst>
                              <p:par>
                                <p:cTn id="210" nodeType="clickEffect" fill="hold" presetClass="entr" presetID="22" presetSubtype="4">
                                  <p:stCondLst>
                                    <p:cond delay="0"/>
                                  </p:stCondLst>
                                  <p:childTnLst>
                                    <p:set>
                                      <p:cBhvr>
                                        <p:cTn id="211" dur="1" fill="hold">
                                          <p:stCondLst>
                                            <p:cond delay="0"/>
                                          </p:stCondLst>
                                        </p:cTn>
                                        <p:tgtEl>
                                          <p:spTgt spid="73"/>
                                        </p:tgtEl>
                                        <p:attrNameLst>
                                          <p:attrName>style.visibility</p:attrName>
                                        </p:attrNameLst>
                                      </p:cBhvr>
                                      <p:to>
                                        <p:strVal val="visible"/>
                                      </p:to>
                                    </p:set>
                                    <p:animEffect filter="wipe(down)" transition="in">
                                      <p:cBhvr additive="repl">
                                        <p:cTn id="212" dur="100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75" name="PlaceHolder 2"/>
          <p:cNvSpPr>
            <a:spLocks noGrp="1"/>
          </p:cNvSpPr>
          <p:nvPr>
            <p:ph/>
          </p:nvPr>
        </p:nvSpPr>
        <p:spPr>
          <a:xfrm>
            <a:off x="360360" y="1440000"/>
            <a:ext cx="29919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Opportunity cost is the sum of</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Explicit costs and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Implicit cost (including normal profit).</a:t>
            </a:r>
            <a:endParaRPr b="1" lang="en-CA" sz="2400" strike="noStrike" u="none">
              <a:solidFill>
                <a:srgbClr val="00468f"/>
              </a:solidFill>
              <a:effectLst/>
              <a:uFillTx/>
              <a:latin typeface="Arial"/>
            </a:endParaRPr>
          </a:p>
        </p:txBody>
      </p:sp>
      <p:pic>
        <p:nvPicPr>
          <p:cNvPr id="76" name="Picture 15" descr="fig1301a.gif"/>
          <p:cNvPicPr/>
          <p:nvPr/>
        </p:nvPicPr>
        <p:blipFill>
          <a:blip r:embed="rId1"/>
          <a:stretch/>
        </p:blipFill>
        <p:spPr>
          <a:xfrm>
            <a:off x="3240000" y="1440000"/>
            <a:ext cx="5552640" cy="3565080"/>
          </a:xfrm>
          <a:prstGeom prst="rect">
            <a:avLst/>
          </a:prstGeom>
          <a:noFill/>
          <a:ln w="0">
            <a:noFill/>
          </a:ln>
        </p:spPr>
      </p:pic>
      <p:pic>
        <p:nvPicPr>
          <p:cNvPr id="77" name="Picture 16" descr="fig1301b.gif"/>
          <p:cNvPicPr/>
          <p:nvPr/>
        </p:nvPicPr>
        <p:blipFill>
          <a:blip r:embed="rId2"/>
          <a:stretch/>
        </p:blipFill>
        <p:spPr>
          <a:xfrm>
            <a:off x="3240000" y="1440000"/>
            <a:ext cx="5552640" cy="3566880"/>
          </a:xfrm>
          <a:prstGeom prst="rect">
            <a:avLst/>
          </a:prstGeom>
          <a:noFill/>
          <a:ln w="0">
            <a:noFill/>
          </a:ln>
        </p:spPr>
      </p:pic>
      <p:pic>
        <p:nvPicPr>
          <p:cNvPr id="78" name="Picture 17" descr="fig1301c.gif"/>
          <p:cNvPicPr/>
          <p:nvPr/>
        </p:nvPicPr>
        <p:blipFill>
          <a:blip r:embed="rId3"/>
          <a:stretch/>
        </p:blipFill>
        <p:spPr>
          <a:xfrm>
            <a:off x="3240000" y="1440000"/>
            <a:ext cx="5552640" cy="3566880"/>
          </a:xfrm>
          <a:prstGeom prst="rect">
            <a:avLst/>
          </a:prstGeom>
          <a:noFill/>
          <a:ln w="0">
            <a:noFill/>
          </a:ln>
        </p:spPr>
      </p:pic>
      <p:pic>
        <p:nvPicPr>
          <p:cNvPr id="79" name="Picture 18" descr="fig1301d.gif"/>
          <p:cNvPicPr/>
          <p:nvPr/>
        </p:nvPicPr>
        <p:blipFill>
          <a:blip r:embed="rId4"/>
          <a:stretch/>
        </p:blipFill>
        <p:spPr>
          <a:xfrm>
            <a:off x="3240000" y="1440000"/>
            <a:ext cx="5552640" cy="3566880"/>
          </a:xfrm>
          <a:prstGeom prst="rect">
            <a:avLst/>
          </a:prstGeom>
          <a:noFill/>
          <a:ln w="0">
            <a:noFill/>
          </a:ln>
        </p:spPr>
      </p:pic>
      <p:pic>
        <p:nvPicPr>
          <p:cNvPr id="80" name="Picture 19" descr="fig1301e.gif"/>
          <p:cNvPicPr/>
          <p:nvPr/>
        </p:nvPicPr>
        <p:blipFill>
          <a:blip r:embed="rId5"/>
          <a:stretch/>
        </p:blipFill>
        <p:spPr>
          <a:xfrm>
            <a:off x="3240000" y="1440000"/>
            <a:ext cx="5552640" cy="3566880"/>
          </a:xfrm>
          <a:prstGeom prst="rect">
            <a:avLst/>
          </a:prstGeom>
          <a:noFill/>
          <a:ln w="0">
            <a:noFill/>
          </a:ln>
        </p:spPr>
      </p:pic>
      <p:pic>
        <p:nvPicPr>
          <p:cNvPr id="81" name="Picture 20" descr="fig1301f.gif"/>
          <p:cNvPicPr/>
          <p:nvPr/>
        </p:nvPicPr>
        <p:blipFill>
          <a:blip r:embed="rId6"/>
          <a:stretch/>
        </p:blipFill>
        <p:spPr>
          <a:xfrm>
            <a:off x="3240000" y="1440000"/>
            <a:ext cx="5552640" cy="3566880"/>
          </a:xfrm>
          <a:prstGeom prst="rect">
            <a:avLst/>
          </a:prstGeom>
          <a:noFill/>
          <a:ln w="0">
            <a:noFill/>
          </a:ln>
        </p:spPr>
      </p:pic>
    </p:spTree>
  </p:cSld>
  <p:transition spd="slow">
    <p:wipe dir="r"/>
  </p:transition>
  <p:timing>
    <p:tnLst>
      <p:par>
        <p:cTn id="213" dur="indefinite" restart="never" nodeType="tmRoot">
          <p:childTnLst>
            <p:seq>
              <p:cTn id="214" dur="indefinite" nodeType="mainSeq">
                <p:childTnLst>
                  <p:par>
                    <p:cTn id="215" nodeType="clickEffect" fill="hold">
                      <p:stCondLst>
                        <p:cond delay="indefinite"/>
                      </p:stCondLst>
                      <p:childTnLst>
                        <p:par>
                          <p:cTn id="216" nodeType="withEffect" fill="hold">
                            <p:stCondLst>
                              <p:cond delay="0"/>
                            </p:stCondLst>
                            <p:childTnLst>
                              <p:par>
                                <p:cTn id="217" nodeType="clickEffect" fill="hold" presetClass="entr" presetID="22" presetSubtype="8">
                                  <p:stCondLst>
                                    <p:cond delay="0"/>
                                  </p:stCondLst>
                                  <p:childTnLst>
                                    <p:set>
                                      <p:cBhvr>
                                        <p:cTn id="218" dur="1" fill="hold">
                                          <p:stCondLst>
                                            <p:cond delay="0"/>
                                          </p:stCondLst>
                                        </p:cTn>
                                        <p:tgtEl>
                                          <p:spTgt spid="75">
                                            <p:txEl>
                                              <p:pRg st="1" end="1"/>
                                            </p:txEl>
                                          </p:spTgt>
                                        </p:tgtEl>
                                        <p:attrNameLst>
                                          <p:attrName>style.visibility</p:attrName>
                                        </p:attrNameLst>
                                      </p:cBhvr>
                                      <p:to>
                                        <p:strVal val="visible"/>
                                      </p:to>
                                    </p:set>
                                    <p:animEffect filter="wipe(left)" transition="in">
                                      <p:cBhvr additive="repl">
                                        <p:cTn id="219" dur="500"/>
                                        <p:tgtEl>
                                          <p:spTgt spid="75">
                                            <p:txEl>
                                              <p:pRg st="1" end="1"/>
                                            </p:txEl>
                                          </p:spTgt>
                                        </p:tgtEl>
                                      </p:cBhvr>
                                    </p:animEffect>
                                  </p:childTnLst>
                                </p:cTn>
                              </p:par>
                              <p:par>
                                <p:cTn id="220" nodeType="withEffect" fill="hold" presetClass="entr" presetID="22" presetSubtype="4">
                                  <p:stCondLst>
                                    <p:cond delay="0"/>
                                  </p:stCondLst>
                                  <p:childTnLst>
                                    <p:set>
                                      <p:cBhvr>
                                        <p:cTn id="221" dur="1" fill="hold">
                                          <p:stCondLst>
                                            <p:cond delay="0"/>
                                          </p:stCondLst>
                                        </p:cTn>
                                        <p:tgtEl>
                                          <p:spTgt spid="80"/>
                                        </p:tgtEl>
                                        <p:attrNameLst>
                                          <p:attrName>style.visibility</p:attrName>
                                        </p:attrNameLst>
                                      </p:cBhvr>
                                      <p:to>
                                        <p:strVal val="visible"/>
                                      </p:to>
                                    </p:set>
                                    <p:animEffect filter="wipe(down)" transition="in">
                                      <p:cBhvr additive="repl">
                                        <p:cTn id="222" dur="1000"/>
                                        <p:tgtEl>
                                          <p:spTgt spid="80"/>
                                        </p:tgtEl>
                                      </p:cBhvr>
                                    </p:animEffect>
                                  </p:childTnLst>
                                </p:cTn>
                              </p:par>
                            </p:childTnLst>
                          </p:cTn>
                        </p:par>
                      </p:childTnLst>
                    </p:cTn>
                  </p:par>
                  <p:par>
                    <p:cTn id="223" nodeType="clickEffect" fill="hold">
                      <p:stCondLst>
                        <p:cond delay="indefinite"/>
                      </p:stCondLst>
                      <p:childTnLst>
                        <p:par>
                          <p:cTn id="224" nodeType="withEffect" fill="hold">
                            <p:stCondLst>
                              <p:cond delay="0"/>
                            </p:stCondLst>
                            <p:childTnLst>
                              <p:par>
                                <p:cTn id="225" nodeType="clickEffect" fill="hold" presetClass="entr" presetID="22" presetSubtype="8">
                                  <p:stCondLst>
                                    <p:cond delay="0"/>
                                  </p:stCondLst>
                                  <p:childTnLst>
                                    <p:set>
                                      <p:cBhvr>
                                        <p:cTn id="226" dur="1" fill="hold">
                                          <p:stCondLst>
                                            <p:cond delay="0"/>
                                          </p:stCondLst>
                                        </p:cTn>
                                        <p:tgtEl>
                                          <p:spTgt spid="75">
                                            <p:txEl>
                                              <p:pRg st="2" end="2"/>
                                            </p:txEl>
                                          </p:spTgt>
                                        </p:tgtEl>
                                        <p:attrNameLst>
                                          <p:attrName>style.visibility</p:attrName>
                                        </p:attrNameLst>
                                      </p:cBhvr>
                                      <p:to>
                                        <p:strVal val="visible"/>
                                      </p:to>
                                    </p:set>
                                    <p:animEffect filter="wipe(left)" transition="in">
                                      <p:cBhvr additive="repl">
                                        <p:cTn id="227" dur="500"/>
                                        <p:tgtEl>
                                          <p:spTgt spid="75">
                                            <p:txEl>
                                              <p:pRg st="2" end="2"/>
                                            </p:txEl>
                                          </p:spTgt>
                                        </p:tgtEl>
                                      </p:cBhvr>
                                    </p:animEffect>
                                  </p:childTnLst>
                                </p:cTn>
                              </p:par>
                              <p:par>
                                <p:cTn id="228" nodeType="withEffect" fill="hold" presetClass="entr" presetID="22" presetSubtype="4">
                                  <p:stCondLst>
                                    <p:cond delay="0"/>
                                  </p:stCondLst>
                                  <p:childTnLst>
                                    <p:set>
                                      <p:cBhvr>
                                        <p:cTn id="229" dur="1" fill="hold">
                                          <p:stCondLst>
                                            <p:cond delay="0"/>
                                          </p:stCondLst>
                                        </p:cTn>
                                        <p:tgtEl>
                                          <p:spTgt spid="81"/>
                                        </p:tgtEl>
                                        <p:attrNameLst>
                                          <p:attrName>style.visibility</p:attrName>
                                        </p:attrNameLst>
                                      </p:cBhvr>
                                      <p:to>
                                        <p:strVal val="visible"/>
                                      </p:to>
                                    </p:set>
                                    <p:animEffect filter="wipe(down)" transition="in">
                                      <p:cBhvr additive="repl">
                                        <p:cTn id="230"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14.1  ECONOMIC COST AND PROFIT</a:t>
            </a:r>
            <a:endParaRPr b="0" lang="en-CA" sz="2600" strike="noStrike" u="none">
              <a:solidFill>
                <a:schemeClr val="dk1"/>
              </a:solidFill>
              <a:effectLst/>
              <a:uFillTx/>
              <a:latin typeface="Arial"/>
            </a:endParaRPr>
          </a:p>
        </p:txBody>
      </p:sp>
      <p:sp>
        <p:nvSpPr>
          <p:cNvPr id="83" name="PlaceHolder 2"/>
          <p:cNvSpPr>
            <a:spLocks noGrp="1"/>
          </p:cNvSpPr>
          <p:nvPr>
            <p:ph/>
          </p:nvPr>
        </p:nvSpPr>
        <p:spPr>
          <a:xfrm>
            <a:off x="360360" y="1440000"/>
            <a:ext cx="30682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Accountants measure cost as the sum of explicit costs and accounting depreciation.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Accounting profit is total revenue minus accounting costs. </a:t>
            </a:r>
            <a:endParaRPr b="1" lang="en-CA" sz="2400" strike="noStrike" u="none">
              <a:solidFill>
                <a:srgbClr val="00468f"/>
              </a:solidFill>
              <a:effectLst/>
              <a:uFillTx/>
              <a:latin typeface="Arial"/>
            </a:endParaRPr>
          </a:p>
        </p:txBody>
      </p:sp>
      <p:pic>
        <p:nvPicPr>
          <p:cNvPr id="84" name="Picture 15" descr="fig1301a.gif"/>
          <p:cNvPicPr/>
          <p:nvPr/>
        </p:nvPicPr>
        <p:blipFill>
          <a:blip r:embed="rId1"/>
          <a:stretch/>
        </p:blipFill>
        <p:spPr>
          <a:xfrm>
            <a:off x="3240000" y="1440000"/>
            <a:ext cx="5552640" cy="3565080"/>
          </a:xfrm>
          <a:prstGeom prst="rect">
            <a:avLst/>
          </a:prstGeom>
          <a:noFill/>
          <a:ln w="0">
            <a:noFill/>
          </a:ln>
        </p:spPr>
      </p:pic>
      <p:pic>
        <p:nvPicPr>
          <p:cNvPr id="85" name="Picture 16" descr="fig1301b.gif"/>
          <p:cNvPicPr/>
          <p:nvPr/>
        </p:nvPicPr>
        <p:blipFill>
          <a:blip r:embed="rId2"/>
          <a:stretch/>
        </p:blipFill>
        <p:spPr>
          <a:xfrm>
            <a:off x="3240000" y="1440000"/>
            <a:ext cx="5552640" cy="3566880"/>
          </a:xfrm>
          <a:prstGeom prst="rect">
            <a:avLst/>
          </a:prstGeom>
          <a:noFill/>
          <a:ln w="0">
            <a:noFill/>
          </a:ln>
        </p:spPr>
      </p:pic>
      <p:pic>
        <p:nvPicPr>
          <p:cNvPr id="86" name="Picture 17" descr="fig1301c.gif"/>
          <p:cNvPicPr/>
          <p:nvPr/>
        </p:nvPicPr>
        <p:blipFill>
          <a:blip r:embed="rId3"/>
          <a:stretch/>
        </p:blipFill>
        <p:spPr>
          <a:xfrm>
            <a:off x="3240000" y="1440000"/>
            <a:ext cx="5552640" cy="3566880"/>
          </a:xfrm>
          <a:prstGeom prst="rect">
            <a:avLst/>
          </a:prstGeom>
          <a:noFill/>
          <a:ln w="0">
            <a:noFill/>
          </a:ln>
        </p:spPr>
      </p:pic>
      <p:pic>
        <p:nvPicPr>
          <p:cNvPr id="87" name="Picture 18" descr="fig1301d.gif"/>
          <p:cNvPicPr/>
          <p:nvPr/>
        </p:nvPicPr>
        <p:blipFill>
          <a:blip r:embed="rId4"/>
          <a:stretch/>
        </p:blipFill>
        <p:spPr>
          <a:xfrm>
            <a:off x="3240000" y="1440000"/>
            <a:ext cx="5552640" cy="3566880"/>
          </a:xfrm>
          <a:prstGeom prst="rect">
            <a:avLst/>
          </a:prstGeom>
          <a:noFill/>
          <a:ln w="0">
            <a:noFill/>
          </a:ln>
        </p:spPr>
      </p:pic>
      <p:pic>
        <p:nvPicPr>
          <p:cNvPr id="88" name="Picture 19" descr="fig1301e.gif"/>
          <p:cNvPicPr/>
          <p:nvPr/>
        </p:nvPicPr>
        <p:blipFill>
          <a:blip r:embed="rId5"/>
          <a:stretch/>
        </p:blipFill>
        <p:spPr>
          <a:xfrm>
            <a:off x="3240000" y="1440000"/>
            <a:ext cx="5552640" cy="3566880"/>
          </a:xfrm>
          <a:prstGeom prst="rect">
            <a:avLst/>
          </a:prstGeom>
          <a:noFill/>
          <a:ln w="0">
            <a:noFill/>
          </a:ln>
        </p:spPr>
      </p:pic>
      <p:pic>
        <p:nvPicPr>
          <p:cNvPr id="89" name="Picture 20" descr="fig1301f.gif"/>
          <p:cNvPicPr/>
          <p:nvPr/>
        </p:nvPicPr>
        <p:blipFill>
          <a:blip r:embed="rId6"/>
          <a:stretch/>
        </p:blipFill>
        <p:spPr>
          <a:xfrm>
            <a:off x="3240000" y="1440000"/>
            <a:ext cx="5552640" cy="3566880"/>
          </a:xfrm>
          <a:prstGeom prst="rect">
            <a:avLst/>
          </a:prstGeom>
          <a:noFill/>
          <a:ln w="0">
            <a:noFill/>
          </a:ln>
        </p:spPr>
      </p:pic>
      <p:pic>
        <p:nvPicPr>
          <p:cNvPr id="90" name="Picture 21" descr="fig1301g.gif"/>
          <p:cNvPicPr/>
          <p:nvPr/>
        </p:nvPicPr>
        <p:blipFill>
          <a:blip r:embed="rId7"/>
          <a:stretch/>
        </p:blipFill>
        <p:spPr>
          <a:xfrm>
            <a:off x="3240000" y="1440000"/>
            <a:ext cx="5552640" cy="3566880"/>
          </a:xfrm>
          <a:prstGeom prst="rect">
            <a:avLst/>
          </a:prstGeom>
          <a:noFill/>
          <a:ln w="0">
            <a:noFill/>
          </a:ln>
        </p:spPr>
      </p:pic>
      <p:pic>
        <p:nvPicPr>
          <p:cNvPr id="91" name="Picture 22" descr="fig1301h.gif"/>
          <p:cNvPicPr/>
          <p:nvPr/>
        </p:nvPicPr>
        <p:blipFill>
          <a:blip r:embed="rId8"/>
          <a:stretch/>
        </p:blipFill>
        <p:spPr>
          <a:xfrm>
            <a:off x="3240000" y="1440000"/>
            <a:ext cx="5552640" cy="3566880"/>
          </a:xfrm>
          <a:prstGeom prst="rect">
            <a:avLst/>
          </a:prstGeom>
          <a:noFill/>
          <a:ln w="0">
            <a:noFill/>
          </a:ln>
        </p:spPr>
      </p:pic>
      <p:pic>
        <p:nvPicPr>
          <p:cNvPr id="92" name="Picture 23" descr="fig1301i.gif"/>
          <p:cNvPicPr/>
          <p:nvPr/>
        </p:nvPicPr>
        <p:blipFill>
          <a:blip r:embed="rId9"/>
          <a:stretch/>
        </p:blipFill>
        <p:spPr>
          <a:xfrm>
            <a:off x="3240000" y="1440000"/>
            <a:ext cx="5552640" cy="3566880"/>
          </a:xfrm>
          <a:prstGeom prst="rect">
            <a:avLst/>
          </a:prstGeom>
          <a:noFill/>
          <a:ln w="0">
            <a:noFill/>
          </a:ln>
        </p:spPr>
      </p:pic>
      <p:pic>
        <p:nvPicPr>
          <p:cNvPr id="93" name="Picture 24" descr="fig1301j.gif"/>
          <p:cNvPicPr/>
          <p:nvPr/>
        </p:nvPicPr>
        <p:blipFill>
          <a:blip r:embed="rId10"/>
          <a:stretch/>
        </p:blipFill>
        <p:spPr>
          <a:xfrm>
            <a:off x="3240000" y="1440000"/>
            <a:ext cx="5552640" cy="3566880"/>
          </a:xfrm>
          <a:prstGeom prst="rect">
            <a:avLst/>
          </a:prstGeom>
          <a:noFill/>
          <a:ln w="0">
            <a:noFill/>
          </a:ln>
        </p:spPr>
      </p:pic>
    </p:spTree>
  </p:cSld>
  <p:transition spd="slow">
    <p:wipe dir="r"/>
  </p:transition>
  <p:timing>
    <p:tnLst>
      <p:par>
        <p:cTn id="231" dur="indefinite" restart="never" nodeType="tmRoot">
          <p:childTnLst>
            <p:seq>
              <p:cTn id="232" dur="indefinite" nodeType="mainSeq">
                <p:childTnLst>
                  <p:par>
                    <p:cTn id="233" nodeType="clickEffect" fill="hold">
                      <p:stCondLst>
                        <p:cond delay="0"/>
                      </p:stCondLst>
                      <p:childTnLst>
                        <p:par>
                          <p:cTn id="234" nodeType="withEffect" fill="hold">
                            <p:stCondLst>
                              <p:cond delay="0"/>
                            </p:stCondLst>
                            <p:childTnLst>
                              <p:par>
                                <p:cTn id="235" nodeType="withEffect" fill="hold" presetClass="entr" presetID="22" presetSubtype="4">
                                  <p:stCondLst>
                                    <p:cond delay="0"/>
                                  </p:stCondLst>
                                  <p:childTnLst>
                                    <p:set>
                                      <p:cBhvr>
                                        <p:cTn id="236" dur="1" fill="hold">
                                          <p:stCondLst>
                                            <p:cond delay="0"/>
                                          </p:stCondLst>
                                        </p:cTn>
                                        <p:tgtEl>
                                          <p:spTgt spid="91"/>
                                        </p:tgtEl>
                                        <p:attrNameLst>
                                          <p:attrName>style.visibility</p:attrName>
                                        </p:attrNameLst>
                                      </p:cBhvr>
                                      <p:to>
                                        <p:strVal val="visible"/>
                                      </p:to>
                                    </p:set>
                                    <p:animEffect filter="wipe(down)" transition="in">
                                      <p:cBhvr additive="repl">
                                        <p:cTn id="237" dur="1000"/>
                                        <p:tgtEl>
                                          <p:spTgt spid="91"/>
                                        </p:tgtEl>
                                      </p:cBhvr>
                                    </p:animEffect>
                                  </p:childTnLst>
                                </p:cTn>
                              </p:par>
                              <p:par>
                                <p:cTn id="238" nodeType="withEffect" fill="hold" presetClass="entr" presetID="22" presetSubtype="4">
                                  <p:stCondLst>
                                    <p:cond delay="600"/>
                                  </p:stCondLst>
                                  <p:childTnLst>
                                    <p:set>
                                      <p:cBhvr>
                                        <p:cTn id="239" dur="1" fill="hold">
                                          <p:stCondLst>
                                            <p:cond delay="0"/>
                                          </p:stCondLst>
                                        </p:cTn>
                                        <p:tgtEl>
                                          <p:spTgt spid="92"/>
                                        </p:tgtEl>
                                        <p:attrNameLst>
                                          <p:attrName>style.visibility</p:attrName>
                                        </p:attrNameLst>
                                      </p:cBhvr>
                                      <p:to>
                                        <p:strVal val="visible"/>
                                      </p:to>
                                    </p:set>
                                    <p:animEffect filter="wipe(down)" transition="in">
                                      <p:cBhvr additive="repl">
                                        <p:cTn id="240" dur="1000"/>
                                        <p:tgtEl>
                                          <p:spTgt spid="92"/>
                                        </p:tgtEl>
                                      </p:cBhvr>
                                    </p:animEffect>
                                  </p:childTnLst>
                                </p:cTn>
                              </p:par>
                            </p:childTnLst>
                          </p:cTn>
                        </p:par>
                      </p:childTnLst>
                    </p:cTn>
                  </p:par>
                  <p:par>
                    <p:cTn id="241" nodeType="clickEffect" fill="hold">
                      <p:stCondLst>
                        <p:cond delay="indefinite"/>
                      </p:stCondLst>
                      <p:childTnLst>
                        <p:par>
                          <p:cTn id="242" nodeType="withEffect" fill="hold">
                            <p:stCondLst>
                              <p:cond delay="0"/>
                            </p:stCondLst>
                            <p:childTnLst>
                              <p:par>
                                <p:cTn id="243" nodeType="clickEffect" fill="hold" presetClass="entr" presetID="22" presetSubtype="8">
                                  <p:stCondLst>
                                    <p:cond delay="0"/>
                                  </p:stCondLst>
                                  <p:childTnLst>
                                    <p:set>
                                      <p:cBhvr>
                                        <p:cTn id="244" dur="1" fill="hold">
                                          <p:stCondLst>
                                            <p:cond delay="0"/>
                                          </p:stCondLst>
                                        </p:cTn>
                                        <p:tgtEl>
                                          <p:spTgt spid="83">
                                            <p:txEl>
                                              <p:pRg st="1" end="1"/>
                                            </p:txEl>
                                          </p:spTgt>
                                        </p:tgtEl>
                                        <p:attrNameLst>
                                          <p:attrName>style.visibility</p:attrName>
                                        </p:attrNameLst>
                                      </p:cBhvr>
                                      <p:to>
                                        <p:strVal val="visible"/>
                                      </p:to>
                                    </p:set>
                                    <p:animEffect filter="wipe(left)" transition="in">
                                      <p:cBhvr additive="repl">
                                        <p:cTn id="245" dur="500"/>
                                        <p:tgtEl>
                                          <p:spTgt spid="83">
                                            <p:txEl>
                                              <p:pRg st="1" end="1"/>
                                            </p:txEl>
                                          </p:spTgt>
                                        </p:tgtEl>
                                      </p:cBhvr>
                                    </p:animEffect>
                                  </p:childTnLst>
                                </p:cTn>
                              </p:par>
                              <p:par>
                                <p:cTn id="246" nodeType="withEffect" fill="hold" presetClass="entr" presetID="22" presetSubtype="4">
                                  <p:stCondLst>
                                    <p:cond delay="0"/>
                                  </p:stCondLst>
                                  <p:childTnLst>
                                    <p:set>
                                      <p:cBhvr>
                                        <p:cTn id="247" dur="1" fill="hold">
                                          <p:stCondLst>
                                            <p:cond delay="0"/>
                                          </p:stCondLst>
                                        </p:cTn>
                                        <p:tgtEl>
                                          <p:spTgt spid="93"/>
                                        </p:tgtEl>
                                        <p:attrNameLst>
                                          <p:attrName>style.visibility</p:attrName>
                                        </p:attrNameLst>
                                      </p:cBhvr>
                                      <p:to>
                                        <p:strVal val="visible"/>
                                      </p:to>
                                    </p:set>
                                    <p:animEffect filter="wipe(down)" transition="in">
                                      <p:cBhvr additive="repl">
                                        <p:cTn id="248"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p:nvPr>
        </p:nvSpPr>
        <p:spPr>
          <a:xfrm>
            <a:off x="360360" y="1440000"/>
            <a:ext cx="8229240" cy="4495320"/>
          </a:xfrm>
          <a:prstGeom prst="rect">
            <a:avLst/>
          </a:prstGeom>
          <a:noFill/>
          <a:ln w="0">
            <a:noFill/>
          </a:ln>
        </p:spPr>
        <p:txBody>
          <a:bodyPr lIns="90000" rIns="90000" tIns="45000" bIns="45000" anchor="t">
            <a:noAutofit/>
          </a:bodyPr>
          <a:p>
            <a:pPr marL="358920" indent="0">
              <a:lnSpc>
                <a:spcPct val="100000"/>
              </a:lnSpc>
              <a:spcBef>
                <a:spcPts val="601"/>
              </a:spcBef>
              <a:spcAft>
                <a:spcPts val="601"/>
              </a:spcAft>
              <a:buNone/>
              <a:tabLst>
                <a:tab algn="l" pos="0"/>
              </a:tabLst>
            </a:pPr>
            <a:r>
              <a:rPr b="1" lang="en-US" sz="2800" strike="noStrike" u="none">
                <a:solidFill>
                  <a:srgbClr val="00468f"/>
                </a:solidFill>
                <a:effectLst/>
                <a:uFillTx/>
                <a:latin typeface="Arial"/>
                <a:ea typeface="ＭＳ Ｐゴシック"/>
              </a:rPr>
              <a:t>The Short Run: Fixed Plant</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800" strike="noStrike" u="none">
                <a:solidFill>
                  <a:schemeClr val="dk1"/>
                </a:solidFill>
                <a:effectLst/>
                <a:uFillTx/>
                <a:latin typeface="Arial"/>
                <a:ea typeface="ＭＳ Ｐゴシック"/>
              </a:rPr>
              <a:t>The </a:t>
            </a:r>
            <a:r>
              <a:rPr b="1" lang="en-US" sz="2600" strike="noStrike" u="none">
                <a:solidFill>
                  <a:srgbClr val="ff0000"/>
                </a:solidFill>
                <a:effectLst/>
                <a:uFillTx/>
                <a:latin typeface="Arial"/>
                <a:ea typeface="ＭＳ Ｐゴシック"/>
              </a:rPr>
              <a:t>short run</a:t>
            </a:r>
            <a:r>
              <a:rPr b="0" lang="en-US" sz="2800" strike="noStrike" u="none">
                <a:solidFill>
                  <a:schemeClr val="dk1"/>
                </a:solidFill>
                <a:effectLst/>
                <a:uFillTx/>
                <a:latin typeface="Arial"/>
                <a:ea typeface="ＭＳ Ｐゴシック"/>
              </a:rPr>
              <a:t> is a time frame in which the quantities of some resources are fixed. </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800" strike="noStrike" u="none">
                <a:solidFill>
                  <a:schemeClr val="dk1"/>
                </a:solidFill>
                <a:effectLst/>
                <a:uFillTx/>
                <a:latin typeface="Arial"/>
                <a:ea typeface="ＭＳ Ｐゴシック"/>
              </a:rPr>
              <a:t>In the short run, a firm can usually change the quantity of labor it uses but not the quantity of capital.</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1" lang="en-US" sz="2800" strike="noStrike" u="none">
                <a:solidFill>
                  <a:srgbClr val="00468f"/>
                </a:solidFill>
                <a:effectLst/>
                <a:uFillTx/>
                <a:latin typeface="Arial"/>
                <a:ea typeface="ＭＳ Ｐゴシック"/>
              </a:rPr>
              <a:t>The Long Run: Variable Plant</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800" strike="noStrike" u="none">
                <a:solidFill>
                  <a:schemeClr val="dk1"/>
                </a:solidFill>
                <a:effectLst/>
                <a:uFillTx/>
                <a:latin typeface="Arial"/>
                <a:ea typeface="ＭＳ Ｐゴシック"/>
              </a:rPr>
              <a:t>The </a:t>
            </a:r>
            <a:r>
              <a:rPr b="1" lang="en-US" sz="2600" strike="noStrike" u="none">
                <a:solidFill>
                  <a:srgbClr val="ff0000"/>
                </a:solidFill>
                <a:effectLst/>
                <a:uFillTx/>
                <a:latin typeface="Arial"/>
                <a:ea typeface="ＭＳ Ｐゴシック"/>
              </a:rPr>
              <a:t>long run</a:t>
            </a:r>
            <a:r>
              <a:rPr b="0" lang="en-US" sz="2800" strike="noStrike" u="none">
                <a:solidFill>
                  <a:schemeClr val="dk1"/>
                </a:solidFill>
                <a:effectLst/>
                <a:uFillTx/>
                <a:latin typeface="Arial"/>
                <a:ea typeface="ＭＳ Ｐゴシック"/>
              </a:rPr>
              <a:t> is a time frame in which the quantities of all resources can be changed.</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800" strike="noStrike" u="none">
                <a:solidFill>
                  <a:schemeClr val="dk1"/>
                </a:solidFill>
                <a:effectLst/>
                <a:uFillTx/>
                <a:latin typeface="Arial"/>
                <a:ea typeface="ＭＳ Ｐゴシック"/>
              </a:rPr>
              <a:t>A sunk cost is irrelevant to the firm’s decisions. </a:t>
            </a:r>
            <a:endParaRPr b="1" lang="en-CA" sz="2800" strike="noStrike" u="none">
              <a:solidFill>
                <a:srgbClr val="fb1b2a"/>
              </a:solidFill>
              <a:effectLst/>
              <a:uFillTx/>
              <a:latin typeface="Arial"/>
            </a:endParaRPr>
          </a:p>
        </p:txBody>
      </p:sp>
      <p:sp>
        <p:nvSpPr>
          <p:cNvPr id="95" name="Line 6"/>
          <p:cNvSpPr/>
          <p:nvPr/>
        </p:nvSpPr>
        <p:spPr>
          <a:xfrm>
            <a:off x="838080" y="1143000"/>
            <a:ext cx="7620120" cy="360"/>
          </a:xfrm>
          <a:prstGeom prst="line">
            <a:avLst/>
          </a:prstGeom>
          <a:ln w="88900">
            <a:solidFill>
              <a:srgbClr val="00468f"/>
            </a:solidFill>
            <a:miter/>
          </a:ln>
        </p:spPr>
        <p:style>
          <a:lnRef idx="0"/>
          <a:fillRef idx="0"/>
          <a:effectRef idx="0"/>
          <a:fontRef idx="minor"/>
        </p:style>
        <p:txBody>
          <a:bodyPr lIns="90000" rIns="90000" tIns="-44640" bIns="-44640" anchor="t">
            <a:noAutofit/>
          </a:bodyPr>
          <a:p>
            <a:endParaRPr b="1" lang="en-US" sz="2400" strike="noStrike" u="none">
              <a:solidFill>
                <a:schemeClr val="dk1"/>
              </a:solidFill>
              <a:effectLst/>
              <a:uFillTx/>
              <a:latin typeface="Arial"/>
              <a:ea typeface="ＭＳ Ｐゴシック"/>
            </a:endParaRPr>
          </a:p>
        </p:txBody>
      </p:sp>
      <p:sp>
        <p:nvSpPr>
          <p:cNvPr id="96" name="Text Box 10"/>
          <p:cNvSpPr/>
          <p:nvPr/>
        </p:nvSpPr>
        <p:spPr>
          <a:xfrm>
            <a:off x="360360" y="482760"/>
            <a:ext cx="6400440" cy="488520"/>
          </a:xfrm>
          <a:prstGeom prst="rect">
            <a:avLst/>
          </a:prstGeom>
          <a:noFill/>
          <a:ln w="0">
            <a:noFill/>
          </a:ln>
        </p:spPr>
        <p:style>
          <a:lnRef idx="0"/>
          <a:fillRef idx="0"/>
          <a:effectRef idx="0"/>
          <a:fontRef idx="minor"/>
        </p:style>
        <p:txBody>
          <a:bodyPr lIns="90000" rIns="90000" tIns="45000" bIns="45000" anchor="t">
            <a:spAutoFit/>
          </a:bodyPr>
          <a:p>
            <a:pPr marL="360000">
              <a:lnSpc>
                <a:spcPct val="100000"/>
              </a:lnSpc>
              <a:spcBef>
                <a:spcPts val="601"/>
              </a:spcBef>
              <a:spcAft>
                <a:spcPts val="601"/>
              </a:spcAft>
            </a:pPr>
            <a:r>
              <a:rPr b="1" lang="en-US" sz="2600" strike="noStrike" u="none">
                <a:solidFill>
                  <a:schemeClr val="dk1"/>
                </a:solidFill>
                <a:effectLst/>
                <a:uFillTx/>
                <a:latin typeface="Arial"/>
                <a:ea typeface="ＭＳ Ｐゴシック"/>
              </a:rPr>
              <a:t>SHORT RUN AND LONG RUN</a:t>
            </a:r>
            <a:endParaRPr b="0" lang="en-US" sz="2600" strike="noStrike" u="none">
              <a:solidFill>
                <a:srgbClr val="000000"/>
              </a:solidFill>
              <a:effectLst/>
              <a:uFillTx/>
              <a:latin typeface="Arial"/>
            </a:endParaRPr>
          </a:p>
        </p:txBody>
      </p:sp>
    </p:spTree>
  </p:cSld>
  <p:transition spd="slow">
    <p:wipe dir="r"/>
  </p:transition>
  <p:timing>
    <p:tnLst>
      <p:par>
        <p:cTn id="249" dur="indefinite" restart="never" nodeType="tmRoot">
          <p:childTnLst>
            <p:seq>
              <p:cTn id="250" dur="indefinite" nodeType="mainSeq">
                <p:childTnLst>
                  <p:par>
                    <p:cTn id="251" nodeType="clickEffect" fill="hold">
                      <p:stCondLst>
                        <p:cond delay="indefinite"/>
                      </p:stCondLst>
                      <p:childTnLst>
                        <p:par>
                          <p:cTn id="252" nodeType="withEffect" fill="hold">
                            <p:stCondLst>
                              <p:cond delay="0"/>
                            </p:stCondLst>
                            <p:childTnLst>
                              <p:par>
                                <p:cTn id="253" nodeType="clickEffect" fill="hold" presetClass="entr" presetID="22" presetSubtype="8">
                                  <p:stCondLst>
                                    <p:cond delay="0"/>
                                  </p:stCondLst>
                                  <p:childTnLst>
                                    <p:set>
                                      <p:cBhvr>
                                        <p:cTn id="254" dur="1" fill="hold">
                                          <p:stCondLst>
                                            <p:cond delay="0"/>
                                          </p:stCondLst>
                                        </p:cTn>
                                        <p:tgtEl>
                                          <p:spTgt spid="94">
                                            <p:txEl>
                                              <p:pRg st="0" end="0"/>
                                            </p:txEl>
                                          </p:spTgt>
                                        </p:tgtEl>
                                        <p:attrNameLst>
                                          <p:attrName>style.visibility</p:attrName>
                                        </p:attrNameLst>
                                      </p:cBhvr>
                                      <p:to>
                                        <p:strVal val="visible"/>
                                      </p:to>
                                    </p:set>
                                    <p:animEffect filter="wipe(left)" transition="in">
                                      <p:cBhvr additive="repl">
                                        <p:cTn id="255" dur="500"/>
                                        <p:tgtEl>
                                          <p:spTgt spid="94">
                                            <p:txEl>
                                              <p:pRg st="0" end="0"/>
                                            </p:txEl>
                                          </p:spTgt>
                                        </p:tgtEl>
                                      </p:cBhvr>
                                    </p:animEffect>
                                  </p:childTnLst>
                                </p:cTn>
                              </p:par>
                            </p:childTnLst>
                          </p:cTn>
                        </p:par>
                      </p:childTnLst>
                    </p:cTn>
                  </p:par>
                  <p:par>
                    <p:cTn id="256" nodeType="clickEffect" fill="hold">
                      <p:stCondLst>
                        <p:cond delay="indefinite"/>
                      </p:stCondLst>
                      <p:childTnLst>
                        <p:par>
                          <p:cTn id="257" nodeType="withEffect" fill="hold">
                            <p:stCondLst>
                              <p:cond delay="0"/>
                            </p:stCondLst>
                            <p:childTnLst>
                              <p:par>
                                <p:cTn id="258" nodeType="clickEffect" fill="hold" presetClass="entr" presetID="22" presetSubtype="8">
                                  <p:stCondLst>
                                    <p:cond delay="0"/>
                                  </p:stCondLst>
                                  <p:childTnLst>
                                    <p:set>
                                      <p:cBhvr>
                                        <p:cTn id="259" dur="1" fill="hold">
                                          <p:stCondLst>
                                            <p:cond delay="0"/>
                                          </p:stCondLst>
                                        </p:cTn>
                                        <p:tgtEl>
                                          <p:spTgt spid="94">
                                            <p:txEl>
                                              <p:pRg st="1" end="1"/>
                                            </p:txEl>
                                          </p:spTgt>
                                        </p:tgtEl>
                                        <p:attrNameLst>
                                          <p:attrName>style.visibility</p:attrName>
                                        </p:attrNameLst>
                                      </p:cBhvr>
                                      <p:to>
                                        <p:strVal val="visible"/>
                                      </p:to>
                                    </p:set>
                                    <p:animEffect filter="wipe(left)" transition="in">
                                      <p:cBhvr additive="repl">
                                        <p:cTn id="260" dur="500"/>
                                        <p:tgtEl>
                                          <p:spTgt spid="94">
                                            <p:txEl>
                                              <p:pRg st="1" end="1"/>
                                            </p:txEl>
                                          </p:spTgt>
                                        </p:tgtEl>
                                      </p:cBhvr>
                                    </p:animEffect>
                                  </p:childTnLst>
                                </p:cTn>
                              </p:par>
                            </p:childTnLst>
                          </p:cTn>
                        </p:par>
                      </p:childTnLst>
                    </p:cTn>
                  </p:par>
                  <p:par>
                    <p:cTn id="261" nodeType="clickEffect" fill="hold">
                      <p:stCondLst>
                        <p:cond delay="indefinite"/>
                      </p:stCondLst>
                      <p:childTnLst>
                        <p:par>
                          <p:cTn id="262" nodeType="withEffect" fill="hold">
                            <p:stCondLst>
                              <p:cond delay="0"/>
                            </p:stCondLst>
                            <p:childTnLst>
                              <p:par>
                                <p:cTn id="263" nodeType="clickEffect" fill="hold" presetClass="entr" presetID="22" presetSubtype="8">
                                  <p:stCondLst>
                                    <p:cond delay="0"/>
                                  </p:stCondLst>
                                  <p:childTnLst>
                                    <p:set>
                                      <p:cBhvr>
                                        <p:cTn id="264" dur="1" fill="hold">
                                          <p:stCondLst>
                                            <p:cond delay="0"/>
                                          </p:stCondLst>
                                        </p:cTn>
                                        <p:tgtEl>
                                          <p:spTgt spid="94">
                                            <p:txEl>
                                              <p:pRg st="2" end="2"/>
                                            </p:txEl>
                                          </p:spTgt>
                                        </p:tgtEl>
                                        <p:attrNameLst>
                                          <p:attrName>style.visibility</p:attrName>
                                        </p:attrNameLst>
                                      </p:cBhvr>
                                      <p:to>
                                        <p:strVal val="visible"/>
                                      </p:to>
                                    </p:set>
                                    <p:animEffect filter="wipe(left)" transition="in">
                                      <p:cBhvr additive="repl">
                                        <p:cTn id="265" dur="500"/>
                                        <p:tgtEl>
                                          <p:spTgt spid="94">
                                            <p:txEl>
                                              <p:pRg st="2" end="2"/>
                                            </p:txEl>
                                          </p:spTgt>
                                        </p:tgtEl>
                                      </p:cBhvr>
                                    </p:animEffect>
                                  </p:childTnLst>
                                </p:cTn>
                              </p:par>
                            </p:childTnLst>
                          </p:cTn>
                        </p:par>
                      </p:childTnLst>
                    </p:cTn>
                  </p:par>
                  <p:par>
                    <p:cTn id="266" nodeType="clickEffect" fill="hold">
                      <p:stCondLst>
                        <p:cond delay="indefinite"/>
                      </p:stCondLst>
                      <p:childTnLst>
                        <p:par>
                          <p:cTn id="267" nodeType="withEffect" fill="hold">
                            <p:stCondLst>
                              <p:cond delay="0"/>
                            </p:stCondLst>
                            <p:childTnLst>
                              <p:par>
                                <p:cTn id="268" nodeType="clickEffect" fill="hold" presetClass="entr" presetID="22" presetSubtype="8">
                                  <p:stCondLst>
                                    <p:cond delay="0"/>
                                  </p:stCondLst>
                                  <p:childTnLst>
                                    <p:set>
                                      <p:cBhvr>
                                        <p:cTn id="269" dur="1" fill="hold">
                                          <p:stCondLst>
                                            <p:cond delay="0"/>
                                          </p:stCondLst>
                                        </p:cTn>
                                        <p:tgtEl>
                                          <p:spTgt spid="94">
                                            <p:txEl>
                                              <p:pRg st="3" end="3"/>
                                            </p:txEl>
                                          </p:spTgt>
                                        </p:tgtEl>
                                        <p:attrNameLst>
                                          <p:attrName>style.visibility</p:attrName>
                                        </p:attrNameLst>
                                      </p:cBhvr>
                                      <p:to>
                                        <p:strVal val="visible"/>
                                      </p:to>
                                    </p:set>
                                    <p:animEffect filter="wipe(left)" transition="in">
                                      <p:cBhvr additive="repl">
                                        <p:cTn id="270" dur="500"/>
                                        <p:tgtEl>
                                          <p:spTgt spid="94">
                                            <p:txEl>
                                              <p:pRg st="3" end="3"/>
                                            </p:txEl>
                                          </p:spTgt>
                                        </p:tgtEl>
                                      </p:cBhvr>
                                    </p:animEffect>
                                  </p:childTnLst>
                                </p:cTn>
                              </p:par>
                            </p:childTnLst>
                          </p:cTn>
                        </p:par>
                      </p:childTnLst>
                    </p:cTn>
                  </p:par>
                  <p:par>
                    <p:cTn id="271" nodeType="clickEffect" fill="hold">
                      <p:stCondLst>
                        <p:cond delay="indefinite"/>
                      </p:stCondLst>
                      <p:childTnLst>
                        <p:par>
                          <p:cTn id="272" nodeType="withEffect" fill="hold">
                            <p:stCondLst>
                              <p:cond delay="0"/>
                            </p:stCondLst>
                            <p:childTnLst>
                              <p:par>
                                <p:cTn id="273" nodeType="clickEffect" fill="hold" presetClass="entr" presetID="22" presetSubtype="8">
                                  <p:stCondLst>
                                    <p:cond delay="0"/>
                                  </p:stCondLst>
                                  <p:childTnLst>
                                    <p:set>
                                      <p:cBhvr>
                                        <p:cTn id="274" dur="1" fill="hold">
                                          <p:stCondLst>
                                            <p:cond delay="0"/>
                                          </p:stCondLst>
                                        </p:cTn>
                                        <p:tgtEl>
                                          <p:spTgt spid="94">
                                            <p:txEl>
                                              <p:pRg st="4" end="4"/>
                                            </p:txEl>
                                          </p:spTgt>
                                        </p:tgtEl>
                                        <p:attrNameLst>
                                          <p:attrName>style.visibility</p:attrName>
                                        </p:attrNameLst>
                                      </p:cBhvr>
                                      <p:to>
                                        <p:strVal val="visible"/>
                                      </p:to>
                                    </p:set>
                                    <p:animEffect filter="wipe(left)" transition="in">
                                      <p:cBhvr additive="repl">
                                        <p:cTn id="275" dur="500"/>
                                        <p:tgtEl>
                                          <p:spTgt spid="94">
                                            <p:txEl>
                                              <p:pRg st="4" end="4"/>
                                            </p:txEl>
                                          </p:spTgt>
                                        </p:tgtEl>
                                      </p:cBhvr>
                                    </p:animEffect>
                                  </p:childTnLst>
                                </p:cTn>
                              </p:par>
                            </p:childTnLst>
                          </p:cTn>
                        </p:par>
                      </p:childTnLst>
                    </p:cTn>
                  </p:par>
                  <p:par>
                    <p:cTn id="276" nodeType="clickEffect" fill="hold">
                      <p:stCondLst>
                        <p:cond delay="indefinite"/>
                      </p:stCondLst>
                      <p:childTnLst>
                        <p:par>
                          <p:cTn id="277" nodeType="withEffect" fill="hold">
                            <p:stCondLst>
                              <p:cond delay="0"/>
                            </p:stCondLst>
                            <p:childTnLst>
                              <p:par>
                                <p:cTn id="278" nodeType="clickEffect" fill="hold" presetClass="entr" presetID="22" presetSubtype="8">
                                  <p:stCondLst>
                                    <p:cond delay="0"/>
                                  </p:stCondLst>
                                  <p:childTnLst>
                                    <p:set>
                                      <p:cBhvr>
                                        <p:cTn id="279" dur="1" fill="hold">
                                          <p:stCondLst>
                                            <p:cond delay="0"/>
                                          </p:stCondLst>
                                        </p:cTn>
                                        <p:tgtEl>
                                          <p:spTgt spid="94">
                                            <p:txEl>
                                              <p:pRg st="5" end="5"/>
                                            </p:txEl>
                                          </p:spTgt>
                                        </p:tgtEl>
                                        <p:attrNameLst>
                                          <p:attrName>style.visibility</p:attrName>
                                        </p:attrNameLst>
                                      </p:cBhvr>
                                      <p:to>
                                        <p:strVal val="visible"/>
                                      </p:to>
                                    </p:set>
                                    <p:animEffect filter="wipe(left)" transition="in">
                                      <p:cBhvr additive="repl">
                                        <p:cTn id="280" dur="500"/>
                                        <p:tgtEl>
                                          <p:spTgt spid="94">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9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increase output with a fixed plant, a firm must increase the quantity of labor it uses.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We describe the relationship between output and the quantity of labor by using three related concepts: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Total product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Marginal product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Average product</a:t>
            </a:r>
            <a:endParaRPr b="0" lang="en-CA" sz="2400" strike="noStrike" u="none">
              <a:solidFill>
                <a:schemeClr val="dk1"/>
              </a:solidFill>
              <a:effectLst/>
              <a:uFillTx/>
              <a:latin typeface="Arial"/>
            </a:endParaRPr>
          </a:p>
        </p:txBody>
      </p:sp>
    </p:spTree>
  </p:cSld>
  <p:transition spd="slow">
    <p:wipe dir="r"/>
  </p:transition>
  <p:timing>
    <p:tnLst>
      <p:par>
        <p:cTn id="281" dur="indefinite" restart="never" nodeType="tmRoot">
          <p:childTnLst>
            <p:seq>
              <p:cTn id="282" dur="indefinite" nodeType="mainSeq">
                <p:childTnLst>
                  <p:par>
                    <p:cTn id="283" nodeType="clickEffect" fill="hold">
                      <p:stCondLst>
                        <p:cond delay="indefinite"/>
                      </p:stCondLst>
                      <p:childTnLst>
                        <p:par>
                          <p:cTn id="284" nodeType="withEffect" fill="hold">
                            <p:stCondLst>
                              <p:cond delay="0"/>
                            </p:stCondLst>
                            <p:childTnLst>
                              <p:par>
                                <p:cTn id="285" nodeType="clickEffect" fill="hold" presetClass="entr" presetID="22" presetSubtype="8">
                                  <p:stCondLst>
                                    <p:cond delay="0"/>
                                  </p:stCondLst>
                                  <p:childTnLst>
                                    <p:set>
                                      <p:cBhvr>
                                        <p:cTn id="286" dur="1" fill="hold">
                                          <p:stCondLst>
                                            <p:cond delay="0"/>
                                          </p:stCondLst>
                                        </p:cTn>
                                        <p:tgtEl>
                                          <p:spTgt spid="98">
                                            <p:txEl>
                                              <p:pRg st="1" end="1"/>
                                            </p:txEl>
                                          </p:spTgt>
                                        </p:tgtEl>
                                        <p:attrNameLst>
                                          <p:attrName>style.visibility</p:attrName>
                                        </p:attrNameLst>
                                      </p:cBhvr>
                                      <p:to>
                                        <p:strVal val="visible"/>
                                      </p:to>
                                    </p:set>
                                    <p:animEffect filter="wipe(left)" transition="in">
                                      <p:cBhvr additive="repl">
                                        <p:cTn id="287" dur="500"/>
                                        <p:tgtEl>
                                          <p:spTgt spid="98">
                                            <p:txEl>
                                              <p:pRg st="1" end="1"/>
                                            </p:txEl>
                                          </p:spTgt>
                                        </p:tgtEl>
                                      </p:cBhvr>
                                    </p:animEffect>
                                  </p:childTnLst>
                                </p:cTn>
                              </p:par>
                            </p:childTnLst>
                          </p:cTn>
                        </p:par>
                      </p:childTnLst>
                    </p:cTn>
                  </p:par>
                  <p:par>
                    <p:cTn id="288" nodeType="clickEffect" fill="hold">
                      <p:stCondLst>
                        <p:cond delay="indefinite"/>
                      </p:stCondLst>
                      <p:childTnLst>
                        <p:par>
                          <p:cTn id="289" nodeType="withEffect" fill="hold">
                            <p:stCondLst>
                              <p:cond delay="0"/>
                            </p:stCondLst>
                            <p:childTnLst>
                              <p:par>
                                <p:cTn id="290" nodeType="clickEffect" fill="hold" presetClass="entr" presetID="22" presetSubtype="8">
                                  <p:stCondLst>
                                    <p:cond delay="0"/>
                                  </p:stCondLst>
                                  <p:childTnLst>
                                    <p:set>
                                      <p:cBhvr>
                                        <p:cTn id="291" dur="1" fill="hold">
                                          <p:stCondLst>
                                            <p:cond delay="0"/>
                                          </p:stCondLst>
                                        </p:cTn>
                                        <p:tgtEl>
                                          <p:spTgt spid="98">
                                            <p:txEl>
                                              <p:pRg st="2" end="2"/>
                                            </p:txEl>
                                          </p:spTgt>
                                        </p:tgtEl>
                                        <p:attrNameLst>
                                          <p:attrName>style.visibility</p:attrName>
                                        </p:attrNameLst>
                                      </p:cBhvr>
                                      <p:to>
                                        <p:strVal val="visible"/>
                                      </p:to>
                                    </p:set>
                                    <p:animEffect filter="wipe(left)" transition="in">
                                      <p:cBhvr additive="repl">
                                        <p:cTn id="292" dur="500"/>
                                        <p:tgtEl>
                                          <p:spTgt spid="98">
                                            <p:txEl>
                                              <p:pRg st="2" end="2"/>
                                            </p:txEl>
                                          </p:spTgt>
                                        </p:tgtEl>
                                      </p:cBhvr>
                                    </p:animEffect>
                                  </p:childTnLst>
                                </p:cTn>
                              </p:par>
                            </p:childTnLst>
                          </p:cTn>
                        </p:par>
                      </p:childTnLst>
                    </p:cTn>
                  </p:par>
                  <p:par>
                    <p:cTn id="293" nodeType="clickEffect" fill="hold">
                      <p:stCondLst>
                        <p:cond delay="indefinite"/>
                      </p:stCondLst>
                      <p:childTnLst>
                        <p:par>
                          <p:cTn id="294" nodeType="withEffect" fill="hold">
                            <p:stCondLst>
                              <p:cond delay="0"/>
                            </p:stCondLst>
                            <p:childTnLst>
                              <p:par>
                                <p:cTn id="295" nodeType="clickEffect" fill="hold" presetClass="entr" presetID="22" presetSubtype="8">
                                  <p:stCondLst>
                                    <p:cond delay="0"/>
                                  </p:stCondLst>
                                  <p:childTnLst>
                                    <p:set>
                                      <p:cBhvr>
                                        <p:cTn id="296" dur="1" fill="hold">
                                          <p:stCondLst>
                                            <p:cond delay="0"/>
                                          </p:stCondLst>
                                        </p:cTn>
                                        <p:tgtEl>
                                          <p:spTgt spid="98">
                                            <p:txEl>
                                              <p:pRg st="3" end="3"/>
                                            </p:txEl>
                                          </p:spTgt>
                                        </p:tgtEl>
                                        <p:attrNameLst>
                                          <p:attrName>style.visibility</p:attrName>
                                        </p:attrNameLst>
                                      </p:cBhvr>
                                      <p:to>
                                        <p:strVal val="visible"/>
                                      </p:to>
                                    </p:set>
                                    <p:animEffect filter="wipe(left)" transition="in">
                                      <p:cBhvr additive="repl">
                                        <p:cTn id="297" dur="500"/>
                                        <p:tgtEl>
                                          <p:spTgt spid="98">
                                            <p:txEl>
                                              <p:pRg st="3" end="3"/>
                                            </p:txEl>
                                          </p:spTgt>
                                        </p:tgtEl>
                                      </p:cBhvr>
                                    </p:animEffect>
                                  </p:childTnLst>
                                </p:cTn>
                              </p:par>
                            </p:childTnLst>
                          </p:cTn>
                        </p:par>
                      </p:childTnLst>
                    </p:cTn>
                  </p:par>
                  <p:par>
                    <p:cTn id="298" nodeType="clickEffect" fill="hold">
                      <p:stCondLst>
                        <p:cond delay="indefinite"/>
                      </p:stCondLst>
                      <p:childTnLst>
                        <p:par>
                          <p:cTn id="299" nodeType="withEffect" fill="hold">
                            <p:stCondLst>
                              <p:cond delay="0"/>
                            </p:stCondLst>
                            <p:childTnLst>
                              <p:par>
                                <p:cTn id="300" nodeType="clickEffect" fill="hold" presetClass="entr" presetID="22" presetSubtype="8">
                                  <p:stCondLst>
                                    <p:cond delay="0"/>
                                  </p:stCondLst>
                                  <p:childTnLst>
                                    <p:set>
                                      <p:cBhvr>
                                        <p:cTn id="301" dur="1" fill="hold">
                                          <p:stCondLst>
                                            <p:cond delay="0"/>
                                          </p:stCondLst>
                                        </p:cTn>
                                        <p:tgtEl>
                                          <p:spTgt spid="98">
                                            <p:txEl>
                                              <p:pRg st="4" end="4"/>
                                            </p:txEl>
                                          </p:spTgt>
                                        </p:tgtEl>
                                        <p:attrNameLst>
                                          <p:attrName>style.visibility</p:attrName>
                                        </p:attrNameLst>
                                      </p:cBhvr>
                                      <p:to>
                                        <p:strVal val="visible"/>
                                      </p:to>
                                    </p:set>
                                    <p:animEffect filter="wipe(left)" transition="in">
                                      <p:cBhvr additive="repl">
                                        <p:cTn id="302" dur="500"/>
                                        <p:tgtEl>
                                          <p:spTgt spid="9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10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AU" sz="2800" strike="noStrike" u="none">
                <a:solidFill>
                  <a:srgbClr val="00468f"/>
                </a:solidFill>
                <a:effectLst/>
                <a:uFillTx/>
                <a:latin typeface="Arial"/>
                <a:ea typeface="ＭＳ Ｐゴシック"/>
              </a:rPr>
              <a:t>Total </a:t>
            </a:r>
            <a:r>
              <a:rPr b="1" lang="en-US" sz="2800" strike="noStrike" u="none">
                <a:solidFill>
                  <a:srgbClr val="00468f"/>
                </a:solidFill>
                <a:effectLst/>
                <a:uFillTx/>
                <a:latin typeface="Arial"/>
                <a:ea typeface="ＭＳ Ｐゴシック"/>
              </a:rPr>
              <a:t>Product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Total product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TP</a:t>
            </a:r>
            <a:r>
              <a:rPr b="0" lang="en-US" sz="2400" strike="noStrike" u="none">
                <a:solidFill>
                  <a:schemeClr val="dk1"/>
                </a:solidFill>
                <a:effectLst/>
                <a:uFillTx/>
                <a:latin typeface="Arial"/>
                <a:ea typeface="ＭＳ Ｐゴシック"/>
              </a:rPr>
              <a:t>) is the total quantity of a good produced in a given period.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product is an output </a:t>
            </a:r>
            <a:r>
              <a:rPr b="0" i="1" lang="en-US" sz="2400" strike="noStrike" u="none">
                <a:solidFill>
                  <a:schemeClr val="dk1"/>
                </a:solidFill>
                <a:effectLst/>
                <a:uFillTx/>
                <a:latin typeface="Arial"/>
                <a:ea typeface="ＭＳ Ｐゴシック"/>
              </a:rPr>
              <a:t>rate</a:t>
            </a:r>
            <a:r>
              <a:rPr b="0" lang="en-US" sz="2400" strike="noStrike" u="none">
                <a:solidFill>
                  <a:schemeClr val="dk1"/>
                </a:solidFill>
                <a:effectLst/>
                <a:uFillTx/>
                <a:latin typeface="Arial"/>
                <a:ea typeface="ＭＳ Ｐゴシック"/>
              </a:rPr>
              <a:t>—the number of units produced per unit of time.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product increases as the quantity of labor employed increases.</a:t>
            </a:r>
            <a:endParaRPr b="1" lang="en-CA" sz="2400" strike="noStrike" u="none">
              <a:solidFill>
                <a:srgbClr val="00468f"/>
              </a:solidFill>
              <a:effectLst/>
              <a:uFillTx/>
              <a:latin typeface="Arial"/>
            </a:endParaRPr>
          </a:p>
        </p:txBody>
      </p:sp>
    </p:spTree>
  </p:cSld>
  <p:transition spd="slow">
    <p:wipe dir="r"/>
  </p:transition>
  <p:timing>
    <p:tnLst>
      <p:par>
        <p:cTn id="303" dur="indefinite" restart="never" nodeType="tmRoot">
          <p:childTnLst>
            <p:seq>
              <p:cTn id="304" dur="indefinite" nodeType="mainSeq">
                <p:childTnLst>
                  <p:par>
                    <p:cTn id="305" nodeType="clickEffect" fill="hold">
                      <p:stCondLst>
                        <p:cond delay="indefinite"/>
                      </p:stCondLst>
                      <p:childTnLst>
                        <p:par>
                          <p:cTn id="306" nodeType="withEffect" fill="hold">
                            <p:stCondLst>
                              <p:cond delay="0"/>
                            </p:stCondLst>
                            <p:childTnLst>
                              <p:par>
                                <p:cTn id="307" nodeType="clickEffect" fill="hold" presetClass="entr" presetID="22" presetSubtype="8">
                                  <p:stCondLst>
                                    <p:cond delay="0"/>
                                  </p:stCondLst>
                                  <p:childTnLst>
                                    <p:set>
                                      <p:cBhvr>
                                        <p:cTn id="308" dur="1" fill="hold">
                                          <p:stCondLst>
                                            <p:cond delay="0"/>
                                          </p:stCondLst>
                                        </p:cTn>
                                        <p:tgtEl>
                                          <p:spTgt spid="100">
                                            <p:txEl>
                                              <p:pRg st="1" end="1"/>
                                            </p:txEl>
                                          </p:spTgt>
                                        </p:tgtEl>
                                        <p:attrNameLst>
                                          <p:attrName>style.visibility</p:attrName>
                                        </p:attrNameLst>
                                      </p:cBhvr>
                                      <p:to>
                                        <p:strVal val="visible"/>
                                      </p:to>
                                    </p:set>
                                    <p:animEffect filter="wipe(left)" transition="in">
                                      <p:cBhvr additive="repl">
                                        <p:cTn id="309" dur="1000"/>
                                        <p:tgtEl>
                                          <p:spTgt spid="100">
                                            <p:txEl>
                                              <p:pRg st="1" end="1"/>
                                            </p:txEl>
                                          </p:spTgt>
                                        </p:tgtEl>
                                      </p:cBhvr>
                                    </p:animEffect>
                                  </p:childTnLst>
                                </p:cTn>
                              </p:par>
                            </p:childTnLst>
                          </p:cTn>
                        </p:par>
                      </p:childTnLst>
                    </p:cTn>
                  </p:par>
                  <p:par>
                    <p:cTn id="310" nodeType="clickEffect" fill="hold">
                      <p:stCondLst>
                        <p:cond delay="indefinite"/>
                      </p:stCondLst>
                      <p:childTnLst>
                        <p:par>
                          <p:cTn id="311" nodeType="withEffect" fill="hold">
                            <p:stCondLst>
                              <p:cond delay="0"/>
                            </p:stCondLst>
                            <p:childTnLst>
                              <p:par>
                                <p:cTn id="312" nodeType="clickEffect" fill="hold" presetClass="entr" presetID="22" presetSubtype="8">
                                  <p:stCondLst>
                                    <p:cond delay="0"/>
                                  </p:stCondLst>
                                  <p:childTnLst>
                                    <p:set>
                                      <p:cBhvr>
                                        <p:cTn id="313" dur="1" fill="hold">
                                          <p:stCondLst>
                                            <p:cond delay="0"/>
                                          </p:stCondLst>
                                        </p:cTn>
                                        <p:tgtEl>
                                          <p:spTgt spid="100">
                                            <p:txEl>
                                              <p:pRg st="2" end="2"/>
                                            </p:txEl>
                                          </p:spTgt>
                                        </p:tgtEl>
                                        <p:attrNameLst>
                                          <p:attrName>style.visibility</p:attrName>
                                        </p:attrNameLst>
                                      </p:cBhvr>
                                      <p:to>
                                        <p:strVal val="visible"/>
                                      </p:to>
                                    </p:set>
                                    <p:animEffect filter="wipe(left)" transition="in">
                                      <p:cBhvr additive="repl">
                                        <p:cTn id="314" dur="1000"/>
                                        <p:tgtEl>
                                          <p:spTgt spid="100">
                                            <p:txEl>
                                              <p:pRg st="2" end="2"/>
                                            </p:txEl>
                                          </p:spTgt>
                                        </p:tgtEl>
                                      </p:cBhvr>
                                    </p:animEffect>
                                  </p:childTnLst>
                                </p:cTn>
                              </p:par>
                            </p:childTnLst>
                          </p:cTn>
                        </p:par>
                      </p:childTnLst>
                    </p:cTn>
                  </p:par>
                  <p:par>
                    <p:cTn id="315" nodeType="clickEffect" fill="hold">
                      <p:stCondLst>
                        <p:cond delay="indefinite"/>
                      </p:stCondLst>
                      <p:childTnLst>
                        <p:par>
                          <p:cTn id="316" nodeType="withEffect" fill="hold">
                            <p:stCondLst>
                              <p:cond delay="0"/>
                            </p:stCondLst>
                            <p:childTnLst>
                              <p:par>
                                <p:cTn id="317" nodeType="clickEffect" fill="hold" presetClass="entr" presetID="22" presetSubtype="8">
                                  <p:stCondLst>
                                    <p:cond delay="0"/>
                                  </p:stCondLst>
                                  <p:childTnLst>
                                    <p:set>
                                      <p:cBhvr>
                                        <p:cTn id="318" dur="1" fill="hold">
                                          <p:stCondLst>
                                            <p:cond delay="0"/>
                                          </p:stCondLst>
                                        </p:cTn>
                                        <p:tgtEl>
                                          <p:spTgt spid="100">
                                            <p:txEl>
                                              <p:pRg st="3" end="3"/>
                                            </p:txEl>
                                          </p:spTgt>
                                        </p:tgtEl>
                                        <p:attrNameLst>
                                          <p:attrName>style.visibility</p:attrName>
                                        </p:attrNameLst>
                                      </p:cBhvr>
                                      <p:to>
                                        <p:strVal val="visible"/>
                                      </p:to>
                                    </p:set>
                                    <p:animEffect filter="wipe(left)" transition="in">
                                      <p:cBhvr additive="repl">
                                        <p:cTn id="319" dur="1000"/>
                                        <p:tgtEl>
                                          <p:spTgt spid="100">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pic>
        <p:nvPicPr>
          <p:cNvPr id="102" name="Picture 19" descr="fig1302a.gif"/>
          <p:cNvPicPr/>
          <p:nvPr/>
        </p:nvPicPr>
        <p:blipFill>
          <a:blip r:embed="rId1"/>
          <a:stretch/>
        </p:blipFill>
        <p:spPr>
          <a:xfrm>
            <a:off x="3240000" y="1476360"/>
            <a:ext cx="5424120" cy="4824000"/>
          </a:xfrm>
          <a:prstGeom prst="rect">
            <a:avLst/>
          </a:prstGeom>
          <a:noFill/>
          <a:ln w="0">
            <a:noFill/>
          </a:ln>
        </p:spPr>
      </p:pic>
      <p:pic>
        <p:nvPicPr>
          <p:cNvPr id="103" name="Picture 20" descr="fig1302b.gif"/>
          <p:cNvPicPr/>
          <p:nvPr/>
        </p:nvPicPr>
        <p:blipFill>
          <a:blip r:embed="rId2"/>
          <a:stretch/>
        </p:blipFill>
        <p:spPr>
          <a:xfrm>
            <a:off x="3240000" y="1476360"/>
            <a:ext cx="5424120" cy="4824000"/>
          </a:xfrm>
          <a:prstGeom prst="rect">
            <a:avLst/>
          </a:prstGeom>
          <a:noFill/>
          <a:ln w="0">
            <a:noFill/>
          </a:ln>
        </p:spPr>
      </p:pic>
      <p:pic>
        <p:nvPicPr>
          <p:cNvPr id="104" name="Picture 21" descr="fig1302c.gif"/>
          <p:cNvPicPr/>
          <p:nvPr/>
        </p:nvPicPr>
        <p:blipFill>
          <a:blip r:embed="rId3"/>
          <a:stretch/>
        </p:blipFill>
        <p:spPr>
          <a:xfrm>
            <a:off x="3240000" y="1476360"/>
            <a:ext cx="5424120" cy="4824000"/>
          </a:xfrm>
          <a:prstGeom prst="rect">
            <a:avLst/>
          </a:prstGeom>
          <a:noFill/>
          <a:ln w="0">
            <a:noFill/>
          </a:ln>
        </p:spPr>
      </p:pic>
      <p:pic>
        <p:nvPicPr>
          <p:cNvPr id="105" name="Picture 22" descr="fig1302d.gif"/>
          <p:cNvPicPr/>
          <p:nvPr/>
        </p:nvPicPr>
        <p:blipFill>
          <a:blip r:embed="rId4"/>
          <a:stretch/>
        </p:blipFill>
        <p:spPr>
          <a:xfrm>
            <a:off x="3240000" y="1476360"/>
            <a:ext cx="5424120" cy="4824000"/>
          </a:xfrm>
          <a:prstGeom prst="rect">
            <a:avLst/>
          </a:prstGeom>
          <a:noFill/>
          <a:ln w="0">
            <a:noFill/>
          </a:ln>
        </p:spPr>
      </p:pic>
      <p:pic>
        <p:nvPicPr>
          <p:cNvPr id="106" name="Picture 23" descr="fig1302e.gif"/>
          <p:cNvPicPr/>
          <p:nvPr/>
        </p:nvPicPr>
        <p:blipFill>
          <a:blip r:embed="rId5"/>
          <a:stretch/>
        </p:blipFill>
        <p:spPr>
          <a:xfrm>
            <a:off x="3240000" y="1476360"/>
            <a:ext cx="5424120" cy="4824000"/>
          </a:xfrm>
          <a:prstGeom prst="rect">
            <a:avLst/>
          </a:prstGeom>
          <a:noFill/>
          <a:ln w="0">
            <a:noFill/>
          </a:ln>
        </p:spPr>
      </p:pic>
      <p:pic>
        <p:nvPicPr>
          <p:cNvPr id="107" name="Picture 24" descr="fig1302f.gif"/>
          <p:cNvPicPr/>
          <p:nvPr/>
        </p:nvPicPr>
        <p:blipFill>
          <a:blip r:embed="rId6"/>
          <a:stretch/>
        </p:blipFill>
        <p:spPr>
          <a:xfrm>
            <a:off x="3240000" y="1476360"/>
            <a:ext cx="5424120" cy="4824000"/>
          </a:xfrm>
          <a:prstGeom prst="rect">
            <a:avLst/>
          </a:prstGeom>
          <a:noFill/>
          <a:ln w="0">
            <a:noFill/>
          </a:ln>
        </p:spPr>
      </p:pic>
      <p:pic>
        <p:nvPicPr>
          <p:cNvPr id="108" name="Picture 25" descr="fig1302g.gif"/>
          <p:cNvPicPr/>
          <p:nvPr/>
        </p:nvPicPr>
        <p:blipFill>
          <a:blip r:embed="rId7"/>
          <a:stretch/>
        </p:blipFill>
        <p:spPr>
          <a:xfrm>
            <a:off x="3240000" y="1476360"/>
            <a:ext cx="5424120" cy="4824000"/>
          </a:xfrm>
          <a:prstGeom prst="rect">
            <a:avLst/>
          </a:prstGeom>
          <a:noFill/>
          <a:ln w="0">
            <a:noFill/>
          </a:ln>
        </p:spPr>
      </p:pic>
      <p:pic>
        <p:nvPicPr>
          <p:cNvPr id="109" name="Picture 26" descr="fig1302h.gif"/>
          <p:cNvPicPr/>
          <p:nvPr/>
        </p:nvPicPr>
        <p:blipFill>
          <a:blip r:embed="rId8"/>
          <a:stretch/>
        </p:blipFill>
        <p:spPr>
          <a:xfrm>
            <a:off x="3240000" y="1476360"/>
            <a:ext cx="5424120" cy="4824000"/>
          </a:xfrm>
          <a:prstGeom prst="rect">
            <a:avLst/>
          </a:prstGeom>
          <a:noFill/>
          <a:ln w="0">
            <a:noFill/>
          </a:ln>
        </p:spPr>
      </p:pic>
      <p:pic>
        <p:nvPicPr>
          <p:cNvPr id="110" name="Picture 27" descr="fig1302i.gif"/>
          <p:cNvPicPr/>
          <p:nvPr/>
        </p:nvPicPr>
        <p:blipFill>
          <a:blip r:embed="rId9"/>
          <a:stretch/>
        </p:blipFill>
        <p:spPr>
          <a:xfrm>
            <a:off x="3240000" y="1476360"/>
            <a:ext cx="5424120" cy="4824000"/>
          </a:xfrm>
          <a:prstGeom prst="rect">
            <a:avLst/>
          </a:prstGeom>
          <a:noFill/>
          <a:ln w="0">
            <a:noFill/>
          </a:ln>
        </p:spPr>
      </p:pic>
      <p:pic>
        <p:nvPicPr>
          <p:cNvPr id="111" name="Picture 28" descr="fig1302j.gif"/>
          <p:cNvPicPr/>
          <p:nvPr/>
        </p:nvPicPr>
        <p:blipFill>
          <a:blip r:embed="rId10"/>
          <a:stretch/>
        </p:blipFill>
        <p:spPr>
          <a:xfrm>
            <a:off x="3240000" y="1476360"/>
            <a:ext cx="5424120" cy="4824000"/>
          </a:xfrm>
          <a:prstGeom prst="rect">
            <a:avLst/>
          </a:prstGeom>
          <a:noFill/>
          <a:ln w="0">
            <a:noFill/>
          </a:ln>
        </p:spPr>
      </p:pic>
      <p:pic>
        <p:nvPicPr>
          <p:cNvPr id="112" name="Picture 29" descr="fig1302k.gif"/>
          <p:cNvPicPr/>
          <p:nvPr/>
        </p:nvPicPr>
        <p:blipFill>
          <a:blip r:embed="rId11"/>
          <a:stretch/>
        </p:blipFill>
        <p:spPr>
          <a:xfrm>
            <a:off x="3240000" y="1476360"/>
            <a:ext cx="5424120" cy="4824000"/>
          </a:xfrm>
          <a:prstGeom prst="rect">
            <a:avLst/>
          </a:prstGeom>
          <a:noFill/>
          <a:ln w="0">
            <a:noFill/>
          </a:ln>
        </p:spPr>
      </p:pic>
      <p:pic>
        <p:nvPicPr>
          <p:cNvPr id="113" name="Picture 30" descr="fig1302l.gif"/>
          <p:cNvPicPr/>
          <p:nvPr/>
        </p:nvPicPr>
        <p:blipFill>
          <a:blip r:embed="rId12"/>
          <a:stretch/>
        </p:blipFill>
        <p:spPr>
          <a:xfrm>
            <a:off x="3240000" y="1476360"/>
            <a:ext cx="5424120" cy="4824000"/>
          </a:xfrm>
          <a:prstGeom prst="rect">
            <a:avLst/>
          </a:prstGeom>
          <a:noFill/>
          <a:ln w="0">
            <a:noFill/>
          </a:ln>
        </p:spPr>
      </p:pic>
      <p:sp>
        <p:nvSpPr>
          <p:cNvPr id="114" name="PlaceHolder 2"/>
          <p:cNvSpPr>
            <a:spLocks noGrp="1"/>
          </p:cNvSpPr>
          <p:nvPr>
            <p:ph/>
          </p:nvPr>
        </p:nvSpPr>
        <p:spPr>
          <a:xfrm>
            <a:off x="360360" y="1440000"/>
            <a:ext cx="45162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14.2 shows the total product and the total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Points </a:t>
            </a:r>
            <a:r>
              <a:rPr b="0" i="1" lang="en-US" sz="2400" strike="noStrike" u="none">
                <a:solidFill>
                  <a:srgbClr val="000000"/>
                </a:solidFill>
                <a:effectLst/>
                <a:uFillTx/>
                <a:latin typeface="Arial"/>
                <a:ea typeface="ＭＳ Ｐゴシック"/>
              </a:rPr>
              <a:t>A</a:t>
            </a:r>
            <a:r>
              <a:rPr b="0" lang="en-US" sz="2400" strike="noStrike" u="none">
                <a:solidFill>
                  <a:srgbClr val="000000"/>
                </a:solidFill>
                <a:effectLst/>
                <a:uFillTx/>
                <a:latin typeface="Arial"/>
                <a:ea typeface="ＭＳ Ｐゴシック"/>
              </a:rPr>
              <a:t> through </a:t>
            </a:r>
            <a:r>
              <a:rPr b="0" i="1" lang="en-US" sz="2400" strike="noStrike" u="none">
                <a:solidFill>
                  <a:srgbClr val="000000"/>
                </a:solidFill>
                <a:effectLst/>
                <a:uFillTx/>
                <a:latin typeface="Arial"/>
                <a:ea typeface="ＭＳ Ｐゴシック"/>
              </a:rPr>
              <a:t>H</a:t>
            </a:r>
            <a:r>
              <a:rPr b="0" lang="en-US" sz="2400" strike="noStrike" u="none">
                <a:solidFill>
                  <a:srgbClr val="000000"/>
                </a:solidFill>
                <a:effectLst/>
                <a:uFillTx/>
                <a:latin typeface="Arial"/>
                <a:ea typeface="ＭＳ Ｐゴシック"/>
              </a:rPr>
              <a:t> on the curve correspond to the columns of the table.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a:t>
            </a:r>
            <a:r>
              <a:rPr b="0" i="1" lang="en-US" sz="2400" strike="noStrike" u="none">
                <a:solidFill>
                  <a:srgbClr val="000000"/>
                </a:solidFill>
                <a:effectLst/>
                <a:uFillTx/>
                <a:latin typeface="Arial"/>
                <a:ea typeface="ＭＳ Ｐゴシック"/>
              </a:rPr>
              <a:t>TP</a:t>
            </a:r>
            <a:r>
              <a:rPr b="0" lang="en-US" sz="2400" strike="noStrike" u="none">
                <a:solidFill>
                  <a:srgbClr val="000000"/>
                </a:solidFill>
                <a:effectLst/>
                <a:uFillTx/>
                <a:latin typeface="Arial"/>
                <a:ea typeface="ＭＳ Ｐゴシック"/>
              </a:rPr>
              <a:t> curve is like the </a:t>
            </a:r>
            <a:r>
              <a:rPr b="0" i="1" lang="en-US" sz="2400" strike="noStrike" u="none">
                <a:solidFill>
                  <a:srgbClr val="000000"/>
                </a:solidFill>
                <a:effectLst/>
                <a:uFillTx/>
                <a:latin typeface="Arial"/>
                <a:ea typeface="ＭＳ Ｐゴシック"/>
              </a:rPr>
              <a:t>PPF</a:t>
            </a:r>
            <a:r>
              <a:rPr b="0" lang="en-US" sz="2400" strike="noStrike" u="none">
                <a:solidFill>
                  <a:srgbClr val="000000"/>
                </a:solidFill>
                <a:effectLst/>
                <a:uFillTx/>
                <a:latin typeface="Arial"/>
                <a:ea typeface="ＭＳ Ｐゴシック"/>
              </a:rPr>
              <a:t>: It separates attainable points and unattainable points.</a:t>
            </a:r>
            <a:endParaRPr b="1" lang="en-CA" sz="2400" strike="noStrike" u="none">
              <a:solidFill>
                <a:srgbClr val="00468f"/>
              </a:solidFill>
              <a:effectLst/>
              <a:uFillTx/>
              <a:latin typeface="Arial"/>
            </a:endParaRPr>
          </a:p>
        </p:txBody>
      </p:sp>
    </p:spTree>
  </p:cSld>
  <p:transition spd="med">
    <p:wipe dir="r"/>
  </p:transition>
  <p:timing>
    <p:tnLst>
      <p:par>
        <p:cTn id="320" dur="indefinite" restart="never" nodeType="tmRoot">
          <p:childTnLst>
            <p:seq>
              <p:cTn id="321" dur="indefinite" nodeType="mainSeq">
                <p:childTnLst>
                  <p:par>
                    <p:cTn id="322" nodeType="clickEffect" fill="hold">
                      <p:stCondLst>
                        <p:cond delay="indefinite"/>
                      </p:stCondLst>
                      <p:childTnLst>
                        <p:par>
                          <p:cTn id="323" nodeType="withEffect" fill="hold">
                            <p:stCondLst>
                              <p:cond delay="0"/>
                            </p:stCondLst>
                            <p:childTnLst>
                              <p:par>
                                <p:cTn id="324" nodeType="clickEffect" fill="hold" presetClass="entr" presetID="22" presetSubtype="8">
                                  <p:stCondLst>
                                    <p:cond delay="0"/>
                                  </p:stCondLst>
                                  <p:childTnLst>
                                    <p:set>
                                      <p:cBhvr>
                                        <p:cTn id="325" dur="1" fill="hold">
                                          <p:stCondLst>
                                            <p:cond delay="0"/>
                                          </p:stCondLst>
                                        </p:cTn>
                                        <p:tgtEl>
                                          <p:spTgt spid="114">
                                            <p:txEl>
                                              <p:pRg st="1" end="1"/>
                                            </p:txEl>
                                          </p:spTgt>
                                        </p:tgtEl>
                                        <p:attrNameLst>
                                          <p:attrName>style.visibility</p:attrName>
                                        </p:attrNameLst>
                                      </p:cBhvr>
                                      <p:to>
                                        <p:strVal val="visible"/>
                                      </p:to>
                                    </p:set>
                                    <p:animEffect filter="wipe(left)" transition="in">
                                      <p:cBhvr additive="repl">
                                        <p:cTn id="326" dur="500"/>
                                        <p:tgtEl>
                                          <p:spTgt spid="114">
                                            <p:txEl>
                                              <p:pRg st="1" end="1"/>
                                            </p:txEl>
                                          </p:spTgt>
                                        </p:tgtEl>
                                      </p:cBhvr>
                                    </p:animEffect>
                                  </p:childTnLst>
                                </p:cTn>
                              </p:par>
                              <p:par>
                                <p:cTn id="327" nodeType="withEffect" fill="hold" presetClass="entr" presetID="10">
                                  <p:stCondLst>
                                    <p:cond delay="0"/>
                                  </p:stCondLst>
                                  <p:childTnLst>
                                    <p:set>
                                      <p:cBhvr>
                                        <p:cTn id="328" dur="1" fill="hold">
                                          <p:stCondLst>
                                            <p:cond delay="0"/>
                                          </p:stCondLst>
                                        </p:cTn>
                                        <p:tgtEl>
                                          <p:spTgt spid="103"/>
                                        </p:tgtEl>
                                        <p:attrNameLst>
                                          <p:attrName>style.visibility</p:attrName>
                                        </p:attrNameLst>
                                      </p:cBhvr>
                                      <p:to>
                                        <p:strVal val="visible"/>
                                      </p:to>
                                    </p:set>
                                    <p:animEffect filter="fade" transition="in">
                                      <p:cBhvr additive="repl">
                                        <p:cTn id="329" dur="500"/>
                                        <p:tgtEl>
                                          <p:spTgt spid="103"/>
                                        </p:tgtEl>
                                      </p:cBhvr>
                                    </p:animEffect>
                                  </p:childTnLst>
                                </p:cTn>
                              </p:par>
                              <p:par>
                                <p:cTn id="330" nodeType="withEffect" fill="hold" presetClass="entr" presetID="10">
                                  <p:stCondLst>
                                    <p:cond delay="400"/>
                                  </p:stCondLst>
                                  <p:childTnLst>
                                    <p:set>
                                      <p:cBhvr>
                                        <p:cTn id="331" dur="1" fill="hold">
                                          <p:stCondLst>
                                            <p:cond delay="0"/>
                                          </p:stCondLst>
                                        </p:cTn>
                                        <p:tgtEl>
                                          <p:spTgt spid="104"/>
                                        </p:tgtEl>
                                        <p:attrNameLst>
                                          <p:attrName>style.visibility</p:attrName>
                                        </p:attrNameLst>
                                      </p:cBhvr>
                                      <p:to>
                                        <p:strVal val="visible"/>
                                      </p:to>
                                    </p:set>
                                    <p:animEffect filter="fade" transition="in">
                                      <p:cBhvr additive="repl">
                                        <p:cTn id="332" dur="500"/>
                                        <p:tgtEl>
                                          <p:spTgt spid="104"/>
                                        </p:tgtEl>
                                      </p:cBhvr>
                                    </p:animEffect>
                                  </p:childTnLst>
                                </p:cTn>
                              </p:par>
                              <p:par>
                                <p:cTn id="333" nodeType="withEffect" fill="hold" presetClass="entr" presetID="10">
                                  <p:stCondLst>
                                    <p:cond delay="800"/>
                                  </p:stCondLst>
                                  <p:childTnLst>
                                    <p:set>
                                      <p:cBhvr>
                                        <p:cTn id="334" dur="1" fill="hold">
                                          <p:stCondLst>
                                            <p:cond delay="0"/>
                                          </p:stCondLst>
                                        </p:cTn>
                                        <p:tgtEl>
                                          <p:spTgt spid="105"/>
                                        </p:tgtEl>
                                        <p:attrNameLst>
                                          <p:attrName>style.visibility</p:attrName>
                                        </p:attrNameLst>
                                      </p:cBhvr>
                                      <p:to>
                                        <p:strVal val="visible"/>
                                      </p:to>
                                    </p:set>
                                    <p:animEffect filter="fade" transition="in">
                                      <p:cBhvr additive="repl">
                                        <p:cTn id="335" dur="500"/>
                                        <p:tgtEl>
                                          <p:spTgt spid="105"/>
                                        </p:tgtEl>
                                      </p:cBhvr>
                                    </p:animEffect>
                                  </p:childTnLst>
                                </p:cTn>
                              </p:par>
                              <p:par>
                                <p:cTn id="336" nodeType="withEffect" fill="hold" presetClass="entr" presetID="10">
                                  <p:stCondLst>
                                    <p:cond delay="1100"/>
                                  </p:stCondLst>
                                  <p:childTnLst>
                                    <p:set>
                                      <p:cBhvr>
                                        <p:cTn id="337" dur="1" fill="hold">
                                          <p:stCondLst>
                                            <p:cond delay="0"/>
                                          </p:stCondLst>
                                        </p:cTn>
                                        <p:tgtEl>
                                          <p:spTgt spid="106"/>
                                        </p:tgtEl>
                                        <p:attrNameLst>
                                          <p:attrName>style.visibility</p:attrName>
                                        </p:attrNameLst>
                                      </p:cBhvr>
                                      <p:to>
                                        <p:strVal val="visible"/>
                                      </p:to>
                                    </p:set>
                                    <p:animEffect filter="fade" transition="in">
                                      <p:cBhvr additive="repl">
                                        <p:cTn id="338" dur="500"/>
                                        <p:tgtEl>
                                          <p:spTgt spid="106"/>
                                        </p:tgtEl>
                                      </p:cBhvr>
                                    </p:animEffect>
                                  </p:childTnLst>
                                </p:cTn>
                              </p:par>
                              <p:par>
                                <p:cTn id="339" nodeType="withEffect" fill="hold" presetClass="entr" presetID="10">
                                  <p:stCondLst>
                                    <p:cond delay="1500"/>
                                  </p:stCondLst>
                                  <p:childTnLst>
                                    <p:set>
                                      <p:cBhvr>
                                        <p:cTn id="340" dur="1" fill="hold">
                                          <p:stCondLst>
                                            <p:cond delay="0"/>
                                          </p:stCondLst>
                                        </p:cTn>
                                        <p:tgtEl>
                                          <p:spTgt spid="107"/>
                                        </p:tgtEl>
                                        <p:attrNameLst>
                                          <p:attrName>style.visibility</p:attrName>
                                        </p:attrNameLst>
                                      </p:cBhvr>
                                      <p:to>
                                        <p:strVal val="visible"/>
                                      </p:to>
                                    </p:set>
                                    <p:animEffect filter="fade" transition="in">
                                      <p:cBhvr additive="repl">
                                        <p:cTn id="341" dur="500"/>
                                        <p:tgtEl>
                                          <p:spTgt spid="107"/>
                                        </p:tgtEl>
                                      </p:cBhvr>
                                    </p:animEffect>
                                  </p:childTnLst>
                                </p:cTn>
                              </p:par>
                              <p:par>
                                <p:cTn id="342" nodeType="withEffect" fill="hold" presetClass="entr" presetID="10">
                                  <p:stCondLst>
                                    <p:cond delay="1800"/>
                                  </p:stCondLst>
                                  <p:childTnLst>
                                    <p:set>
                                      <p:cBhvr>
                                        <p:cTn id="343" dur="1" fill="hold">
                                          <p:stCondLst>
                                            <p:cond delay="0"/>
                                          </p:stCondLst>
                                        </p:cTn>
                                        <p:tgtEl>
                                          <p:spTgt spid="108"/>
                                        </p:tgtEl>
                                        <p:attrNameLst>
                                          <p:attrName>style.visibility</p:attrName>
                                        </p:attrNameLst>
                                      </p:cBhvr>
                                      <p:to>
                                        <p:strVal val="visible"/>
                                      </p:to>
                                    </p:set>
                                    <p:animEffect filter="fade" transition="in">
                                      <p:cBhvr additive="repl">
                                        <p:cTn id="344" dur="500"/>
                                        <p:tgtEl>
                                          <p:spTgt spid="108"/>
                                        </p:tgtEl>
                                      </p:cBhvr>
                                    </p:animEffect>
                                  </p:childTnLst>
                                </p:cTn>
                              </p:par>
                              <p:par>
                                <p:cTn id="345" nodeType="withEffect" fill="hold" presetClass="entr" presetID="10">
                                  <p:stCondLst>
                                    <p:cond delay="2100"/>
                                  </p:stCondLst>
                                  <p:childTnLst>
                                    <p:set>
                                      <p:cBhvr>
                                        <p:cTn id="346" dur="1" fill="hold">
                                          <p:stCondLst>
                                            <p:cond delay="0"/>
                                          </p:stCondLst>
                                        </p:cTn>
                                        <p:tgtEl>
                                          <p:spTgt spid="109"/>
                                        </p:tgtEl>
                                        <p:attrNameLst>
                                          <p:attrName>style.visibility</p:attrName>
                                        </p:attrNameLst>
                                      </p:cBhvr>
                                      <p:to>
                                        <p:strVal val="visible"/>
                                      </p:to>
                                    </p:set>
                                    <p:animEffect filter="fade" transition="in">
                                      <p:cBhvr additive="repl">
                                        <p:cTn id="347" dur="500"/>
                                        <p:tgtEl>
                                          <p:spTgt spid="109"/>
                                        </p:tgtEl>
                                      </p:cBhvr>
                                    </p:animEffect>
                                  </p:childTnLst>
                                </p:cTn>
                              </p:par>
                              <p:par>
                                <p:cTn id="348" nodeType="withEffect" fill="hold" presetClass="entr" presetID="10">
                                  <p:stCondLst>
                                    <p:cond delay="2400"/>
                                  </p:stCondLst>
                                  <p:childTnLst>
                                    <p:set>
                                      <p:cBhvr>
                                        <p:cTn id="349" dur="1" fill="hold">
                                          <p:stCondLst>
                                            <p:cond delay="0"/>
                                          </p:stCondLst>
                                        </p:cTn>
                                        <p:tgtEl>
                                          <p:spTgt spid="110"/>
                                        </p:tgtEl>
                                        <p:attrNameLst>
                                          <p:attrName>style.visibility</p:attrName>
                                        </p:attrNameLst>
                                      </p:cBhvr>
                                      <p:to>
                                        <p:strVal val="visible"/>
                                      </p:to>
                                    </p:set>
                                    <p:animEffect filter="fade" transition="in">
                                      <p:cBhvr additive="repl">
                                        <p:cTn id="350" dur="500"/>
                                        <p:tgtEl>
                                          <p:spTgt spid="110"/>
                                        </p:tgtEl>
                                      </p:cBhvr>
                                    </p:animEffect>
                                  </p:childTnLst>
                                </p:cTn>
                              </p:par>
                            </p:childTnLst>
                          </p:cTn>
                        </p:par>
                      </p:childTnLst>
                    </p:cTn>
                  </p:par>
                  <p:par>
                    <p:cTn id="351" nodeType="clickEffect" fill="hold">
                      <p:stCondLst>
                        <p:cond delay="indefinite"/>
                      </p:stCondLst>
                      <p:childTnLst>
                        <p:par>
                          <p:cTn id="352" nodeType="withEffect" fill="hold">
                            <p:stCondLst>
                              <p:cond delay="0"/>
                            </p:stCondLst>
                            <p:childTnLst>
                              <p:par>
                                <p:cTn id="353" nodeType="clickEffect" fill="hold" presetClass="entr" presetID="22" presetSubtype="8">
                                  <p:stCondLst>
                                    <p:cond delay="0"/>
                                  </p:stCondLst>
                                  <p:childTnLst>
                                    <p:set>
                                      <p:cBhvr>
                                        <p:cTn id="354" dur="1" fill="hold">
                                          <p:stCondLst>
                                            <p:cond delay="0"/>
                                          </p:stCondLst>
                                        </p:cTn>
                                        <p:tgtEl>
                                          <p:spTgt spid="114">
                                            <p:txEl>
                                              <p:pRg st="2" end="2"/>
                                            </p:txEl>
                                          </p:spTgt>
                                        </p:tgtEl>
                                        <p:attrNameLst>
                                          <p:attrName>style.visibility</p:attrName>
                                        </p:attrNameLst>
                                      </p:cBhvr>
                                      <p:to>
                                        <p:strVal val="visible"/>
                                      </p:to>
                                    </p:set>
                                    <p:animEffect filter="wipe(left)" transition="in">
                                      <p:cBhvr additive="repl">
                                        <p:cTn id="355" dur="500"/>
                                        <p:tgtEl>
                                          <p:spTgt spid="114">
                                            <p:txEl>
                                              <p:pRg st="2" end="2"/>
                                            </p:txEl>
                                          </p:spTgt>
                                        </p:tgtEl>
                                      </p:cBhvr>
                                    </p:animEffect>
                                  </p:childTnLst>
                                </p:cTn>
                              </p:par>
                              <p:par>
                                <p:cTn id="356" nodeType="withEffect" fill="hold" presetClass="entr" presetID="22" presetSubtype="8">
                                  <p:stCondLst>
                                    <p:cond delay="0"/>
                                  </p:stCondLst>
                                  <p:childTnLst>
                                    <p:set>
                                      <p:cBhvr>
                                        <p:cTn id="357" dur="1" fill="hold">
                                          <p:stCondLst>
                                            <p:cond delay="0"/>
                                          </p:stCondLst>
                                        </p:cTn>
                                        <p:tgtEl>
                                          <p:spTgt spid="111"/>
                                        </p:tgtEl>
                                        <p:attrNameLst>
                                          <p:attrName>style.visibility</p:attrName>
                                        </p:attrNameLst>
                                      </p:cBhvr>
                                      <p:to>
                                        <p:strVal val="visible"/>
                                      </p:to>
                                    </p:set>
                                    <p:animEffect filter="wipe(left)" transition="in">
                                      <p:cBhvr additive="repl">
                                        <p:cTn id="358" dur="1000"/>
                                        <p:tgtEl>
                                          <p:spTgt spid="111"/>
                                        </p:tgtEl>
                                      </p:cBhvr>
                                    </p:animEffect>
                                  </p:childTnLst>
                                </p:cTn>
                              </p:par>
                              <p:par>
                                <p:cTn id="359" nodeType="withEffect" fill="hold" presetClass="entr" presetID="10">
                                  <p:stCondLst>
                                    <p:cond delay="700"/>
                                  </p:stCondLst>
                                  <p:childTnLst>
                                    <p:set>
                                      <p:cBhvr>
                                        <p:cTn id="360" dur="1" fill="hold">
                                          <p:stCondLst>
                                            <p:cond delay="0"/>
                                          </p:stCondLst>
                                        </p:cTn>
                                        <p:tgtEl>
                                          <p:spTgt spid="112"/>
                                        </p:tgtEl>
                                        <p:attrNameLst>
                                          <p:attrName>style.visibility</p:attrName>
                                        </p:attrNameLst>
                                      </p:cBhvr>
                                      <p:to>
                                        <p:strVal val="visible"/>
                                      </p:to>
                                    </p:set>
                                    <p:animEffect filter="fade" transition="in">
                                      <p:cBhvr additive="repl">
                                        <p:cTn id="361" dur="500"/>
                                        <p:tgtEl>
                                          <p:spTgt spid="112"/>
                                        </p:tgtEl>
                                      </p:cBhvr>
                                    </p:animEffect>
                                  </p:childTnLst>
                                </p:cTn>
                              </p:par>
                              <p:par>
                                <p:cTn id="362" nodeType="withEffect" fill="hold" presetClass="entr" presetID="10">
                                  <p:stCondLst>
                                    <p:cond delay="1300"/>
                                  </p:stCondLst>
                                  <p:childTnLst>
                                    <p:set>
                                      <p:cBhvr>
                                        <p:cTn id="363" dur="1" fill="hold">
                                          <p:stCondLst>
                                            <p:cond delay="0"/>
                                          </p:stCondLst>
                                        </p:cTn>
                                        <p:tgtEl>
                                          <p:spTgt spid="113"/>
                                        </p:tgtEl>
                                        <p:attrNameLst>
                                          <p:attrName>style.visibility</p:attrName>
                                        </p:attrNameLst>
                                      </p:cBhvr>
                                      <p:to>
                                        <p:strVal val="visible"/>
                                      </p:to>
                                    </p:set>
                                    <p:animEffect filter="fade" transition="in">
                                      <p:cBhvr additive="repl">
                                        <p:cTn id="364"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15" name="Picture 13" descr="fig1302a.gif"/>
          <p:cNvPicPr/>
          <p:nvPr/>
        </p:nvPicPr>
        <p:blipFill>
          <a:blip r:embed="rId1"/>
          <a:stretch/>
        </p:blipFill>
        <p:spPr>
          <a:xfrm>
            <a:off x="1066680" y="314280"/>
            <a:ext cx="7100640" cy="6314760"/>
          </a:xfrm>
          <a:prstGeom prst="rect">
            <a:avLst/>
          </a:prstGeom>
          <a:noFill/>
          <a:ln w="0">
            <a:noFill/>
          </a:ln>
        </p:spPr>
      </p:pic>
      <p:pic>
        <p:nvPicPr>
          <p:cNvPr id="116" name="Picture 14" descr="fig1302b.gif"/>
          <p:cNvPicPr/>
          <p:nvPr/>
        </p:nvPicPr>
        <p:blipFill>
          <a:blip r:embed="rId2"/>
          <a:stretch/>
        </p:blipFill>
        <p:spPr>
          <a:xfrm>
            <a:off x="1066680" y="314280"/>
            <a:ext cx="7100640" cy="6314760"/>
          </a:xfrm>
          <a:prstGeom prst="rect">
            <a:avLst/>
          </a:prstGeom>
          <a:noFill/>
          <a:ln w="0">
            <a:noFill/>
          </a:ln>
        </p:spPr>
      </p:pic>
      <p:pic>
        <p:nvPicPr>
          <p:cNvPr id="117" name="Picture 15" descr="fig1302c.gif"/>
          <p:cNvPicPr/>
          <p:nvPr/>
        </p:nvPicPr>
        <p:blipFill>
          <a:blip r:embed="rId3"/>
          <a:stretch/>
        </p:blipFill>
        <p:spPr>
          <a:xfrm>
            <a:off x="1066680" y="314280"/>
            <a:ext cx="7100640" cy="6314760"/>
          </a:xfrm>
          <a:prstGeom prst="rect">
            <a:avLst/>
          </a:prstGeom>
          <a:noFill/>
          <a:ln w="0">
            <a:noFill/>
          </a:ln>
        </p:spPr>
      </p:pic>
      <p:pic>
        <p:nvPicPr>
          <p:cNvPr id="118" name="Picture 16" descr="fig1302d.gif"/>
          <p:cNvPicPr/>
          <p:nvPr/>
        </p:nvPicPr>
        <p:blipFill>
          <a:blip r:embed="rId4"/>
          <a:stretch/>
        </p:blipFill>
        <p:spPr>
          <a:xfrm>
            <a:off x="1066680" y="314280"/>
            <a:ext cx="7100640" cy="6314760"/>
          </a:xfrm>
          <a:prstGeom prst="rect">
            <a:avLst/>
          </a:prstGeom>
          <a:noFill/>
          <a:ln w="0">
            <a:noFill/>
          </a:ln>
        </p:spPr>
      </p:pic>
      <p:pic>
        <p:nvPicPr>
          <p:cNvPr id="119" name="Picture 17" descr="fig1302e.gif"/>
          <p:cNvPicPr/>
          <p:nvPr/>
        </p:nvPicPr>
        <p:blipFill>
          <a:blip r:embed="rId5"/>
          <a:stretch/>
        </p:blipFill>
        <p:spPr>
          <a:xfrm>
            <a:off x="1066680" y="314280"/>
            <a:ext cx="7100640" cy="6314760"/>
          </a:xfrm>
          <a:prstGeom prst="rect">
            <a:avLst/>
          </a:prstGeom>
          <a:noFill/>
          <a:ln w="0">
            <a:noFill/>
          </a:ln>
        </p:spPr>
      </p:pic>
      <p:pic>
        <p:nvPicPr>
          <p:cNvPr id="120" name="Picture 18" descr="fig1302f.gif"/>
          <p:cNvPicPr/>
          <p:nvPr/>
        </p:nvPicPr>
        <p:blipFill>
          <a:blip r:embed="rId6"/>
          <a:stretch/>
        </p:blipFill>
        <p:spPr>
          <a:xfrm>
            <a:off x="1066680" y="314280"/>
            <a:ext cx="7100640" cy="6314760"/>
          </a:xfrm>
          <a:prstGeom prst="rect">
            <a:avLst/>
          </a:prstGeom>
          <a:noFill/>
          <a:ln w="0">
            <a:noFill/>
          </a:ln>
        </p:spPr>
      </p:pic>
      <p:pic>
        <p:nvPicPr>
          <p:cNvPr id="121" name="Picture 19" descr="fig1302g.gif"/>
          <p:cNvPicPr/>
          <p:nvPr/>
        </p:nvPicPr>
        <p:blipFill>
          <a:blip r:embed="rId7"/>
          <a:stretch/>
        </p:blipFill>
        <p:spPr>
          <a:xfrm>
            <a:off x="1066680" y="314280"/>
            <a:ext cx="7100640" cy="6314760"/>
          </a:xfrm>
          <a:prstGeom prst="rect">
            <a:avLst/>
          </a:prstGeom>
          <a:noFill/>
          <a:ln w="0">
            <a:noFill/>
          </a:ln>
        </p:spPr>
      </p:pic>
      <p:pic>
        <p:nvPicPr>
          <p:cNvPr id="122" name="Picture 20" descr="fig1302h.gif"/>
          <p:cNvPicPr/>
          <p:nvPr/>
        </p:nvPicPr>
        <p:blipFill>
          <a:blip r:embed="rId8"/>
          <a:stretch/>
        </p:blipFill>
        <p:spPr>
          <a:xfrm>
            <a:off x="1066680" y="314280"/>
            <a:ext cx="7100640" cy="6314760"/>
          </a:xfrm>
          <a:prstGeom prst="rect">
            <a:avLst/>
          </a:prstGeom>
          <a:noFill/>
          <a:ln w="0">
            <a:noFill/>
          </a:ln>
        </p:spPr>
      </p:pic>
      <p:pic>
        <p:nvPicPr>
          <p:cNvPr id="123" name="Picture 21" descr="fig1302i.gif"/>
          <p:cNvPicPr/>
          <p:nvPr/>
        </p:nvPicPr>
        <p:blipFill>
          <a:blip r:embed="rId9"/>
          <a:stretch/>
        </p:blipFill>
        <p:spPr>
          <a:xfrm>
            <a:off x="1066680" y="314280"/>
            <a:ext cx="7100640" cy="6314760"/>
          </a:xfrm>
          <a:prstGeom prst="rect">
            <a:avLst/>
          </a:prstGeom>
          <a:noFill/>
          <a:ln w="0">
            <a:noFill/>
          </a:ln>
        </p:spPr>
      </p:pic>
      <p:pic>
        <p:nvPicPr>
          <p:cNvPr id="124" name="Picture 22" descr="fig1302j.gif"/>
          <p:cNvPicPr/>
          <p:nvPr/>
        </p:nvPicPr>
        <p:blipFill>
          <a:blip r:embed="rId10"/>
          <a:stretch/>
        </p:blipFill>
        <p:spPr>
          <a:xfrm>
            <a:off x="1066680" y="314280"/>
            <a:ext cx="7100640" cy="6314760"/>
          </a:xfrm>
          <a:prstGeom prst="rect">
            <a:avLst/>
          </a:prstGeom>
          <a:noFill/>
          <a:ln w="0">
            <a:noFill/>
          </a:ln>
        </p:spPr>
      </p:pic>
      <p:pic>
        <p:nvPicPr>
          <p:cNvPr id="125" name="Picture 23" descr="fig1302k.gif"/>
          <p:cNvPicPr/>
          <p:nvPr/>
        </p:nvPicPr>
        <p:blipFill>
          <a:blip r:embed="rId11"/>
          <a:stretch/>
        </p:blipFill>
        <p:spPr>
          <a:xfrm>
            <a:off x="1066680" y="314280"/>
            <a:ext cx="7100640" cy="6314760"/>
          </a:xfrm>
          <a:prstGeom prst="rect">
            <a:avLst/>
          </a:prstGeom>
          <a:noFill/>
          <a:ln w="0">
            <a:noFill/>
          </a:ln>
        </p:spPr>
      </p:pic>
      <p:pic>
        <p:nvPicPr>
          <p:cNvPr id="126" name="Picture 24" descr="fig1302l.gif"/>
          <p:cNvPicPr/>
          <p:nvPr/>
        </p:nvPicPr>
        <p:blipFill>
          <a:blip r:embed="rId12"/>
          <a:stretch/>
        </p:blipFill>
        <p:spPr>
          <a:xfrm>
            <a:off x="1066680" y="314280"/>
            <a:ext cx="7100640" cy="6314760"/>
          </a:xfrm>
          <a:prstGeom prst="rect">
            <a:avLst/>
          </a:prstGeom>
          <a:noFill/>
          <a:ln w="0">
            <a:noFill/>
          </a:ln>
        </p:spPr>
      </p:pic>
    </p:spTree>
  </p:cSld>
  <p:transition spd="slow">
    <p:wipe dir="r"/>
  </p:transition>
  <p:timing>
    <p:tnLst>
      <p:par>
        <p:cTn id="365" dur="indefinite" restart="never" nodeType="tmRoot">
          <p:childTnLst>
            <p:seq>
              <p:cTn id="366" dur="indefinite" nodeType="mainSeq">
                <p:childTnLst>
                  <p:par>
                    <p:cTn id="367" nodeType="clickEffect" fill="hold">
                      <p:stCondLst>
                        <p:cond delay="indefinite"/>
                      </p:stCondLst>
                      <p:childTnLst>
                        <p:par>
                          <p:cTn id="368" nodeType="withEffect" fill="hold">
                            <p:stCondLst>
                              <p:cond delay="0"/>
                            </p:stCondLst>
                            <p:childTnLst>
                              <p:par>
                                <p:cTn id="369" nodeType="clickEffect" fill="hold" presetClass="entr" presetID="10">
                                  <p:stCondLst>
                                    <p:cond delay="0"/>
                                  </p:stCondLst>
                                  <p:childTnLst>
                                    <p:set>
                                      <p:cBhvr>
                                        <p:cTn id="370" dur="1" fill="hold">
                                          <p:stCondLst>
                                            <p:cond delay="0"/>
                                          </p:stCondLst>
                                        </p:cTn>
                                        <p:tgtEl>
                                          <p:spTgt spid="116"/>
                                        </p:tgtEl>
                                        <p:attrNameLst>
                                          <p:attrName>style.visibility</p:attrName>
                                        </p:attrNameLst>
                                      </p:cBhvr>
                                      <p:to>
                                        <p:strVal val="visible"/>
                                      </p:to>
                                    </p:set>
                                    <p:animEffect filter="fade" transition="in">
                                      <p:cBhvr additive="repl">
                                        <p:cTn id="371" dur="500"/>
                                        <p:tgtEl>
                                          <p:spTgt spid="116"/>
                                        </p:tgtEl>
                                      </p:cBhvr>
                                    </p:animEffect>
                                  </p:childTnLst>
                                </p:cTn>
                              </p:par>
                            </p:childTnLst>
                          </p:cTn>
                        </p:par>
                        <p:par>
                          <p:cTn id="372" nodeType="afterEffect" fill="hold">
                            <p:stCondLst>
                              <p:cond delay="500"/>
                            </p:stCondLst>
                            <p:childTnLst>
                              <p:par>
                                <p:cTn id="373" nodeType="afterEffect" fill="hold" presetClass="entr" presetID="10">
                                  <p:stCondLst>
                                    <p:cond delay="0"/>
                                  </p:stCondLst>
                                  <p:childTnLst>
                                    <p:set>
                                      <p:cBhvr>
                                        <p:cTn id="374" dur="1" fill="hold">
                                          <p:stCondLst>
                                            <p:cond delay="0"/>
                                          </p:stCondLst>
                                        </p:cTn>
                                        <p:tgtEl>
                                          <p:spTgt spid="117"/>
                                        </p:tgtEl>
                                        <p:attrNameLst>
                                          <p:attrName>style.visibility</p:attrName>
                                        </p:attrNameLst>
                                      </p:cBhvr>
                                      <p:to>
                                        <p:strVal val="visible"/>
                                      </p:to>
                                    </p:set>
                                    <p:animEffect filter="fade" transition="in">
                                      <p:cBhvr additive="repl">
                                        <p:cTn id="375" dur="500"/>
                                        <p:tgtEl>
                                          <p:spTgt spid="117"/>
                                        </p:tgtEl>
                                      </p:cBhvr>
                                    </p:animEffect>
                                  </p:childTnLst>
                                </p:cTn>
                              </p:par>
                            </p:childTnLst>
                          </p:cTn>
                        </p:par>
                        <p:par>
                          <p:cTn id="376" nodeType="afterEffect" fill="hold">
                            <p:stCondLst>
                              <p:cond delay="1000"/>
                            </p:stCondLst>
                            <p:childTnLst>
                              <p:par>
                                <p:cTn id="377" nodeType="afterEffect" fill="hold" presetClass="entr" presetID="10">
                                  <p:stCondLst>
                                    <p:cond delay="0"/>
                                  </p:stCondLst>
                                  <p:childTnLst>
                                    <p:set>
                                      <p:cBhvr>
                                        <p:cTn id="378" dur="1" fill="hold">
                                          <p:stCondLst>
                                            <p:cond delay="0"/>
                                          </p:stCondLst>
                                        </p:cTn>
                                        <p:tgtEl>
                                          <p:spTgt spid="118"/>
                                        </p:tgtEl>
                                        <p:attrNameLst>
                                          <p:attrName>style.visibility</p:attrName>
                                        </p:attrNameLst>
                                      </p:cBhvr>
                                      <p:to>
                                        <p:strVal val="visible"/>
                                      </p:to>
                                    </p:set>
                                    <p:animEffect filter="fade" transition="in">
                                      <p:cBhvr additive="repl">
                                        <p:cTn id="379" dur="500"/>
                                        <p:tgtEl>
                                          <p:spTgt spid="118"/>
                                        </p:tgtEl>
                                      </p:cBhvr>
                                    </p:animEffect>
                                  </p:childTnLst>
                                </p:cTn>
                              </p:par>
                            </p:childTnLst>
                          </p:cTn>
                        </p:par>
                        <p:par>
                          <p:cTn id="380" nodeType="afterEffect" fill="hold">
                            <p:stCondLst>
                              <p:cond delay="1500"/>
                            </p:stCondLst>
                            <p:childTnLst>
                              <p:par>
                                <p:cTn id="381" nodeType="afterEffect" fill="hold" presetClass="entr" presetID="10">
                                  <p:stCondLst>
                                    <p:cond delay="0"/>
                                  </p:stCondLst>
                                  <p:childTnLst>
                                    <p:set>
                                      <p:cBhvr>
                                        <p:cTn id="382" dur="1" fill="hold">
                                          <p:stCondLst>
                                            <p:cond delay="0"/>
                                          </p:stCondLst>
                                        </p:cTn>
                                        <p:tgtEl>
                                          <p:spTgt spid="119"/>
                                        </p:tgtEl>
                                        <p:attrNameLst>
                                          <p:attrName>style.visibility</p:attrName>
                                        </p:attrNameLst>
                                      </p:cBhvr>
                                      <p:to>
                                        <p:strVal val="visible"/>
                                      </p:to>
                                    </p:set>
                                    <p:animEffect filter="fade" transition="in">
                                      <p:cBhvr additive="repl">
                                        <p:cTn id="383" dur="500"/>
                                        <p:tgtEl>
                                          <p:spTgt spid="119"/>
                                        </p:tgtEl>
                                      </p:cBhvr>
                                    </p:animEffect>
                                  </p:childTnLst>
                                </p:cTn>
                              </p:par>
                            </p:childTnLst>
                          </p:cTn>
                        </p:par>
                        <p:par>
                          <p:cTn id="384" nodeType="afterEffect" fill="hold">
                            <p:stCondLst>
                              <p:cond delay="2000"/>
                            </p:stCondLst>
                            <p:childTnLst>
                              <p:par>
                                <p:cTn id="385" nodeType="afterEffect" fill="hold" presetClass="entr" presetID="10">
                                  <p:stCondLst>
                                    <p:cond delay="0"/>
                                  </p:stCondLst>
                                  <p:childTnLst>
                                    <p:set>
                                      <p:cBhvr>
                                        <p:cTn id="386" dur="1" fill="hold">
                                          <p:stCondLst>
                                            <p:cond delay="0"/>
                                          </p:stCondLst>
                                        </p:cTn>
                                        <p:tgtEl>
                                          <p:spTgt spid="120"/>
                                        </p:tgtEl>
                                        <p:attrNameLst>
                                          <p:attrName>style.visibility</p:attrName>
                                        </p:attrNameLst>
                                      </p:cBhvr>
                                      <p:to>
                                        <p:strVal val="visible"/>
                                      </p:to>
                                    </p:set>
                                    <p:animEffect filter="fade" transition="in">
                                      <p:cBhvr additive="repl">
                                        <p:cTn id="387" dur="500"/>
                                        <p:tgtEl>
                                          <p:spTgt spid="120"/>
                                        </p:tgtEl>
                                      </p:cBhvr>
                                    </p:animEffect>
                                  </p:childTnLst>
                                </p:cTn>
                              </p:par>
                            </p:childTnLst>
                          </p:cTn>
                        </p:par>
                        <p:par>
                          <p:cTn id="388" nodeType="afterEffect" fill="hold">
                            <p:stCondLst>
                              <p:cond delay="2500"/>
                            </p:stCondLst>
                            <p:childTnLst>
                              <p:par>
                                <p:cTn id="389" nodeType="afterEffect" fill="hold" presetClass="entr" presetID="10">
                                  <p:stCondLst>
                                    <p:cond delay="0"/>
                                  </p:stCondLst>
                                  <p:childTnLst>
                                    <p:set>
                                      <p:cBhvr>
                                        <p:cTn id="390" dur="1" fill="hold">
                                          <p:stCondLst>
                                            <p:cond delay="0"/>
                                          </p:stCondLst>
                                        </p:cTn>
                                        <p:tgtEl>
                                          <p:spTgt spid="121"/>
                                        </p:tgtEl>
                                        <p:attrNameLst>
                                          <p:attrName>style.visibility</p:attrName>
                                        </p:attrNameLst>
                                      </p:cBhvr>
                                      <p:to>
                                        <p:strVal val="visible"/>
                                      </p:to>
                                    </p:set>
                                    <p:animEffect filter="fade" transition="in">
                                      <p:cBhvr additive="repl">
                                        <p:cTn id="391" dur="500"/>
                                        <p:tgtEl>
                                          <p:spTgt spid="121"/>
                                        </p:tgtEl>
                                      </p:cBhvr>
                                    </p:animEffect>
                                  </p:childTnLst>
                                </p:cTn>
                              </p:par>
                            </p:childTnLst>
                          </p:cTn>
                        </p:par>
                        <p:par>
                          <p:cTn id="392" nodeType="afterEffect" fill="hold">
                            <p:stCondLst>
                              <p:cond delay="3000"/>
                            </p:stCondLst>
                            <p:childTnLst>
                              <p:par>
                                <p:cTn id="393" nodeType="afterEffect" fill="hold" presetClass="entr" presetID="10">
                                  <p:stCondLst>
                                    <p:cond delay="0"/>
                                  </p:stCondLst>
                                  <p:childTnLst>
                                    <p:set>
                                      <p:cBhvr>
                                        <p:cTn id="394" dur="1" fill="hold">
                                          <p:stCondLst>
                                            <p:cond delay="0"/>
                                          </p:stCondLst>
                                        </p:cTn>
                                        <p:tgtEl>
                                          <p:spTgt spid="122"/>
                                        </p:tgtEl>
                                        <p:attrNameLst>
                                          <p:attrName>style.visibility</p:attrName>
                                        </p:attrNameLst>
                                      </p:cBhvr>
                                      <p:to>
                                        <p:strVal val="visible"/>
                                      </p:to>
                                    </p:set>
                                    <p:animEffect filter="fade" transition="in">
                                      <p:cBhvr additive="repl">
                                        <p:cTn id="395" dur="500"/>
                                        <p:tgtEl>
                                          <p:spTgt spid="122"/>
                                        </p:tgtEl>
                                      </p:cBhvr>
                                    </p:animEffect>
                                  </p:childTnLst>
                                </p:cTn>
                              </p:par>
                            </p:childTnLst>
                          </p:cTn>
                        </p:par>
                        <p:par>
                          <p:cTn id="396" nodeType="afterEffect" fill="hold">
                            <p:stCondLst>
                              <p:cond delay="3500"/>
                            </p:stCondLst>
                            <p:childTnLst>
                              <p:par>
                                <p:cTn id="397" nodeType="afterEffect" fill="hold" presetClass="entr" presetID="10">
                                  <p:stCondLst>
                                    <p:cond delay="0"/>
                                  </p:stCondLst>
                                  <p:childTnLst>
                                    <p:set>
                                      <p:cBhvr>
                                        <p:cTn id="398" dur="1" fill="hold">
                                          <p:stCondLst>
                                            <p:cond delay="0"/>
                                          </p:stCondLst>
                                        </p:cTn>
                                        <p:tgtEl>
                                          <p:spTgt spid="123"/>
                                        </p:tgtEl>
                                        <p:attrNameLst>
                                          <p:attrName>style.visibility</p:attrName>
                                        </p:attrNameLst>
                                      </p:cBhvr>
                                      <p:to>
                                        <p:strVal val="visible"/>
                                      </p:to>
                                    </p:set>
                                    <p:animEffect filter="fade" transition="in">
                                      <p:cBhvr additive="repl">
                                        <p:cTn id="399" dur="500"/>
                                        <p:tgtEl>
                                          <p:spTgt spid="123"/>
                                        </p:tgtEl>
                                      </p:cBhvr>
                                    </p:animEffect>
                                  </p:childTnLst>
                                </p:cTn>
                              </p:par>
                            </p:childTnLst>
                          </p:cTn>
                        </p:par>
                      </p:childTnLst>
                    </p:cTn>
                  </p:par>
                  <p:par>
                    <p:cTn id="400" nodeType="clickEffect" fill="hold">
                      <p:stCondLst>
                        <p:cond delay="indefinite"/>
                      </p:stCondLst>
                      <p:childTnLst>
                        <p:par>
                          <p:cTn id="401" nodeType="withEffect" fill="hold">
                            <p:stCondLst>
                              <p:cond delay="0"/>
                            </p:stCondLst>
                            <p:childTnLst>
                              <p:par>
                                <p:cTn id="402" nodeType="clickEffect" fill="hold" presetClass="entr" presetID="22" presetSubtype="8">
                                  <p:stCondLst>
                                    <p:cond delay="0"/>
                                  </p:stCondLst>
                                  <p:childTnLst>
                                    <p:set>
                                      <p:cBhvr>
                                        <p:cTn id="403" dur="1" fill="hold">
                                          <p:stCondLst>
                                            <p:cond delay="0"/>
                                          </p:stCondLst>
                                        </p:cTn>
                                        <p:tgtEl>
                                          <p:spTgt spid="124"/>
                                        </p:tgtEl>
                                        <p:attrNameLst>
                                          <p:attrName>style.visibility</p:attrName>
                                        </p:attrNameLst>
                                      </p:cBhvr>
                                      <p:to>
                                        <p:strVal val="visible"/>
                                      </p:to>
                                    </p:set>
                                    <p:animEffect filter="wipe(left)" transition="in">
                                      <p:cBhvr additive="repl">
                                        <p:cTn id="404" dur="1000"/>
                                        <p:tgtEl>
                                          <p:spTgt spid="124"/>
                                        </p:tgtEl>
                                      </p:cBhvr>
                                    </p:animEffect>
                                  </p:childTnLst>
                                </p:cTn>
                              </p:par>
                            </p:childTnLst>
                          </p:cTn>
                        </p:par>
                      </p:childTnLst>
                    </p:cTn>
                  </p:par>
                  <p:par>
                    <p:cTn id="405" nodeType="clickEffect" fill="hold">
                      <p:stCondLst>
                        <p:cond delay="indefinite"/>
                      </p:stCondLst>
                      <p:childTnLst>
                        <p:par>
                          <p:cTn id="406" nodeType="withEffect" fill="hold">
                            <p:stCondLst>
                              <p:cond delay="0"/>
                            </p:stCondLst>
                            <p:childTnLst>
                              <p:par>
                                <p:cTn id="407" nodeType="clickEffect" fill="hold" presetClass="entr" presetID="10">
                                  <p:stCondLst>
                                    <p:cond delay="0"/>
                                  </p:stCondLst>
                                  <p:childTnLst>
                                    <p:set>
                                      <p:cBhvr>
                                        <p:cTn id="408" dur="1" fill="hold">
                                          <p:stCondLst>
                                            <p:cond delay="0"/>
                                          </p:stCondLst>
                                        </p:cTn>
                                        <p:tgtEl>
                                          <p:spTgt spid="125"/>
                                        </p:tgtEl>
                                        <p:attrNameLst>
                                          <p:attrName>style.visibility</p:attrName>
                                        </p:attrNameLst>
                                      </p:cBhvr>
                                      <p:to>
                                        <p:strVal val="visible"/>
                                      </p:to>
                                    </p:set>
                                    <p:animEffect filter="fade" transition="in">
                                      <p:cBhvr additive="repl">
                                        <p:cTn id="409" dur="500"/>
                                        <p:tgtEl>
                                          <p:spTgt spid="125"/>
                                        </p:tgtEl>
                                      </p:cBhvr>
                                    </p:animEffect>
                                  </p:childTnLst>
                                </p:cTn>
                              </p:par>
                            </p:childTnLst>
                          </p:cTn>
                        </p:par>
                      </p:childTnLst>
                    </p:cTn>
                  </p:par>
                  <p:par>
                    <p:cTn id="410" nodeType="clickEffect" fill="hold">
                      <p:stCondLst>
                        <p:cond delay="indefinite"/>
                      </p:stCondLst>
                      <p:childTnLst>
                        <p:par>
                          <p:cTn id="411" nodeType="withEffect" fill="hold">
                            <p:stCondLst>
                              <p:cond delay="0"/>
                            </p:stCondLst>
                            <p:childTnLst>
                              <p:par>
                                <p:cTn id="412" nodeType="clickEffect" fill="hold" presetClass="entr" presetID="10">
                                  <p:stCondLst>
                                    <p:cond delay="0"/>
                                  </p:stCondLst>
                                  <p:childTnLst>
                                    <p:set>
                                      <p:cBhvr>
                                        <p:cTn id="413" dur="1" fill="hold">
                                          <p:stCondLst>
                                            <p:cond delay="0"/>
                                          </p:stCondLst>
                                        </p:cTn>
                                        <p:tgtEl>
                                          <p:spTgt spid="126"/>
                                        </p:tgtEl>
                                        <p:attrNameLst>
                                          <p:attrName>style.visibility</p:attrName>
                                        </p:attrNameLst>
                                      </p:cBhvr>
                                      <p:to>
                                        <p:strVal val="visible"/>
                                      </p:to>
                                    </p:set>
                                    <p:animEffect filter="fade" transition="in">
                                      <p:cBhvr additive="repl">
                                        <p:cTn id="414"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128" name="PlaceHolder 2"/>
          <p:cNvSpPr>
            <a:spLocks noGrp="1"/>
          </p:cNvSpPr>
          <p:nvPr>
            <p:ph/>
          </p:nvPr>
        </p:nvSpPr>
        <p:spPr>
          <a:xfrm>
            <a:off x="360360" y="1440000"/>
            <a:ext cx="7716600" cy="4960440"/>
          </a:xfrm>
          <a:prstGeom prst="rect">
            <a:avLst/>
          </a:prstGeom>
          <a:noFill/>
          <a:ln w="0">
            <a:noFill/>
          </a:ln>
        </p:spPr>
        <p:txBody>
          <a:bodyPr numCol="1" spcCol="0" lIns="91440" rIns="91440" tIns="45720" bIns="45720" anchor="t">
            <a:noAutofit/>
          </a:bodyPr>
          <a:p>
            <a:pPr marL="342000" indent="-342000" algn="just">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Marginal Product</a:t>
            </a:r>
            <a:endParaRPr b="1" lang="en-CA" sz="2800" strike="noStrike" u="none">
              <a:solidFill>
                <a:srgbClr val="00468f"/>
              </a:solidFill>
              <a:effectLst/>
              <a:uFillTx/>
              <a:latin typeface="Arial"/>
            </a:endParaRPr>
          </a:p>
          <a:p>
            <a:pPr marL="358920" indent="0" algn="just">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Marginal product</a:t>
            </a:r>
            <a:r>
              <a:rPr b="0" lang="en-US" sz="2400" strike="noStrike" u="none">
                <a:solidFill>
                  <a:schemeClr val="dk1"/>
                </a:solidFill>
                <a:effectLst/>
                <a:uFillTx/>
                <a:latin typeface="Arial"/>
                <a:ea typeface="ＭＳ Ｐゴシック"/>
              </a:rPr>
              <a:t> is the change in total product that results from a one-unit increase in the quantity of labor employed. </a:t>
            </a:r>
            <a:endParaRPr b="1" lang="en-CA" sz="2400" strike="noStrike" u="none">
              <a:solidFill>
                <a:srgbClr val="00468f"/>
              </a:solidFill>
              <a:effectLst/>
              <a:uFillTx/>
              <a:latin typeface="Arial"/>
            </a:endParaRPr>
          </a:p>
          <a:p>
            <a:pPr marL="358920" indent="0" algn="just">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Marginal product tells us the contribution to total product of adding one more worker. </a:t>
            </a:r>
            <a:endParaRPr b="1" lang="en-CA" sz="2400" strike="noStrike" u="none">
              <a:solidFill>
                <a:srgbClr val="00468f"/>
              </a:solidFill>
              <a:effectLst/>
              <a:uFillTx/>
              <a:latin typeface="Arial"/>
            </a:endParaRPr>
          </a:p>
          <a:p>
            <a:pPr marL="358920" indent="0" algn="just">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When the quantity of labor increases by more (or less) than one worker, calculate marginal product as:</a:t>
            </a:r>
            <a:endParaRPr b="1" lang="en-CA" sz="2400" strike="noStrike" u="none">
              <a:solidFill>
                <a:srgbClr val="00468f"/>
              </a:solidFill>
              <a:effectLst/>
              <a:uFillTx/>
              <a:latin typeface="Arial"/>
            </a:endParaRPr>
          </a:p>
        </p:txBody>
      </p:sp>
      <p:grpSp>
        <p:nvGrpSpPr>
          <p:cNvPr id="129" name="Group 4"/>
          <p:cNvGrpSpPr/>
          <p:nvPr/>
        </p:nvGrpSpPr>
        <p:grpSpPr>
          <a:xfrm>
            <a:off x="1274760" y="5181480"/>
            <a:ext cx="6400440" cy="821880"/>
            <a:chOff x="1274760" y="5181480"/>
            <a:chExt cx="6400440" cy="821880"/>
          </a:xfrm>
        </p:grpSpPr>
        <p:sp>
          <p:nvSpPr>
            <p:cNvPr id="130" name="Text Box 5"/>
            <p:cNvSpPr/>
            <p:nvPr/>
          </p:nvSpPr>
          <p:spPr>
            <a:xfrm>
              <a:off x="1274760" y="5181480"/>
              <a:ext cx="137124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Marginal product</a:t>
              </a:r>
              <a:endParaRPr b="0" lang="en-US" sz="2400" strike="noStrike" u="none">
                <a:solidFill>
                  <a:srgbClr val="000000"/>
                </a:solidFill>
                <a:effectLst/>
                <a:uFillTx/>
                <a:latin typeface="Arial"/>
              </a:endParaRPr>
            </a:p>
          </p:txBody>
        </p:sp>
        <p:sp>
          <p:nvSpPr>
            <p:cNvPr id="131" name="Text Box 6"/>
            <p:cNvSpPr/>
            <p:nvPr/>
          </p:nvSpPr>
          <p:spPr>
            <a:xfrm>
              <a:off x="3027240" y="5181480"/>
              <a:ext cx="1904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Change in total product</a:t>
              </a:r>
              <a:endParaRPr b="0" lang="en-US" sz="2400" strike="noStrike" u="none">
                <a:solidFill>
                  <a:srgbClr val="000000"/>
                </a:solidFill>
                <a:effectLst/>
                <a:uFillTx/>
                <a:latin typeface="Arial"/>
              </a:endParaRPr>
            </a:p>
          </p:txBody>
        </p:sp>
        <p:sp>
          <p:nvSpPr>
            <p:cNvPr id="132" name="Text Box 7"/>
            <p:cNvSpPr/>
            <p:nvPr/>
          </p:nvSpPr>
          <p:spPr>
            <a:xfrm>
              <a:off x="5237280" y="5181480"/>
              <a:ext cx="243792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Change in quantity of labor</a:t>
              </a:r>
              <a:endParaRPr b="0" lang="en-US" sz="2400" strike="noStrike" u="none">
                <a:solidFill>
                  <a:srgbClr val="000000"/>
                </a:solidFill>
                <a:effectLst/>
                <a:uFillTx/>
                <a:latin typeface="Arial"/>
              </a:endParaRPr>
            </a:p>
          </p:txBody>
        </p:sp>
        <p:sp>
          <p:nvSpPr>
            <p:cNvPr id="133" name="Text Box 8"/>
            <p:cNvSpPr/>
            <p:nvPr/>
          </p:nvSpPr>
          <p:spPr>
            <a:xfrm>
              <a:off x="2646360" y="5410080"/>
              <a:ext cx="456840" cy="456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p:txBody>
        </p:sp>
        <p:sp>
          <p:nvSpPr>
            <p:cNvPr id="134" name="Text Box 9"/>
            <p:cNvSpPr/>
            <p:nvPr/>
          </p:nvSpPr>
          <p:spPr>
            <a:xfrm>
              <a:off x="4856040" y="5410080"/>
              <a:ext cx="45684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400"/>
                </a:spcBef>
              </a:pPr>
              <a:r>
                <a:rPr b="1" lang="en-US" sz="2800" strike="noStrike" u="none">
                  <a:solidFill>
                    <a:schemeClr val="dk1"/>
                  </a:solidFill>
                  <a:effectLst/>
                  <a:uFillTx/>
                  <a:latin typeface="Symbol"/>
                  <a:ea typeface="ＭＳ Ｐゴシック"/>
                </a:rPr>
                <a:t></a:t>
              </a:r>
              <a:endParaRPr b="0" lang="en-US" sz="2800" strike="noStrike" u="none">
                <a:solidFill>
                  <a:srgbClr val="000000"/>
                </a:solidFill>
                <a:effectLst/>
                <a:uFillTx/>
                <a:latin typeface="Arial"/>
              </a:endParaRPr>
            </a:p>
          </p:txBody>
        </p:sp>
      </p:grpSp>
    </p:spTree>
  </p:cSld>
  <p:transition spd="slow">
    <p:wipe dir="r"/>
  </p:transition>
  <p:timing>
    <p:tnLst>
      <p:par>
        <p:cTn id="415" dur="indefinite" restart="never" nodeType="tmRoot">
          <p:childTnLst>
            <p:seq>
              <p:cTn id="416" dur="indefinite" nodeType="mainSeq">
                <p:childTnLst>
                  <p:par>
                    <p:cTn id="417" nodeType="clickEffect" fill="hold">
                      <p:stCondLst>
                        <p:cond delay="indefinite"/>
                      </p:stCondLst>
                      <p:childTnLst>
                        <p:par>
                          <p:cTn id="418" nodeType="withEffect" fill="hold">
                            <p:stCondLst>
                              <p:cond delay="0"/>
                            </p:stCondLst>
                            <p:childTnLst>
                              <p:par>
                                <p:cTn id="419" nodeType="clickEffect" fill="hold" presetClass="entr" presetID="22" presetSubtype="8">
                                  <p:stCondLst>
                                    <p:cond delay="0"/>
                                  </p:stCondLst>
                                  <p:childTnLst>
                                    <p:set>
                                      <p:cBhvr>
                                        <p:cTn id="420" dur="1" fill="hold">
                                          <p:stCondLst>
                                            <p:cond delay="0"/>
                                          </p:stCondLst>
                                        </p:cTn>
                                        <p:tgtEl>
                                          <p:spTgt spid="128">
                                            <p:txEl>
                                              <p:pRg st="1" end="1"/>
                                            </p:txEl>
                                          </p:spTgt>
                                        </p:tgtEl>
                                        <p:attrNameLst>
                                          <p:attrName>style.visibility</p:attrName>
                                        </p:attrNameLst>
                                      </p:cBhvr>
                                      <p:to>
                                        <p:strVal val="visible"/>
                                      </p:to>
                                    </p:set>
                                    <p:animEffect filter="wipe(left)" transition="in">
                                      <p:cBhvr additive="repl">
                                        <p:cTn id="421" dur="500"/>
                                        <p:tgtEl>
                                          <p:spTgt spid="128">
                                            <p:txEl>
                                              <p:pRg st="1" end="1"/>
                                            </p:txEl>
                                          </p:spTgt>
                                        </p:tgtEl>
                                      </p:cBhvr>
                                    </p:animEffect>
                                  </p:childTnLst>
                                </p:cTn>
                              </p:par>
                            </p:childTnLst>
                          </p:cTn>
                        </p:par>
                      </p:childTnLst>
                    </p:cTn>
                  </p:par>
                  <p:par>
                    <p:cTn id="422" nodeType="clickEffect" fill="hold">
                      <p:stCondLst>
                        <p:cond delay="indefinite"/>
                      </p:stCondLst>
                      <p:childTnLst>
                        <p:par>
                          <p:cTn id="423" nodeType="withEffect" fill="hold">
                            <p:stCondLst>
                              <p:cond delay="0"/>
                            </p:stCondLst>
                            <p:childTnLst>
                              <p:par>
                                <p:cTn id="424" nodeType="clickEffect" fill="hold" presetClass="entr" presetID="22" presetSubtype="8">
                                  <p:stCondLst>
                                    <p:cond delay="0"/>
                                  </p:stCondLst>
                                  <p:childTnLst>
                                    <p:set>
                                      <p:cBhvr>
                                        <p:cTn id="425" dur="1" fill="hold">
                                          <p:stCondLst>
                                            <p:cond delay="0"/>
                                          </p:stCondLst>
                                        </p:cTn>
                                        <p:tgtEl>
                                          <p:spTgt spid="128">
                                            <p:txEl>
                                              <p:pRg st="2" end="2"/>
                                            </p:txEl>
                                          </p:spTgt>
                                        </p:tgtEl>
                                        <p:attrNameLst>
                                          <p:attrName>style.visibility</p:attrName>
                                        </p:attrNameLst>
                                      </p:cBhvr>
                                      <p:to>
                                        <p:strVal val="visible"/>
                                      </p:to>
                                    </p:set>
                                    <p:animEffect filter="wipe(left)" transition="in">
                                      <p:cBhvr additive="repl">
                                        <p:cTn id="426" dur="500"/>
                                        <p:tgtEl>
                                          <p:spTgt spid="128">
                                            <p:txEl>
                                              <p:pRg st="2" end="2"/>
                                            </p:txEl>
                                          </p:spTgt>
                                        </p:tgtEl>
                                      </p:cBhvr>
                                    </p:animEffect>
                                  </p:childTnLst>
                                </p:cTn>
                              </p:par>
                            </p:childTnLst>
                          </p:cTn>
                        </p:par>
                      </p:childTnLst>
                    </p:cTn>
                  </p:par>
                  <p:par>
                    <p:cTn id="427" nodeType="clickEffect" fill="hold">
                      <p:stCondLst>
                        <p:cond delay="indefinite"/>
                      </p:stCondLst>
                      <p:childTnLst>
                        <p:par>
                          <p:cTn id="428" nodeType="withEffect" fill="hold">
                            <p:stCondLst>
                              <p:cond delay="0"/>
                            </p:stCondLst>
                            <p:childTnLst>
                              <p:par>
                                <p:cTn id="429" nodeType="clickEffect" fill="hold" presetClass="entr" presetID="22" presetSubtype="8">
                                  <p:stCondLst>
                                    <p:cond delay="0"/>
                                  </p:stCondLst>
                                  <p:childTnLst>
                                    <p:set>
                                      <p:cBhvr>
                                        <p:cTn id="430" dur="1" fill="hold">
                                          <p:stCondLst>
                                            <p:cond delay="0"/>
                                          </p:stCondLst>
                                        </p:cTn>
                                        <p:tgtEl>
                                          <p:spTgt spid="128">
                                            <p:txEl>
                                              <p:pRg st="3" end="3"/>
                                            </p:txEl>
                                          </p:spTgt>
                                        </p:tgtEl>
                                        <p:attrNameLst>
                                          <p:attrName>style.visibility</p:attrName>
                                        </p:attrNameLst>
                                      </p:cBhvr>
                                      <p:to>
                                        <p:strVal val="visible"/>
                                      </p:to>
                                    </p:set>
                                    <p:animEffect filter="wipe(left)" transition="in">
                                      <p:cBhvr additive="repl">
                                        <p:cTn id="431" dur="500"/>
                                        <p:tgtEl>
                                          <p:spTgt spid="128">
                                            <p:txEl>
                                              <p:pRg st="3" end="3"/>
                                            </p:txEl>
                                          </p:spTgt>
                                        </p:tgtEl>
                                      </p:cBhvr>
                                    </p:animEffect>
                                  </p:childTnLst>
                                </p:cTn>
                              </p:par>
                            </p:childTnLst>
                          </p:cTn>
                        </p:par>
                      </p:childTnLst>
                    </p:cTn>
                  </p:par>
                  <p:par>
                    <p:cTn id="432" nodeType="clickEffect" fill="hold">
                      <p:stCondLst>
                        <p:cond delay="indefinite"/>
                      </p:stCondLst>
                      <p:childTnLst>
                        <p:par>
                          <p:cTn id="433" nodeType="withEffect" fill="hold">
                            <p:stCondLst>
                              <p:cond delay="0"/>
                            </p:stCondLst>
                            <p:childTnLst>
                              <p:par>
                                <p:cTn id="434" nodeType="clickEffect" fill="hold" presetClass="entr" presetID="12" presetSubtype="4">
                                  <p:stCondLst>
                                    <p:cond delay="0"/>
                                  </p:stCondLst>
                                  <p:childTnLst>
                                    <p:set>
                                      <p:cBhvr>
                                        <p:cTn id="435" dur="1" fill="hold">
                                          <p:stCondLst>
                                            <p:cond delay="0"/>
                                          </p:stCondLst>
                                        </p:cTn>
                                        <p:tgtEl>
                                          <p:spTgt spid="129"/>
                                        </p:tgtEl>
                                        <p:attrNameLst>
                                          <p:attrName>style.visibility</p:attrName>
                                        </p:attrNameLst>
                                      </p:cBhvr>
                                      <p:to>
                                        <p:strVal val="visible"/>
                                      </p:to>
                                    </p:set>
                                    <p:animEffect filter="slide(fromBottom)" transition="in">
                                      <p:cBhvr additive="repl">
                                        <p:cTn id="436"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pic>
        <p:nvPicPr>
          <p:cNvPr id="136" name="Picture 38" descr="fig1303a.gif"/>
          <p:cNvPicPr/>
          <p:nvPr/>
        </p:nvPicPr>
        <p:blipFill>
          <a:blip r:embed="rId1"/>
          <a:stretch/>
        </p:blipFill>
        <p:spPr>
          <a:xfrm>
            <a:off x="3995640" y="1260360"/>
            <a:ext cx="4352400" cy="5365440"/>
          </a:xfrm>
          <a:prstGeom prst="rect">
            <a:avLst/>
          </a:prstGeom>
          <a:noFill/>
          <a:ln w="0">
            <a:noFill/>
          </a:ln>
        </p:spPr>
      </p:pic>
      <p:pic>
        <p:nvPicPr>
          <p:cNvPr id="137" name="Picture 39" descr="fig1303b.gif"/>
          <p:cNvPicPr/>
          <p:nvPr/>
        </p:nvPicPr>
        <p:blipFill>
          <a:blip r:embed="rId2"/>
          <a:stretch/>
        </p:blipFill>
        <p:spPr>
          <a:xfrm>
            <a:off x="3995640" y="1260360"/>
            <a:ext cx="4352400" cy="5365440"/>
          </a:xfrm>
          <a:prstGeom prst="rect">
            <a:avLst/>
          </a:prstGeom>
          <a:noFill/>
          <a:ln w="0">
            <a:noFill/>
          </a:ln>
        </p:spPr>
      </p:pic>
      <p:pic>
        <p:nvPicPr>
          <p:cNvPr id="138" name="Picture 40" descr="fig1303c.gif"/>
          <p:cNvPicPr/>
          <p:nvPr/>
        </p:nvPicPr>
        <p:blipFill>
          <a:blip r:embed="rId3"/>
          <a:stretch/>
        </p:blipFill>
        <p:spPr>
          <a:xfrm>
            <a:off x="3995640" y="1260360"/>
            <a:ext cx="4352400" cy="5365440"/>
          </a:xfrm>
          <a:prstGeom prst="rect">
            <a:avLst/>
          </a:prstGeom>
          <a:noFill/>
          <a:ln w="0">
            <a:noFill/>
          </a:ln>
        </p:spPr>
      </p:pic>
      <p:pic>
        <p:nvPicPr>
          <p:cNvPr id="139" name="Picture 41" descr="fig1303d.gif"/>
          <p:cNvPicPr/>
          <p:nvPr/>
        </p:nvPicPr>
        <p:blipFill>
          <a:blip r:embed="rId4"/>
          <a:stretch/>
        </p:blipFill>
        <p:spPr>
          <a:xfrm>
            <a:off x="3995640" y="1260360"/>
            <a:ext cx="4352400" cy="5365440"/>
          </a:xfrm>
          <a:prstGeom prst="rect">
            <a:avLst/>
          </a:prstGeom>
          <a:noFill/>
          <a:ln w="0">
            <a:noFill/>
          </a:ln>
        </p:spPr>
      </p:pic>
      <p:pic>
        <p:nvPicPr>
          <p:cNvPr id="140" name="Picture 42" descr="fig1303e.gif"/>
          <p:cNvPicPr/>
          <p:nvPr/>
        </p:nvPicPr>
        <p:blipFill>
          <a:blip r:embed="rId5"/>
          <a:stretch/>
        </p:blipFill>
        <p:spPr>
          <a:xfrm>
            <a:off x="3995640" y="1260360"/>
            <a:ext cx="4352400" cy="5365440"/>
          </a:xfrm>
          <a:prstGeom prst="rect">
            <a:avLst/>
          </a:prstGeom>
          <a:noFill/>
          <a:ln w="0">
            <a:noFill/>
          </a:ln>
        </p:spPr>
      </p:pic>
      <p:pic>
        <p:nvPicPr>
          <p:cNvPr id="141" name="Picture 43" descr="fig1303f.gif"/>
          <p:cNvPicPr/>
          <p:nvPr/>
        </p:nvPicPr>
        <p:blipFill>
          <a:blip r:embed="rId6"/>
          <a:stretch/>
        </p:blipFill>
        <p:spPr>
          <a:xfrm>
            <a:off x="3995640" y="1260360"/>
            <a:ext cx="4352400" cy="5365440"/>
          </a:xfrm>
          <a:prstGeom prst="rect">
            <a:avLst/>
          </a:prstGeom>
          <a:noFill/>
          <a:ln w="0">
            <a:noFill/>
          </a:ln>
        </p:spPr>
      </p:pic>
      <p:pic>
        <p:nvPicPr>
          <p:cNvPr id="142" name="Picture 44" descr="fig1303g.gif"/>
          <p:cNvPicPr/>
          <p:nvPr/>
        </p:nvPicPr>
        <p:blipFill>
          <a:blip r:embed="rId7"/>
          <a:stretch/>
        </p:blipFill>
        <p:spPr>
          <a:xfrm>
            <a:off x="3995640" y="1260360"/>
            <a:ext cx="4352400" cy="5365440"/>
          </a:xfrm>
          <a:prstGeom prst="rect">
            <a:avLst/>
          </a:prstGeom>
          <a:noFill/>
          <a:ln w="0">
            <a:noFill/>
          </a:ln>
        </p:spPr>
      </p:pic>
      <p:pic>
        <p:nvPicPr>
          <p:cNvPr id="143" name="Picture 45" descr="fig1303h.gif"/>
          <p:cNvPicPr/>
          <p:nvPr/>
        </p:nvPicPr>
        <p:blipFill>
          <a:blip r:embed="rId8"/>
          <a:stretch/>
        </p:blipFill>
        <p:spPr>
          <a:xfrm>
            <a:off x="3995640" y="1260360"/>
            <a:ext cx="4352400" cy="5365440"/>
          </a:xfrm>
          <a:prstGeom prst="rect">
            <a:avLst/>
          </a:prstGeom>
          <a:noFill/>
          <a:ln w="0">
            <a:noFill/>
          </a:ln>
        </p:spPr>
      </p:pic>
      <p:pic>
        <p:nvPicPr>
          <p:cNvPr id="144" name="Picture 46" descr="fig1303i.gif"/>
          <p:cNvPicPr/>
          <p:nvPr/>
        </p:nvPicPr>
        <p:blipFill>
          <a:blip r:embed="rId9"/>
          <a:stretch/>
        </p:blipFill>
        <p:spPr>
          <a:xfrm>
            <a:off x="3995640" y="1260360"/>
            <a:ext cx="4352400" cy="5365440"/>
          </a:xfrm>
          <a:prstGeom prst="rect">
            <a:avLst/>
          </a:prstGeom>
          <a:noFill/>
          <a:ln w="0">
            <a:noFill/>
          </a:ln>
        </p:spPr>
      </p:pic>
      <p:pic>
        <p:nvPicPr>
          <p:cNvPr id="145" name="Picture 47" descr="fig1303j.gif"/>
          <p:cNvPicPr/>
          <p:nvPr/>
        </p:nvPicPr>
        <p:blipFill>
          <a:blip r:embed="rId10"/>
          <a:stretch/>
        </p:blipFill>
        <p:spPr>
          <a:xfrm>
            <a:off x="3995640" y="1260360"/>
            <a:ext cx="4352400" cy="5365440"/>
          </a:xfrm>
          <a:prstGeom prst="rect">
            <a:avLst/>
          </a:prstGeom>
          <a:noFill/>
          <a:ln w="0">
            <a:noFill/>
          </a:ln>
        </p:spPr>
      </p:pic>
      <p:sp>
        <p:nvSpPr>
          <p:cNvPr id="146" name="PlaceHolder 2"/>
          <p:cNvSpPr>
            <a:spLocks noGrp="1"/>
          </p:cNvSpPr>
          <p:nvPr>
            <p:ph/>
          </p:nvPr>
        </p:nvSpPr>
        <p:spPr>
          <a:xfrm>
            <a:off x="360360" y="1424160"/>
            <a:ext cx="4973400" cy="383328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14.3 shows total product and marginal product.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We can illustrate marginal product as the orange bars that form steps along the total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MS Mincho"/>
              </a:rPr>
              <a:t>The height of each step represents marginal product.</a:t>
            </a:r>
            <a:endParaRPr b="1" lang="en-CA" sz="2400" strike="noStrike" u="none">
              <a:solidFill>
                <a:srgbClr val="00468f"/>
              </a:solidFill>
              <a:effectLst/>
              <a:uFillTx/>
              <a:latin typeface="Arial"/>
            </a:endParaRPr>
          </a:p>
        </p:txBody>
      </p:sp>
    </p:spTree>
  </p:cSld>
  <p:transition spd="med">
    <p:wipe dir="r"/>
  </p:transition>
  <p:timing>
    <p:tnLst>
      <p:par>
        <p:cTn id="437" dur="indefinite" restart="never" nodeType="tmRoot">
          <p:childTnLst>
            <p:seq>
              <p:cTn id="438" dur="indefinite" nodeType="mainSeq">
                <p:childTnLst>
                  <p:par>
                    <p:cTn id="439" nodeType="clickEffect" fill="hold">
                      <p:stCondLst>
                        <p:cond delay="indefinite"/>
                      </p:stCondLst>
                      <p:childTnLst>
                        <p:par>
                          <p:cTn id="440" nodeType="withEffect" fill="hold">
                            <p:stCondLst>
                              <p:cond delay="0"/>
                            </p:stCondLst>
                            <p:childTnLst>
                              <p:par>
                                <p:cTn id="441" nodeType="clickEffect" fill="hold" presetClass="entr" presetID="22" presetSubtype="8">
                                  <p:stCondLst>
                                    <p:cond delay="0"/>
                                  </p:stCondLst>
                                  <p:childTnLst>
                                    <p:set>
                                      <p:cBhvr>
                                        <p:cTn id="442" dur="1" fill="hold">
                                          <p:stCondLst>
                                            <p:cond delay="0"/>
                                          </p:stCondLst>
                                        </p:cTn>
                                        <p:tgtEl>
                                          <p:spTgt spid="146">
                                            <p:txEl>
                                              <p:pRg st="1" end="1"/>
                                            </p:txEl>
                                          </p:spTgt>
                                        </p:tgtEl>
                                        <p:attrNameLst>
                                          <p:attrName>style.visibility</p:attrName>
                                        </p:attrNameLst>
                                      </p:cBhvr>
                                      <p:to>
                                        <p:strVal val="visible"/>
                                      </p:to>
                                    </p:set>
                                    <p:animEffect filter="wipe(left)" transition="in">
                                      <p:cBhvr additive="repl">
                                        <p:cTn id="443" dur="500"/>
                                        <p:tgtEl>
                                          <p:spTgt spid="146">
                                            <p:txEl>
                                              <p:pRg st="1" end="1"/>
                                            </p:txEl>
                                          </p:spTgt>
                                        </p:tgtEl>
                                      </p:cBhvr>
                                    </p:animEffect>
                                  </p:childTnLst>
                                </p:cTn>
                              </p:par>
                              <p:par>
                                <p:cTn id="444" nodeType="withEffect" fill="hold" presetClass="entr" presetID="10">
                                  <p:stCondLst>
                                    <p:cond delay="0"/>
                                  </p:stCondLst>
                                  <p:childTnLst>
                                    <p:set>
                                      <p:cBhvr>
                                        <p:cTn id="445" dur="1" fill="hold">
                                          <p:stCondLst>
                                            <p:cond delay="0"/>
                                          </p:stCondLst>
                                        </p:cTn>
                                        <p:tgtEl>
                                          <p:spTgt spid="137"/>
                                        </p:tgtEl>
                                        <p:attrNameLst>
                                          <p:attrName>style.visibility</p:attrName>
                                        </p:attrNameLst>
                                      </p:cBhvr>
                                      <p:to>
                                        <p:strVal val="visible"/>
                                      </p:to>
                                    </p:set>
                                    <p:animEffect filter="fade" transition="in">
                                      <p:cBhvr additive="repl">
                                        <p:cTn id="446" dur="500"/>
                                        <p:tgtEl>
                                          <p:spTgt spid="137"/>
                                        </p:tgtEl>
                                      </p:cBhvr>
                                    </p:animEffect>
                                  </p:childTnLst>
                                </p:cTn>
                              </p:par>
                              <p:par>
                                <p:cTn id="447" nodeType="withEffect" fill="hold" presetClass="entr" presetID="10">
                                  <p:stCondLst>
                                    <p:cond delay="300"/>
                                  </p:stCondLst>
                                  <p:childTnLst>
                                    <p:set>
                                      <p:cBhvr>
                                        <p:cTn id="448" dur="1" fill="hold">
                                          <p:stCondLst>
                                            <p:cond delay="0"/>
                                          </p:stCondLst>
                                        </p:cTn>
                                        <p:tgtEl>
                                          <p:spTgt spid="138"/>
                                        </p:tgtEl>
                                        <p:attrNameLst>
                                          <p:attrName>style.visibility</p:attrName>
                                        </p:attrNameLst>
                                      </p:cBhvr>
                                      <p:to>
                                        <p:strVal val="visible"/>
                                      </p:to>
                                    </p:set>
                                    <p:animEffect filter="fade" transition="in">
                                      <p:cBhvr additive="repl">
                                        <p:cTn id="449" dur="500"/>
                                        <p:tgtEl>
                                          <p:spTgt spid="138"/>
                                        </p:tgtEl>
                                      </p:cBhvr>
                                    </p:animEffect>
                                  </p:childTnLst>
                                </p:cTn>
                              </p:par>
                              <p:par>
                                <p:cTn id="450" nodeType="withEffect" fill="hold" presetClass="entr" presetID="10">
                                  <p:stCondLst>
                                    <p:cond delay="700"/>
                                  </p:stCondLst>
                                  <p:childTnLst>
                                    <p:set>
                                      <p:cBhvr>
                                        <p:cTn id="451" dur="1" fill="hold">
                                          <p:stCondLst>
                                            <p:cond delay="0"/>
                                          </p:stCondLst>
                                        </p:cTn>
                                        <p:tgtEl>
                                          <p:spTgt spid="139"/>
                                        </p:tgtEl>
                                        <p:attrNameLst>
                                          <p:attrName>style.visibility</p:attrName>
                                        </p:attrNameLst>
                                      </p:cBhvr>
                                      <p:to>
                                        <p:strVal val="visible"/>
                                      </p:to>
                                    </p:set>
                                    <p:animEffect filter="fade" transition="in">
                                      <p:cBhvr additive="repl">
                                        <p:cTn id="452" dur="500"/>
                                        <p:tgtEl>
                                          <p:spTgt spid="139"/>
                                        </p:tgtEl>
                                      </p:cBhvr>
                                    </p:animEffect>
                                  </p:childTnLst>
                                </p:cTn>
                              </p:par>
                              <p:par>
                                <p:cTn id="453" nodeType="withEffect" fill="hold" presetClass="entr" presetID="10">
                                  <p:stCondLst>
                                    <p:cond delay="1100"/>
                                  </p:stCondLst>
                                  <p:childTnLst>
                                    <p:set>
                                      <p:cBhvr>
                                        <p:cTn id="454" dur="1" fill="hold">
                                          <p:stCondLst>
                                            <p:cond delay="0"/>
                                          </p:stCondLst>
                                        </p:cTn>
                                        <p:tgtEl>
                                          <p:spTgt spid="140"/>
                                        </p:tgtEl>
                                        <p:attrNameLst>
                                          <p:attrName>style.visibility</p:attrName>
                                        </p:attrNameLst>
                                      </p:cBhvr>
                                      <p:to>
                                        <p:strVal val="visible"/>
                                      </p:to>
                                    </p:set>
                                    <p:animEffect filter="fade" transition="in">
                                      <p:cBhvr additive="repl">
                                        <p:cTn id="455" dur="500"/>
                                        <p:tgtEl>
                                          <p:spTgt spid="140"/>
                                        </p:tgtEl>
                                      </p:cBhvr>
                                    </p:animEffect>
                                  </p:childTnLst>
                                </p:cTn>
                              </p:par>
                              <p:par>
                                <p:cTn id="456" nodeType="withEffect" fill="hold" presetClass="entr" presetID="10">
                                  <p:stCondLst>
                                    <p:cond delay="1400"/>
                                  </p:stCondLst>
                                  <p:childTnLst>
                                    <p:set>
                                      <p:cBhvr>
                                        <p:cTn id="457" dur="1" fill="hold">
                                          <p:stCondLst>
                                            <p:cond delay="0"/>
                                          </p:stCondLst>
                                        </p:cTn>
                                        <p:tgtEl>
                                          <p:spTgt spid="141"/>
                                        </p:tgtEl>
                                        <p:attrNameLst>
                                          <p:attrName>style.visibility</p:attrName>
                                        </p:attrNameLst>
                                      </p:cBhvr>
                                      <p:to>
                                        <p:strVal val="visible"/>
                                      </p:to>
                                    </p:set>
                                    <p:animEffect filter="fade" transition="in">
                                      <p:cBhvr additive="repl">
                                        <p:cTn id="458" dur="500"/>
                                        <p:tgtEl>
                                          <p:spTgt spid="141"/>
                                        </p:tgtEl>
                                      </p:cBhvr>
                                    </p:animEffect>
                                  </p:childTnLst>
                                </p:cTn>
                              </p:par>
                              <p:par>
                                <p:cTn id="459" nodeType="withEffect" fill="hold" presetClass="entr" presetID="10">
                                  <p:stCondLst>
                                    <p:cond delay="1800"/>
                                  </p:stCondLst>
                                  <p:childTnLst>
                                    <p:set>
                                      <p:cBhvr>
                                        <p:cTn id="460" dur="1" fill="hold">
                                          <p:stCondLst>
                                            <p:cond delay="0"/>
                                          </p:stCondLst>
                                        </p:cTn>
                                        <p:tgtEl>
                                          <p:spTgt spid="142"/>
                                        </p:tgtEl>
                                        <p:attrNameLst>
                                          <p:attrName>style.visibility</p:attrName>
                                        </p:attrNameLst>
                                      </p:cBhvr>
                                      <p:to>
                                        <p:strVal val="visible"/>
                                      </p:to>
                                    </p:set>
                                    <p:animEffect filter="fade" transition="in">
                                      <p:cBhvr additive="repl">
                                        <p:cTn id="461" dur="500"/>
                                        <p:tgtEl>
                                          <p:spTgt spid="142"/>
                                        </p:tgtEl>
                                      </p:cBhvr>
                                    </p:animEffect>
                                  </p:childTnLst>
                                </p:cTn>
                              </p:par>
                              <p:par>
                                <p:cTn id="462" nodeType="withEffect" fill="hold" presetClass="entr" presetID="10">
                                  <p:stCondLst>
                                    <p:cond delay="2100"/>
                                  </p:stCondLst>
                                  <p:childTnLst>
                                    <p:set>
                                      <p:cBhvr>
                                        <p:cTn id="463" dur="1" fill="hold">
                                          <p:stCondLst>
                                            <p:cond delay="0"/>
                                          </p:stCondLst>
                                        </p:cTn>
                                        <p:tgtEl>
                                          <p:spTgt spid="143"/>
                                        </p:tgtEl>
                                        <p:attrNameLst>
                                          <p:attrName>style.visibility</p:attrName>
                                        </p:attrNameLst>
                                      </p:cBhvr>
                                      <p:to>
                                        <p:strVal val="visible"/>
                                      </p:to>
                                    </p:set>
                                    <p:animEffect filter="fade" transition="in">
                                      <p:cBhvr additive="repl">
                                        <p:cTn id="464" dur="500"/>
                                        <p:tgtEl>
                                          <p:spTgt spid="143"/>
                                        </p:tgtEl>
                                      </p:cBhvr>
                                    </p:animEffect>
                                  </p:childTnLst>
                                </p:cTn>
                              </p:par>
                              <p:par>
                                <p:cTn id="465" nodeType="withEffect" fill="hold" presetClass="entr" presetID="10">
                                  <p:stCondLst>
                                    <p:cond delay="2400"/>
                                  </p:stCondLst>
                                  <p:childTnLst>
                                    <p:set>
                                      <p:cBhvr>
                                        <p:cTn id="466" dur="1" fill="hold">
                                          <p:stCondLst>
                                            <p:cond delay="0"/>
                                          </p:stCondLst>
                                        </p:cTn>
                                        <p:tgtEl>
                                          <p:spTgt spid="144"/>
                                        </p:tgtEl>
                                        <p:attrNameLst>
                                          <p:attrName>style.visibility</p:attrName>
                                        </p:attrNameLst>
                                      </p:cBhvr>
                                      <p:to>
                                        <p:strVal val="visible"/>
                                      </p:to>
                                    </p:set>
                                    <p:animEffect filter="fade" transition="in">
                                      <p:cBhvr additive="repl">
                                        <p:cTn id="467" dur="500"/>
                                        <p:tgtEl>
                                          <p:spTgt spid="144"/>
                                        </p:tgtEl>
                                      </p:cBhvr>
                                    </p:animEffect>
                                  </p:childTnLst>
                                </p:cTn>
                              </p:par>
                              <p:par>
                                <p:cTn id="468" nodeType="withEffect" fill="hold" presetClass="entr" presetID="22" presetSubtype="8">
                                  <p:stCondLst>
                                    <p:cond delay="2900"/>
                                  </p:stCondLst>
                                  <p:childTnLst>
                                    <p:set>
                                      <p:cBhvr>
                                        <p:cTn id="469" dur="1" fill="hold">
                                          <p:stCondLst>
                                            <p:cond delay="0"/>
                                          </p:stCondLst>
                                        </p:cTn>
                                        <p:tgtEl>
                                          <p:spTgt spid="145"/>
                                        </p:tgtEl>
                                        <p:attrNameLst>
                                          <p:attrName>style.visibility</p:attrName>
                                        </p:attrNameLst>
                                      </p:cBhvr>
                                      <p:to>
                                        <p:strVal val="visible"/>
                                      </p:to>
                                    </p:set>
                                    <p:animEffect filter="wipe(left)" transition="in">
                                      <p:cBhvr additive="repl">
                                        <p:cTn id="470" dur="1000"/>
                                        <p:tgtEl>
                                          <p:spTgt spid="145"/>
                                        </p:tgtEl>
                                      </p:cBhvr>
                                    </p:animEffect>
                                  </p:childTnLst>
                                </p:cTn>
                              </p:par>
                            </p:childTnLst>
                          </p:cTn>
                        </p:par>
                      </p:childTnLst>
                    </p:cTn>
                  </p:par>
                  <p:par>
                    <p:cTn id="471" nodeType="clickEffect" fill="hold">
                      <p:stCondLst>
                        <p:cond delay="indefinite"/>
                      </p:stCondLst>
                      <p:childTnLst>
                        <p:par>
                          <p:cTn id="472" nodeType="withEffect" fill="hold">
                            <p:stCondLst>
                              <p:cond delay="0"/>
                            </p:stCondLst>
                            <p:childTnLst>
                              <p:par>
                                <p:cTn id="473" nodeType="clickEffect" fill="hold" presetClass="entr" presetID="22" presetSubtype="8">
                                  <p:stCondLst>
                                    <p:cond delay="0"/>
                                  </p:stCondLst>
                                  <p:childTnLst>
                                    <p:set>
                                      <p:cBhvr>
                                        <p:cTn id="474" dur="1" fill="hold">
                                          <p:stCondLst>
                                            <p:cond delay="0"/>
                                          </p:stCondLst>
                                        </p:cTn>
                                        <p:tgtEl>
                                          <p:spTgt spid="146">
                                            <p:txEl>
                                              <p:pRg st="2" end="2"/>
                                            </p:txEl>
                                          </p:spTgt>
                                        </p:tgtEl>
                                        <p:attrNameLst>
                                          <p:attrName>style.visibility</p:attrName>
                                        </p:attrNameLst>
                                      </p:cBhvr>
                                      <p:to>
                                        <p:strVal val="visible"/>
                                      </p:to>
                                    </p:set>
                                    <p:animEffect filter="wipe(left)" transition="in">
                                      <p:cBhvr additive="repl">
                                        <p:cTn id="475" dur="500"/>
                                        <p:tgtEl>
                                          <p:spTgt spid="14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47" name="Picture 23" descr="fig1303a.gif"/>
          <p:cNvPicPr/>
          <p:nvPr/>
        </p:nvPicPr>
        <p:blipFill>
          <a:blip r:embed="rId1"/>
          <a:stretch/>
        </p:blipFill>
        <p:spPr>
          <a:xfrm>
            <a:off x="2209680" y="399960"/>
            <a:ext cx="5114520" cy="6305040"/>
          </a:xfrm>
          <a:prstGeom prst="rect">
            <a:avLst/>
          </a:prstGeom>
          <a:noFill/>
          <a:ln w="0">
            <a:noFill/>
          </a:ln>
        </p:spPr>
      </p:pic>
      <p:pic>
        <p:nvPicPr>
          <p:cNvPr id="148" name="Picture 24" descr="fig1303b.gif"/>
          <p:cNvPicPr/>
          <p:nvPr/>
        </p:nvPicPr>
        <p:blipFill>
          <a:blip r:embed="rId2"/>
          <a:stretch/>
        </p:blipFill>
        <p:spPr>
          <a:xfrm>
            <a:off x="2209680" y="399960"/>
            <a:ext cx="5114520" cy="6305040"/>
          </a:xfrm>
          <a:prstGeom prst="rect">
            <a:avLst/>
          </a:prstGeom>
          <a:noFill/>
          <a:ln w="0">
            <a:noFill/>
          </a:ln>
        </p:spPr>
      </p:pic>
      <p:pic>
        <p:nvPicPr>
          <p:cNvPr id="149" name="Picture 25" descr="fig1303c.gif"/>
          <p:cNvPicPr/>
          <p:nvPr/>
        </p:nvPicPr>
        <p:blipFill>
          <a:blip r:embed="rId3"/>
          <a:stretch/>
        </p:blipFill>
        <p:spPr>
          <a:xfrm>
            <a:off x="2209680" y="399960"/>
            <a:ext cx="5114520" cy="6305040"/>
          </a:xfrm>
          <a:prstGeom prst="rect">
            <a:avLst/>
          </a:prstGeom>
          <a:noFill/>
          <a:ln w="0">
            <a:noFill/>
          </a:ln>
        </p:spPr>
      </p:pic>
      <p:pic>
        <p:nvPicPr>
          <p:cNvPr id="150" name="Picture 26" descr="fig1303d.gif"/>
          <p:cNvPicPr/>
          <p:nvPr/>
        </p:nvPicPr>
        <p:blipFill>
          <a:blip r:embed="rId4"/>
          <a:stretch/>
        </p:blipFill>
        <p:spPr>
          <a:xfrm>
            <a:off x="2209680" y="399960"/>
            <a:ext cx="5114520" cy="6305040"/>
          </a:xfrm>
          <a:prstGeom prst="rect">
            <a:avLst/>
          </a:prstGeom>
          <a:noFill/>
          <a:ln w="0">
            <a:noFill/>
          </a:ln>
        </p:spPr>
      </p:pic>
      <p:pic>
        <p:nvPicPr>
          <p:cNvPr id="151" name="Picture 27" descr="fig1303e.gif"/>
          <p:cNvPicPr/>
          <p:nvPr/>
        </p:nvPicPr>
        <p:blipFill>
          <a:blip r:embed="rId5"/>
          <a:stretch/>
        </p:blipFill>
        <p:spPr>
          <a:xfrm>
            <a:off x="2209680" y="399960"/>
            <a:ext cx="5114520" cy="6305040"/>
          </a:xfrm>
          <a:prstGeom prst="rect">
            <a:avLst/>
          </a:prstGeom>
          <a:noFill/>
          <a:ln w="0">
            <a:noFill/>
          </a:ln>
        </p:spPr>
      </p:pic>
      <p:pic>
        <p:nvPicPr>
          <p:cNvPr id="152" name="Picture 28" descr="fig1303f.gif"/>
          <p:cNvPicPr/>
          <p:nvPr/>
        </p:nvPicPr>
        <p:blipFill>
          <a:blip r:embed="rId6"/>
          <a:stretch/>
        </p:blipFill>
        <p:spPr>
          <a:xfrm>
            <a:off x="2209680" y="399960"/>
            <a:ext cx="5114520" cy="6305040"/>
          </a:xfrm>
          <a:prstGeom prst="rect">
            <a:avLst/>
          </a:prstGeom>
          <a:noFill/>
          <a:ln w="0">
            <a:noFill/>
          </a:ln>
        </p:spPr>
      </p:pic>
      <p:pic>
        <p:nvPicPr>
          <p:cNvPr id="153" name="Picture 29" descr="fig1303g.gif"/>
          <p:cNvPicPr/>
          <p:nvPr/>
        </p:nvPicPr>
        <p:blipFill>
          <a:blip r:embed="rId7"/>
          <a:stretch/>
        </p:blipFill>
        <p:spPr>
          <a:xfrm>
            <a:off x="2209680" y="399960"/>
            <a:ext cx="5114520" cy="6305040"/>
          </a:xfrm>
          <a:prstGeom prst="rect">
            <a:avLst/>
          </a:prstGeom>
          <a:noFill/>
          <a:ln w="0">
            <a:noFill/>
          </a:ln>
        </p:spPr>
      </p:pic>
      <p:pic>
        <p:nvPicPr>
          <p:cNvPr id="154" name="Picture 30" descr="fig1303h.gif"/>
          <p:cNvPicPr/>
          <p:nvPr/>
        </p:nvPicPr>
        <p:blipFill>
          <a:blip r:embed="rId8"/>
          <a:stretch/>
        </p:blipFill>
        <p:spPr>
          <a:xfrm>
            <a:off x="2209680" y="399960"/>
            <a:ext cx="5114520" cy="6305040"/>
          </a:xfrm>
          <a:prstGeom prst="rect">
            <a:avLst/>
          </a:prstGeom>
          <a:noFill/>
          <a:ln w="0">
            <a:noFill/>
          </a:ln>
        </p:spPr>
      </p:pic>
      <p:pic>
        <p:nvPicPr>
          <p:cNvPr id="155" name="Picture 31" descr="fig1303i.gif"/>
          <p:cNvPicPr/>
          <p:nvPr/>
        </p:nvPicPr>
        <p:blipFill>
          <a:blip r:embed="rId9"/>
          <a:stretch/>
        </p:blipFill>
        <p:spPr>
          <a:xfrm>
            <a:off x="2209680" y="399960"/>
            <a:ext cx="5114520" cy="6305040"/>
          </a:xfrm>
          <a:prstGeom prst="rect">
            <a:avLst/>
          </a:prstGeom>
          <a:noFill/>
          <a:ln w="0">
            <a:noFill/>
          </a:ln>
        </p:spPr>
      </p:pic>
      <p:pic>
        <p:nvPicPr>
          <p:cNvPr id="156" name="Picture 32" descr="fig1303j.gif"/>
          <p:cNvPicPr/>
          <p:nvPr/>
        </p:nvPicPr>
        <p:blipFill>
          <a:blip r:embed="rId10"/>
          <a:stretch/>
        </p:blipFill>
        <p:spPr>
          <a:xfrm>
            <a:off x="2209680" y="399960"/>
            <a:ext cx="5114520" cy="6305040"/>
          </a:xfrm>
          <a:prstGeom prst="rect">
            <a:avLst/>
          </a:prstGeom>
          <a:noFill/>
          <a:ln w="0">
            <a:noFill/>
          </a:ln>
        </p:spPr>
      </p:pic>
      <p:pic>
        <p:nvPicPr>
          <p:cNvPr id="157" name="Picture 33" descr="fig1303k.gif"/>
          <p:cNvPicPr/>
          <p:nvPr/>
        </p:nvPicPr>
        <p:blipFill>
          <a:blip r:embed="rId11"/>
          <a:stretch/>
        </p:blipFill>
        <p:spPr>
          <a:xfrm>
            <a:off x="2209680" y="399960"/>
            <a:ext cx="5114520" cy="6305040"/>
          </a:xfrm>
          <a:prstGeom prst="rect">
            <a:avLst/>
          </a:prstGeom>
          <a:noFill/>
          <a:ln w="0">
            <a:noFill/>
          </a:ln>
        </p:spPr>
      </p:pic>
      <p:pic>
        <p:nvPicPr>
          <p:cNvPr id="158" name="Picture 34" descr="fig1303l.gif"/>
          <p:cNvPicPr/>
          <p:nvPr/>
        </p:nvPicPr>
        <p:blipFill>
          <a:blip r:embed="rId12"/>
          <a:stretch/>
        </p:blipFill>
        <p:spPr>
          <a:xfrm>
            <a:off x="2209680" y="399960"/>
            <a:ext cx="5114520" cy="6305040"/>
          </a:xfrm>
          <a:prstGeom prst="rect">
            <a:avLst/>
          </a:prstGeom>
          <a:noFill/>
          <a:ln w="0">
            <a:noFill/>
          </a:ln>
        </p:spPr>
      </p:pic>
      <p:pic>
        <p:nvPicPr>
          <p:cNvPr id="159" name="Picture 35" descr="fig1303m.gif"/>
          <p:cNvPicPr/>
          <p:nvPr/>
        </p:nvPicPr>
        <p:blipFill>
          <a:blip r:embed="rId13"/>
          <a:stretch/>
        </p:blipFill>
        <p:spPr>
          <a:xfrm>
            <a:off x="2209680" y="399960"/>
            <a:ext cx="5114520" cy="6305040"/>
          </a:xfrm>
          <a:prstGeom prst="rect">
            <a:avLst/>
          </a:prstGeom>
          <a:noFill/>
          <a:ln w="0">
            <a:noFill/>
          </a:ln>
        </p:spPr>
      </p:pic>
      <p:pic>
        <p:nvPicPr>
          <p:cNvPr id="160" name="Picture 36" descr="fig1303n.gif"/>
          <p:cNvPicPr/>
          <p:nvPr/>
        </p:nvPicPr>
        <p:blipFill>
          <a:blip r:embed="rId14"/>
          <a:stretch/>
        </p:blipFill>
        <p:spPr>
          <a:xfrm>
            <a:off x="2209680" y="399960"/>
            <a:ext cx="5114520" cy="6305040"/>
          </a:xfrm>
          <a:prstGeom prst="rect">
            <a:avLst/>
          </a:prstGeom>
          <a:noFill/>
          <a:ln w="0">
            <a:noFill/>
          </a:ln>
        </p:spPr>
      </p:pic>
      <p:pic>
        <p:nvPicPr>
          <p:cNvPr id="161" name="Picture 37" descr="fig1303o.gif"/>
          <p:cNvPicPr/>
          <p:nvPr/>
        </p:nvPicPr>
        <p:blipFill>
          <a:blip r:embed="rId15"/>
          <a:stretch/>
        </p:blipFill>
        <p:spPr>
          <a:xfrm>
            <a:off x="2209680" y="399960"/>
            <a:ext cx="5114520" cy="6305040"/>
          </a:xfrm>
          <a:prstGeom prst="rect">
            <a:avLst/>
          </a:prstGeom>
          <a:noFill/>
          <a:ln w="0">
            <a:noFill/>
          </a:ln>
        </p:spPr>
      </p:pic>
      <p:pic>
        <p:nvPicPr>
          <p:cNvPr id="162" name="Picture 38" descr="fig1303p.gif"/>
          <p:cNvPicPr/>
          <p:nvPr/>
        </p:nvPicPr>
        <p:blipFill>
          <a:blip r:embed="rId16"/>
          <a:stretch/>
        </p:blipFill>
        <p:spPr>
          <a:xfrm>
            <a:off x="2209680" y="399960"/>
            <a:ext cx="5114520" cy="6305040"/>
          </a:xfrm>
          <a:prstGeom prst="rect">
            <a:avLst/>
          </a:prstGeom>
          <a:noFill/>
          <a:ln w="0">
            <a:noFill/>
          </a:ln>
        </p:spPr>
      </p:pic>
      <p:pic>
        <p:nvPicPr>
          <p:cNvPr id="163" name="Picture 39" descr="fig1303q.gif"/>
          <p:cNvPicPr/>
          <p:nvPr/>
        </p:nvPicPr>
        <p:blipFill>
          <a:blip r:embed="rId17"/>
          <a:stretch/>
        </p:blipFill>
        <p:spPr>
          <a:xfrm>
            <a:off x="2209680" y="399960"/>
            <a:ext cx="5114520" cy="6305040"/>
          </a:xfrm>
          <a:prstGeom prst="rect">
            <a:avLst/>
          </a:prstGeom>
          <a:noFill/>
          <a:ln w="0">
            <a:noFill/>
          </a:ln>
        </p:spPr>
      </p:pic>
      <p:pic>
        <p:nvPicPr>
          <p:cNvPr id="164" name="Picture 40" descr="fig1303r.gif"/>
          <p:cNvPicPr/>
          <p:nvPr/>
        </p:nvPicPr>
        <p:blipFill>
          <a:blip r:embed="rId18"/>
          <a:stretch/>
        </p:blipFill>
        <p:spPr>
          <a:xfrm>
            <a:off x="2209680" y="399960"/>
            <a:ext cx="5114520" cy="6305040"/>
          </a:xfrm>
          <a:prstGeom prst="rect">
            <a:avLst/>
          </a:prstGeom>
          <a:noFill/>
          <a:ln w="0">
            <a:noFill/>
          </a:ln>
        </p:spPr>
      </p:pic>
      <p:pic>
        <p:nvPicPr>
          <p:cNvPr id="165" name="Picture 41" descr="fig1303s.gif"/>
          <p:cNvPicPr/>
          <p:nvPr/>
        </p:nvPicPr>
        <p:blipFill>
          <a:blip r:embed="rId19"/>
          <a:stretch/>
        </p:blipFill>
        <p:spPr>
          <a:xfrm>
            <a:off x="2209680" y="399960"/>
            <a:ext cx="5114520" cy="6305040"/>
          </a:xfrm>
          <a:prstGeom prst="rect">
            <a:avLst/>
          </a:prstGeom>
          <a:noFill/>
          <a:ln w="0">
            <a:noFill/>
          </a:ln>
        </p:spPr>
      </p:pic>
      <p:pic>
        <p:nvPicPr>
          <p:cNvPr id="166" name="Picture 42" descr="fig1303t.gif"/>
          <p:cNvPicPr/>
          <p:nvPr/>
        </p:nvPicPr>
        <p:blipFill>
          <a:blip r:embed="rId20"/>
          <a:stretch/>
        </p:blipFill>
        <p:spPr>
          <a:xfrm>
            <a:off x="2209680" y="399960"/>
            <a:ext cx="5114520" cy="6305040"/>
          </a:xfrm>
          <a:prstGeom prst="rect">
            <a:avLst/>
          </a:prstGeom>
          <a:noFill/>
          <a:ln w="0">
            <a:noFill/>
          </a:ln>
        </p:spPr>
      </p:pic>
      <p:pic>
        <p:nvPicPr>
          <p:cNvPr id="167" name="Picture 43" descr="fig1303u.gif"/>
          <p:cNvPicPr/>
          <p:nvPr/>
        </p:nvPicPr>
        <p:blipFill>
          <a:blip r:embed="rId21"/>
          <a:stretch/>
        </p:blipFill>
        <p:spPr>
          <a:xfrm>
            <a:off x="2209680" y="399960"/>
            <a:ext cx="5114520" cy="6305040"/>
          </a:xfrm>
          <a:prstGeom prst="rect">
            <a:avLst/>
          </a:prstGeom>
          <a:noFill/>
          <a:ln w="0">
            <a:noFill/>
          </a:ln>
        </p:spPr>
      </p:pic>
    </p:spTree>
  </p:cSld>
  <p:transition spd="slow">
    <p:wipe dir="r"/>
  </p:transition>
  <p:timing>
    <p:tnLst>
      <p:par>
        <p:cTn id="476" dur="indefinite" restart="never" nodeType="tmRoot">
          <p:childTnLst>
            <p:seq>
              <p:cTn id="477" dur="indefinite" nodeType="mainSeq">
                <p:childTnLst>
                  <p:par>
                    <p:cTn id="478" nodeType="clickEffect" fill="hold">
                      <p:stCondLst>
                        <p:cond delay="indefinite"/>
                      </p:stCondLst>
                      <p:childTnLst>
                        <p:par>
                          <p:cTn id="479" nodeType="withEffect" fill="hold">
                            <p:stCondLst>
                              <p:cond delay="0"/>
                            </p:stCondLst>
                            <p:childTnLst>
                              <p:par>
                                <p:cTn id="480" nodeType="clickEffect" fill="hold" presetClass="entr" presetID="10">
                                  <p:stCondLst>
                                    <p:cond delay="0"/>
                                  </p:stCondLst>
                                  <p:childTnLst>
                                    <p:set>
                                      <p:cBhvr>
                                        <p:cTn id="481" dur="1" fill="hold">
                                          <p:stCondLst>
                                            <p:cond delay="0"/>
                                          </p:stCondLst>
                                        </p:cTn>
                                        <p:tgtEl>
                                          <p:spTgt spid="148"/>
                                        </p:tgtEl>
                                        <p:attrNameLst>
                                          <p:attrName>style.visibility</p:attrName>
                                        </p:attrNameLst>
                                      </p:cBhvr>
                                      <p:to>
                                        <p:strVal val="visible"/>
                                      </p:to>
                                    </p:set>
                                    <p:animEffect filter="fade" transition="in">
                                      <p:cBhvr additive="repl">
                                        <p:cTn id="482" dur="500"/>
                                        <p:tgtEl>
                                          <p:spTgt spid="148"/>
                                        </p:tgtEl>
                                      </p:cBhvr>
                                    </p:animEffect>
                                  </p:childTnLst>
                                </p:cTn>
                              </p:par>
                            </p:childTnLst>
                          </p:cTn>
                        </p:par>
                        <p:par>
                          <p:cTn id="483" nodeType="afterEffect" fill="hold">
                            <p:stCondLst>
                              <p:cond delay="500"/>
                            </p:stCondLst>
                            <p:childTnLst>
                              <p:par>
                                <p:cTn id="484" nodeType="afterEffect" fill="hold" presetClass="entr" presetID="10">
                                  <p:stCondLst>
                                    <p:cond delay="0"/>
                                  </p:stCondLst>
                                  <p:childTnLst>
                                    <p:set>
                                      <p:cBhvr>
                                        <p:cTn id="485" dur="1" fill="hold">
                                          <p:stCondLst>
                                            <p:cond delay="0"/>
                                          </p:stCondLst>
                                        </p:cTn>
                                        <p:tgtEl>
                                          <p:spTgt spid="149"/>
                                        </p:tgtEl>
                                        <p:attrNameLst>
                                          <p:attrName>style.visibility</p:attrName>
                                        </p:attrNameLst>
                                      </p:cBhvr>
                                      <p:to>
                                        <p:strVal val="visible"/>
                                      </p:to>
                                    </p:set>
                                    <p:animEffect filter="fade" transition="in">
                                      <p:cBhvr additive="repl">
                                        <p:cTn id="486" dur="500"/>
                                        <p:tgtEl>
                                          <p:spTgt spid="149"/>
                                        </p:tgtEl>
                                      </p:cBhvr>
                                    </p:animEffect>
                                  </p:childTnLst>
                                </p:cTn>
                              </p:par>
                            </p:childTnLst>
                          </p:cTn>
                        </p:par>
                        <p:par>
                          <p:cTn id="487" nodeType="afterEffect" fill="hold">
                            <p:stCondLst>
                              <p:cond delay="1000"/>
                            </p:stCondLst>
                            <p:childTnLst>
                              <p:par>
                                <p:cTn id="488" nodeType="afterEffect" fill="hold" presetClass="entr" presetID="10">
                                  <p:stCondLst>
                                    <p:cond delay="0"/>
                                  </p:stCondLst>
                                  <p:childTnLst>
                                    <p:set>
                                      <p:cBhvr>
                                        <p:cTn id="489" dur="1" fill="hold">
                                          <p:stCondLst>
                                            <p:cond delay="0"/>
                                          </p:stCondLst>
                                        </p:cTn>
                                        <p:tgtEl>
                                          <p:spTgt spid="150"/>
                                        </p:tgtEl>
                                        <p:attrNameLst>
                                          <p:attrName>style.visibility</p:attrName>
                                        </p:attrNameLst>
                                      </p:cBhvr>
                                      <p:to>
                                        <p:strVal val="visible"/>
                                      </p:to>
                                    </p:set>
                                    <p:animEffect filter="fade" transition="in">
                                      <p:cBhvr additive="repl">
                                        <p:cTn id="490" dur="500"/>
                                        <p:tgtEl>
                                          <p:spTgt spid="150"/>
                                        </p:tgtEl>
                                      </p:cBhvr>
                                    </p:animEffect>
                                  </p:childTnLst>
                                </p:cTn>
                              </p:par>
                            </p:childTnLst>
                          </p:cTn>
                        </p:par>
                        <p:par>
                          <p:cTn id="491" nodeType="afterEffect" fill="hold">
                            <p:stCondLst>
                              <p:cond delay="1500"/>
                            </p:stCondLst>
                            <p:childTnLst>
                              <p:par>
                                <p:cTn id="492" nodeType="afterEffect" fill="hold" presetClass="entr" presetID="10">
                                  <p:stCondLst>
                                    <p:cond delay="0"/>
                                  </p:stCondLst>
                                  <p:childTnLst>
                                    <p:set>
                                      <p:cBhvr>
                                        <p:cTn id="493" dur="1" fill="hold">
                                          <p:stCondLst>
                                            <p:cond delay="0"/>
                                          </p:stCondLst>
                                        </p:cTn>
                                        <p:tgtEl>
                                          <p:spTgt spid="151"/>
                                        </p:tgtEl>
                                        <p:attrNameLst>
                                          <p:attrName>style.visibility</p:attrName>
                                        </p:attrNameLst>
                                      </p:cBhvr>
                                      <p:to>
                                        <p:strVal val="visible"/>
                                      </p:to>
                                    </p:set>
                                    <p:animEffect filter="fade" transition="in">
                                      <p:cBhvr additive="repl">
                                        <p:cTn id="494" dur="500"/>
                                        <p:tgtEl>
                                          <p:spTgt spid="151"/>
                                        </p:tgtEl>
                                      </p:cBhvr>
                                    </p:animEffect>
                                  </p:childTnLst>
                                </p:cTn>
                              </p:par>
                            </p:childTnLst>
                          </p:cTn>
                        </p:par>
                        <p:par>
                          <p:cTn id="495" nodeType="afterEffect" fill="hold">
                            <p:stCondLst>
                              <p:cond delay="2000"/>
                            </p:stCondLst>
                            <p:childTnLst>
                              <p:par>
                                <p:cTn id="496" nodeType="afterEffect" fill="hold" presetClass="entr" presetID="10">
                                  <p:stCondLst>
                                    <p:cond delay="0"/>
                                  </p:stCondLst>
                                  <p:childTnLst>
                                    <p:set>
                                      <p:cBhvr>
                                        <p:cTn id="497" dur="1" fill="hold">
                                          <p:stCondLst>
                                            <p:cond delay="0"/>
                                          </p:stCondLst>
                                        </p:cTn>
                                        <p:tgtEl>
                                          <p:spTgt spid="152"/>
                                        </p:tgtEl>
                                        <p:attrNameLst>
                                          <p:attrName>style.visibility</p:attrName>
                                        </p:attrNameLst>
                                      </p:cBhvr>
                                      <p:to>
                                        <p:strVal val="visible"/>
                                      </p:to>
                                    </p:set>
                                    <p:animEffect filter="fade" transition="in">
                                      <p:cBhvr additive="repl">
                                        <p:cTn id="498" dur="500"/>
                                        <p:tgtEl>
                                          <p:spTgt spid="152"/>
                                        </p:tgtEl>
                                      </p:cBhvr>
                                    </p:animEffect>
                                  </p:childTnLst>
                                </p:cTn>
                              </p:par>
                            </p:childTnLst>
                          </p:cTn>
                        </p:par>
                        <p:par>
                          <p:cTn id="499" nodeType="afterEffect" fill="hold">
                            <p:stCondLst>
                              <p:cond delay="2500"/>
                            </p:stCondLst>
                            <p:childTnLst>
                              <p:par>
                                <p:cTn id="500" nodeType="afterEffect" fill="hold" presetClass="entr" presetID="10">
                                  <p:stCondLst>
                                    <p:cond delay="0"/>
                                  </p:stCondLst>
                                  <p:childTnLst>
                                    <p:set>
                                      <p:cBhvr>
                                        <p:cTn id="501" dur="1" fill="hold">
                                          <p:stCondLst>
                                            <p:cond delay="0"/>
                                          </p:stCondLst>
                                        </p:cTn>
                                        <p:tgtEl>
                                          <p:spTgt spid="153"/>
                                        </p:tgtEl>
                                        <p:attrNameLst>
                                          <p:attrName>style.visibility</p:attrName>
                                        </p:attrNameLst>
                                      </p:cBhvr>
                                      <p:to>
                                        <p:strVal val="visible"/>
                                      </p:to>
                                    </p:set>
                                    <p:animEffect filter="fade" transition="in">
                                      <p:cBhvr additive="repl">
                                        <p:cTn id="502" dur="500"/>
                                        <p:tgtEl>
                                          <p:spTgt spid="153"/>
                                        </p:tgtEl>
                                      </p:cBhvr>
                                    </p:animEffect>
                                  </p:childTnLst>
                                </p:cTn>
                              </p:par>
                            </p:childTnLst>
                          </p:cTn>
                        </p:par>
                        <p:par>
                          <p:cTn id="503" nodeType="afterEffect" fill="hold">
                            <p:stCondLst>
                              <p:cond delay="3000"/>
                            </p:stCondLst>
                            <p:childTnLst>
                              <p:par>
                                <p:cTn id="504" nodeType="afterEffect" fill="hold" presetClass="entr" presetID="10">
                                  <p:stCondLst>
                                    <p:cond delay="0"/>
                                  </p:stCondLst>
                                  <p:childTnLst>
                                    <p:set>
                                      <p:cBhvr>
                                        <p:cTn id="505" dur="1" fill="hold">
                                          <p:stCondLst>
                                            <p:cond delay="0"/>
                                          </p:stCondLst>
                                        </p:cTn>
                                        <p:tgtEl>
                                          <p:spTgt spid="154"/>
                                        </p:tgtEl>
                                        <p:attrNameLst>
                                          <p:attrName>style.visibility</p:attrName>
                                        </p:attrNameLst>
                                      </p:cBhvr>
                                      <p:to>
                                        <p:strVal val="visible"/>
                                      </p:to>
                                    </p:set>
                                    <p:animEffect filter="fade" transition="in">
                                      <p:cBhvr additive="repl">
                                        <p:cTn id="506" dur="500"/>
                                        <p:tgtEl>
                                          <p:spTgt spid="154"/>
                                        </p:tgtEl>
                                      </p:cBhvr>
                                    </p:animEffect>
                                  </p:childTnLst>
                                </p:cTn>
                              </p:par>
                            </p:childTnLst>
                          </p:cTn>
                        </p:par>
                        <p:par>
                          <p:cTn id="507" nodeType="afterEffect" fill="hold">
                            <p:stCondLst>
                              <p:cond delay="3500"/>
                            </p:stCondLst>
                            <p:childTnLst>
                              <p:par>
                                <p:cTn id="508" nodeType="afterEffect" fill="hold" presetClass="entr" presetID="10">
                                  <p:stCondLst>
                                    <p:cond delay="0"/>
                                  </p:stCondLst>
                                  <p:childTnLst>
                                    <p:set>
                                      <p:cBhvr>
                                        <p:cTn id="509" dur="1" fill="hold">
                                          <p:stCondLst>
                                            <p:cond delay="0"/>
                                          </p:stCondLst>
                                        </p:cTn>
                                        <p:tgtEl>
                                          <p:spTgt spid="155"/>
                                        </p:tgtEl>
                                        <p:attrNameLst>
                                          <p:attrName>style.visibility</p:attrName>
                                        </p:attrNameLst>
                                      </p:cBhvr>
                                      <p:to>
                                        <p:strVal val="visible"/>
                                      </p:to>
                                    </p:set>
                                    <p:animEffect filter="fade" transition="in">
                                      <p:cBhvr additive="repl">
                                        <p:cTn id="510" dur="500"/>
                                        <p:tgtEl>
                                          <p:spTgt spid="155"/>
                                        </p:tgtEl>
                                      </p:cBhvr>
                                    </p:animEffect>
                                  </p:childTnLst>
                                </p:cTn>
                              </p:par>
                            </p:childTnLst>
                          </p:cTn>
                        </p:par>
                      </p:childTnLst>
                    </p:cTn>
                  </p:par>
                  <p:par>
                    <p:cTn id="511" nodeType="clickEffect" fill="hold">
                      <p:stCondLst>
                        <p:cond delay="indefinite"/>
                      </p:stCondLst>
                      <p:childTnLst>
                        <p:par>
                          <p:cTn id="512" nodeType="withEffect" fill="hold">
                            <p:stCondLst>
                              <p:cond delay="0"/>
                            </p:stCondLst>
                            <p:childTnLst>
                              <p:par>
                                <p:cTn id="513" nodeType="clickEffect" fill="hold" presetClass="entr" presetID="22" presetSubtype="8">
                                  <p:stCondLst>
                                    <p:cond delay="0"/>
                                  </p:stCondLst>
                                  <p:childTnLst>
                                    <p:set>
                                      <p:cBhvr>
                                        <p:cTn id="514" dur="1" fill="hold">
                                          <p:stCondLst>
                                            <p:cond delay="0"/>
                                          </p:stCondLst>
                                        </p:cTn>
                                        <p:tgtEl>
                                          <p:spTgt spid="156"/>
                                        </p:tgtEl>
                                        <p:attrNameLst>
                                          <p:attrName>style.visibility</p:attrName>
                                        </p:attrNameLst>
                                      </p:cBhvr>
                                      <p:to>
                                        <p:strVal val="visible"/>
                                      </p:to>
                                    </p:set>
                                    <p:animEffect filter="wipe(left)" transition="in">
                                      <p:cBhvr additive="repl">
                                        <p:cTn id="515" dur="1000"/>
                                        <p:tgtEl>
                                          <p:spTgt spid="156"/>
                                        </p:tgtEl>
                                      </p:cBhvr>
                                    </p:animEffect>
                                  </p:childTnLst>
                                </p:cTn>
                              </p:par>
                            </p:childTnLst>
                          </p:cTn>
                        </p:par>
                      </p:childTnLst>
                    </p:cTn>
                  </p:par>
                  <p:par>
                    <p:cTn id="516" nodeType="clickEffect" fill="hold">
                      <p:stCondLst>
                        <p:cond delay="indefinite"/>
                      </p:stCondLst>
                      <p:childTnLst>
                        <p:par>
                          <p:cTn id="517" nodeType="withEffect" fill="hold">
                            <p:stCondLst>
                              <p:cond delay="0"/>
                            </p:stCondLst>
                            <p:childTnLst>
                              <p:par>
                                <p:cTn id="518" nodeType="clickEffect" fill="hold" presetClass="entr" presetID="10">
                                  <p:stCondLst>
                                    <p:cond delay="0"/>
                                  </p:stCondLst>
                                  <p:childTnLst>
                                    <p:set>
                                      <p:cBhvr>
                                        <p:cTn id="519" dur="1" fill="hold">
                                          <p:stCondLst>
                                            <p:cond delay="0"/>
                                          </p:stCondLst>
                                        </p:cTn>
                                        <p:tgtEl>
                                          <p:spTgt spid="157"/>
                                        </p:tgtEl>
                                        <p:attrNameLst>
                                          <p:attrName>style.visibility</p:attrName>
                                        </p:attrNameLst>
                                      </p:cBhvr>
                                      <p:to>
                                        <p:strVal val="visible"/>
                                      </p:to>
                                    </p:set>
                                    <p:animEffect filter="fade" transition="in">
                                      <p:cBhvr additive="repl">
                                        <p:cTn id="520" dur="500"/>
                                        <p:tgtEl>
                                          <p:spTgt spid="157"/>
                                        </p:tgtEl>
                                      </p:cBhvr>
                                    </p:animEffect>
                                  </p:childTnLst>
                                </p:cTn>
                              </p:par>
                            </p:childTnLst>
                          </p:cTn>
                        </p:par>
                        <p:par>
                          <p:cTn id="521" nodeType="afterEffect" fill="hold">
                            <p:stCondLst>
                              <p:cond delay="500"/>
                            </p:stCondLst>
                            <p:childTnLst>
                              <p:par>
                                <p:cTn id="522" nodeType="afterEffect" fill="hold" presetClass="entr" presetID="10">
                                  <p:stCondLst>
                                    <p:cond delay="0"/>
                                  </p:stCondLst>
                                  <p:childTnLst>
                                    <p:set>
                                      <p:cBhvr>
                                        <p:cTn id="523" dur="1" fill="hold">
                                          <p:stCondLst>
                                            <p:cond delay="0"/>
                                          </p:stCondLst>
                                        </p:cTn>
                                        <p:tgtEl>
                                          <p:spTgt spid="158"/>
                                        </p:tgtEl>
                                        <p:attrNameLst>
                                          <p:attrName>style.visibility</p:attrName>
                                        </p:attrNameLst>
                                      </p:cBhvr>
                                      <p:to>
                                        <p:strVal val="visible"/>
                                      </p:to>
                                    </p:set>
                                    <p:animEffect filter="fade" transition="in">
                                      <p:cBhvr additive="repl">
                                        <p:cTn id="524" dur="500"/>
                                        <p:tgtEl>
                                          <p:spTgt spid="158"/>
                                        </p:tgtEl>
                                      </p:cBhvr>
                                    </p:animEffect>
                                  </p:childTnLst>
                                </p:cTn>
                              </p:par>
                            </p:childTnLst>
                          </p:cTn>
                        </p:par>
                        <p:par>
                          <p:cTn id="525" nodeType="afterEffect" fill="hold">
                            <p:stCondLst>
                              <p:cond delay="1000"/>
                            </p:stCondLst>
                            <p:childTnLst>
                              <p:par>
                                <p:cTn id="526" nodeType="afterEffect" fill="hold" presetClass="entr" presetID="10">
                                  <p:stCondLst>
                                    <p:cond delay="0"/>
                                  </p:stCondLst>
                                  <p:childTnLst>
                                    <p:set>
                                      <p:cBhvr>
                                        <p:cTn id="527" dur="1" fill="hold">
                                          <p:stCondLst>
                                            <p:cond delay="0"/>
                                          </p:stCondLst>
                                        </p:cTn>
                                        <p:tgtEl>
                                          <p:spTgt spid="159"/>
                                        </p:tgtEl>
                                        <p:attrNameLst>
                                          <p:attrName>style.visibility</p:attrName>
                                        </p:attrNameLst>
                                      </p:cBhvr>
                                      <p:to>
                                        <p:strVal val="visible"/>
                                      </p:to>
                                    </p:set>
                                    <p:animEffect filter="fade" transition="in">
                                      <p:cBhvr additive="repl">
                                        <p:cTn id="528" dur="500"/>
                                        <p:tgtEl>
                                          <p:spTgt spid="159"/>
                                        </p:tgtEl>
                                      </p:cBhvr>
                                    </p:animEffect>
                                  </p:childTnLst>
                                </p:cTn>
                              </p:par>
                            </p:childTnLst>
                          </p:cTn>
                        </p:par>
                        <p:par>
                          <p:cTn id="529" nodeType="afterEffect" fill="hold">
                            <p:stCondLst>
                              <p:cond delay="1500"/>
                            </p:stCondLst>
                            <p:childTnLst>
                              <p:par>
                                <p:cTn id="530" nodeType="afterEffect" fill="hold" presetClass="entr" presetID="10">
                                  <p:stCondLst>
                                    <p:cond delay="0"/>
                                  </p:stCondLst>
                                  <p:childTnLst>
                                    <p:set>
                                      <p:cBhvr>
                                        <p:cTn id="531" dur="1" fill="hold">
                                          <p:stCondLst>
                                            <p:cond delay="0"/>
                                          </p:stCondLst>
                                        </p:cTn>
                                        <p:tgtEl>
                                          <p:spTgt spid="160"/>
                                        </p:tgtEl>
                                        <p:attrNameLst>
                                          <p:attrName>style.visibility</p:attrName>
                                        </p:attrNameLst>
                                      </p:cBhvr>
                                      <p:to>
                                        <p:strVal val="visible"/>
                                      </p:to>
                                    </p:set>
                                    <p:animEffect filter="fade" transition="in">
                                      <p:cBhvr additive="repl">
                                        <p:cTn id="532" dur="500"/>
                                        <p:tgtEl>
                                          <p:spTgt spid="160"/>
                                        </p:tgtEl>
                                      </p:cBhvr>
                                    </p:animEffect>
                                  </p:childTnLst>
                                </p:cTn>
                              </p:par>
                            </p:childTnLst>
                          </p:cTn>
                        </p:par>
                        <p:par>
                          <p:cTn id="533" nodeType="afterEffect" fill="hold">
                            <p:stCondLst>
                              <p:cond delay="2000"/>
                            </p:stCondLst>
                            <p:childTnLst>
                              <p:par>
                                <p:cTn id="534" nodeType="afterEffect" fill="hold" presetClass="entr" presetID="10">
                                  <p:stCondLst>
                                    <p:cond delay="0"/>
                                  </p:stCondLst>
                                  <p:childTnLst>
                                    <p:set>
                                      <p:cBhvr>
                                        <p:cTn id="535" dur="1" fill="hold">
                                          <p:stCondLst>
                                            <p:cond delay="0"/>
                                          </p:stCondLst>
                                        </p:cTn>
                                        <p:tgtEl>
                                          <p:spTgt spid="161"/>
                                        </p:tgtEl>
                                        <p:attrNameLst>
                                          <p:attrName>style.visibility</p:attrName>
                                        </p:attrNameLst>
                                      </p:cBhvr>
                                      <p:to>
                                        <p:strVal val="visible"/>
                                      </p:to>
                                    </p:set>
                                    <p:animEffect filter="fade" transition="in">
                                      <p:cBhvr additive="repl">
                                        <p:cTn id="536" dur="500"/>
                                        <p:tgtEl>
                                          <p:spTgt spid="161"/>
                                        </p:tgtEl>
                                      </p:cBhvr>
                                    </p:animEffect>
                                  </p:childTnLst>
                                </p:cTn>
                              </p:par>
                            </p:childTnLst>
                          </p:cTn>
                        </p:par>
                        <p:par>
                          <p:cTn id="537" nodeType="afterEffect" fill="hold">
                            <p:stCondLst>
                              <p:cond delay="2500"/>
                            </p:stCondLst>
                            <p:childTnLst>
                              <p:par>
                                <p:cTn id="538" nodeType="afterEffect" fill="hold" presetClass="entr" presetID="10">
                                  <p:stCondLst>
                                    <p:cond delay="0"/>
                                  </p:stCondLst>
                                  <p:childTnLst>
                                    <p:set>
                                      <p:cBhvr>
                                        <p:cTn id="539" dur="1" fill="hold">
                                          <p:stCondLst>
                                            <p:cond delay="0"/>
                                          </p:stCondLst>
                                        </p:cTn>
                                        <p:tgtEl>
                                          <p:spTgt spid="162"/>
                                        </p:tgtEl>
                                        <p:attrNameLst>
                                          <p:attrName>style.visibility</p:attrName>
                                        </p:attrNameLst>
                                      </p:cBhvr>
                                      <p:to>
                                        <p:strVal val="visible"/>
                                      </p:to>
                                    </p:set>
                                    <p:animEffect filter="fade" transition="in">
                                      <p:cBhvr additive="repl">
                                        <p:cTn id="540" dur="500"/>
                                        <p:tgtEl>
                                          <p:spTgt spid="162"/>
                                        </p:tgtEl>
                                      </p:cBhvr>
                                    </p:animEffect>
                                  </p:childTnLst>
                                </p:cTn>
                              </p:par>
                            </p:childTnLst>
                          </p:cTn>
                        </p:par>
                        <p:par>
                          <p:cTn id="541" nodeType="afterEffect" fill="hold">
                            <p:stCondLst>
                              <p:cond delay="3000"/>
                            </p:stCondLst>
                            <p:childTnLst>
                              <p:par>
                                <p:cTn id="542" nodeType="afterEffect" fill="hold" presetClass="entr" presetID="10">
                                  <p:stCondLst>
                                    <p:cond delay="0"/>
                                  </p:stCondLst>
                                  <p:childTnLst>
                                    <p:set>
                                      <p:cBhvr>
                                        <p:cTn id="543" dur="1" fill="hold">
                                          <p:stCondLst>
                                            <p:cond delay="0"/>
                                          </p:stCondLst>
                                        </p:cTn>
                                        <p:tgtEl>
                                          <p:spTgt spid="163"/>
                                        </p:tgtEl>
                                        <p:attrNameLst>
                                          <p:attrName>style.visibility</p:attrName>
                                        </p:attrNameLst>
                                      </p:cBhvr>
                                      <p:to>
                                        <p:strVal val="visible"/>
                                      </p:to>
                                    </p:set>
                                    <p:animEffect filter="fade" transition="in">
                                      <p:cBhvr additive="repl">
                                        <p:cTn id="544" dur="500"/>
                                        <p:tgtEl>
                                          <p:spTgt spid="163"/>
                                        </p:tgtEl>
                                      </p:cBhvr>
                                    </p:animEffect>
                                  </p:childTnLst>
                                </p:cTn>
                              </p:par>
                            </p:childTnLst>
                          </p:cTn>
                        </p:par>
                      </p:childTnLst>
                    </p:cTn>
                  </p:par>
                  <p:par>
                    <p:cTn id="545" nodeType="clickEffect" fill="hold">
                      <p:stCondLst>
                        <p:cond delay="indefinite"/>
                      </p:stCondLst>
                      <p:childTnLst>
                        <p:par>
                          <p:cTn id="546" nodeType="withEffect" fill="hold">
                            <p:stCondLst>
                              <p:cond delay="0"/>
                            </p:stCondLst>
                            <p:childTnLst>
                              <p:par>
                                <p:cTn id="547" nodeType="clickEffect" fill="hold" presetClass="entr" presetID="22" presetSubtype="8">
                                  <p:stCondLst>
                                    <p:cond delay="0"/>
                                  </p:stCondLst>
                                  <p:childTnLst>
                                    <p:set>
                                      <p:cBhvr>
                                        <p:cTn id="548" dur="1" fill="hold">
                                          <p:stCondLst>
                                            <p:cond delay="0"/>
                                          </p:stCondLst>
                                        </p:cTn>
                                        <p:tgtEl>
                                          <p:spTgt spid="164"/>
                                        </p:tgtEl>
                                        <p:attrNameLst>
                                          <p:attrName>style.visibility</p:attrName>
                                        </p:attrNameLst>
                                      </p:cBhvr>
                                      <p:to>
                                        <p:strVal val="visible"/>
                                      </p:to>
                                    </p:set>
                                    <p:animEffect filter="wipe(left)" transition="in">
                                      <p:cBhvr additive="repl">
                                        <p:cTn id="549" dur="1000"/>
                                        <p:tgtEl>
                                          <p:spTgt spid="164"/>
                                        </p:tgtEl>
                                      </p:cBhvr>
                                    </p:animEffect>
                                  </p:childTnLst>
                                </p:cTn>
                              </p:par>
                            </p:childTnLst>
                          </p:cTn>
                        </p:par>
                      </p:childTnLst>
                    </p:cTn>
                  </p:par>
                  <p:par>
                    <p:cTn id="550" nodeType="clickEffect" fill="hold">
                      <p:stCondLst>
                        <p:cond delay="indefinite"/>
                      </p:stCondLst>
                      <p:childTnLst>
                        <p:par>
                          <p:cTn id="551" nodeType="withEffect" fill="hold">
                            <p:stCondLst>
                              <p:cond delay="0"/>
                            </p:stCondLst>
                            <p:childTnLst>
                              <p:par>
                                <p:cTn id="552" nodeType="clickEffect" fill="hold" presetClass="entr" presetID="10">
                                  <p:stCondLst>
                                    <p:cond delay="0"/>
                                  </p:stCondLst>
                                  <p:childTnLst>
                                    <p:set>
                                      <p:cBhvr>
                                        <p:cTn id="553" dur="1" fill="hold">
                                          <p:stCondLst>
                                            <p:cond delay="0"/>
                                          </p:stCondLst>
                                        </p:cTn>
                                        <p:tgtEl>
                                          <p:spTgt spid="165"/>
                                        </p:tgtEl>
                                        <p:attrNameLst>
                                          <p:attrName>style.visibility</p:attrName>
                                        </p:attrNameLst>
                                      </p:cBhvr>
                                      <p:to>
                                        <p:strVal val="visible"/>
                                      </p:to>
                                    </p:set>
                                    <p:animEffect filter="fade" transition="in">
                                      <p:cBhvr additive="repl">
                                        <p:cTn id="554" dur="500"/>
                                        <p:tgtEl>
                                          <p:spTgt spid="165"/>
                                        </p:tgtEl>
                                      </p:cBhvr>
                                    </p:animEffect>
                                  </p:childTnLst>
                                </p:cTn>
                              </p:par>
                            </p:childTnLst>
                          </p:cTn>
                        </p:par>
                      </p:childTnLst>
                    </p:cTn>
                  </p:par>
                  <p:par>
                    <p:cTn id="555" nodeType="clickEffect" fill="hold">
                      <p:stCondLst>
                        <p:cond delay="indefinite"/>
                      </p:stCondLst>
                      <p:childTnLst>
                        <p:par>
                          <p:cTn id="556" nodeType="withEffect" fill="hold">
                            <p:stCondLst>
                              <p:cond delay="0"/>
                            </p:stCondLst>
                            <p:childTnLst>
                              <p:par>
                                <p:cTn id="557" nodeType="clickEffect" fill="hold" presetClass="entr" presetID="10">
                                  <p:stCondLst>
                                    <p:cond delay="0"/>
                                  </p:stCondLst>
                                  <p:childTnLst>
                                    <p:set>
                                      <p:cBhvr>
                                        <p:cTn id="558" dur="1" fill="hold">
                                          <p:stCondLst>
                                            <p:cond delay="0"/>
                                          </p:stCondLst>
                                        </p:cTn>
                                        <p:tgtEl>
                                          <p:spTgt spid="166"/>
                                        </p:tgtEl>
                                        <p:attrNameLst>
                                          <p:attrName>style.visibility</p:attrName>
                                        </p:attrNameLst>
                                      </p:cBhvr>
                                      <p:to>
                                        <p:strVal val="visible"/>
                                      </p:to>
                                    </p:set>
                                    <p:animEffect filter="fade" transition="in">
                                      <p:cBhvr additive="repl">
                                        <p:cTn id="559" dur="500"/>
                                        <p:tgtEl>
                                          <p:spTgt spid="166"/>
                                        </p:tgtEl>
                                      </p:cBhvr>
                                    </p:animEffect>
                                  </p:childTnLst>
                                </p:cTn>
                              </p:par>
                            </p:childTnLst>
                          </p:cTn>
                        </p:par>
                      </p:childTnLst>
                    </p:cTn>
                  </p:par>
                  <p:par>
                    <p:cTn id="560" nodeType="clickEffect" fill="hold">
                      <p:stCondLst>
                        <p:cond delay="indefinite"/>
                      </p:stCondLst>
                      <p:childTnLst>
                        <p:par>
                          <p:cTn id="561" nodeType="withEffect" fill="hold">
                            <p:stCondLst>
                              <p:cond delay="0"/>
                            </p:stCondLst>
                            <p:childTnLst>
                              <p:par>
                                <p:cTn id="562" nodeType="clickEffect" fill="hold" presetClass="entr" presetID="10">
                                  <p:stCondLst>
                                    <p:cond delay="0"/>
                                  </p:stCondLst>
                                  <p:childTnLst>
                                    <p:set>
                                      <p:cBhvr>
                                        <p:cTn id="563" dur="1" fill="hold">
                                          <p:stCondLst>
                                            <p:cond delay="0"/>
                                          </p:stCondLst>
                                        </p:cTn>
                                        <p:tgtEl>
                                          <p:spTgt spid="167"/>
                                        </p:tgtEl>
                                        <p:attrNameLst>
                                          <p:attrName>style.visibility</p:attrName>
                                        </p:attrNameLst>
                                      </p:cBhvr>
                                      <p:to>
                                        <p:strVal val="visible"/>
                                      </p:to>
                                    </p:set>
                                    <p:animEffect filter="fade" transition="in">
                                      <p:cBhvr additive="repl">
                                        <p:cTn id="564" dur="5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pic>
        <p:nvPicPr>
          <p:cNvPr id="169" name="Picture 38" descr="fig1303a.gif"/>
          <p:cNvPicPr/>
          <p:nvPr/>
        </p:nvPicPr>
        <p:blipFill>
          <a:blip r:embed="rId1"/>
          <a:stretch/>
        </p:blipFill>
        <p:spPr>
          <a:xfrm>
            <a:off x="3995640" y="1260360"/>
            <a:ext cx="4352400" cy="5365440"/>
          </a:xfrm>
          <a:prstGeom prst="rect">
            <a:avLst/>
          </a:prstGeom>
          <a:noFill/>
          <a:ln w="0">
            <a:noFill/>
          </a:ln>
        </p:spPr>
      </p:pic>
      <p:pic>
        <p:nvPicPr>
          <p:cNvPr id="170" name="Picture 39" descr="fig1303b.gif"/>
          <p:cNvPicPr/>
          <p:nvPr/>
        </p:nvPicPr>
        <p:blipFill>
          <a:blip r:embed="rId2"/>
          <a:stretch/>
        </p:blipFill>
        <p:spPr>
          <a:xfrm>
            <a:off x="3995640" y="1260360"/>
            <a:ext cx="4352400" cy="5365440"/>
          </a:xfrm>
          <a:prstGeom prst="rect">
            <a:avLst/>
          </a:prstGeom>
          <a:noFill/>
          <a:ln w="0">
            <a:noFill/>
          </a:ln>
        </p:spPr>
      </p:pic>
      <p:pic>
        <p:nvPicPr>
          <p:cNvPr id="171" name="Picture 40" descr="fig1303c.gif"/>
          <p:cNvPicPr/>
          <p:nvPr/>
        </p:nvPicPr>
        <p:blipFill>
          <a:blip r:embed="rId3"/>
          <a:stretch/>
        </p:blipFill>
        <p:spPr>
          <a:xfrm>
            <a:off x="3995640" y="1260360"/>
            <a:ext cx="4352400" cy="5365440"/>
          </a:xfrm>
          <a:prstGeom prst="rect">
            <a:avLst/>
          </a:prstGeom>
          <a:noFill/>
          <a:ln w="0">
            <a:noFill/>
          </a:ln>
        </p:spPr>
      </p:pic>
      <p:pic>
        <p:nvPicPr>
          <p:cNvPr id="172" name="Picture 41" descr="fig1303d.gif"/>
          <p:cNvPicPr/>
          <p:nvPr/>
        </p:nvPicPr>
        <p:blipFill>
          <a:blip r:embed="rId4"/>
          <a:stretch/>
        </p:blipFill>
        <p:spPr>
          <a:xfrm>
            <a:off x="3995640" y="1260360"/>
            <a:ext cx="4352400" cy="5365440"/>
          </a:xfrm>
          <a:prstGeom prst="rect">
            <a:avLst/>
          </a:prstGeom>
          <a:noFill/>
          <a:ln w="0">
            <a:noFill/>
          </a:ln>
        </p:spPr>
      </p:pic>
      <p:pic>
        <p:nvPicPr>
          <p:cNvPr id="173" name="Picture 42" descr="fig1303e.gif"/>
          <p:cNvPicPr/>
          <p:nvPr/>
        </p:nvPicPr>
        <p:blipFill>
          <a:blip r:embed="rId5"/>
          <a:stretch/>
        </p:blipFill>
        <p:spPr>
          <a:xfrm>
            <a:off x="3995640" y="1260360"/>
            <a:ext cx="4352400" cy="5365440"/>
          </a:xfrm>
          <a:prstGeom prst="rect">
            <a:avLst/>
          </a:prstGeom>
          <a:noFill/>
          <a:ln w="0">
            <a:noFill/>
          </a:ln>
        </p:spPr>
      </p:pic>
      <p:pic>
        <p:nvPicPr>
          <p:cNvPr id="174" name="Picture 43" descr="fig1303f.gif"/>
          <p:cNvPicPr/>
          <p:nvPr/>
        </p:nvPicPr>
        <p:blipFill>
          <a:blip r:embed="rId6"/>
          <a:stretch/>
        </p:blipFill>
        <p:spPr>
          <a:xfrm>
            <a:off x="3995640" y="1260360"/>
            <a:ext cx="4352400" cy="5365440"/>
          </a:xfrm>
          <a:prstGeom prst="rect">
            <a:avLst/>
          </a:prstGeom>
          <a:noFill/>
          <a:ln w="0">
            <a:noFill/>
          </a:ln>
        </p:spPr>
      </p:pic>
      <p:pic>
        <p:nvPicPr>
          <p:cNvPr id="175" name="Picture 44" descr="fig1303g.gif"/>
          <p:cNvPicPr/>
          <p:nvPr/>
        </p:nvPicPr>
        <p:blipFill>
          <a:blip r:embed="rId7"/>
          <a:stretch/>
        </p:blipFill>
        <p:spPr>
          <a:xfrm>
            <a:off x="3995640" y="1260360"/>
            <a:ext cx="4352400" cy="5365440"/>
          </a:xfrm>
          <a:prstGeom prst="rect">
            <a:avLst/>
          </a:prstGeom>
          <a:noFill/>
          <a:ln w="0">
            <a:noFill/>
          </a:ln>
        </p:spPr>
      </p:pic>
      <p:pic>
        <p:nvPicPr>
          <p:cNvPr id="176" name="Picture 45" descr="fig1303h.gif"/>
          <p:cNvPicPr/>
          <p:nvPr/>
        </p:nvPicPr>
        <p:blipFill>
          <a:blip r:embed="rId8"/>
          <a:stretch/>
        </p:blipFill>
        <p:spPr>
          <a:xfrm>
            <a:off x="3995640" y="1260360"/>
            <a:ext cx="4352400" cy="5365440"/>
          </a:xfrm>
          <a:prstGeom prst="rect">
            <a:avLst/>
          </a:prstGeom>
          <a:noFill/>
          <a:ln w="0">
            <a:noFill/>
          </a:ln>
        </p:spPr>
      </p:pic>
      <p:pic>
        <p:nvPicPr>
          <p:cNvPr id="177" name="Picture 46" descr="fig1303i.gif"/>
          <p:cNvPicPr/>
          <p:nvPr/>
        </p:nvPicPr>
        <p:blipFill>
          <a:blip r:embed="rId9"/>
          <a:stretch/>
        </p:blipFill>
        <p:spPr>
          <a:xfrm>
            <a:off x="3995640" y="1260360"/>
            <a:ext cx="4352400" cy="5365440"/>
          </a:xfrm>
          <a:prstGeom prst="rect">
            <a:avLst/>
          </a:prstGeom>
          <a:noFill/>
          <a:ln w="0">
            <a:noFill/>
          </a:ln>
        </p:spPr>
      </p:pic>
      <p:pic>
        <p:nvPicPr>
          <p:cNvPr id="178" name="Picture 47" descr="fig1303j.gif"/>
          <p:cNvPicPr/>
          <p:nvPr/>
        </p:nvPicPr>
        <p:blipFill>
          <a:blip r:embed="rId10"/>
          <a:stretch/>
        </p:blipFill>
        <p:spPr>
          <a:xfrm>
            <a:off x="3995640" y="1260360"/>
            <a:ext cx="4352400" cy="5365440"/>
          </a:xfrm>
          <a:prstGeom prst="rect">
            <a:avLst/>
          </a:prstGeom>
          <a:noFill/>
          <a:ln w="0">
            <a:noFill/>
          </a:ln>
        </p:spPr>
      </p:pic>
      <p:pic>
        <p:nvPicPr>
          <p:cNvPr id="179" name="Picture 48" descr="fig1303k.gif"/>
          <p:cNvPicPr/>
          <p:nvPr/>
        </p:nvPicPr>
        <p:blipFill>
          <a:blip r:embed="rId11"/>
          <a:stretch/>
        </p:blipFill>
        <p:spPr>
          <a:xfrm>
            <a:off x="3995640" y="1260360"/>
            <a:ext cx="4352400" cy="5365440"/>
          </a:xfrm>
          <a:prstGeom prst="rect">
            <a:avLst/>
          </a:prstGeom>
          <a:noFill/>
          <a:ln w="0">
            <a:noFill/>
          </a:ln>
        </p:spPr>
      </p:pic>
      <p:pic>
        <p:nvPicPr>
          <p:cNvPr id="180" name="Picture 49" descr="fig1303l.gif"/>
          <p:cNvPicPr/>
          <p:nvPr/>
        </p:nvPicPr>
        <p:blipFill>
          <a:blip r:embed="rId12"/>
          <a:stretch/>
        </p:blipFill>
        <p:spPr>
          <a:xfrm>
            <a:off x="3995640" y="1260360"/>
            <a:ext cx="4352400" cy="5365440"/>
          </a:xfrm>
          <a:prstGeom prst="rect">
            <a:avLst/>
          </a:prstGeom>
          <a:noFill/>
          <a:ln w="0">
            <a:noFill/>
          </a:ln>
        </p:spPr>
      </p:pic>
      <p:pic>
        <p:nvPicPr>
          <p:cNvPr id="181" name="Picture 50" descr="fig1303m.gif"/>
          <p:cNvPicPr/>
          <p:nvPr/>
        </p:nvPicPr>
        <p:blipFill>
          <a:blip r:embed="rId13"/>
          <a:stretch/>
        </p:blipFill>
        <p:spPr>
          <a:xfrm>
            <a:off x="3995640" y="1260360"/>
            <a:ext cx="4352400" cy="5365440"/>
          </a:xfrm>
          <a:prstGeom prst="rect">
            <a:avLst/>
          </a:prstGeom>
          <a:noFill/>
          <a:ln w="0">
            <a:noFill/>
          </a:ln>
        </p:spPr>
      </p:pic>
      <p:pic>
        <p:nvPicPr>
          <p:cNvPr id="182" name="Picture 51" descr="fig1303n.gif"/>
          <p:cNvPicPr/>
          <p:nvPr/>
        </p:nvPicPr>
        <p:blipFill>
          <a:blip r:embed="rId14"/>
          <a:stretch/>
        </p:blipFill>
        <p:spPr>
          <a:xfrm>
            <a:off x="3995640" y="1260360"/>
            <a:ext cx="4352400" cy="5365440"/>
          </a:xfrm>
          <a:prstGeom prst="rect">
            <a:avLst/>
          </a:prstGeom>
          <a:noFill/>
          <a:ln w="0">
            <a:noFill/>
          </a:ln>
        </p:spPr>
      </p:pic>
      <p:pic>
        <p:nvPicPr>
          <p:cNvPr id="183" name="Picture 52" descr="fig1303o.gif"/>
          <p:cNvPicPr/>
          <p:nvPr/>
        </p:nvPicPr>
        <p:blipFill>
          <a:blip r:embed="rId15"/>
          <a:stretch/>
        </p:blipFill>
        <p:spPr>
          <a:xfrm>
            <a:off x="3995640" y="1260360"/>
            <a:ext cx="4352400" cy="5365440"/>
          </a:xfrm>
          <a:prstGeom prst="rect">
            <a:avLst/>
          </a:prstGeom>
          <a:noFill/>
          <a:ln w="0">
            <a:noFill/>
          </a:ln>
        </p:spPr>
      </p:pic>
      <p:pic>
        <p:nvPicPr>
          <p:cNvPr id="184" name="Picture 53" descr="fig1303p.gif"/>
          <p:cNvPicPr/>
          <p:nvPr/>
        </p:nvPicPr>
        <p:blipFill>
          <a:blip r:embed="rId16"/>
          <a:stretch/>
        </p:blipFill>
        <p:spPr>
          <a:xfrm>
            <a:off x="3995640" y="1260360"/>
            <a:ext cx="4352400" cy="5365440"/>
          </a:xfrm>
          <a:prstGeom prst="rect">
            <a:avLst/>
          </a:prstGeom>
          <a:noFill/>
          <a:ln w="0">
            <a:noFill/>
          </a:ln>
        </p:spPr>
      </p:pic>
      <p:pic>
        <p:nvPicPr>
          <p:cNvPr id="185" name="Picture 54" descr="fig1303q.gif"/>
          <p:cNvPicPr/>
          <p:nvPr/>
        </p:nvPicPr>
        <p:blipFill>
          <a:blip r:embed="rId17"/>
          <a:stretch/>
        </p:blipFill>
        <p:spPr>
          <a:xfrm>
            <a:off x="3995640" y="1260360"/>
            <a:ext cx="4352400" cy="5365440"/>
          </a:xfrm>
          <a:prstGeom prst="rect">
            <a:avLst/>
          </a:prstGeom>
          <a:noFill/>
          <a:ln w="0">
            <a:noFill/>
          </a:ln>
        </p:spPr>
      </p:pic>
      <p:pic>
        <p:nvPicPr>
          <p:cNvPr id="186" name="Picture 55" descr="fig1303r.gif"/>
          <p:cNvPicPr/>
          <p:nvPr/>
        </p:nvPicPr>
        <p:blipFill>
          <a:blip r:embed="rId18"/>
          <a:stretch/>
        </p:blipFill>
        <p:spPr>
          <a:xfrm>
            <a:off x="3995640" y="1260360"/>
            <a:ext cx="4352400" cy="5365440"/>
          </a:xfrm>
          <a:prstGeom prst="rect">
            <a:avLst/>
          </a:prstGeom>
          <a:noFill/>
          <a:ln w="0">
            <a:noFill/>
          </a:ln>
        </p:spPr>
      </p:pic>
      <p:sp>
        <p:nvSpPr>
          <p:cNvPr id="187" name="PlaceHolder 2"/>
          <p:cNvSpPr>
            <a:spLocks noGrp="1"/>
          </p:cNvSpPr>
          <p:nvPr>
            <p:ph/>
          </p:nvPr>
        </p:nvSpPr>
        <p:spPr>
          <a:xfrm>
            <a:off x="360360" y="1440000"/>
            <a:ext cx="47448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calculates marginal product and the orange bars in part (b) illustrate it.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Notice that the steeper the slope of the </a:t>
            </a:r>
            <a:r>
              <a:rPr b="0" i="1" lang="en-US" sz="2400" strike="noStrike" u="none">
                <a:solidFill>
                  <a:srgbClr val="000000"/>
                </a:solidFill>
                <a:effectLst/>
                <a:uFillTx/>
                <a:latin typeface="Arial"/>
                <a:ea typeface="ＭＳ Ｐゴシック"/>
              </a:rPr>
              <a:t>TP</a:t>
            </a:r>
            <a:r>
              <a:rPr b="0" lang="en-US" sz="2400" strike="noStrike" u="none">
                <a:solidFill>
                  <a:srgbClr val="000000"/>
                </a:solidFill>
                <a:effectLst/>
                <a:uFillTx/>
                <a:latin typeface="Arial"/>
                <a:ea typeface="ＭＳ Ｐゴシック"/>
              </a:rPr>
              <a:t> curve, the greater is marginal product.</a:t>
            </a:r>
            <a:endParaRPr b="1" lang="en-CA" sz="2400" strike="noStrike" u="none">
              <a:solidFill>
                <a:srgbClr val="00468f"/>
              </a:solidFill>
              <a:effectLst/>
              <a:uFillTx/>
              <a:latin typeface="Arial"/>
            </a:endParaRPr>
          </a:p>
        </p:txBody>
      </p:sp>
    </p:spTree>
  </p:cSld>
  <p:transition spd="slow">
    <p:wipe dir="r"/>
  </p:transition>
  <p:timing>
    <p:tnLst>
      <p:par>
        <p:cTn id="565" dur="indefinite" restart="never" nodeType="tmRoot">
          <p:childTnLst>
            <p:seq>
              <p:cTn id="566" dur="indefinite" nodeType="mainSeq">
                <p:childTnLst>
                  <p:par>
                    <p:cTn id="567" nodeType="clickEffect" fill="hold">
                      <p:stCondLst>
                        <p:cond delay="0"/>
                      </p:stCondLst>
                      <p:childTnLst>
                        <p:par>
                          <p:cTn id="568" nodeType="withEffect" fill="hold">
                            <p:stCondLst>
                              <p:cond delay="0"/>
                            </p:stCondLst>
                            <p:childTnLst>
                              <p:par>
                                <p:cTn id="569" nodeType="withEffect" fill="hold" presetClass="entr" presetID="10">
                                  <p:stCondLst>
                                    <p:cond delay="300"/>
                                  </p:stCondLst>
                                  <p:childTnLst>
                                    <p:set>
                                      <p:cBhvr>
                                        <p:cTn id="570" dur="1" fill="hold">
                                          <p:stCondLst>
                                            <p:cond delay="0"/>
                                          </p:stCondLst>
                                        </p:cTn>
                                        <p:tgtEl>
                                          <p:spTgt spid="179"/>
                                        </p:tgtEl>
                                        <p:attrNameLst>
                                          <p:attrName>style.visibility</p:attrName>
                                        </p:attrNameLst>
                                      </p:cBhvr>
                                      <p:to>
                                        <p:strVal val="visible"/>
                                      </p:to>
                                    </p:set>
                                    <p:animEffect filter="fade" transition="in">
                                      <p:cBhvr additive="repl">
                                        <p:cTn id="571" dur="500"/>
                                        <p:tgtEl>
                                          <p:spTgt spid="179"/>
                                        </p:tgtEl>
                                      </p:cBhvr>
                                    </p:animEffect>
                                  </p:childTnLst>
                                </p:cTn>
                              </p:par>
                              <p:par>
                                <p:cTn id="572" nodeType="withEffect" fill="hold" presetClass="entr" presetID="10">
                                  <p:stCondLst>
                                    <p:cond delay="700"/>
                                  </p:stCondLst>
                                  <p:childTnLst>
                                    <p:set>
                                      <p:cBhvr>
                                        <p:cTn id="573" dur="1" fill="hold">
                                          <p:stCondLst>
                                            <p:cond delay="0"/>
                                          </p:stCondLst>
                                        </p:cTn>
                                        <p:tgtEl>
                                          <p:spTgt spid="180"/>
                                        </p:tgtEl>
                                        <p:attrNameLst>
                                          <p:attrName>style.visibility</p:attrName>
                                        </p:attrNameLst>
                                      </p:cBhvr>
                                      <p:to>
                                        <p:strVal val="visible"/>
                                      </p:to>
                                    </p:set>
                                    <p:animEffect filter="fade" transition="in">
                                      <p:cBhvr additive="repl">
                                        <p:cTn id="574" dur="500"/>
                                        <p:tgtEl>
                                          <p:spTgt spid="180"/>
                                        </p:tgtEl>
                                      </p:cBhvr>
                                    </p:animEffect>
                                  </p:childTnLst>
                                </p:cTn>
                              </p:par>
                              <p:par>
                                <p:cTn id="575" nodeType="withEffect" fill="hold" presetClass="entr" presetID="10">
                                  <p:stCondLst>
                                    <p:cond delay="1000"/>
                                  </p:stCondLst>
                                  <p:childTnLst>
                                    <p:set>
                                      <p:cBhvr>
                                        <p:cTn id="576" dur="1" fill="hold">
                                          <p:stCondLst>
                                            <p:cond delay="0"/>
                                          </p:stCondLst>
                                        </p:cTn>
                                        <p:tgtEl>
                                          <p:spTgt spid="181"/>
                                        </p:tgtEl>
                                        <p:attrNameLst>
                                          <p:attrName>style.visibility</p:attrName>
                                        </p:attrNameLst>
                                      </p:cBhvr>
                                      <p:to>
                                        <p:strVal val="visible"/>
                                      </p:to>
                                    </p:set>
                                    <p:animEffect filter="fade" transition="in">
                                      <p:cBhvr additive="repl">
                                        <p:cTn id="577" dur="500"/>
                                        <p:tgtEl>
                                          <p:spTgt spid="181"/>
                                        </p:tgtEl>
                                      </p:cBhvr>
                                    </p:animEffect>
                                  </p:childTnLst>
                                </p:cTn>
                              </p:par>
                              <p:par>
                                <p:cTn id="578" nodeType="withEffect" fill="hold" presetClass="entr" presetID="10">
                                  <p:stCondLst>
                                    <p:cond delay="1400"/>
                                  </p:stCondLst>
                                  <p:childTnLst>
                                    <p:set>
                                      <p:cBhvr>
                                        <p:cTn id="579" dur="1" fill="hold">
                                          <p:stCondLst>
                                            <p:cond delay="0"/>
                                          </p:stCondLst>
                                        </p:cTn>
                                        <p:tgtEl>
                                          <p:spTgt spid="182"/>
                                        </p:tgtEl>
                                        <p:attrNameLst>
                                          <p:attrName>style.visibility</p:attrName>
                                        </p:attrNameLst>
                                      </p:cBhvr>
                                      <p:to>
                                        <p:strVal val="visible"/>
                                      </p:to>
                                    </p:set>
                                    <p:animEffect filter="fade" transition="in">
                                      <p:cBhvr additive="repl">
                                        <p:cTn id="580" dur="500"/>
                                        <p:tgtEl>
                                          <p:spTgt spid="182"/>
                                        </p:tgtEl>
                                      </p:cBhvr>
                                    </p:animEffect>
                                  </p:childTnLst>
                                </p:cTn>
                              </p:par>
                              <p:par>
                                <p:cTn id="581" nodeType="withEffect" fill="hold" presetClass="entr" presetID="10">
                                  <p:stCondLst>
                                    <p:cond delay="1800"/>
                                  </p:stCondLst>
                                  <p:childTnLst>
                                    <p:set>
                                      <p:cBhvr>
                                        <p:cTn id="582" dur="1" fill="hold">
                                          <p:stCondLst>
                                            <p:cond delay="0"/>
                                          </p:stCondLst>
                                        </p:cTn>
                                        <p:tgtEl>
                                          <p:spTgt spid="183"/>
                                        </p:tgtEl>
                                        <p:attrNameLst>
                                          <p:attrName>style.visibility</p:attrName>
                                        </p:attrNameLst>
                                      </p:cBhvr>
                                      <p:to>
                                        <p:strVal val="visible"/>
                                      </p:to>
                                    </p:set>
                                    <p:animEffect filter="fade" transition="in">
                                      <p:cBhvr additive="repl">
                                        <p:cTn id="583" dur="500"/>
                                        <p:tgtEl>
                                          <p:spTgt spid="183"/>
                                        </p:tgtEl>
                                      </p:cBhvr>
                                    </p:animEffect>
                                  </p:childTnLst>
                                </p:cTn>
                              </p:par>
                              <p:par>
                                <p:cTn id="584" nodeType="withEffect" fill="hold" presetClass="entr" presetID="10">
                                  <p:stCondLst>
                                    <p:cond delay="2200"/>
                                  </p:stCondLst>
                                  <p:childTnLst>
                                    <p:set>
                                      <p:cBhvr>
                                        <p:cTn id="585" dur="1" fill="hold">
                                          <p:stCondLst>
                                            <p:cond delay="0"/>
                                          </p:stCondLst>
                                        </p:cTn>
                                        <p:tgtEl>
                                          <p:spTgt spid="184"/>
                                        </p:tgtEl>
                                        <p:attrNameLst>
                                          <p:attrName>style.visibility</p:attrName>
                                        </p:attrNameLst>
                                      </p:cBhvr>
                                      <p:to>
                                        <p:strVal val="visible"/>
                                      </p:to>
                                    </p:set>
                                    <p:animEffect filter="fade" transition="in">
                                      <p:cBhvr additive="repl">
                                        <p:cTn id="586" dur="500"/>
                                        <p:tgtEl>
                                          <p:spTgt spid="184"/>
                                        </p:tgtEl>
                                      </p:cBhvr>
                                    </p:animEffect>
                                  </p:childTnLst>
                                </p:cTn>
                              </p:par>
                              <p:par>
                                <p:cTn id="587" nodeType="withEffect" fill="hold" presetClass="entr" presetID="10">
                                  <p:stCondLst>
                                    <p:cond delay="2600"/>
                                  </p:stCondLst>
                                  <p:childTnLst>
                                    <p:set>
                                      <p:cBhvr>
                                        <p:cTn id="588" dur="1" fill="hold">
                                          <p:stCondLst>
                                            <p:cond delay="0"/>
                                          </p:stCondLst>
                                        </p:cTn>
                                        <p:tgtEl>
                                          <p:spTgt spid="185"/>
                                        </p:tgtEl>
                                        <p:attrNameLst>
                                          <p:attrName>style.visibility</p:attrName>
                                        </p:attrNameLst>
                                      </p:cBhvr>
                                      <p:to>
                                        <p:strVal val="visible"/>
                                      </p:to>
                                    </p:set>
                                    <p:animEffect filter="fade" transition="in">
                                      <p:cBhvr additive="repl">
                                        <p:cTn id="589" dur="500"/>
                                        <p:tgtEl>
                                          <p:spTgt spid="185"/>
                                        </p:tgtEl>
                                      </p:cBhvr>
                                    </p:animEffect>
                                  </p:childTnLst>
                                </p:cTn>
                              </p:par>
                              <p:par>
                                <p:cTn id="590" nodeType="withEffect" fill="hold" presetClass="entr" presetID="22" presetSubtype="8">
                                  <p:stCondLst>
                                    <p:cond delay="3200"/>
                                  </p:stCondLst>
                                  <p:childTnLst>
                                    <p:set>
                                      <p:cBhvr>
                                        <p:cTn id="591" dur="1" fill="hold">
                                          <p:stCondLst>
                                            <p:cond delay="0"/>
                                          </p:stCondLst>
                                        </p:cTn>
                                        <p:tgtEl>
                                          <p:spTgt spid="186"/>
                                        </p:tgtEl>
                                        <p:attrNameLst>
                                          <p:attrName>style.visibility</p:attrName>
                                        </p:attrNameLst>
                                      </p:cBhvr>
                                      <p:to>
                                        <p:strVal val="visible"/>
                                      </p:to>
                                    </p:set>
                                    <p:animEffect filter="wipe(left)" transition="in">
                                      <p:cBhvr additive="repl">
                                        <p:cTn id="592" dur="1000"/>
                                        <p:tgtEl>
                                          <p:spTgt spid="186"/>
                                        </p:tgtEl>
                                      </p:cBhvr>
                                    </p:animEffect>
                                  </p:childTnLst>
                                </p:cTn>
                              </p:par>
                            </p:childTnLst>
                          </p:cTn>
                        </p:par>
                      </p:childTnLst>
                    </p:cTn>
                  </p:par>
                  <p:par>
                    <p:cTn id="593" nodeType="clickEffect" fill="hold">
                      <p:stCondLst>
                        <p:cond delay="indefinite"/>
                      </p:stCondLst>
                      <p:childTnLst>
                        <p:par>
                          <p:cTn id="594" nodeType="withEffect" fill="hold">
                            <p:stCondLst>
                              <p:cond delay="0"/>
                            </p:stCondLst>
                            <p:childTnLst>
                              <p:par>
                                <p:cTn id="595" nodeType="clickEffect" fill="hold" presetClass="entr" presetID="22" presetSubtype="8">
                                  <p:stCondLst>
                                    <p:cond delay="0"/>
                                  </p:stCondLst>
                                  <p:childTnLst>
                                    <p:set>
                                      <p:cBhvr>
                                        <p:cTn id="596" dur="1" fill="hold">
                                          <p:stCondLst>
                                            <p:cond delay="0"/>
                                          </p:stCondLst>
                                        </p:cTn>
                                        <p:tgtEl>
                                          <p:spTgt spid="187">
                                            <p:txEl>
                                              <p:pRg st="1" end="1"/>
                                            </p:txEl>
                                          </p:spTgt>
                                        </p:tgtEl>
                                        <p:attrNameLst>
                                          <p:attrName>style.visibility</p:attrName>
                                        </p:attrNameLst>
                                      </p:cBhvr>
                                      <p:to>
                                        <p:strVal val="visible"/>
                                      </p:to>
                                    </p:set>
                                    <p:animEffect filter="wipe(left)" transition="in">
                                      <p:cBhvr additive="repl">
                                        <p:cTn id="597" dur="500"/>
                                        <p:tgtEl>
                                          <p:spTgt spid="18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Picture 38" descr="fig1303a.gif"/>
          <p:cNvPicPr/>
          <p:nvPr/>
        </p:nvPicPr>
        <p:blipFill>
          <a:blip r:embed="rId1"/>
          <a:stretch/>
        </p:blipFill>
        <p:spPr>
          <a:xfrm>
            <a:off x="3995640" y="1260360"/>
            <a:ext cx="4352400" cy="5365440"/>
          </a:xfrm>
          <a:prstGeom prst="rect">
            <a:avLst/>
          </a:prstGeom>
          <a:noFill/>
          <a:ln w="0">
            <a:noFill/>
          </a:ln>
        </p:spPr>
      </p:pic>
      <p:pic>
        <p:nvPicPr>
          <p:cNvPr id="189" name="Picture 39" descr="fig1303b.gif"/>
          <p:cNvPicPr/>
          <p:nvPr/>
        </p:nvPicPr>
        <p:blipFill>
          <a:blip r:embed="rId2"/>
          <a:stretch/>
        </p:blipFill>
        <p:spPr>
          <a:xfrm>
            <a:off x="3995640" y="1260360"/>
            <a:ext cx="4352400" cy="5365440"/>
          </a:xfrm>
          <a:prstGeom prst="rect">
            <a:avLst/>
          </a:prstGeom>
          <a:noFill/>
          <a:ln w="0">
            <a:noFill/>
          </a:ln>
        </p:spPr>
      </p:pic>
      <p:pic>
        <p:nvPicPr>
          <p:cNvPr id="190" name="Picture 40" descr="fig1303c.gif"/>
          <p:cNvPicPr/>
          <p:nvPr/>
        </p:nvPicPr>
        <p:blipFill>
          <a:blip r:embed="rId3"/>
          <a:stretch/>
        </p:blipFill>
        <p:spPr>
          <a:xfrm>
            <a:off x="3995640" y="1260360"/>
            <a:ext cx="4352400" cy="5365440"/>
          </a:xfrm>
          <a:prstGeom prst="rect">
            <a:avLst/>
          </a:prstGeom>
          <a:noFill/>
          <a:ln w="0">
            <a:noFill/>
          </a:ln>
        </p:spPr>
      </p:pic>
      <p:pic>
        <p:nvPicPr>
          <p:cNvPr id="191" name="Picture 41" descr="fig1303d.gif"/>
          <p:cNvPicPr/>
          <p:nvPr/>
        </p:nvPicPr>
        <p:blipFill>
          <a:blip r:embed="rId4"/>
          <a:stretch/>
        </p:blipFill>
        <p:spPr>
          <a:xfrm>
            <a:off x="3995640" y="1260360"/>
            <a:ext cx="4352400" cy="5365440"/>
          </a:xfrm>
          <a:prstGeom prst="rect">
            <a:avLst/>
          </a:prstGeom>
          <a:noFill/>
          <a:ln w="0">
            <a:noFill/>
          </a:ln>
        </p:spPr>
      </p:pic>
      <p:pic>
        <p:nvPicPr>
          <p:cNvPr id="192" name="Picture 42" descr="fig1303e.gif"/>
          <p:cNvPicPr/>
          <p:nvPr/>
        </p:nvPicPr>
        <p:blipFill>
          <a:blip r:embed="rId5"/>
          <a:stretch/>
        </p:blipFill>
        <p:spPr>
          <a:xfrm>
            <a:off x="3995640" y="1260360"/>
            <a:ext cx="4352400" cy="5365440"/>
          </a:xfrm>
          <a:prstGeom prst="rect">
            <a:avLst/>
          </a:prstGeom>
          <a:noFill/>
          <a:ln w="0">
            <a:noFill/>
          </a:ln>
        </p:spPr>
      </p:pic>
      <p:pic>
        <p:nvPicPr>
          <p:cNvPr id="193" name="Picture 43" descr="fig1303f.gif"/>
          <p:cNvPicPr/>
          <p:nvPr/>
        </p:nvPicPr>
        <p:blipFill>
          <a:blip r:embed="rId6"/>
          <a:stretch/>
        </p:blipFill>
        <p:spPr>
          <a:xfrm>
            <a:off x="3995640" y="1260360"/>
            <a:ext cx="4352400" cy="5365440"/>
          </a:xfrm>
          <a:prstGeom prst="rect">
            <a:avLst/>
          </a:prstGeom>
          <a:noFill/>
          <a:ln w="0">
            <a:noFill/>
          </a:ln>
        </p:spPr>
      </p:pic>
      <p:pic>
        <p:nvPicPr>
          <p:cNvPr id="194" name="Picture 44" descr="fig1303g.gif"/>
          <p:cNvPicPr/>
          <p:nvPr/>
        </p:nvPicPr>
        <p:blipFill>
          <a:blip r:embed="rId7"/>
          <a:stretch/>
        </p:blipFill>
        <p:spPr>
          <a:xfrm>
            <a:off x="3995640" y="1260360"/>
            <a:ext cx="4352400" cy="5365440"/>
          </a:xfrm>
          <a:prstGeom prst="rect">
            <a:avLst/>
          </a:prstGeom>
          <a:noFill/>
          <a:ln w="0">
            <a:noFill/>
          </a:ln>
        </p:spPr>
      </p:pic>
      <p:pic>
        <p:nvPicPr>
          <p:cNvPr id="195" name="Picture 45" descr="fig1303h.gif"/>
          <p:cNvPicPr/>
          <p:nvPr/>
        </p:nvPicPr>
        <p:blipFill>
          <a:blip r:embed="rId8"/>
          <a:stretch/>
        </p:blipFill>
        <p:spPr>
          <a:xfrm>
            <a:off x="3995640" y="1260360"/>
            <a:ext cx="4352400" cy="5365440"/>
          </a:xfrm>
          <a:prstGeom prst="rect">
            <a:avLst/>
          </a:prstGeom>
          <a:noFill/>
          <a:ln w="0">
            <a:noFill/>
          </a:ln>
        </p:spPr>
      </p:pic>
      <p:pic>
        <p:nvPicPr>
          <p:cNvPr id="196" name="Picture 46" descr="fig1303i.gif"/>
          <p:cNvPicPr/>
          <p:nvPr/>
        </p:nvPicPr>
        <p:blipFill>
          <a:blip r:embed="rId9"/>
          <a:stretch/>
        </p:blipFill>
        <p:spPr>
          <a:xfrm>
            <a:off x="3995640" y="1260360"/>
            <a:ext cx="4352400" cy="5365440"/>
          </a:xfrm>
          <a:prstGeom prst="rect">
            <a:avLst/>
          </a:prstGeom>
          <a:noFill/>
          <a:ln w="0">
            <a:noFill/>
          </a:ln>
        </p:spPr>
      </p:pic>
      <p:pic>
        <p:nvPicPr>
          <p:cNvPr id="197" name="Picture 47" descr="fig1303j.gif"/>
          <p:cNvPicPr/>
          <p:nvPr/>
        </p:nvPicPr>
        <p:blipFill>
          <a:blip r:embed="rId10"/>
          <a:stretch/>
        </p:blipFill>
        <p:spPr>
          <a:xfrm>
            <a:off x="3995640" y="1260360"/>
            <a:ext cx="4352400" cy="5365440"/>
          </a:xfrm>
          <a:prstGeom prst="rect">
            <a:avLst/>
          </a:prstGeom>
          <a:noFill/>
          <a:ln w="0">
            <a:noFill/>
          </a:ln>
        </p:spPr>
      </p:pic>
      <p:pic>
        <p:nvPicPr>
          <p:cNvPr id="198" name="Picture 48" descr="fig1303k.gif"/>
          <p:cNvPicPr/>
          <p:nvPr/>
        </p:nvPicPr>
        <p:blipFill>
          <a:blip r:embed="rId11"/>
          <a:stretch/>
        </p:blipFill>
        <p:spPr>
          <a:xfrm>
            <a:off x="3995640" y="1260360"/>
            <a:ext cx="4352400" cy="5365440"/>
          </a:xfrm>
          <a:prstGeom prst="rect">
            <a:avLst/>
          </a:prstGeom>
          <a:noFill/>
          <a:ln w="0">
            <a:noFill/>
          </a:ln>
        </p:spPr>
      </p:pic>
      <p:pic>
        <p:nvPicPr>
          <p:cNvPr id="199" name="Picture 49" descr="fig1303l.gif"/>
          <p:cNvPicPr/>
          <p:nvPr/>
        </p:nvPicPr>
        <p:blipFill>
          <a:blip r:embed="rId12"/>
          <a:stretch/>
        </p:blipFill>
        <p:spPr>
          <a:xfrm>
            <a:off x="3995640" y="1260360"/>
            <a:ext cx="4352400" cy="5365440"/>
          </a:xfrm>
          <a:prstGeom prst="rect">
            <a:avLst/>
          </a:prstGeom>
          <a:noFill/>
          <a:ln w="0">
            <a:noFill/>
          </a:ln>
        </p:spPr>
      </p:pic>
      <p:pic>
        <p:nvPicPr>
          <p:cNvPr id="200" name="Picture 50" descr="fig1303m.gif"/>
          <p:cNvPicPr/>
          <p:nvPr/>
        </p:nvPicPr>
        <p:blipFill>
          <a:blip r:embed="rId13"/>
          <a:stretch/>
        </p:blipFill>
        <p:spPr>
          <a:xfrm>
            <a:off x="3995640" y="1260360"/>
            <a:ext cx="4352400" cy="5365440"/>
          </a:xfrm>
          <a:prstGeom prst="rect">
            <a:avLst/>
          </a:prstGeom>
          <a:noFill/>
          <a:ln w="0">
            <a:noFill/>
          </a:ln>
        </p:spPr>
      </p:pic>
      <p:pic>
        <p:nvPicPr>
          <p:cNvPr id="201" name="Picture 51" descr="fig1303n.gif"/>
          <p:cNvPicPr/>
          <p:nvPr/>
        </p:nvPicPr>
        <p:blipFill>
          <a:blip r:embed="rId14"/>
          <a:stretch/>
        </p:blipFill>
        <p:spPr>
          <a:xfrm>
            <a:off x="3995640" y="1260360"/>
            <a:ext cx="4352400" cy="5365440"/>
          </a:xfrm>
          <a:prstGeom prst="rect">
            <a:avLst/>
          </a:prstGeom>
          <a:noFill/>
          <a:ln w="0">
            <a:noFill/>
          </a:ln>
        </p:spPr>
      </p:pic>
      <p:pic>
        <p:nvPicPr>
          <p:cNvPr id="202" name="Picture 52" descr="fig1303o.gif"/>
          <p:cNvPicPr/>
          <p:nvPr/>
        </p:nvPicPr>
        <p:blipFill>
          <a:blip r:embed="rId15"/>
          <a:stretch/>
        </p:blipFill>
        <p:spPr>
          <a:xfrm>
            <a:off x="3995640" y="1260360"/>
            <a:ext cx="4352400" cy="5365440"/>
          </a:xfrm>
          <a:prstGeom prst="rect">
            <a:avLst/>
          </a:prstGeom>
          <a:noFill/>
          <a:ln w="0">
            <a:noFill/>
          </a:ln>
        </p:spPr>
      </p:pic>
      <p:pic>
        <p:nvPicPr>
          <p:cNvPr id="203" name="Picture 53" descr="fig1303p.gif"/>
          <p:cNvPicPr/>
          <p:nvPr/>
        </p:nvPicPr>
        <p:blipFill>
          <a:blip r:embed="rId16"/>
          <a:stretch/>
        </p:blipFill>
        <p:spPr>
          <a:xfrm>
            <a:off x="3995640" y="1260360"/>
            <a:ext cx="4352400" cy="5365440"/>
          </a:xfrm>
          <a:prstGeom prst="rect">
            <a:avLst/>
          </a:prstGeom>
          <a:noFill/>
          <a:ln w="0">
            <a:noFill/>
          </a:ln>
        </p:spPr>
      </p:pic>
      <p:pic>
        <p:nvPicPr>
          <p:cNvPr id="204" name="Picture 54" descr="fig1303q.gif"/>
          <p:cNvPicPr/>
          <p:nvPr/>
        </p:nvPicPr>
        <p:blipFill>
          <a:blip r:embed="rId17"/>
          <a:stretch/>
        </p:blipFill>
        <p:spPr>
          <a:xfrm>
            <a:off x="3995640" y="1260360"/>
            <a:ext cx="4352400" cy="5365440"/>
          </a:xfrm>
          <a:prstGeom prst="rect">
            <a:avLst/>
          </a:prstGeom>
          <a:noFill/>
          <a:ln w="0">
            <a:noFill/>
          </a:ln>
        </p:spPr>
      </p:pic>
      <p:pic>
        <p:nvPicPr>
          <p:cNvPr id="205" name="Picture 55" descr="fig1303r.gif"/>
          <p:cNvPicPr/>
          <p:nvPr/>
        </p:nvPicPr>
        <p:blipFill>
          <a:blip r:embed="rId18"/>
          <a:stretch/>
        </p:blipFill>
        <p:spPr>
          <a:xfrm>
            <a:off x="3995640" y="1260360"/>
            <a:ext cx="4352400" cy="5365440"/>
          </a:xfrm>
          <a:prstGeom prst="rect">
            <a:avLst/>
          </a:prstGeom>
          <a:noFill/>
          <a:ln w="0">
            <a:noFill/>
          </a:ln>
        </p:spPr>
      </p:pic>
      <p:pic>
        <p:nvPicPr>
          <p:cNvPr id="206" name="Picture 56" descr="fig1303s.gif"/>
          <p:cNvPicPr/>
          <p:nvPr/>
        </p:nvPicPr>
        <p:blipFill>
          <a:blip r:embed="rId19"/>
          <a:stretch/>
        </p:blipFill>
        <p:spPr>
          <a:xfrm>
            <a:off x="3995640" y="1260360"/>
            <a:ext cx="4352400" cy="5365440"/>
          </a:xfrm>
          <a:prstGeom prst="rect">
            <a:avLst/>
          </a:prstGeom>
          <a:noFill/>
          <a:ln w="0">
            <a:noFill/>
          </a:ln>
        </p:spPr>
      </p:pic>
      <p:pic>
        <p:nvPicPr>
          <p:cNvPr id="207" name="Picture 57" descr="fig1303t.gif"/>
          <p:cNvPicPr/>
          <p:nvPr/>
        </p:nvPicPr>
        <p:blipFill>
          <a:blip r:embed="rId20"/>
          <a:stretch/>
        </p:blipFill>
        <p:spPr>
          <a:xfrm>
            <a:off x="3995640" y="1260360"/>
            <a:ext cx="4352400" cy="5365440"/>
          </a:xfrm>
          <a:prstGeom prst="rect">
            <a:avLst/>
          </a:prstGeom>
          <a:noFill/>
          <a:ln w="0">
            <a:noFill/>
          </a:ln>
        </p:spPr>
      </p:pic>
      <p:pic>
        <p:nvPicPr>
          <p:cNvPr id="208" name="Picture 58" descr="fig1303u.gif"/>
          <p:cNvPicPr/>
          <p:nvPr/>
        </p:nvPicPr>
        <p:blipFill>
          <a:blip r:embed="rId21"/>
          <a:stretch/>
        </p:blipFill>
        <p:spPr>
          <a:xfrm>
            <a:off x="3995640" y="1260360"/>
            <a:ext cx="4352400" cy="5365440"/>
          </a:xfrm>
          <a:prstGeom prst="rect">
            <a:avLst/>
          </a:prstGeom>
          <a:noFill/>
          <a:ln w="0">
            <a:noFill/>
          </a:ln>
        </p:spPr>
      </p:pic>
      <p:sp>
        <p:nvSpPr>
          <p:cNvPr id="20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10" name="PlaceHolder 2"/>
          <p:cNvSpPr>
            <a:spLocks noGrp="1"/>
          </p:cNvSpPr>
          <p:nvPr>
            <p:ph/>
          </p:nvPr>
        </p:nvSpPr>
        <p:spPr>
          <a:xfrm>
            <a:off x="360360" y="1440000"/>
            <a:ext cx="4668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total product and marginal product curves in this figure incorporate a feature of all production processes:</a:t>
            </a:r>
            <a:endParaRPr b="1" lang="en-CA" sz="2400" strike="noStrike" u="none">
              <a:solidFill>
                <a:srgbClr val="00468f"/>
              </a:solidFill>
              <a:effectLst/>
              <a:uFillTx/>
              <a:latin typeface="Arial"/>
            </a:endParaRPr>
          </a:p>
          <a:p>
            <a:pPr lvl="1"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Increasing marginal returns initially</a:t>
            </a:r>
            <a:endParaRPr b="0" lang="en-CA" sz="2400" strike="noStrike" u="none">
              <a:solidFill>
                <a:schemeClr val="dk1"/>
              </a:solidFill>
              <a:effectLst/>
              <a:uFillTx/>
              <a:latin typeface="Arial"/>
            </a:endParaRPr>
          </a:p>
          <a:p>
            <a:pPr lvl="1"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Decreasing marginal returns eventually</a:t>
            </a:r>
            <a:endParaRPr b="0" lang="en-CA" sz="2400" strike="noStrike" u="none">
              <a:solidFill>
                <a:schemeClr val="dk1"/>
              </a:solidFill>
              <a:effectLst/>
              <a:uFillTx/>
              <a:latin typeface="Arial"/>
            </a:endParaRPr>
          </a:p>
          <a:p>
            <a:pPr lvl="1" marL="703080" indent="-343080">
              <a:lnSpc>
                <a:spcPct val="100000"/>
              </a:lnSpc>
              <a:spcBef>
                <a:spcPts val="601"/>
              </a:spcBef>
              <a:spcAft>
                <a:spcPts val="601"/>
              </a:spcAft>
              <a:buClr>
                <a:srgbClr val="00468f"/>
              </a:buClr>
              <a:buFont typeface="Arial"/>
              <a:buChar char="•"/>
              <a:tabLst>
                <a:tab algn="l" pos="0"/>
              </a:tabLst>
            </a:pPr>
            <a:r>
              <a:rPr b="0" lang="en-US" sz="2400" strike="noStrike" u="none">
                <a:solidFill>
                  <a:schemeClr val="dk1"/>
                </a:solidFill>
                <a:effectLst/>
                <a:uFillTx/>
                <a:latin typeface="Arial"/>
                <a:ea typeface="ＭＳ Ｐゴシック"/>
              </a:rPr>
              <a:t>Negative marginal returns</a:t>
            </a:r>
            <a:endParaRPr b="0" lang="en-CA" sz="2400" strike="noStrike" u="none">
              <a:solidFill>
                <a:schemeClr val="dk1"/>
              </a:solidFill>
              <a:effectLst/>
              <a:uFillTx/>
              <a:latin typeface="Arial"/>
            </a:endParaRPr>
          </a:p>
        </p:txBody>
      </p:sp>
    </p:spTree>
  </p:cSld>
  <p:transition spd="slow">
    <p:wipe dir="r"/>
  </p:transition>
  <p:timing>
    <p:tnLst>
      <p:par>
        <p:cTn id="598" dur="indefinite" restart="never" nodeType="tmRoot">
          <p:childTnLst>
            <p:seq>
              <p:cTn id="599" dur="indefinite" nodeType="mainSeq">
                <p:childTnLst>
                  <p:par>
                    <p:cTn id="600" nodeType="clickEffect" fill="hold">
                      <p:stCondLst>
                        <p:cond delay="indefinite"/>
                      </p:stCondLst>
                      <p:childTnLst>
                        <p:par>
                          <p:cTn id="601" nodeType="withEffect" fill="hold">
                            <p:stCondLst>
                              <p:cond delay="0"/>
                            </p:stCondLst>
                            <p:childTnLst>
                              <p:par>
                                <p:cTn id="602" nodeType="clickEffect" fill="hold" presetClass="entr" presetID="22" presetSubtype="8">
                                  <p:stCondLst>
                                    <p:cond delay="0"/>
                                  </p:stCondLst>
                                  <p:childTnLst>
                                    <p:set>
                                      <p:cBhvr>
                                        <p:cTn id="603" dur="1" fill="hold">
                                          <p:stCondLst>
                                            <p:cond delay="0"/>
                                          </p:stCondLst>
                                        </p:cTn>
                                        <p:tgtEl>
                                          <p:spTgt spid="210">
                                            <p:txEl>
                                              <p:pRg st="1" end="1"/>
                                            </p:txEl>
                                          </p:spTgt>
                                        </p:tgtEl>
                                        <p:attrNameLst>
                                          <p:attrName>style.visibility</p:attrName>
                                        </p:attrNameLst>
                                      </p:cBhvr>
                                      <p:to>
                                        <p:strVal val="visible"/>
                                      </p:to>
                                    </p:set>
                                    <p:animEffect filter="wipe(left)" transition="in">
                                      <p:cBhvr additive="repl">
                                        <p:cTn id="604" dur="500"/>
                                        <p:tgtEl>
                                          <p:spTgt spid="210">
                                            <p:txEl>
                                              <p:pRg st="1" end="1"/>
                                            </p:txEl>
                                          </p:spTgt>
                                        </p:tgtEl>
                                      </p:cBhvr>
                                    </p:animEffect>
                                  </p:childTnLst>
                                </p:cTn>
                              </p:par>
                              <p:par>
                                <p:cTn id="605" nodeType="withEffect" fill="hold" presetClass="entr" presetID="10">
                                  <p:stCondLst>
                                    <p:cond delay="0"/>
                                  </p:stCondLst>
                                  <p:childTnLst>
                                    <p:set>
                                      <p:cBhvr>
                                        <p:cTn id="606" dur="1" fill="hold">
                                          <p:stCondLst>
                                            <p:cond delay="0"/>
                                          </p:stCondLst>
                                        </p:cTn>
                                        <p:tgtEl>
                                          <p:spTgt spid="206"/>
                                        </p:tgtEl>
                                        <p:attrNameLst>
                                          <p:attrName>style.visibility</p:attrName>
                                        </p:attrNameLst>
                                      </p:cBhvr>
                                      <p:to>
                                        <p:strVal val="visible"/>
                                      </p:to>
                                    </p:set>
                                    <p:animEffect filter="fade" transition="in">
                                      <p:cBhvr additive="repl">
                                        <p:cTn id="607" dur="500"/>
                                        <p:tgtEl>
                                          <p:spTgt spid="206"/>
                                        </p:tgtEl>
                                      </p:cBhvr>
                                    </p:animEffect>
                                  </p:childTnLst>
                                </p:cTn>
                              </p:par>
                            </p:childTnLst>
                          </p:cTn>
                        </p:par>
                      </p:childTnLst>
                    </p:cTn>
                  </p:par>
                  <p:par>
                    <p:cTn id="608" nodeType="clickEffect" fill="hold">
                      <p:stCondLst>
                        <p:cond delay="indefinite"/>
                      </p:stCondLst>
                      <p:childTnLst>
                        <p:par>
                          <p:cTn id="609" nodeType="withEffect" fill="hold">
                            <p:stCondLst>
                              <p:cond delay="0"/>
                            </p:stCondLst>
                            <p:childTnLst>
                              <p:par>
                                <p:cTn id="610" nodeType="clickEffect" fill="hold" presetClass="entr" presetID="22" presetSubtype="8">
                                  <p:stCondLst>
                                    <p:cond delay="0"/>
                                  </p:stCondLst>
                                  <p:childTnLst>
                                    <p:set>
                                      <p:cBhvr>
                                        <p:cTn id="611" dur="1" fill="hold">
                                          <p:stCondLst>
                                            <p:cond delay="0"/>
                                          </p:stCondLst>
                                        </p:cTn>
                                        <p:tgtEl>
                                          <p:spTgt spid="210">
                                            <p:txEl>
                                              <p:pRg st="2" end="2"/>
                                            </p:txEl>
                                          </p:spTgt>
                                        </p:tgtEl>
                                        <p:attrNameLst>
                                          <p:attrName>style.visibility</p:attrName>
                                        </p:attrNameLst>
                                      </p:cBhvr>
                                      <p:to>
                                        <p:strVal val="visible"/>
                                      </p:to>
                                    </p:set>
                                    <p:animEffect filter="wipe(left)" transition="in">
                                      <p:cBhvr additive="repl">
                                        <p:cTn id="612" dur="500"/>
                                        <p:tgtEl>
                                          <p:spTgt spid="210">
                                            <p:txEl>
                                              <p:pRg st="2" end="2"/>
                                            </p:txEl>
                                          </p:spTgt>
                                        </p:tgtEl>
                                      </p:cBhvr>
                                    </p:animEffect>
                                  </p:childTnLst>
                                </p:cTn>
                              </p:par>
                              <p:par>
                                <p:cTn id="613" nodeType="withEffect" fill="hold" presetClass="entr" presetID="10">
                                  <p:stCondLst>
                                    <p:cond delay="0"/>
                                  </p:stCondLst>
                                  <p:childTnLst>
                                    <p:set>
                                      <p:cBhvr>
                                        <p:cTn id="614" dur="1" fill="hold">
                                          <p:stCondLst>
                                            <p:cond delay="0"/>
                                          </p:stCondLst>
                                        </p:cTn>
                                        <p:tgtEl>
                                          <p:spTgt spid="207"/>
                                        </p:tgtEl>
                                        <p:attrNameLst>
                                          <p:attrName>style.visibility</p:attrName>
                                        </p:attrNameLst>
                                      </p:cBhvr>
                                      <p:to>
                                        <p:strVal val="visible"/>
                                      </p:to>
                                    </p:set>
                                    <p:animEffect filter="fade" transition="in">
                                      <p:cBhvr additive="repl">
                                        <p:cTn id="615" dur="500"/>
                                        <p:tgtEl>
                                          <p:spTgt spid="207"/>
                                        </p:tgtEl>
                                      </p:cBhvr>
                                    </p:animEffect>
                                  </p:childTnLst>
                                </p:cTn>
                              </p:par>
                            </p:childTnLst>
                          </p:cTn>
                        </p:par>
                      </p:childTnLst>
                    </p:cTn>
                  </p:par>
                  <p:par>
                    <p:cTn id="616" nodeType="clickEffect" fill="hold">
                      <p:stCondLst>
                        <p:cond delay="indefinite"/>
                      </p:stCondLst>
                      <p:childTnLst>
                        <p:par>
                          <p:cTn id="617" nodeType="withEffect" fill="hold">
                            <p:stCondLst>
                              <p:cond delay="0"/>
                            </p:stCondLst>
                            <p:childTnLst>
                              <p:par>
                                <p:cTn id="618" nodeType="clickEffect" fill="hold" presetClass="entr" presetID="22" presetSubtype="8">
                                  <p:stCondLst>
                                    <p:cond delay="0"/>
                                  </p:stCondLst>
                                  <p:childTnLst>
                                    <p:set>
                                      <p:cBhvr>
                                        <p:cTn id="619" dur="1" fill="hold">
                                          <p:stCondLst>
                                            <p:cond delay="0"/>
                                          </p:stCondLst>
                                        </p:cTn>
                                        <p:tgtEl>
                                          <p:spTgt spid="210">
                                            <p:txEl>
                                              <p:pRg st="3" end="3"/>
                                            </p:txEl>
                                          </p:spTgt>
                                        </p:tgtEl>
                                        <p:attrNameLst>
                                          <p:attrName>style.visibility</p:attrName>
                                        </p:attrNameLst>
                                      </p:cBhvr>
                                      <p:to>
                                        <p:strVal val="visible"/>
                                      </p:to>
                                    </p:set>
                                    <p:animEffect filter="wipe(left)" transition="in">
                                      <p:cBhvr additive="repl">
                                        <p:cTn id="620" dur="500"/>
                                        <p:tgtEl>
                                          <p:spTgt spid="210">
                                            <p:txEl>
                                              <p:pRg st="3" end="3"/>
                                            </p:txEl>
                                          </p:spTgt>
                                        </p:tgtEl>
                                      </p:cBhvr>
                                    </p:animEffect>
                                  </p:childTnLst>
                                </p:cTn>
                              </p:par>
                              <p:par>
                                <p:cTn id="621" nodeType="withEffect" fill="hold" presetClass="entr" presetID="10">
                                  <p:stCondLst>
                                    <p:cond delay="0"/>
                                  </p:stCondLst>
                                  <p:childTnLst>
                                    <p:set>
                                      <p:cBhvr>
                                        <p:cTn id="622" dur="1" fill="hold">
                                          <p:stCondLst>
                                            <p:cond delay="0"/>
                                          </p:stCondLst>
                                        </p:cTn>
                                        <p:tgtEl>
                                          <p:spTgt spid="208"/>
                                        </p:tgtEl>
                                        <p:attrNameLst>
                                          <p:attrName>style.visibility</p:attrName>
                                        </p:attrNameLst>
                                      </p:cBhvr>
                                      <p:to>
                                        <p:strVal val="visible"/>
                                      </p:to>
                                    </p:set>
                                    <p:animEffect filter="fade" transition="in">
                                      <p:cBhvr additive="repl">
                                        <p:cTn id="623" dur="5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1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gn="just">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Increasing Marginal Returns</a:t>
            </a:r>
            <a:r>
              <a:rPr b="0" lang="en-US" sz="2600" strike="noStrike" u="none">
                <a:solidFill>
                  <a:schemeClr val="dk1"/>
                </a:solidFill>
                <a:effectLst/>
                <a:uFillTx/>
                <a:latin typeface="Arial"/>
                <a:ea typeface="ＭＳ Ｐゴシック"/>
              </a:rPr>
              <a:t> </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Increasing marginal returns</a:t>
            </a:r>
            <a:r>
              <a:rPr b="1" lang="en-US" sz="2400" strike="noStrike" u="none">
                <a:solidFill>
                  <a:srgbClr val="00468f"/>
                </a:solidFill>
                <a:effectLst/>
                <a:uFillTx/>
                <a:latin typeface="Arial"/>
                <a:ea typeface="ＭＳ Ｐゴシック"/>
              </a:rPr>
              <a:t> </a:t>
            </a:r>
            <a:r>
              <a:rPr b="0" lang="en-US" sz="2400" strike="noStrike" u="none">
                <a:solidFill>
                  <a:schemeClr val="dk1"/>
                </a:solidFill>
                <a:effectLst/>
                <a:uFillTx/>
                <a:latin typeface="Arial"/>
                <a:ea typeface="ＭＳ Ｐゴシック"/>
              </a:rPr>
              <a:t>occur when the marginal product of an additional worker exceeds the marginal product of the previous worker.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Increasing marginal returns occur when a small number of workers are employed and arise from increased specialization and division of labor in the production process.</a:t>
            </a:r>
            <a:endParaRPr b="1" lang="en-CA" sz="2400" strike="noStrike" u="none">
              <a:solidFill>
                <a:srgbClr val="00468f"/>
              </a:solidFill>
              <a:effectLst/>
              <a:uFillTx/>
              <a:latin typeface="Arial"/>
            </a:endParaRPr>
          </a:p>
        </p:txBody>
      </p:sp>
    </p:spTree>
  </p:cSld>
  <p:transition spd="slow">
    <p:wipe dir="r"/>
  </p:transition>
  <p:timing>
    <p:tnLst>
      <p:par>
        <p:cTn id="624" dur="indefinite" restart="never" nodeType="tmRoot">
          <p:childTnLst>
            <p:seq>
              <p:cTn id="625" dur="indefinite" nodeType="mainSeq">
                <p:childTnLst>
                  <p:par>
                    <p:cTn id="626" nodeType="clickEffect" fill="hold">
                      <p:stCondLst>
                        <p:cond delay="indefinite"/>
                      </p:stCondLst>
                      <p:childTnLst>
                        <p:par>
                          <p:cTn id="627" nodeType="withEffect" fill="hold">
                            <p:stCondLst>
                              <p:cond delay="0"/>
                            </p:stCondLst>
                            <p:childTnLst>
                              <p:par>
                                <p:cTn id="628" nodeType="clickEffect" fill="hold" presetClass="entr" presetID="22" presetSubtype="8">
                                  <p:stCondLst>
                                    <p:cond delay="0"/>
                                  </p:stCondLst>
                                  <p:childTnLst>
                                    <p:set>
                                      <p:cBhvr>
                                        <p:cTn id="629" dur="1" fill="hold">
                                          <p:stCondLst>
                                            <p:cond delay="0"/>
                                          </p:stCondLst>
                                        </p:cTn>
                                        <p:tgtEl>
                                          <p:spTgt spid="212">
                                            <p:txEl>
                                              <p:pRg st="1" end="1"/>
                                            </p:txEl>
                                          </p:spTgt>
                                        </p:tgtEl>
                                        <p:attrNameLst>
                                          <p:attrName>style.visibility</p:attrName>
                                        </p:attrNameLst>
                                      </p:cBhvr>
                                      <p:to>
                                        <p:strVal val="visible"/>
                                      </p:to>
                                    </p:set>
                                    <p:animEffect filter="wipe(left)" transition="in">
                                      <p:cBhvr additive="repl">
                                        <p:cTn id="630" dur="500"/>
                                        <p:tgtEl>
                                          <p:spTgt spid="212">
                                            <p:txEl>
                                              <p:pRg st="1" end="1"/>
                                            </p:txEl>
                                          </p:spTgt>
                                        </p:tgtEl>
                                      </p:cBhvr>
                                    </p:animEffect>
                                  </p:childTnLst>
                                </p:cTn>
                              </p:par>
                            </p:childTnLst>
                          </p:cTn>
                        </p:par>
                      </p:childTnLst>
                    </p:cTn>
                  </p:par>
                  <p:par>
                    <p:cTn id="631" nodeType="clickEffect" fill="hold">
                      <p:stCondLst>
                        <p:cond delay="indefinite"/>
                      </p:stCondLst>
                      <p:childTnLst>
                        <p:par>
                          <p:cTn id="632" nodeType="withEffect" fill="hold">
                            <p:stCondLst>
                              <p:cond delay="0"/>
                            </p:stCondLst>
                            <p:childTnLst>
                              <p:par>
                                <p:cTn id="633" nodeType="clickEffect" fill="hold" presetClass="entr" presetID="22" presetSubtype="8">
                                  <p:stCondLst>
                                    <p:cond delay="0"/>
                                  </p:stCondLst>
                                  <p:childTnLst>
                                    <p:set>
                                      <p:cBhvr>
                                        <p:cTn id="634" dur="1" fill="hold">
                                          <p:stCondLst>
                                            <p:cond delay="0"/>
                                          </p:stCondLst>
                                        </p:cTn>
                                        <p:tgtEl>
                                          <p:spTgt spid="212">
                                            <p:txEl>
                                              <p:pRg st="2" end="2"/>
                                            </p:txEl>
                                          </p:spTgt>
                                        </p:tgtEl>
                                        <p:attrNameLst>
                                          <p:attrName>style.visibility</p:attrName>
                                        </p:attrNameLst>
                                      </p:cBhvr>
                                      <p:to>
                                        <p:strVal val="visible"/>
                                      </p:to>
                                    </p:set>
                                    <p:animEffect filter="wipe(left)" transition="in">
                                      <p:cBhvr additive="repl">
                                        <p:cTn id="635" dur="500"/>
                                        <p:tgtEl>
                                          <p:spTgt spid="21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1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Decreasing Marginal Returns</a:t>
            </a:r>
            <a:r>
              <a:rPr b="0" lang="en-US" sz="2600" strike="noStrike" u="none">
                <a:solidFill>
                  <a:schemeClr val="dk1"/>
                </a:solidFill>
                <a:effectLst/>
                <a:uFillTx/>
                <a:latin typeface="Arial"/>
                <a:ea typeface="ＭＳ Ｐゴシック"/>
              </a:rPr>
              <a:t> </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Decreasing marginal returns</a:t>
            </a:r>
            <a:r>
              <a:rPr b="0" lang="en-US" sz="2400" strike="noStrike" u="none">
                <a:solidFill>
                  <a:schemeClr val="dk1"/>
                </a:solidFill>
                <a:effectLst/>
                <a:uFillTx/>
                <a:latin typeface="Arial"/>
                <a:ea typeface="ＭＳ Ｐゴシック"/>
              </a:rPr>
              <a:t> occur when the marginal product of an additional worker is less than the marginal product of the previous worker.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Decreasing marginal returns arise from the fact that more and more workers use the same equipment and work space.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As more workers are employed, there is less and less that is productive for the additional worker to do.</a:t>
            </a:r>
            <a:endParaRPr b="1" lang="en-CA" sz="2400" strike="noStrike" u="none">
              <a:solidFill>
                <a:srgbClr val="00468f"/>
              </a:solidFill>
              <a:effectLst/>
              <a:uFillTx/>
              <a:latin typeface="Arial"/>
            </a:endParaRPr>
          </a:p>
        </p:txBody>
      </p:sp>
    </p:spTree>
  </p:cSld>
  <p:transition spd="slow">
    <p:wipe dir="r"/>
  </p:transition>
  <p:timing>
    <p:tnLst>
      <p:par>
        <p:cTn id="636" dur="indefinite" restart="never" nodeType="tmRoot">
          <p:childTnLst>
            <p:seq>
              <p:cTn id="637" dur="indefinite" nodeType="mainSeq">
                <p:childTnLst>
                  <p:par>
                    <p:cTn id="638" nodeType="clickEffect" fill="hold">
                      <p:stCondLst>
                        <p:cond delay="indefinite"/>
                      </p:stCondLst>
                      <p:childTnLst>
                        <p:par>
                          <p:cTn id="639" nodeType="withEffect" fill="hold">
                            <p:stCondLst>
                              <p:cond delay="0"/>
                            </p:stCondLst>
                            <p:childTnLst>
                              <p:par>
                                <p:cTn id="640" nodeType="clickEffect" fill="hold" presetClass="entr" presetID="22" presetSubtype="8">
                                  <p:stCondLst>
                                    <p:cond delay="0"/>
                                  </p:stCondLst>
                                  <p:childTnLst>
                                    <p:set>
                                      <p:cBhvr>
                                        <p:cTn id="641" dur="1" fill="hold">
                                          <p:stCondLst>
                                            <p:cond delay="0"/>
                                          </p:stCondLst>
                                        </p:cTn>
                                        <p:tgtEl>
                                          <p:spTgt spid="214">
                                            <p:txEl>
                                              <p:pRg st="1" end="1"/>
                                            </p:txEl>
                                          </p:spTgt>
                                        </p:tgtEl>
                                        <p:attrNameLst>
                                          <p:attrName>style.visibility</p:attrName>
                                        </p:attrNameLst>
                                      </p:cBhvr>
                                      <p:to>
                                        <p:strVal val="visible"/>
                                      </p:to>
                                    </p:set>
                                    <p:animEffect filter="wipe(left)" transition="in">
                                      <p:cBhvr additive="repl">
                                        <p:cTn id="642" dur="500"/>
                                        <p:tgtEl>
                                          <p:spTgt spid="214">
                                            <p:txEl>
                                              <p:pRg st="1" end="1"/>
                                            </p:txEl>
                                          </p:spTgt>
                                        </p:tgtEl>
                                      </p:cBhvr>
                                    </p:animEffect>
                                  </p:childTnLst>
                                </p:cTn>
                              </p:par>
                            </p:childTnLst>
                          </p:cTn>
                        </p:par>
                      </p:childTnLst>
                    </p:cTn>
                  </p:par>
                  <p:par>
                    <p:cTn id="643" nodeType="clickEffect" fill="hold">
                      <p:stCondLst>
                        <p:cond delay="indefinite"/>
                      </p:stCondLst>
                      <p:childTnLst>
                        <p:par>
                          <p:cTn id="644" nodeType="withEffect" fill="hold">
                            <p:stCondLst>
                              <p:cond delay="0"/>
                            </p:stCondLst>
                            <p:childTnLst>
                              <p:par>
                                <p:cTn id="645" nodeType="clickEffect" fill="hold" presetClass="entr" presetID="22" presetSubtype="8">
                                  <p:stCondLst>
                                    <p:cond delay="0"/>
                                  </p:stCondLst>
                                  <p:childTnLst>
                                    <p:set>
                                      <p:cBhvr>
                                        <p:cTn id="646" dur="1" fill="hold">
                                          <p:stCondLst>
                                            <p:cond delay="0"/>
                                          </p:stCondLst>
                                        </p:cTn>
                                        <p:tgtEl>
                                          <p:spTgt spid="214">
                                            <p:txEl>
                                              <p:pRg st="2" end="2"/>
                                            </p:txEl>
                                          </p:spTgt>
                                        </p:tgtEl>
                                        <p:attrNameLst>
                                          <p:attrName>style.visibility</p:attrName>
                                        </p:attrNameLst>
                                      </p:cBhvr>
                                      <p:to>
                                        <p:strVal val="visible"/>
                                      </p:to>
                                    </p:set>
                                    <p:animEffect filter="wipe(left)" transition="in">
                                      <p:cBhvr additive="repl">
                                        <p:cTn id="647" dur="500"/>
                                        <p:tgtEl>
                                          <p:spTgt spid="214">
                                            <p:txEl>
                                              <p:pRg st="2" end="2"/>
                                            </p:txEl>
                                          </p:spTgt>
                                        </p:tgtEl>
                                      </p:cBhvr>
                                    </p:animEffect>
                                  </p:childTnLst>
                                </p:cTn>
                              </p:par>
                            </p:childTnLst>
                          </p:cTn>
                        </p:par>
                      </p:childTnLst>
                    </p:cTn>
                  </p:par>
                  <p:par>
                    <p:cTn id="648" nodeType="clickEffect" fill="hold">
                      <p:stCondLst>
                        <p:cond delay="indefinite"/>
                      </p:stCondLst>
                      <p:childTnLst>
                        <p:par>
                          <p:cTn id="649" nodeType="withEffect" fill="hold">
                            <p:stCondLst>
                              <p:cond delay="0"/>
                            </p:stCondLst>
                            <p:childTnLst>
                              <p:par>
                                <p:cTn id="650" nodeType="clickEffect" fill="hold" presetClass="entr" presetID="22" presetSubtype="8">
                                  <p:stCondLst>
                                    <p:cond delay="0"/>
                                  </p:stCondLst>
                                  <p:childTnLst>
                                    <p:set>
                                      <p:cBhvr>
                                        <p:cTn id="651" dur="1" fill="hold">
                                          <p:stCondLst>
                                            <p:cond delay="0"/>
                                          </p:stCondLst>
                                        </p:cTn>
                                        <p:tgtEl>
                                          <p:spTgt spid="214">
                                            <p:txEl>
                                              <p:pRg st="3" end="3"/>
                                            </p:txEl>
                                          </p:spTgt>
                                        </p:tgtEl>
                                        <p:attrNameLst>
                                          <p:attrName>style.visibility</p:attrName>
                                        </p:attrNameLst>
                                      </p:cBhvr>
                                      <p:to>
                                        <p:strVal val="visible"/>
                                      </p:to>
                                    </p:set>
                                    <p:animEffect filter="wipe(left)" transition="in">
                                      <p:cBhvr additive="repl">
                                        <p:cTn id="652" dur="500"/>
                                        <p:tgtEl>
                                          <p:spTgt spid="21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1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Decreasing marginal returns are so pervasive that they qualify for the status of a law:</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a:t>
            </a:r>
            <a:r>
              <a:rPr b="1" lang="en-US" sz="2400" strike="noStrike" u="none">
                <a:solidFill>
                  <a:srgbClr val="ff0000"/>
                </a:solidFill>
                <a:effectLst/>
                <a:uFillTx/>
                <a:latin typeface="Arial"/>
                <a:ea typeface="ＭＳ Ｐゴシック"/>
              </a:rPr>
              <a:t> law of decreasing returns</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states that: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1" lang="en-US" sz="2400" strike="noStrike" u="none">
                <a:solidFill>
                  <a:srgbClr val="00468f"/>
                </a:solidFill>
                <a:effectLst/>
                <a:uFillTx/>
                <a:latin typeface="Arial"/>
                <a:ea typeface="ＭＳ Ｐゴシック"/>
              </a:rPr>
              <a:t>As a firm uses more of a variable factor of production, with a given quantity of fixed factors of production, the marginal product of the variable factor eventually decreases.</a:t>
            </a:r>
            <a:endParaRPr b="1" lang="en-CA" sz="2400" strike="noStrike" u="none">
              <a:solidFill>
                <a:srgbClr val="00468f"/>
              </a:solidFill>
              <a:effectLst/>
              <a:uFillTx/>
              <a:latin typeface="Arial"/>
            </a:endParaRPr>
          </a:p>
        </p:txBody>
      </p:sp>
    </p:spTree>
  </p:cSld>
  <p:transition spd="slow">
    <p:wipe dir="r"/>
  </p:transition>
  <p:timing>
    <p:tnLst>
      <p:par>
        <p:cTn id="653" dur="indefinite" restart="never" nodeType="tmRoot">
          <p:childTnLst>
            <p:seq>
              <p:cTn id="654" dur="indefinite" nodeType="mainSeq">
                <p:childTnLst>
                  <p:par>
                    <p:cTn id="655" nodeType="clickEffect" fill="hold">
                      <p:stCondLst>
                        <p:cond delay="indefinite"/>
                      </p:stCondLst>
                      <p:childTnLst>
                        <p:par>
                          <p:cTn id="656" nodeType="withEffect" fill="hold">
                            <p:stCondLst>
                              <p:cond delay="0"/>
                            </p:stCondLst>
                            <p:childTnLst>
                              <p:par>
                                <p:cTn id="657" nodeType="clickEffect" fill="hold" presetClass="entr" presetID="22" presetSubtype="8">
                                  <p:stCondLst>
                                    <p:cond delay="0"/>
                                  </p:stCondLst>
                                  <p:childTnLst>
                                    <p:set>
                                      <p:cBhvr>
                                        <p:cTn id="658" dur="1" fill="hold">
                                          <p:stCondLst>
                                            <p:cond delay="0"/>
                                          </p:stCondLst>
                                        </p:cTn>
                                        <p:tgtEl>
                                          <p:spTgt spid="216">
                                            <p:txEl>
                                              <p:pRg st="1" end="1"/>
                                            </p:txEl>
                                          </p:spTgt>
                                        </p:tgtEl>
                                        <p:attrNameLst>
                                          <p:attrName>style.visibility</p:attrName>
                                        </p:attrNameLst>
                                      </p:cBhvr>
                                      <p:to>
                                        <p:strVal val="visible"/>
                                      </p:to>
                                    </p:set>
                                    <p:animEffect filter="wipe(left)" transition="in">
                                      <p:cBhvr additive="repl">
                                        <p:cTn id="659" dur="500"/>
                                        <p:tgtEl>
                                          <p:spTgt spid="216">
                                            <p:txEl>
                                              <p:pRg st="1" end="1"/>
                                            </p:txEl>
                                          </p:spTgt>
                                        </p:tgtEl>
                                      </p:cBhvr>
                                    </p:animEffect>
                                  </p:childTnLst>
                                </p:cTn>
                              </p:par>
                            </p:childTnLst>
                          </p:cTn>
                        </p:par>
                      </p:childTnLst>
                    </p:cTn>
                  </p:par>
                  <p:par>
                    <p:cTn id="660" nodeType="clickEffect" fill="hold">
                      <p:stCondLst>
                        <p:cond delay="indefinite"/>
                      </p:stCondLst>
                      <p:childTnLst>
                        <p:par>
                          <p:cTn id="661" nodeType="withEffect" fill="hold">
                            <p:stCondLst>
                              <p:cond delay="0"/>
                            </p:stCondLst>
                            <p:childTnLst>
                              <p:par>
                                <p:cTn id="662" nodeType="clickEffect" fill="hold" presetClass="entr" presetID="22" presetSubtype="8">
                                  <p:stCondLst>
                                    <p:cond delay="0"/>
                                  </p:stCondLst>
                                  <p:childTnLst>
                                    <p:set>
                                      <p:cBhvr>
                                        <p:cTn id="663" dur="1" fill="hold">
                                          <p:stCondLst>
                                            <p:cond delay="0"/>
                                          </p:stCondLst>
                                        </p:cTn>
                                        <p:tgtEl>
                                          <p:spTgt spid="216">
                                            <p:txEl>
                                              <p:pRg st="2" end="2"/>
                                            </p:txEl>
                                          </p:spTgt>
                                        </p:tgtEl>
                                        <p:attrNameLst>
                                          <p:attrName>style.visibility</p:attrName>
                                        </p:attrNameLst>
                                      </p:cBhvr>
                                      <p:to>
                                        <p:strVal val="visible"/>
                                      </p:to>
                                    </p:set>
                                    <p:animEffect filter="wipe(left)" transition="in">
                                      <p:cBhvr additive="repl">
                                        <p:cTn id="664" dur="500"/>
                                        <p:tgtEl>
                                          <p:spTgt spid="21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1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Average Product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Average product</a:t>
            </a:r>
            <a:r>
              <a:rPr b="0" lang="en-US" sz="2400" strike="noStrike" u="none">
                <a:solidFill>
                  <a:schemeClr val="dk1"/>
                </a:solidFill>
                <a:effectLst/>
                <a:uFillTx/>
                <a:latin typeface="Arial"/>
                <a:ea typeface="ＭＳ Ｐゴシック"/>
              </a:rPr>
              <a:t> is the total product per worker employed.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is calculated as: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Average product = Total product </a:t>
            </a:r>
            <a:r>
              <a:rPr b="0" lang="en-US" sz="2400" strike="noStrike" u="none">
                <a:solidFill>
                  <a:schemeClr val="dk1"/>
                </a:solidFill>
                <a:effectLst/>
                <a:uFillTx/>
                <a:latin typeface="Symbol"/>
                <a:ea typeface="ＭＳ Ｐゴシック"/>
              </a:rPr>
              <a:t></a:t>
            </a:r>
            <a:r>
              <a:rPr b="0" lang="en-US" sz="2400" strike="noStrike" u="none">
                <a:solidFill>
                  <a:schemeClr val="dk1"/>
                </a:solidFill>
                <a:effectLst/>
                <a:uFillTx/>
                <a:latin typeface="Arial"/>
                <a:ea typeface="ＭＳ Ｐゴシック"/>
              </a:rPr>
              <a:t> Quantity of labor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Another name for average product is </a:t>
            </a:r>
            <a:r>
              <a:rPr b="0" i="1" lang="en-US" sz="2400" strike="noStrike" u="none">
                <a:solidFill>
                  <a:schemeClr val="dk1"/>
                </a:solidFill>
                <a:effectLst/>
                <a:uFillTx/>
                <a:latin typeface="Arial"/>
                <a:ea typeface="ＭＳ Ｐゴシック"/>
              </a:rPr>
              <a:t>productivity</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p:txBody>
      </p:sp>
    </p:spTree>
  </p:cSld>
  <p:transition spd="slow">
    <p:wipe dir="r"/>
  </p:transition>
  <p:timing>
    <p:tnLst>
      <p:par>
        <p:cTn id="665" dur="indefinite" restart="never" nodeType="tmRoot">
          <p:childTnLst>
            <p:seq>
              <p:cTn id="666" dur="indefinite" nodeType="mainSeq">
                <p:childTnLst>
                  <p:par>
                    <p:cTn id="667" nodeType="clickEffect" fill="hold">
                      <p:stCondLst>
                        <p:cond delay="indefinite"/>
                      </p:stCondLst>
                      <p:childTnLst>
                        <p:par>
                          <p:cTn id="668" nodeType="withEffect" fill="hold">
                            <p:stCondLst>
                              <p:cond delay="0"/>
                            </p:stCondLst>
                            <p:childTnLst>
                              <p:par>
                                <p:cTn id="669" nodeType="clickEffect" fill="hold" presetClass="entr" presetID="22" presetSubtype="8">
                                  <p:stCondLst>
                                    <p:cond delay="0"/>
                                  </p:stCondLst>
                                  <p:childTnLst>
                                    <p:set>
                                      <p:cBhvr>
                                        <p:cTn id="670" dur="1" fill="hold">
                                          <p:stCondLst>
                                            <p:cond delay="0"/>
                                          </p:stCondLst>
                                        </p:cTn>
                                        <p:tgtEl>
                                          <p:spTgt spid="218">
                                            <p:txEl>
                                              <p:pRg st="1" end="1"/>
                                            </p:txEl>
                                          </p:spTgt>
                                        </p:tgtEl>
                                        <p:attrNameLst>
                                          <p:attrName>style.visibility</p:attrName>
                                        </p:attrNameLst>
                                      </p:cBhvr>
                                      <p:to>
                                        <p:strVal val="visible"/>
                                      </p:to>
                                    </p:set>
                                    <p:animEffect filter="wipe(left)" transition="in">
                                      <p:cBhvr additive="repl">
                                        <p:cTn id="671" dur="500"/>
                                        <p:tgtEl>
                                          <p:spTgt spid="218">
                                            <p:txEl>
                                              <p:pRg st="1" end="1"/>
                                            </p:txEl>
                                          </p:spTgt>
                                        </p:tgtEl>
                                      </p:cBhvr>
                                    </p:animEffect>
                                  </p:childTnLst>
                                </p:cTn>
                              </p:par>
                            </p:childTnLst>
                          </p:cTn>
                        </p:par>
                      </p:childTnLst>
                    </p:cTn>
                  </p:par>
                  <p:par>
                    <p:cTn id="672" nodeType="clickEffect" fill="hold">
                      <p:stCondLst>
                        <p:cond delay="indefinite"/>
                      </p:stCondLst>
                      <p:childTnLst>
                        <p:par>
                          <p:cTn id="673" nodeType="withEffect" fill="hold">
                            <p:stCondLst>
                              <p:cond delay="0"/>
                            </p:stCondLst>
                            <p:childTnLst>
                              <p:par>
                                <p:cTn id="674" nodeType="clickEffect" fill="hold" presetClass="entr" presetID="22" presetSubtype="8">
                                  <p:stCondLst>
                                    <p:cond delay="0"/>
                                  </p:stCondLst>
                                  <p:childTnLst>
                                    <p:set>
                                      <p:cBhvr>
                                        <p:cTn id="675" dur="1" fill="hold">
                                          <p:stCondLst>
                                            <p:cond delay="0"/>
                                          </p:stCondLst>
                                        </p:cTn>
                                        <p:tgtEl>
                                          <p:spTgt spid="218">
                                            <p:txEl>
                                              <p:pRg st="2" end="2"/>
                                            </p:txEl>
                                          </p:spTgt>
                                        </p:tgtEl>
                                        <p:attrNameLst>
                                          <p:attrName>style.visibility</p:attrName>
                                        </p:attrNameLst>
                                      </p:cBhvr>
                                      <p:to>
                                        <p:strVal val="visible"/>
                                      </p:to>
                                    </p:set>
                                    <p:animEffect filter="wipe(left)" transition="in">
                                      <p:cBhvr additive="repl">
                                        <p:cTn id="676" dur="500"/>
                                        <p:tgtEl>
                                          <p:spTgt spid="218">
                                            <p:txEl>
                                              <p:pRg st="2" end="2"/>
                                            </p:txEl>
                                          </p:spTgt>
                                        </p:tgtEl>
                                      </p:cBhvr>
                                    </p:animEffect>
                                  </p:childTnLst>
                                </p:cTn>
                              </p:par>
                            </p:childTnLst>
                          </p:cTn>
                        </p:par>
                      </p:childTnLst>
                    </p:cTn>
                  </p:par>
                  <p:par>
                    <p:cTn id="677" nodeType="clickEffect" fill="hold">
                      <p:stCondLst>
                        <p:cond delay="indefinite"/>
                      </p:stCondLst>
                      <p:childTnLst>
                        <p:par>
                          <p:cTn id="678" nodeType="withEffect" fill="hold">
                            <p:stCondLst>
                              <p:cond delay="0"/>
                            </p:stCondLst>
                            <p:childTnLst>
                              <p:par>
                                <p:cTn id="679" nodeType="clickEffect" fill="hold" presetClass="entr" presetID="22" presetSubtype="8">
                                  <p:stCondLst>
                                    <p:cond delay="0"/>
                                  </p:stCondLst>
                                  <p:childTnLst>
                                    <p:set>
                                      <p:cBhvr>
                                        <p:cTn id="680" dur="1" fill="hold">
                                          <p:stCondLst>
                                            <p:cond delay="0"/>
                                          </p:stCondLst>
                                        </p:cTn>
                                        <p:tgtEl>
                                          <p:spTgt spid="218">
                                            <p:txEl>
                                              <p:pRg st="3" end="3"/>
                                            </p:txEl>
                                          </p:spTgt>
                                        </p:tgtEl>
                                        <p:attrNameLst>
                                          <p:attrName>style.visibility</p:attrName>
                                        </p:attrNameLst>
                                      </p:cBhvr>
                                      <p:to>
                                        <p:strVal val="visible"/>
                                      </p:to>
                                    </p:set>
                                    <p:animEffect filter="wipe(left)" transition="in">
                                      <p:cBhvr additive="repl">
                                        <p:cTn id="681" dur="500"/>
                                        <p:tgtEl>
                                          <p:spTgt spid="218">
                                            <p:txEl>
                                              <p:pRg st="3" end="3"/>
                                            </p:txEl>
                                          </p:spTgt>
                                        </p:tgtEl>
                                      </p:cBhvr>
                                    </p:animEffect>
                                  </p:childTnLst>
                                </p:cTn>
                              </p:par>
                            </p:childTnLst>
                          </p:cTn>
                        </p:par>
                      </p:childTnLst>
                    </p:cTn>
                  </p:par>
                  <p:par>
                    <p:cTn id="682" nodeType="clickEffect" fill="hold">
                      <p:stCondLst>
                        <p:cond delay="indefinite"/>
                      </p:stCondLst>
                      <p:childTnLst>
                        <p:par>
                          <p:cTn id="683" nodeType="withEffect" fill="hold">
                            <p:stCondLst>
                              <p:cond delay="0"/>
                            </p:stCondLst>
                            <p:childTnLst>
                              <p:par>
                                <p:cTn id="684" nodeType="clickEffect" fill="hold" presetClass="entr" presetID="22" presetSubtype="8">
                                  <p:stCondLst>
                                    <p:cond delay="0"/>
                                  </p:stCondLst>
                                  <p:childTnLst>
                                    <p:set>
                                      <p:cBhvr>
                                        <p:cTn id="685" dur="1" fill="hold">
                                          <p:stCondLst>
                                            <p:cond delay="0"/>
                                          </p:stCondLst>
                                        </p:cTn>
                                        <p:tgtEl>
                                          <p:spTgt spid="218">
                                            <p:txEl>
                                              <p:pRg st="4" end="4"/>
                                            </p:txEl>
                                          </p:spTgt>
                                        </p:tgtEl>
                                        <p:attrNameLst>
                                          <p:attrName>style.visibility</p:attrName>
                                        </p:attrNameLst>
                                      </p:cBhvr>
                                      <p:to>
                                        <p:strVal val="visible"/>
                                      </p:to>
                                    </p:set>
                                    <p:animEffect filter="wipe(left)" transition="in">
                                      <p:cBhvr additive="repl">
                                        <p:cTn id="686" dur="500"/>
                                        <p:tgtEl>
                                          <p:spTgt spid="21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pic>
        <p:nvPicPr>
          <p:cNvPr id="220" name="Picture 18" descr="fig1304a.gif"/>
          <p:cNvPicPr/>
          <p:nvPr/>
        </p:nvPicPr>
        <p:blipFill>
          <a:blip r:embed="rId1"/>
          <a:stretch/>
        </p:blipFill>
        <p:spPr>
          <a:xfrm>
            <a:off x="3132000" y="1440000"/>
            <a:ext cx="5409720" cy="4822560"/>
          </a:xfrm>
          <a:prstGeom prst="rect">
            <a:avLst/>
          </a:prstGeom>
          <a:noFill/>
          <a:ln w="0">
            <a:noFill/>
          </a:ln>
        </p:spPr>
      </p:pic>
      <p:sp>
        <p:nvSpPr>
          <p:cNvPr id="221" name="PlaceHolder 2"/>
          <p:cNvSpPr>
            <a:spLocks noGrp="1"/>
          </p:cNvSpPr>
          <p:nvPr>
            <p:ph/>
          </p:nvPr>
        </p:nvSpPr>
        <p:spPr>
          <a:xfrm>
            <a:off x="360360" y="1440000"/>
            <a:ext cx="45162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14.4 shows average product and its relationship to marginal product.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calculates average product.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For example, 3 workers produce a total product of </a:t>
            </a:r>
            <a:br>
              <a:rPr sz="2400"/>
            </a:br>
            <a:r>
              <a:rPr b="0" lang="en-US" sz="2400" strike="noStrike" u="none">
                <a:solidFill>
                  <a:srgbClr val="000000"/>
                </a:solidFill>
                <a:effectLst/>
                <a:uFillTx/>
                <a:latin typeface="Arial"/>
                <a:ea typeface="ＭＳ Ｐゴシック"/>
              </a:rPr>
              <a:t>6 gallons per hour, so average product is</a:t>
            </a:r>
            <a:br>
              <a:rPr sz="2400"/>
            </a:br>
            <a:r>
              <a:rPr b="0" lang="en-US" sz="2400" strike="noStrike" u="none">
                <a:solidFill>
                  <a:srgbClr val="000000"/>
                </a:solidFill>
                <a:effectLst/>
                <a:uFillTx/>
                <a:latin typeface="Arial"/>
                <a:ea typeface="ＭＳ Ｐゴシック"/>
              </a:rPr>
              <a:t>6 ÷ 3 = 2 gallons                per worker.</a:t>
            </a:r>
            <a:endParaRPr b="1" lang="en-CA" sz="2400" strike="noStrike" u="none">
              <a:solidFill>
                <a:srgbClr val="00468f"/>
              </a:solidFill>
              <a:effectLst/>
              <a:uFillTx/>
              <a:latin typeface="Arial"/>
            </a:endParaRPr>
          </a:p>
        </p:txBody>
      </p:sp>
    </p:spTree>
  </p:cSld>
  <p:transition spd="med">
    <p:wipe dir="r"/>
  </p:transition>
  <p:timing>
    <p:tnLst>
      <p:par>
        <p:cTn id="687" dur="indefinite" restart="never" nodeType="tmRoot">
          <p:childTnLst>
            <p:seq>
              <p:cTn id="688" dur="indefinite" nodeType="mainSeq">
                <p:childTnLst>
                  <p:par>
                    <p:cTn id="689" nodeType="clickEffect" fill="hold">
                      <p:stCondLst>
                        <p:cond delay="indefinite"/>
                      </p:stCondLst>
                      <p:childTnLst>
                        <p:par>
                          <p:cTn id="690" nodeType="withEffect" fill="hold">
                            <p:stCondLst>
                              <p:cond delay="0"/>
                            </p:stCondLst>
                            <p:childTnLst>
                              <p:par>
                                <p:cTn id="691" nodeType="clickEffect" fill="hold" presetClass="entr" presetID="22" presetSubtype="8">
                                  <p:stCondLst>
                                    <p:cond delay="0"/>
                                  </p:stCondLst>
                                  <p:childTnLst>
                                    <p:set>
                                      <p:cBhvr>
                                        <p:cTn id="692" dur="1" fill="hold">
                                          <p:stCondLst>
                                            <p:cond delay="0"/>
                                          </p:stCondLst>
                                        </p:cTn>
                                        <p:tgtEl>
                                          <p:spTgt spid="221">
                                            <p:txEl>
                                              <p:pRg st="1" end="1"/>
                                            </p:txEl>
                                          </p:spTgt>
                                        </p:tgtEl>
                                        <p:attrNameLst>
                                          <p:attrName>style.visibility</p:attrName>
                                        </p:attrNameLst>
                                      </p:cBhvr>
                                      <p:to>
                                        <p:strVal val="visible"/>
                                      </p:to>
                                    </p:set>
                                    <p:animEffect filter="wipe(left)" transition="in">
                                      <p:cBhvr additive="repl">
                                        <p:cTn id="693" dur="500"/>
                                        <p:tgtEl>
                                          <p:spTgt spid="221">
                                            <p:txEl>
                                              <p:pRg st="1" end="1"/>
                                            </p:txEl>
                                          </p:spTgt>
                                        </p:tgtEl>
                                      </p:cBhvr>
                                    </p:animEffect>
                                  </p:childTnLst>
                                </p:cTn>
                              </p:par>
                            </p:childTnLst>
                          </p:cTn>
                        </p:par>
                      </p:childTnLst>
                    </p:cTn>
                  </p:par>
                  <p:par>
                    <p:cTn id="694" nodeType="clickEffect" fill="hold">
                      <p:stCondLst>
                        <p:cond delay="indefinite"/>
                      </p:stCondLst>
                      <p:childTnLst>
                        <p:par>
                          <p:cTn id="695" nodeType="withEffect" fill="hold">
                            <p:stCondLst>
                              <p:cond delay="0"/>
                            </p:stCondLst>
                            <p:childTnLst>
                              <p:par>
                                <p:cTn id="696" nodeType="clickEffect" fill="hold" presetClass="entr" presetID="22" presetSubtype="8">
                                  <p:stCondLst>
                                    <p:cond delay="0"/>
                                  </p:stCondLst>
                                  <p:childTnLst>
                                    <p:set>
                                      <p:cBhvr>
                                        <p:cTn id="697" dur="1" fill="hold">
                                          <p:stCondLst>
                                            <p:cond delay="0"/>
                                          </p:stCondLst>
                                        </p:cTn>
                                        <p:tgtEl>
                                          <p:spTgt spid="221">
                                            <p:txEl>
                                              <p:pRg st="2" end="2"/>
                                            </p:txEl>
                                          </p:spTgt>
                                        </p:tgtEl>
                                        <p:attrNameLst>
                                          <p:attrName>style.visibility</p:attrName>
                                        </p:attrNameLst>
                                      </p:cBhvr>
                                      <p:to>
                                        <p:strVal val="visible"/>
                                      </p:to>
                                    </p:set>
                                    <p:animEffect filter="wipe(left)" transition="in">
                                      <p:cBhvr additive="repl">
                                        <p:cTn id="698" dur="500"/>
                                        <p:tgtEl>
                                          <p:spTgt spid="22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22" name="Picture 12" descr="fig1304a.gif"/>
          <p:cNvPicPr/>
          <p:nvPr/>
        </p:nvPicPr>
        <p:blipFill>
          <a:blip r:embed="rId1"/>
          <a:stretch/>
        </p:blipFill>
        <p:spPr>
          <a:xfrm>
            <a:off x="1219320" y="108000"/>
            <a:ext cx="7084800" cy="6314760"/>
          </a:xfrm>
          <a:prstGeom prst="rect">
            <a:avLst/>
          </a:prstGeom>
          <a:noFill/>
          <a:ln w="0">
            <a:noFill/>
          </a:ln>
        </p:spPr>
      </p:pic>
      <p:pic>
        <p:nvPicPr>
          <p:cNvPr id="223" name="Picture 13" descr="fig1304b.gif"/>
          <p:cNvPicPr/>
          <p:nvPr/>
        </p:nvPicPr>
        <p:blipFill>
          <a:blip r:embed="rId2"/>
          <a:stretch/>
        </p:blipFill>
        <p:spPr>
          <a:xfrm>
            <a:off x="1219320" y="108000"/>
            <a:ext cx="7084800" cy="6314760"/>
          </a:xfrm>
          <a:prstGeom prst="rect">
            <a:avLst/>
          </a:prstGeom>
          <a:noFill/>
          <a:ln w="0">
            <a:noFill/>
          </a:ln>
        </p:spPr>
      </p:pic>
      <p:pic>
        <p:nvPicPr>
          <p:cNvPr id="224" name="Picture 14" descr="fig1304c.gif"/>
          <p:cNvPicPr/>
          <p:nvPr/>
        </p:nvPicPr>
        <p:blipFill>
          <a:blip r:embed="rId3"/>
          <a:stretch/>
        </p:blipFill>
        <p:spPr>
          <a:xfrm>
            <a:off x="1219320" y="108000"/>
            <a:ext cx="7084800" cy="6314760"/>
          </a:xfrm>
          <a:prstGeom prst="rect">
            <a:avLst/>
          </a:prstGeom>
          <a:noFill/>
          <a:ln w="0">
            <a:noFill/>
          </a:ln>
        </p:spPr>
      </p:pic>
      <p:pic>
        <p:nvPicPr>
          <p:cNvPr id="225" name="Picture 15" descr="fig1304d.gif"/>
          <p:cNvPicPr/>
          <p:nvPr/>
        </p:nvPicPr>
        <p:blipFill>
          <a:blip r:embed="rId4"/>
          <a:stretch/>
        </p:blipFill>
        <p:spPr>
          <a:xfrm>
            <a:off x="1219320" y="108000"/>
            <a:ext cx="7084800" cy="6314760"/>
          </a:xfrm>
          <a:prstGeom prst="rect">
            <a:avLst/>
          </a:prstGeom>
          <a:noFill/>
          <a:ln w="0">
            <a:noFill/>
          </a:ln>
        </p:spPr>
      </p:pic>
      <p:pic>
        <p:nvPicPr>
          <p:cNvPr id="226" name="Picture 16" descr="fig1304e.gif"/>
          <p:cNvPicPr/>
          <p:nvPr/>
        </p:nvPicPr>
        <p:blipFill>
          <a:blip r:embed="rId5"/>
          <a:stretch/>
        </p:blipFill>
        <p:spPr>
          <a:xfrm>
            <a:off x="1219320" y="108000"/>
            <a:ext cx="7084800" cy="6314760"/>
          </a:xfrm>
          <a:prstGeom prst="rect">
            <a:avLst/>
          </a:prstGeom>
          <a:noFill/>
          <a:ln w="0">
            <a:noFill/>
          </a:ln>
        </p:spPr>
      </p:pic>
      <p:pic>
        <p:nvPicPr>
          <p:cNvPr id="227" name="Picture 17" descr="fig1304f.gif"/>
          <p:cNvPicPr/>
          <p:nvPr/>
        </p:nvPicPr>
        <p:blipFill>
          <a:blip r:embed="rId6"/>
          <a:stretch/>
        </p:blipFill>
        <p:spPr>
          <a:xfrm>
            <a:off x="1219320" y="108000"/>
            <a:ext cx="7084800" cy="6314760"/>
          </a:xfrm>
          <a:prstGeom prst="rect">
            <a:avLst/>
          </a:prstGeom>
          <a:noFill/>
          <a:ln w="0">
            <a:noFill/>
          </a:ln>
        </p:spPr>
      </p:pic>
      <p:pic>
        <p:nvPicPr>
          <p:cNvPr id="228" name="Picture 18" descr="fig1304g.gif"/>
          <p:cNvPicPr/>
          <p:nvPr/>
        </p:nvPicPr>
        <p:blipFill>
          <a:blip r:embed="rId7"/>
          <a:stretch/>
        </p:blipFill>
        <p:spPr>
          <a:xfrm>
            <a:off x="1219320" y="108000"/>
            <a:ext cx="7084800" cy="6314760"/>
          </a:xfrm>
          <a:prstGeom prst="rect">
            <a:avLst/>
          </a:prstGeom>
          <a:noFill/>
          <a:ln w="0">
            <a:noFill/>
          </a:ln>
        </p:spPr>
      </p:pic>
      <p:pic>
        <p:nvPicPr>
          <p:cNvPr id="229" name="Picture 19" descr="fig1304h.gif"/>
          <p:cNvPicPr/>
          <p:nvPr/>
        </p:nvPicPr>
        <p:blipFill>
          <a:blip r:embed="rId8"/>
          <a:stretch/>
        </p:blipFill>
        <p:spPr>
          <a:xfrm>
            <a:off x="1219320" y="108000"/>
            <a:ext cx="7084800" cy="6314760"/>
          </a:xfrm>
          <a:prstGeom prst="rect">
            <a:avLst/>
          </a:prstGeom>
          <a:noFill/>
          <a:ln w="0">
            <a:noFill/>
          </a:ln>
        </p:spPr>
      </p:pic>
      <p:pic>
        <p:nvPicPr>
          <p:cNvPr id="230" name="Picture 20" descr="fig1304i.gif"/>
          <p:cNvPicPr/>
          <p:nvPr/>
        </p:nvPicPr>
        <p:blipFill>
          <a:blip r:embed="rId9"/>
          <a:stretch/>
        </p:blipFill>
        <p:spPr>
          <a:xfrm>
            <a:off x="1219320" y="108000"/>
            <a:ext cx="7084800" cy="6314760"/>
          </a:xfrm>
          <a:prstGeom prst="rect">
            <a:avLst/>
          </a:prstGeom>
          <a:noFill/>
          <a:ln w="0">
            <a:noFill/>
          </a:ln>
        </p:spPr>
      </p:pic>
      <p:pic>
        <p:nvPicPr>
          <p:cNvPr id="231" name="Picture 21" descr="fig1304j.gif"/>
          <p:cNvPicPr/>
          <p:nvPr/>
        </p:nvPicPr>
        <p:blipFill>
          <a:blip r:embed="rId10"/>
          <a:stretch/>
        </p:blipFill>
        <p:spPr>
          <a:xfrm>
            <a:off x="1219320" y="108000"/>
            <a:ext cx="7084800" cy="6314760"/>
          </a:xfrm>
          <a:prstGeom prst="rect">
            <a:avLst/>
          </a:prstGeom>
          <a:noFill/>
          <a:ln w="0">
            <a:noFill/>
          </a:ln>
        </p:spPr>
      </p:pic>
      <p:pic>
        <p:nvPicPr>
          <p:cNvPr id="232" name="Picture 22" descr="fig1304k.gif"/>
          <p:cNvPicPr/>
          <p:nvPr/>
        </p:nvPicPr>
        <p:blipFill>
          <a:blip r:embed="rId11"/>
          <a:stretch/>
        </p:blipFill>
        <p:spPr>
          <a:xfrm>
            <a:off x="1219320" y="108000"/>
            <a:ext cx="7084800" cy="6314760"/>
          </a:xfrm>
          <a:prstGeom prst="rect">
            <a:avLst/>
          </a:prstGeom>
          <a:noFill/>
          <a:ln w="0">
            <a:noFill/>
          </a:ln>
        </p:spPr>
      </p:pic>
    </p:spTree>
  </p:cSld>
  <p:transition spd="slow">
    <p:wipe dir="r"/>
  </p:transition>
  <p:timing>
    <p:tnLst>
      <p:par>
        <p:cTn id="699" dur="indefinite" restart="never" nodeType="tmRoot">
          <p:childTnLst>
            <p:seq>
              <p:cTn id="700" dur="indefinite" nodeType="mainSeq">
                <p:childTnLst>
                  <p:par>
                    <p:cTn id="701" nodeType="clickEffect" fill="hold">
                      <p:stCondLst>
                        <p:cond delay="indefinite"/>
                      </p:stCondLst>
                      <p:childTnLst>
                        <p:par>
                          <p:cTn id="702" nodeType="withEffect" fill="hold">
                            <p:stCondLst>
                              <p:cond delay="0"/>
                            </p:stCondLst>
                            <p:childTnLst>
                              <p:par>
                                <p:cTn id="703" nodeType="clickEffect" fill="hold" presetClass="entr" presetID="10">
                                  <p:stCondLst>
                                    <p:cond delay="0"/>
                                  </p:stCondLst>
                                  <p:childTnLst>
                                    <p:set>
                                      <p:cBhvr>
                                        <p:cTn id="704" dur="1" fill="hold">
                                          <p:stCondLst>
                                            <p:cond delay="0"/>
                                          </p:stCondLst>
                                        </p:cTn>
                                        <p:tgtEl>
                                          <p:spTgt spid="223"/>
                                        </p:tgtEl>
                                        <p:attrNameLst>
                                          <p:attrName>style.visibility</p:attrName>
                                        </p:attrNameLst>
                                      </p:cBhvr>
                                      <p:to>
                                        <p:strVal val="visible"/>
                                      </p:to>
                                    </p:set>
                                    <p:animEffect filter="fade" transition="in">
                                      <p:cBhvr additive="repl">
                                        <p:cTn id="705" dur="500"/>
                                        <p:tgtEl>
                                          <p:spTgt spid="223"/>
                                        </p:tgtEl>
                                      </p:cBhvr>
                                    </p:animEffect>
                                  </p:childTnLst>
                                </p:cTn>
                              </p:par>
                            </p:childTnLst>
                          </p:cTn>
                        </p:par>
                        <p:par>
                          <p:cTn id="706" nodeType="afterEffect" fill="hold">
                            <p:stCondLst>
                              <p:cond delay="500"/>
                            </p:stCondLst>
                            <p:childTnLst>
                              <p:par>
                                <p:cTn id="707" nodeType="afterEffect" fill="hold" presetClass="entr" presetID="10">
                                  <p:stCondLst>
                                    <p:cond delay="0"/>
                                  </p:stCondLst>
                                  <p:childTnLst>
                                    <p:set>
                                      <p:cBhvr>
                                        <p:cTn id="708" dur="1" fill="hold">
                                          <p:stCondLst>
                                            <p:cond delay="0"/>
                                          </p:stCondLst>
                                        </p:cTn>
                                        <p:tgtEl>
                                          <p:spTgt spid="224"/>
                                        </p:tgtEl>
                                        <p:attrNameLst>
                                          <p:attrName>style.visibility</p:attrName>
                                        </p:attrNameLst>
                                      </p:cBhvr>
                                      <p:to>
                                        <p:strVal val="visible"/>
                                      </p:to>
                                    </p:set>
                                    <p:animEffect filter="fade" transition="in">
                                      <p:cBhvr additive="repl">
                                        <p:cTn id="709" dur="500"/>
                                        <p:tgtEl>
                                          <p:spTgt spid="224"/>
                                        </p:tgtEl>
                                      </p:cBhvr>
                                    </p:animEffect>
                                  </p:childTnLst>
                                </p:cTn>
                              </p:par>
                            </p:childTnLst>
                          </p:cTn>
                        </p:par>
                        <p:par>
                          <p:cTn id="710" nodeType="afterEffect" fill="hold">
                            <p:stCondLst>
                              <p:cond delay="1000"/>
                            </p:stCondLst>
                            <p:childTnLst>
                              <p:par>
                                <p:cTn id="711" nodeType="afterEffect" fill="hold" presetClass="entr" presetID="10">
                                  <p:stCondLst>
                                    <p:cond delay="0"/>
                                  </p:stCondLst>
                                  <p:childTnLst>
                                    <p:set>
                                      <p:cBhvr>
                                        <p:cTn id="712" dur="1" fill="hold">
                                          <p:stCondLst>
                                            <p:cond delay="0"/>
                                          </p:stCondLst>
                                        </p:cTn>
                                        <p:tgtEl>
                                          <p:spTgt spid="225"/>
                                        </p:tgtEl>
                                        <p:attrNameLst>
                                          <p:attrName>style.visibility</p:attrName>
                                        </p:attrNameLst>
                                      </p:cBhvr>
                                      <p:to>
                                        <p:strVal val="visible"/>
                                      </p:to>
                                    </p:set>
                                    <p:animEffect filter="fade" transition="in">
                                      <p:cBhvr additive="repl">
                                        <p:cTn id="713" dur="500"/>
                                        <p:tgtEl>
                                          <p:spTgt spid="225"/>
                                        </p:tgtEl>
                                      </p:cBhvr>
                                    </p:animEffect>
                                  </p:childTnLst>
                                </p:cTn>
                              </p:par>
                            </p:childTnLst>
                          </p:cTn>
                        </p:par>
                        <p:par>
                          <p:cTn id="714" nodeType="afterEffect" fill="hold">
                            <p:stCondLst>
                              <p:cond delay="1500"/>
                            </p:stCondLst>
                            <p:childTnLst>
                              <p:par>
                                <p:cTn id="715" nodeType="afterEffect" fill="hold" presetClass="entr" presetID="10">
                                  <p:stCondLst>
                                    <p:cond delay="0"/>
                                  </p:stCondLst>
                                  <p:childTnLst>
                                    <p:set>
                                      <p:cBhvr>
                                        <p:cTn id="716" dur="1" fill="hold">
                                          <p:stCondLst>
                                            <p:cond delay="0"/>
                                          </p:stCondLst>
                                        </p:cTn>
                                        <p:tgtEl>
                                          <p:spTgt spid="226"/>
                                        </p:tgtEl>
                                        <p:attrNameLst>
                                          <p:attrName>style.visibility</p:attrName>
                                        </p:attrNameLst>
                                      </p:cBhvr>
                                      <p:to>
                                        <p:strVal val="visible"/>
                                      </p:to>
                                    </p:set>
                                    <p:animEffect filter="fade" transition="in">
                                      <p:cBhvr additive="repl">
                                        <p:cTn id="717" dur="500"/>
                                        <p:tgtEl>
                                          <p:spTgt spid="226"/>
                                        </p:tgtEl>
                                      </p:cBhvr>
                                    </p:animEffect>
                                  </p:childTnLst>
                                </p:cTn>
                              </p:par>
                            </p:childTnLst>
                          </p:cTn>
                        </p:par>
                        <p:par>
                          <p:cTn id="718" nodeType="afterEffect" fill="hold">
                            <p:stCondLst>
                              <p:cond delay="2000"/>
                            </p:stCondLst>
                            <p:childTnLst>
                              <p:par>
                                <p:cTn id="719" nodeType="afterEffect" fill="hold" presetClass="entr" presetID="10">
                                  <p:stCondLst>
                                    <p:cond delay="0"/>
                                  </p:stCondLst>
                                  <p:childTnLst>
                                    <p:set>
                                      <p:cBhvr>
                                        <p:cTn id="720" dur="1" fill="hold">
                                          <p:stCondLst>
                                            <p:cond delay="0"/>
                                          </p:stCondLst>
                                        </p:cTn>
                                        <p:tgtEl>
                                          <p:spTgt spid="227"/>
                                        </p:tgtEl>
                                        <p:attrNameLst>
                                          <p:attrName>style.visibility</p:attrName>
                                        </p:attrNameLst>
                                      </p:cBhvr>
                                      <p:to>
                                        <p:strVal val="visible"/>
                                      </p:to>
                                    </p:set>
                                    <p:animEffect filter="fade" transition="in">
                                      <p:cBhvr additive="repl">
                                        <p:cTn id="721" dur="500"/>
                                        <p:tgtEl>
                                          <p:spTgt spid="227"/>
                                        </p:tgtEl>
                                      </p:cBhvr>
                                    </p:animEffect>
                                  </p:childTnLst>
                                </p:cTn>
                              </p:par>
                            </p:childTnLst>
                          </p:cTn>
                        </p:par>
                        <p:par>
                          <p:cTn id="722" nodeType="afterEffect" fill="hold">
                            <p:stCondLst>
                              <p:cond delay="2500"/>
                            </p:stCondLst>
                            <p:childTnLst>
                              <p:par>
                                <p:cTn id="723" nodeType="afterEffect" fill="hold" presetClass="entr" presetID="10">
                                  <p:stCondLst>
                                    <p:cond delay="0"/>
                                  </p:stCondLst>
                                  <p:childTnLst>
                                    <p:set>
                                      <p:cBhvr>
                                        <p:cTn id="724" dur="1" fill="hold">
                                          <p:stCondLst>
                                            <p:cond delay="0"/>
                                          </p:stCondLst>
                                        </p:cTn>
                                        <p:tgtEl>
                                          <p:spTgt spid="228"/>
                                        </p:tgtEl>
                                        <p:attrNameLst>
                                          <p:attrName>style.visibility</p:attrName>
                                        </p:attrNameLst>
                                      </p:cBhvr>
                                      <p:to>
                                        <p:strVal val="visible"/>
                                      </p:to>
                                    </p:set>
                                    <p:animEffect filter="fade" transition="in">
                                      <p:cBhvr additive="repl">
                                        <p:cTn id="725" dur="500"/>
                                        <p:tgtEl>
                                          <p:spTgt spid="228"/>
                                        </p:tgtEl>
                                      </p:cBhvr>
                                    </p:animEffect>
                                  </p:childTnLst>
                                </p:cTn>
                              </p:par>
                            </p:childTnLst>
                          </p:cTn>
                        </p:par>
                        <p:par>
                          <p:cTn id="726" nodeType="afterEffect" fill="hold">
                            <p:stCondLst>
                              <p:cond delay="3000"/>
                            </p:stCondLst>
                            <p:childTnLst>
                              <p:par>
                                <p:cTn id="727" nodeType="afterEffect" fill="hold" presetClass="entr" presetID="10">
                                  <p:stCondLst>
                                    <p:cond delay="0"/>
                                  </p:stCondLst>
                                  <p:childTnLst>
                                    <p:set>
                                      <p:cBhvr>
                                        <p:cTn id="728" dur="1" fill="hold">
                                          <p:stCondLst>
                                            <p:cond delay="0"/>
                                          </p:stCondLst>
                                        </p:cTn>
                                        <p:tgtEl>
                                          <p:spTgt spid="229"/>
                                        </p:tgtEl>
                                        <p:attrNameLst>
                                          <p:attrName>style.visibility</p:attrName>
                                        </p:attrNameLst>
                                      </p:cBhvr>
                                      <p:to>
                                        <p:strVal val="visible"/>
                                      </p:to>
                                    </p:set>
                                    <p:animEffect filter="fade" transition="in">
                                      <p:cBhvr additive="repl">
                                        <p:cTn id="729" dur="500"/>
                                        <p:tgtEl>
                                          <p:spTgt spid="229"/>
                                        </p:tgtEl>
                                      </p:cBhvr>
                                    </p:animEffect>
                                  </p:childTnLst>
                                </p:cTn>
                              </p:par>
                            </p:childTnLst>
                          </p:cTn>
                        </p:par>
                      </p:childTnLst>
                    </p:cTn>
                  </p:par>
                  <p:par>
                    <p:cTn id="730" nodeType="clickEffect" fill="hold">
                      <p:stCondLst>
                        <p:cond delay="indefinite"/>
                      </p:stCondLst>
                      <p:childTnLst>
                        <p:par>
                          <p:cTn id="731" nodeType="withEffect" fill="hold">
                            <p:stCondLst>
                              <p:cond delay="0"/>
                            </p:stCondLst>
                            <p:childTnLst>
                              <p:par>
                                <p:cTn id="732" nodeType="clickEffect" fill="hold" presetClass="entr" presetID="22" presetSubtype="8">
                                  <p:stCondLst>
                                    <p:cond delay="0"/>
                                  </p:stCondLst>
                                  <p:childTnLst>
                                    <p:set>
                                      <p:cBhvr>
                                        <p:cTn id="733" dur="1" fill="hold">
                                          <p:stCondLst>
                                            <p:cond delay="0"/>
                                          </p:stCondLst>
                                        </p:cTn>
                                        <p:tgtEl>
                                          <p:spTgt spid="230"/>
                                        </p:tgtEl>
                                        <p:attrNameLst>
                                          <p:attrName>style.visibility</p:attrName>
                                        </p:attrNameLst>
                                      </p:cBhvr>
                                      <p:to>
                                        <p:strVal val="visible"/>
                                      </p:to>
                                    </p:set>
                                    <p:animEffect filter="wipe(left)" transition="in">
                                      <p:cBhvr additive="repl">
                                        <p:cTn id="734" dur="1000"/>
                                        <p:tgtEl>
                                          <p:spTgt spid="230"/>
                                        </p:tgtEl>
                                      </p:cBhvr>
                                    </p:animEffect>
                                  </p:childTnLst>
                                </p:cTn>
                              </p:par>
                            </p:childTnLst>
                          </p:cTn>
                        </p:par>
                      </p:childTnLst>
                    </p:cTn>
                  </p:par>
                  <p:par>
                    <p:cTn id="735" nodeType="clickEffect" fill="hold">
                      <p:stCondLst>
                        <p:cond delay="indefinite"/>
                      </p:stCondLst>
                      <p:childTnLst>
                        <p:par>
                          <p:cTn id="736" nodeType="withEffect" fill="hold">
                            <p:stCondLst>
                              <p:cond delay="0"/>
                            </p:stCondLst>
                            <p:childTnLst>
                              <p:par>
                                <p:cTn id="737" nodeType="clickEffect" fill="hold" presetClass="entr" presetID="22" presetSubtype="8">
                                  <p:stCondLst>
                                    <p:cond delay="0"/>
                                  </p:stCondLst>
                                  <p:childTnLst>
                                    <p:set>
                                      <p:cBhvr>
                                        <p:cTn id="738" dur="1" fill="hold">
                                          <p:stCondLst>
                                            <p:cond delay="0"/>
                                          </p:stCondLst>
                                        </p:cTn>
                                        <p:tgtEl>
                                          <p:spTgt spid="231"/>
                                        </p:tgtEl>
                                        <p:attrNameLst>
                                          <p:attrName>style.visibility</p:attrName>
                                        </p:attrNameLst>
                                      </p:cBhvr>
                                      <p:to>
                                        <p:strVal val="visible"/>
                                      </p:to>
                                    </p:set>
                                    <p:animEffect filter="wipe(left)" transition="in">
                                      <p:cBhvr additive="repl">
                                        <p:cTn id="739" dur="1000"/>
                                        <p:tgtEl>
                                          <p:spTgt spid="231"/>
                                        </p:tgtEl>
                                      </p:cBhvr>
                                    </p:animEffect>
                                  </p:childTnLst>
                                </p:cTn>
                              </p:par>
                            </p:childTnLst>
                          </p:cTn>
                        </p:par>
                      </p:childTnLst>
                    </p:cTn>
                  </p:par>
                  <p:par>
                    <p:cTn id="740" nodeType="clickEffect" fill="hold">
                      <p:stCondLst>
                        <p:cond delay="indefinite"/>
                      </p:stCondLst>
                      <p:childTnLst>
                        <p:par>
                          <p:cTn id="741" nodeType="withEffect" fill="hold">
                            <p:stCondLst>
                              <p:cond delay="0"/>
                            </p:stCondLst>
                            <p:childTnLst>
                              <p:par>
                                <p:cTn id="742" nodeType="clickEffect" fill="hold" presetClass="entr" presetID="10">
                                  <p:stCondLst>
                                    <p:cond delay="0"/>
                                  </p:stCondLst>
                                  <p:childTnLst>
                                    <p:set>
                                      <p:cBhvr>
                                        <p:cTn id="743" dur="1" fill="hold">
                                          <p:stCondLst>
                                            <p:cond delay="0"/>
                                          </p:stCondLst>
                                        </p:cTn>
                                        <p:tgtEl>
                                          <p:spTgt spid="232"/>
                                        </p:tgtEl>
                                        <p:attrNameLst>
                                          <p:attrName>style.visibility</p:attrName>
                                        </p:attrNameLst>
                                      </p:cBhvr>
                                      <p:to>
                                        <p:strVal val="visible"/>
                                      </p:to>
                                    </p:set>
                                    <p:animEffect filter="fade" transition="in">
                                      <p:cBhvr additive="repl">
                                        <p:cTn id="744" dur="5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pic>
        <p:nvPicPr>
          <p:cNvPr id="234" name="Picture 18" descr="fig1304a.gif"/>
          <p:cNvPicPr/>
          <p:nvPr/>
        </p:nvPicPr>
        <p:blipFill>
          <a:blip r:embed="rId1"/>
          <a:stretch/>
        </p:blipFill>
        <p:spPr>
          <a:xfrm>
            <a:off x="3132000" y="1440000"/>
            <a:ext cx="5409720" cy="4822560"/>
          </a:xfrm>
          <a:prstGeom prst="rect">
            <a:avLst/>
          </a:prstGeom>
          <a:noFill/>
          <a:ln w="0">
            <a:noFill/>
          </a:ln>
        </p:spPr>
      </p:pic>
      <p:pic>
        <p:nvPicPr>
          <p:cNvPr id="235" name="Picture 19" descr="fig1304b.gif"/>
          <p:cNvPicPr/>
          <p:nvPr/>
        </p:nvPicPr>
        <p:blipFill>
          <a:blip r:embed="rId2"/>
          <a:stretch/>
        </p:blipFill>
        <p:spPr>
          <a:xfrm>
            <a:off x="3132000" y="1440000"/>
            <a:ext cx="5409720" cy="4822560"/>
          </a:xfrm>
          <a:prstGeom prst="rect">
            <a:avLst/>
          </a:prstGeom>
          <a:noFill/>
          <a:ln w="0">
            <a:noFill/>
          </a:ln>
        </p:spPr>
      </p:pic>
      <p:pic>
        <p:nvPicPr>
          <p:cNvPr id="236" name="Picture 20" descr="fig1304c.gif"/>
          <p:cNvPicPr/>
          <p:nvPr/>
        </p:nvPicPr>
        <p:blipFill>
          <a:blip r:embed="rId3"/>
          <a:stretch/>
        </p:blipFill>
        <p:spPr>
          <a:xfrm>
            <a:off x="3132000" y="1440000"/>
            <a:ext cx="5409720" cy="4822560"/>
          </a:xfrm>
          <a:prstGeom prst="rect">
            <a:avLst/>
          </a:prstGeom>
          <a:noFill/>
          <a:ln w="0">
            <a:noFill/>
          </a:ln>
        </p:spPr>
      </p:pic>
      <p:pic>
        <p:nvPicPr>
          <p:cNvPr id="237" name="Picture 21" descr="fig1304d.gif"/>
          <p:cNvPicPr/>
          <p:nvPr/>
        </p:nvPicPr>
        <p:blipFill>
          <a:blip r:embed="rId4"/>
          <a:stretch/>
        </p:blipFill>
        <p:spPr>
          <a:xfrm>
            <a:off x="3132000" y="1440000"/>
            <a:ext cx="5409720" cy="4822560"/>
          </a:xfrm>
          <a:prstGeom prst="rect">
            <a:avLst/>
          </a:prstGeom>
          <a:noFill/>
          <a:ln w="0">
            <a:noFill/>
          </a:ln>
        </p:spPr>
      </p:pic>
      <p:pic>
        <p:nvPicPr>
          <p:cNvPr id="238" name="Picture 22" descr="fig1304e.gif"/>
          <p:cNvPicPr/>
          <p:nvPr/>
        </p:nvPicPr>
        <p:blipFill>
          <a:blip r:embed="rId5"/>
          <a:stretch/>
        </p:blipFill>
        <p:spPr>
          <a:xfrm>
            <a:off x="3132000" y="1440000"/>
            <a:ext cx="5409720" cy="4822560"/>
          </a:xfrm>
          <a:prstGeom prst="rect">
            <a:avLst/>
          </a:prstGeom>
          <a:noFill/>
          <a:ln w="0">
            <a:noFill/>
          </a:ln>
        </p:spPr>
      </p:pic>
      <p:pic>
        <p:nvPicPr>
          <p:cNvPr id="239" name="Picture 23" descr="fig1304f.gif"/>
          <p:cNvPicPr/>
          <p:nvPr/>
        </p:nvPicPr>
        <p:blipFill>
          <a:blip r:embed="rId6"/>
          <a:stretch/>
        </p:blipFill>
        <p:spPr>
          <a:xfrm>
            <a:off x="3132000" y="1440000"/>
            <a:ext cx="5409720" cy="4822560"/>
          </a:xfrm>
          <a:prstGeom prst="rect">
            <a:avLst/>
          </a:prstGeom>
          <a:noFill/>
          <a:ln w="0">
            <a:noFill/>
          </a:ln>
        </p:spPr>
      </p:pic>
      <p:pic>
        <p:nvPicPr>
          <p:cNvPr id="240" name="Picture 24" descr="fig1304g.gif"/>
          <p:cNvPicPr/>
          <p:nvPr/>
        </p:nvPicPr>
        <p:blipFill>
          <a:blip r:embed="rId7"/>
          <a:stretch/>
        </p:blipFill>
        <p:spPr>
          <a:xfrm>
            <a:off x="3132000" y="1440000"/>
            <a:ext cx="5409720" cy="4822560"/>
          </a:xfrm>
          <a:prstGeom prst="rect">
            <a:avLst/>
          </a:prstGeom>
          <a:noFill/>
          <a:ln w="0">
            <a:noFill/>
          </a:ln>
        </p:spPr>
      </p:pic>
      <p:pic>
        <p:nvPicPr>
          <p:cNvPr id="241" name="Picture 25" descr="fig1304h.gif"/>
          <p:cNvPicPr/>
          <p:nvPr/>
        </p:nvPicPr>
        <p:blipFill>
          <a:blip r:embed="rId8"/>
          <a:stretch/>
        </p:blipFill>
        <p:spPr>
          <a:xfrm>
            <a:off x="3132000" y="1440000"/>
            <a:ext cx="5409720" cy="4822560"/>
          </a:xfrm>
          <a:prstGeom prst="rect">
            <a:avLst/>
          </a:prstGeom>
          <a:noFill/>
          <a:ln w="0">
            <a:noFill/>
          </a:ln>
        </p:spPr>
      </p:pic>
      <p:pic>
        <p:nvPicPr>
          <p:cNvPr id="242" name="Picture 26" descr="fig1304i.gif"/>
          <p:cNvPicPr/>
          <p:nvPr/>
        </p:nvPicPr>
        <p:blipFill>
          <a:blip r:embed="rId9"/>
          <a:stretch/>
        </p:blipFill>
        <p:spPr>
          <a:xfrm>
            <a:off x="3132000" y="1440000"/>
            <a:ext cx="5409720" cy="4822560"/>
          </a:xfrm>
          <a:prstGeom prst="rect">
            <a:avLst/>
          </a:prstGeom>
          <a:noFill/>
          <a:ln w="0">
            <a:noFill/>
          </a:ln>
        </p:spPr>
      </p:pic>
      <p:pic>
        <p:nvPicPr>
          <p:cNvPr id="243" name="Picture 27" descr="fig1304j.gif"/>
          <p:cNvPicPr/>
          <p:nvPr/>
        </p:nvPicPr>
        <p:blipFill>
          <a:blip r:embed="rId10"/>
          <a:stretch/>
        </p:blipFill>
        <p:spPr>
          <a:xfrm>
            <a:off x="3132000" y="1440000"/>
            <a:ext cx="5409720" cy="4822560"/>
          </a:xfrm>
          <a:prstGeom prst="rect">
            <a:avLst/>
          </a:prstGeom>
          <a:noFill/>
          <a:ln w="0">
            <a:noFill/>
          </a:ln>
        </p:spPr>
      </p:pic>
      <p:sp>
        <p:nvSpPr>
          <p:cNvPr id="244" name="PlaceHolder 2"/>
          <p:cNvSpPr>
            <a:spLocks noGrp="1"/>
          </p:cNvSpPr>
          <p:nvPr>
            <p:ph/>
          </p:nvPr>
        </p:nvSpPr>
        <p:spPr>
          <a:xfrm>
            <a:off x="360360" y="1440000"/>
            <a:ext cx="4668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The figure graphs the average product against the quantity of labor employed.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red curve labelled </a:t>
            </a:r>
            <a:r>
              <a:rPr b="0" i="1" lang="en-US" sz="2400" strike="noStrike" u="none">
                <a:solidFill>
                  <a:srgbClr val="000000"/>
                </a:solidFill>
                <a:effectLst/>
                <a:uFillTx/>
                <a:latin typeface="Arial"/>
                <a:ea typeface="ＭＳ Ｐゴシック"/>
              </a:rPr>
              <a:t>AP</a:t>
            </a:r>
            <a:r>
              <a:rPr b="0" lang="en-US" sz="2400" strike="noStrike" u="none">
                <a:solidFill>
                  <a:srgbClr val="000000"/>
                </a:solidFill>
                <a:effectLst/>
                <a:uFillTx/>
                <a:latin typeface="Arial"/>
                <a:ea typeface="ＭＳ Ｐゴシック"/>
              </a:rPr>
              <a:t> is the average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at the quantity of labor,</a:t>
            </a:r>
            <a:r>
              <a:rPr b="0" lang="en-US" sz="2400" strike="noStrike" u="none">
                <a:solidFill>
                  <a:srgbClr val="000000"/>
                </a:solidFill>
                <a:effectLst/>
                <a:uFillTx/>
                <a:latin typeface="Arial"/>
                <a:ea typeface="ＭＳ Ｐゴシック"/>
              </a:rPr>
              <a:t> marginal product </a:t>
            </a:r>
            <a:r>
              <a:rPr b="0" i="1" lang="en-US" sz="2400" strike="noStrike" u="none">
                <a:solidFill>
                  <a:srgbClr val="000000"/>
                </a:solidFill>
                <a:effectLst/>
                <a:uFillTx/>
                <a:latin typeface="Arial"/>
                <a:ea typeface="ＭＳ Ｐゴシック"/>
              </a:rPr>
              <a:t>exceeds </a:t>
            </a:r>
            <a:r>
              <a:rPr b="0" lang="en-US" sz="2400" strike="noStrike" u="none">
                <a:solidFill>
                  <a:srgbClr val="000000"/>
                </a:solidFill>
                <a:effectLst/>
                <a:uFillTx/>
                <a:latin typeface="Arial"/>
                <a:ea typeface="ＭＳ Ｐゴシック"/>
              </a:rPr>
              <a:t>average product, then average product                     is increasing.</a:t>
            </a:r>
            <a:endParaRPr b="1" lang="en-CA" sz="2400" strike="noStrike" u="none">
              <a:solidFill>
                <a:srgbClr val="00468f"/>
              </a:solidFill>
              <a:effectLst/>
              <a:uFillTx/>
              <a:latin typeface="Arial"/>
            </a:endParaRPr>
          </a:p>
        </p:txBody>
      </p:sp>
    </p:spTree>
  </p:cSld>
  <p:transition spd="slow">
    <p:wipe dir="r"/>
  </p:transition>
  <p:timing>
    <p:tnLst>
      <p:par>
        <p:cTn id="745" dur="indefinite" restart="never" nodeType="tmRoot">
          <p:childTnLst>
            <p:seq>
              <p:cTn id="746" dur="indefinite" nodeType="mainSeq">
                <p:childTnLst>
                  <p:par>
                    <p:cTn id="747" nodeType="clickEffect" fill="hold">
                      <p:stCondLst>
                        <p:cond delay="indefinite"/>
                      </p:stCondLst>
                      <p:childTnLst>
                        <p:par>
                          <p:cTn id="748" nodeType="withEffect" fill="hold">
                            <p:stCondLst>
                              <p:cond delay="0"/>
                            </p:stCondLst>
                            <p:childTnLst>
                              <p:par>
                                <p:cTn id="749" nodeType="clickEffect" fill="hold" presetClass="entr" presetID="22" presetSubtype="8">
                                  <p:stCondLst>
                                    <p:cond delay="0"/>
                                  </p:stCondLst>
                                  <p:childTnLst>
                                    <p:set>
                                      <p:cBhvr>
                                        <p:cTn id="750" dur="1" fill="hold">
                                          <p:stCondLst>
                                            <p:cond delay="0"/>
                                          </p:stCondLst>
                                        </p:cTn>
                                        <p:tgtEl>
                                          <p:spTgt spid="244">
                                            <p:txEl>
                                              <p:pRg st="1" end="1"/>
                                            </p:txEl>
                                          </p:spTgt>
                                        </p:tgtEl>
                                        <p:attrNameLst>
                                          <p:attrName>style.visibility</p:attrName>
                                        </p:attrNameLst>
                                      </p:cBhvr>
                                      <p:to>
                                        <p:strVal val="visible"/>
                                      </p:to>
                                    </p:set>
                                    <p:animEffect filter="wipe(left)" transition="in">
                                      <p:cBhvr additive="repl">
                                        <p:cTn id="751" dur="500"/>
                                        <p:tgtEl>
                                          <p:spTgt spid="244">
                                            <p:txEl>
                                              <p:pRg st="1" end="1"/>
                                            </p:txEl>
                                          </p:spTgt>
                                        </p:tgtEl>
                                      </p:cBhvr>
                                    </p:animEffect>
                                  </p:childTnLst>
                                </p:cTn>
                              </p:par>
                              <p:par>
                                <p:cTn id="752" nodeType="withEffect" fill="hold" presetClass="entr" presetID="10">
                                  <p:stCondLst>
                                    <p:cond delay="0"/>
                                  </p:stCondLst>
                                  <p:childTnLst>
                                    <p:set>
                                      <p:cBhvr>
                                        <p:cTn id="753" dur="1" fill="hold">
                                          <p:stCondLst>
                                            <p:cond delay="0"/>
                                          </p:stCondLst>
                                        </p:cTn>
                                        <p:tgtEl>
                                          <p:spTgt spid="235"/>
                                        </p:tgtEl>
                                        <p:attrNameLst>
                                          <p:attrName>style.visibility</p:attrName>
                                        </p:attrNameLst>
                                      </p:cBhvr>
                                      <p:to>
                                        <p:strVal val="visible"/>
                                      </p:to>
                                    </p:set>
                                    <p:animEffect filter="fade" transition="in">
                                      <p:cBhvr additive="repl">
                                        <p:cTn id="754" dur="500"/>
                                        <p:tgtEl>
                                          <p:spTgt spid="235"/>
                                        </p:tgtEl>
                                      </p:cBhvr>
                                    </p:animEffect>
                                  </p:childTnLst>
                                </p:cTn>
                              </p:par>
                              <p:par>
                                <p:cTn id="755" nodeType="withEffect" fill="hold" presetClass="entr" presetID="10">
                                  <p:stCondLst>
                                    <p:cond delay="300"/>
                                  </p:stCondLst>
                                  <p:childTnLst>
                                    <p:set>
                                      <p:cBhvr>
                                        <p:cTn id="756" dur="1" fill="hold">
                                          <p:stCondLst>
                                            <p:cond delay="0"/>
                                          </p:stCondLst>
                                        </p:cTn>
                                        <p:tgtEl>
                                          <p:spTgt spid="236"/>
                                        </p:tgtEl>
                                        <p:attrNameLst>
                                          <p:attrName>style.visibility</p:attrName>
                                        </p:attrNameLst>
                                      </p:cBhvr>
                                      <p:to>
                                        <p:strVal val="visible"/>
                                      </p:to>
                                    </p:set>
                                    <p:animEffect filter="fade" transition="in">
                                      <p:cBhvr additive="repl">
                                        <p:cTn id="757" dur="500"/>
                                        <p:tgtEl>
                                          <p:spTgt spid="236"/>
                                        </p:tgtEl>
                                      </p:cBhvr>
                                    </p:animEffect>
                                  </p:childTnLst>
                                </p:cTn>
                              </p:par>
                              <p:par>
                                <p:cTn id="758" nodeType="withEffect" fill="hold" presetClass="entr" presetID="10">
                                  <p:stCondLst>
                                    <p:cond delay="600"/>
                                  </p:stCondLst>
                                  <p:childTnLst>
                                    <p:set>
                                      <p:cBhvr>
                                        <p:cTn id="759" dur="1" fill="hold">
                                          <p:stCondLst>
                                            <p:cond delay="0"/>
                                          </p:stCondLst>
                                        </p:cTn>
                                        <p:tgtEl>
                                          <p:spTgt spid="237"/>
                                        </p:tgtEl>
                                        <p:attrNameLst>
                                          <p:attrName>style.visibility</p:attrName>
                                        </p:attrNameLst>
                                      </p:cBhvr>
                                      <p:to>
                                        <p:strVal val="visible"/>
                                      </p:to>
                                    </p:set>
                                    <p:animEffect filter="fade" transition="in">
                                      <p:cBhvr additive="repl">
                                        <p:cTn id="760" dur="500"/>
                                        <p:tgtEl>
                                          <p:spTgt spid="237"/>
                                        </p:tgtEl>
                                      </p:cBhvr>
                                    </p:animEffect>
                                  </p:childTnLst>
                                </p:cTn>
                              </p:par>
                              <p:par>
                                <p:cTn id="761" nodeType="withEffect" fill="hold" presetClass="entr" presetID="10">
                                  <p:stCondLst>
                                    <p:cond delay="900"/>
                                  </p:stCondLst>
                                  <p:childTnLst>
                                    <p:set>
                                      <p:cBhvr>
                                        <p:cTn id="762" dur="1" fill="hold">
                                          <p:stCondLst>
                                            <p:cond delay="0"/>
                                          </p:stCondLst>
                                        </p:cTn>
                                        <p:tgtEl>
                                          <p:spTgt spid="238"/>
                                        </p:tgtEl>
                                        <p:attrNameLst>
                                          <p:attrName>style.visibility</p:attrName>
                                        </p:attrNameLst>
                                      </p:cBhvr>
                                      <p:to>
                                        <p:strVal val="visible"/>
                                      </p:to>
                                    </p:set>
                                    <p:animEffect filter="fade" transition="in">
                                      <p:cBhvr additive="repl">
                                        <p:cTn id="763" dur="500"/>
                                        <p:tgtEl>
                                          <p:spTgt spid="238"/>
                                        </p:tgtEl>
                                      </p:cBhvr>
                                    </p:animEffect>
                                  </p:childTnLst>
                                </p:cTn>
                              </p:par>
                              <p:par>
                                <p:cTn id="764" nodeType="withEffect" fill="hold" presetClass="entr" presetID="10">
                                  <p:stCondLst>
                                    <p:cond delay="1300"/>
                                  </p:stCondLst>
                                  <p:childTnLst>
                                    <p:set>
                                      <p:cBhvr>
                                        <p:cTn id="765" dur="1" fill="hold">
                                          <p:stCondLst>
                                            <p:cond delay="0"/>
                                          </p:stCondLst>
                                        </p:cTn>
                                        <p:tgtEl>
                                          <p:spTgt spid="239"/>
                                        </p:tgtEl>
                                        <p:attrNameLst>
                                          <p:attrName>style.visibility</p:attrName>
                                        </p:attrNameLst>
                                      </p:cBhvr>
                                      <p:to>
                                        <p:strVal val="visible"/>
                                      </p:to>
                                    </p:set>
                                    <p:animEffect filter="fade" transition="in">
                                      <p:cBhvr additive="repl">
                                        <p:cTn id="766" dur="500"/>
                                        <p:tgtEl>
                                          <p:spTgt spid="239"/>
                                        </p:tgtEl>
                                      </p:cBhvr>
                                    </p:animEffect>
                                  </p:childTnLst>
                                </p:cTn>
                              </p:par>
                              <p:par>
                                <p:cTn id="767" nodeType="withEffect" fill="hold" presetClass="entr" presetID="10">
                                  <p:stCondLst>
                                    <p:cond delay="1600"/>
                                  </p:stCondLst>
                                  <p:childTnLst>
                                    <p:set>
                                      <p:cBhvr>
                                        <p:cTn id="768" dur="1" fill="hold">
                                          <p:stCondLst>
                                            <p:cond delay="0"/>
                                          </p:stCondLst>
                                        </p:cTn>
                                        <p:tgtEl>
                                          <p:spTgt spid="240"/>
                                        </p:tgtEl>
                                        <p:attrNameLst>
                                          <p:attrName>style.visibility</p:attrName>
                                        </p:attrNameLst>
                                      </p:cBhvr>
                                      <p:to>
                                        <p:strVal val="visible"/>
                                      </p:to>
                                    </p:set>
                                    <p:animEffect filter="fade" transition="in">
                                      <p:cBhvr additive="repl">
                                        <p:cTn id="769" dur="500"/>
                                        <p:tgtEl>
                                          <p:spTgt spid="240"/>
                                        </p:tgtEl>
                                      </p:cBhvr>
                                    </p:animEffect>
                                  </p:childTnLst>
                                </p:cTn>
                              </p:par>
                              <p:par>
                                <p:cTn id="770" nodeType="withEffect" fill="hold" presetClass="entr" presetID="10">
                                  <p:stCondLst>
                                    <p:cond delay="2000"/>
                                  </p:stCondLst>
                                  <p:childTnLst>
                                    <p:set>
                                      <p:cBhvr>
                                        <p:cTn id="771" dur="1" fill="hold">
                                          <p:stCondLst>
                                            <p:cond delay="0"/>
                                          </p:stCondLst>
                                        </p:cTn>
                                        <p:tgtEl>
                                          <p:spTgt spid="241"/>
                                        </p:tgtEl>
                                        <p:attrNameLst>
                                          <p:attrName>style.visibility</p:attrName>
                                        </p:attrNameLst>
                                      </p:cBhvr>
                                      <p:to>
                                        <p:strVal val="visible"/>
                                      </p:to>
                                    </p:set>
                                    <p:animEffect filter="fade" transition="in">
                                      <p:cBhvr additive="repl">
                                        <p:cTn id="772" dur="500"/>
                                        <p:tgtEl>
                                          <p:spTgt spid="241"/>
                                        </p:tgtEl>
                                      </p:cBhvr>
                                    </p:animEffect>
                                  </p:childTnLst>
                                </p:cTn>
                              </p:par>
                              <p:par>
                                <p:cTn id="773" nodeType="withEffect" fill="hold" presetClass="entr" presetID="22" presetSubtype="8">
                                  <p:stCondLst>
                                    <p:cond delay="2500"/>
                                  </p:stCondLst>
                                  <p:childTnLst>
                                    <p:set>
                                      <p:cBhvr>
                                        <p:cTn id="774" dur="1" fill="hold">
                                          <p:stCondLst>
                                            <p:cond delay="0"/>
                                          </p:stCondLst>
                                        </p:cTn>
                                        <p:tgtEl>
                                          <p:spTgt spid="242"/>
                                        </p:tgtEl>
                                        <p:attrNameLst>
                                          <p:attrName>style.visibility</p:attrName>
                                        </p:attrNameLst>
                                      </p:cBhvr>
                                      <p:to>
                                        <p:strVal val="visible"/>
                                      </p:to>
                                    </p:set>
                                    <p:animEffect filter="wipe(left)" transition="in">
                                      <p:cBhvr additive="repl">
                                        <p:cTn id="775" dur="1000"/>
                                        <p:tgtEl>
                                          <p:spTgt spid="242"/>
                                        </p:tgtEl>
                                      </p:cBhvr>
                                    </p:animEffect>
                                  </p:childTnLst>
                                </p:cTn>
                              </p:par>
                            </p:childTnLst>
                          </p:cTn>
                        </p:par>
                      </p:childTnLst>
                    </p:cTn>
                  </p:par>
                  <p:par>
                    <p:cTn id="776" nodeType="clickEffect" fill="hold">
                      <p:stCondLst>
                        <p:cond delay="indefinite"/>
                      </p:stCondLst>
                      <p:childTnLst>
                        <p:par>
                          <p:cTn id="777" nodeType="withEffect" fill="hold">
                            <p:stCondLst>
                              <p:cond delay="0"/>
                            </p:stCondLst>
                            <p:childTnLst>
                              <p:par>
                                <p:cTn id="778" nodeType="clickEffect" fill="hold" presetClass="entr" presetID="22" presetSubtype="8">
                                  <p:stCondLst>
                                    <p:cond delay="0"/>
                                  </p:stCondLst>
                                  <p:childTnLst>
                                    <p:set>
                                      <p:cBhvr>
                                        <p:cTn id="779" dur="1" fill="hold">
                                          <p:stCondLst>
                                            <p:cond delay="0"/>
                                          </p:stCondLst>
                                        </p:cTn>
                                        <p:tgtEl>
                                          <p:spTgt spid="244">
                                            <p:txEl>
                                              <p:pRg st="2" end="2"/>
                                            </p:txEl>
                                          </p:spTgt>
                                        </p:tgtEl>
                                        <p:attrNameLst>
                                          <p:attrName>style.visibility</p:attrName>
                                        </p:attrNameLst>
                                      </p:cBhvr>
                                      <p:to>
                                        <p:strVal val="visible"/>
                                      </p:to>
                                    </p:set>
                                    <p:animEffect filter="wipe(left)" transition="in">
                                      <p:cBhvr additive="repl">
                                        <p:cTn id="780" dur="500"/>
                                        <p:tgtEl>
                                          <p:spTgt spid="244">
                                            <p:txEl>
                                              <p:pRg st="2" end="2"/>
                                            </p:txEl>
                                          </p:spTgt>
                                        </p:tgtEl>
                                      </p:cBhvr>
                                    </p:animEffect>
                                  </p:childTnLst>
                                </p:cTn>
                              </p:par>
                              <p:par>
                                <p:cTn id="781" nodeType="withEffect" fill="hold" presetClass="entr" presetID="22" presetSubtype="8">
                                  <p:stCondLst>
                                    <p:cond delay="0"/>
                                  </p:stCondLst>
                                  <p:childTnLst>
                                    <p:set>
                                      <p:cBhvr>
                                        <p:cTn id="782" dur="1" fill="hold">
                                          <p:stCondLst>
                                            <p:cond delay="0"/>
                                          </p:stCondLst>
                                        </p:cTn>
                                        <p:tgtEl>
                                          <p:spTgt spid="243"/>
                                        </p:tgtEl>
                                        <p:attrNameLst>
                                          <p:attrName>style.visibility</p:attrName>
                                        </p:attrNameLst>
                                      </p:cBhvr>
                                      <p:to>
                                        <p:strVal val="visible"/>
                                      </p:to>
                                    </p:set>
                                    <p:animEffect filter="wipe(left)" transition="in">
                                      <p:cBhvr additive="repl">
                                        <p:cTn id="783" dur="10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5" name="Picture 18" descr="fig1304a.gif"/>
          <p:cNvPicPr/>
          <p:nvPr/>
        </p:nvPicPr>
        <p:blipFill>
          <a:blip r:embed="rId1"/>
          <a:stretch/>
        </p:blipFill>
        <p:spPr>
          <a:xfrm>
            <a:off x="3132000" y="1440000"/>
            <a:ext cx="5409720" cy="4822560"/>
          </a:xfrm>
          <a:prstGeom prst="rect">
            <a:avLst/>
          </a:prstGeom>
          <a:noFill/>
          <a:ln w="0">
            <a:noFill/>
          </a:ln>
        </p:spPr>
      </p:pic>
      <p:pic>
        <p:nvPicPr>
          <p:cNvPr id="246" name="Picture 19" descr="fig1304b.gif"/>
          <p:cNvPicPr/>
          <p:nvPr/>
        </p:nvPicPr>
        <p:blipFill>
          <a:blip r:embed="rId2"/>
          <a:stretch/>
        </p:blipFill>
        <p:spPr>
          <a:xfrm>
            <a:off x="3132000" y="1440000"/>
            <a:ext cx="5409720" cy="4822560"/>
          </a:xfrm>
          <a:prstGeom prst="rect">
            <a:avLst/>
          </a:prstGeom>
          <a:noFill/>
          <a:ln w="0">
            <a:noFill/>
          </a:ln>
        </p:spPr>
      </p:pic>
      <p:pic>
        <p:nvPicPr>
          <p:cNvPr id="247" name="Picture 20" descr="fig1304c.gif"/>
          <p:cNvPicPr/>
          <p:nvPr/>
        </p:nvPicPr>
        <p:blipFill>
          <a:blip r:embed="rId3"/>
          <a:stretch/>
        </p:blipFill>
        <p:spPr>
          <a:xfrm>
            <a:off x="3132000" y="1440000"/>
            <a:ext cx="5409720" cy="4822560"/>
          </a:xfrm>
          <a:prstGeom prst="rect">
            <a:avLst/>
          </a:prstGeom>
          <a:noFill/>
          <a:ln w="0">
            <a:noFill/>
          </a:ln>
        </p:spPr>
      </p:pic>
      <p:pic>
        <p:nvPicPr>
          <p:cNvPr id="248" name="Picture 21" descr="fig1304d.gif"/>
          <p:cNvPicPr/>
          <p:nvPr/>
        </p:nvPicPr>
        <p:blipFill>
          <a:blip r:embed="rId4"/>
          <a:stretch/>
        </p:blipFill>
        <p:spPr>
          <a:xfrm>
            <a:off x="3132000" y="1440000"/>
            <a:ext cx="5409720" cy="4822560"/>
          </a:xfrm>
          <a:prstGeom prst="rect">
            <a:avLst/>
          </a:prstGeom>
          <a:noFill/>
          <a:ln w="0">
            <a:noFill/>
          </a:ln>
        </p:spPr>
      </p:pic>
      <p:pic>
        <p:nvPicPr>
          <p:cNvPr id="249" name="Picture 22" descr="fig1304e.gif"/>
          <p:cNvPicPr/>
          <p:nvPr/>
        </p:nvPicPr>
        <p:blipFill>
          <a:blip r:embed="rId5"/>
          <a:stretch/>
        </p:blipFill>
        <p:spPr>
          <a:xfrm>
            <a:off x="3132000" y="1440000"/>
            <a:ext cx="5409720" cy="4822560"/>
          </a:xfrm>
          <a:prstGeom prst="rect">
            <a:avLst/>
          </a:prstGeom>
          <a:noFill/>
          <a:ln w="0">
            <a:noFill/>
          </a:ln>
        </p:spPr>
      </p:pic>
      <p:pic>
        <p:nvPicPr>
          <p:cNvPr id="250" name="Picture 23" descr="fig1304f.gif"/>
          <p:cNvPicPr/>
          <p:nvPr/>
        </p:nvPicPr>
        <p:blipFill>
          <a:blip r:embed="rId6"/>
          <a:stretch/>
        </p:blipFill>
        <p:spPr>
          <a:xfrm>
            <a:off x="3132000" y="1440000"/>
            <a:ext cx="5409720" cy="4822560"/>
          </a:xfrm>
          <a:prstGeom prst="rect">
            <a:avLst/>
          </a:prstGeom>
          <a:noFill/>
          <a:ln w="0">
            <a:noFill/>
          </a:ln>
        </p:spPr>
      </p:pic>
      <p:pic>
        <p:nvPicPr>
          <p:cNvPr id="251" name="Picture 24" descr="fig1304g.gif"/>
          <p:cNvPicPr/>
          <p:nvPr/>
        </p:nvPicPr>
        <p:blipFill>
          <a:blip r:embed="rId7"/>
          <a:stretch/>
        </p:blipFill>
        <p:spPr>
          <a:xfrm>
            <a:off x="3132000" y="1440000"/>
            <a:ext cx="5409720" cy="4822560"/>
          </a:xfrm>
          <a:prstGeom prst="rect">
            <a:avLst/>
          </a:prstGeom>
          <a:noFill/>
          <a:ln w="0">
            <a:noFill/>
          </a:ln>
        </p:spPr>
      </p:pic>
      <p:pic>
        <p:nvPicPr>
          <p:cNvPr id="252" name="Picture 25" descr="fig1304h.gif"/>
          <p:cNvPicPr/>
          <p:nvPr/>
        </p:nvPicPr>
        <p:blipFill>
          <a:blip r:embed="rId8"/>
          <a:stretch/>
        </p:blipFill>
        <p:spPr>
          <a:xfrm>
            <a:off x="3132000" y="1440000"/>
            <a:ext cx="5409720" cy="4822560"/>
          </a:xfrm>
          <a:prstGeom prst="rect">
            <a:avLst/>
          </a:prstGeom>
          <a:noFill/>
          <a:ln w="0">
            <a:noFill/>
          </a:ln>
        </p:spPr>
      </p:pic>
      <p:pic>
        <p:nvPicPr>
          <p:cNvPr id="253" name="Picture 26" descr="fig1304i.gif"/>
          <p:cNvPicPr/>
          <p:nvPr/>
        </p:nvPicPr>
        <p:blipFill>
          <a:blip r:embed="rId9"/>
          <a:stretch/>
        </p:blipFill>
        <p:spPr>
          <a:xfrm>
            <a:off x="3132000" y="1440000"/>
            <a:ext cx="5409720" cy="4822560"/>
          </a:xfrm>
          <a:prstGeom prst="rect">
            <a:avLst/>
          </a:prstGeom>
          <a:noFill/>
          <a:ln w="0">
            <a:noFill/>
          </a:ln>
        </p:spPr>
      </p:pic>
      <p:pic>
        <p:nvPicPr>
          <p:cNvPr id="254" name="Picture 27" descr="fig1304j.gif"/>
          <p:cNvPicPr/>
          <p:nvPr/>
        </p:nvPicPr>
        <p:blipFill>
          <a:blip r:embed="rId10"/>
          <a:stretch/>
        </p:blipFill>
        <p:spPr>
          <a:xfrm>
            <a:off x="3132000" y="1440000"/>
            <a:ext cx="5409720" cy="4822560"/>
          </a:xfrm>
          <a:prstGeom prst="rect">
            <a:avLst/>
          </a:prstGeom>
          <a:noFill/>
          <a:ln w="0">
            <a:noFill/>
          </a:ln>
        </p:spPr>
      </p:pic>
      <p:pic>
        <p:nvPicPr>
          <p:cNvPr id="255" name="Picture 28" descr="fig1304k.gif"/>
          <p:cNvPicPr/>
          <p:nvPr/>
        </p:nvPicPr>
        <p:blipFill>
          <a:blip r:embed="rId11"/>
          <a:stretch/>
        </p:blipFill>
        <p:spPr>
          <a:xfrm>
            <a:off x="3132000" y="1440000"/>
            <a:ext cx="5409720" cy="4822560"/>
          </a:xfrm>
          <a:prstGeom prst="rect">
            <a:avLst/>
          </a:prstGeom>
          <a:noFill/>
          <a:ln w="0">
            <a:noFill/>
          </a:ln>
        </p:spPr>
      </p:pic>
      <p:sp>
        <p:nvSpPr>
          <p:cNvPr id="25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14.2  SHORT-RUN PRODUCTION</a:t>
            </a:r>
            <a:endParaRPr b="0" lang="en-CA" sz="2600" strike="noStrike" u="none">
              <a:solidFill>
                <a:schemeClr val="dk1"/>
              </a:solidFill>
              <a:effectLst/>
              <a:uFillTx/>
              <a:latin typeface="Arial"/>
            </a:endParaRPr>
          </a:p>
        </p:txBody>
      </p:sp>
      <p:sp>
        <p:nvSpPr>
          <p:cNvPr id="257" name="PlaceHolder 2"/>
          <p:cNvSpPr>
            <a:spLocks noGrp="1"/>
          </p:cNvSpPr>
          <p:nvPr>
            <p:ph/>
          </p:nvPr>
        </p:nvSpPr>
        <p:spPr>
          <a:xfrm>
            <a:off x="360360" y="1440000"/>
            <a:ext cx="47448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If at the quantity of labor, marginal product is </a:t>
            </a:r>
            <a:r>
              <a:rPr b="0" i="1" lang="en-US" sz="2400" strike="noStrike" u="none">
                <a:solidFill>
                  <a:schemeClr val="dk1"/>
                </a:solidFill>
                <a:effectLst/>
                <a:uFillTx/>
                <a:latin typeface="Arial"/>
                <a:ea typeface="ＭＳ Ｐゴシック"/>
              </a:rPr>
              <a:t>less</a:t>
            </a:r>
            <a:r>
              <a:rPr b="0" lang="en-US" sz="2400" strike="noStrike" u="none">
                <a:solidFill>
                  <a:schemeClr val="dk1"/>
                </a:solidFill>
                <a:effectLst/>
                <a:uFillTx/>
                <a:latin typeface="Arial"/>
                <a:ea typeface="ＭＳ Ｐゴシック"/>
              </a:rPr>
              <a:t> than average product, then average product is decreasing.</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at the quantity of labor,</a:t>
            </a:r>
            <a:r>
              <a:rPr b="0" lang="en-US" sz="2400" strike="noStrike" u="none">
                <a:solidFill>
                  <a:srgbClr val="000000"/>
                </a:solidFill>
                <a:effectLst/>
                <a:uFillTx/>
                <a:latin typeface="Arial"/>
                <a:ea typeface="ＭＳ Ｐゴシック"/>
              </a:rPr>
              <a:t> marginal product </a:t>
            </a:r>
            <a:r>
              <a:rPr b="0" i="1" lang="en-US" sz="2400" strike="noStrike" u="none">
                <a:solidFill>
                  <a:srgbClr val="000000"/>
                </a:solidFill>
                <a:effectLst/>
                <a:uFillTx/>
                <a:latin typeface="Arial"/>
                <a:ea typeface="ＭＳ Ｐゴシック"/>
              </a:rPr>
              <a:t>equals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average product, then average product is at its maximum.</a:t>
            </a:r>
            <a:endParaRPr b="1" lang="en-CA" sz="2400" strike="noStrike" u="none">
              <a:solidFill>
                <a:srgbClr val="00468f"/>
              </a:solidFill>
              <a:effectLst/>
              <a:uFillTx/>
              <a:latin typeface="Arial"/>
            </a:endParaRPr>
          </a:p>
        </p:txBody>
      </p:sp>
    </p:spTree>
  </p:cSld>
  <p:transition spd="slow">
    <p:wipe dir="r"/>
  </p:transition>
  <p:timing>
    <p:tnLst>
      <p:par>
        <p:cTn id="784" dur="indefinite" restart="never" nodeType="tmRoot">
          <p:childTnLst>
            <p:seq>
              <p:cTn id="785" dur="indefinite" nodeType="mainSeq">
                <p:childTnLst>
                  <p:par>
                    <p:cTn id="786" nodeType="clickEffect" fill="hold">
                      <p:stCondLst>
                        <p:cond delay="indefinite"/>
                      </p:stCondLst>
                      <p:childTnLst>
                        <p:par>
                          <p:cTn id="787" nodeType="withEffect" fill="hold">
                            <p:stCondLst>
                              <p:cond delay="0"/>
                            </p:stCondLst>
                            <p:childTnLst>
                              <p:par>
                                <p:cTn id="788" nodeType="clickEffect" fill="hold" presetClass="entr" presetID="22" presetSubtype="8">
                                  <p:stCondLst>
                                    <p:cond delay="0"/>
                                  </p:stCondLst>
                                  <p:childTnLst>
                                    <p:set>
                                      <p:cBhvr>
                                        <p:cTn id="789" dur="1" fill="hold">
                                          <p:stCondLst>
                                            <p:cond delay="0"/>
                                          </p:stCondLst>
                                        </p:cTn>
                                        <p:tgtEl>
                                          <p:spTgt spid="257">
                                            <p:txEl>
                                              <p:pRg st="1" end="1"/>
                                            </p:txEl>
                                          </p:spTgt>
                                        </p:tgtEl>
                                        <p:attrNameLst>
                                          <p:attrName>style.visibility</p:attrName>
                                        </p:attrNameLst>
                                      </p:cBhvr>
                                      <p:to>
                                        <p:strVal val="visible"/>
                                      </p:to>
                                    </p:set>
                                    <p:animEffect filter="wipe(left)" transition="in">
                                      <p:cBhvr additive="repl">
                                        <p:cTn id="790" dur="500"/>
                                        <p:tgtEl>
                                          <p:spTgt spid="257">
                                            <p:txEl>
                                              <p:pRg st="1" end="1"/>
                                            </p:txEl>
                                          </p:spTgt>
                                        </p:tgtEl>
                                      </p:cBhvr>
                                    </p:animEffect>
                                  </p:childTnLst>
                                </p:cTn>
                              </p:par>
                            </p:childTnLst>
                          </p:cTn>
                        </p:par>
                      </p:childTnLst>
                    </p:cTn>
                  </p:par>
                  <p:par>
                    <p:cTn id="791" nodeType="clickEffect" fill="hold">
                      <p:stCondLst>
                        <p:cond delay="indefinite"/>
                      </p:stCondLst>
                      <p:childTnLst>
                        <p:par>
                          <p:cTn id="792" nodeType="withEffect" fill="hold">
                            <p:stCondLst>
                              <p:cond delay="0"/>
                            </p:stCondLst>
                            <p:childTnLst>
                              <p:par>
                                <p:cTn id="793" nodeType="clickEffect" fill="hold" presetClass="entr" presetID="22" presetSubtype="8">
                                  <p:stCondLst>
                                    <p:cond delay="0"/>
                                  </p:stCondLst>
                                  <p:childTnLst>
                                    <p:set>
                                      <p:cBhvr>
                                        <p:cTn id="794" dur="1" fill="hold">
                                          <p:stCondLst>
                                            <p:cond delay="0"/>
                                          </p:stCondLst>
                                        </p:cTn>
                                        <p:tgtEl>
                                          <p:spTgt spid="257">
                                            <p:txEl>
                                              <p:pRg st="2" end="2"/>
                                            </p:txEl>
                                          </p:spTgt>
                                        </p:tgtEl>
                                        <p:attrNameLst>
                                          <p:attrName>style.visibility</p:attrName>
                                        </p:attrNameLst>
                                      </p:cBhvr>
                                      <p:to>
                                        <p:strVal val="visible"/>
                                      </p:to>
                                    </p:set>
                                    <p:animEffect filter="wipe(left)" transition="in">
                                      <p:cBhvr additive="repl">
                                        <p:cTn id="795" dur="500"/>
                                        <p:tgtEl>
                                          <p:spTgt spid="257">
                                            <p:txEl>
                                              <p:pRg st="2" end="2"/>
                                            </p:txEl>
                                          </p:spTgt>
                                        </p:tgtEl>
                                      </p:cBhvr>
                                    </p:animEffect>
                                  </p:childTnLst>
                                </p:cTn>
                              </p:par>
                              <p:par>
                                <p:cTn id="796" nodeType="withEffect" fill="hold" presetClass="entr" presetID="10">
                                  <p:stCondLst>
                                    <p:cond delay="0"/>
                                  </p:stCondLst>
                                  <p:childTnLst>
                                    <p:set>
                                      <p:cBhvr>
                                        <p:cTn id="797" dur="1" fill="hold">
                                          <p:stCondLst>
                                            <p:cond delay="0"/>
                                          </p:stCondLst>
                                        </p:cTn>
                                        <p:tgtEl>
                                          <p:spTgt spid="255"/>
                                        </p:tgtEl>
                                        <p:attrNameLst>
                                          <p:attrName>style.visibility</p:attrName>
                                        </p:attrNameLst>
                                      </p:cBhvr>
                                      <p:to>
                                        <p:strVal val="visible"/>
                                      </p:to>
                                    </p:set>
                                    <p:animEffect filter="fade" transition="in">
                                      <p:cBhvr additive="repl">
                                        <p:cTn id="798" dur="5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5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produce more output in the short run, a firm employs more labor, which means the firm must increase its costs.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We describe the relationship between output and cost using three cost concepts: </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Total cost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Marginal cost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Average cost</a:t>
            </a:r>
            <a:endParaRPr b="0" lang="en-CA" sz="2400" strike="noStrike" u="none">
              <a:solidFill>
                <a:schemeClr val="dk1"/>
              </a:solidFill>
              <a:effectLst/>
              <a:uFillTx/>
              <a:latin typeface="Arial"/>
            </a:endParaRPr>
          </a:p>
        </p:txBody>
      </p:sp>
    </p:spTree>
  </p:cSld>
  <p:transition spd="slow">
    <p:wipe dir="r"/>
  </p:transition>
  <p:timing>
    <p:tnLst>
      <p:par>
        <p:cTn id="799" dur="indefinite" restart="never" nodeType="tmRoot">
          <p:childTnLst>
            <p:seq>
              <p:cTn id="800" dur="indefinite" nodeType="mainSeq">
                <p:childTnLst>
                  <p:par>
                    <p:cTn id="801" nodeType="clickEffect" fill="hold">
                      <p:stCondLst>
                        <p:cond delay="indefinite"/>
                      </p:stCondLst>
                      <p:childTnLst>
                        <p:par>
                          <p:cTn id="802" nodeType="withEffect" fill="hold">
                            <p:stCondLst>
                              <p:cond delay="0"/>
                            </p:stCondLst>
                            <p:childTnLst>
                              <p:par>
                                <p:cTn id="803" nodeType="clickEffect" fill="hold" presetClass="entr" presetID="22" presetSubtype="8">
                                  <p:stCondLst>
                                    <p:cond delay="0"/>
                                  </p:stCondLst>
                                  <p:childTnLst>
                                    <p:set>
                                      <p:cBhvr>
                                        <p:cTn id="804" dur="1" fill="hold">
                                          <p:stCondLst>
                                            <p:cond delay="0"/>
                                          </p:stCondLst>
                                        </p:cTn>
                                        <p:tgtEl>
                                          <p:spTgt spid="259">
                                            <p:txEl>
                                              <p:pRg st="1" end="1"/>
                                            </p:txEl>
                                          </p:spTgt>
                                        </p:tgtEl>
                                        <p:attrNameLst>
                                          <p:attrName>style.visibility</p:attrName>
                                        </p:attrNameLst>
                                      </p:cBhvr>
                                      <p:to>
                                        <p:strVal val="visible"/>
                                      </p:to>
                                    </p:set>
                                    <p:animEffect filter="wipe(left)" transition="in">
                                      <p:cBhvr additive="repl">
                                        <p:cTn id="805" dur="500"/>
                                        <p:tgtEl>
                                          <p:spTgt spid="259">
                                            <p:txEl>
                                              <p:pRg st="1" end="1"/>
                                            </p:txEl>
                                          </p:spTgt>
                                        </p:tgtEl>
                                      </p:cBhvr>
                                    </p:animEffect>
                                  </p:childTnLst>
                                </p:cTn>
                              </p:par>
                            </p:childTnLst>
                          </p:cTn>
                        </p:par>
                      </p:childTnLst>
                    </p:cTn>
                  </p:par>
                  <p:par>
                    <p:cTn id="806" nodeType="clickEffect" fill="hold">
                      <p:stCondLst>
                        <p:cond delay="indefinite"/>
                      </p:stCondLst>
                      <p:childTnLst>
                        <p:par>
                          <p:cTn id="807" nodeType="withEffect" fill="hold">
                            <p:stCondLst>
                              <p:cond delay="0"/>
                            </p:stCondLst>
                            <p:childTnLst>
                              <p:par>
                                <p:cTn id="808" nodeType="clickEffect" fill="hold" presetClass="entr" presetID="22" presetSubtype="8">
                                  <p:stCondLst>
                                    <p:cond delay="0"/>
                                  </p:stCondLst>
                                  <p:childTnLst>
                                    <p:set>
                                      <p:cBhvr>
                                        <p:cTn id="809" dur="1" fill="hold">
                                          <p:stCondLst>
                                            <p:cond delay="0"/>
                                          </p:stCondLst>
                                        </p:cTn>
                                        <p:tgtEl>
                                          <p:spTgt spid="259">
                                            <p:txEl>
                                              <p:pRg st="2" end="2"/>
                                            </p:txEl>
                                          </p:spTgt>
                                        </p:tgtEl>
                                        <p:attrNameLst>
                                          <p:attrName>style.visibility</p:attrName>
                                        </p:attrNameLst>
                                      </p:cBhvr>
                                      <p:to>
                                        <p:strVal val="visible"/>
                                      </p:to>
                                    </p:set>
                                    <p:animEffect filter="wipe(left)" transition="in">
                                      <p:cBhvr additive="repl">
                                        <p:cTn id="810" dur="500"/>
                                        <p:tgtEl>
                                          <p:spTgt spid="259">
                                            <p:txEl>
                                              <p:pRg st="2" end="2"/>
                                            </p:txEl>
                                          </p:spTgt>
                                        </p:tgtEl>
                                      </p:cBhvr>
                                    </p:animEffect>
                                  </p:childTnLst>
                                </p:cTn>
                              </p:par>
                            </p:childTnLst>
                          </p:cTn>
                        </p:par>
                      </p:childTnLst>
                    </p:cTn>
                  </p:par>
                  <p:par>
                    <p:cTn id="811" nodeType="clickEffect" fill="hold">
                      <p:stCondLst>
                        <p:cond delay="indefinite"/>
                      </p:stCondLst>
                      <p:childTnLst>
                        <p:par>
                          <p:cTn id="812" nodeType="withEffect" fill="hold">
                            <p:stCondLst>
                              <p:cond delay="0"/>
                            </p:stCondLst>
                            <p:childTnLst>
                              <p:par>
                                <p:cTn id="813" nodeType="clickEffect" fill="hold" presetClass="entr" presetID="22" presetSubtype="8">
                                  <p:stCondLst>
                                    <p:cond delay="0"/>
                                  </p:stCondLst>
                                  <p:childTnLst>
                                    <p:set>
                                      <p:cBhvr>
                                        <p:cTn id="814" dur="1" fill="hold">
                                          <p:stCondLst>
                                            <p:cond delay="0"/>
                                          </p:stCondLst>
                                        </p:cTn>
                                        <p:tgtEl>
                                          <p:spTgt spid="259">
                                            <p:txEl>
                                              <p:pRg st="3" end="3"/>
                                            </p:txEl>
                                          </p:spTgt>
                                        </p:tgtEl>
                                        <p:attrNameLst>
                                          <p:attrName>style.visibility</p:attrName>
                                        </p:attrNameLst>
                                      </p:cBhvr>
                                      <p:to>
                                        <p:strVal val="visible"/>
                                      </p:to>
                                    </p:set>
                                    <p:animEffect filter="wipe(left)" transition="in">
                                      <p:cBhvr additive="repl">
                                        <p:cTn id="815" dur="500"/>
                                        <p:tgtEl>
                                          <p:spTgt spid="259">
                                            <p:txEl>
                                              <p:pRg st="3" end="3"/>
                                            </p:txEl>
                                          </p:spTgt>
                                        </p:tgtEl>
                                      </p:cBhvr>
                                    </p:animEffect>
                                  </p:childTnLst>
                                </p:cTn>
                              </p:par>
                            </p:childTnLst>
                          </p:cTn>
                        </p:par>
                      </p:childTnLst>
                    </p:cTn>
                  </p:par>
                  <p:par>
                    <p:cTn id="816" nodeType="clickEffect" fill="hold">
                      <p:stCondLst>
                        <p:cond delay="indefinite"/>
                      </p:stCondLst>
                      <p:childTnLst>
                        <p:par>
                          <p:cTn id="817" nodeType="withEffect" fill="hold">
                            <p:stCondLst>
                              <p:cond delay="0"/>
                            </p:stCondLst>
                            <p:childTnLst>
                              <p:par>
                                <p:cTn id="818" nodeType="clickEffect" fill="hold" presetClass="entr" presetID="22" presetSubtype="8">
                                  <p:stCondLst>
                                    <p:cond delay="0"/>
                                  </p:stCondLst>
                                  <p:childTnLst>
                                    <p:set>
                                      <p:cBhvr>
                                        <p:cTn id="819" dur="1" fill="hold">
                                          <p:stCondLst>
                                            <p:cond delay="0"/>
                                          </p:stCondLst>
                                        </p:cTn>
                                        <p:tgtEl>
                                          <p:spTgt spid="259">
                                            <p:txEl>
                                              <p:pRg st="4" end="4"/>
                                            </p:txEl>
                                          </p:spTgt>
                                        </p:tgtEl>
                                        <p:attrNameLst>
                                          <p:attrName>style.visibility</p:attrName>
                                        </p:attrNameLst>
                                      </p:cBhvr>
                                      <p:to>
                                        <p:strVal val="visible"/>
                                      </p:to>
                                    </p:set>
                                    <p:animEffect filter="wipe(left)" transition="in">
                                      <p:cBhvr additive="repl">
                                        <p:cTn id="820" dur="500"/>
                                        <p:tgtEl>
                                          <p:spTgt spid="25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6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AU" sz="2800" strike="noStrike" u="none">
                <a:solidFill>
                  <a:srgbClr val="00468f"/>
                </a:solidFill>
                <a:effectLst/>
                <a:uFillTx/>
                <a:latin typeface="Arial"/>
                <a:ea typeface="ＭＳ Ｐゴシック"/>
              </a:rPr>
              <a:t>Total Cost </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firm’s </a:t>
            </a:r>
            <a:r>
              <a:rPr b="1" lang="en-US" sz="2400" strike="noStrike" u="none">
                <a:solidFill>
                  <a:srgbClr val="ff0000"/>
                </a:solidFill>
                <a:effectLst/>
                <a:uFillTx/>
                <a:latin typeface="Arial"/>
                <a:ea typeface="ＭＳ Ｐゴシック"/>
              </a:rPr>
              <a:t>total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TC</a:t>
            </a:r>
            <a:r>
              <a:rPr b="0" lang="en-US" sz="2400" strike="noStrike" u="none">
                <a:solidFill>
                  <a:schemeClr val="dk1"/>
                </a:solidFill>
                <a:effectLst/>
                <a:uFillTx/>
                <a:latin typeface="Arial"/>
                <a:ea typeface="ＭＳ Ｐゴシック"/>
              </a:rPr>
              <a:t>) is the cost of all the factors of production the firm uses.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cost divides into two parts: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Total fixed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TFC</a:t>
            </a:r>
            <a:r>
              <a:rPr b="0" lang="en-US" sz="2400" strike="noStrike" u="none">
                <a:solidFill>
                  <a:schemeClr val="dk1"/>
                </a:solidFill>
                <a:effectLst/>
                <a:uFillTx/>
                <a:latin typeface="Arial"/>
                <a:ea typeface="ＭＳ Ｐゴシック"/>
              </a:rPr>
              <a:t>) is the cost of a firm’s fixed factors of production used by a firm—the cost of land, capital, and entrepreneurship.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fixed cost doesn’t change as output changes. </a:t>
            </a:r>
            <a:endParaRPr b="1" lang="en-CA" sz="2400" strike="noStrike" u="none">
              <a:solidFill>
                <a:srgbClr val="00468f"/>
              </a:solidFill>
              <a:effectLst/>
              <a:uFillTx/>
              <a:latin typeface="Arial"/>
            </a:endParaRPr>
          </a:p>
        </p:txBody>
      </p:sp>
    </p:spTree>
  </p:cSld>
  <p:transition spd="slow">
    <p:wipe dir="r"/>
  </p:transition>
  <p:timing>
    <p:tnLst>
      <p:par>
        <p:cTn id="821" dur="indefinite" restart="never" nodeType="tmRoot">
          <p:childTnLst>
            <p:seq>
              <p:cTn id="822" dur="indefinite" nodeType="mainSeq">
                <p:childTnLst>
                  <p:par>
                    <p:cTn id="823" nodeType="clickEffect" fill="hold">
                      <p:stCondLst>
                        <p:cond delay="indefinite"/>
                      </p:stCondLst>
                      <p:childTnLst>
                        <p:par>
                          <p:cTn id="824" nodeType="withEffect" fill="hold">
                            <p:stCondLst>
                              <p:cond delay="0"/>
                            </p:stCondLst>
                            <p:childTnLst>
                              <p:par>
                                <p:cTn id="825" nodeType="clickEffect" fill="hold" presetClass="entr" presetID="22" presetSubtype="8">
                                  <p:stCondLst>
                                    <p:cond delay="0"/>
                                  </p:stCondLst>
                                  <p:childTnLst>
                                    <p:set>
                                      <p:cBhvr>
                                        <p:cTn id="826" dur="1" fill="hold">
                                          <p:stCondLst>
                                            <p:cond delay="0"/>
                                          </p:stCondLst>
                                        </p:cTn>
                                        <p:tgtEl>
                                          <p:spTgt spid="261">
                                            <p:txEl>
                                              <p:pRg st="1" end="1"/>
                                            </p:txEl>
                                          </p:spTgt>
                                        </p:tgtEl>
                                        <p:attrNameLst>
                                          <p:attrName>style.visibility</p:attrName>
                                        </p:attrNameLst>
                                      </p:cBhvr>
                                      <p:to>
                                        <p:strVal val="visible"/>
                                      </p:to>
                                    </p:set>
                                    <p:animEffect filter="wipe(left)" transition="in">
                                      <p:cBhvr additive="repl">
                                        <p:cTn id="827" dur="500"/>
                                        <p:tgtEl>
                                          <p:spTgt spid="261">
                                            <p:txEl>
                                              <p:pRg st="1" end="1"/>
                                            </p:txEl>
                                          </p:spTgt>
                                        </p:tgtEl>
                                      </p:cBhvr>
                                    </p:animEffect>
                                  </p:childTnLst>
                                </p:cTn>
                              </p:par>
                            </p:childTnLst>
                          </p:cTn>
                        </p:par>
                      </p:childTnLst>
                    </p:cTn>
                  </p:par>
                  <p:par>
                    <p:cTn id="828" nodeType="clickEffect" fill="hold">
                      <p:stCondLst>
                        <p:cond delay="indefinite"/>
                      </p:stCondLst>
                      <p:childTnLst>
                        <p:par>
                          <p:cTn id="829" nodeType="withEffect" fill="hold">
                            <p:stCondLst>
                              <p:cond delay="0"/>
                            </p:stCondLst>
                            <p:childTnLst>
                              <p:par>
                                <p:cTn id="830" nodeType="clickEffect" fill="hold" presetClass="entr" presetID="22" presetSubtype="8">
                                  <p:stCondLst>
                                    <p:cond delay="0"/>
                                  </p:stCondLst>
                                  <p:childTnLst>
                                    <p:set>
                                      <p:cBhvr>
                                        <p:cTn id="831" dur="1" fill="hold">
                                          <p:stCondLst>
                                            <p:cond delay="0"/>
                                          </p:stCondLst>
                                        </p:cTn>
                                        <p:tgtEl>
                                          <p:spTgt spid="261">
                                            <p:txEl>
                                              <p:pRg st="2" end="2"/>
                                            </p:txEl>
                                          </p:spTgt>
                                        </p:tgtEl>
                                        <p:attrNameLst>
                                          <p:attrName>style.visibility</p:attrName>
                                        </p:attrNameLst>
                                      </p:cBhvr>
                                      <p:to>
                                        <p:strVal val="visible"/>
                                      </p:to>
                                    </p:set>
                                    <p:animEffect filter="wipe(left)" transition="in">
                                      <p:cBhvr additive="repl">
                                        <p:cTn id="832" dur="500"/>
                                        <p:tgtEl>
                                          <p:spTgt spid="261">
                                            <p:txEl>
                                              <p:pRg st="2" end="2"/>
                                            </p:txEl>
                                          </p:spTgt>
                                        </p:tgtEl>
                                      </p:cBhvr>
                                    </p:animEffect>
                                  </p:childTnLst>
                                </p:cTn>
                              </p:par>
                            </p:childTnLst>
                          </p:cTn>
                        </p:par>
                      </p:childTnLst>
                    </p:cTn>
                  </p:par>
                  <p:par>
                    <p:cTn id="833" nodeType="clickEffect" fill="hold">
                      <p:stCondLst>
                        <p:cond delay="indefinite"/>
                      </p:stCondLst>
                      <p:childTnLst>
                        <p:par>
                          <p:cTn id="834" nodeType="withEffect" fill="hold">
                            <p:stCondLst>
                              <p:cond delay="0"/>
                            </p:stCondLst>
                            <p:childTnLst>
                              <p:par>
                                <p:cTn id="835" nodeType="clickEffect" fill="hold" presetClass="entr" presetID="22" presetSubtype="8">
                                  <p:stCondLst>
                                    <p:cond delay="0"/>
                                  </p:stCondLst>
                                  <p:childTnLst>
                                    <p:set>
                                      <p:cBhvr>
                                        <p:cTn id="836" dur="1" fill="hold">
                                          <p:stCondLst>
                                            <p:cond delay="0"/>
                                          </p:stCondLst>
                                        </p:cTn>
                                        <p:tgtEl>
                                          <p:spTgt spid="261">
                                            <p:txEl>
                                              <p:pRg st="3" end="3"/>
                                            </p:txEl>
                                          </p:spTgt>
                                        </p:tgtEl>
                                        <p:attrNameLst>
                                          <p:attrName>style.visibility</p:attrName>
                                        </p:attrNameLst>
                                      </p:cBhvr>
                                      <p:to>
                                        <p:strVal val="visible"/>
                                      </p:to>
                                    </p:set>
                                    <p:animEffect filter="wipe(left)" transition="in">
                                      <p:cBhvr additive="repl">
                                        <p:cTn id="837" dur="500"/>
                                        <p:tgtEl>
                                          <p:spTgt spid="261">
                                            <p:txEl>
                                              <p:pRg st="3" end="3"/>
                                            </p:txEl>
                                          </p:spTgt>
                                        </p:tgtEl>
                                      </p:cBhvr>
                                    </p:animEffect>
                                  </p:childTnLst>
                                </p:cTn>
                              </p:par>
                            </p:childTnLst>
                          </p:cTn>
                        </p:par>
                      </p:childTnLst>
                    </p:cTn>
                  </p:par>
                  <p:par>
                    <p:cTn id="838" nodeType="clickEffect" fill="hold">
                      <p:stCondLst>
                        <p:cond delay="indefinite"/>
                      </p:stCondLst>
                      <p:childTnLst>
                        <p:par>
                          <p:cTn id="839" nodeType="withEffect" fill="hold">
                            <p:stCondLst>
                              <p:cond delay="0"/>
                            </p:stCondLst>
                            <p:childTnLst>
                              <p:par>
                                <p:cTn id="840" nodeType="clickEffect" fill="hold" presetClass="entr" presetID="22" presetSubtype="8">
                                  <p:stCondLst>
                                    <p:cond delay="0"/>
                                  </p:stCondLst>
                                  <p:childTnLst>
                                    <p:set>
                                      <p:cBhvr>
                                        <p:cTn id="841" dur="1" fill="hold">
                                          <p:stCondLst>
                                            <p:cond delay="0"/>
                                          </p:stCondLst>
                                        </p:cTn>
                                        <p:tgtEl>
                                          <p:spTgt spid="261">
                                            <p:txEl>
                                              <p:pRg st="4" end="4"/>
                                            </p:txEl>
                                          </p:spTgt>
                                        </p:tgtEl>
                                        <p:attrNameLst>
                                          <p:attrName>style.visibility</p:attrName>
                                        </p:attrNameLst>
                                      </p:cBhvr>
                                      <p:to>
                                        <p:strVal val="visible"/>
                                      </p:to>
                                    </p:set>
                                    <p:animEffect filter="wipe(left)" transition="in">
                                      <p:cBhvr additive="repl">
                                        <p:cTn id="842" dur="500"/>
                                        <p:tgtEl>
                                          <p:spTgt spid="26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6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Total variable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TVC</a:t>
            </a:r>
            <a:r>
              <a:rPr b="0" lang="en-US" sz="2400" strike="noStrike" u="none">
                <a:solidFill>
                  <a:schemeClr val="dk1"/>
                </a:solidFill>
                <a:effectLst/>
                <a:uFillTx/>
                <a:latin typeface="Arial"/>
                <a:ea typeface="ＭＳ Ｐゴシック"/>
              </a:rPr>
              <a:t>) is the cost of the variable factor of production used by a firm—the cost of labor.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change its output in the short run, a firm must change the quantity of labor it employs, so total variable cost changes as output changes.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Total cost is the sum of total fixed cost and total variable cost. That is,</a:t>
            </a:r>
            <a:endParaRPr b="1" lang="en-CA" sz="2400" strike="noStrike" u="none">
              <a:solidFill>
                <a:srgbClr val="00468f"/>
              </a:solidFill>
              <a:effectLst/>
              <a:uFillTx/>
              <a:latin typeface="Arial"/>
            </a:endParaRPr>
          </a:p>
          <a:p>
            <a:pPr marL="358920" indent="0" algn="ctr">
              <a:lnSpc>
                <a:spcPct val="100000"/>
              </a:lnSpc>
              <a:spcBef>
                <a:spcPts val="601"/>
              </a:spcBef>
              <a:spcAft>
                <a:spcPts val="601"/>
              </a:spcAft>
              <a:buNone/>
            </a:pPr>
            <a:r>
              <a:rPr b="1" i="1" lang="en-US" sz="2800" strike="noStrike" u="none">
                <a:solidFill>
                  <a:schemeClr val="dk1"/>
                </a:solidFill>
                <a:effectLst/>
                <a:uFillTx/>
                <a:latin typeface="Arial"/>
                <a:ea typeface="ＭＳ Ｐゴシック"/>
              </a:rPr>
              <a:t>TC</a:t>
            </a:r>
            <a:r>
              <a:rPr b="1" lang="en-US" sz="2800" strike="noStrike" u="none">
                <a:solidFill>
                  <a:schemeClr val="dk1"/>
                </a:solidFill>
                <a:effectLst/>
                <a:uFillTx/>
                <a:latin typeface="Arial"/>
                <a:ea typeface="ＭＳ Ｐゴシック"/>
              </a:rPr>
              <a:t> = </a:t>
            </a:r>
            <a:r>
              <a:rPr b="1" i="1" lang="en-US" sz="2800" strike="noStrike" u="none">
                <a:solidFill>
                  <a:schemeClr val="dk1"/>
                </a:solidFill>
                <a:effectLst/>
                <a:uFillTx/>
                <a:latin typeface="Arial"/>
                <a:ea typeface="ＭＳ Ｐゴシック"/>
              </a:rPr>
              <a:t>TFC</a:t>
            </a:r>
            <a:r>
              <a:rPr b="1" lang="en-US" sz="2800" strike="noStrike" u="none">
                <a:solidFill>
                  <a:schemeClr val="dk1"/>
                </a:solidFill>
                <a:effectLst/>
                <a:uFillTx/>
                <a:latin typeface="Arial"/>
                <a:ea typeface="ＭＳ Ｐゴシック"/>
              </a:rPr>
              <a:t> + </a:t>
            </a:r>
            <a:r>
              <a:rPr b="1" i="1" lang="en-US" sz="2800" strike="noStrike" u="none">
                <a:solidFill>
                  <a:schemeClr val="dk1"/>
                </a:solidFill>
                <a:effectLst/>
                <a:uFillTx/>
                <a:latin typeface="Arial"/>
                <a:ea typeface="ＭＳ Ｐゴシック"/>
              </a:rPr>
              <a:t>TVC</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14.2 on the next slide shows Sam’s Smoothies’ costs.</a:t>
            </a:r>
            <a:endParaRPr b="1" lang="en-CA" sz="2400" strike="noStrike" u="none">
              <a:solidFill>
                <a:srgbClr val="00468f"/>
              </a:solidFill>
              <a:effectLst/>
              <a:uFillTx/>
              <a:latin typeface="Arial"/>
            </a:endParaRPr>
          </a:p>
        </p:txBody>
      </p:sp>
    </p:spTree>
  </p:cSld>
  <p:transition spd="slow">
    <p:wipe dir="r"/>
  </p:transition>
  <p:timing>
    <p:tnLst>
      <p:par>
        <p:cTn id="843" dur="indefinite" restart="never" nodeType="tmRoot">
          <p:childTnLst>
            <p:seq>
              <p:cTn id="844" dur="indefinite" nodeType="mainSeq">
                <p:childTnLst>
                  <p:par>
                    <p:cTn id="845" nodeType="clickEffect" fill="hold">
                      <p:stCondLst>
                        <p:cond delay="indefinite"/>
                      </p:stCondLst>
                      <p:childTnLst>
                        <p:par>
                          <p:cTn id="846" nodeType="withEffect" fill="hold">
                            <p:stCondLst>
                              <p:cond delay="0"/>
                            </p:stCondLst>
                            <p:childTnLst>
                              <p:par>
                                <p:cTn id="847" nodeType="clickEffect" fill="hold" presetClass="entr" presetID="22" presetSubtype="8">
                                  <p:stCondLst>
                                    <p:cond delay="0"/>
                                  </p:stCondLst>
                                  <p:childTnLst>
                                    <p:set>
                                      <p:cBhvr>
                                        <p:cTn id="848" dur="1" fill="hold">
                                          <p:stCondLst>
                                            <p:cond delay="0"/>
                                          </p:stCondLst>
                                        </p:cTn>
                                        <p:tgtEl>
                                          <p:spTgt spid="263">
                                            <p:txEl>
                                              <p:pRg st="1" end="1"/>
                                            </p:txEl>
                                          </p:spTgt>
                                        </p:tgtEl>
                                        <p:attrNameLst>
                                          <p:attrName>style.visibility</p:attrName>
                                        </p:attrNameLst>
                                      </p:cBhvr>
                                      <p:to>
                                        <p:strVal val="visible"/>
                                      </p:to>
                                    </p:set>
                                    <p:animEffect filter="wipe(left)" transition="in">
                                      <p:cBhvr additive="repl">
                                        <p:cTn id="849" dur="500"/>
                                        <p:tgtEl>
                                          <p:spTgt spid="263">
                                            <p:txEl>
                                              <p:pRg st="1" end="1"/>
                                            </p:txEl>
                                          </p:spTgt>
                                        </p:tgtEl>
                                      </p:cBhvr>
                                    </p:animEffect>
                                  </p:childTnLst>
                                </p:cTn>
                              </p:par>
                            </p:childTnLst>
                          </p:cTn>
                        </p:par>
                      </p:childTnLst>
                    </p:cTn>
                  </p:par>
                  <p:par>
                    <p:cTn id="850" nodeType="clickEffect" fill="hold">
                      <p:stCondLst>
                        <p:cond delay="indefinite"/>
                      </p:stCondLst>
                      <p:childTnLst>
                        <p:par>
                          <p:cTn id="851" nodeType="withEffect" fill="hold">
                            <p:stCondLst>
                              <p:cond delay="0"/>
                            </p:stCondLst>
                            <p:childTnLst>
                              <p:par>
                                <p:cTn id="852" nodeType="clickEffect" fill="hold" presetClass="entr" presetID="22" presetSubtype="8">
                                  <p:stCondLst>
                                    <p:cond delay="0"/>
                                  </p:stCondLst>
                                  <p:childTnLst>
                                    <p:set>
                                      <p:cBhvr>
                                        <p:cTn id="853" dur="1" fill="hold">
                                          <p:stCondLst>
                                            <p:cond delay="0"/>
                                          </p:stCondLst>
                                        </p:cTn>
                                        <p:tgtEl>
                                          <p:spTgt spid="263">
                                            <p:txEl>
                                              <p:pRg st="2" end="2"/>
                                            </p:txEl>
                                          </p:spTgt>
                                        </p:tgtEl>
                                        <p:attrNameLst>
                                          <p:attrName>style.visibility</p:attrName>
                                        </p:attrNameLst>
                                      </p:cBhvr>
                                      <p:to>
                                        <p:strVal val="visible"/>
                                      </p:to>
                                    </p:set>
                                    <p:animEffect filter="wipe(left)" transition="in">
                                      <p:cBhvr additive="repl">
                                        <p:cTn id="854" dur="500"/>
                                        <p:tgtEl>
                                          <p:spTgt spid="263">
                                            <p:txEl>
                                              <p:pRg st="2" end="2"/>
                                            </p:txEl>
                                          </p:spTgt>
                                        </p:tgtEl>
                                      </p:cBhvr>
                                    </p:animEffect>
                                  </p:childTnLst>
                                </p:cTn>
                              </p:par>
                            </p:childTnLst>
                          </p:cTn>
                        </p:par>
                      </p:childTnLst>
                    </p:cTn>
                  </p:par>
                  <p:par>
                    <p:cTn id="855" nodeType="clickEffect" fill="hold">
                      <p:stCondLst>
                        <p:cond delay="indefinite"/>
                      </p:stCondLst>
                      <p:childTnLst>
                        <p:par>
                          <p:cTn id="856" nodeType="withEffect" fill="hold">
                            <p:stCondLst>
                              <p:cond delay="0"/>
                            </p:stCondLst>
                            <p:childTnLst>
                              <p:par>
                                <p:cTn id="857" nodeType="clickEffect" fill="hold" presetClass="entr" presetID="22" presetSubtype="8">
                                  <p:stCondLst>
                                    <p:cond delay="0"/>
                                  </p:stCondLst>
                                  <p:childTnLst>
                                    <p:set>
                                      <p:cBhvr>
                                        <p:cTn id="858" dur="1" fill="hold">
                                          <p:stCondLst>
                                            <p:cond delay="0"/>
                                          </p:stCondLst>
                                        </p:cTn>
                                        <p:tgtEl>
                                          <p:spTgt spid="263">
                                            <p:txEl>
                                              <p:pRg st="3" end="3"/>
                                            </p:txEl>
                                          </p:spTgt>
                                        </p:tgtEl>
                                        <p:attrNameLst>
                                          <p:attrName>style.visibility</p:attrName>
                                        </p:attrNameLst>
                                      </p:cBhvr>
                                      <p:to>
                                        <p:strVal val="visible"/>
                                      </p:to>
                                    </p:set>
                                    <p:animEffect filter="wipe(left)" transition="in">
                                      <p:cBhvr additive="repl">
                                        <p:cTn id="859" dur="500"/>
                                        <p:tgtEl>
                                          <p:spTgt spid="263">
                                            <p:txEl>
                                              <p:pRg st="3" end="3"/>
                                            </p:txEl>
                                          </p:spTgt>
                                        </p:tgtEl>
                                      </p:cBhvr>
                                    </p:animEffect>
                                  </p:childTnLst>
                                </p:cTn>
                              </p:par>
                            </p:childTnLst>
                          </p:cTn>
                        </p:par>
                      </p:childTnLst>
                    </p:cTn>
                  </p:par>
                  <p:par>
                    <p:cTn id="860" nodeType="clickEffect" fill="hold">
                      <p:stCondLst>
                        <p:cond delay="indefinite"/>
                      </p:stCondLst>
                      <p:childTnLst>
                        <p:par>
                          <p:cTn id="861" nodeType="withEffect" fill="hold">
                            <p:stCondLst>
                              <p:cond delay="0"/>
                            </p:stCondLst>
                            <p:childTnLst>
                              <p:par>
                                <p:cTn id="862" nodeType="clickEffect" fill="hold" presetClass="entr" presetID="22" presetSubtype="8">
                                  <p:stCondLst>
                                    <p:cond delay="0"/>
                                  </p:stCondLst>
                                  <p:childTnLst>
                                    <p:set>
                                      <p:cBhvr>
                                        <p:cTn id="863" dur="1" fill="hold">
                                          <p:stCondLst>
                                            <p:cond delay="0"/>
                                          </p:stCondLst>
                                        </p:cTn>
                                        <p:tgtEl>
                                          <p:spTgt spid="263">
                                            <p:txEl>
                                              <p:pRg st="4" end="4"/>
                                            </p:txEl>
                                          </p:spTgt>
                                        </p:tgtEl>
                                        <p:attrNameLst>
                                          <p:attrName>style.visibility</p:attrName>
                                        </p:attrNameLst>
                                      </p:cBhvr>
                                      <p:to>
                                        <p:strVal val="visible"/>
                                      </p:to>
                                    </p:set>
                                    <p:animEffect filter="wipe(left)" transition="in">
                                      <p:cBhvr additive="repl">
                                        <p:cTn id="864" dur="500"/>
                                        <p:tgtEl>
                                          <p:spTgt spid="26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65" name="Rectangle 1"/>
          <p:cNvSpPr/>
          <p:nvPr/>
        </p:nvSpPr>
        <p:spPr>
          <a:xfrm>
            <a:off x="279360" y="1143000"/>
            <a:ext cx="1980720" cy="37116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1" lang="en-US" sz="2400" strike="noStrike" u="none">
              <a:solidFill>
                <a:schemeClr val="dk1"/>
              </a:solidFill>
              <a:effectLst/>
              <a:uFillTx/>
              <a:latin typeface="Arial"/>
              <a:ea typeface="ＭＳ Ｐゴシック"/>
            </a:endParaRPr>
          </a:p>
        </p:txBody>
      </p:sp>
      <p:pic>
        <p:nvPicPr>
          <p:cNvPr id="266" name="Picture 1" descr=""/>
          <p:cNvPicPr/>
          <p:nvPr/>
        </p:nvPicPr>
        <p:blipFill>
          <a:blip r:embed="rId1"/>
          <a:stretch/>
        </p:blipFill>
        <p:spPr>
          <a:xfrm>
            <a:off x="762120" y="1487520"/>
            <a:ext cx="7321320" cy="4578120"/>
          </a:xfrm>
          <a:prstGeom prst="rect">
            <a:avLst/>
          </a:prstGeom>
          <a:noFill/>
          <a:ln w="0">
            <a:noFill/>
          </a:ln>
        </p:spPr>
      </p:pic>
    </p:spTree>
  </p:cSld>
  <p:transition spd="slow">
    <p:wipe dir="r"/>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68"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14.5 shows Sam’s Smoothies’ total cost curves.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fixed cost (</a:t>
            </a:r>
            <a:r>
              <a:rPr b="0" i="1" lang="en-US" sz="2400" strike="noStrike" u="none">
                <a:solidFill>
                  <a:srgbClr val="000000"/>
                </a:solidFill>
                <a:effectLst/>
                <a:uFillTx/>
                <a:latin typeface="Arial"/>
                <a:ea typeface="ＭＳ Ｐゴシック"/>
              </a:rPr>
              <a:t>TFC</a:t>
            </a:r>
            <a:r>
              <a:rPr b="0" lang="en-US" sz="2400" strike="noStrike" u="none">
                <a:solidFill>
                  <a:srgbClr val="000000"/>
                </a:solidFill>
                <a:effectLst/>
                <a:uFillTx/>
                <a:latin typeface="Arial"/>
                <a:ea typeface="ＭＳ Ｐゴシック"/>
              </a:rPr>
              <a:t>) is constant—it graphs as a horizontal line.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variable cost (</a:t>
            </a:r>
            <a:r>
              <a:rPr b="0" i="1" lang="en-US" sz="2400" strike="noStrike" u="none">
                <a:solidFill>
                  <a:srgbClr val="000000"/>
                </a:solidFill>
                <a:effectLst/>
                <a:uFillTx/>
                <a:latin typeface="Arial"/>
                <a:ea typeface="ＭＳ Ｐゴシック"/>
              </a:rPr>
              <a:t>TVC</a:t>
            </a:r>
            <a:r>
              <a:rPr b="0" lang="en-US" sz="2400" strike="noStrike" u="none">
                <a:solidFill>
                  <a:srgbClr val="000000"/>
                </a:solidFill>
                <a:effectLst/>
                <a:uFillTx/>
                <a:latin typeface="Arial"/>
                <a:ea typeface="ＭＳ Ｐゴシック"/>
              </a:rPr>
              <a:t>) increases as output increases.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cost (</a:t>
            </a:r>
            <a:r>
              <a:rPr b="0" i="1" lang="en-US" sz="2400" strike="noStrike" u="none">
                <a:solidFill>
                  <a:srgbClr val="000000"/>
                </a:solidFill>
                <a:effectLst/>
                <a:uFillTx/>
                <a:latin typeface="Arial"/>
                <a:ea typeface="ＭＳ Ｐゴシック"/>
              </a:rPr>
              <a:t>TC</a:t>
            </a:r>
            <a:r>
              <a:rPr b="0" lang="en-US" sz="2400" strike="noStrike" u="none">
                <a:solidFill>
                  <a:srgbClr val="000000"/>
                </a:solidFill>
                <a:effectLst/>
                <a:uFillTx/>
                <a:latin typeface="Arial"/>
                <a:ea typeface="ＭＳ Ｐゴシック"/>
              </a:rPr>
              <a:t>) also increases as output increases.</a:t>
            </a:r>
            <a:endParaRPr b="1" lang="en-CA" sz="2400" strike="noStrike" u="none">
              <a:solidFill>
                <a:srgbClr val="00468f"/>
              </a:solidFill>
              <a:effectLst/>
              <a:uFillTx/>
              <a:latin typeface="Arial"/>
            </a:endParaRPr>
          </a:p>
        </p:txBody>
      </p:sp>
      <p:pic>
        <p:nvPicPr>
          <p:cNvPr id="269" name="Picture 7" descr=""/>
          <p:cNvPicPr/>
          <p:nvPr/>
        </p:nvPicPr>
        <p:blipFill>
          <a:blip r:embed="rId1"/>
          <a:stretch/>
        </p:blipFill>
        <p:spPr>
          <a:xfrm>
            <a:off x="4319640" y="1476360"/>
            <a:ext cx="4247640" cy="4446360"/>
          </a:xfrm>
          <a:prstGeom prst="rect">
            <a:avLst/>
          </a:prstGeom>
          <a:noFill/>
          <a:ln w="0">
            <a:noFill/>
          </a:ln>
        </p:spPr>
      </p:pic>
      <p:pic>
        <p:nvPicPr>
          <p:cNvPr id="270" name="Picture 8" descr=""/>
          <p:cNvPicPr/>
          <p:nvPr/>
        </p:nvPicPr>
        <p:blipFill>
          <a:blip r:embed="rId2"/>
          <a:stretch/>
        </p:blipFill>
        <p:spPr>
          <a:xfrm>
            <a:off x="4319640" y="1476360"/>
            <a:ext cx="4247640" cy="4446360"/>
          </a:xfrm>
          <a:prstGeom prst="rect">
            <a:avLst/>
          </a:prstGeom>
          <a:noFill/>
          <a:ln w="0">
            <a:noFill/>
          </a:ln>
        </p:spPr>
      </p:pic>
      <p:pic>
        <p:nvPicPr>
          <p:cNvPr id="271" name="Picture 9" descr=""/>
          <p:cNvPicPr/>
          <p:nvPr/>
        </p:nvPicPr>
        <p:blipFill>
          <a:blip r:embed="rId3"/>
          <a:stretch/>
        </p:blipFill>
        <p:spPr>
          <a:xfrm>
            <a:off x="4319640" y="1476360"/>
            <a:ext cx="4247640" cy="4446360"/>
          </a:xfrm>
          <a:prstGeom prst="rect">
            <a:avLst/>
          </a:prstGeom>
          <a:noFill/>
          <a:ln w="0">
            <a:noFill/>
          </a:ln>
        </p:spPr>
      </p:pic>
      <p:pic>
        <p:nvPicPr>
          <p:cNvPr id="272" name="Picture 10" descr=""/>
          <p:cNvPicPr/>
          <p:nvPr/>
        </p:nvPicPr>
        <p:blipFill>
          <a:blip r:embed="rId4"/>
          <a:stretch/>
        </p:blipFill>
        <p:spPr>
          <a:xfrm>
            <a:off x="4319640" y="1476360"/>
            <a:ext cx="4247640" cy="4446360"/>
          </a:xfrm>
          <a:prstGeom prst="rect">
            <a:avLst/>
          </a:prstGeom>
          <a:noFill/>
          <a:ln w="0">
            <a:noFill/>
          </a:ln>
        </p:spPr>
      </p:pic>
    </p:spTree>
  </p:cSld>
  <p:transition spd="med">
    <p:wipe dir="r"/>
  </p:transition>
  <p:timing>
    <p:tnLst>
      <p:par>
        <p:cTn id="865" dur="indefinite" restart="never" nodeType="tmRoot">
          <p:childTnLst>
            <p:seq>
              <p:cTn id="866" dur="indefinite" nodeType="mainSeq">
                <p:childTnLst>
                  <p:par>
                    <p:cTn id="867" nodeType="clickEffect" fill="hold">
                      <p:stCondLst>
                        <p:cond delay="indefinite"/>
                      </p:stCondLst>
                      <p:childTnLst>
                        <p:par>
                          <p:cTn id="868" nodeType="withEffect" fill="hold">
                            <p:stCondLst>
                              <p:cond delay="0"/>
                            </p:stCondLst>
                            <p:childTnLst>
                              <p:par>
                                <p:cTn id="869" nodeType="clickEffect" fill="hold" presetClass="entr" presetID="22" presetSubtype="8">
                                  <p:stCondLst>
                                    <p:cond delay="0"/>
                                  </p:stCondLst>
                                  <p:childTnLst>
                                    <p:set>
                                      <p:cBhvr>
                                        <p:cTn id="870" dur="1" fill="hold">
                                          <p:stCondLst>
                                            <p:cond delay="0"/>
                                          </p:stCondLst>
                                        </p:cTn>
                                        <p:tgtEl>
                                          <p:spTgt spid="268">
                                            <p:txEl>
                                              <p:pRg st="1" end="1"/>
                                            </p:txEl>
                                          </p:spTgt>
                                        </p:tgtEl>
                                        <p:attrNameLst>
                                          <p:attrName>style.visibility</p:attrName>
                                        </p:attrNameLst>
                                      </p:cBhvr>
                                      <p:to>
                                        <p:strVal val="visible"/>
                                      </p:to>
                                    </p:set>
                                    <p:animEffect filter="wipe(left)" transition="in">
                                      <p:cBhvr additive="repl">
                                        <p:cTn id="871" dur="500"/>
                                        <p:tgtEl>
                                          <p:spTgt spid="268">
                                            <p:txEl>
                                              <p:pRg st="1" end="1"/>
                                            </p:txEl>
                                          </p:spTgt>
                                        </p:tgtEl>
                                      </p:cBhvr>
                                    </p:animEffect>
                                  </p:childTnLst>
                                </p:cTn>
                              </p:par>
                              <p:par>
                                <p:cTn id="872" nodeType="withEffect" fill="hold" presetClass="entr" presetID="22" presetSubtype="8">
                                  <p:stCondLst>
                                    <p:cond delay="0"/>
                                  </p:stCondLst>
                                  <p:childTnLst>
                                    <p:set>
                                      <p:cBhvr>
                                        <p:cTn id="873" dur="1" fill="hold">
                                          <p:stCondLst>
                                            <p:cond delay="0"/>
                                          </p:stCondLst>
                                        </p:cTn>
                                        <p:tgtEl>
                                          <p:spTgt spid="270"/>
                                        </p:tgtEl>
                                        <p:attrNameLst>
                                          <p:attrName>style.visibility</p:attrName>
                                        </p:attrNameLst>
                                      </p:cBhvr>
                                      <p:to>
                                        <p:strVal val="visible"/>
                                      </p:to>
                                    </p:set>
                                    <p:animEffect filter="wipe(left)" transition="in">
                                      <p:cBhvr additive="repl">
                                        <p:cTn id="874" dur="1500"/>
                                        <p:tgtEl>
                                          <p:spTgt spid="270"/>
                                        </p:tgtEl>
                                      </p:cBhvr>
                                    </p:animEffect>
                                  </p:childTnLst>
                                </p:cTn>
                              </p:par>
                            </p:childTnLst>
                          </p:cTn>
                        </p:par>
                      </p:childTnLst>
                    </p:cTn>
                  </p:par>
                  <p:par>
                    <p:cTn id="875" nodeType="clickEffect" fill="hold">
                      <p:stCondLst>
                        <p:cond delay="indefinite"/>
                      </p:stCondLst>
                      <p:childTnLst>
                        <p:par>
                          <p:cTn id="876" nodeType="withEffect" fill="hold">
                            <p:stCondLst>
                              <p:cond delay="0"/>
                            </p:stCondLst>
                            <p:childTnLst>
                              <p:par>
                                <p:cTn id="877" nodeType="clickEffect" fill="hold" presetClass="entr" presetID="22" presetSubtype="8">
                                  <p:stCondLst>
                                    <p:cond delay="0"/>
                                  </p:stCondLst>
                                  <p:childTnLst>
                                    <p:set>
                                      <p:cBhvr>
                                        <p:cTn id="878" dur="1" fill="hold">
                                          <p:stCondLst>
                                            <p:cond delay="0"/>
                                          </p:stCondLst>
                                        </p:cTn>
                                        <p:tgtEl>
                                          <p:spTgt spid="268">
                                            <p:txEl>
                                              <p:pRg st="2" end="2"/>
                                            </p:txEl>
                                          </p:spTgt>
                                        </p:tgtEl>
                                        <p:attrNameLst>
                                          <p:attrName>style.visibility</p:attrName>
                                        </p:attrNameLst>
                                      </p:cBhvr>
                                      <p:to>
                                        <p:strVal val="visible"/>
                                      </p:to>
                                    </p:set>
                                    <p:animEffect filter="wipe(left)" transition="in">
                                      <p:cBhvr additive="repl">
                                        <p:cTn id="879" dur="500"/>
                                        <p:tgtEl>
                                          <p:spTgt spid="268">
                                            <p:txEl>
                                              <p:pRg st="2" end="2"/>
                                            </p:txEl>
                                          </p:spTgt>
                                        </p:tgtEl>
                                      </p:cBhvr>
                                    </p:animEffect>
                                  </p:childTnLst>
                                </p:cTn>
                              </p:par>
                              <p:par>
                                <p:cTn id="880" nodeType="withEffect" fill="hold" presetClass="entr" presetID="22" presetSubtype="8">
                                  <p:stCondLst>
                                    <p:cond delay="0"/>
                                  </p:stCondLst>
                                  <p:childTnLst>
                                    <p:set>
                                      <p:cBhvr>
                                        <p:cTn id="881" dur="1" fill="hold">
                                          <p:stCondLst>
                                            <p:cond delay="0"/>
                                          </p:stCondLst>
                                        </p:cTn>
                                        <p:tgtEl>
                                          <p:spTgt spid="271"/>
                                        </p:tgtEl>
                                        <p:attrNameLst>
                                          <p:attrName>style.visibility</p:attrName>
                                        </p:attrNameLst>
                                      </p:cBhvr>
                                      <p:to>
                                        <p:strVal val="visible"/>
                                      </p:to>
                                    </p:set>
                                    <p:animEffect filter="wipe(left)" transition="in">
                                      <p:cBhvr additive="repl">
                                        <p:cTn id="882" dur="1500"/>
                                        <p:tgtEl>
                                          <p:spTgt spid="271"/>
                                        </p:tgtEl>
                                      </p:cBhvr>
                                    </p:animEffect>
                                  </p:childTnLst>
                                </p:cTn>
                              </p:par>
                            </p:childTnLst>
                          </p:cTn>
                        </p:par>
                      </p:childTnLst>
                    </p:cTn>
                  </p:par>
                  <p:par>
                    <p:cTn id="883" nodeType="clickEffect" fill="hold">
                      <p:stCondLst>
                        <p:cond delay="indefinite"/>
                      </p:stCondLst>
                      <p:childTnLst>
                        <p:par>
                          <p:cTn id="884" nodeType="withEffect" fill="hold">
                            <p:stCondLst>
                              <p:cond delay="0"/>
                            </p:stCondLst>
                            <p:childTnLst>
                              <p:par>
                                <p:cTn id="885" nodeType="clickEffect" fill="hold" presetClass="entr" presetID="22" presetSubtype="8">
                                  <p:stCondLst>
                                    <p:cond delay="0"/>
                                  </p:stCondLst>
                                  <p:childTnLst>
                                    <p:set>
                                      <p:cBhvr>
                                        <p:cTn id="886" dur="1" fill="hold">
                                          <p:stCondLst>
                                            <p:cond delay="0"/>
                                          </p:stCondLst>
                                        </p:cTn>
                                        <p:tgtEl>
                                          <p:spTgt spid="268">
                                            <p:txEl>
                                              <p:pRg st="3" end="3"/>
                                            </p:txEl>
                                          </p:spTgt>
                                        </p:tgtEl>
                                        <p:attrNameLst>
                                          <p:attrName>style.visibility</p:attrName>
                                        </p:attrNameLst>
                                      </p:cBhvr>
                                      <p:to>
                                        <p:strVal val="visible"/>
                                      </p:to>
                                    </p:set>
                                    <p:animEffect filter="wipe(left)" transition="in">
                                      <p:cBhvr additive="repl">
                                        <p:cTn id="887" dur="500"/>
                                        <p:tgtEl>
                                          <p:spTgt spid="268">
                                            <p:txEl>
                                              <p:pRg st="3" end="3"/>
                                            </p:txEl>
                                          </p:spTgt>
                                        </p:tgtEl>
                                      </p:cBhvr>
                                    </p:animEffect>
                                  </p:childTnLst>
                                </p:cTn>
                              </p:par>
                              <p:par>
                                <p:cTn id="888" nodeType="withEffect" fill="hold" presetClass="entr" presetID="22" presetSubtype="8">
                                  <p:stCondLst>
                                    <p:cond delay="0"/>
                                  </p:stCondLst>
                                  <p:childTnLst>
                                    <p:set>
                                      <p:cBhvr>
                                        <p:cTn id="889" dur="1" fill="hold">
                                          <p:stCondLst>
                                            <p:cond delay="0"/>
                                          </p:stCondLst>
                                        </p:cTn>
                                        <p:tgtEl>
                                          <p:spTgt spid="272"/>
                                        </p:tgtEl>
                                        <p:attrNameLst>
                                          <p:attrName>style.visibility</p:attrName>
                                        </p:attrNameLst>
                                      </p:cBhvr>
                                      <p:to>
                                        <p:strVal val="visible"/>
                                      </p:to>
                                    </p:set>
                                    <p:animEffect filter="wipe(left)" transition="in">
                                      <p:cBhvr additive="repl">
                                        <p:cTn id="890" dur="15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73" name="Picture 6" descr=""/>
          <p:cNvPicPr/>
          <p:nvPr/>
        </p:nvPicPr>
        <p:blipFill>
          <a:blip r:embed="rId1"/>
          <a:stretch/>
        </p:blipFill>
        <p:spPr>
          <a:xfrm>
            <a:off x="1523880" y="152280"/>
            <a:ext cx="5763960" cy="6035400"/>
          </a:xfrm>
          <a:prstGeom prst="rect">
            <a:avLst/>
          </a:prstGeom>
          <a:noFill/>
          <a:ln w="0">
            <a:noFill/>
          </a:ln>
        </p:spPr>
      </p:pic>
      <p:pic>
        <p:nvPicPr>
          <p:cNvPr id="274" name="Picture 11" descr=""/>
          <p:cNvPicPr/>
          <p:nvPr/>
        </p:nvPicPr>
        <p:blipFill>
          <a:blip r:embed="rId2"/>
          <a:stretch/>
        </p:blipFill>
        <p:spPr>
          <a:xfrm>
            <a:off x="1523880" y="152280"/>
            <a:ext cx="5763960" cy="6035400"/>
          </a:xfrm>
          <a:prstGeom prst="rect">
            <a:avLst/>
          </a:prstGeom>
          <a:noFill/>
          <a:ln w="0">
            <a:noFill/>
          </a:ln>
        </p:spPr>
      </p:pic>
      <p:pic>
        <p:nvPicPr>
          <p:cNvPr id="275" name="Picture 12" descr=""/>
          <p:cNvPicPr/>
          <p:nvPr/>
        </p:nvPicPr>
        <p:blipFill>
          <a:blip r:embed="rId3"/>
          <a:stretch/>
        </p:blipFill>
        <p:spPr>
          <a:xfrm>
            <a:off x="1523880" y="152280"/>
            <a:ext cx="5763960" cy="6035400"/>
          </a:xfrm>
          <a:prstGeom prst="rect">
            <a:avLst/>
          </a:prstGeom>
          <a:noFill/>
          <a:ln w="0">
            <a:noFill/>
          </a:ln>
        </p:spPr>
      </p:pic>
      <p:pic>
        <p:nvPicPr>
          <p:cNvPr id="276" name="Picture 13" descr=""/>
          <p:cNvPicPr/>
          <p:nvPr/>
        </p:nvPicPr>
        <p:blipFill>
          <a:blip r:embed="rId4"/>
          <a:stretch/>
        </p:blipFill>
        <p:spPr>
          <a:xfrm>
            <a:off x="1523880" y="152280"/>
            <a:ext cx="5763960" cy="6035400"/>
          </a:xfrm>
          <a:prstGeom prst="rect">
            <a:avLst/>
          </a:prstGeom>
          <a:noFill/>
          <a:ln w="0">
            <a:noFill/>
          </a:ln>
        </p:spPr>
      </p:pic>
      <p:pic>
        <p:nvPicPr>
          <p:cNvPr id="277" name="Picture 14" descr=""/>
          <p:cNvPicPr/>
          <p:nvPr/>
        </p:nvPicPr>
        <p:blipFill>
          <a:blip r:embed="rId5"/>
          <a:stretch/>
        </p:blipFill>
        <p:spPr>
          <a:xfrm>
            <a:off x="1523880" y="152280"/>
            <a:ext cx="5763960" cy="6035400"/>
          </a:xfrm>
          <a:prstGeom prst="rect">
            <a:avLst/>
          </a:prstGeom>
          <a:noFill/>
          <a:ln w="0">
            <a:noFill/>
          </a:ln>
        </p:spPr>
      </p:pic>
    </p:spTree>
  </p:cSld>
  <p:transition spd="slow">
    <p:wipe dir="r"/>
  </p:transition>
  <p:timing>
    <p:tnLst>
      <p:par>
        <p:cTn id="891" dur="indefinite" restart="never" nodeType="tmRoot">
          <p:childTnLst>
            <p:seq>
              <p:cTn id="892" dur="indefinite" nodeType="mainSeq">
                <p:childTnLst>
                  <p:par>
                    <p:cTn id="893" nodeType="clickEffect" fill="hold">
                      <p:stCondLst>
                        <p:cond delay="indefinite"/>
                      </p:stCondLst>
                      <p:childTnLst>
                        <p:par>
                          <p:cTn id="894" nodeType="withEffect" fill="hold">
                            <p:stCondLst>
                              <p:cond delay="0"/>
                            </p:stCondLst>
                            <p:childTnLst>
                              <p:par>
                                <p:cTn id="895" nodeType="clickEffect" fill="hold" presetClass="entr" presetID="22" presetSubtype="8">
                                  <p:stCondLst>
                                    <p:cond delay="0"/>
                                  </p:stCondLst>
                                  <p:childTnLst>
                                    <p:set>
                                      <p:cBhvr>
                                        <p:cTn id="896" dur="1" fill="hold">
                                          <p:stCondLst>
                                            <p:cond delay="0"/>
                                          </p:stCondLst>
                                        </p:cTn>
                                        <p:tgtEl>
                                          <p:spTgt spid="274"/>
                                        </p:tgtEl>
                                        <p:attrNameLst>
                                          <p:attrName>style.visibility</p:attrName>
                                        </p:attrNameLst>
                                      </p:cBhvr>
                                      <p:to>
                                        <p:strVal val="visible"/>
                                      </p:to>
                                    </p:set>
                                    <p:animEffect filter="wipe(left)" transition="in">
                                      <p:cBhvr additive="repl">
                                        <p:cTn id="897" dur="1500"/>
                                        <p:tgtEl>
                                          <p:spTgt spid="274"/>
                                        </p:tgtEl>
                                      </p:cBhvr>
                                    </p:animEffect>
                                  </p:childTnLst>
                                </p:cTn>
                              </p:par>
                            </p:childTnLst>
                          </p:cTn>
                        </p:par>
                      </p:childTnLst>
                    </p:cTn>
                  </p:par>
                  <p:par>
                    <p:cTn id="898" nodeType="clickEffect" fill="hold">
                      <p:stCondLst>
                        <p:cond delay="indefinite"/>
                      </p:stCondLst>
                      <p:childTnLst>
                        <p:par>
                          <p:cTn id="899" nodeType="withEffect" fill="hold">
                            <p:stCondLst>
                              <p:cond delay="0"/>
                            </p:stCondLst>
                            <p:childTnLst>
                              <p:par>
                                <p:cTn id="900" nodeType="clickEffect" fill="hold" presetClass="entr" presetID="22" presetSubtype="8">
                                  <p:stCondLst>
                                    <p:cond delay="0"/>
                                  </p:stCondLst>
                                  <p:childTnLst>
                                    <p:set>
                                      <p:cBhvr>
                                        <p:cTn id="901" dur="1" fill="hold">
                                          <p:stCondLst>
                                            <p:cond delay="0"/>
                                          </p:stCondLst>
                                        </p:cTn>
                                        <p:tgtEl>
                                          <p:spTgt spid="275"/>
                                        </p:tgtEl>
                                        <p:attrNameLst>
                                          <p:attrName>style.visibility</p:attrName>
                                        </p:attrNameLst>
                                      </p:cBhvr>
                                      <p:to>
                                        <p:strVal val="visible"/>
                                      </p:to>
                                    </p:set>
                                    <p:animEffect filter="wipe(left)" transition="in">
                                      <p:cBhvr additive="repl">
                                        <p:cTn id="902" dur="1500"/>
                                        <p:tgtEl>
                                          <p:spTgt spid="275"/>
                                        </p:tgtEl>
                                      </p:cBhvr>
                                    </p:animEffect>
                                  </p:childTnLst>
                                </p:cTn>
                              </p:par>
                            </p:childTnLst>
                          </p:cTn>
                        </p:par>
                      </p:childTnLst>
                    </p:cTn>
                  </p:par>
                  <p:par>
                    <p:cTn id="903" nodeType="clickEffect" fill="hold">
                      <p:stCondLst>
                        <p:cond delay="indefinite"/>
                      </p:stCondLst>
                      <p:childTnLst>
                        <p:par>
                          <p:cTn id="904" nodeType="withEffect" fill="hold">
                            <p:stCondLst>
                              <p:cond delay="0"/>
                            </p:stCondLst>
                            <p:childTnLst>
                              <p:par>
                                <p:cTn id="905" nodeType="clickEffect" fill="hold" presetClass="entr" presetID="22" presetSubtype="8">
                                  <p:stCondLst>
                                    <p:cond delay="0"/>
                                  </p:stCondLst>
                                  <p:childTnLst>
                                    <p:set>
                                      <p:cBhvr>
                                        <p:cTn id="906" dur="1" fill="hold">
                                          <p:stCondLst>
                                            <p:cond delay="0"/>
                                          </p:stCondLst>
                                        </p:cTn>
                                        <p:tgtEl>
                                          <p:spTgt spid="276"/>
                                        </p:tgtEl>
                                        <p:attrNameLst>
                                          <p:attrName>style.visibility</p:attrName>
                                        </p:attrNameLst>
                                      </p:cBhvr>
                                      <p:to>
                                        <p:strVal val="visible"/>
                                      </p:to>
                                    </p:set>
                                    <p:animEffect filter="wipe(left)" transition="in">
                                      <p:cBhvr additive="repl">
                                        <p:cTn id="907" dur="1500"/>
                                        <p:tgtEl>
                                          <p:spTgt spid="276"/>
                                        </p:tgtEl>
                                      </p:cBhvr>
                                    </p:animEffect>
                                  </p:childTnLst>
                                </p:cTn>
                              </p:par>
                            </p:childTnLst>
                          </p:cTn>
                        </p:par>
                      </p:childTnLst>
                    </p:cTn>
                  </p:par>
                  <p:par>
                    <p:cTn id="908" nodeType="clickEffect" fill="hold">
                      <p:stCondLst>
                        <p:cond delay="indefinite"/>
                      </p:stCondLst>
                      <p:childTnLst>
                        <p:par>
                          <p:cTn id="909" nodeType="withEffect" fill="hold">
                            <p:stCondLst>
                              <p:cond delay="0"/>
                            </p:stCondLst>
                            <p:childTnLst>
                              <p:par>
                                <p:cTn id="910" nodeType="clickEffect" fill="hold" presetClass="entr" presetID="22" presetSubtype="4">
                                  <p:stCondLst>
                                    <p:cond delay="0"/>
                                  </p:stCondLst>
                                  <p:childTnLst>
                                    <p:set>
                                      <p:cBhvr>
                                        <p:cTn id="911" dur="1" fill="hold">
                                          <p:stCondLst>
                                            <p:cond delay="0"/>
                                          </p:stCondLst>
                                        </p:cTn>
                                        <p:tgtEl>
                                          <p:spTgt spid="277"/>
                                        </p:tgtEl>
                                        <p:attrNameLst>
                                          <p:attrName>style.visibility</p:attrName>
                                        </p:attrNameLst>
                                      </p:cBhvr>
                                      <p:to>
                                        <p:strVal val="visible"/>
                                      </p:to>
                                    </p:set>
                                    <p:animEffect filter="wipe(down)" transition="in">
                                      <p:cBhvr additive="repl">
                                        <p:cTn id="912" dur="15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79" name="PlaceHolder 2"/>
          <p:cNvSpPr>
            <a:spLocks noGrp="1"/>
          </p:cNvSpPr>
          <p:nvPr>
            <p:ph/>
          </p:nvPr>
        </p:nvSpPr>
        <p:spPr>
          <a:xfrm>
            <a:off x="360360" y="1440000"/>
            <a:ext cx="36777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vertical distance between the </a:t>
            </a:r>
            <a:r>
              <a:rPr b="0" i="1" lang="en-US" sz="2400" strike="noStrike" u="none">
                <a:solidFill>
                  <a:schemeClr val="dk1"/>
                </a:solidFill>
                <a:effectLst/>
                <a:uFillTx/>
                <a:latin typeface="Arial"/>
                <a:ea typeface="ＭＳ Ｐゴシック"/>
              </a:rPr>
              <a:t>TC</a:t>
            </a:r>
            <a:r>
              <a:rPr b="0" lang="en-US" sz="2400" strike="noStrike" u="none">
                <a:solidFill>
                  <a:schemeClr val="dk1"/>
                </a:solidFill>
                <a:effectLst/>
                <a:uFillTx/>
                <a:latin typeface="Arial"/>
                <a:ea typeface="ＭＳ Ｐゴシック"/>
              </a:rPr>
              <a:t> curve and the </a:t>
            </a:r>
            <a:r>
              <a:rPr b="0" i="1" lang="en-US" sz="2400" strike="noStrike" u="none">
                <a:solidFill>
                  <a:schemeClr val="dk1"/>
                </a:solidFill>
                <a:effectLst/>
                <a:uFillTx/>
                <a:latin typeface="Arial"/>
                <a:ea typeface="ＭＳ Ｐゴシック"/>
              </a:rPr>
              <a:t>TVC</a:t>
            </a:r>
            <a:r>
              <a:rPr b="0" lang="en-US" sz="2400" strike="noStrike" u="none">
                <a:solidFill>
                  <a:schemeClr val="dk1"/>
                </a:solidFill>
                <a:effectLst/>
                <a:uFillTx/>
                <a:latin typeface="Arial"/>
                <a:ea typeface="ＭＳ Ｐゴシック"/>
              </a:rPr>
              <a:t> curve is equal to </a:t>
            </a:r>
            <a:r>
              <a:rPr b="0" i="1" lang="en-US" sz="2400" strike="noStrike" u="none">
                <a:solidFill>
                  <a:schemeClr val="dk1"/>
                </a:solidFill>
                <a:effectLst/>
                <a:uFillTx/>
                <a:latin typeface="Arial"/>
                <a:ea typeface="ＭＳ Ｐゴシック"/>
              </a:rPr>
              <a:t>TFC</a:t>
            </a:r>
            <a:r>
              <a:rPr b="0" lang="en-US" sz="2400" strike="noStrike" u="none">
                <a:solidFill>
                  <a:schemeClr val="dk1"/>
                </a:solidFill>
                <a:effectLst/>
                <a:uFillTx/>
                <a:latin typeface="Arial"/>
                <a:ea typeface="ＭＳ Ｐゴシック"/>
              </a:rPr>
              <a:t>, as illustrated by the two arrows.</a:t>
            </a:r>
            <a:endParaRPr b="1" lang="en-CA" sz="2400" strike="noStrike" u="none">
              <a:solidFill>
                <a:srgbClr val="00468f"/>
              </a:solidFill>
              <a:effectLst/>
              <a:uFillTx/>
              <a:latin typeface="Arial"/>
            </a:endParaRPr>
          </a:p>
        </p:txBody>
      </p:sp>
      <p:pic>
        <p:nvPicPr>
          <p:cNvPr id="280" name="Picture 8" descr=""/>
          <p:cNvPicPr/>
          <p:nvPr/>
        </p:nvPicPr>
        <p:blipFill>
          <a:blip r:embed="rId1"/>
          <a:stretch/>
        </p:blipFill>
        <p:spPr>
          <a:xfrm>
            <a:off x="4319640" y="1476360"/>
            <a:ext cx="4247640" cy="4446360"/>
          </a:xfrm>
          <a:prstGeom prst="rect">
            <a:avLst/>
          </a:prstGeom>
          <a:noFill/>
          <a:ln w="0">
            <a:noFill/>
          </a:ln>
        </p:spPr>
      </p:pic>
      <p:pic>
        <p:nvPicPr>
          <p:cNvPr id="281" name="Picture 10" descr=""/>
          <p:cNvPicPr/>
          <p:nvPr/>
        </p:nvPicPr>
        <p:blipFill>
          <a:blip r:embed="rId2"/>
          <a:stretch/>
        </p:blipFill>
        <p:spPr>
          <a:xfrm>
            <a:off x="4319640" y="1476360"/>
            <a:ext cx="4247640" cy="4446360"/>
          </a:xfrm>
          <a:prstGeom prst="rect">
            <a:avLst/>
          </a:prstGeom>
          <a:noFill/>
          <a:ln w="0">
            <a:noFill/>
          </a:ln>
        </p:spPr>
      </p:pic>
      <p:pic>
        <p:nvPicPr>
          <p:cNvPr id="282" name="Picture 11" descr=""/>
          <p:cNvPicPr/>
          <p:nvPr/>
        </p:nvPicPr>
        <p:blipFill>
          <a:blip r:embed="rId3"/>
          <a:stretch/>
        </p:blipFill>
        <p:spPr>
          <a:xfrm>
            <a:off x="4319640" y="1476360"/>
            <a:ext cx="4247640" cy="4446360"/>
          </a:xfrm>
          <a:prstGeom prst="rect">
            <a:avLst/>
          </a:prstGeom>
          <a:noFill/>
          <a:ln w="0">
            <a:noFill/>
          </a:ln>
        </p:spPr>
      </p:pic>
      <p:pic>
        <p:nvPicPr>
          <p:cNvPr id="283" name="Picture 12" descr=""/>
          <p:cNvPicPr/>
          <p:nvPr/>
        </p:nvPicPr>
        <p:blipFill>
          <a:blip r:embed="rId4"/>
          <a:stretch/>
        </p:blipFill>
        <p:spPr>
          <a:xfrm>
            <a:off x="4319640" y="1476360"/>
            <a:ext cx="4247640" cy="4446360"/>
          </a:xfrm>
          <a:prstGeom prst="rect">
            <a:avLst/>
          </a:prstGeom>
          <a:noFill/>
          <a:ln w="0">
            <a:noFill/>
          </a:ln>
        </p:spPr>
      </p:pic>
      <p:pic>
        <p:nvPicPr>
          <p:cNvPr id="284" name="Picture 13" descr=""/>
          <p:cNvPicPr/>
          <p:nvPr/>
        </p:nvPicPr>
        <p:blipFill>
          <a:blip r:embed="rId5"/>
          <a:stretch/>
        </p:blipFill>
        <p:spPr>
          <a:xfrm>
            <a:off x="4319640" y="1476360"/>
            <a:ext cx="4247640" cy="4446360"/>
          </a:xfrm>
          <a:prstGeom prst="rect">
            <a:avLst/>
          </a:prstGeom>
          <a:noFill/>
          <a:ln w="0">
            <a:noFill/>
          </a:ln>
        </p:spPr>
      </p:pic>
    </p:spTree>
  </p:cSld>
  <p:transition spd="slow">
    <p:wipe dir="r"/>
  </p:transition>
  <p:timing>
    <p:tnLst>
      <p:par>
        <p:cTn id="913" dur="indefinite" restart="never" nodeType="tmRoot">
          <p:childTnLst>
            <p:seq>
              <p:cTn id="914" dur="indefinite" nodeType="mainSeq">
                <p:childTnLst>
                  <p:par>
                    <p:cTn id="915" nodeType="clickEffect" fill="hold">
                      <p:stCondLst>
                        <p:cond delay="0"/>
                      </p:stCondLst>
                      <p:childTnLst>
                        <p:par>
                          <p:cTn id="916" nodeType="withEffect" fill="hold">
                            <p:stCondLst>
                              <p:cond delay="0"/>
                            </p:stCondLst>
                            <p:childTnLst>
                              <p:par>
                                <p:cTn id="917" nodeType="withEffect" fill="hold" presetClass="entr" presetID="22" presetSubtype="4">
                                  <p:stCondLst>
                                    <p:cond delay="0"/>
                                  </p:stCondLst>
                                  <p:childTnLst>
                                    <p:set>
                                      <p:cBhvr>
                                        <p:cTn id="918" dur="1" fill="hold">
                                          <p:stCondLst>
                                            <p:cond delay="0"/>
                                          </p:stCondLst>
                                        </p:cTn>
                                        <p:tgtEl>
                                          <p:spTgt spid="284"/>
                                        </p:tgtEl>
                                        <p:attrNameLst>
                                          <p:attrName>style.visibility</p:attrName>
                                        </p:attrNameLst>
                                      </p:cBhvr>
                                      <p:to>
                                        <p:strVal val="visible"/>
                                      </p:to>
                                    </p:set>
                                    <p:animEffect filter="wipe(down)" transition="in">
                                      <p:cBhvr additive="repl">
                                        <p:cTn id="919" dur="15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8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gn="just">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Marginal Cost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firm’s </a:t>
            </a:r>
            <a:r>
              <a:rPr b="1" lang="en-US" sz="2400" strike="noStrike" u="none">
                <a:solidFill>
                  <a:srgbClr val="ff0000"/>
                </a:solidFill>
                <a:effectLst/>
                <a:uFillTx/>
                <a:latin typeface="Arial"/>
                <a:ea typeface="ＭＳ Ｐゴシック"/>
              </a:rPr>
              <a:t>marginal cost</a:t>
            </a:r>
            <a:r>
              <a:rPr b="0" lang="en-US" sz="2400" strike="noStrike" u="none">
                <a:solidFill>
                  <a:schemeClr val="dk1"/>
                </a:solidFill>
                <a:effectLst/>
                <a:uFillTx/>
                <a:latin typeface="Arial"/>
                <a:ea typeface="ＭＳ Ｐゴシック"/>
              </a:rPr>
              <a:t> is the change in total cost that results from a one-unit increase in total product.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Marginal cost tells us how total cost changes as total product changes.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14.3 on the next slide calculates marginal cost for Sam’s Smoothies.</a:t>
            </a:r>
            <a:endParaRPr b="1" lang="en-CA" sz="2400" strike="noStrike" u="none">
              <a:solidFill>
                <a:srgbClr val="00468f"/>
              </a:solidFill>
              <a:effectLst/>
              <a:uFillTx/>
              <a:latin typeface="Arial"/>
            </a:endParaRPr>
          </a:p>
        </p:txBody>
      </p:sp>
    </p:spTree>
  </p:cSld>
  <p:transition spd="slow">
    <p:wipe dir="r"/>
  </p:transition>
  <p:timing>
    <p:tnLst>
      <p:par>
        <p:cTn id="920" dur="indefinite" restart="never" nodeType="tmRoot">
          <p:childTnLst>
            <p:seq>
              <p:cTn id="921" dur="indefinite" nodeType="mainSeq">
                <p:childTnLst>
                  <p:par>
                    <p:cTn id="922" nodeType="clickEffect" fill="hold">
                      <p:stCondLst>
                        <p:cond delay="indefinite"/>
                      </p:stCondLst>
                      <p:childTnLst>
                        <p:par>
                          <p:cTn id="923" nodeType="withEffect" fill="hold">
                            <p:stCondLst>
                              <p:cond delay="0"/>
                            </p:stCondLst>
                            <p:childTnLst>
                              <p:par>
                                <p:cTn id="924" nodeType="clickEffect" fill="hold" presetClass="entr" presetID="22" presetSubtype="8">
                                  <p:stCondLst>
                                    <p:cond delay="0"/>
                                  </p:stCondLst>
                                  <p:childTnLst>
                                    <p:set>
                                      <p:cBhvr>
                                        <p:cTn id="925" dur="1" fill="hold">
                                          <p:stCondLst>
                                            <p:cond delay="0"/>
                                          </p:stCondLst>
                                        </p:cTn>
                                        <p:tgtEl>
                                          <p:spTgt spid="286">
                                            <p:txEl>
                                              <p:pRg st="1" end="1"/>
                                            </p:txEl>
                                          </p:spTgt>
                                        </p:tgtEl>
                                        <p:attrNameLst>
                                          <p:attrName>style.visibility</p:attrName>
                                        </p:attrNameLst>
                                      </p:cBhvr>
                                      <p:to>
                                        <p:strVal val="visible"/>
                                      </p:to>
                                    </p:set>
                                    <p:animEffect filter="wipe(left)" transition="in">
                                      <p:cBhvr additive="repl">
                                        <p:cTn id="926" dur="500"/>
                                        <p:tgtEl>
                                          <p:spTgt spid="286">
                                            <p:txEl>
                                              <p:pRg st="1" end="1"/>
                                            </p:txEl>
                                          </p:spTgt>
                                        </p:tgtEl>
                                      </p:cBhvr>
                                    </p:animEffect>
                                  </p:childTnLst>
                                </p:cTn>
                              </p:par>
                            </p:childTnLst>
                          </p:cTn>
                        </p:par>
                      </p:childTnLst>
                    </p:cTn>
                  </p:par>
                  <p:par>
                    <p:cTn id="927" nodeType="clickEffect" fill="hold">
                      <p:stCondLst>
                        <p:cond delay="indefinite"/>
                      </p:stCondLst>
                      <p:childTnLst>
                        <p:par>
                          <p:cTn id="928" nodeType="withEffect" fill="hold">
                            <p:stCondLst>
                              <p:cond delay="0"/>
                            </p:stCondLst>
                            <p:childTnLst>
                              <p:par>
                                <p:cTn id="929" nodeType="clickEffect" fill="hold" presetClass="entr" presetID="22" presetSubtype="8">
                                  <p:stCondLst>
                                    <p:cond delay="0"/>
                                  </p:stCondLst>
                                  <p:childTnLst>
                                    <p:set>
                                      <p:cBhvr>
                                        <p:cTn id="930" dur="1" fill="hold">
                                          <p:stCondLst>
                                            <p:cond delay="0"/>
                                          </p:stCondLst>
                                        </p:cTn>
                                        <p:tgtEl>
                                          <p:spTgt spid="286">
                                            <p:txEl>
                                              <p:pRg st="2" end="2"/>
                                            </p:txEl>
                                          </p:spTgt>
                                        </p:tgtEl>
                                        <p:attrNameLst>
                                          <p:attrName>style.visibility</p:attrName>
                                        </p:attrNameLst>
                                      </p:cBhvr>
                                      <p:to>
                                        <p:strVal val="visible"/>
                                      </p:to>
                                    </p:set>
                                    <p:animEffect filter="wipe(left)" transition="in">
                                      <p:cBhvr additive="repl">
                                        <p:cTn id="931" dur="500"/>
                                        <p:tgtEl>
                                          <p:spTgt spid="286">
                                            <p:txEl>
                                              <p:pRg st="2" end="2"/>
                                            </p:txEl>
                                          </p:spTgt>
                                        </p:tgtEl>
                                      </p:cBhvr>
                                    </p:animEffect>
                                  </p:childTnLst>
                                </p:cTn>
                              </p:par>
                            </p:childTnLst>
                          </p:cTn>
                        </p:par>
                      </p:childTnLst>
                    </p:cTn>
                  </p:par>
                  <p:par>
                    <p:cTn id="932" nodeType="clickEffect" fill="hold">
                      <p:stCondLst>
                        <p:cond delay="indefinite"/>
                      </p:stCondLst>
                      <p:childTnLst>
                        <p:par>
                          <p:cTn id="933" nodeType="withEffect" fill="hold">
                            <p:stCondLst>
                              <p:cond delay="0"/>
                            </p:stCondLst>
                            <p:childTnLst>
                              <p:par>
                                <p:cTn id="934" nodeType="clickEffect" fill="hold" presetClass="entr" presetID="22" presetSubtype="8">
                                  <p:stCondLst>
                                    <p:cond delay="0"/>
                                  </p:stCondLst>
                                  <p:childTnLst>
                                    <p:set>
                                      <p:cBhvr>
                                        <p:cTn id="935" dur="1" fill="hold">
                                          <p:stCondLst>
                                            <p:cond delay="0"/>
                                          </p:stCondLst>
                                        </p:cTn>
                                        <p:tgtEl>
                                          <p:spTgt spid="286">
                                            <p:txEl>
                                              <p:pRg st="3" end="3"/>
                                            </p:txEl>
                                          </p:spTgt>
                                        </p:tgtEl>
                                        <p:attrNameLst>
                                          <p:attrName>style.visibility</p:attrName>
                                        </p:attrNameLst>
                                      </p:cBhvr>
                                      <p:to>
                                        <p:strVal val="visible"/>
                                      </p:to>
                                    </p:set>
                                    <p:animEffect filter="wipe(left)" transition="in">
                                      <p:cBhvr additive="repl">
                                        <p:cTn id="936" dur="500"/>
                                        <p:tgtEl>
                                          <p:spTgt spid="28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Rectangle 1"/>
          <p:cNvSpPr/>
          <p:nvPr/>
        </p:nvSpPr>
        <p:spPr>
          <a:xfrm>
            <a:off x="533520" y="914400"/>
            <a:ext cx="1828440" cy="30456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1" lang="en-US" sz="2400" strike="noStrike" u="none">
              <a:solidFill>
                <a:schemeClr val="dk1"/>
              </a:solidFill>
              <a:effectLst/>
              <a:uFillTx/>
              <a:latin typeface="Arial"/>
              <a:ea typeface="ＭＳ Ｐゴシック"/>
            </a:endParaRPr>
          </a:p>
        </p:txBody>
      </p:sp>
      <p:sp>
        <p:nvSpPr>
          <p:cNvPr id="28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rgbClr val="ffffff"/>
                </a:solidFill>
                <a:effectLst/>
                <a:uFillTx/>
                <a:latin typeface="Arial"/>
                <a:ea typeface="ＭＳ Ｐゴシック"/>
              </a:rPr>
              <a:t>14.3  SHORT-RUN COST</a:t>
            </a:r>
            <a:endParaRPr b="0" lang="en-CA" sz="2600" strike="noStrike" u="none">
              <a:solidFill>
                <a:schemeClr val="dk1"/>
              </a:solidFill>
              <a:effectLst/>
              <a:uFillTx/>
              <a:latin typeface="Arial"/>
            </a:endParaRPr>
          </a:p>
        </p:txBody>
      </p:sp>
      <p:pic>
        <p:nvPicPr>
          <p:cNvPr id="289" name="Picture 2" descr=""/>
          <p:cNvPicPr/>
          <p:nvPr/>
        </p:nvPicPr>
        <p:blipFill>
          <a:blip r:embed="rId1"/>
          <a:stretch/>
        </p:blipFill>
        <p:spPr>
          <a:xfrm>
            <a:off x="2771640" y="1187280"/>
            <a:ext cx="3342960" cy="5495400"/>
          </a:xfrm>
          <a:prstGeom prst="rect">
            <a:avLst/>
          </a:prstGeom>
          <a:noFill/>
          <a:ln w="0">
            <a:noFill/>
          </a:ln>
        </p:spPr>
      </p:pic>
    </p:spTree>
  </p:cSld>
  <p:transition spd="slow">
    <p:wipe dir="r"/>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9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gn="just">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Average Cost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There are three average cost concepts: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Average fixed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AFC</a:t>
            </a:r>
            <a:r>
              <a:rPr b="0" lang="en-US" sz="2400" strike="noStrike" u="none">
                <a:solidFill>
                  <a:schemeClr val="dk1"/>
                </a:solidFill>
                <a:effectLst/>
                <a:uFillTx/>
                <a:latin typeface="Arial"/>
                <a:ea typeface="ＭＳ Ｐゴシック"/>
              </a:rPr>
              <a:t>) is total fixed cost per unit of output.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Average variable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is total variable cost per unit of output.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Average total cost</a:t>
            </a:r>
            <a:r>
              <a:rPr b="0" lang="en-US" sz="2400" strike="noStrike" u="none">
                <a:solidFill>
                  <a:schemeClr val="dk1"/>
                </a:solidFill>
                <a:effectLst/>
                <a:uFillTx/>
                <a:latin typeface="Arial"/>
                <a:ea typeface="ＭＳ Ｐゴシック"/>
              </a:rPr>
              <a:t> (</a:t>
            </a:r>
            <a:r>
              <a:rPr b="0" i="1" lang="en-US" sz="2400" strike="noStrike" u="none">
                <a:solidFill>
                  <a:schemeClr val="dk1"/>
                </a:solidFill>
                <a:effectLst/>
                <a:uFillTx/>
                <a:latin typeface="Arial"/>
                <a:ea typeface="ＭＳ Ｐゴシック"/>
              </a:rPr>
              <a:t>ATC</a:t>
            </a:r>
            <a:r>
              <a:rPr b="0" lang="en-US" sz="2400" strike="noStrike" u="none">
                <a:solidFill>
                  <a:schemeClr val="dk1"/>
                </a:solidFill>
                <a:effectLst/>
                <a:uFillTx/>
                <a:latin typeface="Arial"/>
                <a:ea typeface="ＭＳ Ｐゴシック"/>
              </a:rPr>
              <a:t>) is total cost per unit of output. </a:t>
            </a:r>
            <a:endParaRPr b="1" lang="en-CA" sz="2400" strike="noStrike" u="none">
              <a:solidFill>
                <a:srgbClr val="00468f"/>
              </a:solidFill>
              <a:effectLst/>
              <a:uFillTx/>
              <a:latin typeface="Arial"/>
            </a:endParaRPr>
          </a:p>
        </p:txBody>
      </p:sp>
    </p:spTree>
  </p:cSld>
  <p:transition spd="slow">
    <p:wipe dir="r"/>
  </p:transition>
  <p:timing>
    <p:tnLst>
      <p:par>
        <p:cTn id="937" dur="indefinite" restart="never" nodeType="tmRoot">
          <p:childTnLst>
            <p:seq>
              <p:cTn id="938" dur="indefinite" nodeType="mainSeq">
                <p:childTnLst>
                  <p:par>
                    <p:cTn id="939" nodeType="clickEffect" fill="hold">
                      <p:stCondLst>
                        <p:cond delay="indefinite"/>
                      </p:stCondLst>
                      <p:childTnLst>
                        <p:par>
                          <p:cTn id="940" nodeType="withEffect" fill="hold">
                            <p:stCondLst>
                              <p:cond delay="0"/>
                            </p:stCondLst>
                            <p:childTnLst>
                              <p:par>
                                <p:cTn id="941" nodeType="clickEffect" fill="hold" presetClass="entr" presetID="22" presetSubtype="8">
                                  <p:stCondLst>
                                    <p:cond delay="0"/>
                                  </p:stCondLst>
                                  <p:childTnLst>
                                    <p:set>
                                      <p:cBhvr>
                                        <p:cTn id="942" dur="1" fill="hold">
                                          <p:stCondLst>
                                            <p:cond delay="0"/>
                                          </p:stCondLst>
                                        </p:cTn>
                                        <p:tgtEl>
                                          <p:spTgt spid="291">
                                            <p:txEl>
                                              <p:pRg st="1" end="1"/>
                                            </p:txEl>
                                          </p:spTgt>
                                        </p:tgtEl>
                                        <p:attrNameLst>
                                          <p:attrName>style.visibility</p:attrName>
                                        </p:attrNameLst>
                                      </p:cBhvr>
                                      <p:to>
                                        <p:strVal val="visible"/>
                                      </p:to>
                                    </p:set>
                                    <p:animEffect filter="wipe(left)" transition="in">
                                      <p:cBhvr additive="repl">
                                        <p:cTn id="943" dur="500"/>
                                        <p:tgtEl>
                                          <p:spTgt spid="291">
                                            <p:txEl>
                                              <p:pRg st="1" end="1"/>
                                            </p:txEl>
                                          </p:spTgt>
                                        </p:tgtEl>
                                      </p:cBhvr>
                                    </p:animEffect>
                                  </p:childTnLst>
                                </p:cTn>
                              </p:par>
                            </p:childTnLst>
                          </p:cTn>
                        </p:par>
                      </p:childTnLst>
                    </p:cTn>
                  </p:par>
                  <p:par>
                    <p:cTn id="944" nodeType="clickEffect" fill="hold">
                      <p:stCondLst>
                        <p:cond delay="indefinite"/>
                      </p:stCondLst>
                      <p:childTnLst>
                        <p:par>
                          <p:cTn id="945" nodeType="withEffect" fill="hold">
                            <p:stCondLst>
                              <p:cond delay="0"/>
                            </p:stCondLst>
                            <p:childTnLst>
                              <p:par>
                                <p:cTn id="946" nodeType="clickEffect" fill="hold" presetClass="entr" presetID="22" presetSubtype="8">
                                  <p:stCondLst>
                                    <p:cond delay="0"/>
                                  </p:stCondLst>
                                  <p:childTnLst>
                                    <p:set>
                                      <p:cBhvr>
                                        <p:cTn id="947" dur="1" fill="hold">
                                          <p:stCondLst>
                                            <p:cond delay="0"/>
                                          </p:stCondLst>
                                        </p:cTn>
                                        <p:tgtEl>
                                          <p:spTgt spid="291">
                                            <p:txEl>
                                              <p:pRg st="2" end="2"/>
                                            </p:txEl>
                                          </p:spTgt>
                                        </p:tgtEl>
                                        <p:attrNameLst>
                                          <p:attrName>style.visibility</p:attrName>
                                        </p:attrNameLst>
                                      </p:cBhvr>
                                      <p:to>
                                        <p:strVal val="visible"/>
                                      </p:to>
                                    </p:set>
                                    <p:animEffect filter="wipe(left)" transition="in">
                                      <p:cBhvr additive="repl">
                                        <p:cTn id="948" dur="500"/>
                                        <p:tgtEl>
                                          <p:spTgt spid="291">
                                            <p:txEl>
                                              <p:pRg st="2" end="2"/>
                                            </p:txEl>
                                          </p:spTgt>
                                        </p:tgtEl>
                                      </p:cBhvr>
                                    </p:animEffect>
                                  </p:childTnLst>
                                </p:cTn>
                              </p:par>
                            </p:childTnLst>
                          </p:cTn>
                        </p:par>
                      </p:childTnLst>
                    </p:cTn>
                  </p:par>
                  <p:par>
                    <p:cTn id="949" nodeType="clickEffect" fill="hold">
                      <p:stCondLst>
                        <p:cond delay="indefinite"/>
                      </p:stCondLst>
                      <p:childTnLst>
                        <p:par>
                          <p:cTn id="950" nodeType="withEffect" fill="hold">
                            <p:stCondLst>
                              <p:cond delay="0"/>
                            </p:stCondLst>
                            <p:childTnLst>
                              <p:par>
                                <p:cTn id="951" nodeType="clickEffect" fill="hold" presetClass="entr" presetID="22" presetSubtype="8">
                                  <p:stCondLst>
                                    <p:cond delay="0"/>
                                  </p:stCondLst>
                                  <p:childTnLst>
                                    <p:set>
                                      <p:cBhvr>
                                        <p:cTn id="952" dur="1" fill="hold">
                                          <p:stCondLst>
                                            <p:cond delay="0"/>
                                          </p:stCondLst>
                                        </p:cTn>
                                        <p:tgtEl>
                                          <p:spTgt spid="291">
                                            <p:txEl>
                                              <p:pRg st="3" end="3"/>
                                            </p:txEl>
                                          </p:spTgt>
                                        </p:tgtEl>
                                        <p:attrNameLst>
                                          <p:attrName>style.visibility</p:attrName>
                                        </p:attrNameLst>
                                      </p:cBhvr>
                                      <p:to>
                                        <p:strVal val="visible"/>
                                      </p:to>
                                    </p:set>
                                    <p:animEffect filter="wipe(left)" transition="in">
                                      <p:cBhvr additive="repl">
                                        <p:cTn id="953" dur="500"/>
                                        <p:tgtEl>
                                          <p:spTgt spid="291">
                                            <p:txEl>
                                              <p:pRg st="3" end="3"/>
                                            </p:txEl>
                                          </p:spTgt>
                                        </p:tgtEl>
                                      </p:cBhvr>
                                    </p:animEffect>
                                  </p:childTnLst>
                                </p:cTn>
                              </p:par>
                            </p:childTnLst>
                          </p:cTn>
                        </p:par>
                      </p:childTnLst>
                    </p:cTn>
                  </p:par>
                  <p:par>
                    <p:cTn id="954" nodeType="clickEffect" fill="hold">
                      <p:stCondLst>
                        <p:cond delay="indefinite"/>
                      </p:stCondLst>
                      <p:childTnLst>
                        <p:par>
                          <p:cTn id="955" nodeType="withEffect" fill="hold">
                            <p:stCondLst>
                              <p:cond delay="0"/>
                            </p:stCondLst>
                            <p:childTnLst>
                              <p:par>
                                <p:cTn id="956" nodeType="clickEffect" fill="hold" presetClass="entr" presetID="22" presetSubtype="8">
                                  <p:stCondLst>
                                    <p:cond delay="0"/>
                                  </p:stCondLst>
                                  <p:childTnLst>
                                    <p:set>
                                      <p:cBhvr>
                                        <p:cTn id="957" dur="1" fill="hold">
                                          <p:stCondLst>
                                            <p:cond delay="0"/>
                                          </p:stCondLst>
                                        </p:cTn>
                                        <p:tgtEl>
                                          <p:spTgt spid="291">
                                            <p:txEl>
                                              <p:pRg st="4" end="4"/>
                                            </p:txEl>
                                          </p:spTgt>
                                        </p:tgtEl>
                                        <p:attrNameLst>
                                          <p:attrName>style.visibility</p:attrName>
                                        </p:attrNameLst>
                                      </p:cBhvr>
                                      <p:to>
                                        <p:strVal val="visible"/>
                                      </p:to>
                                    </p:set>
                                    <p:animEffect filter="wipe(left)" transition="in">
                                      <p:cBhvr additive="repl">
                                        <p:cTn id="958" dur="500"/>
                                        <p:tgtEl>
                                          <p:spTgt spid="29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29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average cost concepts are calculated from the total cost concepts as follows:</a:t>
            </a:r>
            <a:endParaRPr b="1" lang="en-CA" sz="2400" strike="noStrike" u="none">
              <a:solidFill>
                <a:srgbClr val="00468f"/>
              </a:solidFill>
              <a:effectLst/>
              <a:uFillTx/>
              <a:latin typeface="Arial"/>
            </a:endParaRPr>
          </a:p>
          <a:p>
            <a:pPr marL="360000" indent="0" algn="ctr">
              <a:lnSpc>
                <a:spcPct val="100000"/>
              </a:lnSpc>
              <a:spcBef>
                <a:spcPts val="601"/>
              </a:spcBef>
              <a:spcAft>
                <a:spcPts val="601"/>
              </a:spcAft>
              <a:buNone/>
              <a:tabLst>
                <a:tab algn="l" pos="0"/>
              </a:tabLst>
            </a:pPr>
            <a:r>
              <a:rPr b="0" i="1" lang="en-US" sz="2800" strike="noStrike" u="none">
                <a:solidFill>
                  <a:schemeClr val="dk1"/>
                </a:solidFill>
                <a:effectLst/>
                <a:uFillTx/>
                <a:latin typeface="Arial"/>
                <a:ea typeface="ＭＳ Ｐゴシック"/>
              </a:rPr>
              <a:t>TC = TFC + TVC</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Divide each total cost term by the quantity produced, </a:t>
            </a:r>
            <a:r>
              <a:rPr b="0" i="1" lang="en-US" sz="2400" strike="noStrike" u="none">
                <a:solidFill>
                  <a:schemeClr val="dk1"/>
                </a:solidFill>
                <a:effectLst/>
                <a:uFillTx/>
                <a:latin typeface="Arial"/>
                <a:ea typeface="ＭＳ Ｐゴシック"/>
              </a:rPr>
              <a:t>Q</a:t>
            </a:r>
            <a:r>
              <a:rPr b="0" lang="en-US" sz="2400" strike="noStrike" u="none">
                <a:solidFill>
                  <a:schemeClr val="dk1"/>
                </a:solidFill>
                <a:effectLst/>
                <a:uFillTx/>
                <a:latin typeface="Arial"/>
                <a:ea typeface="ＭＳ Ｐゴシック"/>
              </a:rPr>
              <a:t>, to give</a:t>
            </a:r>
            <a:endParaRPr b="1" lang="en-CA" sz="2400" strike="noStrike" u="none">
              <a:solidFill>
                <a:srgbClr val="00468f"/>
              </a:solidFill>
              <a:effectLst/>
              <a:uFillTx/>
              <a:latin typeface="Arial"/>
            </a:endParaRPr>
          </a:p>
        </p:txBody>
      </p:sp>
      <p:sp>
        <p:nvSpPr>
          <p:cNvPr id="294" name="Text Box 4"/>
          <p:cNvSpPr/>
          <p:nvPr/>
        </p:nvSpPr>
        <p:spPr>
          <a:xfrm>
            <a:off x="2971800" y="5659560"/>
            <a:ext cx="3146040" cy="518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i="1" lang="en-US" sz="2800" strike="noStrike" u="none">
                <a:solidFill>
                  <a:schemeClr val="dk1"/>
                </a:solidFill>
                <a:effectLst/>
                <a:uFillTx/>
                <a:latin typeface="Arial"/>
                <a:ea typeface="ＭＳ Ｐゴシック"/>
              </a:rPr>
              <a:t>ATC = AFC + AVC</a:t>
            </a:r>
            <a:endParaRPr b="0" lang="en-US" sz="2800" strike="noStrike" u="none">
              <a:solidFill>
                <a:srgbClr val="000000"/>
              </a:solidFill>
              <a:effectLst/>
              <a:uFillTx/>
              <a:latin typeface="Arial"/>
            </a:endParaRPr>
          </a:p>
        </p:txBody>
      </p:sp>
      <p:grpSp>
        <p:nvGrpSpPr>
          <p:cNvPr id="295" name="Group 13"/>
          <p:cNvGrpSpPr/>
          <p:nvPr/>
        </p:nvGrpSpPr>
        <p:grpSpPr>
          <a:xfrm>
            <a:off x="3200400" y="4038480"/>
            <a:ext cx="2776320" cy="1010880"/>
            <a:chOff x="3200400" y="4038480"/>
            <a:chExt cx="2776320" cy="1010880"/>
          </a:xfrm>
        </p:grpSpPr>
        <p:sp>
          <p:nvSpPr>
            <p:cNvPr id="296" name="Text Box 6"/>
            <p:cNvSpPr/>
            <p:nvPr/>
          </p:nvSpPr>
          <p:spPr>
            <a:xfrm>
              <a:off x="3306600" y="4530600"/>
              <a:ext cx="2488680" cy="518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i="1" lang="en-US" sz="2800" strike="noStrike" u="none">
                  <a:solidFill>
                    <a:schemeClr val="dk1"/>
                  </a:solidFill>
                  <a:effectLst/>
                  <a:uFillTx/>
                  <a:latin typeface="Arial"/>
                  <a:ea typeface="ＭＳ Ｐゴシック"/>
                </a:rPr>
                <a:t>Q       Q        Q</a:t>
              </a:r>
              <a:endParaRPr b="0" lang="en-US" sz="2800" strike="noStrike" u="none">
                <a:solidFill>
                  <a:srgbClr val="000000"/>
                </a:solidFill>
                <a:effectLst/>
                <a:uFillTx/>
                <a:latin typeface="Arial"/>
              </a:endParaRPr>
            </a:p>
          </p:txBody>
        </p:sp>
        <p:sp>
          <p:nvSpPr>
            <p:cNvPr id="297" name="Line 7"/>
            <p:cNvSpPr/>
            <p:nvPr/>
          </p:nvSpPr>
          <p:spPr>
            <a:xfrm>
              <a:off x="3306600" y="4582800"/>
              <a:ext cx="457200" cy="360"/>
            </a:xfrm>
            <a:prstGeom prst="line">
              <a:avLst/>
            </a:prstGeom>
            <a:ln w="9525">
              <a:solidFill>
                <a:srgbClr val="000000"/>
              </a:solidFill>
              <a:miter/>
            </a:ln>
          </p:spPr>
          <p:style>
            <a:lnRef idx="0"/>
            <a:fillRef idx="0"/>
            <a:effectRef idx="0"/>
            <a:fontRef idx="minor"/>
          </p:style>
          <p:txBody>
            <a:bodyPr lIns="90000" rIns="90000" tIns="-44640" bIns="-44640" anchor="ctr">
              <a:noAutofit/>
            </a:bodyPr>
            <a:p>
              <a:endParaRPr b="1" lang="en-US" sz="2400" strike="noStrike" u="none">
                <a:solidFill>
                  <a:schemeClr val="dk1"/>
                </a:solidFill>
                <a:effectLst/>
                <a:uFillTx/>
                <a:latin typeface="Arial"/>
                <a:ea typeface="ＭＳ Ｐゴシック"/>
              </a:endParaRPr>
            </a:p>
          </p:txBody>
        </p:sp>
        <p:sp>
          <p:nvSpPr>
            <p:cNvPr id="298" name="Line 8"/>
            <p:cNvSpPr/>
            <p:nvPr/>
          </p:nvSpPr>
          <p:spPr>
            <a:xfrm>
              <a:off x="4297320" y="4582800"/>
              <a:ext cx="457200" cy="360"/>
            </a:xfrm>
            <a:prstGeom prst="line">
              <a:avLst/>
            </a:prstGeom>
            <a:ln w="9525">
              <a:solidFill>
                <a:srgbClr val="000000"/>
              </a:solidFill>
              <a:miter/>
            </a:ln>
          </p:spPr>
          <p:style>
            <a:lnRef idx="0"/>
            <a:fillRef idx="0"/>
            <a:effectRef idx="0"/>
            <a:fontRef idx="minor"/>
          </p:style>
          <p:txBody>
            <a:bodyPr lIns="90000" rIns="90000" tIns="-44640" bIns="-44640" anchor="ctr">
              <a:noAutofit/>
            </a:bodyPr>
            <a:p>
              <a:endParaRPr b="1" lang="en-US" sz="2400" strike="noStrike" u="none">
                <a:solidFill>
                  <a:schemeClr val="dk1"/>
                </a:solidFill>
                <a:effectLst/>
                <a:uFillTx/>
                <a:latin typeface="Arial"/>
                <a:ea typeface="ＭＳ Ｐゴシック"/>
              </a:endParaRPr>
            </a:p>
          </p:txBody>
        </p:sp>
        <p:sp>
          <p:nvSpPr>
            <p:cNvPr id="299" name="Line 9"/>
            <p:cNvSpPr/>
            <p:nvPr/>
          </p:nvSpPr>
          <p:spPr>
            <a:xfrm>
              <a:off x="5364000" y="4582800"/>
              <a:ext cx="457200" cy="360"/>
            </a:xfrm>
            <a:prstGeom prst="line">
              <a:avLst/>
            </a:prstGeom>
            <a:ln w="9525">
              <a:solidFill>
                <a:srgbClr val="000000"/>
              </a:solidFill>
              <a:miter/>
            </a:ln>
          </p:spPr>
          <p:style>
            <a:lnRef idx="0"/>
            <a:fillRef idx="0"/>
            <a:effectRef idx="0"/>
            <a:fontRef idx="minor"/>
          </p:style>
          <p:txBody>
            <a:bodyPr lIns="90000" rIns="90000" tIns="-44640" bIns="-44640" anchor="ctr">
              <a:noAutofit/>
            </a:bodyPr>
            <a:p>
              <a:endParaRPr b="1" lang="en-US" sz="2400" strike="noStrike" u="none">
                <a:solidFill>
                  <a:schemeClr val="dk1"/>
                </a:solidFill>
                <a:effectLst/>
                <a:uFillTx/>
                <a:latin typeface="Arial"/>
                <a:ea typeface="ＭＳ Ｐゴシック"/>
              </a:endParaRPr>
            </a:p>
          </p:txBody>
        </p:sp>
        <p:sp>
          <p:nvSpPr>
            <p:cNvPr id="300" name="Text Box 10"/>
            <p:cNvSpPr/>
            <p:nvPr/>
          </p:nvSpPr>
          <p:spPr>
            <a:xfrm>
              <a:off x="3200400" y="4038480"/>
              <a:ext cx="2776320" cy="523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i="1" lang="en-US" sz="2800" strike="noStrike" u="none">
                  <a:solidFill>
                    <a:schemeClr val="dk1"/>
                  </a:solidFill>
                  <a:effectLst/>
                  <a:uFillTx/>
                  <a:latin typeface="Arial"/>
                  <a:ea typeface="ＭＳ Ｐゴシック"/>
                </a:rPr>
                <a:t>TC   TFC    TVC</a:t>
              </a:r>
              <a:endParaRPr b="0" lang="en-US" sz="2800" strike="noStrike" u="none">
                <a:solidFill>
                  <a:srgbClr val="000000"/>
                </a:solidFill>
                <a:effectLst/>
                <a:uFillTx/>
                <a:latin typeface="Arial"/>
              </a:endParaRPr>
            </a:p>
          </p:txBody>
        </p:sp>
      </p:grpSp>
      <p:sp>
        <p:nvSpPr>
          <p:cNvPr id="301" name="Text Box 11"/>
          <p:cNvSpPr/>
          <p:nvPr/>
        </p:nvSpPr>
        <p:spPr>
          <a:xfrm>
            <a:off x="4191120" y="5126040"/>
            <a:ext cx="539280" cy="4568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400" strike="noStrike" u="none">
                <a:solidFill>
                  <a:schemeClr val="dk1"/>
                </a:solidFill>
                <a:effectLst/>
                <a:uFillTx/>
                <a:latin typeface="Arial"/>
                <a:ea typeface="ＭＳ Ｐゴシック"/>
              </a:rPr>
              <a:t>or,</a:t>
            </a:r>
            <a:endParaRPr b="0" lang="en-US" sz="2400" strike="noStrike" u="none">
              <a:solidFill>
                <a:srgbClr val="000000"/>
              </a:solidFill>
              <a:effectLst/>
              <a:uFillTx/>
              <a:latin typeface="Arial"/>
            </a:endParaRPr>
          </a:p>
        </p:txBody>
      </p:sp>
      <p:sp>
        <p:nvSpPr>
          <p:cNvPr id="302" name="Text Box 8"/>
          <p:cNvSpPr/>
          <p:nvPr/>
        </p:nvSpPr>
        <p:spPr>
          <a:xfrm>
            <a:off x="3809880" y="4343400"/>
            <a:ext cx="456840" cy="456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p:txBody>
      </p:sp>
      <p:sp>
        <p:nvSpPr>
          <p:cNvPr id="303" name="Text Box 8"/>
          <p:cNvSpPr/>
          <p:nvPr/>
        </p:nvSpPr>
        <p:spPr>
          <a:xfrm>
            <a:off x="4800600" y="4343400"/>
            <a:ext cx="456840" cy="4568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trike="noStrike" u="none">
                <a:solidFill>
                  <a:schemeClr val="dk1"/>
                </a:solidFill>
                <a:effectLst/>
                <a:uFillTx/>
                <a:latin typeface="Arial"/>
                <a:ea typeface="ＭＳ Ｐゴシック"/>
              </a:rPr>
              <a:t>+</a:t>
            </a:r>
            <a:endParaRPr b="0" lang="en-US" sz="2400" strike="noStrike" u="none">
              <a:solidFill>
                <a:srgbClr val="000000"/>
              </a:solidFill>
              <a:effectLst/>
              <a:uFillTx/>
              <a:latin typeface="Arial"/>
            </a:endParaRPr>
          </a:p>
        </p:txBody>
      </p:sp>
    </p:spTree>
  </p:cSld>
  <p:transition spd="slow">
    <p:wipe dir="r"/>
  </p:transition>
  <p:timing>
    <p:tnLst>
      <p:par>
        <p:cTn id="959" dur="indefinite" restart="never" nodeType="tmRoot">
          <p:childTnLst>
            <p:seq>
              <p:cTn id="960" dur="indefinite" nodeType="mainSeq">
                <p:childTnLst>
                  <p:par>
                    <p:cTn id="961" nodeType="clickEffect" fill="hold">
                      <p:stCondLst>
                        <p:cond delay="indefinite"/>
                      </p:stCondLst>
                      <p:childTnLst>
                        <p:par>
                          <p:cTn id="962" nodeType="withEffect" fill="hold">
                            <p:stCondLst>
                              <p:cond delay="0"/>
                            </p:stCondLst>
                            <p:childTnLst>
                              <p:par>
                                <p:cTn id="963" nodeType="clickEffect" fill="hold" presetClass="entr" presetID="22" presetSubtype="8">
                                  <p:stCondLst>
                                    <p:cond delay="0"/>
                                  </p:stCondLst>
                                  <p:childTnLst>
                                    <p:set>
                                      <p:cBhvr>
                                        <p:cTn id="964" dur="1" fill="hold">
                                          <p:stCondLst>
                                            <p:cond delay="0"/>
                                          </p:stCondLst>
                                        </p:cTn>
                                        <p:tgtEl>
                                          <p:spTgt spid="293">
                                            <p:txEl>
                                              <p:pRg st="1" end="1"/>
                                            </p:txEl>
                                          </p:spTgt>
                                        </p:tgtEl>
                                        <p:attrNameLst>
                                          <p:attrName>style.visibility</p:attrName>
                                        </p:attrNameLst>
                                      </p:cBhvr>
                                      <p:to>
                                        <p:strVal val="visible"/>
                                      </p:to>
                                    </p:set>
                                    <p:animEffect filter="wipe(left)" transition="in">
                                      <p:cBhvr additive="repl">
                                        <p:cTn id="965" dur="500"/>
                                        <p:tgtEl>
                                          <p:spTgt spid="293">
                                            <p:txEl>
                                              <p:pRg st="1" end="1"/>
                                            </p:txEl>
                                          </p:spTgt>
                                        </p:tgtEl>
                                      </p:cBhvr>
                                    </p:animEffect>
                                  </p:childTnLst>
                                </p:cTn>
                              </p:par>
                            </p:childTnLst>
                          </p:cTn>
                        </p:par>
                      </p:childTnLst>
                    </p:cTn>
                  </p:par>
                  <p:par>
                    <p:cTn id="966" nodeType="clickEffect" fill="hold">
                      <p:stCondLst>
                        <p:cond delay="indefinite"/>
                      </p:stCondLst>
                      <p:childTnLst>
                        <p:par>
                          <p:cTn id="967" nodeType="withEffect" fill="hold">
                            <p:stCondLst>
                              <p:cond delay="0"/>
                            </p:stCondLst>
                            <p:childTnLst>
                              <p:par>
                                <p:cTn id="968" nodeType="clickEffect" fill="hold" presetClass="entr" presetID="22" presetSubtype="8">
                                  <p:stCondLst>
                                    <p:cond delay="0"/>
                                  </p:stCondLst>
                                  <p:childTnLst>
                                    <p:set>
                                      <p:cBhvr>
                                        <p:cTn id="969" dur="1" fill="hold">
                                          <p:stCondLst>
                                            <p:cond delay="0"/>
                                          </p:stCondLst>
                                        </p:cTn>
                                        <p:tgtEl>
                                          <p:spTgt spid="293">
                                            <p:txEl>
                                              <p:pRg st="2" end="2"/>
                                            </p:txEl>
                                          </p:spTgt>
                                        </p:tgtEl>
                                        <p:attrNameLst>
                                          <p:attrName>style.visibility</p:attrName>
                                        </p:attrNameLst>
                                      </p:cBhvr>
                                      <p:to>
                                        <p:strVal val="visible"/>
                                      </p:to>
                                    </p:set>
                                    <p:animEffect filter="wipe(left)" transition="in">
                                      <p:cBhvr additive="repl">
                                        <p:cTn id="970" dur="500"/>
                                        <p:tgtEl>
                                          <p:spTgt spid="293">
                                            <p:txEl>
                                              <p:pRg st="2" end="2"/>
                                            </p:txEl>
                                          </p:spTgt>
                                        </p:tgtEl>
                                      </p:cBhvr>
                                    </p:animEffect>
                                  </p:childTnLst>
                                </p:cTn>
                              </p:par>
                            </p:childTnLst>
                          </p:cTn>
                        </p:par>
                      </p:childTnLst>
                    </p:cTn>
                  </p:par>
                  <p:par>
                    <p:cTn id="971" nodeType="clickEffect" fill="hold">
                      <p:stCondLst>
                        <p:cond delay="indefinite"/>
                      </p:stCondLst>
                      <p:childTnLst>
                        <p:par>
                          <p:cTn id="972" nodeType="withEffect" fill="hold">
                            <p:stCondLst>
                              <p:cond delay="0"/>
                            </p:stCondLst>
                            <p:childTnLst>
                              <p:par>
                                <p:cTn id="973" nodeType="clickEffect" fill="hold" presetClass="entr" presetID="22" presetSubtype="8">
                                  <p:stCondLst>
                                    <p:cond delay="0"/>
                                  </p:stCondLst>
                                  <p:childTnLst>
                                    <p:set>
                                      <p:cBhvr>
                                        <p:cTn id="974" dur="1" fill="hold">
                                          <p:stCondLst>
                                            <p:cond delay="0"/>
                                          </p:stCondLst>
                                        </p:cTn>
                                        <p:tgtEl>
                                          <p:spTgt spid="295"/>
                                        </p:tgtEl>
                                        <p:attrNameLst>
                                          <p:attrName>style.visibility</p:attrName>
                                        </p:attrNameLst>
                                      </p:cBhvr>
                                      <p:to>
                                        <p:strVal val="visible"/>
                                      </p:to>
                                    </p:set>
                                    <p:animEffect filter="wipe(left)" transition="in">
                                      <p:cBhvr additive="repl">
                                        <p:cTn id="975" dur="500"/>
                                        <p:tgtEl>
                                          <p:spTgt spid="295"/>
                                        </p:tgtEl>
                                      </p:cBhvr>
                                    </p:animEffect>
                                  </p:childTnLst>
                                </p:cTn>
                              </p:par>
                            </p:childTnLst>
                          </p:cTn>
                        </p:par>
                      </p:childTnLst>
                    </p:cTn>
                  </p:par>
                  <p:par>
                    <p:cTn id="976" nodeType="clickEffect" fill="hold">
                      <p:stCondLst>
                        <p:cond delay="indefinite"/>
                      </p:stCondLst>
                      <p:childTnLst>
                        <p:par>
                          <p:cTn id="977" nodeType="withEffect" fill="hold">
                            <p:stCondLst>
                              <p:cond delay="0"/>
                            </p:stCondLst>
                            <p:childTnLst>
                              <p:par>
                                <p:cTn id="978" nodeType="clickEffect" fill="hold" presetClass="entr" presetID="22" presetSubtype="8">
                                  <p:stCondLst>
                                    <p:cond delay="0"/>
                                  </p:stCondLst>
                                  <p:childTnLst>
                                    <p:set>
                                      <p:cBhvr>
                                        <p:cTn id="979" dur="1" fill="hold">
                                          <p:stCondLst>
                                            <p:cond delay="0"/>
                                          </p:stCondLst>
                                        </p:cTn>
                                        <p:tgtEl>
                                          <p:spTgt spid="301"/>
                                        </p:tgtEl>
                                        <p:attrNameLst>
                                          <p:attrName>style.visibility</p:attrName>
                                        </p:attrNameLst>
                                      </p:cBhvr>
                                      <p:to>
                                        <p:strVal val="visible"/>
                                      </p:to>
                                    </p:set>
                                    <p:animEffect filter="wipe(left)" transition="in">
                                      <p:cBhvr additive="repl">
                                        <p:cTn id="980" dur="500"/>
                                        <p:tgtEl>
                                          <p:spTgt spid="301"/>
                                        </p:tgtEl>
                                      </p:cBhvr>
                                    </p:animEffect>
                                  </p:childTnLst>
                                </p:cTn>
                              </p:par>
                            </p:childTnLst>
                          </p:cTn>
                        </p:par>
                        <p:par>
                          <p:cTn id="981" nodeType="afterEffect" fill="hold">
                            <p:stCondLst>
                              <p:cond delay="500"/>
                            </p:stCondLst>
                            <p:childTnLst>
                              <p:par>
                                <p:cTn id="982" nodeType="afterEffect" fill="hold" presetClass="entr" presetID="22" presetSubtype="8">
                                  <p:stCondLst>
                                    <p:cond delay="0"/>
                                  </p:stCondLst>
                                  <p:childTnLst>
                                    <p:set>
                                      <p:cBhvr>
                                        <p:cTn id="983" dur="1" fill="hold">
                                          <p:stCondLst>
                                            <p:cond delay="0"/>
                                          </p:stCondLst>
                                        </p:cTn>
                                        <p:tgtEl>
                                          <p:spTgt spid="294"/>
                                        </p:tgtEl>
                                        <p:attrNameLst>
                                          <p:attrName>style.visibility</p:attrName>
                                        </p:attrNameLst>
                                      </p:cBhvr>
                                      <p:to>
                                        <p:strVal val="visible"/>
                                      </p:to>
                                    </p:set>
                                    <p:animEffect filter="wipe(left)" transition="in">
                                      <p:cBhvr additive="repl">
                                        <p:cTn id="984"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Rectangle 1"/>
          <p:cNvSpPr/>
          <p:nvPr/>
        </p:nvSpPr>
        <p:spPr>
          <a:xfrm>
            <a:off x="398520" y="762120"/>
            <a:ext cx="2057040" cy="456840"/>
          </a:xfrm>
          <a:prstGeom prst="rect">
            <a:avLst/>
          </a:prstGeom>
          <a:solidFill>
            <a:schemeClr val="bg1"/>
          </a:solidFill>
          <a:ln w="0">
            <a:noFill/>
          </a:ln>
        </p:spPr>
        <p:style>
          <a:lnRef idx="0"/>
          <a:fillRef idx="0"/>
          <a:effectRef idx="0"/>
          <a:fontRef idx="minor"/>
        </p:style>
        <p:txBody>
          <a:bodyPr wrap="none" lIns="90000" rIns="90000" tIns="45000" bIns="45000" anchor="t">
            <a:noAutofit/>
          </a:bodyPr>
          <a:p>
            <a:pPr>
              <a:lnSpc>
                <a:spcPct val="100000"/>
              </a:lnSpc>
            </a:pPr>
            <a:endParaRPr b="1" lang="en-US" sz="2400" strike="noStrike" u="none">
              <a:solidFill>
                <a:schemeClr val="dk1"/>
              </a:solidFill>
              <a:effectLst/>
              <a:uFillTx/>
              <a:latin typeface="Arial"/>
              <a:ea typeface="ＭＳ Ｐゴシック"/>
            </a:endParaRPr>
          </a:p>
        </p:txBody>
      </p:sp>
      <p:sp>
        <p:nvSpPr>
          <p:cNvPr id="30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rgbClr val="ffffff"/>
                </a:solidFill>
                <a:effectLst/>
                <a:uFillTx/>
                <a:latin typeface="Arial"/>
                <a:ea typeface="ＭＳ Ｐゴシック"/>
              </a:rPr>
              <a:t>14.3  SHORT-RUN COST</a:t>
            </a:r>
            <a:endParaRPr b="0" lang="en-CA" sz="2600" strike="noStrike" u="none">
              <a:solidFill>
                <a:schemeClr val="dk1"/>
              </a:solidFill>
              <a:effectLst/>
              <a:uFillTx/>
              <a:latin typeface="Arial"/>
            </a:endParaRPr>
          </a:p>
        </p:txBody>
      </p:sp>
      <p:pic>
        <p:nvPicPr>
          <p:cNvPr id="306" name="Picture 2" descr=""/>
          <p:cNvPicPr/>
          <p:nvPr/>
        </p:nvPicPr>
        <p:blipFill>
          <a:blip r:embed="rId1"/>
          <a:stretch/>
        </p:blipFill>
        <p:spPr>
          <a:xfrm>
            <a:off x="838080" y="1187280"/>
            <a:ext cx="7192440" cy="5495400"/>
          </a:xfrm>
          <a:prstGeom prst="rect">
            <a:avLst/>
          </a:prstGeom>
          <a:noFill/>
          <a:ln w="0">
            <a:noFill/>
          </a:ln>
        </p:spPr>
      </p:pic>
    </p:spTree>
  </p:cSld>
  <p:transition spd="slow">
    <p:wipe dir="r"/>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08" name="PlaceHolder 2"/>
          <p:cNvSpPr>
            <a:spLocks noGrp="1"/>
          </p:cNvSpPr>
          <p:nvPr>
            <p:ph/>
          </p:nvPr>
        </p:nvSpPr>
        <p:spPr>
          <a:xfrm>
            <a:off x="360360" y="1440000"/>
            <a:ext cx="4134960" cy="49604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14.6 shows the average cost curves and marginal cost curve at Sam’s Smoothies.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Average fixed cost (</a:t>
            </a:r>
            <a:r>
              <a:rPr b="0" i="1" lang="en-US" sz="2400" strike="noStrike" u="none">
                <a:solidFill>
                  <a:srgbClr val="000000"/>
                </a:solidFill>
                <a:effectLst/>
                <a:uFillTx/>
                <a:latin typeface="Arial"/>
                <a:ea typeface="ＭＳ Ｐゴシック"/>
              </a:rPr>
              <a:t>AFC</a:t>
            </a:r>
            <a:r>
              <a:rPr b="0" lang="en-US" sz="2400" strike="noStrike" u="none">
                <a:solidFill>
                  <a:srgbClr val="000000"/>
                </a:solidFill>
                <a:effectLst/>
                <a:uFillTx/>
                <a:latin typeface="Arial"/>
                <a:ea typeface="ＭＳ Ｐゴシック"/>
              </a:rPr>
              <a:t>) decreases as output increases.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average variable cost curve (</a:t>
            </a:r>
            <a:r>
              <a:rPr b="0" i="1" lang="en-US" sz="2400" strike="noStrike" u="none">
                <a:solidFill>
                  <a:srgbClr val="000000"/>
                </a:solidFill>
                <a:effectLst/>
                <a:uFillTx/>
                <a:latin typeface="Arial"/>
                <a:ea typeface="ＭＳ Ｐゴシック"/>
              </a:rPr>
              <a:t>AVC</a:t>
            </a:r>
            <a:r>
              <a:rPr b="0" lang="en-US" sz="2400" strike="noStrike" u="none">
                <a:solidFill>
                  <a:srgbClr val="000000"/>
                </a:solidFill>
                <a:effectLst/>
                <a:uFillTx/>
                <a:latin typeface="Arial"/>
                <a:ea typeface="ＭＳ Ｐゴシック"/>
              </a:rPr>
              <a:t>) is U-shaped.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average total cost curve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is also </a:t>
            </a:r>
            <a:br>
              <a:rPr sz="2400"/>
            </a:br>
            <a:r>
              <a:rPr b="0" lang="en-US" sz="2400" strike="noStrike" u="none">
                <a:solidFill>
                  <a:srgbClr val="000000"/>
                </a:solidFill>
                <a:effectLst/>
                <a:uFillTx/>
                <a:latin typeface="Arial"/>
                <a:ea typeface="ＭＳ Ｐゴシック"/>
              </a:rPr>
              <a:t>U-shaped.</a:t>
            </a:r>
            <a:endParaRPr b="1" lang="en-CA" sz="2400" strike="noStrike" u="none">
              <a:solidFill>
                <a:srgbClr val="00468f"/>
              </a:solidFill>
              <a:effectLst/>
              <a:uFillTx/>
              <a:latin typeface="Arial"/>
            </a:endParaRPr>
          </a:p>
        </p:txBody>
      </p:sp>
      <p:pic>
        <p:nvPicPr>
          <p:cNvPr id="309" name="Picture 7" descr=""/>
          <p:cNvPicPr/>
          <p:nvPr/>
        </p:nvPicPr>
        <p:blipFill>
          <a:blip r:embed="rId1"/>
          <a:stretch/>
        </p:blipFill>
        <p:spPr>
          <a:xfrm>
            <a:off x="4392720" y="1440000"/>
            <a:ext cx="4246200" cy="4446360"/>
          </a:xfrm>
          <a:prstGeom prst="rect">
            <a:avLst/>
          </a:prstGeom>
          <a:noFill/>
          <a:ln w="0">
            <a:noFill/>
          </a:ln>
        </p:spPr>
      </p:pic>
      <p:pic>
        <p:nvPicPr>
          <p:cNvPr id="310" name="Picture 8" descr=""/>
          <p:cNvPicPr/>
          <p:nvPr/>
        </p:nvPicPr>
        <p:blipFill>
          <a:blip r:embed="rId2"/>
          <a:stretch/>
        </p:blipFill>
        <p:spPr>
          <a:xfrm>
            <a:off x="4392720" y="1440000"/>
            <a:ext cx="4246200" cy="4446360"/>
          </a:xfrm>
          <a:prstGeom prst="rect">
            <a:avLst/>
          </a:prstGeom>
          <a:noFill/>
          <a:ln w="0">
            <a:noFill/>
          </a:ln>
        </p:spPr>
      </p:pic>
      <p:pic>
        <p:nvPicPr>
          <p:cNvPr id="311" name="Picture 9" descr=""/>
          <p:cNvPicPr/>
          <p:nvPr/>
        </p:nvPicPr>
        <p:blipFill>
          <a:blip r:embed="rId3"/>
          <a:stretch/>
        </p:blipFill>
        <p:spPr>
          <a:xfrm>
            <a:off x="4392720" y="1440000"/>
            <a:ext cx="4246200" cy="4446360"/>
          </a:xfrm>
          <a:prstGeom prst="rect">
            <a:avLst/>
          </a:prstGeom>
          <a:noFill/>
          <a:ln w="0">
            <a:noFill/>
          </a:ln>
        </p:spPr>
      </p:pic>
      <p:pic>
        <p:nvPicPr>
          <p:cNvPr id="312" name="Picture 10" descr=""/>
          <p:cNvPicPr/>
          <p:nvPr/>
        </p:nvPicPr>
        <p:blipFill>
          <a:blip r:embed="rId4"/>
          <a:stretch/>
        </p:blipFill>
        <p:spPr>
          <a:xfrm>
            <a:off x="4392720" y="1440000"/>
            <a:ext cx="4246200" cy="4446360"/>
          </a:xfrm>
          <a:prstGeom prst="rect">
            <a:avLst/>
          </a:prstGeom>
          <a:noFill/>
          <a:ln w="0">
            <a:noFill/>
          </a:ln>
        </p:spPr>
      </p:pic>
    </p:spTree>
  </p:cSld>
  <p:transition spd="med">
    <p:wipe dir="r"/>
  </p:transition>
  <p:timing>
    <p:tnLst>
      <p:par>
        <p:cTn id="985" dur="indefinite" restart="never" nodeType="tmRoot">
          <p:childTnLst>
            <p:seq>
              <p:cTn id="986" dur="indefinite" nodeType="mainSeq">
                <p:childTnLst>
                  <p:par>
                    <p:cTn id="987" nodeType="clickEffect" fill="hold">
                      <p:stCondLst>
                        <p:cond delay="indefinite"/>
                      </p:stCondLst>
                      <p:childTnLst>
                        <p:par>
                          <p:cTn id="988" nodeType="withEffect" fill="hold">
                            <p:stCondLst>
                              <p:cond delay="0"/>
                            </p:stCondLst>
                            <p:childTnLst>
                              <p:par>
                                <p:cTn id="989" nodeType="clickEffect" fill="hold" presetClass="entr" presetID="22" presetSubtype="8">
                                  <p:stCondLst>
                                    <p:cond delay="0"/>
                                  </p:stCondLst>
                                  <p:childTnLst>
                                    <p:set>
                                      <p:cBhvr>
                                        <p:cTn id="990" dur="1" fill="hold">
                                          <p:stCondLst>
                                            <p:cond delay="0"/>
                                          </p:stCondLst>
                                        </p:cTn>
                                        <p:tgtEl>
                                          <p:spTgt spid="308">
                                            <p:txEl>
                                              <p:pRg st="1" end="1"/>
                                            </p:txEl>
                                          </p:spTgt>
                                        </p:tgtEl>
                                        <p:attrNameLst>
                                          <p:attrName>style.visibility</p:attrName>
                                        </p:attrNameLst>
                                      </p:cBhvr>
                                      <p:to>
                                        <p:strVal val="visible"/>
                                      </p:to>
                                    </p:set>
                                    <p:animEffect filter="wipe(left)" transition="in">
                                      <p:cBhvr additive="repl">
                                        <p:cTn id="991" dur="500"/>
                                        <p:tgtEl>
                                          <p:spTgt spid="308">
                                            <p:txEl>
                                              <p:pRg st="1" end="1"/>
                                            </p:txEl>
                                          </p:spTgt>
                                        </p:tgtEl>
                                      </p:cBhvr>
                                    </p:animEffect>
                                  </p:childTnLst>
                                </p:cTn>
                              </p:par>
                              <p:par>
                                <p:cTn id="992" nodeType="withEffect" fill="hold" presetClass="entr" presetID="22" presetSubtype="8">
                                  <p:stCondLst>
                                    <p:cond delay="0"/>
                                  </p:stCondLst>
                                  <p:childTnLst>
                                    <p:set>
                                      <p:cBhvr>
                                        <p:cTn id="993" dur="1" fill="hold">
                                          <p:stCondLst>
                                            <p:cond delay="0"/>
                                          </p:stCondLst>
                                        </p:cTn>
                                        <p:tgtEl>
                                          <p:spTgt spid="310"/>
                                        </p:tgtEl>
                                        <p:attrNameLst>
                                          <p:attrName>style.visibility</p:attrName>
                                        </p:attrNameLst>
                                      </p:cBhvr>
                                      <p:to>
                                        <p:strVal val="visible"/>
                                      </p:to>
                                    </p:set>
                                    <p:animEffect filter="wipe(left)" transition="in">
                                      <p:cBhvr additive="repl">
                                        <p:cTn id="994" dur="1500"/>
                                        <p:tgtEl>
                                          <p:spTgt spid="310"/>
                                        </p:tgtEl>
                                      </p:cBhvr>
                                    </p:animEffect>
                                  </p:childTnLst>
                                </p:cTn>
                              </p:par>
                            </p:childTnLst>
                          </p:cTn>
                        </p:par>
                      </p:childTnLst>
                    </p:cTn>
                  </p:par>
                  <p:par>
                    <p:cTn id="995" nodeType="clickEffect" fill="hold">
                      <p:stCondLst>
                        <p:cond delay="indefinite"/>
                      </p:stCondLst>
                      <p:childTnLst>
                        <p:par>
                          <p:cTn id="996" nodeType="withEffect" fill="hold">
                            <p:stCondLst>
                              <p:cond delay="0"/>
                            </p:stCondLst>
                            <p:childTnLst>
                              <p:par>
                                <p:cTn id="997" nodeType="clickEffect" fill="hold" presetClass="entr" presetID="22" presetSubtype="8">
                                  <p:stCondLst>
                                    <p:cond delay="0"/>
                                  </p:stCondLst>
                                  <p:childTnLst>
                                    <p:set>
                                      <p:cBhvr>
                                        <p:cTn id="998" dur="1" fill="hold">
                                          <p:stCondLst>
                                            <p:cond delay="0"/>
                                          </p:stCondLst>
                                        </p:cTn>
                                        <p:tgtEl>
                                          <p:spTgt spid="308">
                                            <p:txEl>
                                              <p:pRg st="2" end="2"/>
                                            </p:txEl>
                                          </p:spTgt>
                                        </p:tgtEl>
                                        <p:attrNameLst>
                                          <p:attrName>style.visibility</p:attrName>
                                        </p:attrNameLst>
                                      </p:cBhvr>
                                      <p:to>
                                        <p:strVal val="visible"/>
                                      </p:to>
                                    </p:set>
                                    <p:animEffect filter="wipe(left)" transition="in">
                                      <p:cBhvr additive="repl">
                                        <p:cTn id="999" dur="500"/>
                                        <p:tgtEl>
                                          <p:spTgt spid="308">
                                            <p:txEl>
                                              <p:pRg st="2" end="2"/>
                                            </p:txEl>
                                          </p:spTgt>
                                        </p:tgtEl>
                                      </p:cBhvr>
                                    </p:animEffect>
                                  </p:childTnLst>
                                </p:cTn>
                              </p:par>
                              <p:par>
                                <p:cTn id="1000" nodeType="withEffect" fill="hold" presetClass="entr" presetID="22" presetSubtype="8">
                                  <p:stCondLst>
                                    <p:cond delay="0"/>
                                  </p:stCondLst>
                                  <p:childTnLst>
                                    <p:set>
                                      <p:cBhvr>
                                        <p:cTn id="1001" dur="1" fill="hold">
                                          <p:stCondLst>
                                            <p:cond delay="0"/>
                                          </p:stCondLst>
                                        </p:cTn>
                                        <p:tgtEl>
                                          <p:spTgt spid="311"/>
                                        </p:tgtEl>
                                        <p:attrNameLst>
                                          <p:attrName>style.visibility</p:attrName>
                                        </p:attrNameLst>
                                      </p:cBhvr>
                                      <p:to>
                                        <p:strVal val="visible"/>
                                      </p:to>
                                    </p:set>
                                    <p:animEffect filter="wipe(left)" transition="in">
                                      <p:cBhvr additive="repl">
                                        <p:cTn id="1002" dur="1500"/>
                                        <p:tgtEl>
                                          <p:spTgt spid="311"/>
                                        </p:tgtEl>
                                      </p:cBhvr>
                                    </p:animEffect>
                                  </p:childTnLst>
                                </p:cTn>
                              </p:par>
                            </p:childTnLst>
                          </p:cTn>
                        </p:par>
                      </p:childTnLst>
                    </p:cTn>
                  </p:par>
                  <p:par>
                    <p:cTn id="1003" nodeType="clickEffect" fill="hold">
                      <p:stCondLst>
                        <p:cond delay="indefinite"/>
                      </p:stCondLst>
                      <p:childTnLst>
                        <p:par>
                          <p:cTn id="1004" nodeType="withEffect" fill="hold">
                            <p:stCondLst>
                              <p:cond delay="0"/>
                            </p:stCondLst>
                            <p:childTnLst>
                              <p:par>
                                <p:cTn id="1005" nodeType="clickEffect" fill="hold" presetClass="entr" presetID="22" presetSubtype="8">
                                  <p:stCondLst>
                                    <p:cond delay="0"/>
                                  </p:stCondLst>
                                  <p:childTnLst>
                                    <p:set>
                                      <p:cBhvr>
                                        <p:cTn id="1006" dur="1" fill="hold">
                                          <p:stCondLst>
                                            <p:cond delay="0"/>
                                          </p:stCondLst>
                                        </p:cTn>
                                        <p:tgtEl>
                                          <p:spTgt spid="308">
                                            <p:txEl>
                                              <p:pRg st="3" end="3"/>
                                            </p:txEl>
                                          </p:spTgt>
                                        </p:tgtEl>
                                        <p:attrNameLst>
                                          <p:attrName>style.visibility</p:attrName>
                                        </p:attrNameLst>
                                      </p:cBhvr>
                                      <p:to>
                                        <p:strVal val="visible"/>
                                      </p:to>
                                    </p:set>
                                    <p:animEffect filter="wipe(left)" transition="in">
                                      <p:cBhvr additive="repl">
                                        <p:cTn id="1007" dur="500"/>
                                        <p:tgtEl>
                                          <p:spTgt spid="308">
                                            <p:txEl>
                                              <p:pRg st="3" end="3"/>
                                            </p:txEl>
                                          </p:spTgt>
                                        </p:tgtEl>
                                      </p:cBhvr>
                                    </p:animEffect>
                                  </p:childTnLst>
                                </p:cTn>
                              </p:par>
                              <p:par>
                                <p:cTn id="1008" nodeType="withEffect" fill="hold" presetClass="entr" presetID="22" presetSubtype="8">
                                  <p:stCondLst>
                                    <p:cond delay="0"/>
                                  </p:stCondLst>
                                  <p:childTnLst>
                                    <p:set>
                                      <p:cBhvr>
                                        <p:cTn id="1009" dur="1" fill="hold">
                                          <p:stCondLst>
                                            <p:cond delay="0"/>
                                          </p:stCondLst>
                                        </p:cTn>
                                        <p:tgtEl>
                                          <p:spTgt spid="312"/>
                                        </p:tgtEl>
                                        <p:attrNameLst>
                                          <p:attrName>style.visibility</p:attrName>
                                        </p:attrNameLst>
                                      </p:cBhvr>
                                      <p:to>
                                        <p:strVal val="visible"/>
                                      </p:to>
                                    </p:set>
                                    <p:animEffect filter="wipe(left)" transition="in">
                                      <p:cBhvr additive="repl">
                                        <p:cTn id="1010" dur="1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13" name="Picture 7" descr=""/>
          <p:cNvPicPr/>
          <p:nvPr/>
        </p:nvPicPr>
        <p:blipFill>
          <a:blip r:embed="rId1"/>
          <a:stretch/>
        </p:blipFill>
        <p:spPr>
          <a:xfrm>
            <a:off x="1523880" y="228600"/>
            <a:ext cx="5763960" cy="6035400"/>
          </a:xfrm>
          <a:prstGeom prst="rect">
            <a:avLst/>
          </a:prstGeom>
          <a:noFill/>
          <a:ln w="0">
            <a:noFill/>
          </a:ln>
        </p:spPr>
      </p:pic>
      <p:pic>
        <p:nvPicPr>
          <p:cNvPr id="314" name="Picture 13" descr=""/>
          <p:cNvPicPr/>
          <p:nvPr/>
        </p:nvPicPr>
        <p:blipFill>
          <a:blip r:embed="rId2"/>
          <a:stretch/>
        </p:blipFill>
        <p:spPr>
          <a:xfrm>
            <a:off x="1523880" y="228600"/>
            <a:ext cx="5763960" cy="6035400"/>
          </a:xfrm>
          <a:prstGeom prst="rect">
            <a:avLst/>
          </a:prstGeom>
          <a:noFill/>
          <a:ln w="0">
            <a:noFill/>
          </a:ln>
        </p:spPr>
      </p:pic>
      <p:pic>
        <p:nvPicPr>
          <p:cNvPr id="315" name="Picture 14" descr=""/>
          <p:cNvPicPr/>
          <p:nvPr/>
        </p:nvPicPr>
        <p:blipFill>
          <a:blip r:embed="rId3"/>
          <a:stretch/>
        </p:blipFill>
        <p:spPr>
          <a:xfrm>
            <a:off x="1523880" y="228600"/>
            <a:ext cx="5763960" cy="6035400"/>
          </a:xfrm>
          <a:prstGeom prst="rect">
            <a:avLst/>
          </a:prstGeom>
          <a:noFill/>
          <a:ln w="0">
            <a:noFill/>
          </a:ln>
        </p:spPr>
      </p:pic>
      <p:pic>
        <p:nvPicPr>
          <p:cNvPr id="316" name="Picture 15" descr=""/>
          <p:cNvPicPr/>
          <p:nvPr/>
        </p:nvPicPr>
        <p:blipFill>
          <a:blip r:embed="rId4"/>
          <a:stretch/>
        </p:blipFill>
        <p:spPr>
          <a:xfrm>
            <a:off x="1523880" y="228600"/>
            <a:ext cx="5763960" cy="6035400"/>
          </a:xfrm>
          <a:prstGeom prst="rect">
            <a:avLst/>
          </a:prstGeom>
          <a:noFill/>
          <a:ln w="0">
            <a:noFill/>
          </a:ln>
        </p:spPr>
      </p:pic>
      <p:pic>
        <p:nvPicPr>
          <p:cNvPr id="317" name="Picture 16" descr=""/>
          <p:cNvPicPr/>
          <p:nvPr/>
        </p:nvPicPr>
        <p:blipFill>
          <a:blip r:embed="rId5"/>
          <a:stretch/>
        </p:blipFill>
        <p:spPr>
          <a:xfrm>
            <a:off x="1523880" y="228600"/>
            <a:ext cx="5763960" cy="6035400"/>
          </a:xfrm>
          <a:prstGeom prst="rect">
            <a:avLst/>
          </a:prstGeom>
          <a:noFill/>
          <a:ln w="0">
            <a:noFill/>
          </a:ln>
        </p:spPr>
      </p:pic>
      <p:pic>
        <p:nvPicPr>
          <p:cNvPr id="318" name="Picture 17" descr=""/>
          <p:cNvPicPr/>
          <p:nvPr/>
        </p:nvPicPr>
        <p:blipFill>
          <a:blip r:embed="rId6"/>
          <a:stretch/>
        </p:blipFill>
        <p:spPr>
          <a:xfrm>
            <a:off x="1523880" y="228600"/>
            <a:ext cx="5763960" cy="6035400"/>
          </a:xfrm>
          <a:prstGeom prst="rect">
            <a:avLst/>
          </a:prstGeom>
          <a:noFill/>
          <a:ln w="0">
            <a:noFill/>
          </a:ln>
        </p:spPr>
      </p:pic>
    </p:spTree>
  </p:cSld>
  <p:transition spd="slow">
    <p:wipe dir="r"/>
  </p:transition>
  <p:timing>
    <p:tnLst>
      <p:par>
        <p:cTn id="1011" dur="indefinite" restart="never" nodeType="tmRoot">
          <p:childTnLst>
            <p:seq>
              <p:cTn id="1012" dur="indefinite" nodeType="mainSeq">
                <p:childTnLst>
                  <p:par>
                    <p:cTn id="1013" nodeType="clickEffect" fill="hold">
                      <p:stCondLst>
                        <p:cond delay="indefinite"/>
                      </p:stCondLst>
                      <p:childTnLst>
                        <p:par>
                          <p:cTn id="1014" nodeType="withEffect" fill="hold">
                            <p:stCondLst>
                              <p:cond delay="0"/>
                            </p:stCondLst>
                            <p:childTnLst>
                              <p:par>
                                <p:cTn id="1015" nodeType="clickEffect" fill="hold" presetClass="entr" presetID="22" presetSubtype="8">
                                  <p:stCondLst>
                                    <p:cond delay="0"/>
                                  </p:stCondLst>
                                  <p:childTnLst>
                                    <p:set>
                                      <p:cBhvr>
                                        <p:cTn id="1016" dur="1" fill="hold">
                                          <p:stCondLst>
                                            <p:cond delay="0"/>
                                          </p:stCondLst>
                                        </p:cTn>
                                        <p:tgtEl>
                                          <p:spTgt spid="314"/>
                                        </p:tgtEl>
                                        <p:attrNameLst>
                                          <p:attrName>style.visibility</p:attrName>
                                        </p:attrNameLst>
                                      </p:cBhvr>
                                      <p:to>
                                        <p:strVal val="visible"/>
                                      </p:to>
                                    </p:set>
                                    <p:animEffect filter="wipe(left)" transition="in">
                                      <p:cBhvr additive="repl">
                                        <p:cTn id="1017" dur="1500"/>
                                        <p:tgtEl>
                                          <p:spTgt spid="314"/>
                                        </p:tgtEl>
                                      </p:cBhvr>
                                    </p:animEffect>
                                  </p:childTnLst>
                                </p:cTn>
                              </p:par>
                            </p:childTnLst>
                          </p:cTn>
                        </p:par>
                      </p:childTnLst>
                    </p:cTn>
                  </p:par>
                  <p:par>
                    <p:cTn id="1018" nodeType="clickEffect" fill="hold">
                      <p:stCondLst>
                        <p:cond delay="indefinite"/>
                      </p:stCondLst>
                      <p:childTnLst>
                        <p:par>
                          <p:cTn id="1019" nodeType="withEffect" fill="hold">
                            <p:stCondLst>
                              <p:cond delay="0"/>
                            </p:stCondLst>
                            <p:childTnLst>
                              <p:par>
                                <p:cTn id="1020" nodeType="clickEffect" fill="hold" presetClass="entr" presetID="22" presetSubtype="8">
                                  <p:stCondLst>
                                    <p:cond delay="0"/>
                                  </p:stCondLst>
                                  <p:childTnLst>
                                    <p:set>
                                      <p:cBhvr>
                                        <p:cTn id="1021" dur="1" fill="hold">
                                          <p:stCondLst>
                                            <p:cond delay="0"/>
                                          </p:stCondLst>
                                        </p:cTn>
                                        <p:tgtEl>
                                          <p:spTgt spid="315"/>
                                        </p:tgtEl>
                                        <p:attrNameLst>
                                          <p:attrName>style.visibility</p:attrName>
                                        </p:attrNameLst>
                                      </p:cBhvr>
                                      <p:to>
                                        <p:strVal val="visible"/>
                                      </p:to>
                                    </p:set>
                                    <p:animEffect filter="wipe(left)" transition="in">
                                      <p:cBhvr additive="repl">
                                        <p:cTn id="1022" dur="1500"/>
                                        <p:tgtEl>
                                          <p:spTgt spid="315"/>
                                        </p:tgtEl>
                                      </p:cBhvr>
                                    </p:animEffect>
                                  </p:childTnLst>
                                </p:cTn>
                              </p:par>
                            </p:childTnLst>
                          </p:cTn>
                        </p:par>
                      </p:childTnLst>
                    </p:cTn>
                  </p:par>
                  <p:par>
                    <p:cTn id="1023" nodeType="clickEffect" fill="hold">
                      <p:stCondLst>
                        <p:cond delay="indefinite"/>
                      </p:stCondLst>
                      <p:childTnLst>
                        <p:par>
                          <p:cTn id="1024" nodeType="withEffect" fill="hold">
                            <p:stCondLst>
                              <p:cond delay="0"/>
                            </p:stCondLst>
                            <p:childTnLst>
                              <p:par>
                                <p:cTn id="1025" nodeType="clickEffect" fill="hold" presetClass="entr" presetID="22" presetSubtype="8">
                                  <p:stCondLst>
                                    <p:cond delay="0"/>
                                  </p:stCondLst>
                                  <p:childTnLst>
                                    <p:set>
                                      <p:cBhvr>
                                        <p:cTn id="1026" dur="1" fill="hold">
                                          <p:stCondLst>
                                            <p:cond delay="0"/>
                                          </p:stCondLst>
                                        </p:cTn>
                                        <p:tgtEl>
                                          <p:spTgt spid="316"/>
                                        </p:tgtEl>
                                        <p:attrNameLst>
                                          <p:attrName>style.visibility</p:attrName>
                                        </p:attrNameLst>
                                      </p:cBhvr>
                                      <p:to>
                                        <p:strVal val="visible"/>
                                      </p:to>
                                    </p:set>
                                    <p:animEffect filter="wipe(left)" transition="in">
                                      <p:cBhvr additive="repl">
                                        <p:cTn id="1027" dur="1500"/>
                                        <p:tgtEl>
                                          <p:spTgt spid="316"/>
                                        </p:tgtEl>
                                      </p:cBhvr>
                                    </p:animEffect>
                                  </p:childTnLst>
                                </p:cTn>
                              </p:par>
                            </p:childTnLst>
                          </p:cTn>
                        </p:par>
                      </p:childTnLst>
                    </p:cTn>
                  </p:par>
                  <p:par>
                    <p:cTn id="1028" nodeType="clickEffect" fill="hold">
                      <p:stCondLst>
                        <p:cond delay="indefinite"/>
                      </p:stCondLst>
                      <p:childTnLst>
                        <p:par>
                          <p:cTn id="1029" nodeType="withEffect" fill="hold">
                            <p:stCondLst>
                              <p:cond delay="0"/>
                            </p:stCondLst>
                            <p:childTnLst>
                              <p:par>
                                <p:cTn id="1030" nodeType="clickEffect" fill="hold" presetClass="entr" presetID="22" presetSubtype="4">
                                  <p:stCondLst>
                                    <p:cond delay="0"/>
                                  </p:stCondLst>
                                  <p:childTnLst>
                                    <p:set>
                                      <p:cBhvr>
                                        <p:cTn id="1031" dur="1" fill="hold">
                                          <p:stCondLst>
                                            <p:cond delay="0"/>
                                          </p:stCondLst>
                                        </p:cTn>
                                        <p:tgtEl>
                                          <p:spTgt spid="317"/>
                                        </p:tgtEl>
                                        <p:attrNameLst>
                                          <p:attrName>style.visibility</p:attrName>
                                        </p:attrNameLst>
                                      </p:cBhvr>
                                      <p:to>
                                        <p:strVal val="visible"/>
                                      </p:to>
                                    </p:set>
                                    <p:animEffect filter="wipe(down)" transition="in">
                                      <p:cBhvr additive="repl">
                                        <p:cTn id="1032" dur="1500"/>
                                        <p:tgtEl>
                                          <p:spTgt spid="317"/>
                                        </p:tgtEl>
                                      </p:cBhvr>
                                    </p:animEffect>
                                  </p:childTnLst>
                                </p:cTn>
                              </p:par>
                            </p:childTnLst>
                          </p:cTn>
                        </p:par>
                      </p:childTnLst>
                    </p:cTn>
                  </p:par>
                  <p:par>
                    <p:cTn id="1033" nodeType="clickEffect" fill="hold">
                      <p:stCondLst>
                        <p:cond delay="indefinite"/>
                      </p:stCondLst>
                      <p:childTnLst>
                        <p:par>
                          <p:cTn id="1034" nodeType="withEffect" fill="hold">
                            <p:stCondLst>
                              <p:cond delay="0"/>
                            </p:stCondLst>
                            <p:childTnLst>
                              <p:par>
                                <p:cTn id="1035" nodeType="clickEffect" fill="hold" presetClass="entr" presetID="22" presetSubtype="8">
                                  <p:stCondLst>
                                    <p:cond delay="0"/>
                                  </p:stCondLst>
                                  <p:childTnLst>
                                    <p:set>
                                      <p:cBhvr>
                                        <p:cTn id="1036" dur="1" fill="hold">
                                          <p:stCondLst>
                                            <p:cond delay="0"/>
                                          </p:stCondLst>
                                        </p:cTn>
                                        <p:tgtEl>
                                          <p:spTgt spid="318"/>
                                        </p:tgtEl>
                                        <p:attrNameLst>
                                          <p:attrName>style.visibility</p:attrName>
                                        </p:attrNameLst>
                                      </p:cBhvr>
                                      <p:to>
                                        <p:strVal val="visible"/>
                                      </p:to>
                                    </p:set>
                                    <p:animEffect filter="wipe(left)" transition="in">
                                      <p:cBhvr additive="repl">
                                        <p:cTn id="1037" dur="1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20" name="PlaceHolder 2"/>
          <p:cNvSpPr>
            <a:spLocks noGrp="1"/>
          </p:cNvSpPr>
          <p:nvPr>
            <p:ph/>
          </p:nvPr>
        </p:nvSpPr>
        <p:spPr>
          <a:xfrm>
            <a:off x="360360" y="1440000"/>
            <a:ext cx="40669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vertical distance between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AVC</a:t>
            </a:r>
            <a:r>
              <a:rPr b="0" lang="en-US" sz="2400" strike="noStrike" u="none">
                <a:solidFill>
                  <a:srgbClr val="000000"/>
                </a:solidFill>
                <a:effectLst/>
                <a:uFillTx/>
                <a:latin typeface="Arial"/>
                <a:ea typeface="ＭＳ Ｐゴシック"/>
              </a:rPr>
              <a:t> curves is equal to </a:t>
            </a:r>
            <a:r>
              <a:rPr b="0" i="1" lang="en-US" sz="2400" strike="noStrike" u="none">
                <a:solidFill>
                  <a:srgbClr val="000000"/>
                </a:solidFill>
                <a:effectLst/>
                <a:uFillTx/>
                <a:latin typeface="Arial"/>
                <a:ea typeface="ＭＳ Ｐゴシック"/>
              </a:rPr>
              <a:t>AFC</a:t>
            </a:r>
            <a:r>
              <a:rPr b="0" lang="en-US" sz="2400" strike="noStrike" u="none">
                <a:solidFill>
                  <a:srgbClr val="000000"/>
                </a:solidFill>
                <a:effectLst/>
                <a:uFillTx/>
                <a:latin typeface="Arial"/>
                <a:ea typeface="ＭＳ Ｐゴシック"/>
              </a:rPr>
              <a:t>, as illustrated by the two arrows.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cost curve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is U-shaped and intersects the average variable cost curve and the average total cost curve at their minimum points.</a:t>
            </a:r>
            <a:endParaRPr b="1" lang="en-CA" sz="2400" strike="noStrike" u="none">
              <a:solidFill>
                <a:srgbClr val="00468f"/>
              </a:solidFill>
              <a:effectLst/>
              <a:uFillTx/>
              <a:latin typeface="Arial"/>
            </a:endParaRPr>
          </a:p>
        </p:txBody>
      </p:sp>
      <p:pic>
        <p:nvPicPr>
          <p:cNvPr id="321" name="Picture 9" descr=""/>
          <p:cNvPicPr/>
          <p:nvPr/>
        </p:nvPicPr>
        <p:blipFill>
          <a:blip r:embed="rId1"/>
          <a:stretch/>
        </p:blipFill>
        <p:spPr>
          <a:xfrm>
            <a:off x="4392720" y="1440000"/>
            <a:ext cx="4246200" cy="4446360"/>
          </a:xfrm>
          <a:prstGeom prst="rect">
            <a:avLst/>
          </a:prstGeom>
          <a:noFill/>
          <a:ln w="0">
            <a:noFill/>
          </a:ln>
        </p:spPr>
      </p:pic>
      <p:pic>
        <p:nvPicPr>
          <p:cNvPr id="322" name="Picture 10" descr=""/>
          <p:cNvPicPr/>
          <p:nvPr/>
        </p:nvPicPr>
        <p:blipFill>
          <a:blip r:embed="rId2"/>
          <a:stretch/>
        </p:blipFill>
        <p:spPr>
          <a:xfrm>
            <a:off x="4392720" y="1440000"/>
            <a:ext cx="4246200" cy="4446360"/>
          </a:xfrm>
          <a:prstGeom prst="rect">
            <a:avLst/>
          </a:prstGeom>
          <a:noFill/>
          <a:ln w="0">
            <a:noFill/>
          </a:ln>
        </p:spPr>
      </p:pic>
      <p:pic>
        <p:nvPicPr>
          <p:cNvPr id="323" name="Picture 12" descr=""/>
          <p:cNvPicPr/>
          <p:nvPr/>
        </p:nvPicPr>
        <p:blipFill>
          <a:blip r:embed="rId3"/>
          <a:stretch/>
        </p:blipFill>
        <p:spPr>
          <a:xfrm>
            <a:off x="4392720" y="1440000"/>
            <a:ext cx="4246200" cy="4446360"/>
          </a:xfrm>
          <a:prstGeom prst="rect">
            <a:avLst/>
          </a:prstGeom>
          <a:noFill/>
          <a:ln w="0">
            <a:noFill/>
          </a:ln>
        </p:spPr>
      </p:pic>
      <p:pic>
        <p:nvPicPr>
          <p:cNvPr id="324" name="Picture 13" descr=""/>
          <p:cNvPicPr/>
          <p:nvPr/>
        </p:nvPicPr>
        <p:blipFill>
          <a:blip r:embed="rId4"/>
          <a:stretch/>
        </p:blipFill>
        <p:spPr>
          <a:xfrm>
            <a:off x="4392720" y="1440000"/>
            <a:ext cx="4246200" cy="4446360"/>
          </a:xfrm>
          <a:prstGeom prst="rect">
            <a:avLst/>
          </a:prstGeom>
          <a:noFill/>
          <a:ln w="0">
            <a:noFill/>
          </a:ln>
        </p:spPr>
      </p:pic>
      <p:pic>
        <p:nvPicPr>
          <p:cNvPr id="325" name="Picture 14" descr=""/>
          <p:cNvPicPr/>
          <p:nvPr/>
        </p:nvPicPr>
        <p:blipFill>
          <a:blip r:embed="rId5"/>
          <a:stretch/>
        </p:blipFill>
        <p:spPr>
          <a:xfrm>
            <a:off x="4392720" y="1440000"/>
            <a:ext cx="4246200" cy="4446360"/>
          </a:xfrm>
          <a:prstGeom prst="rect">
            <a:avLst/>
          </a:prstGeom>
          <a:noFill/>
          <a:ln w="0">
            <a:noFill/>
          </a:ln>
        </p:spPr>
      </p:pic>
      <p:pic>
        <p:nvPicPr>
          <p:cNvPr id="326" name="Picture 17" descr=""/>
          <p:cNvPicPr/>
          <p:nvPr/>
        </p:nvPicPr>
        <p:blipFill>
          <a:blip r:embed="rId6"/>
          <a:stretch/>
        </p:blipFill>
        <p:spPr>
          <a:xfrm>
            <a:off x="4392720" y="1440000"/>
            <a:ext cx="4246200" cy="4446360"/>
          </a:xfrm>
          <a:prstGeom prst="rect">
            <a:avLst/>
          </a:prstGeom>
          <a:noFill/>
          <a:ln w="0">
            <a:noFill/>
          </a:ln>
        </p:spPr>
      </p:pic>
    </p:spTree>
  </p:cSld>
  <p:transition spd="slow">
    <p:wipe dir="r"/>
  </p:transition>
  <p:timing>
    <p:tnLst>
      <p:par>
        <p:cTn id="1038" dur="indefinite" restart="never" nodeType="tmRoot">
          <p:childTnLst>
            <p:seq>
              <p:cTn id="1039" dur="indefinite" nodeType="mainSeq">
                <p:childTnLst>
                  <p:par>
                    <p:cTn id="1040" nodeType="clickEffect" fill="hold">
                      <p:stCondLst>
                        <p:cond delay="0"/>
                      </p:stCondLst>
                      <p:childTnLst>
                        <p:par>
                          <p:cTn id="1041" nodeType="withEffect" fill="hold">
                            <p:stCondLst>
                              <p:cond delay="0"/>
                            </p:stCondLst>
                            <p:childTnLst>
                              <p:par>
                                <p:cTn id="1042" nodeType="withEffect" fill="hold" presetClass="entr" presetID="22" presetSubtype="4">
                                  <p:stCondLst>
                                    <p:cond delay="0"/>
                                  </p:stCondLst>
                                  <p:childTnLst>
                                    <p:set>
                                      <p:cBhvr>
                                        <p:cTn id="1043" dur="1" fill="hold">
                                          <p:stCondLst>
                                            <p:cond delay="0"/>
                                          </p:stCondLst>
                                        </p:cTn>
                                        <p:tgtEl>
                                          <p:spTgt spid="325"/>
                                        </p:tgtEl>
                                        <p:attrNameLst>
                                          <p:attrName>style.visibility</p:attrName>
                                        </p:attrNameLst>
                                      </p:cBhvr>
                                      <p:to>
                                        <p:strVal val="visible"/>
                                      </p:to>
                                    </p:set>
                                    <p:animEffect filter="wipe(down)" transition="in">
                                      <p:cBhvr additive="repl">
                                        <p:cTn id="1044" dur="1500"/>
                                        <p:tgtEl>
                                          <p:spTgt spid="325"/>
                                        </p:tgtEl>
                                      </p:cBhvr>
                                    </p:animEffect>
                                  </p:childTnLst>
                                </p:cTn>
                              </p:par>
                            </p:childTnLst>
                          </p:cTn>
                        </p:par>
                      </p:childTnLst>
                    </p:cTn>
                  </p:par>
                  <p:par>
                    <p:cTn id="1045" nodeType="clickEffect" fill="hold">
                      <p:stCondLst>
                        <p:cond delay="indefinite"/>
                      </p:stCondLst>
                      <p:childTnLst>
                        <p:par>
                          <p:cTn id="1046" nodeType="withEffect" fill="hold">
                            <p:stCondLst>
                              <p:cond delay="0"/>
                            </p:stCondLst>
                            <p:childTnLst>
                              <p:par>
                                <p:cTn id="1047" nodeType="clickEffect" fill="hold" presetClass="entr" presetID="22" presetSubtype="8">
                                  <p:stCondLst>
                                    <p:cond delay="0"/>
                                  </p:stCondLst>
                                  <p:childTnLst>
                                    <p:set>
                                      <p:cBhvr>
                                        <p:cTn id="1048" dur="1" fill="hold">
                                          <p:stCondLst>
                                            <p:cond delay="0"/>
                                          </p:stCondLst>
                                        </p:cTn>
                                        <p:tgtEl>
                                          <p:spTgt spid="320">
                                            <p:txEl>
                                              <p:pRg st="1" end="1"/>
                                            </p:txEl>
                                          </p:spTgt>
                                        </p:tgtEl>
                                        <p:attrNameLst>
                                          <p:attrName>style.visibility</p:attrName>
                                        </p:attrNameLst>
                                      </p:cBhvr>
                                      <p:to>
                                        <p:strVal val="visible"/>
                                      </p:to>
                                    </p:set>
                                    <p:animEffect filter="wipe(left)" transition="in">
                                      <p:cBhvr additive="repl">
                                        <p:cTn id="1049" dur="500"/>
                                        <p:tgtEl>
                                          <p:spTgt spid="320">
                                            <p:txEl>
                                              <p:pRg st="1" end="1"/>
                                            </p:txEl>
                                          </p:spTgt>
                                        </p:tgtEl>
                                      </p:cBhvr>
                                    </p:animEffect>
                                  </p:childTnLst>
                                </p:cTn>
                              </p:par>
                              <p:par>
                                <p:cTn id="1050" nodeType="withEffect" fill="hold" presetClass="entr" presetID="22" presetSubtype="8">
                                  <p:stCondLst>
                                    <p:cond delay="0"/>
                                  </p:stCondLst>
                                  <p:childTnLst>
                                    <p:set>
                                      <p:cBhvr>
                                        <p:cTn id="1051" dur="1" fill="hold">
                                          <p:stCondLst>
                                            <p:cond delay="0"/>
                                          </p:stCondLst>
                                        </p:cTn>
                                        <p:tgtEl>
                                          <p:spTgt spid="326"/>
                                        </p:tgtEl>
                                        <p:attrNameLst>
                                          <p:attrName>style.visibility</p:attrName>
                                        </p:attrNameLst>
                                      </p:cBhvr>
                                      <p:to>
                                        <p:strVal val="visible"/>
                                      </p:to>
                                    </p:set>
                                    <p:animEffect filter="wipe(left)" transition="in">
                                      <p:cBhvr additive="repl">
                                        <p:cTn id="1052" dur="15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2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ＭＳ Ｐゴシック"/>
              </a:rPr>
              <a:t>Why the Average Total Cost Curve Is </a:t>
            </a:r>
            <a:r>
              <a:rPr b="1" lang="en-CA" sz="2800" strike="noStrike" u="none">
                <a:solidFill>
                  <a:srgbClr val="00468f"/>
                </a:solidFill>
                <a:effectLst/>
                <a:uFillTx/>
                <a:latin typeface="Arial"/>
                <a:ea typeface="ＭＳ Ｐゴシック"/>
              </a:rPr>
              <a:t>          U-Shaped</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Average total cost, </a:t>
            </a:r>
            <a:r>
              <a:rPr b="0" i="1" lang="en-US" sz="2400" strike="noStrike" u="none">
                <a:solidFill>
                  <a:schemeClr val="dk1"/>
                </a:solidFill>
                <a:effectLst/>
                <a:uFillTx/>
                <a:latin typeface="Arial"/>
                <a:ea typeface="ＭＳ Ｐゴシック"/>
              </a:rPr>
              <a:t>ATC</a:t>
            </a:r>
            <a:r>
              <a:rPr b="0" lang="en-US" sz="2400" strike="noStrike" u="none">
                <a:solidFill>
                  <a:schemeClr val="dk1"/>
                </a:solidFill>
                <a:effectLst/>
                <a:uFillTx/>
                <a:latin typeface="Arial"/>
                <a:ea typeface="ＭＳ Ｐゴシック"/>
              </a:rPr>
              <a:t>, is the sum of average fixed cost, </a:t>
            </a:r>
            <a:r>
              <a:rPr b="0" i="1" lang="en-US" sz="2400" strike="noStrike" u="none">
                <a:solidFill>
                  <a:schemeClr val="dk1"/>
                </a:solidFill>
                <a:effectLst/>
                <a:uFillTx/>
                <a:latin typeface="Arial"/>
                <a:ea typeface="ＭＳ Ｐゴシック"/>
              </a:rPr>
              <a:t>AFC</a:t>
            </a:r>
            <a:r>
              <a:rPr b="0" lang="en-US" sz="2400" strike="noStrike" u="none">
                <a:solidFill>
                  <a:schemeClr val="dk1"/>
                </a:solidFill>
                <a:effectLst/>
                <a:uFillTx/>
                <a:latin typeface="Arial"/>
                <a:ea typeface="ＭＳ Ｐゴシック"/>
              </a:rPr>
              <a:t>, and average variable cost,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shape of the </a:t>
            </a:r>
            <a:r>
              <a:rPr b="0" i="1" lang="en-US" sz="2400" strike="noStrike" u="none">
                <a:solidFill>
                  <a:schemeClr val="dk1"/>
                </a:solidFill>
                <a:effectLst/>
                <a:uFillTx/>
                <a:latin typeface="Arial"/>
                <a:ea typeface="ＭＳ Ｐゴシック"/>
              </a:rPr>
              <a:t>ATC</a:t>
            </a:r>
            <a:r>
              <a:rPr b="0" lang="en-US" sz="2400" strike="noStrike" u="none">
                <a:solidFill>
                  <a:schemeClr val="dk1"/>
                </a:solidFill>
                <a:effectLst/>
                <a:uFillTx/>
                <a:latin typeface="Arial"/>
                <a:ea typeface="ＭＳ Ｐゴシック"/>
              </a:rPr>
              <a:t> curve combines the shapes of the </a:t>
            </a:r>
            <a:r>
              <a:rPr b="0" i="1" lang="en-US" sz="2400" strike="noStrike" u="none">
                <a:solidFill>
                  <a:schemeClr val="dk1"/>
                </a:solidFill>
                <a:effectLst/>
                <a:uFillTx/>
                <a:latin typeface="Arial"/>
                <a:ea typeface="ＭＳ Ｐゴシック"/>
              </a:rPr>
              <a:t>AFC</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curves.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U shape of the average total cost curve arises from the influence of two opposing forces: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Spreading total fixed cost over a larger output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Decreasing marginal returns</a:t>
            </a:r>
            <a:endParaRPr b="1" lang="en-CA" sz="2400" strike="noStrike" u="none">
              <a:solidFill>
                <a:srgbClr val="00468f"/>
              </a:solidFill>
              <a:effectLst/>
              <a:uFillTx/>
              <a:latin typeface="Arial"/>
            </a:endParaRPr>
          </a:p>
        </p:txBody>
      </p:sp>
    </p:spTree>
  </p:cSld>
  <p:transition spd="slow">
    <p:wipe dir="r"/>
  </p:transition>
  <p:timing>
    <p:tnLst>
      <p:par>
        <p:cTn id="1053" dur="indefinite" restart="never" nodeType="tmRoot">
          <p:childTnLst>
            <p:seq>
              <p:cTn id="1054" dur="indefinite" nodeType="mainSeq">
                <p:childTnLst>
                  <p:par>
                    <p:cTn id="1055" nodeType="clickEffect" fill="hold">
                      <p:stCondLst>
                        <p:cond delay="indefinite"/>
                      </p:stCondLst>
                      <p:childTnLst>
                        <p:par>
                          <p:cTn id="1056" nodeType="withEffect" fill="hold">
                            <p:stCondLst>
                              <p:cond delay="0"/>
                            </p:stCondLst>
                            <p:childTnLst>
                              <p:par>
                                <p:cTn id="1057" nodeType="clickEffect" fill="hold" presetClass="entr" presetID="22" presetSubtype="8">
                                  <p:stCondLst>
                                    <p:cond delay="0"/>
                                  </p:stCondLst>
                                  <p:childTnLst>
                                    <p:set>
                                      <p:cBhvr>
                                        <p:cTn id="1058" dur="1" fill="hold">
                                          <p:stCondLst>
                                            <p:cond delay="0"/>
                                          </p:stCondLst>
                                        </p:cTn>
                                        <p:tgtEl>
                                          <p:spTgt spid="328">
                                            <p:txEl>
                                              <p:pRg st="1" end="1"/>
                                            </p:txEl>
                                          </p:spTgt>
                                        </p:tgtEl>
                                        <p:attrNameLst>
                                          <p:attrName>style.visibility</p:attrName>
                                        </p:attrNameLst>
                                      </p:cBhvr>
                                      <p:to>
                                        <p:strVal val="visible"/>
                                      </p:to>
                                    </p:set>
                                    <p:animEffect filter="wipe(left)" transition="in">
                                      <p:cBhvr additive="repl">
                                        <p:cTn id="1059" dur="500"/>
                                        <p:tgtEl>
                                          <p:spTgt spid="328">
                                            <p:txEl>
                                              <p:pRg st="1" end="1"/>
                                            </p:txEl>
                                          </p:spTgt>
                                        </p:tgtEl>
                                      </p:cBhvr>
                                    </p:animEffect>
                                  </p:childTnLst>
                                </p:cTn>
                              </p:par>
                            </p:childTnLst>
                          </p:cTn>
                        </p:par>
                      </p:childTnLst>
                    </p:cTn>
                  </p:par>
                  <p:par>
                    <p:cTn id="1060" nodeType="clickEffect" fill="hold">
                      <p:stCondLst>
                        <p:cond delay="indefinite"/>
                      </p:stCondLst>
                      <p:childTnLst>
                        <p:par>
                          <p:cTn id="1061" nodeType="withEffect" fill="hold">
                            <p:stCondLst>
                              <p:cond delay="0"/>
                            </p:stCondLst>
                            <p:childTnLst>
                              <p:par>
                                <p:cTn id="1062" nodeType="clickEffect" fill="hold" presetClass="entr" presetID="22" presetSubtype="8">
                                  <p:stCondLst>
                                    <p:cond delay="0"/>
                                  </p:stCondLst>
                                  <p:childTnLst>
                                    <p:set>
                                      <p:cBhvr>
                                        <p:cTn id="1063" dur="1" fill="hold">
                                          <p:stCondLst>
                                            <p:cond delay="0"/>
                                          </p:stCondLst>
                                        </p:cTn>
                                        <p:tgtEl>
                                          <p:spTgt spid="328">
                                            <p:txEl>
                                              <p:pRg st="2" end="2"/>
                                            </p:txEl>
                                          </p:spTgt>
                                        </p:tgtEl>
                                        <p:attrNameLst>
                                          <p:attrName>style.visibility</p:attrName>
                                        </p:attrNameLst>
                                      </p:cBhvr>
                                      <p:to>
                                        <p:strVal val="visible"/>
                                      </p:to>
                                    </p:set>
                                    <p:animEffect filter="wipe(left)" transition="in">
                                      <p:cBhvr additive="repl">
                                        <p:cTn id="1064" dur="500"/>
                                        <p:tgtEl>
                                          <p:spTgt spid="328">
                                            <p:txEl>
                                              <p:pRg st="2" end="2"/>
                                            </p:txEl>
                                          </p:spTgt>
                                        </p:tgtEl>
                                      </p:cBhvr>
                                    </p:animEffect>
                                  </p:childTnLst>
                                </p:cTn>
                              </p:par>
                            </p:childTnLst>
                          </p:cTn>
                        </p:par>
                      </p:childTnLst>
                    </p:cTn>
                  </p:par>
                  <p:par>
                    <p:cTn id="1065" nodeType="clickEffect" fill="hold">
                      <p:stCondLst>
                        <p:cond delay="indefinite"/>
                      </p:stCondLst>
                      <p:childTnLst>
                        <p:par>
                          <p:cTn id="1066" nodeType="withEffect" fill="hold">
                            <p:stCondLst>
                              <p:cond delay="0"/>
                            </p:stCondLst>
                            <p:childTnLst>
                              <p:par>
                                <p:cTn id="1067" nodeType="clickEffect" fill="hold" presetClass="entr" presetID="22" presetSubtype="8">
                                  <p:stCondLst>
                                    <p:cond delay="0"/>
                                  </p:stCondLst>
                                  <p:childTnLst>
                                    <p:set>
                                      <p:cBhvr>
                                        <p:cTn id="1068" dur="1" fill="hold">
                                          <p:stCondLst>
                                            <p:cond delay="0"/>
                                          </p:stCondLst>
                                        </p:cTn>
                                        <p:tgtEl>
                                          <p:spTgt spid="328">
                                            <p:txEl>
                                              <p:pRg st="3" end="3"/>
                                            </p:txEl>
                                          </p:spTgt>
                                        </p:tgtEl>
                                        <p:attrNameLst>
                                          <p:attrName>style.visibility</p:attrName>
                                        </p:attrNameLst>
                                      </p:cBhvr>
                                      <p:to>
                                        <p:strVal val="visible"/>
                                      </p:to>
                                    </p:set>
                                    <p:animEffect filter="wipe(left)" transition="in">
                                      <p:cBhvr additive="repl">
                                        <p:cTn id="1069" dur="500"/>
                                        <p:tgtEl>
                                          <p:spTgt spid="328">
                                            <p:txEl>
                                              <p:pRg st="3" end="3"/>
                                            </p:txEl>
                                          </p:spTgt>
                                        </p:tgtEl>
                                      </p:cBhvr>
                                    </p:animEffect>
                                  </p:childTnLst>
                                </p:cTn>
                              </p:par>
                            </p:childTnLst>
                          </p:cTn>
                        </p:par>
                      </p:childTnLst>
                    </p:cTn>
                  </p:par>
                  <p:par>
                    <p:cTn id="1070" nodeType="clickEffect" fill="hold">
                      <p:stCondLst>
                        <p:cond delay="indefinite"/>
                      </p:stCondLst>
                      <p:childTnLst>
                        <p:par>
                          <p:cTn id="1071" nodeType="withEffect" fill="hold">
                            <p:stCondLst>
                              <p:cond delay="0"/>
                            </p:stCondLst>
                            <p:childTnLst>
                              <p:par>
                                <p:cTn id="1072" nodeType="clickEffect" fill="hold" presetClass="entr" presetID="22" presetSubtype="8">
                                  <p:stCondLst>
                                    <p:cond delay="0"/>
                                  </p:stCondLst>
                                  <p:childTnLst>
                                    <p:set>
                                      <p:cBhvr>
                                        <p:cTn id="1073" dur="1" fill="hold">
                                          <p:stCondLst>
                                            <p:cond delay="0"/>
                                          </p:stCondLst>
                                        </p:cTn>
                                        <p:tgtEl>
                                          <p:spTgt spid="328">
                                            <p:txEl>
                                              <p:pRg st="4" end="4"/>
                                            </p:txEl>
                                          </p:spTgt>
                                        </p:tgtEl>
                                        <p:attrNameLst>
                                          <p:attrName>style.visibility</p:attrName>
                                        </p:attrNameLst>
                                      </p:cBhvr>
                                      <p:to>
                                        <p:strVal val="visible"/>
                                      </p:to>
                                    </p:set>
                                    <p:animEffect filter="wipe(left)" transition="in">
                                      <p:cBhvr additive="repl">
                                        <p:cTn id="1074" dur="500"/>
                                        <p:tgtEl>
                                          <p:spTgt spid="328">
                                            <p:txEl>
                                              <p:pRg st="4" end="4"/>
                                            </p:txEl>
                                          </p:spTgt>
                                        </p:tgtEl>
                                      </p:cBhvr>
                                    </p:animEffect>
                                  </p:childTnLst>
                                </p:cTn>
                              </p:par>
                            </p:childTnLst>
                          </p:cTn>
                        </p:par>
                      </p:childTnLst>
                    </p:cTn>
                  </p:par>
                  <p:par>
                    <p:cTn id="1075" nodeType="clickEffect" fill="hold">
                      <p:stCondLst>
                        <p:cond delay="indefinite"/>
                      </p:stCondLst>
                      <p:childTnLst>
                        <p:par>
                          <p:cTn id="1076" nodeType="withEffect" fill="hold">
                            <p:stCondLst>
                              <p:cond delay="0"/>
                            </p:stCondLst>
                            <p:childTnLst>
                              <p:par>
                                <p:cTn id="1077" nodeType="clickEffect" fill="hold" presetClass="entr" presetID="22" presetSubtype="8">
                                  <p:stCondLst>
                                    <p:cond delay="0"/>
                                  </p:stCondLst>
                                  <p:childTnLst>
                                    <p:set>
                                      <p:cBhvr>
                                        <p:cTn id="1078" dur="1" fill="hold">
                                          <p:stCondLst>
                                            <p:cond delay="0"/>
                                          </p:stCondLst>
                                        </p:cTn>
                                        <p:tgtEl>
                                          <p:spTgt spid="328">
                                            <p:txEl>
                                              <p:pRg st="5" end="5"/>
                                            </p:txEl>
                                          </p:spTgt>
                                        </p:tgtEl>
                                        <p:attrNameLst>
                                          <p:attrName>style.visibility</p:attrName>
                                        </p:attrNameLst>
                                      </p:cBhvr>
                                      <p:to>
                                        <p:strVal val="visible"/>
                                      </p:to>
                                    </p:set>
                                    <p:animEffect filter="wipe(left)" transition="in">
                                      <p:cBhvr additive="repl">
                                        <p:cTn id="1079" dur="500"/>
                                        <p:tgtEl>
                                          <p:spTgt spid="32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pic>
        <p:nvPicPr>
          <p:cNvPr id="330" name="Picture 1" descr=""/>
          <p:cNvPicPr/>
          <p:nvPr/>
        </p:nvPicPr>
        <p:blipFill>
          <a:blip r:embed="rId1"/>
          <a:stretch/>
        </p:blipFill>
        <p:spPr>
          <a:xfrm>
            <a:off x="395280" y="1260360"/>
            <a:ext cx="8253000" cy="5325840"/>
          </a:xfrm>
          <a:prstGeom prst="rect">
            <a:avLst/>
          </a:prstGeom>
          <a:noFill/>
          <a:ln w="0">
            <a:noFill/>
          </a:ln>
        </p:spPr>
      </p:pic>
    </p:spTree>
  </p:cSld>
  <p:transition spd="slow">
    <p:wipe dir="r"/>
  </p:transition>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3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ＭＳ Ｐゴシック"/>
              </a:rPr>
              <a:t>Cost Curves and Product Curves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technology that a firm uses determines its costs.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At low levels of employment and output, as the firm hires more labor, marginal product and average product rise, and marginal cost and average variable cost fall.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Then, at the point of maximum marginal product, marginal cost is a minimum.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As the firm hires more labor, marginal product decreases and marginal cost increases. </a:t>
            </a:r>
            <a:endParaRPr b="1" lang="en-CA" sz="2400" strike="noStrike" u="none">
              <a:solidFill>
                <a:srgbClr val="00468f"/>
              </a:solidFill>
              <a:effectLst/>
              <a:uFillTx/>
              <a:latin typeface="Arial"/>
            </a:endParaRPr>
          </a:p>
        </p:txBody>
      </p:sp>
    </p:spTree>
  </p:cSld>
  <p:transition spd="slow">
    <p:wipe dir="r"/>
  </p:transition>
  <p:timing>
    <p:tnLst>
      <p:par>
        <p:cTn id="1080" dur="indefinite" restart="never" nodeType="tmRoot">
          <p:childTnLst>
            <p:seq>
              <p:cTn id="1081" dur="indefinite" nodeType="mainSeq">
                <p:childTnLst>
                  <p:par>
                    <p:cTn id="1082" nodeType="clickEffect" fill="hold">
                      <p:stCondLst>
                        <p:cond delay="indefinite"/>
                      </p:stCondLst>
                      <p:childTnLst>
                        <p:par>
                          <p:cTn id="1083" nodeType="withEffect" fill="hold">
                            <p:stCondLst>
                              <p:cond delay="0"/>
                            </p:stCondLst>
                            <p:childTnLst>
                              <p:par>
                                <p:cTn id="1084" nodeType="clickEffect" fill="hold" presetClass="entr" presetID="22" presetSubtype="8">
                                  <p:stCondLst>
                                    <p:cond delay="0"/>
                                  </p:stCondLst>
                                  <p:childTnLst>
                                    <p:set>
                                      <p:cBhvr>
                                        <p:cTn id="1085" dur="1" fill="hold">
                                          <p:stCondLst>
                                            <p:cond delay="0"/>
                                          </p:stCondLst>
                                        </p:cTn>
                                        <p:tgtEl>
                                          <p:spTgt spid="332">
                                            <p:txEl>
                                              <p:pRg st="1" end="1"/>
                                            </p:txEl>
                                          </p:spTgt>
                                        </p:tgtEl>
                                        <p:attrNameLst>
                                          <p:attrName>style.visibility</p:attrName>
                                        </p:attrNameLst>
                                      </p:cBhvr>
                                      <p:to>
                                        <p:strVal val="visible"/>
                                      </p:to>
                                    </p:set>
                                    <p:animEffect filter="wipe(left)" transition="in">
                                      <p:cBhvr additive="repl">
                                        <p:cTn id="1086" dur="500"/>
                                        <p:tgtEl>
                                          <p:spTgt spid="332">
                                            <p:txEl>
                                              <p:pRg st="1" end="1"/>
                                            </p:txEl>
                                          </p:spTgt>
                                        </p:tgtEl>
                                      </p:cBhvr>
                                    </p:animEffect>
                                  </p:childTnLst>
                                </p:cTn>
                              </p:par>
                            </p:childTnLst>
                          </p:cTn>
                        </p:par>
                      </p:childTnLst>
                    </p:cTn>
                  </p:par>
                  <p:par>
                    <p:cTn id="1087" nodeType="clickEffect" fill="hold">
                      <p:stCondLst>
                        <p:cond delay="indefinite"/>
                      </p:stCondLst>
                      <p:childTnLst>
                        <p:par>
                          <p:cTn id="1088" nodeType="withEffect" fill="hold">
                            <p:stCondLst>
                              <p:cond delay="0"/>
                            </p:stCondLst>
                            <p:childTnLst>
                              <p:par>
                                <p:cTn id="1089" nodeType="clickEffect" fill="hold" presetClass="entr" presetID="22" presetSubtype="8">
                                  <p:stCondLst>
                                    <p:cond delay="0"/>
                                  </p:stCondLst>
                                  <p:childTnLst>
                                    <p:set>
                                      <p:cBhvr>
                                        <p:cTn id="1090" dur="1" fill="hold">
                                          <p:stCondLst>
                                            <p:cond delay="0"/>
                                          </p:stCondLst>
                                        </p:cTn>
                                        <p:tgtEl>
                                          <p:spTgt spid="332">
                                            <p:txEl>
                                              <p:pRg st="2" end="2"/>
                                            </p:txEl>
                                          </p:spTgt>
                                        </p:tgtEl>
                                        <p:attrNameLst>
                                          <p:attrName>style.visibility</p:attrName>
                                        </p:attrNameLst>
                                      </p:cBhvr>
                                      <p:to>
                                        <p:strVal val="visible"/>
                                      </p:to>
                                    </p:set>
                                    <p:animEffect filter="wipe(left)" transition="in">
                                      <p:cBhvr additive="repl">
                                        <p:cTn id="1091" dur="500"/>
                                        <p:tgtEl>
                                          <p:spTgt spid="332">
                                            <p:txEl>
                                              <p:pRg st="2" end="2"/>
                                            </p:txEl>
                                          </p:spTgt>
                                        </p:tgtEl>
                                      </p:cBhvr>
                                    </p:animEffect>
                                  </p:childTnLst>
                                </p:cTn>
                              </p:par>
                            </p:childTnLst>
                          </p:cTn>
                        </p:par>
                      </p:childTnLst>
                    </p:cTn>
                  </p:par>
                  <p:par>
                    <p:cTn id="1092" nodeType="clickEffect" fill="hold">
                      <p:stCondLst>
                        <p:cond delay="indefinite"/>
                      </p:stCondLst>
                      <p:childTnLst>
                        <p:par>
                          <p:cTn id="1093" nodeType="withEffect" fill="hold">
                            <p:stCondLst>
                              <p:cond delay="0"/>
                            </p:stCondLst>
                            <p:childTnLst>
                              <p:par>
                                <p:cTn id="1094" nodeType="clickEffect" fill="hold" presetClass="entr" presetID="22" presetSubtype="8">
                                  <p:stCondLst>
                                    <p:cond delay="0"/>
                                  </p:stCondLst>
                                  <p:childTnLst>
                                    <p:set>
                                      <p:cBhvr>
                                        <p:cTn id="1095" dur="1" fill="hold">
                                          <p:stCondLst>
                                            <p:cond delay="0"/>
                                          </p:stCondLst>
                                        </p:cTn>
                                        <p:tgtEl>
                                          <p:spTgt spid="332">
                                            <p:txEl>
                                              <p:pRg st="3" end="3"/>
                                            </p:txEl>
                                          </p:spTgt>
                                        </p:tgtEl>
                                        <p:attrNameLst>
                                          <p:attrName>style.visibility</p:attrName>
                                        </p:attrNameLst>
                                      </p:cBhvr>
                                      <p:to>
                                        <p:strVal val="visible"/>
                                      </p:to>
                                    </p:set>
                                    <p:animEffect filter="wipe(left)" transition="in">
                                      <p:cBhvr additive="repl">
                                        <p:cTn id="1096" dur="500"/>
                                        <p:tgtEl>
                                          <p:spTgt spid="332">
                                            <p:txEl>
                                              <p:pRg st="3" end="3"/>
                                            </p:txEl>
                                          </p:spTgt>
                                        </p:tgtEl>
                                      </p:cBhvr>
                                    </p:animEffect>
                                  </p:childTnLst>
                                </p:cTn>
                              </p:par>
                            </p:childTnLst>
                          </p:cTn>
                        </p:par>
                      </p:childTnLst>
                    </p:cTn>
                  </p:par>
                  <p:par>
                    <p:cTn id="1097" nodeType="clickEffect" fill="hold">
                      <p:stCondLst>
                        <p:cond delay="indefinite"/>
                      </p:stCondLst>
                      <p:childTnLst>
                        <p:par>
                          <p:cTn id="1098" nodeType="withEffect" fill="hold">
                            <p:stCondLst>
                              <p:cond delay="0"/>
                            </p:stCondLst>
                            <p:childTnLst>
                              <p:par>
                                <p:cTn id="1099" nodeType="clickEffect" fill="hold" presetClass="entr" presetID="22" presetSubtype="8">
                                  <p:stCondLst>
                                    <p:cond delay="0"/>
                                  </p:stCondLst>
                                  <p:childTnLst>
                                    <p:set>
                                      <p:cBhvr>
                                        <p:cTn id="1100" dur="1" fill="hold">
                                          <p:stCondLst>
                                            <p:cond delay="0"/>
                                          </p:stCondLst>
                                        </p:cTn>
                                        <p:tgtEl>
                                          <p:spTgt spid="332">
                                            <p:txEl>
                                              <p:pRg st="4" end="4"/>
                                            </p:txEl>
                                          </p:spTgt>
                                        </p:tgtEl>
                                        <p:attrNameLst>
                                          <p:attrName>style.visibility</p:attrName>
                                        </p:attrNameLst>
                                      </p:cBhvr>
                                      <p:to>
                                        <p:strVal val="visible"/>
                                      </p:to>
                                    </p:set>
                                    <p:animEffect filter="wipe(left)" transition="in">
                                      <p:cBhvr additive="repl">
                                        <p:cTn id="1101" dur="500"/>
                                        <p:tgtEl>
                                          <p:spTgt spid="33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3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average product continues to rise, and average variable cost continues to fall.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Then, at the point of maximum average product, average variable cost is a minimum.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As the firm hires even more labor, average product decreases and average variable cost increases.</a:t>
            </a:r>
            <a:endParaRPr b="1" lang="en-CA" sz="2400" strike="noStrike" u="none">
              <a:solidFill>
                <a:srgbClr val="00468f"/>
              </a:solidFill>
              <a:effectLst/>
              <a:uFillTx/>
              <a:latin typeface="Arial"/>
            </a:endParaRPr>
          </a:p>
        </p:txBody>
      </p:sp>
    </p:spTree>
  </p:cSld>
  <p:transition spd="slow">
    <p:wipe dir="r"/>
  </p:transition>
  <p:timing>
    <p:tnLst>
      <p:par>
        <p:cTn id="1102" dur="indefinite" restart="never" nodeType="tmRoot">
          <p:childTnLst>
            <p:seq>
              <p:cTn id="1103" dur="indefinite" nodeType="mainSeq">
                <p:childTnLst>
                  <p:par>
                    <p:cTn id="1104" nodeType="clickEffect" fill="hold">
                      <p:stCondLst>
                        <p:cond delay="indefinite"/>
                      </p:stCondLst>
                      <p:childTnLst>
                        <p:par>
                          <p:cTn id="1105" nodeType="withEffect" fill="hold">
                            <p:stCondLst>
                              <p:cond delay="0"/>
                            </p:stCondLst>
                            <p:childTnLst>
                              <p:par>
                                <p:cTn id="1106" nodeType="clickEffect" fill="hold" presetClass="entr" presetID="22" presetSubtype="8">
                                  <p:stCondLst>
                                    <p:cond delay="0"/>
                                  </p:stCondLst>
                                  <p:childTnLst>
                                    <p:set>
                                      <p:cBhvr>
                                        <p:cTn id="1107" dur="1" fill="hold">
                                          <p:stCondLst>
                                            <p:cond delay="0"/>
                                          </p:stCondLst>
                                        </p:cTn>
                                        <p:tgtEl>
                                          <p:spTgt spid="334">
                                            <p:txEl>
                                              <p:pRg st="1" end="1"/>
                                            </p:txEl>
                                          </p:spTgt>
                                        </p:tgtEl>
                                        <p:attrNameLst>
                                          <p:attrName>style.visibility</p:attrName>
                                        </p:attrNameLst>
                                      </p:cBhvr>
                                      <p:to>
                                        <p:strVal val="visible"/>
                                      </p:to>
                                    </p:set>
                                    <p:animEffect filter="wipe(left)" transition="in">
                                      <p:cBhvr additive="repl">
                                        <p:cTn id="1108" dur="500"/>
                                        <p:tgtEl>
                                          <p:spTgt spid="334">
                                            <p:txEl>
                                              <p:pRg st="1" end="1"/>
                                            </p:txEl>
                                          </p:spTgt>
                                        </p:tgtEl>
                                      </p:cBhvr>
                                    </p:animEffect>
                                  </p:childTnLst>
                                </p:cTn>
                              </p:par>
                            </p:childTnLst>
                          </p:cTn>
                        </p:par>
                      </p:childTnLst>
                    </p:cTn>
                  </p:par>
                  <p:par>
                    <p:cTn id="1109" nodeType="clickEffect" fill="hold">
                      <p:stCondLst>
                        <p:cond delay="indefinite"/>
                      </p:stCondLst>
                      <p:childTnLst>
                        <p:par>
                          <p:cTn id="1110" nodeType="withEffect" fill="hold">
                            <p:stCondLst>
                              <p:cond delay="0"/>
                            </p:stCondLst>
                            <p:childTnLst>
                              <p:par>
                                <p:cTn id="1111" nodeType="clickEffect" fill="hold" presetClass="entr" presetID="22" presetSubtype="8">
                                  <p:stCondLst>
                                    <p:cond delay="0"/>
                                  </p:stCondLst>
                                  <p:childTnLst>
                                    <p:set>
                                      <p:cBhvr>
                                        <p:cTn id="1112" dur="1" fill="hold">
                                          <p:stCondLst>
                                            <p:cond delay="0"/>
                                          </p:stCondLst>
                                        </p:cTn>
                                        <p:tgtEl>
                                          <p:spTgt spid="334">
                                            <p:txEl>
                                              <p:pRg st="2" end="2"/>
                                            </p:txEl>
                                          </p:spTgt>
                                        </p:tgtEl>
                                        <p:attrNameLst>
                                          <p:attrName>style.visibility</p:attrName>
                                        </p:attrNameLst>
                                      </p:cBhvr>
                                      <p:to>
                                        <p:strVal val="visible"/>
                                      </p:to>
                                    </p:set>
                                    <p:animEffect filter="wipe(left)" transition="in">
                                      <p:cBhvr additive="repl">
                                        <p:cTn id="1113" dur="500"/>
                                        <p:tgtEl>
                                          <p:spTgt spid="33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36" name="PlaceHolder 2"/>
          <p:cNvSpPr>
            <a:spLocks noGrp="1"/>
          </p:cNvSpPr>
          <p:nvPr>
            <p:ph/>
          </p:nvPr>
        </p:nvSpPr>
        <p:spPr>
          <a:xfrm>
            <a:off x="360360" y="1440000"/>
            <a:ext cx="48207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Figure 14.7 illustrates the relationship between the product curves and cost curves.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firm’s marginal cost curve is linked to its marginal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marginal product rises, marginal cost falls.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marginal product is a maximum, marginal cost is a minimum.</a:t>
            </a:r>
            <a:endParaRPr b="1" lang="en-CA" sz="2400" strike="noStrike" u="none">
              <a:solidFill>
                <a:srgbClr val="00468f"/>
              </a:solidFill>
              <a:effectLst/>
              <a:uFillTx/>
              <a:latin typeface="Arial"/>
            </a:endParaRPr>
          </a:p>
        </p:txBody>
      </p:sp>
      <p:pic>
        <p:nvPicPr>
          <p:cNvPr id="337" name="Picture 6" descr=""/>
          <p:cNvPicPr/>
          <p:nvPr/>
        </p:nvPicPr>
        <p:blipFill>
          <a:blip r:embed="rId1"/>
          <a:stretch/>
        </p:blipFill>
        <p:spPr>
          <a:xfrm>
            <a:off x="5181480" y="1079640"/>
            <a:ext cx="2964960" cy="5667120"/>
          </a:xfrm>
          <a:prstGeom prst="rect">
            <a:avLst/>
          </a:prstGeom>
          <a:noFill/>
          <a:ln w="0">
            <a:noFill/>
          </a:ln>
        </p:spPr>
      </p:pic>
      <p:pic>
        <p:nvPicPr>
          <p:cNvPr id="338" name="Picture 7" descr=""/>
          <p:cNvPicPr/>
          <p:nvPr/>
        </p:nvPicPr>
        <p:blipFill>
          <a:blip r:embed="rId2"/>
          <a:stretch/>
        </p:blipFill>
        <p:spPr>
          <a:xfrm>
            <a:off x="5181480" y="1079640"/>
            <a:ext cx="2964960" cy="5667120"/>
          </a:xfrm>
          <a:prstGeom prst="rect">
            <a:avLst/>
          </a:prstGeom>
          <a:noFill/>
          <a:ln w="0">
            <a:noFill/>
          </a:ln>
        </p:spPr>
      </p:pic>
      <p:pic>
        <p:nvPicPr>
          <p:cNvPr id="339" name="Picture 8" descr=""/>
          <p:cNvPicPr/>
          <p:nvPr/>
        </p:nvPicPr>
        <p:blipFill>
          <a:blip r:embed="rId3"/>
          <a:stretch/>
        </p:blipFill>
        <p:spPr>
          <a:xfrm>
            <a:off x="5181480" y="1079640"/>
            <a:ext cx="2964960" cy="5667120"/>
          </a:xfrm>
          <a:prstGeom prst="rect">
            <a:avLst/>
          </a:prstGeom>
          <a:noFill/>
          <a:ln w="0">
            <a:noFill/>
          </a:ln>
        </p:spPr>
      </p:pic>
    </p:spTree>
  </p:cSld>
  <p:transition spd="med">
    <p:wipe dir="r"/>
  </p:transition>
  <p:timing>
    <p:tnLst>
      <p:par>
        <p:cTn id="1114" dur="indefinite" restart="never" nodeType="tmRoot">
          <p:childTnLst>
            <p:seq>
              <p:cTn id="1115" dur="indefinite" nodeType="mainSeq">
                <p:childTnLst>
                  <p:par>
                    <p:cTn id="1116" nodeType="clickEffect" fill="hold">
                      <p:stCondLst>
                        <p:cond delay="indefinite"/>
                      </p:stCondLst>
                      <p:childTnLst>
                        <p:par>
                          <p:cTn id="1117" nodeType="withEffect" fill="hold">
                            <p:stCondLst>
                              <p:cond delay="0"/>
                            </p:stCondLst>
                            <p:childTnLst>
                              <p:par>
                                <p:cTn id="1118" nodeType="clickEffect" fill="hold" presetClass="entr" presetID="22" presetSubtype="8">
                                  <p:stCondLst>
                                    <p:cond delay="0"/>
                                  </p:stCondLst>
                                  <p:childTnLst>
                                    <p:set>
                                      <p:cBhvr>
                                        <p:cTn id="1119" dur="1" fill="hold">
                                          <p:stCondLst>
                                            <p:cond delay="0"/>
                                          </p:stCondLst>
                                        </p:cTn>
                                        <p:tgtEl>
                                          <p:spTgt spid="336">
                                            <p:txEl>
                                              <p:pRg st="1" end="1"/>
                                            </p:txEl>
                                          </p:spTgt>
                                        </p:tgtEl>
                                        <p:attrNameLst>
                                          <p:attrName>style.visibility</p:attrName>
                                        </p:attrNameLst>
                                      </p:cBhvr>
                                      <p:to>
                                        <p:strVal val="visible"/>
                                      </p:to>
                                    </p:set>
                                    <p:animEffect filter="wipe(left)" transition="in">
                                      <p:cBhvr additive="repl">
                                        <p:cTn id="1120" dur="500"/>
                                        <p:tgtEl>
                                          <p:spTgt spid="336">
                                            <p:txEl>
                                              <p:pRg st="1" end="1"/>
                                            </p:txEl>
                                          </p:spTgt>
                                        </p:tgtEl>
                                      </p:cBhvr>
                                    </p:animEffect>
                                  </p:childTnLst>
                                </p:cTn>
                              </p:par>
                            </p:childTnLst>
                          </p:cTn>
                        </p:par>
                      </p:childTnLst>
                    </p:cTn>
                  </p:par>
                  <p:par>
                    <p:cTn id="1121" nodeType="clickEffect" fill="hold">
                      <p:stCondLst>
                        <p:cond delay="indefinite"/>
                      </p:stCondLst>
                      <p:childTnLst>
                        <p:par>
                          <p:cTn id="1122" nodeType="withEffect" fill="hold">
                            <p:stCondLst>
                              <p:cond delay="0"/>
                            </p:stCondLst>
                            <p:childTnLst>
                              <p:par>
                                <p:cTn id="1123" nodeType="clickEffect" fill="hold" presetClass="entr" presetID="22" presetSubtype="8">
                                  <p:stCondLst>
                                    <p:cond delay="0"/>
                                  </p:stCondLst>
                                  <p:childTnLst>
                                    <p:set>
                                      <p:cBhvr>
                                        <p:cTn id="1124" dur="1" fill="hold">
                                          <p:stCondLst>
                                            <p:cond delay="0"/>
                                          </p:stCondLst>
                                        </p:cTn>
                                        <p:tgtEl>
                                          <p:spTgt spid="336">
                                            <p:txEl>
                                              <p:pRg st="2" end="2"/>
                                            </p:txEl>
                                          </p:spTgt>
                                        </p:tgtEl>
                                        <p:attrNameLst>
                                          <p:attrName>style.visibility</p:attrName>
                                        </p:attrNameLst>
                                      </p:cBhvr>
                                      <p:to>
                                        <p:strVal val="visible"/>
                                      </p:to>
                                    </p:set>
                                    <p:animEffect filter="wipe(left)" transition="in">
                                      <p:cBhvr additive="repl">
                                        <p:cTn id="1125" dur="500"/>
                                        <p:tgtEl>
                                          <p:spTgt spid="336">
                                            <p:txEl>
                                              <p:pRg st="2" end="2"/>
                                            </p:txEl>
                                          </p:spTgt>
                                        </p:tgtEl>
                                      </p:cBhvr>
                                    </p:animEffect>
                                  </p:childTnLst>
                                </p:cTn>
                              </p:par>
                              <p:par>
                                <p:cTn id="1126" nodeType="withEffect" fill="hold" presetClass="entr" presetID="22" presetSubtype="8">
                                  <p:stCondLst>
                                    <p:cond delay="0"/>
                                  </p:stCondLst>
                                  <p:childTnLst>
                                    <p:set>
                                      <p:cBhvr>
                                        <p:cTn id="1127" dur="1" fill="hold">
                                          <p:stCondLst>
                                            <p:cond delay="0"/>
                                          </p:stCondLst>
                                        </p:cTn>
                                        <p:tgtEl>
                                          <p:spTgt spid="338"/>
                                        </p:tgtEl>
                                        <p:attrNameLst>
                                          <p:attrName>style.visibility</p:attrName>
                                        </p:attrNameLst>
                                      </p:cBhvr>
                                      <p:to>
                                        <p:strVal val="visible"/>
                                      </p:to>
                                    </p:set>
                                    <p:animEffect filter="wipe(left)" transition="in">
                                      <p:cBhvr additive="repl">
                                        <p:cTn id="1128" dur="1000"/>
                                        <p:tgtEl>
                                          <p:spTgt spid="338"/>
                                        </p:tgtEl>
                                      </p:cBhvr>
                                    </p:animEffect>
                                  </p:childTnLst>
                                </p:cTn>
                              </p:par>
                            </p:childTnLst>
                          </p:cTn>
                        </p:par>
                      </p:childTnLst>
                    </p:cTn>
                  </p:par>
                  <p:par>
                    <p:cTn id="1129" nodeType="clickEffect" fill="hold">
                      <p:stCondLst>
                        <p:cond delay="indefinite"/>
                      </p:stCondLst>
                      <p:childTnLst>
                        <p:par>
                          <p:cTn id="1130" nodeType="withEffect" fill="hold">
                            <p:stCondLst>
                              <p:cond delay="0"/>
                            </p:stCondLst>
                            <p:childTnLst>
                              <p:par>
                                <p:cTn id="1131" nodeType="clickEffect" fill="hold" presetClass="entr" presetID="22" presetSubtype="8">
                                  <p:stCondLst>
                                    <p:cond delay="0"/>
                                  </p:stCondLst>
                                  <p:childTnLst>
                                    <p:set>
                                      <p:cBhvr>
                                        <p:cTn id="1132" dur="1" fill="hold">
                                          <p:stCondLst>
                                            <p:cond delay="0"/>
                                          </p:stCondLst>
                                        </p:cTn>
                                        <p:tgtEl>
                                          <p:spTgt spid="336">
                                            <p:txEl>
                                              <p:pRg st="3" end="3"/>
                                            </p:txEl>
                                          </p:spTgt>
                                        </p:tgtEl>
                                        <p:attrNameLst>
                                          <p:attrName>style.visibility</p:attrName>
                                        </p:attrNameLst>
                                      </p:cBhvr>
                                      <p:to>
                                        <p:strVal val="visible"/>
                                      </p:to>
                                    </p:set>
                                    <p:animEffect filter="wipe(left)" transition="in">
                                      <p:cBhvr additive="repl">
                                        <p:cTn id="1133" dur="500"/>
                                        <p:tgtEl>
                                          <p:spTgt spid="336">
                                            <p:txEl>
                                              <p:pRg st="3" end="3"/>
                                            </p:txEl>
                                          </p:spTgt>
                                        </p:tgtEl>
                                      </p:cBhvr>
                                    </p:animEffect>
                                  </p:childTnLst>
                                </p:cTn>
                              </p:par>
                              <p:par>
                                <p:cTn id="1134" nodeType="withEffect" fill="hold" presetClass="entr" presetID="16" presetSubtype="42">
                                  <p:stCondLst>
                                    <p:cond delay="0"/>
                                  </p:stCondLst>
                                  <p:childTnLst>
                                    <p:set>
                                      <p:cBhvr>
                                        <p:cTn id="1135" dur="1" fill="hold">
                                          <p:stCondLst>
                                            <p:cond delay="0"/>
                                          </p:stCondLst>
                                        </p:cTn>
                                        <p:tgtEl>
                                          <p:spTgt spid="339"/>
                                        </p:tgtEl>
                                        <p:attrNameLst>
                                          <p:attrName>style.visibility</p:attrName>
                                        </p:attrNameLst>
                                      </p:cBhvr>
                                      <p:to>
                                        <p:strVal val="visible"/>
                                      </p:to>
                                    </p:set>
                                    <p:animEffect filter="barn(outHorizontal)" transition="in">
                                      <p:cBhvr additive="repl">
                                        <p:cTn id="1136" dur="10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40" name="Picture 9" descr=""/>
          <p:cNvPicPr/>
          <p:nvPr/>
        </p:nvPicPr>
        <p:blipFill>
          <a:blip r:embed="rId1"/>
          <a:stretch/>
        </p:blipFill>
        <p:spPr>
          <a:xfrm>
            <a:off x="2743200" y="228600"/>
            <a:ext cx="3295440" cy="6295680"/>
          </a:xfrm>
          <a:prstGeom prst="rect">
            <a:avLst/>
          </a:prstGeom>
          <a:noFill/>
          <a:ln w="0">
            <a:noFill/>
          </a:ln>
        </p:spPr>
      </p:pic>
      <p:pic>
        <p:nvPicPr>
          <p:cNvPr id="341" name="Picture 17" descr=""/>
          <p:cNvPicPr/>
          <p:nvPr/>
        </p:nvPicPr>
        <p:blipFill>
          <a:blip r:embed="rId2"/>
          <a:stretch/>
        </p:blipFill>
        <p:spPr>
          <a:xfrm>
            <a:off x="2743200" y="228600"/>
            <a:ext cx="3295440" cy="6295680"/>
          </a:xfrm>
          <a:prstGeom prst="rect">
            <a:avLst/>
          </a:prstGeom>
          <a:noFill/>
          <a:ln w="0">
            <a:noFill/>
          </a:ln>
        </p:spPr>
      </p:pic>
      <p:pic>
        <p:nvPicPr>
          <p:cNvPr id="342" name="Picture 18" descr=""/>
          <p:cNvPicPr/>
          <p:nvPr/>
        </p:nvPicPr>
        <p:blipFill>
          <a:blip r:embed="rId3"/>
          <a:stretch/>
        </p:blipFill>
        <p:spPr>
          <a:xfrm>
            <a:off x="2743200" y="228600"/>
            <a:ext cx="3295440" cy="6295680"/>
          </a:xfrm>
          <a:prstGeom prst="rect">
            <a:avLst/>
          </a:prstGeom>
          <a:noFill/>
          <a:ln w="0">
            <a:noFill/>
          </a:ln>
        </p:spPr>
      </p:pic>
      <p:pic>
        <p:nvPicPr>
          <p:cNvPr id="343" name="Picture 19" descr=""/>
          <p:cNvPicPr/>
          <p:nvPr/>
        </p:nvPicPr>
        <p:blipFill>
          <a:blip r:embed="rId4"/>
          <a:stretch/>
        </p:blipFill>
        <p:spPr>
          <a:xfrm>
            <a:off x="2743200" y="228600"/>
            <a:ext cx="3295440" cy="6295680"/>
          </a:xfrm>
          <a:prstGeom prst="rect">
            <a:avLst/>
          </a:prstGeom>
          <a:noFill/>
          <a:ln w="0">
            <a:noFill/>
          </a:ln>
        </p:spPr>
      </p:pic>
      <p:pic>
        <p:nvPicPr>
          <p:cNvPr id="344" name="Picture 20" descr=""/>
          <p:cNvPicPr/>
          <p:nvPr/>
        </p:nvPicPr>
        <p:blipFill>
          <a:blip r:embed="rId5"/>
          <a:stretch/>
        </p:blipFill>
        <p:spPr>
          <a:xfrm>
            <a:off x="2743200" y="228600"/>
            <a:ext cx="3295440" cy="6295680"/>
          </a:xfrm>
          <a:prstGeom prst="rect">
            <a:avLst/>
          </a:prstGeom>
          <a:noFill/>
          <a:ln w="0">
            <a:noFill/>
          </a:ln>
        </p:spPr>
      </p:pic>
      <p:pic>
        <p:nvPicPr>
          <p:cNvPr id="345" name="Picture 21" descr=""/>
          <p:cNvPicPr/>
          <p:nvPr/>
        </p:nvPicPr>
        <p:blipFill>
          <a:blip r:embed="rId6"/>
          <a:stretch/>
        </p:blipFill>
        <p:spPr>
          <a:xfrm>
            <a:off x="2743200" y="228600"/>
            <a:ext cx="3295440" cy="6295680"/>
          </a:xfrm>
          <a:prstGeom prst="rect">
            <a:avLst/>
          </a:prstGeom>
          <a:noFill/>
          <a:ln w="0">
            <a:noFill/>
          </a:ln>
        </p:spPr>
      </p:pic>
      <p:pic>
        <p:nvPicPr>
          <p:cNvPr id="346" name="Picture 22" descr=""/>
          <p:cNvPicPr/>
          <p:nvPr/>
        </p:nvPicPr>
        <p:blipFill>
          <a:blip r:embed="rId7"/>
          <a:stretch/>
        </p:blipFill>
        <p:spPr>
          <a:xfrm>
            <a:off x="2743200" y="228600"/>
            <a:ext cx="3295440" cy="6295680"/>
          </a:xfrm>
          <a:prstGeom prst="rect">
            <a:avLst/>
          </a:prstGeom>
          <a:noFill/>
          <a:ln w="0">
            <a:noFill/>
          </a:ln>
        </p:spPr>
      </p:pic>
      <p:pic>
        <p:nvPicPr>
          <p:cNvPr id="347" name="Picture 23" descr=""/>
          <p:cNvPicPr/>
          <p:nvPr/>
        </p:nvPicPr>
        <p:blipFill>
          <a:blip r:embed="rId8"/>
          <a:stretch/>
        </p:blipFill>
        <p:spPr>
          <a:xfrm>
            <a:off x="2743200" y="228600"/>
            <a:ext cx="3295440" cy="6295680"/>
          </a:xfrm>
          <a:prstGeom prst="rect">
            <a:avLst/>
          </a:prstGeom>
          <a:noFill/>
          <a:ln w="0">
            <a:noFill/>
          </a:ln>
        </p:spPr>
      </p:pic>
    </p:spTree>
  </p:cSld>
  <p:transition spd="slow">
    <p:wipe dir="r"/>
  </p:transition>
  <p:timing>
    <p:tnLst>
      <p:par>
        <p:cTn id="1137" dur="indefinite" restart="never" nodeType="tmRoot">
          <p:childTnLst>
            <p:seq>
              <p:cTn id="1138" dur="indefinite" nodeType="mainSeq">
                <p:childTnLst>
                  <p:par>
                    <p:cTn id="1139" nodeType="clickEffect" fill="hold">
                      <p:stCondLst>
                        <p:cond delay="indefinite"/>
                      </p:stCondLst>
                      <p:childTnLst>
                        <p:par>
                          <p:cTn id="1140" nodeType="withEffect" fill="hold">
                            <p:stCondLst>
                              <p:cond delay="0"/>
                            </p:stCondLst>
                            <p:childTnLst>
                              <p:par>
                                <p:cTn id="1141" nodeType="clickEffect" fill="hold" presetClass="entr" presetID="22" presetSubtype="8">
                                  <p:stCondLst>
                                    <p:cond delay="0"/>
                                  </p:stCondLst>
                                  <p:childTnLst>
                                    <p:set>
                                      <p:cBhvr>
                                        <p:cTn id="1142" dur="1" fill="hold">
                                          <p:stCondLst>
                                            <p:cond delay="0"/>
                                          </p:stCondLst>
                                        </p:cTn>
                                        <p:tgtEl>
                                          <p:spTgt spid="341"/>
                                        </p:tgtEl>
                                        <p:attrNameLst>
                                          <p:attrName>style.visibility</p:attrName>
                                        </p:attrNameLst>
                                      </p:cBhvr>
                                      <p:to>
                                        <p:strVal val="visible"/>
                                      </p:to>
                                    </p:set>
                                    <p:animEffect filter="wipe(left)" transition="in">
                                      <p:cBhvr additive="repl">
                                        <p:cTn id="1143" dur="1000"/>
                                        <p:tgtEl>
                                          <p:spTgt spid="341"/>
                                        </p:tgtEl>
                                      </p:cBhvr>
                                    </p:animEffect>
                                  </p:childTnLst>
                                </p:cTn>
                              </p:par>
                            </p:childTnLst>
                          </p:cTn>
                        </p:par>
                      </p:childTnLst>
                    </p:cTn>
                  </p:par>
                  <p:par>
                    <p:cTn id="1144" nodeType="clickEffect" fill="hold">
                      <p:stCondLst>
                        <p:cond delay="indefinite"/>
                      </p:stCondLst>
                      <p:childTnLst>
                        <p:par>
                          <p:cTn id="1145" nodeType="withEffect" fill="hold">
                            <p:stCondLst>
                              <p:cond delay="0"/>
                            </p:stCondLst>
                            <p:childTnLst>
                              <p:par>
                                <p:cTn id="1146" nodeType="clickEffect" fill="hold" presetClass="entr" presetID="16" presetSubtype="42">
                                  <p:stCondLst>
                                    <p:cond delay="0"/>
                                  </p:stCondLst>
                                  <p:childTnLst>
                                    <p:set>
                                      <p:cBhvr>
                                        <p:cTn id="1147" dur="1" fill="hold">
                                          <p:stCondLst>
                                            <p:cond delay="0"/>
                                          </p:stCondLst>
                                        </p:cTn>
                                        <p:tgtEl>
                                          <p:spTgt spid="342"/>
                                        </p:tgtEl>
                                        <p:attrNameLst>
                                          <p:attrName>style.visibility</p:attrName>
                                        </p:attrNameLst>
                                      </p:cBhvr>
                                      <p:to>
                                        <p:strVal val="visible"/>
                                      </p:to>
                                    </p:set>
                                    <p:animEffect filter="barn(outHorizontal)" transition="in">
                                      <p:cBhvr additive="repl">
                                        <p:cTn id="1148" dur="1000"/>
                                        <p:tgtEl>
                                          <p:spTgt spid="342"/>
                                        </p:tgtEl>
                                      </p:cBhvr>
                                    </p:animEffect>
                                  </p:childTnLst>
                                </p:cTn>
                              </p:par>
                            </p:childTnLst>
                          </p:cTn>
                        </p:par>
                      </p:childTnLst>
                    </p:cTn>
                  </p:par>
                  <p:par>
                    <p:cTn id="1149" nodeType="clickEffect" fill="hold">
                      <p:stCondLst>
                        <p:cond delay="indefinite"/>
                      </p:stCondLst>
                      <p:childTnLst>
                        <p:par>
                          <p:cTn id="1150" nodeType="withEffect" fill="hold">
                            <p:stCondLst>
                              <p:cond delay="0"/>
                            </p:stCondLst>
                            <p:childTnLst>
                              <p:par>
                                <p:cTn id="1151" nodeType="clickEffect" fill="hold" presetClass="entr" presetID="22" presetSubtype="8">
                                  <p:stCondLst>
                                    <p:cond delay="0"/>
                                  </p:stCondLst>
                                  <p:childTnLst>
                                    <p:set>
                                      <p:cBhvr>
                                        <p:cTn id="1152" dur="1" fill="hold">
                                          <p:stCondLst>
                                            <p:cond delay="0"/>
                                          </p:stCondLst>
                                        </p:cTn>
                                        <p:tgtEl>
                                          <p:spTgt spid="343"/>
                                        </p:tgtEl>
                                        <p:attrNameLst>
                                          <p:attrName>style.visibility</p:attrName>
                                        </p:attrNameLst>
                                      </p:cBhvr>
                                      <p:to>
                                        <p:strVal val="visible"/>
                                      </p:to>
                                    </p:set>
                                    <p:animEffect filter="wipe(left)" transition="in">
                                      <p:cBhvr additive="repl">
                                        <p:cTn id="1153" dur="1000"/>
                                        <p:tgtEl>
                                          <p:spTgt spid="343"/>
                                        </p:tgtEl>
                                      </p:cBhvr>
                                    </p:animEffect>
                                  </p:childTnLst>
                                </p:cTn>
                              </p:par>
                            </p:childTnLst>
                          </p:cTn>
                        </p:par>
                      </p:childTnLst>
                    </p:cTn>
                  </p:par>
                  <p:par>
                    <p:cTn id="1154" nodeType="clickEffect" fill="hold">
                      <p:stCondLst>
                        <p:cond delay="indefinite"/>
                      </p:stCondLst>
                      <p:childTnLst>
                        <p:par>
                          <p:cTn id="1155" nodeType="withEffect" fill="hold">
                            <p:stCondLst>
                              <p:cond delay="0"/>
                            </p:stCondLst>
                            <p:childTnLst>
                              <p:par>
                                <p:cTn id="1156" nodeType="clickEffect" fill="hold" presetClass="entr" presetID="16" presetSubtype="42">
                                  <p:stCondLst>
                                    <p:cond delay="0"/>
                                  </p:stCondLst>
                                  <p:childTnLst>
                                    <p:set>
                                      <p:cBhvr>
                                        <p:cTn id="1157" dur="1" fill="hold">
                                          <p:stCondLst>
                                            <p:cond delay="0"/>
                                          </p:stCondLst>
                                        </p:cTn>
                                        <p:tgtEl>
                                          <p:spTgt spid="344"/>
                                        </p:tgtEl>
                                        <p:attrNameLst>
                                          <p:attrName>style.visibility</p:attrName>
                                        </p:attrNameLst>
                                      </p:cBhvr>
                                      <p:to>
                                        <p:strVal val="visible"/>
                                      </p:to>
                                    </p:set>
                                    <p:animEffect filter="barn(outHorizontal)" transition="in">
                                      <p:cBhvr additive="repl">
                                        <p:cTn id="1158" dur="1000"/>
                                        <p:tgtEl>
                                          <p:spTgt spid="344"/>
                                        </p:tgtEl>
                                      </p:cBhvr>
                                    </p:animEffect>
                                  </p:childTnLst>
                                </p:cTn>
                              </p:par>
                            </p:childTnLst>
                          </p:cTn>
                        </p:par>
                      </p:childTnLst>
                    </p:cTn>
                  </p:par>
                  <p:par>
                    <p:cTn id="1159" nodeType="clickEffect" fill="hold">
                      <p:stCondLst>
                        <p:cond delay="indefinite"/>
                      </p:stCondLst>
                      <p:childTnLst>
                        <p:par>
                          <p:cTn id="1160" nodeType="withEffect" fill="hold">
                            <p:stCondLst>
                              <p:cond delay="0"/>
                            </p:stCondLst>
                            <p:childTnLst>
                              <p:par>
                                <p:cTn id="1161" nodeType="clickEffect" fill="hold" presetClass="entr" presetID="10">
                                  <p:stCondLst>
                                    <p:cond delay="0"/>
                                  </p:stCondLst>
                                  <p:childTnLst>
                                    <p:set>
                                      <p:cBhvr>
                                        <p:cTn id="1162" dur="1" fill="hold">
                                          <p:stCondLst>
                                            <p:cond delay="0"/>
                                          </p:stCondLst>
                                        </p:cTn>
                                        <p:tgtEl>
                                          <p:spTgt spid="345"/>
                                        </p:tgtEl>
                                        <p:attrNameLst>
                                          <p:attrName>style.visibility</p:attrName>
                                        </p:attrNameLst>
                                      </p:cBhvr>
                                      <p:to>
                                        <p:strVal val="visible"/>
                                      </p:to>
                                    </p:set>
                                    <p:animEffect filter="fade" transition="in">
                                      <p:cBhvr additive="repl">
                                        <p:cTn id="1163" dur="500"/>
                                        <p:tgtEl>
                                          <p:spTgt spid="345"/>
                                        </p:tgtEl>
                                      </p:cBhvr>
                                    </p:animEffect>
                                  </p:childTnLst>
                                </p:cTn>
                              </p:par>
                            </p:childTnLst>
                          </p:cTn>
                        </p:par>
                      </p:childTnLst>
                    </p:cTn>
                  </p:par>
                  <p:par>
                    <p:cTn id="1164" nodeType="clickEffect" fill="hold">
                      <p:stCondLst>
                        <p:cond delay="indefinite"/>
                      </p:stCondLst>
                      <p:childTnLst>
                        <p:par>
                          <p:cTn id="1165" nodeType="withEffect" fill="hold">
                            <p:stCondLst>
                              <p:cond delay="0"/>
                            </p:stCondLst>
                            <p:childTnLst>
                              <p:par>
                                <p:cTn id="1166" nodeType="clickEffect" fill="hold" presetClass="entr" presetID="10">
                                  <p:stCondLst>
                                    <p:cond delay="0"/>
                                  </p:stCondLst>
                                  <p:childTnLst>
                                    <p:set>
                                      <p:cBhvr>
                                        <p:cTn id="1167" dur="1" fill="hold">
                                          <p:stCondLst>
                                            <p:cond delay="0"/>
                                          </p:stCondLst>
                                        </p:cTn>
                                        <p:tgtEl>
                                          <p:spTgt spid="346"/>
                                        </p:tgtEl>
                                        <p:attrNameLst>
                                          <p:attrName>style.visibility</p:attrName>
                                        </p:attrNameLst>
                                      </p:cBhvr>
                                      <p:to>
                                        <p:strVal val="visible"/>
                                      </p:to>
                                    </p:set>
                                    <p:animEffect filter="fade" transition="in">
                                      <p:cBhvr additive="repl">
                                        <p:cTn id="1168" dur="500"/>
                                        <p:tgtEl>
                                          <p:spTgt spid="346"/>
                                        </p:tgtEl>
                                      </p:cBhvr>
                                    </p:animEffect>
                                  </p:childTnLst>
                                </p:cTn>
                              </p:par>
                            </p:childTnLst>
                          </p:cTn>
                        </p:par>
                      </p:childTnLst>
                    </p:cTn>
                  </p:par>
                  <p:par>
                    <p:cTn id="1169" nodeType="clickEffect" fill="hold">
                      <p:stCondLst>
                        <p:cond delay="indefinite"/>
                      </p:stCondLst>
                      <p:childTnLst>
                        <p:par>
                          <p:cTn id="1170" nodeType="withEffect" fill="hold">
                            <p:stCondLst>
                              <p:cond delay="0"/>
                            </p:stCondLst>
                            <p:childTnLst>
                              <p:par>
                                <p:cTn id="1171" nodeType="clickEffect" fill="hold" presetClass="entr" presetID="10">
                                  <p:stCondLst>
                                    <p:cond delay="0"/>
                                  </p:stCondLst>
                                  <p:childTnLst>
                                    <p:set>
                                      <p:cBhvr>
                                        <p:cTn id="1172" dur="1" fill="hold">
                                          <p:stCondLst>
                                            <p:cond delay="0"/>
                                          </p:stCondLst>
                                        </p:cTn>
                                        <p:tgtEl>
                                          <p:spTgt spid="347"/>
                                        </p:tgtEl>
                                        <p:attrNameLst>
                                          <p:attrName>style.visibility</p:attrName>
                                        </p:attrNameLst>
                                      </p:cBhvr>
                                      <p:to>
                                        <p:strVal val="visible"/>
                                      </p:to>
                                    </p:set>
                                    <p:animEffect filter="fade" transition="in">
                                      <p:cBhvr additive="repl">
                                        <p:cTn id="1173"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49" name="PlaceHolder 2"/>
          <p:cNvSpPr>
            <a:spLocks noGrp="1"/>
          </p:cNvSpPr>
          <p:nvPr>
            <p:ph/>
          </p:nvPr>
        </p:nvSpPr>
        <p:spPr>
          <a:xfrm>
            <a:off x="360360" y="1440000"/>
            <a:ext cx="45921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 firm’s average variable cost curve is linked to its average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average product rises, average variable cost falls.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If average product is a maximum, average variable cost is a minimum.</a:t>
            </a:r>
            <a:endParaRPr b="1" lang="en-CA" sz="2400" strike="noStrike" u="none">
              <a:solidFill>
                <a:srgbClr val="00468f"/>
              </a:solidFill>
              <a:effectLst/>
              <a:uFillTx/>
              <a:latin typeface="Arial"/>
            </a:endParaRPr>
          </a:p>
        </p:txBody>
      </p:sp>
      <p:pic>
        <p:nvPicPr>
          <p:cNvPr id="350" name="Picture 8" descr=""/>
          <p:cNvPicPr/>
          <p:nvPr/>
        </p:nvPicPr>
        <p:blipFill>
          <a:blip r:embed="rId1"/>
          <a:stretch/>
        </p:blipFill>
        <p:spPr>
          <a:xfrm>
            <a:off x="5181480" y="1079640"/>
            <a:ext cx="2964960" cy="5667120"/>
          </a:xfrm>
          <a:prstGeom prst="rect">
            <a:avLst/>
          </a:prstGeom>
          <a:noFill/>
          <a:ln w="0">
            <a:noFill/>
          </a:ln>
        </p:spPr>
      </p:pic>
      <p:pic>
        <p:nvPicPr>
          <p:cNvPr id="351" name="Picture 9" descr=""/>
          <p:cNvPicPr/>
          <p:nvPr/>
        </p:nvPicPr>
        <p:blipFill>
          <a:blip r:embed="rId2"/>
          <a:stretch/>
        </p:blipFill>
        <p:spPr>
          <a:xfrm>
            <a:off x="5181480" y="1079640"/>
            <a:ext cx="2964960" cy="5667120"/>
          </a:xfrm>
          <a:prstGeom prst="rect">
            <a:avLst/>
          </a:prstGeom>
          <a:noFill/>
          <a:ln w="0">
            <a:noFill/>
          </a:ln>
        </p:spPr>
      </p:pic>
      <p:pic>
        <p:nvPicPr>
          <p:cNvPr id="352" name="Picture 10" descr=""/>
          <p:cNvPicPr/>
          <p:nvPr/>
        </p:nvPicPr>
        <p:blipFill>
          <a:blip r:embed="rId3"/>
          <a:stretch/>
        </p:blipFill>
        <p:spPr>
          <a:xfrm>
            <a:off x="5181480" y="1079640"/>
            <a:ext cx="2964960" cy="5667120"/>
          </a:xfrm>
          <a:prstGeom prst="rect">
            <a:avLst/>
          </a:prstGeom>
          <a:noFill/>
          <a:ln w="0">
            <a:noFill/>
          </a:ln>
        </p:spPr>
      </p:pic>
      <p:pic>
        <p:nvPicPr>
          <p:cNvPr id="353" name="Picture 11" descr=""/>
          <p:cNvPicPr/>
          <p:nvPr/>
        </p:nvPicPr>
        <p:blipFill>
          <a:blip r:embed="rId4"/>
          <a:stretch/>
        </p:blipFill>
        <p:spPr>
          <a:xfrm>
            <a:off x="5181480" y="1079640"/>
            <a:ext cx="2964960" cy="5667120"/>
          </a:xfrm>
          <a:prstGeom prst="rect">
            <a:avLst/>
          </a:prstGeom>
          <a:noFill/>
          <a:ln w="0">
            <a:noFill/>
          </a:ln>
        </p:spPr>
      </p:pic>
      <p:pic>
        <p:nvPicPr>
          <p:cNvPr id="354" name="Picture 12" descr=""/>
          <p:cNvPicPr/>
          <p:nvPr/>
        </p:nvPicPr>
        <p:blipFill>
          <a:blip r:embed="rId5"/>
          <a:stretch/>
        </p:blipFill>
        <p:spPr>
          <a:xfrm>
            <a:off x="5181480" y="1079640"/>
            <a:ext cx="2964960" cy="5667120"/>
          </a:xfrm>
          <a:prstGeom prst="rect">
            <a:avLst/>
          </a:prstGeom>
          <a:noFill/>
          <a:ln w="0">
            <a:noFill/>
          </a:ln>
        </p:spPr>
      </p:pic>
    </p:spTree>
  </p:cSld>
  <p:transition spd="slow">
    <p:wipe dir="r"/>
  </p:transition>
  <p:timing>
    <p:tnLst>
      <p:par>
        <p:cTn id="1174" dur="indefinite" restart="never" nodeType="tmRoot">
          <p:childTnLst>
            <p:seq>
              <p:cTn id="1175" dur="indefinite" nodeType="mainSeq">
                <p:childTnLst>
                  <p:par>
                    <p:cTn id="1176" nodeType="clickEffect" fill="hold">
                      <p:stCondLst>
                        <p:cond delay="indefinite"/>
                      </p:stCondLst>
                      <p:childTnLst>
                        <p:par>
                          <p:cTn id="1177" nodeType="withEffect" fill="hold">
                            <p:stCondLst>
                              <p:cond delay="0"/>
                            </p:stCondLst>
                            <p:childTnLst>
                              <p:par>
                                <p:cTn id="1178" nodeType="clickEffect" fill="hold" presetClass="entr" presetID="22" presetSubtype="8">
                                  <p:stCondLst>
                                    <p:cond delay="0"/>
                                  </p:stCondLst>
                                  <p:childTnLst>
                                    <p:set>
                                      <p:cBhvr>
                                        <p:cTn id="1179" dur="1" fill="hold">
                                          <p:stCondLst>
                                            <p:cond delay="0"/>
                                          </p:stCondLst>
                                        </p:cTn>
                                        <p:tgtEl>
                                          <p:spTgt spid="349">
                                            <p:txEl>
                                              <p:pRg st="1" end="1"/>
                                            </p:txEl>
                                          </p:spTgt>
                                        </p:tgtEl>
                                        <p:attrNameLst>
                                          <p:attrName>style.visibility</p:attrName>
                                        </p:attrNameLst>
                                      </p:cBhvr>
                                      <p:to>
                                        <p:strVal val="visible"/>
                                      </p:to>
                                    </p:set>
                                    <p:animEffect filter="wipe(left)" transition="in">
                                      <p:cBhvr additive="repl">
                                        <p:cTn id="1180" dur="500"/>
                                        <p:tgtEl>
                                          <p:spTgt spid="349">
                                            <p:txEl>
                                              <p:pRg st="1" end="1"/>
                                            </p:txEl>
                                          </p:spTgt>
                                        </p:tgtEl>
                                      </p:cBhvr>
                                    </p:animEffect>
                                  </p:childTnLst>
                                </p:cTn>
                              </p:par>
                              <p:par>
                                <p:cTn id="1181" nodeType="withEffect" fill="hold" presetClass="entr" presetID="22" presetSubtype="8">
                                  <p:stCondLst>
                                    <p:cond delay="0"/>
                                  </p:stCondLst>
                                  <p:childTnLst>
                                    <p:set>
                                      <p:cBhvr>
                                        <p:cTn id="1182" dur="1" fill="hold">
                                          <p:stCondLst>
                                            <p:cond delay="0"/>
                                          </p:stCondLst>
                                        </p:cTn>
                                        <p:tgtEl>
                                          <p:spTgt spid="353"/>
                                        </p:tgtEl>
                                        <p:attrNameLst>
                                          <p:attrName>style.visibility</p:attrName>
                                        </p:attrNameLst>
                                      </p:cBhvr>
                                      <p:to>
                                        <p:strVal val="visible"/>
                                      </p:to>
                                    </p:set>
                                    <p:animEffect filter="wipe(left)" transition="in">
                                      <p:cBhvr additive="repl">
                                        <p:cTn id="1183" dur="1000"/>
                                        <p:tgtEl>
                                          <p:spTgt spid="353"/>
                                        </p:tgtEl>
                                      </p:cBhvr>
                                    </p:animEffect>
                                  </p:childTnLst>
                                </p:cTn>
                              </p:par>
                            </p:childTnLst>
                          </p:cTn>
                        </p:par>
                      </p:childTnLst>
                    </p:cTn>
                  </p:par>
                  <p:par>
                    <p:cTn id="1184" nodeType="clickEffect" fill="hold">
                      <p:stCondLst>
                        <p:cond delay="indefinite"/>
                      </p:stCondLst>
                      <p:childTnLst>
                        <p:par>
                          <p:cTn id="1185" nodeType="withEffect" fill="hold">
                            <p:stCondLst>
                              <p:cond delay="0"/>
                            </p:stCondLst>
                            <p:childTnLst>
                              <p:par>
                                <p:cTn id="1186" nodeType="clickEffect" fill="hold" presetClass="entr" presetID="22" presetSubtype="8">
                                  <p:stCondLst>
                                    <p:cond delay="0"/>
                                  </p:stCondLst>
                                  <p:childTnLst>
                                    <p:set>
                                      <p:cBhvr>
                                        <p:cTn id="1187" dur="1" fill="hold">
                                          <p:stCondLst>
                                            <p:cond delay="0"/>
                                          </p:stCondLst>
                                        </p:cTn>
                                        <p:tgtEl>
                                          <p:spTgt spid="349">
                                            <p:txEl>
                                              <p:pRg st="2" end="2"/>
                                            </p:txEl>
                                          </p:spTgt>
                                        </p:tgtEl>
                                        <p:attrNameLst>
                                          <p:attrName>style.visibility</p:attrName>
                                        </p:attrNameLst>
                                      </p:cBhvr>
                                      <p:to>
                                        <p:strVal val="visible"/>
                                      </p:to>
                                    </p:set>
                                    <p:animEffect filter="wipe(left)" transition="in">
                                      <p:cBhvr additive="repl">
                                        <p:cTn id="1188" dur="500"/>
                                        <p:tgtEl>
                                          <p:spTgt spid="349">
                                            <p:txEl>
                                              <p:pRg st="2" end="2"/>
                                            </p:txEl>
                                          </p:spTgt>
                                        </p:tgtEl>
                                      </p:cBhvr>
                                    </p:animEffect>
                                  </p:childTnLst>
                                </p:cTn>
                              </p:par>
                              <p:par>
                                <p:cTn id="1189" nodeType="withEffect" fill="hold" presetClass="entr" presetID="16" presetSubtype="42">
                                  <p:stCondLst>
                                    <p:cond delay="0"/>
                                  </p:stCondLst>
                                  <p:childTnLst>
                                    <p:set>
                                      <p:cBhvr>
                                        <p:cTn id="1190" dur="1" fill="hold">
                                          <p:stCondLst>
                                            <p:cond delay="0"/>
                                          </p:stCondLst>
                                        </p:cTn>
                                        <p:tgtEl>
                                          <p:spTgt spid="354"/>
                                        </p:tgtEl>
                                        <p:attrNameLst>
                                          <p:attrName>style.visibility</p:attrName>
                                        </p:attrNameLst>
                                      </p:cBhvr>
                                      <p:to>
                                        <p:strVal val="visible"/>
                                      </p:to>
                                    </p:set>
                                    <p:animEffect filter="barn(outHorizontal)" transition="in">
                                      <p:cBhvr additive="repl">
                                        <p:cTn id="1191"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56" name="PlaceHolder 2"/>
          <p:cNvSpPr>
            <a:spLocks noGrp="1"/>
          </p:cNvSpPr>
          <p:nvPr>
            <p:ph/>
          </p:nvPr>
        </p:nvSpPr>
        <p:spPr>
          <a:xfrm>
            <a:off x="360360" y="1440000"/>
            <a:ext cx="44398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At small outputs, </a:t>
            </a:r>
            <a:r>
              <a:rPr b="0" i="1" lang="en-US" sz="2400" strike="noStrike" u="none">
                <a:solidFill>
                  <a:schemeClr val="dk1"/>
                </a:solidFill>
                <a:effectLst/>
                <a:uFillTx/>
                <a:latin typeface="Arial"/>
                <a:ea typeface="ＭＳ Ｐゴシック"/>
              </a:rPr>
              <a:t>MP</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AP</a:t>
            </a:r>
            <a:r>
              <a:rPr b="0" lang="en-US" sz="2400" strike="noStrike" u="none">
                <a:solidFill>
                  <a:schemeClr val="dk1"/>
                </a:solidFill>
                <a:effectLst/>
                <a:uFillTx/>
                <a:latin typeface="Arial"/>
                <a:ea typeface="ＭＳ Ｐゴシック"/>
              </a:rPr>
              <a:t> rise and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fall.</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intermediate outputs, </a:t>
            </a:r>
            <a:r>
              <a:rPr b="0" i="1" lang="en-US" sz="2400" strike="noStrike" u="none">
                <a:solidFill>
                  <a:srgbClr val="000000"/>
                </a:solidFill>
                <a:effectLst/>
                <a:uFillTx/>
                <a:latin typeface="Arial"/>
                <a:ea typeface="ＭＳ Ｐゴシック"/>
              </a:rPr>
              <a:t>MP</a:t>
            </a:r>
            <a:r>
              <a:rPr b="0" lang="en-US" sz="2400" strike="noStrike" u="none">
                <a:solidFill>
                  <a:srgbClr val="000000"/>
                </a:solidFill>
                <a:effectLst/>
                <a:uFillTx/>
                <a:latin typeface="Arial"/>
                <a:ea typeface="ＭＳ Ｐゴシック"/>
              </a:rPr>
              <a:t> falls and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rises and </a:t>
            </a:r>
            <a:r>
              <a:rPr b="0" i="1" lang="en-US" sz="2400" strike="noStrike" u="none">
                <a:solidFill>
                  <a:srgbClr val="000000"/>
                </a:solidFill>
                <a:effectLst/>
                <a:uFillTx/>
                <a:latin typeface="Arial"/>
                <a:ea typeface="ＭＳ Ｐゴシック"/>
              </a:rPr>
              <a:t>AP</a:t>
            </a:r>
            <a:r>
              <a:rPr b="0" lang="en-US" sz="2400" strike="noStrike" u="none">
                <a:solidFill>
                  <a:srgbClr val="000000"/>
                </a:solidFill>
                <a:effectLst/>
                <a:uFillTx/>
                <a:latin typeface="Arial"/>
                <a:ea typeface="ＭＳ Ｐゴシック"/>
              </a:rPr>
              <a:t> rises and </a:t>
            </a:r>
            <a:r>
              <a:rPr b="0" i="1" lang="en-US" sz="2400" strike="noStrike" u="none">
                <a:solidFill>
                  <a:srgbClr val="000000"/>
                </a:solidFill>
                <a:effectLst/>
                <a:uFillTx/>
                <a:latin typeface="Arial"/>
                <a:ea typeface="ＭＳ Ｐゴシック"/>
              </a:rPr>
              <a:t>AVC</a:t>
            </a:r>
            <a:r>
              <a:rPr b="0" lang="en-US" sz="2400" strike="noStrike" u="none">
                <a:solidFill>
                  <a:srgbClr val="000000"/>
                </a:solidFill>
                <a:effectLst/>
                <a:uFillTx/>
                <a:latin typeface="Arial"/>
                <a:ea typeface="ＭＳ Ｐゴシック"/>
              </a:rPr>
              <a:t> falls.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large outputs, </a:t>
            </a:r>
            <a:r>
              <a:rPr b="0" i="1" lang="en-US" sz="2400" strike="noStrike" u="none">
                <a:solidFill>
                  <a:srgbClr val="000000"/>
                </a:solidFill>
                <a:effectLst/>
                <a:uFillTx/>
                <a:latin typeface="Arial"/>
                <a:ea typeface="ＭＳ Ｐゴシック"/>
              </a:rPr>
              <a:t>MP</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AP</a:t>
            </a:r>
            <a:r>
              <a:rPr b="0" lang="en-US" sz="2400" strike="noStrike" u="none">
                <a:solidFill>
                  <a:srgbClr val="000000"/>
                </a:solidFill>
                <a:effectLst/>
                <a:uFillTx/>
                <a:latin typeface="Arial"/>
                <a:ea typeface="ＭＳ Ｐゴシック"/>
              </a:rPr>
              <a:t> fall and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and </a:t>
            </a:r>
            <a:r>
              <a:rPr b="0" i="1" lang="en-US" sz="2400" strike="noStrike" u="none">
                <a:solidFill>
                  <a:srgbClr val="000000"/>
                </a:solidFill>
                <a:effectLst/>
                <a:uFillTx/>
                <a:latin typeface="Arial"/>
                <a:ea typeface="ＭＳ Ｐゴシック"/>
              </a:rPr>
              <a:t>AVC</a:t>
            </a:r>
            <a:r>
              <a:rPr b="0" lang="en-US" sz="2400" strike="noStrike" u="none">
                <a:solidFill>
                  <a:srgbClr val="000000"/>
                </a:solidFill>
                <a:effectLst/>
                <a:uFillTx/>
                <a:latin typeface="Arial"/>
                <a:ea typeface="ＭＳ Ｐゴシック"/>
              </a:rPr>
              <a:t> rise.</a:t>
            </a:r>
            <a:endParaRPr b="1" lang="en-CA" sz="2400" strike="noStrike" u="none">
              <a:solidFill>
                <a:srgbClr val="00468f"/>
              </a:solidFill>
              <a:effectLst/>
              <a:uFillTx/>
              <a:latin typeface="Arial"/>
            </a:endParaRPr>
          </a:p>
        </p:txBody>
      </p:sp>
      <p:pic>
        <p:nvPicPr>
          <p:cNvPr id="357" name="Picture 11" descr=""/>
          <p:cNvPicPr/>
          <p:nvPr/>
        </p:nvPicPr>
        <p:blipFill>
          <a:blip r:embed="rId1"/>
          <a:stretch/>
        </p:blipFill>
        <p:spPr>
          <a:xfrm>
            <a:off x="5181480" y="1079640"/>
            <a:ext cx="2964960" cy="5667120"/>
          </a:xfrm>
          <a:prstGeom prst="rect">
            <a:avLst/>
          </a:prstGeom>
          <a:noFill/>
          <a:ln w="0">
            <a:noFill/>
          </a:ln>
        </p:spPr>
      </p:pic>
      <p:pic>
        <p:nvPicPr>
          <p:cNvPr id="358" name="Picture 12" descr=""/>
          <p:cNvPicPr/>
          <p:nvPr/>
        </p:nvPicPr>
        <p:blipFill>
          <a:blip r:embed="rId2"/>
          <a:stretch/>
        </p:blipFill>
        <p:spPr>
          <a:xfrm>
            <a:off x="5181480" y="1079640"/>
            <a:ext cx="2964960" cy="5667120"/>
          </a:xfrm>
          <a:prstGeom prst="rect">
            <a:avLst/>
          </a:prstGeom>
          <a:noFill/>
          <a:ln w="0">
            <a:noFill/>
          </a:ln>
        </p:spPr>
      </p:pic>
      <p:pic>
        <p:nvPicPr>
          <p:cNvPr id="359" name="Picture 13" descr=""/>
          <p:cNvPicPr/>
          <p:nvPr/>
        </p:nvPicPr>
        <p:blipFill>
          <a:blip r:embed="rId3"/>
          <a:stretch/>
        </p:blipFill>
        <p:spPr>
          <a:xfrm>
            <a:off x="5181480" y="1079640"/>
            <a:ext cx="2964960" cy="5667120"/>
          </a:xfrm>
          <a:prstGeom prst="rect">
            <a:avLst/>
          </a:prstGeom>
          <a:noFill/>
          <a:ln w="0">
            <a:noFill/>
          </a:ln>
        </p:spPr>
      </p:pic>
      <p:pic>
        <p:nvPicPr>
          <p:cNvPr id="360" name="Picture 14" descr=""/>
          <p:cNvPicPr/>
          <p:nvPr/>
        </p:nvPicPr>
        <p:blipFill>
          <a:blip r:embed="rId4"/>
          <a:stretch/>
        </p:blipFill>
        <p:spPr>
          <a:xfrm>
            <a:off x="5181480" y="1079640"/>
            <a:ext cx="2964960" cy="5667120"/>
          </a:xfrm>
          <a:prstGeom prst="rect">
            <a:avLst/>
          </a:prstGeom>
          <a:noFill/>
          <a:ln w="0">
            <a:noFill/>
          </a:ln>
        </p:spPr>
      </p:pic>
      <p:pic>
        <p:nvPicPr>
          <p:cNvPr id="361" name="Picture 15" descr=""/>
          <p:cNvPicPr/>
          <p:nvPr/>
        </p:nvPicPr>
        <p:blipFill>
          <a:blip r:embed="rId5"/>
          <a:stretch/>
        </p:blipFill>
        <p:spPr>
          <a:xfrm>
            <a:off x="5181480" y="1079640"/>
            <a:ext cx="2964960" cy="5667120"/>
          </a:xfrm>
          <a:prstGeom prst="rect">
            <a:avLst/>
          </a:prstGeom>
          <a:noFill/>
          <a:ln w="0">
            <a:noFill/>
          </a:ln>
        </p:spPr>
      </p:pic>
      <p:pic>
        <p:nvPicPr>
          <p:cNvPr id="362" name="Picture 16" descr=""/>
          <p:cNvPicPr/>
          <p:nvPr/>
        </p:nvPicPr>
        <p:blipFill>
          <a:blip r:embed="rId6"/>
          <a:stretch/>
        </p:blipFill>
        <p:spPr>
          <a:xfrm>
            <a:off x="5181480" y="1079640"/>
            <a:ext cx="2964960" cy="5667120"/>
          </a:xfrm>
          <a:prstGeom prst="rect">
            <a:avLst/>
          </a:prstGeom>
          <a:noFill/>
          <a:ln w="0">
            <a:noFill/>
          </a:ln>
        </p:spPr>
      </p:pic>
      <p:pic>
        <p:nvPicPr>
          <p:cNvPr id="363" name="Picture 17" descr=""/>
          <p:cNvPicPr/>
          <p:nvPr/>
        </p:nvPicPr>
        <p:blipFill>
          <a:blip r:embed="rId7"/>
          <a:stretch/>
        </p:blipFill>
        <p:spPr>
          <a:xfrm>
            <a:off x="5181480" y="1079640"/>
            <a:ext cx="2964960" cy="5667120"/>
          </a:xfrm>
          <a:prstGeom prst="rect">
            <a:avLst/>
          </a:prstGeom>
          <a:noFill/>
          <a:ln w="0">
            <a:noFill/>
          </a:ln>
        </p:spPr>
      </p:pic>
      <p:pic>
        <p:nvPicPr>
          <p:cNvPr id="364" name="Picture 18" descr=""/>
          <p:cNvPicPr/>
          <p:nvPr/>
        </p:nvPicPr>
        <p:blipFill>
          <a:blip r:embed="rId8"/>
          <a:stretch/>
        </p:blipFill>
        <p:spPr>
          <a:xfrm>
            <a:off x="5181480" y="1079640"/>
            <a:ext cx="2964960" cy="5667120"/>
          </a:xfrm>
          <a:prstGeom prst="rect">
            <a:avLst/>
          </a:prstGeom>
          <a:noFill/>
          <a:ln w="0">
            <a:noFill/>
          </a:ln>
        </p:spPr>
      </p:pic>
    </p:spTree>
  </p:cSld>
  <p:transition spd="slow">
    <p:wipe dir="r"/>
  </p:transition>
  <p:timing>
    <p:tnLst>
      <p:par>
        <p:cTn id="1192" dur="indefinite" restart="never" nodeType="tmRoot">
          <p:childTnLst>
            <p:seq>
              <p:cTn id="1193" dur="indefinite" nodeType="mainSeq">
                <p:childTnLst>
                  <p:par>
                    <p:cTn id="1194" nodeType="clickEffect" fill="hold">
                      <p:stCondLst>
                        <p:cond delay="0"/>
                      </p:stCondLst>
                      <p:childTnLst>
                        <p:par>
                          <p:cTn id="1195" nodeType="withEffect" fill="hold">
                            <p:stCondLst>
                              <p:cond delay="0"/>
                            </p:stCondLst>
                            <p:childTnLst>
                              <p:par>
                                <p:cTn id="1196" nodeType="withEffect" fill="hold" presetClass="entr" presetID="10">
                                  <p:stCondLst>
                                    <p:cond delay="0"/>
                                  </p:stCondLst>
                                  <p:childTnLst>
                                    <p:set>
                                      <p:cBhvr>
                                        <p:cTn id="1197" dur="1" fill="hold">
                                          <p:stCondLst>
                                            <p:cond delay="0"/>
                                          </p:stCondLst>
                                        </p:cTn>
                                        <p:tgtEl>
                                          <p:spTgt spid="362"/>
                                        </p:tgtEl>
                                        <p:attrNameLst>
                                          <p:attrName>style.visibility</p:attrName>
                                        </p:attrNameLst>
                                      </p:cBhvr>
                                      <p:to>
                                        <p:strVal val="visible"/>
                                      </p:to>
                                    </p:set>
                                    <p:animEffect filter="fade" transition="in">
                                      <p:cBhvr additive="repl">
                                        <p:cTn id="1198" dur="500"/>
                                        <p:tgtEl>
                                          <p:spTgt spid="362"/>
                                        </p:tgtEl>
                                      </p:cBhvr>
                                    </p:animEffect>
                                  </p:childTnLst>
                                </p:cTn>
                              </p:par>
                            </p:childTnLst>
                          </p:cTn>
                        </p:par>
                      </p:childTnLst>
                    </p:cTn>
                  </p:par>
                  <p:par>
                    <p:cTn id="1199" nodeType="clickEffect" fill="hold">
                      <p:stCondLst>
                        <p:cond delay="indefinite"/>
                      </p:stCondLst>
                      <p:childTnLst>
                        <p:par>
                          <p:cTn id="1200" nodeType="withEffect" fill="hold">
                            <p:stCondLst>
                              <p:cond delay="0"/>
                            </p:stCondLst>
                            <p:childTnLst>
                              <p:par>
                                <p:cTn id="1201" nodeType="clickEffect" fill="hold" presetClass="entr" presetID="22" presetSubtype="8">
                                  <p:stCondLst>
                                    <p:cond delay="0"/>
                                  </p:stCondLst>
                                  <p:childTnLst>
                                    <p:set>
                                      <p:cBhvr>
                                        <p:cTn id="1202" dur="1" fill="hold">
                                          <p:stCondLst>
                                            <p:cond delay="0"/>
                                          </p:stCondLst>
                                        </p:cTn>
                                        <p:tgtEl>
                                          <p:spTgt spid="356">
                                            <p:txEl>
                                              <p:pRg st="1" end="1"/>
                                            </p:txEl>
                                          </p:spTgt>
                                        </p:tgtEl>
                                        <p:attrNameLst>
                                          <p:attrName>style.visibility</p:attrName>
                                        </p:attrNameLst>
                                      </p:cBhvr>
                                      <p:to>
                                        <p:strVal val="visible"/>
                                      </p:to>
                                    </p:set>
                                    <p:animEffect filter="wipe(left)" transition="in">
                                      <p:cBhvr additive="repl">
                                        <p:cTn id="1203" dur="500"/>
                                        <p:tgtEl>
                                          <p:spTgt spid="356">
                                            <p:txEl>
                                              <p:pRg st="1" end="1"/>
                                            </p:txEl>
                                          </p:spTgt>
                                        </p:tgtEl>
                                      </p:cBhvr>
                                    </p:animEffect>
                                  </p:childTnLst>
                                </p:cTn>
                              </p:par>
                              <p:par>
                                <p:cTn id="1204" nodeType="withEffect" fill="hold" presetClass="entr" presetID="10">
                                  <p:stCondLst>
                                    <p:cond delay="0"/>
                                  </p:stCondLst>
                                  <p:childTnLst>
                                    <p:set>
                                      <p:cBhvr>
                                        <p:cTn id="1205" dur="1" fill="hold">
                                          <p:stCondLst>
                                            <p:cond delay="0"/>
                                          </p:stCondLst>
                                        </p:cTn>
                                        <p:tgtEl>
                                          <p:spTgt spid="363"/>
                                        </p:tgtEl>
                                        <p:attrNameLst>
                                          <p:attrName>style.visibility</p:attrName>
                                        </p:attrNameLst>
                                      </p:cBhvr>
                                      <p:to>
                                        <p:strVal val="visible"/>
                                      </p:to>
                                    </p:set>
                                    <p:animEffect filter="fade" transition="in">
                                      <p:cBhvr additive="repl">
                                        <p:cTn id="1206" dur="500"/>
                                        <p:tgtEl>
                                          <p:spTgt spid="363"/>
                                        </p:tgtEl>
                                      </p:cBhvr>
                                    </p:animEffect>
                                  </p:childTnLst>
                                </p:cTn>
                              </p:par>
                            </p:childTnLst>
                          </p:cTn>
                        </p:par>
                      </p:childTnLst>
                    </p:cTn>
                  </p:par>
                  <p:par>
                    <p:cTn id="1207" nodeType="clickEffect" fill="hold">
                      <p:stCondLst>
                        <p:cond delay="indefinite"/>
                      </p:stCondLst>
                      <p:childTnLst>
                        <p:par>
                          <p:cTn id="1208" nodeType="withEffect" fill="hold">
                            <p:stCondLst>
                              <p:cond delay="0"/>
                            </p:stCondLst>
                            <p:childTnLst>
                              <p:par>
                                <p:cTn id="1209" nodeType="clickEffect" fill="hold" presetClass="entr" presetID="22" presetSubtype="8">
                                  <p:stCondLst>
                                    <p:cond delay="0"/>
                                  </p:stCondLst>
                                  <p:childTnLst>
                                    <p:set>
                                      <p:cBhvr>
                                        <p:cTn id="1210" dur="1" fill="hold">
                                          <p:stCondLst>
                                            <p:cond delay="0"/>
                                          </p:stCondLst>
                                        </p:cTn>
                                        <p:tgtEl>
                                          <p:spTgt spid="356">
                                            <p:txEl>
                                              <p:pRg st="2" end="2"/>
                                            </p:txEl>
                                          </p:spTgt>
                                        </p:tgtEl>
                                        <p:attrNameLst>
                                          <p:attrName>style.visibility</p:attrName>
                                        </p:attrNameLst>
                                      </p:cBhvr>
                                      <p:to>
                                        <p:strVal val="visible"/>
                                      </p:to>
                                    </p:set>
                                    <p:animEffect filter="wipe(left)" transition="in">
                                      <p:cBhvr additive="repl">
                                        <p:cTn id="1211" dur="500"/>
                                        <p:tgtEl>
                                          <p:spTgt spid="356">
                                            <p:txEl>
                                              <p:pRg st="2" end="2"/>
                                            </p:txEl>
                                          </p:spTgt>
                                        </p:tgtEl>
                                      </p:cBhvr>
                                    </p:animEffect>
                                  </p:childTnLst>
                                </p:cTn>
                              </p:par>
                              <p:par>
                                <p:cTn id="1212" nodeType="withEffect" fill="hold" presetClass="entr" presetID="10">
                                  <p:stCondLst>
                                    <p:cond delay="0"/>
                                  </p:stCondLst>
                                  <p:childTnLst>
                                    <p:set>
                                      <p:cBhvr>
                                        <p:cTn id="1213" dur="1" fill="hold">
                                          <p:stCondLst>
                                            <p:cond delay="0"/>
                                          </p:stCondLst>
                                        </p:cTn>
                                        <p:tgtEl>
                                          <p:spTgt spid="364"/>
                                        </p:tgtEl>
                                        <p:attrNameLst>
                                          <p:attrName>style.visibility</p:attrName>
                                        </p:attrNameLst>
                                      </p:cBhvr>
                                      <p:to>
                                        <p:strVal val="visible"/>
                                      </p:to>
                                    </p:set>
                                    <p:animEffect filter="fade" transition="in">
                                      <p:cBhvr additive="repl">
                                        <p:cTn id="1214"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6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Shifts in the Cost Curves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Technology</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technological change that increases productivity shifts the </a:t>
            </a:r>
            <a:r>
              <a:rPr b="0" i="1" lang="en-US" sz="2400" strike="noStrike" u="none">
                <a:solidFill>
                  <a:schemeClr val="dk1"/>
                </a:solidFill>
                <a:effectLst/>
                <a:uFillTx/>
                <a:latin typeface="Arial"/>
                <a:ea typeface="ＭＳ Ｐゴシック"/>
              </a:rPr>
              <a:t>TP</a:t>
            </a:r>
            <a:r>
              <a:rPr b="0" lang="en-US" sz="2400" strike="noStrike" u="none">
                <a:solidFill>
                  <a:schemeClr val="dk1"/>
                </a:solidFill>
                <a:effectLst/>
                <a:uFillTx/>
                <a:latin typeface="Arial"/>
                <a:ea typeface="ＭＳ Ｐゴシック"/>
              </a:rPr>
              <a:t> curve upward. It also shifts the </a:t>
            </a:r>
            <a:r>
              <a:rPr b="0" i="1" lang="en-US" sz="2400" strike="noStrike" u="none">
                <a:solidFill>
                  <a:schemeClr val="dk1"/>
                </a:solidFill>
                <a:effectLst/>
                <a:uFillTx/>
                <a:latin typeface="Arial"/>
                <a:ea typeface="ＭＳ Ｐゴシック"/>
              </a:rPr>
              <a:t>MP</a:t>
            </a:r>
            <a:r>
              <a:rPr b="0" lang="en-US" sz="2400" strike="noStrike" u="none">
                <a:solidFill>
                  <a:schemeClr val="dk1"/>
                </a:solidFill>
                <a:effectLst/>
                <a:uFillTx/>
                <a:latin typeface="Arial"/>
                <a:ea typeface="ＭＳ Ｐゴシック"/>
              </a:rPr>
              <a:t> curve and the </a:t>
            </a:r>
            <a:r>
              <a:rPr b="0" i="1" lang="en-US" sz="2400" strike="noStrike" u="none">
                <a:solidFill>
                  <a:schemeClr val="dk1"/>
                </a:solidFill>
                <a:effectLst/>
                <a:uFillTx/>
                <a:latin typeface="Arial"/>
                <a:ea typeface="ＭＳ Ｐゴシック"/>
              </a:rPr>
              <a:t>AP</a:t>
            </a:r>
            <a:r>
              <a:rPr b="0" lang="en-US" sz="2400" strike="noStrike" u="none">
                <a:solidFill>
                  <a:schemeClr val="dk1"/>
                </a:solidFill>
                <a:effectLst/>
                <a:uFillTx/>
                <a:latin typeface="Arial"/>
                <a:ea typeface="ＭＳ Ｐゴシック"/>
              </a:rPr>
              <a:t> curve upward.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With a better technology, the same inputs can produce more output, so an advance in technology lowers the average and marginal costs and shifts the short-run cost curves downward.</a:t>
            </a:r>
            <a:endParaRPr b="1" lang="en-CA" sz="2400" strike="noStrike" u="none">
              <a:solidFill>
                <a:srgbClr val="00468f"/>
              </a:solidFill>
              <a:effectLst/>
              <a:uFillTx/>
              <a:latin typeface="Arial"/>
            </a:endParaRPr>
          </a:p>
        </p:txBody>
      </p:sp>
    </p:spTree>
  </p:cSld>
  <p:transition spd="slow">
    <p:wipe dir="r"/>
  </p:transition>
  <p:timing>
    <p:tnLst>
      <p:par>
        <p:cTn id="1215" dur="indefinite" restart="never" nodeType="tmRoot">
          <p:childTnLst>
            <p:seq>
              <p:cTn id="1216" dur="indefinite" nodeType="mainSeq">
                <p:childTnLst>
                  <p:par>
                    <p:cTn id="1217" nodeType="clickEffect" fill="hold">
                      <p:stCondLst>
                        <p:cond delay="indefinite"/>
                      </p:stCondLst>
                      <p:childTnLst>
                        <p:par>
                          <p:cTn id="1218" nodeType="withEffect" fill="hold">
                            <p:stCondLst>
                              <p:cond delay="0"/>
                            </p:stCondLst>
                            <p:childTnLst>
                              <p:par>
                                <p:cTn id="1219" nodeType="clickEffect" fill="hold" presetClass="entr" presetID="22" presetSubtype="8">
                                  <p:stCondLst>
                                    <p:cond delay="0"/>
                                  </p:stCondLst>
                                  <p:childTnLst>
                                    <p:set>
                                      <p:cBhvr>
                                        <p:cTn id="1220" dur="1" fill="hold">
                                          <p:stCondLst>
                                            <p:cond delay="0"/>
                                          </p:stCondLst>
                                        </p:cTn>
                                        <p:tgtEl>
                                          <p:spTgt spid="366">
                                            <p:txEl>
                                              <p:pRg st="1" end="1"/>
                                            </p:txEl>
                                          </p:spTgt>
                                        </p:tgtEl>
                                        <p:attrNameLst>
                                          <p:attrName>style.visibility</p:attrName>
                                        </p:attrNameLst>
                                      </p:cBhvr>
                                      <p:to>
                                        <p:strVal val="visible"/>
                                      </p:to>
                                    </p:set>
                                    <p:animEffect filter="wipe(left)" transition="in">
                                      <p:cBhvr additive="repl">
                                        <p:cTn id="1221" dur="500"/>
                                        <p:tgtEl>
                                          <p:spTgt spid="366">
                                            <p:txEl>
                                              <p:pRg st="1" end="1"/>
                                            </p:txEl>
                                          </p:spTgt>
                                        </p:tgtEl>
                                      </p:cBhvr>
                                    </p:animEffect>
                                  </p:childTnLst>
                                </p:cTn>
                              </p:par>
                            </p:childTnLst>
                          </p:cTn>
                        </p:par>
                      </p:childTnLst>
                    </p:cTn>
                  </p:par>
                  <p:par>
                    <p:cTn id="1222" nodeType="clickEffect" fill="hold">
                      <p:stCondLst>
                        <p:cond delay="indefinite"/>
                      </p:stCondLst>
                      <p:childTnLst>
                        <p:par>
                          <p:cTn id="1223" nodeType="withEffect" fill="hold">
                            <p:stCondLst>
                              <p:cond delay="0"/>
                            </p:stCondLst>
                            <p:childTnLst>
                              <p:par>
                                <p:cTn id="1224" nodeType="clickEffect" fill="hold" presetClass="entr" presetID="22" presetSubtype="8">
                                  <p:stCondLst>
                                    <p:cond delay="0"/>
                                  </p:stCondLst>
                                  <p:childTnLst>
                                    <p:set>
                                      <p:cBhvr>
                                        <p:cTn id="1225" dur="1" fill="hold">
                                          <p:stCondLst>
                                            <p:cond delay="0"/>
                                          </p:stCondLst>
                                        </p:cTn>
                                        <p:tgtEl>
                                          <p:spTgt spid="366">
                                            <p:txEl>
                                              <p:pRg st="2" end="2"/>
                                            </p:txEl>
                                          </p:spTgt>
                                        </p:tgtEl>
                                        <p:attrNameLst>
                                          <p:attrName>style.visibility</p:attrName>
                                        </p:attrNameLst>
                                      </p:cBhvr>
                                      <p:to>
                                        <p:strVal val="visible"/>
                                      </p:to>
                                    </p:set>
                                    <p:animEffect filter="wipe(left)" transition="in">
                                      <p:cBhvr additive="repl">
                                        <p:cTn id="1226" dur="500"/>
                                        <p:tgtEl>
                                          <p:spTgt spid="366">
                                            <p:txEl>
                                              <p:pRg st="2" end="2"/>
                                            </p:txEl>
                                          </p:spTgt>
                                        </p:tgtEl>
                                      </p:cBhvr>
                                    </p:animEffect>
                                  </p:childTnLst>
                                </p:cTn>
                              </p:par>
                            </p:childTnLst>
                          </p:cTn>
                        </p:par>
                      </p:childTnLst>
                    </p:cTn>
                  </p:par>
                  <p:par>
                    <p:cTn id="1227" nodeType="clickEffect" fill="hold">
                      <p:stCondLst>
                        <p:cond delay="indefinite"/>
                      </p:stCondLst>
                      <p:childTnLst>
                        <p:par>
                          <p:cTn id="1228" nodeType="withEffect" fill="hold">
                            <p:stCondLst>
                              <p:cond delay="0"/>
                            </p:stCondLst>
                            <p:childTnLst>
                              <p:par>
                                <p:cTn id="1229" nodeType="clickEffect" fill="hold" presetClass="entr" presetID="22" presetSubtype="8">
                                  <p:stCondLst>
                                    <p:cond delay="0"/>
                                  </p:stCondLst>
                                  <p:childTnLst>
                                    <p:set>
                                      <p:cBhvr>
                                        <p:cTn id="1230" dur="1" fill="hold">
                                          <p:stCondLst>
                                            <p:cond delay="0"/>
                                          </p:stCondLst>
                                        </p:cTn>
                                        <p:tgtEl>
                                          <p:spTgt spid="366">
                                            <p:txEl>
                                              <p:pRg st="3" end="3"/>
                                            </p:txEl>
                                          </p:spTgt>
                                        </p:tgtEl>
                                        <p:attrNameLst>
                                          <p:attrName>style.visibility</p:attrName>
                                        </p:attrNameLst>
                                      </p:cBhvr>
                                      <p:to>
                                        <p:strVal val="visible"/>
                                      </p:to>
                                    </p:set>
                                    <p:animEffect filter="wipe(left)" transition="in">
                                      <p:cBhvr additive="repl">
                                        <p:cTn id="1231" dur="500"/>
                                        <p:tgtEl>
                                          <p:spTgt spid="36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6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Prices of Factors of Production</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 increase in the price of a factor of production increases costs and shifts the cost curves.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how the curves shift depends on which resource price changes.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 increase in rent or another component of </a:t>
            </a:r>
            <a:r>
              <a:rPr b="0" i="1" lang="en-US" sz="2400" strike="noStrike" u="none">
                <a:solidFill>
                  <a:schemeClr val="dk1"/>
                </a:solidFill>
                <a:effectLst/>
                <a:uFillTx/>
                <a:latin typeface="Arial"/>
                <a:ea typeface="ＭＳ Ｐゴシック"/>
              </a:rPr>
              <a:t>fixed </a:t>
            </a:r>
            <a:r>
              <a:rPr b="0" lang="en-US" sz="2400" strike="noStrike" u="none">
                <a:solidFill>
                  <a:schemeClr val="dk1"/>
                </a:solidFill>
                <a:effectLst/>
                <a:uFillTx/>
                <a:latin typeface="Arial"/>
                <a:ea typeface="ＭＳ Ｐゴシック"/>
              </a:rPr>
              <a:t>cost</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Shifts the fixed cost curves (</a:t>
            </a:r>
            <a:r>
              <a:rPr b="0" i="1" lang="en-US" sz="2400" strike="noStrike" u="none">
                <a:solidFill>
                  <a:schemeClr val="dk1"/>
                </a:solidFill>
                <a:effectLst/>
                <a:uFillTx/>
                <a:latin typeface="Arial"/>
                <a:ea typeface="ＭＳ Ｐゴシック"/>
              </a:rPr>
              <a:t>TFC </a:t>
            </a:r>
            <a:r>
              <a:rPr b="0" lang="en-US" sz="2400" strike="noStrike" u="none">
                <a:solidFill>
                  <a:schemeClr val="dk1"/>
                </a:solidFill>
                <a:effectLst/>
                <a:uFillTx/>
                <a:latin typeface="Arial"/>
                <a:ea typeface="ＭＳ Ｐゴシック"/>
              </a:rPr>
              <a:t>and </a:t>
            </a:r>
            <a:r>
              <a:rPr b="0" i="1" lang="en-US" sz="2400" strike="noStrike" u="none">
                <a:solidFill>
                  <a:schemeClr val="dk1"/>
                </a:solidFill>
                <a:effectLst/>
                <a:uFillTx/>
                <a:latin typeface="Arial"/>
                <a:ea typeface="ＭＳ Ｐゴシック"/>
              </a:rPr>
              <a:t>AFC</a:t>
            </a:r>
            <a:r>
              <a:rPr b="0" lang="en-US" sz="2400" strike="noStrike" u="none">
                <a:solidFill>
                  <a:schemeClr val="dk1"/>
                </a:solidFill>
                <a:effectLst/>
                <a:uFillTx/>
                <a:latin typeface="Arial"/>
                <a:ea typeface="ＭＳ Ｐゴシック"/>
              </a:rPr>
              <a:t>) upward.</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Shifts the total cost curve (</a:t>
            </a:r>
            <a:r>
              <a:rPr b="0" i="1" lang="en-US" sz="2400" strike="noStrike" u="none">
                <a:solidFill>
                  <a:schemeClr val="dk1"/>
                </a:solidFill>
                <a:effectLst/>
                <a:uFillTx/>
                <a:latin typeface="Arial"/>
                <a:ea typeface="ＭＳ Ｐゴシック"/>
              </a:rPr>
              <a:t>TC</a:t>
            </a:r>
            <a:r>
              <a:rPr b="0" lang="en-US" sz="2400" strike="noStrike" u="none">
                <a:solidFill>
                  <a:schemeClr val="dk1"/>
                </a:solidFill>
                <a:effectLst/>
                <a:uFillTx/>
                <a:latin typeface="Arial"/>
                <a:ea typeface="ＭＳ Ｐゴシック"/>
              </a:rPr>
              <a:t>) upward.</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Leaves the variable cost curves (</a:t>
            </a:r>
            <a:r>
              <a:rPr b="0" i="1" lang="en-US" sz="2400" strike="noStrike" u="none">
                <a:solidFill>
                  <a:schemeClr val="dk1"/>
                </a:solidFill>
                <a:effectLst/>
                <a:uFillTx/>
                <a:latin typeface="Arial"/>
                <a:ea typeface="ＭＳ Ｐゴシック"/>
              </a:rPr>
              <a:t>AVC </a:t>
            </a:r>
            <a:r>
              <a:rPr b="0" lang="en-US" sz="2400" strike="noStrike" u="none">
                <a:solidFill>
                  <a:schemeClr val="dk1"/>
                </a:solidFill>
                <a:effectLst/>
                <a:uFillTx/>
                <a:latin typeface="Arial"/>
                <a:ea typeface="ＭＳ Ｐゴシック"/>
              </a:rPr>
              <a:t>and </a:t>
            </a:r>
            <a:r>
              <a:rPr b="0" i="1" lang="en-US" sz="2400" strike="noStrike" u="none">
                <a:solidFill>
                  <a:schemeClr val="dk1"/>
                </a:solidFill>
                <a:effectLst/>
                <a:uFillTx/>
                <a:latin typeface="Arial"/>
                <a:ea typeface="ＭＳ Ｐゴシック"/>
              </a:rPr>
              <a:t>TVC</a:t>
            </a:r>
            <a:r>
              <a:rPr b="0" lang="en-US" sz="2400" strike="noStrike" u="none">
                <a:solidFill>
                  <a:schemeClr val="dk1"/>
                </a:solidFill>
                <a:effectLst/>
                <a:uFillTx/>
                <a:latin typeface="Arial"/>
                <a:ea typeface="ＭＳ Ｐゴシック"/>
              </a:rPr>
              <a:t>) and the marginal cost curve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unchanged</a:t>
            </a:r>
            <a:r>
              <a:rPr b="0" lang="en-US" sz="2000" strike="noStrike" u="none">
                <a:solidFill>
                  <a:schemeClr val="dk1"/>
                </a:solidFill>
                <a:effectLst/>
                <a:uFillTx/>
                <a:latin typeface="Arial"/>
                <a:ea typeface="ＭＳ Ｐゴシック"/>
              </a:rPr>
              <a:t>. </a:t>
            </a:r>
            <a:endParaRPr b="0" lang="en-CA" sz="2000" strike="noStrike" u="none">
              <a:solidFill>
                <a:schemeClr val="dk1"/>
              </a:solidFill>
              <a:effectLst/>
              <a:uFillTx/>
              <a:latin typeface="Arial"/>
            </a:endParaRPr>
          </a:p>
        </p:txBody>
      </p:sp>
    </p:spTree>
  </p:cSld>
  <p:transition spd="slow">
    <p:wipe dir="r"/>
  </p:transition>
  <p:timing>
    <p:tnLst>
      <p:par>
        <p:cTn id="1232" dur="indefinite" restart="never" nodeType="tmRoot">
          <p:childTnLst>
            <p:seq>
              <p:cTn id="1233" dur="indefinite" nodeType="mainSeq">
                <p:childTnLst>
                  <p:par>
                    <p:cTn id="1234" nodeType="clickEffect" fill="hold">
                      <p:stCondLst>
                        <p:cond delay="indefinite"/>
                      </p:stCondLst>
                      <p:childTnLst>
                        <p:par>
                          <p:cTn id="1235" nodeType="withEffect" fill="hold">
                            <p:stCondLst>
                              <p:cond delay="0"/>
                            </p:stCondLst>
                            <p:childTnLst>
                              <p:par>
                                <p:cTn id="1236" nodeType="clickEffect" fill="hold" presetClass="entr" presetID="22" presetSubtype="8">
                                  <p:stCondLst>
                                    <p:cond delay="0"/>
                                  </p:stCondLst>
                                  <p:childTnLst>
                                    <p:set>
                                      <p:cBhvr>
                                        <p:cTn id="1237" dur="1" fill="hold">
                                          <p:stCondLst>
                                            <p:cond delay="0"/>
                                          </p:stCondLst>
                                        </p:cTn>
                                        <p:tgtEl>
                                          <p:spTgt spid="368">
                                            <p:txEl>
                                              <p:pRg st="1" end="1"/>
                                            </p:txEl>
                                          </p:spTgt>
                                        </p:tgtEl>
                                        <p:attrNameLst>
                                          <p:attrName>style.visibility</p:attrName>
                                        </p:attrNameLst>
                                      </p:cBhvr>
                                      <p:to>
                                        <p:strVal val="visible"/>
                                      </p:to>
                                    </p:set>
                                    <p:animEffect filter="wipe(left)" transition="in">
                                      <p:cBhvr additive="repl">
                                        <p:cTn id="1238" dur="500"/>
                                        <p:tgtEl>
                                          <p:spTgt spid="368">
                                            <p:txEl>
                                              <p:pRg st="1" end="1"/>
                                            </p:txEl>
                                          </p:spTgt>
                                        </p:tgtEl>
                                      </p:cBhvr>
                                    </p:animEffect>
                                  </p:childTnLst>
                                </p:cTn>
                              </p:par>
                            </p:childTnLst>
                          </p:cTn>
                        </p:par>
                      </p:childTnLst>
                    </p:cTn>
                  </p:par>
                  <p:par>
                    <p:cTn id="1239" nodeType="clickEffect" fill="hold">
                      <p:stCondLst>
                        <p:cond delay="indefinite"/>
                      </p:stCondLst>
                      <p:childTnLst>
                        <p:par>
                          <p:cTn id="1240" nodeType="withEffect" fill="hold">
                            <p:stCondLst>
                              <p:cond delay="0"/>
                            </p:stCondLst>
                            <p:childTnLst>
                              <p:par>
                                <p:cTn id="1241" nodeType="clickEffect" fill="hold" presetClass="entr" presetID="22" presetSubtype="8">
                                  <p:stCondLst>
                                    <p:cond delay="0"/>
                                  </p:stCondLst>
                                  <p:childTnLst>
                                    <p:set>
                                      <p:cBhvr>
                                        <p:cTn id="1242" dur="1" fill="hold">
                                          <p:stCondLst>
                                            <p:cond delay="0"/>
                                          </p:stCondLst>
                                        </p:cTn>
                                        <p:tgtEl>
                                          <p:spTgt spid="368">
                                            <p:txEl>
                                              <p:pRg st="2" end="2"/>
                                            </p:txEl>
                                          </p:spTgt>
                                        </p:tgtEl>
                                        <p:attrNameLst>
                                          <p:attrName>style.visibility</p:attrName>
                                        </p:attrNameLst>
                                      </p:cBhvr>
                                      <p:to>
                                        <p:strVal val="visible"/>
                                      </p:to>
                                    </p:set>
                                    <p:animEffect filter="wipe(left)" transition="in">
                                      <p:cBhvr additive="repl">
                                        <p:cTn id="1243" dur="500"/>
                                        <p:tgtEl>
                                          <p:spTgt spid="368">
                                            <p:txEl>
                                              <p:pRg st="2" end="2"/>
                                            </p:txEl>
                                          </p:spTgt>
                                        </p:tgtEl>
                                      </p:cBhvr>
                                    </p:animEffect>
                                  </p:childTnLst>
                                </p:cTn>
                              </p:par>
                            </p:childTnLst>
                          </p:cTn>
                        </p:par>
                      </p:childTnLst>
                    </p:cTn>
                  </p:par>
                  <p:par>
                    <p:cTn id="1244" nodeType="clickEffect" fill="hold">
                      <p:stCondLst>
                        <p:cond delay="indefinite"/>
                      </p:stCondLst>
                      <p:childTnLst>
                        <p:par>
                          <p:cTn id="1245" nodeType="withEffect" fill="hold">
                            <p:stCondLst>
                              <p:cond delay="0"/>
                            </p:stCondLst>
                            <p:childTnLst>
                              <p:par>
                                <p:cTn id="1246" nodeType="clickEffect" fill="hold" presetClass="entr" presetID="22" presetSubtype="8">
                                  <p:stCondLst>
                                    <p:cond delay="0"/>
                                  </p:stCondLst>
                                  <p:childTnLst>
                                    <p:set>
                                      <p:cBhvr>
                                        <p:cTn id="1247" dur="1" fill="hold">
                                          <p:stCondLst>
                                            <p:cond delay="0"/>
                                          </p:stCondLst>
                                        </p:cTn>
                                        <p:tgtEl>
                                          <p:spTgt spid="368">
                                            <p:txEl>
                                              <p:pRg st="3" end="3"/>
                                            </p:txEl>
                                          </p:spTgt>
                                        </p:tgtEl>
                                        <p:attrNameLst>
                                          <p:attrName>style.visibility</p:attrName>
                                        </p:attrNameLst>
                                      </p:cBhvr>
                                      <p:to>
                                        <p:strVal val="visible"/>
                                      </p:to>
                                    </p:set>
                                    <p:animEffect filter="wipe(left)" transition="in">
                                      <p:cBhvr additive="repl">
                                        <p:cTn id="1248" dur="500"/>
                                        <p:tgtEl>
                                          <p:spTgt spid="368">
                                            <p:txEl>
                                              <p:pRg st="3" end="3"/>
                                            </p:txEl>
                                          </p:spTgt>
                                        </p:tgtEl>
                                      </p:cBhvr>
                                    </p:animEffect>
                                  </p:childTnLst>
                                </p:cTn>
                              </p:par>
                            </p:childTnLst>
                          </p:cTn>
                        </p:par>
                      </p:childTnLst>
                    </p:cTn>
                  </p:par>
                  <p:par>
                    <p:cTn id="1249" nodeType="clickEffect" fill="hold">
                      <p:stCondLst>
                        <p:cond delay="indefinite"/>
                      </p:stCondLst>
                      <p:childTnLst>
                        <p:par>
                          <p:cTn id="1250" nodeType="withEffect" fill="hold">
                            <p:stCondLst>
                              <p:cond delay="0"/>
                            </p:stCondLst>
                            <p:childTnLst>
                              <p:par>
                                <p:cTn id="1251" nodeType="clickEffect" fill="hold" presetClass="entr" presetID="22" presetSubtype="8">
                                  <p:stCondLst>
                                    <p:cond delay="0"/>
                                  </p:stCondLst>
                                  <p:childTnLst>
                                    <p:set>
                                      <p:cBhvr>
                                        <p:cTn id="1252" dur="1" fill="hold">
                                          <p:stCondLst>
                                            <p:cond delay="0"/>
                                          </p:stCondLst>
                                        </p:cTn>
                                        <p:tgtEl>
                                          <p:spTgt spid="368">
                                            <p:txEl>
                                              <p:pRg st="4" end="4"/>
                                            </p:txEl>
                                          </p:spTgt>
                                        </p:tgtEl>
                                        <p:attrNameLst>
                                          <p:attrName>style.visibility</p:attrName>
                                        </p:attrNameLst>
                                      </p:cBhvr>
                                      <p:to>
                                        <p:strVal val="visible"/>
                                      </p:to>
                                    </p:set>
                                    <p:animEffect filter="wipe(left)" transition="in">
                                      <p:cBhvr additive="repl">
                                        <p:cTn id="1253" dur="500"/>
                                        <p:tgtEl>
                                          <p:spTgt spid="368">
                                            <p:txEl>
                                              <p:pRg st="4" end="4"/>
                                            </p:txEl>
                                          </p:spTgt>
                                        </p:tgtEl>
                                      </p:cBhvr>
                                    </p:animEffect>
                                  </p:childTnLst>
                                </p:cTn>
                              </p:par>
                            </p:childTnLst>
                          </p:cTn>
                        </p:par>
                      </p:childTnLst>
                    </p:cTn>
                  </p:par>
                  <p:par>
                    <p:cTn id="1254" nodeType="clickEffect" fill="hold">
                      <p:stCondLst>
                        <p:cond delay="indefinite"/>
                      </p:stCondLst>
                      <p:childTnLst>
                        <p:par>
                          <p:cTn id="1255" nodeType="withEffect" fill="hold">
                            <p:stCondLst>
                              <p:cond delay="0"/>
                            </p:stCondLst>
                            <p:childTnLst>
                              <p:par>
                                <p:cTn id="1256" nodeType="clickEffect" fill="hold" presetClass="entr" presetID="22" presetSubtype="8">
                                  <p:stCondLst>
                                    <p:cond delay="0"/>
                                  </p:stCondLst>
                                  <p:childTnLst>
                                    <p:set>
                                      <p:cBhvr>
                                        <p:cTn id="1257" dur="1" fill="hold">
                                          <p:stCondLst>
                                            <p:cond delay="0"/>
                                          </p:stCondLst>
                                        </p:cTn>
                                        <p:tgtEl>
                                          <p:spTgt spid="368">
                                            <p:txEl>
                                              <p:pRg st="5" end="5"/>
                                            </p:txEl>
                                          </p:spTgt>
                                        </p:tgtEl>
                                        <p:attrNameLst>
                                          <p:attrName>style.visibility</p:attrName>
                                        </p:attrNameLst>
                                      </p:cBhvr>
                                      <p:to>
                                        <p:strVal val="visible"/>
                                      </p:to>
                                    </p:set>
                                    <p:animEffect filter="wipe(left)" transition="in">
                                      <p:cBhvr additive="repl">
                                        <p:cTn id="1258" dur="500"/>
                                        <p:tgtEl>
                                          <p:spTgt spid="368">
                                            <p:txEl>
                                              <p:pRg st="5" end="5"/>
                                            </p:txEl>
                                          </p:spTgt>
                                        </p:tgtEl>
                                      </p:cBhvr>
                                    </p:animEffect>
                                  </p:childTnLst>
                                </p:cTn>
                              </p:par>
                            </p:childTnLst>
                          </p:cTn>
                        </p:par>
                      </p:childTnLst>
                    </p:cTn>
                  </p:par>
                  <p:par>
                    <p:cTn id="1259" nodeType="clickEffect" fill="hold">
                      <p:stCondLst>
                        <p:cond delay="indefinite"/>
                      </p:stCondLst>
                      <p:childTnLst>
                        <p:par>
                          <p:cTn id="1260" nodeType="withEffect" fill="hold">
                            <p:stCondLst>
                              <p:cond delay="0"/>
                            </p:stCondLst>
                            <p:childTnLst>
                              <p:par>
                                <p:cTn id="1261" nodeType="clickEffect" fill="hold" presetClass="entr" presetID="22" presetSubtype="8">
                                  <p:stCondLst>
                                    <p:cond delay="0"/>
                                  </p:stCondLst>
                                  <p:childTnLst>
                                    <p:set>
                                      <p:cBhvr>
                                        <p:cTn id="1262" dur="1" fill="hold">
                                          <p:stCondLst>
                                            <p:cond delay="0"/>
                                          </p:stCondLst>
                                        </p:cTn>
                                        <p:tgtEl>
                                          <p:spTgt spid="368">
                                            <p:txEl>
                                              <p:pRg st="6" end="6"/>
                                            </p:txEl>
                                          </p:spTgt>
                                        </p:tgtEl>
                                        <p:attrNameLst>
                                          <p:attrName>style.visibility</p:attrName>
                                        </p:attrNameLst>
                                      </p:cBhvr>
                                      <p:to>
                                        <p:strVal val="visible"/>
                                      </p:to>
                                    </p:set>
                                    <p:animEffect filter="wipe(left)" transition="in">
                                      <p:cBhvr additive="repl">
                                        <p:cTn id="1263" dur="500"/>
                                        <p:tgtEl>
                                          <p:spTgt spid="368">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14.3  SHORT-RUN COST</a:t>
            </a:r>
            <a:endParaRPr b="0" lang="en-CA" sz="2600" strike="noStrike" u="none">
              <a:solidFill>
                <a:schemeClr val="dk1"/>
              </a:solidFill>
              <a:effectLst/>
              <a:uFillTx/>
              <a:latin typeface="Arial"/>
            </a:endParaRPr>
          </a:p>
        </p:txBody>
      </p:sp>
      <p:sp>
        <p:nvSpPr>
          <p:cNvPr id="37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An increase in the wage rate or another component of variable cost </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Shifts the variable curves (</a:t>
            </a:r>
            <a:r>
              <a:rPr b="0" i="1" lang="en-US" sz="2400" strike="noStrike" u="none">
                <a:solidFill>
                  <a:schemeClr val="dk1"/>
                </a:solidFill>
                <a:effectLst/>
                <a:uFillTx/>
                <a:latin typeface="Arial"/>
                <a:ea typeface="ＭＳ Ｐゴシック"/>
              </a:rPr>
              <a:t>TVC</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AVC</a:t>
            </a:r>
            <a:r>
              <a:rPr b="0" lang="en-US" sz="2400" strike="noStrike" u="none">
                <a:solidFill>
                  <a:schemeClr val="dk1"/>
                </a:solidFill>
                <a:effectLst/>
                <a:uFillTx/>
                <a:latin typeface="Arial"/>
                <a:ea typeface="ＭＳ Ｐゴシック"/>
              </a:rPr>
              <a:t>) upward.</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Shifts the marginal cost curve (</a:t>
            </a:r>
            <a:r>
              <a:rPr b="0" i="1" lang="en-US" sz="2400" strike="noStrike" u="none">
                <a:solidFill>
                  <a:schemeClr val="dk1"/>
                </a:solidFill>
                <a:effectLst/>
                <a:uFillTx/>
                <a:latin typeface="Arial"/>
                <a:ea typeface="ＭＳ Ｐゴシック"/>
              </a:rPr>
              <a:t>MC</a:t>
            </a:r>
            <a:r>
              <a:rPr b="0" lang="en-US" sz="2400" strike="noStrike" u="none">
                <a:solidFill>
                  <a:schemeClr val="dk1"/>
                </a:solidFill>
                <a:effectLst/>
                <a:uFillTx/>
                <a:latin typeface="Arial"/>
                <a:ea typeface="ＭＳ Ｐゴシック"/>
              </a:rPr>
              <a:t>) upward.</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Leaves the fixed cost curves (</a:t>
            </a:r>
            <a:r>
              <a:rPr b="0" i="1" lang="en-US" sz="2400" strike="noStrike" u="none">
                <a:solidFill>
                  <a:schemeClr val="dk1"/>
                </a:solidFill>
                <a:effectLst/>
                <a:uFillTx/>
                <a:latin typeface="Arial"/>
                <a:ea typeface="ＭＳ Ｐゴシック"/>
              </a:rPr>
              <a:t>AFC</a:t>
            </a:r>
            <a:r>
              <a:rPr b="0" lang="en-US" sz="2400" strike="noStrike" u="none">
                <a:solidFill>
                  <a:schemeClr val="dk1"/>
                </a:solidFill>
                <a:effectLst/>
                <a:uFillTx/>
                <a:latin typeface="Arial"/>
                <a:ea typeface="ＭＳ Ｐゴシック"/>
              </a:rPr>
              <a:t> and </a:t>
            </a:r>
            <a:r>
              <a:rPr b="0" i="1" lang="en-US" sz="2400" strike="noStrike" u="none">
                <a:solidFill>
                  <a:schemeClr val="dk1"/>
                </a:solidFill>
                <a:effectLst/>
                <a:uFillTx/>
                <a:latin typeface="Arial"/>
                <a:ea typeface="ＭＳ Ｐゴシック"/>
              </a:rPr>
              <a:t>TFC</a:t>
            </a:r>
            <a:r>
              <a:rPr b="0" lang="en-US" sz="2400" strike="noStrike" u="none">
                <a:solidFill>
                  <a:schemeClr val="dk1"/>
                </a:solidFill>
                <a:effectLst/>
                <a:uFillTx/>
                <a:latin typeface="Arial"/>
                <a:ea typeface="ＭＳ Ｐゴシック"/>
              </a:rPr>
              <a:t>) unchanged.</a:t>
            </a:r>
            <a:endParaRPr b="0" lang="en-CA" sz="2400" strike="noStrike" u="none">
              <a:solidFill>
                <a:schemeClr val="dk1"/>
              </a:solidFill>
              <a:effectLst/>
              <a:uFillTx/>
              <a:latin typeface="Arial"/>
            </a:endParaRPr>
          </a:p>
        </p:txBody>
      </p:sp>
    </p:spTree>
  </p:cSld>
  <p:transition spd="slow">
    <p:wipe dir="r"/>
  </p:transition>
  <p:timing>
    <p:tnLst>
      <p:par>
        <p:cTn id="1264" dur="indefinite" restart="never" nodeType="tmRoot">
          <p:childTnLst>
            <p:seq>
              <p:cTn id="1265" dur="indefinite" nodeType="mainSeq">
                <p:childTnLst>
                  <p:par>
                    <p:cTn id="1266" nodeType="clickEffect" fill="hold">
                      <p:stCondLst>
                        <p:cond delay="indefinite"/>
                      </p:stCondLst>
                      <p:childTnLst>
                        <p:par>
                          <p:cTn id="1267" nodeType="withEffect" fill="hold">
                            <p:stCondLst>
                              <p:cond delay="0"/>
                            </p:stCondLst>
                            <p:childTnLst>
                              <p:par>
                                <p:cTn id="1268" nodeType="clickEffect" fill="hold" presetClass="entr" presetID="22" presetSubtype="8">
                                  <p:stCondLst>
                                    <p:cond delay="0"/>
                                  </p:stCondLst>
                                  <p:childTnLst>
                                    <p:set>
                                      <p:cBhvr>
                                        <p:cTn id="1269" dur="1" fill="hold">
                                          <p:stCondLst>
                                            <p:cond delay="0"/>
                                          </p:stCondLst>
                                        </p:cTn>
                                        <p:tgtEl>
                                          <p:spTgt spid="370">
                                            <p:txEl>
                                              <p:pRg st="1" end="1"/>
                                            </p:txEl>
                                          </p:spTgt>
                                        </p:tgtEl>
                                        <p:attrNameLst>
                                          <p:attrName>style.visibility</p:attrName>
                                        </p:attrNameLst>
                                      </p:cBhvr>
                                      <p:to>
                                        <p:strVal val="visible"/>
                                      </p:to>
                                    </p:set>
                                    <p:animEffect filter="wipe(left)" transition="in">
                                      <p:cBhvr additive="repl">
                                        <p:cTn id="1270" dur="500"/>
                                        <p:tgtEl>
                                          <p:spTgt spid="370">
                                            <p:txEl>
                                              <p:pRg st="1" end="1"/>
                                            </p:txEl>
                                          </p:spTgt>
                                        </p:tgtEl>
                                      </p:cBhvr>
                                    </p:animEffect>
                                  </p:childTnLst>
                                </p:cTn>
                              </p:par>
                            </p:childTnLst>
                          </p:cTn>
                        </p:par>
                      </p:childTnLst>
                    </p:cTn>
                  </p:par>
                  <p:par>
                    <p:cTn id="1271" nodeType="clickEffect" fill="hold">
                      <p:stCondLst>
                        <p:cond delay="indefinite"/>
                      </p:stCondLst>
                      <p:childTnLst>
                        <p:par>
                          <p:cTn id="1272" nodeType="withEffect" fill="hold">
                            <p:stCondLst>
                              <p:cond delay="0"/>
                            </p:stCondLst>
                            <p:childTnLst>
                              <p:par>
                                <p:cTn id="1273" nodeType="clickEffect" fill="hold" presetClass="entr" presetID="22" presetSubtype="8">
                                  <p:stCondLst>
                                    <p:cond delay="0"/>
                                  </p:stCondLst>
                                  <p:childTnLst>
                                    <p:set>
                                      <p:cBhvr>
                                        <p:cTn id="1274" dur="1" fill="hold">
                                          <p:stCondLst>
                                            <p:cond delay="0"/>
                                          </p:stCondLst>
                                        </p:cTn>
                                        <p:tgtEl>
                                          <p:spTgt spid="370">
                                            <p:txEl>
                                              <p:pRg st="2" end="2"/>
                                            </p:txEl>
                                          </p:spTgt>
                                        </p:tgtEl>
                                        <p:attrNameLst>
                                          <p:attrName>style.visibility</p:attrName>
                                        </p:attrNameLst>
                                      </p:cBhvr>
                                      <p:to>
                                        <p:strVal val="visible"/>
                                      </p:to>
                                    </p:set>
                                    <p:animEffect filter="wipe(left)" transition="in">
                                      <p:cBhvr additive="repl">
                                        <p:cTn id="1275" dur="500"/>
                                        <p:tgtEl>
                                          <p:spTgt spid="370">
                                            <p:txEl>
                                              <p:pRg st="2" end="2"/>
                                            </p:txEl>
                                          </p:spTgt>
                                        </p:tgtEl>
                                      </p:cBhvr>
                                    </p:animEffect>
                                  </p:childTnLst>
                                </p:cTn>
                              </p:par>
                            </p:childTnLst>
                          </p:cTn>
                        </p:par>
                      </p:childTnLst>
                    </p:cTn>
                  </p:par>
                  <p:par>
                    <p:cTn id="1276" nodeType="clickEffect" fill="hold">
                      <p:stCondLst>
                        <p:cond delay="indefinite"/>
                      </p:stCondLst>
                      <p:childTnLst>
                        <p:par>
                          <p:cTn id="1277" nodeType="withEffect" fill="hold">
                            <p:stCondLst>
                              <p:cond delay="0"/>
                            </p:stCondLst>
                            <p:childTnLst>
                              <p:par>
                                <p:cTn id="1278" nodeType="clickEffect" fill="hold" presetClass="entr" presetID="22" presetSubtype="8">
                                  <p:stCondLst>
                                    <p:cond delay="0"/>
                                  </p:stCondLst>
                                  <p:childTnLst>
                                    <p:set>
                                      <p:cBhvr>
                                        <p:cTn id="1279" dur="1" fill="hold">
                                          <p:stCondLst>
                                            <p:cond delay="0"/>
                                          </p:stCondLst>
                                        </p:cTn>
                                        <p:tgtEl>
                                          <p:spTgt spid="370">
                                            <p:txEl>
                                              <p:pRg st="3" end="3"/>
                                            </p:txEl>
                                          </p:spTgt>
                                        </p:tgtEl>
                                        <p:attrNameLst>
                                          <p:attrName>style.visibility</p:attrName>
                                        </p:attrNameLst>
                                      </p:cBhvr>
                                      <p:to>
                                        <p:strVal val="visible"/>
                                      </p:to>
                                    </p:set>
                                    <p:animEffect filter="wipe(left)" transition="in">
                                      <p:cBhvr additive="repl">
                                        <p:cTn id="1280" dur="500"/>
                                        <p:tgtEl>
                                          <p:spTgt spid="370">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7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buClr>
                <a:srgbClr val="00468f"/>
              </a:buClr>
              <a:buFont typeface="Webdings" charset="2"/>
              <a:buChar char=""/>
            </a:pPr>
            <a:r>
              <a:rPr b="1" lang="en-US" sz="2800" strike="noStrike" u="none">
                <a:solidFill>
                  <a:srgbClr val="00468f"/>
                </a:solidFill>
                <a:effectLst/>
                <a:uFillTx/>
                <a:latin typeface="Arial"/>
                <a:ea typeface="ＭＳ Ｐゴシック"/>
              </a:rPr>
              <a:t>Plant Size and Cost</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When a firm changes its plant size, its cost of producing a given output changes.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Will the average total cost of producing a gallon of smoothie fall, rise, or remain the same?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Each of these three outcomes arise because when a firm changes the size of its plant, it might experience: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rgbClr val="1566b0"/>
                </a:solidFill>
                <a:effectLst/>
                <a:uFillTx/>
                <a:latin typeface="Arial"/>
                <a:ea typeface="ＭＳ Ｐゴシック"/>
              </a:rPr>
              <a:t> </a:t>
            </a:r>
            <a:r>
              <a:rPr b="0" lang="en-US" sz="2400" strike="noStrike" u="none">
                <a:solidFill>
                  <a:srgbClr val="000000"/>
                </a:solidFill>
                <a:effectLst/>
                <a:uFillTx/>
                <a:latin typeface="Arial"/>
                <a:ea typeface="ＭＳ Ｐゴシック"/>
              </a:rPr>
              <a:t>Economies of scale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rgbClr val="1566b0"/>
                </a:solidFill>
                <a:effectLst/>
                <a:uFillTx/>
                <a:latin typeface="Arial"/>
                <a:ea typeface="ＭＳ Ｐゴシック"/>
              </a:rPr>
              <a:t> </a:t>
            </a:r>
            <a:r>
              <a:rPr b="0" lang="en-US" sz="2400" strike="noStrike" u="none">
                <a:solidFill>
                  <a:srgbClr val="000000"/>
                </a:solidFill>
                <a:effectLst/>
                <a:uFillTx/>
                <a:latin typeface="Arial"/>
                <a:ea typeface="ＭＳ Ｐゴシック"/>
              </a:rPr>
              <a:t>Diseconomies of scale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Symbol" charset="2"/>
              <a:buChar char=""/>
            </a:pPr>
            <a:r>
              <a:rPr b="0" lang="en-US" sz="2400" strike="noStrike" u="none">
                <a:solidFill>
                  <a:srgbClr val="1566b0"/>
                </a:solidFill>
                <a:effectLst/>
                <a:uFillTx/>
                <a:latin typeface="Arial"/>
                <a:ea typeface="ＭＳ Ｐゴシック"/>
              </a:rPr>
              <a:t> </a:t>
            </a:r>
            <a:r>
              <a:rPr b="0" lang="en-US" sz="2400" strike="noStrike" u="none">
                <a:solidFill>
                  <a:srgbClr val="000000"/>
                </a:solidFill>
                <a:effectLst/>
                <a:uFillTx/>
                <a:latin typeface="Arial"/>
                <a:ea typeface="ＭＳ Ｐゴシック"/>
              </a:rPr>
              <a:t>Constant returns to scale</a:t>
            </a:r>
            <a:endParaRPr b="0" lang="en-CA" sz="2400" strike="noStrike" u="none">
              <a:solidFill>
                <a:schemeClr val="dk1"/>
              </a:solidFill>
              <a:effectLst/>
              <a:uFillTx/>
              <a:latin typeface="Arial"/>
            </a:endParaRPr>
          </a:p>
        </p:txBody>
      </p:sp>
    </p:spTree>
  </p:cSld>
  <p:transition spd="slow">
    <p:wipe dir="r"/>
  </p:transition>
  <p:timing>
    <p:tnLst>
      <p:par>
        <p:cTn id="1281" dur="indefinite" restart="never" nodeType="tmRoot">
          <p:childTnLst>
            <p:seq>
              <p:cTn id="1282" dur="indefinite" nodeType="mainSeq">
                <p:childTnLst>
                  <p:par>
                    <p:cTn id="1283" nodeType="clickEffect" fill="hold">
                      <p:stCondLst>
                        <p:cond delay="indefinite"/>
                      </p:stCondLst>
                      <p:childTnLst>
                        <p:par>
                          <p:cTn id="1284" nodeType="withEffect" fill="hold">
                            <p:stCondLst>
                              <p:cond delay="0"/>
                            </p:stCondLst>
                            <p:childTnLst>
                              <p:par>
                                <p:cTn id="1285" nodeType="clickEffect" fill="hold" presetClass="entr" presetID="22" presetSubtype="8">
                                  <p:stCondLst>
                                    <p:cond delay="0"/>
                                  </p:stCondLst>
                                  <p:childTnLst>
                                    <p:set>
                                      <p:cBhvr>
                                        <p:cTn id="1286" dur="1" fill="hold">
                                          <p:stCondLst>
                                            <p:cond delay="0"/>
                                          </p:stCondLst>
                                        </p:cTn>
                                        <p:tgtEl>
                                          <p:spTgt spid="372">
                                            <p:txEl>
                                              <p:pRg st="1" end="1"/>
                                            </p:txEl>
                                          </p:spTgt>
                                        </p:tgtEl>
                                        <p:attrNameLst>
                                          <p:attrName>style.visibility</p:attrName>
                                        </p:attrNameLst>
                                      </p:cBhvr>
                                      <p:to>
                                        <p:strVal val="visible"/>
                                      </p:to>
                                    </p:set>
                                    <p:animEffect filter="wipe(left)" transition="in">
                                      <p:cBhvr additive="repl">
                                        <p:cTn id="1287" dur="500"/>
                                        <p:tgtEl>
                                          <p:spTgt spid="372">
                                            <p:txEl>
                                              <p:pRg st="1" end="1"/>
                                            </p:txEl>
                                          </p:spTgt>
                                        </p:tgtEl>
                                      </p:cBhvr>
                                    </p:animEffect>
                                  </p:childTnLst>
                                </p:cTn>
                              </p:par>
                            </p:childTnLst>
                          </p:cTn>
                        </p:par>
                      </p:childTnLst>
                    </p:cTn>
                  </p:par>
                  <p:par>
                    <p:cTn id="1288" nodeType="clickEffect" fill="hold">
                      <p:stCondLst>
                        <p:cond delay="indefinite"/>
                      </p:stCondLst>
                      <p:childTnLst>
                        <p:par>
                          <p:cTn id="1289" nodeType="withEffect" fill="hold">
                            <p:stCondLst>
                              <p:cond delay="0"/>
                            </p:stCondLst>
                            <p:childTnLst>
                              <p:par>
                                <p:cTn id="1290" nodeType="clickEffect" fill="hold" presetClass="entr" presetID="22" presetSubtype="8">
                                  <p:stCondLst>
                                    <p:cond delay="0"/>
                                  </p:stCondLst>
                                  <p:childTnLst>
                                    <p:set>
                                      <p:cBhvr>
                                        <p:cTn id="1291" dur="1" fill="hold">
                                          <p:stCondLst>
                                            <p:cond delay="0"/>
                                          </p:stCondLst>
                                        </p:cTn>
                                        <p:tgtEl>
                                          <p:spTgt spid="372">
                                            <p:txEl>
                                              <p:pRg st="2" end="2"/>
                                            </p:txEl>
                                          </p:spTgt>
                                        </p:tgtEl>
                                        <p:attrNameLst>
                                          <p:attrName>style.visibility</p:attrName>
                                        </p:attrNameLst>
                                      </p:cBhvr>
                                      <p:to>
                                        <p:strVal val="visible"/>
                                      </p:to>
                                    </p:set>
                                    <p:animEffect filter="wipe(left)" transition="in">
                                      <p:cBhvr additive="repl">
                                        <p:cTn id="1292" dur="500"/>
                                        <p:tgtEl>
                                          <p:spTgt spid="372">
                                            <p:txEl>
                                              <p:pRg st="2" end="2"/>
                                            </p:txEl>
                                          </p:spTgt>
                                        </p:tgtEl>
                                      </p:cBhvr>
                                    </p:animEffect>
                                  </p:childTnLst>
                                </p:cTn>
                              </p:par>
                            </p:childTnLst>
                          </p:cTn>
                        </p:par>
                      </p:childTnLst>
                    </p:cTn>
                  </p:par>
                  <p:par>
                    <p:cTn id="1293" nodeType="clickEffect" fill="hold">
                      <p:stCondLst>
                        <p:cond delay="indefinite"/>
                      </p:stCondLst>
                      <p:childTnLst>
                        <p:par>
                          <p:cTn id="1294" nodeType="withEffect" fill="hold">
                            <p:stCondLst>
                              <p:cond delay="0"/>
                            </p:stCondLst>
                            <p:childTnLst>
                              <p:par>
                                <p:cTn id="1295" nodeType="clickEffect" fill="hold" presetClass="entr" presetID="22" presetSubtype="8">
                                  <p:stCondLst>
                                    <p:cond delay="0"/>
                                  </p:stCondLst>
                                  <p:childTnLst>
                                    <p:set>
                                      <p:cBhvr>
                                        <p:cTn id="1296" dur="1" fill="hold">
                                          <p:stCondLst>
                                            <p:cond delay="0"/>
                                          </p:stCondLst>
                                        </p:cTn>
                                        <p:tgtEl>
                                          <p:spTgt spid="372">
                                            <p:txEl>
                                              <p:pRg st="3" end="3"/>
                                            </p:txEl>
                                          </p:spTgt>
                                        </p:tgtEl>
                                        <p:attrNameLst>
                                          <p:attrName>style.visibility</p:attrName>
                                        </p:attrNameLst>
                                      </p:cBhvr>
                                      <p:to>
                                        <p:strVal val="visible"/>
                                      </p:to>
                                    </p:set>
                                    <p:animEffect filter="wipe(left)" transition="in">
                                      <p:cBhvr additive="repl">
                                        <p:cTn id="1297" dur="500"/>
                                        <p:tgtEl>
                                          <p:spTgt spid="372">
                                            <p:txEl>
                                              <p:pRg st="3" end="3"/>
                                            </p:txEl>
                                          </p:spTgt>
                                        </p:tgtEl>
                                      </p:cBhvr>
                                    </p:animEffect>
                                  </p:childTnLst>
                                </p:cTn>
                              </p:par>
                            </p:childTnLst>
                          </p:cTn>
                        </p:par>
                      </p:childTnLst>
                    </p:cTn>
                  </p:par>
                  <p:par>
                    <p:cTn id="1298" nodeType="clickEffect" fill="hold">
                      <p:stCondLst>
                        <p:cond delay="indefinite"/>
                      </p:stCondLst>
                      <p:childTnLst>
                        <p:par>
                          <p:cTn id="1299" nodeType="withEffect" fill="hold">
                            <p:stCondLst>
                              <p:cond delay="0"/>
                            </p:stCondLst>
                            <p:childTnLst>
                              <p:par>
                                <p:cTn id="1300" nodeType="clickEffect" fill="hold" presetClass="entr" presetID="22" presetSubtype="8">
                                  <p:stCondLst>
                                    <p:cond delay="0"/>
                                  </p:stCondLst>
                                  <p:childTnLst>
                                    <p:set>
                                      <p:cBhvr>
                                        <p:cTn id="1301" dur="1" fill="hold">
                                          <p:stCondLst>
                                            <p:cond delay="0"/>
                                          </p:stCondLst>
                                        </p:cTn>
                                        <p:tgtEl>
                                          <p:spTgt spid="372">
                                            <p:txEl>
                                              <p:pRg st="4" end="4"/>
                                            </p:txEl>
                                          </p:spTgt>
                                        </p:tgtEl>
                                        <p:attrNameLst>
                                          <p:attrName>style.visibility</p:attrName>
                                        </p:attrNameLst>
                                      </p:cBhvr>
                                      <p:to>
                                        <p:strVal val="visible"/>
                                      </p:to>
                                    </p:set>
                                    <p:animEffect filter="wipe(left)" transition="in">
                                      <p:cBhvr additive="repl">
                                        <p:cTn id="1302" dur="500"/>
                                        <p:tgtEl>
                                          <p:spTgt spid="372">
                                            <p:txEl>
                                              <p:pRg st="4" end="4"/>
                                            </p:txEl>
                                          </p:spTgt>
                                        </p:tgtEl>
                                      </p:cBhvr>
                                    </p:animEffect>
                                  </p:childTnLst>
                                </p:cTn>
                              </p:par>
                            </p:childTnLst>
                          </p:cTn>
                        </p:par>
                      </p:childTnLst>
                    </p:cTn>
                  </p:par>
                  <p:par>
                    <p:cTn id="1303" nodeType="clickEffect" fill="hold">
                      <p:stCondLst>
                        <p:cond delay="indefinite"/>
                      </p:stCondLst>
                      <p:childTnLst>
                        <p:par>
                          <p:cTn id="1304" nodeType="withEffect" fill="hold">
                            <p:stCondLst>
                              <p:cond delay="0"/>
                            </p:stCondLst>
                            <p:childTnLst>
                              <p:par>
                                <p:cTn id="1305" nodeType="clickEffect" fill="hold" presetClass="entr" presetID="22" presetSubtype="8">
                                  <p:stCondLst>
                                    <p:cond delay="0"/>
                                  </p:stCondLst>
                                  <p:childTnLst>
                                    <p:set>
                                      <p:cBhvr>
                                        <p:cTn id="1306" dur="1" fill="hold">
                                          <p:stCondLst>
                                            <p:cond delay="0"/>
                                          </p:stCondLst>
                                        </p:cTn>
                                        <p:tgtEl>
                                          <p:spTgt spid="372">
                                            <p:txEl>
                                              <p:pRg st="5" end="5"/>
                                            </p:txEl>
                                          </p:spTgt>
                                        </p:tgtEl>
                                        <p:attrNameLst>
                                          <p:attrName>style.visibility</p:attrName>
                                        </p:attrNameLst>
                                      </p:cBhvr>
                                      <p:to>
                                        <p:strVal val="visible"/>
                                      </p:to>
                                    </p:set>
                                    <p:animEffect filter="wipe(left)" transition="in">
                                      <p:cBhvr additive="repl">
                                        <p:cTn id="1307" dur="500"/>
                                        <p:tgtEl>
                                          <p:spTgt spid="372">
                                            <p:txEl>
                                              <p:pRg st="5" end="5"/>
                                            </p:txEl>
                                          </p:spTgt>
                                        </p:tgtEl>
                                      </p:cBhvr>
                                    </p:animEffect>
                                  </p:childTnLst>
                                </p:cTn>
                              </p:par>
                            </p:childTnLst>
                          </p:cTn>
                        </p:par>
                      </p:childTnLst>
                    </p:cTn>
                  </p:par>
                  <p:par>
                    <p:cTn id="1308" nodeType="clickEffect" fill="hold">
                      <p:stCondLst>
                        <p:cond delay="indefinite"/>
                      </p:stCondLst>
                      <p:childTnLst>
                        <p:par>
                          <p:cTn id="1309" nodeType="withEffect" fill="hold">
                            <p:stCondLst>
                              <p:cond delay="0"/>
                            </p:stCondLst>
                            <p:childTnLst>
                              <p:par>
                                <p:cTn id="1310" nodeType="clickEffect" fill="hold" presetClass="entr" presetID="22" presetSubtype="8">
                                  <p:stCondLst>
                                    <p:cond delay="0"/>
                                  </p:stCondLst>
                                  <p:childTnLst>
                                    <p:set>
                                      <p:cBhvr>
                                        <p:cTn id="1311" dur="1" fill="hold">
                                          <p:stCondLst>
                                            <p:cond delay="0"/>
                                          </p:stCondLst>
                                        </p:cTn>
                                        <p:tgtEl>
                                          <p:spTgt spid="372">
                                            <p:txEl>
                                              <p:pRg st="6" end="6"/>
                                            </p:txEl>
                                          </p:spTgt>
                                        </p:tgtEl>
                                        <p:attrNameLst>
                                          <p:attrName>style.visibility</p:attrName>
                                        </p:attrNameLst>
                                      </p:cBhvr>
                                      <p:to>
                                        <p:strVal val="visible"/>
                                      </p:to>
                                    </p:set>
                                    <p:animEffect filter="wipe(left)" transition="in">
                                      <p:cBhvr additive="repl">
                                        <p:cTn id="1312" dur="500"/>
                                        <p:tgtEl>
                                          <p:spTgt spid="372">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7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Economies of Scale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Economies of scale</a:t>
            </a:r>
            <a:r>
              <a:rPr b="0" lang="en-US" sz="2400" strike="noStrike" u="none">
                <a:solidFill>
                  <a:srgbClr val="000000"/>
                </a:solidFill>
                <a:effectLst/>
                <a:uFillTx/>
                <a:latin typeface="Arial"/>
                <a:ea typeface="ＭＳ Ｐゴシック"/>
              </a:rPr>
              <a:t> exist if when a firm increases its plant size and labor employed by the same percentage, its output increases by a larger percentage and average total cost decreases.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main source of economies of scale is greater specialization of both labor and capital.</a:t>
            </a:r>
            <a:endParaRPr b="1" lang="en-CA" sz="2400" strike="noStrike" u="none">
              <a:solidFill>
                <a:srgbClr val="00468f"/>
              </a:solidFill>
              <a:effectLst/>
              <a:uFillTx/>
              <a:latin typeface="Arial"/>
            </a:endParaRPr>
          </a:p>
        </p:txBody>
      </p:sp>
    </p:spTree>
  </p:cSld>
  <p:transition spd="slow">
    <p:wipe dir="r"/>
  </p:transition>
  <p:timing>
    <p:tnLst>
      <p:par>
        <p:cTn id="1313" dur="indefinite" restart="never" nodeType="tmRoot">
          <p:childTnLst>
            <p:seq>
              <p:cTn id="1314" dur="indefinite" nodeType="mainSeq">
                <p:childTnLst>
                  <p:par>
                    <p:cTn id="1315" nodeType="clickEffect" fill="hold">
                      <p:stCondLst>
                        <p:cond delay="indefinite"/>
                      </p:stCondLst>
                      <p:childTnLst>
                        <p:par>
                          <p:cTn id="1316" nodeType="withEffect" fill="hold">
                            <p:stCondLst>
                              <p:cond delay="0"/>
                            </p:stCondLst>
                            <p:childTnLst>
                              <p:par>
                                <p:cTn id="1317" nodeType="clickEffect" fill="hold" presetClass="entr" presetID="22" presetSubtype="8">
                                  <p:stCondLst>
                                    <p:cond delay="0"/>
                                  </p:stCondLst>
                                  <p:childTnLst>
                                    <p:set>
                                      <p:cBhvr>
                                        <p:cTn id="1318" dur="1" fill="hold">
                                          <p:stCondLst>
                                            <p:cond delay="0"/>
                                          </p:stCondLst>
                                        </p:cTn>
                                        <p:tgtEl>
                                          <p:spTgt spid="374">
                                            <p:txEl>
                                              <p:pRg st="1" end="1"/>
                                            </p:txEl>
                                          </p:spTgt>
                                        </p:tgtEl>
                                        <p:attrNameLst>
                                          <p:attrName>style.visibility</p:attrName>
                                        </p:attrNameLst>
                                      </p:cBhvr>
                                      <p:to>
                                        <p:strVal val="visible"/>
                                      </p:to>
                                    </p:set>
                                    <p:animEffect filter="wipe(left)" transition="in">
                                      <p:cBhvr additive="repl">
                                        <p:cTn id="1319" dur="500"/>
                                        <p:tgtEl>
                                          <p:spTgt spid="374">
                                            <p:txEl>
                                              <p:pRg st="1" end="1"/>
                                            </p:txEl>
                                          </p:spTgt>
                                        </p:tgtEl>
                                      </p:cBhvr>
                                    </p:animEffect>
                                  </p:childTnLst>
                                </p:cTn>
                              </p:par>
                            </p:childTnLst>
                          </p:cTn>
                        </p:par>
                      </p:childTnLst>
                    </p:cTn>
                  </p:par>
                  <p:par>
                    <p:cTn id="1320" nodeType="clickEffect" fill="hold">
                      <p:stCondLst>
                        <p:cond delay="indefinite"/>
                      </p:stCondLst>
                      <p:childTnLst>
                        <p:par>
                          <p:cTn id="1321" nodeType="withEffect" fill="hold">
                            <p:stCondLst>
                              <p:cond delay="0"/>
                            </p:stCondLst>
                            <p:childTnLst>
                              <p:par>
                                <p:cTn id="1322" nodeType="clickEffect" fill="hold" presetClass="entr" presetID="22" presetSubtype="8">
                                  <p:stCondLst>
                                    <p:cond delay="0"/>
                                  </p:stCondLst>
                                  <p:childTnLst>
                                    <p:set>
                                      <p:cBhvr>
                                        <p:cTn id="1323" dur="1" fill="hold">
                                          <p:stCondLst>
                                            <p:cond delay="0"/>
                                          </p:stCondLst>
                                        </p:cTn>
                                        <p:tgtEl>
                                          <p:spTgt spid="374">
                                            <p:txEl>
                                              <p:pRg st="2" end="2"/>
                                            </p:txEl>
                                          </p:spTgt>
                                        </p:tgtEl>
                                        <p:attrNameLst>
                                          <p:attrName>style.visibility</p:attrName>
                                        </p:attrNameLst>
                                      </p:cBhvr>
                                      <p:to>
                                        <p:strVal val="visible"/>
                                      </p:to>
                                    </p:set>
                                    <p:animEffect filter="wipe(left)" transition="in">
                                      <p:cBhvr additive="repl">
                                        <p:cTn id="1324" dur="500"/>
                                        <p:tgtEl>
                                          <p:spTgt spid="37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7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Diseconomies of Scale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Diseconomies of scale</a:t>
            </a:r>
            <a:r>
              <a:rPr b="0" lang="en-US" sz="2400" strike="noStrike" u="none">
                <a:solidFill>
                  <a:srgbClr val="000000"/>
                </a:solidFill>
                <a:effectLst/>
                <a:uFillTx/>
                <a:latin typeface="Arial"/>
                <a:ea typeface="ＭＳ Ｐゴシック"/>
              </a:rPr>
              <a:t> exist if when a firm increases its plant size and labor employed by the same percentage, its output increases by a smaller percentage and average total cost increases.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Diseconomies of scale arise from the difficulty of coordinating and controlling a large enterprise.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Eventually, management complexity brings rising average total cost.</a:t>
            </a:r>
            <a:endParaRPr b="1" lang="en-CA" sz="2400" strike="noStrike" u="none">
              <a:solidFill>
                <a:srgbClr val="00468f"/>
              </a:solidFill>
              <a:effectLst/>
              <a:uFillTx/>
              <a:latin typeface="Arial"/>
            </a:endParaRPr>
          </a:p>
        </p:txBody>
      </p:sp>
    </p:spTree>
  </p:cSld>
  <p:transition spd="slow">
    <p:wipe dir="r"/>
  </p:transition>
  <p:timing>
    <p:tnLst>
      <p:par>
        <p:cTn id="1325" dur="indefinite" restart="never" nodeType="tmRoot">
          <p:childTnLst>
            <p:seq>
              <p:cTn id="1326" dur="indefinite" nodeType="mainSeq">
                <p:childTnLst>
                  <p:par>
                    <p:cTn id="1327" nodeType="clickEffect" fill="hold">
                      <p:stCondLst>
                        <p:cond delay="indefinite"/>
                      </p:stCondLst>
                      <p:childTnLst>
                        <p:par>
                          <p:cTn id="1328" nodeType="withEffect" fill="hold">
                            <p:stCondLst>
                              <p:cond delay="0"/>
                            </p:stCondLst>
                            <p:childTnLst>
                              <p:par>
                                <p:cTn id="1329" nodeType="clickEffect" fill="hold" presetClass="entr" presetID="22" presetSubtype="8">
                                  <p:stCondLst>
                                    <p:cond delay="0"/>
                                  </p:stCondLst>
                                  <p:childTnLst>
                                    <p:set>
                                      <p:cBhvr>
                                        <p:cTn id="1330" dur="1" fill="hold">
                                          <p:stCondLst>
                                            <p:cond delay="0"/>
                                          </p:stCondLst>
                                        </p:cTn>
                                        <p:tgtEl>
                                          <p:spTgt spid="376">
                                            <p:txEl>
                                              <p:pRg st="1" end="1"/>
                                            </p:txEl>
                                          </p:spTgt>
                                        </p:tgtEl>
                                        <p:attrNameLst>
                                          <p:attrName>style.visibility</p:attrName>
                                        </p:attrNameLst>
                                      </p:cBhvr>
                                      <p:to>
                                        <p:strVal val="visible"/>
                                      </p:to>
                                    </p:set>
                                    <p:animEffect filter="wipe(left)" transition="in">
                                      <p:cBhvr additive="repl">
                                        <p:cTn id="1331" dur="500"/>
                                        <p:tgtEl>
                                          <p:spTgt spid="376">
                                            <p:txEl>
                                              <p:pRg st="1" end="1"/>
                                            </p:txEl>
                                          </p:spTgt>
                                        </p:tgtEl>
                                      </p:cBhvr>
                                    </p:animEffect>
                                  </p:childTnLst>
                                </p:cTn>
                              </p:par>
                            </p:childTnLst>
                          </p:cTn>
                        </p:par>
                      </p:childTnLst>
                    </p:cTn>
                  </p:par>
                  <p:par>
                    <p:cTn id="1332" nodeType="clickEffect" fill="hold">
                      <p:stCondLst>
                        <p:cond delay="indefinite"/>
                      </p:stCondLst>
                      <p:childTnLst>
                        <p:par>
                          <p:cTn id="1333" nodeType="withEffect" fill="hold">
                            <p:stCondLst>
                              <p:cond delay="0"/>
                            </p:stCondLst>
                            <p:childTnLst>
                              <p:par>
                                <p:cTn id="1334" nodeType="clickEffect" fill="hold" presetClass="entr" presetID="22" presetSubtype="8">
                                  <p:stCondLst>
                                    <p:cond delay="0"/>
                                  </p:stCondLst>
                                  <p:childTnLst>
                                    <p:set>
                                      <p:cBhvr>
                                        <p:cTn id="1335" dur="1" fill="hold">
                                          <p:stCondLst>
                                            <p:cond delay="0"/>
                                          </p:stCondLst>
                                        </p:cTn>
                                        <p:tgtEl>
                                          <p:spTgt spid="376">
                                            <p:txEl>
                                              <p:pRg st="2" end="2"/>
                                            </p:txEl>
                                          </p:spTgt>
                                        </p:tgtEl>
                                        <p:attrNameLst>
                                          <p:attrName>style.visibility</p:attrName>
                                        </p:attrNameLst>
                                      </p:cBhvr>
                                      <p:to>
                                        <p:strVal val="visible"/>
                                      </p:to>
                                    </p:set>
                                    <p:animEffect filter="wipe(left)" transition="in">
                                      <p:cBhvr additive="repl">
                                        <p:cTn id="1336" dur="500"/>
                                        <p:tgtEl>
                                          <p:spTgt spid="376">
                                            <p:txEl>
                                              <p:pRg st="2" end="2"/>
                                            </p:txEl>
                                          </p:spTgt>
                                        </p:tgtEl>
                                      </p:cBhvr>
                                    </p:animEffect>
                                  </p:childTnLst>
                                </p:cTn>
                              </p:par>
                            </p:childTnLst>
                          </p:cTn>
                        </p:par>
                      </p:childTnLst>
                    </p:cTn>
                  </p:par>
                  <p:par>
                    <p:cTn id="1337" nodeType="clickEffect" fill="hold">
                      <p:stCondLst>
                        <p:cond delay="indefinite"/>
                      </p:stCondLst>
                      <p:childTnLst>
                        <p:par>
                          <p:cTn id="1338" nodeType="withEffect" fill="hold">
                            <p:stCondLst>
                              <p:cond delay="0"/>
                            </p:stCondLst>
                            <p:childTnLst>
                              <p:par>
                                <p:cTn id="1339" nodeType="clickEffect" fill="hold" presetClass="entr" presetID="22" presetSubtype="8">
                                  <p:stCondLst>
                                    <p:cond delay="0"/>
                                  </p:stCondLst>
                                  <p:childTnLst>
                                    <p:set>
                                      <p:cBhvr>
                                        <p:cTn id="1340" dur="1" fill="hold">
                                          <p:stCondLst>
                                            <p:cond delay="0"/>
                                          </p:stCondLst>
                                        </p:cTn>
                                        <p:tgtEl>
                                          <p:spTgt spid="376">
                                            <p:txEl>
                                              <p:pRg st="3" end="3"/>
                                            </p:txEl>
                                          </p:spTgt>
                                        </p:tgtEl>
                                        <p:attrNameLst>
                                          <p:attrName>style.visibility</p:attrName>
                                        </p:attrNameLst>
                                      </p:cBhvr>
                                      <p:to>
                                        <p:strVal val="visible"/>
                                      </p:to>
                                    </p:set>
                                    <p:animEffect filter="wipe(left)" transition="in">
                                      <p:cBhvr additive="repl">
                                        <p:cTn id="1341" dur="500"/>
                                        <p:tgtEl>
                                          <p:spTgt spid="37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7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Constant Returns to Scale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Constant returns to scale</a:t>
            </a:r>
            <a:r>
              <a:rPr b="0" lang="en-US" sz="2400" strike="noStrike" u="none">
                <a:solidFill>
                  <a:srgbClr val="000000"/>
                </a:solidFill>
                <a:effectLst/>
                <a:uFillTx/>
                <a:latin typeface="Arial"/>
                <a:ea typeface="ＭＳ Ｐゴシック"/>
              </a:rPr>
              <a:t> exist if when a firm increases its plant size and labor employed by the same percentage, its output increases by the same percentage and average total cost remains constant.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Constant returns to scale occur when a firm is able to replicate its existing production facility including its management system.</a:t>
            </a:r>
            <a:endParaRPr b="1" lang="en-CA" sz="2400" strike="noStrike" u="none">
              <a:solidFill>
                <a:srgbClr val="00468f"/>
              </a:solidFill>
              <a:effectLst/>
              <a:uFillTx/>
              <a:latin typeface="Arial"/>
            </a:endParaRPr>
          </a:p>
        </p:txBody>
      </p:sp>
    </p:spTree>
  </p:cSld>
  <p:transition spd="slow">
    <p:wipe dir="r"/>
  </p:transition>
  <p:timing>
    <p:tnLst>
      <p:par>
        <p:cTn id="1342" dur="indefinite" restart="never" nodeType="tmRoot">
          <p:childTnLst>
            <p:seq>
              <p:cTn id="1343" dur="indefinite" nodeType="mainSeq">
                <p:childTnLst>
                  <p:par>
                    <p:cTn id="1344" nodeType="clickEffect" fill="hold">
                      <p:stCondLst>
                        <p:cond delay="indefinite"/>
                      </p:stCondLst>
                      <p:childTnLst>
                        <p:par>
                          <p:cTn id="1345" nodeType="withEffect" fill="hold">
                            <p:stCondLst>
                              <p:cond delay="0"/>
                            </p:stCondLst>
                            <p:childTnLst>
                              <p:par>
                                <p:cTn id="1346" nodeType="clickEffect" fill="hold" presetClass="entr" presetID="22" presetSubtype="8">
                                  <p:stCondLst>
                                    <p:cond delay="0"/>
                                  </p:stCondLst>
                                  <p:childTnLst>
                                    <p:set>
                                      <p:cBhvr>
                                        <p:cTn id="1347" dur="1" fill="hold">
                                          <p:stCondLst>
                                            <p:cond delay="0"/>
                                          </p:stCondLst>
                                        </p:cTn>
                                        <p:tgtEl>
                                          <p:spTgt spid="378">
                                            <p:txEl>
                                              <p:pRg st="1" end="1"/>
                                            </p:txEl>
                                          </p:spTgt>
                                        </p:tgtEl>
                                        <p:attrNameLst>
                                          <p:attrName>style.visibility</p:attrName>
                                        </p:attrNameLst>
                                      </p:cBhvr>
                                      <p:to>
                                        <p:strVal val="visible"/>
                                      </p:to>
                                    </p:set>
                                    <p:animEffect filter="wipe(left)" transition="in">
                                      <p:cBhvr additive="repl">
                                        <p:cTn id="1348" dur="500"/>
                                        <p:tgtEl>
                                          <p:spTgt spid="378">
                                            <p:txEl>
                                              <p:pRg st="1" end="1"/>
                                            </p:txEl>
                                          </p:spTgt>
                                        </p:tgtEl>
                                      </p:cBhvr>
                                    </p:animEffect>
                                  </p:childTnLst>
                                </p:cTn>
                              </p:par>
                            </p:childTnLst>
                          </p:cTn>
                        </p:par>
                      </p:childTnLst>
                    </p:cTn>
                  </p:par>
                  <p:par>
                    <p:cTn id="1349" nodeType="clickEffect" fill="hold">
                      <p:stCondLst>
                        <p:cond delay="indefinite"/>
                      </p:stCondLst>
                      <p:childTnLst>
                        <p:par>
                          <p:cTn id="1350" nodeType="withEffect" fill="hold">
                            <p:stCondLst>
                              <p:cond delay="0"/>
                            </p:stCondLst>
                            <p:childTnLst>
                              <p:par>
                                <p:cTn id="1351" nodeType="clickEffect" fill="hold" presetClass="entr" presetID="22" presetSubtype="8">
                                  <p:stCondLst>
                                    <p:cond delay="0"/>
                                  </p:stCondLst>
                                  <p:childTnLst>
                                    <p:set>
                                      <p:cBhvr>
                                        <p:cTn id="1352" dur="1" fill="hold">
                                          <p:stCondLst>
                                            <p:cond delay="0"/>
                                          </p:stCondLst>
                                        </p:cTn>
                                        <p:tgtEl>
                                          <p:spTgt spid="378">
                                            <p:txEl>
                                              <p:pRg st="2" end="2"/>
                                            </p:txEl>
                                          </p:spTgt>
                                        </p:tgtEl>
                                        <p:attrNameLst>
                                          <p:attrName>style.visibility</p:attrName>
                                        </p:attrNameLst>
                                      </p:cBhvr>
                                      <p:to>
                                        <p:strVal val="visible"/>
                                      </p:to>
                                    </p:set>
                                    <p:animEffect filter="wipe(left)" transition="in">
                                      <p:cBhvr additive="repl">
                                        <p:cTn id="1353" dur="500"/>
                                        <p:tgtEl>
                                          <p:spTgt spid="37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8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Long-Run Average Cost Curve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a:t>
            </a:r>
            <a:r>
              <a:rPr b="1" lang="en-US" sz="2400" strike="noStrike" u="none">
                <a:solidFill>
                  <a:srgbClr val="ff0000"/>
                </a:solidFill>
                <a:effectLst/>
                <a:uFillTx/>
                <a:latin typeface="Arial"/>
                <a:ea typeface="ＭＳ Ｐゴシック"/>
              </a:rPr>
              <a:t>long-run average cost curve</a:t>
            </a:r>
            <a:r>
              <a:rPr b="0" lang="en-US" sz="2400" strike="noStrike" u="none">
                <a:solidFill>
                  <a:srgbClr val="000000"/>
                </a:solidFill>
                <a:effectLst/>
                <a:uFillTx/>
                <a:latin typeface="Arial"/>
                <a:ea typeface="ＭＳ Ｐゴシック"/>
              </a:rPr>
              <a:t> shows the lowest average cost at which it is possible to produce each output when the firm has had sufficient time to change both its plant size and labor employed.</a:t>
            </a:r>
            <a:endParaRPr b="1" lang="en-CA" sz="2400" strike="noStrike" u="none">
              <a:solidFill>
                <a:srgbClr val="00468f"/>
              </a:solidFill>
              <a:effectLst/>
              <a:uFillTx/>
              <a:latin typeface="Arial"/>
            </a:endParaRPr>
          </a:p>
        </p:txBody>
      </p:sp>
    </p:spTree>
  </p:cSld>
  <p:transition spd="slow">
    <p:wipe dir="r"/>
  </p:transition>
  <p:timing>
    <p:tnLst>
      <p:par>
        <p:cTn id="1354" dur="indefinite" restart="never" nodeType="tmRoot">
          <p:childTnLst>
            <p:seq>
              <p:cTn id="1355" dur="indefinite" nodeType="mainSeq">
                <p:childTnLst>
                  <p:par>
                    <p:cTn id="1356" nodeType="clickEffect" fill="hold">
                      <p:stCondLst>
                        <p:cond delay="indefinite"/>
                      </p:stCondLst>
                      <p:childTnLst>
                        <p:par>
                          <p:cTn id="1357" nodeType="withEffect" fill="hold">
                            <p:stCondLst>
                              <p:cond delay="0"/>
                            </p:stCondLst>
                            <p:childTnLst>
                              <p:par>
                                <p:cTn id="1358" nodeType="clickEffect" fill="hold" presetClass="entr" presetID="22" presetSubtype="8">
                                  <p:stCondLst>
                                    <p:cond delay="0"/>
                                  </p:stCondLst>
                                  <p:childTnLst>
                                    <p:set>
                                      <p:cBhvr>
                                        <p:cTn id="1359" dur="1" fill="hold">
                                          <p:stCondLst>
                                            <p:cond delay="0"/>
                                          </p:stCondLst>
                                        </p:cTn>
                                        <p:tgtEl>
                                          <p:spTgt spid="380">
                                            <p:txEl>
                                              <p:pRg st="1" end="1"/>
                                            </p:txEl>
                                          </p:spTgt>
                                        </p:tgtEl>
                                        <p:attrNameLst>
                                          <p:attrName>style.visibility</p:attrName>
                                        </p:attrNameLst>
                                      </p:cBhvr>
                                      <p:to>
                                        <p:strVal val="visible"/>
                                      </p:to>
                                    </p:set>
                                    <p:animEffect filter="wipe(left)" transition="in">
                                      <p:cBhvr additive="repl">
                                        <p:cTn id="1360" dur="500"/>
                                        <p:tgtEl>
                                          <p:spTgt spid="38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82" name="PlaceHolder 2"/>
          <p:cNvSpPr>
            <a:spLocks noGrp="1"/>
          </p:cNvSpPr>
          <p:nvPr>
            <p:ph/>
          </p:nvPr>
        </p:nvSpPr>
        <p:spPr>
          <a:xfrm>
            <a:off x="360360" y="1440000"/>
            <a:ext cx="8097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14.8 shows a long-run average cost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the long run, Sam’s Smoothies can vary both capital and labor inputs.</a:t>
            </a:r>
            <a:endParaRPr b="1" lang="en-CA" sz="2400" strike="noStrike" u="none">
              <a:solidFill>
                <a:srgbClr val="00468f"/>
              </a:solidFill>
              <a:effectLst/>
              <a:uFillTx/>
              <a:latin typeface="Arial"/>
            </a:endParaRPr>
          </a:p>
          <a:p>
            <a:pPr indent="0">
              <a:lnSpc>
                <a:spcPct val="100000"/>
              </a:lnSpc>
              <a:buNone/>
              <a:tabLst>
                <a:tab algn="l" pos="0"/>
              </a:tabLst>
            </a:pPr>
            <a:endParaRPr b="1" lang="en-CA" sz="2400" strike="noStrike" u="none">
              <a:solidFill>
                <a:srgbClr val="00468f"/>
              </a:solidFill>
              <a:effectLst/>
              <a:uFillTx/>
              <a:latin typeface="Arial"/>
            </a:endParaRPr>
          </a:p>
        </p:txBody>
      </p:sp>
      <p:sp>
        <p:nvSpPr>
          <p:cNvPr id="383" name="Rectangle 5"/>
          <p:cNvSpPr/>
          <p:nvPr/>
        </p:nvSpPr>
        <p:spPr>
          <a:xfrm>
            <a:off x="306360" y="2952720"/>
            <a:ext cx="3045960" cy="3371400"/>
          </a:xfrm>
          <a:prstGeom prst="rect">
            <a:avLst/>
          </a:prstGeom>
          <a:noFill/>
          <a:ln w="0">
            <a:noFill/>
          </a:ln>
        </p:spPr>
        <p:style>
          <a:lnRef idx="0"/>
          <a:fillRef idx="0"/>
          <a:effectRef idx="0"/>
          <a:fontRef idx="minor"/>
        </p:style>
        <p:txBody>
          <a:bodyPr lIns="90000" rIns="90000" tIns="45000" bIns="45000" anchor="t">
            <a:noAutofit/>
          </a:bodyPr>
          <a:p>
            <a:pPr marL="360000">
              <a:lnSpc>
                <a:spcPct val="100000"/>
              </a:lnSpc>
              <a:spcBef>
                <a:spcPts val="601"/>
              </a:spcBef>
              <a:spcAft>
                <a:spcPts val="601"/>
              </a:spcAft>
            </a:pPr>
            <a:endParaRPr b="0" lang="en-US" sz="2400" strike="noStrike" u="none">
              <a:solidFill>
                <a:schemeClr val="dk1"/>
              </a:solidFill>
              <a:effectLst/>
              <a:uFillTx/>
              <a:latin typeface="Arial"/>
              <a:ea typeface="ＭＳ Ｐゴシック"/>
            </a:endParaRPr>
          </a:p>
        </p:txBody>
      </p:sp>
      <p:pic>
        <p:nvPicPr>
          <p:cNvPr id="384" name="Picture 5" descr=""/>
          <p:cNvPicPr/>
          <p:nvPr/>
        </p:nvPicPr>
        <p:blipFill>
          <a:blip r:embed="rId1"/>
          <a:stretch/>
        </p:blipFill>
        <p:spPr>
          <a:xfrm>
            <a:off x="1371600" y="2921040"/>
            <a:ext cx="6194160" cy="3673080"/>
          </a:xfrm>
          <a:prstGeom prst="rect">
            <a:avLst/>
          </a:prstGeom>
          <a:noFill/>
          <a:ln w="0">
            <a:noFill/>
          </a:ln>
        </p:spPr>
      </p:pic>
    </p:spTree>
  </p:cSld>
  <p:transition spd="med">
    <p:wipe dir="r"/>
  </p:transition>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85" name="Picture 10" descr=""/>
          <p:cNvPicPr/>
          <p:nvPr/>
        </p:nvPicPr>
        <p:blipFill>
          <a:blip r:embed="rId1"/>
          <a:stretch/>
        </p:blipFill>
        <p:spPr>
          <a:xfrm>
            <a:off x="762120" y="914400"/>
            <a:ext cx="7743600" cy="4590720"/>
          </a:xfrm>
          <a:prstGeom prst="rect">
            <a:avLst/>
          </a:prstGeom>
          <a:noFill/>
          <a:ln w="0">
            <a:noFill/>
          </a:ln>
        </p:spPr>
      </p:pic>
      <p:pic>
        <p:nvPicPr>
          <p:cNvPr id="386" name="Picture 11" descr=""/>
          <p:cNvPicPr/>
          <p:nvPr/>
        </p:nvPicPr>
        <p:blipFill>
          <a:blip r:embed="rId2"/>
          <a:stretch/>
        </p:blipFill>
        <p:spPr>
          <a:xfrm>
            <a:off x="762120" y="914400"/>
            <a:ext cx="7743600" cy="4590720"/>
          </a:xfrm>
          <a:prstGeom prst="rect">
            <a:avLst/>
          </a:prstGeom>
          <a:noFill/>
          <a:ln w="0">
            <a:noFill/>
          </a:ln>
        </p:spPr>
      </p:pic>
      <p:pic>
        <p:nvPicPr>
          <p:cNvPr id="387" name="Picture 12" descr=""/>
          <p:cNvPicPr/>
          <p:nvPr/>
        </p:nvPicPr>
        <p:blipFill>
          <a:blip r:embed="rId3"/>
          <a:stretch/>
        </p:blipFill>
        <p:spPr>
          <a:xfrm>
            <a:off x="762120" y="914400"/>
            <a:ext cx="7743600" cy="4590720"/>
          </a:xfrm>
          <a:prstGeom prst="rect">
            <a:avLst/>
          </a:prstGeom>
          <a:noFill/>
          <a:ln w="0">
            <a:noFill/>
          </a:ln>
        </p:spPr>
      </p:pic>
      <p:pic>
        <p:nvPicPr>
          <p:cNvPr id="388" name="Picture 13" descr=""/>
          <p:cNvPicPr/>
          <p:nvPr/>
        </p:nvPicPr>
        <p:blipFill>
          <a:blip r:embed="rId4"/>
          <a:stretch/>
        </p:blipFill>
        <p:spPr>
          <a:xfrm>
            <a:off x="762120" y="914400"/>
            <a:ext cx="7743600" cy="4590720"/>
          </a:xfrm>
          <a:prstGeom prst="rect">
            <a:avLst/>
          </a:prstGeom>
          <a:noFill/>
          <a:ln w="0">
            <a:noFill/>
          </a:ln>
        </p:spPr>
      </p:pic>
      <p:pic>
        <p:nvPicPr>
          <p:cNvPr id="389" name="Picture 14" descr=""/>
          <p:cNvPicPr/>
          <p:nvPr/>
        </p:nvPicPr>
        <p:blipFill>
          <a:blip r:embed="rId5"/>
          <a:stretch/>
        </p:blipFill>
        <p:spPr>
          <a:xfrm>
            <a:off x="762120" y="914400"/>
            <a:ext cx="7743600" cy="4590720"/>
          </a:xfrm>
          <a:prstGeom prst="rect">
            <a:avLst/>
          </a:prstGeom>
          <a:noFill/>
          <a:ln w="0">
            <a:noFill/>
          </a:ln>
        </p:spPr>
      </p:pic>
      <p:pic>
        <p:nvPicPr>
          <p:cNvPr id="390" name="Picture 15" descr=""/>
          <p:cNvPicPr/>
          <p:nvPr/>
        </p:nvPicPr>
        <p:blipFill>
          <a:blip r:embed="rId6"/>
          <a:stretch/>
        </p:blipFill>
        <p:spPr>
          <a:xfrm>
            <a:off x="762120" y="914400"/>
            <a:ext cx="7743600" cy="4590720"/>
          </a:xfrm>
          <a:prstGeom prst="rect">
            <a:avLst/>
          </a:prstGeom>
          <a:noFill/>
          <a:ln w="0">
            <a:noFill/>
          </a:ln>
        </p:spPr>
      </p:pic>
      <p:pic>
        <p:nvPicPr>
          <p:cNvPr id="391" name="Picture 16" descr=""/>
          <p:cNvPicPr/>
          <p:nvPr/>
        </p:nvPicPr>
        <p:blipFill>
          <a:blip r:embed="rId7"/>
          <a:stretch/>
        </p:blipFill>
        <p:spPr>
          <a:xfrm>
            <a:off x="762120" y="914400"/>
            <a:ext cx="7743600" cy="4590720"/>
          </a:xfrm>
          <a:prstGeom prst="rect">
            <a:avLst/>
          </a:prstGeom>
          <a:noFill/>
          <a:ln w="0">
            <a:noFill/>
          </a:ln>
        </p:spPr>
      </p:pic>
      <p:pic>
        <p:nvPicPr>
          <p:cNvPr id="392" name="Picture 17" descr=""/>
          <p:cNvPicPr/>
          <p:nvPr/>
        </p:nvPicPr>
        <p:blipFill>
          <a:blip r:embed="rId8"/>
          <a:stretch/>
        </p:blipFill>
        <p:spPr>
          <a:xfrm>
            <a:off x="762120" y="914400"/>
            <a:ext cx="7743600" cy="4590720"/>
          </a:xfrm>
          <a:prstGeom prst="rect">
            <a:avLst/>
          </a:prstGeom>
          <a:noFill/>
          <a:ln w="0">
            <a:noFill/>
          </a:ln>
        </p:spPr>
      </p:pic>
      <p:pic>
        <p:nvPicPr>
          <p:cNvPr id="393" name="Picture 18" descr=""/>
          <p:cNvPicPr/>
          <p:nvPr/>
        </p:nvPicPr>
        <p:blipFill>
          <a:blip r:embed="rId9"/>
          <a:stretch/>
        </p:blipFill>
        <p:spPr>
          <a:xfrm>
            <a:off x="762120" y="914400"/>
            <a:ext cx="7743600" cy="4590720"/>
          </a:xfrm>
          <a:prstGeom prst="rect">
            <a:avLst/>
          </a:prstGeom>
          <a:noFill/>
          <a:ln w="0">
            <a:noFill/>
          </a:ln>
        </p:spPr>
      </p:pic>
    </p:spTree>
  </p:cSld>
  <p:transition spd="slow">
    <p:wipe dir="r"/>
  </p:transition>
  <p:timing>
    <p:tnLst>
      <p:par>
        <p:cTn id="1361" dur="indefinite" restart="never" nodeType="tmRoot">
          <p:childTnLst>
            <p:seq>
              <p:cTn id="1362" dur="indefinite" nodeType="mainSeq">
                <p:childTnLst>
                  <p:par>
                    <p:cTn id="1363" nodeType="clickEffect" fill="hold">
                      <p:stCondLst>
                        <p:cond delay="indefinite"/>
                      </p:stCondLst>
                      <p:childTnLst>
                        <p:par>
                          <p:cTn id="1364" nodeType="withEffect" fill="hold">
                            <p:stCondLst>
                              <p:cond delay="0"/>
                            </p:stCondLst>
                            <p:childTnLst>
                              <p:par>
                                <p:cTn id="1365" nodeType="clickEffect" fill="hold" presetClass="entr" presetID="22" presetSubtype="8">
                                  <p:stCondLst>
                                    <p:cond delay="0"/>
                                  </p:stCondLst>
                                  <p:childTnLst>
                                    <p:set>
                                      <p:cBhvr>
                                        <p:cTn id="1366" dur="1" fill="hold">
                                          <p:stCondLst>
                                            <p:cond delay="0"/>
                                          </p:stCondLst>
                                        </p:cTn>
                                        <p:tgtEl>
                                          <p:spTgt spid="386"/>
                                        </p:tgtEl>
                                        <p:attrNameLst>
                                          <p:attrName>style.visibility</p:attrName>
                                        </p:attrNameLst>
                                      </p:cBhvr>
                                      <p:to>
                                        <p:strVal val="visible"/>
                                      </p:to>
                                    </p:set>
                                    <p:animEffect filter="wipe(left)" transition="in">
                                      <p:cBhvr additive="repl">
                                        <p:cTn id="1367" dur="1000"/>
                                        <p:tgtEl>
                                          <p:spTgt spid="386"/>
                                        </p:tgtEl>
                                      </p:cBhvr>
                                    </p:animEffect>
                                  </p:childTnLst>
                                </p:cTn>
                              </p:par>
                            </p:childTnLst>
                          </p:cTn>
                        </p:par>
                      </p:childTnLst>
                    </p:cTn>
                  </p:par>
                  <p:par>
                    <p:cTn id="1368" nodeType="clickEffect" fill="hold">
                      <p:stCondLst>
                        <p:cond delay="indefinite"/>
                      </p:stCondLst>
                      <p:childTnLst>
                        <p:par>
                          <p:cTn id="1369" nodeType="withEffect" fill="hold">
                            <p:stCondLst>
                              <p:cond delay="0"/>
                            </p:stCondLst>
                            <p:childTnLst>
                              <p:par>
                                <p:cTn id="1370" nodeType="clickEffect" fill="hold" presetClass="entr" presetID="22" presetSubtype="8">
                                  <p:stCondLst>
                                    <p:cond delay="0"/>
                                  </p:stCondLst>
                                  <p:childTnLst>
                                    <p:set>
                                      <p:cBhvr>
                                        <p:cTn id="1371" dur="1" fill="hold">
                                          <p:stCondLst>
                                            <p:cond delay="0"/>
                                          </p:stCondLst>
                                        </p:cTn>
                                        <p:tgtEl>
                                          <p:spTgt spid="387"/>
                                        </p:tgtEl>
                                        <p:attrNameLst>
                                          <p:attrName>style.visibility</p:attrName>
                                        </p:attrNameLst>
                                      </p:cBhvr>
                                      <p:to>
                                        <p:strVal val="visible"/>
                                      </p:to>
                                    </p:set>
                                    <p:animEffect filter="wipe(left)" transition="in">
                                      <p:cBhvr additive="repl">
                                        <p:cTn id="1372" dur="1000"/>
                                        <p:tgtEl>
                                          <p:spTgt spid="387"/>
                                        </p:tgtEl>
                                      </p:cBhvr>
                                    </p:animEffect>
                                  </p:childTnLst>
                                </p:cTn>
                              </p:par>
                            </p:childTnLst>
                          </p:cTn>
                        </p:par>
                      </p:childTnLst>
                    </p:cTn>
                  </p:par>
                  <p:par>
                    <p:cTn id="1373" nodeType="clickEffect" fill="hold">
                      <p:stCondLst>
                        <p:cond delay="indefinite"/>
                      </p:stCondLst>
                      <p:childTnLst>
                        <p:par>
                          <p:cTn id="1374" nodeType="withEffect" fill="hold">
                            <p:stCondLst>
                              <p:cond delay="0"/>
                            </p:stCondLst>
                            <p:childTnLst>
                              <p:par>
                                <p:cTn id="1375" nodeType="clickEffect" fill="hold" presetClass="entr" presetID="22" presetSubtype="8">
                                  <p:stCondLst>
                                    <p:cond delay="0"/>
                                  </p:stCondLst>
                                  <p:childTnLst>
                                    <p:set>
                                      <p:cBhvr>
                                        <p:cTn id="1376" dur="1" fill="hold">
                                          <p:stCondLst>
                                            <p:cond delay="0"/>
                                          </p:stCondLst>
                                        </p:cTn>
                                        <p:tgtEl>
                                          <p:spTgt spid="388"/>
                                        </p:tgtEl>
                                        <p:attrNameLst>
                                          <p:attrName>style.visibility</p:attrName>
                                        </p:attrNameLst>
                                      </p:cBhvr>
                                      <p:to>
                                        <p:strVal val="visible"/>
                                      </p:to>
                                    </p:set>
                                    <p:animEffect filter="wipe(left)" transition="in">
                                      <p:cBhvr additive="repl">
                                        <p:cTn id="1377" dur="1000"/>
                                        <p:tgtEl>
                                          <p:spTgt spid="388"/>
                                        </p:tgtEl>
                                      </p:cBhvr>
                                    </p:animEffect>
                                  </p:childTnLst>
                                </p:cTn>
                              </p:par>
                            </p:childTnLst>
                          </p:cTn>
                        </p:par>
                      </p:childTnLst>
                    </p:cTn>
                  </p:par>
                  <p:par>
                    <p:cTn id="1378" nodeType="clickEffect" fill="hold">
                      <p:stCondLst>
                        <p:cond delay="indefinite"/>
                      </p:stCondLst>
                      <p:childTnLst>
                        <p:par>
                          <p:cTn id="1379" nodeType="withEffect" fill="hold">
                            <p:stCondLst>
                              <p:cond delay="0"/>
                            </p:stCondLst>
                            <p:childTnLst>
                              <p:par>
                                <p:cTn id="1380" nodeType="clickEffect" fill="hold" presetClass="entr" presetID="22" presetSubtype="8">
                                  <p:stCondLst>
                                    <p:cond delay="0"/>
                                  </p:stCondLst>
                                  <p:childTnLst>
                                    <p:set>
                                      <p:cBhvr>
                                        <p:cTn id="1381" dur="1" fill="hold">
                                          <p:stCondLst>
                                            <p:cond delay="0"/>
                                          </p:stCondLst>
                                        </p:cTn>
                                        <p:tgtEl>
                                          <p:spTgt spid="389"/>
                                        </p:tgtEl>
                                        <p:attrNameLst>
                                          <p:attrName>style.visibility</p:attrName>
                                        </p:attrNameLst>
                                      </p:cBhvr>
                                      <p:to>
                                        <p:strVal val="visible"/>
                                      </p:to>
                                    </p:set>
                                    <p:animEffect filter="wipe(left)" transition="in">
                                      <p:cBhvr additive="repl">
                                        <p:cTn id="1382" dur="1000"/>
                                        <p:tgtEl>
                                          <p:spTgt spid="389"/>
                                        </p:tgtEl>
                                      </p:cBhvr>
                                    </p:animEffect>
                                  </p:childTnLst>
                                </p:cTn>
                              </p:par>
                            </p:childTnLst>
                          </p:cTn>
                        </p:par>
                      </p:childTnLst>
                    </p:cTn>
                  </p:par>
                  <p:par>
                    <p:cTn id="1383" nodeType="clickEffect" fill="hold">
                      <p:stCondLst>
                        <p:cond delay="indefinite"/>
                      </p:stCondLst>
                      <p:childTnLst>
                        <p:par>
                          <p:cTn id="1384" nodeType="withEffect" fill="hold">
                            <p:stCondLst>
                              <p:cond delay="0"/>
                            </p:stCondLst>
                            <p:childTnLst>
                              <p:par>
                                <p:cTn id="1385" nodeType="clickEffect" fill="hold" presetClass="entr" presetID="22" presetSubtype="8">
                                  <p:stCondLst>
                                    <p:cond delay="0"/>
                                  </p:stCondLst>
                                  <p:childTnLst>
                                    <p:set>
                                      <p:cBhvr>
                                        <p:cTn id="1386" dur="1" fill="hold">
                                          <p:stCondLst>
                                            <p:cond delay="0"/>
                                          </p:stCondLst>
                                        </p:cTn>
                                        <p:tgtEl>
                                          <p:spTgt spid="390"/>
                                        </p:tgtEl>
                                        <p:attrNameLst>
                                          <p:attrName>style.visibility</p:attrName>
                                        </p:attrNameLst>
                                      </p:cBhvr>
                                      <p:to>
                                        <p:strVal val="visible"/>
                                      </p:to>
                                    </p:set>
                                    <p:animEffect filter="wipe(left)" transition="in">
                                      <p:cBhvr additive="repl">
                                        <p:cTn id="1387" dur="1000"/>
                                        <p:tgtEl>
                                          <p:spTgt spid="390"/>
                                        </p:tgtEl>
                                      </p:cBhvr>
                                    </p:animEffect>
                                  </p:childTnLst>
                                </p:cTn>
                              </p:par>
                            </p:childTnLst>
                          </p:cTn>
                        </p:par>
                      </p:childTnLst>
                    </p:cTn>
                  </p:par>
                  <p:par>
                    <p:cTn id="1388" nodeType="clickEffect" fill="hold">
                      <p:stCondLst>
                        <p:cond delay="indefinite"/>
                      </p:stCondLst>
                      <p:childTnLst>
                        <p:par>
                          <p:cTn id="1389" nodeType="withEffect" fill="hold">
                            <p:stCondLst>
                              <p:cond delay="0"/>
                            </p:stCondLst>
                            <p:childTnLst>
                              <p:par>
                                <p:cTn id="1390" nodeType="clickEffect" fill="hold" presetClass="entr" presetID="10">
                                  <p:stCondLst>
                                    <p:cond delay="0"/>
                                  </p:stCondLst>
                                  <p:childTnLst>
                                    <p:set>
                                      <p:cBhvr>
                                        <p:cTn id="1391" dur="1" fill="hold">
                                          <p:stCondLst>
                                            <p:cond delay="0"/>
                                          </p:stCondLst>
                                        </p:cTn>
                                        <p:tgtEl>
                                          <p:spTgt spid="391"/>
                                        </p:tgtEl>
                                        <p:attrNameLst>
                                          <p:attrName>style.visibility</p:attrName>
                                        </p:attrNameLst>
                                      </p:cBhvr>
                                      <p:to>
                                        <p:strVal val="visible"/>
                                      </p:to>
                                    </p:set>
                                    <p:animEffect filter="fade" transition="in">
                                      <p:cBhvr additive="repl">
                                        <p:cTn id="1392" dur="500"/>
                                        <p:tgtEl>
                                          <p:spTgt spid="391"/>
                                        </p:tgtEl>
                                      </p:cBhvr>
                                    </p:animEffect>
                                  </p:childTnLst>
                                </p:cTn>
                              </p:par>
                            </p:childTnLst>
                          </p:cTn>
                        </p:par>
                      </p:childTnLst>
                    </p:cTn>
                  </p:par>
                  <p:par>
                    <p:cTn id="1393" nodeType="clickEffect" fill="hold">
                      <p:stCondLst>
                        <p:cond delay="indefinite"/>
                      </p:stCondLst>
                      <p:childTnLst>
                        <p:par>
                          <p:cTn id="1394" nodeType="withEffect" fill="hold">
                            <p:stCondLst>
                              <p:cond delay="0"/>
                            </p:stCondLst>
                            <p:childTnLst>
                              <p:par>
                                <p:cTn id="1395" nodeType="clickEffect" fill="hold" presetClass="entr" presetID="10">
                                  <p:stCondLst>
                                    <p:cond delay="0"/>
                                  </p:stCondLst>
                                  <p:childTnLst>
                                    <p:set>
                                      <p:cBhvr>
                                        <p:cTn id="1396" dur="1" fill="hold">
                                          <p:stCondLst>
                                            <p:cond delay="0"/>
                                          </p:stCondLst>
                                        </p:cTn>
                                        <p:tgtEl>
                                          <p:spTgt spid="392"/>
                                        </p:tgtEl>
                                        <p:attrNameLst>
                                          <p:attrName>style.visibility</p:attrName>
                                        </p:attrNameLst>
                                      </p:cBhvr>
                                      <p:to>
                                        <p:strVal val="visible"/>
                                      </p:to>
                                    </p:set>
                                    <p:animEffect filter="fade" transition="in">
                                      <p:cBhvr additive="repl">
                                        <p:cTn id="1397" dur="500"/>
                                        <p:tgtEl>
                                          <p:spTgt spid="392"/>
                                        </p:tgtEl>
                                      </p:cBhvr>
                                    </p:animEffect>
                                  </p:childTnLst>
                                </p:cTn>
                              </p:par>
                            </p:childTnLst>
                          </p:cTn>
                        </p:par>
                      </p:childTnLst>
                    </p:cTn>
                  </p:par>
                  <p:par>
                    <p:cTn id="1398" nodeType="clickEffect" fill="hold">
                      <p:stCondLst>
                        <p:cond delay="indefinite"/>
                      </p:stCondLst>
                      <p:childTnLst>
                        <p:par>
                          <p:cTn id="1399" nodeType="withEffect" fill="hold">
                            <p:stCondLst>
                              <p:cond delay="0"/>
                            </p:stCondLst>
                            <p:childTnLst>
                              <p:par>
                                <p:cTn id="1400" nodeType="clickEffect" fill="hold" presetClass="entr" presetID="10">
                                  <p:stCondLst>
                                    <p:cond delay="0"/>
                                  </p:stCondLst>
                                  <p:childTnLst>
                                    <p:set>
                                      <p:cBhvr>
                                        <p:cTn id="1401" dur="1" fill="hold">
                                          <p:stCondLst>
                                            <p:cond delay="0"/>
                                          </p:stCondLst>
                                        </p:cTn>
                                        <p:tgtEl>
                                          <p:spTgt spid="393"/>
                                        </p:tgtEl>
                                        <p:attrNameLst>
                                          <p:attrName>style.visibility</p:attrName>
                                        </p:attrNameLst>
                                      </p:cBhvr>
                                      <p:to>
                                        <p:strVal val="visible"/>
                                      </p:to>
                                    </p:set>
                                    <p:animEffect filter="fade" transition="in">
                                      <p:cBhvr additive="repl">
                                        <p:cTn id="1402"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395" name="PlaceHolder 2"/>
          <p:cNvSpPr>
            <a:spLocks noGrp="1"/>
          </p:cNvSpPr>
          <p:nvPr>
            <p:ph/>
          </p:nvPr>
        </p:nvSpPr>
        <p:spPr>
          <a:xfrm>
            <a:off x="360360" y="1440000"/>
            <a:ext cx="83005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With its current plant, Sam’s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 is </a:t>
            </a:r>
            <a:r>
              <a:rPr b="0" i="1" lang="en-US" sz="2400" strike="noStrike" u="none">
                <a:solidFill>
                  <a:srgbClr val="000000"/>
                </a:solidFill>
                <a:effectLst/>
                <a:uFillTx/>
                <a:latin typeface="Arial"/>
                <a:ea typeface="ＭＳ Ｐゴシック"/>
              </a:rPr>
              <a:t>ATC</a:t>
            </a:r>
            <a:r>
              <a:rPr b="0" lang="en-US" sz="2400" strike="noStrike" u="none" baseline="-25000">
                <a:solidFill>
                  <a:srgbClr val="000000"/>
                </a:solidFill>
                <a:effectLst/>
                <a:uFillTx/>
                <a:latin typeface="Arial"/>
                <a:ea typeface="ＭＳ Ｐゴシック"/>
              </a:rPr>
              <a:t>1</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With successively larger plants, Sam’s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curves would be </a:t>
            </a:r>
            <a:r>
              <a:rPr b="0" i="1" lang="en-US" sz="2400" strike="noStrike" u="none">
                <a:solidFill>
                  <a:srgbClr val="000000"/>
                </a:solidFill>
                <a:effectLst/>
                <a:uFillTx/>
                <a:latin typeface="Arial"/>
                <a:ea typeface="ＭＳ Ｐゴシック"/>
              </a:rPr>
              <a:t>ATC</a:t>
            </a:r>
            <a:r>
              <a:rPr b="0" lang="en-US" sz="2400" strike="noStrike" u="none" baseline="-25000">
                <a:solidFill>
                  <a:srgbClr val="000000"/>
                </a:solidFill>
                <a:effectLst/>
                <a:uFillTx/>
                <a:latin typeface="Arial"/>
                <a:ea typeface="ＭＳ Ｐゴシック"/>
              </a:rPr>
              <a:t>2</a:t>
            </a:r>
            <a:r>
              <a:rPr b="0" lang="en-US" sz="2400" strike="noStrike" u="none">
                <a:solidFill>
                  <a:srgbClr val="000000"/>
                </a:solidFill>
                <a:effectLst/>
                <a:uFillTx/>
                <a:latin typeface="Arial"/>
                <a:ea typeface="ＭＳ Ｐゴシック"/>
              </a:rPr>
              <a:t>,</a:t>
            </a:r>
            <a:r>
              <a:rPr b="0" lang="en-US" sz="2400" strike="noStrike" u="none" baseline="-25000">
                <a:solidFill>
                  <a:srgbClr val="000000"/>
                </a:solidFill>
                <a:effectLst/>
                <a:uFillTx/>
                <a:latin typeface="Arial"/>
                <a:ea typeface="ＭＳ Ｐゴシック"/>
              </a:rPr>
              <a:t> </a:t>
            </a:r>
            <a:r>
              <a:rPr b="0" i="1" lang="en-US" sz="2400" strike="noStrike" u="none">
                <a:solidFill>
                  <a:srgbClr val="000000"/>
                </a:solidFill>
                <a:effectLst/>
                <a:uFillTx/>
                <a:latin typeface="Arial"/>
                <a:ea typeface="ＭＳ Ｐゴシック"/>
              </a:rPr>
              <a:t>ATC</a:t>
            </a:r>
            <a:r>
              <a:rPr b="0" lang="en-US" sz="2400" strike="noStrike" u="none" baseline="-25000">
                <a:solidFill>
                  <a:srgbClr val="000000"/>
                </a:solidFill>
                <a:effectLst/>
                <a:uFillTx/>
                <a:latin typeface="Arial"/>
                <a:ea typeface="ＭＳ Ｐゴシック"/>
              </a:rPr>
              <a:t>3</a:t>
            </a:r>
            <a:r>
              <a:rPr b="0" lang="en-US" sz="2400" strike="noStrike" u="none">
                <a:solidFill>
                  <a:srgbClr val="000000"/>
                </a:solidFill>
                <a:effectLst/>
                <a:uFillTx/>
                <a:latin typeface="Arial"/>
                <a:ea typeface="ＭＳ Ｐゴシック"/>
              </a:rPr>
              <a:t>,</a:t>
            </a:r>
            <a:r>
              <a:rPr b="1" lang="en-US" sz="2400" strike="noStrike" u="none">
                <a:solidFill>
                  <a:srgbClr val="000000"/>
                </a:solidFill>
                <a:effectLst/>
                <a:uFillTx/>
                <a:latin typeface="Arial"/>
                <a:ea typeface="ＭＳ Ｐゴシック"/>
              </a:rPr>
              <a:t> </a:t>
            </a:r>
            <a:r>
              <a:rPr b="0" lang="en-US" sz="2400" strike="noStrike" u="none">
                <a:solidFill>
                  <a:srgbClr val="000000"/>
                </a:solidFill>
                <a:effectLst/>
                <a:uFillTx/>
                <a:latin typeface="Arial"/>
                <a:ea typeface="ＭＳ Ｐゴシック"/>
              </a:rPr>
              <a:t>and </a:t>
            </a:r>
            <a:r>
              <a:rPr b="0" i="1" lang="en-US" sz="2400" strike="noStrike" u="none">
                <a:solidFill>
                  <a:srgbClr val="000000"/>
                </a:solidFill>
                <a:effectLst/>
                <a:uFillTx/>
                <a:latin typeface="Arial"/>
                <a:ea typeface="ＭＳ Ｐゴシック"/>
              </a:rPr>
              <a:t>ATC</a:t>
            </a:r>
            <a:r>
              <a:rPr b="0" lang="en-US" sz="2400" strike="noStrike" u="none" baseline="-25000">
                <a:solidFill>
                  <a:srgbClr val="000000"/>
                </a:solidFill>
                <a:effectLst/>
                <a:uFillTx/>
                <a:latin typeface="Arial"/>
                <a:ea typeface="ＭＳ Ｐゴシック"/>
              </a:rPr>
              <a:t>4</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396" name="Picture 8" descr=""/>
          <p:cNvPicPr/>
          <p:nvPr/>
        </p:nvPicPr>
        <p:blipFill>
          <a:blip r:embed="rId1"/>
          <a:stretch/>
        </p:blipFill>
        <p:spPr>
          <a:xfrm>
            <a:off x="1371600" y="2921040"/>
            <a:ext cx="6194160" cy="3673080"/>
          </a:xfrm>
          <a:prstGeom prst="rect">
            <a:avLst/>
          </a:prstGeom>
          <a:noFill/>
          <a:ln w="0">
            <a:noFill/>
          </a:ln>
        </p:spPr>
      </p:pic>
      <p:pic>
        <p:nvPicPr>
          <p:cNvPr id="397" name="Picture 9" descr=""/>
          <p:cNvPicPr/>
          <p:nvPr/>
        </p:nvPicPr>
        <p:blipFill>
          <a:blip r:embed="rId2"/>
          <a:stretch/>
        </p:blipFill>
        <p:spPr>
          <a:xfrm>
            <a:off x="1371600" y="2921040"/>
            <a:ext cx="6194160" cy="3673080"/>
          </a:xfrm>
          <a:prstGeom prst="rect">
            <a:avLst/>
          </a:prstGeom>
          <a:noFill/>
          <a:ln w="0">
            <a:noFill/>
          </a:ln>
        </p:spPr>
      </p:pic>
      <p:pic>
        <p:nvPicPr>
          <p:cNvPr id="398" name="Picture 10" descr=""/>
          <p:cNvPicPr/>
          <p:nvPr/>
        </p:nvPicPr>
        <p:blipFill>
          <a:blip r:embed="rId3"/>
          <a:stretch/>
        </p:blipFill>
        <p:spPr>
          <a:xfrm>
            <a:off x="1371600" y="2921040"/>
            <a:ext cx="6194160" cy="3673080"/>
          </a:xfrm>
          <a:prstGeom prst="rect">
            <a:avLst/>
          </a:prstGeom>
          <a:noFill/>
          <a:ln w="0">
            <a:noFill/>
          </a:ln>
        </p:spPr>
      </p:pic>
      <p:pic>
        <p:nvPicPr>
          <p:cNvPr id="399" name="Picture 11" descr=""/>
          <p:cNvPicPr/>
          <p:nvPr/>
        </p:nvPicPr>
        <p:blipFill>
          <a:blip r:embed="rId4"/>
          <a:stretch/>
        </p:blipFill>
        <p:spPr>
          <a:xfrm>
            <a:off x="1371600" y="2921040"/>
            <a:ext cx="6194160" cy="3673080"/>
          </a:xfrm>
          <a:prstGeom prst="rect">
            <a:avLst/>
          </a:prstGeom>
          <a:noFill/>
          <a:ln w="0">
            <a:noFill/>
          </a:ln>
        </p:spPr>
      </p:pic>
      <p:pic>
        <p:nvPicPr>
          <p:cNvPr id="400" name="Picture 16" descr=""/>
          <p:cNvPicPr/>
          <p:nvPr/>
        </p:nvPicPr>
        <p:blipFill>
          <a:blip r:embed="rId5"/>
          <a:stretch/>
        </p:blipFill>
        <p:spPr>
          <a:xfrm>
            <a:off x="1371600" y="2921040"/>
            <a:ext cx="6194160" cy="3673080"/>
          </a:xfrm>
          <a:prstGeom prst="rect">
            <a:avLst/>
          </a:prstGeom>
          <a:noFill/>
          <a:ln w="0">
            <a:noFill/>
          </a:ln>
        </p:spPr>
      </p:pic>
    </p:spTree>
  </p:cSld>
  <p:transition spd="slow">
    <p:wipe dir="r"/>
  </p:transition>
  <p:timing>
    <p:tnLst>
      <p:par>
        <p:cTn id="1403" dur="indefinite" restart="never" nodeType="tmRoot">
          <p:childTnLst>
            <p:seq>
              <p:cTn id="1404" dur="indefinite" nodeType="mainSeq">
                <p:childTnLst>
                  <p:par>
                    <p:cTn id="1405" nodeType="clickEffect" fill="hold">
                      <p:stCondLst>
                        <p:cond delay="0"/>
                      </p:stCondLst>
                      <p:childTnLst>
                        <p:par>
                          <p:cTn id="1406" nodeType="withEffect" fill="hold">
                            <p:stCondLst>
                              <p:cond delay="0"/>
                            </p:stCondLst>
                            <p:childTnLst>
                              <p:par>
                                <p:cTn id="1407" nodeType="withEffect" fill="hold" presetClass="entr" presetID="22" presetSubtype="8">
                                  <p:stCondLst>
                                    <p:cond delay="0"/>
                                  </p:stCondLst>
                                  <p:childTnLst>
                                    <p:set>
                                      <p:cBhvr>
                                        <p:cTn id="1408" dur="1" fill="hold">
                                          <p:stCondLst>
                                            <p:cond delay="0"/>
                                          </p:stCondLst>
                                        </p:cTn>
                                        <p:tgtEl>
                                          <p:spTgt spid="397"/>
                                        </p:tgtEl>
                                        <p:attrNameLst>
                                          <p:attrName>style.visibility</p:attrName>
                                        </p:attrNameLst>
                                      </p:cBhvr>
                                      <p:to>
                                        <p:strVal val="visible"/>
                                      </p:to>
                                    </p:set>
                                    <p:animEffect filter="wipe(left)" transition="in">
                                      <p:cBhvr additive="repl">
                                        <p:cTn id="1409" dur="1000"/>
                                        <p:tgtEl>
                                          <p:spTgt spid="397"/>
                                        </p:tgtEl>
                                      </p:cBhvr>
                                    </p:animEffect>
                                  </p:childTnLst>
                                </p:cTn>
                              </p:par>
                            </p:childTnLst>
                          </p:cTn>
                        </p:par>
                      </p:childTnLst>
                    </p:cTn>
                  </p:par>
                  <p:par>
                    <p:cTn id="1410" nodeType="clickEffect" fill="hold">
                      <p:stCondLst>
                        <p:cond delay="indefinite"/>
                      </p:stCondLst>
                      <p:childTnLst>
                        <p:par>
                          <p:cTn id="1411" nodeType="withEffect" fill="hold">
                            <p:stCondLst>
                              <p:cond delay="0"/>
                            </p:stCondLst>
                            <p:childTnLst>
                              <p:par>
                                <p:cTn id="1412" nodeType="clickEffect" fill="hold" presetClass="entr" presetID="22" presetSubtype="8">
                                  <p:stCondLst>
                                    <p:cond delay="0"/>
                                  </p:stCondLst>
                                  <p:childTnLst>
                                    <p:set>
                                      <p:cBhvr>
                                        <p:cTn id="1413" dur="1" fill="hold">
                                          <p:stCondLst>
                                            <p:cond delay="0"/>
                                          </p:stCondLst>
                                        </p:cTn>
                                        <p:tgtEl>
                                          <p:spTgt spid="395">
                                            <p:txEl>
                                              <p:pRg st="1" end="1"/>
                                            </p:txEl>
                                          </p:spTgt>
                                        </p:tgtEl>
                                        <p:attrNameLst>
                                          <p:attrName>style.visibility</p:attrName>
                                        </p:attrNameLst>
                                      </p:cBhvr>
                                      <p:to>
                                        <p:strVal val="visible"/>
                                      </p:to>
                                    </p:set>
                                    <p:animEffect filter="wipe(left)" transition="in">
                                      <p:cBhvr additive="repl">
                                        <p:cTn id="1414" dur="500"/>
                                        <p:tgtEl>
                                          <p:spTgt spid="395">
                                            <p:txEl>
                                              <p:pRg st="1" end="1"/>
                                            </p:txEl>
                                          </p:spTgt>
                                        </p:tgtEl>
                                      </p:cBhvr>
                                    </p:animEffect>
                                  </p:childTnLst>
                                </p:cTn>
                              </p:par>
                              <p:par>
                                <p:cTn id="1415" nodeType="withEffect" fill="hold" presetClass="entr" presetID="22" presetSubtype="8">
                                  <p:stCondLst>
                                    <p:cond delay="0"/>
                                  </p:stCondLst>
                                  <p:childTnLst>
                                    <p:set>
                                      <p:cBhvr>
                                        <p:cTn id="1416" dur="1" fill="hold">
                                          <p:stCondLst>
                                            <p:cond delay="0"/>
                                          </p:stCondLst>
                                        </p:cTn>
                                        <p:tgtEl>
                                          <p:spTgt spid="398"/>
                                        </p:tgtEl>
                                        <p:attrNameLst>
                                          <p:attrName>style.visibility</p:attrName>
                                        </p:attrNameLst>
                                      </p:cBhvr>
                                      <p:to>
                                        <p:strVal val="visible"/>
                                      </p:to>
                                    </p:set>
                                    <p:animEffect filter="wipe(left)" transition="in">
                                      <p:cBhvr additive="repl">
                                        <p:cTn id="1417" dur="1000"/>
                                        <p:tgtEl>
                                          <p:spTgt spid="398"/>
                                        </p:tgtEl>
                                      </p:cBhvr>
                                    </p:animEffect>
                                  </p:childTnLst>
                                </p:cTn>
                              </p:par>
                              <p:par>
                                <p:cTn id="1418" nodeType="withEffect" fill="hold" presetClass="entr" presetID="22" presetSubtype="8">
                                  <p:stCondLst>
                                    <p:cond delay="900"/>
                                  </p:stCondLst>
                                  <p:childTnLst>
                                    <p:set>
                                      <p:cBhvr>
                                        <p:cTn id="1419" dur="1" fill="hold">
                                          <p:stCondLst>
                                            <p:cond delay="0"/>
                                          </p:stCondLst>
                                        </p:cTn>
                                        <p:tgtEl>
                                          <p:spTgt spid="399"/>
                                        </p:tgtEl>
                                        <p:attrNameLst>
                                          <p:attrName>style.visibility</p:attrName>
                                        </p:attrNameLst>
                                      </p:cBhvr>
                                      <p:to>
                                        <p:strVal val="visible"/>
                                      </p:to>
                                    </p:set>
                                    <p:animEffect filter="wipe(left)" transition="in">
                                      <p:cBhvr additive="repl">
                                        <p:cTn id="1420" dur="1000"/>
                                        <p:tgtEl>
                                          <p:spTgt spid="399"/>
                                        </p:tgtEl>
                                      </p:cBhvr>
                                    </p:animEffect>
                                  </p:childTnLst>
                                </p:cTn>
                              </p:par>
                              <p:par>
                                <p:cTn id="1421" nodeType="withEffect" fill="hold" presetClass="entr" presetID="22" presetSubtype="8">
                                  <p:stCondLst>
                                    <p:cond delay="1900"/>
                                  </p:stCondLst>
                                  <p:childTnLst>
                                    <p:set>
                                      <p:cBhvr>
                                        <p:cTn id="1422" dur="1" fill="hold">
                                          <p:stCondLst>
                                            <p:cond delay="0"/>
                                          </p:stCondLst>
                                        </p:cTn>
                                        <p:tgtEl>
                                          <p:spTgt spid="400"/>
                                        </p:tgtEl>
                                        <p:attrNameLst>
                                          <p:attrName>style.visibility</p:attrName>
                                        </p:attrNameLst>
                                      </p:cBhvr>
                                      <p:to>
                                        <p:strVal val="visible"/>
                                      </p:to>
                                    </p:set>
                                    <p:animEffect filter="wipe(left)" transition="in">
                                      <p:cBhvr additive="repl">
                                        <p:cTn id="1423"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40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long-run average cost curve, </a:t>
            </a:r>
            <a:r>
              <a:rPr b="0" i="1" lang="en-US" sz="2400" strike="noStrike" u="none">
                <a:solidFill>
                  <a:srgbClr val="000000"/>
                </a:solidFill>
                <a:effectLst/>
                <a:uFillTx/>
                <a:latin typeface="Arial"/>
                <a:ea typeface="ＭＳ Ｐゴシック"/>
              </a:rPr>
              <a:t>LRAC</a:t>
            </a:r>
            <a:r>
              <a:rPr b="0" lang="en-US" sz="2400" strike="noStrike" u="none">
                <a:solidFill>
                  <a:srgbClr val="000000"/>
                </a:solidFill>
                <a:effectLst/>
                <a:uFillTx/>
                <a:latin typeface="Arial"/>
                <a:ea typeface="ＭＳ Ｐゴシック"/>
              </a:rPr>
              <a:t>, traces the lowest attainable average total cost of producing each output.</a:t>
            </a:r>
            <a:endParaRPr b="1" lang="en-CA" sz="2400" strike="noStrike" u="none">
              <a:solidFill>
                <a:srgbClr val="00468f"/>
              </a:solidFill>
              <a:effectLst/>
              <a:uFillTx/>
              <a:latin typeface="Arial"/>
            </a:endParaRPr>
          </a:p>
        </p:txBody>
      </p:sp>
      <p:pic>
        <p:nvPicPr>
          <p:cNvPr id="403" name="Picture 9" descr=""/>
          <p:cNvPicPr/>
          <p:nvPr/>
        </p:nvPicPr>
        <p:blipFill>
          <a:blip r:embed="rId1"/>
          <a:stretch/>
        </p:blipFill>
        <p:spPr>
          <a:xfrm>
            <a:off x="1371600" y="2921040"/>
            <a:ext cx="6194160" cy="3673080"/>
          </a:xfrm>
          <a:prstGeom prst="rect">
            <a:avLst/>
          </a:prstGeom>
          <a:noFill/>
          <a:ln w="0">
            <a:noFill/>
          </a:ln>
        </p:spPr>
      </p:pic>
      <p:pic>
        <p:nvPicPr>
          <p:cNvPr id="404" name="Picture 10" descr=""/>
          <p:cNvPicPr/>
          <p:nvPr/>
        </p:nvPicPr>
        <p:blipFill>
          <a:blip r:embed="rId2"/>
          <a:stretch/>
        </p:blipFill>
        <p:spPr>
          <a:xfrm>
            <a:off x="1371600" y="2921040"/>
            <a:ext cx="6194160" cy="3673080"/>
          </a:xfrm>
          <a:prstGeom prst="rect">
            <a:avLst/>
          </a:prstGeom>
          <a:noFill/>
          <a:ln w="0">
            <a:noFill/>
          </a:ln>
        </p:spPr>
      </p:pic>
      <p:pic>
        <p:nvPicPr>
          <p:cNvPr id="405" name="Picture 11" descr=""/>
          <p:cNvPicPr/>
          <p:nvPr/>
        </p:nvPicPr>
        <p:blipFill>
          <a:blip r:embed="rId3"/>
          <a:stretch/>
        </p:blipFill>
        <p:spPr>
          <a:xfrm>
            <a:off x="1371600" y="2921040"/>
            <a:ext cx="6194160" cy="3673080"/>
          </a:xfrm>
          <a:prstGeom prst="rect">
            <a:avLst/>
          </a:prstGeom>
          <a:noFill/>
          <a:ln w="0">
            <a:noFill/>
          </a:ln>
        </p:spPr>
      </p:pic>
      <p:pic>
        <p:nvPicPr>
          <p:cNvPr id="406" name="Picture 12" descr=""/>
          <p:cNvPicPr/>
          <p:nvPr/>
        </p:nvPicPr>
        <p:blipFill>
          <a:blip r:embed="rId4"/>
          <a:stretch/>
        </p:blipFill>
        <p:spPr>
          <a:xfrm>
            <a:off x="1371600" y="2921040"/>
            <a:ext cx="6194160" cy="3673080"/>
          </a:xfrm>
          <a:prstGeom prst="rect">
            <a:avLst/>
          </a:prstGeom>
          <a:noFill/>
          <a:ln w="0">
            <a:noFill/>
          </a:ln>
        </p:spPr>
      </p:pic>
      <p:pic>
        <p:nvPicPr>
          <p:cNvPr id="407" name="Picture 13" descr=""/>
          <p:cNvPicPr/>
          <p:nvPr/>
        </p:nvPicPr>
        <p:blipFill>
          <a:blip r:embed="rId5"/>
          <a:stretch/>
        </p:blipFill>
        <p:spPr>
          <a:xfrm>
            <a:off x="1371600" y="2921040"/>
            <a:ext cx="6194160" cy="3673080"/>
          </a:xfrm>
          <a:prstGeom prst="rect">
            <a:avLst/>
          </a:prstGeom>
          <a:noFill/>
          <a:ln w="0">
            <a:noFill/>
          </a:ln>
        </p:spPr>
      </p:pic>
      <p:pic>
        <p:nvPicPr>
          <p:cNvPr id="408" name="Picture 15" descr=""/>
          <p:cNvPicPr/>
          <p:nvPr/>
        </p:nvPicPr>
        <p:blipFill>
          <a:blip r:embed="rId6"/>
          <a:stretch/>
        </p:blipFill>
        <p:spPr>
          <a:xfrm>
            <a:off x="1371600" y="2921040"/>
            <a:ext cx="6194160" cy="3673080"/>
          </a:xfrm>
          <a:prstGeom prst="rect">
            <a:avLst/>
          </a:prstGeom>
          <a:noFill/>
          <a:ln w="0">
            <a:noFill/>
          </a:ln>
        </p:spPr>
      </p:pic>
    </p:spTree>
  </p:cSld>
  <p:transition spd="slow">
    <p:wipe dir="r"/>
  </p:transition>
  <p:timing>
    <p:tnLst>
      <p:par>
        <p:cTn id="1424" dur="indefinite" restart="never" nodeType="tmRoot">
          <p:childTnLst>
            <p:seq>
              <p:cTn id="1425" dur="indefinite" nodeType="mainSeq">
                <p:childTnLst>
                  <p:par>
                    <p:cTn id="1426" nodeType="clickEffect" fill="hold">
                      <p:stCondLst>
                        <p:cond delay="0"/>
                      </p:stCondLst>
                      <p:childTnLst>
                        <p:par>
                          <p:cTn id="1427" nodeType="withEffect" fill="hold">
                            <p:stCondLst>
                              <p:cond delay="0"/>
                            </p:stCondLst>
                            <p:childTnLst>
                              <p:par>
                                <p:cTn id="1428" nodeType="withEffect" fill="hold" presetClass="entr" presetID="22" presetSubtype="8">
                                  <p:stCondLst>
                                    <p:cond delay="0"/>
                                  </p:stCondLst>
                                  <p:childTnLst>
                                    <p:set>
                                      <p:cBhvr>
                                        <p:cTn id="1429" dur="1" fill="hold">
                                          <p:stCondLst>
                                            <p:cond delay="0"/>
                                          </p:stCondLst>
                                        </p:cTn>
                                        <p:tgtEl>
                                          <p:spTgt spid="408"/>
                                        </p:tgtEl>
                                        <p:attrNameLst>
                                          <p:attrName>style.visibility</p:attrName>
                                        </p:attrNameLst>
                                      </p:cBhvr>
                                      <p:to>
                                        <p:strVal val="visible"/>
                                      </p:to>
                                    </p:set>
                                    <p:animEffect filter="wipe(left)" transition="in">
                                      <p:cBhvr additive="repl">
                                        <p:cTn id="1430" dur="10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41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Sam’s experiences economies of scale as output increases to 14 gallons an hour, …</a:t>
            </a:r>
            <a:endParaRPr b="1" lang="en-CA" sz="2400" strike="noStrike" u="none">
              <a:solidFill>
                <a:srgbClr val="00468f"/>
              </a:solidFill>
              <a:effectLst/>
              <a:uFillTx/>
              <a:latin typeface="Arial"/>
            </a:endParaRPr>
          </a:p>
        </p:txBody>
      </p:sp>
      <p:pic>
        <p:nvPicPr>
          <p:cNvPr id="411" name="Picture 10" descr=""/>
          <p:cNvPicPr/>
          <p:nvPr/>
        </p:nvPicPr>
        <p:blipFill>
          <a:blip r:embed="rId1"/>
          <a:stretch/>
        </p:blipFill>
        <p:spPr>
          <a:xfrm>
            <a:off x="1371600" y="2921040"/>
            <a:ext cx="6194160" cy="3673080"/>
          </a:xfrm>
          <a:prstGeom prst="rect">
            <a:avLst/>
          </a:prstGeom>
          <a:noFill/>
          <a:ln w="0">
            <a:noFill/>
          </a:ln>
        </p:spPr>
      </p:pic>
      <p:pic>
        <p:nvPicPr>
          <p:cNvPr id="412" name="Picture 11" descr=""/>
          <p:cNvPicPr/>
          <p:nvPr/>
        </p:nvPicPr>
        <p:blipFill>
          <a:blip r:embed="rId2"/>
          <a:stretch/>
        </p:blipFill>
        <p:spPr>
          <a:xfrm>
            <a:off x="1371600" y="2921040"/>
            <a:ext cx="6194160" cy="3673080"/>
          </a:xfrm>
          <a:prstGeom prst="rect">
            <a:avLst/>
          </a:prstGeom>
          <a:noFill/>
          <a:ln w="0">
            <a:noFill/>
          </a:ln>
        </p:spPr>
      </p:pic>
      <p:pic>
        <p:nvPicPr>
          <p:cNvPr id="413" name="Picture 12" descr=""/>
          <p:cNvPicPr/>
          <p:nvPr/>
        </p:nvPicPr>
        <p:blipFill>
          <a:blip r:embed="rId3"/>
          <a:stretch/>
        </p:blipFill>
        <p:spPr>
          <a:xfrm>
            <a:off x="1371600" y="2921040"/>
            <a:ext cx="6194160" cy="3673080"/>
          </a:xfrm>
          <a:prstGeom prst="rect">
            <a:avLst/>
          </a:prstGeom>
          <a:noFill/>
          <a:ln w="0">
            <a:noFill/>
          </a:ln>
        </p:spPr>
      </p:pic>
      <p:pic>
        <p:nvPicPr>
          <p:cNvPr id="414" name="Picture 13" descr=""/>
          <p:cNvPicPr/>
          <p:nvPr/>
        </p:nvPicPr>
        <p:blipFill>
          <a:blip r:embed="rId4"/>
          <a:stretch/>
        </p:blipFill>
        <p:spPr>
          <a:xfrm>
            <a:off x="1371600" y="2921040"/>
            <a:ext cx="6194160" cy="3673080"/>
          </a:xfrm>
          <a:prstGeom prst="rect">
            <a:avLst/>
          </a:prstGeom>
          <a:noFill/>
          <a:ln w="0">
            <a:noFill/>
          </a:ln>
        </p:spPr>
      </p:pic>
      <p:pic>
        <p:nvPicPr>
          <p:cNvPr id="415" name="Picture 14" descr=""/>
          <p:cNvPicPr/>
          <p:nvPr/>
        </p:nvPicPr>
        <p:blipFill>
          <a:blip r:embed="rId5"/>
          <a:stretch/>
        </p:blipFill>
        <p:spPr>
          <a:xfrm>
            <a:off x="1371600" y="2921040"/>
            <a:ext cx="6194160" cy="3673080"/>
          </a:xfrm>
          <a:prstGeom prst="rect">
            <a:avLst/>
          </a:prstGeom>
          <a:noFill/>
          <a:ln w="0">
            <a:noFill/>
          </a:ln>
        </p:spPr>
      </p:pic>
      <p:pic>
        <p:nvPicPr>
          <p:cNvPr id="416" name="Picture 15" descr=""/>
          <p:cNvPicPr/>
          <p:nvPr/>
        </p:nvPicPr>
        <p:blipFill>
          <a:blip r:embed="rId6"/>
          <a:stretch/>
        </p:blipFill>
        <p:spPr>
          <a:xfrm>
            <a:off x="1371600" y="2921040"/>
            <a:ext cx="6194160" cy="3673080"/>
          </a:xfrm>
          <a:prstGeom prst="rect">
            <a:avLst/>
          </a:prstGeom>
          <a:noFill/>
          <a:ln w="0">
            <a:noFill/>
          </a:ln>
        </p:spPr>
      </p:pic>
      <p:pic>
        <p:nvPicPr>
          <p:cNvPr id="417" name="Picture 16" descr=""/>
          <p:cNvPicPr/>
          <p:nvPr/>
        </p:nvPicPr>
        <p:blipFill>
          <a:blip r:embed="rId7"/>
          <a:stretch/>
        </p:blipFill>
        <p:spPr>
          <a:xfrm>
            <a:off x="1371600" y="2921040"/>
            <a:ext cx="6194160" cy="3673080"/>
          </a:xfrm>
          <a:prstGeom prst="rect">
            <a:avLst/>
          </a:prstGeom>
          <a:noFill/>
          <a:ln w="0">
            <a:noFill/>
          </a:ln>
        </p:spPr>
      </p:pic>
    </p:spTree>
  </p:cSld>
  <p:transition spd="slow">
    <p:wipe dir="r"/>
  </p:transition>
  <p:timing>
    <p:tnLst>
      <p:par>
        <p:cTn id="1431" dur="indefinite" restart="never" nodeType="tmRoot">
          <p:childTnLst>
            <p:seq>
              <p:cTn id="1432" dur="indefinite" nodeType="mainSeq">
                <p:childTnLst>
                  <p:par>
                    <p:cTn id="1433" nodeType="clickEffect" fill="hold">
                      <p:stCondLst>
                        <p:cond delay="0"/>
                      </p:stCondLst>
                      <p:childTnLst>
                        <p:par>
                          <p:cTn id="1434" nodeType="withEffect" fill="hold">
                            <p:stCondLst>
                              <p:cond delay="0"/>
                            </p:stCondLst>
                            <p:childTnLst>
                              <p:par>
                                <p:cTn id="1435" nodeType="withEffect" fill="hold" presetClass="entr" presetID="10">
                                  <p:stCondLst>
                                    <p:cond delay="0"/>
                                  </p:stCondLst>
                                  <p:childTnLst>
                                    <p:set>
                                      <p:cBhvr>
                                        <p:cTn id="1436" dur="1" fill="hold">
                                          <p:stCondLst>
                                            <p:cond delay="0"/>
                                          </p:stCondLst>
                                        </p:cTn>
                                        <p:tgtEl>
                                          <p:spTgt spid="417"/>
                                        </p:tgtEl>
                                        <p:attrNameLst>
                                          <p:attrName>style.visibility</p:attrName>
                                        </p:attrNameLst>
                                      </p:cBhvr>
                                      <p:to>
                                        <p:strVal val="visible"/>
                                      </p:to>
                                    </p:set>
                                    <p:animEffect filter="fade" transition="in">
                                      <p:cBhvr additive="repl">
                                        <p:cTn id="1437" dur="5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41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constant returns to scale for outputs between 14 gallons and 19 gallons an hour, …</a:t>
            </a:r>
            <a:endParaRPr b="1" lang="en-CA" sz="2400" strike="noStrike" u="none">
              <a:solidFill>
                <a:srgbClr val="00468f"/>
              </a:solidFill>
              <a:effectLst/>
              <a:uFillTx/>
              <a:latin typeface="Arial"/>
            </a:endParaRPr>
          </a:p>
        </p:txBody>
      </p:sp>
      <p:pic>
        <p:nvPicPr>
          <p:cNvPr id="420" name="Picture 11" descr=""/>
          <p:cNvPicPr/>
          <p:nvPr/>
        </p:nvPicPr>
        <p:blipFill>
          <a:blip r:embed="rId1"/>
          <a:stretch/>
        </p:blipFill>
        <p:spPr>
          <a:xfrm>
            <a:off x="1371600" y="2921040"/>
            <a:ext cx="6194160" cy="3673080"/>
          </a:xfrm>
          <a:prstGeom prst="rect">
            <a:avLst/>
          </a:prstGeom>
          <a:noFill/>
          <a:ln w="0">
            <a:noFill/>
          </a:ln>
        </p:spPr>
      </p:pic>
      <p:pic>
        <p:nvPicPr>
          <p:cNvPr id="421" name="Picture 12" descr=""/>
          <p:cNvPicPr/>
          <p:nvPr/>
        </p:nvPicPr>
        <p:blipFill>
          <a:blip r:embed="rId2"/>
          <a:stretch/>
        </p:blipFill>
        <p:spPr>
          <a:xfrm>
            <a:off x="1371600" y="2921040"/>
            <a:ext cx="6194160" cy="3673080"/>
          </a:xfrm>
          <a:prstGeom prst="rect">
            <a:avLst/>
          </a:prstGeom>
          <a:noFill/>
          <a:ln w="0">
            <a:noFill/>
          </a:ln>
        </p:spPr>
      </p:pic>
      <p:pic>
        <p:nvPicPr>
          <p:cNvPr id="422" name="Picture 13" descr=""/>
          <p:cNvPicPr/>
          <p:nvPr/>
        </p:nvPicPr>
        <p:blipFill>
          <a:blip r:embed="rId3"/>
          <a:stretch/>
        </p:blipFill>
        <p:spPr>
          <a:xfrm>
            <a:off x="1371600" y="2921040"/>
            <a:ext cx="6194160" cy="3673080"/>
          </a:xfrm>
          <a:prstGeom prst="rect">
            <a:avLst/>
          </a:prstGeom>
          <a:noFill/>
          <a:ln w="0">
            <a:noFill/>
          </a:ln>
        </p:spPr>
      </p:pic>
      <p:pic>
        <p:nvPicPr>
          <p:cNvPr id="423" name="Picture 14" descr=""/>
          <p:cNvPicPr/>
          <p:nvPr/>
        </p:nvPicPr>
        <p:blipFill>
          <a:blip r:embed="rId4"/>
          <a:stretch/>
        </p:blipFill>
        <p:spPr>
          <a:xfrm>
            <a:off x="1371600" y="2921040"/>
            <a:ext cx="6194160" cy="3673080"/>
          </a:xfrm>
          <a:prstGeom prst="rect">
            <a:avLst/>
          </a:prstGeom>
          <a:noFill/>
          <a:ln w="0">
            <a:noFill/>
          </a:ln>
        </p:spPr>
      </p:pic>
      <p:pic>
        <p:nvPicPr>
          <p:cNvPr id="424" name="Picture 15" descr=""/>
          <p:cNvPicPr/>
          <p:nvPr/>
        </p:nvPicPr>
        <p:blipFill>
          <a:blip r:embed="rId5"/>
          <a:stretch/>
        </p:blipFill>
        <p:spPr>
          <a:xfrm>
            <a:off x="1371600" y="2921040"/>
            <a:ext cx="6194160" cy="3673080"/>
          </a:xfrm>
          <a:prstGeom prst="rect">
            <a:avLst/>
          </a:prstGeom>
          <a:noFill/>
          <a:ln w="0">
            <a:noFill/>
          </a:ln>
        </p:spPr>
      </p:pic>
      <p:pic>
        <p:nvPicPr>
          <p:cNvPr id="425" name="Picture 16" descr=""/>
          <p:cNvPicPr/>
          <p:nvPr/>
        </p:nvPicPr>
        <p:blipFill>
          <a:blip r:embed="rId6"/>
          <a:stretch/>
        </p:blipFill>
        <p:spPr>
          <a:xfrm>
            <a:off x="1371600" y="2921040"/>
            <a:ext cx="6194160" cy="3673080"/>
          </a:xfrm>
          <a:prstGeom prst="rect">
            <a:avLst/>
          </a:prstGeom>
          <a:noFill/>
          <a:ln w="0">
            <a:noFill/>
          </a:ln>
        </p:spPr>
      </p:pic>
      <p:pic>
        <p:nvPicPr>
          <p:cNvPr id="426" name="Picture 17" descr=""/>
          <p:cNvPicPr/>
          <p:nvPr/>
        </p:nvPicPr>
        <p:blipFill>
          <a:blip r:embed="rId7"/>
          <a:stretch/>
        </p:blipFill>
        <p:spPr>
          <a:xfrm>
            <a:off x="1371600" y="2921040"/>
            <a:ext cx="6194160" cy="3673080"/>
          </a:xfrm>
          <a:prstGeom prst="rect">
            <a:avLst/>
          </a:prstGeom>
          <a:noFill/>
          <a:ln w="0">
            <a:noFill/>
          </a:ln>
        </p:spPr>
      </p:pic>
      <p:pic>
        <p:nvPicPr>
          <p:cNvPr id="427" name="Picture 18" descr=""/>
          <p:cNvPicPr/>
          <p:nvPr/>
        </p:nvPicPr>
        <p:blipFill>
          <a:blip r:embed="rId8"/>
          <a:stretch/>
        </p:blipFill>
        <p:spPr>
          <a:xfrm>
            <a:off x="1371600" y="2921040"/>
            <a:ext cx="6194160" cy="3673080"/>
          </a:xfrm>
          <a:prstGeom prst="rect">
            <a:avLst/>
          </a:prstGeom>
          <a:noFill/>
          <a:ln w="0">
            <a:noFill/>
          </a:ln>
        </p:spPr>
      </p:pic>
    </p:spTree>
  </p:cSld>
  <p:transition spd="slow">
    <p:wipe dir="r"/>
  </p:transition>
  <p:timing>
    <p:tnLst>
      <p:par>
        <p:cTn id="1438" dur="indefinite" restart="never" nodeType="tmRoot">
          <p:childTnLst>
            <p:seq>
              <p:cTn id="1439" dur="indefinite" nodeType="mainSeq">
                <p:childTnLst>
                  <p:par>
                    <p:cTn id="1440" nodeType="clickEffect" fill="hold">
                      <p:stCondLst>
                        <p:cond delay="0"/>
                      </p:stCondLst>
                      <p:childTnLst>
                        <p:par>
                          <p:cTn id="1441" nodeType="withEffect" fill="hold">
                            <p:stCondLst>
                              <p:cond delay="0"/>
                            </p:stCondLst>
                            <p:childTnLst>
                              <p:par>
                                <p:cTn id="1442" nodeType="withEffect" fill="hold" presetClass="entr" presetID="10">
                                  <p:stCondLst>
                                    <p:cond delay="0"/>
                                  </p:stCondLst>
                                  <p:childTnLst>
                                    <p:set>
                                      <p:cBhvr>
                                        <p:cTn id="1443" dur="1" fill="hold">
                                          <p:stCondLst>
                                            <p:cond delay="0"/>
                                          </p:stCondLst>
                                        </p:cTn>
                                        <p:tgtEl>
                                          <p:spTgt spid="427"/>
                                        </p:tgtEl>
                                        <p:attrNameLst>
                                          <p:attrName>style.visibility</p:attrName>
                                        </p:attrNameLst>
                                      </p:cBhvr>
                                      <p:to>
                                        <p:strVal val="visible"/>
                                      </p:to>
                                    </p:set>
                                    <p:animEffect filter="fade" transition="in">
                                      <p:cBhvr additive="repl">
                                        <p:cTn id="1444" dur="500"/>
                                        <p:tgtEl>
                                          <p:spTgt spid="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14.4  LONG-RUN COST</a:t>
            </a:r>
            <a:endParaRPr b="0" lang="en-CA" sz="2600" strike="noStrike" u="none">
              <a:solidFill>
                <a:schemeClr val="dk1"/>
              </a:solidFill>
              <a:effectLst/>
              <a:uFillTx/>
              <a:latin typeface="Arial"/>
            </a:endParaRPr>
          </a:p>
        </p:txBody>
      </p:sp>
      <p:sp>
        <p:nvSpPr>
          <p:cNvPr id="42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and diseconomies of scale for outputs that exceed 19 gallons an hour.</a:t>
            </a:r>
            <a:endParaRPr b="1" lang="en-CA" sz="2400" strike="noStrike" u="none">
              <a:solidFill>
                <a:srgbClr val="00468f"/>
              </a:solidFill>
              <a:effectLst/>
              <a:uFillTx/>
              <a:latin typeface="Arial"/>
            </a:endParaRPr>
          </a:p>
        </p:txBody>
      </p:sp>
      <p:pic>
        <p:nvPicPr>
          <p:cNvPr id="430" name="Picture 12" descr=""/>
          <p:cNvPicPr/>
          <p:nvPr/>
        </p:nvPicPr>
        <p:blipFill>
          <a:blip r:embed="rId1"/>
          <a:stretch/>
        </p:blipFill>
        <p:spPr>
          <a:xfrm>
            <a:off x="1371600" y="2921040"/>
            <a:ext cx="6194160" cy="3673080"/>
          </a:xfrm>
          <a:prstGeom prst="rect">
            <a:avLst/>
          </a:prstGeom>
          <a:noFill/>
          <a:ln w="0">
            <a:noFill/>
          </a:ln>
        </p:spPr>
      </p:pic>
      <p:pic>
        <p:nvPicPr>
          <p:cNvPr id="431" name="Picture 13" descr=""/>
          <p:cNvPicPr/>
          <p:nvPr/>
        </p:nvPicPr>
        <p:blipFill>
          <a:blip r:embed="rId2"/>
          <a:stretch/>
        </p:blipFill>
        <p:spPr>
          <a:xfrm>
            <a:off x="1371600" y="2921040"/>
            <a:ext cx="6194160" cy="3673080"/>
          </a:xfrm>
          <a:prstGeom prst="rect">
            <a:avLst/>
          </a:prstGeom>
          <a:noFill/>
          <a:ln w="0">
            <a:noFill/>
          </a:ln>
        </p:spPr>
      </p:pic>
      <p:pic>
        <p:nvPicPr>
          <p:cNvPr id="432" name="Picture 14" descr=""/>
          <p:cNvPicPr/>
          <p:nvPr/>
        </p:nvPicPr>
        <p:blipFill>
          <a:blip r:embed="rId3"/>
          <a:stretch/>
        </p:blipFill>
        <p:spPr>
          <a:xfrm>
            <a:off x="1371600" y="2921040"/>
            <a:ext cx="6194160" cy="3673080"/>
          </a:xfrm>
          <a:prstGeom prst="rect">
            <a:avLst/>
          </a:prstGeom>
          <a:noFill/>
          <a:ln w="0">
            <a:noFill/>
          </a:ln>
        </p:spPr>
      </p:pic>
      <p:pic>
        <p:nvPicPr>
          <p:cNvPr id="433" name="Picture 15" descr=""/>
          <p:cNvPicPr/>
          <p:nvPr/>
        </p:nvPicPr>
        <p:blipFill>
          <a:blip r:embed="rId4"/>
          <a:stretch/>
        </p:blipFill>
        <p:spPr>
          <a:xfrm>
            <a:off x="1371600" y="2921040"/>
            <a:ext cx="6194160" cy="3673080"/>
          </a:xfrm>
          <a:prstGeom prst="rect">
            <a:avLst/>
          </a:prstGeom>
          <a:noFill/>
          <a:ln w="0">
            <a:noFill/>
          </a:ln>
        </p:spPr>
      </p:pic>
      <p:pic>
        <p:nvPicPr>
          <p:cNvPr id="434" name="Picture 16" descr=""/>
          <p:cNvPicPr/>
          <p:nvPr/>
        </p:nvPicPr>
        <p:blipFill>
          <a:blip r:embed="rId5"/>
          <a:stretch/>
        </p:blipFill>
        <p:spPr>
          <a:xfrm>
            <a:off x="1371600" y="2921040"/>
            <a:ext cx="6194160" cy="3673080"/>
          </a:xfrm>
          <a:prstGeom prst="rect">
            <a:avLst/>
          </a:prstGeom>
          <a:noFill/>
          <a:ln w="0">
            <a:noFill/>
          </a:ln>
        </p:spPr>
      </p:pic>
      <p:pic>
        <p:nvPicPr>
          <p:cNvPr id="435" name="Picture 17" descr=""/>
          <p:cNvPicPr/>
          <p:nvPr/>
        </p:nvPicPr>
        <p:blipFill>
          <a:blip r:embed="rId6"/>
          <a:stretch/>
        </p:blipFill>
        <p:spPr>
          <a:xfrm>
            <a:off x="1371600" y="2921040"/>
            <a:ext cx="6194160" cy="3673080"/>
          </a:xfrm>
          <a:prstGeom prst="rect">
            <a:avLst/>
          </a:prstGeom>
          <a:noFill/>
          <a:ln w="0">
            <a:noFill/>
          </a:ln>
        </p:spPr>
      </p:pic>
      <p:pic>
        <p:nvPicPr>
          <p:cNvPr id="436" name="Picture 18" descr=""/>
          <p:cNvPicPr/>
          <p:nvPr/>
        </p:nvPicPr>
        <p:blipFill>
          <a:blip r:embed="rId7"/>
          <a:stretch/>
        </p:blipFill>
        <p:spPr>
          <a:xfrm>
            <a:off x="1371600" y="2921040"/>
            <a:ext cx="6194160" cy="3673080"/>
          </a:xfrm>
          <a:prstGeom prst="rect">
            <a:avLst/>
          </a:prstGeom>
          <a:noFill/>
          <a:ln w="0">
            <a:noFill/>
          </a:ln>
        </p:spPr>
      </p:pic>
      <p:pic>
        <p:nvPicPr>
          <p:cNvPr id="437" name="Picture 19" descr=""/>
          <p:cNvPicPr/>
          <p:nvPr/>
        </p:nvPicPr>
        <p:blipFill>
          <a:blip r:embed="rId8"/>
          <a:stretch/>
        </p:blipFill>
        <p:spPr>
          <a:xfrm>
            <a:off x="1371600" y="2921040"/>
            <a:ext cx="6194160" cy="3673080"/>
          </a:xfrm>
          <a:prstGeom prst="rect">
            <a:avLst/>
          </a:prstGeom>
          <a:noFill/>
          <a:ln w="0">
            <a:noFill/>
          </a:ln>
        </p:spPr>
      </p:pic>
      <p:pic>
        <p:nvPicPr>
          <p:cNvPr id="438" name="Picture 20" descr=""/>
          <p:cNvPicPr/>
          <p:nvPr/>
        </p:nvPicPr>
        <p:blipFill>
          <a:blip r:embed="rId9"/>
          <a:stretch/>
        </p:blipFill>
        <p:spPr>
          <a:xfrm>
            <a:off x="1371600" y="2921040"/>
            <a:ext cx="6194160" cy="3673080"/>
          </a:xfrm>
          <a:prstGeom prst="rect">
            <a:avLst/>
          </a:prstGeom>
          <a:noFill/>
          <a:ln w="0">
            <a:noFill/>
          </a:ln>
        </p:spPr>
      </p:pic>
    </p:spTree>
  </p:cSld>
  <p:transition spd="slow">
    <p:wipe dir="r"/>
  </p:transition>
  <p:timing>
    <p:tnLst>
      <p:par>
        <p:cTn id="1445" dur="indefinite" restart="never" nodeType="tmRoot">
          <p:childTnLst>
            <p:seq>
              <p:cTn id="1446" dur="indefinite" nodeType="mainSeq">
                <p:childTnLst>
                  <p:par>
                    <p:cTn id="1447" nodeType="clickEffect" fill="hold">
                      <p:stCondLst>
                        <p:cond delay="0"/>
                      </p:stCondLst>
                      <p:childTnLst>
                        <p:par>
                          <p:cTn id="1448" nodeType="withEffect" fill="hold">
                            <p:stCondLst>
                              <p:cond delay="0"/>
                            </p:stCondLst>
                            <p:childTnLst>
                              <p:par>
                                <p:cTn id="1449" nodeType="withEffect" fill="hold" presetClass="entr" presetID="10">
                                  <p:stCondLst>
                                    <p:cond delay="0"/>
                                  </p:stCondLst>
                                  <p:childTnLst>
                                    <p:set>
                                      <p:cBhvr>
                                        <p:cTn id="1450" dur="1" fill="hold">
                                          <p:stCondLst>
                                            <p:cond delay="0"/>
                                          </p:stCondLst>
                                        </p:cTn>
                                        <p:tgtEl>
                                          <p:spTgt spid="438"/>
                                        </p:tgtEl>
                                        <p:attrNameLst>
                                          <p:attrName>style.visibility</p:attrName>
                                        </p:attrNameLst>
                                      </p:cBhvr>
                                      <p:to>
                                        <p:strVal val="visible"/>
                                      </p:to>
                                    </p:set>
                                    <p:animEffect filter="fade" transition="in">
                                      <p:cBhvr additive="repl">
                                        <p:cTn id="1451" dur="5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Rectangle 5"/>
          <p:cNvSpPr/>
          <p:nvPr/>
        </p:nvSpPr>
        <p:spPr>
          <a:xfrm>
            <a:off x="360360" y="1440000"/>
            <a:ext cx="8305560" cy="46479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Walmart’s “small” supercenters measure 99,000 square feet and serve an average of 30,000 customers a week.</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average 7–Eleven store, mostly attached to gas stations, measures 2,000 square feet and serves about 5,000 customers a week.</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Which retailing technology has the lower operating cost?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answer depends on the scale of operation.</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At a small number of customers per week, it costs less per customer to operate a store of 2,000 square feet than a store of 99,000 square feet.</a:t>
            </a:r>
            <a:endParaRPr b="0" lang="en-US" sz="2400" strike="noStrike" u="none">
              <a:solidFill>
                <a:srgbClr val="000000"/>
              </a:solidFill>
              <a:effectLst/>
              <a:uFillTx/>
              <a:latin typeface="Arial"/>
            </a:endParaRPr>
          </a:p>
        </p:txBody>
      </p:sp>
      <p:pic>
        <p:nvPicPr>
          <p:cNvPr id="440" name="Picture 1" descr=""/>
          <p:cNvPicPr/>
          <p:nvPr/>
        </p:nvPicPr>
        <p:blipFill>
          <a:blip r:embed="rId1"/>
          <a:stretch/>
        </p:blipFill>
        <p:spPr>
          <a:xfrm>
            <a:off x="0" y="0"/>
            <a:ext cx="7375320" cy="1234800"/>
          </a:xfrm>
          <a:prstGeom prst="rect">
            <a:avLst/>
          </a:prstGeom>
          <a:noFill/>
          <a:ln w="0">
            <a:noFill/>
          </a:ln>
        </p:spPr>
      </p:pic>
    </p:spTree>
  </p:cSld>
  <p:transition spd="slow">
    <p:wipe dir="r"/>
  </p:transition>
  <p:timing>
    <p:tnLst>
      <p:par>
        <p:cTn id="1452" dur="indefinite" restart="never" nodeType="tmRoot">
          <p:childTnLst>
            <p:seq>
              <p:cTn id="1453" dur="indefinite" nodeType="mainSeq">
                <p:childTnLst>
                  <p:par>
                    <p:cTn id="1454" nodeType="clickEffect" fill="hold">
                      <p:stCondLst>
                        <p:cond delay="indefinite"/>
                      </p:stCondLst>
                      <p:childTnLst>
                        <p:par>
                          <p:cTn id="1455" nodeType="withEffect" fill="hold">
                            <p:stCondLst>
                              <p:cond delay="0"/>
                            </p:stCondLst>
                            <p:childTnLst>
                              <p:par>
                                <p:cTn id="1456" nodeType="clickEffect" fill="hold" presetClass="entr" presetID="22" presetSubtype="8">
                                  <p:stCondLst>
                                    <p:cond delay="0"/>
                                  </p:stCondLst>
                                  <p:childTnLst>
                                    <p:set>
                                      <p:cBhvr>
                                        <p:cTn id="1457" dur="1" fill="hold">
                                          <p:stCondLst>
                                            <p:cond delay="0"/>
                                          </p:stCondLst>
                                        </p:cTn>
                                        <p:tgtEl>
                                          <p:spTgt spid="439">
                                            <p:txEl>
                                              <p:pRg st="0" end="0"/>
                                            </p:txEl>
                                          </p:spTgt>
                                        </p:tgtEl>
                                        <p:attrNameLst>
                                          <p:attrName>style.visibility</p:attrName>
                                        </p:attrNameLst>
                                      </p:cBhvr>
                                      <p:to>
                                        <p:strVal val="visible"/>
                                      </p:to>
                                    </p:set>
                                    <p:animEffect filter="wipe(left)" transition="in">
                                      <p:cBhvr additive="repl">
                                        <p:cTn id="1458" dur="500"/>
                                        <p:tgtEl>
                                          <p:spTgt spid="439">
                                            <p:txEl>
                                              <p:pRg st="0" end="0"/>
                                            </p:txEl>
                                          </p:spTgt>
                                        </p:tgtEl>
                                      </p:cBhvr>
                                    </p:animEffect>
                                  </p:childTnLst>
                                </p:cTn>
                              </p:par>
                            </p:childTnLst>
                          </p:cTn>
                        </p:par>
                      </p:childTnLst>
                    </p:cTn>
                  </p:par>
                  <p:par>
                    <p:cTn id="1459" nodeType="clickEffect" fill="hold">
                      <p:stCondLst>
                        <p:cond delay="indefinite"/>
                      </p:stCondLst>
                      <p:childTnLst>
                        <p:par>
                          <p:cTn id="1460" nodeType="withEffect" fill="hold">
                            <p:stCondLst>
                              <p:cond delay="0"/>
                            </p:stCondLst>
                            <p:childTnLst>
                              <p:par>
                                <p:cTn id="1461" nodeType="clickEffect" fill="hold" presetClass="entr" presetID="22" presetSubtype="8">
                                  <p:stCondLst>
                                    <p:cond delay="0"/>
                                  </p:stCondLst>
                                  <p:childTnLst>
                                    <p:set>
                                      <p:cBhvr>
                                        <p:cTn id="1462" dur="1" fill="hold">
                                          <p:stCondLst>
                                            <p:cond delay="0"/>
                                          </p:stCondLst>
                                        </p:cTn>
                                        <p:tgtEl>
                                          <p:spTgt spid="439">
                                            <p:txEl>
                                              <p:pRg st="1" end="1"/>
                                            </p:txEl>
                                          </p:spTgt>
                                        </p:tgtEl>
                                        <p:attrNameLst>
                                          <p:attrName>style.visibility</p:attrName>
                                        </p:attrNameLst>
                                      </p:cBhvr>
                                      <p:to>
                                        <p:strVal val="visible"/>
                                      </p:to>
                                    </p:set>
                                    <p:animEffect filter="wipe(left)" transition="in">
                                      <p:cBhvr additive="repl">
                                        <p:cTn id="1463" dur="500"/>
                                        <p:tgtEl>
                                          <p:spTgt spid="439">
                                            <p:txEl>
                                              <p:pRg st="1" end="1"/>
                                            </p:txEl>
                                          </p:spTgt>
                                        </p:tgtEl>
                                      </p:cBhvr>
                                    </p:animEffect>
                                  </p:childTnLst>
                                </p:cTn>
                              </p:par>
                            </p:childTnLst>
                          </p:cTn>
                        </p:par>
                      </p:childTnLst>
                    </p:cTn>
                  </p:par>
                  <p:par>
                    <p:cTn id="1464" nodeType="clickEffect" fill="hold">
                      <p:stCondLst>
                        <p:cond delay="indefinite"/>
                      </p:stCondLst>
                      <p:childTnLst>
                        <p:par>
                          <p:cTn id="1465" nodeType="withEffect" fill="hold">
                            <p:stCondLst>
                              <p:cond delay="0"/>
                            </p:stCondLst>
                            <p:childTnLst>
                              <p:par>
                                <p:cTn id="1466" nodeType="clickEffect" fill="hold" presetClass="entr" presetID="22" presetSubtype="8">
                                  <p:stCondLst>
                                    <p:cond delay="0"/>
                                  </p:stCondLst>
                                  <p:childTnLst>
                                    <p:set>
                                      <p:cBhvr>
                                        <p:cTn id="1467" dur="1" fill="hold">
                                          <p:stCondLst>
                                            <p:cond delay="0"/>
                                          </p:stCondLst>
                                        </p:cTn>
                                        <p:tgtEl>
                                          <p:spTgt spid="439">
                                            <p:txEl>
                                              <p:pRg st="2" end="2"/>
                                            </p:txEl>
                                          </p:spTgt>
                                        </p:tgtEl>
                                        <p:attrNameLst>
                                          <p:attrName>style.visibility</p:attrName>
                                        </p:attrNameLst>
                                      </p:cBhvr>
                                      <p:to>
                                        <p:strVal val="visible"/>
                                      </p:to>
                                    </p:set>
                                    <p:animEffect filter="wipe(left)" transition="in">
                                      <p:cBhvr additive="repl">
                                        <p:cTn id="1468" dur="500"/>
                                        <p:tgtEl>
                                          <p:spTgt spid="439">
                                            <p:txEl>
                                              <p:pRg st="2" end="2"/>
                                            </p:txEl>
                                          </p:spTgt>
                                        </p:tgtEl>
                                      </p:cBhvr>
                                    </p:animEffect>
                                  </p:childTnLst>
                                </p:cTn>
                              </p:par>
                            </p:childTnLst>
                          </p:cTn>
                        </p:par>
                      </p:childTnLst>
                    </p:cTn>
                  </p:par>
                  <p:par>
                    <p:cTn id="1469" nodeType="clickEffect" fill="hold">
                      <p:stCondLst>
                        <p:cond delay="indefinite"/>
                      </p:stCondLst>
                      <p:childTnLst>
                        <p:par>
                          <p:cTn id="1470" nodeType="withEffect" fill="hold">
                            <p:stCondLst>
                              <p:cond delay="0"/>
                            </p:stCondLst>
                            <p:childTnLst>
                              <p:par>
                                <p:cTn id="1471" nodeType="clickEffect" fill="hold" presetClass="entr" presetID="22" presetSubtype="8">
                                  <p:stCondLst>
                                    <p:cond delay="0"/>
                                  </p:stCondLst>
                                  <p:childTnLst>
                                    <p:set>
                                      <p:cBhvr>
                                        <p:cTn id="1472" dur="1" fill="hold">
                                          <p:stCondLst>
                                            <p:cond delay="0"/>
                                          </p:stCondLst>
                                        </p:cTn>
                                        <p:tgtEl>
                                          <p:spTgt spid="439">
                                            <p:txEl>
                                              <p:pRg st="3" end="3"/>
                                            </p:txEl>
                                          </p:spTgt>
                                        </p:tgtEl>
                                        <p:attrNameLst>
                                          <p:attrName>style.visibility</p:attrName>
                                        </p:attrNameLst>
                                      </p:cBhvr>
                                      <p:to>
                                        <p:strVal val="visible"/>
                                      </p:to>
                                    </p:set>
                                    <p:animEffect filter="wipe(left)" transition="in">
                                      <p:cBhvr additive="repl">
                                        <p:cTn id="1473" dur="500"/>
                                        <p:tgtEl>
                                          <p:spTgt spid="439">
                                            <p:txEl>
                                              <p:pRg st="3" end="3"/>
                                            </p:txEl>
                                          </p:spTgt>
                                        </p:tgtEl>
                                      </p:cBhvr>
                                    </p:animEffect>
                                  </p:childTnLst>
                                </p:cTn>
                              </p:par>
                            </p:childTnLst>
                          </p:cTn>
                        </p:par>
                      </p:childTnLst>
                    </p:cTn>
                  </p:par>
                  <p:par>
                    <p:cTn id="1474" nodeType="clickEffect" fill="hold">
                      <p:stCondLst>
                        <p:cond delay="indefinite"/>
                      </p:stCondLst>
                      <p:childTnLst>
                        <p:par>
                          <p:cTn id="1475" nodeType="withEffect" fill="hold">
                            <p:stCondLst>
                              <p:cond delay="0"/>
                            </p:stCondLst>
                            <p:childTnLst>
                              <p:par>
                                <p:cTn id="1476" nodeType="clickEffect" fill="hold" presetClass="entr" presetID="22" presetSubtype="8">
                                  <p:stCondLst>
                                    <p:cond delay="0"/>
                                  </p:stCondLst>
                                  <p:childTnLst>
                                    <p:set>
                                      <p:cBhvr>
                                        <p:cTn id="1477" dur="1" fill="hold">
                                          <p:stCondLst>
                                            <p:cond delay="0"/>
                                          </p:stCondLst>
                                        </p:cTn>
                                        <p:tgtEl>
                                          <p:spTgt spid="439">
                                            <p:txEl>
                                              <p:pRg st="4" end="4"/>
                                            </p:txEl>
                                          </p:spTgt>
                                        </p:tgtEl>
                                        <p:attrNameLst>
                                          <p:attrName>style.visibility</p:attrName>
                                        </p:attrNameLst>
                                      </p:cBhvr>
                                      <p:to>
                                        <p:strVal val="visible"/>
                                      </p:to>
                                    </p:set>
                                    <p:animEffect filter="wipe(left)" transition="in">
                                      <p:cBhvr additive="repl">
                                        <p:cTn id="1478" dur="500"/>
                                        <p:tgtEl>
                                          <p:spTgt spid="43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Rectangle 5"/>
          <p:cNvSpPr/>
          <p:nvPr/>
        </p:nvSpPr>
        <p:spPr>
          <a:xfrm>
            <a:off x="360360" y="1440000"/>
            <a:ext cx="8478360" cy="5028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 of a store of 2,000 square feet is </a:t>
            </a:r>
            <a:r>
              <a:rPr b="0" i="1" lang="en-US" sz="2400" strike="noStrike" u="none">
                <a:solidFill>
                  <a:srgbClr val="000000"/>
                </a:solidFill>
                <a:effectLst/>
                <a:uFillTx/>
                <a:latin typeface="Arial"/>
                <a:ea typeface="ＭＳ Ｐゴシック"/>
              </a:rPr>
              <a:t>ATC</a:t>
            </a:r>
            <a:r>
              <a:rPr b="0" lang="en-US" sz="2400" strike="noStrike" u="none" baseline="-25000">
                <a:solidFill>
                  <a:srgbClr val="000000"/>
                </a:solidFill>
                <a:effectLst/>
                <a:uFillTx/>
                <a:latin typeface="Arial"/>
                <a:ea typeface="ＭＳ Ｐゴシック"/>
              </a:rPr>
              <a:t>7–Eleven</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442" name="Picture 16" descr=""/>
          <p:cNvPicPr/>
          <p:nvPr/>
        </p:nvPicPr>
        <p:blipFill>
          <a:blip r:embed="rId1"/>
          <a:stretch/>
        </p:blipFill>
        <p:spPr>
          <a:xfrm>
            <a:off x="990720" y="2405160"/>
            <a:ext cx="7225920" cy="4140000"/>
          </a:xfrm>
          <a:prstGeom prst="rect">
            <a:avLst/>
          </a:prstGeom>
          <a:noFill/>
          <a:ln w="0">
            <a:noFill/>
          </a:ln>
        </p:spPr>
      </p:pic>
      <p:pic>
        <p:nvPicPr>
          <p:cNvPr id="443" name="Picture 17" descr=""/>
          <p:cNvPicPr/>
          <p:nvPr/>
        </p:nvPicPr>
        <p:blipFill>
          <a:blip r:embed="rId2"/>
          <a:stretch/>
        </p:blipFill>
        <p:spPr>
          <a:xfrm>
            <a:off x="990720" y="2405160"/>
            <a:ext cx="7225920" cy="4140000"/>
          </a:xfrm>
          <a:prstGeom prst="rect">
            <a:avLst/>
          </a:prstGeom>
          <a:noFill/>
          <a:ln w="0">
            <a:noFill/>
          </a:ln>
        </p:spPr>
      </p:pic>
      <p:pic>
        <p:nvPicPr>
          <p:cNvPr id="444" name="Picture 5" descr=""/>
          <p:cNvPicPr/>
          <p:nvPr/>
        </p:nvPicPr>
        <p:blipFill>
          <a:blip r:embed="rId3"/>
          <a:stretch/>
        </p:blipFill>
        <p:spPr>
          <a:xfrm>
            <a:off x="0" y="0"/>
            <a:ext cx="7375320" cy="1234800"/>
          </a:xfrm>
          <a:prstGeom prst="rect">
            <a:avLst/>
          </a:prstGeom>
          <a:noFill/>
          <a:ln w="0">
            <a:noFill/>
          </a:ln>
        </p:spPr>
      </p:pic>
    </p:spTree>
  </p:cSld>
  <p:transition spd="slow">
    <p:wipe dir="r"/>
  </p:transition>
  <p:timing>
    <p:tnLst>
      <p:par>
        <p:cTn id="1479" dur="indefinite" restart="never" nodeType="tmRoot">
          <p:childTnLst>
            <p:seq>
              <p:cTn id="1480" dur="indefinite" nodeType="mainSeq">
                <p:childTnLst>
                  <p:par>
                    <p:cTn id="1481" nodeType="clickEffect" fill="hold">
                      <p:stCondLst>
                        <p:cond delay="0"/>
                      </p:stCondLst>
                      <p:childTnLst>
                        <p:par>
                          <p:cTn id="1482" nodeType="withEffect" fill="hold">
                            <p:stCondLst>
                              <p:cond delay="0"/>
                            </p:stCondLst>
                            <p:childTnLst>
                              <p:par>
                                <p:cTn id="1483" nodeType="withEffect" fill="hold" presetClass="entr" presetID="22" presetSubtype="8">
                                  <p:stCondLst>
                                    <p:cond delay="0"/>
                                  </p:stCondLst>
                                  <p:childTnLst>
                                    <p:set>
                                      <p:cBhvr>
                                        <p:cTn id="1484" dur="1" fill="hold">
                                          <p:stCondLst>
                                            <p:cond delay="0"/>
                                          </p:stCondLst>
                                        </p:cTn>
                                        <p:tgtEl>
                                          <p:spTgt spid="443"/>
                                        </p:tgtEl>
                                        <p:attrNameLst>
                                          <p:attrName>style.visibility</p:attrName>
                                        </p:attrNameLst>
                                      </p:cBhvr>
                                      <p:to>
                                        <p:strVal val="visible"/>
                                      </p:to>
                                    </p:set>
                                    <p:animEffect filter="wipe(left)" transition="in">
                                      <p:cBhvr additive="repl">
                                        <p:cTn id="1485" dur="20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Rectangle 5"/>
          <p:cNvSpPr/>
          <p:nvPr/>
        </p:nvSpPr>
        <p:spPr>
          <a:xfrm>
            <a:off x="360360" y="1440000"/>
            <a:ext cx="8478360" cy="5028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 of a store of 99,000 square feet is </a:t>
            </a:r>
            <a:r>
              <a:rPr b="0" i="1" lang="en-US" sz="2400" strike="noStrike" u="none">
                <a:solidFill>
                  <a:srgbClr val="000000"/>
                </a:solidFill>
                <a:effectLst/>
                <a:uFillTx/>
                <a:latin typeface="Arial"/>
                <a:ea typeface="ＭＳ Ｐゴシック"/>
              </a:rPr>
              <a:t>ATC</a:t>
            </a:r>
            <a:r>
              <a:rPr b="0" i="1" lang="en-US" sz="2400" strike="noStrike" u="none" baseline="-25000">
                <a:solidFill>
                  <a:srgbClr val="000000"/>
                </a:solidFill>
                <a:effectLst/>
                <a:uFillTx/>
                <a:latin typeface="Arial"/>
                <a:ea typeface="ＭＳ Ｐゴシック"/>
              </a:rPr>
              <a:t>Walmart</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p:txBody>
      </p:sp>
      <p:pic>
        <p:nvPicPr>
          <p:cNvPr id="446" name="Picture 4" descr=""/>
          <p:cNvPicPr/>
          <p:nvPr/>
        </p:nvPicPr>
        <p:blipFill>
          <a:blip r:embed="rId1"/>
          <a:stretch/>
        </p:blipFill>
        <p:spPr>
          <a:xfrm>
            <a:off x="990720" y="2405160"/>
            <a:ext cx="7225920" cy="4140000"/>
          </a:xfrm>
          <a:prstGeom prst="rect">
            <a:avLst/>
          </a:prstGeom>
          <a:noFill/>
          <a:ln w="0">
            <a:noFill/>
          </a:ln>
        </p:spPr>
      </p:pic>
      <p:pic>
        <p:nvPicPr>
          <p:cNvPr id="447" name="Picture 5" descr=""/>
          <p:cNvPicPr/>
          <p:nvPr/>
        </p:nvPicPr>
        <p:blipFill>
          <a:blip r:embed="rId2"/>
          <a:stretch/>
        </p:blipFill>
        <p:spPr>
          <a:xfrm>
            <a:off x="990720" y="2405160"/>
            <a:ext cx="7225920" cy="4140000"/>
          </a:xfrm>
          <a:prstGeom prst="rect">
            <a:avLst/>
          </a:prstGeom>
          <a:noFill/>
          <a:ln w="0">
            <a:noFill/>
          </a:ln>
        </p:spPr>
      </p:pic>
      <p:pic>
        <p:nvPicPr>
          <p:cNvPr id="448" name="Picture 7" descr=""/>
          <p:cNvPicPr/>
          <p:nvPr/>
        </p:nvPicPr>
        <p:blipFill>
          <a:blip r:embed="rId3"/>
          <a:stretch/>
        </p:blipFill>
        <p:spPr>
          <a:xfrm>
            <a:off x="990720" y="2405160"/>
            <a:ext cx="7225920" cy="4140000"/>
          </a:xfrm>
          <a:prstGeom prst="rect">
            <a:avLst/>
          </a:prstGeom>
          <a:noFill/>
          <a:ln w="0">
            <a:noFill/>
          </a:ln>
        </p:spPr>
      </p:pic>
      <p:pic>
        <p:nvPicPr>
          <p:cNvPr id="449" name="Picture 6" descr=""/>
          <p:cNvPicPr/>
          <p:nvPr/>
        </p:nvPicPr>
        <p:blipFill>
          <a:blip r:embed="rId4"/>
          <a:stretch/>
        </p:blipFill>
        <p:spPr>
          <a:xfrm>
            <a:off x="0" y="0"/>
            <a:ext cx="7375320" cy="1234800"/>
          </a:xfrm>
          <a:prstGeom prst="rect">
            <a:avLst/>
          </a:prstGeom>
          <a:noFill/>
          <a:ln w="0">
            <a:noFill/>
          </a:ln>
        </p:spPr>
      </p:pic>
    </p:spTree>
  </p:cSld>
  <p:transition spd="slow">
    <p:wipe dir="r"/>
  </p:transition>
  <p:timing>
    <p:tnLst>
      <p:par>
        <p:cTn id="1486" dur="indefinite" restart="never" nodeType="tmRoot">
          <p:childTnLst>
            <p:seq>
              <p:cTn id="1487" dur="indefinite" nodeType="mainSeq">
                <p:childTnLst>
                  <p:par>
                    <p:cTn id="1488" nodeType="clickEffect" fill="hold">
                      <p:stCondLst>
                        <p:cond delay="0"/>
                      </p:stCondLst>
                      <p:childTnLst>
                        <p:par>
                          <p:cTn id="1489" nodeType="withEffect" fill="hold">
                            <p:stCondLst>
                              <p:cond delay="0"/>
                            </p:stCondLst>
                            <p:childTnLst>
                              <p:par>
                                <p:cTn id="1490" nodeType="withEffect" fill="hold" presetClass="entr" presetID="22" presetSubtype="8">
                                  <p:stCondLst>
                                    <p:cond delay="0"/>
                                  </p:stCondLst>
                                  <p:childTnLst>
                                    <p:set>
                                      <p:cBhvr>
                                        <p:cTn id="1491" dur="1" fill="hold">
                                          <p:stCondLst>
                                            <p:cond delay="0"/>
                                          </p:stCondLst>
                                        </p:cTn>
                                        <p:tgtEl>
                                          <p:spTgt spid="448"/>
                                        </p:tgtEl>
                                        <p:attrNameLst>
                                          <p:attrName>style.visibility</p:attrName>
                                        </p:attrNameLst>
                                      </p:cBhvr>
                                      <p:to>
                                        <p:strVal val="visible"/>
                                      </p:to>
                                    </p:set>
                                    <p:animEffect filter="wipe(left)" transition="in">
                                      <p:cBhvr additive="repl">
                                        <p:cTn id="1492" dur="2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Rectangle 5"/>
          <p:cNvSpPr/>
          <p:nvPr/>
        </p:nvSpPr>
        <p:spPr>
          <a:xfrm>
            <a:off x="360360" y="1440000"/>
            <a:ext cx="8305560" cy="518112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dark blue curve is a retailer’s </a:t>
            </a:r>
            <a:r>
              <a:rPr b="0" i="1" lang="en-US" sz="2400" strike="noStrike" u="none">
                <a:solidFill>
                  <a:srgbClr val="000000"/>
                </a:solidFill>
                <a:effectLst/>
                <a:uFillTx/>
                <a:latin typeface="Arial"/>
                <a:ea typeface="ＭＳ Ｐゴシック"/>
              </a:rPr>
              <a:t>LRAC</a:t>
            </a:r>
            <a:r>
              <a:rPr b="0" lang="en-US" sz="2400" strike="noStrike" u="none">
                <a:solidFill>
                  <a:srgbClr val="000000"/>
                </a:solidFill>
                <a:effectLst/>
                <a:uFillTx/>
                <a:latin typeface="Arial"/>
                <a:ea typeface="ＭＳ Ｐゴシック"/>
              </a:rPr>
              <a:t> curve.</a:t>
            </a:r>
            <a:endParaRPr b="0" lang="en-US" sz="2400" strike="noStrike" u="none">
              <a:solidFill>
                <a:srgbClr val="000000"/>
              </a:solidFill>
              <a:effectLst/>
              <a:uFillTx/>
              <a:latin typeface="Arial"/>
            </a:endParaRPr>
          </a:p>
        </p:txBody>
      </p:sp>
      <p:pic>
        <p:nvPicPr>
          <p:cNvPr id="451" name="Picture 18" descr=""/>
          <p:cNvPicPr/>
          <p:nvPr/>
        </p:nvPicPr>
        <p:blipFill>
          <a:blip r:embed="rId1"/>
          <a:stretch/>
        </p:blipFill>
        <p:spPr>
          <a:xfrm>
            <a:off x="990720" y="2405160"/>
            <a:ext cx="7225920" cy="4140000"/>
          </a:xfrm>
          <a:prstGeom prst="rect">
            <a:avLst/>
          </a:prstGeom>
          <a:noFill/>
          <a:ln w="0">
            <a:noFill/>
          </a:ln>
        </p:spPr>
      </p:pic>
      <p:pic>
        <p:nvPicPr>
          <p:cNvPr id="452" name="Picture 19" descr=""/>
          <p:cNvPicPr/>
          <p:nvPr/>
        </p:nvPicPr>
        <p:blipFill>
          <a:blip r:embed="rId2"/>
          <a:stretch/>
        </p:blipFill>
        <p:spPr>
          <a:xfrm>
            <a:off x="990720" y="2405160"/>
            <a:ext cx="7225920" cy="4140000"/>
          </a:xfrm>
          <a:prstGeom prst="rect">
            <a:avLst/>
          </a:prstGeom>
          <a:noFill/>
          <a:ln w="0">
            <a:noFill/>
          </a:ln>
        </p:spPr>
      </p:pic>
      <p:pic>
        <p:nvPicPr>
          <p:cNvPr id="453" name="Picture 20" descr=""/>
          <p:cNvPicPr/>
          <p:nvPr/>
        </p:nvPicPr>
        <p:blipFill>
          <a:blip r:embed="rId3"/>
          <a:stretch/>
        </p:blipFill>
        <p:spPr>
          <a:xfrm>
            <a:off x="990720" y="2405160"/>
            <a:ext cx="7225920" cy="4140000"/>
          </a:xfrm>
          <a:prstGeom prst="rect">
            <a:avLst/>
          </a:prstGeom>
          <a:noFill/>
          <a:ln w="0">
            <a:noFill/>
          </a:ln>
        </p:spPr>
      </p:pic>
      <p:pic>
        <p:nvPicPr>
          <p:cNvPr id="454" name="Picture 21" descr=""/>
          <p:cNvPicPr/>
          <p:nvPr/>
        </p:nvPicPr>
        <p:blipFill>
          <a:blip r:embed="rId4"/>
          <a:stretch/>
        </p:blipFill>
        <p:spPr>
          <a:xfrm>
            <a:off x="990720" y="2405160"/>
            <a:ext cx="7225920" cy="4140000"/>
          </a:xfrm>
          <a:prstGeom prst="rect">
            <a:avLst/>
          </a:prstGeom>
          <a:noFill/>
          <a:ln w="0">
            <a:noFill/>
          </a:ln>
        </p:spPr>
      </p:pic>
      <p:pic>
        <p:nvPicPr>
          <p:cNvPr id="455" name="Picture 7" descr=""/>
          <p:cNvPicPr/>
          <p:nvPr/>
        </p:nvPicPr>
        <p:blipFill>
          <a:blip r:embed="rId5"/>
          <a:stretch/>
        </p:blipFill>
        <p:spPr>
          <a:xfrm>
            <a:off x="0" y="0"/>
            <a:ext cx="7375320" cy="1234800"/>
          </a:xfrm>
          <a:prstGeom prst="rect">
            <a:avLst/>
          </a:prstGeom>
          <a:noFill/>
          <a:ln w="0">
            <a:noFill/>
          </a:ln>
        </p:spPr>
      </p:pic>
    </p:spTree>
  </p:cSld>
  <p:transition spd="slow">
    <p:wipe dir="r"/>
  </p:transition>
  <p:timing>
    <p:tnLst>
      <p:par>
        <p:cTn id="1493" dur="indefinite" restart="never" nodeType="tmRoot">
          <p:childTnLst>
            <p:seq>
              <p:cTn id="1494" dur="indefinite" nodeType="mainSeq">
                <p:childTnLst>
                  <p:par>
                    <p:cTn id="1495" nodeType="clickEffect" fill="hold">
                      <p:stCondLst>
                        <p:cond delay="0"/>
                      </p:stCondLst>
                      <p:childTnLst>
                        <p:par>
                          <p:cTn id="1496" nodeType="withEffect" fill="hold">
                            <p:stCondLst>
                              <p:cond delay="0"/>
                            </p:stCondLst>
                            <p:childTnLst>
                              <p:par>
                                <p:cTn id="1497" nodeType="withEffect" fill="hold" presetClass="entr" presetID="22" presetSubtype="8">
                                  <p:stCondLst>
                                    <p:cond delay="0"/>
                                  </p:stCondLst>
                                  <p:childTnLst>
                                    <p:set>
                                      <p:cBhvr>
                                        <p:cTn id="1498" dur="1" fill="hold">
                                          <p:stCondLst>
                                            <p:cond delay="0"/>
                                          </p:stCondLst>
                                        </p:cTn>
                                        <p:tgtEl>
                                          <p:spTgt spid="454"/>
                                        </p:tgtEl>
                                        <p:attrNameLst>
                                          <p:attrName>style.visibility</p:attrName>
                                        </p:attrNameLst>
                                      </p:cBhvr>
                                      <p:to>
                                        <p:strVal val="visible"/>
                                      </p:to>
                                    </p:set>
                                    <p:animEffect filter="wipe(left)" transition="in">
                                      <p:cBhvr additive="repl">
                                        <p:cTn id="1499" dur="2000"/>
                                        <p:tgtEl>
                                          <p:spTgt spid="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Rectangle 5"/>
          <p:cNvSpPr/>
          <p:nvPr/>
        </p:nvSpPr>
        <p:spPr>
          <a:xfrm>
            <a:off x="360360" y="1440000"/>
            <a:ext cx="8305560" cy="518112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With </a:t>
            </a:r>
            <a:r>
              <a:rPr b="0" i="1" lang="en-US" sz="2400" strike="noStrike" u="none">
                <a:solidFill>
                  <a:srgbClr val="000000"/>
                </a:solidFill>
                <a:effectLst/>
                <a:uFillTx/>
                <a:latin typeface="Arial"/>
                <a:ea typeface="ＭＳ Ｐゴシック"/>
              </a:rPr>
              <a:t>Q</a:t>
            </a:r>
            <a:r>
              <a:rPr b="0" lang="en-US" sz="2400" strike="noStrike" u="none">
                <a:solidFill>
                  <a:srgbClr val="000000"/>
                </a:solidFill>
                <a:effectLst/>
                <a:uFillTx/>
                <a:latin typeface="Arial"/>
                <a:ea typeface="ＭＳ Ｐゴシック"/>
              </a:rPr>
              <a:t> customers a week, the average total cost of a transaction is the same in both stores.</a:t>
            </a:r>
            <a:endParaRPr b="0" lang="en-US" sz="2400" strike="noStrike" u="none">
              <a:solidFill>
                <a:srgbClr val="000000"/>
              </a:solidFill>
              <a:effectLst/>
              <a:uFillTx/>
              <a:latin typeface="Arial"/>
            </a:endParaRPr>
          </a:p>
        </p:txBody>
      </p:sp>
      <p:pic>
        <p:nvPicPr>
          <p:cNvPr id="457" name="Picture 4" descr=""/>
          <p:cNvPicPr/>
          <p:nvPr/>
        </p:nvPicPr>
        <p:blipFill>
          <a:blip r:embed="rId1"/>
          <a:stretch/>
        </p:blipFill>
        <p:spPr>
          <a:xfrm>
            <a:off x="990720" y="2405160"/>
            <a:ext cx="7225920" cy="4140000"/>
          </a:xfrm>
          <a:prstGeom prst="rect">
            <a:avLst/>
          </a:prstGeom>
          <a:noFill/>
          <a:ln w="0">
            <a:noFill/>
          </a:ln>
        </p:spPr>
      </p:pic>
      <p:pic>
        <p:nvPicPr>
          <p:cNvPr id="458" name="Picture 5" descr=""/>
          <p:cNvPicPr/>
          <p:nvPr/>
        </p:nvPicPr>
        <p:blipFill>
          <a:blip r:embed="rId2"/>
          <a:stretch/>
        </p:blipFill>
        <p:spPr>
          <a:xfrm>
            <a:off x="990720" y="2405160"/>
            <a:ext cx="7225920" cy="4140000"/>
          </a:xfrm>
          <a:prstGeom prst="rect">
            <a:avLst/>
          </a:prstGeom>
          <a:noFill/>
          <a:ln w="0">
            <a:noFill/>
          </a:ln>
        </p:spPr>
      </p:pic>
      <p:pic>
        <p:nvPicPr>
          <p:cNvPr id="459" name="Picture 6" descr=""/>
          <p:cNvPicPr/>
          <p:nvPr/>
        </p:nvPicPr>
        <p:blipFill>
          <a:blip r:embed="rId3"/>
          <a:stretch/>
        </p:blipFill>
        <p:spPr>
          <a:xfrm>
            <a:off x="990720" y="2405160"/>
            <a:ext cx="7225920" cy="4140000"/>
          </a:xfrm>
          <a:prstGeom prst="rect">
            <a:avLst/>
          </a:prstGeom>
          <a:noFill/>
          <a:ln w="0">
            <a:noFill/>
          </a:ln>
        </p:spPr>
      </p:pic>
      <p:pic>
        <p:nvPicPr>
          <p:cNvPr id="460" name="Picture 7" descr=""/>
          <p:cNvPicPr/>
          <p:nvPr/>
        </p:nvPicPr>
        <p:blipFill>
          <a:blip r:embed="rId4"/>
          <a:stretch/>
        </p:blipFill>
        <p:spPr>
          <a:xfrm>
            <a:off x="990720" y="2405160"/>
            <a:ext cx="7225920" cy="4140000"/>
          </a:xfrm>
          <a:prstGeom prst="rect">
            <a:avLst/>
          </a:prstGeom>
          <a:noFill/>
          <a:ln w="0">
            <a:noFill/>
          </a:ln>
        </p:spPr>
      </p:pic>
      <p:pic>
        <p:nvPicPr>
          <p:cNvPr id="461" name="Picture 9" descr=""/>
          <p:cNvPicPr/>
          <p:nvPr/>
        </p:nvPicPr>
        <p:blipFill>
          <a:blip r:embed="rId5"/>
          <a:stretch/>
        </p:blipFill>
        <p:spPr>
          <a:xfrm>
            <a:off x="990720" y="2405160"/>
            <a:ext cx="7225920" cy="4140000"/>
          </a:xfrm>
          <a:prstGeom prst="rect">
            <a:avLst/>
          </a:prstGeom>
          <a:noFill/>
          <a:ln w="0">
            <a:noFill/>
          </a:ln>
        </p:spPr>
      </p:pic>
      <p:pic>
        <p:nvPicPr>
          <p:cNvPr id="462" name="Picture 8" descr=""/>
          <p:cNvPicPr/>
          <p:nvPr/>
        </p:nvPicPr>
        <p:blipFill>
          <a:blip r:embed="rId6"/>
          <a:stretch/>
        </p:blipFill>
        <p:spPr>
          <a:xfrm>
            <a:off x="0" y="0"/>
            <a:ext cx="7375320" cy="1234800"/>
          </a:xfrm>
          <a:prstGeom prst="rect">
            <a:avLst/>
          </a:prstGeom>
          <a:noFill/>
          <a:ln w="0">
            <a:noFill/>
          </a:ln>
        </p:spPr>
      </p:pic>
    </p:spTree>
  </p:cSld>
  <p:transition spd="slow">
    <p:wipe dir="r"/>
  </p:transition>
  <p:timing>
    <p:tnLst>
      <p:par>
        <p:cTn id="1500" dur="indefinite" restart="never" nodeType="tmRoot">
          <p:childTnLst>
            <p:seq>
              <p:cTn id="1501" dur="indefinite" nodeType="mainSeq">
                <p:childTnLst>
                  <p:par>
                    <p:cTn id="1502" nodeType="clickEffect" fill="hold">
                      <p:stCondLst>
                        <p:cond delay="0"/>
                      </p:stCondLst>
                      <p:childTnLst>
                        <p:par>
                          <p:cTn id="1503" nodeType="withEffect" fill="hold">
                            <p:stCondLst>
                              <p:cond delay="0"/>
                            </p:stCondLst>
                            <p:childTnLst>
                              <p:par>
                                <p:cTn id="1504" nodeType="withEffect" fill="hold" presetClass="entr" presetID="10">
                                  <p:stCondLst>
                                    <p:cond delay="0"/>
                                  </p:stCondLst>
                                  <p:childTnLst>
                                    <p:set>
                                      <p:cBhvr>
                                        <p:cTn id="1505" dur="1" fill="hold">
                                          <p:stCondLst>
                                            <p:cond delay="0"/>
                                          </p:stCondLst>
                                        </p:cTn>
                                        <p:tgtEl>
                                          <p:spTgt spid="461"/>
                                        </p:tgtEl>
                                        <p:attrNameLst>
                                          <p:attrName>style.visibility</p:attrName>
                                        </p:attrNameLst>
                                      </p:cBhvr>
                                      <p:to>
                                        <p:strVal val="visible"/>
                                      </p:to>
                                    </p:set>
                                    <p:animEffect filter="fade" transition="in">
                                      <p:cBhvr additive="repl">
                                        <p:cTn id="1506"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Rectangle 5"/>
          <p:cNvSpPr/>
          <p:nvPr/>
        </p:nvSpPr>
        <p:spPr>
          <a:xfrm>
            <a:off x="360360" y="1440000"/>
            <a:ext cx="8249760" cy="51051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For a store that serves </a:t>
            </a:r>
            <a:r>
              <a:rPr b="0" i="1" lang="en-US" sz="2400" strike="noStrike" u="none">
                <a:solidFill>
                  <a:srgbClr val="000000"/>
                </a:solidFill>
                <a:effectLst/>
                <a:uFillTx/>
                <a:latin typeface="Arial"/>
                <a:ea typeface="ＭＳ Ｐゴシック"/>
              </a:rPr>
              <a:t>more</a:t>
            </a:r>
            <a:r>
              <a:rPr b="0" lang="en-US" sz="2400" strike="noStrike" u="none">
                <a:solidFill>
                  <a:srgbClr val="000000"/>
                </a:solidFill>
                <a:effectLst/>
                <a:uFillTx/>
                <a:latin typeface="Arial"/>
                <a:ea typeface="ＭＳ Ｐゴシック"/>
              </a:rPr>
              <a:t> than </a:t>
            </a:r>
            <a:r>
              <a:rPr b="0" i="1" lang="en-US" sz="2400" strike="noStrike" u="none">
                <a:solidFill>
                  <a:srgbClr val="000000"/>
                </a:solidFill>
                <a:effectLst/>
                <a:uFillTx/>
                <a:latin typeface="Arial"/>
                <a:ea typeface="ＭＳ Ｐゴシック"/>
              </a:rPr>
              <a:t>Q</a:t>
            </a:r>
            <a:r>
              <a:rPr b="0" lang="en-US" sz="2400" strike="noStrike" u="none">
                <a:solidFill>
                  <a:srgbClr val="000000"/>
                </a:solidFill>
                <a:effectLst/>
                <a:uFillTx/>
                <a:latin typeface="Arial"/>
                <a:ea typeface="ＭＳ Ｐゴシック"/>
              </a:rPr>
              <a:t> customers a week, the least-cost method is the big store.</a:t>
            </a:r>
            <a:endParaRPr b="0" lang="en-US" sz="2400" strike="noStrike" u="none">
              <a:solidFill>
                <a:srgbClr val="000000"/>
              </a:solidFill>
              <a:effectLst/>
              <a:uFillTx/>
              <a:latin typeface="Arial"/>
            </a:endParaRPr>
          </a:p>
        </p:txBody>
      </p:sp>
      <p:pic>
        <p:nvPicPr>
          <p:cNvPr id="464" name="Picture 25" descr=""/>
          <p:cNvPicPr/>
          <p:nvPr/>
        </p:nvPicPr>
        <p:blipFill>
          <a:blip r:embed="rId1"/>
          <a:stretch/>
        </p:blipFill>
        <p:spPr>
          <a:xfrm>
            <a:off x="990720" y="2405160"/>
            <a:ext cx="7225920" cy="4140000"/>
          </a:xfrm>
          <a:prstGeom prst="rect">
            <a:avLst/>
          </a:prstGeom>
          <a:noFill/>
          <a:ln w="0">
            <a:noFill/>
          </a:ln>
        </p:spPr>
      </p:pic>
      <p:pic>
        <p:nvPicPr>
          <p:cNvPr id="465" name="Picture 26" descr=""/>
          <p:cNvPicPr/>
          <p:nvPr/>
        </p:nvPicPr>
        <p:blipFill>
          <a:blip r:embed="rId2"/>
          <a:stretch/>
        </p:blipFill>
        <p:spPr>
          <a:xfrm>
            <a:off x="990720" y="2405160"/>
            <a:ext cx="7225920" cy="4140000"/>
          </a:xfrm>
          <a:prstGeom prst="rect">
            <a:avLst/>
          </a:prstGeom>
          <a:noFill/>
          <a:ln w="0">
            <a:noFill/>
          </a:ln>
        </p:spPr>
      </p:pic>
      <p:pic>
        <p:nvPicPr>
          <p:cNvPr id="466" name="Picture 27" descr=""/>
          <p:cNvPicPr/>
          <p:nvPr/>
        </p:nvPicPr>
        <p:blipFill>
          <a:blip r:embed="rId3"/>
          <a:stretch/>
        </p:blipFill>
        <p:spPr>
          <a:xfrm>
            <a:off x="990720" y="2405160"/>
            <a:ext cx="7225920" cy="4140000"/>
          </a:xfrm>
          <a:prstGeom prst="rect">
            <a:avLst/>
          </a:prstGeom>
          <a:noFill/>
          <a:ln w="0">
            <a:noFill/>
          </a:ln>
        </p:spPr>
      </p:pic>
      <p:pic>
        <p:nvPicPr>
          <p:cNvPr id="467" name="Picture 28" descr=""/>
          <p:cNvPicPr/>
          <p:nvPr/>
        </p:nvPicPr>
        <p:blipFill>
          <a:blip r:embed="rId4"/>
          <a:stretch/>
        </p:blipFill>
        <p:spPr>
          <a:xfrm>
            <a:off x="990720" y="2405160"/>
            <a:ext cx="7225920" cy="4140000"/>
          </a:xfrm>
          <a:prstGeom prst="rect">
            <a:avLst/>
          </a:prstGeom>
          <a:noFill/>
          <a:ln w="0">
            <a:noFill/>
          </a:ln>
        </p:spPr>
      </p:pic>
      <p:pic>
        <p:nvPicPr>
          <p:cNvPr id="468" name="Picture 29" descr=""/>
          <p:cNvPicPr/>
          <p:nvPr/>
        </p:nvPicPr>
        <p:blipFill>
          <a:blip r:embed="rId5"/>
          <a:stretch/>
        </p:blipFill>
        <p:spPr>
          <a:xfrm>
            <a:off x="990720" y="2405160"/>
            <a:ext cx="7225920" cy="4140000"/>
          </a:xfrm>
          <a:prstGeom prst="rect">
            <a:avLst/>
          </a:prstGeom>
          <a:noFill/>
          <a:ln w="0">
            <a:noFill/>
          </a:ln>
        </p:spPr>
      </p:pic>
      <p:pic>
        <p:nvPicPr>
          <p:cNvPr id="469" name="Picture 30" descr=""/>
          <p:cNvPicPr/>
          <p:nvPr/>
        </p:nvPicPr>
        <p:blipFill>
          <a:blip r:embed="rId6"/>
          <a:stretch/>
        </p:blipFill>
        <p:spPr>
          <a:xfrm>
            <a:off x="990720" y="2405160"/>
            <a:ext cx="7225920" cy="4140000"/>
          </a:xfrm>
          <a:prstGeom prst="rect">
            <a:avLst/>
          </a:prstGeom>
          <a:noFill/>
          <a:ln w="0">
            <a:noFill/>
          </a:ln>
        </p:spPr>
      </p:pic>
      <p:pic>
        <p:nvPicPr>
          <p:cNvPr id="470" name="Picture 9" descr=""/>
          <p:cNvPicPr/>
          <p:nvPr/>
        </p:nvPicPr>
        <p:blipFill>
          <a:blip r:embed="rId7"/>
          <a:stretch/>
        </p:blipFill>
        <p:spPr>
          <a:xfrm>
            <a:off x="0" y="0"/>
            <a:ext cx="7375320" cy="1234800"/>
          </a:xfrm>
          <a:prstGeom prst="rect">
            <a:avLst/>
          </a:prstGeom>
          <a:noFill/>
          <a:ln w="0">
            <a:noFill/>
          </a:ln>
        </p:spPr>
      </p:pic>
    </p:spTree>
  </p:cSld>
  <p:transition spd="slow">
    <p:wipe dir="r"/>
  </p:transition>
  <p:timing>
    <p:tnLst>
      <p:par>
        <p:cTn id="1507" dur="indefinite" restart="never" nodeType="tmRoot">
          <p:childTnLst>
            <p:seq>
              <p:cTn id="1508" dur="indefinite" nodeType="mainSeq">
                <p:childTnLst>
                  <p:par>
                    <p:cTn id="1509" nodeType="clickEffect" fill="hold">
                      <p:stCondLst>
                        <p:cond delay="0"/>
                      </p:stCondLst>
                      <p:childTnLst>
                        <p:par>
                          <p:cTn id="1510" nodeType="withEffect" fill="hold">
                            <p:stCondLst>
                              <p:cond delay="0"/>
                            </p:stCondLst>
                            <p:childTnLst>
                              <p:par>
                                <p:cTn id="1511" nodeType="withEffect" fill="hold" presetClass="entr" presetID="10">
                                  <p:stCondLst>
                                    <p:cond delay="0"/>
                                  </p:stCondLst>
                                  <p:childTnLst>
                                    <p:set>
                                      <p:cBhvr>
                                        <p:cTn id="1512" dur="1" fill="hold">
                                          <p:stCondLst>
                                            <p:cond delay="0"/>
                                          </p:stCondLst>
                                        </p:cTn>
                                        <p:tgtEl>
                                          <p:spTgt spid="469"/>
                                        </p:tgtEl>
                                        <p:attrNameLst>
                                          <p:attrName>style.visibility</p:attrName>
                                        </p:attrNameLst>
                                      </p:cBhvr>
                                      <p:to>
                                        <p:strVal val="visible"/>
                                      </p:to>
                                    </p:set>
                                    <p:animEffect filter="fade" transition="in">
                                      <p:cBhvr additive="repl">
                                        <p:cTn id="1513" dur="50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Rectangle 5"/>
          <p:cNvSpPr/>
          <p:nvPr/>
        </p:nvSpPr>
        <p:spPr>
          <a:xfrm>
            <a:off x="360360" y="1440000"/>
            <a:ext cx="8249760" cy="51051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For a store that serves </a:t>
            </a:r>
            <a:r>
              <a:rPr b="0" i="1" lang="en-US" sz="2400" strike="noStrike" u="none">
                <a:solidFill>
                  <a:srgbClr val="000000"/>
                </a:solidFill>
                <a:effectLst/>
                <a:uFillTx/>
                <a:latin typeface="Arial"/>
                <a:ea typeface="ＭＳ Ｐゴシック"/>
              </a:rPr>
              <a:t>fewer</a:t>
            </a:r>
            <a:r>
              <a:rPr b="0" lang="en-US" sz="2400" strike="noStrike" u="none">
                <a:solidFill>
                  <a:srgbClr val="000000"/>
                </a:solidFill>
                <a:effectLst/>
                <a:uFillTx/>
                <a:latin typeface="Arial"/>
                <a:ea typeface="ＭＳ Ｐゴシック"/>
              </a:rPr>
              <a:t> than </a:t>
            </a:r>
            <a:r>
              <a:rPr b="0" i="1" lang="en-US" sz="2400" strike="noStrike" u="none">
                <a:solidFill>
                  <a:srgbClr val="000000"/>
                </a:solidFill>
                <a:effectLst/>
                <a:uFillTx/>
                <a:latin typeface="Arial"/>
                <a:ea typeface="ＭＳ Ｐゴシック"/>
              </a:rPr>
              <a:t>Q</a:t>
            </a:r>
            <a:r>
              <a:rPr b="0" lang="en-US" sz="2400" strike="noStrike" u="none">
                <a:solidFill>
                  <a:srgbClr val="000000"/>
                </a:solidFill>
                <a:effectLst/>
                <a:uFillTx/>
                <a:latin typeface="Arial"/>
                <a:ea typeface="ＭＳ Ｐゴシック"/>
              </a:rPr>
              <a:t> customers a week, the least-cost method is the small store.</a:t>
            </a:r>
            <a:endParaRPr b="0" lang="en-US" sz="2400" strike="noStrike" u="none">
              <a:solidFill>
                <a:srgbClr val="000000"/>
              </a:solidFill>
              <a:effectLst/>
              <a:uFillTx/>
              <a:latin typeface="Arial"/>
            </a:endParaRPr>
          </a:p>
        </p:txBody>
      </p:sp>
      <p:pic>
        <p:nvPicPr>
          <p:cNvPr id="472" name="Picture 11" descr=""/>
          <p:cNvPicPr/>
          <p:nvPr/>
        </p:nvPicPr>
        <p:blipFill>
          <a:blip r:embed="rId1"/>
          <a:stretch/>
        </p:blipFill>
        <p:spPr>
          <a:xfrm>
            <a:off x="990720" y="2405160"/>
            <a:ext cx="7225920" cy="4140000"/>
          </a:xfrm>
          <a:prstGeom prst="rect">
            <a:avLst/>
          </a:prstGeom>
          <a:noFill/>
          <a:ln w="0">
            <a:noFill/>
          </a:ln>
        </p:spPr>
      </p:pic>
      <p:pic>
        <p:nvPicPr>
          <p:cNvPr id="473" name="Picture 12" descr=""/>
          <p:cNvPicPr/>
          <p:nvPr/>
        </p:nvPicPr>
        <p:blipFill>
          <a:blip r:embed="rId2"/>
          <a:stretch/>
        </p:blipFill>
        <p:spPr>
          <a:xfrm>
            <a:off x="990720" y="2405160"/>
            <a:ext cx="7225920" cy="4140000"/>
          </a:xfrm>
          <a:prstGeom prst="rect">
            <a:avLst/>
          </a:prstGeom>
          <a:noFill/>
          <a:ln w="0">
            <a:noFill/>
          </a:ln>
        </p:spPr>
      </p:pic>
      <p:pic>
        <p:nvPicPr>
          <p:cNvPr id="474" name="Picture 13" descr=""/>
          <p:cNvPicPr/>
          <p:nvPr/>
        </p:nvPicPr>
        <p:blipFill>
          <a:blip r:embed="rId3"/>
          <a:stretch/>
        </p:blipFill>
        <p:spPr>
          <a:xfrm>
            <a:off x="990720" y="2405160"/>
            <a:ext cx="7225920" cy="4140000"/>
          </a:xfrm>
          <a:prstGeom prst="rect">
            <a:avLst/>
          </a:prstGeom>
          <a:noFill/>
          <a:ln w="0">
            <a:noFill/>
          </a:ln>
        </p:spPr>
      </p:pic>
      <p:pic>
        <p:nvPicPr>
          <p:cNvPr id="475" name="Picture 14" descr=""/>
          <p:cNvPicPr/>
          <p:nvPr/>
        </p:nvPicPr>
        <p:blipFill>
          <a:blip r:embed="rId4"/>
          <a:stretch/>
        </p:blipFill>
        <p:spPr>
          <a:xfrm>
            <a:off x="990720" y="2405160"/>
            <a:ext cx="7225920" cy="4140000"/>
          </a:xfrm>
          <a:prstGeom prst="rect">
            <a:avLst/>
          </a:prstGeom>
          <a:noFill/>
          <a:ln w="0">
            <a:noFill/>
          </a:ln>
        </p:spPr>
      </p:pic>
      <p:pic>
        <p:nvPicPr>
          <p:cNvPr id="476" name="Picture 15" descr=""/>
          <p:cNvPicPr/>
          <p:nvPr/>
        </p:nvPicPr>
        <p:blipFill>
          <a:blip r:embed="rId5"/>
          <a:stretch/>
        </p:blipFill>
        <p:spPr>
          <a:xfrm>
            <a:off x="990720" y="2405160"/>
            <a:ext cx="7225920" cy="4140000"/>
          </a:xfrm>
          <a:prstGeom prst="rect">
            <a:avLst/>
          </a:prstGeom>
          <a:noFill/>
          <a:ln w="0">
            <a:noFill/>
          </a:ln>
        </p:spPr>
      </p:pic>
      <p:pic>
        <p:nvPicPr>
          <p:cNvPr id="477" name="Picture 16" descr=""/>
          <p:cNvPicPr/>
          <p:nvPr/>
        </p:nvPicPr>
        <p:blipFill>
          <a:blip r:embed="rId6"/>
          <a:stretch/>
        </p:blipFill>
        <p:spPr>
          <a:xfrm>
            <a:off x="990720" y="2405160"/>
            <a:ext cx="7225920" cy="4140000"/>
          </a:xfrm>
          <a:prstGeom prst="rect">
            <a:avLst/>
          </a:prstGeom>
          <a:noFill/>
          <a:ln w="0">
            <a:noFill/>
          </a:ln>
        </p:spPr>
      </p:pic>
      <p:pic>
        <p:nvPicPr>
          <p:cNvPr id="478" name="Picture 17" descr=""/>
          <p:cNvPicPr/>
          <p:nvPr/>
        </p:nvPicPr>
        <p:blipFill>
          <a:blip r:embed="rId7"/>
          <a:stretch/>
        </p:blipFill>
        <p:spPr>
          <a:xfrm>
            <a:off x="990720" y="2405160"/>
            <a:ext cx="7225920" cy="4140000"/>
          </a:xfrm>
          <a:prstGeom prst="rect">
            <a:avLst/>
          </a:prstGeom>
          <a:noFill/>
          <a:ln w="0">
            <a:noFill/>
          </a:ln>
        </p:spPr>
      </p:pic>
      <p:pic>
        <p:nvPicPr>
          <p:cNvPr id="479" name="Picture 10" descr=""/>
          <p:cNvPicPr/>
          <p:nvPr/>
        </p:nvPicPr>
        <p:blipFill>
          <a:blip r:embed="rId8"/>
          <a:stretch/>
        </p:blipFill>
        <p:spPr>
          <a:xfrm>
            <a:off x="0" y="0"/>
            <a:ext cx="7375320" cy="1234800"/>
          </a:xfrm>
          <a:prstGeom prst="rect">
            <a:avLst/>
          </a:prstGeom>
          <a:noFill/>
          <a:ln w="0">
            <a:noFill/>
          </a:ln>
        </p:spPr>
      </p:pic>
    </p:spTree>
  </p:cSld>
  <p:transition spd="slow">
    <p:wipe dir="r"/>
  </p:transition>
  <p:timing>
    <p:tnLst>
      <p:par>
        <p:cTn id="1514" dur="indefinite" restart="never" nodeType="tmRoot">
          <p:childTnLst>
            <p:seq>
              <p:cTn id="1515" dur="indefinite" nodeType="mainSeq">
                <p:childTnLst>
                  <p:par>
                    <p:cTn id="1516" nodeType="clickEffect" fill="hold">
                      <p:stCondLst>
                        <p:cond delay="0"/>
                      </p:stCondLst>
                      <p:childTnLst>
                        <p:par>
                          <p:cTn id="1517" nodeType="withEffect" fill="hold">
                            <p:stCondLst>
                              <p:cond delay="0"/>
                            </p:stCondLst>
                            <p:childTnLst>
                              <p:par>
                                <p:cTn id="1518" nodeType="withEffect" fill="hold" presetClass="entr" presetID="10">
                                  <p:stCondLst>
                                    <p:cond delay="0"/>
                                  </p:stCondLst>
                                  <p:childTnLst>
                                    <p:set>
                                      <p:cBhvr>
                                        <p:cTn id="1519" dur="1" fill="hold">
                                          <p:stCondLst>
                                            <p:cond delay="0"/>
                                          </p:stCondLst>
                                        </p:cTn>
                                        <p:tgtEl>
                                          <p:spTgt spid="478"/>
                                        </p:tgtEl>
                                        <p:attrNameLst>
                                          <p:attrName>style.visibility</p:attrName>
                                        </p:attrNameLst>
                                      </p:cBhvr>
                                      <p:to>
                                        <p:strVal val="visible"/>
                                      </p:to>
                                    </p:set>
                                    <p:animEffect filter="fade" transition="in">
                                      <p:cBhvr additive="repl">
                                        <p:cTn id="1520" dur="5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2_foundations">
  <a:themeElements>
    <a:clrScheme name="2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3_foundations">
  <a:themeElements>
    <a:clrScheme name="2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foundations">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15291</TotalTime>
  <Application>LibreOffice/25.2.3.2$MacOSX_AARCH64 LibreOffice_project/bbb074479178df812d175f709636b368952c2ce3</Application>
  <AppVersion>15.0000</AppVersion>
  <Words>4711</Words>
  <Paragraphs>372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2025-07-29T09:07:40Z</dcterms:modified>
  <cp:revision>243</cp:revision>
  <dc:subject/>
  <dc:title>Chapter13</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8</vt:i4>
  </property>
  <property fmtid="{D5CDD505-2E9C-101B-9397-08002B2CF9AE}" pid="3" name="Notes">
    <vt:i4>76</vt:i4>
  </property>
  <property fmtid="{D5CDD505-2E9C-101B-9397-08002B2CF9AE}" pid="4" name="PresentationFormat">
    <vt:lpwstr>On-screen Show (4:3)</vt:lpwstr>
  </property>
  <property fmtid="{D5CDD505-2E9C-101B-9397-08002B2CF9AE}" pid="5" name="Slides">
    <vt:i4>76</vt:i4>
  </property>
</Properties>
</file>